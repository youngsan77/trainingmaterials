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「37. 잘못된 관행 — 화면·기술 요소」에서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"02. 요구 분석과 유스케이스"의 「14. 업무·기술 불확실성」·「15. 경우별 접근법」에서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"03. 정적 모델 — 도메인 개념과 관계"의 「05. 클래스 다이어그램」에서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"02. 요구 분석과 유스케이스"의 「41. 시스템 시퀀스 다이어그램」·「44. 정제된 SSD」에서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"04. 동적 모델 — 상호작용과 상태"의 「06. 시퀀스 다이어그램」에서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"04. 동적 모델 — 상호작용과 상태"의 「07. 커뮤니케이션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"04. 동적 모델 — 상호작용과 상태"의 「08. 상태 기계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"02. 요구 분석과 유스케이스"의 「51. 행위 주도 개발」에서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"13. OOAD에서 전문영역으로 — Architecture · DDD · MSA"에서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"05. 구조적 경계와 의존성", 책임 배치는 "07. 책임·협력·계약"에서 다룬다. 본 도식은 코드 상세가 아니라 대안의 미리보기다.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"04. 동적 모델 — 상호작용과 상태"의 「주문 취소 시퀀스」에서 확인한다.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"13. OOAD에서 전문영역으로 — Architecture · DDD · MSA"에서 두 설계의 연결을 소개한다.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명세서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명세서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65957"/>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5040277"/>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3368069"/>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3642389"/>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052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4174845"/>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1858"/>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460500" y="4196178"/>
            <a:ext cx="6223000" cy="698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24855"/>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47938" y="4899175"/>
            <a:ext cx="4048125" cy="746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37160"/>
            <a:ext cx="8412480" cy="274320"/>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411480"/>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98486"/>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52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1953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77159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252374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10288" y="2117318"/>
            <a:ext cx="2034688" cy="164533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6812"/>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17318"/>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62282"/>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771596"/>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16821"/>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77159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41448"/>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371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주문예제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주문 생성과 다른 테스트 생략</a:t>
            </a: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배송중취소거절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var 주문 = 예시주문();</a:t>
            </a:r>
          </a:p>
          <a:p>
            <a:pPr marL="0" indent="0" algn="l">
              <a:lnSpc>
                <a:spcPts val="1080"/>
              </a:lnSpc>
              <a:spcBef>
                <a:spcPts val="0"/>
              </a:spcBef>
              <a:spcAft>
                <a:spcPts val="0"/>
              </a:spcAft>
              <a:buNone/>
            </a:pPr>
            <a:r>
              <a:rPr sz="900" b="0">
                <a:solidFill>
                  <a:srgbClr val="000000"/>
                </a:solidFill>
                <a:latin typeface="Consolas"/>
                <a:ea typeface="맑은 고딕"/>
              </a:rPr>
              <a:t>        주문.결제한다();</a:t>
            </a:r>
          </a:p>
          <a:p>
            <a:pPr marL="0" indent="0" algn="l">
              <a:lnSpc>
                <a:spcPts val="1080"/>
              </a:lnSpc>
              <a:spcBef>
                <a:spcPts val="0"/>
              </a:spcBef>
              <a:spcAft>
                <a:spcPts val="0"/>
              </a:spcAft>
              <a:buNone/>
            </a:pPr>
            <a:r>
              <a:rPr sz="900" b="0">
                <a:solidFill>
                  <a:srgbClr val="000000"/>
                </a:solidFill>
                <a:latin typeface="Consolas"/>
                <a:ea typeface="맑은 고딕"/>
              </a:rPr>
              <a:t>        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거절(IllegalStateException.class, 주문::취소한다);</a:t>
            </a:r>
          </a:p>
          <a:p>
            <a:pPr marL="0" indent="0" algn="l">
              <a:lnSpc>
                <a:spcPts val="1080"/>
              </a:lnSpc>
              <a:spcBef>
                <a:spcPts val="0"/>
              </a:spcBef>
              <a:spcAft>
                <a:spcPts val="0"/>
              </a:spcAft>
              <a:buNone/>
            </a:pPr>
            <a:r>
              <a:rPr sz="900" b="0">
                <a:solidFill>
                  <a:srgbClr val="000000"/>
                </a:solidFill>
                <a:latin typeface="Consolas"/>
                <a:ea typeface="맑은 고딕"/>
              </a:rPr>
              <a:t>        같음(주문상태.배송중, 주문.상태());</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37177"/>
            <a:ext cx="4114800" cy="4114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 같음·거절 검증 함수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210377"/>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결과</a:t>
            </a:r>
            <a:r>
              <a:rPr sz="1800" b="0">
                <a:solidFill>
                  <a:srgbClr val="000000"/>
                </a:solidFill>
                <a:latin typeface="맑은 고딕"/>
                <a:ea typeface="맑은 고딕"/>
              </a:rPr>
              <a:t> —</a:t>
            </a:r>
            <a:r>
              <a:rPr sz="1600" b="0">
                <a:solidFill>
                  <a:srgbClr val="000000"/>
                </a:solidFill>
                <a:latin typeface="맑은 고딕"/>
                <a:ea typeface="맑은 고딕"/>
              </a:rPr>
              <a:t> 공통 예제는 총액·경계 호출·상태 전이·거절 뒤 상태·다중성을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이 테스트는 실제 환불·저장·통신 성공을 보장하지 않는다.</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249727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6" name="mermaid Diagram 6"/>
          <p:cNvPicPr>
            <a:picLocks noChangeAspect="1"/>
          </p:cNvPicPr>
          <p:nvPr/>
        </p:nvPicPr>
        <p:blipFill>
          <a:blip r:embed="mermaidImage6"/>
          <a:stretch>
            <a:fillRect/>
          </a:stretch>
        </p:blipFill>
        <p:spPr>
          <a:xfrm>
            <a:off x="2325687" y="277159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449656"/>
            <a:ext cx="8412480" cy="274320"/>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72397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6648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4340802"/>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4144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052763"/>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363"/>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28352"/>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0500" y="4502672"/>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4144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90574"/>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961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명세서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명세서를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명세서.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명세서 </a:t>
            </a:r>
            <a:r>
              <a:rPr sz="1800" b="1">
                <a:solidFill>
                  <a:srgbClr val="000000"/>
                </a:solidFill>
                <a:latin typeface="맑은 고딕"/>
                <a:ea typeface="맑은 고딕"/>
              </a:rPr>
              <a:t>(안)</a:t>
            </a:r>
          </a:p>
          <a:p>
            <a:r>
              <a:rPr sz="1100" b="1">
                <a:solidFill>
                  <a:srgbClr val="000000"/>
                </a:solidFill>
                <a:latin typeface="맑은 고딕"/>
                <a:ea typeface="맑은 고딕"/>
              </a:rPr>
              <a:t>14.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39</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39</vt:i4>
      </vt:variant>
    </vt:vector>
  </HeadingPairs>
  <TitlesOfParts>
    <vt:vector size="43" baseType="lpstr">
      <vt:lpstr>맑은 고딕</vt:lpstr>
      <vt:lpstr>Arial</vt:lpstr>
      <vt:lpstr>Wingdings</vt:lpstr>
      <vt:lpstr>4_Office 테마</vt:lpstr>
      <vt:lpstr>01. OOAD 개요 목차</vt:lpstr>
      <vt:lpstr>01. 세션 목표</vt:lpstr>
      <vt:lpstr>SW 개발의 재작업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명세서</vt:lpstr>
      <vt:lpstr>요구사항 명세서 (안) 14. 실습 — 요구사항 명세서</vt:lpstr>
      <vt:lpstr>15.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