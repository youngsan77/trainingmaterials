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전체의 지도만 제시한다.</a:t>
            </a:r>
          </a:p>
          <a:p>
            <a:pPr lvl="0"/>
            <a:r>
              <a:rPr lang="ko-KR" sz="1200"/>
              <a:t>세부 개념은 뒤에서 순차적으로 설명한다.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Leffingwell 원문(1997년 *American Programmer*)은 유료 아카이브에만 있어 직접 확인하지 못했다. 여러 매체가 인용하는 수치를 옮겼다(www).</a:t>
            </a:r>
          </a:p>
          <a:p>
            <a:pPr lvl="0"/>
            <a:r>
              <a:rPr lang="ko-KR" sz="1200"/>
              <a:t>인용 수치는 역사적 보고다. 원문도 학습을 통해 유용해진 변경과 회피 가능한 결함을 구분한다.</a:t>
            </a:r>
          </a:p>
          <a:p>
            <a:pPr lvl="0"/>
            <a:r>
              <a:rPr lang="ko-KR" sz="1200"/>
              <a:t>조기 검토의 비용과 줄일 수 있는 재작업 위험을 비교한다. 모든 변경을 처음부터 예방할 수 있다는 뜻은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사용 빈도 수치는 XP2002 발표를 인용한 여러 매체에서 확인했다(www). 표본 성격(4개 회사 내부 애플리케이션)은 Cohn이 Standish Group에 직접 문의해 확인한 내용이다. 원 조사 데이터·관찰 기간·측정 기준 자체는 직접 확인하지 못했다.</a:t>
            </a:r>
          </a:p>
          <a:p>
            <a:pPr lvl="0"/>
            <a:r>
              <a:rPr lang="ko-KR" sz="1200"/>
              <a:t>앞의 가치 판단 예는 교육용 사례이며 위 조사에서 얻은 결론이 아니다.</a:t>
            </a:r>
          </a:p>
          <a:p>
            <a:pPr lvl="0"/>
            <a:r>
              <a:rPr lang="ko-KR" sz="1200"/>
              <a:t>사용 빈도를 가치와 동일시하지 않는다. 운영 복구·감사 등 드물지만 필요한 기능을 반례로 토론한다.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다음 주제에서 범위의 무단 확대, 불필요한 기능 추가, 과도한 설계·구현을 비교한다.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개념은 서로 관련되지만 동의어가 아니다. 범위 확대는 변경 통제, 불필요한 기능 추가는 요구 밖의 기능, 과도한 설계·구현은 해법의 불필요한 복잡성이 초점이다.</a:t>
            </a:r>
          </a:p>
          <a:p>
            <a:pPr lvl="0"/>
            <a:r>
              <a:rPr lang="ko-KR" sz="1200"/>
              <a:t>예시는 모두 주문 취소라는 동일 상황에 연결한다.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요구사항과 해결책은 각각 상위 목적에서 정당화되어야 한다.</a:t>
            </a:r>
          </a:p>
          <a:p>
            <a:pPr lvl="0"/>
            <a:r>
              <a:rPr lang="ko-KR" sz="1200"/>
              <a:t>이후 분석·설계 판단의 기준축으로 사용한다.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고객의 요청 자체가 이미 하나의 해결책일 수 있다.</a:t>
            </a:r>
          </a:p>
          <a:p>
            <a:pPr lvl="0"/>
            <a:r>
              <a:rPr lang="ko-KR" sz="1200"/>
              <a:t>바로 구현하기 전에 상위 문제와 요구사항을 확인한다.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기술은 우연적 어려움을 줄일 수 있지만 본질적 어려움을 제거하지는 못한다.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08 「본질적 어려움과 우연적 어려움」에서 정의한 본질적·우연적 어려움이 주문 취소에 어떻게 나타나는지 연결한다.</a:t>
            </a:r>
          </a:p>
          <a:p>
            <a:pPr lvl="0"/>
            <a:r>
              <a:rPr lang="ko-KR" sz="1200"/>
              <a:t>예시의 구현 기술을 본질적 업무 규칙으로 혼동하지 않도록 한다.</a:t>
            </a:r>
          </a:p>
          <a:p>
            <a:pPr lvl="0"/>
            <a:r>
              <a:rPr lang="ko-KR" sz="1200"/>
              <a:t>중복 요청이 발생해도 한 번만 환불되어야 한다는 보장은 업무 의미다. 재시도·중복 제거의 구현 수단과 그 보장 자체를 구분한다.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개발 절차에서는 분석과 설계가 반복되고 섞일 수 있다.</a:t>
            </a:r>
          </a:p>
          <a:p>
            <a:pPr lvl="0"/>
            <a:r>
              <a:rPr lang="ko-KR" sz="1200"/>
              <a:t>사고에서는 문제와 해결책을 구분한다.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관심사를 비교하는 교육용 정리다. 시대별 우열이나 단일 계보를 주장하지 않는다.</a:t>
            </a:r>
          </a:p>
          <a:p>
            <a:pPr lvl="0"/>
            <a:r>
              <a:rPr lang="ko-KR" sz="1200"/>
              <a:t>자료 흐름을 볼 때와 책임 배치를 볼 때 얻는 정보가 다르다는 점을 설명한다.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Booch 원서 본문은 미확인이다. 여러 독립된 2차 출처가 같은 문장을 일관되게 인용하고 있어 사용했다(www). 영어 문구를 추측해 복원하지 않았다.</a:t>
            </a:r>
          </a:p>
          <a:p>
            <a:pPr lvl="0"/>
            <a:r>
              <a:rPr lang="ko-KR" sz="1200"/>
              <a:t>유스케이스는 요구 입력이며 그 자체로 객체 모델은 아니다. 도메인 개념 분석과 객체 설계의 출발점으로 사용한다.</a:t>
            </a:r>
          </a:p>
          <a:p>
            <a:pPr lvl="0"/>
            <a:r>
              <a:rPr lang="ko-KR" sz="1200"/>
              <a:t>S03·S04에서 의미를 분석하고 S06·S07에서 설계 판단으로 연결한다.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UML의 통합 배경은 OMG [UML 2.5.1](https://www.omg.org/spec/UML/2.5.1/PDF), §1 Scope의 UML 1 설명을 참조한다.</a:t>
            </a:r>
          </a:p>
          <a:p>
            <a:pPr lvl="0"/>
            <a:r>
              <a:rPr lang="ko-KR" sz="1200"/>
              <a:t>UML은 객체지향 분석·설계 자체가 아니다.</a:t>
            </a:r>
          </a:p>
          <a:p>
            <a:pPr lvl="0"/>
            <a:r>
              <a:rPr lang="ko-KR" sz="1200"/>
              <a:t>분석·설계의 결과를 표현하고 검토하는 언어다.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아키텍처를 문서나 다이어그램 자체와 동일시하지 않는다. 위 정의는 ISO/IEC/IEEE 42010 정의를 그대로 재수록한 NIST 공식 용어집에서 확인했다. ISO 표준 본문 자체를 직접 확인한 것은 아니다.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책임과 경계를 함께 검토한다.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객체지향을 클래스와 상속만으로 설명하지 않는다.</a:t>
            </a:r>
          </a:p>
          <a:p>
            <a:pPr lvl="0"/>
            <a:r>
              <a:rPr lang="ko-KR" sz="1200"/>
              <a:t>메시지, 책임, 협력이 핵심이다.</a:t>
            </a:r>
          </a:p>
          <a:p>
            <a:pPr lvl="0"/>
            <a:r>
              <a:rPr lang="ko-KR" sz="1200"/>
              <a:t>응용 서비스는 취소 규칙을 다시 구현하지 않고 주문의 판단 결과를 사용한다.</a:t>
            </a:r>
          </a:p>
          <a:p>
            <a:pPr lvl="0"/>
            <a:r>
              <a:rPr lang="ko-KR" sz="1200"/>
              <a:t>외부 연동을 분리하면 주문 객체의 기술 의존을 줄일 수 있지만 협력과 실패 조정 책임이 추가된다.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책임, 경계, 협력, 의존성을 다시 결정한다.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중단 기준은 산출물의 양이 아니라 주요 위험과 다음 검증에 필요한 판단의 확보 여부다.</a:t>
            </a:r>
          </a:p>
          <a:p>
            <a:pPr lvl="0"/>
            <a:r>
              <a:rPr lang="ko-KR" sz="1200"/>
              <a:t>분석과 설계를 많이 하는 것이 좋은 것은 아니다.</a:t>
            </a:r>
          </a:p>
          <a:p>
            <a:pPr lvl="0"/>
            <a:r>
              <a:rPr lang="ko-KR" sz="1200"/>
              <a:t>추가 판단이 실제 위험을 줄이는지가 기준이다.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오류가 발견된 위치와 오류가 만들어진 위치는 다를 수 있다.</a:t>
            </a:r>
          </a:p>
          <a:p>
            <a:pPr lvl="0"/>
            <a:r>
              <a:rPr lang="ko-KR" sz="1200"/>
              <a:t>구현과 테스트는 앞선 판단에 대한 피드백이다.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주도 설계를 객체지향 분석·설계의 대체재로 설명하지 않는다.</a:t>
            </a:r>
          </a:p>
          <a:p>
            <a:pPr lvl="0"/>
            <a:r>
              <a:rPr lang="ko-KR" sz="1200"/>
              <a:t>이 과정에서는 객체지향 설계를 기반으로 DDD와 연결한다. DDD 전체를 특정 프로그래밍 패러다임에 한정하는 정의는 아니다.</a:t>
            </a:r>
          </a:p>
          <a:p>
            <a:pPr lvl="0"/>
            <a:r>
              <a:rPr lang="ko-KR" sz="1200"/>
              <a:t>전략적 설계와 전술적 설계의 차이는 개괄 수준에서만 소개한다.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위 관계는 이 과정의 교육용 연결이다. Gruber가 OOAD→DDD→온톨로지 순서를 제안했다는 의미가 아니다.</a:t>
            </a:r>
          </a:p>
          <a:p>
            <a:pPr lvl="0"/>
            <a:r>
              <a:rPr lang="ko-KR" sz="1200"/>
              <a:t>LLM에 모델을 제공하는 것만으로 동일한 해석이 보장되지는 않는다. 구체적인 사례와 검증으로 확인한다.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영역은 절대적인 기술 경계가 아니라 주도권과 책임의 구분이다.</a:t>
            </a:r>
          </a:p>
          <a:p>
            <a:pPr lvl="0"/>
            <a:r>
              <a:rPr lang="ko-KR" sz="1200"/>
              <a:t>인간이 최종 책임진다는 것은 모든 산출물을 직접 작성한다는 뜻이 아니다.</a:t>
            </a:r>
          </a:p>
          <a:p>
            <a:pPr lvl="0"/>
            <a:r>
              <a:rPr lang="ko-KR" sz="1200"/>
              <a:t>AI 중심 실행은 충분한 맥락·제약·명세·검증을 전제로 한다.</a:t>
            </a:r>
          </a:p>
          <a:p>
            <a:pPr lvl="0"/>
            <a:r>
              <a:rPr lang="ko-KR" sz="1200"/>
              <a:t>도메인 모델·온톨로지와 아키텍처·설계는 함께 진화한다.</a:t>
            </a:r>
          </a:p>
          <a:p>
            <a:pPr lvl="0"/>
            <a:r>
              <a:rPr lang="ko-KR" sz="1200"/>
              <a:t>객체지향 분석·설계는 사라지지 않으며 인간과 AI의 협업 방식으로 수행된다.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개인 판단 → 2~3인 근거 비교 → 전체 검토 순서로 진행한다. 시간은 전체 SA 완성 후 운영 계획에서 정한다.</a:t>
            </a:r>
          </a:p>
          <a:p>
            <a:pPr lvl="0"/>
            <a:r>
              <a:rPr lang="ko-KR" sz="1200"/>
              <a:t>객체 설계나 UML 작성까지 요구하지 않는다.</a:t>
            </a:r>
          </a:p>
          <a:p>
            <a:pPr lvl="0"/>
            <a:r>
              <a:rPr lang="ko-KR" sz="1200"/>
              <a:t>평가 기준: 네 항목의 수준 구분이 정확한지, 조건과 추정을 분리했는지, 취소 버튼 이외의 대안도 검토했는지, 확인 질문이 가설의 참·거짓을 가릴 수 있는지.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특정 문장 하나보다 각 항목의 수준과 사실·가정을 구분했는지가 중요하다.</a:t>
            </a:r>
          </a:p>
          <a:p>
            <a:pPr lvl="0"/>
            <a:r>
              <a:rPr lang="ko-KR" sz="1200"/>
              <a:t>같은 요구사항을 만족시키는 해결책은 여러 개일 수 있다.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세션에서는 객체지향 분석·설계의 전체 지도를 만들었다.</a:t>
            </a:r>
          </a:p>
          <a:p>
            <a:pPr lvl="0"/>
            <a:r>
              <a:rPr lang="ko-KR" sz="1200"/>
              <a:t>다음에는 그 출발점인 문제와 요구사항을 구체적으로 다룬다.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chartImage1" Type="http://schemas.openxmlformats.org/officeDocument/2006/relationships/image" Target="../media/chart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6" Type="http://schemas.openxmlformats.org/officeDocument/2006/relationships/image" Target="../media/mermaid-6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7" Type="http://schemas.openxmlformats.org/officeDocument/2006/relationships/image" Target="../media/mermaid-7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8" Type="http://schemas.openxmlformats.org/officeDocument/2006/relationships/image" Target="../media/mermaid-8.png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OOAD 개요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SW 개발의 재작업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미사용 기능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범위와 가치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범위 확대와 불필요한 구현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문제 → 요구사항 → 해결책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문제와 해결책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본질적 어려움과 우연적 어려움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주문 취소의 복잡성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분석과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분석·설계의 진화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객체지향 분석·설계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통합 모델링 언어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소프트웨어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책임과 경계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메시지와 협력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분석 모델에서 설계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적정 분석·설계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피드백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도메인 주도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온톨로지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AI 기반 소프트웨어공학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문제·요구사항·해결책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검토 예시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(모범답안)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객체지향 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판단하고 왜 필요한지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전체 흐름을 파악한다.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 개발에서 분석·설계가 필요한 이유를 이해한다.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문제, 요구사항, 해결책을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분석과 객체지향 설계의 역할과 관계를 이해한다.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책임, 경계, 협력을 이해한다.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분석·설계가 도메인 주도 설계, 온톨로지, AI 기반 소프트웨어공학으로 어떻게 이어지는지 이해한다.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SW 개발의 재작업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잘못된 요구나 판단을 늦게 발견하면 관련 설계·코드·테스트를 함께 고쳐야 할 수 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회피 가능한 재작업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새로운 학습에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정당한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누락·오해가 후속 판단에 반영되면 수정 범위가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일찍 발견할 수 있었던 오류를 줄이는 것이 목적이다.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실제 사용에서 새 가치를 발견한 변경까지 결함으로 취급하지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"프로젝트 노력의 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40~50%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회피 가능한 재작업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사용한다"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"Current software projects spend about 40 to 50 percent of their effort on avoidable rework."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Barry Boehm·Victor R. Basili, 2001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"재작업 비용의 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70~85%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결함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비롯된다"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"70% to 85% of all project rework costs are due to errors in requirements."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Dean Leffingwell, 1997, www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149350" y="4489799"/>
            <a:ext cx="6845300" cy="85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미사용 기능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개발한 기능의 양이 곧 고객 가치는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 빈도·사용 맥락·미사용 이유·필요 시의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"Standish Group 조사에서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45%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전혀 사용되지 않았고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자주·항상 사용됐다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(항상 7%·자주 13%·때때로 16%·거의 19%·전혀 45%)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Standish study found that 45% of features were never used and only 20% of features were used often or always."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Jim Johnson·Standish Group, 2002, www(4개 회사 내부 애플리케이션 표본 — Mike Cohn, 2016 직접 확인)</a:t>
            </a:r>
          </a:p>
        </p:txBody>
      </p:sp>
      <p:pic>
        <p:nvPicPr>
          <p:cNvPr id="9" name="chart Diagram 1"/>
          <p:cNvPicPr>
            <a:picLocks noChangeAspect="1"/>
          </p:cNvPicPr>
          <p:nvPr/>
        </p:nvPicPr>
        <p:blipFill>
          <a:blip r:embed="chartImage1"/>
          <a:stretch>
            <a:fillRect/>
          </a:stretch>
        </p:blipFill>
        <p:spPr>
          <a:xfrm>
            <a:off x="2459736" y="3260627"/>
            <a:ext cx="4224528" cy="28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범위와 가치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해야 할 것은 하고, 하지 않아도 될 것은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요구사항을 놓침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초과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 밖의 요구사항 추가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과잉 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밖의 해결책 구현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가장 나쁜 경우는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해야 할 것은 못하면서 하지 않아도 될 것을 만드는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범위 확대와 불필요한 구현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 변경이 모두 문제인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합의한 범위를 어떻게 변경하고, 필요한 기능을 어디까지 구현하는가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중요하다.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범위의 무단 확대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(Scope Creep)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일정·비용·자원에 미치는 영향을 조정하거나 승인받지 않고 기능·업무 범위가 늘어나는 것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주문 취소 기능을 만드는 동안 승인 없이 교환·반품 기능까지 추가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불필요한 기능 추가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(Gold Plating)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요구사항을 충족하는 데 필요하지 않은 기능이나 장식을 좋다는 이유로 추가하는 것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요청받지 않은 복잡한 취소 화면 효과와 부가 기능 구현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과도한 설계·구현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(Overengineering)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현재의 요구와 위험에 비해 설계·기술·구현을 지나치게 복잡하게 만드는 것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단순한 취소 규칙에 불필요한 분산 처리 구조 도입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승인된 변경은 범위의 무단 확대와 다르다.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불필요한 기능과 과도한 구조를 경계하는 이유는 고객 가치를 늘리지 못하면서 비용과 변경 부담을 키울 수 있기 때문이다.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문제 → 요구사항 → 해결책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해결책부터 정하지 않는다. 먼저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다음으로 충족할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마지막으로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해결할 것인가?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만족해야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어떻게 만족시킬 것인가?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가능한 선택과 범위를 제한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문제의 전부 또는 일부를 해결하기 위해 요구사항을 정하고, 요구사항의 전부 또는 일부를 만족시키기 위해 해결책을 선택한다.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149350" y="3993212"/>
            <a:ext cx="6845300" cy="151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문제와 해결책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(Problem)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(Solution)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구분해야 한다. 고객의 요청에는 해결해야 할 문제와 이미 선택한 해결책이 함께 들어 있을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“주문 화면에 취소 버튼을 추가해 주세요.”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아래는 고객이 현재 직접 취소할 수 없다는 가정에 따른 해석이다. 요청만으로 그 원인이 확인된 것은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고객이 취소 가능한 주문을 직접 취소할 수 없음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가능한 주문은 고객이 직접 취소할 수 있어야 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버튼,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Order.cancel()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문제와 요구사항에도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가능하다.</a:t>
            </a:r>
          </a:p>
        </p:txBody>
      </p:sp>
      <p:pic>
        <p:nvPicPr>
          <p:cNvPr id="9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149350" y="4630199"/>
            <a:ext cx="6845300" cy="53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본질적 어려움과 우연적 어려움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어려움은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(Essence)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(Accident)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어려움으로 나뉜다.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"소프트웨어의 복잡성은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속성이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속성이다"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complexity of software is an essential property, not an accidental one."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Frederick P. Brooks Jr., 1986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어려움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문제와 소프트웨어 복잡성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(의미·규칙·상태·관계)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 어려움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 기술·환경의 추가 부담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(언어·도구·연동)</a:t>
            </a:r>
          </a:p>
        </p:txBody>
      </p:sp>
      <p:pic>
        <p:nvPicPr>
          <p:cNvPr id="9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550716" y="3867274"/>
            <a:ext cx="4042569" cy="193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주문 취소의 복잡성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취소는 버튼 하나를 구현하는 문제가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조건과 후속 업무를 올바르게 결정하는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핵심이며, 이를 실현하는 기술적 어려움과 구분해야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어려움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주문 취소 업무의 의미와 규칙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어떤 주문을 언제 취소할 수 있는가?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결제·배송 상태에 따라 취소 결과가 어떻게 달라지는가?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어떤 경우에 얼마를 환불해야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 어려움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결정된 규칙을 구현하는 기술적 부담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외부 결제 서비스와 배송 시스템 연동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트랜잭션·이벤트·재시도 처리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통신 장애와 중복 요청 대응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기술 선택에 앞서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취소의 의미·조건·결과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분명히 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분석과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분석·설계의 목적은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산출물이 아니라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(Analysis)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필요한가, 무엇을 의미하는가, 어떤 규칙과 제약이 있는가?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책임지는가, 어디에 경계를 두는가, 어떻게 협력하는가?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분석은 문제를 이해하고, 설계는 그 이해를 바탕으로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해결책의 책임과 구조를 결정한다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개발 절차에서는 통합할 수 있지만, 사고에서는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문제와 해결책을 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  <p:pic>
        <p:nvPicPr>
          <p:cNvPr id="9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153716" y="4040228"/>
            <a:ext cx="6836569" cy="122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분석·설계의 진화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80935" y="2100036"/>
          <a:ext cx="73685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176780"/>
                <a:gridCol w="360172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접근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 관심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유용한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구조적 분석·설계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기능·자료 흐름·모듈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변환이 일어나며 자료가 어디로 흐르는가?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정보공학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정보·데이터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정보와 관계를 일관되게 관리해야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객체지향 분석·설계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개념·객체 책임·협력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상태와 규칙을 소유하고 어떻게 협력하는가?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중심으로 문제와 구조를 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서로 다른 질문을 드러낸다. 이를 한 방법이 다른 방법을 완전히 대체한 일직선의 발전 과정으로 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객체지향 분석·설계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분석·설계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(Object-Oriented Analysis and Design, OOAD)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문제영역의 의미를 객체 관점으로 이해하고 이를 실현할 책임과 협력을 설계한다.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분석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(OOA)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문제영역의 개념·관계·규칙을 발견하고 요구와 교차검토한다.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(OOD)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구현할 객체의 책임·상태·협력·인터페이스를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"객체지향 분석은 문제영역의 어휘에서 발견되는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클래스와 객체의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요구사항을 검토하는 방법이다"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"Object-oriented analysis is a method of analysis that examines requirements from the perspective of the classes and objects found in the vocabulary of the problem domain."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Grady Booch, 1994, www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"객체지향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분해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논리적·물리적, 정적·동적 모델의 표현을 포괄하는 설계 방법이다"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method of design encompassing the process of object-oriented decomposition and a notation for depicting both logical and physical as well as static and dynamic models of the system under design."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Grady Booch, 1994, www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통합 모델링 언어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 모델링 언어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(UML)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분석·설계 방법론이 아니라 모델을 표현·공유하는 표준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"UML은 소프트웨어와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시각화·명세·문서화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표준이다"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"Unified Modeling Language® (UML®) as a standard for visualizing, specifying, and documenting software and systems."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Rumbaugh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(OMT)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·Booch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(Booch Method)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·Jacobson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(OOSE)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표기법이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1997년 UML로 통합됐다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mermaid Diagram 6"/>
          <p:cNvPicPr>
            <a:picLocks noChangeAspect="1"/>
          </p:cNvPicPr>
          <p:nvPr/>
        </p:nvPicPr>
        <p:blipFill>
          <a:blip r:embed="mermaidImage6"/>
          <a:stretch>
            <a:fillRect/>
          </a:stretch>
        </p:blipFill>
        <p:spPr>
          <a:xfrm>
            <a:off x="3113881" y="3692649"/>
            <a:ext cx="2916238" cy="242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소프트웨어 아키텍처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소프트웨어 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시스템 수준에서 무엇을 주요 구성 요소로 나누고 어떻게 연결하며, 어떤 경계와 원칙에 따라 설계·변경할지를 다룬다.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"아키텍처는 환경 속 시스템의 근본적인 개념·속성이며,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요소·관계·설계 및 진화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구현된다"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"Fundamental concepts or properties of a system in its environment embodied in its elements, relationships, and in the principles of its design and evolution."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ISO/IEC/IEEE 42010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구성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컴포넌트·서브시스템 등 시스템의 주요 부분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관계와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구성 요소 사이의 협력·의존성·인터페이스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책임과 변경 영향을 구분하는 구조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설계·진화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품질속성과 제약을 고려한 주요 결정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설계가 객체·모듈의 책임과 협력을 구체화한다면, 아키텍처는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전체의 구조와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다룬다.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책임과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(Responsibility)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(Boundary)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객체지향 설계의 핵심 판단이다.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책임지고 어디에 경계를 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상태 소유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규칙 판단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행위 수행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함께 변경되어야 할 상태와 행위를 묶음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책임과 변경 영향을 구분함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“데이터를 어디에 둘까?”보다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“누가 이 판단을 책임질까?”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묻는다.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메시지와 협력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데이터를 담는 단위가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(요청)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받은 객체가 자신의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(정보·규칙)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판단하고, 여러 객체가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목표를 달성한다.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"객체지향은 오직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상태·프로세스의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지역적 보존·보호·은닉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그리고 모든 것의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극단적으로 늦은 바인딩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의미한다"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"OOP to me means only messaging, local retention and protection and hiding of state-process, and extreme late-binding of all things."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Alan Kay, 2003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2688468" y="3389876"/>
            <a:ext cx="3767064" cy="2865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분석 모델에서 설계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개념을 설계 클래스로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1:1 기계 변환하지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설계에서는 책임·경계·협력을 다시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주문, 결제, 고객, 취소 정책 등 업무 개념과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주문, 주문 서비스, 취소 정책, 결제 연동, 저장소 등 책임과 협력 구조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개념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설계 요소로 나뉠 수 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(예: 취소 정책 → 주문 서비스·결제 연동·저장소)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결제 연동·저장소는 외부 연동과 영속성 요구를 검토하며 필요 여부를 결정한다.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적정 분석·설계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2369631"/>
                <a:gridCol w="2679940"/>
                <a:gridCol w="3256228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행동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부족 — 핵심 요구·규칙·책임 불명확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해당 질문에 필요한 모델을 보완한다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추가 분석 비용으로 오해·재작업 위험을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 — 주요 판단 확보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구현·테스트·프로토타입으로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모델링 비용보다 실제 검증의 정보 가치가 큰지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과도 — 추가 상세가 판단을 바꾸지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상세화를 멈추고 새 증거가 생기면 재검토한다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불필요한 작성·유지 비용을 줄이되 불확실성은 기록한다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분석·설계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(Just Enough Analysis and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란 가능한 많은 모델과 산출물을 만드는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현재의 주요 위험을 줄이고 다음 검증으로 진행할 만큼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분석하고 설계하는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피드백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구현·테스트의 오류는 앞선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요구·분석·설계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되돌아볼 증거다.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것 자체를 잘못 정의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의미·규칙을 잘못 이해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책임·경계를 잘못 배치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코드·기술 사용 오류</a:t>
            </a:r>
          </a:p>
        </p:txBody>
      </p:sp>
      <p:pic>
        <p:nvPicPr>
          <p:cNvPr id="9" name="mermaid Diagram 7"/>
          <p:cNvPicPr>
            <a:picLocks noChangeAspect="1"/>
          </p:cNvPicPr>
          <p:nvPr/>
        </p:nvPicPr>
        <p:blipFill>
          <a:blip r:embed="mermaidImage7"/>
          <a:stretch>
            <a:fillRect/>
          </a:stretch>
        </p:blipFill>
        <p:spPr>
          <a:xfrm>
            <a:off x="1149350" y="3949348"/>
            <a:ext cx="684530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도메인 주도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객체지향 설계의 대체물이 아니라, 도메인 모델과 설계·구현의 정합성을 깊이 있게 다룬다.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핵심 도메인, 경계가 명확한 문맥, 문맥 간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전술적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엔티티, 값 객체, 애그리거트, 저장소, 도메인 서비스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라만의 UML과 패턴의 적용, 책임 중심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(RDD - Respomsibilty Driven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계약에 의한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(DBC - Design By Contract)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기본으로 하고 그 이외의 내용을 다룸. 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온톨로지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(Ontology)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공유하려는 개념과 관계의 의미를 명시하는 데 사용한다. 도메인 모델과 관심을 공유하지만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도메인 모델을 자동으로 온톨로지라고 부르지는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Thomas R. Gruber, 1993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이는 필수 개발 순서가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관심과 활용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pic>
        <p:nvPicPr>
          <p:cNvPr id="9" name="mermaid Diagram 8"/>
          <p:cNvPicPr>
            <a:picLocks noChangeAspect="1"/>
          </p:cNvPicPr>
          <p:nvPr/>
        </p:nvPicPr>
        <p:blipFill>
          <a:blip r:embed="mermaidImage8"/>
          <a:stretch>
            <a:fillRect/>
          </a:stretch>
        </p:blipFill>
        <p:spPr>
          <a:xfrm>
            <a:off x="1149350" y="3418488"/>
            <a:ext cx="68453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AI 기반 소프트웨어공학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과정에서는 AI 기반 개발을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인간의 판단 책임과 AI의 실행·지원 역할을 배치하는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다룬다. 아래 구분은 보편적으로 확정된 역할 표준이 아니라 검증과 책임 소재를 명확히 하기 위한 운영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인간이 최종 책임지는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비전과 가치, 위험 수용, 최종 의사결정과 책임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인간과 AI의 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요구사항, 도메인 모델·온톨로지, 아키텍처·설계, 테스트·검토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주도할 수 있는 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 생성·변환, 정적 검사, 테스트 실행, 자동화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핵심은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코드를 작성하느냐보다 누가 의미·경계·위험을 판단하고 결과를 검증하느냐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있다. 실행할 때는 필요한 맥락·제약을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(Guardrail)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실행·검증 환경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(Harness)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실습 — 문제·요구사항·해결책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요청에 포함된 해결책과 그 배경의 문제·요구사항·제약을 구분하고,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확인이 필요한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온라인 쇼핑몰에 다음 요청이 들어왔다.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“주문 목록에 취소 버튼을 추가해 주세요.”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(조건: 배송 시작 전 주문만 취소 가능, 취소 시 결제 금액 환불)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 전에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제약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(4)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해결책을 구분하고,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버튼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어느 항목에 해당하는지 판단한다. 주어진 사실과 추정을 구분해 추정을 확인할 질문을 하나 작성한다.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실습 — 검토 예시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(모범답안)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23번 실습의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모범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유일한 정답이 아니라, "수준을 구분했는가"를 보여주는 예시다. 아래는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고객이 현재 직접 취소할 수 없다는 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따른 검토이며, 실제 원인은 요청자에게 확인해야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고객이 취소 가능한 주문을 직접 취소할 수 없음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시작 전 주문을 고객이 직접 취소하고 결제 금액을 환불받을 수 있어야 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시작 후 일반 취소 불가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버튼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(다른 해결책도 가능. 예: 고객센터 취소 요청)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현재 취소 경로가 없는가, 아니면 찾기 어려운가?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문제를 이해하고 해결책의 책임과 경계를 결정하는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 → 요구사항 → 해결책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상위 목적과 범위를 유지한다.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분석 →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의미를 이해하고 책임·경계·협력을 결정한다.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본질적 어려움과 우연적 어려움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복잡성과 기술적 부담을 구분한다.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 → 경계 → 협력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객체지향 설계의 핵심 판단이다.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DDD·온톨로지·AI 기반 개발과의 연결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각각의 목적에 맞게 도메인 의미를 공유하고 구현과 검증한다.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단계는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“요구 분석과 유스케이스”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문제에서 필요한 요구사항을 어떻게 발견할 것인가?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사용자 목표와 시스템 책임을 어떻게 구분할 것인가?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요구사항의 범위를 어떻게 명확하게 만들 것인가?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16015</TotalTime>
  <Words>2142</Words>
  <Application>Microsoft Macintosh PowerPoint</Application>
  <PresentationFormat>화면 슬라이드 쇼(4:3)</PresentationFormat>
  <Paragraphs>347</Paragraphs>
  <Slides>26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Wingdings</vt:lpstr>
      <vt:lpstr>4_Office 테마</vt:lpstr>
      <vt:lpstr>01. OOAD 개요 목차</vt:lpstr>
      <vt:lpstr>01. 세션 목표</vt:lpstr>
      <vt:lpstr>02. SW 개발의 재작업</vt:lpstr>
      <vt:lpstr>03. 미사용 기능</vt:lpstr>
      <vt:lpstr>04. 범위와 가치</vt:lpstr>
      <vt:lpstr>05. 범위 확대와 불필요한 구현</vt:lpstr>
      <vt:lpstr>06. 문제 → 요구사항 → 해결책</vt:lpstr>
      <vt:lpstr>07. 문제와 해결책</vt:lpstr>
      <vt:lpstr>08. 본질적 어려움과 우연적 어려움</vt:lpstr>
      <vt:lpstr>09. 주문 취소의 복잡성</vt:lpstr>
      <vt:lpstr>10. 분석과 설계</vt:lpstr>
      <vt:lpstr>11. 분석·설계의 진화</vt:lpstr>
      <vt:lpstr>12. 객체지향 분석·설계</vt:lpstr>
      <vt:lpstr>13. 통합 모델링 언어</vt:lpstr>
      <vt:lpstr>14. 소프트웨어 아키텍처</vt:lpstr>
      <vt:lpstr>15. 책임과 경계</vt:lpstr>
      <vt:lpstr>16. 메시지와 협력</vt:lpstr>
      <vt:lpstr>17. 분석 모델에서 설계 모델로</vt:lpstr>
      <vt:lpstr>18. 적정 분석·설계</vt:lpstr>
      <vt:lpstr>19. 피드백</vt:lpstr>
      <vt:lpstr>20. 도메인 주도 설계</vt:lpstr>
      <vt:lpstr>21. 온톨로지</vt:lpstr>
      <vt:lpstr>22. AI 기반 소프트웨어공학</vt:lpstr>
      <vt:lpstr>23. 실습 — 문제·요구사항·해결책</vt:lpstr>
      <vt:lpstr>24. 실습 — 검토 예시(모범답안)</vt:lpstr>
      <vt:lpstr>25.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OOAD 개요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