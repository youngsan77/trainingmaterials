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지도를 제시하고, 다섯 다이어그램은 코드와 함께 미리 보여 준다.</a:t>
            </a:r>
          </a:p>
          <a:p>
            <a:pPr lvl="0"/>
            <a:r>
              <a:rPr lang="ko-KR" sz="1200"/>
              <a:t>세부 개념은 뒤 세션에서 같은 사례를 반복하며 깊게 다룬다. 원칙은 guides/sw-engineering-principles.md를 따른다.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34(1):135–137, 2001, 항목 TWO 원문 확인. 같은 항목은 재작업을 "더 일찍 발견해 더 싸게 고칠 수 있었던 문제에 쓴 노력"으로 정의한다.</a:t>
            </a:r>
          </a:p>
          <a:p>
            <a:pPr lvl="0"/>
            <a:r>
              <a:rPr lang="ko-KR" sz="1200"/>
              <a:t>요구사항 오류 인용 근거: Karl Wiegers, "When Bad Requirements Happen to Nice People", Jama Software 블로그(2013). 이 글은 수치의 출처를 밝히지 않는다.</a:t>
            </a:r>
          </a:p>
          <a:p>
            <a:pPr lvl="0"/>
            <a:r>
              <a:rPr lang="ko-KR" sz="1200"/>
              <a:t>수치의 원전으로 알려진 Leffingwell, "Calculating the Return on Investment from More Effective Requirements Management", *American Programmer* 10(4), 1997은 확인하지 못했다. IfSQ는 같은 원전을 "요구사항 변경이 재작업의 70~85%"로 요약한다(IfSQ, "70% of rework caused by changing requirements"). 재인용처마다 오류·변경으로 해석이 갈리므로 원전의 수치로 단정하지 않는다.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사용자 이야기, 도메인 이벤트가 모두 이벤트를 출발점으로 삼는다는 근거는 "02. 요구 분석과 유스케이스"의 「07. 이벤트 중심 요구」·「08. 이벤트 중심 기법」에서 다룬다.</a:t>
            </a:r>
          </a:p>
          <a:p>
            <a:pPr lvl="0"/>
            <a:r>
              <a:rPr lang="ko-KR" sz="1200"/>
              <a:t>화면·기술 요소를 요구에 섞는 잘못된 관행은 "02. 요구 분석과 유스케이스"의 「37. 잘못된 관행 — 화면·기술 요소」에서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Brooks, "No Silver Bullet — Essence and Accidents of Software Engineering", UNC Technical Report TR86-020(1986), Essential Difficulties의 Complexity 원문 확인.</a:t>
            </a:r>
          </a:p>
          <a:p>
            <a:pPr lvl="0"/>
            <a:r>
              <a:rPr lang="ko-KR" sz="1200"/>
              <a:t>기술은 우연적 어려움을 줄일 수 있지만 본질적 어려움을 제거하지는 못한다.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a:p>
            <a:pPr lvl="0"/>
            <a:r>
              <a:rPr lang="ko-KR" sz="1200"/>
              <a:t>Booch, *Object-Oriented Analysis and Design with Applications*(2nd ed., 1994) 원서 본문은 미확인이다(www). 재인용처: tutorialspoint, "OOAD — Object Oriented Paradigm". 정의의 영어 문구가 이 페이지와 일치함을 확인했다.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문제다(「27. 피드백」).</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성숙도가 낮을 때의 보완 — 고객의 요구 표현이 낮으면 관찰·예시·프로토타입으로, 개발자의 도메인 이해가 낮으면 이벤트·용어를 합의한 모델로, 기술 숙련이 낮으면 스파이크·작은 구현으로, 팀워크가 낮으면 결정 근거를 명시하고 짧은 주기로 맞춘다.</a:t>
            </a:r>
          </a:p>
          <a:p>
            <a:pPr lvl="0"/>
            <a:r>
              <a:rPr lang="ko-KR" sz="1200"/>
              <a:t>접근별 비교는 "02. 요구 분석과 유스케이스"의 「09. 반복적 접근」, 누가 요구를 아는지와 불확실성에 따른 경우별 접근은 "02. 요구 분석과 유스케이스"의 「13. 누가 요구를 아는가?」·「14. 업무·기술 불확실성」·「15. 경우별 접근법」에서 다룬다.</a:t>
            </a:r>
          </a:p>
          <a:p>
            <a:pPr lvl="0"/>
            <a:r>
              <a:rPr lang="ko-KR" sz="1200"/>
              <a:t>성숙도가 높으면 대화·스케치·코드·테스트로 가볍게 간다. 모델의 개수가 품질의 척도는 아니다.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도메인 모델은 "03. 정적 모델 — 도메인 개념과 관계"의 「09. 클래스 다이어그램」, 설계로의 전환은 "06. 분석 모델에서 설계 모델로"에서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SSD와 시스템 오퍼레이션은 "02. 요구 분석과 유스케이스"의 「41. 시스템 시퀀스 다이어그램」·「44. 정제된 SSD」에서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도메인 객체의 상호작용은 "04. 동적 모델 — 상호작용과 상태"의 「19. 시퀀스 다이어그램」에서 다룬다. 설계 객체의 상호작용은 "07. 책임·협력·계약"에서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표기와 시퀀스와의 비교는 "04. 동적 모델 — 상호작용과 상태"의 「28. 커뮤니케이션 다이어그램」에서 다룬다.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다이어그램의 한 관점만 옮긴 예시다. 자동 변환이나 최종 설계가 아니다.</a:t>
            </a:r>
          </a:p>
          <a:p>
            <a:pPr lvl="0"/>
            <a:r>
              <a:rPr lang="ko-KR" sz="1200"/>
              <a:t>상태 값은 "03. 정적 모델 — 도메인 개념과 관계"의 「06. 상태 값과 상태 전이」와 같다. 취소는 결제 완료·배송 시작 전 주문만 할 수 있다는 "02. 요구 분석과 유스케이스"의 전제를 따른다.</a:t>
            </a:r>
          </a:p>
          <a:p>
            <a:pPr lvl="0"/>
            <a:r>
              <a:rPr lang="ko-KR" sz="1200"/>
              <a:t>결제·배송 시스템의 통보와 취소 처리 중 상태까지 포함한 주문의 생애는 "04. 동적 모델 — 상호작용과 상태"의 「32. 상태 기계 다이어그램」·「33. 주문 상태 기계」에서 다룬다.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 통과가 정책의 결정은 아니다. 미확정 정책은 테스트 기대값으로 대신 정하지 않는다.</a:t>
            </a:r>
          </a:p>
          <a:p>
            <a:pPr lvl="0"/>
            <a:r>
              <a:rPr lang="ko-KR" sz="1200"/>
              <a:t>요구 예시와 행위 주도 개발은 "02. 요구 분석과 유스케이스"의 「51. 행위 주도 개발」에서 다룬다.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정의의 ISO/IEC/IEEE 42010 표준 본문은 미확인이다(www). 재인용처: 42010 정의를 그대로 재수록한 NIST 공식 용어집(CSRC Glossary, "architecture")에서 영어 문구를 확인했다.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경계는 "05. 구조적 경계와 의존성", 책임 배치는 "07. 책임·협력·계약"에서 다룬다.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Alan Kay가 Stefan Ram에게 보낸 이메일(2003-07-23). Stefan Ram이 공개한 원문 페이지에서 확인했다.</a:t>
            </a:r>
          </a:p>
          <a:p>
            <a:pPr lvl="0"/>
            <a:r>
              <a:rPr lang="ko-KR" sz="1200"/>
              <a:t>객체지향을 클래스와 상속만으로 설명하지 않는다. 객체는 데이터를 담는 단위가 아니라, 정보와 규칙으로 판단하는 단위다.</a:t>
            </a:r>
          </a:p>
          <a:p>
            <a:pPr lvl="0"/>
            <a:r>
              <a:rPr lang="ko-KR" sz="1200"/>
              <a:t>출고 중단이 먼저인 이유 — 이미 출고됐다면 환불하면 안 된다.</a:t>
            </a:r>
          </a:p>
          <a:p>
            <a:pPr lvl="0"/>
            <a:r>
              <a:rPr lang="ko-KR" sz="1200"/>
              <a:t>순서는 "04. 동적 모델 — 상호작용과 상태"의 「26. 주문 취소 시퀀스」, 설계는 "06. 분석 모델에서 설계 모델로"의 「24. 주문 취소 설계 시퀀스」와 같다. 외부 시스템과의 형식은 연동이 맡는다("05. 구조적 경계와 의존성").</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경계마다 명시할 것과 열어 둘 것은 「10.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「07. 본질적 어려움과 우연적 어려움」과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「13. 통합 모델링 언어」, 「09. 분석과 설계」, 「23. 분석 모델에서 설계 모델로」, 「21. 책임과 경계」·「22. 메시지와 협력」, 「07. 본질적 어려움과 우연적 어려움」, 「24. 적정 분석·설계」·「27. 피드백」. 절차만 갖추는 오해와 해 보기만 하는 오해는 「25. 북 스마트와 스트리트 스마트」에서 다뤘다.</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"13. OOAD에서 전문영역으로 — Architecture · DDD · MSA"와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Part II "The Building Blocks of a Model-Driven Design" 서두 원문 확인. 한글은 원문 세 문장의 핵심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이 과정은 그 연결을 "13. OOAD에서 전문영역으로 — Architecture · DDD · MSA"에서 소개한다. 전략적·전술적 설계는 개괄 수준에서만 다룬다.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세 관심의 연결은 이 과정의 교육용 정리다. Gruber가 OOAD→DDD→온톨로지 순서를 제안했다는 의미가 아니다. 셋 모두 설계 판단의 근거가 되고, 구현·검증의 증거로 다시 고쳐진다.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강의의 주문 사례와 방법은 같지만 모델을 그대로 옮길 수는 없다.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「29.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문제 → 요구사항 → 해결책</a:t>
            </a:r>
          </a:p>
          <a:p>
            <a:pPr lvl="1" marL="355600" indent="0">
              <a:spcBef>
                <a:spcPts val="300"/>
              </a:spcBef>
              <a:spcAft>
                <a:spcPts val="300"/>
              </a:spcAft>
              <a:buNone/>
            </a:pPr>
            <a:r>
              <a:rPr sz="1600" b="0">
                <a:solidFill>
                  <a:srgbClr val="000000"/>
                </a:solidFill>
                <a:latin typeface="맑은 고딕"/>
                <a:ea typeface="맑은 고딕"/>
              </a:rPr>
              <a:t>06. 이벤트 관점</a:t>
            </a:r>
          </a:p>
          <a:p>
            <a:pPr lvl="1" marL="355600" indent="0">
              <a:spcBef>
                <a:spcPts val="300"/>
              </a:spcBef>
              <a:spcAft>
                <a:spcPts val="300"/>
              </a:spcAft>
              <a:buNone/>
            </a:pPr>
            <a:r>
              <a:rPr sz="1600" b="0">
                <a:solidFill>
                  <a:srgbClr val="000000"/>
                </a:solidFill>
                <a:latin typeface="맑은 고딕"/>
                <a:ea typeface="맑은 고딕"/>
              </a:rPr>
              <a:t>07.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08. 주문 취소의 복잡성</a:t>
            </a:r>
          </a:p>
          <a:p>
            <a:pPr lvl="1" marL="355600" indent="0">
              <a:spcBef>
                <a:spcPts val="300"/>
              </a:spcBef>
              <a:spcAft>
                <a:spcPts val="300"/>
              </a:spcAft>
              <a:buNone/>
            </a:pPr>
            <a:r>
              <a:rPr sz="1600" b="0">
                <a:solidFill>
                  <a:srgbClr val="000000"/>
                </a:solidFill>
                <a:latin typeface="맑은 고딕"/>
                <a:ea typeface="맑은 고딕"/>
              </a:rPr>
              <a:t>09. 분석과 설계</a:t>
            </a:r>
          </a:p>
          <a:p>
            <a:pPr lvl="1" marL="355600" indent="0">
              <a:spcBef>
                <a:spcPts val="300"/>
              </a:spcBef>
              <a:spcAft>
                <a:spcPts val="300"/>
              </a:spcAft>
              <a:buNone/>
            </a:pPr>
            <a:r>
              <a:rPr sz="1600" b="0">
                <a:solidFill>
                  <a:srgbClr val="000000"/>
                </a:solidFill>
                <a:latin typeface="맑은 고딕"/>
                <a:ea typeface="맑은 고딕"/>
              </a:rPr>
              <a:t>10. 결정 경계</a:t>
            </a:r>
          </a:p>
          <a:p>
            <a:pPr lvl="1" marL="355600" indent="0">
              <a:spcBef>
                <a:spcPts val="300"/>
              </a:spcBef>
              <a:spcAft>
                <a:spcPts val="300"/>
              </a:spcAft>
              <a:buNone/>
            </a:pPr>
            <a:r>
              <a:rPr sz="1600" b="0">
                <a:solidFill>
                  <a:srgbClr val="000000"/>
                </a:solidFill>
                <a:latin typeface="맑은 고딕"/>
                <a:ea typeface="맑은 고딕"/>
              </a:rPr>
              <a:t>11. 분석·설계 방법</a:t>
            </a:r>
          </a:p>
          <a:p>
            <a:pPr lvl="1" marL="355600" indent="0">
              <a:spcBef>
                <a:spcPts val="300"/>
              </a:spcBef>
              <a:spcAft>
                <a:spcPts val="300"/>
              </a:spcAft>
              <a:buNone/>
            </a:pPr>
            <a:r>
              <a:rPr sz="1600" b="0">
                <a:solidFill>
                  <a:srgbClr val="000000"/>
                </a:solidFill>
                <a:latin typeface="맑은 고딕"/>
                <a:ea typeface="맑은 고딕"/>
              </a:rPr>
              <a:t>12. 맥락과 접근법</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클래스 다이어그램</a:t>
            </a:r>
          </a:p>
          <a:p>
            <a:pPr lvl="1" marL="355600" indent="0">
              <a:spcBef>
                <a:spcPts val="300"/>
              </a:spcBef>
              <a:spcAft>
                <a:spcPts val="300"/>
              </a:spcAft>
              <a:buNone/>
            </a:pPr>
            <a:r>
              <a:rPr sz="1600" b="0">
                <a:solidFill>
                  <a:srgbClr val="000000"/>
                </a:solidFill>
                <a:latin typeface="맑은 고딕"/>
                <a:ea typeface="맑은 고딕"/>
              </a:rPr>
              <a:t>15. 시스템 시퀀스 다이어그램</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분석 시퀀스 다이어그램</a:t>
            </a:r>
          </a:p>
          <a:p>
            <a:pPr lvl="1" marL="355600" indent="0">
              <a:spcBef>
                <a:spcPts val="300"/>
              </a:spcBef>
              <a:spcAft>
                <a:spcPts val="300"/>
              </a:spcAft>
              <a:buNone/>
            </a:pPr>
            <a:r>
              <a:rPr sz="1600" b="0">
                <a:solidFill>
                  <a:srgbClr val="000000"/>
                </a:solidFill>
                <a:latin typeface="맑은 고딕"/>
                <a:ea typeface="맑은 고딕"/>
              </a:rPr>
              <a:t>17. 커뮤니케이션 다이어그램</a:t>
            </a:r>
          </a:p>
          <a:p>
            <a:pPr lvl="1" marL="355600" indent="0">
              <a:spcBef>
                <a:spcPts val="300"/>
              </a:spcBef>
              <a:spcAft>
                <a:spcPts val="300"/>
              </a:spcAft>
              <a:buNone/>
            </a:pPr>
            <a:r>
              <a:rPr sz="1600" b="0">
                <a:solidFill>
                  <a:srgbClr val="000000"/>
                </a:solidFill>
                <a:latin typeface="맑은 고딕"/>
                <a:ea typeface="맑은 고딕"/>
              </a:rPr>
              <a:t>18. 상태 기계 다이어그램</a:t>
            </a:r>
          </a:p>
          <a:p>
            <a:pPr lvl="1" marL="355600" indent="0">
              <a:spcBef>
                <a:spcPts val="300"/>
              </a:spcBef>
              <a:spcAft>
                <a:spcPts val="300"/>
              </a:spcAft>
              <a:buNone/>
            </a:pPr>
            <a:r>
              <a:rPr sz="1600" b="0">
                <a:solidFill>
                  <a:srgbClr val="000000"/>
                </a:solidFill>
                <a:latin typeface="맑은 고딕"/>
                <a:ea typeface="맑은 고딕"/>
              </a:rPr>
              <a:t>19. 요구에서 테스트로</a:t>
            </a:r>
          </a:p>
          <a:p>
            <a:pPr lvl="1" marL="355600" indent="0">
              <a:spcBef>
                <a:spcPts val="300"/>
              </a:spcBef>
              <a:spcAft>
                <a:spcPts val="300"/>
              </a:spcAft>
              <a:buNone/>
            </a:pPr>
            <a:r>
              <a:rPr sz="1600" b="0">
                <a:solidFill>
                  <a:srgbClr val="000000"/>
                </a:solidFill>
                <a:latin typeface="맑은 고딕"/>
                <a:ea typeface="맑은 고딕"/>
              </a:rPr>
              <a:t>20. 소프트웨어 아키텍처</a:t>
            </a:r>
          </a:p>
          <a:p>
            <a:pPr lvl="1" marL="355600" indent="0">
              <a:spcBef>
                <a:spcPts val="300"/>
              </a:spcBef>
              <a:spcAft>
                <a:spcPts val="300"/>
              </a:spcAft>
              <a:buNone/>
            </a:pPr>
            <a:r>
              <a:rPr sz="1600" b="0">
                <a:solidFill>
                  <a:srgbClr val="000000"/>
                </a:solidFill>
                <a:latin typeface="맑은 고딕"/>
                <a:ea typeface="맑은 고딕"/>
              </a:rPr>
              <a:t>21. 책임과 경계</a:t>
            </a:r>
          </a:p>
          <a:p>
            <a:pPr lvl="1" marL="355600" indent="0">
              <a:spcBef>
                <a:spcPts val="300"/>
              </a:spcBef>
              <a:spcAft>
                <a:spcPts val="300"/>
              </a:spcAft>
              <a:buNone/>
            </a:pPr>
            <a:r>
              <a:rPr sz="1600" b="0">
                <a:solidFill>
                  <a:srgbClr val="000000"/>
                </a:solidFill>
                <a:latin typeface="맑은 고딕"/>
                <a:ea typeface="맑은 고딕"/>
              </a:rPr>
              <a:t>22. 메시지와 협력</a:t>
            </a:r>
          </a:p>
          <a:p>
            <a:pPr lvl="1" marL="355600" indent="0">
              <a:spcBef>
                <a:spcPts val="300"/>
              </a:spcBef>
              <a:spcAft>
                <a:spcPts val="300"/>
              </a:spcAft>
              <a:buNone/>
            </a:pPr>
            <a:r>
              <a:rPr sz="1600" b="0">
                <a:solidFill>
                  <a:srgbClr val="000000"/>
                </a:solidFill>
                <a:latin typeface="맑은 고딕"/>
                <a:ea typeface="맑은 고딕"/>
              </a:rPr>
              <a:t>23. 분석 모델에서 설계 모델로</a:t>
            </a:r>
          </a:p>
          <a:p>
            <a:pPr lvl="1" marL="355600" indent="0">
              <a:spcBef>
                <a:spcPts val="300"/>
              </a:spcBef>
              <a:spcAft>
                <a:spcPts val="300"/>
              </a:spcAft>
              <a:buNone/>
            </a:pPr>
            <a:r>
              <a:rPr sz="1600" b="0">
                <a:solidFill>
                  <a:srgbClr val="000000"/>
                </a:solidFill>
                <a:latin typeface="맑은 고딕"/>
                <a:ea typeface="맑은 고딕"/>
              </a:rPr>
              <a:t>24. 적정 분석·설계</a:t>
            </a:r>
          </a:p>
          <a:p>
            <a:pPr lvl="1" marL="355600" indent="0">
              <a:spcBef>
                <a:spcPts val="300"/>
              </a:spcBef>
              <a:spcAft>
                <a:spcPts val="300"/>
              </a:spcAft>
              <a:buNone/>
            </a:pPr>
            <a:r>
              <a:rPr sz="1600" b="0">
                <a:solidFill>
                  <a:srgbClr val="000000"/>
                </a:solidFill>
                <a:latin typeface="맑은 고딕"/>
                <a:ea typeface="맑은 고딕"/>
              </a:rPr>
              <a:t>25. 북 스마트와 스트리트 스마트</a:t>
            </a:r>
          </a:p>
          <a:p>
            <a:pPr lvl="1" marL="355600" indent="0">
              <a:spcBef>
                <a:spcPts val="300"/>
              </a:spcBef>
              <a:spcAft>
                <a:spcPts val="300"/>
              </a:spcAft>
              <a:buNone/>
            </a:pPr>
            <a:r>
              <a:rPr sz="1600" b="0">
                <a:solidFill>
                  <a:srgbClr val="000000"/>
                </a:solidFill>
                <a:latin typeface="맑은 고딕"/>
                <a:ea typeface="맑은 고딕"/>
              </a:rPr>
              <a:t>26. KISS·DRY·YAGNI</a:t>
            </a:r>
          </a:p>
          <a:p>
            <a:pPr lvl="1" marL="355600" indent="0">
              <a:spcBef>
                <a:spcPts val="300"/>
              </a:spcBef>
              <a:spcAft>
                <a:spcPts val="300"/>
              </a:spcAft>
              <a:buNone/>
            </a:pPr>
            <a:r>
              <a:rPr sz="1600" b="0">
                <a:solidFill>
                  <a:srgbClr val="000000"/>
                </a:solidFill>
                <a:latin typeface="맑은 고딕"/>
                <a:ea typeface="맑은 고딕"/>
              </a:rPr>
              <a:t>27. 피드백</a:t>
            </a:r>
          </a:p>
          <a:p>
            <a:pPr lvl="1" marL="355600" indent="0">
              <a:spcBef>
                <a:spcPts val="300"/>
              </a:spcBef>
              <a:spcAft>
                <a:spcPts val="300"/>
              </a:spcAft>
              <a:buNone/>
            </a:pPr>
            <a:r>
              <a:rPr sz="1600" b="0">
                <a:solidFill>
                  <a:srgbClr val="000000"/>
                </a:solidFill>
                <a:latin typeface="맑은 고딕"/>
                <a:ea typeface="맑은 고딕"/>
              </a:rPr>
              <a:t>28. 흔한 오해</a:t>
            </a:r>
          </a:p>
          <a:p>
            <a:pPr lvl="1" marL="355600" indent="0">
              <a:spcBef>
                <a:spcPts val="300"/>
              </a:spcBef>
              <a:spcAft>
                <a:spcPts val="300"/>
              </a:spcAft>
              <a:buNone/>
            </a:pPr>
            <a:r>
              <a:rPr sz="1600" b="0">
                <a:solidFill>
                  <a:srgbClr val="000000"/>
                </a:solidFill>
                <a:latin typeface="맑은 고딕"/>
                <a:ea typeface="맑은 고딕"/>
              </a:rPr>
              <a:t>29. 전문 영역으로의 확장</a:t>
            </a:r>
          </a:p>
          <a:p>
            <a:pPr lvl="1" marL="355600" indent="0">
              <a:spcBef>
                <a:spcPts val="300"/>
              </a:spcBef>
              <a:spcAft>
                <a:spcPts val="300"/>
              </a:spcAft>
              <a:buNone/>
            </a:pPr>
            <a:r>
              <a:rPr sz="1600" b="0">
                <a:solidFill>
                  <a:srgbClr val="000000"/>
                </a:solidFill>
                <a:latin typeface="맑은 고딕"/>
                <a:ea typeface="맑은 고딕"/>
              </a:rPr>
              <a:t>30. 도메인 주도 설계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온톨로지</a:t>
            </a:r>
          </a:p>
          <a:p>
            <a:pPr lvl="1" marL="355600" indent="0">
              <a:spcBef>
                <a:spcPts val="300"/>
              </a:spcBef>
              <a:spcAft>
                <a:spcPts val="300"/>
              </a:spcAft>
              <a:buNone/>
            </a:pPr>
            <a:r>
              <a:rPr sz="1600" b="0">
                <a:solidFill>
                  <a:srgbClr val="000000"/>
                </a:solidFill>
                <a:latin typeface="맑은 고딕"/>
                <a:ea typeface="맑은 고딕"/>
              </a:rPr>
              <a:t>32. AI 기반 소프트웨어공학</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요구사항 명세서</a:t>
            </a:r>
          </a:p>
          <a:p>
            <a:pPr lvl="1" marL="355600" indent="0">
              <a:spcBef>
                <a:spcPts val="300"/>
              </a:spcBef>
              <a:spcAft>
                <a:spcPts val="300"/>
              </a:spcAft>
              <a:buNone/>
            </a:pPr>
            <a:r>
              <a:rPr sz="1600" b="0">
                <a:solidFill>
                  <a:srgbClr val="000000"/>
                </a:solidFill>
                <a:latin typeface="맑은 고딕"/>
                <a:ea typeface="맑은 고딕"/>
              </a:rPr>
              <a:t>34. 요구사항 명세서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분석·설계가 </a:t>
            </a:r>
            <a:r>
              <a:rPr sz="1800" b="1">
                <a:solidFill>
                  <a:srgbClr val="000000"/>
                </a:solidFill>
                <a:latin typeface="맑은 고딕"/>
                <a:ea typeface="맑은 고딕"/>
              </a:rPr>
              <a:t>필요한 이유</a:t>
            </a:r>
            <a:r>
              <a:rPr sz="1800" b="0">
                <a:solidFill>
                  <a:srgbClr val="000000"/>
                </a:solidFill>
                <a:latin typeface="맑은 고딕"/>
                <a:ea typeface="맑은 고딕"/>
              </a:rPr>
              <a:t>를 이해하고, </a:t>
            </a:r>
            <a:r>
              <a:rPr sz="1800" b="1">
                <a:solidFill>
                  <a:srgbClr val="000000"/>
                </a:solidFill>
                <a:latin typeface="맑은 고딕"/>
                <a:ea typeface="맑은 고딕"/>
              </a:rPr>
              <a:t>문제·요구사항·해결책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요구·분석·설계·코드가 각각 </a:t>
            </a:r>
            <a:r>
              <a:rPr sz="1800" b="1">
                <a:solidFill>
                  <a:srgbClr val="000000"/>
                </a:solidFill>
                <a:latin typeface="맑은 고딕"/>
                <a:ea typeface="맑은 고딕"/>
              </a:rPr>
              <a:t>어떤 결정</a:t>
            </a:r>
            <a:r>
              <a:rPr sz="1800" b="0">
                <a:solidFill>
                  <a:srgbClr val="000000"/>
                </a:solidFill>
                <a:latin typeface="맑은 고딕"/>
                <a:ea typeface="맑은 고딕"/>
              </a:rPr>
              <a:t>을 내리고 어디서 검증하는지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요구를 </a:t>
            </a:r>
            <a:r>
              <a:rPr sz="1800" b="1">
                <a:solidFill>
                  <a:srgbClr val="000000"/>
                </a:solidFill>
                <a:latin typeface="맑은 고딕"/>
                <a:ea typeface="맑은 고딕"/>
              </a:rPr>
              <a:t>이벤트 관점</a:t>
            </a:r>
            <a:r>
              <a:rPr sz="1800" b="0">
                <a:solidFill>
                  <a:srgbClr val="000000"/>
                </a:solidFill>
                <a:latin typeface="맑은 고딕"/>
                <a:ea typeface="맑은 고딕"/>
              </a:rPr>
              <a:t>으로 보고, 관점을 섞는 문제를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이해하고, 다이어그램이 </a:t>
            </a:r>
            <a:r>
              <a:rPr sz="1800" b="1">
                <a:solidFill>
                  <a:srgbClr val="000000"/>
                </a:solidFill>
                <a:latin typeface="맑은 고딕"/>
                <a:ea typeface="맑은 고딕"/>
              </a:rPr>
              <a:t>코드·테스트</a:t>
            </a:r>
            <a:r>
              <a:rPr sz="1800" b="0">
                <a:solidFill>
                  <a:srgbClr val="000000"/>
                </a:solidFill>
                <a:latin typeface="맑은 고딕"/>
                <a:ea typeface="맑은 고딕"/>
              </a:rPr>
              <a:t>로 어떻게 이어지는지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800" b="1">
                <a:solidFill>
                  <a:srgbClr val="000000"/>
                </a:solidFill>
                <a:latin typeface="맑은 고딕"/>
                <a:ea typeface="맑은 고딕"/>
              </a:rPr>
              <a:t>경계</a:t>
            </a:r>
            <a:r>
              <a:rPr sz="1800" b="0">
                <a:solidFill>
                  <a:srgbClr val="000000"/>
                </a:solidFill>
                <a:latin typeface="맑은 고딕"/>
                <a:ea typeface="맑은 고딕"/>
              </a:rPr>
              <a:t>, </a:t>
            </a:r>
            <a:r>
              <a:rPr sz="1800" b="1">
                <a:solidFill>
                  <a:srgbClr val="000000"/>
                </a:solidFill>
                <a:latin typeface="맑은 고딕"/>
                <a:ea typeface="맑은 고딕"/>
              </a:rPr>
              <a:t>협력</a:t>
            </a:r>
            <a:r>
              <a:rPr sz="1800" b="0">
                <a:solidFill>
                  <a:srgbClr val="000000"/>
                </a:solidFill>
                <a:latin typeface="맑은 고딕"/>
                <a:ea typeface="맑은 고딕"/>
              </a:rPr>
              <a:t>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맥락에 맞는 </a:t>
            </a:r>
            <a:r>
              <a:rPr sz="1800" b="1">
                <a:solidFill>
                  <a:srgbClr val="000000"/>
                </a:solidFill>
                <a:latin typeface="맑은 고딕"/>
                <a:ea typeface="맑은 고딕"/>
              </a:rPr>
              <a:t>적정 수준</a:t>
            </a:r>
            <a:r>
              <a:rPr sz="1800" b="0">
                <a:solidFill>
                  <a:srgbClr val="000000"/>
                </a:solidFill>
                <a:latin typeface="맑은 고딕"/>
                <a:ea typeface="맑은 고딕"/>
              </a:rPr>
              <a:t>을 판단하고, 원칙</a:t>
            </a:r>
            <a:r>
              <a:rPr sz="1400" b="0">
                <a:solidFill>
                  <a:srgbClr val="000000"/>
                </a:solidFill>
                <a:latin typeface="맑은 고딕"/>
                <a:ea typeface="맑은 고딕"/>
              </a:rPr>
              <a:t>(KISS·DRY·YAGNI)</a:t>
            </a:r>
            <a:r>
              <a:rPr sz="1800" b="0">
                <a:solidFill>
                  <a:srgbClr val="000000"/>
                </a:solidFill>
                <a:latin typeface="맑은 고딕"/>
                <a:ea typeface="맑은 고딕"/>
              </a:rPr>
              <a:t>을 판단의 도구로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a:t>
            </a:r>
            <a:r>
              <a:rPr sz="1800" b="1">
                <a:solidFill>
                  <a:srgbClr val="000000"/>
                </a:solidFill>
                <a:latin typeface="맑은 고딕"/>
                <a:ea typeface="맑은 고딕"/>
              </a:rPr>
              <a:t>도메인 주도 설계</a:t>
            </a:r>
            <a:r>
              <a:rPr sz="1800" b="0">
                <a:solidFill>
                  <a:srgbClr val="000000"/>
                </a:solidFill>
                <a:latin typeface="맑은 고딕"/>
                <a:ea typeface="맑은 고딕"/>
              </a:rPr>
              <a:t>, </a:t>
            </a:r>
            <a:r>
              <a:rPr sz="1800" b="1">
                <a:solidFill>
                  <a:srgbClr val="000000"/>
                </a:solidFill>
                <a:latin typeface="맑은 고딕"/>
                <a:ea typeface="맑은 고딕"/>
              </a:rPr>
              <a:t>온톨로지</a:t>
            </a:r>
            <a:r>
              <a:rPr sz="1800" b="0">
                <a:solidFill>
                  <a:srgbClr val="000000"/>
                </a:solidFill>
                <a:latin typeface="맑은 고딕"/>
                <a:ea typeface="맑은 고딕"/>
              </a:rPr>
              <a:t>, </a:t>
            </a:r>
            <a:r>
              <a:rPr sz="1800" b="1">
                <a:solidFill>
                  <a:srgbClr val="000000"/>
                </a:solidFill>
                <a:latin typeface="맑은 고딕"/>
                <a:ea typeface="맑은 고딕"/>
              </a:rPr>
              <a:t>AI 기반 소프트웨어공학</a:t>
            </a:r>
            <a:r>
              <a:rPr sz="1800" b="0">
                <a:solidFill>
                  <a:srgbClr val="000000"/>
                </a:solidFill>
                <a:latin typeface="맑은 고딕"/>
                <a:ea typeface="맑은 고딕"/>
              </a:rPr>
              <a:t>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a:t>
            </a:r>
            <a:r>
              <a:rPr sz="1800" b="1">
                <a:solidFill>
                  <a:srgbClr val="000000"/>
                </a:solidFill>
                <a:latin typeface="맑은 고딕"/>
                <a:ea typeface="맑은 고딕"/>
              </a:rPr>
              <a:t>오류</a:t>
            </a:r>
            <a:r>
              <a:rPr sz="1800" b="0">
                <a:solidFill>
                  <a:srgbClr val="000000"/>
                </a:solidFill>
                <a:latin typeface="맑은 고딕"/>
                <a:ea typeface="맑은 고딕"/>
              </a:rPr>
              <a:t>가 재작업 비용의 </a:t>
            </a:r>
            <a:r>
              <a:rPr sz="1800" b="1">
                <a:solidFill>
                  <a:srgbClr val="000000"/>
                </a:solidFill>
                <a:latin typeface="맑은 고딕"/>
                <a:ea typeface="맑은 고딕"/>
              </a:rPr>
              <a:t>70~85%</a:t>
            </a:r>
            <a:r>
              <a:rPr sz="1800" b="0">
                <a:solidFill>
                  <a:srgbClr val="000000"/>
                </a:solidFill>
                <a:latin typeface="맑은 고딕"/>
                <a:ea typeface="맑은 고딕"/>
              </a:rPr>
              <a:t>를 차지한다"</a:t>
            </a:r>
            <a:r>
              <a:rPr sz="1000" b="0">
                <a:solidFill>
                  <a:srgbClr val="000000"/>
                </a:solidFill>
                <a:latin typeface="맑은 고딕"/>
                <a:ea typeface="맑은 고딕"/>
              </a:rPr>
              <a:t>, </a:t>
            </a:r>
            <a:r>
              <a:rPr sz="1000" b="0">
                <a:solidFill>
                  <a:srgbClr val="000000"/>
                </a:solidFill>
                <a:latin typeface="맑은 고딕"/>
                <a:ea typeface="맑은 고딕"/>
              </a:rPr>
              <a:t>"requirements errors account for 70 to 85 percent of the rework cost"</a:t>
            </a:r>
            <a:r>
              <a:rPr sz="1000" b="0">
                <a:solidFill>
                  <a:srgbClr val="000000"/>
                </a:solidFill>
                <a:latin typeface="맑은 고딕"/>
                <a:ea typeface="맑은 고딕"/>
              </a:rPr>
              <a:t>, </a:t>
            </a:r>
            <a:r>
              <a:rPr sz="1000" b="0">
                <a:solidFill>
                  <a:srgbClr val="000000"/>
                </a:solidFill>
                <a:latin typeface="맑은 고딕"/>
                <a:ea typeface="맑은 고딕"/>
              </a:rPr>
              <a:t>[Wiegers 2013]</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84255"/>
            <a:ext cx="8412480" cy="274320"/>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1460500" y="4858575"/>
            <a:ext cx="6223000"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[Johnson 2002, 재인용]</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8643"/>
            <a:ext cx="8412480" cy="274320"/>
          </a:xfrm>
          <a:prstGeom prst="rect">
            <a:avLst/>
          </a:prstGeom>
          <a:noFill/>
        </p:spPr>
        <p:txBody>
          <a:bodyPr wrap="square">
            <a:spAutoFit/>
          </a:bodyPr>
          <a:lstStyle/>
          <a:p>
            <a:pPr algn="ctr"/>
            <a:r>
              <a:rPr sz="1400" b="1">
                <a:solidFill>
                  <a:srgbClr val="000000"/>
                </a:solidFill>
                <a:latin typeface="맑은 고딕"/>
                <a:ea typeface="맑은 고딕"/>
              </a:rPr>
              <a:t>기능 사용 빈도</a:t>
            </a:r>
          </a:p>
        </p:txBody>
      </p:sp>
      <p:pic>
        <p:nvPicPr>
          <p:cNvPr id="10" name="chart Diagram 1"/>
          <p:cNvPicPr>
            <a:picLocks noChangeAspect="1"/>
          </p:cNvPicPr>
          <p:nvPr/>
        </p:nvPicPr>
        <p:blipFill>
          <a:blip r:embed="chartImage1"/>
          <a:stretch>
            <a:fillRect/>
          </a:stretch>
        </p:blipFill>
        <p:spPr>
          <a:xfrm>
            <a:off x="2651760" y="3662963"/>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풀려고 </a:t>
            </a:r>
            <a:r>
              <a:rPr sz="1800" b="1">
                <a:solidFill>
                  <a:srgbClr val="000000"/>
                </a:solidFill>
                <a:latin typeface="맑은 고딕"/>
                <a:ea typeface="맑은 고딕"/>
              </a:rPr>
              <a:t>요구사항</a:t>
            </a:r>
            <a:r>
              <a:rPr sz="1800" b="0">
                <a:solidFill>
                  <a:srgbClr val="000000"/>
                </a:solidFill>
                <a:latin typeface="맑은 고딕"/>
                <a:ea typeface="맑은 고딕"/>
              </a:rPr>
              <a:t>을 정하고, 요구사항을 만족시킬 </a:t>
            </a:r>
            <a:r>
              <a:rPr sz="1800" b="1">
                <a:solidFill>
                  <a:srgbClr val="000000"/>
                </a:solidFill>
                <a:latin typeface="맑은 고딕"/>
                <a:ea typeface="맑은 고딕"/>
              </a:rPr>
              <a:t>해결책</a:t>
            </a:r>
            <a:r>
              <a:rPr sz="1800" b="0">
                <a:solidFill>
                  <a:srgbClr val="000000"/>
                </a:solidFill>
                <a:latin typeface="맑은 고딕"/>
                <a:ea typeface="맑은 고딕"/>
              </a:rPr>
              <a:t>을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은 세 단계의 선택을 모두 제한한다.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4597"/>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460500" y="3988917"/>
            <a:ext cx="6223000"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문제 → 요구사항 → 해결책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요청 속의 해결책</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요청 “주문 화면에 취소 버튼을 추가해 주세요.”에는 이미 </a:t>
            </a:r>
            <a:r>
              <a:rPr sz="1800" b="1">
                <a:solidFill>
                  <a:srgbClr val="000000"/>
                </a:solidFill>
                <a:latin typeface="맑은 고딕"/>
                <a:ea typeface="맑은 고딕"/>
              </a:rPr>
              <a:t>해결책</a:t>
            </a:r>
            <a:r>
              <a:rPr sz="1400" b="0">
                <a:solidFill>
                  <a:srgbClr val="000000"/>
                </a:solidFill>
                <a:latin typeface="맑은 고딕"/>
                <a:ea typeface="맑은 고딕"/>
              </a:rPr>
              <a:t>(버튼)</a:t>
            </a:r>
            <a:r>
              <a:rPr sz="1800" b="0">
                <a:solidFill>
                  <a:srgbClr val="000000"/>
                </a:solidFill>
                <a:latin typeface="맑은 고딕"/>
                <a:ea typeface="맑은 고딕"/>
              </a:rPr>
              <a:t>이 들어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a:t>
            </a:r>
            <a:r>
              <a:rPr sz="1600" b="0">
                <a:solidFill>
                  <a:srgbClr val="000000"/>
                </a:solidFill>
                <a:latin typeface="맑은 고딕"/>
                <a:ea typeface="맑은 고딕"/>
              </a:rPr>
              <a:t> —</a:t>
            </a:r>
            <a:r>
              <a:rPr sz="1400" b="0">
                <a:solidFill>
                  <a:srgbClr val="000000"/>
                </a:solidFill>
                <a:latin typeface="맑은 고딕"/>
                <a:ea typeface="맑은 고딕"/>
              </a:rPr>
              <a:t> 고객이 취소 가능한 주문을 직접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요구사항</a:t>
            </a:r>
            <a:r>
              <a:rPr sz="1600" b="0">
                <a:solidFill>
                  <a:srgbClr val="000000"/>
                </a:solidFill>
                <a:latin typeface="맑은 고딕"/>
                <a:ea typeface="맑은 고딕"/>
              </a:rPr>
              <a:t> —</a:t>
            </a:r>
            <a:r>
              <a:rPr sz="1400" b="0">
                <a:solidFill>
                  <a:srgbClr val="000000"/>
                </a:solidFill>
                <a:latin typeface="맑은 고딕"/>
                <a:ea typeface="맑은 고딕"/>
              </a:rPr>
              <a:t> 취소 가능한 주문은 고객이 직접 취소할 수 있어야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해결책</a:t>
            </a:r>
            <a:r>
              <a:rPr sz="1600" b="0">
                <a:solidFill>
                  <a:srgbClr val="000000"/>
                </a:solidFill>
                <a:latin typeface="맑은 고딕"/>
                <a:ea typeface="맑은 고딕"/>
              </a:rPr>
              <a:t> —</a:t>
            </a:r>
            <a:r>
              <a:rPr sz="1400" b="0">
                <a:solidFill>
                  <a:srgbClr val="000000"/>
                </a:solidFill>
                <a:latin typeface="맑은 고딕"/>
                <a:ea typeface="맑은 고딕"/>
              </a:rPr>
              <a:t> 취소 버튼, </a:t>
            </a:r>
            <a:r>
              <a:rPr sz="14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 요청에서 "왜?"를 물어 문제로 거슬러 오른다.</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이벤트 관점</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이벤트 관점으로 수렴</a:t>
            </a:r>
            <a:r>
              <a:rPr sz="1800" b="0">
                <a:solidFill>
                  <a:srgbClr val="000000"/>
                </a:solidFill>
                <a:latin typeface="맑은 고딕"/>
                <a:ea typeface="맑은 고딕"/>
              </a:rPr>
              <a:t>한다. 많은 문제의 본질은 한 관점으로 보지 않고 </a:t>
            </a:r>
            <a:r>
              <a:rPr sz="1800" b="1">
                <a:solidFill>
                  <a:srgbClr val="000000"/>
                </a:solidFill>
                <a:latin typeface="맑은 고딕"/>
                <a:ea typeface="맑은 고딕"/>
              </a:rPr>
              <a:t>여러 관점을 섞는 것</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섞인 요구</a:t>
            </a:r>
            <a:r>
              <a:rPr sz="1800" b="0">
                <a:solidFill>
                  <a:srgbClr val="000000"/>
                </a:solidFill>
                <a:latin typeface="맑은 고딕"/>
                <a:ea typeface="맑은 고딕"/>
              </a:rPr>
              <a:t> —</a:t>
            </a:r>
            <a:r>
              <a:rPr sz="1600" b="0">
                <a:solidFill>
                  <a:srgbClr val="000000"/>
                </a:solidFill>
                <a:latin typeface="맑은 고딕"/>
                <a:ea typeface="맑은 고딕"/>
              </a:rPr>
              <a:t> "취소 버튼을 누르면 주문 테이블 상태를 C로 바꾼다"에는 화면·데이터·해결책이 한 문장에 섞여 합의할 단위가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배송 전 주문을 취소한다 → 주문이 취소되었다". 화면·데이터·기술은 그 뒤에 각자의 결정으로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28196"/>
            <a:ext cx="8412480" cy="274320"/>
          </a:xfrm>
          <a:prstGeom prst="rect">
            <a:avLst/>
          </a:prstGeom>
          <a:noFill/>
        </p:spPr>
        <p:txBody>
          <a:bodyPr wrap="square">
            <a:spAutoFit/>
          </a:bodyPr>
          <a:lstStyle/>
          <a:p>
            <a:pPr algn="ctr"/>
            <a:r>
              <a:rPr sz="1400" b="1">
                <a:solidFill>
                  <a:srgbClr val="000000"/>
                </a:solidFill>
                <a:latin typeface="맑은 고딕"/>
                <a:ea typeface="맑은 고딕"/>
              </a:rPr>
              <a:t>섞인 요구를 이벤트로</a:t>
            </a:r>
          </a:p>
        </p:txBody>
      </p:sp>
      <p:pic>
        <p:nvPicPr>
          <p:cNvPr id="10" name="mermaid Diagram 3"/>
          <p:cNvPicPr>
            <a:picLocks noChangeAspect="1"/>
          </p:cNvPicPr>
          <p:nvPr/>
        </p:nvPicPr>
        <p:blipFill>
          <a:blip r:embed="mermaidImage3"/>
          <a:stretch>
            <a:fillRect/>
          </a:stretch>
        </p:blipFill>
        <p:spPr>
          <a:xfrm>
            <a:off x="2059167" y="3902516"/>
            <a:ext cx="5025666" cy="247395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어떤 주문</a:t>
            </a:r>
            <a:r>
              <a:rPr sz="1600" b="0">
                <a:solidFill>
                  <a:srgbClr val="000000"/>
                </a:solidFill>
                <a:latin typeface="맑은 고딕"/>
                <a:ea typeface="맑은 고딕"/>
              </a:rPr>
              <a:t>을 </a:t>
            </a:r>
            <a:r>
              <a:rPr sz="1600" b="1">
                <a:solidFill>
                  <a:srgbClr val="000000"/>
                </a:solidFill>
                <a:latin typeface="맑은 고딕"/>
                <a:ea typeface="맑은 고딕"/>
              </a:rPr>
              <a:t>언제</a:t>
            </a:r>
            <a:r>
              <a:rPr sz="1600" b="0">
                <a:solidFill>
                  <a:srgbClr val="000000"/>
                </a:solidFill>
                <a:latin typeface="맑은 고딕"/>
                <a:ea typeface="맑은 고딕"/>
              </a:rPr>
              <a:t> 취소할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결제·배송 상태</a:t>
            </a:r>
            <a:r>
              <a:rPr sz="1600" b="0">
                <a:solidFill>
                  <a:srgbClr val="000000"/>
                </a:solidFill>
                <a:latin typeface="맑은 고딕"/>
                <a:ea typeface="맑은 고딕"/>
              </a:rPr>
              <a:t>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a:t>
            </a:r>
            <a:r>
              <a:rPr sz="1600" b="1">
                <a:solidFill>
                  <a:srgbClr val="000000"/>
                </a:solidFill>
                <a:latin typeface="맑은 고딕"/>
                <a:ea typeface="맑은 고딕"/>
              </a:rPr>
              <a:t>얼마를 환불</a:t>
            </a:r>
            <a:r>
              <a:rPr sz="1600" b="0">
                <a:solidFill>
                  <a:srgbClr val="000000"/>
                </a:solidFill>
                <a:latin typeface="맑은 고딕"/>
                <a:ea typeface="맑은 고딕"/>
              </a:rPr>
              <a:t>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a:t>
            </a:r>
            <a:r>
              <a:rPr sz="1600" b="1">
                <a:solidFill>
                  <a:srgbClr val="000000"/>
                </a:solidFill>
                <a:latin typeface="맑은 고딕"/>
                <a:ea typeface="맑은 고딕"/>
              </a:rPr>
              <a:t>연동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트랜잭션·이벤트·재시도</a:t>
            </a:r>
            <a:r>
              <a:rPr sz="1600" b="0">
                <a:solidFill>
                  <a:srgbClr val="000000"/>
                </a:solidFill>
                <a:latin typeface="맑은 고딕"/>
                <a:ea typeface="맑은 고딕"/>
              </a:rPr>
              <a:t> 처리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통신 장애</a:t>
            </a:r>
            <a:r>
              <a:rPr sz="1600" b="0">
                <a:solidFill>
                  <a:srgbClr val="000000"/>
                </a:solidFill>
                <a:latin typeface="맑은 고딕"/>
                <a:ea typeface="맑은 고딕"/>
              </a:rPr>
              <a:t>와 </a:t>
            </a:r>
            <a:r>
              <a:rPr sz="1600" b="1">
                <a:solidFill>
                  <a:srgbClr val="000000"/>
                </a:solidFill>
                <a:latin typeface="맑은 고딕"/>
                <a:ea typeface="맑은 고딕"/>
              </a:rPr>
              <a:t>중복 요청</a:t>
            </a:r>
            <a:r>
              <a:rPr sz="1600" b="0">
                <a:solidFill>
                  <a:srgbClr val="000000"/>
                </a:solidFill>
                <a:latin typeface="맑은 고딕"/>
                <a:ea typeface="맑은 고딕"/>
              </a:rPr>
              <a:t>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중복 요청이 와도 </a:t>
            </a:r>
            <a:r>
              <a:rPr sz="1800" b="1">
                <a:solidFill>
                  <a:srgbClr val="000000"/>
                </a:solidFill>
                <a:latin typeface="맑은 고딕"/>
                <a:ea typeface="맑은 고딕"/>
              </a:rPr>
              <a:t>한 번만 환불</a:t>
            </a:r>
            <a:r>
              <a:rPr sz="1800" b="0">
                <a:solidFill>
                  <a:srgbClr val="000000"/>
                </a:solidFill>
                <a:latin typeface="맑은 고딕"/>
                <a:ea typeface="맑은 고딕"/>
              </a:rPr>
              <a:t>된다는 보장은 업무 의미다. 재시도·중복 제거는 그 보장을 지키는 </a:t>
            </a:r>
            <a:r>
              <a:rPr sz="1800" b="1">
                <a:solidFill>
                  <a:srgbClr val="000000"/>
                </a:solidFill>
                <a:latin typeface="맑은 고딕"/>
                <a:ea typeface="맑은 고딕"/>
              </a:rPr>
              <a:t>구현 수단</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259"/>
            <a:ext cx="8412480" cy="274320"/>
          </a:xfrm>
          <a:prstGeom prst="rect">
            <a:avLst/>
          </a:prstGeom>
          <a:noFill/>
        </p:spPr>
        <p:txBody>
          <a:bodyPr wrap="square">
            <a:spAutoFit/>
          </a:bodyPr>
          <a:lstStyle/>
          <a:p>
            <a:pPr algn="ctr"/>
            <a:r>
              <a:rPr sz="1400" b="1">
                <a:solidFill>
                  <a:srgbClr val="000000"/>
                </a:solidFill>
                <a:latin typeface="맑은 고딕"/>
                <a:ea typeface="맑은 고딕"/>
              </a:rPr>
              <a:t>문제 공간과 해결 공간</a:t>
            </a:r>
          </a:p>
        </p:txBody>
      </p:sp>
      <p:pic>
        <p:nvPicPr>
          <p:cNvPr id="10" name="mermaid Diagram 4"/>
          <p:cNvPicPr>
            <a:picLocks noChangeAspect="1"/>
          </p:cNvPicPr>
          <p:nvPr/>
        </p:nvPicPr>
        <p:blipFill>
          <a:blip r:embed="mermaidImage4"/>
          <a:stretch>
            <a:fillRect/>
          </a:stretch>
        </p:blipFill>
        <p:spPr>
          <a:xfrm>
            <a:off x="1460500" y="4437579"/>
            <a:ext cx="6223000" cy="97631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분석과 설계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이해한다. 그리고 이를 실현할 </a:t>
            </a:r>
            <a:r>
              <a:rPr sz="1800" b="1">
                <a:solidFill>
                  <a:srgbClr val="000000"/>
                </a:solidFill>
                <a:latin typeface="맑은 고딕"/>
                <a:ea typeface="맑은 고딕"/>
              </a:rPr>
              <a:t>책임과 협력</a:t>
            </a:r>
            <a:r>
              <a:rPr sz="1800" b="0">
                <a:solidFill>
                  <a:srgbClr val="000000"/>
                </a:solidFill>
                <a:latin typeface="맑은 고딕"/>
                <a:ea typeface="맑은 고딕"/>
              </a:rPr>
              <a:t>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[Booch 1994, 재인용]</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결정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41448"/>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 방법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98486"/>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접근법은 문제의 </a:t>
            </a:r>
            <a:r>
              <a:rPr sz="1800" b="1">
                <a:solidFill>
                  <a:srgbClr val="000000"/>
                </a:solidFill>
                <a:latin typeface="맑은 고딕"/>
                <a:ea typeface="맑은 고딕"/>
              </a:rPr>
              <a:t>복잡성</a:t>
            </a:r>
            <a:r>
              <a:rPr sz="1800" b="0">
                <a:solidFill>
                  <a:srgbClr val="000000"/>
                </a:solidFill>
                <a:latin typeface="맑은 고딕"/>
                <a:ea typeface="맑은 고딕"/>
              </a:rPr>
              <a:t>과 </a:t>
            </a:r>
            <a:r>
              <a:rPr sz="1800" b="1">
                <a:solidFill>
                  <a:srgbClr val="000000"/>
                </a:solidFill>
                <a:latin typeface="맑은 고딕"/>
                <a:ea typeface="맑은 고딕"/>
              </a:rPr>
              <a:t>불확실성</a:t>
            </a:r>
            <a:r>
              <a:rPr sz="1800" b="0">
                <a:solidFill>
                  <a:srgbClr val="000000"/>
                </a:solidFill>
                <a:latin typeface="맑은 고딕"/>
                <a:ea typeface="맑은 고딕"/>
              </a:rPr>
              <a:t>, 그리고 사람의 </a:t>
            </a:r>
            <a:r>
              <a:rPr sz="1800" b="1">
                <a:solidFill>
                  <a:srgbClr val="000000"/>
                </a:solidFill>
                <a:latin typeface="맑은 고딕"/>
                <a:ea typeface="맑은 고딕"/>
              </a:rPr>
              <a:t>성숙도</a:t>
            </a:r>
            <a:r>
              <a:rPr sz="1800" b="0">
                <a:solidFill>
                  <a:srgbClr val="000000"/>
                </a:solidFill>
                <a:latin typeface="맑은 고딕"/>
                <a:ea typeface="맑은 고딕"/>
              </a:rPr>
              <a:t>라는 맥락으로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복잡성</a:t>
            </a:r>
            <a:r>
              <a:rPr sz="1800" b="0">
                <a:solidFill>
                  <a:srgbClr val="000000"/>
                </a:solidFill>
                <a:latin typeface="맑은 고딕"/>
                <a:ea typeface="맑은 고딕"/>
              </a:rPr>
              <a:t> —</a:t>
            </a:r>
            <a:r>
              <a:rPr sz="1600" b="0">
                <a:solidFill>
                  <a:srgbClr val="000000"/>
                </a:solidFill>
                <a:latin typeface="맑은 고딕"/>
                <a:ea typeface="맑은 고딕"/>
              </a:rPr>
              <a:t> 규칙·상태·외부 조정이 얽힌 정도다</a:t>
            </a:r>
            <a:r>
              <a:rPr sz="1200" b="0">
                <a:solidFill>
                  <a:srgbClr val="000000"/>
                </a:solidFill>
                <a:latin typeface="맑은 고딕"/>
                <a:ea typeface="맑은 고딕"/>
              </a:rPr>
              <a:t>(「07. 본질적 어려움과 우연적 어려움」)</a:t>
            </a:r>
            <a:r>
              <a:rPr sz="1600" b="0">
                <a:solidFill>
                  <a:srgbClr val="000000"/>
                </a:solidFill>
                <a:latin typeface="맑은 고딕"/>
                <a:ea typeface="맑은 고딕"/>
              </a:rPr>
              <a:t>. 복잡할수록 모델로 </a:t>
            </a:r>
            <a:r>
              <a:rPr sz="1600" b="1">
                <a:solidFill>
                  <a:srgbClr val="000000"/>
                </a:solidFill>
                <a:latin typeface="맑은 고딕"/>
                <a:ea typeface="맑은 고딕"/>
              </a:rPr>
              <a:t>명시</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불확실성</a:t>
            </a:r>
            <a:r>
              <a:rPr sz="1800" b="0">
                <a:solidFill>
                  <a:srgbClr val="000000"/>
                </a:solidFill>
                <a:latin typeface="맑은 고딕"/>
                <a:ea typeface="맑은 고딕"/>
              </a:rPr>
              <a:t> —</a:t>
            </a:r>
            <a:r>
              <a:rPr sz="1600" b="0">
                <a:solidFill>
                  <a:srgbClr val="000000"/>
                </a:solidFill>
                <a:latin typeface="맑은 고딕"/>
                <a:ea typeface="맑은 고딕"/>
              </a:rPr>
              <a:t> 무엇을 만들지</a:t>
            </a:r>
            <a:r>
              <a:rPr sz="1200" b="0">
                <a:solidFill>
                  <a:srgbClr val="000000"/>
                </a:solidFill>
                <a:latin typeface="맑은 고딕"/>
                <a:ea typeface="맑은 고딕"/>
              </a:rPr>
              <a:t>(업무)</a:t>
            </a:r>
            <a:r>
              <a:rPr sz="1600" b="0">
                <a:solidFill>
                  <a:srgbClr val="000000"/>
                </a:solidFill>
                <a:latin typeface="맑은 고딕"/>
                <a:ea typeface="맑은 고딕"/>
              </a:rPr>
              <a:t>와 어떻게 만들지</a:t>
            </a:r>
            <a:r>
              <a:rPr sz="1200" b="0">
                <a:solidFill>
                  <a:srgbClr val="000000"/>
                </a:solidFill>
                <a:latin typeface="맑은 고딕"/>
                <a:ea typeface="맑은 고딕"/>
              </a:rPr>
              <a:t>(기술)</a:t>
            </a:r>
            <a:r>
              <a:rPr sz="1600" b="0">
                <a:solidFill>
                  <a:srgbClr val="000000"/>
                </a:solidFill>
                <a:latin typeface="맑은 고딕"/>
                <a:ea typeface="맑은 고딕"/>
              </a:rPr>
              <a:t>를 아직 모르는 정도다. 불확실할수록 </a:t>
            </a:r>
            <a:r>
              <a:rPr sz="1600" b="1">
                <a:solidFill>
                  <a:srgbClr val="000000"/>
                </a:solidFill>
                <a:latin typeface="맑은 고딕"/>
                <a:ea typeface="맑은 고딕"/>
              </a:rPr>
              <a:t>짧게 반복</a:t>
            </a:r>
            <a:r>
              <a:rPr sz="1600" b="0">
                <a:solidFill>
                  <a:srgbClr val="000000"/>
                </a:solidFill>
                <a:latin typeface="맑은 고딕"/>
                <a:ea typeface="맑은 고딕"/>
              </a:rPr>
              <a:t>해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성숙도</a:t>
            </a:r>
            <a:r>
              <a:rPr sz="1800" b="0">
                <a:solidFill>
                  <a:srgbClr val="000000"/>
                </a:solidFill>
                <a:latin typeface="맑은 고딕"/>
                <a:ea typeface="맑은 고딕"/>
              </a:rPr>
              <a:t> —</a:t>
            </a:r>
            <a:r>
              <a:rPr sz="1600" b="0">
                <a:solidFill>
                  <a:srgbClr val="000000"/>
                </a:solidFill>
                <a:latin typeface="맑은 고딕"/>
                <a:ea typeface="맑은 고딕"/>
              </a:rPr>
              <a:t> 고객·개발자의 도메인 지식, 기술 숙련, 팀워크다. 낮은 쪽부터 명시하고 먼저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취소는 규칙·상태·외부 시스템 넷이 얽혀 </a:t>
            </a:r>
            <a:r>
              <a:rPr sz="1800" b="1">
                <a:solidFill>
                  <a:srgbClr val="000000"/>
                </a:solidFill>
                <a:latin typeface="맑은 고딕"/>
                <a:ea typeface="맑은 고딕"/>
              </a:rPr>
              <a:t>복잡</a:t>
            </a:r>
            <a:r>
              <a:rPr sz="1800" b="0">
                <a:solidFill>
                  <a:srgbClr val="000000"/>
                </a:solidFill>
                <a:latin typeface="맑은 고딕"/>
                <a:ea typeface="맑은 고딕"/>
              </a:rPr>
              <a:t>하고, 결제 전 취소처럼 </a:t>
            </a:r>
            <a:r>
              <a:rPr sz="1800" b="1">
                <a:solidFill>
                  <a:srgbClr val="000000"/>
                </a:solidFill>
                <a:latin typeface="맑은 고딕"/>
                <a:ea typeface="맑은 고딕"/>
              </a:rPr>
              <a:t>미정</a:t>
            </a:r>
            <a:r>
              <a:rPr sz="1800" b="0">
                <a:solidFill>
                  <a:srgbClr val="000000"/>
                </a:solidFill>
                <a:latin typeface="맑은 고딕"/>
                <a:ea typeface="맑은 고딕"/>
              </a:rPr>
              <a:t>인 요구가 있다 —</a:t>
            </a:r>
            <a:r>
              <a:rPr sz="1600" b="0">
                <a:solidFill>
                  <a:srgbClr val="000000"/>
                </a:solidFill>
                <a:latin typeface="맑은 고딕"/>
                <a:ea typeface="맑은 고딕"/>
              </a:rPr>
              <a:t> 모델로 명시하고 짧게 검증한다.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맥락과 접근법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1686" y="2281650"/>
          <a:ext cx="8067040" cy="3873500"/>
        </p:xfrm>
        <a:graphic>
          <a:graphicData uri="http://schemas.openxmlformats.org/drawingml/2006/table">
            <a:tbl>
              <a:tblPr/>
              <a:tblGrid>
                <a:gridCol w="3601720"/>
                <a:gridCol w="209296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알맞은 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고객·개발자가 도메인을 알고 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업무는 명확하고 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 스파이크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위험한 기술부터 작은 증분으로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요구가 자주 바뀌고 고객이 함께할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주기로 동작하는 SW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문제와 사용자가 불분명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문제와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제품(MVP)으로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921480"/>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불확실성과 접근법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모든 접근은 </a:t>
            </a:r>
            <a:r>
              <a:rPr sz="1800" b="1">
                <a:solidFill>
                  <a:srgbClr val="000000"/>
                </a:solidFill>
                <a:latin typeface="맑은 고딕"/>
                <a:ea typeface="맑은 고딕"/>
              </a:rPr>
              <a:t>결정–검증–되돌림</a:t>
            </a:r>
            <a:r>
              <a:rPr sz="1800" b="0">
                <a:solidFill>
                  <a:srgbClr val="000000"/>
                </a:solidFill>
                <a:latin typeface="맑은 고딕"/>
                <a:ea typeface="맑은 고딕"/>
              </a:rPr>
              <a:t>을 서로 다른 주기로 운영한다.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9832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불확실성에 따른 접근법</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2292"/>
            <a:ext cx="4114800" cy="23164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고객</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이름;</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고객</a:t>
            </a:r>
            <a:r>
              <a:rPr sz="800" b="0">
                <a:solidFill>
                  <a:srgbClr val="000000"/>
                </a:solidFill>
                <a:latin typeface="Consolas"/>
                <a:ea typeface="맑은 고딕"/>
              </a:rPr>
              <a:t>(String 이름) { this.이름 = 이름;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주문번호;</a:t>
            </a:r>
          </a:p>
          <a:p>
            <a:pPr marL="0" indent="0" algn="l">
              <a:lnSpc>
                <a:spcPts val="960"/>
              </a:lnSpc>
              <a:spcBef>
                <a:spcPts val="0"/>
              </a:spcBef>
              <a:spcAft>
                <a:spcPts val="0"/>
              </a:spcAft>
              <a:buNone/>
            </a:pPr>
            <a:r>
              <a:rPr sz="800" b="0">
                <a:solidFill>
                  <a:srgbClr val="000000"/>
                </a:solidFill>
                <a:latin typeface="Consolas"/>
                <a:ea typeface="맑은 고딕"/>
              </a:rPr>
              <a:t>    private final 고객 고객;</a:t>
            </a:r>
          </a:p>
          <a:p>
            <a:pPr marL="0" indent="0" algn="l">
              <a:lnSpc>
                <a:spcPts val="960"/>
              </a:lnSpc>
              <a:spcBef>
                <a:spcPts val="0"/>
              </a:spcBef>
              <a:spcAft>
                <a:spcPts val="0"/>
              </a:spcAft>
              <a:buNone/>
            </a:pPr>
            <a:r>
              <a:rPr sz="800" b="0">
                <a:solidFill>
                  <a:srgbClr val="000000"/>
                </a:solidFill>
                <a:latin typeface="Consolas"/>
                <a:ea typeface="맑은 고딕"/>
              </a:rPr>
              <a:t>    private final List&lt;주문항목&gt; 항목들;</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a:t>
            </a:r>
            <a:r>
              <a:rPr sz="800" b="0">
                <a:solidFill>
                  <a:srgbClr val="000000"/>
                </a:solidFill>
                <a:latin typeface="Consolas"/>
                <a:ea typeface="맑은 고딕"/>
              </a:rPr>
              <a:t>(String 주문번호, 고객 고객, List&lt;주문항목&gt; 항목들) {</a:t>
            </a:r>
          </a:p>
          <a:p>
            <a:pPr marL="0" indent="0" algn="l">
              <a:lnSpc>
                <a:spcPts val="960"/>
              </a:lnSpc>
              <a:spcBef>
                <a:spcPts val="0"/>
              </a:spcBef>
              <a:spcAft>
                <a:spcPts val="0"/>
              </a:spcAft>
              <a:buNone/>
            </a:pPr>
            <a:r>
              <a:rPr sz="800" b="0">
                <a:solidFill>
                  <a:srgbClr val="000000"/>
                </a:solidFill>
                <a:latin typeface="Consolas"/>
                <a:ea typeface="맑은 고딕"/>
              </a:rPr>
              <a:t>        if (항목들.isEmpty())</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IllegalArgumentException("주문 항목은 1개 이상");</a:t>
            </a:r>
          </a:p>
          <a:p>
            <a:pPr marL="0" indent="0" algn="l">
              <a:lnSpc>
                <a:spcPts val="960"/>
              </a:lnSpc>
              <a:spcBef>
                <a:spcPts val="0"/>
              </a:spcBef>
              <a:spcAft>
                <a:spcPts val="0"/>
              </a:spcAft>
              <a:buNone/>
            </a:pPr>
            <a:r>
              <a:rPr sz="800" b="0">
                <a:solidFill>
                  <a:srgbClr val="000000"/>
                </a:solidFill>
                <a:latin typeface="Consolas"/>
                <a:ea typeface="맑은 고딕"/>
              </a:rPr>
              <a:t>        this.주문번호 = 주문번호;</a:t>
            </a:r>
          </a:p>
          <a:p>
            <a:pPr marL="0" indent="0" algn="l">
              <a:lnSpc>
                <a:spcPts val="960"/>
              </a:lnSpc>
              <a:spcBef>
                <a:spcPts val="0"/>
              </a:spcBef>
              <a:spcAft>
                <a:spcPts val="0"/>
              </a:spcAft>
              <a:buNone/>
            </a:pPr>
            <a:r>
              <a:rPr sz="800" b="0">
                <a:solidFill>
                  <a:srgbClr val="000000"/>
                </a:solidFill>
                <a:latin typeface="Consolas"/>
                <a:ea typeface="맑은 고딕"/>
              </a:rPr>
              <a:t>        this.고객 = 고객;</a:t>
            </a:r>
          </a:p>
          <a:p>
            <a:pPr marL="0" indent="0" algn="l">
              <a:lnSpc>
                <a:spcPts val="960"/>
              </a:lnSpc>
              <a:spcBef>
                <a:spcPts val="0"/>
              </a:spcBef>
              <a:spcAft>
                <a:spcPts val="0"/>
              </a:spcAft>
              <a:buNone/>
            </a:pPr>
            <a:r>
              <a:rPr sz="800" b="0">
                <a:solidFill>
                  <a:srgbClr val="000000"/>
                </a:solidFill>
                <a:latin typeface="Consolas"/>
                <a:ea typeface="맑은 고딕"/>
              </a:rPr>
              <a:t>        this.항목들 = List.copyOf(항목들);</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클래스 다이어그램의 </a:t>
            </a:r>
            <a:r>
              <a:rPr sz="1800" b="1">
                <a:solidFill>
                  <a:srgbClr val="000000"/>
                </a:solidFill>
                <a:latin typeface="맑은 고딕"/>
                <a:ea typeface="맑은 고딕"/>
              </a:rPr>
              <a:t>개념·관계·다중성</a:t>
            </a:r>
            <a:r>
              <a:rPr sz="1800" b="0">
                <a:solidFill>
                  <a:srgbClr val="000000"/>
                </a:solidFill>
                <a:latin typeface="맑은 고딕"/>
                <a:ea typeface="맑은 고딕"/>
              </a:rPr>
              <a:t>은 코드의 </a:t>
            </a:r>
            <a:r>
              <a:rPr sz="1800" b="1">
                <a:solidFill>
                  <a:srgbClr val="000000"/>
                </a:solidFill>
                <a:latin typeface="맑은 고딕"/>
                <a:ea typeface="맑은 고딕"/>
              </a:rPr>
              <a:t>클래스·필드·생성자 검사</a:t>
            </a:r>
            <a:r>
              <a:rPr sz="1800" b="0">
                <a:solidFill>
                  <a:srgbClr val="000000"/>
                </a:solidFill>
                <a:latin typeface="맑은 고딕"/>
                <a:ea typeface="맑은 고딕"/>
              </a:rPr>
              <a:t>로 이어진다. 연관은 필드, </a:t>
            </a:r>
            <a:r>
              <a:rPr sz="1800" b="0">
                <a:solidFill>
                  <a:srgbClr val="000000"/>
                </a:solidFill>
                <a:latin typeface="맑은 고딕"/>
                <a:ea typeface="맑은 고딕"/>
              </a:rPr>
              <a:t>1..*</a:t>
            </a:r>
            <a:r>
              <a:rPr sz="1800" b="0">
                <a:solidFill>
                  <a:srgbClr val="000000"/>
                </a:solidFill>
                <a:latin typeface="맑은 고딕"/>
                <a:ea typeface="맑은 고딕"/>
              </a:rPr>
              <a:t>와 수량 규칙은 생성자의 검사가 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822292"/>
            <a:ext cx="4114800" cy="24384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int 단가) {</a:t>
            </a:r>
          </a:p>
          <a:p>
            <a:pPr marL="0" indent="0" algn="l">
              <a:lnSpc>
                <a:spcPts val="960"/>
              </a:lnSpc>
              <a:spcBef>
                <a:spcPts val="0"/>
              </a:spcBef>
              <a:spcAft>
                <a:spcPts val="0"/>
              </a:spcAft>
              <a:buNone/>
            </a:pPr>
            <a:r>
              <a:rPr sz="800" b="0">
                <a:solidFill>
                  <a:srgbClr val="000000"/>
                </a:solidFill>
                <a:latin typeface="Consolas"/>
                <a:ea typeface="맑은 고딕"/>
              </a:rPr>
              <a:t>        if (수량 &lt; 1)</a:t>
            </a:r>
          </a:p>
          <a:p>
            <a:pPr marL="0" indent="0" algn="l">
              <a:lnSpc>
                <a:spcPts val="960"/>
              </a:lnSpc>
              <a:spcBef>
                <a:spcPts val="0"/>
              </a:spcBef>
              <a:spcAft>
                <a:spcPts val="0"/>
              </a:spcAft>
              <a:buNone/>
            </a:pPr>
            <a:r>
              <a:rPr sz="800" b="0">
                <a:solidFill>
                  <a:srgbClr val="000000"/>
                </a:solidFill>
                <a:latin typeface="Consolas"/>
                <a:ea typeface="맑은 고딕"/>
              </a:rPr>
              <a:t>            throw new IllegalArgumentException("수량은 1 이상");</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단가;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상품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String 상품명;</a:t>
            </a:r>
          </a:p>
          <a:p>
            <a:pPr marL="0" indent="0" algn="l">
              <a:lnSpc>
                <a:spcPts val="960"/>
              </a:lnSpc>
              <a:spcBef>
                <a:spcPts val="0"/>
              </a:spcBef>
              <a:spcAft>
                <a:spcPts val="0"/>
              </a:spcAft>
              <a:buNone/>
            </a:pPr>
            <a:r>
              <a:rPr sz="800" b="0">
                <a:solidFill>
                  <a:srgbClr val="000000"/>
                </a:solidFill>
                <a:latin typeface="Consolas"/>
                <a:ea typeface="맑은 고딕"/>
              </a:rPr>
              <a:t>    private final int 판매가;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상품</a:t>
            </a:r>
            <a:r>
              <a:rPr sz="800" b="0">
                <a:solidFill>
                  <a:srgbClr val="000000"/>
                </a:solidFill>
                <a:latin typeface="Consolas"/>
                <a:ea typeface="맑은 고딕"/>
              </a:rPr>
              <a:t>(String 상품명, int 판매가) { this.상품명 = 상품명; this.판매가 = 판매가;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5" name="plantuml Diagram 1"/>
          <p:cNvPicPr>
            <a:picLocks noChangeAspect="1"/>
          </p:cNvPicPr>
          <p:nvPr/>
        </p:nvPicPr>
        <p:blipFill>
          <a:blip r:embed="plantumlImage1"/>
          <a:stretch>
            <a:fillRect/>
          </a:stretch>
        </p:blipFill>
        <p:spPr>
          <a:xfrm>
            <a:off x="1919654" y="2374356"/>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15. 시스템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5134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시퀀스 다이어그램의 </a:t>
            </a:r>
            <a:r>
              <a:rPr sz="1800" b="1">
                <a:solidFill>
                  <a:srgbClr val="000000"/>
                </a:solidFill>
                <a:latin typeface="맑은 고딕"/>
                <a:ea typeface="맑은 고딕"/>
              </a:rPr>
              <a:t>시스템 이벤트</a:t>
            </a:r>
            <a:r>
              <a:rPr sz="1800" b="0">
                <a:solidFill>
                  <a:srgbClr val="000000"/>
                </a:solidFill>
                <a:latin typeface="맑은 고딕"/>
                <a:ea typeface="맑은 고딕"/>
              </a:rPr>
              <a:t>는 시스템 경계의 오퍼레이션이 된다. 시스템 안은 블랙박스이며, 이벤트를 받는 쪽인 주문 시스템만 코드로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3258038" y="2374356"/>
            <a:ext cx="2627923" cy="1919654"/>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16. 분석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33649"/>
            <a:ext cx="4114800" cy="170688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 상품(상품명, 판매가) 생략</a:t>
            </a: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주문항목</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상품 상품;</a:t>
            </a:r>
          </a:p>
          <a:p>
            <a:pPr marL="0" indent="0" algn="l">
              <a:lnSpc>
                <a:spcPts val="960"/>
              </a:lnSpc>
              <a:spcBef>
                <a:spcPts val="0"/>
              </a:spcBef>
              <a:spcAft>
                <a:spcPts val="0"/>
              </a:spcAft>
              <a:buNone/>
            </a:pPr>
            <a:r>
              <a:rPr sz="800" b="0">
                <a:solidFill>
                  <a:srgbClr val="000000"/>
                </a:solidFill>
                <a:latin typeface="Consolas"/>
                <a:ea typeface="맑은 고딕"/>
              </a:rPr>
              <a:t>    private final int 수량;</a:t>
            </a:r>
          </a:p>
          <a:p>
            <a:pPr marL="0" indent="0" algn="l">
              <a:lnSpc>
                <a:spcPts val="960"/>
              </a:lnSpc>
              <a:spcBef>
                <a:spcPts val="0"/>
              </a:spcBef>
              <a:spcAft>
                <a:spcPts val="0"/>
              </a:spcAft>
              <a:buNone/>
            </a:pPr>
            <a:r>
              <a:rPr sz="800" b="0">
                <a:solidFill>
                  <a:srgbClr val="000000"/>
                </a:solidFill>
                <a:latin typeface="Consolas"/>
                <a:ea typeface="맑은 고딕"/>
              </a:rPr>
              <a:t>    private final int 단가;</a:t>
            </a:r>
          </a:p>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주문항목</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this.상품 = 상품;</a:t>
            </a:r>
          </a:p>
          <a:p>
            <a:pPr marL="0" indent="0" algn="l">
              <a:lnSpc>
                <a:spcPts val="960"/>
              </a:lnSpc>
              <a:spcBef>
                <a:spcPts val="0"/>
              </a:spcBef>
              <a:spcAft>
                <a:spcPts val="0"/>
              </a:spcAft>
              <a:buNone/>
            </a:pPr>
            <a:r>
              <a:rPr sz="800" b="0">
                <a:solidFill>
                  <a:srgbClr val="000000"/>
                </a:solidFill>
                <a:latin typeface="Consolas"/>
                <a:ea typeface="맑은 고딕"/>
              </a:rPr>
              <a:t>        this.수량 = 수량;</a:t>
            </a:r>
          </a:p>
          <a:p>
            <a:pPr marL="0" indent="0" algn="l">
              <a:lnSpc>
                <a:spcPts val="960"/>
              </a:lnSpc>
              <a:spcBef>
                <a:spcPts val="0"/>
              </a:spcBef>
              <a:spcAft>
                <a:spcPts val="0"/>
              </a:spcAft>
              <a:buNone/>
            </a:pPr>
            <a:r>
              <a:rPr sz="800" b="0">
                <a:solidFill>
                  <a:srgbClr val="000000"/>
                </a:solidFill>
                <a:latin typeface="Consolas"/>
                <a:ea typeface="맑은 고딕"/>
              </a:rPr>
              <a:t>        this.단가 = 상품.판매가();</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금액</a:t>
            </a:r>
            <a:r>
              <a:rPr sz="800" b="0">
                <a:solidFill>
                  <a:srgbClr val="000000"/>
                </a:solidFill>
                <a:latin typeface="Consolas"/>
                <a:ea typeface="맑은 고딕"/>
              </a:rPr>
              <a:t>() { return 단가 * 수량;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295353"/>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 시퀀스 다이어그램의 </a:t>
            </a:r>
            <a:r>
              <a:rPr sz="1800" b="1">
                <a:solidFill>
                  <a:srgbClr val="000000"/>
                </a:solidFill>
                <a:latin typeface="맑은 고딕"/>
                <a:ea typeface="맑은 고딕"/>
              </a:rPr>
              <a:t>메시지는 받는 객체의 메서드</a:t>
            </a:r>
            <a:r>
              <a:rPr sz="1800" b="0">
                <a:solidFill>
                  <a:srgbClr val="000000"/>
                </a:solidFill>
                <a:latin typeface="맑은 고딕"/>
                <a:ea typeface="맑은 고딕"/>
              </a:rPr>
              <a:t>가 된다. 생성은 </a:t>
            </a:r>
            <a:r>
              <a:rPr sz="1800" b="0">
                <a:solidFill>
                  <a:srgbClr val="000000"/>
                </a:solidFill>
                <a:latin typeface="맑은 고딕"/>
                <a:ea typeface="맑은 고딕"/>
              </a:rPr>
              <a:t>new</a:t>
            </a:r>
            <a:r>
              <a:rPr sz="1800" b="0">
                <a:solidFill>
                  <a:srgbClr val="000000"/>
                </a:solidFill>
                <a:latin typeface="맑은 고딕"/>
                <a:ea typeface="맑은 고딕"/>
              </a:rPr>
              <a:t>로, 반복은 </a:t>
            </a:r>
            <a:r>
              <a:rPr sz="1800" b="0">
                <a:solidFill>
                  <a:srgbClr val="000000"/>
                </a:solidFill>
                <a:latin typeface="맑은 고딕"/>
                <a:ea typeface="맑은 고딕"/>
              </a:rPr>
              <a:t>for</a:t>
            </a:r>
            <a:r>
              <a:rPr sz="1800" b="0">
                <a:solidFill>
                  <a:srgbClr val="000000"/>
                </a:solidFill>
                <a:latin typeface="맑은 고딕"/>
                <a:ea typeface="맑은 고딕"/>
              </a:rPr>
              <a:t> 문으로 옮긴다. 주문 항목을 추가하고 총액을 구하는 상호작용을 코드로 본다. 주문 항목은 만들어질 때 상품의 </a:t>
            </a:r>
            <a:r>
              <a:rPr sz="1800" b="1">
                <a:solidFill>
                  <a:srgbClr val="000000"/>
                </a:solidFill>
                <a:latin typeface="맑은 고딕"/>
                <a:ea typeface="맑은 고딕"/>
              </a:rPr>
              <a:t>판매가</a:t>
            </a:r>
            <a:r>
              <a:rPr sz="1800" b="0">
                <a:solidFill>
                  <a:srgbClr val="000000"/>
                </a:solidFill>
                <a:latin typeface="맑은 고딕"/>
                <a:ea typeface="맑은 고딕"/>
              </a:rPr>
              <a:t>를 </a:t>
            </a:r>
            <a:r>
              <a:rPr sz="1800" b="1">
                <a:solidFill>
                  <a:srgbClr val="000000"/>
                </a:solidFill>
                <a:latin typeface="맑은 고딕"/>
                <a:ea typeface="맑은 고딕"/>
              </a:rPr>
              <a:t>단가</a:t>
            </a:r>
            <a:r>
              <a:rPr sz="1800" b="0">
                <a:solidFill>
                  <a:srgbClr val="000000"/>
                </a:solidFill>
                <a:latin typeface="맑은 고딕"/>
                <a:ea typeface="맑은 고딕"/>
              </a:rPr>
              <a:t>로 확정한다.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33649"/>
            <a:ext cx="4114800" cy="15849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java.util.List&lt;주문항목&gt; 항목들 = new java.util.ArrayList&lt;&gt;();</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주문항목을추가한다</a:t>
            </a:r>
            <a:r>
              <a:rPr sz="800" b="0">
                <a:solidFill>
                  <a:srgbClr val="000000"/>
                </a:solidFill>
                <a:latin typeface="Consolas"/>
                <a:ea typeface="맑은 고딕"/>
              </a:rPr>
              <a:t>(상품 상품, int 수량) {</a:t>
            </a:r>
          </a:p>
          <a:p>
            <a:pPr marL="0" indent="0" algn="l">
              <a:lnSpc>
                <a:spcPts val="960"/>
              </a:lnSpc>
              <a:spcBef>
                <a:spcPts val="0"/>
              </a:spcBef>
              <a:spcAft>
                <a:spcPts val="0"/>
              </a:spcAft>
              <a:buNone/>
            </a:pPr>
            <a:r>
              <a:rPr sz="800" b="0">
                <a:solidFill>
                  <a:srgbClr val="000000"/>
                </a:solidFill>
                <a:latin typeface="Consolas"/>
                <a:ea typeface="맑은 고딕"/>
              </a:rPr>
              <a:t>        항목들.add(new 주문항목(상품, 수량));</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a:t>
            </a:r>
            <a:r>
              <a:rPr sz="800" b="1">
                <a:solidFill>
                  <a:srgbClr val="000000"/>
                </a:solidFill>
                <a:latin typeface="Consolas"/>
                <a:ea typeface="맑은 고딕"/>
              </a:rPr>
              <a:t>총액을구한다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int 합계 = 0;</a:t>
            </a:r>
          </a:p>
          <a:p>
            <a:pPr marL="0" indent="0" algn="l">
              <a:lnSpc>
                <a:spcPts val="960"/>
              </a:lnSpc>
              <a:spcBef>
                <a:spcPts val="0"/>
              </a:spcBef>
              <a:spcAft>
                <a:spcPts val="0"/>
              </a:spcAft>
              <a:buNone/>
            </a:pPr>
            <a:r>
              <a:rPr sz="800" b="0">
                <a:solidFill>
                  <a:srgbClr val="000000"/>
                </a:solidFill>
                <a:latin typeface="Consolas"/>
                <a:ea typeface="맑은 고딕"/>
              </a:rPr>
              <a:t>        for (주문항목 항목 : 항목들) 합계 += 항목.금액();</a:t>
            </a:r>
          </a:p>
          <a:p>
            <a:pPr marL="0" indent="0" algn="l">
              <a:lnSpc>
                <a:spcPts val="960"/>
              </a:lnSpc>
              <a:spcBef>
                <a:spcPts val="0"/>
              </a:spcBef>
              <a:spcAft>
                <a:spcPts val="0"/>
              </a:spcAft>
              <a:buNone/>
            </a:pPr>
            <a:r>
              <a:rPr sz="800" b="0">
                <a:solidFill>
                  <a:srgbClr val="000000"/>
                </a:solidFill>
                <a:latin typeface="Consolas"/>
                <a:ea typeface="맑은 고딕"/>
              </a:rPr>
              <a:t>        return 합계;</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357073"/>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항목 추가 시퀀스</a:t>
            </a:r>
          </a:p>
        </p:txBody>
      </p:sp>
      <p:pic>
        <p:nvPicPr>
          <p:cNvPr id="35" name="plantuml Diagram 3"/>
          <p:cNvPicPr>
            <a:picLocks noChangeAspect="1"/>
          </p:cNvPicPr>
          <p:nvPr/>
        </p:nvPicPr>
        <p:blipFill>
          <a:blip r:embed="plantumlImage3"/>
          <a:stretch>
            <a:fillRect/>
          </a:stretch>
        </p:blipFill>
        <p:spPr>
          <a:xfrm>
            <a:off x="2786185" y="2631393"/>
            <a:ext cx="3571631" cy="20828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708005"/>
            <a:ext cx="8412480" cy="34290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주문항목</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상품 상품;</a:t>
            </a:r>
          </a:p>
          <a:p>
            <a:pPr marL="0" indent="0" algn="l">
              <a:lnSpc>
                <a:spcPts val="1080"/>
              </a:lnSpc>
              <a:spcBef>
                <a:spcPts val="0"/>
              </a:spcBef>
              <a:spcAft>
                <a:spcPts val="0"/>
              </a:spcAft>
              <a:buNone/>
            </a:pPr>
            <a:r>
              <a:rPr sz="900" b="0">
                <a:solidFill>
                  <a:srgbClr val="000000"/>
                </a:solidFill>
                <a:latin typeface="Consolas"/>
                <a:ea typeface="맑은 고딕"/>
              </a:rPr>
              <a:t>    private final int 수량;</a:t>
            </a:r>
          </a:p>
          <a:p>
            <a:pPr marL="0" indent="0" algn="l">
              <a:lnSpc>
                <a:spcPts val="1080"/>
              </a:lnSpc>
              <a:spcBef>
                <a:spcPts val="0"/>
              </a:spcBef>
              <a:spcAft>
                <a:spcPts val="0"/>
              </a:spcAft>
              <a:buNone/>
            </a:pPr>
            <a:r>
              <a:rPr sz="900" b="0">
                <a:solidFill>
                  <a:srgbClr val="000000"/>
                </a:solidFill>
                <a:latin typeface="Consolas"/>
                <a:ea typeface="맑은 고딕"/>
              </a:rPr>
              <a:t>    private final int 단가;</a:t>
            </a: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주문항목</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this.상품 = 상품;</a:t>
            </a:r>
          </a:p>
          <a:p>
            <a:pPr marL="0" indent="0" algn="l">
              <a:lnSpc>
                <a:spcPts val="1080"/>
              </a:lnSpc>
              <a:spcBef>
                <a:spcPts val="0"/>
              </a:spcBef>
              <a:spcAft>
                <a:spcPts val="0"/>
              </a:spcAft>
              <a:buNone/>
            </a:pPr>
            <a:r>
              <a:rPr sz="900" b="0">
                <a:solidFill>
                  <a:srgbClr val="000000"/>
                </a:solidFill>
                <a:latin typeface="Consolas"/>
                <a:ea typeface="맑은 고딕"/>
              </a:rPr>
              <a:t>        this.수량 = 수량;</a:t>
            </a:r>
          </a:p>
          <a:p>
            <a:pPr marL="0" indent="0" algn="l">
              <a:lnSpc>
                <a:spcPts val="1080"/>
              </a:lnSpc>
              <a:spcBef>
                <a:spcPts val="0"/>
              </a:spcBef>
              <a:spcAft>
                <a:spcPts val="0"/>
              </a:spcAft>
              <a:buNone/>
            </a:pPr>
            <a:r>
              <a:rPr sz="900" b="0">
                <a:solidFill>
                  <a:srgbClr val="000000"/>
                </a:solidFill>
                <a:latin typeface="Consolas"/>
                <a:ea typeface="맑은 고딕"/>
              </a:rPr>
              <a:t>        this.단가 = 상품.판매가();</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주문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java.util.List&lt;주문항목&gt; 항목들 = new java.util.ArrayList&lt;&gt;();</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주문항목을추가한다</a:t>
            </a:r>
            <a:r>
              <a:rPr sz="900" b="0">
                <a:solidFill>
                  <a:srgbClr val="000000"/>
                </a:solidFill>
                <a:latin typeface="Consolas"/>
                <a:ea typeface="맑은 고딕"/>
              </a:rPr>
              <a:t>(상품 상품, int 수량) {</a:t>
            </a:r>
          </a:p>
          <a:p>
            <a:pPr marL="0" indent="0" algn="l">
              <a:lnSpc>
                <a:spcPts val="1080"/>
              </a:lnSpc>
              <a:spcBef>
                <a:spcPts val="0"/>
              </a:spcBef>
              <a:spcAft>
                <a:spcPts val="0"/>
              </a:spcAft>
              <a:buNone/>
            </a:pPr>
            <a:r>
              <a:rPr sz="900" b="0">
                <a:solidFill>
                  <a:srgbClr val="000000"/>
                </a:solidFill>
                <a:latin typeface="Consolas"/>
                <a:ea typeface="맑은 고딕"/>
              </a:rPr>
              <a:t>        항목들.add(new 주문항목(상품, 수량));</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다이어그램의 </a:t>
            </a:r>
            <a:r>
              <a:rPr sz="1800" b="1">
                <a:solidFill>
                  <a:srgbClr val="000000"/>
                </a:solidFill>
                <a:latin typeface="맑은 고딕"/>
                <a:ea typeface="맑은 고딕"/>
              </a:rPr>
              <a:t>링크는 참조</a:t>
            </a:r>
            <a:r>
              <a:rPr sz="1400" b="0">
                <a:solidFill>
                  <a:srgbClr val="000000"/>
                </a:solidFill>
                <a:latin typeface="맑은 고딕"/>
                <a:ea typeface="맑은 고딕"/>
              </a:rPr>
              <a:t>(필드)</a:t>
            </a:r>
            <a:r>
              <a:rPr sz="1800" b="0">
                <a:solidFill>
                  <a:srgbClr val="000000"/>
                </a:solidFill>
                <a:latin typeface="맑은 고딕"/>
                <a:ea typeface="맑은 고딕"/>
              </a:rPr>
              <a:t>가 되고, 번호는 호출의 중첩이 된다. 주문 항목을 추가하는 상호작용을 링크와 번호로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항목 추가 커뮤니케이션</a:t>
            </a:r>
          </a:p>
        </p:txBody>
      </p:sp>
      <p:pic>
        <p:nvPicPr>
          <p:cNvPr id="34" name="plantuml Diagram 4"/>
          <p:cNvPicPr>
            <a:picLocks noChangeAspect="1"/>
          </p:cNvPicPr>
          <p:nvPr/>
        </p:nvPicPr>
        <p:blipFill>
          <a:blip r:embed="plantumlImage4"/>
          <a:stretch>
            <a:fillRect/>
          </a:stretch>
        </p:blipFill>
        <p:spPr>
          <a:xfrm>
            <a:off x="434731" y="2117318"/>
            <a:ext cx="8274538"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19581"/>
            <a:ext cx="8412480" cy="2806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 { 전이(주문상태.결제대기, 주문상태.결제완료);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배송을시작한다</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배송을완료한다</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다이어그램의 </a:t>
            </a:r>
            <a:r>
              <a:rPr sz="1800" b="1">
                <a:solidFill>
                  <a:srgbClr val="000000"/>
                </a:solidFill>
                <a:latin typeface="맑은 고딕"/>
                <a:ea typeface="맑은 고딕"/>
              </a:rPr>
              <a:t>상태·사건·전이</a:t>
            </a:r>
            <a:r>
              <a:rPr sz="1800" b="0">
                <a:solidFill>
                  <a:srgbClr val="000000"/>
                </a:solidFill>
                <a:latin typeface="맑은 고딕"/>
                <a:ea typeface="맑은 고딕"/>
              </a:rPr>
              <a:t>는 코드의 값·메서드·허용 검사가 된다. 규칙이 금지한 전이는 일어날 수 없다. 주문의 생애 전체를 코드로 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374356"/>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141448"/>
          <a:ext cx="6670040" cy="3873500"/>
        </p:xfrm>
        <a:graphic>
          <a:graphicData uri="http://schemas.openxmlformats.org/drawingml/2006/table">
            <a:tbl>
              <a:tblPr/>
              <a:tblGrid>
                <a:gridCol w="2540000"/>
                <a:gridCol w="21767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예시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중인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중에서 취소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취소된 주문은 결제할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취소됨에서 결제 전이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 없이 주문할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생성이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요구의 </a:t>
            </a:r>
            <a:r>
              <a:rPr sz="1800" b="1">
                <a:solidFill>
                  <a:srgbClr val="000000"/>
                </a:solidFill>
                <a:latin typeface="맑은 고딕"/>
                <a:ea typeface="맑은 고딕"/>
              </a:rPr>
              <a:t>수용·거절 예시</a:t>
            </a:r>
            <a:r>
              <a:rPr sz="1800" b="0">
                <a:solidFill>
                  <a:srgbClr val="000000"/>
                </a:solidFill>
                <a:latin typeface="맑은 고딕"/>
                <a:ea typeface="맑은 고딕"/>
              </a:rPr>
              <a:t>가 그대로 테스트가 된다. 규칙이 금지한 전이는 거절되어야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예시에서 테스트로</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19. 요구에서 테스트로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3467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주문테스트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static void </a:t>
            </a:r>
            <a:r>
              <a:rPr sz="1000" b="1">
                <a:solidFill>
                  <a:srgbClr val="000000"/>
                </a:solidFill>
                <a:latin typeface="Consolas"/>
                <a:ea typeface="맑은 고딕"/>
              </a:rPr>
              <a:t>main</a:t>
            </a:r>
            <a:r>
              <a:rPr sz="1000" b="0">
                <a:solidFill>
                  <a:srgbClr val="000000"/>
                </a:solidFill>
                <a:latin typeface="Consolas"/>
                <a:ea typeface="맑은 고딕"/>
              </a:rPr>
              <a:t>(String[] args) {</a:t>
            </a:r>
          </a:p>
          <a:p>
            <a:pPr marL="0" indent="0" algn="l">
              <a:lnSpc>
                <a:spcPts val="1150"/>
              </a:lnSpc>
              <a:spcBef>
                <a:spcPts val="0"/>
              </a:spcBef>
              <a:spcAft>
                <a:spcPts val="0"/>
              </a:spcAft>
              <a:buNone/>
            </a:pPr>
            <a:r>
              <a:rPr sz="1000" b="0">
                <a:solidFill>
                  <a:srgbClr val="000000"/>
                </a:solidFill>
                <a:latin typeface="Consolas"/>
                <a:ea typeface="맑은 고딕"/>
              </a:rPr>
              <a:t>        var 배송중인주문 = new 주문();</a:t>
            </a:r>
          </a:p>
          <a:p>
            <a:pPr marL="0" indent="0" algn="l">
              <a:lnSpc>
                <a:spcPts val="1150"/>
              </a:lnSpc>
              <a:spcBef>
                <a:spcPts val="0"/>
              </a:spcBef>
              <a:spcAft>
                <a:spcPts val="0"/>
              </a:spcAft>
              <a:buNone/>
            </a:pPr>
            <a:r>
              <a:rPr sz="1000" b="0">
                <a:solidFill>
                  <a:srgbClr val="000000"/>
                </a:solidFill>
                <a:latin typeface="Consolas"/>
                <a:ea typeface="맑은 고딕"/>
              </a:rPr>
              <a:t>        배송중인주문.결제한다();</a:t>
            </a:r>
          </a:p>
          <a:p>
            <a:pPr marL="0" indent="0" algn="l">
              <a:lnSpc>
                <a:spcPts val="1150"/>
              </a:lnSpc>
              <a:spcBef>
                <a:spcPts val="0"/>
              </a:spcBef>
              <a:spcAft>
                <a:spcPts val="0"/>
              </a:spcAft>
              <a:buNone/>
            </a:pPr>
            <a:r>
              <a:rPr sz="1000" b="0">
                <a:solidFill>
                  <a:srgbClr val="000000"/>
                </a:solidFill>
                <a:latin typeface="Consolas"/>
                <a:ea typeface="맑은 고딕"/>
              </a:rPr>
              <a:t>        배송중인주문.배송을시작한다();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거절(배송중인주문::취소한다);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var 취소된주문 = new 주문();</a:t>
            </a:r>
          </a:p>
          <a:p>
            <a:pPr marL="0" indent="0" algn="l">
              <a:lnSpc>
                <a:spcPts val="1150"/>
              </a:lnSpc>
              <a:spcBef>
                <a:spcPts val="0"/>
              </a:spcBef>
              <a:spcAft>
                <a:spcPts val="0"/>
              </a:spcAft>
              <a:buNone/>
            </a:pPr>
            <a:r>
              <a:rPr sz="1000" b="0">
                <a:solidFill>
                  <a:srgbClr val="000000"/>
                </a:solidFill>
                <a:latin typeface="Consolas"/>
                <a:ea typeface="맑은 고딕"/>
              </a:rPr>
              <a:t>        취소된주문.결제한다();</a:t>
            </a:r>
          </a:p>
          <a:p>
            <a:pPr marL="0" indent="0" algn="l">
              <a:lnSpc>
                <a:spcPts val="1150"/>
              </a:lnSpc>
              <a:spcBef>
                <a:spcPts val="0"/>
              </a:spcBef>
              <a:spcAft>
                <a:spcPts val="0"/>
              </a:spcAft>
              <a:buNone/>
            </a:pPr>
            <a:r>
              <a:rPr sz="1000" b="0">
                <a:solidFill>
                  <a:srgbClr val="000000"/>
                </a:solidFill>
                <a:latin typeface="Consolas"/>
                <a:ea typeface="맑은 고딕"/>
              </a:rPr>
              <a:t>        취소된주문.취소한다();</a:t>
            </a:r>
          </a:p>
          <a:p>
            <a:pPr marL="0" indent="0" algn="l">
              <a:lnSpc>
                <a:spcPts val="1150"/>
              </a:lnSpc>
              <a:spcBef>
                <a:spcPts val="0"/>
              </a:spcBef>
              <a:spcAft>
                <a:spcPts val="0"/>
              </a:spcAft>
              <a:buNone/>
            </a:pPr>
            <a:r>
              <a:rPr sz="1000" b="0">
                <a:solidFill>
                  <a:srgbClr val="000000"/>
                </a:solidFill>
                <a:latin typeface="Consolas"/>
                <a:ea typeface="맑은 고딕"/>
              </a:rPr>
              <a:t>        거절(취소된주문::결제한다);</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System.out.println("주문 규칙 확인");</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거절</a:t>
            </a:r>
            <a:r>
              <a:rPr sz="1000" b="0">
                <a:solidFill>
                  <a:srgbClr val="000000"/>
                </a:solidFill>
                <a:latin typeface="Consolas"/>
                <a:ea typeface="맑은 고딕"/>
              </a:rPr>
              <a:t>(Runnable 행위) {</a:t>
            </a:r>
          </a:p>
          <a:p>
            <a:pPr marL="0" indent="0" algn="l">
              <a:lnSpc>
                <a:spcPts val="1150"/>
              </a:lnSpc>
              <a:spcBef>
                <a:spcPts val="0"/>
              </a:spcBef>
              <a:spcAft>
                <a:spcPts val="0"/>
              </a:spcAft>
              <a:buNone/>
            </a:pPr>
            <a:r>
              <a:rPr sz="1000" b="0">
                <a:solidFill>
                  <a:srgbClr val="000000"/>
                </a:solidFill>
                <a:latin typeface="Consolas"/>
                <a:ea typeface="맑은 고딕"/>
              </a:rPr>
              <a:t>        try { 행위.run(); } catch (IllegalStateException 기대한거절) { return; }</a:t>
            </a:r>
          </a:p>
          <a:p>
            <a:pPr marL="0" indent="0" algn="l">
              <a:lnSpc>
                <a:spcPts val="1150"/>
              </a:lnSpc>
              <a:spcBef>
                <a:spcPts val="0"/>
              </a:spcBef>
              <a:spcAft>
                <a:spcPts val="0"/>
              </a:spcAft>
              <a:buNone/>
            </a:pPr>
            <a:r>
              <a:rPr sz="1000" b="0">
                <a:solidFill>
                  <a:srgbClr val="000000"/>
                </a:solidFill>
                <a:latin typeface="Consolas"/>
                <a:ea typeface="맑은 고딕"/>
              </a:rPr>
              <a:t>        throw new AssertionError("거절되어야 한다");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예시를 </a:t>
            </a:r>
            <a:r>
              <a:rPr sz="1800" b="1">
                <a:solidFill>
                  <a:srgbClr val="000000"/>
                </a:solidFill>
                <a:latin typeface="맑은 고딕"/>
                <a:ea typeface="맑은 고딕"/>
              </a:rPr>
              <a:t>실행되는 테스트</a:t>
            </a:r>
            <a:r>
              <a:rPr sz="1800" b="0">
                <a:solidFill>
                  <a:srgbClr val="000000"/>
                </a:solidFill>
                <a:latin typeface="맑은 고딕"/>
                <a:ea typeface="맑은 고딕"/>
              </a:rPr>
              <a:t>로 옮긴다. 「18. 상태 기계 다이어그램」의 주문 코드와 함께 실행한다.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 www</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4846320" cy="52578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상태와 취소 규칙은 </a:t>
            </a:r>
            <a:r>
              <a:rPr sz="1600" b="1">
                <a:solidFill>
                  <a:srgbClr val="000000"/>
                </a:solidFill>
                <a:latin typeface="맑은 고딕"/>
                <a:ea typeface="맑은 고딕"/>
              </a:rPr>
              <a:t>주문</a:t>
            </a:r>
            <a:r>
              <a:rPr sz="1600" b="0">
                <a:solidFill>
                  <a:srgbClr val="000000"/>
                </a:solidFill>
                <a:latin typeface="맑은 고딕"/>
                <a:ea typeface="맑은 고딕"/>
              </a:rPr>
              <a:t>이 갖고 판단한다. 환불 규칙</a:t>
            </a:r>
            <a:r>
              <a:rPr sz="1200" b="0">
                <a:solidFill>
                  <a:srgbClr val="000000"/>
                </a:solidFill>
                <a:latin typeface="맑은 고딕"/>
                <a:ea typeface="맑은 고딕"/>
              </a:rPr>
              <a:t>(환불 ≤ 결제 금액)</a:t>
            </a:r>
            <a:r>
              <a:rPr sz="1600" b="0">
                <a:solidFill>
                  <a:srgbClr val="000000"/>
                </a:solidFill>
                <a:latin typeface="맑은 고딕"/>
                <a:ea typeface="맑은 고딕"/>
              </a:rPr>
              <a:t>은 </a:t>
            </a:r>
            <a:r>
              <a:rPr sz="1600" b="1">
                <a:solidFill>
                  <a:srgbClr val="000000"/>
                </a:solidFill>
                <a:latin typeface="맑은 고딕"/>
                <a:ea typeface="맑은 고딕"/>
              </a:rPr>
              <a:t>결제</a:t>
            </a:r>
            <a:r>
              <a:rPr sz="1600" b="0">
                <a:solidFill>
                  <a:srgbClr val="000000"/>
                </a:solidFill>
                <a:latin typeface="맑은 고딕"/>
                <a:ea typeface="맑은 고딕"/>
              </a:rPr>
              <a:t>가 갖는다.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a:t>
            </a:r>
            <a:r>
              <a:rPr sz="1600" b="1">
                <a:solidFill>
                  <a:srgbClr val="000000"/>
                </a:solidFill>
                <a:latin typeface="맑은 고딕"/>
                <a:ea typeface="맑은 고딕"/>
              </a:rPr>
              <a:t>상태와 규칙</a:t>
            </a:r>
            <a:r>
              <a:rPr sz="1600" b="0">
                <a:solidFill>
                  <a:srgbClr val="000000"/>
                </a:solidFill>
                <a:latin typeface="맑은 고딕"/>
                <a:ea typeface="맑은 고딕"/>
              </a:rPr>
              <a:t>을 묶는다. 취소 규칙이 바뀌어도 결제·배송은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4371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주문·결제·배송의 책임과 경계</a:t>
            </a:r>
          </a:p>
        </p:txBody>
      </p:sp>
      <p:pic>
        <p:nvPicPr>
          <p:cNvPr id="10" name="plantuml Diagram 6"/>
          <p:cNvPicPr>
            <a:picLocks noChangeAspect="1"/>
          </p:cNvPicPr>
          <p:nvPr/>
        </p:nvPicPr>
        <p:blipFill>
          <a:blip r:embed="plantumlImage6"/>
          <a:stretch>
            <a:fillRect/>
          </a:stretch>
        </p:blipFill>
        <p:spPr>
          <a:xfrm>
            <a:off x="6106355" y="2818032"/>
            <a:ext cx="1914769" cy="20906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a:t>
            </a:r>
            <a:r>
              <a:rPr sz="1800" b="1">
                <a:solidFill>
                  <a:srgbClr val="000000"/>
                </a:solidFill>
                <a:latin typeface="맑은 고딕"/>
                <a:ea typeface="맑은 고딕"/>
              </a:rPr>
              <a:t>책임</a:t>
            </a:r>
            <a:r>
              <a:rPr sz="1800" b="0">
                <a:solidFill>
                  <a:srgbClr val="000000"/>
                </a:solidFill>
                <a:latin typeface="맑은 고딕"/>
                <a:ea typeface="맑은 고딕"/>
              </a:rPr>
              <a:t>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[Kay 2003]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서비스</a:t>
            </a:r>
            <a:r>
              <a:rPr sz="1800" b="0">
                <a:solidFill>
                  <a:srgbClr val="000000"/>
                </a:solidFill>
                <a:latin typeface="맑은 고딕"/>
                <a:ea typeface="맑은 고딕"/>
              </a:rPr>
              <a:t>는 맡길 뿐 규칙을 다시 구현하지 않는다. 취소 판단과 </a:t>
            </a:r>
            <a:r>
              <a:rPr sz="1800" b="1">
                <a:solidFill>
                  <a:srgbClr val="000000"/>
                </a:solidFill>
                <a:latin typeface="맑은 고딕"/>
                <a:ea typeface="맑은 고딕"/>
              </a:rPr>
              <a:t>순서</a:t>
            </a:r>
            <a:r>
              <a:rPr sz="1400" b="0">
                <a:solidFill>
                  <a:srgbClr val="000000"/>
                </a:solidFill>
                <a:latin typeface="맑은 고딕"/>
                <a:ea typeface="맑은 고딕"/>
              </a:rPr>
              <a:t>(출고 중단 → 환불)</a:t>
            </a:r>
            <a:r>
              <a:rPr sz="1800" b="0">
                <a:solidFill>
                  <a:srgbClr val="000000"/>
                </a:solidFill>
                <a:latin typeface="맑은 고딕"/>
                <a:ea typeface="맑은 고딕"/>
              </a:rPr>
              <a:t>는 </a:t>
            </a:r>
            <a:r>
              <a:rPr sz="1800" b="1">
                <a:solidFill>
                  <a:srgbClr val="000000"/>
                </a:solidFill>
                <a:latin typeface="맑은 고딕"/>
                <a:ea typeface="맑은 고딕"/>
              </a:rPr>
              <a:t>주문</a:t>
            </a:r>
            <a:r>
              <a:rPr sz="1800" b="0">
                <a:solidFill>
                  <a:srgbClr val="000000"/>
                </a:solidFill>
                <a:latin typeface="맑은 고딕"/>
                <a:ea typeface="맑은 고딕"/>
              </a:rPr>
              <a:t>이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5623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취소의 협력</a:t>
            </a:r>
          </a:p>
        </p:txBody>
      </p:sp>
      <p:pic>
        <p:nvPicPr>
          <p:cNvPr id="10" name="plantuml Diagram 7"/>
          <p:cNvPicPr>
            <a:picLocks noChangeAspect="1"/>
          </p:cNvPicPr>
          <p:nvPr/>
        </p:nvPicPr>
        <p:blipFill>
          <a:blip r:embed="plantumlImage7"/>
          <a:stretch>
            <a:fillRect/>
          </a:stretch>
        </p:blipFill>
        <p:spPr>
          <a:xfrm>
            <a:off x="2242038" y="4230555"/>
            <a:ext cx="4659923" cy="190011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주문 저장소, 결제 연동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주문</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주문 서비스</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주문 저장소</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분석 모델에서 설계 모델로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538688"/>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다이어그램은 설계도가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228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북 스마트와 스트리트 스마트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98486"/>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KISS·DRY·YAGNI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41448"/>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부분 취소·쿠폰은 안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95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12824"/>
            <a:ext cx="8412480" cy="274320"/>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5"/>
          <p:cNvPicPr>
            <a:picLocks noChangeAspect="1"/>
          </p:cNvPicPr>
          <p:nvPr/>
        </p:nvPicPr>
        <p:blipFill>
          <a:blip r:embed="mermaidImage5"/>
          <a:stretch>
            <a:fillRect/>
          </a:stretch>
        </p:blipFill>
        <p:spPr>
          <a:xfrm>
            <a:off x="1460500" y="3987144"/>
            <a:ext cx="6223000" cy="14208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피드백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538688"/>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342900" indent="0">
              <a:spcBef>
                <a:spcPts val="600"/>
              </a:spcBef>
              <a:spcAft>
                <a:spcPts val="600"/>
              </a:spcAft>
              <a:buNone/>
            </a:pPr>
            <a:r>
              <a:rPr sz="1800" b="1">
                <a:solidFill>
                  <a:srgbClr val="000000"/>
                </a:solidFill>
                <a:latin typeface="맑은 고딕"/>
                <a:ea typeface="맑은 고딕"/>
              </a:rPr>
              <a:t>검증의 배치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2402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6828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14144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전문 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41448"/>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a:t>
            </a:r>
            <a:r>
              <a:rPr sz="1800" b="1">
                <a:solidFill>
                  <a:srgbClr val="000000"/>
                </a:solidFill>
                <a:latin typeface="맑은 고딕"/>
                <a:ea typeface="맑은 고딕"/>
              </a:rPr>
              <a:t>마지막 단계가 아니다</a:t>
            </a:r>
            <a:r>
              <a:rPr sz="1800" b="0">
                <a:solidFill>
                  <a:srgbClr val="000000"/>
                </a:solidFill>
                <a:latin typeface="맑은 고딕"/>
                <a:ea typeface="맑은 고딕"/>
              </a:rPr>
              <a:t>. 위험과 제약이 크면 판단과 검증을 </a:t>
            </a:r>
            <a:r>
              <a:rPr sz="1800" b="1">
                <a:solidFill>
                  <a:srgbClr val="000000"/>
                </a:solidFill>
                <a:latin typeface="맑은 고딕"/>
                <a:ea typeface="맑은 고딕"/>
              </a:rPr>
              <a:t>앞당긴다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주도 설계는 </a:t>
            </a:r>
            <a:r>
              <a:rPr sz="1800" b="1">
                <a:solidFill>
                  <a:srgbClr val="000000"/>
                </a:solidFill>
                <a:latin typeface="맑은 고딕"/>
                <a:ea typeface="맑은 고딕"/>
              </a:rPr>
              <a:t>책임 주도 설계·계약에 의한 설계·Larman의 객체지향 설계 모범 사례</a:t>
            </a:r>
            <a:r>
              <a:rPr sz="1800" b="0">
                <a:solidFill>
                  <a:srgbClr val="000000"/>
                </a:solidFill>
                <a:latin typeface="맑은 고딕"/>
                <a:ea typeface="맑은 고딕"/>
              </a:rPr>
              <a:t>를 토대로 한다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는 핵심 도메인과 문맥의 경계를, </a:t>
            </a:r>
            <a:r>
              <a:rPr sz="1800" b="1">
                <a:solidFill>
                  <a:srgbClr val="000000"/>
                </a:solidFill>
                <a:latin typeface="맑은 고딕"/>
                <a:ea typeface="맑은 고딕"/>
              </a:rPr>
              <a:t>전술적 설계</a:t>
            </a:r>
            <a:r>
              <a:rPr sz="1800" b="0">
                <a:solidFill>
                  <a:srgbClr val="000000"/>
                </a:solidFill>
                <a:latin typeface="맑은 고딕"/>
                <a:ea typeface="맑은 고딕"/>
              </a:rPr>
              <a:t>는 엔티티·값 객체·애그리거트·저장소를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주도 설계는 객체지향 설계를 대체하지 않고, 도메인 모델과 설계·구현의 </a:t>
            </a:r>
            <a:r>
              <a:rPr sz="1800" b="1">
                <a:solidFill>
                  <a:srgbClr val="000000"/>
                </a:solidFill>
                <a:latin typeface="맑은 고딕"/>
                <a:ea typeface="맑은 고딕"/>
              </a:rPr>
              <a:t>정합성</a:t>
            </a:r>
            <a:r>
              <a:rPr sz="1800" b="0">
                <a:solidFill>
                  <a:srgbClr val="000000"/>
                </a:solidFill>
                <a:latin typeface="맑은 고딕"/>
                <a:ea typeface="맑은 고딕"/>
              </a:rPr>
              <a:t>을 깊이 다룬다.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의미를 다루는 관심은 셋이다 —</a:t>
            </a:r>
            <a:r>
              <a:rPr sz="1600" b="0">
                <a:solidFill>
                  <a:srgbClr val="000000"/>
                </a:solidFill>
                <a:latin typeface="맑은 고딕"/>
                <a:ea typeface="맑은 고딕"/>
              </a:rPr>
              <a:t> </a:t>
            </a:r>
            <a:r>
              <a:rPr sz="1600" b="1">
                <a:solidFill>
                  <a:srgbClr val="000000"/>
                </a:solidFill>
                <a:latin typeface="맑은 고딕"/>
                <a:ea typeface="맑은 고딕"/>
              </a:rPr>
              <a:t>객체지향 분석</a:t>
            </a:r>
            <a:r>
              <a:rPr sz="1600" b="0">
                <a:solidFill>
                  <a:srgbClr val="000000"/>
                </a:solidFill>
                <a:latin typeface="맑은 고딕"/>
                <a:ea typeface="맑은 고딕"/>
              </a:rPr>
              <a:t>은 개념·관계를 분석하고, </a:t>
            </a:r>
            <a:r>
              <a:rPr sz="1600" b="1">
                <a:solidFill>
                  <a:srgbClr val="000000"/>
                </a:solidFill>
                <a:latin typeface="맑은 고딕"/>
                <a:ea typeface="맑은 고딕"/>
              </a:rPr>
              <a:t>DDD</a:t>
            </a:r>
            <a:r>
              <a:rPr sz="1600" b="0">
                <a:solidFill>
                  <a:srgbClr val="000000"/>
                </a:solidFill>
                <a:latin typeface="맑은 고딕"/>
                <a:ea typeface="맑은 고딕"/>
              </a:rPr>
              <a:t>는 공유 언어로 모델을 정제하며, </a:t>
            </a:r>
            <a:r>
              <a:rPr sz="1600" b="1">
                <a:solidFill>
                  <a:srgbClr val="000000"/>
                </a:solidFill>
                <a:latin typeface="맑은 고딕"/>
                <a:ea typeface="맑은 고딕"/>
              </a:rPr>
              <a:t>온톨로지</a:t>
            </a:r>
            <a:r>
              <a:rPr sz="1600" b="0">
                <a:solidFill>
                  <a:srgbClr val="000000"/>
                </a:solidFill>
                <a:latin typeface="맑은 고딕"/>
                <a:ea typeface="맑은 고딕"/>
              </a:rPr>
              <a:t>는 의미를 기계가 읽을 수 있게 명시한다.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셋은 개발 순서가 아니라 </a:t>
            </a:r>
            <a:r>
              <a:rPr sz="1800" b="1">
                <a:solidFill>
                  <a:srgbClr val="000000"/>
                </a:solidFill>
                <a:latin typeface="맑은 고딕"/>
                <a:ea typeface="맑은 고딕"/>
              </a:rPr>
              <a:t>같은 의미를 다루는 다른 관심</a:t>
            </a:r>
            <a:r>
              <a:rPr sz="1800" b="0">
                <a:solidFill>
                  <a:srgbClr val="000000"/>
                </a:solidFill>
                <a:latin typeface="맑은 고딕"/>
                <a:ea typeface="맑은 고딕"/>
              </a:rPr>
              <a:t>이다. 모든 도메인 모델이 온톨로지는 아니다.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a:t>
            </a:r>
            <a:r>
              <a:rPr sz="1800" b="1">
                <a:solidFill>
                  <a:srgbClr val="000000"/>
                </a:solidFill>
                <a:latin typeface="맑은 고딕"/>
                <a:ea typeface="맑은 고딕"/>
              </a:rPr>
              <a:t>모든 실습</a:t>
            </a:r>
            <a:r>
              <a:rPr sz="1800" b="0">
                <a:solidFill>
                  <a:srgbClr val="000000"/>
                </a:solidFill>
                <a:latin typeface="맑은 고딕"/>
                <a:ea typeface="맑은 고딕"/>
              </a:rPr>
              <a:t>이 이 방식이다. LLM이 초안을 쓰고, 사람이 점검 항목으로 </a:t>
            </a:r>
            <a:r>
              <a:rPr sz="1800" b="1">
                <a:solidFill>
                  <a:srgbClr val="000000"/>
                </a:solidFill>
                <a:latin typeface="맑은 고딕"/>
                <a:ea typeface="맑은 고딕"/>
              </a:rPr>
              <a:t>판단·검증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요구사항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서비스 개요와 프롬프트를 LLM에 제공하여 </a:t>
            </a:r>
            <a:r>
              <a:rPr sz="1600" b="1">
                <a:solidFill>
                  <a:srgbClr val="000000"/>
                </a:solidFill>
                <a:latin typeface="맑은 고딕"/>
                <a:ea typeface="맑은 고딕"/>
              </a:rPr>
              <a:t>요구사항 명세서</a:t>
            </a:r>
            <a:r>
              <a:rPr sz="1600" b="0">
                <a:solidFill>
                  <a:srgbClr val="000000"/>
                </a:solidFill>
                <a:latin typeface="맑은 고딕"/>
                <a:ea typeface="맑은 고딕"/>
              </a:rPr>
              <a:t>를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서비스 개요</a:t>
            </a:r>
          </a:p>
          <a:p>
            <a:pPr lvl="3" marL="723900" indent="0">
              <a:spcBef>
                <a:spcPts val="300"/>
              </a:spcBef>
              <a:spcAft>
                <a:spcPts val="300"/>
              </a:spcAft>
              <a:buNone/>
            </a:pPr>
            <a:r>
              <a:rPr sz="1600" b="1">
                <a:solidFill>
                  <a:srgbClr val="000000"/>
                </a:solidFill>
                <a:latin typeface="맑은 고딕"/>
                <a:ea typeface="맑은 고딕"/>
              </a:rPr>
              <a:t>생필품</a:t>
            </a:r>
            <a:r>
              <a:rPr sz="1600" b="0">
                <a:solidFill>
                  <a:srgbClr val="000000"/>
                </a:solidFill>
                <a:latin typeface="맑은 고딕"/>
                <a:ea typeface="맑은 고딕"/>
              </a:rPr>
              <a:t>을 일정 주기로 배송하는 정기배송 시스템을 개발한다. 고객은 상품·수량·기간·배송 주기</a:t>
            </a:r>
            <a:r>
              <a:rPr sz="1000" b="0">
                <a:solidFill>
                  <a:srgbClr val="000000"/>
                </a:solidFill>
                <a:latin typeface="맑은 고딕"/>
                <a:ea typeface="맑은 고딕"/>
              </a:rPr>
              <a:t>(1·2·4주)</a:t>
            </a:r>
            <a:r>
              <a:rPr sz="1600" b="0">
                <a:solidFill>
                  <a:srgbClr val="000000"/>
                </a:solidFill>
                <a:latin typeface="맑은 고딕"/>
                <a:ea typeface="맑은 고딕"/>
              </a:rPr>
              <a:t>·배송지를 입력하고 결제한다. 고객은 다음 배송을 24시간 전까지 취소할 수 있다</a:t>
            </a:r>
            <a:r>
              <a:rPr sz="1000" b="0">
                <a:solidFill>
                  <a:srgbClr val="000000"/>
                </a:solidFill>
                <a:latin typeface="맑은 고딕"/>
                <a:ea typeface="맑은 고딕"/>
              </a:rPr>
              <a:t>(연속 2회까지)</a:t>
            </a:r>
            <a:r>
              <a:rPr sz="16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서비스 개요로 정기배송 시스템의 요구사항 명세서를 작성해줘. 기능 요구, 업무 규칙, 외부 시스템, 확인할 질문으로 나눠 정리해줘. 개요에 없는 내용은 추측하지 말고 </a:t>
            </a:r>
            <a:r>
              <a:rPr sz="1600" b="1">
                <a:solidFill>
                  <a:srgbClr val="000000"/>
                </a:solidFill>
                <a:latin typeface="맑은 고딕"/>
                <a:ea typeface="맑은 고딕"/>
              </a:rPr>
              <a:t>반드시 확인</a:t>
            </a:r>
            <a:r>
              <a:rPr sz="16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개요 반영</a:t>
            </a:r>
            <a:r>
              <a:rPr sz="1600" b="0">
                <a:solidFill>
                  <a:srgbClr val="000000"/>
                </a:solidFill>
                <a:latin typeface="맑은 고딕"/>
                <a:ea typeface="맑은 고딕"/>
              </a:rPr>
              <a:t> —</a:t>
            </a:r>
            <a:r>
              <a:rPr sz="105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결제</a:t>
            </a:r>
            <a:r>
              <a:rPr sz="1600" b="0">
                <a:solidFill>
                  <a:srgbClr val="000000"/>
                </a:solidFill>
                <a:latin typeface="맑은 고딕"/>
                <a:ea typeface="맑은 고딕"/>
              </a:rPr>
              <a:t> —</a:t>
            </a:r>
            <a:r>
              <a:rPr sz="1050" b="0">
                <a:solidFill>
                  <a:srgbClr val="000000"/>
                </a:solidFill>
                <a:latin typeface="맑은 고딕"/>
                <a:ea typeface="맑은 고딕"/>
              </a:rPr>
              <a:t> 결제 방법</a:t>
            </a:r>
            <a:r>
              <a:rPr sz="850" b="0">
                <a:solidFill>
                  <a:srgbClr val="000000"/>
                </a:solidFill>
                <a:latin typeface="맑은 고딕"/>
                <a:ea typeface="맑은 고딕"/>
              </a:rPr>
              <a:t>(카드·계좌이체·간편결제 등)</a:t>
            </a:r>
            <a:r>
              <a:rPr sz="1050" b="0">
                <a:solidFill>
                  <a:srgbClr val="000000"/>
                </a:solidFill>
                <a:latin typeface="맑은 고딕"/>
                <a:ea typeface="맑은 고딕"/>
              </a:rPr>
              <a:t>, 청구 방식</a:t>
            </a:r>
            <a:r>
              <a:rPr sz="850" b="0">
                <a:solidFill>
                  <a:srgbClr val="000000"/>
                </a:solidFill>
                <a:latin typeface="맑은 고딕"/>
                <a:ea typeface="맑은 고딕"/>
              </a:rPr>
              <a:t>(일시불·월별 청구)</a:t>
            </a:r>
            <a:r>
              <a:rPr sz="1050" b="0">
                <a:solidFill>
                  <a:srgbClr val="000000"/>
                </a:solidFill>
                <a:latin typeface="맑은 고딕"/>
                <a:ea typeface="맑은 고딕"/>
              </a:rPr>
              <a:t>, 청구일이 정해졌는가?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배송 주기·기간</a:t>
            </a:r>
            <a:r>
              <a:rPr sz="1600" b="0">
                <a:solidFill>
                  <a:srgbClr val="000000"/>
                </a:solidFill>
                <a:latin typeface="맑은 고딕"/>
                <a:ea typeface="맑은 고딕"/>
              </a:rPr>
              <a:t> —</a:t>
            </a:r>
            <a:r>
              <a:rPr sz="1050" b="0">
                <a:solidFill>
                  <a:srgbClr val="000000"/>
                </a:solidFill>
                <a:latin typeface="맑은 고딕"/>
                <a:ea typeface="맑은 고딕"/>
              </a:rPr>
              <a:t> 1·2·4주 외에 고객이 원하는 주기</a:t>
            </a:r>
            <a:r>
              <a:rPr sz="850" b="0">
                <a:solidFill>
                  <a:srgbClr val="000000"/>
                </a:solidFill>
                <a:latin typeface="맑은 고딕"/>
                <a:ea typeface="맑은 고딕"/>
              </a:rPr>
              <a:t>(매일·격일·3일·10일 등)</a:t>
            </a:r>
            <a:r>
              <a:rPr sz="105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취소·반품·해지</a:t>
            </a:r>
            <a:r>
              <a:rPr sz="1600" b="0">
                <a:solidFill>
                  <a:srgbClr val="000000"/>
                </a:solidFill>
                <a:latin typeface="맑은 고딕"/>
                <a:ea typeface="맑은 고딕"/>
              </a:rPr>
              <a:t> —</a:t>
            </a:r>
            <a:r>
              <a:rPr sz="1050" b="0">
                <a:solidFill>
                  <a:srgbClr val="000000"/>
                </a:solidFill>
                <a:latin typeface="맑은 고딕"/>
                <a:ea typeface="맑은 고딕"/>
              </a:rPr>
              <a:t> 취소한 회차의 </a:t>
            </a:r>
            <a:r>
              <a:rPr sz="1050" b="1">
                <a:solidFill>
                  <a:srgbClr val="000000"/>
                </a:solidFill>
                <a:latin typeface="맑은 고딕"/>
                <a:ea typeface="맑은 고딕"/>
              </a:rPr>
              <a:t>환불 방법</a:t>
            </a:r>
            <a:r>
              <a:rPr sz="1050" b="0">
                <a:solidFill>
                  <a:srgbClr val="000000"/>
                </a:solidFill>
                <a:latin typeface="맑은 고딕"/>
                <a:ea typeface="맑은 고딕"/>
              </a:rPr>
              <a:t>, 반품할 수 있는 상품과 </a:t>
            </a:r>
            <a:r>
              <a:rPr sz="1050" b="1">
                <a:solidFill>
                  <a:srgbClr val="000000"/>
                </a:solidFill>
                <a:latin typeface="맑은 고딕"/>
                <a:ea typeface="맑은 고딕"/>
              </a:rPr>
              <a:t>반품 기한·절차</a:t>
            </a:r>
            <a:r>
              <a:rPr sz="1050" b="0">
                <a:solidFill>
                  <a:srgbClr val="000000"/>
                </a:solidFill>
                <a:latin typeface="맑은 고딕"/>
                <a:ea typeface="맑은 고딕"/>
              </a:rPr>
              <a:t>, 해지할 때 </a:t>
            </a:r>
            <a:r>
              <a:rPr sz="1050" b="1">
                <a:solidFill>
                  <a:srgbClr val="000000"/>
                </a:solidFill>
                <a:latin typeface="맑은 고딕"/>
                <a:ea typeface="맑은 고딕"/>
              </a:rPr>
              <a:t>남은 금액</a:t>
            </a:r>
            <a:r>
              <a:rPr sz="1050" b="0">
                <a:solidFill>
                  <a:srgbClr val="000000"/>
                </a:solidFill>
                <a:latin typeface="맑은 고딕"/>
                <a:ea typeface="맑은 고딕"/>
              </a:rPr>
              <a:t>의 처리</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기술 용어</a:t>
            </a:r>
            <a:r>
              <a:rPr sz="1600" b="0">
                <a:solidFill>
                  <a:srgbClr val="000000"/>
                </a:solidFill>
                <a:latin typeface="맑은 고딕"/>
                <a:ea typeface="맑은 고딕"/>
              </a:rPr>
              <a:t> —</a:t>
            </a:r>
            <a:r>
              <a:rPr sz="105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미확정 항목</a:t>
            </a:r>
            <a:r>
              <a:rPr sz="1600" b="0">
                <a:solidFill>
                  <a:srgbClr val="000000"/>
                </a:solidFill>
                <a:latin typeface="맑은 고딕"/>
                <a:ea typeface="맑은 고딕"/>
              </a:rPr>
              <a:t> —</a:t>
            </a:r>
            <a:r>
              <a:rPr sz="105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확인할 질문이 남지 않은 요구사항 명세서.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요구사항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818409"/>
            <a:ext cx="4338828" cy="466468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58289"/>
          </a:xfrm>
        </p:spPr>
        <p:txBody>
          <a:bodyPr>
            <a:normAutofit/>
          </a:bodyPr>
          <a:lstStyle/>
          <a:p>
            <a:pPr marL="0" indent="0">
              <a:spcBef>
                <a:spcPts val="300"/>
              </a:spcBef>
              <a:spcAft>
                <a:spcPts val="3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818409"/>
            <a:ext cx="4439412" cy="466468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300"/>
              </a:spcBef>
              <a:spcAft>
                <a:spcPts val="3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300"/>
              </a:spcBef>
              <a:spcAft>
                <a:spcPts val="3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300"/>
              </a:spcBef>
              <a:spcAft>
                <a:spcPts val="3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이어서 다뤘다.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본질적·우연적 어려움</a:t>
            </a:r>
            <a:r>
              <a:rPr sz="1800" b="0">
                <a:solidFill>
                  <a:srgbClr val="000000"/>
                </a:solidFill>
                <a:latin typeface="맑은 고딕"/>
                <a:ea typeface="맑은 고딕"/>
              </a:rPr>
              <a:t> —</a:t>
            </a:r>
            <a:r>
              <a:rPr sz="1600" b="0">
                <a:solidFill>
                  <a:srgbClr val="000000"/>
                </a:solidFill>
                <a:latin typeface="맑은 고딕"/>
                <a:ea typeface="맑은 고딕"/>
              </a:rPr>
              <a:t> 업무 복잡성과 기술적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경계와 코드·테스트</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요구·분석·설계·코드는 각자 결정하고 가까이에서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43</Slides>
  <Notes>35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43</vt:i4>
      </vt:variant>
    </vt:vector>
  </HeadingPairs>
  <TitlesOfParts>
    <vt:vector size="47" baseType="lpstr">
      <vt:lpstr>맑은 고딕</vt:lpstr>
      <vt:lpstr>Arial</vt:lpstr>
      <vt:lpstr>Wingdings</vt:lpstr>
      <vt:lpstr>4_Office 테마</vt:lpstr>
      <vt:lpstr>01. OOAD 개요 목차 (1/2)</vt:lpstr>
      <vt:lpstr>01. OOAD 개요 목차 (2/2)</vt:lpstr>
      <vt:lpstr>01. 세션 목표</vt:lpstr>
      <vt:lpstr>02. SW 개발의 재작업</vt:lpstr>
      <vt:lpstr>03. 미사용 기능</vt:lpstr>
      <vt:lpstr>04. 범위와 가치</vt:lpstr>
      <vt:lpstr>05. 문제 → 요구사항 → 해결책 (1/2)</vt:lpstr>
      <vt:lpstr>05. 문제 → 요구사항 → 해결책 (2/2)</vt:lpstr>
      <vt:lpstr>06. 이벤트 관점</vt:lpstr>
      <vt:lpstr>07. 본질적 어려움과 우연적 어려움</vt:lpstr>
      <vt:lpstr>08. 주문 취소의 복잡성</vt:lpstr>
      <vt:lpstr>09. 분석과 설계 (1/2)</vt:lpstr>
      <vt:lpstr>09. 분석과 설계 (2/2)</vt:lpstr>
      <vt:lpstr>10. 결정 경계</vt:lpstr>
      <vt:lpstr>11. 분석·설계 방법</vt:lpstr>
      <vt:lpstr>12. 맥락과 접근법 (1/2)</vt:lpstr>
      <vt:lpstr>12. 맥락과 접근법 (2/2)</vt:lpstr>
      <vt:lpstr>13. 통합 모델링 언어</vt:lpstr>
      <vt:lpstr>14. 클래스 다이어그램</vt:lpstr>
      <vt:lpstr>15. 시스템 시퀀스 다이어그램</vt:lpstr>
      <vt:lpstr>16. 분석 시퀀스 다이어그램</vt:lpstr>
      <vt:lpstr>17. 커뮤니케이션 다이어그램</vt:lpstr>
      <vt:lpstr>18. 상태 기계 다이어그램</vt:lpstr>
      <vt:lpstr>19. 요구에서 테스트로 (1/2)</vt:lpstr>
      <vt:lpstr>19. 요구에서 테스트로 (2/2)</vt:lpstr>
      <vt:lpstr>20. 소프트웨어 아키텍처</vt:lpstr>
      <vt:lpstr>21. 책임과 경계</vt:lpstr>
      <vt:lpstr>22. 메시지와 협력</vt:lpstr>
      <vt:lpstr>23. 분석 모델에서 설계 모델로 (1/2)</vt:lpstr>
      <vt:lpstr>23. 분석 모델에서 설계 모델로 (2/2)</vt:lpstr>
      <vt:lpstr>24. 적정 분석·설계</vt:lpstr>
      <vt:lpstr>25. 북 스마트와 스트리트 스마트</vt:lpstr>
      <vt:lpstr>26. KISS·DRY·YAGNI</vt:lpstr>
      <vt:lpstr>27. 피드백 (1/2)</vt:lpstr>
      <vt:lpstr>27. 피드백 (2/2)</vt:lpstr>
      <vt:lpstr>28. 흔한 오해</vt:lpstr>
      <vt:lpstr>29. 전문 영역으로의 확장</vt:lpstr>
      <vt:lpstr>30. 도메인 주도 설계</vt:lpstr>
      <vt:lpstr>31. 온톨로지</vt:lpstr>
      <vt:lpstr>32. AI 기반 소프트웨어공학</vt:lpstr>
      <vt:lpstr>33. 실습 — 요구사항 명세서</vt:lpstr>
      <vt:lpstr>34. 요구사항 명세서 (안)</vt:lpstr>
      <vt:lpstr>35.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