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Default Extension="png" ContentType="image/png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44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0" r:id="rId1"/>
  </p:sldMasterIdLst>
  <p:notesMasterIdLst>
    <p:notesMasterId r:id="rId15"/>
  </p:notesMasterIdLst>
  <p:sldIdLst>
    <p:sldId id="256" r:id="javaLecture1"/>
    <p:sldId id="257" r:id="javaLecture2"/>
    <p:sldId id="258" r:id="javaLecture3"/>
    <p:sldId id="259" r:id="javaLecture4"/>
    <p:sldId id="260" r:id="javaLecture5"/>
    <p:sldId id="261" r:id="javaLecture6"/>
    <p:sldId id="262" r:id="javaLecture7"/>
    <p:sldId id="263" r:id="javaLecture8"/>
    <p:sldId id="264" r:id="javaLecture9"/>
    <p:sldId id="265" r:id="javaLecture10"/>
    <p:sldId id="266" r:id="javaLecture11"/>
    <p:sldId id="267" r:id="javaLecture12"/>
    <p:sldId id="268" r:id="javaLecture13"/>
    <p:sldId id="269" r:id="javaLecture14"/>
    <p:sldId id="270" r:id="javaLecture15"/>
    <p:sldId id="271" r:id="javaLecture16"/>
    <p:sldId id="272" r:id="javaLecture17"/>
    <p:sldId id="273" r:id="javaLecture18"/>
    <p:sldId id="274" r:id="javaLecture19"/>
    <p:sldId id="275" r:id="javaLecture20"/>
    <p:sldId id="276" r:id="javaLecture21"/>
    <p:sldId id="277" r:id="javaLecture22"/>
    <p:sldId id="278" r:id="javaLecture23"/>
    <p:sldId id="279" r:id="javaLecture24"/>
    <p:sldId id="280" r:id="javaLecture25"/>
    <p:sldId id="281" r:id="javaLecture26"/>
    <p:sldId id="282" r:id="javaLecture27"/>
    <p:sldId id="283" r:id="javaLecture28"/>
    <p:sldId id="284" r:id="javaLecture29"/>
    <p:sldId id="285" r:id="javaLecture30"/>
    <p:sldId id="286" r:id="javaLecture31"/>
    <p:sldId id="287" r:id="javaLecture32"/>
    <p:sldId id="288" r:id="javaLecture33"/>
    <p:sldId id="289" r:id="javaLecture34"/>
    <p:sldId id="290" r:id="javaLecture35"/>
    <p:sldId id="291" r:id="javaLecture36"/>
    <p:sldId id="292" r:id="javaLecture37"/>
    <p:sldId id="293" r:id="javaLecture38"/>
    <p:sldId id="294" r:id="javaLecture39"/>
    <p:sldId id="295" r:id="javaLecture40"/>
    <p:sldId id="296" r:id="javaLecture41"/>
    <p:sldId id="297" r:id="javaLecture42"/>
    <p:sldId id="298" r:id="javaLecture43"/>
    <p:sldId id="299" r:id="javaLecture4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4" orient="horz" pos="890" userDrawn="1">
          <p15:clr>
            <a:srgbClr val="A4A3A4"/>
          </p15:clr>
        </p15:guide>
        <p15:guide id="5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641C14D-A5A2-2B4D-B033-1B776E74D04A}" v="40" dt="2026-09-12T11:52:04.69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862"/>
    <p:restoredTop sz="92496"/>
  </p:normalViewPr>
  <p:slideViewPr>
    <p:cSldViewPr snapToGrid="0">
      <p:cViewPr varScale="1">
        <p:scale>
          <a:sx n="106" d="100"/>
          <a:sy n="106" d="100"/>
        </p:scale>
        <p:origin x="1984" y="184"/>
      </p:cViewPr>
      <p:guideLst>
        <p:guide orient="horz" pos="89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18" d="100"/>
        <a:sy n="118" d="100"/>
      </p:scale>
      <p:origin x="0" y="0"/>
    </p:cViewPr>
  </p:sorterViewPr>
  <p:gridSpacing cx="76200" cy="76200"/>
</p:viewPr>
</file>

<file path=ppt/_rels/presentation.xml.rels><?xml version="1.0" encoding="UTF-8" standalone="yes"?>
<Relationships xmlns="http://schemas.openxmlformats.org/package/2006/relationships"><Relationship Id="rId18" Type="http://schemas.openxmlformats.org/officeDocument/2006/relationships/theme" Target="theme/theme1.xml"/><Relationship Id="rId17" Type="http://schemas.openxmlformats.org/officeDocument/2006/relationships/viewProps" Target="viewProps.xml"/><Relationship Id="rId16" Type="http://schemas.openxmlformats.org/officeDocument/2006/relationships/presProps" Target="pres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15" Type="http://schemas.openxmlformats.org/officeDocument/2006/relationships/notesMaster" Target="notesMasters/notesMaster1.xml"/><Relationship Id="rId19" Type="http://schemas.openxmlformats.org/officeDocument/2006/relationships/tableStyles" Target="tableStyles.xml"/><Relationship Id="javaLecture1" Type="http://schemas.openxmlformats.org/officeDocument/2006/relationships/slide" Target="slides/slide1.xml"/><Relationship Id="javaLecture2" Type="http://schemas.openxmlformats.org/officeDocument/2006/relationships/slide" Target="slides/slide2.xml"/><Relationship Id="javaLecture3" Type="http://schemas.openxmlformats.org/officeDocument/2006/relationships/slide" Target="slides/slide3.xml"/><Relationship Id="javaLecture4" Type="http://schemas.openxmlformats.org/officeDocument/2006/relationships/slide" Target="slides/slide4.xml"/><Relationship Id="javaLecture5" Type="http://schemas.openxmlformats.org/officeDocument/2006/relationships/slide" Target="slides/slide5.xml"/><Relationship Id="javaLecture6" Type="http://schemas.openxmlformats.org/officeDocument/2006/relationships/slide" Target="slides/slide6.xml"/><Relationship Id="javaLecture7" Type="http://schemas.openxmlformats.org/officeDocument/2006/relationships/slide" Target="slides/slide7.xml"/><Relationship Id="javaLecture8" Type="http://schemas.openxmlformats.org/officeDocument/2006/relationships/slide" Target="slides/slide8.xml"/><Relationship Id="javaLecture9" Type="http://schemas.openxmlformats.org/officeDocument/2006/relationships/slide" Target="slides/slide9.xml"/><Relationship Id="javaLecture10" Type="http://schemas.openxmlformats.org/officeDocument/2006/relationships/slide" Target="slides/slide10.xml"/><Relationship Id="javaLecture11" Type="http://schemas.openxmlformats.org/officeDocument/2006/relationships/slide" Target="slides/slide11.xml"/><Relationship Id="javaLecture12" Type="http://schemas.openxmlformats.org/officeDocument/2006/relationships/slide" Target="slides/slide12.xml"/><Relationship Id="javaLecture13" Type="http://schemas.openxmlformats.org/officeDocument/2006/relationships/slide" Target="slides/slide13.xml"/><Relationship Id="javaLecture14" Type="http://schemas.openxmlformats.org/officeDocument/2006/relationships/slide" Target="slides/slide14.xml"/><Relationship Id="javaLecture15" Type="http://schemas.openxmlformats.org/officeDocument/2006/relationships/slide" Target="slides/slide15.xml"/><Relationship Id="javaLecture16" Type="http://schemas.openxmlformats.org/officeDocument/2006/relationships/slide" Target="slides/slide16.xml"/><Relationship Id="javaLecture17" Type="http://schemas.openxmlformats.org/officeDocument/2006/relationships/slide" Target="slides/slide17.xml"/><Relationship Id="javaLecture18" Type="http://schemas.openxmlformats.org/officeDocument/2006/relationships/slide" Target="slides/slide18.xml"/><Relationship Id="javaLecture19" Type="http://schemas.openxmlformats.org/officeDocument/2006/relationships/slide" Target="slides/slide19.xml"/><Relationship Id="javaLecture20" Type="http://schemas.openxmlformats.org/officeDocument/2006/relationships/slide" Target="slides/slide20.xml"/><Relationship Id="javaLecture21" Type="http://schemas.openxmlformats.org/officeDocument/2006/relationships/slide" Target="slides/slide21.xml"/><Relationship Id="javaLecture22" Type="http://schemas.openxmlformats.org/officeDocument/2006/relationships/slide" Target="slides/slide22.xml"/><Relationship Id="javaLecture23" Type="http://schemas.openxmlformats.org/officeDocument/2006/relationships/slide" Target="slides/slide23.xml"/><Relationship Id="javaLecture24" Type="http://schemas.openxmlformats.org/officeDocument/2006/relationships/slide" Target="slides/slide24.xml"/><Relationship Id="javaLecture25" Type="http://schemas.openxmlformats.org/officeDocument/2006/relationships/slide" Target="slides/slide25.xml"/><Relationship Id="javaLecture26" Type="http://schemas.openxmlformats.org/officeDocument/2006/relationships/slide" Target="slides/slide26.xml"/><Relationship Id="javaLecture27" Type="http://schemas.openxmlformats.org/officeDocument/2006/relationships/slide" Target="slides/slide27.xml"/><Relationship Id="javaLecture28" Type="http://schemas.openxmlformats.org/officeDocument/2006/relationships/slide" Target="slides/slide28.xml"/><Relationship Id="javaLecture29" Type="http://schemas.openxmlformats.org/officeDocument/2006/relationships/slide" Target="slides/slide29.xml"/><Relationship Id="javaLecture30" Type="http://schemas.openxmlformats.org/officeDocument/2006/relationships/slide" Target="slides/slide30.xml"/><Relationship Id="javaLecture31" Type="http://schemas.openxmlformats.org/officeDocument/2006/relationships/slide" Target="slides/slide31.xml"/><Relationship Id="javaLecture32" Type="http://schemas.openxmlformats.org/officeDocument/2006/relationships/slide" Target="slides/slide32.xml"/><Relationship Id="javaLecture33" Type="http://schemas.openxmlformats.org/officeDocument/2006/relationships/slide" Target="slides/slide33.xml"/><Relationship Id="javaLecture34" Type="http://schemas.openxmlformats.org/officeDocument/2006/relationships/slide" Target="slides/slide34.xml"/><Relationship Id="javaLecture35" Type="http://schemas.openxmlformats.org/officeDocument/2006/relationships/slide" Target="slides/slide35.xml"/><Relationship Id="javaLecture36" Type="http://schemas.openxmlformats.org/officeDocument/2006/relationships/slide" Target="slides/slide36.xml"/><Relationship Id="javaLecture37" Type="http://schemas.openxmlformats.org/officeDocument/2006/relationships/slide" Target="slides/slide37.xml"/><Relationship Id="javaLecture38" Type="http://schemas.openxmlformats.org/officeDocument/2006/relationships/slide" Target="slides/slide38.xml"/><Relationship Id="javaLecture39" Type="http://schemas.openxmlformats.org/officeDocument/2006/relationships/slide" Target="slides/slide39.xml"/><Relationship Id="javaLecture40" Type="http://schemas.openxmlformats.org/officeDocument/2006/relationships/slide" Target="slides/slide40.xml"/><Relationship Id="javaLecture41" Type="http://schemas.openxmlformats.org/officeDocument/2006/relationships/slide" Target="slides/slide41.xml"/><Relationship Id="javaLecture42" Type="http://schemas.openxmlformats.org/officeDocument/2006/relationships/slide" Target="slides/slide42.xml"/><Relationship Id="javaLecture43" Type="http://schemas.openxmlformats.org/officeDocument/2006/relationships/slide" Target="slides/slide43.xml"/><Relationship Id="javaLecture44" Type="http://schemas.openxmlformats.org/officeDocument/2006/relationships/slide" Target="slides/slide4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CCE4FF0-A6B5-46CD-9CD3-2CF2AFF3AE5A}" type="datetimeFigureOut">
              <a:rPr lang="ko-KR" altLang="en-US" smtClean="0"/>
              <a:t>2026. 9. 22.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25E7E4-F626-4F14-BF5E-991C69F9D1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66181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</file>

<file path=ppt/notesSlides/_rels/notesSlide13.xml.rels><?xml version="1.0" encoding="UTF-8"?>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</Relationships>
</file>

<file path=ppt/notesSlides/_rels/notesSlide15.xml.rels><?xml version="1.0" encoding="UTF-8"?>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</Relationships>
</file>

<file path=ppt/notesSlides/_rels/notesSlide16.xml.rels><?xml version="1.0" encoding="UTF-8"?>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</Relationships>
</file>

<file path=ppt/notesSlides/_rels/notesSlide17.xml.rels><?xml version="1.0" encoding="UTF-8"?>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</Relationships>
</file>

<file path=ppt/notesSlides/_rels/notesSlide19.xml.rels><?xml version="1.0" encoding="UTF-8"?>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</Relationships>
</file>

<file path=ppt/notesSlides/_rels/notesSlide20.xml.rels><?xml version="1.0" encoding="UTF-8"?>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</Relationships>
</file>

<file path=ppt/notesSlides/_rels/notesSlide21.xml.rels><?xml version="1.0" encoding="UTF-8"?>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</Relationships>
</file>

<file path=ppt/notesSlides/_rels/notesSlide22.xml.rels><?xml version="1.0" encoding="UTF-8"?>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</Relationships>
</file>

<file path=ppt/notesSlides/_rels/notesSlide23.xml.rels><?xml version="1.0" encoding="UTF-8"?>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</Relationships>
</file>

<file path=ppt/notesSlides/_rels/notesSlide24.xml.rels><?xml version="1.0" encoding="UTF-8"?>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</Relationships>
</file>

<file path=ppt/notesSlides/_rels/notesSlide25.xml.rels><?xml version="1.0" encoding="UTF-8"?>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</Relationships>
</file>

<file path=ppt/notesSlides/_rels/notesSlide27.xml.rels><?xml version="1.0" encoding="UTF-8"?>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</Relationships>
</file>

<file path=ppt/notesSlides/_rels/notesSlide28.xml.rels><?xml version="1.0" encoding="UTF-8"?><Relationships xmlns="http://schemas.openxmlformats.org/package/2006/relationships"><Relationship Id="rId1" Type="http://schemas.openxmlformats.org/officeDocument/2006/relationships/slide" Target="../slides/slide28.xml"/><Relationship Id="rId2" Type="http://schemas.openxmlformats.org/officeDocument/2006/relationships/notesMaster" Target="../notesMasters/notesMaster1.xml"/></Relationships>
</file>

<file path=ppt/notesSlides/_rels/notesSlide29.xml.rels><?xml version="1.0" encoding="UTF-8"?><Relationships xmlns="http://schemas.openxmlformats.org/package/2006/relationships"><Relationship Id="rId1" Type="http://schemas.openxmlformats.org/officeDocument/2006/relationships/slide" Target="../slides/slide29.xml"/><Relationship Id="rId2" Type="http://schemas.openxmlformats.org/officeDocument/2006/relationships/notesMaster" Target="../notesMasters/notesMaster1.xml"/></Relationships>
</file>

<file path=ppt/notesSlides/_rels/notesSlide30.xml.rels><?xml version="1.0" encoding="UTF-8"?><Relationships xmlns="http://schemas.openxmlformats.org/package/2006/relationships"><Relationship Id="rId1" Type="http://schemas.openxmlformats.org/officeDocument/2006/relationships/slide" Target="../slides/slide30.xml"/><Relationship Id="rId2" Type="http://schemas.openxmlformats.org/officeDocument/2006/relationships/notesMaster" Target="../notesMasters/notesMaster1.xml"/></Relationships>
</file>

<file path=ppt/notesSlides/_rels/notesSlide32.xml.rels><?xml version="1.0" encoding="UTF-8"?><Relationships xmlns="http://schemas.openxmlformats.org/package/2006/relationships"><Relationship Id="rId1" Type="http://schemas.openxmlformats.org/officeDocument/2006/relationships/slide" Target="../slides/slide32.xml"/><Relationship Id="rId2" Type="http://schemas.openxmlformats.org/officeDocument/2006/relationships/notesMaster" Target="../notesMasters/notesMaster1.xml"/></Relationships>
</file>

<file path=ppt/notesSlides/_rels/notesSlide33.xml.rels><?xml version="1.0" encoding="UTF-8"?><Relationships xmlns="http://schemas.openxmlformats.org/package/2006/relationships"><Relationship Id="rId1" Type="http://schemas.openxmlformats.org/officeDocument/2006/relationships/slide" Target="../slides/slide33.xml"/><Relationship Id="rId2" Type="http://schemas.openxmlformats.org/officeDocument/2006/relationships/notesMaster" Target="../notesMasters/notesMaster1.xml"/></Relationships>
</file>

<file path=ppt/notesSlides/_rels/notesSlide34.xml.rels><?xml version="1.0" encoding="UTF-8"?><Relationships xmlns="http://schemas.openxmlformats.org/package/2006/relationships"><Relationship Id="rId1" Type="http://schemas.openxmlformats.org/officeDocument/2006/relationships/slide" Target="../slides/slide34.xml"/><Relationship Id="rId2" Type="http://schemas.openxmlformats.org/officeDocument/2006/relationships/notesMaster" Target="../notesMasters/notesMaster1.xml"/></Relationships>
</file>

<file path=ppt/notesSlides/_rels/notesSlide35.xml.rels><?xml version="1.0" encoding="UTF-8"?><Relationships xmlns="http://schemas.openxmlformats.org/package/2006/relationships"><Relationship Id="rId1" Type="http://schemas.openxmlformats.org/officeDocument/2006/relationships/slide" Target="../slides/slide35.xml"/><Relationship Id="rId2" Type="http://schemas.openxmlformats.org/officeDocument/2006/relationships/notesMaster" Target="../notesMasters/notesMaster1.xml"/></Relationships>
</file>

<file path=ppt/notesSlides/_rels/notesSlide37.xml.rels><?xml version="1.0" encoding="UTF-8"?><Relationships xmlns="http://schemas.openxmlformats.org/package/2006/relationships"><Relationship Id="rId1" Type="http://schemas.openxmlformats.org/officeDocument/2006/relationships/slide" Target="../slides/slide37.xml"/><Relationship Id="rId2" Type="http://schemas.openxmlformats.org/officeDocument/2006/relationships/notesMaster" Target="../notesMasters/notesMaster1.xml"/></Relationships>
</file>

<file path=ppt/notesSlides/_rels/notesSlide38.xml.rels><?xml version="1.0" encoding="UTF-8"?><Relationships xmlns="http://schemas.openxmlformats.org/package/2006/relationships"><Relationship Id="rId1" Type="http://schemas.openxmlformats.org/officeDocument/2006/relationships/slide" Target="../slides/slide38.xml"/><Relationship Id="rId2" Type="http://schemas.openxmlformats.org/officeDocument/2006/relationships/notesMaster" Target="../notesMasters/notesMaster1.xml"/></Relationships>
</file>

<file path=ppt/notesSlides/_rels/notesSlide39.xml.rels><?xml version="1.0" encoding="UTF-8"?><Relationships xmlns="http://schemas.openxmlformats.org/package/2006/relationships"><Relationship Id="rId1" Type="http://schemas.openxmlformats.org/officeDocument/2006/relationships/slide" Target="../slides/slide39.xml"/><Relationship Id="rId2" Type="http://schemas.openxmlformats.org/officeDocument/2006/relationships/notesMaster" Target="../notesMasters/notesMaster1.xml"/></Relationships>
</file>

<file path=ppt/notesSlides/_rels/notesSlide40.xml.rels><?xml version="1.0" encoding="UTF-8"?><Relationships xmlns="http://schemas.openxmlformats.org/package/2006/relationships"><Relationship Id="rId1" Type="http://schemas.openxmlformats.org/officeDocument/2006/relationships/slide" Target="../slides/slide40.xml"/><Relationship Id="rId2" Type="http://schemas.openxmlformats.org/officeDocument/2006/relationships/notesMaster" Target="../notesMasters/notesMaster1.xml"/></Relationships>
</file>

<file path=ppt/notesSlides/_rels/notesSlide41.xml.rels><?xml version="1.0" encoding="UTF-8"?><Relationships xmlns="http://schemas.openxmlformats.org/package/2006/relationships"><Relationship Id="rId1" Type="http://schemas.openxmlformats.org/officeDocument/2006/relationships/slide" Target="../slides/slide41.xml"/><Relationship Id="rId2" Type="http://schemas.openxmlformats.org/officeDocument/2006/relationships/notesMaster" Target="../notesMasters/notesMaster1.xml"/></Relationships>
</file>

<file path=ppt/notesSlides/_rels/notesSlide42.xml.rels><?xml version="1.0" encoding="UTF-8"?><Relationships xmlns="http://schemas.openxmlformats.org/package/2006/relationships"><Relationship Id="rId1" Type="http://schemas.openxmlformats.org/officeDocument/2006/relationships/slide" Target="../slides/slide42.xml"/><Relationship Id="rId2" Type="http://schemas.openxmlformats.org/officeDocument/2006/relationships/notesMaster" Target="../notesMasters/notesMaster1.xml"/></Relationships>
</file>

<file path=ppt/notesSlides/_rels/notesSlide43.xml.rels><?xml version="1.0" encoding="UTF-8"?><Relationships xmlns="http://schemas.openxmlformats.org/package/2006/relationships"><Relationship Id="rId1" Type="http://schemas.openxmlformats.org/officeDocument/2006/relationships/slide" Target="../slides/slide43.xml"/><Relationship Id="rId2" Type="http://schemas.openxmlformats.org/officeDocument/2006/relationships/notesMaster" Target="../notesMasters/notesMaster1.xml"/></Relationships>
</file>

<file path=ppt/notesSlides/_rels/notesSlide44.xml.rels><?xml version="1.0" encoding="UTF-8"?><Relationships xmlns="http://schemas.openxmlformats.org/package/2006/relationships"><Relationship Id="rId1" Type="http://schemas.openxmlformats.org/officeDocument/2006/relationships/slide" Target="../slides/slide44.xml"/><Relationship Id="rId2" Type="http://schemas.openxmlformats.org/officeDocument/2006/relationships/notesMaster" Target="../notesMasters/notesMaster1.xml"/></Relationship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세션 전체의 지도를 제시하고, 다섯 다이어그램은 코드와 함께 미리 보여 준다.</a:t>
            </a:r>
          </a:p>
          <a:p>
            <a:pPr lvl="0"/>
            <a:r>
              <a:rPr lang="ko-KR" sz="1200"/>
              <a:t>세부 개념은 뒤 세션에서 같은 사례를 반복하며 깊게 다룬다. 원칙은 guides/sw-engineering-principles.md를 따른다.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Karl Wiegers, "When Bad Requirements Happen to Nice People", Jama Software 블로그(2013). 이 글은 수치의 출처를 밝히지 않는다.</a:t>
            </a:r>
          </a:p>
          <a:p>
            <a:pPr lvl="0"/>
            <a:r>
              <a:rPr lang="ko-KR" sz="1200"/>
              <a:t>수치의 원전으로 알려진 Leffingwell, "Calculating the Return on Investment from More Effective Requirements Management", *American Programmer* 10(4), 1997은 확인하지 못했다. IfSQ는 같은 원전을 "요구사항 변경이 재작업의 70~85%"로 요약한다(IfSQ, "70% of rework caused by changing requirements"). 재인용처마다 오류·변경으로 해석이 갈리므로 원전의 수치로 단정하지 않는다.</a:t>
            </a:r>
          </a:p>
          <a:p>
            <a:pPr lvl="0"/>
            <a:r>
              <a:rPr lang="ko-KR" sz="1200"/>
              <a:t>인용 수치는 역사적 보고다. 재작업에는 학습으로 유용해진 변경도 섞여 있어, 모두 회피 가능한 결함은 아니다.</a:t>
            </a:r>
          </a:p>
          <a:p>
            <a:pPr lvl="0"/>
            <a:r>
              <a:rPr lang="ko-KR" sz="1200"/>
              <a:t>조기 검토의 비용과 줄일 수 있는 재작업 위험을 비교한다. 모든 변경을 처음부터 예방할 수 있다는 뜻은 아니다.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사용 빈도 수치는 XP2002 발표를 인용한 여러 매체에서 확인했다(www). 표본 성격(4개 회사 내부 애플리케이션)은 Cohn이 Standish Group에 직접 문의해 확인한 내용이다. 원 조사 데이터·관찰 기간·측정 기준 자체는 직접 확인하지 못했다.</a:t>
            </a:r>
          </a:p>
          <a:p>
            <a:pPr lvl="0"/>
            <a:r>
              <a:rPr lang="ko-KR" sz="1200"/>
              <a:t>앞의 가치 판단 예는 교육용 사례이며 위 조사에서 얻은 결론이 아니다.</a:t>
            </a:r>
          </a:p>
          <a:p>
            <a:pPr lvl="0"/>
            <a:r>
              <a:rPr lang="ko-KR" sz="1200"/>
              <a:t>사용 빈도를 가치와 동일시하지 않는다. 운영 복구·감사 등 드물지만 필요한 기능을 반례로 토론한다.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세 개념은 서로 관련되지만 동의어가 아니다. 범위 확대는 변경 통제, 불필요한 기능 추가는 요구 밖의 기능, 과도한 설계·구현은 해법의 불필요한 복잡성이 초점이다.</a:t>
            </a:r>
          </a:p>
          <a:p>
            <a:pPr lvl="0"/>
            <a:r>
              <a:rPr lang="ko-KR" sz="1200"/>
              <a:t>예시는 모두 주문 취소라는 동일 상황에 연결한다.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요구사항과 해결책은 각각 상위 목적에서 정당화되어야 한다.</a:t>
            </a:r>
          </a:p>
          <a:p>
            <a:pPr lvl="0"/>
            <a:r>
              <a:rPr lang="ko-KR" sz="1200"/>
              <a:t>이후 분석·설계 판단의 기준축으로 사용한다.</a:t>
            </a:r>
          </a:p>
          <a:p>
            <a:pPr lvl="0"/>
            <a:r>
              <a:rPr lang="ko-KR" sz="1200"/>
              <a:t>고객의 요청 자체가 이미 하나의 해결책일 수 있다.</a:t>
            </a:r>
          </a:p>
          <a:p>
            <a:pPr lvl="0"/>
            <a:r>
              <a:rPr lang="ko-KR" sz="1200"/>
              <a:t>바로 구현하기 전에 상위 문제와 요구사항을 확인한다.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이벤트 반응 목록, 유스케이스, 사용자 이야기, 도메인 이벤트가 모두 이벤트를 출발점으로 삼는다는 근거는 "02. 요구 분석과 유스케이스"의 「07. 이벤트 중심 요구」·「08. 이벤트 중심 기법」에서 다룬다.</a:t>
            </a:r>
          </a:p>
          <a:p>
            <a:pPr lvl="0"/>
            <a:r>
              <a:rPr lang="ko-KR" sz="1200"/>
              <a:t>화면·기술 요소를 요구에 섞는 잘못된 관행은 "02. 요구 분석과 유스케이스"의 「36. 잘못된 관행 — 화면·기술 요소」에서 다룬다.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Brooks, "No Silver Bullet — Essence and Accidents of Software Engineering", UNC Technical Report TR86-020(1986), Essential Difficulties의 Complexity 원문 확인.</a:t>
            </a:r>
          </a:p>
          <a:p>
            <a:pPr lvl="0"/>
            <a:r>
              <a:rPr lang="ko-KR" sz="1200"/>
              <a:t>기술은 우연적 어려움을 줄일 수 있지만 본질적 어려움을 제거하지는 못한다.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「07. 본질적 어려움과 우연적 어려움」에서 정의한 본질적·우연적 어려움이 주문 취소에 어떻게 나타나는지 연결한다.</a:t>
            </a:r>
          </a:p>
          <a:p>
            <a:pPr lvl="0"/>
            <a:r>
              <a:rPr lang="ko-KR" sz="1200"/>
              <a:t>예시의 구현 기술을 본질적 업무 규칙으로 혼동하지 않도록 한다.</a:t>
            </a:r>
          </a:p>
          <a:p>
            <a:pPr lvl="0"/>
            <a:r>
              <a:rPr lang="ko-KR" sz="1200"/>
              <a:t>중복 요청이 발생해도 한 번만 환불되어야 한다는 보장은 업무 의미다. 재시도·중복 제거의 구현 수단과 그 보장 자체를 구분한다.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실제 개발 절차에서는 분석과 설계가 반복되고 섞일 수 있다.</a:t>
            </a:r>
          </a:p>
          <a:p>
            <a:pPr lvl="0"/>
            <a:r>
              <a:rPr lang="ko-KR" sz="1200"/>
              <a:t>사고에서는 문제와 해결책을 구분한다.</a:t>
            </a:r>
          </a:p>
          <a:p>
            <a:pPr lvl="0"/>
            <a:r>
              <a:rPr lang="ko-KR" sz="1200"/>
              <a:t>Booch, *Object-Oriented Analysis and Design with Applications*(2nd ed., 1994) 원서 본문은 미확인이다(www). 재인용처: tutorialspoint, "OOAD — Object Oriented Paradigm". 정의의 영어 문구가 이 페이지와 일치함을 확인했다.</a:t>
            </a:r>
          </a:p>
          <a:p>
            <a:pPr lvl="0"/>
            <a:r>
              <a:rPr lang="ko-KR" sz="1200"/>
              <a:t>유스케이스는 요구 입력이며 그 자체로 객체 모델은 아니다. 도메인 개념 분석과 객체 설계의 출발점으로 사용한다.</a:t>
            </a:r>
          </a:p>
          <a:p>
            <a:pPr lvl="0"/>
            <a:r>
              <a:rPr lang="ko-KR" sz="1200"/>
              <a:t>"03. 정적 모델 — 도메인 개념과 관계"·"04. 동적 모델 — 상호작용과 상태"에서 의미를 분석하고 "06. 분석 모델에서 설계 모델로"·"07. 책임·협력·계약"에서 설계 판단으로 연결한다.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구분하는 이유는 문서 인계 절차를 고정하려는 것이 아니다. 앞 결정을 닫아 두고 되돌아가지 못하는 운영이 문제다(「27. 피드백」).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표는 관심사를 비교하는 교육용 정리다. 시대별 우열이나 단일 계보를 주장하지 않는다.</a:t>
            </a:r>
          </a:p>
          <a:p>
            <a:pPr lvl="0"/>
            <a:r>
              <a:rPr lang="ko-KR" sz="1200"/>
              <a:t>자료 흐름을 볼 때와 책임 배치를 볼 때 얻는 정보가 다르다는 점을 설명한다.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접근별 비교는 "02. 요구 분석과 유스케이스"의 「09. 반복적 접근」, 누가 요구를 아는지와 불확실성에 따른 경우별 접근은 "02. 요구 분석과 유스케이스"의 「13. 누가 요구를 아는가?」·「14. 업무·기술 불확실성」·「15. 경우별 접근법」에서 다룬다.</a:t>
            </a:r>
          </a:p>
          <a:p>
            <a:pPr lvl="0"/>
            <a:r>
              <a:rPr lang="ko-KR" sz="1200"/>
              <a:t>성숙도가 높으면 대화·스케치·코드·테스트로 가볍게 간다. 모델의 개수가 품질의 척도는 아니다.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OMG의 UML 소개 페이지(omg.org/uml) 원문 확인. 영어는 그 페이지 문장의 발췌다.</a:t>
            </a:r>
          </a:p>
          <a:p>
            <a:pPr lvl="0"/>
            <a:r>
              <a:rPr lang="ko-KR" sz="1200"/>
              <a:t>UML의 통합 배경은 OMG [UML 2.5.1](https://www.omg.org/spec/UML/2.5.1/PDF), §1 Scope의 UML 1 설명을 참조한다.</a:t>
            </a:r>
          </a:p>
          <a:p>
            <a:pPr lvl="0"/>
            <a:r>
              <a:rPr lang="ko-KR" sz="1200"/>
              <a:t>UML은 객체지향 분석·설계 자체가 아니다.</a:t>
            </a:r>
          </a:p>
          <a:p>
            <a:pPr lvl="0"/>
            <a:r>
              <a:rPr lang="ko-KR" sz="1200"/>
              <a:t>분석·설계의 결과를 표현하고 검토하는 언어다.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코드는 다이어그램의 한 관점만 옮긴 예시다. 자동 변환이나 최종 설계가 아니다.</a:t>
            </a:r>
          </a:p>
          <a:p>
            <a:pPr lvl="0"/>
            <a:r>
              <a:rPr lang="ko-KR" sz="1200"/>
              <a:t>표기와 도메인 모델은 "03. 정적 모델 — 도메인 개념과 관계"의 「09. 클래스 다이어그램」, 설계로의 전환은 "06. 분석 모델에서 설계 모델로"에서 다룬다.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코드는 다이어그램의 한 관점만 옮긴 예시다. 자동 변환이나 최종 설계가 아니다.</a:t>
            </a:r>
          </a:p>
          <a:p>
            <a:pPr lvl="0"/>
            <a:r>
              <a:rPr lang="ko-KR" sz="1200"/>
              <a:t>SSD와 시스템 오퍼레이션은 "02. 요구 분석과 유스케이스"의 「40. 시스템 시퀀스 다이어그램」·「43. 정제된 SSD」에서 다룬다.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코드는 다이어그램의 한 관점만 옮긴 예시다. 자동 변환이나 최종 설계가 아니다.</a:t>
            </a:r>
          </a:p>
          <a:p>
            <a:pPr lvl="0"/>
            <a:r>
              <a:rPr lang="ko-KR" sz="1200"/>
              <a:t>도메인 객체의 상호작용은 "04. 동적 모델 — 상호작용과 상태"의 「19. 시퀀스 다이어그램」에서 다룬다. 설계 객체의 상호작용은 "07. 책임·협력·계약"에서 다룬다.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코드는 다이어그램의 한 관점만 옮긴 예시다. 자동 변환이나 최종 설계가 아니다.</a:t>
            </a:r>
          </a:p>
          <a:p>
            <a:pPr lvl="0"/>
            <a:r>
              <a:rPr lang="ko-KR" sz="1200"/>
              <a:t>표기와 시퀀스와의 비교는 "04. 동적 모델 — 상호작용과 상태"의 「28. 커뮤니케이션 다이어그램」에서 다룬다.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코드는 다이어그램의 한 관점만 옮긴 예시다. 자동 변환이나 최종 설계가 아니다.</a:t>
            </a:r>
          </a:p>
          <a:p>
            <a:pPr lvl="0"/>
            <a:r>
              <a:rPr lang="ko-KR" sz="1200"/>
              <a:t>상태 값은 "03. 정적 모델 — 도메인 개념과 관계"의 「06. 상태 값과 상태 전이」와 같다. 취소는 결제 완료·배송 시작 전 주문만 할 수 있다는 "02. 요구 분석과 유스케이스"의 전제를 따른다.</a:t>
            </a:r>
          </a:p>
          <a:p>
            <a:pPr lvl="0"/>
            <a:r>
              <a:rPr lang="ko-KR" sz="1200"/>
              <a:t>결제·배송 시스템의 통보와 취소 처리 중 상태까지 포함한 주문의 생애는 "04. 동적 모델 — 상호작용과 상태"의 「32. 상태 기계 다이어그램」·「33. 주문 상태 기계」에서 다룬다.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테스트 통과가 정책의 결정은 아니다. 미확정 정책은 테스트 기대값으로 대신 정하지 않는다.</a:t>
            </a:r>
          </a:p>
          <a:p>
            <a:pPr lvl="0"/>
            <a:r>
              <a:rPr lang="ko-KR" sz="1200"/>
              <a:t>요구 예시와 행위 주도 개발은 "02. 요구 분석과 유스케이스"의 「50. 행위 주도 개발」에서 다룬다.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아키텍처를 문서나 다이어그램 자체와 동일시하지 않는다. 위 정의는 ISO/IEC/IEEE 42010 정의를 그대로 재수록한 NIST 공식 용어집에서 확인했다. ISO 표준 본문 자체를 직접 확인한 것은 아니다.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책임과 경계를 함께 검토한다.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Alan Kay가 Stefan Ram에게 보낸 이메일(2003-07-23). Stefan Ram이 공개한 원문 페이지에서 확인했다.</a:t>
            </a:r>
          </a:p>
          <a:p>
            <a:pPr lvl="0"/>
            <a:r>
              <a:rPr lang="ko-KR" sz="1200"/>
              <a:t>객체지향을 클래스와 상속만으로 설명하지 않는다.</a:t>
            </a:r>
          </a:p>
          <a:p>
            <a:pPr lvl="0"/>
            <a:r>
              <a:rPr lang="ko-KR" sz="1200"/>
              <a:t>메시지, 책임, 협력이 핵심이다.</a:t>
            </a:r>
          </a:p>
          <a:p>
            <a:pPr lvl="0"/>
            <a:r>
              <a:rPr lang="ko-KR" sz="1200"/>
              <a:t>응용 서비스는 취소 규칙을 다시 구현하지 않고 주문의 판단 결과를 사용한다.</a:t>
            </a:r>
          </a:p>
          <a:p>
            <a:pPr lvl="0"/>
            <a:r>
              <a:rPr lang="ko-KR" sz="1200"/>
              <a:t>외부 연동을 분리하면 주문 객체의 기술 의존을 줄일 수 있지만 협력과 실패 조정 책임이 추가된다.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설계에서는 책임, 경계, 협력, 의존성을 다시 결정한다.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중단 기준은 산출물의 양이 아니라 주요 위험과 다음 검증에 필요한 판단의 확보 여부다.</a:t>
            </a:r>
          </a:p>
          <a:p>
            <a:pPr lvl="0"/>
            <a:r>
              <a:rPr lang="ko-KR" sz="1200"/>
              <a:t>분석과 설계를 많이 하는 것이 좋은 것은 아니다.</a:t>
            </a:r>
          </a:p>
          <a:p>
            <a:pPr lvl="0"/>
            <a:r>
              <a:rPr lang="ko-KR" sz="1200"/>
              <a:t>추가 판단이 실제 위험을 줄이는지가 기준이다.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둘 중 하나만으로는 SW 공학이 되지 않는다. 원칙과 모델은 북 스마트로 알되, 무엇을 언제 얼마나 쓸지는 맥락과 증거로 판단한다.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KISS의 본질적·우연적 복잡성 구분은 「07. 본질적 어려움과 우연적 어려움」과 같은 관점이다.</a:t>
            </a:r>
          </a:p>
          <a:p>
            <a:pPr lvl="0"/>
            <a:r>
              <a:rPr lang="ko-KR" sz="1200"/>
              <a:t>단계별 의미(요구·분석·설계·코드·테스트)는 references/sw-engineering-approach/의 참조 자료를 참고한다.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오류가 발견된 위치와 오류가 만들어진 위치는 다를 수 있다.</a:t>
            </a:r>
          </a:p>
          <a:p>
            <a:pPr lvl="0"/>
            <a:r>
              <a:rPr lang="ko-KR" sz="1200"/>
              <a:t>구현과 테스트는 앞선 판단에 대한 피드백이다.</a:t>
            </a:r>
          </a:p>
          <a:p>
            <a:pPr lvl="0"/>
            <a:r>
              <a:rPr lang="ko-KR" sz="1200"/>
              <a:t>규칙이 모호하면 자동화보다 허용·거절 예시의 합의가 먼저다. 자동화는 합의된 규칙의 회귀를 막는다.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각 오해는 앞 topic과 연결된다: 「13. 통합 모델링 언어」, 「09. 분석과 설계」, 「23. 분석 모델에서 설계 모델로」, 「21. 책임과 경계」·「22. 메시지와 협력」, 「07. 본질적 어려움과 우연적 어려움」, 「24. 적정 분석·설계」·「27. 피드백」, 「25. 북 스마트와 스트리트 스마트」.</a:t>
            </a:r>
          </a:p>
          <a:p>
            <a:pPr lvl="0"/>
            <a:r>
              <a:rPr lang="ko-KR" sz="1200"/>
              <a:t>요구 분석의 잘못된 관행은 "02. 요구 분석과 유스케이스", 정적 모델링의 잘못된 관행은 "03. 정적 모델 — 도메인 개념과 관계", 패턴의 선택적 적용은 "08. 변화 대응과 변이 설계"에서 다룬다.</a:t>
            </a: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전문 영역의 깊이는 "13. OOAD에서 전문영역으로 — Architecture · DDD · MSA"와 "14. AI-native SW공학"에서 다룬다. 이어지는 세 topic은 그중 이 과정이 특히 연결하는 도메인 주도 설계, 온톨로지, AI 기반 소프트웨어공학이다.</a:t>
            </a: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도메인 주도 설계를 객체지향 분석·설계의 대체재로 설명하지 않는다.</a:t>
            </a:r>
          </a:p>
          <a:p>
            <a:pPr lvl="0"/>
            <a:r>
              <a:rPr lang="ko-KR" sz="1200"/>
              <a:t>이 과정에서는 객체지향 설계를 기반으로 DDD와 연결한다. DDD 전체를 특정 프로그래밍 패러다임에 한정하는 정의는 아니다.</a:t>
            </a:r>
          </a:p>
          <a:p>
            <a:pPr lvl="0"/>
            <a:r>
              <a:rPr lang="ko-KR" sz="1200"/>
              <a:t>전략적 설계와 전술적 설계의 차이는 개괄 수준에서만 소개한다.</a:t>
            </a:r>
          </a:p>
          <a:p>
            <a:pPr lvl="0"/>
            <a:r>
              <a:rPr lang="ko-KR" sz="1200"/>
              <a:t>근거: Eric Evans, *Domain-Driven Design*(Final Manuscript, 2003-04-15), Part II 서두(p.48) — 책의 설계 방식이 책임 중심 설계와 계약에 의한 설계, Larman 등 객체지향 설계 모범 사례를 배경으로 한다는 서술을 직접 확인했다.</a:t>
            </a: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Thomas R. Gruber, "A Translation Approach to Portable Ontology Specifications", *Knowledge Acquisition* 5(2):199–220, 1993 원문 확인.</a:t>
            </a:r>
          </a:p>
          <a:p>
            <a:pPr lvl="0"/>
            <a:r>
              <a:rPr lang="ko-KR" sz="1200"/>
              <a:t>위 관계는 이 과정의 교육용 연결이다. Gruber가 OOAD→DDD→온톨로지 순서를 제안했다는 의미가 아니다.</a:t>
            </a:r>
          </a:p>
          <a:p>
            <a:pPr lvl="0"/>
            <a:r>
              <a:rPr lang="ko-KR" sz="1200"/>
              <a:t>LLM에 모델을 제공하는 것만으로 동일한 해석이 보장되지는 않는다. 구체적인 사례와 검증으로 확인한다.</a:t>
            </a: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세 영역은 절대적인 기술 경계가 아니라 주도권과 책임의 구분이다.</a:t>
            </a:r>
          </a:p>
          <a:p>
            <a:pPr lvl="0"/>
            <a:r>
              <a:rPr lang="ko-KR" sz="1200"/>
              <a:t>인간이 최종 책임진다는 것은 모든 산출물을 직접 작성한다는 뜻이 아니다.</a:t>
            </a:r>
          </a:p>
          <a:p>
            <a:pPr lvl="0"/>
            <a:r>
              <a:rPr lang="ko-KR" sz="1200"/>
              <a:t>AI 중심 실행은 충분한 맥락·제약·명세·검증을 전제로 한다.</a:t>
            </a:r>
          </a:p>
          <a:p>
            <a:pPr lvl="0"/>
            <a:r>
              <a:rPr lang="ko-KR" sz="1200"/>
              <a:t>도메인 모델·온톨로지와 아키텍처·설계는 함께 진화한다.</a:t>
            </a:r>
          </a:p>
          <a:p>
            <a:pPr lvl="0"/>
            <a:r>
              <a:rPr lang="ko-KR" sz="1200"/>
              <a:t>객체지향 분석·설계는 사라지지 않으며 인간과 AI의 협업 방식으로 수행된다.</a:t>
            </a:r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개인 판단 → 2~3인 근거 비교 → 전체 검토 순서로 진행한다. 시간은 전체 SA 완성 후 운영 계획에서 정한다.</a:t>
            </a:r>
          </a:p>
          <a:p>
            <a:pPr lvl="0"/>
            <a:r>
              <a:rPr lang="ko-KR" sz="1200"/>
              <a:t>객체 설계나 UML 작성까지 요구하지 않는다.</a:t>
            </a:r>
          </a:p>
          <a:p>
            <a:pPr lvl="0"/>
            <a:r>
              <a:rPr lang="ko-KR" sz="1200"/>
              <a:t>평가 기준: 네 항목의 수준 구분이 정확한지, 이벤트가 화면·데이터 없이 사건과 결과로 쓰였는지, 조건과 추정을 분리했는지, 취소 버튼 이외의 대안도 검토했는지, 확인 질문이 가설의 참·거짓을 가릴 수 있는지.</a:t>
            </a:r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특정 문장 하나보다 각 항목의 수준과 사실·가정을 구분했는지가 중요하다.</a:t>
            </a:r>
          </a:p>
          <a:p>
            <a:pPr lvl="0"/>
            <a:r>
              <a:rPr lang="ko-KR" sz="1200"/>
              <a:t>같은 요구사항을 만족시키는 해결책은 여러 개일 수 있다.</a:t>
            </a:r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이 세션에서는 객체지향 분석·설계의 전체 지도와 코드·테스트까지의 연결을 만들었다.</a:t>
            </a:r>
          </a:p>
          <a:p>
            <a:pPr lvl="0"/>
            <a:r>
              <a:rPr lang="ko-KR" sz="1200"/>
              <a:t>DDD·온톨로지·AI 기반 개발과의 연결은 「29. 전문 영역으로의 확장」 이후 topic에서 다뤘다.</a:t>
            </a:r>
          </a:p>
          <a:p>
            <a:pPr lvl="0"/>
            <a:r>
              <a:rPr lang="ko-KR" sz="1200"/>
              <a:t>다음에는 그 출발점인 문제와 요구사항을 구체적으로 다룬다.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8">
            <a:extLst>
              <a:ext uri="{FF2B5EF4-FFF2-40B4-BE49-F238E27FC236}">
                <a16:creationId xmlns:a16="http://schemas.microsoft.com/office/drawing/2014/main" id="{FF0E9F20-7865-40BF-831C-21A3A6DE669A}"/>
              </a:ext>
            </a:extLst>
          </p:cNvPr>
          <p:cNvCxnSpPr/>
          <p:nvPr userDrawn="1"/>
        </p:nvCxnSpPr>
        <p:spPr>
          <a:xfrm>
            <a:off x="370822" y="692696"/>
            <a:ext cx="8424000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제목 1">
            <a:extLst>
              <a:ext uri="{FF2B5EF4-FFF2-40B4-BE49-F238E27FC236}">
                <a16:creationId xmlns:a16="http://schemas.microsoft.com/office/drawing/2014/main" id="{2094DC8E-CD32-4D9A-9DFC-F863952312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6189" y="-38114"/>
            <a:ext cx="6300034" cy="720080"/>
          </a:xfrm>
          <a:prstGeom prst="rect">
            <a:avLst/>
          </a:prstGeom>
        </p:spPr>
        <p:txBody>
          <a:bodyPr anchor="ctr" anchorCtr="0"/>
          <a:lstStyle>
            <a:lvl1pPr>
              <a:defRPr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5" name="슬라이드 번호 개체 틀 5">
            <a:extLst>
              <a:ext uri="{FF2B5EF4-FFF2-40B4-BE49-F238E27FC236}">
                <a16:creationId xmlns:a16="http://schemas.microsoft.com/office/drawing/2014/main" id="{48BCF7E4-4941-4537-9EC8-57C44E02DB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pPr>
              <a:defRPr/>
            </a:pPr>
            <a:r>
              <a:rPr lang="en-US" altLang="ko-KR" dirty="0">
                <a:solidFill>
                  <a:prstClr val="black"/>
                </a:solidFill>
              </a:rPr>
              <a:t>- </a:t>
            </a:r>
            <a:fld id="{A18F303B-5FF2-4BD3-899C-BAED341F6249}" type="slidenum">
              <a:rPr lang="ko-KR" altLang="en-US" smtClean="0">
                <a:solidFill>
                  <a:prstClr val="black"/>
                </a:solidFill>
              </a:rPr>
              <a:pPr>
                <a:defRPr/>
              </a:pPr>
              <a:t>‹#›</a:t>
            </a:fld>
            <a:r>
              <a:rPr lang="ko-KR" altLang="en-US" dirty="0">
                <a:solidFill>
                  <a:prstClr val="black"/>
                </a:solidFill>
              </a:rPr>
              <a:t> </a:t>
            </a:r>
            <a:r>
              <a:rPr lang="en-US" altLang="ko-KR" dirty="0">
                <a:solidFill>
                  <a:prstClr val="black"/>
                </a:solidFill>
              </a:rPr>
              <a:t>-</a:t>
            </a:r>
            <a:endParaRPr lang="ko-KR" altLang="en-US" dirty="0">
              <a:solidFill>
                <a:prstClr val="black"/>
              </a:solidFill>
            </a:endParaRP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F7FC7E0F-889C-4F19-8056-F2D1D63579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6189" y="980728"/>
            <a:ext cx="8424000" cy="5530862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"/>
              <a:defRPr sz="2000" b="1"/>
            </a:lvl1pPr>
            <a:lvl2pPr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  <a:defRPr sz="1800" b="0"/>
            </a:lvl2pPr>
            <a:lvl3pPr marL="1077913" indent="-354013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  <a:defRPr sz="1600" b="0"/>
            </a:lvl3pPr>
            <a:lvl4pPr marL="1433513" indent="-355600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l"/>
              <a:defRPr sz="1400" b="0"/>
            </a:lvl4pPr>
            <a:lvl5pPr marL="1787525" indent="-354013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§"/>
              <a:defRPr sz="1400" b="0"/>
            </a:lvl5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8" name="텍스트 개체 틀 2">
            <a:extLst>
              <a:ext uri="{FF2B5EF4-FFF2-40B4-BE49-F238E27FC236}">
                <a16:creationId xmlns:a16="http://schemas.microsoft.com/office/drawing/2014/main" id="{535D420B-3C82-4BF6-9CCA-F8DA0A133FB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76056" y="367445"/>
            <a:ext cx="3699901" cy="264734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spcBef>
                <a:spcPts val="0"/>
              </a:spcBef>
              <a:buFont typeface="Arial" panose="020B0604020202020204" pitchFamily="34" charset="0"/>
              <a:buNone/>
              <a:defRPr sz="1800" b="1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2pPr>
            <a:lvl3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3pPr>
            <a:lvl4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4pPr>
            <a:lvl5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5pPr>
          </a:lstStyle>
          <a:p>
            <a:pPr lvl="0"/>
            <a:r>
              <a:rPr lang="en-US" altLang="ko-KR"/>
              <a:t>Level #1</a:t>
            </a:r>
          </a:p>
        </p:txBody>
      </p:sp>
      <p:sp>
        <p:nvSpPr>
          <p:cNvPr id="11" name="텍스트 개체 틀 9">
            <a:extLst>
              <a:ext uri="{FF2B5EF4-FFF2-40B4-BE49-F238E27FC236}">
                <a16:creationId xmlns:a16="http://schemas.microsoft.com/office/drawing/2014/main" id="{2A28188B-9A75-4416-A436-43EDEDA9605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60420" y="710786"/>
            <a:ext cx="2915537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buNone/>
              <a:defRPr lang="en-US" altLang="ko-KR" sz="1400" b="1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/>
              <a:t>Level #2</a:t>
            </a:r>
          </a:p>
        </p:txBody>
      </p:sp>
      <p:sp>
        <p:nvSpPr>
          <p:cNvPr id="2" name="텍스트 개체 틀 9">
            <a:extLst>
              <a:ext uri="{FF2B5EF4-FFF2-40B4-BE49-F238E27FC236}">
                <a16:creationId xmlns:a16="http://schemas.microsoft.com/office/drawing/2014/main" id="{B690A1C8-68B5-5F79-8C0D-DCD7EE5EA95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14367" y="6485290"/>
            <a:ext cx="6244438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l">
              <a:buNone/>
              <a:defRPr lang="en-US" altLang="ko-KR" sz="600" b="0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Level #3</a:t>
            </a:r>
          </a:p>
        </p:txBody>
      </p:sp>
    </p:spTree>
    <p:extLst>
      <p:ext uri="{BB962C8B-B14F-4D97-AF65-F5344CB8AC3E}">
        <p14:creationId xmlns:p14="http://schemas.microsoft.com/office/powerpoint/2010/main" val="6893852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505AE4B-11F0-DD96-DBC0-88B2F9E857D9}"/>
              </a:ext>
            </a:extLst>
          </p:cNvPr>
          <p:cNvSpPr txBox="1"/>
          <p:nvPr userDrawn="1"/>
        </p:nvSpPr>
        <p:spPr>
          <a:xfrm>
            <a:off x="1519279" y="6647902"/>
            <a:ext cx="6121163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ko-KR" altLang="ko-KR" sz="600" dirty="0"/>
              <a:t>© 2026 </a:t>
            </a:r>
            <a:r>
              <a:rPr lang="ko-KR" altLang="ko-KR" sz="600" dirty="0" err="1"/>
              <a:t>Young</a:t>
            </a:r>
            <a:r>
              <a:rPr lang="ko-KR" altLang="ko-KR" sz="600" dirty="0"/>
              <a:t> </a:t>
            </a:r>
            <a:r>
              <a:rPr lang="ko-KR" altLang="ko-KR" sz="600" dirty="0" err="1"/>
              <a:t>On</a:t>
            </a:r>
            <a:r>
              <a:rPr lang="ko-KR" altLang="ko-KR" sz="600" dirty="0"/>
              <a:t> Kim. LLM-</a:t>
            </a:r>
            <a:r>
              <a:rPr lang="ko-KR" altLang="ko-KR" sz="600" dirty="0" err="1"/>
              <a:t>generated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content</a:t>
            </a:r>
            <a:r>
              <a:rPr lang="ko-KR" altLang="ko-KR" sz="600" dirty="0"/>
              <a:t>, </a:t>
            </a:r>
            <a:r>
              <a:rPr lang="ko-KR" altLang="ko-KR" sz="600" dirty="0" err="1"/>
              <a:t>directed</a:t>
            </a:r>
            <a:r>
              <a:rPr lang="ko-KR" altLang="ko-KR" sz="600" dirty="0"/>
              <a:t>, </a:t>
            </a:r>
            <a:r>
              <a:rPr lang="ko-KR" altLang="ko-KR" sz="600" dirty="0" err="1"/>
              <a:t>reviewed</a:t>
            </a:r>
            <a:r>
              <a:rPr lang="ko-KR" altLang="ko-KR" sz="600" dirty="0"/>
              <a:t> and </a:t>
            </a:r>
            <a:r>
              <a:rPr lang="ko-KR" altLang="ko-KR" sz="600" dirty="0" err="1"/>
              <a:t>validated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the</a:t>
            </a:r>
            <a:r>
              <a:rPr lang="ko-KR" altLang="ko-KR" sz="600" dirty="0"/>
              <a:t> </a:t>
            </a:r>
            <a:r>
              <a:rPr lang="ko-KR" altLang="ko-KR" sz="600" dirty="0" err="1"/>
              <a:t>author</a:t>
            </a:r>
            <a:r>
              <a:rPr lang="ko-KR" altLang="ko-KR" sz="600" dirty="0"/>
              <a:t>; </a:t>
            </a:r>
            <a:r>
              <a:rPr lang="ko-KR" altLang="ko-KR" sz="600" dirty="0" err="1"/>
              <a:t>rendered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TrainingMaterials</a:t>
            </a:r>
            <a:r>
              <a:rPr lang="ko-KR" altLang="ko-KR" sz="600" dirty="0"/>
              <a:t>.</a:t>
            </a:r>
            <a:endParaRPr lang="ko-KR" altLang="en-US" sz="500" dirty="0">
              <a:solidFill>
                <a:prstClr val="black"/>
              </a:solidFill>
              <a:latin typeface="맑은 고딕"/>
              <a:ea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33776571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</p:sldLayoutIdLst>
  <p:hf hdr="0" ftr="0" dt="0"/>
  <p:txStyles>
    <p:titleStyle>
      <a:lvl1pPr algn="l" rtl="0" eaLnBrk="0" fontAlgn="base" latinLnBrk="1" hangingPunct="0">
        <a:spcBef>
          <a:spcPct val="0"/>
        </a:spcBef>
        <a:spcAft>
          <a:spcPct val="0"/>
        </a:spcAft>
        <a:defRPr sz="32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j-cs"/>
        </a:defRPr>
      </a:lvl1pPr>
      <a:lvl2pPr algn="l" rtl="0" eaLnBrk="0" fontAlgn="base" latinLnBrk="1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2pPr>
      <a:lvl3pPr algn="l" rtl="0" eaLnBrk="0" fontAlgn="base" latinLnBrk="1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3pPr>
      <a:lvl4pPr algn="l" rtl="0" eaLnBrk="0" fontAlgn="base" latinLnBrk="1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4pPr>
      <a:lvl5pPr algn="l" rtl="0" eaLnBrk="0" fontAlgn="base" latinLnBrk="1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5pPr>
      <a:lvl6pPr marL="457200" algn="ctr" rtl="0" fontAlgn="base" latinLnBrk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6pPr>
      <a:lvl7pPr marL="914400" algn="ctr" rtl="0" fontAlgn="base" latinLnBrk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7pPr>
      <a:lvl8pPr marL="1371600" algn="ctr" rtl="0" fontAlgn="base" latinLnBrk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8pPr>
      <a:lvl9pPr marL="1828800" algn="ctr" rtl="0" fontAlgn="base" latinLnBrk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9pPr>
    </p:titleStyle>
    <p:bodyStyle>
      <a:lvl1pPr marL="342900" indent="-342900" algn="l" rtl="0" eaLnBrk="0" fontAlgn="base" latinLnBrk="1" hangingPunct="0">
        <a:spcBef>
          <a:spcPct val="20000"/>
        </a:spcBef>
        <a:spcAft>
          <a:spcPct val="0"/>
        </a:spcAft>
        <a:buFont typeface="Wingdings" pitchFamily="2" charset="2"/>
        <a:buChar char="u"/>
        <a:defRPr sz="20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1pPr>
      <a:lvl2pPr marL="742950" indent="-285750" algn="l" rtl="0" eaLnBrk="0" fontAlgn="base" latinLnBrk="1" hangingPunct="0">
        <a:spcBef>
          <a:spcPct val="20000"/>
        </a:spcBef>
        <a:spcAft>
          <a:spcPct val="0"/>
        </a:spcAft>
        <a:buFont typeface="Wingdings" pitchFamily="2" charset="2"/>
        <a:buChar char="l"/>
        <a:defRPr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2pPr>
      <a:lvl3pPr marL="1143000" indent="-228600" algn="l" rtl="0" eaLnBrk="0" fontAlgn="base" latinLnBrk="1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16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3pPr>
      <a:lvl4pPr marL="1600200" indent="-228600" algn="l" rtl="0" eaLnBrk="0" fontAlgn="base" latinLnBrk="1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4pPr>
      <a:lvl5pPr marL="2057400" indent="-228600" algn="l" rtl="0" eaLnBrk="0" fontAlgn="base" latinLnBrk="1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1" Type="http://schemas.openxmlformats.org/officeDocument/2006/relationships/image" Target="../media/mermaid-1.png"/><Relationship Id="speakerNotes4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chartImage1" Type="http://schemas.openxmlformats.org/officeDocument/2006/relationships/image" Target="../media/chart-1.png"/><Relationship Id="speakerNotes5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6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2" Type="http://schemas.openxmlformats.org/officeDocument/2006/relationships/image" Target="../media/mermaid-2.png"/><Relationship Id="speakerNotes8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3" Type="http://schemas.openxmlformats.org/officeDocument/2006/relationships/image" Target="../media/mermaid-3.png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4" Type="http://schemas.openxmlformats.org/officeDocument/2006/relationships/image" Target="../media/mermaid-4.png"/><Relationship Id="speakerNotes10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5" Type="http://schemas.openxmlformats.org/officeDocument/2006/relationships/image" Target="../media/mermaid-5.png"/><Relationship Id="speakerNotes11" Type="http://schemas.openxmlformats.org/officeDocument/2006/relationships/notesSlide" Target="../notesSlides/notesSlide1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2" Type="http://schemas.openxmlformats.org/officeDocument/2006/relationships/notesSlide" Target="../notesSlides/notesSlide1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6" Type="http://schemas.openxmlformats.org/officeDocument/2006/relationships/image" Target="../media/mermaid-6.png"/><Relationship Id="speakerNotes13" Type="http://schemas.openxmlformats.org/officeDocument/2006/relationships/notesSlide" Target="../notesSlides/notesSlide13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5" Type="http://schemas.openxmlformats.org/officeDocument/2006/relationships/notesSlide" Target="../notesSlides/notesSlide15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6" Type="http://schemas.openxmlformats.org/officeDocument/2006/relationships/notesSlide" Target="../notesSlides/notesSlide1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7" Type="http://schemas.openxmlformats.org/officeDocument/2006/relationships/notesSlide" Target="../notesSlides/notesSlide17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7" Type="http://schemas.openxmlformats.org/officeDocument/2006/relationships/image" Target="../media/mermaid-7.png"/><Relationship Id="speakerNotes19" Type="http://schemas.openxmlformats.org/officeDocument/2006/relationships/notesSlide" Target="../notesSlides/notesSlide19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1" Type="http://schemas.openxmlformats.org/officeDocument/2006/relationships/image" Target="../media/plantuml-1.png"/><Relationship Id="speakerNotes20" Type="http://schemas.openxmlformats.org/officeDocument/2006/relationships/notesSlide" Target="../notesSlides/notesSlide20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2" Type="http://schemas.openxmlformats.org/officeDocument/2006/relationships/image" Target="../media/plantuml-2.png"/><Relationship Id="speakerNotes21" Type="http://schemas.openxmlformats.org/officeDocument/2006/relationships/notesSlide" Target="../notesSlides/notesSlide21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3" Type="http://schemas.openxmlformats.org/officeDocument/2006/relationships/image" Target="../media/plantuml-3.png"/><Relationship Id="speakerNotes22" Type="http://schemas.openxmlformats.org/officeDocument/2006/relationships/notesSlide" Target="../notesSlides/notesSlide22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4" Type="http://schemas.openxmlformats.org/officeDocument/2006/relationships/image" Target="../media/plantuml-4.png"/><Relationship Id="speakerNotes23" Type="http://schemas.openxmlformats.org/officeDocument/2006/relationships/notesSlide" Target="../notesSlides/notesSlide23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5" Type="http://schemas.openxmlformats.org/officeDocument/2006/relationships/image" Target="../media/plantuml-5.png"/><Relationship Id="speakerNotes24" Type="http://schemas.openxmlformats.org/officeDocument/2006/relationships/notesSlide" Target="../notesSlides/notesSlide24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5" Type="http://schemas.openxmlformats.org/officeDocument/2006/relationships/notesSlide" Target="../notesSlides/notesSlide25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6" Type="http://schemas.openxmlformats.org/officeDocument/2006/relationships/image" Target="../media/plantuml-6.png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7" Type="http://schemas.openxmlformats.org/officeDocument/2006/relationships/notesSlide" Target="../notesSlides/notesSlide27.xml"/></Relationships>
</file>

<file path=ppt/slides/_rels/slide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8" Type="http://schemas.openxmlformats.org/officeDocument/2006/relationships/notesSlide" Target="../notesSlides/notesSlide28.xml"/></Relationships>
</file>

<file path=ppt/slides/_rels/slide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7" Type="http://schemas.openxmlformats.org/officeDocument/2006/relationships/image" Target="../media/plantuml-7.png"/><Relationship Id="speakerNotes29" Type="http://schemas.openxmlformats.org/officeDocument/2006/relationships/notesSlide" Target="../notesSlides/notesSlide29.xml"/></Relationships>
</file>

<file path=ppt/slides/_rels/slide3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0" Type="http://schemas.openxmlformats.org/officeDocument/2006/relationships/notesSlide" Target="../notesSlides/notesSlide30.xml"/></Relationships>
</file>

<file path=ppt/slides/_rels/slide3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2" Type="http://schemas.openxmlformats.org/officeDocument/2006/relationships/notesSlide" Target="../notesSlides/notesSlide32.xml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3" Type="http://schemas.openxmlformats.org/officeDocument/2006/relationships/notesSlide" Target="../notesSlides/notesSlide33.xml"/></Relationships>
</file>

<file path=ppt/slides/_rels/slide3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4" Type="http://schemas.openxmlformats.org/officeDocument/2006/relationships/notesSlide" Target="../notesSlides/notesSlide34.xml"/></Relationships>
</file>

<file path=ppt/slides/_rels/slide3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8" Type="http://schemas.openxmlformats.org/officeDocument/2006/relationships/image" Target="../media/mermaid-8.png"/><Relationship Id="speakerNotes35" Type="http://schemas.openxmlformats.org/officeDocument/2006/relationships/notesSlide" Target="../notesSlides/notesSlide35.xml"/></Relationships>
</file>

<file path=ppt/slides/_rels/slide3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7" Type="http://schemas.openxmlformats.org/officeDocument/2006/relationships/notesSlide" Target="../notesSlides/notesSlide37.xml"/></Relationships>
</file>

<file path=ppt/slides/_rels/slide3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8" Type="http://schemas.openxmlformats.org/officeDocument/2006/relationships/notesSlide" Target="../notesSlides/notesSlide38.xml"/></Relationships>
</file>

<file path=ppt/slides/_rels/slide3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9" Type="http://schemas.openxmlformats.org/officeDocument/2006/relationships/notesSlide" Target="../notesSlides/notesSlide39.xml"/></Relationships>
</file>

<file path=ppt/slides/_rels/slide4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9" Type="http://schemas.openxmlformats.org/officeDocument/2006/relationships/image" Target="../media/mermaid-9.png"/><Relationship Id="speakerNotes40" Type="http://schemas.openxmlformats.org/officeDocument/2006/relationships/notesSlide" Target="../notesSlides/notesSlide40.xml"/></Relationships>
</file>

<file path=ppt/slides/_rels/slide4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41" Type="http://schemas.openxmlformats.org/officeDocument/2006/relationships/notesSlide" Target="../notesSlides/notesSlide41.xml"/></Relationships>
</file>

<file path=ppt/slides/_rels/slide4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42" Type="http://schemas.openxmlformats.org/officeDocument/2006/relationships/notesSlide" Target="../notesSlides/notesSlide42.xml"/></Relationships>
</file>

<file path=ppt/slides/_rels/slide4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43" Type="http://schemas.openxmlformats.org/officeDocument/2006/relationships/notesSlide" Target="../notesSlides/notesSlide43.xml"/></Relationships>
</file>

<file path=ppt/slides/_rels/slide4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44" Type="http://schemas.openxmlformats.org/officeDocument/2006/relationships/notesSlide" Target="../notesSlides/notesSlide4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BBD6A-BEC8-8565-421F-EBAC1ED42C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A14CAC-1EBE-1F63-E3BA-E3EE686B2C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01. OOAD 개요 목차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(1/2)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9EEDA23-0B0A-564A-4691-C5337C3EB28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- 1 -</a:t>
            </a:r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822" y="949064"/>
            <a:ext cx="4580822" cy="5530862"/>
          </a:xfrm>
        </p:spPr>
        <p:txBody>
          <a:bodyPr>
            <a:normAutofit/>
          </a:bodyPr>
          <a:lstStyle/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01. 세션 목표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02. SW 개발의 재작업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03. 미사용 기능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04. 범위와 가치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05. 문제 → 요구사항 → 해결책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06. 이벤트 관점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07. 본질적 어려움과 우연적 어려움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08. 주문 취소의 복잡성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09. 분석과 설계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10. 결정 경계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11. 분석·설계의 진화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12. 맥락과 접근법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13. 통합 모델링 언어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14. 클래스 다이어그램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15. 시스템 시퀀스 다이어그램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BD61A0BF-30A1-CFBA-B6DC-C8AB25F4C72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E4E919F-9032-122E-A91D-6BEFC90E256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336ED9B1-5AD1-2C46-246C-15655B38522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4" name="TOC 열 4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/>
        </p:nvSpPr>
        <p:spPr>
          <a:xfrm>
            <a:off x="4426820" y="949064"/>
            <a:ext cx="4195811" cy="5530862"/>
          </a:xfrm>
        </p:spPr>
        <p:txBody>
          <a:bodyPr>
            <a:normAutofit/>
          </a:bodyPr>
          <a:lstStyle/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16. 분석 시퀀스 다이어그램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17. 커뮤니케이션 다이어그램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18. 상태 기계 다이어그램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19. 요구에서 테스트로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20. 소프트웨어 아키텍처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21. 책임과 경계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22. 메시지와 협력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23. 분석 모델에서 설계 모델로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24. 적정 분석·설계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25. 북 스마트와 스트리트 스마트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26. KISS·DRY·YAGNI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27. 피드백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28. 흔한 오해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29. 전문 영역으로의 확장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30. 도메인 주도 설계</a:t>
            </a:r>
          </a:p>
        </p:txBody>
      </p:sp>
    </p:spTree>
    <p:extLst>
      <p:ext uri="{BB962C8B-B14F-4D97-AF65-F5344CB8AC3E}">
        <p14:creationId xmlns:p14="http://schemas.microsoft.com/office/powerpoint/2010/main" val="11981010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BBD6A-BEC8-8565-421F-EBAC1ED42C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A14CAC-1EBE-1F63-E3BA-E3EE686B2C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01. OOAD 개요 목차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(2/2)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9EEDA23-0B0A-564A-4691-C5337C3EB28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- 2 -</a:t>
            </a:r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822" y="949064"/>
            <a:ext cx="4580822" cy="5530862"/>
          </a:xfrm>
        </p:spPr>
        <p:txBody>
          <a:bodyPr>
            <a:normAutofit/>
          </a:bodyPr>
          <a:lstStyle/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31. 온톨로지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32. AI 기반 소프트웨어공학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33. 실습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문제·요구사항·해결책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34. 실습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검토 예시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(모범답안)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35. 요약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BD61A0BF-30A1-CFBA-B6DC-C8AB25F4C72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E4E919F-9032-122E-A91D-6BEFC90E256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336ED9B1-5AD1-2C46-246C-15655B38522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4" name="TOC 열 4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/>
        </p:nvSpPr>
        <p:spPr>
          <a:xfrm>
            <a:off x="4426820" y="949064"/>
            <a:ext cx="4195811" cy="5530862"/>
          </a:xfrm>
        </p:spPr>
        <p:txBody>
          <a:bodyPr>
            <a:normAutofit/>
          </a:bodyPr>
          <a:lstStyle/>
          <a:p/>
        </p:txBody>
      </p:sp>
    </p:spTree>
    <p:extLst>
      <p:ext uri="{BB962C8B-B14F-4D97-AF65-F5344CB8AC3E}">
        <p14:creationId xmlns:p14="http://schemas.microsoft.com/office/powerpoint/2010/main" val="11981010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01. 세션 목표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OOAD 개요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세션은 객체지향 분석·설계가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무엇을 판단하고 왜 필요한지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전체 흐름을 파악한다.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분석·설계가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필요한 이유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이해하고,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문제·요구사항·해결책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구분한다.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요구·분석·설계·코드가 각각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어떤 결정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내리고 어디서 검증하는지 구분한다.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요구를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이벤트 관점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보고, 관점을 섞는 문제를 피한다.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객체지향 분석과 객체지향 설계의 역할과 관계를 이해하고, 다이어그램이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코드·테스트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어떻게 이어지는지 확인한다.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책임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경계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협력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이해한다.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맥락에 맞는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적정 수준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판단하고, 원칙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(KISS·DRY·YAGNI)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판단의 도구로 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객체지향 분석·설계가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도메인 주도 설계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온톨로지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AI 기반 소프트웨어공학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어떻게 이어지는지 이해한다.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02. SW 개발의 재작업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- 4 -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OOAD 개요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78892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잘못된 요구나 판단을 늦게 발견하면 관련 설계·코드·테스트를 함께 고쳐야 할 수 있다.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회피 가능한 재작업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과 새로운 학습에 따른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정당한 변경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구분한다.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요구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누락·오해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후속 판단에 반영되면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수정 범위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커진다.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일찍 발견할 수 있었던 오류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줄이는 것이 목적이다.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실제 사용에서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새 가치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발견한 변경까지 결함으로 취급하지 않는다.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"프로젝트 노력의 약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40~50%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회피 가능한 재작업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사용한다"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"Current software projects spend about 40 to 50 percent of their effort on avoidable rework."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Barry Boehm·Victor R. Basili, 2001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"요구사항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오류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재작업 비용의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70~85%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차지한다"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"requirements errors account for 70 to 85 percent of the rework cost"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Karl Wiegers, 2013</a:t>
            </a:r>
          </a:p>
        </p:txBody>
      </p:sp>
      <p:pic>
        <p:nvPicPr>
          <p:cNvPr id="9" name="mermaid Diagram 1"/>
          <p:cNvPicPr>
            <a:picLocks noChangeAspect="1"/>
          </p:cNvPicPr>
          <p:nvPr/>
        </p:nvPicPr>
        <p:blipFill>
          <a:blip r:embed="mermaidImage1"/>
          <a:stretch>
            <a:fillRect/>
          </a:stretch>
        </p:blipFill>
        <p:spPr>
          <a:xfrm>
            <a:off x="1460500" y="4584255"/>
            <a:ext cx="6223000" cy="666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03. 미사용 기능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- 5 -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OOAD 개요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개발한 기능의 양이 곧 고객 가치는 아니다.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사용 빈도·사용 맥락·미사용 이유·필요 시의 가치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함께 확인한다.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"Standish Group 조사에서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45%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전혀 사용되지 않았고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20%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만 자주·항상 사용됐다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(항상 7%·자주 13%·때때로 16%·거의 19%·전혀 45%)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 Standish study found that 45% of features were never used and only 20% of features were used often or always."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Jim Johnson·Standish Group, 2002, www(4개 회사 내부 애플리케이션 표본 — Mike Cohn, 2016 직접 확인)</a:t>
            </a:r>
          </a:p>
        </p:txBody>
      </p:sp>
      <p:pic>
        <p:nvPicPr>
          <p:cNvPr id="9" name="chart Diagram 1"/>
          <p:cNvPicPr>
            <a:picLocks noChangeAspect="1"/>
          </p:cNvPicPr>
          <p:nvPr/>
        </p:nvPicPr>
        <p:blipFill>
          <a:blip r:embed="chartImage1"/>
          <a:stretch>
            <a:fillRect/>
          </a:stretch>
        </p:blipFill>
        <p:spPr>
          <a:xfrm>
            <a:off x="2651760" y="3388643"/>
            <a:ext cx="3840480" cy="2560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04. 범위와 가치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(1/2)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- 6 -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OOAD 개요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해야 할 것은 하고, 하지 않아도 될 것은 만들지 않는다.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누락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필요한 요구사항을 놓침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범위 초과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문제 밖의 요구사항 추가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과잉 구현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요구사항 밖의 해결책 구현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가장 나쁜 경우는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해야 할 것은 못하면서 하지 않아도 될 것을 만드는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04. 범위와 가치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(2/2)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- 7 -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OOAD 개요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범위 확대와 불필요한 구현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요구사항 변경이 모두 문제인 것은 아니다.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합의한 범위를 어떻게 변경하고, 필요한 기능을 어디까지 구현하는가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가 중요하다.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범위의 무단 확대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(Scope Creep)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일정·비용·자원에 미치는 영향을 조정하거나 승인받지 않고 기능·업무 범위가 늘어나는 것</a:t>
            </a:r>
          </a:p>
          <a:p>
            <a:pPr lvl="4" marL="1433513" indent="-355600">
              <a:spcBef>
                <a:spcPts val="600"/>
              </a:spcBef>
              <a:spcAft>
                <a:spcPts val="600"/>
              </a:spcAft>
              <a:buFont typeface="Wingdings" pitchFamily="2" charset="2"/>
              <a:buChar char="l"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예: 주문 취소 기능을 만드는 동안 승인 없이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교환·반품 기능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까지 추가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불필요한 기능 추가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(Gold Plating)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요구사항을 충족하는 데 필요하지 않은 기능이나 장식을 좋다는 이유로 추가하는 것</a:t>
            </a:r>
          </a:p>
          <a:p>
            <a:pPr lvl="4" marL="1433513" indent="-355600">
              <a:spcBef>
                <a:spcPts val="600"/>
              </a:spcBef>
              <a:spcAft>
                <a:spcPts val="600"/>
              </a:spcAft>
              <a:buFont typeface="Wingdings" pitchFamily="2" charset="2"/>
              <a:buChar char="l"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예: 요청받지 않은 복잡한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취소 화면 효과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와 부가 기능 구현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과도한 설계·구현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(Overengineering)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현재의 요구와 위험에 비해 설계·기술·구현을 지나치게 복잡하게 만드는 것</a:t>
            </a:r>
          </a:p>
          <a:p>
            <a:pPr lvl="4" marL="1433513" indent="-355600">
              <a:spcBef>
                <a:spcPts val="600"/>
              </a:spcBef>
              <a:spcAft>
                <a:spcPts val="600"/>
              </a:spcAft>
              <a:buFont typeface="Wingdings" pitchFamily="2" charset="2"/>
              <a:buChar char="l"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예: 단순한 취소 규칙에 불필요한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분산 처리 구조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도입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승인된 변경은 범위의 무단 확대와 다르다.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불필요한 기능과 과도한 구조를 경계하는 이유는 고객 가치를 늘리지 못하면서 비용과 변경 부담을 키울 수 있기 때문이다.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05. 문제 → 요구사항 → 해결책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(1/2)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- 8 -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OOAD 개요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78892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해결책부터 정하지 않는다. 먼저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문제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다음으로 충족할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요구사항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마지막으로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해결책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구분한다.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문제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무엇을 해결할 것인가?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요구사항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무엇을 만족해야 하는가?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해결책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어떻게 만족시킬 것인가?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제약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가능한 선택과 범위를 제한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문제의 전부 또는 일부를 해결하기 위해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요구사항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정하고, 요구사항의 전부 또는 일부를 만족시키기 위해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해결책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선택한다.</a:t>
            </a:r>
          </a:p>
        </p:txBody>
      </p:sp>
      <p:pic>
        <p:nvPicPr>
          <p:cNvPr id="9" name="mermaid Diagram 2"/>
          <p:cNvPicPr>
            <a:picLocks noChangeAspect="1"/>
          </p:cNvPicPr>
          <p:nvPr/>
        </p:nvPicPr>
        <p:blipFill>
          <a:blip r:embed="mermaidImage2"/>
          <a:stretch>
            <a:fillRect/>
          </a:stretch>
        </p:blipFill>
        <p:spPr>
          <a:xfrm>
            <a:off x="1460500" y="4145612"/>
            <a:ext cx="6223000" cy="12144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05. 문제 → 요구사항 → 해결책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(2/2)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- 9 -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OOAD 개요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788920"/>
          </a:xfrm>
        </p:spPr>
        <p:txBody>
          <a:bodyPr>
            <a:norm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요청 속의 해결책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문제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(Problem)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와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해결책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(Solution)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은 구분해야 한다. 고객의 요청에는 해결해야 할 문제와 이미 선택한 해결책이 함께 들어 있을 수 있다.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“주문 화면에 취소 버튼을 추가해 주세요.”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아래는 고객이 현재 직접 취소할 수 없다는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가정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에 따른 해석이다. 요청만으로 그 원인이 확인된 것은 아니다.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문제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고객이 취소 가능한 주문을 직접 취소할 수 없음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요구사항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취소 가능한 주문은 고객이 직접 취소할 수 있어야 함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해결책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취소 버튼, 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Order.cancel()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같은 문제와 요구사항에도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여러 해결책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이 가능하다.</a:t>
            </a:r>
          </a:p>
        </p:txBody>
      </p:sp>
      <p:pic>
        <p:nvPicPr>
          <p:cNvPr id="9" name="mermaid Diagram 3"/>
          <p:cNvPicPr>
            <a:picLocks noChangeAspect="1"/>
          </p:cNvPicPr>
          <p:nvPr/>
        </p:nvPicPr>
        <p:blipFill>
          <a:blip r:embed="mermaidImage3"/>
          <a:stretch>
            <a:fillRect/>
          </a:stretch>
        </p:blipFill>
        <p:spPr>
          <a:xfrm>
            <a:off x="1460500" y="4877455"/>
            <a:ext cx="6223000" cy="3254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06. 이벤트 관점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- 10 -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OOAD 개요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고객 관점의 요구는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이벤트 관점으로 수렴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한다. 많은 문제의 본질은 한 관점으로 보지 않고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여러 관점을 섞는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섞인 요구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"취소 버튼을 누르면 주문 테이블 상태를 C로 바꾼다"에는 화면·데이터·해결책이 한 문장에 섞여 합의할 단위가 없다.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이벤트로 본 요구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"고객이 배송 전 주문을 취소한다 → 주문이 취소되었다". 화면·데이터·기술은 그 뒤에 각자의 결정으로 다룬다.</a:t>
            </a:r>
          </a:p>
        </p:txBody>
      </p:sp>
      <p:pic>
        <p:nvPicPr>
          <p:cNvPr id="9" name="mermaid Diagram 4"/>
          <p:cNvPicPr>
            <a:picLocks noChangeAspect="1"/>
          </p:cNvPicPr>
          <p:nvPr/>
        </p:nvPicPr>
        <p:blipFill>
          <a:blip r:embed="mermaidImage4"/>
          <a:stretch>
            <a:fillRect/>
          </a:stretch>
        </p:blipFill>
        <p:spPr>
          <a:xfrm>
            <a:off x="2032397" y="3628196"/>
            <a:ext cx="5079206" cy="25003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07. 본질적 어려움과 우연적 어려움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- 11 -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OOAD 개요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어려움은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본질적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(Essence)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·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우연적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(Accident)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어려움으로 나뉜다.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"소프트웨어의 복잡성은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우연적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속성이 아니라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본질적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속성이다"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"The complexity of software is an essential property, not an accidental one."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Frederick P. Brooks Jr., 1986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본질적 어려움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문제와 소프트웨어 복잡성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(의미·규칙·상태·관계)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우연적 어려움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구현 기술·환경의 추가 부담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(언어·도구·연동)</a:t>
            </a:r>
          </a:p>
        </p:txBody>
      </p:sp>
      <p:pic>
        <p:nvPicPr>
          <p:cNvPr id="9" name="mermaid Diagram 5"/>
          <p:cNvPicPr>
            <a:picLocks noChangeAspect="1"/>
          </p:cNvPicPr>
          <p:nvPr/>
        </p:nvPicPr>
        <p:blipFill>
          <a:blip r:embed="mermaidImage5"/>
          <a:stretch>
            <a:fillRect/>
          </a:stretch>
        </p:blipFill>
        <p:spPr>
          <a:xfrm>
            <a:off x="2547938" y="3955380"/>
            <a:ext cx="4048125" cy="1762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08. 주문 취소의 복잡성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- 12 -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OOAD 개요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주문 취소는 버튼 하나를 구현하는 문제가 아니다.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취소 조건과 후속 업무를 올바르게 결정하는 복잡성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핵심이며, 이를 실현하는 기술적 어려움과 구분해야 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본질적 어려움 —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 주문 취소 업무의 의미와 규칙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어떤 주문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을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언제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취소할 수 있는가?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결제·배송 상태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에 따라 취소 결과가 어떻게 달라지는가?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어떤 경우에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얼마를 환불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해야 하는가?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우연적 어려움 —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 결정된 규칙을 구현하는 기술적 부담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외부 결제·상품·회계·배송 시스템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연동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트랜잭션·이벤트·재시도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처리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통신 장애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와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중복 요청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대응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기술 선택에 앞서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취소의 의미·조건·결과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분명히 해야 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09. 분석과 설계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(1/2)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- 13 -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OOAD 개요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78892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분석·설계의 목적은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산출물이 아니라 판단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분석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(Analysis)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무엇이 필요한가, 무엇을 의미하는가, 어떤 규칙과 제약이 있는가?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설계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(Design)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누가 책임지는가, 어디에 경계를 두는가, 어떻게 협력하는가?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분석은 문제를 이해하고, 설계는 그 이해를 바탕으로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해결책의 책임과 구조를 결정한다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개발 절차에서는 통합할 수 있지만, 사고에서는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문제와 해결책을 구분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한다.</a:t>
            </a:r>
          </a:p>
        </p:txBody>
      </p:sp>
      <p:pic>
        <p:nvPicPr>
          <p:cNvPr id="9" name="mermaid Diagram 6"/>
          <p:cNvPicPr>
            <a:picLocks noChangeAspect="1"/>
          </p:cNvPicPr>
          <p:nvPr/>
        </p:nvPicPr>
        <p:blipFill>
          <a:blip r:embed="mermaidImage6"/>
          <a:stretch>
            <a:fillRect/>
          </a:stretch>
        </p:blipFill>
        <p:spPr>
          <a:xfrm>
            <a:off x="1460500" y="4163259"/>
            <a:ext cx="6223000" cy="976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09. 분석과 설계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(2/2)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- 14 -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OOAD 개요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객체지향 분석·설계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(Object-Oriented Analysis and Design, OOAD)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문제영역의 의미를 객체 관점으로 이해하고 이를 실현할 책임과 협력을 설계한다.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객체지향 분석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(OOA)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문제영역의 개념·관계·규칙을 발견하고 요구와 교차검토한다.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객체지향 설계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(OOD)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구현할 객체의 책임·상태·협력·인터페이스를 결정한다.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"객체지향 분석은 문제영역의 어휘에서 발견되는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클래스와 객체의 관점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에서 요구사항을 검토하는 방법이다"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"Object-oriented analysis is a method of analysis that examines requirements from the perspective of the classes and objects found in the vocabulary of the problem domain."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Grady Booch, 1994, www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10. 결정 경계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OOAD 개요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673926" y="1842998"/>
          <a:ext cx="7782560" cy="3873500"/>
        </p:xfrm>
        <a:graphic>
          <a:graphicData uri="http://schemas.openxmlformats.org/drawingml/2006/table">
            <a:tbl>
              <a:tblPr/>
              <a:tblGrid>
                <a:gridCol w="889000"/>
                <a:gridCol w="2819400"/>
                <a:gridCol w="1925320"/>
                <a:gridCol w="21488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관점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질문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결정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가까운 검증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누가 어떤 결과를 왜 원하는가?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의도, 범위, 외부 결과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수용·거절 예시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분석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그 결과가 업무에서 무엇을 뜻하는가?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개념, 관계, 규칙, 상태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시나리오와 모델의 교차검토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누가 어떤 협력으로 실현하는가?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경계, 책임, 협력, 계약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대안·실패 경로·변경 영향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코드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어떻게 실행하는가?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실행 로직, 기술 구체화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정적 검사, 실행 테스트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요구·분석·설계·코드는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서로 다른 질문에 답한다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지금 어떤 결정을 내리는지 알아야 가까운 곳에서 검증할 수 있다.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- 15 -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384598"/>
            <a:ext cx="8412480" cy="14355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분석이 끝났다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문서를 다 채웠다는 뜻이 아니라 다음 작업자가 중요한 의미를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추측하지 않아도 되는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상태다.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발견 위치 ≠ 원인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코딩 중 "배송된 주문도 취소하나?"가 드러나면 분기를 만들지 말고 요구로 돌아간다.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11. 분석·설계의 진화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OOAD 개요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880935" y="2100036"/>
          <a:ext cx="7368540" cy="3873500"/>
        </p:xfrm>
        <a:graphic>
          <a:graphicData uri="http://schemas.openxmlformats.org/drawingml/2006/table">
            <a:tbl>
              <a:tblPr/>
              <a:tblGrid>
                <a:gridCol w="1590040"/>
                <a:gridCol w="2176780"/>
                <a:gridCol w="360172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접근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중심 관심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유용한 질문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구조적 분석·설계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기능·자료 흐름·모듈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어떤 변환이 일어나며 자료가 어디로 흐르는가?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정보공학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정보·데이터 모델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어떤 정보와 관계를 일관되게 관리해야 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객체지향 분석·설계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도메인 개념·객체 책임·협력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누가 상태와 규칙을 소유하고 어떻게 협력하는가?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038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분석·설계 방법은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무엇을 중심으로 문제와 구조를 보는가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따라 서로 다른 질문을 드러낸다. 이를 한 방법이 다른 방법을 완전히 대체한 일직선의 발전 과정으로 보지 않는다.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- 16 -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12. 맥락과 접근법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(1/2)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OOAD 개요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531686" y="2100036"/>
          <a:ext cx="8067040" cy="3873500"/>
        </p:xfrm>
        <a:graphic>
          <a:graphicData uri="http://schemas.openxmlformats.org/drawingml/2006/table">
            <a:tbl>
              <a:tblPr/>
              <a:tblGrid>
                <a:gridCol w="1953260"/>
                <a:gridCol w="3014980"/>
                <a:gridCol w="30988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관점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낮을 때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이렇게 보완한다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고객의 도메인·요구 표현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요구를 해결책(화면·버튼)으로 말한다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관찰·예시·프로토타입으로 끌어낸다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개발자의 도메인 이해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규칙을 조건문 속에서 추측한다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이벤트·용어를 합의해 모델로 명시한다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개발자의 기술 숙련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구현 가능성·품질을 장담하지 못한다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스파이크·작은 구현으로 위험부터 줄인다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팀워크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결정이 전달되지 않고 암묵지가 흩어진다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결정 근거를 명시하고 짧은 주기로 맞춘다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038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접근법은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누가 무엇을 얼마나 아는가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무엇이 불확실한가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따라 달라진다. 고객·개발자의 도메인 지식, 기술 숙련, 팀워크의 성숙도가 무엇을 더 명시하고 검증할지를 정한다.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- 17 -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12. 맥락과 접근법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(2/2)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OOAD 개요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531686" y="2240238"/>
          <a:ext cx="8067040" cy="3873500"/>
        </p:xfrm>
        <a:graphic>
          <a:graphicData uri="http://schemas.openxmlformats.org/drawingml/2006/table">
            <a:tbl>
              <a:tblPr/>
              <a:tblGrid>
                <a:gridCol w="3601720"/>
                <a:gridCol w="2092960"/>
                <a:gridCol w="23723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상황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알맞은 접근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먼저 검증할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고객·개발자가 도메인을 알고 업무·기술이 안정적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계획 기반(폭포수)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요구·계약의 완결성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업무는 명확하고 기술이 불확실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반복·점진(I&amp;I), 스파이크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위험한 기술부터 작은 증분으로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요구가 자주 바뀌고 고객이 함께할 수 있음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애자일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짧은 주기로 동작하는 SW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문제와 사용자가 불분명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디자인 씽킹(DT)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사용자의 문제와 요구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가치·시장이 불확실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Lean Startup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최소 제품(MVP)으로 가치 가설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사용 경험이 불확실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Lean UX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경험 가설과 실험 결과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1785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불확실성과 접근법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업무·기술의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불확실성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이 반복의 주기와 먼저 검증할 대상을 정한다. 모든 접근은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결정–검증–되돌림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을 서로 다른 주기로 운영한다.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- 18 -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13. 통합 모델링 언어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- 19 -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OOAD 개요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통합 모델링 언어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(UML)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분석·설계 방법론이 아니라 모델을 표현·공유하는 표준 언어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"UML은 소프트웨어와 시스템을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시각화·명세·문서화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하는 표준이다"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"Unified Modeling Language® (UML®) as a standard for visualizing, specifying, and documenting software and systems."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Object Management Group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Rumbaugh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(OMT)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·Booch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(Booch Method)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·Jacobson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(OOSE)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세 표기법이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1997년 UML로 통합됐다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  <p:pic>
        <p:nvPicPr>
          <p:cNvPr id="9" name="mermaid Diagram 7"/>
          <p:cNvPicPr>
            <a:picLocks noChangeAspect="1"/>
          </p:cNvPicPr>
          <p:nvPr/>
        </p:nvPicPr>
        <p:blipFill>
          <a:blip r:embed="mermaidImage7"/>
          <a:stretch>
            <a:fillRect/>
          </a:stretch>
        </p:blipFill>
        <p:spPr>
          <a:xfrm>
            <a:off x="2913063" y="3802980"/>
            <a:ext cx="3317875" cy="2206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14. 클래스 다이어그램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- 20 -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OOAD 개요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3438244"/>
            <a:ext cx="4114800" cy="231648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final class </a:t>
            </a:r>
            <a:r>
              <a:rPr sz="800" b="1">
                <a:solidFill>
                  <a:srgbClr val="000000"/>
                </a:solidFill>
                <a:latin typeface="Consolas"/>
                <a:ea typeface="맑은 고딕"/>
              </a:rPr>
              <a:t>고객</a:t>
            </a: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{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private final String 이름;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</a:t>
            </a:r>
            <a:r>
              <a:rPr sz="800" b="1">
                <a:solidFill>
                  <a:srgbClr val="000000"/>
                </a:solidFill>
                <a:latin typeface="Consolas"/>
                <a:ea typeface="맑은 고딕"/>
              </a:rPr>
              <a:t>고객</a:t>
            </a: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(String 이름) { this.이름 = 이름; }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}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final class </a:t>
            </a:r>
            <a:r>
              <a:rPr sz="800" b="1">
                <a:solidFill>
                  <a:srgbClr val="000000"/>
                </a:solidFill>
                <a:latin typeface="Consolas"/>
                <a:ea typeface="맑은 고딕"/>
              </a:rPr>
              <a:t>주문</a:t>
            </a: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{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private final String 주문번호;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private final 고객 고객;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private final List&lt;주문항목&gt; 항목들;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</a:t>
            </a:r>
            <a:r>
              <a:rPr sz="800" b="1">
                <a:solidFill>
                  <a:srgbClr val="000000"/>
                </a:solidFill>
                <a:latin typeface="Consolas"/>
                <a:ea typeface="맑은 고딕"/>
              </a:rPr>
              <a:t>주문</a:t>
            </a: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(String 주문번호, 고객 고객, List&lt;주문항목&gt; 항목들) {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if (항목들.isEmpty())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    throw new IllegalArgumentException("주문 항목은 1개 이상");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this.주문번호 = 주문번호;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this.고객 = 고객;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this.항목들 = List.copyOf(항목들);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}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}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1038316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클래스 다이어그램의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개념·관계·다중성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코드의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클래스·필드·생성자 검사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이어진다. 연관은 필드, 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1..*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와 수량 규칙은 생성자의 검사가 된다.</a:t>
            </a:r>
          </a:p>
        </p:txBody>
      </p:sp>
      <p:sp>
        <p:nvSpPr>
          <p:cNvPr id="33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4663440" y="3438244"/>
            <a:ext cx="4114800" cy="24384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final class </a:t>
            </a:r>
            <a:r>
              <a:rPr sz="800" b="1">
                <a:solidFill>
                  <a:srgbClr val="000000"/>
                </a:solidFill>
                <a:latin typeface="Consolas"/>
                <a:ea typeface="맑은 고딕"/>
              </a:rPr>
              <a:t>주문항목</a:t>
            </a: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{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private final 상품 상품;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private final int 수량;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private final int 단가;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</a:t>
            </a:r>
            <a:r>
              <a:rPr sz="800" b="1">
                <a:solidFill>
                  <a:srgbClr val="000000"/>
                </a:solidFill>
                <a:latin typeface="Consolas"/>
                <a:ea typeface="맑은 고딕"/>
              </a:rPr>
              <a:t>주문항목</a:t>
            </a: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(상품 상품, int 수량, int 단가) {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if (수량 &lt; 1)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    throw new IllegalArgumentException("수량은 1 이상");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this.상품 = 상품;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this.수량 = 수량;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this.단가 = 단가;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}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}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final class </a:t>
            </a:r>
            <a:r>
              <a:rPr sz="800" b="1">
                <a:solidFill>
                  <a:srgbClr val="000000"/>
                </a:solidFill>
                <a:latin typeface="Consolas"/>
                <a:ea typeface="맑은 고딕"/>
              </a:rPr>
              <a:t>상품</a:t>
            </a: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{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private final String 상품명;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private final int 판매가;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</a:t>
            </a:r>
            <a:r>
              <a:rPr sz="800" b="1">
                <a:solidFill>
                  <a:srgbClr val="000000"/>
                </a:solidFill>
                <a:latin typeface="Consolas"/>
                <a:ea typeface="맑은 고딕"/>
              </a:rPr>
              <a:t>상품</a:t>
            </a: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(String 상품명, int 판매가) { this.상품명 = 상품명; this.판매가 = 판매가; }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}</a:t>
            </a:r>
          </a:p>
        </p:txBody>
      </p:sp>
      <p:pic>
        <p:nvPicPr>
          <p:cNvPr id="34" name="plantuml Diagram 1"/>
          <p:cNvPicPr>
            <a:picLocks noChangeAspect="1"/>
          </p:cNvPicPr>
          <p:nvPr/>
        </p:nvPicPr>
        <p:blipFill>
          <a:blip r:embed="plantumlImage1"/>
          <a:stretch>
            <a:fillRect/>
          </a:stretch>
        </p:blipFill>
        <p:spPr>
          <a:xfrm>
            <a:off x="1919654" y="2100036"/>
            <a:ext cx="5304692" cy="12284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15. 시스템 시퀀스 다이어그램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- 21 -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OOAD 개요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4129417"/>
            <a:ext cx="8412480" cy="9906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interface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주문시스템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void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장바구니에담는다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(String 상품, int 수량);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void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배송지를지정한다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(String 주소);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void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결제한다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(String 결제수단);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}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1038316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시스템 시퀀스 다이어그램의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시스템 이벤트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시스템 경계의 오퍼레이션이 된다. 시스템 안은 블랙박스이며, 이벤트를 받는 쪽인 주문 시스템만 코드로 본다.</a:t>
            </a:r>
          </a:p>
        </p:txBody>
      </p:sp>
      <p:pic>
        <p:nvPicPr>
          <p:cNvPr id="33" name="plantuml Diagram 2"/>
          <p:cNvPicPr>
            <a:picLocks noChangeAspect="1"/>
          </p:cNvPicPr>
          <p:nvPr/>
        </p:nvPicPr>
        <p:blipFill>
          <a:blip r:embed="plantumlImage2"/>
          <a:stretch>
            <a:fillRect/>
          </a:stretch>
        </p:blipFill>
        <p:spPr>
          <a:xfrm>
            <a:off x="3258038" y="2100036"/>
            <a:ext cx="2627923" cy="19196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16. 분석 시퀀스 다이어그램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- 22 -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OOAD 개요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4549601"/>
            <a:ext cx="4114800" cy="170688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// ... 상품(상품명, 판매가) 생략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final class </a:t>
            </a:r>
            <a:r>
              <a:rPr sz="800" b="1">
                <a:solidFill>
                  <a:srgbClr val="000000"/>
                </a:solidFill>
                <a:latin typeface="Consolas"/>
                <a:ea typeface="맑은 고딕"/>
              </a:rPr>
              <a:t>주문항목</a:t>
            </a: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{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private final 상품 상품;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private final int 수량;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private final int 단가;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</a:t>
            </a:r>
            <a:r>
              <a:rPr sz="800" b="1">
                <a:solidFill>
                  <a:srgbClr val="000000"/>
                </a:solidFill>
                <a:latin typeface="Consolas"/>
                <a:ea typeface="맑은 고딕"/>
              </a:rPr>
              <a:t>주문항목</a:t>
            </a: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(상품 상품, int 수량) {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this.상품 = 상품;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this.수량 = 수량;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this.단가 = 상품.판매가();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}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int </a:t>
            </a:r>
            <a:r>
              <a:rPr sz="800" b="1">
                <a:solidFill>
                  <a:srgbClr val="000000"/>
                </a:solidFill>
                <a:latin typeface="Consolas"/>
                <a:ea typeface="맑은 고딕"/>
              </a:rPr>
              <a:t>금액</a:t>
            </a: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() { return 단가 * 수량; }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}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1295353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분석 시퀀스 다이어그램의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메시지는 받는 객체의 메서드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된다. 생성은 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new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로, 반복은 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for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문으로 옮긴다. 주문 항목을 추가하고 총액을 구하는 상호작용을 코드로 본다. 주문 항목은 만들어질 때 상품의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판매가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단가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확정한다.</a:t>
            </a:r>
          </a:p>
        </p:txBody>
      </p:sp>
      <p:sp>
        <p:nvSpPr>
          <p:cNvPr id="33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4663440" y="4549601"/>
            <a:ext cx="4114800" cy="158496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final class </a:t>
            </a:r>
            <a:r>
              <a:rPr sz="800" b="1">
                <a:solidFill>
                  <a:srgbClr val="000000"/>
                </a:solidFill>
                <a:latin typeface="Consolas"/>
                <a:ea typeface="맑은 고딕"/>
              </a:rPr>
              <a:t>주문</a:t>
            </a: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{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private final java.util.List&lt;주문항목&gt; 항목들 = new java.util.ArrayList&lt;&gt;();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void </a:t>
            </a:r>
            <a:r>
              <a:rPr sz="800" b="1">
                <a:solidFill>
                  <a:srgbClr val="000000"/>
                </a:solidFill>
                <a:latin typeface="Consolas"/>
                <a:ea typeface="맑은 고딕"/>
              </a:rPr>
              <a:t>주문항목을추가한다</a:t>
            </a: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(상품 상품, int 수량) {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항목들.add(new 주문항목(상품, 수량));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}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int </a:t>
            </a:r>
            <a:r>
              <a:rPr sz="800" b="1">
                <a:solidFill>
                  <a:srgbClr val="000000"/>
                </a:solidFill>
                <a:latin typeface="Consolas"/>
                <a:ea typeface="맑은 고딕"/>
              </a:rPr>
              <a:t>총액을구한다</a:t>
            </a: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() {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int 합계 = 0;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for (주문항목 항목 : 항목들) 합계 += 항목.금액();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return 합계;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}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}</a:t>
            </a:r>
          </a:p>
        </p:txBody>
      </p:sp>
      <p:pic>
        <p:nvPicPr>
          <p:cNvPr id="34" name="plantuml Diagram 3"/>
          <p:cNvPicPr>
            <a:picLocks noChangeAspect="1"/>
          </p:cNvPicPr>
          <p:nvPr/>
        </p:nvPicPr>
        <p:blipFill>
          <a:blip r:embed="plantumlImage3"/>
          <a:stretch>
            <a:fillRect/>
          </a:stretch>
        </p:blipFill>
        <p:spPr>
          <a:xfrm>
            <a:off x="2786185" y="2357073"/>
            <a:ext cx="3571631" cy="2082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17. 커뮤니케이션 다이어그램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- 23 -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OOAD 개요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2323957"/>
            <a:ext cx="8412480" cy="34290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final class </a:t>
            </a:r>
            <a:r>
              <a:rPr sz="900" b="1">
                <a:solidFill>
                  <a:srgbClr val="000000"/>
                </a:solidFill>
                <a:latin typeface="Consolas"/>
                <a:ea typeface="맑은 고딕"/>
              </a:rPr>
              <a:t>상품</a:t>
            </a: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{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private final String 상품명;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private final int 판매가;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</a:t>
            </a:r>
            <a:r>
              <a:rPr sz="900" b="1">
                <a:solidFill>
                  <a:srgbClr val="000000"/>
                </a:solidFill>
                <a:latin typeface="Consolas"/>
                <a:ea typeface="맑은 고딕"/>
              </a:rPr>
              <a:t>상품</a:t>
            </a: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(String 상품명, int 판매가) { this.상품명 = 상품명; this.판매가 = 판매가; }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int </a:t>
            </a:r>
            <a:r>
              <a:rPr sz="900" b="1">
                <a:solidFill>
                  <a:srgbClr val="000000"/>
                </a:solidFill>
                <a:latin typeface="Consolas"/>
                <a:ea typeface="맑은 고딕"/>
              </a:rPr>
              <a:t>판매가</a:t>
            </a: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() { return 판매가; }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}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final class </a:t>
            </a:r>
            <a:r>
              <a:rPr sz="900" b="1">
                <a:solidFill>
                  <a:srgbClr val="000000"/>
                </a:solidFill>
                <a:latin typeface="Consolas"/>
                <a:ea typeface="맑은 고딕"/>
              </a:rPr>
              <a:t>주문항목</a:t>
            </a: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{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private final 상품 상품;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private final int 수량;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private final int 단가;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</a:t>
            </a:r>
            <a:r>
              <a:rPr sz="900" b="1">
                <a:solidFill>
                  <a:srgbClr val="000000"/>
                </a:solidFill>
                <a:latin typeface="Consolas"/>
                <a:ea typeface="맑은 고딕"/>
              </a:rPr>
              <a:t>주문항목</a:t>
            </a: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(상품 상품, int 수량) {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    this.상품 = 상품;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    this.수량 = 수량;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    this.단가 = 상품.판매가();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}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}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final class </a:t>
            </a:r>
            <a:r>
              <a:rPr sz="900" b="1">
                <a:solidFill>
                  <a:srgbClr val="000000"/>
                </a:solidFill>
                <a:latin typeface="Consolas"/>
                <a:ea typeface="맑은 고딕"/>
              </a:rPr>
              <a:t>주문</a:t>
            </a: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{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private final java.util.List&lt;주문항목&gt; 항목들 = new java.util.ArrayList&lt;&gt;();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void </a:t>
            </a:r>
            <a:r>
              <a:rPr sz="900" b="1">
                <a:solidFill>
                  <a:srgbClr val="000000"/>
                </a:solidFill>
                <a:latin typeface="Consolas"/>
                <a:ea typeface="맑은 고딕"/>
              </a:rPr>
              <a:t>주문항목을추가한다</a:t>
            </a: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(상품 상품, int 수량) {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    항목들.add(new 주문항목(상품, 수량));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}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}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781278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커뮤니케이션 다이어그램의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링크는 참조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(필드)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되고, 번호는 호출의 중첩이 된다. 주문 항목을 추가하는 상호작용을 링크와 번호로 본다.</a:t>
            </a:r>
          </a:p>
        </p:txBody>
      </p:sp>
      <p:pic>
        <p:nvPicPr>
          <p:cNvPr id="33" name="plantuml Diagram 4"/>
          <p:cNvPicPr>
            <a:picLocks noChangeAspect="1"/>
          </p:cNvPicPr>
          <p:nvPr/>
        </p:nvPicPr>
        <p:blipFill>
          <a:blip r:embed="plantumlImage4"/>
          <a:stretch>
            <a:fillRect/>
          </a:stretch>
        </p:blipFill>
        <p:spPr>
          <a:xfrm>
            <a:off x="434731" y="1842998"/>
            <a:ext cx="8274538" cy="371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18. 상태 기계 다이어그램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- 24 -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OOAD 개요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3235533"/>
            <a:ext cx="8412480" cy="28067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enum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주문상태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{ 결제대기, 결제완료, 배송중, 배송완료, 취소됨 }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final class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주문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private 주문상태 상태 = 주문상태.결제대기;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void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결제한다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() { 전이(주문상태.결제대기, 주문상태.결제완료); }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void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배송을시작한다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() { 전이(주문상태.결제완료, 주문상태.배송중); }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void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배송을완료한다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() { 전이(주문상태.배송중, 주문상태.배송완료); }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void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취소한다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() { 전이(주문상태.결제완료, 주문상태.취소됨); }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private void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전이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(주문상태 출발, 주문상태 도착)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if (상태 != 출발)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    throw new IllegalStateException(상태 + "에서는 " + 도착 + "이 될 수 없다");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상태 = 도착;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}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}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1038316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상태 기계 다이어그램의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상태·사건·전이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코드의 값·메서드·허용 검사가 된다. 규칙이 금지한 전이는 일어날 수 없다. 주문의 생애 전체를 코드로 본다.</a:t>
            </a:r>
          </a:p>
        </p:txBody>
      </p:sp>
      <p:pic>
        <p:nvPicPr>
          <p:cNvPr id="33" name="plantuml Diagram 5"/>
          <p:cNvPicPr>
            <a:picLocks noChangeAspect="1"/>
          </p:cNvPicPr>
          <p:nvPr/>
        </p:nvPicPr>
        <p:blipFill>
          <a:blip r:embed="plantumlImage5"/>
          <a:stretch>
            <a:fillRect/>
          </a:stretch>
        </p:blipFill>
        <p:spPr>
          <a:xfrm>
            <a:off x="1607038" y="2100036"/>
            <a:ext cx="5929923" cy="10257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19. 요구에서 테스트로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(1/2)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OOAD 개요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230185" y="1842998"/>
          <a:ext cx="6670040" cy="3873500"/>
        </p:xfrm>
        <a:graphic>
          <a:graphicData uri="http://schemas.openxmlformats.org/drawingml/2006/table">
            <a:tbl>
              <a:tblPr/>
              <a:tblGrid>
                <a:gridCol w="2540000"/>
                <a:gridCol w="2176780"/>
                <a:gridCol w="19532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 예시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분석 규칙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테스트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중인 주문은 취소할 수 없다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중에서 취소 전이 없음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취소가 거절된다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취소된 주문은 결제할 수 없다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취소됨에서 결제 전이 없음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결제가 거절된다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항목 없이 주문할 수 없다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항목 1..*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빈 주문 생성이 거절된다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요구의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수용·거절 예시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그대로 테스트가 된다. 규칙이 금지한 전이는 거절되어야 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- 25 -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19. 요구에서 테스트로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(2/2)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- 26 -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OOAD 개요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2978495"/>
            <a:ext cx="8412480" cy="288036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class </a:t>
            </a:r>
            <a:r>
              <a:rPr sz="900" b="1">
                <a:solidFill>
                  <a:srgbClr val="000000"/>
                </a:solidFill>
                <a:latin typeface="Consolas"/>
                <a:ea typeface="맑은 고딕"/>
              </a:rPr>
              <a:t>주문테스트</a:t>
            </a: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{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public static void </a:t>
            </a:r>
            <a:r>
              <a:rPr sz="900" b="1">
                <a:solidFill>
                  <a:srgbClr val="000000"/>
                </a:solidFill>
                <a:latin typeface="Consolas"/>
                <a:ea typeface="맑은 고딕"/>
              </a:rPr>
              <a:t>main</a:t>
            </a: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(String[] args) {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    var 배송중인주문 = new 주문();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    배송중인주문.결제한다();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    배송중인주문.배송을시작한다();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    거절(배송중인주문::취소한다);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    var 취소된주문 = new 주문();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    취소된주문.결제한다();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    취소된주문.취소한다();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    거절(취소된주문::결제한다);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    System.out.println("주문 규칙 확인");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}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static void </a:t>
            </a:r>
            <a:r>
              <a:rPr sz="900" b="1">
                <a:solidFill>
                  <a:srgbClr val="000000"/>
                </a:solidFill>
                <a:latin typeface="Consolas"/>
                <a:ea typeface="맑은 고딕"/>
              </a:rPr>
              <a:t>거절</a:t>
            </a: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(Runnable 행위) {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    try { 행위.run(); } catch (IllegalStateException 기대한거절) { return; }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    throw new AssertionError("거절되어야 한다");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}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}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781278"/>
          </a:xfrm>
        </p:spPr>
        <p:txBody>
          <a:bodyPr>
            <a:norm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요구 예시를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실행되는 테스트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옮긴다. 「18. 상태 기계 다이어그램」의 주문 코드와 함께 실행한다.</a:t>
            </a:r>
          </a:p>
        </p:txBody>
      </p:sp>
      <p:pic>
        <p:nvPicPr>
          <p:cNvPr id="33" name="plantuml Diagram 6"/>
          <p:cNvPicPr>
            <a:picLocks noChangeAspect="1"/>
          </p:cNvPicPr>
          <p:nvPr/>
        </p:nvPicPr>
        <p:blipFill>
          <a:blip r:embed="plantumlImage6"/>
          <a:stretch>
            <a:fillRect/>
          </a:stretch>
        </p:blipFill>
        <p:spPr>
          <a:xfrm>
            <a:off x="1607038" y="1842998"/>
            <a:ext cx="5929923" cy="10257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20. 소프트웨어 아키텍처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- 27 -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OOAD 개요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소프트웨어 아키텍처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시스템 수준에서 무엇을 주요 구성 요소로 나누고 어떻게 연결하며, 어떤 경계와 원칙에 따라 설계·변경할지를 다룬다.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"아키텍처는 환경 속 시스템의 근본적인 개념·속성이며,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요소·관계·설계 및 진화 원칙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구현된다"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"Fundamental concepts or properties of a system in its environment embodied in its elements, relationships, and in the principles of its design and evolution."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ISO/IEC/IEEE 42010, www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구성 요소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컴포넌트·서브시스템 등 시스템의 주요 부분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관계와 연결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구성 요소 사이의 협력·의존성·인터페이스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경계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책임과 변경 영향을 구분하는 구조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설계·진화 원칙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품질속성과 제약을 고려한 주요 결정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객체지향 설계가 객체·모듈의 책임과 협력을 구체화한다면, 아키텍처는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시스템 전체의 구조와 경계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다룬다.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21. 책임과 경계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- 28 -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OOAD 개요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책임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(Responsibility)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경계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(Boundary)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객체지향 설계의 핵심 판단이다.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누가 무엇을 책임지고 어디에 경계를 둘 것인가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결정한다.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책임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상태 소유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규칙 판단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행위 수행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경계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함께 변경되어야 할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상태와 행위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를 묶음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책임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과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변경 영향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을 구분함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“데이터를 어디에 둘까?”보다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“누가 이 판단을 책임질까?”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먼저 묻는다.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22. 메시지와 협력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- 29 -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OOAD 개요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객체는 데이터를 담는 단위가 아니다.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메시지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(요청)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받은 객체가 자신의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책임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(정보·규칙)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판단하고, 여러 객체가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협력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해 목표를 달성한다.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"객체지향은 오직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메시징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상태·프로세스의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지역적 보존·보호·은닉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그리고 모든 것의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극단적으로 늦은 바인딩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의미한다"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"OOP to me means only messaging, local retention and protection and hiding of state-process, and extreme late-binding of all things."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Alan Kay, 2003</a:t>
            </a:r>
          </a:p>
        </p:txBody>
      </p:sp>
      <p:pic>
        <p:nvPicPr>
          <p:cNvPr id="9" name="plantuml Diagram 7"/>
          <p:cNvPicPr>
            <a:picLocks noChangeAspect="1"/>
          </p:cNvPicPr>
          <p:nvPr/>
        </p:nvPicPr>
        <p:blipFill>
          <a:blip r:embed="plantumlImage7"/>
          <a:stretch>
            <a:fillRect/>
          </a:stretch>
        </p:blipFill>
        <p:spPr>
          <a:xfrm>
            <a:off x="2105269" y="3718745"/>
            <a:ext cx="4933462" cy="19001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23. 분석 모델에서 설계 모델로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(1/2)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- 30 -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OOAD 개요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분석 모델의 개념을 설계 클래스로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1:1 기계 변환하지 않는다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설계에서는 책임·경계·협력을 다시 결정한다.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분석 모델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주문, 결제, 고객, 취소 정책 등 업무 개념과 관계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설계 모델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주문, 주문 서비스, 취소 정책, 결제 연동, 저장소 등 책임과 협력 구조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분석 모델의 개념 하나가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여러 설계 요소로 나뉠 수 있다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(예: 취소 정책 → 주문 서비스·결제 연동·저장소)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결제 연동·저장소는 외부 연동과 영속성 요구를 검토하며 필요 여부를 결정한다.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23. 분석 모델에서 설계 모델로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(2/2)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OOAD 개요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593406" y="2240238"/>
          <a:ext cx="5943600" cy="3873500"/>
        </p:xfrm>
        <a:graphic>
          <a:graphicData uri="http://schemas.openxmlformats.org/drawingml/2006/table">
            <a:tbl>
              <a:tblPr/>
              <a:tblGrid>
                <a:gridCol w="2316480"/>
                <a:gridCol w="1813560"/>
                <a:gridCol w="18135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분석에서 확인할 의미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설계에서 더할 판단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코드에서 확인할 증거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배송된 주문은 취소할 수 없다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취소 판단의 책임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거절 결과와 상태 유지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항목은 1개 이상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생성 책임과 검사 위치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빈 주문의 거절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총액은 항목 금액의 합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계산할지 저장할지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항목 변경 뒤의 총액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1785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다이어그램은 설계도가 아니다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다이어그램은 코드로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옮겨 적는 설계도가 아니다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 상자 하나가 여러 코드 요소가 되기도, 여러 상자가 한 코드에 담기기도 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- 31 -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493838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코드 한 조각이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보장하는 것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과 모델 전체의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제약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은 다르다. 보장하지 못하는 제약은 누가 지킬지 설계에서 정한다.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24. 적정 분석·설계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OOAD 개요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2100036"/>
          <a:ext cx="8305800" cy="3873500"/>
        </p:xfrm>
        <a:graphic>
          <a:graphicData uri="http://schemas.openxmlformats.org/drawingml/2006/table">
            <a:tbl>
              <a:tblPr/>
              <a:tblGrid>
                <a:gridCol w="2623820"/>
                <a:gridCol w="2819400"/>
                <a:gridCol w="28625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상황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다음 행동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판단 근거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부족 — 요구·규칙·책임 불명확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필요한 모델을 보완한다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분석 비용으로 재작업 위험을 줄인다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적정 — 주요 판단 확보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구현·테스트·프로토타입으로 검증한다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모델보다 실제 검증이 더 많이 알려 준다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과도 — 상세가 판단을 바꾸지 않음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멈추고, 새 증거가 생기면 재검토한다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비용을 줄이되 불확실성은 기록한다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038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적정 분석·설계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(Just Enough Analysis and Design)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란 가능한 많은 모델과 산출물을 만드는 것이 아니라,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현재의 주요 위험을 줄이고 다음 검증으로 진행할 만큼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분석하고 설계하는 것이다.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- 32 -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353636"/>
            <a:ext cx="8412480" cy="11785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다음 결정이 추측하지 않도록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다음 결정이 중요한 것을 추측하지 않아도 될 만큼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명시한다. 핵심 규칙을 빈칸으로 두는 것은 설계 자유도가 아니라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숨은 위험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이다.</a:t>
            </a:r>
          </a:p>
        </p:txBody>
      </p:sp>
      <p:graphicFrame>
        <p:nvGraphicFramePr>
          <p:cNvPr id="15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4633754"/>
          <a:ext cx="8305800" cy="3873500"/>
        </p:xfrm>
        <a:graphic>
          <a:graphicData uri="http://schemas.openxmlformats.org/drawingml/2006/table">
            <a:tbl>
              <a:tblPr/>
              <a:tblGrid>
                <a:gridCol w="2623820"/>
                <a:gridCol w="2819400"/>
                <a:gridCol w="28625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결정 경계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지금 명시할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열어 둘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 → 분석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의도, 범위, 수용·거절 예시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내부 객체와 메서드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분석 → 설계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용어, 규칙, 상태, 불변 조건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저장 기술, 책임 배치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설계 → 코드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책임, 협력, 계약, 주요 제약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국소 구현 방식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코드 → 운영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보장 범위, 통합 전제, 남은 위험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실사용으로 확인할 가치 가설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25. 북 스마트와 스트리트 스마트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OOAD 개요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546925" y="2100036"/>
          <a:ext cx="8036560" cy="3873500"/>
        </p:xfrm>
        <a:graphic>
          <a:graphicData uri="http://schemas.openxmlformats.org/drawingml/2006/table">
            <a:tbl>
              <a:tblPr/>
              <a:tblGrid>
                <a:gridCol w="889000"/>
                <a:gridCol w="4188460"/>
                <a:gridCol w="29591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/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북 스마트만 있을 때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스트리트 스마트만 있을 때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템플릿을 다 채우지만 합의한 이벤트가 없다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말로 합의하고 기록·예시가 없다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분석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다이어그램은 많지만 데이터 모델·규칙이 없다(분석 과잉)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규칙을 코드 조건문에 바로 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패턴을 먼저 고르고 요구를 맞춘다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매번 새로 만들어 같은 실수를 반복한다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검증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절차는 지켰지만 결과를 확인하지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동작하면 끝났다고 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038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북 스마트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표준·모델·프로세스·원칙을 아는 것이고,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스트리트 스마트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그중 무엇을 언제 얼마나 쓸지 맥락에서 판단하고 증거로 되돌리는 것이다. 둘 중 하나만으로는 SW 공학이 되지 않는다.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- 33 -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641636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결정 경계·다이어그램·원칙은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북 스마트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적정 수준·맥락에 따른 선택·되돌림은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스트리트 스마트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26. KISS·DRY·YAGNI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OOAD 개요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1842998"/>
          <a:ext cx="8305800" cy="3873500"/>
        </p:xfrm>
        <a:graphic>
          <a:graphicData uri="http://schemas.openxmlformats.org/drawingml/2006/table">
            <a:tbl>
              <a:tblPr/>
              <a:tblGrid>
                <a:gridCol w="889000"/>
                <a:gridCol w="2600889"/>
                <a:gridCol w="2545326"/>
                <a:gridCol w="2270585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원칙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진정한 의미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주문에서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잘못 쓰면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KISS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우연적 복잡성은 없애고 본질은 드러낸다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상태는 enum과 허용 검사로 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규칙을 빼고 "코드에서 처리"한다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DRY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하나의 지식에 하나의 원천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수량 규칙은 한 곳, 예시는 곧 테스트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모양만 같은 다른 의미를 합친다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YAGNI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추측으로 결정하지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미확정인 부분 취소·쿠폰은 안 만든다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핵심 규칙·경계까지 미룬다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세 원칙은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판단의 도구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 이름의 뜻보다 우리 흐름 안에서의 의미로 쓴다.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- 34 -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096598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원칙이 부딪히면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위험과 비용, 되돌리기 쉬운 정도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고른다. 공통 추상화가 두 개념을 함께 바뀌게 하면 중복을 남긴다.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27. 피드백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(1/2)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- 35 -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OOAD 개요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78892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구현·테스트의 오류는 앞선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요구·분석·설계 판단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되돌아볼 증거다.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요구사항 오류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필요한 것 자체를 잘못 정의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분석 오류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의미·규칙을 잘못 이해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설계 오류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책임·경계를 잘못 배치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구현 오류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코드·기술 사용 오류</a:t>
            </a:r>
          </a:p>
        </p:txBody>
      </p:sp>
      <p:pic>
        <p:nvPicPr>
          <p:cNvPr id="9" name="mermaid Diagram 8"/>
          <p:cNvPicPr>
            <a:picLocks noChangeAspect="1"/>
          </p:cNvPicPr>
          <p:nvPr/>
        </p:nvPicPr>
        <p:blipFill>
          <a:blip r:embed="mermaidImage8"/>
          <a:stretch>
            <a:fillRect/>
          </a:stretch>
        </p:blipFill>
        <p:spPr>
          <a:xfrm>
            <a:off x="1460500" y="3712824"/>
            <a:ext cx="6223000" cy="14208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27. 피드백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(2/2)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OOAD 개요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790256" y="2240238"/>
          <a:ext cx="5549900" cy="3873500"/>
        </p:xfrm>
        <a:graphic>
          <a:graphicData uri="http://schemas.openxmlformats.org/drawingml/2006/table">
            <a:tbl>
              <a:tblPr/>
              <a:tblGrid>
                <a:gridCol w="889000"/>
                <a:gridCol w="1673860"/>
                <a:gridCol w="29870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관점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검증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주문에서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수용·거절 예시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고객이 취소 가능 여부를 알 수 있는가?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분석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규칙·상태의 일관성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배송된 주문에 취소 전이가 없는가?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책임·계약·실패 경로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취소 판단을 누가 지키는가?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코드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실행·통합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거절 뒤 상태가 그대로인가?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운영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실제 결과와 가치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취소 문의가 줄었는가?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1785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검증의 배치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테스트는 앞 활동을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생략해도 된다는 허가가 아니다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 오류가 생기는 곳 가까이에서 검증을 앞당긴다.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- 36 -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28. 흔한 오해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OOAD 개요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1842998"/>
          <a:ext cx="8305800" cy="3873500"/>
        </p:xfrm>
        <a:graphic>
          <a:graphicData uri="http://schemas.openxmlformats.org/drawingml/2006/table">
            <a:tbl>
              <a:tblPr/>
              <a:tblGrid>
                <a:gridCol w="3154680"/>
                <a:gridCol w="515112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오해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바른 판단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UML을 그리면 OOAD다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UML은 표현 언어다. 핵심은 문제 이해와 책임·경계 판단이다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분석은 문서를 많이 만드는 일이다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분석의 목적은 산출물이 아니라 판단이다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명사는 클래스, 테이블은 객체다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분석 개념을 설계·코드로 기계적으로 옮기지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객체는 데이터와 접근 메서드의 묶음이다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객체는 책임을 지고 메시지로 협력한다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상속과 디자인 패턴이 객체지향의 핵심이다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핵심은 메시지·책임·협력이며, 패턴은 실제 변경 압력이 있을 때 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기술을 먼저 정하고 요구를 맞춘다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문제와 요구를 먼저 정하고 기술은 해결책으로 고른다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한 번에 완벽하게 분석·설계한다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적정하게 분석·설계하고 피드백으로 고친다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다이어그램과 절차를 갖추면 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북 스마트만으로는 판단이 없다. 무엇을 언제 얼마나 쓸지 맥락에서 고른다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일단 해 보면 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스트리트 스마트만으로는 같은 실수를 반복한다. 예시·모델·테스트로 남긴다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객체지향 분석·설계에 대한 흔한 오해는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표기·산출물·기술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판단보다 앞세우는 데서 생긴다.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- 37 -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29. 전문 영역으로의 확장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OOAD 개요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424495" y="1842998"/>
          <a:ext cx="6281420" cy="3873500"/>
        </p:xfrm>
        <a:graphic>
          <a:graphicData uri="http://schemas.openxmlformats.org/drawingml/2006/table">
            <a:tbl>
              <a:tblPr/>
              <a:tblGrid>
                <a:gridCol w="1590040"/>
                <a:gridCol w="46913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영역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더해지는 질문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SW Architecture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품질속성과 제약 아래 구조·배포·변경 비용을 어떻게 절충하는가?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DDD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도메인 언어와 문맥 경계를 어떻게 유지하는가?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MSA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분산 경계·통신·실패·일관성이 업무 의미에 어떤 영향을 주는가?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DevOps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운영 증거를 어떤 결정으로 얼마나 빨리 되돌리는가?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AI-native SW공학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사람과 에이전트가 어떤 결정을 맡고 무엇으로 검증하는가?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OOAD만으로 모든 판단을 끝내지 않는다. 규모·품질·분산·운영이 커지면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전문 영역의 질문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더해진다.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- 38 -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672598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아키텍처는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마지막 단계가 아니다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위험과 제약이 크면 판단과 검증을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앞당긴다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30. 도메인 주도 설계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- 39 -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OOAD 개요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기존 객체지향 설계의 대체물이 아니라, 도메인 모델과 설계·구현의 정합성을 깊이 있게 다룬다.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전략적 설계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핵심 도메인, 경계가 명확한 문맥, 문맥 간 관계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전술적 설계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엔티티, 값 객체, 애그리거트, 저장소, 도메인 서비스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에반스는 도메인 주도 설계를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책임 중심 설계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와 객체지향 설계 모범 사례 위에 세운다. 이 세션은 그 위에서 도메인 주도 설계 고유의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전략적·전술적 설계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다룬다.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31. 온톨로지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- 40 -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OOAD 개요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온톨로지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(Ontology)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공유하려는 개념과 관계의 의미를 명시하는 데 사용한다. 도메인 모델과 관심을 공유하지만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모든 도메인 모델을 자동으로 온톨로지라고 부르지는 않는다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"온톨로지는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개념화의 명시적 명세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"An ontology is an explicit specification of a conceptualization."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Thomas R. Gruber, 1993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이는 필수 개발 순서가 아니라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관심과 활용 관계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</a:t>
            </a:r>
          </a:p>
        </p:txBody>
      </p:sp>
      <p:pic>
        <p:nvPicPr>
          <p:cNvPr id="9" name="mermaid Diagram 9"/>
          <p:cNvPicPr>
            <a:picLocks noChangeAspect="1"/>
          </p:cNvPicPr>
          <p:nvPr/>
        </p:nvPicPr>
        <p:blipFill>
          <a:blip r:embed="mermaidImage9"/>
          <a:stretch>
            <a:fillRect/>
          </a:stretch>
        </p:blipFill>
        <p:spPr>
          <a:xfrm>
            <a:off x="1460500" y="3660581"/>
            <a:ext cx="6223000" cy="23098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32. AI 기반 소프트웨어공학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- 41 -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OOAD 개요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과정에서는 AI 기반 개발을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인간의 판단 책임과 AI의 실행·지원 역할을 배치하는 관점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다룬다. 아래 구분은 보편적으로 확정된 역할 표준이 아니라 검증과 책임 소재를 명확히 하기 위한 운영 원칙이다.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인간이 최종 책임지는 판단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비전과 가치, 위험 수용, 최종 의사결정과 책임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인간과 AI의 협업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요구사항, 도메인 모델·온톨로지, 아키텍처·설계, 테스트·검토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AI가 주도할 수 있는 실행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코드 생성·변환, 정적 검사, 테스트 실행, 자동화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핵심은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누가 코드를 작성하느냐보다 누가 의미·경계·위험을 판단하고 결과를 검증하느냐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있다. 실행할 때는 필요한 맥락·제약을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가드레일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(Guardrail)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담고,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에이전트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(Agent)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의 작업을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실행·검증 환경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(Harness)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에서 확인한다.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33. 실습 — 문제·요구사항·해결책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- 42 -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OOAD 개요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요청에 포함된 해결책과 그 배경의 문제·요구사항·제약을 구분하고,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확인이 필요한 가정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식별한다.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온라인 쇼핑몰에 다음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요청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들어왔다.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“주문 목록에 취소 버튼을 추가해 주세요.” 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(조건: 배송 시작 전 주문만 취소 가능, 취소 시 결제 금액 환불)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과제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구현 전에 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(1)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문제 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(2)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요구사항 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(3)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제약 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(4)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해결책을 구분하고, 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취소 버튼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이 어느 항목에 해당하는지 판단한다. 주어진 사실과 추정을 구분해 추정을 확인할 질문을 하나 작성한다. 마지막으로 요청을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이벤트 하나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(무엇이 일어나면 어떤 결과가 필요한가)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로 다시 쓴다.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34. 실습 — 검토 예시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(모범답안)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- 43 -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OOAD 개요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「33. 실습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문제·요구사항·해결책」의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하나의 모범 예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다 — 유일한 정답이 아니라, "수준을 구분했는가"를 보여주는 예시다. 아래는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고객이 현재 직접 취소할 수 없다는 가정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에 따른 검토이며, 실제 원인은 요청자에게 확인해야 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문제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고객이 취소 가능한 주문을 직접 취소할 수 없음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요구사항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배송 시작 전 주문을 고객이 직접 취소하고 결제 금액을 환불받을 수 있어야 함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제약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배송 시작 후 일반 취소 불가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해결책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취소 버튼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(다른 해결책도 가능. 예: 고객센터 취소 요청)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이벤트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고객이 배송 시작 전 주문을 취소한다 → 주문이 취소되고 결제 금액이 환불된다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확인 질문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현재 취소 경로가 없는가, 아니면 찾기 어려운가?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35. 요약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- 44 -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OOAD 개요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세션은 문제를 이해하고 해결책의 책임과 경계를 결정하는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판단의 흐름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코드·테스트까지 이어서 다뤘다.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객체지향 분석·설계의 핵심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문제·요구·해결책과 이벤트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해결책이 섞인 요청에서 문제와 요구를 찾고, 요구는 이벤트로 합의한다.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본질적·우연적 어려움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업무 복잡성과 기술적 부담을 구분한다.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결정 경계와 코드·테스트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요구·분석·설계·코드는 각자 결정하고 가까이에서 검증한다.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책임·경계·협력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객체지향 설계의 핵심 판단이다. 다이어그램은 옮겨 적는 설계도가 아니다.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적정 수준과 원칙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맥락에 맞게 명시하고, 원칙은 북 스마트로 알되 스트리트 스마트로 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다음 세션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"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02. 요구 분석과 유스케이스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"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요청에서 요구를 발견해 이벤트로 합의하고, 사용자 목표와 시스템 책임을 구분한다.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theme/theme1.xml><?xml version="1.0" encoding="utf-8"?>
<a:theme xmlns:a="http://schemas.openxmlformats.org/drawingml/2006/main" name="4_Office 테마">
  <a:themeElements>
    <a:clrScheme name="태양">
      <a:dk1>
        <a:sysClr val="windowText" lastClr="000000"/>
      </a:dk1>
      <a:lt1>
        <a:sysClr val="window" lastClr="FFFFFF"/>
      </a:lt1>
      <a:dk2>
        <a:srgbClr val="4F271C"/>
      </a:dk2>
      <a:lt2>
        <a:srgbClr val="E7DEC9"/>
      </a:lt2>
      <a:accent1>
        <a:srgbClr val="3891A7"/>
      </a:accent1>
      <a:accent2>
        <a:srgbClr val="FEB80A"/>
      </a:accent2>
      <a:accent3>
        <a:srgbClr val="C32D2E"/>
      </a:accent3>
      <a:accent4>
        <a:srgbClr val="84AA33"/>
      </a:accent4>
      <a:accent5>
        <a:srgbClr val="964305"/>
      </a:accent5>
      <a:accent6>
        <a:srgbClr val="475A8D"/>
      </a:accent6>
      <a:hlink>
        <a:srgbClr val="8DC765"/>
      </a:hlink>
      <a:folHlink>
        <a:srgbClr val="AA8A14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/>
      </a:spPr>
      <a:bodyPr lIns="0" rIns="0" rtlCol="0" anchor="ctr"/>
      <a:lstStyle>
        <a:defPPr algn="ctr">
          <a:defRPr sz="1200" b="1" dirty="0" smtClean="0">
            <a:solidFill>
              <a:schemeClr val="bg1"/>
            </a:solidFill>
          </a:defRPr>
        </a:defPPr>
      </a:lstStyle>
      <a:style>
        <a:lnRef idx="2">
          <a:schemeClr val="dk1">
            <a:shade val="50000"/>
          </a:schemeClr>
        </a:lnRef>
        <a:fillRef idx="1">
          <a:schemeClr val="dk1"/>
        </a:fillRef>
        <a:effectRef idx="0">
          <a:schemeClr val="dk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Macintosh PowerPoint</Application>
  <PresentationFormat>화면 슬라이드 쇼(4:3)</PresentationFormat>
  <Paragraphs>0</Paragraphs>
  <Slides>44</Slides>
  <Notes>35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44</vt:i4>
      </vt:variant>
    </vt:vector>
  </HeadingPairs>
  <TitlesOfParts>
    <vt:vector size="48" baseType="lpstr">
      <vt:lpstr>맑은 고딕</vt:lpstr>
      <vt:lpstr>Arial</vt:lpstr>
      <vt:lpstr>Wingdings</vt:lpstr>
      <vt:lpstr>4_Office 테마</vt:lpstr>
      <vt:lpstr>01. OOAD 개요 목차 (1/2)</vt:lpstr>
      <vt:lpstr>01. OOAD 개요 목차 (2/2)</vt:lpstr>
      <vt:lpstr>01. 세션 목표</vt:lpstr>
      <vt:lpstr>02. SW 개발의 재작업</vt:lpstr>
      <vt:lpstr>03. 미사용 기능</vt:lpstr>
      <vt:lpstr>04. 범위와 가치 (1/2)</vt:lpstr>
      <vt:lpstr>04. 범위와 가치 (2/2)</vt:lpstr>
      <vt:lpstr>05. 문제 → 요구사항 → 해결책 (1/2)</vt:lpstr>
      <vt:lpstr>05. 문제 → 요구사항 → 해결책 (2/2)</vt:lpstr>
      <vt:lpstr>06. 이벤트 관점</vt:lpstr>
      <vt:lpstr>07. 본질적 어려움과 우연적 어려움</vt:lpstr>
      <vt:lpstr>08. 주문 취소의 복잡성</vt:lpstr>
      <vt:lpstr>09. 분석과 설계 (1/2)</vt:lpstr>
      <vt:lpstr>09. 분석과 설계 (2/2)</vt:lpstr>
      <vt:lpstr>10. 결정 경계</vt:lpstr>
      <vt:lpstr>11. 분석·설계의 진화</vt:lpstr>
      <vt:lpstr>12. 맥락과 접근법 (1/2)</vt:lpstr>
      <vt:lpstr>12. 맥락과 접근법 (2/2)</vt:lpstr>
      <vt:lpstr>13. 통합 모델링 언어</vt:lpstr>
      <vt:lpstr>14. 클래스 다이어그램</vt:lpstr>
      <vt:lpstr>15. 시스템 시퀀스 다이어그램</vt:lpstr>
      <vt:lpstr>16. 분석 시퀀스 다이어그램</vt:lpstr>
      <vt:lpstr>17. 커뮤니케이션 다이어그램</vt:lpstr>
      <vt:lpstr>18. 상태 기계 다이어그램</vt:lpstr>
      <vt:lpstr>19. 요구에서 테스트로 (1/2)</vt:lpstr>
      <vt:lpstr>19. 요구에서 테스트로 (2/2)</vt:lpstr>
      <vt:lpstr>20. 소프트웨어 아키텍처</vt:lpstr>
      <vt:lpstr>21. 책임과 경계</vt:lpstr>
      <vt:lpstr>22. 메시지와 협력</vt:lpstr>
      <vt:lpstr>23. 분석 모델에서 설계 모델로 (1/2)</vt:lpstr>
      <vt:lpstr>23. 분석 모델에서 설계 모델로 (2/2)</vt:lpstr>
      <vt:lpstr>24. 적정 분석·설계</vt:lpstr>
      <vt:lpstr>25. 북 스마트와 스트리트 스마트</vt:lpstr>
      <vt:lpstr>26. KISS·DRY·YAGNI</vt:lpstr>
      <vt:lpstr>27. 피드백 (1/2)</vt:lpstr>
      <vt:lpstr>27. 피드백 (2/2)</vt:lpstr>
      <vt:lpstr>28. 흔한 오해</vt:lpstr>
      <vt:lpstr>29. 전문 영역으로의 확장</vt:lpstr>
      <vt:lpstr>30. 도메인 주도 설계</vt:lpstr>
      <vt:lpstr>31. 온톨로지</vt:lpstr>
      <vt:lpstr>32. AI 기반 소프트웨어공학</vt:lpstr>
      <vt:lpstr>33. 실습 — 문제·요구사항·해결책</vt:lpstr>
      <vt:lpstr>34. 실습 — 검토 예시(모범답안)</vt:lpstr>
      <vt:lpstr>35. 요약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01. OOAD 개요</dc:title>
  <dc:creator>Kim YoungSan</dc:creator>
  <cp:lastModifiedBy>Youngon Kim</cp:lastModifiedBy>
  <cp:revision>42</cp:revision>
  <dcterms:created xsi:type="dcterms:W3CDTF">2021-02-25T22:04:20Z</dcterms:created>
  <dcterms:modified xsi:type="dcterms:W3CDTF">2026-09-21T23:10:41Z</dcterms:modified>
</cp:coreProperties>
</file>