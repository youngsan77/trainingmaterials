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전체의 지도를 제시하고, 다섯 다이어그램은 코드와 함께 미리 보여 준다.</a:t>
            </a:r>
          </a:p>
          <a:p>
            <a:pPr lvl="0"/>
            <a:r>
              <a:rPr lang="ko-KR" sz="1200"/>
              <a:t>세부 개념은 뒤 세션에서 같은 사례를 반복하며 깊게 다룬다. 원칙은 guides/sw-engineering-principles.md를 따른다.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재작업 인용 근거: Barry Boehm·Victor R. Basili, ["Software Defect Reduction Top 10 List"](https://www.cs.umd.edu/users/basili/publications/journals/J81.pdf), *IEEE Computer* 34(1):135–137, 2001, 항목 TWO 원문 확인. 같은 항목은 재작업을 "더 일찍 발견해 더 싸게 고칠 수 있었던 문제에 쓴 노력"으로 정의한다.</a:t>
            </a:r>
          </a:p>
          <a:p>
            <a:pPr lvl="0"/>
            <a:r>
              <a:rPr lang="ko-KR" sz="1200"/>
              <a:t>요구사항 오류 인용 근거: Karl Wiegers, "When Bad Requirements Happen to Nice People", Jama Software 블로그(2013). 이 글은 수치의 출처를 밝히지 않는다.</a:t>
            </a:r>
          </a:p>
          <a:p>
            <a:pPr lvl="0"/>
            <a:r>
              <a:rPr lang="ko-KR" sz="1200"/>
              <a:t>수치의 원전으로 알려진 Leffingwell, "Calculating the Return on Investment from More Effective Requirements Management", *American Programmer* 10(4), 1997은 확인하지 못했다. IfSQ는 같은 원전을 "요구사항 변경이 재작업의 70~85%"로 요약한다(IfSQ, "70% of rework caused by changing requirements"). 재인용처마다 오류·변경으로 해석이 갈리므로 원전의 수치로 단정하지 않는다.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사용 빈도 수치는 XP2002 발표를 인용한 여러 매체에서 확인했다(www). 표본 성격(4개 회사 내부 애플리케이션)은 Cohn이 Standish Group에 직접 문의해 확인한 내용이다. 원 조사 데이터·관찰 기간·측정 기준 자체는 직접 확인하지 못했다.</a:t>
            </a:r>
          </a:p>
          <a:p>
            <a:pPr lvl="0"/>
            <a:r>
              <a:rPr lang="ko-KR" sz="1200"/>
              <a:t>앞의 가치 판단 예는 교육용 사례이며 위 조사에서 얻은 결론이 아니다.</a:t>
            </a:r>
          </a:p>
          <a:p>
            <a:pPr lvl="0"/>
            <a:r>
              <a:rPr lang="ko-KR" sz="1200"/>
              <a:t>사용 빈도를 가치와 동일시하지 않는다. 운영 복구·감사 등 드물지만 필요한 기능을 반례로 토론한다.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승인된 변경은 무단 확대가 아니다. 경계할 것은 가치 없이 비용과 변경 부담을 키우는 기능과 구조다.</a:t>
            </a:r>
          </a:p>
          <a:p>
            <a:pPr lvl="0"/>
            <a:r>
              <a:rPr lang="ko-KR" sz="1200"/>
              <a:t>범위의 무단 확대는 일정·비용·자원에 미치는 영향을 조정하거나 승인받지 않은 확대다. 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해석은 고객이 현재 직접 취소할 수 없다는 가정에 따른 것이다. 요청만으로 그 원인이 확인된 것은 아니다.</a:t>
            </a:r>
          </a:p>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사용자 이야기, 도메인 이벤트가 모두 이벤트를 출발점으로 삼는다는 근거는 "02. 요구 분석과 유스케이스"의 「07. 이벤트 중심 요구」·「08. 이벤트 중심 기법」에서 다룬다.</a:t>
            </a:r>
          </a:p>
          <a:p>
            <a:pPr lvl="0"/>
            <a:r>
              <a:rPr lang="ko-KR" sz="1200"/>
              <a:t>화면·기술 요소를 요구에 섞는 잘못된 관행은 "02. 요구 분석과 유스케이스"의 「36. 잘못된 관행 — 화면·기술 요소」에서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Brooks, "No Silver Bullet — Essence and Accidents of Software Engineering", UNC Technical Report TR86-020(1986), Essential Difficulties의 Complexity 원문 확인.</a:t>
            </a:r>
          </a:p>
          <a:p>
            <a:pPr lvl="0"/>
            <a:r>
              <a:rPr lang="ko-KR" sz="1200"/>
              <a:t>기술은 우연적 어려움을 줄일 수 있지만 본질적 어려움을 제거하지는 못한다.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본질적 어려움과 우연적 어려움」에서 정의한 본질적·우연적 어려움이 주문 취소에 어떻게 나타나는지 연결한다.</a:t>
            </a:r>
          </a:p>
          <a:p>
            <a:pPr lvl="0"/>
            <a:r>
              <a:rPr lang="ko-KR" sz="1200"/>
              <a:t>예시의 구현 기술을 본질적 업무 규칙으로 혼동하지 않도록 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개발 절차에서는 분석과 설계가 반복되고 섞일 수 있다.</a:t>
            </a:r>
          </a:p>
          <a:p>
            <a:pPr lvl="0"/>
            <a:r>
              <a:rPr lang="ko-KR" sz="1200"/>
              <a:t>사고에서는 문제와 해결책을 구분한다.</a:t>
            </a:r>
          </a:p>
          <a:p>
            <a:pPr lvl="0"/>
            <a:r>
              <a:rPr lang="ko-KR" sz="1200"/>
              <a:t>Booch, *Object-Oriented Analysis and Design with Applications*(2nd ed., 1994) 원서 본문은 미확인이다(www). 재인용처: tutorialspoint, "OOAD — Object Oriented Paradigm". 정의의 영어 문구가 이 페이지와 일치함을 확인했다.</a:t>
            </a:r>
          </a:p>
          <a:p>
            <a:pPr lvl="0"/>
            <a:r>
              <a:rPr lang="ko-KR" sz="1200"/>
              <a:t>유스케이스는 요구 입력이며 그 자체로 객체 모델은 아니다. 도메인 개념 분석과 객체 설계의 출발점으로 사용한다.</a:t>
            </a:r>
          </a:p>
          <a:p>
            <a:pPr lvl="0"/>
            <a:r>
              <a:rPr lang="ko-KR" sz="1200"/>
              <a:t>"03. 정적 모델 — 도메인 개념과 관계"·"04. 동적 모델 — 상호작용과 상태"에서 의미를 분석하고 "06. 분석 모델에서 설계 모델로"·"07. 책임·협력·계약"에서 설계 판단으로 연결한다.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문제다(「27. 피드백」).</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성숙도가 낮을 때의 보완 — 고객의 요구 표현이 낮으면 관찰·예시·프로토타입으로, 개발자의 도메인 이해가 낮으면 이벤트·용어를 합의한 모델로, 기술 숙련이 낮으면 스파이크·작은 구현으로, 팀워크가 낮으면 결정 근거를 명시하고 짧은 주기로 맞춘다.</a:t>
            </a:r>
          </a:p>
          <a:p>
            <a:pPr lvl="0"/>
            <a:r>
              <a:rPr lang="ko-KR" sz="1200"/>
              <a:t>접근별 비교는 "02. 요구 분석과 유스케이스"의 「09. 반복적 접근」, 누가 요구를 아는지와 불확실성에 따른 경우별 접근은 "02. 요구 분석과 유스케이스"의 「13. 누가 요구를 아는가?」·「14. 업무·기술 불확실성」·「15. 경우별 접근법」에서 다룬다.</a:t>
            </a:r>
          </a:p>
          <a:p>
            <a:pPr lvl="0"/>
            <a:r>
              <a:rPr lang="ko-KR" sz="1200"/>
              <a:t>성숙도가 높으면 대화·스케치·코드·테스트로 가볍게 간다. 모델의 개수가 품질의 척도는 아니다.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OMG의 UML 소개 페이지(omg.org/uml) 원문 확인. 영어는 그 페이지 문장의 발췌다.</a:t>
            </a:r>
          </a:p>
          <a:p>
            <a:pPr lvl="0"/>
            <a:r>
              <a:rPr lang="ko-KR" sz="1200"/>
              <a:t>UML의 통합 배경은 OMG [UML 2.5.1](https://www.omg.org/spec/UML/2.5.1/PDF), §1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표기와 도메인 모델은 "03. 정적 모델 — 도메인 개념과 관계"의 「09. 클래스 다이어그램」, 설계로의 전환은 "06. 분석 모델에서 설계 모델로"에서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SSD와 시스템 오퍼레이션은 "02. 요구 분석과 유스케이스"의 「40. 시스템 시퀀스 다이어그램」·「43. 정제된 SSD」에서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도메인 객체의 상호작용은 "04. 동적 모델 — 상호작용과 상태"의 「19. 시퀀스 다이어그램」에서 다룬다. 설계 객체의 상호작용은 "07. 책임·협력·계약"에서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표기와 시퀀스와의 비교는 "04. 동적 모델 — 상호작용과 상태"의 「28. 커뮤니케이션 다이어그램」에서 다룬다.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상태 값은 "03. 정적 모델 — 도메인 개념과 관계"의 「06. 상태 값과 상태 전이」와 같다. 취소는 결제 완료·배송 시작 전 주문만 할 수 있다는 "02. 요구 분석과 유스케이스"의 전제를 따른다.</a:t>
            </a:r>
          </a:p>
          <a:p>
            <a:pPr lvl="0"/>
            <a:r>
              <a:rPr lang="ko-KR" sz="1200"/>
              <a:t>결제·배송 시스템의 통보와 취소 처리 중 상태까지 포함한 주문의 생애는 "04. 동적 모델 — 상호작용과 상태"의 「32. 상태 기계 다이어그램」·「33. 주문 상태 기계」에서 다룬다.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 통과가 정책의 결정은 아니다. 미확정 정책은 테스트 기대값으로 대신 정하지 않는다.</a:t>
            </a:r>
          </a:p>
          <a:p>
            <a:pPr lvl="0"/>
            <a:r>
              <a:rPr lang="ko-KR" sz="1200"/>
              <a:t>요구 예시와 행위 주도 개발은 "02. 요구 분석과 유스케이스"의 「50. 행위 주도 개발」에서 다룬다.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아키텍처를 문서나 다이어그램 자체와 동일시하지 않는다. 위 정의의 ISO/IEC/IEEE 42010 표준 본문은 미확인이다(www). 재인용처: 42010 정의를 그대로 재수록한 NIST 공식 용어집(CSRC Glossary, "architecture")에서 영어 문구를 확인했다.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경계는 "05. 구조적 경계와 의존성", 책임 배치는 "07. 책임·협력·계약"에서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Alan Kay가 Stefan Ram에게 보낸 이메일(2003-07-23). Stefan Ram이 공개한 원문 페이지에서 확인했다.</a:t>
            </a:r>
          </a:p>
          <a:p>
            <a:pPr lvl="0"/>
            <a:r>
              <a:rPr lang="ko-KR" sz="1200"/>
              <a:t>객체지향을 클래스와 상속만으로 설명하지 않는다. 객체는 데이터를 담는 단위가 아니라, 정보와 규칙으로 판단하는 단위다.</a:t>
            </a:r>
          </a:p>
          <a:p>
            <a:pPr lvl="0"/>
            <a:r>
              <a:rPr lang="ko-KR" sz="1200"/>
              <a:t>출고 중단이 먼저인 이유 — 이미 출고됐다면 환불하면 안 된다.</a:t>
            </a:r>
          </a:p>
          <a:p>
            <a:pPr lvl="0"/>
            <a:r>
              <a:rPr lang="ko-KR" sz="1200"/>
              <a:t>순서는 "04. 동적 모델 — 상호작용과 상태"의 「26. 주문 취소 시퀀스」, 설계는 "06. 분석 모델에서 설계 모델로"의 「24. 주문 취소 설계 시퀀스」와 같다. 외부 시스템과의 형식은 연동이 맡는다("05. 구조적 경계와 의존성").</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경계마다 명시할 것과 열어 둘 것은 「10. 결정 경계」의 표와 같다(요구 → 분석은 의도·범위·예시, 분석 → 설계는 용어·규칙·상태, 설계 → 코드는 책임·협력·계약).</a:t>
            </a:r>
          </a:p>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「07. 본질적 어려움과 우연적 어려움」과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구현과 테스트는 앞선 판단에 대한 피드백이다.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오해는 앞 topic과 연결된다: 「13. 통합 모델링 언어」, 「09. 분석과 설계」, 「23. 분석 모델에서 설계 모델로」, 「21. 책임과 경계」·「22. 메시지와 협력」, 「07. 본질적 어려움과 우연적 어려움」, 「24. 적정 분석·설계」·「27. 피드백」. 절차만 갖추는 오해와 해 보기만 하는 오해는 「25. 북 스마트와 스트리트 스마트」에서 다뤘다.</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"13. OOAD에서 전문영역으로 — Architecture · DDD · MSA"와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Tackling Complexity in the Heart of Software*(Addison-Wesley, 판권면 © 2004), Part II "The Building Blocks of a Model-Driven Design" 서두 원문 확인. 한글은 원문 세 문장의 핵심 요약이다.</a:t>
            </a:r>
          </a:p>
          <a:p>
            <a:pPr lvl="0"/>
            <a:r>
              <a:rPr lang="ko-KR" sz="1200"/>
              <a:t>같은 서두는 이 책이 객체지향 설계 입문서가 아니며 몇몇 전통적인 생각의 강조점을 옮긴다고 말한다("This book is not an introduction to object-oriented design … Domain-driven design shifts the emphasis of certain conventional ideas.").</a:t>
            </a:r>
          </a:p>
          <a:p>
            <a:pPr lvl="0"/>
            <a:r>
              <a:rPr lang="ko-KR" sz="1200"/>
              <a:t>이 과정은 그 연결을 "13. OOAD에서 전문영역으로 — Architecture · DDD · MSA"에서 소개한다. 전략적·전술적 설계는 개괄 수준에서만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Thomas R. Gruber, "A Translation Approach to Portable Ontology Specifications", *Knowledge Acquisition* 5(2):199–220, 1993 원문 확인.</a:t>
            </a:r>
          </a:p>
          <a:p>
            <a:pPr lvl="0"/>
            <a:r>
              <a:rPr lang="ko-KR" sz="1200"/>
              <a:t>세 관심의 연결은 이 과정의 교육용 정리다. Gruber가 OOAD→DDD→온톨로지 순서를 제안했다는 의미가 아니다. 셋 모두 설계 판단의 근거가 되고, 구현·검증의 증거로 다시 고쳐진다.</a:t>
            </a:r>
          </a:p>
          <a:p>
            <a:pPr lvl="0"/>
            <a:r>
              <a:rPr lang="ko-KR" sz="1200"/>
              <a:t>LLM에 모델을 제공하는 것만으로 동일한 해석이 보장되지는 않는다. 구체적인 사례와 검증으로 확인한다.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보편적인 역할 표준이 아니라 검증과 책임 소재를 분명히 하기 위한 이 과정의 운영 원칙이다. 절대적인 기술 경계가 아니라 주도권과 책임의 구분이다.</a:t>
            </a:r>
          </a:p>
          <a:p>
            <a:pPr lvl="0"/>
            <a:r>
              <a:rPr lang="ko-KR" sz="1200"/>
              <a:t>가드레일(Guardrail)·에이전트(Agent)·하네스(Harness)는 "14. AI-native SW공학"에서 상세히 다룬다.</a:t>
            </a:r>
          </a:p>
          <a:p>
            <a:pPr lvl="0"/>
            <a:r>
              <a:rPr lang="ko-KR" sz="1200"/>
              <a:t>인간이 최종 책임진다는 것은 모든 산출물을 직접 작성한다는 뜻이 아니다. AI 중심 실행은 충분한 맥락·제약·명세·검증을 전제로 한다.</a:t>
            </a:r>
          </a:p>
          <a:p>
            <a:pPr lvl="0"/>
            <a:r>
              <a:rPr lang="ko-KR" sz="1200"/>
              <a:t>객체지향 분석·설계는 사라지지 않으며 인간과 AI의 협업 방식으로 수행된다.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실습은 모든 세션이 이어 쓰는 정기배송 시스템의 신규 개발 시나리오다. 강의의 주문 사례와 방법은 같지만 모델을 그대로 옮길 수는 없다.</a:t>
            </a:r>
          </a:p>
          <a:p>
            <a:pPr lvl="0"/>
            <a:r>
              <a:rPr lang="ko-KR" sz="1200"/>
              <a:t>LLM 사용 — 도구는 제한하지 않는다. LLM의 초안은 검토 전의 가설이며, 초안을 그대로 제출하지 않는다. 평가는 초안이 아니라 고친 곳과 그 이유를 본다.</a:t>
            </a:r>
          </a:p>
          <a:p>
            <a:pPr lvl="0"/>
            <a:r>
              <a:rPr lang="ko-KR" sz="1200"/>
              <a:t>LLM이 되묻는 질문에 수강생이 업무 담당자처럼 답해 규칙을 정한다. 답할 수 없는 질문만 미확정으로 남기고 이유를 적는다.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점검 항목과 규칙의 대응 — 결제는 R5~R7, 주기·기간은 R1~R3, 취소·반품·해지는 R8~R11이다.</a:t>
            </a:r>
          </a:p>
          <a:p>
            <a:pPr lvl="0"/>
            <a:r>
              <a:rPr lang="ko-KR" sz="1200"/>
              <a:t>숫자(28일, 12개월, 7일, 3일, 3,000원)는 교육용 가정이다. 수강생의 답이 달라도 정해져 있으면 맞다.</a:t>
            </a:r>
          </a:p>
          <a:p>
            <a:pPr lvl="0"/>
            <a:r>
              <a:rPr lang="ko-KR" sz="1200"/>
              <a:t>LLM 초안에서 고칠 곳의 예 — "결제 화면에서 카드 번호를 입력한다" 같은 기술 표현, 개요에 없는 규칙을 묻지 않고 단정한 것.</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「29.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SW 개발의 재작업</a:t>
            </a:r>
          </a:p>
          <a:p>
            <a:pPr lvl="1" marL="355600" indent="0">
              <a:spcBef>
                <a:spcPts val="300"/>
              </a:spcBef>
              <a:spcAft>
                <a:spcPts val="300"/>
              </a:spcAft>
              <a:buNone/>
            </a:pPr>
            <a:r>
              <a:rPr sz="1600" b="0">
                <a:solidFill>
                  <a:srgbClr val="000000"/>
                </a:solidFill>
                <a:latin typeface="맑은 고딕"/>
                <a:ea typeface="맑은 고딕"/>
              </a:rPr>
              <a:t>03. 미사용 기능</a:t>
            </a:r>
          </a:p>
          <a:p>
            <a:pPr lvl="1" marL="355600" indent="0">
              <a:spcBef>
                <a:spcPts val="300"/>
              </a:spcBef>
              <a:spcAft>
                <a:spcPts val="300"/>
              </a:spcAft>
              <a:buNone/>
            </a:pPr>
            <a:r>
              <a:rPr sz="1600" b="0">
                <a:solidFill>
                  <a:srgbClr val="000000"/>
                </a:solidFill>
                <a:latin typeface="맑은 고딕"/>
                <a:ea typeface="맑은 고딕"/>
              </a:rPr>
              <a:t>04. 범위와 가치</a:t>
            </a:r>
          </a:p>
          <a:p>
            <a:pPr lvl="1" marL="355600" indent="0">
              <a:spcBef>
                <a:spcPts val="300"/>
              </a:spcBef>
              <a:spcAft>
                <a:spcPts val="300"/>
              </a:spcAft>
              <a:buNone/>
            </a:pPr>
            <a:r>
              <a:rPr sz="1600" b="0">
                <a:solidFill>
                  <a:srgbClr val="000000"/>
                </a:solidFill>
                <a:latin typeface="맑은 고딕"/>
                <a:ea typeface="맑은 고딕"/>
              </a:rPr>
              <a:t>05. 문제 → 요구사항 → 해결책</a:t>
            </a:r>
          </a:p>
          <a:p>
            <a:pPr lvl="1" marL="355600" indent="0">
              <a:spcBef>
                <a:spcPts val="300"/>
              </a:spcBef>
              <a:spcAft>
                <a:spcPts val="300"/>
              </a:spcAft>
              <a:buNone/>
            </a:pPr>
            <a:r>
              <a:rPr sz="1600" b="0">
                <a:solidFill>
                  <a:srgbClr val="000000"/>
                </a:solidFill>
                <a:latin typeface="맑은 고딕"/>
                <a:ea typeface="맑은 고딕"/>
              </a:rPr>
              <a:t>06. 이벤트 관점</a:t>
            </a:r>
          </a:p>
          <a:p>
            <a:pPr lvl="1" marL="355600" indent="0">
              <a:spcBef>
                <a:spcPts val="300"/>
              </a:spcBef>
              <a:spcAft>
                <a:spcPts val="300"/>
              </a:spcAft>
              <a:buNone/>
            </a:pPr>
            <a:r>
              <a:rPr sz="1600" b="0">
                <a:solidFill>
                  <a:srgbClr val="000000"/>
                </a:solidFill>
                <a:latin typeface="맑은 고딕"/>
                <a:ea typeface="맑은 고딕"/>
              </a:rPr>
              <a:t>07. 본질적 어려움과 우연적 어려움</a:t>
            </a:r>
          </a:p>
          <a:p>
            <a:pPr lvl="1" marL="355600" indent="0">
              <a:spcBef>
                <a:spcPts val="300"/>
              </a:spcBef>
              <a:spcAft>
                <a:spcPts val="300"/>
              </a:spcAft>
              <a:buNone/>
            </a:pPr>
            <a:r>
              <a:rPr sz="1600" b="0">
                <a:solidFill>
                  <a:srgbClr val="000000"/>
                </a:solidFill>
                <a:latin typeface="맑은 고딕"/>
                <a:ea typeface="맑은 고딕"/>
              </a:rPr>
              <a:t>08. 주문 취소의 복잡성</a:t>
            </a:r>
          </a:p>
          <a:p>
            <a:pPr lvl="1" marL="355600" indent="0">
              <a:spcBef>
                <a:spcPts val="300"/>
              </a:spcBef>
              <a:spcAft>
                <a:spcPts val="300"/>
              </a:spcAft>
              <a:buNone/>
            </a:pPr>
            <a:r>
              <a:rPr sz="1600" b="0">
                <a:solidFill>
                  <a:srgbClr val="000000"/>
                </a:solidFill>
                <a:latin typeface="맑은 고딕"/>
                <a:ea typeface="맑은 고딕"/>
              </a:rPr>
              <a:t>09. 분석과 설계</a:t>
            </a:r>
          </a:p>
          <a:p>
            <a:pPr lvl="1" marL="355600" indent="0">
              <a:spcBef>
                <a:spcPts val="300"/>
              </a:spcBef>
              <a:spcAft>
                <a:spcPts val="300"/>
              </a:spcAft>
              <a:buNone/>
            </a:pPr>
            <a:r>
              <a:rPr sz="1600" b="0">
                <a:solidFill>
                  <a:srgbClr val="000000"/>
                </a:solidFill>
                <a:latin typeface="맑은 고딕"/>
                <a:ea typeface="맑은 고딕"/>
              </a:rPr>
              <a:t>10. 결정 경계</a:t>
            </a:r>
          </a:p>
          <a:p>
            <a:pPr lvl="1" marL="355600" indent="0">
              <a:spcBef>
                <a:spcPts val="300"/>
              </a:spcBef>
              <a:spcAft>
                <a:spcPts val="300"/>
              </a:spcAft>
              <a:buNone/>
            </a:pPr>
            <a:r>
              <a:rPr sz="1600" b="0">
                <a:solidFill>
                  <a:srgbClr val="000000"/>
                </a:solidFill>
                <a:latin typeface="맑은 고딕"/>
                <a:ea typeface="맑은 고딕"/>
              </a:rPr>
              <a:t>11. 분석·설계 방법</a:t>
            </a:r>
          </a:p>
          <a:p>
            <a:pPr lvl="1" marL="355600" indent="0">
              <a:spcBef>
                <a:spcPts val="300"/>
              </a:spcBef>
              <a:spcAft>
                <a:spcPts val="300"/>
              </a:spcAft>
              <a:buNone/>
            </a:pPr>
            <a:r>
              <a:rPr sz="1600" b="0">
                <a:solidFill>
                  <a:srgbClr val="000000"/>
                </a:solidFill>
                <a:latin typeface="맑은 고딕"/>
                <a:ea typeface="맑은 고딕"/>
              </a:rPr>
              <a:t>12. 맥락과 접근법</a:t>
            </a:r>
          </a:p>
          <a:p>
            <a:pPr lvl="1" marL="355600" indent="0">
              <a:spcBef>
                <a:spcPts val="300"/>
              </a:spcBef>
              <a:spcAft>
                <a:spcPts val="300"/>
              </a:spcAft>
              <a:buNone/>
            </a:pPr>
            <a:r>
              <a:rPr sz="1600" b="0">
                <a:solidFill>
                  <a:srgbClr val="000000"/>
                </a:solidFill>
                <a:latin typeface="맑은 고딕"/>
                <a:ea typeface="맑은 고딕"/>
              </a:rPr>
              <a:t>13. 통합 모델링 언어</a:t>
            </a:r>
          </a:p>
          <a:p>
            <a:pPr lvl="1" marL="355600" indent="0">
              <a:spcBef>
                <a:spcPts val="300"/>
              </a:spcBef>
              <a:spcAft>
                <a:spcPts val="300"/>
              </a:spcAft>
              <a:buNone/>
            </a:pPr>
            <a:r>
              <a:rPr sz="1600" b="0">
                <a:solidFill>
                  <a:srgbClr val="000000"/>
                </a:solidFill>
                <a:latin typeface="맑은 고딕"/>
                <a:ea typeface="맑은 고딕"/>
              </a:rPr>
              <a:t>14. 클래스 다이어그램</a:t>
            </a:r>
          </a:p>
          <a:p>
            <a:pPr lvl="1" marL="355600" indent="0">
              <a:spcBef>
                <a:spcPts val="300"/>
              </a:spcBef>
              <a:spcAft>
                <a:spcPts val="300"/>
              </a:spcAft>
              <a:buNone/>
            </a:pPr>
            <a:r>
              <a:rPr sz="1600" b="0">
                <a:solidFill>
                  <a:srgbClr val="000000"/>
                </a:solidFill>
                <a:latin typeface="맑은 고딕"/>
                <a:ea typeface="맑은 고딕"/>
              </a:rPr>
              <a:t>15. 시스템 시퀀스 다이어그램</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분석 시퀀스 다이어그램</a:t>
            </a:r>
          </a:p>
          <a:p>
            <a:pPr lvl="1" marL="355600" indent="0">
              <a:spcBef>
                <a:spcPts val="300"/>
              </a:spcBef>
              <a:spcAft>
                <a:spcPts val="300"/>
              </a:spcAft>
              <a:buNone/>
            </a:pPr>
            <a:r>
              <a:rPr sz="1600" b="0">
                <a:solidFill>
                  <a:srgbClr val="000000"/>
                </a:solidFill>
                <a:latin typeface="맑은 고딕"/>
                <a:ea typeface="맑은 고딕"/>
              </a:rPr>
              <a:t>17. 커뮤니케이션 다이어그램</a:t>
            </a:r>
          </a:p>
          <a:p>
            <a:pPr lvl="1" marL="355600" indent="0">
              <a:spcBef>
                <a:spcPts val="300"/>
              </a:spcBef>
              <a:spcAft>
                <a:spcPts val="300"/>
              </a:spcAft>
              <a:buNone/>
            </a:pPr>
            <a:r>
              <a:rPr sz="1600" b="0">
                <a:solidFill>
                  <a:srgbClr val="000000"/>
                </a:solidFill>
                <a:latin typeface="맑은 고딕"/>
                <a:ea typeface="맑은 고딕"/>
              </a:rPr>
              <a:t>18. 상태 기계 다이어그램</a:t>
            </a:r>
          </a:p>
          <a:p>
            <a:pPr lvl="1" marL="355600" indent="0">
              <a:spcBef>
                <a:spcPts val="300"/>
              </a:spcBef>
              <a:spcAft>
                <a:spcPts val="300"/>
              </a:spcAft>
              <a:buNone/>
            </a:pPr>
            <a:r>
              <a:rPr sz="1600" b="0">
                <a:solidFill>
                  <a:srgbClr val="000000"/>
                </a:solidFill>
                <a:latin typeface="맑은 고딕"/>
                <a:ea typeface="맑은 고딕"/>
              </a:rPr>
              <a:t>19. 요구에서 테스트로</a:t>
            </a:r>
          </a:p>
          <a:p>
            <a:pPr lvl="1" marL="355600" indent="0">
              <a:spcBef>
                <a:spcPts val="300"/>
              </a:spcBef>
              <a:spcAft>
                <a:spcPts val="300"/>
              </a:spcAft>
              <a:buNone/>
            </a:pPr>
            <a:r>
              <a:rPr sz="1600" b="0">
                <a:solidFill>
                  <a:srgbClr val="000000"/>
                </a:solidFill>
                <a:latin typeface="맑은 고딕"/>
                <a:ea typeface="맑은 고딕"/>
              </a:rPr>
              <a:t>20. 소프트웨어 아키텍처</a:t>
            </a:r>
          </a:p>
          <a:p>
            <a:pPr lvl="1" marL="355600" indent="0">
              <a:spcBef>
                <a:spcPts val="300"/>
              </a:spcBef>
              <a:spcAft>
                <a:spcPts val="300"/>
              </a:spcAft>
              <a:buNone/>
            </a:pPr>
            <a:r>
              <a:rPr sz="1600" b="0">
                <a:solidFill>
                  <a:srgbClr val="000000"/>
                </a:solidFill>
                <a:latin typeface="맑은 고딕"/>
                <a:ea typeface="맑은 고딕"/>
              </a:rPr>
              <a:t>21. 책임과 경계</a:t>
            </a:r>
          </a:p>
          <a:p>
            <a:pPr lvl="1" marL="355600" indent="0">
              <a:spcBef>
                <a:spcPts val="300"/>
              </a:spcBef>
              <a:spcAft>
                <a:spcPts val="300"/>
              </a:spcAft>
              <a:buNone/>
            </a:pPr>
            <a:r>
              <a:rPr sz="1600" b="0">
                <a:solidFill>
                  <a:srgbClr val="000000"/>
                </a:solidFill>
                <a:latin typeface="맑은 고딕"/>
                <a:ea typeface="맑은 고딕"/>
              </a:rPr>
              <a:t>22. 메시지와 협력</a:t>
            </a:r>
          </a:p>
          <a:p>
            <a:pPr lvl="1" marL="355600" indent="0">
              <a:spcBef>
                <a:spcPts val="300"/>
              </a:spcBef>
              <a:spcAft>
                <a:spcPts val="300"/>
              </a:spcAft>
              <a:buNone/>
            </a:pPr>
            <a:r>
              <a:rPr sz="1600" b="0">
                <a:solidFill>
                  <a:srgbClr val="000000"/>
                </a:solidFill>
                <a:latin typeface="맑은 고딕"/>
                <a:ea typeface="맑은 고딕"/>
              </a:rPr>
              <a:t>23. 분석 모델에서 설계 모델로</a:t>
            </a:r>
          </a:p>
          <a:p>
            <a:pPr lvl="1" marL="355600" indent="0">
              <a:spcBef>
                <a:spcPts val="300"/>
              </a:spcBef>
              <a:spcAft>
                <a:spcPts val="300"/>
              </a:spcAft>
              <a:buNone/>
            </a:pPr>
            <a:r>
              <a:rPr sz="1600" b="0">
                <a:solidFill>
                  <a:srgbClr val="000000"/>
                </a:solidFill>
                <a:latin typeface="맑은 고딕"/>
                <a:ea typeface="맑은 고딕"/>
              </a:rPr>
              <a:t>24. 적정 분석·설계</a:t>
            </a:r>
          </a:p>
          <a:p>
            <a:pPr lvl="1" marL="355600" indent="0">
              <a:spcBef>
                <a:spcPts val="300"/>
              </a:spcBef>
              <a:spcAft>
                <a:spcPts val="300"/>
              </a:spcAft>
              <a:buNone/>
            </a:pPr>
            <a:r>
              <a:rPr sz="1600" b="0">
                <a:solidFill>
                  <a:srgbClr val="000000"/>
                </a:solidFill>
                <a:latin typeface="맑은 고딕"/>
                <a:ea typeface="맑은 고딕"/>
              </a:rPr>
              <a:t>25. 북 스마트와 스트리트 스마트</a:t>
            </a:r>
          </a:p>
          <a:p>
            <a:pPr lvl="1" marL="355600" indent="0">
              <a:spcBef>
                <a:spcPts val="300"/>
              </a:spcBef>
              <a:spcAft>
                <a:spcPts val="300"/>
              </a:spcAft>
              <a:buNone/>
            </a:pPr>
            <a:r>
              <a:rPr sz="1600" b="0">
                <a:solidFill>
                  <a:srgbClr val="000000"/>
                </a:solidFill>
                <a:latin typeface="맑은 고딕"/>
                <a:ea typeface="맑은 고딕"/>
              </a:rPr>
              <a:t>26. KISS·DRY·YAGNI</a:t>
            </a:r>
          </a:p>
          <a:p>
            <a:pPr lvl="1" marL="355600" indent="0">
              <a:spcBef>
                <a:spcPts val="300"/>
              </a:spcBef>
              <a:spcAft>
                <a:spcPts val="300"/>
              </a:spcAft>
              <a:buNone/>
            </a:pPr>
            <a:r>
              <a:rPr sz="1600" b="0">
                <a:solidFill>
                  <a:srgbClr val="000000"/>
                </a:solidFill>
                <a:latin typeface="맑은 고딕"/>
                <a:ea typeface="맑은 고딕"/>
              </a:rPr>
              <a:t>27. 피드백</a:t>
            </a:r>
          </a:p>
          <a:p>
            <a:pPr lvl="1" marL="355600" indent="0">
              <a:spcBef>
                <a:spcPts val="300"/>
              </a:spcBef>
              <a:spcAft>
                <a:spcPts val="300"/>
              </a:spcAft>
              <a:buNone/>
            </a:pPr>
            <a:r>
              <a:rPr sz="1600" b="0">
                <a:solidFill>
                  <a:srgbClr val="000000"/>
                </a:solidFill>
                <a:latin typeface="맑은 고딕"/>
                <a:ea typeface="맑은 고딕"/>
              </a:rPr>
              <a:t>28. 흔한 오해</a:t>
            </a:r>
          </a:p>
          <a:p>
            <a:pPr lvl="1" marL="355600" indent="0">
              <a:spcBef>
                <a:spcPts val="300"/>
              </a:spcBef>
              <a:spcAft>
                <a:spcPts val="300"/>
              </a:spcAft>
              <a:buNone/>
            </a:pPr>
            <a:r>
              <a:rPr sz="1600" b="0">
                <a:solidFill>
                  <a:srgbClr val="000000"/>
                </a:solidFill>
                <a:latin typeface="맑은 고딕"/>
                <a:ea typeface="맑은 고딕"/>
              </a:rPr>
              <a:t>29. 전문 영역으로의 확장</a:t>
            </a:r>
          </a:p>
          <a:p>
            <a:pPr lvl="1" marL="355600" indent="0">
              <a:spcBef>
                <a:spcPts val="300"/>
              </a:spcBef>
              <a:spcAft>
                <a:spcPts val="300"/>
              </a:spcAft>
              <a:buNone/>
            </a:pPr>
            <a:r>
              <a:rPr sz="1600" b="0">
                <a:solidFill>
                  <a:srgbClr val="000000"/>
                </a:solidFill>
                <a:latin typeface="맑은 고딕"/>
                <a:ea typeface="맑은 고딕"/>
              </a:rPr>
              <a:t>30. 도메인 주도 설계</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온톨로지</a:t>
            </a:r>
          </a:p>
          <a:p>
            <a:pPr lvl="1" marL="355600" indent="0">
              <a:spcBef>
                <a:spcPts val="300"/>
              </a:spcBef>
              <a:spcAft>
                <a:spcPts val="300"/>
              </a:spcAft>
              <a:buNone/>
            </a:pPr>
            <a:r>
              <a:rPr sz="1600" b="0">
                <a:solidFill>
                  <a:srgbClr val="000000"/>
                </a:solidFill>
                <a:latin typeface="맑은 고딕"/>
                <a:ea typeface="맑은 고딕"/>
              </a:rPr>
              <a:t>32. AI 기반 소프트웨어공학</a:t>
            </a:r>
          </a:p>
          <a:p>
            <a:pPr lvl="1" marL="355600" indent="0">
              <a:spcBef>
                <a:spcPts val="300"/>
              </a:spcBef>
              <a:spcAft>
                <a:spcPts val="300"/>
              </a:spcAft>
              <a:buNone/>
            </a:pPr>
            <a:r>
              <a:rPr sz="1600" b="0">
                <a:solidFill>
                  <a:srgbClr val="000000"/>
                </a:solidFill>
                <a:latin typeface="맑은 고딕"/>
                <a:ea typeface="맑은 고딕"/>
              </a:rPr>
              <a:t>33. 실습 —</a:t>
            </a:r>
            <a:r>
              <a:rPr sz="1400" b="0">
                <a:solidFill>
                  <a:srgbClr val="000000"/>
                </a:solidFill>
                <a:latin typeface="맑은 고딕"/>
                <a:ea typeface="맑은 고딕"/>
              </a:rPr>
              <a:t> 요구사항 명세서</a:t>
            </a:r>
          </a:p>
          <a:p>
            <a:pPr lvl="1" marL="355600" indent="0">
              <a:spcBef>
                <a:spcPts val="300"/>
              </a:spcBef>
              <a:spcAft>
                <a:spcPts val="300"/>
              </a:spcAft>
              <a:buNone/>
            </a:pPr>
            <a:r>
              <a:rPr sz="1600" b="0">
                <a:solidFill>
                  <a:srgbClr val="000000"/>
                </a:solidFill>
                <a:latin typeface="맑은 고딕"/>
                <a:ea typeface="맑은 고딕"/>
              </a:rPr>
              <a:t>34. 요구사항 명세서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객체지향 분석·설계가 </a:t>
            </a:r>
            <a:r>
              <a:rPr sz="1800" b="1">
                <a:solidFill>
                  <a:srgbClr val="000000"/>
                </a:solidFill>
                <a:latin typeface="맑은 고딕"/>
                <a:ea typeface="맑은 고딕"/>
              </a:rPr>
              <a:t>무엇을 판단하고 왜 필요한지</a:t>
            </a:r>
            <a:r>
              <a:rPr sz="1800" b="0">
                <a:solidFill>
                  <a:srgbClr val="000000"/>
                </a:solidFill>
                <a:latin typeface="맑은 고딕"/>
                <a:ea typeface="맑은 고딕"/>
              </a:rPr>
              <a:t> 전체 흐름을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분석·설계가 </a:t>
            </a:r>
            <a:r>
              <a:rPr sz="1800" b="1">
                <a:solidFill>
                  <a:srgbClr val="000000"/>
                </a:solidFill>
                <a:latin typeface="맑은 고딕"/>
                <a:ea typeface="맑은 고딕"/>
              </a:rPr>
              <a:t>필요한 이유</a:t>
            </a:r>
            <a:r>
              <a:rPr sz="1800" b="0">
                <a:solidFill>
                  <a:srgbClr val="000000"/>
                </a:solidFill>
                <a:latin typeface="맑은 고딕"/>
                <a:ea typeface="맑은 고딕"/>
              </a:rPr>
              <a:t>를 이해하고, </a:t>
            </a:r>
            <a:r>
              <a:rPr sz="1800" b="1">
                <a:solidFill>
                  <a:srgbClr val="000000"/>
                </a:solidFill>
                <a:latin typeface="맑은 고딕"/>
                <a:ea typeface="맑은 고딕"/>
              </a:rPr>
              <a:t>문제·요구사항·해결책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요구·분석·설계·코드가 각각 </a:t>
            </a:r>
            <a:r>
              <a:rPr sz="1800" b="1">
                <a:solidFill>
                  <a:srgbClr val="000000"/>
                </a:solidFill>
                <a:latin typeface="맑은 고딕"/>
                <a:ea typeface="맑은 고딕"/>
              </a:rPr>
              <a:t>어떤 결정</a:t>
            </a:r>
            <a:r>
              <a:rPr sz="1800" b="0">
                <a:solidFill>
                  <a:srgbClr val="000000"/>
                </a:solidFill>
                <a:latin typeface="맑은 고딕"/>
                <a:ea typeface="맑은 고딕"/>
              </a:rPr>
              <a:t>을 내리고 어디서 검증하는지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요구를 </a:t>
            </a:r>
            <a:r>
              <a:rPr sz="1800" b="1">
                <a:solidFill>
                  <a:srgbClr val="000000"/>
                </a:solidFill>
                <a:latin typeface="맑은 고딕"/>
                <a:ea typeface="맑은 고딕"/>
              </a:rPr>
              <a:t>이벤트 관점</a:t>
            </a:r>
            <a:r>
              <a:rPr sz="1800" b="0">
                <a:solidFill>
                  <a:srgbClr val="000000"/>
                </a:solidFill>
                <a:latin typeface="맑은 고딕"/>
                <a:ea typeface="맑은 고딕"/>
              </a:rPr>
              <a:t>으로 보고, 관점을 섞는 문제를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분석과 객체지향 설계의 역할과 관계를 이해하고, 다이어그램이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800" b="1">
                <a:solidFill>
                  <a:srgbClr val="000000"/>
                </a:solidFill>
                <a:latin typeface="맑은 고딕"/>
                <a:ea typeface="맑은 고딕"/>
              </a:rPr>
              <a:t>경계</a:t>
            </a:r>
            <a:r>
              <a:rPr sz="1800" b="0">
                <a:solidFill>
                  <a:srgbClr val="000000"/>
                </a:solidFill>
                <a:latin typeface="맑은 고딕"/>
                <a:ea typeface="맑은 고딕"/>
              </a:rPr>
              <a:t>, </a:t>
            </a:r>
            <a:r>
              <a:rPr sz="1800" b="1">
                <a:solidFill>
                  <a:srgbClr val="000000"/>
                </a:solidFill>
                <a:latin typeface="맑은 고딕"/>
                <a:ea typeface="맑은 고딕"/>
              </a:rPr>
              <a:t>협력</a:t>
            </a:r>
            <a:r>
              <a:rPr sz="1800" b="0">
                <a:solidFill>
                  <a:srgbClr val="000000"/>
                </a:solidFill>
                <a:latin typeface="맑은 고딕"/>
                <a:ea typeface="맑은 고딕"/>
              </a:rPr>
              <a:t>을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맥락에 맞는 </a:t>
            </a:r>
            <a:r>
              <a:rPr sz="1800" b="1">
                <a:solidFill>
                  <a:srgbClr val="000000"/>
                </a:solidFill>
                <a:latin typeface="맑은 고딕"/>
                <a:ea typeface="맑은 고딕"/>
              </a:rPr>
              <a:t>적정 수준</a:t>
            </a:r>
            <a:r>
              <a:rPr sz="1800" b="0">
                <a:solidFill>
                  <a:srgbClr val="000000"/>
                </a:solidFill>
                <a:latin typeface="맑은 고딕"/>
                <a:ea typeface="맑은 고딕"/>
              </a:rPr>
              <a:t>을 판단하고, 원칙</a:t>
            </a:r>
            <a:r>
              <a:rPr sz="1400" b="0">
                <a:solidFill>
                  <a:srgbClr val="000000"/>
                </a:solidFill>
                <a:latin typeface="맑은 고딕"/>
                <a:ea typeface="맑은 고딕"/>
              </a:rPr>
              <a:t>(KISS·DRY·YAGNI)</a:t>
            </a:r>
            <a:r>
              <a:rPr sz="1800" b="0">
                <a:solidFill>
                  <a:srgbClr val="000000"/>
                </a:solidFill>
                <a:latin typeface="맑은 고딕"/>
                <a:ea typeface="맑은 고딕"/>
              </a:rPr>
              <a:t>을 판단의 도구로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분석·설계가 </a:t>
            </a:r>
            <a:r>
              <a:rPr sz="1800" b="1">
                <a:solidFill>
                  <a:srgbClr val="000000"/>
                </a:solidFill>
                <a:latin typeface="맑은 고딕"/>
                <a:ea typeface="맑은 고딕"/>
              </a:rPr>
              <a:t>도메인 주도 설계</a:t>
            </a:r>
            <a:r>
              <a:rPr sz="1800" b="0">
                <a:solidFill>
                  <a:srgbClr val="000000"/>
                </a:solidFill>
                <a:latin typeface="맑은 고딕"/>
                <a:ea typeface="맑은 고딕"/>
              </a:rPr>
              <a:t>, </a:t>
            </a:r>
            <a:r>
              <a:rPr sz="1800" b="1">
                <a:solidFill>
                  <a:srgbClr val="000000"/>
                </a:solidFill>
                <a:latin typeface="맑은 고딕"/>
                <a:ea typeface="맑은 고딕"/>
              </a:rPr>
              <a:t>온톨로지</a:t>
            </a:r>
            <a:r>
              <a:rPr sz="1800" b="0">
                <a:solidFill>
                  <a:srgbClr val="000000"/>
                </a:solidFill>
                <a:latin typeface="맑은 고딕"/>
                <a:ea typeface="맑은 고딕"/>
              </a:rPr>
              <a:t>, </a:t>
            </a:r>
            <a:r>
              <a:rPr sz="1800" b="1">
                <a:solidFill>
                  <a:srgbClr val="000000"/>
                </a:solidFill>
                <a:latin typeface="맑은 고딕"/>
                <a:ea typeface="맑은 고딕"/>
              </a:rPr>
              <a:t>AI 기반 소프트웨어공학</a:t>
            </a:r>
            <a:r>
              <a:rPr sz="1800" b="0">
                <a:solidFill>
                  <a:srgbClr val="000000"/>
                </a:solidFill>
                <a:latin typeface="맑은 고딕"/>
                <a:ea typeface="맑은 고딕"/>
              </a:rPr>
              <a:t>으로 어떻게 이어지는지 이해한다.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SW 개발의 재작업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잘못된 요구나 판단을 늦게 발견하면 관련 설계·코드·테스트를 함께 고쳐야 할 수 있다.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과 새로운 학습에 따른 </a:t>
            </a:r>
            <a:r>
              <a:rPr sz="1800" b="1">
                <a:solidFill>
                  <a:srgbClr val="000000"/>
                </a:solidFill>
                <a:latin typeface="맑은 고딕"/>
                <a:ea typeface="맑은 고딕"/>
              </a:rPr>
              <a:t>정당한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[Boehm·Basili 2001]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a:t>
            </a:r>
            <a:r>
              <a:rPr sz="1800" b="1">
                <a:solidFill>
                  <a:srgbClr val="000000"/>
                </a:solidFill>
                <a:latin typeface="맑은 고딕"/>
                <a:ea typeface="맑은 고딕"/>
              </a:rPr>
              <a:t>오류</a:t>
            </a:r>
            <a:r>
              <a:rPr sz="1800" b="0">
                <a:solidFill>
                  <a:srgbClr val="000000"/>
                </a:solidFill>
                <a:latin typeface="맑은 고딕"/>
                <a:ea typeface="맑은 고딕"/>
              </a:rPr>
              <a:t>가 재작업 비용의 </a:t>
            </a:r>
            <a:r>
              <a:rPr sz="1800" b="1">
                <a:solidFill>
                  <a:srgbClr val="000000"/>
                </a:solidFill>
                <a:latin typeface="맑은 고딕"/>
                <a:ea typeface="맑은 고딕"/>
              </a:rPr>
              <a:t>70~85%</a:t>
            </a:r>
            <a:r>
              <a:rPr sz="1800" b="0">
                <a:solidFill>
                  <a:srgbClr val="000000"/>
                </a:solidFill>
                <a:latin typeface="맑은 고딕"/>
                <a:ea typeface="맑은 고딕"/>
              </a:rPr>
              <a:t>를 차지한다"</a:t>
            </a:r>
            <a:r>
              <a:rPr sz="1000" b="0">
                <a:solidFill>
                  <a:srgbClr val="000000"/>
                </a:solidFill>
                <a:latin typeface="맑은 고딕"/>
                <a:ea typeface="맑은 고딕"/>
              </a:rPr>
              <a:t>, </a:t>
            </a:r>
            <a:r>
              <a:rPr sz="1000" b="0">
                <a:solidFill>
                  <a:srgbClr val="000000"/>
                </a:solidFill>
                <a:latin typeface="맑은 고딕"/>
                <a:ea typeface="맑은 고딕"/>
              </a:rPr>
              <a:t>"requirements errors account for 70 to 85 percent of the rework cost"</a:t>
            </a:r>
            <a:r>
              <a:rPr sz="1000" b="0">
                <a:solidFill>
                  <a:srgbClr val="000000"/>
                </a:solidFill>
                <a:latin typeface="맑은 고딕"/>
                <a:ea typeface="맑은 고딕"/>
              </a:rPr>
              <a:t>, </a:t>
            </a:r>
            <a:r>
              <a:rPr sz="1000" b="0">
                <a:solidFill>
                  <a:srgbClr val="000000"/>
                </a:solidFill>
                <a:latin typeface="맑은 고딕"/>
                <a:ea typeface="맑은 고딕"/>
              </a:rPr>
              <a:t>[Wiegers 2013]</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84255"/>
            <a:ext cx="8412480" cy="274320"/>
          </a:xfrm>
          <a:prstGeom prst="rect">
            <a:avLst/>
          </a:prstGeom>
          <a:noFill/>
        </p:spPr>
        <p:txBody>
          <a:bodyPr wrap="square">
            <a:spAutoFit/>
          </a:bodyPr>
          <a:lstStyle/>
          <a:p>
            <a:pPr algn="ctr"/>
            <a:r>
              <a:rPr sz="1400" b="1">
                <a:solidFill>
                  <a:srgbClr val="000000"/>
                </a:solidFill>
                <a:latin typeface="맑은 고딕"/>
                <a:ea typeface="맑은 고딕"/>
              </a:rPr>
              <a:t>재작업이 커지는 흐름</a:t>
            </a:r>
          </a:p>
        </p:txBody>
      </p:sp>
      <p:pic>
        <p:nvPicPr>
          <p:cNvPr id="10" name="mermaid Diagram 1"/>
          <p:cNvPicPr>
            <a:picLocks noChangeAspect="1"/>
          </p:cNvPicPr>
          <p:nvPr/>
        </p:nvPicPr>
        <p:blipFill>
          <a:blip r:embed="mermaidImage1"/>
          <a:stretch>
            <a:fillRect/>
          </a:stretch>
        </p:blipFill>
        <p:spPr>
          <a:xfrm>
            <a:off x="1460500" y="4858575"/>
            <a:ext cx="6223000"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미사용 기능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개발한 기능의 양이 곧 고객 가치는 아니다. </a:t>
            </a:r>
            <a:r>
              <a:rPr sz="1800" b="1">
                <a:solidFill>
                  <a:srgbClr val="000000"/>
                </a:solidFill>
                <a:latin typeface="맑은 고딕"/>
                <a:ea typeface="맑은 고딕"/>
              </a:rPr>
              <a:t>사용 빈도·사용 맥락·미사용 이유·필요 시의 가치</a:t>
            </a:r>
            <a:r>
              <a:rPr sz="1800" b="0">
                <a:solidFill>
                  <a:srgbClr val="000000"/>
                </a:solidFill>
                <a:latin typeface="맑은 고딕"/>
                <a:ea typeface="맑은 고딕"/>
              </a:rPr>
              <a:t>를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"Standish Group 조사에서 </a:t>
            </a:r>
            <a:r>
              <a:rPr sz="1800" b="1">
                <a:solidFill>
                  <a:srgbClr val="000000"/>
                </a:solidFill>
                <a:latin typeface="맑은 고딕"/>
                <a:ea typeface="맑은 고딕"/>
              </a:rPr>
              <a:t>45%</a:t>
            </a:r>
            <a:r>
              <a:rPr sz="1800" b="0">
                <a:solidFill>
                  <a:srgbClr val="000000"/>
                </a:solidFill>
                <a:latin typeface="맑은 고딕"/>
                <a:ea typeface="맑은 고딕"/>
              </a:rPr>
              <a:t>는 </a:t>
            </a:r>
            <a:r>
              <a:rPr sz="1800" b="1">
                <a:solidFill>
                  <a:srgbClr val="000000"/>
                </a:solidFill>
                <a:latin typeface="맑은 고딕"/>
                <a:ea typeface="맑은 고딕"/>
              </a:rPr>
              <a:t>전혀 사용되지 않았고</a:t>
            </a:r>
            <a:r>
              <a:rPr sz="1800" b="0">
                <a:solidFill>
                  <a:srgbClr val="000000"/>
                </a:solidFill>
                <a:latin typeface="맑은 고딕"/>
                <a:ea typeface="맑은 고딕"/>
              </a:rPr>
              <a:t> </a:t>
            </a:r>
            <a:r>
              <a:rPr sz="1800" b="1">
                <a:solidFill>
                  <a:srgbClr val="000000"/>
                </a:solidFill>
                <a:latin typeface="맑은 고딕"/>
                <a:ea typeface="맑은 고딕"/>
              </a:rPr>
              <a:t>20%</a:t>
            </a:r>
            <a:r>
              <a:rPr sz="1800" b="0">
                <a:solidFill>
                  <a:srgbClr val="000000"/>
                </a:solidFill>
                <a:latin typeface="맑은 고딕"/>
                <a:ea typeface="맑은 고딕"/>
              </a:rPr>
              <a:t>만 자주·항상 사용됐다</a:t>
            </a:r>
            <a:r>
              <a:rPr sz="1400" b="0">
                <a:solidFill>
                  <a:srgbClr val="000000"/>
                </a:solidFill>
                <a:latin typeface="맑은 고딕"/>
                <a:ea typeface="맑은 고딕"/>
              </a:rPr>
              <a:t>(항상 7%·자주 13%·때때로 16%·거의 19%·전혀 45%)</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Standish study found that 45% of features were never used and only 20% of features were used often or always."</a:t>
            </a:r>
            <a:r>
              <a:rPr sz="1000" b="0">
                <a:solidFill>
                  <a:srgbClr val="000000"/>
                </a:solidFill>
                <a:latin typeface="맑은 고딕"/>
                <a:ea typeface="맑은 고딕"/>
              </a:rPr>
              <a:t>, </a:t>
            </a:r>
            <a:r>
              <a:rPr sz="1000" b="0">
                <a:solidFill>
                  <a:srgbClr val="000000"/>
                </a:solidFill>
                <a:latin typeface="맑은 고딕"/>
                <a:ea typeface="맑은 고딕"/>
              </a:rPr>
              <a:t>[Johnson 2002, 재인용]</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88643"/>
            <a:ext cx="8412480" cy="274320"/>
          </a:xfrm>
          <a:prstGeom prst="rect">
            <a:avLst/>
          </a:prstGeom>
          <a:noFill/>
        </p:spPr>
        <p:txBody>
          <a:bodyPr wrap="square">
            <a:spAutoFit/>
          </a:bodyPr>
          <a:lstStyle/>
          <a:p>
            <a:pPr algn="ctr"/>
            <a:r>
              <a:rPr sz="1400" b="1">
                <a:solidFill>
                  <a:srgbClr val="000000"/>
                </a:solidFill>
                <a:latin typeface="맑은 고딕"/>
                <a:ea typeface="맑은 고딕"/>
              </a:rPr>
              <a:t>기능 사용 빈도</a:t>
            </a:r>
          </a:p>
        </p:txBody>
      </p:sp>
      <p:pic>
        <p:nvPicPr>
          <p:cNvPr id="10" name="chart Diagram 1"/>
          <p:cNvPicPr>
            <a:picLocks noChangeAspect="1"/>
          </p:cNvPicPr>
          <p:nvPr/>
        </p:nvPicPr>
        <p:blipFill>
          <a:blip r:embed="chartImage1"/>
          <a:stretch>
            <a:fillRect/>
          </a:stretch>
        </p:blipFill>
        <p:spPr>
          <a:xfrm>
            <a:off x="2651760" y="3662963"/>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범위와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r>
              <a:rPr sz="1800" b="0">
                <a:solidFill>
                  <a:srgbClr val="000000"/>
                </a:solidFill>
                <a:latin typeface="맑은 고딕"/>
                <a:ea typeface="맑은 고딕"/>
              </a:rPr>
              <a:t> 가장 나쁜 경우는 해야 할 것은 못하면서 하지 않아도 될 것을 만드는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승인 없이 범위가 늘어난다.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취소를 만들다 승인 없이 </a:t>
            </a:r>
            <a:r>
              <a:rPr sz="1600" b="1">
                <a:solidFill>
                  <a:srgbClr val="000000"/>
                </a:solidFill>
                <a:latin typeface="맑은 고딕"/>
                <a:ea typeface="맑은 고딕"/>
              </a:rPr>
              <a:t>교환·반품</a:t>
            </a:r>
            <a:r>
              <a:rPr sz="1600" b="0">
                <a:solidFill>
                  <a:srgbClr val="000000"/>
                </a:solidFill>
                <a:latin typeface="맑은 고딕"/>
                <a:ea typeface="맑은 고딕"/>
              </a:rPr>
              <a:t>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요구에 없는 기능을 좋다는 이유로 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a:t>
            </a:r>
            <a:r>
              <a:rPr sz="1600" b="1">
                <a:solidFill>
                  <a:srgbClr val="000000"/>
                </a:solidFill>
                <a:latin typeface="맑은 고딕"/>
                <a:ea typeface="맑은 고딕"/>
              </a:rPr>
              <a:t>취소 화면 효과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요구와 위험에 비해 지나치게 복잡하게 만든다.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a:t>
            </a:r>
            <a:r>
              <a:rPr sz="1600" b="1">
                <a:solidFill>
                  <a:srgbClr val="000000"/>
                </a:solidFill>
                <a:latin typeface="맑은 고딕"/>
                <a:ea typeface="맑은 고딕"/>
              </a:rPr>
              <a:t>분산 처리 구조</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문제 → 요구사항 → 해결책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문제의 전부 또는 일부를 풀려고 </a:t>
            </a:r>
            <a:r>
              <a:rPr sz="1800" b="1">
                <a:solidFill>
                  <a:srgbClr val="000000"/>
                </a:solidFill>
                <a:latin typeface="맑은 고딕"/>
                <a:ea typeface="맑은 고딕"/>
              </a:rPr>
              <a:t>요구사항</a:t>
            </a:r>
            <a:r>
              <a:rPr sz="1800" b="0">
                <a:solidFill>
                  <a:srgbClr val="000000"/>
                </a:solidFill>
                <a:latin typeface="맑은 고딕"/>
                <a:ea typeface="맑은 고딕"/>
              </a:rPr>
              <a:t>을 정하고, 요구사항을 만족시킬 </a:t>
            </a:r>
            <a:r>
              <a:rPr sz="1800" b="1">
                <a:solidFill>
                  <a:srgbClr val="000000"/>
                </a:solidFill>
                <a:latin typeface="맑은 고딕"/>
                <a:ea typeface="맑은 고딕"/>
              </a:rPr>
              <a:t>해결책</a:t>
            </a:r>
            <a:r>
              <a:rPr sz="1800" b="0">
                <a:solidFill>
                  <a:srgbClr val="000000"/>
                </a:solidFill>
                <a:latin typeface="맑은 고딕"/>
                <a:ea typeface="맑은 고딕"/>
              </a:rPr>
              <a:t>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은 세 단계의 선택을 모두 제한한다.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14597"/>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문제·요구사항·해결책</a:t>
            </a:r>
          </a:p>
        </p:txBody>
      </p:sp>
      <p:pic>
        <p:nvPicPr>
          <p:cNvPr id="10" name="mermaid Diagram 2"/>
          <p:cNvPicPr>
            <a:picLocks noChangeAspect="1"/>
          </p:cNvPicPr>
          <p:nvPr/>
        </p:nvPicPr>
        <p:blipFill>
          <a:blip r:embed="mermaidImage2"/>
          <a:stretch>
            <a:fillRect/>
          </a:stretch>
        </p:blipFill>
        <p:spPr>
          <a:xfrm>
            <a:off x="1460500" y="3988917"/>
            <a:ext cx="6223000"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문제 → 요구사항 → 해결책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0"/>
              </a:spcBef>
              <a:spcAft>
                <a:spcPts val="600"/>
              </a:spcAft>
              <a:buNone/>
            </a:pPr>
            <a:r>
              <a:rPr sz="1800" b="0" i="1">
                <a:solidFill>
                  <a:srgbClr val="000000"/>
                </a:solidFill>
                <a:latin typeface="맑은 고딕"/>
                <a:ea typeface="맑은 고딕"/>
              </a:rPr>
              <a:t>해결책부터 정하지 않는다. 먼저 문제, 다음으로 충족할 요구사항, 마지막으로 해결책을 구분한다.</a:t>
            </a:r>
          </a:p>
          <a:p>
            <a:pPr marL="342900" indent="0">
              <a:spcBef>
                <a:spcPts val="600"/>
              </a:spcBef>
              <a:spcAft>
                <a:spcPts val="600"/>
              </a:spcAft>
              <a:buNone/>
            </a:pPr>
            <a:r>
              <a:rPr sz="1800" b="1">
                <a:solidFill>
                  <a:srgbClr val="000000"/>
                </a:solidFill>
                <a:latin typeface="맑은 고딕"/>
                <a:ea typeface="맑은 고딕"/>
              </a:rPr>
              <a:t>요청 속의 해결책</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요청 “주문 화면에 취소 버튼을 추가해 주세요.”에는 이미 </a:t>
            </a:r>
            <a:r>
              <a:rPr sz="1800" b="1">
                <a:solidFill>
                  <a:srgbClr val="000000"/>
                </a:solidFill>
                <a:latin typeface="맑은 고딕"/>
                <a:ea typeface="맑은 고딕"/>
              </a:rPr>
              <a:t>해결책</a:t>
            </a:r>
            <a:r>
              <a:rPr sz="1400" b="0">
                <a:solidFill>
                  <a:srgbClr val="000000"/>
                </a:solidFill>
                <a:latin typeface="맑은 고딕"/>
                <a:ea typeface="맑은 고딕"/>
              </a:rPr>
              <a:t>(버튼)</a:t>
            </a:r>
            <a:r>
              <a:rPr sz="1800" b="0">
                <a:solidFill>
                  <a:srgbClr val="000000"/>
                </a:solidFill>
                <a:latin typeface="맑은 고딕"/>
                <a:ea typeface="맑은 고딕"/>
              </a:rPr>
              <a:t>이 들어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a:t>
            </a:r>
            <a:r>
              <a:rPr sz="1600" b="0">
                <a:solidFill>
                  <a:srgbClr val="000000"/>
                </a:solidFill>
                <a:latin typeface="맑은 고딕"/>
                <a:ea typeface="맑은 고딕"/>
              </a:rPr>
              <a:t> —</a:t>
            </a:r>
            <a:r>
              <a:rPr sz="1400" b="0">
                <a:solidFill>
                  <a:srgbClr val="000000"/>
                </a:solidFill>
                <a:latin typeface="맑은 고딕"/>
                <a:ea typeface="맑은 고딕"/>
              </a:rPr>
              <a:t> 고객이 취소 가능한 주문을 직접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요구사항</a:t>
            </a:r>
            <a:r>
              <a:rPr sz="1600" b="0">
                <a:solidFill>
                  <a:srgbClr val="000000"/>
                </a:solidFill>
                <a:latin typeface="맑은 고딕"/>
                <a:ea typeface="맑은 고딕"/>
              </a:rPr>
              <a:t> —</a:t>
            </a:r>
            <a:r>
              <a:rPr sz="1400" b="0">
                <a:solidFill>
                  <a:srgbClr val="000000"/>
                </a:solidFill>
                <a:latin typeface="맑은 고딕"/>
                <a:ea typeface="맑은 고딕"/>
              </a:rPr>
              <a:t> 취소 가능한 주문은 고객이 직접 취소할 수 있어야 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해결책</a:t>
            </a:r>
            <a:r>
              <a:rPr sz="1600" b="0">
                <a:solidFill>
                  <a:srgbClr val="000000"/>
                </a:solidFill>
                <a:latin typeface="맑은 고딕"/>
                <a:ea typeface="맑은 고딕"/>
              </a:rPr>
              <a:t> —</a:t>
            </a:r>
            <a:r>
              <a:rPr sz="1400" b="0">
                <a:solidFill>
                  <a:srgbClr val="000000"/>
                </a:solidFill>
                <a:latin typeface="맑은 고딕"/>
                <a:ea typeface="맑은 고딕"/>
              </a:rPr>
              <a:t> 취소 버튼, </a:t>
            </a:r>
            <a:r>
              <a:rPr sz="1400" b="0">
                <a:solidFill>
                  <a:srgbClr val="000000"/>
                </a:solidFill>
                <a:latin typeface="맑은 고딕"/>
                <a:ea typeface="맑은 고딕"/>
              </a:rPr>
              <a:t>Order.cancel()</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문제와 요구사항에도 </a:t>
            </a:r>
            <a:r>
              <a:rPr sz="1800" b="1">
                <a:solidFill>
                  <a:srgbClr val="000000"/>
                </a:solidFill>
                <a:latin typeface="맑은 고딕"/>
                <a:ea typeface="맑은 고딕"/>
              </a:rPr>
              <a:t>여러 해결책</a:t>
            </a:r>
            <a:r>
              <a:rPr sz="1800" b="0">
                <a:solidFill>
                  <a:srgbClr val="000000"/>
                </a:solidFill>
                <a:latin typeface="맑은 고딕"/>
                <a:ea typeface="맑은 고딕"/>
              </a:rPr>
              <a:t>이 가능하다. 요청에서 "왜?"를 물어 문제로 거슬러 오른다.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이벤트 관점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이벤트 관점으로 수렴</a:t>
            </a:r>
            <a:r>
              <a:rPr sz="1800" b="0">
                <a:solidFill>
                  <a:srgbClr val="000000"/>
                </a:solidFill>
                <a:latin typeface="맑은 고딕"/>
                <a:ea typeface="맑은 고딕"/>
              </a:rPr>
              <a:t>한다. 많은 문제의 본질은 한 관점으로 보지 않고 </a:t>
            </a:r>
            <a:r>
              <a:rPr sz="1800" b="1">
                <a:solidFill>
                  <a:srgbClr val="000000"/>
                </a:solidFill>
                <a:latin typeface="맑은 고딕"/>
                <a:ea typeface="맑은 고딕"/>
              </a:rPr>
              <a:t>여러 관점을 섞는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섞인 요구</a:t>
            </a:r>
            <a:r>
              <a:rPr sz="1800" b="0">
                <a:solidFill>
                  <a:srgbClr val="000000"/>
                </a:solidFill>
                <a:latin typeface="맑은 고딕"/>
                <a:ea typeface="맑은 고딕"/>
              </a:rPr>
              <a:t> —</a:t>
            </a:r>
            <a:r>
              <a:rPr sz="1600" b="0">
                <a:solidFill>
                  <a:srgbClr val="000000"/>
                </a:solidFill>
                <a:latin typeface="맑은 고딕"/>
                <a:ea typeface="맑은 고딕"/>
              </a:rPr>
              <a:t> "취소 버튼을 누르면 주문 테이블 상태를 C로 바꾼다"에는 화면·데이터·해결책이 한 문장에 섞여 합의할 단위가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배송 전 주문을 취소한다 → 주문이 취소되었다". 화면·데이터·기술은 그 뒤에 각자의 결정으로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28196"/>
            <a:ext cx="8412480" cy="274320"/>
          </a:xfrm>
          <a:prstGeom prst="rect">
            <a:avLst/>
          </a:prstGeom>
          <a:noFill/>
        </p:spPr>
        <p:txBody>
          <a:bodyPr wrap="square">
            <a:spAutoFit/>
          </a:bodyPr>
          <a:lstStyle/>
          <a:p>
            <a:pPr algn="ctr"/>
            <a:r>
              <a:rPr sz="1400" b="1">
                <a:solidFill>
                  <a:srgbClr val="000000"/>
                </a:solidFill>
                <a:latin typeface="맑은 고딕"/>
                <a:ea typeface="맑은 고딕"/>
              </a:rPr>
              <a:t>섞인 요구를 이벤트로</a:t>
            </a:r>
          </a:p>
        </p:txBody>
      </p:sp>
      <p:pic>
        <p:nvPicPr>
          <p:cNvPr id="10" name="mermaid Diagram 3"/>
          <p:cNvPicPr>
            <a:picLocks noChangeAspect="1"/>
          </p:cNvPicPr>
          <p:nvPr/>
        </p:nvPicPr>
        <p:blipFill>
          <a:blip r:embed="mermaidImage3"/>
          <a:stretch>
            <a:fillRect/>
          </a:stretch>
        </p:blipFill>
        <p:spPr>
          <a:xfrm>
            <a:off x="2059167" y="3902516"/>
            <a:ext cx="5025666" cy="247395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본질적 어려움과 우연적 어려움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어려움은 </a:t>
            </a:r>
            <a:r>
              <a:rPr sz="1800" b="1">
                <a:solidFill>
                  <a:srgbClr val="000000"/>
                </a:solidFill>
                <a:latin typeface="맑은 고딕"/>
                <a:ea typeface="맑은 고딕"/>
              </a:rPr>
              <a:t>본질적</a:t>
            </a:r>
            <a:r>
              <a:rPr sz="1400" b="1">
                <a:solidFill>
                  <a:srgbClr val="000000"/>
                </a:solidFill>
                <a:latin typeface="맑은 고딕"/>
                <a:ea typeface="맑은 고딕"/>
              </a:rPr>
              <a:t>(Essence)</a:t>
            </a:r>
            <a:r>
              <a:rPr sz="1800" b="0">
                <a:solidFill>
                  <a:srgbClr val="000000"/>
                </a:solidFill>
                <a:latin typeface="맑은 고딕"/>
                <a:ea typeface="맑은 고딕"/>
              </a:rPr>
              <a:t>·</a:t>
            </a:r>
            <a:r>
              <a:rPr sz="1800" b="1">
                <a:solidFill>
                  <a:srgbClr val="000000"/>
                </a:solidFill>
                <a:latin typeface="맑은 고딕"/>
                <a:ea typeface="맑은 고딕"/>
              </a:rPr>
              <a:t>우연적</a:t>
            </a:r>
            <a:r>
              <a:rPr sz="1400" b="1">
                <a:solidFill>
                  <a:srgbClr val="000000"/>
                </a:solidFill>
                <a:latin typeface="맑은 고딕"/>
                <a:ea typeface="맑은 고딕"/>
              </a:rPr>
              <a:t>(Accident)</a:t>
            </a:r>
            <a:r>
              <a:rPr sz="1800" b="0">
                <a:solidFill>
                  <a:srgbClr val="000000"/>
                </a:solidFill>
                <a:latin typeface="맑은 고딕"/>
                <a:ea typeface="맑은 고딕"/>
              </a:rPr>
              <a:t> 어려움으로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a:t>
            </a:r>
            <a:r>
              <a:rPr sz="1800" b="1">
                <a:solidFill>
                  <a:srgbClr val="000000"/>
                </a:solidFill>
                <a:latin typeface="맑은 고딕"/>
                <a:ea typeface="맑은 고딕"/>
              </a:rPr>
              <a:t>우연적</a:t>
            </a:r>
            <a:r>
              <a:rPr sz="1800" b="0">
                <a:solidFill>
                  <a:srgbClr val="000000"/>
                </a:solidFill>
                <a:latin typeface="맑은 고딕"/>
                <a:ea typeface="맑은 고딕"/>
              </a:rPr>
              <a:t> 속성이 아니라 </a:t>
            </a:r>
            <a:r>
              <a:rPr sz="1800" b="1">
                <a:solidFill>
                  <a:srgbClr val="000000"/>
                </a:solidFill>
                <a:latin typeface="맑은 고딕"/>
                <a:ea typeface="맑은 고딕"/>
              </a:rPr>
              <a:t>본질적</a:t>
            </a:r>
            <a:r>
              <a:rPr sz="1800" b="0">
                <a:solidFill>
                  <a:srgbClr val="000000"/>
                </a:solidFill>
                <a:latin typeface="맑은 고딕"/>
                <a:ea typeface="맑은 고딕"/>
              </a:rPr>
              <a:t>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문제와 소프트웨어 복잡성</a:t>
            </a:r>
            <a:r>
              <a:rPr sz="1200" b="0">
                <a:solidFill>
                  <a:srgbClr val="000000"/>
                </a:solidFill>
                <a:latin typeface="맑은 고딕"/>
                <a:ea typeface="맑은 고딕"/>
              </a:rPr>
              <a:t>(의미·규칙·상태·관계)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구현 기술·환경의 추가 부담</a:t>
            </a:r>
            <a:r>
              <a:rPr sz="1200" b="0">
                <a:solidFill>
                  <a:srgbClr val="000000"/>
                </a:solidFill>
                <a:latin typeface="맑은 고딕"/>
                <a:ea typeface="맑은 고딕"/>
              </a:rPr>
              <a:t>(언어·도구·연동)</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주문 취소의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취소는 버튼 하나를 구현하는 문제가 아니다. </a:t>
            </a:r>
            <a:r>
              <a:rPr sz="1800" b="1">
                <a:solidFill>
                  <a:srgbClr val="000000"/>
                </a:solidFill>
                <a:latin typeface="맑은 고딕"/>
                <a:ea typeface="맑은 고딕"/>
              </a:rPr>
              <a:t>취소 조건과 후속 업무를 올바르게 결정하는 복잡성</a:t>
            </a:r>
            <a:r>
              <a:rPr sz="1800" b="0">
                <a:solidFill>
                  <a:srgbClr val="000000"/>
                </a:solidFill>
                <a:latin typeface="맑은 고딕"/>
                <a:ea typeface="맑은 고딕"/>
              </a:rPr>
              <a:t>이 핵심이며, 이를 실현하는 기술적 어려움과 구분해야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 —</a:t>
            </a:r>
            <a:r>
              <a:rPr sz="1600" b="1">
                <a:solidFill>
                  <a:srgbClr val="000000"/>
                </a:solidFill>
                <a:latin typeface="맑은 고딕"/>
                <a:ea typeface="맑은 고딕"/>
              </a:rPr>
              <a:t> 주문 취소 업무의 의미와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어떤 주문</a:t>
            </a:r>
            <a:r>
              <a:rPr sz="1600" b="0">
                <a:solidFill>
                  <a:srgbClr val="000000"/>
                </a:solidFill>
                <a:latin typeface="맑은 고딕"/>
                <a:ea typeface="맑은 고딕"/>
              </a:rPr>
              <a:t>을 </a:t>
            </a:r>
            <a:r>
              <a:rPr sz="1600" b="1">
                <a:solidFill>
                  <a:srgbClr val="000000"/>
                </a:solidFill>
                <a:latin typeface="맑은 고딕"/>
                <a:ea typeface="맑은 고딕"/>
              </a:rPr>
              <a:t>언제</a:t>
            </a:r>
            <a:r>
              <a:rPr sz="1600" b="0">
                <a:solidFill>
                  <a:srgbClr val="000000"/>
                </a:solidFill>
                <a:latin typeface="맑은 고딕"/>
                <a:ea typeface="맑은 고딕"/>
              </a:rPr>
              <a:t> 취소할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결제·배송 상태</a:t>
            </a:r>
            <a:r>
              <a:rPr sz="1600" b="0">
                <a:solidFill>
                  <a:srgbClr val="000000"/>
                </a:solidFill>
                <a:latin typeface="맑은 고딕"/>
                <a:ea typeface="맑은 고딕"/>
              </a:rPr>
              <a:t>에 따라 취소 결과가 어떻게 달라지는가?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경우에 </a:t>
            </a:r>
            <a:r>
              <a:rPr sz="1600" b="1">
                <a:solidFill>
                  <a:srgbClr val="000000"/>
                </a:solidFill>
                <a:latin typeface="맑은 고딕"/>
                <a:ea typeface="맑은 고딕"/>
              </a:rPr>
              <a:t>얼마를 환불</a:t>
            </a:r>
            <a:r>
              <a:rPr sz="16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 —</a:t>
            </a:r>
            <a:r>
              <a:rPr sz="1600" b="1">
                <a:solidFill>
                  <a:srgbClr val="000000"/>
                </a:solidFill>
                <a:latin typeface="맑은 고딕"/>
                <a:ea typeface="맑은 고딕"/>
              </a:rPr>
              <a:t> 결정된 규칙을 구현하는 기술적 부담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결제·상품·회계·배송 시스템 </a:t>
            </a:r>
            <a:r>
              <a:rPr sz="1600" b="1">
                <a:solidFill>
                  <a:srgbClr val="000000"/>
                </a:solidFill>
                <a:latin typeface="맑은 고딕"/>
                <a:ea typeface="맑은 고딕"/>
              </a:rPr>
              <a:t>연동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트랜잭션·이벤트·재시도</a:t>
            </a:r>
            <a:r>
              <a:rPr sz="1600" b="0">
                <a:solidFill>
                  <a:srgbClr val="000000"/>
                </a:solidFill>
                <a:latin typeface="맑은 고딕"/>
                <a:ea typeface="맑은 고딕"/>
              </a:rPr>
              <a:t> 처리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통신 장애</a:t>
            </a:r>
            <a:r>
              <a:rPr sz="1600" b="0">
                <a:solidFill>
                  <a:srgbClr val="000000"/>
                </a:solidFill>
                <a:latin typeface="맑은 고딕"/>
                <a:ea typeface="맑은 고딕"/>
              </a:rPr>
              <a:t>와 </a:t>
            </a:r>
            <a:r>
              <a:rPr sz="1600" b="1">
                <a:solidFill>
                  <a:srgbClr val="000000"/>
                </a:solidFill>
                <a:latin typeface="맑은 고딕"/>
                <a:ea typeface="맑은 고딕"/>
              </a:rPr>
              <a:t>중복 요청</a:t>
            </a:r>
            <a:r>
              <a:rPr sz="1600" b="0">
                <a:solidFill>
                  <a:srgbClr val="000000"/>
                </a:solidFill>
                <a:latin typeface="맑은 고딕"/>
                <a:ea typeface="맑은 고딕"/>
              </a:rPr>
              <a:t> 대응</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선택에 앞서 </a:t>
            </a:r>
            <a:r>
              <a:rPr sz="1800" b="1">
                <a:solidFill>
                  <a:srgbClr val="000000"/>
                </a:solidFill>
                <a:latin typeface="맑은 고딕"/>
                <a:ea typeface="맑은 고딕"/>
              </a:rPr>
              <a:t>취소의 의미·조건·결과</a:t>
            </a:r>
            <a:r>
              <a:rPr sz="1800" b="0">
                <a:solidFill>
                  <a:srgbClr val="000000"/>
                </a:solidFill>
                <a:latin typeface="맑은 고딕"/>
                <a:ea typeface="맑은 고딕"/>
              </a:rPr>
              <a:t>를 분명히 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중복 요청이 와도 </a:t>
            </a:r>
            <a:r>
              <a:rPr sz="1800" b="1">
                <a:solidFill>
                  <a:srgbClr val="000000"/>
                </a:solidFill>
                <a:latin typeface="맑은 고딕"/>
                <a:ea typeface="맑은 고딕"/>
              </a:rPr>
              <a:t>한 번만 환불</a:t>
            </a:r>
            <a:r>
              <a:rPr sz="1800" b="0">
                <a:solidFill>
                  <a:srgbClr val="000000"/>
                </a:solidFill>
                <a:latin typeface="맑은 고딕"/>
                <a:ea typeface="맑은 고딕"/>
              </a:rPr>
              <a:t>된다는 보장은 업무 의미다. 재시도·중복 제거는 그 보장을 지키는 </a:t>
            </a:r>
            <a:r>
              <a:rPr sz="1800" b="1">
                <a:solidFill>
                  <a:srgbClr val="000000"/>
                </a:solidFill>
                <a:latin typeface="맑은 고딕"/>
                <a:ea typeface="맑은 고딕"/>
              </a:rPr>
              <a:t>구현 수단</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분석과 설계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분석·설계의 목적은 </a:t>
            </a:r>
            <a:r>
              <a:rPr sz="1800" b="1">
                <a:solidFill>
                  <a:srgbClr val="000000"/>
                </a:solidFill>
                <a:latin typeface="맑은 고딕"/>
                <a:ea typeface="맑은 고딕"/>
              </a:rPr>
              <a:t>산출물이 아니라 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무엇이 필요한가, 무엇을 의미하는가, 어떤 규칙과 제약이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누가 책임지는가, 어디에 경계를 두는가, 어떻게 협력하는가?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분석은 문제를 이해하고, 설계는 그 이해를 바탕으로 </a:t>
            </a:r>
            <a:r>
              <a:rPr sz="1800" b="1">
                <a:solidFill>
                  <a:srgbClr val="000000"/>
                </a:solidFill>
                <a:latin typeface="맑은 고딕"/>
                <a:ea typeface="맑은 고딕"/>
              </a:rPr>
              <a:t>해결책의 책임과 구조를 결정한다</a:t>
            </a:r>
            <a:r>
              <a:rPr sz="1800" b="0">
                <a:solidFill>
                  <a:srgbClr val="000000"/>
                </a:solidFill>
                <a:latin typeface="맑은 고딕"/>
                <a:ea typeface="맑은 고딕"/>
              </a:rPr>
              <a:t>. 개발 절차에서는 통합할 수 있지만, 사고에서는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3259"/>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 공간과 해결 공간</a:t>
            </a:r>
          </a:p>
        </p:txBody>
      </p:sp>
      <p:pic>
        <p:nvPicPr>
          <p:cNvPr id="10" name="mermaid Diagram 4"/>
          <p:cNvPicPr>
            <a:picLocks noChangeAspect="1"/>
          </p:cNvPicPr>
          <p:nvPr/>
        </p:nvPicPr>
        <p:blipFill>
          <a:blip r:embed="mermaidImage4"/>
          <a:stretch>
            <a:fillRect/>
          </a:stretch>
        </p:blipFill>
        <p:spPr>
          <a:xfrm>
            <a:off x="1460500" y="4437579"/>
            <a:ext cx="6223000" cy="9763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분석과 설계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0"/>
              </a:spcBef>
              <a:spcAft>
                <a:spcPts val="600"/>
              </a:spcAft>
              <a:buNone/>
            </a:pPr>
            <a:r>
              <a:rPr sz="1800" b="0" i="1">
                <a:solidFill>
                  <a:srgbClr val="000000"/>
                </a:solidFill>
                <a:latin typeface="맑은 고딕"/>
                <a:ea typeface="맑은 고딕"/>
              </a:rPr>
              <a:t>분석·설계의 목적은 산출물이 아니라 판단이다.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분석·설계</a:t>
            </a:r>
            <a:r>
              <a:rPr sz="1400" b="1">
                <a:solidFill>
                  <a:srgbClr val="000000"/>
                </a:solidFill>
                <a:latin typeface="맑은 고딕"/>
                <a:ea typeface="맑은 고딕"/>
              </a:rPr>
              <a:t>(Object-Oriented Analysis and Design, OOAD)</a:t>
            </a:r>
            <a:r>
              <a:rPr sz="1800" b="0">
                <a:solidFill>
                  <a:srgbClr val="000000"/>
                </a:solidFill>
                <a:latin typeface="맑은 고딕"/>
                <a:ea typeface="맑은 고딕"/>
              </a:rPr>
              <a:t>는 문제영역의 의미를 객체 관점으로 이해한다. 그리고 이를 실현할 </a:t>
            </a:r>
            <a:r>
              <a:rPr sz="1800" b="1">
                <a:solidFill>
                  <a:srgbClr val="000000"/>
                </a:solidFill>
                <a:latin typeface="맑은 고딕"/>
                <a:ea typeface="맑은 고딕"/>
              </a:rPr>
              <a:t>책임과 협력</a:t>
            </a:r>
            <a:r>
              <a:rPr sz="1800" b="0">
                <a:solidFill>
                  <a:srgbClr val="000000"/>
                </a:solidFill>
                <a:latin typeface="맑은 고딕"/>
                <a:ea typeface="맑은 고딕"/>
              </a:rPr>
              <a:t>을 설계한다.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400" b="1">
                <a:solidFill>
                  <a:srgbClr val="000000"/>
                </a:solidFill>
                <a:latin typeface="맑은 고딕"/>
                <a:ea typeface="맑은 고딕"/>
              </a:rPr>
              <a:t>(OOA)</a:t>
            </a:r>
            <a:r>
              <a:rPr sz="1800" b="0">
                <a:solidFill>
                  <a:srgbClr val="000000"/>
                </a:solidFill>
                <a:latin typeface="맑은 고딕"/>
                <a:ea typeface="맑은 고딕"/>
              </a:rPr>
              <a:t> —</a:t>
            </a:r>
            <a:r>
              <a:rPr sz="1600" b="0">
                <a:solidFill>
                  <a:srgbClr val="000000"/>
                </a:solidFill>
                <a:latin typeface="맑은 고딕"/>
                <a:ea typeface="맑은 고딕"/>
              </a:rPr>
              <a:t> 문제영역의 개념·관계·규칙을 발견하고 요구와 교차검토한다.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설계</a:t>
            </a:r>
            <a:r>
              <a:rPr sz="1400" b="1">
                <a:solidFill>
                  <a:srgbClr val="000000"/>
                </a:solidFill>
                <a:latin typeface="맑은 고딕"/>
                <a:ea typeface="맑은 고딕"/>
              </a:rPr>
              <a:t>(OOD)</a:t>
            </a:r>
            <a:r>
              <a:rPr sz="1800" b="0">
                <a:solidFill>
                  <a:srgbClr val="000000"/>
                </a:solidFill>
                <a:latin typeface="맑은 고딕"/>
                <a:ea typeface="맑은 고딕"/>
              </a:rPr>
              <a:t> —</a:t>
            </a:r>
            <a:r>
              <a:rPr sz="1600" b="0">
                <a:solidFill>
                  <a:srgbClr val="000000"/>
                </a:solidFill>
                <a:latin typeface="맑은 고딕"/>
                <a:ea typeface="맑은 고딕"/>
              </a:rPr>
              <a:t> 구현할 객체의 책임·상태·협력·인터페이스를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분석은 문제영역의 어휘에서 발견되는 </a:t>
            </a:r>
            <a:r>
              <a:rPr sz="1800" b="1">
                <a:solidFill>
                  <a:srgbClr val="000000"/>
                </a:solidFill>
                <a:latin typeface="맑은 고딕"/>
                <a:ea typeface="맑은 고딕"/>
              </a:rPr>
              <a:t>클래스와 객체의 관점</a:t>
            </a:r>
            <a:r>
              <a:rPr sz="1800" b="0">
                <a:solidFill>
                  <a:srgbClr val="000000"/>
                </a:solidFill>
                <a:latin typeface="맑은 고딕"/>
                <a:ea typeface="맑은 고딕"/>
              </a:rPr>
              <a:t>에서 요구사항을 검토하는 방법이다"</a:t>
            </a:r>
            <a:r>
              <a:rPr sz="1000" b="0">
                <a:solidFill>
                  <a:srgbClr val="000000"/>
                </a:solidFill>
                <a:latin typeface="맑은 고딕"/>
                <a:ea typeface="맑은 고딕"/>
              </a:rPr>
              <a:t>, </a:t>
            </a:r>
            <a:r>
              <a:rPr sz="1000" b="0">
                <a:solidFill>
                  <a:srgbClr val="000000"/>
                </a:solidFill>
                <a:latin typeface="맑은 고딕"/>
                <a:ea typeface="맑은 고딕"/>
              </a:rPr>
              <a:t>"Object-oriented analysis is a method of analysis that examines requirements from the perspective of the classes and objects found in the vocabulary of the problem domain."</a:t>
            </a:r>
            <a:r>
              <a:rPr sz="1000" b="0">
                <a:solidFill>
                  <a:srgbClr val="000000"/>
                </a:solidFill>
                <a:latin typeface="맑은 고딕"/>
                <a:ea typeface="맑은 고딕"/>
              </a:rPr>
              <a:t>, </a:t>
            </a:r>
            <a:r>
              <a:rPr sz="1000" b="0">
                <a:solidFill>
                  <a:srgbClr val="000000"/>
                </a:solidFill>
                <a:latin typeface="맑은 고딕"/>
                <a:ea typeface="맑은 고딕"/>
              </a:rPr>
              <a:t>[Booch 1994, 재인용]</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결정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2141448"/>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결정과 검증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분석·설계 방법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398486"/>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방법별 관심사</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맥락과 접근법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접근법은 문제의 </a:t>
            </a:r>
            <a:r>
              <a:rPr sz="1800" b="1">
                <a:solidFill>
                  <a:srgbClr val="000000"/>
                </a:solidFill>
                <a:latin typeface="맑은 고딕"/>
                <a:ea typeface="맑은 고딕"/>
              </a:rPr>
              <a:t>복잡성</a:t>
            </a:r>
            <a:r>
              <a:rPr sz="1800" b="0">
                <a:solidFill>
                  <a:srgbClr val="000000"/>
                </a:solidFill>
                <a:latin typeface="맑은 고딕"/>
                <a:ea typeface="맑은 고딕"/>
              </a:rPr>
              <a:t>과 </a:t>
            </a:r>
            <a:r>
              <a:rPr sz="1800" b="1">
                <a:solidFill>
                  <a:srgbClr val="000000"/>
                </a:solidFill>
                <a:latin typeface="맑은 고딕"/>
                <a:ea typeface="맑은 고딕"/>
              </a:rPr>
              <a:t>불확실성</a:t>
            </a:r>
            <a:r>
              <a:rPr sz="1800" b="0">
                <a:solidFill>
                  <a:srgbClr val="000000"/>
                </a:solidFill>
                <a:latin typeface="맑은 고딕"/>
                <a:ea typeface="맑은 고딕"/>
              </a:rPr>
              <a:t>, 그리고 사람의 </a:t>
            </a:r>
            <a:r>
              <a:rPr sz="1800" b="1">
                <a:solidFill>
                  <a:srgbClr val="000000"/>
                </a:solidFill>
                <a:latin typeface="맑은 고딕"/>
                <a:ea typeface="맑은 고딕"/>
              </a:rPr>
              <a:t>성숙도</a:t>
            </a:r>
            <a:r>
              <a:rPr sz="1800" b="0">
                <a:solidFill>
                  <a:srgbClr val="000000"/>
                </a:solidFill>
                <a:latin typeface="맑은 고딕"/>
                <a:ea typeface="맑은 고딕"/>
              </a:rPr>
              <a:t>라는 맥락으로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복잡성</a:t>
            </a:r>
            <a:r>
              <a:rPr sz="1800" b="0">
                <a:solidFill>
                  <a:srgbClr val="000000"/>
                </a:solidFill>
                <a:latin typeface="맑은 고딕"/>
                <a:ea typeface="맑은 고딕"/>
              </a:rPr>
              <a:t> —</a:t>
            </a:r>
            <a:r>
              <a:rPr sz="1600" b="0">
                <a:solidFill>
                  <a:srgbClr val="000000"/>
                </a:solidFill>
                <a:latin typeface="맑은 고딕"/>
                <a:ea typeface="맑은 고딕"/>
              </a:rPr>
              <a:t> 규칙·상태·외부 조정이 얽힌 정도다</a:t>
            </a:r>
            <a:r>
              <a:rPr sz="1200" b="0">
                <a:solidFill>
                  <a:srgbClr val="000000"/>
                </a:solidFill>
                <a:latin typeface="맑은 고딕"/>
                <a:ea typeface="맑은 고딕"/>
              </a:rPr>
              <a:t>(「07. 본질적 어려움과 우연적 어려움」)</a:t>
            </a:r>
            <a:r>
              <a:rPr sz="1600" b="0">
                <a:solidFill>
                  <a:srgbClr val="000000"/>
                </a:solidFill>
                <a:latin typeface="맑은 고딕"/>
                <a:ea typeface="맑은 고딕"/>
              </a:rPr>
              <a:t>. 복잡할수록 모델로 </a:t>
            </a:r>
            <a:r>
              <a:rPr sz="1600" b="1">
                <a:solidFill>
                  <a:srgbClr val="000000"/>
                </a:solidFill>
                <a:latin typeface="맑은 고딕"/>
                <a:ea typeface="맑은 고딕"/>
              </a:rPr>
              <a:t>명시</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불확실성</a:t>
            </a:r>
            <a:r>
              <a:rPr sz="1800" b="0">
                <a:solidFill>
                  <a:srgbClr val="000000"/>
                </a:solidFill>
                <a:latin typeface="맑은 고딕"/>
                <a:ea typeface="맑은 고딕"/>
              </a:rPr>
              <a:t> —</a:t>
            </a:r>
            <a:r>
              <a:rPr sz="1600" b="0">
                <a:solidFill>
                  <a:srgbClr val="000000"/>
                </a:solidFill>
                <a:latin typeface="맑은 고딕"/>
                <a:ea typeface="맑은 고딕"/>
              </a:rPr>
              <a:t> 무엇을 만들지</a:t>
            </a:r>
            <a:r>
              <a:rPr sz="1200" b="0">
                <a:solidFill>
                  <a:srgbClr val="000000"/>
                </a:solidFill>
                <a:latin typeface="맑은 고딕"/>
                <a:ea typeface="맑은 고딕"/>
              </a:rPr>
              <a:t>(업무)</a:t>
            </a:r>
            <a:r>
              <a:rPr sz="1600" b="0">
                <a:solidFill>
                  <a:srgbClr val="000000"/>
                </a:solidFill>
                <a:latin typeface="맑은 고딕"/>
                <a:ea typeface="맑은 고딕"/>
              </a:rPr>
              <a:t>와 어떻게 만들지</a:t>
            </a:r>
            <a:r>
              <a:rPr sz="1200" b="0">
                <a:solidFill>
                  <a:srgbClr val="000000"/>
                </a:solidFill>
                <a:latin typeface="맑은 고딕"/>
                <a:ea typeface="맑은 고딕"/>
              </a:rPr>
              <a:t>(기술)</a:t>
            </a:r>
            <a:r>
              <a:rPr sz="1600" b="0">
                <a:solidFill>
                  <a:srgbClr val="000000"/>
                </a:solidFill>
                <a:latin typeface="맑은 고딕"/>
                <a:ea typeface="맑은 고딕"/>
              </a:rPr>
              <a:t>를 아직 모르는 정도다. 불확실할수록 </a:t>
            </a:r>
            <a:r>
              <a:rPr sz="1600" b="1">
                <a:solidFill>
                  <a:srgbClr val="000000"/>
                </a:solidFill>
                <a:latin typeface="맑은 고딕"/>
                <a:ea typeface="맑은 고딕"/>
              </a:rPr>
              <a:t>짧게 반복</a:t>
            </a:r>
            <a:r>
              <a:rPr sz="1600" b="0">
                <a:solidFill>
                  <a:srgbClr val="000000"/>
                </a:solidFill>
                <a:latin typeface="맑은 고딕"/>
                <a:ea typeface="맑은 고딕"/>
              </a:rPr>
              <a:t>해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성숙도</a:t>
            </a:r>
            <a:r>
              <a:rPr sz="1800" b="0">
                <a:solidFill>
                  <a:srgbClr val="000000"/>
                </a:solidFill>
                <a:latin typeface="맑은 고딕"/>
                <a:ea typeface="맑은 고딕"/>
              </a:rPr>
              <a:t> —</a:t>
            </a:r>
            <a:r>
              <a:rPr sz="1600" b="0">
                <a:solidFill>
                  <a:srgbClr val="000000"/>
                </a:solidFill>
                <a:latin typeface="맑은 고딕"/>
                <a:ea typeface="맑은 고딕"/>
              </a:rPr>
              <a:t> 고객·개발자의 도메인 지식, 기술 숙련, 팀워크다. 낮은 쪽부터 명시하고 먼저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취소는 규칙·상태·외부 시스템 넷이 얽혀 </a:t>
            </a:r>
            <a:r>
              <a:rPr sz="1800" b="1">
                <a:solidFill>
                  <a:srgbClr val="000000"/>
                </a:solidFill>
                <a:latin typeface="맑은 고딕"/>
                <a:ea typeface="맑은 고딕"/>
              </a:rPr>
              <a:t>복잡</a:t>
            </a:r>
            <a:r>
              <a:rPr sz="1800" b="0">
                <a:solidFill>
                  <a:srgbClr val="000000"/>
                </a:solidFill>
                <a:latin typeface="맑은 고딕"/>
                <a:ea typeface="맑은 고딕"/>
              </a:rPr>
              <a:t>하고, 결제 전 취소처럼 </a:t>
            </a:r>
            <a:r>
              <a:rPr sz="1800" b="1">
                <a:solidFill>
                  <a:srgbClr val="000000"/>
                </a:solidFill>
                <a:latin typeface="맑은 고딕"/>
                <a:ea typeface="맑은 고딕"/>
              </a:rPr>
              <a:t>미정</a:t>
            </a:r>
            <a:r>
              <a:rPr sz="1800" b="0">
                <a:solidFill>
                  <a:srgbClr val="000000"/>
                </a:solidFill>
                <a:latin typeface="맑은 고딕"/>
                <a:ea typeface="맑은 고딕"/>
              </a:rPr>
              <a:t>인 요구가 있다 —</a:t>
            </a:r>
            <a:r>
              <a:rPr sz="1600" b="0">
                <a:solidFill>
                  <a:srgbClr val="000000"/>
                </a:solidFill>
                <a:latin typeface="맑은 고딕"/>
                <a:ea typeface="맑은 고딕"/>
              </a:rPr>
              <a:t> 모델로 명시하고 짧게 검증한다.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맥락과 접근법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1686" y="2958306"/>
          <a:ext cx="8067040" cy="3873500"/>
        </p:xfrm>
        <a:graphic>
          <a:graphicData uri="http://schemas.openxmlformats.org/drawingml/2006/table">
            <a:tbl>
              <a:tblPr/>
              <a:tblGrid>
                <a:gridCol w="3601720"/>
                <a:gridCol w="209296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알맞은 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고객·개발자가 도메인을 알고 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업무는 명확하고 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 스파이크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위험한 기술부터 작은 증분으로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요구가 자주 바뀌고 고객이 함께할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주기로 동작하는 SW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문제와 사용자가 불분명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문제와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제품(MVP)으로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636776"/>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불확실성과 접근법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모든 접근은 </a:t>
            </a:r>
            <a:r>
              <a:rPr sz="1800" b="1">
                <a:solidFill>
                  <a:srgbClr val="000000"/>
                </a:solidFill>
                <a:latin typeface="맑은 고딕"/>
                <a:ea typeface="맑은 고딕"/>
              </a:rPr>
              <a:t>결정–검증–되돌림</a:t>
            </a:r>
            <a:r>
              <a:rPr sz="1800" b="0">
                <a:solidFill>
                  <a:srgbClr val="000000"/>
                </a:solidFill>
                <a:latin typeface="맑은 고딕"/>
                <a:ea typeface="맑은 고딕"/>
              </a:rPr>
              <a:t>을 서로 다른 주기로 운영한다.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598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불확실성에 따른 접근법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접근법은 문제의 복잡성과 불확실성, 그리고 사람의 성숙도라는 맥락으로 고른다.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통합 모델링 언어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[OMG UML]</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Rumbaugh</a:t>
            </a:r>
            <a:r>
              <a:rPr sz="1400" b="0">
                <a:solidFill>
                  <a:srgbClr val="000000"/>
                </a:solidFill>
                <a:latin typeface="맑은 고딕"/>
                <a:ea typeface="맑은 고딕"/>
              </a:rPr>
              <a:t>(OMT)</a:t>
            </a:r>
            <a:r>
              <a:rPr sz="1800" b="0">
                <a:solidFill>
                  <a:srgbClr val="000000"/>
                </a:solidFill>
                <a:latin typeface="맑은 고딕"/>
                <a:ea typeface="맑은 고딕"/>
              </a:rPr>
              <a:t>·Booch</a:t>
            </a:r>
            <a:r>
              <a:rPr sz="1400" b="0">
                <a:solidFill>
                  <a:srgbClr val="000000"/>
                </a:solidFill>
                <a:latin typeface="맑은 고딕"/>
                <a:ea typeface="맑은 고딕"/>
              </a:rPr>
              <a:t>(Booch Method)</a:t>
            </a:r>
            <a:r>
              <a:rPr sz="1800" b="0">
                <a:solidFill>
                  <a:srgbClr val="000000"/>
                </a:solidFill>
                <a:latin typeface="맑은 고딕"/>
                <a:ea typeface="맑은 고딕"/>
              </a:rPr>
              <a:t>·Jacobson</a:t>
            </a:r>
            <a:r>
              <a:rPr sz="1400" b="0">
                <a:solidFill>
                  <a:srgbClr val="000000"/>
                </a:solidFill>
                <a:latin typeface="맑은 고딕"/>
                <a:ea typeface="맑은 고딕"/>
              </a:rPr>
              <a:t>(OOSE)</a:t>
            </a:r>
            <a:r>
              <a:rPr sz="1800" b="0">
                <a:solidFill>
                  <a:srgbClr val="000000"/>
                </a:solidFill>
                <a:latin typeface="맑은 고딕"/>
                <a:ea typeface="맑은 고딕"/>
              </a:rPr>
              <a:t> 세 표기법이 </a:t>
            </a:r>
            <a:r>
              <a:rPr sz="1800" b="1">
                <a:solidFill>
                  <a:srgbClr val="000000"/>
                </a:solidFill>
                <a:latin typeface="맑은 고딕"/>
                <a:ea typeface="맑은 고딕"/>
              </a:rPr>
              <a:t>1997년 UML로 통합됐다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14.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22292"/>
            <a:ext cx="4114800" cy="23164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고객</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이름;</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고객</a:t>
            </a:r>
            <a:r>
              <a:rPr sz="800" b="0">
                <a:solidFill>
                  <a:srgbClr val="000000"/>
                </a:solidFill>
                <a:latin typeface="Consolas"/>
                <a:ea typeface="맑은 고딕"/>
              </a:rPr>
              <a:t>(String 이름) { this.이름 = 이름;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주문번호;</a:t>
            </a:r>
          </a:p>
          <a:p>
            <a:pPr marL="0" indent="0" algn="l">
              <a:lnSpc>
                <a:spcPts val="960"/>
              </a:lnSpc>
              <a:spcBef>
                <a:spcPts val="0"/>
              </a:spcBef>
              <a:spcAft>
                <a:spcPts val="0"/>
              </a:spcAft>
              <a:buNone/>
            </a:pPr>
            <a:r>
              <a:rPr sz="800" b="0">
                <a:solidFill>
                  <a:srgbClr val="000000"/>
                </a:solidFill>
                <a:latin typeface="Consolas"/>
                <a:ea typeface="맑은 고딕"/>
              </a:rPr>
              <a:t>    private final 고객 고객;</a:t>
            </a:r>
          </a:p>
          <a:p>
            <a:pPr marL="0" indent="0" algn="l">
              <a:lnSpc>
                <a:spcPts val="960"/>
              </a:lnSpc>
              <a:spcBef>
                <a:spcPts val="0"/>
              </a:spcBef>
              <a:spcAft>
                <a:spcPts val="0"/>
              </a:spcAft>
              <a:buNone/>
            </a:pPr>
            <a:r>
              <a:rPr sz="800" b="0">
                <a:solidFill>
                  <a:srgbClr val="000000"/>
                </a:solidFill>
                <a:latin typeface="Consolas"/>
                <a:ea typeface="맑은 고딕"/>
              </a:rPr>
              <a:t>    private final List&lt;주문항목&gt; 항목들;</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(String 주문번호, 고객 고객, List&lt;주문항목&gt; 항목들) {</a:t>
            </a:r>
          </a:p>
          <a:p>
            <a:pPr marL="0" indent="0" algn="l">
              <a:lnSpc>
                <a:spcPts val="960"/>
              </a:lnSpc>
              <a:spcBef>
                <a:spcPts val="0"/>
              </a:spcBef>
              <a:spcAft>
                <a:spcPts val="0"/>
              </a:spcAft>
              <a:buNone/>
            </a:pPr>
            <a:r>
              <a:rPr sz="800" b="0">
                <a:solidFill>
                  <a:srgbClr val="000000"/>
                </a:solidFill>
                <a:latin typeface="Consolas"/>
                <a:ea typeface="맑은 고딕"/>
              </a:rPr>
              <a:t>        if (항목들.isEmpty())</a:t>
            </a:r>
          </a:p>
          <a:p>
            <a:pPr marL="0" indent="0" algn="l">
              <a:lnSpc>
                <a:spcPts val="960"/>
              </a:lnSpc>
              <a:spcBef>
                <a:spcPts val="0"/>
              </a:spcBef>
              <a:spcAft>
                <a:spcPts val="0"/>
              </a:spcAft>
              <a:buNone/>
            </a:pPr>
            <a:r>
              <a:rPr sz="800" b="0">
                <a:solidFill>
                  <a:srgbClr val="000000"/>
                </a:solidFill>
                <a:latin typeface="Consolas"/>
                <a:ea typeface="맑은 고딕"/>
              </a:rPr>
              <a:t>            throw new IllegalArgumentException("주문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this.주문번호 = 주문번호;</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this.항목들 = List.copyOf(항목들);</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클래스 다이어그램의 </a:t>
            </a:r>
            <a:r>
              <a:rPr sz="1800" b="1">
                <a:solidFill>
                  <a:srgbClr val="000000"/>
                </a:solidFill>
                <a:latin typeface="맑은 고딕"/>
                <a:ea typeface="맑은 고딕"/>
              </a:rPr>
              <a:t>개념·관계·다중성</a:t>
            </a:r>
            <a:r>
              <a:rPr sz="1800" b="0">
                <a:solidFill>
                  <a:srgbClr val="000000"/>
                </a:solidFill>
                <a:latin typeface="맑은 고딕"/>
                <a:ea typeface="맑은 고딕"/>
              </a:rPr>
              <a:t>은 코드의 </a:t>
            </a:r>
            <a:r>
              <a:rPr sz="1800" b="1">
                <a:solidFill>
                  <a:srgbClr val="000000"/>
                </a:solidFill>
                <a:latin typeface="맑은 고딕"/>
                <a:ea typeface="맑은 고딕"/>
              </a:rPr>
              <a:t>클래스·필드·생성자 검사</a:t>
            </a:r>
            <a:r>
              <a:rPr sz="1800" b="0">
                <a:solidFill>
                  <a:srgbClr val="000000"/>
                </a:solidFill>
                <a:latin typeface="맑은 고딕"/>
                <a:ea typeface="맑은 고딕"/>
              </a:rPr>
              <a:t>로 이어진다. 연관은 필드, </a:t>
            </a:r>
            <a:r>
              <a:rPr sz="1800" b="0">
                <a:solidFill>
                  <a:srgbClr val="000000"/>
                </a:solidFill>
                <a:latin typeface="맑은 고딕"/>
                <a:ea typeface="맑은 고딕"/>
              </a:rPr>
              <a:t>1..*</a:t>
            </a:r>
            <a:r>
              <a:rPr sz="1800" b="0">
                <a:solidFill>
                  <a:srgbClr val="000000"/>
                </a:solidFill>
                <a:latin typeface="맑은 고딕"/>
                <a:ea typeface="맑은 고딕"/>
              </a:rPr>
              <a:t>와 수량 규칙은 생성자의 검사가 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22292"/>
            <a:ext cx="4114800" cy="24384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int 수량;</a:t>
            </a:r>
          </a:p>
          <a:p>
            <a:pPr marL="0" indent="0" algn="l">
              <a:lnSpc>
                <a:spcPts val="960"/>
              </a:lnSpc>
              <a:spcBef>
                <a:spcPts val="0"/>
              </a:spcBef>
              <a:spcAft>
                <a:spcPts val="0"/>
              </a:spcAft>
              <a:buNone/>
            </a:pPr>
            <a:r>
              <a:rPr sz="800" b="0">
                <a:solidFill>
                  <a:srgbClr val="000000"/>
                </a:solidFill>
                <a:latin typeface="Consolas"/>
                <a:ea typeface="맑은 고딕"/>
              </a:rPr>
              <a:t>    private final int 단가;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int 수량, int 단가) {</a:t>
            </a:r>
          </a:p>
          <a:p>
            <a:pPr marL="0" indent="0" algn="l">
              <a:lnSpc>
                <a:spcPts val="960"/>
              </a:lnSpc>
              <a:spcBef>
                <a:spcPts val="0"/>
              </a:spcBef>
              <a:spcAft>
                <a:spcPts val="0"/>
              </a:spcAft>
              <a:buNone/>
            </a:pPr>
            <a:r>
              <a:rPr sz="800" b="0">
                <a:solidFill>
                  <a:srgbClr val="000000"/>
                </a:solidFill>
                <a:latin typeface="Consolas"/>
                <a:ea typeface="맑은 고딕"/>
              </a:rPr>
              <a:t>        if (수량 &lt; 1)</a:t>
            </a:r>
          </a:p>
          <a:p>
            <a:pPr marL="0" indent="0" algn="l">
              <a:lnSpc>
                <a:spcPts val="960"/>
              </a:lnSpc>
              <a:spcBef>
                <a:spcPts val="0"/>
              </a:spcBef>
              <a:spcAft>
                <a:spcPts val="0"/>
              </a:spcAft>
              <a:buNone/>
            </a:pPr>
            <a:r>
              <a:rPr sz="800" b="0">
                <a:solidFill>
                  <a:srgbClr val="000000"/>
                </a:solidFill>
                <a:latin typeface="Consolas"/>
                <a:ea typeface="맑은 고딕"/>
              </a:rPr>
              <a:t>            throw new IllegalArgumentException("수량은 1 이상");</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상품명;</a:t>
            </a:r>
          </a:p>
          <a:p>
            <a:pPr marL="0" indent="0" algn="l">
              <a:lnSpc>
                <a:spcPts val="960"/>
              </a:lnSpc>
              <a:spcBef>
                <a:spcPts val="0"/>
              </a:spcBef>
              <a:spcAft>
                <a:spcPts val="0"/>
              </a:spcAft>
              <a:buNone/>
            </a:pPr>
            <a:r>
              <a:rPr sz="800" b="0">
                <a:solidFill>
                  <a:srgbClr val="000000"/>
                </a:solidFill>
                <a:latin typeface="Consolas"/>
                <a:ea typeface="맑은 고딕"/>
              </a:rPr>
              <a:t>    private final int 판매가;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int 판매가) { this.상품명 = 상품명; this.판매가 = 판매가;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클래스 다이어그램</a:t>
            </a:r>
          </a:p>
        </p:txBody>
      </p:sp>
      <p:pic>
        <p:nvPicPr>
          <p:cNvPr id="35" name="plantuml Diagram 1"/>
          <p:cNvPicPr>
            <a:picLocks noChangeAspect="1"/>
          </p:cNvPicPr>
          <p:nvPr/>
        </p:nvPicPr>
        <p:blipFill>
          <a:blip r:embed="plantumlImage1"/>
          <a:stretch>
            <a:fillRect/>
          </a:stretch>
        </p:blipFill>
        <p:spPr>
          <a:xfrm>
            <a:off x="1919654" y="2374356"/>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15. 시스템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13465"/>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다이어그램의 </a:t>
            </a:r>
            <a:r>
              <a:rPr sz="1800" b="1">
                <a:solidFill>
                  <a:srgbClr val="000000"/>
                </a:solidFill>
                <a:latin typeface="맑은 고딕"/>
                <a:ea typeface="맑은 고딕"/>
              </a:rPr>
              <a:t>시스템 이벤트</a:t>
            </a:r>
            <a:r>
              <a:rPr sz="1800" b="0">
                <a:solidFill>
                  <a:srgbClr val="000000"/>
                </a:solidFill>
                <a:latin typeface="맑은 고딕"/>
                <a:ea typeface="맑은 고딕"/>
              </a:rPr>
              <a:t>는 시스템 경계의 오퍼레이션이 된다. 시스템 안은 블랙박스이며, 이벤트를 받는 쪽인 주문 시스템만 코드로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시스템 시퀀스 다이어그램</a:t>
            </a:r>
          </a:p>
        </p:txBody>
      </p:sp>
      <p:pic>
        <p:nvPicPr>
          <p:cNvPr id="34" name="plantuml Diagram 2"/>
          <p:cNvPicPr>
            <a:picLocks noChangeAspect="1"/>
          </p:cNvPicPr>
          <p:nvPr/>
        </p:nvPicPr>
        <p:blipFill>
          <a:blip r:embed="plantumlImage2"/>
          <a:stretch>
            <a:fillRect/>
          </a:stretch>
        </p:blipFill>
        <p:spPr>
          <a:xfrm>
            <a:off x="3258038" y="2374356"/>
            <a:ext cx="2627923" cy="191965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16. 분석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933649"/>
            <a:ext cx="4114800" cy="17068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 상품(상품명, 판매가) 생략</a:t>
            </a: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int 수량;</a:t>
            </a:r>
          </a:p>
          <a:p>
            <a:pPr marL="0" indent="0" algn="l">
              <a:lnSpc>
                <a:spcPts val="960"/>
              </a:lnSpc>
              <a:spcBef>
                <a:spcPts val="0"/>
              </a:spcBef>
              <a:spcAft>
                <a:spcPts val="0"/>
              </a:spcAft>
              <a:buNone/>
            </a:pPr>
            <a:r>
              <a:rPr sz="800" b="0">
                <a:solidFill>
                  <a:srgbClr val="000000"/>
                </a:solidFill>
                <a:latin typeface="Consolas"/>
                <a:ea typeface="맑은 고딕"/>
              </a:rPr>
              <a:t>    private final int 단가;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int 수량)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a:t>
            </a:r>
            <a:r>
              <a:rPr sz="800" b="1">
                <a:solidFill>
                  <a:srgbClr val="000000"/>
                </a:solidFill>
                <a:latin typeface="Consolas"/>
                <a:ea typeface="맑은 고딕"/>
              </a:rPr>
              <a:t>금액</a:t>
            </a:r>
            <a:r>
              <a:rPr sz="800" b="0">
                <a:solidFill>
                  <a:srgbClr val="000000"/>
                </a:solidFill>
                <a:latin typeface="Consolas"/>
                <a:ea typeface="맑은 고딕"/>
              </a:rPr>
              <a:t>() { return 단가 * 수량;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 시퀀스 다이어그램의 </a:t>
            </a:r>
            <a:r>
              <a:rPr sz="1800" b="1">
                <a:solidFill>
                  <a:srgbClr val="000000"/>
                </a:solidFill>
                <a:latin typeface="맑은 고딕"/>
                <a:ea typeface="맑은 고딕"/>
              </a:rPr>
              <a:t>메시지는 받는 객체의 메서드</a:t>
            </a:r>
            <a:r>
              <a:rPr sz="1800" b="0">
                <a:solidFill>
                  <a:srgbClr val="000000"/>
                </a:solidFill>
                <a:latin typeface="맑은 고딕"/>
                <a:ea typeface="맑은 고딕"/>
              </a:rPr>
              <a:t>가 된다. 생성은 </a:t>
            </a:r>
            <a:r>
              <a:rPr sz="1800" b="0">
                <a:solidFill>
                  <a:srgbClr val="000000"/>
                </a:solidFill>
                <a:latin typeface="맑은 고딕"/>
                <a:ea typeface="맑은 고딕"/>
              </a:rPr>
              <a:t>new</a:t>
            </a:r>
            <a:r>
              <a:rPr sz="1800" b="0">
                <a:solidFill>
                  <a:srgbClr val="000000"/>
                </a:solidFill>
                <a:latin typeface="맑은 고딕"/>
                <a:ea typeface="맑은 고딕"/>
              </a:rPr>
              <a:t>로, 반복은 </a:t>
            </a:r>
            <a:r>
              <a:rPr sz="1800" b="0">
                <a:solidFill>
                  <a:srgbClr val="000000"/>
                </a:solidFill>
                <a:latin typeface="맑은 고딕"/>
                <a:ea typeface="맑은 고딕"/>
              </a:rPr>
              <a:t>for</a:t>
            </a:r>
            <a:r>
              <a:rPr sz="1800" b="0">
                <a:solidFill>
                  <a:srgbClr val="000000"/>
                </a:solidFill>
                <a:latin typeface="맑은 고딕"/>
                <a:ea typeface="맑은 고딕"/>
              </a:rPr>
              <a:t> 문으로 옮긴다. 주문 항목을 추가하고 총액을 구하는 상호작용을 코드로 본다. 주문 항목은 만들어질 때 상품의 </a:t>
            </a:r>
            <a:r>
              <a:rPr sz="1800" b="1">
                <a:solidFill>
                  <a:srgbClr val="000000"/>
                </a:solidFill>
                <a:latin typeface="맑은 고딕"/>
                <a:ea typeface="맑은 고딕"/>
              </a:rPr>
              <a:t>판매가</a:t>
            </a:r>
            <a:r>
              <a:rPr sz="1800" b="0">
                <a:solidFill>
                  <a:srgbClr val="000000"/>
                </a:solidFill>
                <a:latin typeface="맑은 고딕"/>
                <a:ea typeface="맑은 고딕"/>
              </a:rPr>
              <a:t>를 </a:t>
            </a:r>
            <a:r>
              <a:rPr sz="1800" b="1">
                <a:solidFill>
                  <a:srgbClr val="000000"/>
                </a:solidFill>
                <a:latin typeface="맑은 고딕"/>
                <a:ea typeface="맑은 고딕"/>
              </a:rPr>
              <a:t>단가</a:t>
            </a:r>
            <a:r>
              <a:rPr sz="1800" b="0">
                <a:solidFill>
                  <a:srgbClr val="000000"/>
                </a:solidFill>
                <a:latin typeface="맑은 고딕"/>
                <a:ea typeface="맑은 고딕"/>
              </a:rPr>
              <a:t>로 확정한다.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933649"/>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java.util.List&lt;주문항목&gt; 항목들 = new java.util.ArrayList&lt;&gt;();</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주문항목을추가한다</a:t>
            </a:r>
            <a:r>
              <a:rPr sz="800" b="0">
                <a:solidFill>
                  <a:srgbClr val="000000"/>
                </a:solidFill>
                <a:latin typeface="Consolas"/>
                <a:ea typeface="맑은 고딕"/>
              </a:rPr>
              <a:t>(상품 상품, int 수량) {</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a:t>
            </a:r>
            <a:r>
              <a:rPr sz="800" b="1">
                <a:solidFill>
                  <a:srgbClr val="000000"/>
                </a:solidFill>
                <a:latin typeface="Consolas"/>
                <a:ea typeface="맑은 고딕"/>
              </a:rPr>
              <a:t>총액을구한다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합계 = 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357073"/>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항목 추가 시퀀스</a:t>
            </a:r>
          </a:p>
        </p:txBody>
      </p:sp>
      <p:pic>
        <p:nvPicPr>
          <p:cNvPr id="35" name="plantuml Diagram 3"/>
          <p:cNvPicPr>
            <a:picLocks noChangeAspect="1"/>
          </p:cNvPicPr>
          <p:nvPr/>
        </p:nvPicPr>
        <p:blipFill>
          <a:blip r:embed="plantumlImage3"/>
          <a:stretch>
            <a:fillRect/>
          </a:stretch>
        </p:blipFill>
        <p:spPr>
          <a:xfrm>
            <a:off x="2786185" y="2631393"/>
            <a:ext cx="3571631" cy="20828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708005"/>
            <a:ext cx="8412480" cy="34290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주문항목</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상품 상품;</a:t>
            </a:r>
          </a:p>
          <a:p>
            <a:pPr marL="0" indent="0" algn="l">
              <a:lnSpc>
                <a:spcPts val="1080"/>
              </a:lnSpc>
              <a:spcBef>
                <a:spcPts val="0"/>
              </a:spcBef>
              <a:spcAft>
                <a:spcPts val="0"/>
              </a:spcAft>
              <a:buNone/>
            </a:pPr>
            <a:r>
              <a:rPr sz="900" b="0">
                <a:solidFill>
                  <a:srgbClr val="000000"/>
                </a:solidFill>
                <a:latin typeface="Consolas"/>
                <a:ea typeface="맑은 고딕"/>
              </a:rPr>
              <a:t>    private final int 수량;</a:t>
            </a:r>
          </a:p>
          <a:p>
            <a:pPr marL="0" indent="0" algn="l">
              <a:lnSpc>
                <a:spcPts val="1080"/>
              </a:lnSpc>
              <a:spcBef>
                <a:spcPts val="0"/>
              </a:spcBef>
              <a:spcAft>
                <a:spcPts val="0"/>
              </a:spcAft>
              <a:buNone/>
            </a:pPr>
            <a:r>
              <a:rPr sz="900" b="0">
                <a:solidFill>
                  <a:srgbClr val="000000"/>
                </a:solidFill>
                <a:latin typeface="Consolas"/>
                <a:ea typeface="맑은 고딕"/>
              </a:rPr>
              <a:t>    private final int 단가;</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주문항목</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this.상품 = 상품;</a:t>
            </a:r>
          </a:p>
          <a:p>
            <a:pPr marL="0" indent="0" algn="l">
              <a:lnSpc>
                <a:spcPts val="1080"/>
              </a:lnSpc>
              <a:spcBef>
                <a:spcPts val="0"/>
              </a:spcBef>
              <a:spcAft>
                <a:spcPts val="0"/>
              </a:spcAft>
              <a:buNone/>
            </a:pPr>
            <a:r>
              <a:rPr sz="900" b="0">
                <a:solidFill>
                  <a:srgbClr val="000000"/>
                </a:solidFill>
                <a:latin typeface="Consolas"/>
                <a:ea typeface="맑은 고딕"/>
              </a:rPr>
              <a:t>        this.수량 = 수량;</a:t>
            </a:r>
          </a:p>
          <a:p>
            <a:pPr marL="0" indent="0" algn="l">
              <a:lnSpc>
                <a:spcPts val="1080"/>
              </a:lnSpc>
              <a:spcBef>
                <a:spcPts val="0"/>
              </a:spcBef>
              <a:spcAft>
                <a:spcPts val="0"/>
              </a:spcAft>
              <a:buNone/>
            </a:pPr>
            <a:r>
              <a:rPr sz="900" b="0">
                <a:solidFill>
                  <a:srgbClr val="000000"/>
                </a:solidFill>
                <a:latin typeface="Consolas"/>
                <a:ea typeface="맑은 고딕"/>
              </a:rPr>
              <a:t>        this.단가 = 상품.판매가();</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java.util.List&lt;주문항목&gt; 항목들 = new java.util.ArrayList&lt;&gt;();</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주문항목을추가한다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다이어그램의 </a:t>
            </a:r>
            <a:r>
              <a:rPr sz="1800" b="1">
                <a:solidFill>
                  <a:srgbClr val="000000"/>
                </a:solidFill>
                <a:latin typeface="맑은 고딕"/>
                <a:ea typeface="맑은 고딕"/>
              </a:rPr>
              <a:t>링크는 참조</a:t>
            </a:r>
            <a:r>
              <a:rPr sz="1400" b="0">
                <a:solidFill>
                  <a:srgbClr val="000000"/>
                </a:solidFill>
                <a:latin typeface="맑은 고딕"/>
                <a:ea typeface="맑은 고딕"/>
              </a:rPr>
              <a:t>(필드)</a:t>
            </a:r>
            <a:r>
              <a:rPr sz="1800" b="0">
                <a:solidFill>
                  <a:srgbClr val="000000"/>
                </a:solidFill>
                <a:latin typeface="맑은 고딕"/>
                <a:ea typeface="맑은 고딕"/>
              </a:rPr>
              <a:t>가 되고, 번호는 호출의 중첩이 된다. 주문 항목을 추가하는 상호작용을 링크와 번호로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항목 추가 커뮤니케이션</a:t>
            </a:r>
          </a:p>
        </p:txBody>
      </p:sp>
      <p:pic>
        <p:nvPicPr>
          <p:cNvPr id="34" name="plantuml Diagram 4"/>
          <p:cNvPicPr>
            <a:picLocks noChangeAspect="1"/>
          </p:cNvPicPr>
          <p:nvPr/>
        </p:nvPicPr>
        <p:blipFill>
          <a:blip r:embed="plantumlImage4"/>
          <a:stretch>
            <a:fillRect/>
          </a:stretch>
        </p:blipFill>
        <p:spPr>
          <a:xfrm>
            <a:off x="434731" y="2117318"/>
            <a:ext cx="8274538"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19581"/>
            <a:ext cx="8412480" cy="2806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 { 전이(주문상태.결제대기, 주문상태.결제완료);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배송을시작한다</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배송을완료한다</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다이어그램의 </a:t>
            </a:r>
            <a:r>
              <a:rPr sz="1800" b="1">
                <a:solidFill>
                  <a:srgbClr val="000000"/>
                </a:solidFill>
                <a:latin typeface="맑은 고딕"/>
                <a:ea typeface="맑은 고딕"/>
              </a:rPr>
              <a:t>상태·사건·전이</a:t>
            </a:r>
            <a:r>
              <a:rPr sz="1800" b="0">
                <a:solidFill>
                  <a:srgbClr val="000000"/>
                </a:solidFill>
                <a:latin typeface="맑은 고딕"/>
                <a:ea typeface="맑은 고딕"/>
              </a:rPr>
              <a:t>는 코드의 값·메서드·허용 검사가 된다. 규칙이 금지한 전이는 일어날 수 없다. 주문의 생애 전체를 코드로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5"/>
          <p:cNvPicPr>
            <a:picLocks noChangeAspect="1"/>
          </p:cNvPicPr>
          <p:nvPr/>
        </p:nvPicPr>
        <p:blipFill>
          <a:blip r:embed="plantumlImage5"/>
          <a:stretch>
            <a:fillRect/>
          </a:stretch>
        </p:blipFill>
        <p:spPr>
          <a:xfrm>
            <a:off x="1607038" y="2374356"/>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요구에서 테스트로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141448"/>
          <a:ext cx="6670040" cy="3873500"/>
        </p:xfrm>
        <a:graphic>
          <a:graphicData uri="http://schemas.openxmlformats.org/drawingml/2006/table">
            <a:tbl>
              <a:tblPr/>
              <a:tblGrid>
                <a:gridCol w="2540000"/>
                <a:gridCol w="21767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예시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중인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중에서 취소 전이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취소가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취소된 주문은 결제할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결제 전이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 없이 주문할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 생성이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수용·거절 예시</a:t>
            </a:r>
            <a:r>
              <a:rPr sz="1800" b="0">
                <a:solidFill>
                  <a:srgbClr val="000000"/>
                </a:solidFill>
                <a:latin typeface="맑은 고딕"/>
                <a:ea typeface="맑은 고딕"/>
              </a:rPr>
              <a:t>가 그대로 테스트가 된다. 규칙이 금지한 전이는 거절되어야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예시에서 테스트로</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19. 요구에서 테스트로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519654"/>
            <a:ext cx="8412480" cy="3467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주문테스트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static void </a:t>
            </a:r>
            <a:r>
              <a:rPr sz="1000" b="1">
                <a:solidFill>
                  <a:srgbClr val="000000"/>
                </a:solidFill>
                <a:latin typeface="Consolas"/>
                <a:ea typeface="맑은 고딕"/>
              </a:rPr>
              <a:t>main</a:t>
            </a:r>
            <a:r>
              <a:rPr sz="1000" b="0">
                <a:solidFill>
                  <a:srgbClr val="000000"/>
                </a:solidFill>
                <a:latin typeface="Consolas"/>
                <a:ea typeface="맑은 고딕"/>
              </a:rPr>
              <a:t>(String[] args) {</a:t>
            </a:r>
          </a:p>
          <a:p>
            <a:pPr marL="0" indent="0" algn="l">
              <a:lnSpc>
                <a:spcPts val="1150"/>
              </a:lnSpc>
              <a:spcBef>
                <a:spcPts val="0"/>
              </a:spcBef>
              <a:spcAft>
                <a:spcPts val="0"/>
              </a:spcAft>
              <a:buNone/>
            </a:pPr>
            <a:r>
              <a:rPr sz="1000" b="0">
                <a:solidFill>
                  <a:srgbClr val="000000"/>
                </a:solidFill>
                <a:latin typeface="Consolas"/>
                <a:ea typeface="맑은 고딕"/>
              </a:rPr>
              <a:t>        var 배송중인주문 = new 주문();</a:t>
            </a:r>
          </a:p>
          <a:p>
            <a:pPr marL="0" indent="0" algn="l">
              <a:lnSpc>
                <a:spcPts val="1150"/>
              </a:lnSpc>
              <a:spcBef>
                <a:spcPts val="0"/>
              </a:spcBef>
              <a:spcAft>
                <a:spcPts val="0"/>
              </a:spcAft>
              <a:buNone/>
            </a:pPr>
            <a:r>
              <a:rPr sz="1000" b="0">
                <a:solidFill>
                  <a:srgbClr val="000000"/>
                </a:solidFill>
                <a:latin typeface="Consolas"/>
                <a:ea typeface="맑은 고딕"/>
              </a:rPr>
              <a:t>        배송중인주문.결제한다();</a:t>
            </a:r>
          </a:p>
          <a:p>
            <a:pPr marL="0" indent="0" algn="l">
              <a:lnSpc>
                <a:spcPts val="1150"/>
              </a:lnSpc>
              <a:spcBef>
                <a:spcPts val="0"/>
              </a:spcBef>
              <a:spcAft>
                <a:spcPts val="0"/>
              </a:spcAft>
              <a:buNone/>
            </a:pPr>
            <a:r>
              <a:rPr sz="1000" b="0">
                <a:solidFill>
                  <a:srgbClr val="000000"/>
                </a:solidFill>
                <a:latin typeface="Consolas"/>
                <a:ea typeface="맑은 고딕"/>
              </a:rPr>
              <a:t>        배송중인주문.배송을시작한다();</a:t>
            </a:r>
          </a:p>
          <a:p>
            <a:pPr marL="0" indent="0" algn="l">
              <a:lnSpc>
                <a:spcPts val="1150"/>
              </a:lnSpc>
              <a:spcBef>
                <a:spcPts val="0"/>
              </a:spcBef>
              <a:spcAft>
                <a:spcPts val="0"/>
              </a:spcAft>
              <a:buNone/>
            </a:pPr>
            <a:r>
              <a:rPr sz="1000" b="0">
                <a:solidFill>
                  <a:srgbClr val="000000"/>
                </a:solidFill>
                <a:latin typeface="Consolas"/>
                <a:ea typeface="맑은 고딕"/>
              </a:rPr>
              <a:t>        거절(배송중인주문::취소한다);</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var 취소된주문 = new 주문();</a:t>
            </a:r>
          </a:p>
          <a:p>
            <a:pPr marL="0" indent="0" algn="l">
              <a:lnSpc>
                <a:spcPts val="1150"/>
              </a:lnSpc>
              <a:spcBef>
                <a:spcPts val="0"/>
              </a:spcBef>
              <a:spcAft>
                <a:spcPts val="0"/>
              </a:spcAft>
              <a:buNone/>
            </a:pPr>
            <a:r>
              <a:rPr sz="1000" b="0">
                <a:solidFill>
                  <a:srgbClr val="000000"/>
                </a:solidFill>
                <a:latin typeface="Consolas"/>
                <a:ea typeface="맑은 고딕"/>
              </a:rPr>
              <a:t>        취소된주문.결제한다();</a:t>
            </a:r>
          </a:p>
          <a:p>
            <a:pPr marL="0" indent="0" algn="l">
              <a:lnSpc>
                <a:spcPts val="1150"/>
              </a:lnSpc>
              <a:spcBef>
                <a:spcPts val="0"/>
              </a:spcBef>
              <a:spcAft>
                <a:spcPts val="0"/>
              </a:spcAft>
              <a:buNone/>
            </a:pPr>
            <a:r>
              <a:rPr sz="1000" b="0">
                <a:solidFill>
                  <a:srgbClr val="000000"/>
                </a:solidFill>
                <a:latin typeface="Consolas"/>
                <a:ea typeface="맑은 고딕"/>
              </a:rPr>
              <a:t>        취소된주문.취소한다();</a:t>
            </a:r>
          </a:p>
          <a:p>
            <a:pPr marL="0" indent="0" algn="l">
              <a:lnSpc>
                <a:spcPts val="1150"/>
              </a:lnSpc>
              <a:spcBef>
                <a:spcPts val="0"/>
              </a:spcBef>
              <a:spcAft>
                <a:spcPts val="0"/>
              </a:spcAft>
              <a:buNone/>
            </a:pPr>
            <a:r>
              <a:rPr sz="1000" b="0">
                <a:solidFill>
                  <a:srgbClr val="000000"/>
                </a:solidFill>
                <a:latin typeface="Consolas"/>
                <a:ea typeface="맑은 고딕"/>
              </a:rPr>
              <a:t>        거절(취소된주문::결제한다);</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System.out.println("주문 규칙 확인");</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static void </a:t>
            </a:r>
            <a:r>
              <a:rPr sz="1000" b="1">
                <a:solidFill>
                  <a:srgbClr val="000000"/>
                </a:solidFill>
                <a:latin typeface="Consolas"/>
                <a:ea typeface="맑은 고딕"/>
              </a:rPr>
              <a:t>거절</a:t>
            </a:r>
            <a:r>
              <a:rPr sz="1000" b="0">
                <a:solidFill>
                  <a:srgbClr val="000000"/>
                </a:solidFill>
                <a:latin typeface="Consolas"/>
                <a:ea typeface="맑은 고딕"/>
              </a:rPr>
              <a:t>(Runnable 행위) {</a:t>
            </a:r>
          </a:p>
          <a:p>
            <a:pPr marL="0" indent="0" algn="l">
              <a:lnSpc>
                <a:spcPts val="1150"/>
              </a:lnSpc>
              <a:spcBef>
                <a:spcPts val="0"/>
              </a:spcBef>
              <a:spcAft>
                <a:spcPts val="0"/>
              </a:spcAft>
              <a:buNone/>
            </a:pPr>
            <a:r>
              <a:rPr sz="1000" b="0">
                <a:solidFill>
                  <a:srgbClr val="000000"/>
                </a:solidFill>
                <a:latin typeface="Consolas"/>
                <a:ea typeface="맑은 고딕"/>
              </a:rPr>
              <a:t>        try { 행위.run(); } catch (IllegalStateException 기대한거절) { return; }</a:t>
            </a:r>
          </a:p>
          <a:p>
            <a:pPr marL="0" indent="0" algn="l">
              <a:lnSpc>
                <a:spcPts val="1150"/>
              </a:lnSpc>
              <a:spcBef>
                <a:spcPts val="0"/>
              </a:spcBef>
              <a:spcAft>
                <a:spcPts val="0"/>
              </a:spcAft>
              <a:buNone/>
            </a:pPr>
            <a:r>
              <a:rPr sz="1000" b="0">
                <a:solidFill>
                  <a:srgbClr val="000000"/>
                </a:solidFill>
                <a:latin typeface="Consolas"/>
                <a:ea typeface="맑은 고딕"/>
              </a:rPr>
              <a:t>        throw new AssertionError("거절되어야 한다");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636776"/>
            <a:ext cx="8412480" cy="78127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예시를 </a:t>
            </a:r>
            <a:r>
              <a:rPr sz="1800" b="1">
                <a:solidFill>
                  <a:srgbClr val="000000"/>
                </a:solidFill>
                <a:latin typeface="맑은 고딕"/>
                <a:ea typeface="맑은 고딕"/>
              </a:rPr>
              <a:t>실행되는 테스트</a:t>
            </a:r>
            <a:r>
              <a:rPr sz="1800" b="0">
                <a:solidFill>
                  <a:srgbClr val="000000"/>
                </a:solidFill>
                <a:latin typeface="맑은 고딕"/>
                <a:ea typeface="맑은 고딕"/>
              </a:rPr>
              <a:t>로 옮긴다. 「18. 상태 기계 다이어그램」의 주문 코드와 함께 실행한다.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요구의 수용·거절 예시가 그대로 테스트가 된다. 규칙이 금지한 전이는 거절되어야 한다.</a:t>
            </a:r>
          </a:p>
        </p:txBody>
      </p:sp>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소프트웨어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 수준에서 무엇을 주요 구성 요소로 나누고 어떻게 연결하며, 어떤 경계와 원칙에 따라 설계·변경할지를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환경 속 시스템의 근본적인 개념·속성이며, </a:t>
            </a:r>
            <a:r>
              <a:rPr sz="1800" b="1">
                <a:solidFill>
                  <a:srgbClr val="000000"/>
                </a:solidFill>
                <a:latin typeface="맑은 고딕"/>
                <a:ea typeface="맑은 고딕"/>
              </a:rPr>
              <a:t>요소·관계·설계 및 진화 원칙</a:t>
            </a:r>
            <a:r>
              <a:rPr sz="1800" b="0">
                <a:solidFill>
                  <a:srgbClr val="000000"/>
                </a:solidFill>
                <a:latin typeface="맑은 고딕"/>
                <a:ea typeface="맑은 고딕"/>
              </a:rPr>
              <a:t>에 구현된다"</a:t>
            </a:r>
            <a:r>
              <a:rPr sz="1000" b="0">
                <a:solidFill>
                  <a:srgbClr val="000000"/>
                </a:solidFill>
                <a:latin typeface="맑은 고딕"/>
                <a:ea typeface="맑은 고딕"/>
              </a:rPr>
              <a:t>, </a:t>
            </a:r>
            <a:r>
              <a:rPr sz="1000" b="0">
                <a:solidFill>
                  <a:srgbClr val="000000"/>
                </a:solidFill>
                <a:latin typeface="맑은 고딕"/>
                <a:ea typeface="맑은 고딕"/>
              </a:rPr>
              <a:t>"Fundamental concepts or properties of a system in its environment embodied in its elements, relationships, and in the principles of its design and evolution."</a:t>
            </a:r>
            <a:r>
              <a:rPr sz="1000" b="0">
                <a:solidFill>
                  <a:srgbClr val="000000"/>
                </a:solidFill>
                <a:latin typeface="맑은 고딕"/>
                <a:ea typeface="맑은 고딕"/>
              </a:rPr>
              <a:t>, </a:t>
            </a:r>
            <a:r>
              <a:rPr sz="1000" b="0">
                <a:solidFill>
                  <a:srgbClr val="000000"/>
                </a:solidFill>
                <a:latin typeface="맑은 고딕"/>
                <a:ea typeface="맑은 고딕"/>
              </a:rPr>
              <a:t>ISO/IEC/IEEE 42010, www</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구성 요소</a:t>
            </a:r>
            <a:r>
              <a:rPr sz="1800" b="0">
                <a:solidFill>
                  <a:srgbClr val="000000"/>
                </a:solidFill>
                <a:latin typeface="맑은 고딕"/>
                <a:ea typeface="맑은 고딕"/>
              </a:rPr>
              <a:t> —</a:t>
            </a:r>
            <a:r>
              <a:rPr sz="1600" b="0">
                <a:solidFill>
                  <a:srgbClr val="000000"/>
                </a:solidFill>
                <a:latin typeface="맑은 고딕"/>
                <a:ea typeface="맑은 고딕"/>
              </a:rPr>
              <a:t> 컴포넌트·서브시스템 등 시스템의 주요 부분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관계와 연결</a:t>
            </a:r>
            <a:r>
              <a:rPr sz="1800" b="0">
                <a:solidFill>
                  <a:srgbClr val="000000"/>
                </a:solidFill>
                <a:latin typeface="맑은 고딕"/>
                <a:ea typeface="맑은 고딕"/>
              </a:rPr>
              <a:t> —</a:t>
            </a:r>
            <a:r>
              <a:rPr sz="1600" b="0">
                <a:solidFill>
                  <a:srgbClr val="000000"/>
                </a:solidFill>
                <a:latin typeface="맑은 고딕"/>
                <a:ea typeface="맑은 고딕"/>
              </a:rPr>
              <a:t> 구성 요소 사이의 협력·의존성·인터페이스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책임과 변경 영향을 구분하는 구조</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설계·진화 원칙</a:t>
            </a:r>
            <a:r>
              <a:rPr sz="1800" b="0">
                <a:solidFill>
                  <a:srgbClr val="000000"/>
                </a:solidFill>
                <a:latin typeface="맑은 고딕"/>
                <a:ea typeface="맑은 고딕"/>
              </a:rPr>
              <a:t> —</a:t>
            </a:r>
            <a:r>
              <a:rPr sz="1600" b="0">
                <a:solidFill>
                  <a:srgbClr val="000000"/>
                </a:solidFill>
                <a:latin typeface="맑은 고딕"/>
                <a:ea typeface="맑은 고딕"/>
              </a:rPr>
              <a:t> 품질속성과 제약을 고려한 주요 결정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설계가 객체·모듈의 책임과 협력을 구체화한다면, 아키텍처는 </a:t>
            </a:r>
            <a:r>
              <a:rPr sz="1800" b="1">
                <a:solidFill>
                  <a:srgbClr val="000000"/>
                </a:solidFill>
                <a:latin typeface="맑은 고딕"/>
                <a:ea typeface="맑은 고딕"/>
              </a:rPr>
              <a:t>시스템 전체의 구조와 경계</a:t>
            </a:r>
            <a:r>
              <a:rPr sz="1800" b="0">
                <a:solidFill>
                  <a:srgbClr val="000000"/>
                </a:solidFill>
                <a:latin typeface="맑은 고딕"/>
                <a:ea typeface="맑은 고딕"/>
              </a:rPr>
              <a:t>를 다룬다.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4846320" cy="52578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책임</a:t>
            </a:r>
            <a:r>
              <a:rPr sz="1400" b="1">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경계</a:t>
            </a:r>
            <a:r>
              <a:rPr sz="1400" b="1">
                <a:solidFill>
                  <a:srgbClr val="000000"/>
                </a:solidFill>
                <a:latin typeface="맑은 고딕"/>
                <a:ea typeface="맑은 고딕"/>
              </a:rPr>
              <a:t>(Boundary)</a:t>
            </a:r>
            <a:r>
              <a:rPr sz="1800" b="0">
                <a:solidFill>
                  <a:srgbClr val="000000"/>
                </a:solidFill>
                <a:latin typeface="맑은 고딕"/>
                <a:ea typeface="맑은 고딕"/>
              </a:rPr>
              <a:t>는 객체지향 설계의 핵심 판단이다. </a:t>
            </a:r>
            <a:r>
              <a:rPr sz="1800" b="1">
                <a:solidFill>
                  <a:srgbClr val="000000"/>
                </a:solidFill>
                <a:latin typeface="맑은 고딕"/>
                <a:ea typeface="맑은 고딕"/>
              </a:rPr>
              <a:t>누가 무엇을 책임지고 어디에 경계를 둘 것인가</a:t>
            </a:r>
            <a:r>
              <a:rPr sz="1800" b="0">
                <a:solidFill>
                  <a:srgbClr val="000000"/>
                </a:solidFill>
                <a:latin typeface="맑은 고딕"/>
                <a:ea typeface="맑은 고딕"/>
              </a:rPr>
              <a:t>를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상태와 취소 규칙은 </a:t>
            </a:r>
            <a:r>
              <a:rPr sz="1600" b="1">
                <a:solidFill>
                  <a:srgbClr val="000000"/>
                </a:solidFill>
                <a:latin typeface="맑은 고딕"/>
                <a:ea typeface="맑은 고딕"/>
              </a:rPr>
              <a:t>주문</a:t>
            </a:r>
            <a:r>
              <a:rPr sz="1600" b="0">
                <a:solidFill>
                  <a:srgbClr val="000000"/>
                </a:solidFill>
                <a:latin typeface="맑은 고딕"/>
                <a:ea typeface="맑은 고딕"/>
              </a:rPr>
              <a:t>이 갖고 판단한다. 환불 규칙</a:t>
            </a:r>
            <a:r>
              <a:rPr sz="1200" b="0">
                <a:solidFill>
                  <a:srgbClr val="000000"/>
                </a:solidFill>
                <a:latin typeface="맑은 고딕"/>
                <a:ea typeface="맑은 고딕"/>
              </a:rPr>
              <a:t>(환불 ≤ 결제 금액)</a:t>
            </a:r>
            <a:r>
              <a:rPr sz="1600" b="0">
                <a:solidFill>
                  <a:srgbClr val="000000"/>
                </a:solidFill>
                <a:latin typeface="맑은 고딕"/>
                <a:ea typeface="맑은 고딕"/>
              </a:rPr>
              <a:t>은 </a:t>
            </a:r>
            <a:r>
              <a:rPr sz="1600" b="1">
                <a:solidFill>
                  <a:srgbClr val="000000"/>
                </a:solidFill>
                <a:latin typeface="맑은 고딕"/>
                <a:ea typeface="맑은 고딕"/>
              </a:rPr>
              <a:t>결제</a:t>
            </a:r>
            <a:r>
              <a:rPr sz="1600" b="0">
                <a:solidFill>
                  <a:srgbClr val="000000"/>
                </a:solidFill>
                <a:latin typeface="맑은 고딕"/>
                <a:ea typeface="맑은 고딕"/>
              </a:rPr>
              <a:t>가 갖는다.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함께 바뀌는 </a:t>
            </a:r>
            <a:r>
              <a:rPr sz="1600" b="1">
                <a:solidFill>
                  <a:srgbClr val="000000"/>
                </a:solidFill>
                <a:latin typeface="맑은 고딕"/>
                <a:ea typeface="맑은 고딕"/>
              </a:rPr>
              <a:t>상태와 규칙</a:t>
            </a:r>
            <a:r>
              <a:rPr sz="1600" b="0">
                <a:solidFill>
                  <a:srgbClr val="000000"/>
                </a:solidFill>
                <a:latin typeface="맑은 고딕"/>
                <a:ea typeface="맑은 고딕"/>
              </a:rPr>
              <a:t>을 묶는다. 취소 규칙이 바뀌어도 결제·배송은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"데이터를 어디에 둘까?"보다 </a:t>
            </a:r>
            <a:r>
              <a:rPr sz="1800" b="1">
                <a:solidFill>
                  <a:srgbClr val="000000"/>
                </a:solidFill>
                <a:latin typeface="맑은 고딕"/>
                <a:ea typeface="맑은 고딕"/>
              </a:rPr>
              <a:t>"누가 이 판단을 책임질까?"</a:t>
            </a:r>
            <a:r>
              <a:rPr sz="1800" b="0">
                <a:solidFill>
                  <a:srgbClr val="000000"/>
                </a:solidFill>
                <a:latin typeface="맑은 고딕"/>
                <a:ea typeface="맑은 고딕"/>
              </a:rPr>
              <a:t>를 먼저 묻는다.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4371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주문·결제·배송의 책임과 경계</a:t>
            </a:r>
          </a:p>
        </p:txBody>
      </p:sp>
      <p:pic>
        <p:nvPicPr>
          <p:cNvPr id="10" name="plantuml Diagram 6"/>
          <p:cNvPicPr>
            <a:picLocks noChangeAspect="1"/>
          </p:cNvPicPr>
          <p:nvPr/>
        </p:nvPicPr>
        <p:blipFill>
          <a:blip r:embed="plantumlImage6"/>
          <a:stretch>
            <a:fillRect/>
          </a:stretch>
        </p:blipFill>
        <p:spPr>
          <a:xfrm>
            <a:off x="6106355" y="2818032"/>
            <a:ext cx="1914769" cy="20906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메시지와 협력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메시지</a:t>
            </a:r>
            <a:r>
              <a:rPr sz="1800" b="0">
                <a:solidFill>
                  <a:srgbClr val="000000"/>
                </a:solidFill>
                <a:latin typeface="맑은 고딕"/>
                <a:ea typeface="맑은 고딕"/>
              </a:rPr>
              <a:t>를 받아 자기 </a:t>
            </a:r>
            <a:r>
              <a:rPr sz="1800" b="1">
                <a:solidFill>
                  <a:srgbClr val="000000"/>
                </a:solidFill>
                <a:latin typeface="맑은 고딕"/>
                <a:ea typeface="맑은 고딕"/>
              </a:rPr>
              <a:t>책임</a:t>
            </a:r>
            <a:r>
              <a:rPr sz="1800" b="0">
                <a:solidFill>
                  <a:srgbClr val="000000"/>
                </a:solidFill>
                <a:latin typeface="맑은 고딕"/>
                <a:ea typeface="맑은 고딕"/>
              </a:rPr>
              <a:t>으로 판단하고 </a:t>
            </a:r>
            <a:r>
              <a:rPr sz="1800" b="1">
                <a:solidFill>
                  <a:srgbClr val="000000"/>
                </a:solidFill>
                <a:latin typeface="맑은 고딕"/>
                <a:ea typeface="맑은 고딕"/>
              </a:rPr>
              <a:t>협력</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"객체지향은 오직 </a:t>
            </a:r>
            <a:r>
              <a:rPr sz="1800" b="1">
                <a:solidFill>
                  <a:srgbClr val="000000"/>
                </a:solidFill>
                <a:latin typeface="맑은 고딕"/>
                <a:ea typeface="맑은 고딕"/>
              </a:rPr>
              <a:t>메시징</a:t>
            </a:r>
            <a:r>
              <a:rPr sz="1800" b="0">
                <a:solidFill>
                  <a:srgbClr val="000000"/>
                </a:solidFill>
                <a:latin typeface="맑은 고딕"/>
                <a:ea typeface="맑은 고딕"/>
              </a:rPr>
              <a:t>, 상태·프로세스의 </a:t>
            </a:r>
            <a:r>
              <a:rPr sz="1800" b="1">
                <a:solidFill>
                  <a:srgbClr val="000000"/>
                </a:solidFill>
                <a:latin typeface="맑은 고딕"/>
                <a:ea typeface="맑은 고딕"/>
              </a:rPr>
              <a:t>지역적 보존·보호·은닉</a:t>
            </a:r>
            <a:r>
              <a:rPr sz="1800" b="0">
                <a:solidFill>
                  <a:srgbClr val="000000"/>
                </a:solidFill>
                <a:latin typeface="맑은 고딕"/>
                <a:ea typeface="맑은 고딕"/>
              </a:rPr>
              <a:t>, 그리고 모든 것의 </a:t>
            </a:r>
            <a:r>
              <a:rPr sz="1800" b="1">
                <a:solidFill>
                  <a:srgbClr val="000000"/>
                </a:solidFill>
                <a:latin typeface="맑은 고딕"/>
                <a:ea typeface="맑은 고딕"/>
              </a:rPr>
              <a:t>극단적으로 늦은 바인딩</a:t>
            </a:r>
            <a:r>
              <a:rPr sz="1800" b="0">
                <a:solidFill>
                  <a:srgbClr val="000000"/>
                </a:solidFill>
                <a:latin typeface="맑은 고딕"/>
                <a:ea typeface="맑은 고딕"/>
              </a:rPr>
              <a:t>을 의미한다"</a:t>
            </a:r>
            <a:r>
              <a:rPr sz="1000" b="0">
                <a:solidFill>
                  <a:srgbClr val="000000"/>
                </a:solidFill>
                <a:latin typeface="맑은 고딕"/>
                <a:ea typeface="맑은 고딕"/>
              </a:rPr>
              <a:t>, </a:t>
            </a:r>
            <a:r>
              <a:rPr sz="1000" b="0">
                <a:solidFill>
                  <a:srgbClr val="000000"/>
                </a:solidFill>
                <a:latin typeface="맑은 고딕"/>
                <a:ea typeface="맑은 고딕"/>
              </a:rPr>
              <a:t>"OOP to me means only messaging, local retention and protection and hiding of state-process, and extreme late-binding of all things."</a:t>
            </a:r>
            <a:r>
              <a:rPr sz="1000" b="0">
                <a:solidFill>
                  <a:srgbClr val="000000"/>
                </a:solidFill>
                <a:latin typeface="맑은 고딕"/>
                <a:ea typeface="맑은 고딕"/>
              </a:rPr>
              <a:t>, </a:t>
            </a:r>
            <a:r>
              <a:rPr sz="1000" b="0">
                <a:solidFill>
                  <a:srgbClr val="000000"/>
                </a:solidFill>
                <a:latin typeface="맑은 고딕"/>
                <a:ea typeface="맑은 고딕"/>
              </a:rPr>
              <a:t>[Kay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서비스</a:t>
            </a:r>
            <a:r>
              <a:rPr sz="1800" b="0">
                <a:solidFill>
                  <a:srgbClr val="000000"/>
                </a:solidFill>
                <a:latin typeface="맑은 고딕"/>
                <a:ea typeface="맑은 고딕"/>
              </a:rPr>
              <a:t>는 맡길 뿐 규칙을 다시 구현하지 않는다. 취소 판단과 </a:t>
            </a:r>
            <a:r>
              <a:rPr sz="1800" b="1">
                <a:solidFill>
                  <a:srgbClr val="000000"/>
                </a:solidFill>
                <a:latin typeface="맑은 고딕"/>
                <a:ea typeface="맑은 고딕"/>
              </a:rPr>
              <a:t>순서</a:t>
            </a:r>
            <a:r>
              <a:rPr sz="1400" b="0">
                <a:solidFill>
                  <a:srgbClr val="000000"/>
                </a:solidFill>
                <a:latin typeface="맑은 고딕"/>
                <a:ea typeface="맑은 고딕"/>
              </a:rPr>
              <a:t>(출고 중단 → 환불)</a:t>
            </a:r>
            <a:r>
              <a:rPr sz="1800" b="0">
                <a:solidFill>
                  <a:srgbClr val="000000"/>
                </a:solidFill>
                <a:latin typeface="맑은 고딕"/>
                <a:ea typeface="맑은 고딕"/>
              </a:rPr>
              <a:t>는 </a:t>
            </a:r>
            <a:r>
              <a:rPr sz="1800" b="1">
                <a:solidFill>
                  <a:srgbClr val="000000"/>
                </a:solidFill>
                <a:latin typeface="맑은 고딕"/>
                <a:ea typeface="맑은 고딕"/>
              </a:rPr>
              <a:t>주문</a:t>
            </a:r>
            <a:r>
              <a:rPr sz="1800" b="0">
                <a:solidFill>
                  <a:srgbClr val="000000"/>
                </a:solidFill>
                <a:latin typeface="맑은 고딕"/>
                <a:ea typeface="맑은 고딕"/>
              </a:rPr>
              <a:t>이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56235"/>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취소의 협력</a:t>
            </a:r>
          </a:p>
        </p:txBody>
      </p:sp>
      <p:pic>
        <p:nvPicPr>
          <p:cNvPr id="10" name="plantuml Diagram 7"/>
          <p:cNvPicPr>
            <a:picLocks noChangeAspect="1"/>
          </p:cNvPicPr>
          <p:nvPr/>
        </p:nvPicPr>
        <p:blipFill>
          <a:blip r:embed="plantumlImage7"/>
          <a:stretch>
            <a:fillRect/>
          </a:stretch>
        </p:blipFill>
        <p:spPr>
          <a:xfrm>
            <a:off x="2242038" y="4230555"/>
            <a:ext cx="4659923" cy="19001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분석 모델에서 설계 모델로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개념을 설계 클래스로 </a:t>
            </a:r>
            <a:r>
              <a:rPr sz="1800" b="1">
                <a:solidFill>
                  <a:srgbClr val="000000"/>
                </a:solidFill>
                <a:latin typeface="맑은 고딕"/>
                <a:ea typeface="맑은 고딕"/>
              </a:rPr>
              <a:t>1:1 기계 변환하지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주문 항목, 결제, 배송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주문, 주문 서비스, 주문 저장소, 결제 연동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 주문 → </a:t>
            </a:r>
            <a:r>
              <a:rPr sz="1800" b="1">
                <a:solidFill>
                  <a:srgbClr val="000000"/>
                </a:solidFill>
                <a:latin typeface="맑은 고딕"/>
                <a:ea typeface="맑은 고딕"/>
              </a:rPr>
              <a:t>주문</a:t>
            </a:r>
            <a:r>
              <a:rPr sz="1400" b="0">
                <a:solidFill>
                  <a:srgbClr val="000000"/>
                </a:solidFill>
                <a:latin typeface="맑은 고딕"/>
                <a:ea typeface="맑은 고딕"/>
              </a:rPr>
              <a:t>(상태·규칙)</a:t>
            </a:r>
            <a:r>
              <a:rPr sz="1800" b="0">
                <a:solidFill>
                  <a:srgbClr val="000000"/>
                </a:solidFill>
                <a:latin typeface="맑은 고딕"/>
                <a:ea typeface="맑은 고딕"/>
              </a:rPr>
              <a:t>, </a:t>
            </a:r>
            <a:r>
              <a:rPr sz="1800" b="1">
                <a:solidFill>
                  <a:srgbClr val="000000"/>
                </a:solidFill>
                <a:latin typeface="맑은 고딕"/>
                <a:ea typeface="맑은 고딕"/>
              </a:rPr>
              <a:t>주문 서비스</a:t>
            </a:r>
            <a:r>
              <a:rPr sz="1400" b="0">
                <a:solidFill>
                  <a:srgbClr val="000000"/>
                </a:solidFill>
                <a:latin typeface="맑은 고딕"/>
                <a:ea typeface="맑은 고딕"/>
              </a:rPr>
              <a:t>(조정)</a:t>
            </a:r>
            <a:r>
              <a:rPr sz="1800" b="0">
                <a:solidFill>
                  <a:srgbClr val="000000"/>
                </a:solidFill>
                <a:latin typeface="맑은 고딕"/>
                <a:ea typeface="맑은 고딕"/>
              </a:rPr>
              <a:t>, </a:t>
            </a:r>
            <a:r>
              <a:rPr sz="1800" b="1">
                <a:solidFill>
                  <a:srgbClr val="000000"/>
                </a:solidFill>
                <a:latin typeface="맑은 고딕"/>
                <a:ea typeface="맑은 고딕"/>
              </a:rPr>
              <a:t>주문 저장소</a:t>
            </a:r>
            <a:r>
              <a:rPr sz="1400" b="0">
                <a:solidFill>
                  <a:srgbClr val="000000"/>
                </a:solidFill>
                <a:latin typeface="맑은 고딕"/>
                <a:ea typeface="맑은 고딕"/>
              </a:rPr>
              <a:t>(찾기·저장)</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연동·주문 저장소는 외부 연동과 영속성 요구를 검토하며 </a:t>
            </a:r>
            <a:r>
              <a:rPr sz="1800" b="1">
                <a:solidFill>
                  <a:srgbClr val="000000"/>
                </a:solidFill>
                <a:latin typeface="맑은 고딕"/>
                <a:ea typeface="맑은 고딕"/>
              </a:rPr>
              <a:t>필요 여부</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분석 모델에서 설계 모델로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3215344"/>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636776"/>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다이어그램은 설계도가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다이어그램은 코드로 </a:t>
            </a:r>
            <a:r>
              <a:rPr sz="1800" b="1">
                <a:solidFill>
                  <a:srgbClr val="000000"/>
                </a:solidFill>
                <a:latin typeface="맑은 고딕"/>
                <a:ea typeface="맑은 고딕"/>
              </a:rPr>
              <a:t>옮겨 적는 설계도가 아니다</a:t>
            </a:r>
            <a:r>
              <a:rPr sz="18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1689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분석·설계·코드에서 볼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6894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한 조각이 </a:t>
            </a:r>
            <a:r>
              <a:rPr sz="1800" b="1">
                <a:solidFill>
                  <a:srgbClr val="000000"/>
                </a:solidFill>
                <a:latin typeface="맑은 고딕"/>
                <a:ea typeface="맑은 고딕"/>
              </a:rPr>
              <a:t>보장하는 것</a:t>
            </a:r>
            <a:r>
              <a:rPr sz="1800" b="0">
                <a:solidFill>
                  <a:srgbClr val="000000"/>
                </a:solidFill>
                <a:latin typeface="맑은 고딕"/>
                <a:ea typeface="맑은 고딕"/>
              </a:rPr>
              <a:t>과 모델 전체의 </a:t>
            </a:r>
            <a:r>
              <a:rPr sz="1800" b="1">
                <a:solidFill>
                  <a:srgbClr val="000000"/>
                </a:solidFill>
                <a:latin typeface="맑은 고딕"/>
                <a:ea typeface="맑은 고딕"/>
              </a:rPr>
              <a:t>제약</a:t>
            </a:r>
            <a:r>
              <a:rPr sz="1800" b="0">
                <a:solidFill>
                  <a:srgbClr val="000000"/>
                </a:solidFill>
                <a:latin typeface="맑은 고딕"/>
                <a:ea typeface="맑은 고딕"/>
              </a:rPr>
              <a:t>은 다르다. 보장하지 못하는 제약은 누가 지킬지 설계에서 정한다.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분석 모델의 개념을 설계 클래스로 1:1 기계 변환하지 않는다. 설계에서는 책임·경계·협력을 다시 결정한다.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는 </a:t>
            </a:r>
            <a:r>
              <a:rPr sz="1800" b="1">
                <a:solidFill>
                  <a:srgbClr val="000000"/>
                </a:solidFill>
                <a:latin typeface="맑은 고딕"/>
                <a:ea typeface="맑은 고딕"/>
              </a:rPr>
              <a:t>주요 위험을 줄이고 다음 검증으로 갈 만큼만</a:t>
            </a:r>
            <a:r>
              <a:rPr sz="1800" b="0">
                <a:solidFill>
                  <a:srgbClr val="000000"/>
                </a:solidFill>
                <a:latin typeface="맑은 고딕"/>
                <a:ea typeface="맑은 고딕"/>
              </a:rPr>
              <a:t> 분석·설계하는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분석·설계의 수준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결정이 추측하지 않을 만큼</a:t>
            </a:r>
            <a:r>
              <a:rPr sz="1800" b="0">
                <a:solidFill>
                  <a:srgbClr val="000000"/>
                </a:solidFill>
                <a:latin typeface="맑은 고딕"/>
                <a:ea typeface="맑은 고딕"/>
              </a:rPr>
              <a:t> 명시한다. 핵심 규칙을 빈칸으로 두는 것은 자유도가 아니라 </a:t>
            </a:r>
            <a:r>
              <a:rPr sz="1800" b="1">
                <a:solidFill>
                  <a:srgbClr val="000000"/>
                </a:solidFill>
                <a:latin typeface="맑은 고딕"/>
                <a:ea typeface="맑은 고딕"/>
              </a:rPr>
              <a:t>숨은 위험</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북 스마트와 스트리트 스마트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398486"/>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한쪽만 있을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KISS·DRY·YAGNI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부분 취소·쿠폰은 안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원칙의 의미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피드백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12824"/>
            <a:ext cx="8412480" cy="274320"/>
          </a:xfrm>
          <a:prstGeom prst="rect">
            <a:avLst/>
          </a:prstGeom>
          <a:noFill/>
        </p:spPr>
        <p:txBody>
          <a:bodyPr wrap="square">
            <a:spAutoFit/>
          </a:bodyPr>
          <a:lstStyle/>
          <a:p>
            <a:pPr algn="ctr"/>
            <a:r>
              <a:rPr sz="1400" b="1">
                <a:solidFill>
                  <a:srgbClr val="000000"/>
                </a:solidFill>
                <a:latin typeface="맑은 고딕"/>
                <a:ea typeface="맑은 고딕"/>
              </a:rPr>
              <a:t>피드백의 방향</a:t>
            </a:r>
          </a:p>
        </p:txBody>
      </p:sp>
      <p:pic>
        <p:nvPicPr>
          <p:cNvPr id="10" name="mermaid Diagram 5"/>
          <p:cNvPicPr>
            <a:picLocks noChangeAspect="1"/>
          </p:cNvPicPr>
          <p:nvPr/>
        </p:nvPicPr>
        <p:blipFill>
          <a:blip r:embed="mermaidImage5"/>
          <a:stretch>
            <a:fillRect/>
          </a:stretch>
        </p:blipFill>
        <p:spPr>
          <a:xfrm>
            <a:off x="1460500" y="3987144"/>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피드백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922736"/>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344168"/>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검증의 배치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테스트는 앞 활동을 </a:t>
            </a:r>
            <a:r>
              <a:rPr sz="1800" b="1">
                <a:solidFill>
                  <a:srgbClr val="000000"/>
                </a:solidFill>
                <a:latin typeface="맑은 고딕"/>
                <a:ea typeface="맑은 고딕"/>
              </a:rPr>
              <a:t>생략해도 된다는 허가가 아니다</a:t>
            </a:r>
            <a:r>
              <a:rPr sz="18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2428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검증의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523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모호하면 자동화보다 </a:t>
            </a:r>
            <a:r>
              <a:rPr sz="1800" b="1">
                <a:solidFill>
                  <a:srgbClr val="000000"/>
                </a:solidFill>
                <a:latin typeface="맑은 고딕"/>
                <a:ea typeface="맑은 고딕"/>
              </a:rPr>
              <a:t>허용·거절 예시의 합의</a:t>
            </a:r>
            <a:r>
              <a:rPr sz="1800" b="0">
                <a:solidFill>
                  <a:srgbClr val="000000"/>
                </a:solidFill>
                <a:latin typeface="맑은 고딕"/>
                <a:ea typeface="맑은 고딕"/>
              </a:rPr>
              <a:t>가 먼저다. 자동화는 합의된 규칙의 </a:t>
            </a:r>
            <a:r>
              <a:rPr sz="1800" b="1">
                <a:solidFill>
                  <a:srgbClr val="000000"/>
                </a:solidFill>
                <a:latin typeface="맑은 고딕"/>
                <a:ea typeface="맑은 고딕"/>
              </a:rPr>
              <a:t>회귀</a:t>
            </a:r>
            <a:r>
              <a:rPr sz="1800" b="0">
                <a:solidFill>
                  <a:srgbClr val="000000"/>
                </a:solidFill>
                <a:latin typeface="맑은 고딕"/>
                <a:ea typeface="맑은 고딕"/>
              </a:rPr>
              <a:t>를 막는다.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960120"/>
            <a:ext cx="8412480" cy="384048"/>
          </a:xfrm>
          <a:prstGeom prst="rect">
            <a:avLst/>
          </a:prstGeom>
          <a:noFill/>
        </p:spPr>
        <p:txBody>
          <a:bodyPr wrap="square">
            <a:spAutoFit/>
          </a:bodyPr>
          <a:lstStyle/>
          <a:p>
            <a:r>
              <a:rPr sz="1800" b="0" i="1">
                <a:solidFill>
                  <a:srgbClr val="000000"/>
                </a:solidFill>
                <a:latin typeface="맑은 고딕"/>
                <a:ea typeface="맑은 고딕"/>
              </a:rPr>
              <a:t>구현·테스트의 오류는 앞선 요구·분석·설계 판단을 되돌아볼 증거다.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흔한 오해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2141448"/>
          <a:ext cx="8153400" cy="3873500"/>
        </p:xfrm>
        <a:graphic>
          <a:graphicData uri="http://schemas.openxmlformats.org/drawingml/2006/table">
            <a:tbl>
              <a:tblPr/>
              <a:tblGrid>
                <a:gridCol w="3154680"/>
                <a:gridCol w="499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흔한 오해와 바른 판단</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전문 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2141448"/>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전문 영역이 더하는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a:t>
            </a:r>
            <a:r>
              <a:rPr sz="1800" b="1">
                <a:solidFill>
                  <a:srgbClr val="000000"/>
                </a:solidFill>
                <a:latin typeface="맑은 고딕"/>
                <a:ea typeface="맑은 고딕"/>
              </a:rPr>
              <a:t>마지막 단계가 아니다</a:t>
            </a:r>
            <a:r>
              <a:rPr sz="1800" b="0">
                <a:solidFill>
                  <a:srgbClr val="000000"/>
                </a:solidFill>
                <a:latin typeface="맑은 고딕"/>
                <a:ea typeface="맑은 고딕"/>
              </a:rPr>
              <a:t>. 위험과 제약이 크면 판단과 검증을 </a:t>
            </a:r>
            <a:r>
              <a:rPr sz="1800" b="1">
                <a:solidFill>
                  <a:srgbClr val="000000"/>
                </a:solidFill>
                <a:latin typeface="맑은 고딕"/>
                <a:ea typeface="맑은 고딕"/>
              </a:rPr>
              <a:t>앞당긴다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도메인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주도 설계는 </a:t>
            </a:r>
            <a:r>
              <a:rPr sz="1800" b="1">
                <a:solidFill>
                  <a:srgbClr val="000000"/>
                </a:solidFill>
                <a:latin typeface="맑은 고딕"/>
                <a:ea typeface="맑은 고딕"/>
              </a:rPr>
              <a:t>책임 주도 설계·계약에 의한 설계·Larman의 객체지향 설계 모범 사례</a:t>
            </a:r>
            <a:r>
              <a:rPr sz="1800" b="0">
                <a:solidFill>
                  <a:srgbClr val="000000"/>
                </a:solidFill>
                <a:latin typeface="맑은 고딕"/>
                <a:ea typeface="맑은 고딕"/>
              </a:rPr>
              <a:t>를 토대로 한다</a:t>
            </a:r>
            <a:r>
              <a:rPr sz="1000" b="0">
                <a:solidFill>
                  <a:srgbClr val="000000"/>
                </a:solidFill>
                <a:latin typeface="맑은 고딕"/>
                <a:ea typeface="맑은 고딕"/>
              </a:rPr>
              <a:t>, </a:t>
            </a:r>
            <a:r>
              <a:rPr sz="1000" b="0">
                <a:solidFill>
                  <a:srgbClr val="000000"/>
                </a:solidFill>
                <a:latin typeface="맑은 고딕"/>
                <a:ea typeface="맑은 고딕"/>
              </a:rPr>
              <a:t>"The design style in this book largely follows the principle of "responsibility-driven design," put forward in Wirfs-Brock et al. 1990 and updated in Wirfs-Brock 2003. It also draws heavily (especially in Part III) on the ideas of "design by contract" described in Meyer 1988. It is consistent with the general background of other widely held best practices of object-oriented design, which are described in such books as Larman 1998.", [Evans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전략적 설계</a:t>
            </a:r>
            <a:r>
              <a:rPr sz="1800" b="0">
                <a:solidFill>
                  <a:srgbClr val="000000"/>
                </a:solidFill>
                <a:latin typeface="맑은 고딕"/>
                <a:ea typeface="맑은 고딕"/>
              </a:rPr>
              <a:t>는 핵심 도메인과 문맥의 경계를, </a:t>
            </a:r>
            <a:r>
              <a:rPr sz="1800" b="1">
                <a:solidFill>
                  <a:srgbClr val="000000"/>
                </a:solidFill>
                <a:latin typeface="맑은 고딕"/>
                <a:ea typeface="맑은 고딕"/>
              </a:rPr>
              <a:t>전술적 설계</a:t>
            </a:r>
            <a:r>
              <a:rPr sz="1800" b="0">
                <a:solidFill>
                  <a:srgbClr val="000000"/>
                </a:solidFill>
                <a:latin typeface="맑은 고딕"/>
                <a:ea typeface="맑은 고딕"/>
              </a:rPr>
              <a:t>는 엔티티·값 객체·애그리거트·저장소를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주도 설계는 객체지향 설계를 대체하지 않고, 도메인 모델과 설계·구현의 </a:t>
            </a:r>
            <a:r>
              <a:rPr sz="1800" b="1">
                <a:solidFill>
                  <a:srgbClr val="000000"/>
                </a:solidFill>
                <a:latin typeface="맑은 고딕"/>
                <a:ea typeface="맑은 고딕"/>
              </a:rPr>
              <a:t>정합성</a:t>
            </a:r>
            <a:r>
              <a:rPr sz="1800" b="0">
                <a:solidFill>
                  <a:srgbClr val="000000"/>
                </a:solidFill>
                <a:latin typeface="맑은 고딕"/>
                <a:ea typeface="맑은 고딕"/>
              </a:rPr>
              <a:t>을 깊이 다룬다.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온톨로지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도메인의 의미를 다루는 관심은 셋이다 —</a:t>
            </a:r>
            <a:r>
              <a:rPr sz="1600" b="0">
                <a:solidFill>
                  <a:srgbClr val="000000"/>
                </a:solidFill>
                <a:latin typeface="맑은 고딕"/>
                <a:ea typeface="맑은 고딕"/>
              </a:rPr>
              <a:t> </a:t>
            </a:r>
            <a:r>
              <a:rPr sz="1600" b="1">
                <a:solidFill>
                  <a:srgbClr val="000000"/>
                </a:solidFill>
                <a:latin typeface="맑은 고딕"/>
                <a:ea typeface="맑은 고딕"/>
              </a:rPr>
              <a:t>객체지향 분석</a:t>
            </a:r>
            <a:r>
              <a:rPr sz="1600" b="0">
                <a:solidFill>
                  <a:srgbClr val="000000"/>
                </a:solidFill>
                <a:latin typeface="맑은 고딕"/>
                <a:ea typeface="맑은 고딕"/>
              </a:rPr>
              <a:t>은 개념·관계를 분석하고, </a:t>
            </a:r>
            <a:r>
              <a:rPr sz="1600" b="1">
                <a:solidFill>
                  <a:srgbClr val="000000"/>
                </a:solidFill>
                <a:latin typeface="맑은 고딕"/>
                <a:ea typeface="맑은 고딕"/>
              </a:rPr>
              <a:t>DDD</a:t>
            </a:r>
            <a:r>
              <a:rPr sz="1600" b="0">
                <a:solidFill>
                  <a:srgbClr val="000000"/>
                </a:solidFill>
                <a:latin typeface="맑은 고딕"/>
                <a:ea typeface="맑은 고딕"/>
              </a:rPr>
              <a:t>는 공유 언어로 모델을 정제하며, </a:t>
            </a:r>
            <a:r>
              <a:rPr sz="1600" b="1">
                <a:solidFill>
                  <a:srgbClr val="000000"/>
                </a:solidFill>
                <a:latin typeface="맑은 고딕"/>
                <a:ea typeface="맑은 고딕"/>
              </a:rPr>
              <a:t>온톨로지</a:t>
            </a:r>
            <a:r>
              <a:rPr sz="1600" b="0">
                <a:solidFill>
                  <a:srgbClr val="000000"/>
                </a:solidFill>
                <a:latin typeface="맑은 고딕"/>
                <a:ea typeface="맑은 고딕"/>
              </a:rPr>
              <a:t>는 의미를 기계가 읽을 수 있게 명시한다.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셋은 개발 순서가 아니라 </a:t>
            </a:r>
            <a:r>
              <a:rPr sz="1800" b="1">
                <a:solidFill>
                  <a:srgbClr val="000000"/>
                </a:solidFill>
                <a:latin typeface="맑은 고딕"/>
                <a:ea typeface="맑은 고딕"/>
              </a:rPr>
              <a:t>같은 의미를 다루는 다른 관심</a:t>
            </a:r>
            <a:r>
              <a:rPr sz="1800" b="0">
                <a:solidFill>
                  <a:srgbClr val="000000"/>
                </a:solidFill>
                <a:latin typeface="맑은 고딕"/>
                <a:ea typeface="맑은 고딕"/>
              </a:rPr>
              <a:t>이다. 모든 도메인 모델이 온톨로지는 아니다.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AI 기반 소프트웨어공학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 기반 개발의 핵심은 </a:t>
            </a:r>
            <a:r>
              <a:rPr sz="1800" b="1">
                <a:solidFill>
                  <a:srgbClr val="000000"/>
                </a:solidFill>
                <a:latin typeface="맑은 고딕"/>
                <a:ea typeface="맑은 고딕"/>
              </a:rPr>
              <a:t>누가 코드를 쓰느냐보다 누가 의미·경계·위험을 판단하고 검증하느냐</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실행할 때는 맥락·제약을 </a:t>
            </a:r>
            <a:r>
              <a:rPr sz="1800" b="1">
                <a:solidFill>
                  <a:srgbClr val="000000"/>
                </a:solidFill>
                <a:latin typeface="맑은 고딕"/>
                <a:ea typeface="맑은 고딕"/>
              </a:rPr>
              <a:t>가드레일</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800" b="0">
                <a:solidFill>
                  <a:srgbClr val="000000"/>
                </a:solidFill>
                <a:latin typeface="맑은 고딕"/>
                <a:ea typeface="맑은 고딕"/>
              </a:rPr>
              <a:t>의 작업을 </a:t>
            </a:r>
            <a:r>
              <a:rPr sz="1800" b="1">
                <a:solidFill>
                  <a:srgbClr val="000000"/>
                </a:solidFill>
                <a:latin typeface="맑은 고딕"/>
                <a:ea typeface="맑은 고딕"/>
              </a:rPr>
              <a:t>하네스</a:t>
            </a:r>
            <a:r>
              <a:rPr sz="1400" b="0">
                <a:solidFill>
                  <a:srgbClr val="000000"/>
                </a:solidFill>
                <a:latin typeface="맑은 고딕"/>
                <a:ea typeface="맑은 고딕"/>
              </a:rPr>
              <a:t>(실행·검증 환경)</a:t>
            </a:r>
            <a:r>
              <a:rPr sz="1800" b="0">
                <a:solidFill>
                  <a:srgbClr val="000000"/>
                </a:solidFill>
                <a:latin typeface="맑은 고딕"/>
                <a:ea typeface="맑은 고딕"/>
              </a:rPr>
              <a:t>에서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a:t>
            </a:r>
            <a:r>
              <a:rPr sz="1800" b="1">
                <a:solidFill>
                  <a:srgbClr val="000000"/>
                </a:solidFill>
                <a:latin typeface="맑은 고딕"/>
                <a:ea typeface="맑은 고딕"/>
              </a:rPr>
              <a:t>모든 실습</a:t>
            </a:r>
            <a:r>
              <a:rPr sz="1800" b="0">
                <a:solidFill>
                  <a:srgbClr val="000000"/>
                </a:solidFill>
                <a:latin typeface="맑은 고딕"/>
                <a:ea typeface="맑은 고딕"/>
              </a:rPr>
              <a:t>이 이 방식이다. LLM이 초안을 쓰고, 사람이 점검 항목으로 </a:t>
            </a:r>
            <a:r>
              <a:rPr sz="1800" b="1">
                <a:solidFill>
                  <a:srgbClr val="000000"/>
                </a:solidFill>
                <a:latin typeface="맑은 고딕"/>
                <a:ea typeface="맑은 고딕"/>
              </a:rPr>
              <a:t>판단·검증</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실습 — 요구사항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서비스 개요와 프롬프트를 LLM에 제공하여 </a:t>
            </a:r>
            <a:r>
              <a:rPr sz="1600" b="1">
                <a:solidFill>
                  <a:srgbClr val="000000"/>
                </a:solidFill>
                <a:latin typeface="맑은 고딕"/>
                <a:ea typeface="맑은 고딕"/>
              </a:rPr>
              <a:t>요구사항 명세서</a:t>
            </a:r>
            <a:r>
              <a:rPr sz="1600" b="0">
                <a:solidFill>
                  <a:srgbClr val="000000"/>
                </a:solidFill>
                <a:latin typeface="맑은 고딕"/>
                <a:ea typeface="맑은 고딕"/>
              </a:rPr>
              <a:t>를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명세서를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서비스 개요</a:t>
            </a:r>
          </a:p>
          <a:p>
            <a:pPr lvl="3" marL="723900" indent="0">
              <a:spcBef>
                <a:spcPts val="300"/>
              </a:spcBef>
              <a:spcAft>
                <a:spcPts val="300"/>
              </a:spcAft>
              <a:buNone/>
            </a:pPr>
            <a:r>
              <a:rPr sz="1600" b="1">
                <a:solidFill>
                  <a:srgbClr val="000000"/>
                </a:solidFill>
                <a:latin typeface="맑은 고딕"/>
                <a:ea typeface="맑은 고딕"/>
              </a:rPr>
              <a:t>생필품</a:t>
            </a:r>
            <a:r>
              <a:rPr sz="1600" b="0">
                <a:solidFill>
                  <a:srgbClr val="000000"/>
                </a:solidFill>
                <a:latin typeface="맑은 고딕"/>
                <a:ea typeface="맑은 고딕"/>
              </a:rPr>
              <a:t>을 일정 주기로 배송하는 정기배송 시스템을 개발한다. 고객은 상품·수량·기간·배송 주기</a:t>
            </a:r>
            <a:r>
              <a:rPr sz="1000" b="0">
                <a:solidFill>
                  <a:srgbClr val="000000"/>
                </a:solidFill>
                <a:latin typeface="맑은 고딕"/>
                <a:ea typeface="맑은 고딕"/>
              </a:rPr>
              <a:t>(1·2·4주)</a:t>
            </a:r>
            <a:r>
              <a:rPr sz="1600" b="0">
                <a:solidFill>
                  <a:srgbClr val="000000"/>
                </a:solidFill>
                <a:latin typeface="맑은 고딕"/>
                <a:ea typeface="맑은 고딕"/>
              </a:rPr>
              <a:t>·배송지를 입력하고 결제한다. 고객은 다음 배송을 24시간 전까지 취소할 수 있다</a:t>
            </a:r>
            <a:r>
              <a:rPr sz="1000" b="0">
                <a:solidFill>
                  <a:srgbClr val="000000"/>
                </a:solidFill>
                <a:latin typeface="맑은 고딕"/>
                <a:ea typeface="맑은 고딕"/>
              </a:rPr>
              <a:t>(연속 2회까지)</a:t>
            </a:r>
            <a:r>
              <a:rPr sz="1600" b="0">
                <a:solidFill>
                  <a:srgbClr val="000000"/>
                </a:solidFill>
                <a:latin typeface="맑은 고딕"/>
                <a:ea typeface="맑은 고딕"/>
              </a:rPr>
              <a:t>. 상품·결제·배송은 각각 외부 시스템이 맡는다.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"위 서비스 개요로 정기배송 시스템의 요구사항 명세서를 작성해줘. 기능 요구, 업무 규칙, 외부 시스템, 확인할 질문으로 나눠 정리해줘. 개요에 없는 내용은 추측하지 말고 </a:t>
            </a:r>
            <a:r>
              <a:rPr sz="1600" b="1">
                <a:solidFill>
                  <a:srgbClr val="000000"/>
                </a:solidFill>
                <a:latin typeface="맑은 고딕"/>
                <a:ea typeface="맑은 고딕"/>
              </a:rPr>
              <a:t>반드시 확인</a:t>
            </a:r>
            <a:r>
              <a:rPr sz="16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개요 반영</a:t>
            </a:r>
            <a:r>
              <a:rPr sz="1600" b="0">
                <a:solidFill>
                  <a:srgbClr val="000000"/>
                </a:solidFill>
                <a:latin typeface="맑은 고딕"/>
                <a:ea typeface="맑은 고딕"/>
              </a:rPr>
              <a:t> —</a:t>
            </a:r>
            <a:r>
              <a:rPr sz="1050" b="0">
                <a:solidFill>
                  <a:srgbClr val="000000"/>
                </a:solidFill>
                <a:latin typeface="맑은 고딕"/>
                <a:ea typeface="맑은 고딕"/>
              </a:rPr>
              <a:t> 개요의 모든 내용이 빠짐없이 반영되었는가? 입력 항목, 결제, 취소 규칙, 외부 시스템을 확인한다.</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결제</a:t>
            </a:r>
            <a:r>
              <a:rPr sz="1600" b="0">
                <a:solidFill>
                  <a:srgbClr val="000000"/>
                </a:solidFill>
                <a:latin typeface="맑은 고딕"/>
                <a:ea typeface="맑은 고딕"/>
              </a:rPr>
              <a:t> —</a:t>
            </a:r>
            <a:r>
              <a:rPr sz="1050" b="0">
                <a:solidFill>
                  <a:srgbClr val="000000"/>
                </a:solidFill>
                <a:latin typeface="맑은 고딕"/>
                <a:ea typeface="맑은 고딕"/>
              </a:rPr>
              <a:t> 결제 방법</a:t>
            </a:r>
            <a:r>
              <a:rPr sz="850" b="0">
                <a:solidFill>
                  <a:srgbClr val="000000"/>
                </a:solidFill>
                <a:latin typeface="맑은 고딕"/>
                <a:ea typeface="맑은 고딕"/>
              </a:rPr>
              <a:t>(카드·계좌이체·간편결제 등)</a:t>
            </a:r>
            <a:r>
              <a:rPr sz="1050" b="0">
                <a:solidFill>
                  <a:srgbClr val="000000"/>
                </a:solidFill>
                <a:latin typeface="맑은 고딕"/>
                <a:ea typeface="맑은 고딕"/>
              </a:rPr>
              <a:t>, 청구 방식</a:t>
            </a:r>
            <a:r>
              <a:rPr sz="850" b="0">
                <a:solidFill>
                  <a:srgbClr val="000000"/>
                </a:solidFill>
                <a:latin typeface="맑은 고딕"/>
                <a:ea typeface="맑은 고딕"/>
              </a:rPr>
              <a:t>(일시불·월별 청구)</a:t>
            </a:r>
            <a:r>
              <a:rPr sz="1050" b="0">
                <a:solidFill>
                  <a:srgbClr val="000000"/>
                </a:solidFill>
                <a:latin typeface="맑은 고딕"/>
                <a:ea typeface="맑은 고딕"/>
              </a:rPr>
              <a:t>, 청구일이 정해졌는가?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배송 주기·기간</a:t>
            </a:r>
            <a:r>
              <a:rPr sz="1600" b="0">
                <a:solidFill>
                  <a:srgbClr val="000000"/>
                </a:solidFill>
                <a:latin typeface="맑은 고딕"/>
                <a:ea typeface="맑은 고딕"/>
              </a:rPr>
              <a:t> —</a:t>
            </a:r>
            <a:r>
              <a:rPr sz="1050" b="0">
                <a:solidFill>
                  <a:srgbClr val="000000"/>
                </a:solidFill>
                <a:latin typeface="맑은 고딕"/>
                <a:ea typeface="맑은 고딕"/>
              </a:rPr>
              <a:t> 1·2·4주 외에 고객이 원하는 주기</a:t>
            </a:r>
            <a:r>
              <a:rPr sz="850" b="0">
                <a:solidFill>
                  <a:srgbClr val="000000"/>
                </a:solidFill>
                <a:latin typeface="맑은 고딕"/>
                <a:ea typeface="맑은 고딕"/>
              </a:rPr>
              <a:t>(매일·격일·3일·10일 등)</a:t>
            </a:r>
            <a:r>
              <a:rPr sz="1050" b="0">
                <a:solidFill>
                  <a:srgbClr val="000000"/>
                </a:solidFill>
                <a:latin typeface="맑은 고딕"/>
                <a:ea typeface="맑은 고딕"/>
              </a:rPr>
              <a:t>를 지원하는가? 기간과 만료일이 정해졌는가?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취소·반품·해지</a:t>
            </a:r>
            <a:r>
              <a:rPr sz="1600" b="0">
                <a:solidFill>
                  <a:srgbClr val="000000"/>
                </a:solidFill>
                <a:latin typeface="맑은 고딕"/>
                <a:ea typeface="맑은 고딕"/>
              </a:rPr>
              <a:t> —</a:t>
            </a:r>
            <a:r>
              <a:rPr sz="1050" b="0">
                <a:solidFill>
                  <a:srgbClr val="000000"/>
                </a:solidFill>
                <a:latin typeface="맑은 고딕"/>
                <a:ea typeface="맑은 고딕"/>
              </a:rPr>
              <a:t> 취소한 회차의 </a:t>
            </a:r>
            <a:r>
              <a:rPr sz="1050" b="1">
                <a:solidFill>
                  <a:srgbClr val="000000"/>
                </a:solidFill>
                <a:latin typeface="맑은 고딕"/>
                <a:ea typeface="맑은 고딕"/>
              </a:rPr>
              <a:t>환불 방법</a:t>
            </a:r>
            <a:r>
              <a:rPr sz="1050" b="0">
                <a:solidFill>
                  <a:srgbClr val="000000"/>
                </a:solidFill>
                <a:latin typeface="맑은 고딕"/>
                <a:ea typeface="맑은 고딕"/>
              </a:rPr>
              <a:t>, 반품할 수 있는 상품과 </a:t>
            </a:r>
            <a:r>
              <a:rPr sz="1050" b="1">
                <a:solidFill>
                  <a:srgbClr val="000000"/>
                </a:solidFill>
                <a:latin typeface="맑은 고딕"/>
                <a:ea typeface="맑은 고딕"/>
              </a:rPr>
              <a:t>반품 기한·절차</a:t>
            </a:r>
            <a:r>
              <a:rPr sz="1050" b="0">
                <a:solidFill>
                  <a:srgbClr val="000000"/>
                </a:solidFill>
                <a:latin typeface="맑은 고딕"/>
                <a:ea typeface="맑은 고딕"/>
              </a:rPr>
              <a:t>, 해지할 때 </a:t>
            </a:r>
            <a:r>
              <a:rPr sz="1050" b="1">
                <a:solidFill>
                  <a:srgbClr val="000000"/>
                </a:solidFill>
                <a:latin typeface="맑은 고딕"/>
                <a:ea typeface="맑은 고딕"/>
              </a:rPr>
              <a:t>남은 금액</a:t>
            </a:r>
            <a:r>
              <a:rPr sz="1050" b="0">
                <a:solidFill>
                  <a:srgbClr val="000000"/>
                </a:solidFill>
                <a:latin typeface="맑은 고딕"/>
                <a:ea typeface="맑은 고딕"/>
              </a:rPr>
              <a:t>의 처리</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기술 용어</a:t>
            </a:r>
            <a:r>
              <a:rPr sz="1600" b="0">
                <a:solidFill>
                  <a:srgbClr val="000000"/>
                </a:solidFill>
                <a:latin typeface="맑은 고딕"/>
                <a:ea typeface="맑은 고딕"/>
              </a:rPr>
              <a:t> —</a:t>
            </a:r>
            <a:r>
              <a:rPr sz="1050" b="0">
                <a:solidFill>
                  <a:srgbClr val="000000"/>
                </a:solidFill>
                <a:latin typeface="맑은 고딕"/>
                <a:ea typeface="맑은 고딕"/>
              </a:rPr>
              <a:t> 화면·버튼·DB·API 같은 구현 표현이 없는가?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미확정 항목</a:t>
            </a:r>
            <a:r>
              <a:rPr sz="1600" b="0">
                <a:solidFill>
                  <a:srgbClr val="000000"/>
                </a:solidFill>
                <a:latin typeface="맑은 고딕"/>
                <a:ea typeface="맑은 고딕"/>
              </a:rPr>
              <a:t> —</a:t>
            </a:r>
            <a:r>
              <a:rPr sz="1050" b="0">
                <a:solidFill>
                  <a:srgbClr val="000000"/>
                </a:solidFill>
                <a:latin typeface="맑은 고딕"/>
                <a:ea typeface="맑은 고딕"/>
              </a:rPr>
              <a:t> 질문을 모두 확인해 없앴는가? 남긴 항목이 있다면 그 이유가 분명한가?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확인할 질문이 남지 않은 요구사항 명세서. 실습 2의 입력이 됩니다.</a:t>
            </a:r>
          </a:p>
        </p:txBody>
      </p:sp>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요구사항 명세서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818409"/>
            <a:ext cx="4338828" cy="466468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F1 신청</a:t>
            </a:r>
            <a:r>
              <a:rPr sz="1200" b="0">
                <a:solidFill>
                  <a:srgbClr val="000000"/>
                </a:solidFill>
                <a:latin typeface="맑은 고딕"/>
                <a:ea typeface="맑은 고딕"/>
              </a:rPr>
              <a:t> —</a:t>
            </a:r>
            <a:r>
              <a:rPr sz="1000" b="0">
                <a:solidFill>
                  <a:srgbClr val="000000"/>
                </a:solidFill>
                <a:latin typeface="맑은 고딕"/>
                <a:ea typeface="맑은 고딕"/>
              </a:rPr>
              <a:t> 상품·수량·주기·첫 배송일·기간·배송지를 정해 신청</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F2 결제</a:t>
            </a:r>
            <a:r>
              <a:rPr sz="1200" b="0">
                <a:solidFill>
                  <a:srgbClr val="000000"/>
                </a:solidFill>
                <a:latin typeface="맑은 고딕"/>
                <a:ea typeface="맑은 고딕"/>
              </a:rPr>
              <a:t> —</a:t>
            </a:r>
            <a:r>
              <a:rPr sz="1000" b="0">
                <a:solidFill>
                  <a:srgbClr val="000000"/>
                </a:solidFill>
                <a:latin typeface="맑은 고딕"/>
                <a:ea typeface="맑은 고딕"/>
              </a:rPr>
              <a:t> 결제 방법과 청구 방식을 골라 결제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배송일마다 배송 시스템에 요청</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F4 취소</a:t>
            </a:r>
            <a:r>
              <a:rPr sz="1200" b="0">
                <a:solidFill>
                  <a:srgbClr val="000000"/>
                </a:solidFill>
                <a:latin typeface="맑은 고딕"/>
                <a:ea typeface="맑은 고딕"/>
              </a:rPr>
              <a:t> —</a:t>
            </a:r>
            <a:r>
              <a:rPr sz="1000" b="0">
                <a:solidFill>
                  <a:srgbClr val="000000"/>
                </a:solidFill>
                <a:latin typeface="맑은 고딕"/>
                <a:ea typeface="맑은 고딕"/>
              </a:rPr>
              <a:t> 다음 배송을 취소하고 그 회차 금액을 환불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F5 반품</a:t>
            </a:r>
            <a:r>
              <a:rPr sz="1200" b="0">
                <a:solidFill>
                  <a:srgbClr val="000000"/>
                </a:solidFill>
                <a:latin typeface="맑은 고딕"/>
                <a:ea typeface="맑은 고딕"/>
              </a:rPr>
              <a:t> —</a:t>
            </a:r>
            <a:r>
              <a:rPr sz="1000" b="0">
                <a:solidFill>
                  <a:srgbClr val="000000"/>
                </a:solidFill>
                <a:latin typeface="맑은 고딕"/>
                <a:ea typeface="맑은 고딕"/>
              </a:rPr>
              <a:t> 반품을 신청하고, 회수가 확인되면 환불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F6 해지</a:t>
            </a:r>
            <a:r>
              <a:rPr sz="1200" b="0">
                <a:solidFill>
                  <a:srgbClr val="000000"/>
                </a:solidFill>
                <a:latin typeface="맑은 고딕"/>
                <a:ea typeface="맑은 고딕"/>
              </a:rPr>
              <a:t> —</a:t>
            </a:r>
            <a:r>
              <a:rPr sz="1000" b="0">
                <a:solidFill>
                  <a:srgbClr val="000000"/>
                </a:solidFill>
                <a:latin typeface="맑은 고딕"/>
                <a:ea typeface="맑은 고딕"/>
              </a:rPr>
              <a:t> 해지하고, 배송되지 않은 회차 금액을 환불</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 신청·금액·결제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 배송 주기</a:t>
            </a:r>
            <a:r>
              <a:rPr sz="1200" b="0">
                <a:solidFill>
                  <a:srgbClr val="000000"/>
                </a:solidFill>
                <a:latin typeface="맑은 고딕"/>
                <a:ea typeface="맑은 고딕"/>
              </a:rPr>
              <a:t> —</a:t>
            </a:r>
            <a:r>
              <a:rPr sz="1000" b="0">
                <a:solidFill>
                  <a:srgbClr val="000000"/>
                </a:solidFill>
                <a:latin typeface="맑은 고딕"/>
                <a:ea typeface="맑은 고딕"/>
              </a:rPr>
              <a:t> 1~28일, 일 단위</a:t>
            </a:r>
            <a:r>
              <a:rPr sz="800" b="0">
                <a:solidFill>
                  <a:srgbClr val="000000"/>
                </a:solidFill>
                <a:latin typeface="맑은 고딕"/>
                <a:ea typeface="맑은 고딕"/>
              </a:rPr>
              <a:t>(매일·격일·3일·1주·10일·2주·4주 등)</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R2 배송일</a:t>
            </a:r>
            <a:r>
              <a:rPr sz="1200" b="0">
                <a:solidFill>
                  <a:srgbClr val="000000"/>
                </a:solidFill>
                <a:latin typeface="맑은 고딕"/>
                <a:ea typeface="맑은 고딕"/>
              </a:rPr>
              <a:t> —</a:t>
            </a:r>
            <a:r>
              <a:rPr sz="1000" b="0">
                <a:solidFill>
                  <a:srgbClr val="000000"/>
                </a:solidFill>
                <a:latin typeface="맑은 고딕"/>
                <a:ea typeface="맑은 고딕"/>
              </a:rPr>
              <a:t> 첫 배송일은 신청 다음 날부터 7일 안에서 고르고, 이후는 주기마다 정해진다.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R3 기간</a:t>
            </a:r>
            <a:r>
              <a:rPr sz="1200" b="0">
                <a:solidFill>
                  <a:srgbClr val="000000"/>
                </a:solidFill>
                <a:latin typeface="맑은 고딕"/>
                <a:ea typeface="맑은 고딕"/>
              </a:rPr>
              <a:t> —</a:t>
            </a:r>
            <a:r>
              <a:rPr sz="1000" b="0">
                <a:solidFill>
                  <a:srgbClr val="000000"/>
                </a:solidFill>
                <a:latin typeface="맑은 고딕"/>
                <a:ea typeface="맑은 고딕"/>
              </a:rPr>
              <a:t> 1~12개월. 만료일은 첫 배송일 + 기간의 </a:t>
            </a:r>
            <a:r>
              <a:rPr sz="1000" b="1">
                <a:solidFill>
                  <a:srgbClr val="000000"/>
                </a:solidFill>
                <a:latin typeface="맑은 고딕"/>
                <a:ea typeface="맑은 고딕"/>
              </a:rPr>
              <a:t>전날</a:t>
            </a:r>
            <a:r>
              <a:rPr sz="1000" b="0">
                <a:solidFill>
                  <a:srgbClr val="000000"/>
                </a:solidFill>
                <a:latin typeface="맑은 고딕"/>
                <a:ea typeface="맑은 고딕"/>
              </a:rPr>
              <a:t>이며, 자동 연장하지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상품 가격 × 수량. </a:t>
            </a:r>
            <a:r>
              <a:rPr sz="1000" b="1">
                <a:solidFill>
                  <a:srgbClr val="000000"/>
                </a:solidFill>
                <a:latin typeface="맑은 고딕"/>
                <a:ea typeface="맑은 고딕"/>
              </a:rPr>
              <a:t>신청 때의 가격</a:t>
            </a:r>
            <a:r>
              <a:rPr sz="1000" b="0">
                <a:solidFill>
                  <a:srgbClr val="000000"/>
                </a:solidFill>
                <a:latin typeface="맑은 고딕"/>
                <a:ea typeface="맑은 고딕"/>
              </a:rPr>
              <a:t>을 기간 끝까지 적용한다.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R5 결제 방법</a:t>
            </a:r>
            <a:r>
              <a:rPr sz="1200" b="0">
                <a:solidFill>
                  <a:srgbClr val="000000"/>
                </a:solidFill>
                <a:latin typeface="맑은 고딕"/>
                <a:ea typeface="맑은 고딕"/>
              </a:rPr>
              <a:t> —</a:t>
            </a:r>
            <a:r>
              <a:rPr sz="1000" b="0">
                <a:solidFill>
                  <a:srgbClr val="000000"/>
                </a:solidFill>
                <a:latin typeface="맑은 고딕"/>
                <a:ea typeface="맑은 고딕"/>
              </a:rPr>
              <a:t> 카드, 계좌이체, 간편결제 중 하나</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 청구 방식</a:t>
            </a:r>
          </a:p>
          <a:p>
            <a:pPr lvl="4" marL="685800" indent="-182880">
              <a:spcBef>
                <a:spcPts val="300"/>
              </a:spcBef>
              <a:spcAft>
                <a:spcPts val="300"/>
              </a:spcAft>
              <a:buFont typeface="Wingdings" pitchFamily="2" charset="2"/>
              <a:buChar char="l"/>
            </a:pPr>
            <a:r>
              <a:rPr sz="1100" b="1">
                <a:solidFill>
                  <a:srgbClr val="000000"/>
                </a:solidFill>
                <a:latin typeface="맑은 고딕"/>
                <a:ea typeface="맑은 고딕"/>
              </a:rPr>
              <a:t>일시불</a:t>
            </a:r>
            <a:r>
              <a:rPr sz="1100" b="0">
                <a:solidFill>
                  <a:srgbClr val="000000"/>
                </a:solidFill>
                <a:latin typeface="맑은 고딕"/>
                <a:ea typeface="맑은 고딕"/>
              </a:rPr>
              <a:t> —</a:t>
            </a:r>
            <a:r>
              <a:rPr sz="900" b="0">
                <a:solidFill>
                  <a:srgbClr val="000000"/>
                </a:solidFill>
                <a:latin typeface="맑은 고딕"/>
                <a:ea typeface="맑은 고딕"/>
              </a:rPr>
              <a:t> 신청할 때 전체 회차 금액을 청구한다.</a:t>
            </a:r>
          </a:p>
          <a:p>
            <a:pPr lvl="4" marL="685800" indent="-182880">
              <a:spcBef>
                <a:spcPts val="300"/>
              </a:spcBef>
              <a:spcAft>
                <a:spcPts val="300"/>
              </a:spcAft>
              <a:buFont typeface="Wingdings" pitchFamily="2" charset="2"/>
              <a:buChar char="l"/>
            </a:pPr>
            <a:r>
              <a:rPr sz="1100" b="1">
                <a:solidFill>
                  <a:srgbClr val="000000"/>
                </a:solidFill>
                <a:latin typeface="맑은 고딕"/>
                <a:ea typeface="맑은 고딕"/>
              </a:rPr>
              <a:t>월별 청구</a:t>
            </a:r>
            <a:r>
              <a:rPr sz="1100" b="0">
                <a:solidFill>
                  <a:srgbClr val="000000"/>
                </a:solidFill>
                <a:latin typeface="맑은 고딕"/>
                <a:ea typeface="맑은 고딕"/>
              </a:rPr>
              <a:t> —</a:t>
            </a:r>
            <a:r>
              <a:rPr sz="900" b="0">
                <a:solidFill>
                  <a:srgbClr val="000000"/>
                </a:solidFill>
                <a:latin typeface="맑은 고딕"/>
                <a:ea typeface="맑은 고딕"/>
              </a:rPr>
              <a:t> 매월 첫 배송일과 같은 날</a:t>
            </a:r>
            <a:r>
              <a:rPr sz="800" b="0">
                <a:solidFill>
                  <a:srgbClr val="000000"/>
                </a:solidFill>
                <a:latin typeface="맑은 고딕"/>
                <a:ea typeface="맑은 고딕"/>
              </a:rPr>
              <a:t>(없으면 말일)</a:t>
            </a:r>
            <a:r>
              <a:rPr sz="900" b="0">
                <a:solidFill>
                  <a:srgbClr val="000000"/>
                </a:solidFill>
                <a:latin typeface="맑은 고딕"/>
                <a:ea typeface="맑은 고딕"/>
              </a:rPr>
              <a:t>에 그달 회차 금액을 청구한다.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858289"/>
          </a:xfrm>
        </p:spPr>
        <p:txBody>
          <a:bodyPr>
            <a:normAutofit/>
          </a:bodyPr>
          <a:lstStyle/>
          <a:p>
            <a:pPr marL="0" indent="0">
              <a:spcBef>
                <a:spcPts val="300"/>
              </a:spcBef>
              <a:spcAft>
                <a:spcPts val="300"/>
              </a:spcAft>
              <a:buNone/>
            </a:pPr>
            <a:r>
              <a:rPr sz="1400" b="0">
                <a:solidFill>
                  <a:srgbClr val="000000"/>
                </a:solidFill>
                <a:latin typeface="맑은 고딕"/>
                <a:ea typeface="맑은 고딕"/>
              </a:rPr>
              <a:t>생필품을 고객이 정한 주기로 배송하는 </a:t>
            </a:r>
            <a:r>
              <a:rPr sz="1400" b="1">
                <a:solidFill>
                  <a:srgbClr val="000000"/>
                </a:solidFill>
                <a:latin typeface="맑은 고딕"/>
                <a:ea typeface="맑은 고딕"/>
              </a:rPr>
              <a:t>정기배송 서비스</a:t>
            </a:r>
            <a:r>
              <a:rPr sz="1400" b="0">
                <a:solidFill>
                  <a:srgbClr val="000000"/>
                </a:solidFill>
                <a:latin typeface="맑은 고딕"/>
                <a:ea typeface="맑은 고딕"/>
              </a:rPr>
              <a:t>다. 고객은 상품·수량·배송 주기·첫 배송일·기간·배송지를 정해 신청하고, 일시불 또는 월별로 결제한다. 고객은 다음 배송을 취소하거나, 받은 상품을 반품하거나, 정기배송을 해지할 수 있다. 상품·결제·배송은 각각 외부 시스템이 맡는다.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818409"/>
            <a:ext cx="4439412" cy="466468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 청구 실패·취소·반품·해지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R7 청구 실패</a:t>
            </a:r>
            <a:r>
              <a:rPr sz="1200" b="0">
                <a:solidFill>
                  <a:srgbClr val="000000"/>
                </a:solidFill>
                <a:latin typeface="맑은 고딕"/>
                <a:ea typeface="맑은 고딕"/>
              </a:rPr>
              <a:t> —</a:t>
            </a:r>
            <a:r>
              <a:rPr sz="1000" b="0">
                <a:solidFill>
                  <a:srgbClr val="000000"/>
                </a:solidFill>
                <a:latin typeface="맑은 고딕"/>
                <a:ea typeface="맑은 고딕"/>
              </a:rPr>
              <a:t> 3일 동안 매일 다시 청구하고, 그래도 실패하면 정지하고 고객에게 알린다.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R8 취소</a:t>
            </a:r>
            <a:r>
              <a:rPr sz="1200" b="0">
                <a:solidFill>
                  <a:srgbClr val="000000"/>
                </a:solidFill>
                <a:latin typeface="맑은 고딕"/>
                <a:ea typeface="맑은 고딕"/>
              </a:rPr>
              <a:t> —</a:t>
            </a:r>
            <a:r>
              <a:rPr sz="1000" b="0">
                <a:solidFill>
                  <a:srgbClr val="000000"/>
                </a:solidFill>
                <a:latin typeface="맑은 고딕"/>
                <a:ea typeface="맑은 고딕"/>
              </a:rPr>
              <a:t> 배송 24시간 전까지, 연속 2회까지</a:t>
            </a:r>
          </a:p>
          <a:p>
            <a:pPr lvl="4" marL="685800" indent="-182880">
              <a:spcBef>
                <a:spcPts val="300"/>
              </a:spcBef>
              <a:spcAft>
                <a:spcPts val="300"/>
              </a:spcAft>
              <a:buFont typeface="Wingdings" pitchFamily="2" charset="2"/>
              <a:buChar char="l"/>
            </a:pPr>
            <a:r>
              <a:rPr sz="1100" b="0">
                <a:solidFill>
                  <a:srgbClr val="000000"/>
                </a:solidFill>
                <a:latin typeface="맑은 고딕"/>
                <a:ea typeface="맑은 고딕"/>
              </a:rPr>
              <a:t>청구한 회차는 </a:t>
            </a:r>
            <a:r>
              <a:rPr sz="1100" b="1">
                <a:solidFill>
                  <a:srgbClr val="000000"/>
                </a:solidFill>
                <a:latin typeface="맑은 고딕"/>
                <a:ea typeface="맑은 고딕"/>
              </a:rPr>
              <a:t>결제 수단으로 환불</a:t>
            </a:r>
            <a:r>
              <a:rPr sz="1100" b="0">
                <a:solidFill>
                  <a:srgbClr val="000000"/>
                </a:solidFill>
                <a:latin typeface="맑은 고딕"/>
                <a:ea typeface="맑은 고딕"/>
              </a:rPr>
              <a:t>하고, 청구 전이면 </a:t>
            </a:r>
            <a:r>
              <a:rPr sz="1100" b="1">
                <a:solidFill>
                  <a:srgbClr val="000000"/>
                </a:solidFill>
                <a:latin typeface="맑은 고딕"/>
                <a:ea typeface="맑은 고딕"/>
              </a:rPr>
              <a:t>청구에서 뺀다</a:t>
            </a:r>
            <a:r>
              <a:rPr sz="11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R9 반품 대상</a:t>
            </a:r>
            <a:r>
              <a:rPr sz="1200" b="0">
                <a:solidFill>
                  <a:srgbClr val="000000"/>
                </a:solidFill>
                <a:latin typeface="맑은 고딕"/>
                <a:ea typeface="맑은 고딕"/>
              </a:rPr>
              <a:t> —</a:t>
            </a:r>
            <a:r>
              <a:rPr sz="1000" b="0">
                <a:solidFill>
                  <a:srgbClr val="000000"/>
                </a:solidFill>
                <a:latin typeface="맑은 고딕"/>
                <a:ea typeface="맑은 고딕"/>
              </a:rPr>
              <a:t> 개봉하지 않은 공산품, 받은 날부터 7일 이내</a:t>
            </a:r>
          </a:p>
          <a:p>
            <a:pPr lvl="4" marL="685800" indent="-182880">
              <a:spcBef>
                <a:spcPts val="300"/>
              </a:spcBef>
              <a:spcAft>
                <a:spcPts val="300"/>
              </a:spcAft>
              <a:buFont typeface="Wingdings" pitchFamily="2" charset="2"/>
              <a:buChar char="l"/>
            </a:pPr>
            <a:r>
              <a:rPr sz="1100" b="1">
                <a:solidFill>
                  <a:srgbClr val="000000"/>
                </a:solidFill>
                <a:latin typeface="맑은 고딕"/>
                <a:ea typeface="맑은 고딕"/>
              </a:rPr>
              <a:t>식품은 불가</a:t>
            </a:r>
            <a:r>
              <a:rPr sz="1100" b="0">
                <a:solidFill>
                  <a:srgbClr val="000000"/>
                </a:solidFill>
                <a:latin typeface="맑은 고딕"/>
                <a:ea typeface="맑은 고딕"/>
              </a:rPr>
              <a:t>. 불량·오배송은 종류·개봉과 관계없이 가능하다.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R10 반품 절차</a:t>
            </a:r>
            <a:r>
              <a:rPr sz="1200" b="0">
                <a:solidFill>
                  <a:srgbClr val="000000"/>
                </a:solidFill>
                <a:latin typeface="맑은 고딕"/>
                <a:ea typeface="맑은 고딕"/>
              </a:rPr>
              <a:t> —</a:t>
            </a:r>
            <a:r>
              <a:rPr sz="1000" b="0">
                <a:solidFill>
                  <a:srgbClr val="000000"/>
                </a:solidFill>
                <a:latin typeface="맑은 고딕"/>
                <a:ea typeface="맑은 고딕"/>
              </a:rPr>
              <a:t> 배송 시스템이 회수하고, 확인 후 3영업일 안에 결제 수단으로 환불한다.</a:t>
            </a:r>
          </a:p>
          <a:p>
            <a:pPr lvl="4" marL="685800" indent="-182880">
              <a:spcBef>
                <a:spcPts val="300"/>
              </a:spcBef>
              <a:spcAft>
                <a:spcPts val="300"/>
              </a:spcAft>
              <a:buFont typeface="Wingdings" pitchFamily="2" charset="2"/>
              <a:buChar char="l"/>
            </a:pPr>
            <a:r>
              <a:rPr sz="1100" b="1">
                <a:solidFill>
                  <a:srgbClr val="000000"/>
                </a:solidFill>
                <a:latin typeface="맑은 고딕"/>
                <a:ea typeface="맑은 고딕"/>
              </a:rPr>
              <a:t>단순 변심</a:t>
            </a:r>
            <a:r>
              <a:rPr sz="1100" b="0">
                <a:solidFill>
                  <a:srgbClr val="000000"/>
                </a:solidFill>
                <a:latin typeface="맑은 고딕"/>
                <a:ea typeface="맑은 고딕"/>
              </a:rPr>
              <a:t>은 반품 배송비 3,000원을 빼고 환불한다.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R11 해지</a:t>
            </a:r>
            <a:r>
              <a:rPr sz="1200" b="0">
                <a:solidFill>
                  <a:srgbClr val="000000"/>
                </a:solidFill>
                <a:latin typeface="맑은 고딕"/>
                <a:ea typeface="맑은 고딕"/>
              </a:rPr>
              <a:t> —</a:t>
            </a:r>
            <a:r>
              <a:rPr sz="1000" b="0">
                <a:solidFill>
                  <a:srgbClr val="000000"/>
                </a:solidFill>
                <a:latin typeface="맑은 고딕"/>
                <a:ea typeface="맑은 고딕"/>
              </a:rPr>
              <a:t> 언제든, 위약금 없음</a:t>
            </a:r>
          </a:p>
          <a:p>
            <a:pPr lvl="4" marL="685800" indent="-182880">
              <a:spcBef>
                <a:spcPts val="300"/>
              </a:spcBef>
              <a:spcAft>
                <a:spcPts val="300"/>
              </a:spcAft>
              <a:buFont typeface="Wingdings" pitchFamily="2" charset="2"/>
              <a:buChar char="l"/>
            </a:pPr>
            <a:r>
              <a:rPr sz="1100" b="0">
                <a:solidFill>
                  <a:srgbClr val="000000"/>
                </a:solidFill>
                <a:latin typeface="맑은 고딕"/>
                <a:ea typeface="맑은 고딕"/>
              </a:rPr>
              <a:t>24시간 전이 지난 회차는 </a:t>
            </a:r>
            <a:r>
              <a:rPr sz="1100" b="1">
                <a:solidFill>
                  <a:srgbClr val="000000"/>
                </a:solidFill>
                <a:latin typeface="맑은 고딕"/>
                <a:ea typeface="맑은 고딕"/>
              </a:rPr>
              <a:t>배송</a:t>
            </a:r>
            <a:r>
              <a:rPr sz="1100" b="0">
                <a:solidFill>
                  <a:srgbClr val="000000"/>
                </a:solidFill>
                <a:latin typeface="맑은 고딕"/>
                <a:ea typeface="맑은 고딕"/>
              </a:rPr>
              <a:t>하고, 청구했지만 배송되지 않은 회차는 </a:t>
            </a:r>
            <a:r>
              <a:rPr sz="1100" b="1">
                <a:solidFill>
                  <a:srgbClr val="000000"/>
                </a:solidFill>
                <a:latin typeface="맑은 고딕"/>
                <a:ea typeface="맑은 고딕"/>
              </a:rPr>
              <a:t>환불</a:t>
            </a:r>
            <a:r>
              <a:rPr sz="1100" b="0">
                <a:solidFill>
                  <a:srgbClr val="000000"/>
                </a:solidFill>
                <a:latin typeface="맑은 고딕"/>
                <a:ea typeface="맑은 고딕"/>
              </a:rPr>
              <a:t>한다. 이후 청구는 멈춘다.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외부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상품</a:t>
            </a:r>
            <a:r>
              <a:rPr sz="1200" b="0">
                <a:solidFill>
                  <a:srgbClr val="000000"/>
                </a:solidFill>
                <a:latin typeface="맑은 고딕"/>
                <a:ea typeface="맑은 고딕"/>
              </a:rPr>
              <a:t> —</a:t>
            </a:r>
            <a:r>
              <a:rPr sz="1000" b="0">
                <a:solidFill>
                  <a:srgbClr val="000000"/>
                </a:solidFill>
                <a:latin typeface="맑은 고딕"/>
                <a:ea typeface="맑은 고딕"/>
              </a:rPr>
              <a:t> 상품 정보·가격, 상품 종류</a:t>
            </a:r>
            <a:r>
              <a:rPr sz="800" b="0">
                <a:solidFill>
                  <a:srgbClr val="000000"/>
                </a:solidFill>
                <a:latin typeface="맑은 고딕"/>
                <a:ea typeface="맑은 고딕"/>
              </a:rPr>
              <a:t>(식품·공산품)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결제·청구·환불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a:t>
            </a:r>
            <a:r>
              <a:rPr sz="1200" b="0">
                <a:solidFill>
                  <a:srgbClr val="000000"/>
                </a:solidFill>
                <a:latin typeface="맑은 고딕"/>
                <a:ea typeface="맑은 고딕"/>
              </a:rPr>
              <a:t> —</a:t>
            </a:r>
            <a:r>
              <a:rPr sz="1000" b="0">
                <a:solidFill>
                  <a:srgbClr val="000000"/>
                </a:solidFill>
                <a:latin typeface="맑은 고딕"/>
                <a:ea typeface="맑은 고딕"/>
              </a:rPr>
              <a:t> 배송, 반품 회수</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미확정 항목</a:t>
            </a:r>
            <a:r>
              <a:rPr sz="1400" b="0">
                <a:solidFill>
                  <a:srgbClr val="000000"/>
                </a:solidFill>
                <a:latin typeface="맑은 고딕"/>
                <a:ea typeface="맑은 고딕"/>
              </a:rPr>
              <a:t> —</a:t>
            </a:r>
            <a:r>
              <a:rPr sz="1200" b="0">
                <a:solidFill>
                  <a:srgbClr val="000000"/>
                </a:solidFill>
                <a:latin typeface="맑은 고딕"/>
                <a:ea typeface="맑은 고딕"/>
              </a:rPr>
              <a:t> 없음</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이어서 다뤘다.</a:t>
            </a:r>
          </a:p>
          <a:p>
            <a:pPr marL="342900" indent="0">
              <a:spcBef>
                <a:spcPts val="600"/>
              </a:spcBef>
              <a:spcAft>
                <a:spcPts val="600"/>
              </a:spcAft>
              <a:buNone/>
            </a:pPr>
            <a:r>
              <a:rPr sz="1800" b="1">
                <a:solidFill>
                  <a:srgbClr val="000000"/>
                </a:solidFill>
                <a:latin typeface="맑은 고딕"/>
                <a:ea typeface="맑은 고딕"/>
              </a:rPr>
              <a:t>객체지향 분석·설계의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문제·요구·해결책과 이벤트</a:t>
            </a:r>
            <a:r>
              <a:rPr sz="1800" b="0">
                <a:solidFill>
                  <a:srgbClr val="000000"/>
                </a:solidFill>
                <a:latin typeface="맑은 고딕"/>
                <a:ea typeface="맑은 고딕"/>
              </a:rPr>
              <a:t> —</a:t>
            </a:r>
            <a:r>
              <a:rPr sz="1600" b="0">
                <a:solidFill>
                  <a:srgbClr val="000000"/>
                </a:solidFill>
                <a:latin typeface="맑은 고딕"/>
                <a:ea typeface="맑은 고딕"/>
              </a:rPr>
              <a:t> 해결책이 섞인 요청에서 문제와 요구를 찾고, 요구는 이벤트로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본질적·우연적 어려움</a:t>
            </a:r>
            <a:r>
              <a:rPr sz="1800" b="0">
                <a:solidFill>
                  <a:srgbClr val="000000"/>
                </a:solidFill>
                <a:latin typeface="맑은 고딕"/>
                <a:ea typeface="맑은 고딕"/>
              </a:rPr>
              <a:t> —</a:t>
            </a:r>
            <a:r>
              <a:rPr sz="1600" b="0">
                <a:solidFill>
                  <a:srgbClr val="000000"/>
                </a:solidFill>
                <a:latin typeface="맑은 고딕"/>
                <a:ea typeface="맑은 고딕"/>
              </a:rPr>
              <a:t> 업무 복잡성과 기술적 부담을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 경계와 코드·테스트</a:t>
            </a:r>
            <a:r>
              <a:rPr sz="1800" b="0">
                <a:solidFill>
                  <a:srgbClr val="000000"/>
                </a:solidFill>
                <a:latin typeface="맑은 고딕"/>
                <a:ea typeface="맑은 고딕"/>
              </a:rPr>
              <a:t> —</a:t>
            </a:r>
            <a:r>
              <a:rPr sz="1600" b="0">
                <a:solidFill>
                  <a:srgbClr val="000000"/>
                </a:solidFill>
                <a:latin typeface="맑은 고딕"/>
                <a:ea typeface="맑은 고딕"/>
              </a:rPr>
              <a:t> 요구·분석·설계·코드는 각자 결정하고 가까이에서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 —</a:t>
            </a:r>
            <a:r>
              <a:rPr sz="1600" b="0">
                <a:solidFill>
                  <a:srgbClr val="000000"/>
                </a:solidFill>
                <a:latin typeface="맑은 고딕"/>
                <a:ea typeface="맑은 고딕"/>
              </a:rPr>
              <a:t> 객체지향 설계의 핵심 판단이다. 다이어그램은 옮겨 적는 설계도가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수준과 원칙</a:t>
            </a:r>
            <a:r>
              <a:rPr sz="1800" b="0">
                <a:solidFill>
                  <a:srgbClr val="000000"/>
                </a:solidFill>
                <a:latin typeface="맑은 고딕"/>
                <a:ea typeface="맑은 고딕"/>
              </a:rPr>
              <a:t> —</a:t>
            </a:r>
            <a:r>
              <a:rPr sz="1600" b="0">
                <a:solidFill>
                  <a:srgbClr val="000000"/>
                </a:solidFill>
                <a:latin typeface="맑은 고딕"/>
                <a:ea typeface="맑은 고딕"/>
              </a:rPr>
              <a:t> 맥락에 맞게 명시하고, 원칙은 북 스마트로 알되 스트리트 스마트로 쓴다.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02. 요구 분석과 유스케이스</a:t>
            </a:r>
            <a:r>
              <a:rPr sz="1800" b="0">
                <a:solidFill>
                  <a:srgbClr val="000000"/>
                </a:solidFill>
                <a:latin typeface="맑은 고딕"/>
                <a:ea typeface="맑은 고딕"/>
              </a:rPr>
              <a:t>" —</a:t>
            </a:r>
            <a:r>
              <a:rPr sz="16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43</Slides>
  <Notes>35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43</vt:i4>
      </vt:variant>
    </vt:vector>
  </HeadingPairs>
  <TitlesOfParts>
    <vt:vector size="47" baseType="lpstr">
      <vt:lpstr>맑은 고딕</vt:lpstr>
      <vt:lpstr>Arial</vt:lpstr>
      <vt:lpstr>Wingdings</vt:lpstr>
      <vt:lpstr>4_Office 테마</vt:lpstr>
      <vt:lpstr>01. OOAD 개요 목차 (1/2)</vt:lpstr>
      <vt:lpstr>01. OOAD 개요 목차 (2/2)</vt:lpstr>
      <vt:lpstr>01. 세션 목표</vt:lpstr>
      <vt:lpstr>02. SW 개발의 재작업</vt:lpstr>
      <vt:lpstr>03. 미사용 기능</vt:lpstr>
      <vt:lpstr>04. 범위와 가치</vt:lpstr>
      <vt:lpstr>05. 문제 → 요구사항 → 해결책 (1/2)</vt:lpstr>
      <vt:lpstr>05. 문제 → 요구사항 → 해결책 (2/2)</vt:lpstr>
      <vt:lpstr>06. 이벤트 관점</vt:lpstr>
      <vt:lpstr>07. 본질적 어려움과 우연적 어려움</vt:lpstr>
      <vt:lpstr>08. 주문 취소의 복잡성</vt:lpstr>
      <vt:lpstr>09. 분석과 설계 (1/2)</vt:lpstr>
      <vt:lpstr>09. 분석과 설계 (2/2)</vt:lpstr>
      <vt:lpstr>10. 결정 경계</vt:lpstr>
      <vt:lpstr>11. 분석·설계 방법</vt:lpstr>
      <vt:lpstr>12. 맥락과 접근법 (1/2)</vt:lpstr>
      <vt:lpstr>12. 맥락과 접근법 (2/2)</vt:lpstr>
      <vt:lpstr>13. 통합 모델링 언어</vt:lpstr>
      <vt:lpstr>14. 클래스 다이어그램</vt:lpstr>
      <vt:lpstr>15. 시스템 시퀀스 다이어그램</vt:lpstr>
      <vt:lpstr>16. 분석 시퀀스 다이어그램</vt:lpstr>
      <vt:lpstr>17. 커뮤니케이션 다이어그램</vt:lpstr>
      <vt:lpstr>18. 상태 기계 다이어그램</vt:lpstr>
      <vt:lpstr>19. 요구에서 테스트로 (1/2)</vt:lpstr>
      <vt:lpstr>19. 요구에서 테스트로 (2/2)</vt:lpstr>
      <vt:lpstr>20. 소프트웨어 아키텍처</vt:lpstr>
      <vt:lpstr>21. 책임과 경계</vt:lpstr>
      <vt:lpstr>22. 메시지와 협력</vt:lpstr>
      <vt:lpstr>23. 분석 모델에서 설계 모델로 (1/2)</vt:lpstr>
      <vt:lpstr>23. 분석 모델에서 설계 모델로 (2/2)</vt:lpstr>
      <vt:lpstr>24. 적정 분석·설계</vt:lpstr>
      <vt:lpstr>25. 북 스마트와 스트리트 스마트</vt:lpstr>
      <vt:lpstr>26. KISS·DRY·YAGNI</vt:lpstr>
      <vt:lpstr>27. 피드백 (1/2)</vt:lpstr>
      <vt:lpstr>27. 피드백 (2/2)</vt:lpstr>
      <vt:lpstr>28. 흔한 오해</vt:lpstr>
      <vt:lpstr>29. 전문 영역으로의 확장</vt:lpstr>
      <vt:lpstr>30. 도메인 주도 설계</vt:lpstr>
      <vt:lpstr>31. 온톨로지</vt:lpstr>
      <vt:lpstr>32. AI 기반 소프트웨어공학</vt:lpstr>
      <vt:lpstr>33. 실습 — 요구사항 명세서</vt:lpstr>
      <vt:lpstr>34. 요구사항 명세서 (안)</vt:lpstr>
      <vt:lpstr>35.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