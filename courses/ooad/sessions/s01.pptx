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전체의 지도를 제시하고, 다섯 다이어그램은 코드와 함께 미리 보여 준다.</a:t>
            </a:r>
          </a:p>
          <a:p>
            <a:pPr lvl="0"/>
            <a:r>
              <a:rPr lang="ko-KR" sz="1200"/>
              <a:t>세부 개념은 뒤 세션에서 같은 사례를 반복하며 깊게 다룬다. 원칙은 guides/sw-engineering-principles.md를 따른다.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Karl Wiegers, "When Bad Requirements Happen to Nice People", Jama Software 블로그(2013). 이 글은 수치의 출처를 밝히지 않는다.</a:t>
            </a:r>
          </a:p>
          <a:p>
            <a:pPr lvl="0"/>
            <a:r>
              <a:rPr lang="ko-KR" sz="1200"/>
              <a:t>수치의 원전으로 알려진 Leffingwell, "Calculating the Return on Investment from More Effective Requirements Management", *American Programmer* 10(4), 1997은 확인하지 못했다. IfSQ는 같은 원전을 "요구사항 변경이 재작업의 70~85%"로 요약한다(IfSQ, "70% of rework caused by changing requirements"). 재인용처마다 오류·변경으로 해석이 갈리므로 원전의 수치로 단정하지 않는다.</a:t>
            </a:r>
          </a:p>
          <a:p>
            <a:pPr lvl="0"/>
            <a:r>
              <a:rPr lang="ko-KR" sz="1200"/>
              <a:t>인용 수치는 역사적 보고다. 재작업에는 학습으로 유용해진 변경도 섞여 있어, 모두 회피 가능한 결함은 아니다.</a:t>
            </a:r>
          </a:p>
          <a:p>
            <a:pPr lvl="0"/>
            <a:r>
              <a:rPr lang="ko-KR" sz="1200"/>
              <a:t>조기 검토의 비용과 줄일 수 있는 재작업 위험을 비교한다. 모든 변경을 처음부터 예방할 수 있다는 뜻은 아니다.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사용 빈도 수치는 XP2002 발표를 인용한 여러 매체에서 확인했다(www). 표본 성격(4개 회사 내부 애플리케이션)은 Cohn이 Standish Group에 직접 문의해 확인한 내용이다. 원 조사 데이터·관찰 기간·측정 기준 자체는 직접 확인하지 못했다.</a:t>
            </a:r>
          </a:p>
          <a:p>
            <a:pPr lvl="0"/>
            <a:r>
              <a:rPr lang="ko-KR" sz="1200"/>
              <a:t>앞의 가치 판단 예는 교육용 사례이며 위 조사에서 얻은 결론이 아니다.</a:t>
            </a:r>
          </a:p>
          <a:p>
            <a:pPr lvl="0"/>
            <a:r>
              <a:rPr lang="ko-KR" sz="1200"/>
              <a:t>사용 빈도를 가치와 동일시하지 않는다. 운영 복구·감사 등 드물지만 필요한 기능을 반례로 토론한다.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개념은 서로 관련되지만 동의어가 아니다. 범위 확대는 변경 통제, 불필요한 기능 추가는 요구 밖의 기능, 과도한 설계·구현은 해법의 불필요한 복잡성이 초점이다.</a:t>
            </a:r>
          </a:p>
          <a:p>
            <a:pPr lvl="0"/>
            <a:r>
              <a:rPr lang="ko-KR" sz="1200"/>
              <a:t>예시는 모두 주문 취소라는 동일 상황에 연결한다.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요구사항과 해결책은 각각 상위 목적에서 정당화되어야 한다.</a:t>
            </a:r>
          </a:p>
          <a:p>
            <a:pPr lvl="0"/>
            <a:r>
              <a:rPr lang="ko-KR" sz="1200"/>
              <a:t>이후 분석·설계 판단의 기준축으로 사용한다.</a:t>
            </a:r>
          </a:p>
          <a:p>
            <a:pPr lvl="0"/>
            <a:r>
              <a:rPr lang="ko-KR" sz="1200"/>
              <a:t>고객의 요청 자체가 이미 하나의 해결책일 수 있다.</a:t>
            </a:r>
          </a:p>
          <a:p>
            <a:pPr lvl="0"/>
            <a:r>
              <a:rPr lang="ko-KR" sz="1200"/>
              <a:t>바로 구현하기 전에 상위 문제와 요구사항을 확인한다.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이벤트 반응 목록, 유스케이스, 사용자 이야기, 도메인 이벤트가 모두 이벤트를 출발점으로 삼는다는 근거는 "02. 요구 분석과 유스케이스"의 「07. 이벤트 중심 요구」·「08. 이벤트 중심 기법」에서 다룬다.</a:t>
            </a:r>
          </a:p>
          <a:p>
            <a:pPr lvl="0"/>
            <a:r>
              <a:rPr lang="ko-KR" sz="1200"/>
              <a:t>화면·기술 요소를 요구에 섞는 잘못된 관행은 "02. 요구 분석과 유스케이스"의 「36. 잘못된 관행 — 화면·기술 요소」에서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Brooks, "No Silver Bullet — Essence and Accidents of Software Engineering", UNC Technical Report TR86-020(1986), Essential Difficulties의 Complexity 원문 확인.</a:t>
            </a:r>
          </a:p>
          <a:p>
            <a:pPr lvl="0"/>
            <a:r>
              <a:rPr lang="ko-KR" sz="1200"/>
              <a:t>기술은 우연적 어려움을 줄일 수 있지만 본질적 어려움을 제거하지는 못한다.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「07. 본질적 어려움과 우연적 어려움」에서 정의한 본질적·우연적 어려움이 주문 취소에 어떻게 나타나는지 연결한다.</a:t>
            </a:r>
          </a:p>
          <a:p>
            <a:pPr lvl="0"/>
            <a:r>
              <a:rPr lang="ko-KR" sz="1200"/>
              <a:t>예시의 구현 기술을 본질적 업무 규칙으로 혼동하지 않도록 한다.</a:t>
            </a:r>
          </a:p>
          <a:p>
            <a:pPr lvl="0"/>
            <a:r>
              <a:rPr lang="ko-KR" sz="1200"/>
              <a:t>중복 요청이 발생해도 한 번만 환불되어야 한다는 보장은 업무 의미다. 재시도·중복 제거의 구현 수단과 그 보장 자체를 구분한다.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개발 절차에서는 분석과 설계가 반복되고 섞일 수 있다.</a:t>
            </a:r>
          </a:p>
          <a:p>
            <a:pPr lvl="0"/>
            <a:r>
              <a:rPr lang="ko-KR" sz="1200"/>
              <a:t>사고에서는 문제와 해결책을 구분한다.</a:t>
            </a:r>
          </a:p>
          <a:p>
            <a:pPr lvl="0"/>
            <a:r>
              <a:rPr lang="ko-KR" sz="1200"/>
              <a:t>Booch, *Object-Oriented Analysis and Design with Applications*(2nd ed., 1994) 원서 본문은 미확인이다(www). 재인용처: tutorialspoint, "OOAD — Object Oriented Paradigm". 정의의 영어 문구가 이 페이지와 일치함을 확인했다.</a:t>
            </a:r>
          </a:p>
          <a:p>
            <a:pPr lvl="0"/>
            <a:r>
              <a:rPr lang="ko-KR" sz="1200"/>
              <a:t>유스케이스는 요구 입력이며 그 자체로 객체 모델은 아니다. 도메인 개념 분석과 객체 설계의 출발점으로 사용한다.</a:t>
            </a:r>
          </a:p>
          <a:p>
            <a:pPr lvl="0"/>
            <a:r>
              <a:rPr lang="ko-KR" sz="1200"/>
              <a:t>"03. 정적 모델 — 도메인 개념과 관계"·"04. 동적 모델 — 상호작용과 상태"에서 의미를 분석하고 "06. 분석 모델에서 설계 모델로"·"07. 책임·협력·계약"에서 설계 판단으로 연결한다.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구분하는 이유는 문서 인계 절차를 고정하려는 것이 아니다. 앞 결정을 닫아 두고 되돌아가지 못하는 운영이 문제다(「27. 피드백」).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표는 관심사를 비교하는 교육용 정리다. 시대별 우열이나 단일 계보를 주장하지 않는다.</a:t>
            </a:r>
          </a:p>
          <a:p>
            <a:pPr lvl="0"/>
            <a:r>
              <a:rPr lang="ko-KR" sz="1200"/>
              <a:t>자료 흐름을 볼 때와 책임 배치를 볼 때 얻는 정보가 다르다는 점을 설명한다.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접근별 비교는 "02. 요구 분석과 유스케이스"의 「09. 반복적 접근」, 누가 요구를 아는지와 불확실성에 따른 경우별 접근은 "02. 요구 분석과 유스케이스"의 「13. 누가 요구를 아는가?」·「14. 업무·기술 불확실성」·「15. 경우별 접근법」에서 다룬다.</a:t>
            </a:r>
          </a:p>
          <a:p>
            <a:pPr lvl="0"/>
            <a:r>
              <a:rPr lang="ko-KR" sz="1200"/>
              <a:t>성숙도가 높으면 대화·스케치·코드·테스트로 가볍게 간다. 모델의 개수가 품질의 척도는 아니다.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OMG의 UML 소개 페이지(omg.org/uml) 원문 확인. 영어는 그 페이지 문장의 발췌다.</a:t>
            </a:r>
          </a:p>
          <a:p>
            <a:pPr lvl="0"/>
            <a:r>
              <a:rPr lang="ko-KR" sz="1200"/>
              <a:t>UML의 통합 배경은 OMG [UML 2.5.1](https://www.omg.org/spec/UML/2.5.1/PDF), §1 Scope의 UML 1 설명을 참조한다.</a:t>
            </a:r>
          </a:p>
          <a:p>
            <a:pPr lvl="0"/>
            <a:r>
              <a:rPr lang="ko-KR" sz="1200"/>
              <a:t>UML은 객체지향 분석·설계 자체가 아니다.</a:t>
            </a:r>
          </a:p>
          <a:p>
            <a:pPr lvl="0"/>
            <a:r>
              <a:rPr lang="ko-KR" sz="1200"/>
              <a:t>분석·설계의 결과를 표현하고 검토하는 언어다.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도메인 모델은 "03. 정적 모델 — 도메인 개념과 관계"의 「09. 클래스 다이어그램」, 설계로의 전환은 "06. 분석 모델에서 설계 모델로"에서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SSD와 시스템 오퍼레이션은 "02. 요구 분석과 유스케이스"의 「40. 시스템 시퀀스 다이어그램」·「43. 정제된 SSD」에서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도메인 객체의 상호작용은 "04. 동적 모델 — 상호작용과 상태"의 「19. 시퀀스 다이어그램」에서 다룬다. 설계 객체의 상호작용은 "07. 책임·협력·계약"에서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표기와 시퀀스와의 비교는 "04. 동적 모델 — 상호작용과 상태"의 「28. 커뮤니케이션 다이어그램」에서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다이어그램의 한 관점만 옮긴 예시다. 자동 변환이나 최종 설계가 아니다.</a:t>
            </a:r>
          </a:p>
          <a:p>
            <a:pPr lvl="0"/>
            <a:r>
              <a:rPr lang="ko-KR" sz="1200"/>
              <a:t>상태 값은 "03. 정적 모델 — 도메인 개념과 관계"의 「06. 상태 값과 상태 전이」와 같다. 취소는 결제 완료·배송 시작 전 주문만 할 수 있다는 "02. 요구 분석과 유스케이스"의 전제를 따른다.</a:t>
            </a:r>
          </a:p>
          <a:p>
            <a:pPr lvl="0"/>
            <a:r>
              <a:rPr lang="ko-KR" sz="1200"/>
              <a:t>결제·배송 시스템의 통보와 취소 처리 중 상태까지 포함한 주문의 생애는 "04. 동적 모델 — 상호작용과 상태"의 「32. 상태 기계 다이어그램」·「33. 주문 상태 기계」에서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 통과가 정책의 결정은 아니다. 미확정 정책은 테스트 기대값으로 대신 정하지 않는다.</a:t>
            </a:r>
          </a:p>
          <a:p>
            <a:pPr lvl="0"/>
            <a:r>
              <a:rPr lang="ko-KR" sz="1200"/>
              <a:t>요구 예시와 행위 주도 개발은 "02. 요구 분석과 유스케이스"의 「50. 행위 주도 개발」에서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아키텍처를 문서나 다이어그램 자체와 동일시하지 않는다. 위 정의는 ISO/IEC/IEEE 42010 정의를 그대로 재수록한 NIST 공식 용어집에서 확인했다. ISO 표준 본문 자체를 직접 확인한 것은 아니다.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책임과 경계를 함께 검토한다.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Alan Kay가 Stefan Ram에게 보낸 이메일(2003-07-23). Stefan Ram이 공개한 원문 페이지에서 확인했다.</a:t>
            </a:r>
          </a:p>
          <a:p>
            <a:pPr lvl="0"/>
            <a:r>
              <a:rPr lang="ko-KR" sz="1200"/>
              <a:t>객체지향을 클래스와 상속만으로 설명하지 않는다.</a:t>
            </a:r>
          </a:p>
          <a:p>
            <a:pPr lvl="0"/>
            <a:r>
              <a:rPr lang="ko-KR" sz="1200"/>
              <a:t>메시지, 책임, 협력이 핵심이다.</a:t>
            </a:r>
          </a:p>
          <a:p>
            <a:pPr lvl="0"/>
            <a:r>
              <a:rPr lang="ko-KR" sz="1200"/>
              <a:t>응용 서비스는 취소 규칙을 다시 구현하지 않고 주문의 판단 결과를 사용한다.</a:t>
            </a:r>
          </a:p>
          <a:p>
            <a:pPr lvl="0"/>
            <a:r>
              <a:rPr lang="ko-KR" sz="1200"/>
              <a:t>외부 연동을 분리하면 주문 객체의 기술 의존을 줄일 수 있지만 협력과 실패 조정 책임이 추가된다.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책임, 경계, 협력, 의존성을 다시 결정한다.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중단 기준은 산출물의 양이 아니라 주요 위험과 다음 검증에 필요한 판단의 확보 여부다.</a:t>
            </a:r>
          </a:p>
          <a:p>
            <a:pPr lvl="0"/>
            <a:r>
              <a:rPr lang="ko-KR" sz="1200"/>
              <a:t>분석과 설계를 많이 하는 것이 좋은 것은 아니다.</a:t>
            </a:r>
          </a:p>
          <a:p>
            <a:pPr lvl="0"/>
            <a:r>
              <a:rPr lang="ko-KR" sz="1200"/>
              <a:t>추가 판단이 실제 위험을 줄이는지가 기준이다.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둘 중 하나만으로는 SW 공학이 되지 않는다. 원칙과 모델은 북 스마트로 알되, 무엇을 언제 얼마나 쓸지는 맥락과 증거로 판단한다.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KISS의 본질적·우연적 복잡성 구분은 「07. 본질적 어려움과 우연적 어려움」과 같은 관점이다.</a:t>
            </a:r>
          </a:p>
          <a:p>
            <a:pPr lvl="0"/>
            <a:r>
              <a:rPr lang="ko-KR" sz="1200"/>
              <a:t>단계별 의미(요구·분석·설계·코드·테스트)는 references/sw-engineering-approach/의 참조 자료를 참고한다.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오류가 발견된 위치와 오류가 만들어진 위치는 다를 수 있다.</a:t>
            </a:r>
          </a:p>
          <a:p>
            <a:pPr lvl="0"/>
            <a:r>
              <a:rPr lang="ko-KR" sz="1200"/>
              <a:t>구현과 테스트는 앞선 판단에 대한 피드백이다.</a:t>
            </a:r>
          </a:p>
          <a:p>
            <a:pPr lvl="0"/>
            <a:r>
              <a:rPr lang="ko-KR" sz="1200"/>
              <a:t>규칙이 모호하면 자동화보다 허용·거절 예시의 합의가 먼저다. 자동화는 합의된 규칙의 회귀를 막는다.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오해는 앞 topic과 연결된다: 「13. 통합 모델링 언어」, 「09. 분석과 설계」, 「23. 분석 모델에서 설계 모델로」, 「21. 책임과 경계」·「22. 메시지와 협력」, 「07. 본질적 어려움과 우연적 어려움」, 「24. 적정 분석·설계」·「27. 피드백」, 「25. 북 스마트와 스트리트 스마트」.</a:t>
            </a:r>
          </a:p>
          <a:p>
            <a:pPr lvl="0"/>
            <a:r>
              <a:rPr lang="ko-KR" sz="1200"/>
              <a:t>요구 분석의 잘못된 관행은 "02. 요구 분석과 유스케이스", 정적 모델링의 잘못된 관행은 "03. 정적 모델 — 도메인 개념과 관계", 패턴의 선택적 적용은 "08. 변화 대응과 변이 설계"에서 다룬다.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전문 영역의 깊이는 "13. OOAD에서 전문영역으로 — Architecture · DDD · MSA"와 "14. AI-native SW공학"에서 다룬다. 이어지는 세 topic은 그중 이 과정이 특히 연결하는 도메인 주도 설계, 온톨로지, AI 기반 소프트웨어공학이다.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도메인 주도 설계를 객체지향 분석·설계의 대체재로 설명하지 않는다.</a:t>
            </a:r>
          </a:p>
          <a:p>
            <a:pPr lvl="0"/>
            <a:r>
              <a:rPr lang="ko-KR" sz="1200"/>
              <a:t>이 과정에서는 객체지향 설계를 기반으로 DDD와 연결한다. DDD 전체를 특정 프로그래밍 패러다임에 한정하는 정의는 아니다.</a:t>
            </a:r>
          </a:p>
          <a:p>
            <a:pPr lvl="0"/>
            <a:r>
              <a:rPr lang="ko-KR" sz="1200"/>
              <a:t>전략적 설계와 전술적 설계의 차이는 개괄 수준에서만 소개한다.</a:t>
            </a:r>
          </a:p>
          <a:p>
            <a:pPr lvl="0"/>
            <a:r>
              <a:rPr lang="ko-KR" sz="1200"/>
              <a:t>근거: Eric Evans, *Domain-Driven Design*(Final Manuscript, 2003-04-15), Part II 서두(p.48) — 책의 설계 방식이 책임 중심 설계와 계약에 의한 설계, Larman 등 객체지향 설계 모범 사례를 배경으로 한다는 서술을 직접 확인했다.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*Knowledge Acquisition* 5(2):199–220, 1993 원문 확인.</a:t>
            </a:r>
          </a:p>
          <a:p>
            <a:pPr lvl="0"/>
            <a:r>
              <a:rPr lang="ko-KR" sz="1200"/>
              <a:t>위 관계는 이 과정의 교육용 연결이다. Gruber가 OOAD→DDD→온톨로지 순서를 제안했다는 의미가 아니다.</a:t>
            </a:r>
          </a:p>
          <a:p>
            <a:pPr lvl="0"/>
            <a:r>
              <a:rPr lang="ko-KR" sz="1200"/>
              <a:t>LLM에 모델을 제공하는 것만으로 동일한 해석이 보장되지는 않는다. 구체적인 사례와 검증으로 확인한다.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 영역은 절대적인 기술 경계가 아니라 주도권과 책임의 구분이다.</a:t>
            </a:r>
          </a:p>
          <a:p>
            <a:pPr lvl="0"/>
            <a:r>
              <a:rPr lang="ko-KR" sz="1200"/>
              <a:t>인간이 최종 책임진다는 것은 모든 산출물을 직접 작성한다는 뜻이 아니다.</a:t>
            </a:r>
          </a:p>
          <a:p>
            <a:pPr lvl="0"/>
            <a:r>
              <a:rPr lang="ko-KR" sz="1200"/>
              <a:t>AI 중심 실행은 충분한 맥락·제약·명세·검증을 전제로 한다.</a:t>
            </a:r>
          </a:p>
          <a:p>
            <a:pPr lvl="0"/>
            <a:r>
              <a:rPr lang="ko-KR" sz="1200"/>
              <a:t>도메인 모델·온톨로지와 아키텍처·설계는 함께 진화한다.</a:t>
            </a:r>
          </a:p>
          <a:p>
            <a:pPr lvl="0"/>
            <a:r>
              <a:rPr lang="ko-KR" sz="1200"/>
              <a:t>객체지향 분석·설계는 사라지지 않으며 인간과 AI의 협업 방식으로 수행된다.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실습은 모든 세션이 이어 쓰는 정기배송 시스템의 신규 개발 시나리오다. 강의의 주문 사례와 방법은 같지만 모델을 그대로 옮길 수는 없다.</a:t>
            </a:r>
          </a:p>
          <a:p>
            <a:pPr lvl="0"/>
            <a:r>
              <a:rPr lang="ko-KR" sz="1200"/>
              <a:t>LLM 사용 — 도구는 제한하지 않는다. LLM의 초안은 검토 전의 가설이며, 초안을 그대로 제출하지 않는다. 평가는 초안이 아니라 고친 곳과 그 이유를 본다.</a:t>
            </a:r>
          </a:p>
          <a:p>
            <a:pPr lvl="0"/>
            <a:r>
              <a:rPr lang="ko-KR" sz="1200"/>
              <a:t>LLM이 되묻는 질문에 수강생이 업무 담당자처럼 답해 규칙을 정한다. 답할 수 없는 질문만 미확정으로 남기고 이유를 적는다.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점검 항목과 규칙의 대응 — 결제는 R5~R7, 주기·기간은 R1~R3, 취소·반품·해지는 R8~R11이다.</a:t>
            </a:r>
          </a:p>
          <a:p>
            <a:pPr lvl="0"/>
            <a:r>
              <a:rPr lang="ko-KR" sz="1200"/>
              <a:t>숫자(28일, 12개월, 7일, 3일, 3,000원)는 교육용 가정이다. 수강생의 답이 달라도 정해져 있으면 맞다.</a:t>
            </a:r>
          </a:p>
          <a:p>
            <a:pPr lvl="0"/>
            <a:r>
              <a:rPr lang="ko-KR" sz="1200"/>
              <a:t>LLM 초안에서 고칠 곳의 예 — "결제 화면에서 카드 번호를 입력한다" 같은 기술 표현, 개요에 없는 규칙을 묻지 않고 단정한 것.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세션에서는 객체지향 분석·설계의 전체 지도와 코드·테스트까지의 연결을 만들었다.</a:t>
            </a:r>
          </a:p>
          <a:p>
            <a:pPr lvl="0"/>
            <a:r>
              <a:rPr lang="ko-KR" sz="1200"/>
              <a:t>DDD·온톨로지·AI 기반 개발과의 연결은 「29. 전문 영역으로의 확장」 이후 topic에서 다뤘다.</a:t>
            </a:r>
          </a:p>
          <a:p>
            <a:pPr lvl="0"/>
            <a:r>
              <a:rPr lang="ko-KR" sz="1200"/>
              <a:t>다음에는 그 출발점인 문제와 요구사항을 구체적으로 다룬다.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chartImage1" Type="http://schemas.openxmlformats.org/officeDocument/2006/relationships/image" Target="../media/chart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6" Type="http://schemas.openxmlformats.org/officeDocument/2006/relationships/image" Target="../media/mermaid-6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7" Type="http://schemas.openxmlformats.org/officeDocument/2006/relationships/image" Target="../media/mermaid-7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8" Type="http://schemas.openxmlformats.org/officeDocument/2006/relationships/image" Target="../media/mermaid-8.png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9" Type="http://schemas.openxmlformats.org/officeDocument/2006/relationships/image" Target="../media/mermaid-9.png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범위와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분석과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맥락과 접근법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피드백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OOAD 개요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 명세서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요구사항 명세서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판단하고 왜 필요한지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전체 흐름을 파악한다.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필요한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이해하고,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문제·요구사항·해결책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요구·분석·설계·코드가 각각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내리고 어디서 검증하는지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보고, 관점을 섞는 문제를 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분석과 객체지향 설계의 역할과 관계를 이해하고,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이해한다.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맥락에 맞는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판단하고,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(KISS·DRY·YAGNI)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판단의 도구로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주도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기반 소프트웨어공학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어떻게 이어지는지 이해한다.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SW 개발의 재작업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잘못된 요구나 판단을 늦게 발견하면 관련 설계·코드·테스트를 함께 고쳐야 할 수 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새로운 학습에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정당한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누락·오해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후속 판단에 반영되면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수정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일찍 발견할 수 있었던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줄이는 것이 목적이다.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실제 사용에서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발견한 변경까지 결함으로 취급하지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"프로젝트 노력의 약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40~50%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회피 가능한 재작업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사용한다"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"Current software projects spend about 40 to 50 percent of their effort on avoidable rework."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Barry Boehm·Victor R. Basili, 2001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"요구사항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재작업 비용의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70~85%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차지한다"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"requirements errors account for 70 to 85 percent of the rework cost"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Karl Wiegers, 2013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4584255"/>
            <a:ext cx="622300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미사용 기능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개발한 기능의 양이 곧 고객 가치는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 빈도·사용 맥락·미사용 이유·필요 시의 가치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함께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"Standish Group 조사에서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45%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전혀 사용되지 않았고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20%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자주·항상 사용됐다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(항상 7%·자주 13%·때때로 16%·거의 19%·전혀 45%)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Standish study found that 45% of features were never used and only 20% of features were used often or always."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Jim Johnson·Standish Group, 2002, www(4개 회사 내부 애플리케이션 표본 — Mike Cohn, 2016 직접 확인)</a:t>
            </a:r>
          </a:p>
        </p:txBody>
      </p:sp>
      <p:pic>
        <p:nvPicPr>
          <p:cNvPr id="9" name="chart Diagram 1"/>
          <p:cNvPicPr>
            <a:picLocks noChangeAspect="1"/>
          </p:cNvPicPr>
          <p:nvPr/>
        </p:nvPicPr>
        <p:blipFill>
          <a:blip r:embed="chartImage1"/>
          <a:stretch>
            <a:fillRect/>
          </a:stretch>
        </p:blipFill>
        <p:spPr>
          <a:xfrm>
            <a:off x="2651760" y="3388643"/>
            <a:ext cx="3840480" cy="256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하고, 하지 않아도 될 것은 만들지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요구사항을 놓침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초과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 밖의 요구사항 추가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 구현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밖의 해결책 구현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나쁜 경우는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해야 할 것은 못하면서 하지 않아도 될 것을 만드는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범위와 가치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범위 확대와 불필요한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요구사항 변경이 모두 문제인 것은 아니다.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합의한 범위를 어떻게 변경하고, 필요한 기능을 어디까지 구현하는가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중요하다.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범위의 무단 확대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(Scope Creep)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일정·비용·자원에 미치는 영향을 조정하거나 승인받지 않고 기능·업무 범위가 늘어나는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주문 취소 기능을 만드는 동안 승인 없이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교환·반품 기능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까지 추가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불필요한 기능 추가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(Gold Plating)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요구사항을 충족하는 데 필요하지 않은 기능이나 장식을 좋다는 이유로 추가하는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요청받지 않은 복잡한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취소 화면 효과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부가 기능 구현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과도한 설계·구현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(Overengineering)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현재의 요구와 위험에 비해 설계·기술·구현을 지나치게 복잡하게 만드는 것</a:t>
            </a:r>
          </a:p>
          <a:p>
            <a:pPr lvl="4" marL="1433513" indent="-35560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l"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예: 단순한 취소 규칙에 불필요한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분산 처리 구조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도입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승인된 변경은 범위의 무단 확대와 다르다.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불필요한 기능과 과도한 구조를 경계하는 이유는 고객 가치를 늘리지 못하면서 비용과 변경 부담을 키울 수 있기 때문이다.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해결책부터 정하지 않는다. 먼저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다음으로 충족할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마지막으로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해결할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만족해야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어떻게 만족시킬 것인가?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가능한 선택과 범위를 제한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문제의 전부 또는 일부를 해결하기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정하고, 요구사항의 전부 또는 일부를 만족시키기 위해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선택한다.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145612"/>
            <a:ext cx="6223000" cy="1214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문제 → 요구사항 → 해결책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속의 해결책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(Problem)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(Solution)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구분해야 한다. 고객의 요청에는 해결해야 할 문제와 이미 선택한 해결책이 함께 들어 있을 수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“주문 화면에 취소 버튼을 추가해 주세요.”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아래는 고객이 현재 직접 취소할 수 없다는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따른 해석이다. 요청만으로 그 원인이 확인된 것은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고객이 취소 가능한 주문을 직접 취소할 수 없음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가능한 주문은 고객이 직접 취소할 수 있어야 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취소 버튼,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Order.cancel()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같은 문제와 요구사항에도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여러 해결책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가능하다.</a:t>
            </a:r>
          </a:p>
        </p:txBody>
      </p:sp>
      <p:pic>
        <p:nvPicPr>
          <p:cNvPr id="9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4877455"/>
            <a:ext cx="6223000" cy="32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이벤트 관점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 관점의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관점으로 수렴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많은 문제의 본질은 한 관점으로 보지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관점을 섞는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섞인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"취소 버튼을 누르면 주문 테이블 상태를 C로 바꾼다"에는 화면·데이터·해결책이 한 문장에 섞여 합의할 단위가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이벤트로 본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"고객이 배송 전 주문을 취소한다 → 주문이 취소되었다". 화면·데이터·기술은 그 뒤에 각자의 결정으로 다룬다.</a:t>
            </a:r>
          </a:p>
        </p:txBody>
      </p:sp>
      <p:pic>
        <p:nvPicPr>
          <p:cNvPr id="9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2032397" y="3628196"/>
            <a:ext cx="5079206" cy="2500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본질적 어려움과 우연적 어려움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어려움은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(Essence)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(Accident)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어려움으로 나뉜다.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"소프트웨어의 복잡성은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속성이다"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complexity of software is an essential property, not an accidental one."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Frederick P. Brooks Jr., 1986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문제와 소프트웨어 복잡성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(의미·규칙·상태·관계)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 기술·환경의 추가 부담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(언어·도구·연동)</a:t>
            </a:r>
          </a:p>
        </p:txBody>
      </p:sp>
      <p:pic>
        <p:nvPicPr>
          <p:cNvPr id="9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2547938" y="3955380"/>
            <a:ext cx="4048125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주문 취소의 복잡성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취소는 버튼 하나를 구현하는 문제가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조건과 후속 업무를 올바르게 결정하는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핵심이며, 이를 실현하는 기술적 어려움과 구분해야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주문 취소 업무의 의미와 규칙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어떤 주문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취소할 수 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결제·배송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따라 취소 결과가 어떻게 달라지는가?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어떤 경우에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얼마를 환불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어려움 —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 결정된 규칙을 구현하는 기술적 부담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외부 결제·상품·회계·배송 시스템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트랜잭션·이벤트·재시도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처리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통신 장애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중복 요청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대응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기술 선택에 앞서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취소의 의미·조건·결과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분명히 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분석·설계의 목적은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산출물이 아니라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(Analysis)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필요한가, 무엇을 의미하는가, 어떤 규칙과 제약이 있는가?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책임지는가, 어디에 경계를 두는가, 어떻게 협력하는가?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문제를 이해하고, 설계는 그 이해를 바탕으로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해결책의 책임과 구조를 결정한다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개발 절차에서는 통합할 수 있지만, 사고에서는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문제와 해결책을 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  <p:pic>
        <p:nvPicPr>
          <p:cNvPr id="9" name="mermaid Diagram 6"/>
          <p:cNvPicPr>
            <a:picLocks noChangeAspect="1"/>
          </p:cNvPicPr>
          <p:nvPr/>
        </p:nvPicPr>
        <p:blipFill>
          <a:blip r:embed="mermaidImage6"/>
          <a:stretch>
            <a:fillRect/>
          </a:stretch>
        </p:blipFill>
        <p:spPr>
          <a:xfrm>
            <a:off x="1460500" y="4163259"/>
            <a:ext cx="6223000" cy="97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분석과 설계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(Object-Oriented Analysis and Design, OOAD)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문제영역의 의미를 객체 관점으로 이해하고 이를 실현할 책임과 협력을 설계한다.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분석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문제영역의 개념·관계·규칙을 발견하고 요구와 교차검토한다.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객체지향 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구현할 객체의 책임·상태·협력·인터페이스를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 분석은 문제영역의 어휘에서 발견되는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클래스와 객체의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요구사항을 검토하는 방법이다"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"Object-oriented analysis is a method of analysis that examines requirements from the perspective of the classes and objects found in the vocabulary of the problem domain."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Grady Booch, 1994, www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결정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3926" y="1842998"/>
          <a:ext cx="7782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819400"/>
                <a:gridCol w="1925320"/>
                <a:gridCol w="2148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가까운 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외부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무엇을 뜻하는가?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개념, 관계, 규칙,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시나리오와 모델의 교차검토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협력으로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경계, 책임, 협력,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대안·실패 경로·변경 영향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실행하는가?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로직, 기술 구체화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검사, 실행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질문에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지금 어떤 결정을 내리는지 알아야 가까운 곳에서 검증할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분석이 끝났다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문서를 다 채웠다는 뜻이 아니라 다음 작업자가 중요한 의미를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추측하지 않아도 되는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 위치 ≠ 원인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코딩 중 "배송된 주문도 취소하나?"가 드러나면 분기를 만들지 말고 요구로 돌아간다.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분석·설계의 진화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80935" y="2100036"/>
          <a:ext cx="73685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176780"/>
                <a:gridCol w="3601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 관심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유용한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구조적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기능·자료 흐름·모듈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변환이 일어나며 자료가 어디로 흐르는가?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정보·데이터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정보와 관계를 일관되게 관리해야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객체지향 분석·설계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개념·객체 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상태와 규칙을 소유하고 어떻게 협력하는가?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분석·설계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중심으로 문제와 구조를 보는가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서로 다른 질문을 드러낸다. 이를 한 방법이 다른 방법을 완전히 대체한 일직선의 발전 과정으로 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100036"/>
          <a:ext cx="806704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301498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보완한다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도메인·요구 표현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해결책(화면·버튼)으로 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관찰·예시·프로토타입으로 끌어낸다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도메인 이해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조건문 속에서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이벤트·용어를 합의해 모델로 명시한다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기술 숙련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가능성·품질을 장담하지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스파이크·작은 구현으로 위험부터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결정이 전달되지 않고 암묵지가 흩어진다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근거를 명시하고 짧은 주기로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접근법은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얼마나 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불확실한가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고객·개발자의 도메인 지식, 기술 숙련, 팀워크의 성숙도가 무엇을 더 명시하고 검증할지를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맥락과 접근법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31686" y="2240238"/>
          <a:ext cx="8067040" cy="3873500"/>
        </p:xfrm>
        <a:graphic>
          <a:graphicData uri="http://schemas.openxmlformats.org/drawingml/2006/table">
            <a:tbl>
              <a:tblPr/>
              <a:tblGrid>
                <a:gridCol w="3601720"/>
                <a:gridCol w="20929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접근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검증할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고객·개발자가 도메인을 알고 업무·기술이 안정적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기반(폭포수)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요구·계약의 완결성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업무는 명확하고 기술이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반복·점진(I&amp;I), 스파이크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위험한 기술부터 작은 증분으로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자주 바뀌고 고객이 함께할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애자일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짧은 주기로 동작하는 SW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사용자가 불분명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디자인 씽킹(DT)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사용자의 문제와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가치·시장이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Startup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 제품(MVP)으로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 경험이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UX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경험 가설과 실험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불확실성과 접근법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업무·기술의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불확실성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반복의 주기와 먼저 검증할 대상을 정한다. 모든 접근은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결정–검증–되돌림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서로 다른 주기로 운영한다.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통합 모델링 언어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 모델링 언어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(UML)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분석·설계 방법론이 아니라 모델을 표현·공유하는 표준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"UML은 소프트웨어와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시각화·명세·문서화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표준이다"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"Unified Modeling Language® (UML®) as a standard for visualizing, specifying, and documenting software and systems."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Rumbaugh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(OMT)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·Booch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(Booch Method)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·Jacobson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(OOSE)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표기법이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1997년 UML로 통합됐다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mermaid Diagram 7"/>
          <p:cNvPicPr>
            <a:picLocks noChangeAspect="1"/>
          </p:cNvPicPr>
          <p:nvPr/>
        </p:nvPicPr>
        <p:blipFill>
          <a:blip r:embed="mermaidImage7"/>
          <a:stretch>
            <a:fillRect/>
          </a:stretch>
        </p:blipFill>
        <p:spPr>
          <a:xfrm>
            <a:off x="2913063" y="3802980"/>
            <a:ext cx="331787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38244"/>
            <a:ext cx="4114800" cy="23164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이름;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고객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이름) { this.이름 = 이름;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고객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List&lt;주문항목&gt; 항목들;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주문번호, 고객 고객, List&lt;주문항목&gt; 항목들)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(항목들.isEmpty())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IllegalArgumentException("주문 항목은 1개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this.주문번호 = 주문번호;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this.고객 = 고객;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this.항목들 = List.copyOf(항목들);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개념·관계·다중성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코드의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클래스·필드·생성자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이어진다. 연관은 필드,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1..*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수량 규칙은 생성자의 검사가 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38244"/>
            <a:ext cx="4114800" cy="2438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수량, int 단가)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if (수량 &lt; 1)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IllegalArgumentException("수량은 1 이상");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919654" y="2100036"/>
            <a:ext cx="5304692" cy="122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시스템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29417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주문시스템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장바구니에담는다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상품, int 수량);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배송지를지정한다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주소);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결제수단);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경계의 오퍼레이션이 된다. 시스템 안은 블랙박스이며, 이벤트를 받는 쪽인 주문 시스템만 코드로 본다.</a:t>
            </a:r>
          </a:p>
        </p:txBody>
      </p:sp>
      <p:pic>
        <p:nvPicPr>
          <p:cNvPr id="33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3258038" y="2100036"/>
            <a:ext cx="2627923" cy="191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분석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549601"/>
            <a:ext cx="4114800" cy="170688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// ... 상품(상품명, 판매가)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금액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 return 단가 * 수량;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295353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메시지는 받는 객체의 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생성은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로, 반복은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for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문으로 옮긴다. 주문 항목을 추가하고 총액을 구하는 상호작용을 코드로 본다. 주문 항목은 만들어질 때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549601"/>
            <a:ext cx="4114800" cy="15849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총액을구한다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int 합계 = 0;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for (주문항목 항목 : 항목들) 합계 += 항목.금액();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합계;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2786185" y="2357073"/>
            <a:ext cx="3571631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23957"/>
            <a:ext cx="8412480" cy="3429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String 상품명;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판매가;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 상품명, int 판매가) { this.상품명 = 상품명; this.판매가 =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판매가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() { return 판매가;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상품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int 단가;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this.상품 = 상품;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this.수량 = 수량;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this.단가 = 상품.판매가();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주문항목을추가한다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링크는 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(필드)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번호는 호출의 중첩이 된다. 주문 항목을 추가하는 상호작용을 링크와 번호로 본다.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434731" y="1842998"/>
            <a:ext cx="8274538" cy="37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2806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전이(주문상태.결제대기, 주문상태.결제완료);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배송을시작한다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배송을완료한다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상태·사건·전이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값·메서드·허용 검사가 된다. 규칙이 금지한 전이는 일어날 수 없다. 주문의 생애 전체를 코드로 본다.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607038" y="2100036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1842998"/>
          <a:ext cx="667004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17678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중인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취소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주문은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취소됨에서 결제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없이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 생성이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그대로 테스트가 된다. 규칙이 금지한 전이는 거절되어야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요구에서 테스트로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978495"/>
            <a:ext cx="8412480" cy="28803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주문테스트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배송중인주문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배송중인주문.배송을시작한다();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거절(배송중인주문::취소한다);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취소된주문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취소된주문.취소한다();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거절(취소된주문::결제한다);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규칙 확인");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거절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(Runnable 행위)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try { 행위.run(); } catch (IllegalStateException 기대한거절) { return;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throw new AssertionError("거절되어야 한다");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예시를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실행되는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 「18. 상태 기계 다이어그램」의 주문 코드와 함께 실행한다.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607038" y="1842998"/>
            <a:ext cx="5929923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소프트웨어 아키텍처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소프트웨어 아키텍처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수준에서 무엇을 주요 구성 요소로 나누고 어떻게 연결하며, 어떤 경계와 원칙에 따라 설계·변경할지를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"아키텍처는 환경 속 시스템의 근본적인 개념·속성이며,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요소·관계·설계 및 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구현된다"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"Fundamental concepts or properties of a system in its environment embodied in its elements, relationships, and in the principles of its design and evolution."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ISO/IEC/IEEE 42010, www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컴포넌트·서브시스템 등 시스템의 주요 부분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관계와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구성 요소 사이의 협력·의존성·인터페이스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책임과 변경 영향을 구분하는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설계·진화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품질속성과 제약을 고려한 주요 결정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설계가 객체·모듈의 책임과 협력을 구체화한다면, 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전체의 구조와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책임과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(Responsibility)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(Boundary)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객체지향 설계의 핵심 판단이다.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책임지고 어디에 경계를 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상태 소유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규칙 판단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행위 수행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함께 변경되어야 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상태와 행위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묶음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영향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구분함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“데이터를 어디에 둘까?”보다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“누가 이 판단을 책임질까?”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묻는다.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메시지와 협력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데이터를 담는 단위가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(요청)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받은 객체가 자신의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(정보·규칙)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여러 객체가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목표를 달성한다.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"객체지향은 오직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상태·프로세스의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지역적 보존·보호·은닉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그리고 모든 것의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극단적으로 늦은 바인딩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의미한다"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"OOP to me means only messaging, local retention and protection and hiding of state-process, and extreme late-binding of all things."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Alan Kay, 2003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105269" y="3718745"/>
            <a:ext cx="4933462" cy="190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개념을 설계 클래스로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1:1 기계 변환하지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설계에서는 책임·경계·협력을 다시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결제, 고객, 취소 정책 등 업무 개념과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주문, 주문 서비스, 취소 정책, 결제 연동, 저장소 등 책임과 협력 구조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모델의 개념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설계 요소로 나뉠 수 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(예: 취소 정책 → 주문 서비스·결제 연동·저장소)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연동·저장소는 외부 연동과 영속성 요구를 검토하며 필요 여부를 결정한다.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분석 모델에서 설계 모델로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240238"/>
          <a:ext cx="594360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18135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 확인할 의미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더할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결과와 상태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항목은 1개 이상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책임과 검사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총액은 항목 금액의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변경 뒤의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다이어그램은 설계도가 아니다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다이어그램은 코드로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옮겨 적는 설계도가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상자 하나가 여러 코드 요소가 되기도, 여러 상자가 한 코드에 담기기도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383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코드 한 조각이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모델 전체의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다르다. 보장하지 못하는 제약은 누가 지킬지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분석·설계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행동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 근거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부족 — 요구·규칙·책임 불명확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모델을 보완한다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비용으로 재작업 위험을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 — 주요 판단 확보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구현·테스트·프로토타입으로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모델보다 실제 검증이 더 많이 알려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과도 — 상세가 판단을 바꾸지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멈추고, 새 증거가 생기면 재검토한다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비용을 줄이되 불확실성은 기록한다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분석·설계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(Just Enough Analysis and Design)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란 가능한 많은 모델과 산출물을 만드는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현재의 주요 위험을 줄이고 다음 검증으로 진행할 만큼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분석하고 설계하는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결정이 추측하지 않도록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결정이 중요한 것을 추측하지 않아도 될 만큼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명시한다. 핵심 규칙을 빈칸으로 두는 것은 설계 자유도가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숨은 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graphicFrame>
        <p:nvGraphicFramePr>
          <p:cNvPr id="15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633754"/>
          <a:ext cx="8305800" cy="3873500"/>
        </p:xfrm>
        <a:graphic>
          <a:graphicData uri="http://schemas.openxmlformats.org/drawingml/2006/table">
            <a:tbl>
              <a:tblPr/>
              <a:tblGrid>
                <a:gridCol w="2623820"/>
                <a:gridCol w="2819400"/>
                <a:gridCol w="2862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명시할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열어 둘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내부 객체와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→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용어, 규칙, 상태,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기술, 책임 배치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책임, 협력, 계약, 주요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국소 구현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→ 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보장 범위, 통합 전제, 남은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실사용으로 확인할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북 스마트와 스트리트 스마트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5" y="2100036"/>
          <a:ext cx="8036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41884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템플릿을 다 채우지만 합의한 이벤트가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말로 합의하고 기록·예시가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다이어그램은 많지만 데이터 모델·규칙이 없다(분석 과잉)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코드 조건문에 바로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패턴을 먼저 고르고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매번 새로 만들어 같은 실수를 반복한다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절차는 지켰지만 결과를 확인하지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동작하면 끝났다고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표준·모델·프로세스·원칙을 아는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그중 무엇을 언제 얼마나 쓸지 맥락에서 판단하고 증거로 되돌리는 것이다. 둘 중 하나만으로는 SW 공학이 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결정 경계·다이어그램·원칙은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적정 수준·맥락에 따른 선택·되돌림은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KISS·DRY·YAGNI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00889"/>
                <a:gridCol w="2545326"/>
                <a:gridCol w="227058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진정한 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 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KISS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복잡성은 없애고 본질은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enum과 허용 검사로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빼고 "코드에서 처리"한다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지식에 하나의 원천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규칙은 한 곳, 예시는 곧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모양만 같은 다른 의미를 합친다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YAGNI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추측으로 결정하지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미확정인 부분 취소·쿠폰은 안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규칙·경계까지 미룬다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이름의 뜻보다 우리 흐름 안에서의 의미로 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96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원칙이 부딪히면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위험과 비용, 되돌리기 쉬운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고른다. 공통 추상화가 두 개념을 함께 바뀌게 하면 중복을 남긴다.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구현·테스트의 오류는 앞선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요구·분석·설계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되돌아볼 증거다.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요구사항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 자체를 잘못 정의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의미·규칙을 잘못 이해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책임·경계를 잘못 배치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오류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코드·기술 사용 오류</a:t>
            </a:r>
          </a:p>
        </p:txBody>
      </p:sp>
      <p:pic>
        <p:nvPicPr>
          <p:cNvPr id="9" name="mermaid Diagram 8"/>
          <p:cNvPicPr>
            <a:picLocks noChangeAspect="1"/>
          </p:cNvPicPr>
          <p:nvPr/>
        </p:nvPicPr>
        <p:blipFill>
          <a:blip r:embed="mermaidImage8"/>
          <a:stretch>
            <a:fillRect/>
          </a:stretch>
        </p:blipFill>
        <p:spPr>
          <a:xfrm>
            <a:off x="1460500" y="3712824"/>
            <a:ext cx="6223000" cy="142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피드백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90256" y="2240238"/>
          <a:ext cx="55499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67386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취소 가능 여부를 알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규칙·상태의 일관성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주문에 취소 전이가 없는가?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책임·계약·실패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판단을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실행·통합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상태가 그대로인가?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결과와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문의가 줄었는가?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검증의 배치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테스트는 앞 활동을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생략해도 된다는 허가가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오류가 생기는 곳 가까이에서 검증을 앞당긴다.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흔한 오해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154680"/>
                <a:gridCol w="5151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UML을 그리면 OOAD다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UML은 표현 언어다. 핵심은 문제 이해와 책임·경계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분석은 문서를 많이 만드는 일이다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목적은 산출물이 아니라 판단이다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명사는 클래스, 테이블은 객체다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개념을 설계·코드로 기계적으로 옮기지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데이터와 접근 메서드의 묶음이다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객체는 책임을 지고 메시지로 협력한다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상속과 디자인 패턴이 객체지향의 핵심이다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핵심은 메시지·책임·협력이며, 패턴은 실제 변경 압력이 있을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기술을 먼저 정하고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요구를 먼저 정하고 기술은 해결책으로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완벽하게 분석·설계한다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적정하게 분석·설계하고 피드백으로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다이어그램과 절차를 갖추면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스마트만으로는 판단이 없다. 무엇을 언제 얼마나 쓸지 맥락에서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일단 해 보면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스마트만으로는 같은 실수를 반복한다. 예시·모델·테스트로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분석·설계에 대한 흔한 오해는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표기·산출물·기술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판단보다 앞세우는 데서 생긴다.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전문 영역으로의 확장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4495" y="1842998"/>
          <a:ext cx="62814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691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더해지는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 Architecture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품질속성과 제약 아래 구조·배포·변경 비용을 어떻게 절충하는가?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DDD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언어와 문맥 경계를 어떻게 유지하는가?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MSA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분산 경계·통신·실패·일관성이 업무 의미에 어떤 영향을 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DevOps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증거를 어떤 결정으로 얼마나 빨리 되돌리는가?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 SW공학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에이전트가 어떤 결정을 맡고 무엇으로 검증하는가?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OOAD만으로 모든 판단을 끝내지 않는다. 규모·품질·분산·운영이 커지면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전문 영역의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아키텍처는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마지막 단계가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위험과 제약이 크면 판단과 검증을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앞당긴다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도메인 주도 설계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기존 객체지향 설계의 대체물이 아니라, 도메인 모델과 설계·구현의 정합성을 깊이 있게 다룬다.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핵심 도메인, 경계가 명확한 문맥, 문맥 간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엔티티, 값 객체, 애그리거트, 저장소, 도메인 서비스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에반스는 도메인 주도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중심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객체지향 설계 모범 사례 위에 세운다. 이 세션은 그 위에서 도메인 주도 설계 고유의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전략적·전술적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온톨로지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(Ontology)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공유하려는 개념과 관계의 의미를 명시하는 데 사용한다. 도메인 모델과 관심을 공유하지만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도메인 모델을 자동으로 온톨로지라고 부르지는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Thomas R. Gruber, 1993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이는 필수 개발 순서가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관심과 활용 관계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pic>
        <p:nvPicPr>
          <p:cNvPr id="9" name="mermaid Diagram 9"/>
          <p:cNvPicPr>
            <a:picLocks noChangeAspect="1"/>
          </p:cNvPicPr>
          <p:nvPr/>
        </p:nvPicPr>
        <p:blipFill>
          <a:blip r:embed="mermaidImage9"/>
          <a:stretch>
            <a:fillRect/>
          </a:stretch>
        </p:blipFill>
        <p:spPr>
          <a:xfrm>
            <a:off x="1460500" y="3660581"/>
            <a:ext cx="6223000" cy="230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AI 기반 소프트웨어공학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과정에서는 AI 기반 개발을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인간의 판단 책임과 AI의 실행·지원 역할을 배치하는 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다룬다. 아래 구분은 보편적으로 확정된 역할 표준이 아니라 검증과 책임 소재를 명확히 하기 위한 운영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인간이 최종 책임지는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비전과 가치, 위험 수용, 최종 의사결정과 책임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인간과 AI의 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요구사항, 도메인 모델·온톨로지, 아키텍처·설계, 테스트·검토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주도할 수 있는 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 생성·변환, 정적 검사, 테스트 실행, 자동화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핵심은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코드를 작성하느냐보다 누가 의미·경계·위험을 판단하고 결과를 검증하느냐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있다. 실행할 때는 필요한 맥락·제약을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(Guardrail)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실행·검증 환경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(Harness)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실습 — 요구사항 명세서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서비스 개요와 프롬프트를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요구사항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항목을 참고해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명세서를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생필품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일정 주기로 배송하는 정기배송 시스템을 개발한다. 고객은 상품·수량·기간·배송 주기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(1·2·4주)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·배송지를 입력하고 결제한다. 고객은 다음 배송을 24시간 전까지 취소할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(연속 2회까지)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상품·결제·배송은 각각 외부 시스템이 맡는다.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"위 서비스 개요로 정기배송 시스템의 요구사항 명세서를 작성해줘. 기능 요구, 업무 규칙, 외부 시스템, 확인할 질문으로 나눠 정리해줘. 개요에 없는 내용은 추측하지 말고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반드시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해라."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개요 반영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개요의 모든 내용이 빠짐없이 반영되었는가? 입력 항목, 결제, 취소 규칙, 외부 시스템을 확인한다.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결제 방법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(카드·계좌이체·간편결제 등)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청구 방식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(일시불·월별 청구)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청구일이 정해졌는가?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주기·기간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1·2·4주 외에 고객이 원하는 주기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(매일·격일·3일·10일 등)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를 지원하는가? 기간과 만료일이 정해졌는가?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취소·반품·해지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취소한 회차의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환불 방법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반품할 수 있는 상품과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반품 기한·절차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, 해지할 때 </a:t>
            </a:r>
            <a:r>
              <a:rPr sz="1050" b="1">
                <a:solidFill>
                  <a:srgbClr val="000000"/>
                </a:solidFill>
                <a:latin typeface="맑은 고딕"/>
                <a:ea typeface="맑은 고딕"/>
              </a:rPr>
              <a:t>남은 금액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의 처리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기술 용어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화면·버튼·DB·API 같은 구현 표현이 없는가?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미확정 항목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질문을 모두 확인해 없앴는가? 남긴 항목이 있다면 그 이유가 분명한가?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확인할 질문이 남지 않은 요구사항 명세서.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요구사항 명세서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818409"/>
            <a:ext cx="4338828" cy="466468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요구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F1 신청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F2 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방법과 청구 방식을 골라 결제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F3 배송 요청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배송일마다 배송 시스템에 요청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F4 취소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배송을 취소하고 그 회차 금액을 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F5 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반품을 신청하고, 회수가 확인되면 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F6 해지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해지하고, 배송되지 않은 회차 금액을 환불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규칙: 신청·금액·결제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1~28일, 일 단위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(매일·격일·3일·1주·10일·2주·4주 등)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R2 배송일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배송일은 신청 다음 날부터 7일 안에서 고르고, 이후는 주기마다 정해진다.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R3 기간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1~12개월. 만료일은 첫 배송일 + 기간의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전날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이며, 자동 연장하지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R4 회차 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가격 × 수량.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신청 때의 가격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기간 끝까지 적용한다.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카드, 계좌이체, 간편결제 중 하나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R6 청구 방식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일시불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 신청할 때 전체 회차 금액을 청구한다.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월별 청구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 매월 첫 배송일과 같은 날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(없으면 말일)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에 그달 회차 금액을 청구한다.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858289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서비스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고객은 상품·수량·배송 주기·첫 배송일·기간·배송지를 정해 신청하고, 일시불 또는 월별로 결제한다. 고객은 다음 배송을 취소하거나, 받은 상품을 반품하거나, 정기배송을 해지할 수 있다. 상품·결제·배송은 각각 외부 시스템이 맡는다.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818409"/>
            <a:ext cx="4439412" cy="466468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규칙: 청구 실패·취소·반품·해지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R7 청구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3일 동안 매일 다시 청구하고, 그래도 실패하면 정지하고 고객에게 알린다.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R8 취소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24시간 전까지, 연속 2회까지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청구한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결제 수단으로 환불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하고, 청구 전이면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청구에서 뺀다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R9 반품 대상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개봉하지 않은 공산품, 받은 날부터 7일 이내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식품은 불가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. 불량·오배송은 종류·개봉과 관계없이 가능하다.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R10 반품 절차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시스템이 회수하고, 확인 후 3영업일 안에 결제 수단으로 환불한다.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단순 변심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은 반품 배송비 3,000원을 빼고 환불한다.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R11 해지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언제든, 위약금 없음</a:t>
            </a:r>
          </a:p>
          <a:p>
            <a:pPr lvl="4" marL="685800" indent="-18288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24시간 전이 지난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하고, 청구했지만 배송되지 않은 회차는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환불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</a:rPr>
              <a:t>한다. 이후 청구는 멈춘다.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 정보·가격, 상품 종류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(식품·공산품)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결제·청구·환불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배송, 반품 회수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미확정 항목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없음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OOAD 개요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문제를 이해하고 해결책의 책임과 경계를 결정하는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코드·테스트까지 이어서 다뤘다.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객체지향 분석·설계의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문제·요구·해결책과 이벤트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해결책이 섞인 요청에서 문제와 요구를 찾고, 요구는 이벤트로 합의한다.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본질적·우연적 어려움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복잡성과 기술적 부담을 구분한다.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결정 경계와 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요구·분석·설계·코드는 각자 결정하고 가까이에서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책임·경계·협력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객체지향 설계의 핵심 판단이다. 다이어그램은 옮겨 적는 설계도가 아니다.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수준과 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맥락에 맞게 명시하고, 원칙은 북 스마트로 알되 스트리트 스마트로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02. 요구 분석과 유스케이스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요청에서 요구를 발견해 이벤트로 합의하고, 사용자 목표와 시스템 책임을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44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맑은 고딕</vt:lpstr>
      <vt:lpstr>Arial</vt:lpstr>
      <vt:lpstr>Wingdings</vt:lpstr>
      <vt:lpstr>4_Office 테마</vt:lpstr>
      <vt:lpstr>01. OOAD 개요 목차 (1/2)</vt:lpstr>
      <vt:lpstr>01. OOAD 개요 목차 (2/2)</vt:lpstr>
      <vt:lpstr>01. 세션 목표</vt:lpstr>
      <vt:lpstr>02. SW 개발의 재작업</vt:lpstr>
      <vt:lpstr>03. 미사용 기능</vt:lpstr>
      <vt:lpstr>04. 범위와 가치 (1/2)</vt:lpstr>
      <vt:lpstr>04. 범위와 가치 (2/2)</vt:lpstr>
      <vt:lpstr>05. 문제 → 요구사항 → 해결책 (1/2)</vt:lpstr>
      <vt:lpstr>05. 문제 → 요구사항 → 해결책 (2/2)</vt:lpstr>
      <vt:lpstr>06. 이벤트 관점</vt:lpstr>
      <vt:lpstr>07. 본질적 어려움과 우연적 어려움</vt:lpstr>
      <vt:lpstr>08. 주문 취소의 복잡성</vt:lpstr>
      <vt:lpstr>09. 분석과 설계 (1/2)</vt:lpstr>
      <vt:lpstr>09. 분석과 설계 (2/2)</vt:lpstr>
      <vt:lpstr>10. 결정 경계</vt:lpstr>
      <vt:lpstr>11. 분석·설계의 진화</vt:lpstr>
      <vt:lpstr>12. 맥락과 접근법 (1/2)</vt:lpstr>
      <vt:lpstr>12. 맥락과 접근법 (2/2)</vt:lpstr>
      <vt:lpstr>13. 통합 모델링 언어</vt:lpstr>
      <vt:lpstr>14. 클래스 다이어그램</vt:lpstr>
      <vt:lpstr>15. 시스템 시퀀스 다이어그램</vt:lpstr>
      <vt:lpstr>16. 분석 시퀀스 다이어그램</vt:lpstr>
      <vt:lpstr>17. 커뮤니케이션 다이어그램</vt:lpstr>
      <vt:lpstr>18. 상태 기계 다이어그램</vt:lpstr>
      <vt:lpstr>19. 요구에서 테스트로 (1/2)</vt:lpstr>
      <vt:lpstr>19. 요구에서 테스트로 (2/2)</vt:lpstr>
      <vt:lpstr>20. 소프트웨어 아키텍처</vt:lpstr>
      <vt:lpstr>21. 책임과 경계</vt:lpstr>
      <vt:lpstr>22. 메시지와 협력</vt:lpstr>
      <vt:lpstr>23. 분석 모델에서 설계 모델로 (1/2)</vt:lpstr>
      <vt:lpstr>23. 분석 모델에서 설계 모델로 (2/2)</vt:lpstr>
      <vt:lpstr>24. 적정 분석·설계</vt:lpstr>
      <vt:lpstr>25. 북 스마트와 스트리트 스마트</vt:lpstr>
      <vt:lpstr>26. KISS·DRY·YAGNI</vt:lpstr>
      <vt:lpstr>27. 피드백 (1/2)</vt:lpstr>
      <vt:lpstr>27. 피드백 (2/2)</vt:lpstr>
      <vt:lpstr>28. 흔한 오해</vt:lpstr>
      <vt:lpstr>29. 전문 영역으로의 확장</vt:lpstr>
      <vt:lpstr>30. 도메인 주도 설계</vt:lpstr>
      <vt:lpstr>31. 온톨로지</vt:lpstr>
      <vt:lpstr>32. AI 기반 소프트웨어공학</vt:lpstr>
      <vt:lpstr>33. 실습 — 요구사항 명세서</vt:lpstr>
      <vt:lpstr>34. 요구사항 명세서 (안)</vt:lpstr>
      <vt:lpstr>35.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OOAD 개요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