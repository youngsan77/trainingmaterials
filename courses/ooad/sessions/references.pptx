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과정의 기준 원전(Larman 2004)과 수강생이 구해 공부할 책, 세션이 레이블로 인용·참조한 자료를 하나의 목록으로 레이블의 알파벳 순서로 둔다(course-design.md의 「기준 원전과 참고 자료」).</a:t>
            </a:r>
          </a:p>
          <a:p>
            <a:pPr lvl="0"/>
            <a:r>
              <a:rPr lang="ko-KR" sz="1200"/>
              <a:t>레이블에 연도가 없는 항목은 웹 문서에 작성 연도가 표기되지 않은 경우다. 재인용 레이블은 원전을 직접 확인하지 못하고 재인용처로 확인한 인용이며, 재인용처는 해당 topic의 강사 노트에 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참고 자료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(1/2)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별첨. 참고 자료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522976"/>
          </a:xfrm>
        </p:spPr>
        <p:txBody>
          <a:bodyPr>
            <a:normAutofit/>
          </a:bodyPr>
          <a:lstStyle/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[Ambler]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Principles of Agile Modeling, Scott W. Ambler, https://agilemodeling.com/principles.htm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Best practices for Claude Code, Anthropic, https://code.claude.com/docs/en/best-practices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Building effective agents, Anthropic, 2024, https://www.anthropic.com/engineering/building-effective-agents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Effective context engineering for AI agents, Anthropic, 2025, https://www.anthropic.com/engineering/effective-context-engineering-for-ai-agents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[Beck 2012]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Twitter post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(2012-09-25)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Kent Beck, 2012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[Beck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Augmented Coding: Beyond the Vibes, Kent Beck, 2025, https://newsletter.kentbeck.com/p/augmented-coding-beyond-the-vibes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[Beck·Cunningham 1989]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 Laboratory For Teaching Object-Oriented Thinking, Kent Beck·Ward Cunningham, OOPSLA '89, 1989, http://c2.com/doc/oopsla89/paper.html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[Bezos 2017]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2016 Letter to Shareholders, Jeff Bezos, Amazon, 2017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[Böckeler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Understanding Spec-Driven-Development: Kiro, spec-kit, and Tessl, Birgitta Böckeler, martinfowler.com, 2025, https://martinfowler.com/articles/exploring-gen-ai/sdd-3-tools.html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[Böckeler 2026]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Harness engineering for coding agent users, Birgitta Böckeler, martinfowler.com, 2026, https://martinfowler.com/articles/exploring-gen-ai/harness-engineering.html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[Boehm·Basili 2001]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Software Defect Reduction Top 10 List, Barry Boehm·Victor R. Basili, IEEE Computer 34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(1)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2001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[Booch 1994]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Object-Oriented Analysis and Design with Applications, 2nd ed., Grady Booch, 1994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[Brooks 1986]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No Silver Bullet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Essence and Accidents of Software Engineering, Frederick P. Brooks Jr., UNC Technical Report TR86-020, 1986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[Chen 1976]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Entity-Relationship Model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Toward a Unified View of Data, Peter Pin-Shan Chen, ACM Transactions on Database Systems, 1976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[Cockburn 2000]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Writing Effective Use Cases, pre-publication draft #3, Alistair Cockburn, 2000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[Cockburn 2001]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Writing Effective Use Cases, Alistair Cockburn, Addison-Wesley, 2001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522976"/>
          </a:xfrm>
        </p:spPr>
        <p:txBody>
          <a:bodyPr>
            <a:normAutofit/>
          </a:bodyPr>
          <a:lstStyle/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[Conway 1968]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How Do Committees Invent?, Melvin E. Conway, Datamation, 1968, https://www.melconway.com/Home/pdf/committees.pdf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[Cucumber]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Behaviour-Driven Development, Cucumber documentation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[Cucumber: Example Mapping]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Example Mapping, Cucumber, https://cucumber.io/docs/bdd/example-mapping/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[Dijkstra]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On the Reliability of Programs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(EWD303)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Edsger W. Dijkstra, https://www.cs.utexas.edu/~EWD/transcriptions/EWD03xx/EWD303.html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[Evans 2004]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Domain-Driven Design: Tackling Complexity in the Heart of Software, Eric Evans, Addison-Wesley, 2004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[Evans 2015]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Domain-Driven Design Reference, Eric Evans, Domain Language, 2015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[Fairbanks 2010]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Just Enough Software Architecture: A Risk-Driven Approach, George Fairbanks, Marshall &amp; Brainerd, 2010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2002]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Patterns of Enterprise Application Architecture, Martin Fowler, Addison-Wesley, 2002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2003b]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AnemicDomainModel, Martin Fowler, martinfowler.com, 2003, https://martinfowler.com/bliki/AnemicDomainModel.html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2003c]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Who Needs an Architect?, Martin Fowler, IEEE Software 20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(5)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2003, https://martinfowler.com/ieeeSoftware/whoNeedsArchitect.pdf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2004]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UML Distilled, 3rd ed., Martin Fowler, Addison-Wesley, 2004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2011]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FrequencyReducesDifficulty, Martin Fowler, martinfowler.com, 2011, https://martinfowler.com/bliki/FrequencyReducesDifficulty.html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2014]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Microservices and the First Law of Distributed Objects, Martin Fowler, martinfowler.com, 2014, https://martinfowler.com/articles/distributed-objects-microservices.html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2015a]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Yagni, Martin Fowler, martinfowler.com, 2015, https://martinfowler.com/bliki/Yagni.html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2015b]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BeckDesignRules, Martin Fowler, martinfowler.com, 2015, https://martinfowler.com/bliki/BeckDesignRules.html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2015c]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MonolithFirst, Martin Fowler, martinfowler.com, 2015, https://martinfowler.com/bliki/MonolithFirst.html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2015d]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MicroservicePremium, Martin Fowler, martinfowler.com, 2015, https://martinfowler.com/bliki/MicroservicePremium.html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2024]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Continuous Integration, Martin Fowler, martinfowler.com, 2024, https://martinfowler.com/articles/continuousIntegration.html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참고 자료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별첨. 참고 자료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522976"/>
          </a:xfrm>
        </p:spPr>
        <p:txBody>
          <a:bodyPr>
            <a:normAutofit/>
          </a:bodyPr>
          <a:lstStyle/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[Gamma 외 1994]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Design Patterns: Elements of Reusable Object-Oriented Software, Erich Gamma·Richard Helm·Ralph Johnson·John Vlissides, Addison-Wesley, 1994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[Gamma 2005]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Design Principles from Design Patterns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A Conversation with Erich Gamma, Part III, Bill Venners, Artima, 2005, https://www.artima.com/articles/design-principles-from-design-patterns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[Gruber 1993]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 Translation Approach to Portable Ontology Specifications, Thomas R. Gruber, Knowledge Acquisition 5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(2)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1993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[Harel 1987]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Statecharts: A Visual Formalism for Complex Systems, David Harel, Science of Computer Programming, 1987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[Hoare 1981]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Emperor's Old Clothes, C. A. R. Hoare, Communications of the ACM 24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(2)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1981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[Humble]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Principles, Jez Humble, continuousdelivery.com, https://continuousdelivery.com/principles/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[IIBA 2017]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Global Business Analysis Core Standard, International Institute of Business Analysis, 2017, https://www.iiba.org/globalassets/standards-and-resources/core-standard/iiba-core-standard.pdf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[IIBA 2022]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Business Analysis Standard, IIBA, 2022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[Jacobson 1992]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Object-Oriented Software Engineering: A Use Case Driven Approach, Ivar Jacobson 외, Addison-Wesley, 1992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[Jeffries 2001]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Essential XP: Card, Conversation, Confirmation, Ron Jeffries, 2001, https://ronjeffries.com/xprog/articles/expcardconversationconfirmation/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[Johnson 2002]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XP 2002 발표, Jim Johnson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(Standish Group)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2002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[Kay 2003]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Stefan Ram에게 보낸 이메일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(2003-07-23)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Alan Kay, 2003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[Kim 2012]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Three Ways: The Principles Underpinning DevOps, Gene Kim, IT Revolution, 2012, https://itrevolution.com/articles/the-three-ways-principles-underpinning-devops/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Applying UML and Patterns, 3rd ed., Craig Larman, Prentice Hall, 2004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[Lean Enterprise Institute]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5 Whys, Lean Lexicon, Lean Enterprise Institute, https://www.lean.org/lexicon-terms/5-whys/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[Lewis·Fowler 2014]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Microservices, James Lewis·Martin Fowler, martinfowler.com, 2014, https://martinfowler.com/articles/microservices.html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[Martin 2000]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Design Principles and Design Patterns, Robert C. Martin, 2000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522976"/>
          </a:xfrm>
        </p:spPr>
        <p:txBody>
          <a:bodyPr>
            <a:normAutofit/>
          </a:bodyPr>
          <a:lstStyle/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[Martin 2014]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Single Responsibility Principle, Robert C. Martin, The Clean Code Blog, 2014, https://blog.cleancoder.com/uncle-bob/2014/05/08/SingleReponsibilityPrinciple.html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[Martin 2018]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Clean Architecture, Robert C. Martin, Prentice Hall, 2018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[Meyer 1992]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Applying "Design by Contract", Bertrand Meyer, IEEE Computer 25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(10)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1992, https://se.inf.ethz.ch/~meyer/publications/computer/contract.pdf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[Meyer 1997]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Object-Oriented Software Construction, 2nd ed., Bertrand Meyer, Prentice Hall, 1997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[North 2006]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Introducing BDD, Dan North, 2006, https://dannorth.net/blog/introducing-bdd/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[Nygard 2011]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Documenting Architecture Decisions, Michael Nygard, Cognitect, 2011, https://www.cognitect.com/blog/2011/11/15/documenting-architecture-decisions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[OMG 2017]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Unified Modeling Language, Version 2.5.1, Object Management Group, 2017, https://www.omg.org/spec/UML/2.5.1/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[OMG UML]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UML, Object Management Group, https://www.omg.org/uml/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[Parnas 1972]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On the Criteria To Be Used in Decomposing Systems into Modules, David L. Parnas, Communications of the ACM, 1972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[SWEBOK 2024]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Guide to the Software Engineering Body of Knowledge, Version 4.0, IEEE Computer Society, 2024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[Wake 2003]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INVEST in Good Stories, and SMART Tasks, Bill Wake, 2003, https://xp123.com/invest-in-good-stories-and-smart-tasks/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[Wiegers 2013]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When Bad Requirements Happen to Nice People, Karl Wiegers, Jama Software, 2013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[Wikipedia: Object-oriented analysis and design]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Object-oriented analysis and design, Wikipedia, https://en.wikipedia.org/wiki/Object-oriented_analysis_and_design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[Wirfs-Brock 2006]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 Brief Tour of Responsibility-Driven Design, Rebecca Wirfs-Brock, Wirfs-Brock Associates, 2006, https://www.wirfs-brock.com/PDFs/A_Brief-Tour-of-RDD.pdf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[Wirfs-Brock·McKean 2003]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Object Design: Roles, Responsibilities, and Collaborations, Rebecca Wirfs-Brock·Alan McKean, Addison-Wesley, 2003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[Yourdon]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Just Enough Structured Analysis, Chapter 18 "The Event List", Edward Yourdon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4_Office 테마</vt:lpstr>
      <vt:lpstr>참고 자료 (1/2)</vt:lpstr>
      <vt:lpstr>참고 자료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별첨. 참고 자료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