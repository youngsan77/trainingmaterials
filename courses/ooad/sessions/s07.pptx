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"06. 분석 모델에서 설계 모델로"의 초기 설계다. 변경 압력에 따른 변이(OCP·GRASP의 변화 대응 원칙)는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"06. 분석 모델에서 설계 모델로"의 「27. 초기 설계의 한계」다. 변경 압력과 대안 평가는 "08. 변화 대응과 변이 설계"·"09. 설계 대안 평가"로 넘긴다.</a:t>
            </a:r>
          </a:p>
          <a:p>
            <a:pPr lvl="0"/>
            <a:r>
              <a:rPr lang="ko-KR" sz="1200"/>
              <a:t>설계 도식과 코드는 용어집의 영문명을 쓴다("05. 구조적 경계와 의존성"의 「06.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"02. 요구 분석과 유스케이스"의 계약, "04. 동적 모델 — 상호작용과 상태"의 시퀀스·상태 기계,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"09. 설계 대안 평가"의 연습 거리다.</a:t>
            </a:r>
          </a:p>
          <a:p>
            <a:pPr lvl="0"/>
            <a:r>
              <a:rPr lang="ko-KR" sz="1200"/>
              <a:t>다형성·순수 가공·간접화·보호된 변이는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"05. 구조적 경계와 의존성"의 「18.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"05. 구조적 경계와 의존성"의 「08. 패키지 기준」에서 본 Parnas의 생각(바뀌기 쉬운 결정을 모듈 안에 감춘다)을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둔다("05. 구조적 경계와 의존성"의 「10. 요청과 통보」).</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"05. 구조적 경계와 의존성"의 「15.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"05. 구조적 경계와 의존성"의 CCP(함께 바뀌는 클래스는 함께 둔다)는 SRP를 패키지 수준으로 옮긴 것이다.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"05. 구조적 경계와 의존성"의 CRP(함께 쓰이지 않는 것은 나눈다)는 ISP를 패키지 수준으로 옮긴 것이다.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"08. 변화 대응과 변이 설계"에서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"02. 요구 분석과 유스케이스"의 「45. 시스템 오퍼레이션과 계약」과 "04. 동적 모델 — 상호작용과 상태"의 「10. 계약의 정제」다. 과정 설계는 두 계약을 구분하라고 정했다.</a:t>
            </a:r>
          </a:p>
          <a:p>
            <a:pPr lvl="0"/>
            <a:r>
              <a:rPr lang="ko-KR" sz="1200"/>
              <a:t>"06.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"03. 정적 모델 — 도메인 개념과 관계"의 다중성과 속성 수준 업무 규칙이다.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"06. 분석 모델에서 설계 모델로"와 같다. 이 세션은 순서를 바꾸지 않고 계약과 의존만 정제했다.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본다("08. 변화 대응과 변이 설계").</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"09. 설계 대안 평가"에서 다룬다.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기준("02. 요구 분석과 유스케이스")과 같다 — 여러 협력자를 조정하거나, 조건을 외부가 판단하거나, 상태와 결과가 얽힌 것.</a:t>
            </a:r>
          </a:p>
          <a:p>
            <a:pPr lvl="0"/>
            <a:r>
              <a:rPr lang="ko-KR" sz="1200"/>
              <a:t>변경 압력이 들어오면 이 설계가 어디서 흔들리는지 "08. 변화 대응과 변이 설계"에서 본다.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CRC </a:t>
            </a:r>
            <a:r>
              <a:rPr sz="1200" b="0">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계약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47. 정제된 설계 클래스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48. 책임·계약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49.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42998"/>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92124"/>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42998"/>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8596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58085"/>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object-oriented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42998"/>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3852779"/>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하나의, 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pic>
        <p:nvPicPr>
          <p:cNvPr id="9" name="plantuml Diagram 2"/>
          <p:cNvPicPr>
            <a:picLocks noChangeAspect="1"/>
          </p:cNvPicPr>
          <p:nvPr/>
        </p:nvPicPr>
        <p:blipFill>
          <a:blip r:embed="plantumlImage2"/>
          <a:stretch>
            <a:fillRect/>
          </a:stretch>
        </p:blipFill>
        <p:spPr>
          <a:xfrm>
            <a:off x="2735385" y="363766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42998"/>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6516" y="1842998"/>
          <a:ext cx="6977380" cy="3873500"/>
        </p:xfrm>
        <a:graphic>
          <a:graphicData uri="http://schemas.openxmlformats.org/drawingml/2006/table">
            <a:tbl>
              <a:tblPr/>
              <a:tblGrid>
                <a:gridCol w="1701800"/>
                <a:gridCol w="295910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509444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pic>
        <p:nvPicPr>
          <p:cNvPr id="14" name="plantuml Diagram 3"/>
          <p:cNvPicPr>
            <a:picLocks noChangeAspect="1"/>
          </p:cNvPicPr>
          <p:nvPr/>
        </p:nvPicPr>
        <p:blipFill>
          <a:blip r:embed="plantumlImage3"/>
          <a:stretch>
            <a:fillRect/>
          </a:stretch>
        </p:blipFill>
        <p:spPr>
          <a:xfrm>
            <a:off x="2516598" y="1842998"/>
            <a:ext cx="4097215" cy="3149844"/>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5021906"/>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4"/>
          <p:cNvPicPr>
            <a:picLocks noChangeAspect="1"/>
          </p:cNvPicPr>
          <p:nvPr/>
        </p:nvPicPr>
        <p:blipFill>
          <a:blip r:embed="plantumlImage4"/>
          <a:stretch>
            <a:fillRect/>
          </a:stretch>
        </p:blipFill>
        <p:spPr>
          <a:xfrm>
            <a:off x="2019100" y="1842998"/>
            <a:ext cx="5092212" cy="30773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393482"/>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pic>
        <p:nvPicPr>
          <p:cNvPr id="14" name="plantuml Diagram 5"/>
          <p:cNvPicPr>
            <a:picLocks noChangeAspect="1"/>
          </p:cNvPicPr>
          <p:nvPr/>
        </p:nvPicPr>
        <p:blipFill>
          <a:blip r:embed="plantumlImage5"/>
          <a:stretch>
            <a:fillRect/>
          </a:stretch>
        </p:blipFill>
        <p:spPr>
          <a:xfrm>
            <a:off x="2469706" y="2100036"/>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822232"/>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6"/>
          <p:cNvPicPr>
            <a:picLocks noChangeAspect="1"/>
          </p:cNvPicPr>
          <p:nvPr/>
        </p:nvPicPr>
        <p:blipFill>
          <a:blip r:embed="plantumlImage6"/>
          <a:stretch>
            <a:fillRect/>
          </a:stretch>
        </p:blipFill>
        <p:spPr>
          <a:xfrm>
            <a:off x="2724927" y="2100036"/>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8085"/>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801048"/>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2466" y="2100036"/>
          <a:ext cx="5745480" cy="3873500"/>
        </p:xfrm>
        <a:graphic>
          <a:graphicData uri="http://schemas.openxmlformats.org/drawingml/2006/table">
            <a:tbl>
              <a:tblPr/>
              <a:tblGrid>
                <a:gridCol w="889000"/>
                <a:gridCol w="265176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42998"/>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42998"/>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42998"/>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42998"/>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3974156"/>
          <a:ext cx="5775960" cy="3873500"/>
        </p:xfrm>
        <a:graphic>
          <a:graphicData uri="http://schemas.openxmlformats.org/drawingml/2006/table">
            <a:tbl>
              <a:tblPr/>
              <a:tblGrid>
                <a:gridCol w="1450340"/>
                <a:gridCol w="25958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pic>
        <p:nvPicPr>
          <p:cNvPr id="14" name="plantuml Diagram 8"/>
          <p:cNvPicPr>
            <a:picLocks noChangeAspect="1"/>
          </p:cNvPicPr>
          <p:nvPr/>
        </p:nvPicPr>
        <p:blipFill>
          <a:blip r:embed="plantumlImage8"/>
          <a:stretch>
            <a:fillRect/>
          </a:stretch>
        </p:blipFill>
        <p:spPr>
          <a:xfrm>
            <a:off x="799167" y="1842998"/>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2577894"/>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801048"/>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42998"/>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42998"/>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42998"/>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42998"/>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CRC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계약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47. 정제된 설계 클래스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2832512"/>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책임·계약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52</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(1/2)</vt:lpstr>
      <vt:lpstr>14. 응집도 (2/2)</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CRC (안)</vt:lpstr>
      <vt:lpstr>46. 계약 (안)</vt:lpstr>
      <vt:lpstr>47. 정제된 설계 클래스 다이어그램 (안)</vt:lpstr>
      <vt:lpstr>48. 책임·계약 보완 (안)</vt:lpstr>
      <vt:lpstr>49.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