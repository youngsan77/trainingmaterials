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Slides/notesSlide21.xml" ContentType="application/vnd.openxmlformats-officedocument.presentationml.notes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notesSlides/notesSlide23.xml" ContentType="application/vnd.openxmlformats-officedocument.presentationml.notes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notesSlides/notesSlide28.xml" ContentType="application/vnd.openxmlformats-officedocument.presentationml.notesSlide+xml"/>
  <Override PartName="/ppt/slides/slide28.xml" ContentType="application/vnd.openxmlformats-officedocument.presentationml.slide+xml"/>
  <Override PartName="/ppt/notesSlides/notesSlide29.xml" ContentType="application/vnd.openxmlformats-officedocument.presentationml.notesSlide+xml"/>
  <Override PartName="/ppt/slides/slide29.xml" ContentType="application/vnd.openxmlformats-officedocument.presentationml.slide+xml"/>
  <Override PartName="/ppt/notesSlides/notesSlide30.xml" ContentType="application/vnd.openxmlformats-officedocument.presentationml.notesSlide+xml"/>
  <Override PartName="/ppt/slides/slide30.xml" ContentType="application/vnd.openxmlformats-officedocument.presentationml.slide+xml"/>
  <Override PartName="/ppt/notesSlides/notesSlide31.xml" ContentType="application/vnd.openxmlformats-officedocument.presentationml.notesSlide+xml"/>
  <Override PartName="/ppt/slides/slide31.xml" ContentType="application/vnd.openxmlformats-officedocument.presentationml.slide+xml"/>
  <Override PartName="/ppt/notesSlides/notesSlide32.xml" ContentType="application/vnd.openxmlformats-officedocument.presentationml.notesSlide+xml"/>
  <Override PartName="/ppt/slides/slide32.xml" ContentType="application/vnd.openxmlformats-officedocument.presentationml.slide+xml"/>
  <Override PartName="/ppt/notesSlides/notesSlide33.xml" ContentType="application/vnd.openxmlformats-officedocument.presentationml.notesSlide+xml"/>
  <Override PartName="/ppt/slides/slide33.xml" ContentType="application/vnd.openxmlformats-officedocument.presentationml.slide+xml"/>
  <Override PartName="/ppt/notesSlides/notesSlide34.xml" ContentType="application/vnd.openxmlformats-officedocument.presentationml.notesSlide+xml"/>
  <Override PartName="/ppt/slides/slide34.xml" ContentType="application/vnd.openxmlformats-officedocument.presentationml.slide+xml"/>
  <Override PartName="/ppt/notesSlides/notesSlide35.xml" ContentType="application/vnd.openxmlformats-officedocument.presentationml.notesSlide+xml"/>
  <Override PartName="/ppt/slides/slide35.xml" ContentType="application/vnd.openxmlformats-officedocument.presentationml.slide+xml"/>
  <Override PartName="/ppt/notesSlides/notesSlide36.xml" ContentType="application/vnd.openxmlformats-officedocument.presentationml.notesSlide+xml"/>
  <Override PartName="/ppt/slides/slide36.xml" ContentType="application/vnd.openxmlformats-officedocument.presentationml.slide+xml"/>
  <Override PartName="/ppt/notesSlides/notesSlide37.xml" ContentType="application/vnd.openxmlformats-officedocument.presentationml.notesSlide+xml"/>
  <Override PartName="/ppt/slides/slide37.xml" ContentType="application/vnd.openxmlformats-officedocument.presentationml.slide+xml"/>
  <Override PartName="/ppt/notesSlides/notesSlide38.xml" ContentType="application/vnd.openxmlformats-officedocument.presentationml.notesSlide+xml"/>
  <Override PartName="/ppt/slides/slide38.xml" ContentType="application/vnd.openxmlformats-officedocument.presentationml.slide+xml"/>
  <Override PartName="/ppt/slides/slide39.xml" ContentType="application/vnd.openxmlformats-officedocument.presentationml.slide+xml"/>
  <Override PartName="/ppt/notesSlides/notesSlide40.xml" ContentType="application/vnd.openxmlformats-officedocument.presentationml.notesSlide+xml"/>
  <Override PartName="/ppt/slides/slide40.xml" ContentType="application/vnd.openxmlformats-officedocument.presentationml.slide+xml"/>
  <Override PartName="/ppt/notesSlides/notesSlide41.xml" ContentType="application/vnd.openxmlformats-officedocument.presentationml.notesSlide+xml"/>
  <Override PartName="/ppt/slides/slide41.xml" ContentType="application/vnd.openxmlformats-officedocument.presentationml.slide+xml"/>
  <Override PartName="/ppt/notesSlides/notesSlide42.xml" ContentType="application/vnd.openxmlformats-officedocument.presentationml.notesSlide+xml"/>
  <Override PartName="/ppt/slides/slide42.xml" ContentType="application/vnd.openxmlformats-officedocument.presentationml.slide+xml"/>
  <Override PartName="/ppt/notesSlides/notesSlide43.xml" ContentType="application/vnd.openxmlformats-officedocument.presentationml.notesSlide+xml"/>
  <Override PartName="/ppt/slides/slide43.xml" ContentType="application/vnd.openxmlformats-officedocument.presentationml.slide+xml"/>
  <Override PartName="/ppt/notesSlides/notesSlide44.xml" ContentType="application/vnd.openxmlformats-officedocument.presentationml.notesSlide+xml"/>
  <Override PartName="/ppt/slides/slide44.xml" ContentType="application/vnd.openxmlformats-officedocument.presentationml.slide+xml"/>
  <Override PartName="/ppt/notesSlides/notesSlide45.xml" ContentType="application/vnd.openxmlformats-officedocument.presentationml.notesSlide+xml"/>
  <Override PartName="/ppt/slides/slide45.xml" ContentType="application/vnd.openxmlformats-officedocument.presentationml.slide+xml"/>
  <Override PartName="/ppt/notesSlides/notesSlide46.xml" ContentType="application/vnd.openxmlformats-officedocument.presentationml.notesSlide+xml"/>
  <Override PartName="/ppt/slides/slide46.xml" ContentType="application/vnd.openxmlformats-officedocument.presentationml.slide+xml"/>
  <Override PartName="/ppt/notesSlides/notesSlide47.xml" ContentType="application/vnd.openxmlformats-officedocument.presentationml.notesSlide+xml"/>
  <Override PartName="/ppt/slides/slide47.xml" ContentType="application/vnd.openxmlformats-officedocument.presentationml.slide+xml"/>
  <Override PartName="/ppt/notesSlides/notesSlide48.xml" ContentType="application/vnd.openxmlformats-officedocument.presentationml.notesSlide+xml"/>
  <Override PartName="/ppt/slides/slide48.xml" ContentType="application/vnd.openxmlformats-officedocument.presentationml.slide+xml"/>
  <Override PartName="/ppt/notesSlides/notesSlide49.xml" ContentType="application/vnd.openxmlformats-officedocument.presentationml.notesSlide+xml"/>
  <Override PartName="/ppt/slides/slide49.xml" ContentType="application/vnd.openxmlformats-officedocument.presentationml.slide+xml"/>
  <Override PartName="/ppt/notesSlides/notesSlide50.xml" ContentType="application/vnd.openxmlformats-officedocument.presentationml.notesSlide+xml"/>
  <Override PartName="/ppt/slides/slide50.xml" ContentType="application/vnd.openxmlformats-officedocument.presentationml.slide+xml"/>
  <Override PartName="/ppt/notesSlides/notesSlide51.xml" ContentType="application/vnd.openxmlformats-officedocument.presentationml.notesSlide+xml"/>
  <Override PartName="/ppt/slides/slide51.xml" ContentType="application/vnd.openxmlformats-officedocument.presentationml.slide+xml"/>
  <Override PartName="/ppt/slides/slide52.xml" ContentType="application/vnd.openxmlformats-officedocument.presentationml.slide+xml"/>
  <Override PartName="/ppt/notesSlides/notesSlide53.xml" ContentType="application/vnd.openxmlformats-officedocument.presentationml.notesSlide+xml"/>
  <Override PartName="/ppt/slides/slide53.xml" ContentType="application/vnd.openxmlformats-officedocument.presentationml.slide+xml"/>
  <Override PartName="/ppt/slides/slide54.xml" ContentType="application/vnd.openxmlformats-officedocument.presentationml.slide+xml"/>
  <Override PartName="/ppt/notesSlides/notesSlide55.xml" ContentType="application/vnd.openxmlformats-officedocument.presentationml.notesSlide+xml"/>
  <Override PartName="/ppt/slides/slide55.xml" ContentType="application/vnd.openxmlformats-officedocument.presentationml.slide+xml"/>
  <Override PartName="/ppt/notesSlides/notesSlide56.xml" ContentType="application/vnd.openxmlformats-officedocument.presentationml.notesSlide+xml"/>
  <Override PartName="/ppt/slides/slide56.xml" ContentType="application/vnd.openxmlformats-officedocument.presentationml.slide+xml"/>
  <Override PartName="/ppt/notesSlides/notesSlide57.xml" ContentType="application/vnd.openxmlformats-officedocument.presentationml.notesSlide+xml"/>
  <Override PartName="/ppt/slides/slide57.xml" ContentType="application/vnd.openxmlformats-officedocument.presentationml.slide+xml"/>
  <Override PartName="/ppt/notesSlides/notesSlide58.xml" ContentType="application/vnd.openxmlformats-officedocument.presentationml.notesSlide+xml"/>
  <Override PartName="/ppt/slides/slide58.xml" ContentType="application/vnd.openxmlformats-officedocument.presentationml.slide+xml"/>
  <Override PartName="/ppt/notesSlides/notesSlide59.xml" ContentType="application/vnd.openxmlformats-officedocument.presentationml.notesSlide+xml"/>
  <Override PartName="/ppt/slides/slide59.xml" ContentType="application/vnd.openxmlformats-officedocument.presentationml.slide+xml"/>
  <Override PartName="/ppt/notesSlides/notesSlide60.xml" ContentType="application/vnd.openxmlformats-officedocument.presentationml.notesSlide+xml"/>
  <Override PartName="/ppt/slides/slide60.xml" ContentType="application/vnd.openxmlformats-officedocument.presentationml.slide+xml"/>
  <Override PartName="/ppt/notesSlides/notesSlide61.xml" ContentType="application/vnd.openxmlformats-officedocument.presentationml.notesSlide+xml"/>
  <Override PartName="/ppt/slides/slide61.xml" ContentType="application/vnd.openxmlformats-officedocument.presentationml.slide+xml"/>
  <Override PartName="/ppt/notesSlides/notesSlide62.xml" ContentType="application/vnd.openxmlformats-officedocument.presentationml.notesSlide+xml"/>
  <Override PartName="/ppt/slides/slide62.xml" ContentType="application/vnd.openxmlformats-officedocument.presentationml.slide+xml"/>
  <Override PartName="/ppt/slides/slide63.xml" ContentType="application/vnd.openxmlformats-officedocument.presentationml.slide+xml"/>
  <Override PartName="/ppt/notesSlides/notesSlide64.xml" ContentType="application/vnd.openxmlformats-officedocument.presentationml.notesSlide+xml"/>
  <Override PartName="/ppt/slides/slide64.xml" ContentType="application/vnd.openxmlformats-officedocument.presentationml.slide+xml"/>
  <Override PartName="/ppt/notesSlides/notesSlide65.xml" ContentType="application/vnd.openxmlformats-officedocument.presentationml.notesSlide+xml"/>
  <Override PartName="/ppt/slides/slide65.xml" ContentType="application/vnd.openxmlformats-officedocument.presentationml.slide+xml"/>
  <Override PartName="/ppt/notesSlides/notesSlide66.xml" ContentType="application/vnd.openxmlformats-officedocument.presentationml.notesSlide+xml"/>
  <Override PartName="/ppt/slides/slide66.xml" ContentType="application/vnd.openxmlformats-officedocument.presentationml.slide+xml"/>
  <Override PartName="/ppt/slides/slide67.xml" ContentType="application/vnd.openxmlformats-officedocument.presentationml.slide+xml"/>
  <Override PartName="/ppt/notesSlides/notesSlide68.xml" ContentType="application/vnd.openxmlformats-officedocument.presentationml.notesSlide+xml"/>
  <Override PartName="/ppt/slides/slide68.xml" ContentType="application/vnd.openxmlformats-officedocument.presentationml.slide+xml"/>
  <Override PartName="/ppt/slides/slide69.xml" ContentType="application/vnd.openxmlformats-officedocument.presentationml.slide+xml"/>
  <Override PartName="/ppt/notesSlides/notesSlide70.xml" ContentType="application/vnd.openxmlformats-officedocument.presentationml.notesSlide+xml"/>
  <Override PartName="/ppt/slides/slide70.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 id="286" r:id="javaLecture31"/>
    <p:sldId id="287" r:id="javaLecture32"/>
    <p:sldId id="288" r:id="javaLecture33"/>
    <p:sldId id="289" r:id="javaLecture34"/>
    <p:sldId id="290" r:id="javaLecture35"/>
    <p:sldId id="291" r:id="javaLecture36"/>
    <p:sldId id="292" r:id="javaLecture37"/>
    <p:sldId id="293" r:id="javaLecture38"/>
    <p:sldId id="294" r:id="javaLecture39"/>
    <p:sldId id="295" r:id="javaLecture40"/>
    <p:sldId id="296" r:id="javaLecture41"/>
    <p:sldId id="297" r:id="javaLecture42"/>
    <p:sldId id="298" r:id="javaLecture43"/>
    <p:sldId id="299" r:id="javaLecture44"/>
    <p:sldId id="300" r:id="javaLecture45"/>
    <p:sldId id="301" r:id="javaLecture46"/>
    <p:sldId id="302" r:id="javaLecture47"/>
    <p:sldId id="303" r:id="javaLecture48"/>
    <p:sldId id="304" r:id="javaLecture49"/>
    <p:sldId id="305" r:id="javaLecture50"/>
    <p:sldId id="306" r:id="javaLecture51"/>
    <p:sldId id="307" r:id="javaLecture52"/>
    <p:sldId id="308" r:id="javaLecture53"/>
    <p:sldId id="309" r:id="javaLecture54"/>
    <p:sldId id="310" r:id="javaLecture55"/>
    <p:sldId id="311" r:id="javaLecture56"/>
    <p:sldId id="312" r:id="javaLecture57"/>
    <p:sldId id="313" r:id="javaLecture58"/>
    <p:sldId id="314" r:id="javaLecture59"/>
    <p:sldId id="315" r:id="javaLecture60"/>
    <p:sldId id="316" r:id="javaLecture61"/>
    <p:sldId id="317" r:id="javaLecture62"/>
    <p:sldId id="318" r:id="javaLecture63"/>
    <p:sldId id="319" r:id="javaLecture64"/>
    <p:sldId id="320" r:id="javaLecture65"/>
    <p:sldId id="321" r:id="javaLecture66"/>
    <p:sldId id="322" r:id="javaLecture67"/>
    <p:sldId id="323" r:id="javaLecture68"/>
    <p:sldId id="324" r:id="javaLecture69"/>
    <p:sldId id="325" r:id="javaLecture7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 Id="javaLecture31" Type="http://schemas.openxmlformats.org/officeDocument/2006/relationships/slide" Target="slides/slide31.xml"/><Relationship Id="javaLecture32" Type="http://schemas.openxmlformats.org/officeDocument/2006/relationships/slide" Target="slides/slide32.xml"/><Relationship Id="javaLecture33" Type="http://schemas.openxmlformats.org/officeDocument/2006/relationships/slide" Target="slides/slide33.xml"/><Relationship Id="javaLecture34" Type="http://schemas.openxmlformats.org/officeDocument/2006/relationships/slide" Target="slides/slide34.xml"/><Relationship Id="javaLecture35" Type="http://schemas.openxmlformats.org/officeDocument/2006/relationships/slide" Target="slides/slide35.xml"/><Relationship Id="javaLecture36" Type="http://schemas.openxmlformats.org/officeDocument/2006/relationships/slide" Target="slides/slide36.xml"/><Relationship Id="javaLecture37" Type="http://schemas.openxmlformats.org/officeDocument/2006/relationships/slide" Target="slides/slide37.xml"/><Relationship Id="javaLecture38" Type="http://schemas.openxmlformats.org/officeDocument/2006/relationships/slide" Target="slides/slide38.xml"/><Relationship Id="javaLecture39" Type="http://schemas.openxmlformats.org/officeDocument/2006/relationships/slide" Target="slides/slide39.xml"/><Relationship Id="javaLecture40" Type="http://schemas.openxmlformats.org/officeDocument/2006/relationships/slide" Target="slides/slide40.xml"/><Relationship Id="javaLecture41" Type="http://schemas.openxmlformats.org/officeDocument/2006/relationships/slide" Target="slides/slide41.xml"/><Relationship Id="javaLecture42" Type="http://schemas.openxmlformats.org/officeDocument/2006/relationships/slide" Target="slides/slide42.xml"/><Relationship Id="javaLecture43" Type="http://schemas.openxmlformats.org/officeDocument/2006/relationships/slide" Target="slides/slide43.xml"/><Relationship Id="javaLecture44" Type="http://schemas.openxmlformats.org/officeDocument/2006/relationships/slide" Target="slides/slide44.xml"/><Relationship Id="javaLecture45" Type="http://schemas.openxmlformats.org/officeDocument/2006/relationships/slide" Target="slides/slide45.xml"/><Relationship Id="javaLecture46" Type="http://schemas.openxmlformats.org/officeDocument/2006/relationships/slide" Target="slides/slide46.xml"/><Relationship Id="javaLecture47" Type="http://schemas.openxmlformats.org/officeDocument/2006/relationships/slide" Target="slides/slide47.xml"/><Relationship Id="javaLecture48" Type="http://schemas.openxmlformats.org/officeDocument/2006/relationships/slide" Target="slides/slide48.xml"/><Relationship Id="javaLecture49" Type="http://schemas.openxmlformats.org/officeDocument/2006/relationships/slide" Target="slides/slide49.xml"/><Relationship Id="javaLecture50" Type="http://schemas.openxmlformats.org/officeDocument/2006/relationships/slide" Target="slides/slide50.xml"/><Relationship Id="javaLecture51" Type="http://schemas.openxmlformats.org/officeDocument/2006/relationships/slide" Target="slides/slide51.xml"/><Relationship Id="javaLecture52" Type="http://schemas.openxmlformats.org/officeDocument/2006/relationships/slide" Target="slides/slide52.xml"/><Relationship Id="javaLecture53" Type="http://schemas.openxmlformats.org/officeDocument/2006/relationships/slide" Target="slides/slide53.xml"/><Relationship Id="javaLecture54" Type="http://schemas.openxmlformats.org/officeDocument/2006/relationships/slide" Target="slides/slide54.xml"/><Relationship Id="javaLecture55" Type="http://schemas.openxmlformats.org/officeDocument/2006/relationships/slide" Target="slides/slide55.xml"/><Relationship Id="javaLecture56" Type="http://schemas.openxmlformats.org/officeDocument/2006/relationships/slide" Target="slides/slide56.xml"/><Relationship Id="javaLecture57" Type="http://schemas.openxmlformats.org/officeDocument/2006/relationships/slide" Target="slides/slide57.xml"/><Relationship Id="javaLecture58" Type="http://schemas.openxmlformats.org/officeDocument/2006/relationships/slide" Target="slides/slide58.xml"/><Relationship Id="javaLecture59" Type="http://schemas.openxmlformats.org/officeDocument/2006/relationships/slide" Target="slides/slide59.xml"/><Relationship Id="javaLecture60" Type="http://schemas.openxmlformats.org/officeDocument/2006/relationships/slide" Target="slides/slide60.xml"/><Relationship Id="javaLecture61" Type="http://schemas.openxmlformats.org/officeDocument/2006/relationships/slide" Target="slides/slide61.xml"/><Relationship Id="javaLecture62" Type="http://schemas.openxmlformats.org/officeDocument/2006/relationships/slide" Target="slides/slide62.xml"/><Relationship Id="javaLecture63" Type="http://schemas.openxmlformats.org/officeDocument/2006/relationships/slide" Target="slides/slide63.xml"/><Relationship Id="javaLecture64" Type="http://schemas.openxmlformats.org/officeDocument/2006/relationships/slide" Target="slides/slide64.xml"/><Relationship Id="javaLecture65" Type="http://schemas.openxmlformats.org/officeDocument/2006/relationships/slide" Target="slides/slide65.xml"/><Relationship Id="javaLecture66" Type="http://schemas.openxmlformats.org/officeDocument/2006/relationships/slide" Target="slides/slide66.xml"/><Relationship Id="javaLecture67" Type="http://schemas.openxmlformats.org/officeDocument/2006/relationships/slide" Target="slides/slide67.xml"/><Relationship Id="javaLecture68" Type="http://schemas.openxmlformats.org/officeDocument/2006/relationships/slide" Target="slides/slide68.xml"/><Relationship Id="javaLecture69" Type="http://schemas.openxmlformats.org/officeDocument/2006/relationships/slide" Target="slides/slide69.xml"/><Relationship Id="javaLecture70" Type="http://schemas.openxmlformats.org/officeDocument/2006/relationships/slide" Target="slides/slide7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_rels/notesSlide32.xml.rels><?xml version="1.0" encoding="UTF-8"?><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33.xml.rels><?xml version="1.0" encoding="UTF-8"?><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Relationships>
</file>

<file path=ppt/notesSlides/_rels/notesSlide34.xml.rels><?xml version="1.0" encoding="UTF-8"?><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_rels/notesSlide35.xml.rels><?xml version="1.0" encoding="UTF-8"?><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Relationships>
</file>

<file path=ppt/notesSlides/_rels/notesSlide37.xml.rels><?xml version="1.0" encoding="UTF-8"?><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Relationships>
</file>

<file path=ppt/notesSlides/_rels/notesSlide38.xml.rels><?xml version="1.0" encoding="UTF-8"?><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Relationships>
</file>

<file path=ppt/notesSlides/_rels/notesSlide40.xml.rels><?xml version="1.0" encoding="UTF-8"?><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Relationships>
</file>

<file path=ppt/notesSlides/_rels/notesSlide41.xml.rels><?xml version="1.0" encoding="UTF-8"?><Relationships xmlns="http://schemas.openxmlformats.org/package/2006/relationships"><Relationship Id="rId1" Type="http://schemas.openxmlformats.org/officeDocument/2006/relationships/slide" Target="../slides/slide41.xml"/><Relationship Id="rId2" Type="http://schemas.openxmlformats.org/officeDocument/2006/relationships/notesMaster" Target="../notesMasters/notesMaster1.xml"/></Relationships>
</file>

<file path=ppt/notesSlides/_rels/notesSlide42.xml.rels><?xml version="1.0" encoding="UTF-8"?><Relationships xmlns="http://schemas.openxmlformats.org/package/2006/relationships"><Relationship Id="rId1" Type="http://schemas.openxmlformats.org/officeDocument/2006/relationships/slide" Target="../slides/slide42.xml"/><Relationship Id="rId2" Type="http://schemas.openxmlformats.org/officeDocument/2006/relationships/notesMaster" Target="../notesMasters/notesMaster1.xml"/></Relationships>
</file>

<file path=ppt/notesSlides/_rels/notesSlide43.xml.rels><?xml version="1.0" encoding="UTF-8"?><Relationships xmlns="http://schemas.openxmlformats.org/package/2006/relationships"><Relationship Id="rId1" Type="http://schemas.openxmlformats.org/officeDocument/2006/relationships/slide" Target="../slides/slide43.xml"/><Relationship Id="rId2" Type="http://schemas.openxmlformats.org/officeDocument/2006/relationships/notesMaster" Target="../notesMasters/notesMaster1.xml"/></Relationships>
</file>

<file path=ppt/notesSlides/_rels/notesSlide44.xml.rels><?xml version="1.0" encoding="UTF-8"?><Relationships xmlns="http://schemas.openxmlformats.org/package/2006/relationships"><Relationship Id="rId1" Type="http://schemas.openxmlformats.org/officeDocument/2006/relationships/slide" Target="../slides/slide44.xml"/><Relationship Id="rId2" Type="http://schemas.openxmlformats.org/officeDocument/2006/relationships/notesMaster" Target="../notesMasters/notesMaster1.xml"/></Relationships>
</file>

<file path=ppt/notesSlides/_rels/notesSlide45.xml.rels><?xml version="1.0" encoding="UTF-8"?><Relationships xmlns="http://schemas.openxmlformats.org/package/2006/relationships"><Relationship Id="rId1" Type="http://schemas.openxmlformats.org/officeDocument/2006/relationships/slide" Target="../slides/slide45.xml"/><Relationship Id="rId2" Type="http://schemas.openxmlformats.org/officeDocument/2006/relationships/notesMaster" Target="../notesMasters/notesMaster1.xml"/></Relationships>
</file>

<file path=ppt/notesSlides/_rels/notesSlide46.xml.rels><?xml version="1.0" encoding="UTF-8"?><Relationships xmlns="http://schemas.openxmlformats.org/package/2006/relationships"><Relationship Id="rId1" Type="http://schemas.openxmlformats.org/officeDocument/2006/relationships/slide" Target="../slides/slide46.xml"/><Relationship Id="rId2" Type="http://schemas.openxmlformats.org/officeDocument/2006/relationships/notesMaster" Target="../notesMasters/notesMaster1.xml"/></Relationships>
</file>

<file path=ppt/notesSlides/_rels/notesSlide47.xml.rels><?xml version="1.0" encoding="UTF-8"?><Relationships xmlns="http://schemas.openxmlformats.org/package/2006/relationships"><Relationship Id="rId1" Type="http://schemas.openxmlformats.org/officeDocument/2006/relationships/slide" Target="../slides/slide47.xml"/><Relationship Id="rId2" Type="http://schemas.openxmlformats.org/officeDocument/2006/relationships/notesMaster" Target="../notesMasters/notesMaster1.xml"/></Relationships>
</file>

<file path=ppt/notesSlides/_rels/notesSlide48.xml.rels><?xml version="1.0" encoding="UTF-8"?><Relationships xmlns="http://schemas.openxmlformats.org/package/2006/relationships"><Relationship Id="rId1" Type="http://schemas.openxmlformats.org/officeDocument/2006/relationships/slide" Target="../slides/slide48.xml"/><Relationship Id="rId2" Type="http://schemas.openxmlformats.org/officeDocument/2006/relationships/notesMaster" Target="../notesMasters/notesMaster1.xml"/></Relationships>
</file>

<file path=ppt/notesSlides/_rels/notesSlide49.xml.rels><?xml version="1.0" encoding="UTF-8"?><Relationships xmlns="http://schemas.openxmlformats.org/package/2006/relationships"><Relationship Id="rId1" Type="http://schemas.openxmlformats.org/officeDocument/2006/relationships/slide" Target="../slides/slide49.xml"/><Relationship Id="rId2" Type="http://schemas.openxmlformats.org/officeDocument/2006/relationships/notesMaster" Target="../notesMasters/notesMaster1.xml"/></Relationships>
</file>

<file path=ppt/notesSlides/_rels/notesSlide50.xml.rels><?xml version="1.0" encoding="UTF-8"?><Relationships xmlns="http://schemas.openxmlformats.org/package/2006/relationships"><Relationship Id="rId1" Type="http://schemas.openxmlformats.org/officeDocument/2006/relationships/slide" Target="../slides/slide50.xml"/><Relationship Id="rId2" Type="http://schemas.openxmlformats.org/officeDocument/2006/relationships/notesMaster" Target="../notesMasters/notesMaster1.xml"/></Relationships>
</file>

<file path=ppt/notesSlides/_rels/notesSlide51.xml.rels><?xml version="1.0" encoding="UTF-8"?><Relationships xmlns="http://schemas.openxmlformats.org/package/2006/relationships"><Relationship Id="rId1" Type="http://schemas.openxmlformats.org/officeDocument/2006/relationships/slide" Target="../slides/slide51.xml"/><Relationship Id="rId2" Type="http://schemas.openxmlformats.org/officeDocument/2006/relationships/notesMaster" Target="../notesMasters/notesMaster1.xml"/></Relationships>
</file>

<file path=ppt/notesSlides/_rels/notesSlide53.xml.rels><?xml version="1.0" encoding="UTF-8"?><Relationships xmlns="http://schemas.openxmlformats.org/package/2006/relationships"><Relationship Id="rId1" Type="http://schemas.openxmlformats.org/officeDocument/2006/relationships/slide" Target="../slides/slide53.xml"/><Relationship Id="rId2" Type="http://schemas.openxmlformats.org/officeDocument/2006/relationships/notesMaster" Target="../notesMasters/notesMaster1.xml"/></Relationships>
</file>

<file path=ppt/notesSlides/_rels/notesSlide55.xml.rels><?xml version="1.0" encoding="UTF-8"?><Relationships xmlns="http://schemas.openxmlformats.org/package/2006/relationships"><Relationship Id="rId1" Type="http://schemas.openxmlformats.org/officeDocument/2006/relationships/slide" Target="../slides/slide55.xml"/><Relationship Id="rId2" Type="http://schemas.openxmlformats.org/officeDocument/2006/relationships/notesMaster" Target="../notesMasters/notesMaster1.xml"/></Relationships>
</file>

<file path=ppt/notesSlides/_rels/notesSlide56.xml.rels><?xml version="1.0" encoding="UTF-8"?><Relationships xmlns="http://schemas.openxmlformats.org/package/2006/relationships"><Relationship Id="rId1" Type="http://schemas.openxmlformats.org/officeDocument/2006/relationships/slide" Target="../slides/slide56.xml"/><Relationship Id="rId2" Type="http://schemas.openxmlformats.org/officeDocument/2006/relationships/notesMaster" Target="../notesMasters/notesMaster1.xml"/></Relationships>
</file>

<file path=ppt/notesSlides/_rels/notesSlide57.xml.rels><?xml version="1.0" encoding="UTF-8"?><Relationships xmlns="http://schemas.openxmlformats.org/package/2006/relationships"><Relationship Id="rId1" Type="http://schemas.openxmlformats.org/officeDocument/2006/relationships/slide" Target="../slides/slide57.xml"/><Relationship Id="rId2" Type="http://schemas.openxmlformats.org/officeDocument/2006/relationships/notesMaster" Target="../notesMasters/notesMaster1.xml"/></Relationships>
</file>

<file path=ppt/notesSlides/_rels/notesSlide58.xml.rels><?xml version="1.0" encoding="UTF-8"?><Relationships xmlns="http://schemas.openxmlformats.org/package/2006/relationships"><Relationship Id="rId1" Type="http://schemas.openxmlformats.org/officeDocument/2006/relationships/slide" Target="../slides/slide58.xml"/><Relationship Id="rId2" Type="http://schemas.openxmlformats.org/officeDocument/2006/relationships/notesMaster" Target="../notesMasters/notesMaster1.xml"/></Relationships>
</file>

<file path=ppt/notesSlides/_rels/notesSlide59.xml.rels><?xml version="1.0" encoding="UTF-8"?><Relationships xmlns="http://schemas.openxmlformats.org/package/2006/relationships"><Relationship Id="rId1" Type="http://schemas.openxmlformats.org/officeDocument/2006/relationships/slide" Target="../slides/slide59.xml"/><Relationship Id="rId2" Type="http://schemas.openxmlformats.org/officeDocument/2006/relationships/notesMaster" Target="../notesMasters/notesMaster1.xml"/></Relationships>
</file>

<file path=ppt/notesSlides/_rels/notesSlide60.xml.rels><?xml version="1.0" encoding="UTF-8"?><Relationships xmlns="http://schemas.openxmlformats.org/package/2006/relationships"><Relationship Id="rId1" Type="http://schemas.openxmlformats.org/officeDocument/2006/relationships/slide" Target="../slides/slide60.xml"/><Relationship Id="rId2" Type="http://schemas.openxmlformats.org/officeDocument/2006/relationships/notesMaster" Target="../notesMasters/notesMaster1.xml"/></Relationships>
</file>

<file path=ppt/notesSlides/_rels/notesSlide61.xml.rels><?xml version="1.0" encoding="UTF-8"?><Relationships xmlns="http://schemas.openxmlformats.org/package/2006/relationships"><Relationship Id="rId1" Type="http://schemas.openxmlformats.org/officeDocument/2006/relationships/slide" Target="../slides/slide61.xml"/><Relationship Id="rId2" Type="http://schemas.openxmlformats.org/officeDocument/2006/relationships/notesMaster" Target="../notesMasters/notesMaster1.xml"/></Relationships>
</file>

<file path=ppt/notesSlides/_rels/notesSlide62.xml.rels><?xml version="1.0" encoding="UTF-8"?><Relationships xmlns="http://schemas.openxmlformats.org/package/2006/relationships"><Relationship Id="rId1" Type="http://schemas.openxmlformats.org/officeDocument/2006/relationships/slide" Target="../slides/slide62.xml"/><Relationship Id="rId2" Type="http://schemas.openxmlformats.org/officeDocument/2006/relationships/notesMaster" Target="../notesMasters/notesMaster1.xml"/></Relationships>
</file>

<file path=ppt/notesSlides/_rels/notesSlide64.xml.rels><?xml version="1.0" encoding="UTF-8"?><Relationships xmlns="http://schemas.openxmlformats.org/package/2006/relationships"><Relationship Id="rId1" Type="http://schemas.openxmlformats.org/officeDocument/2006/relationships/slide" Target="../slides/slide64.xml"/><Relationship Id="rId2" Type="http://schemas.openxmlformats.org/officeDocument/2006/relationships/notesMaster" Target="../notesMasters/notesMaster1.xml"/></Relationships>
</file>

<file path=ppt/notesSlides/_rels/notesSlide65.xml.rels><?xml version="1.0" encoding="UTF-8"?><Relationships xmlns="http://schemas.openxmlformats.org/package/2006/relationships"><Relationship Id="rId1" Type="http://schemas.openxmlformats.org/officeDocument/2006/relationships/slide" Target="../slides/slide65.xml"/><Relationship Id="rId2" Type="http://schemas.openxmlformats.org/officeDocument/2006/relationships/notesMaster" Target="../notesMasters/notesMaster1.xml"/></Relationships>
</file>

<file path=ppt/notesSlides/_rels/notesSlide66.xml.rels><?xml version="1.0" encoding="UTF-8"?><Relationships xmlns="http://schemas.openxmlformats.org/package/2006/relationships"><Relationship Id="rId1" Type="http://schemas.openxmlformats.org/officeDocument/2006/relationships/slide" Target="../slides/slide66.xml"/><Relationship Id="rId2" Type="http://schemas.openxmlformats.org/officeDocument/2006/relationships/notesMaster" Target="../notesMasters/notesMaster1.xml"/></Relationships>
</file>

<file path=ppt/notesSlides/_rels/notesSlide68.xml.rels><?xml version="1.0" encoding="UTF-8"?><Relationships xmlns="http://schemas.openxmlformats.org/package/2006/relationships"><Relationship Id="rId1" Type="http://schemas.openxmlformats.org/officeDocument/2006/relationships/slide" Target="../slides/slide68.xml"/><Relationship Id="rId2" Type="http://schemas.openxmlformats.org/officeDocument/2006/relationships/notesMaster" Target="../notesMasters/notesMaster1.xml"/></Relationships>
</file>

<file path=ppt/notesSlides/_rels/notesSlide70.xml.rels><?xml version="1.0" encoding="UTF-8"?><Relationships xmlns="http://schemas.openxmlformats.org/package/2006/relationships"><Relationship Id="rId1" Type="http://schemas.openxmlformats.org/officeDocument/2006/relationships/slide" Target="../slides/slide70.xml"/><Relationship Id="rId2" Type="http://schemas.openxmlformats.org/officeDocument/2006/relationships/notesMaster" Target="../notesMasters/notesMaster1.xml"/></Relationship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"02. 요구 분석과 유스케이스"가 요구를 행위 관점으로 구조화했다면, 이 세션은 그 행위가 전제하는 정적 의미 구조를 다룬다. 설계 클래스로의 전환은 "06. 분석 모델에서 설계 모델로", 객체 책임은 "07. 책임·협력·계약"에서 다룬다.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주문 취소는 "02. 요구 분석과 유스케이스"의 「32. 유스케이스 상세화」에 있는 「주문을 관리한다」 명세의 주문 취소 대안 흐름 결과, 정제된 SSD는 "02. 요구 분석과 유스케이스"의 「43. 정제된 SSD」, 배송지 변경은 "02. 요구 분석과 유스케이스"의 「44. 시스템 오퍼레이션과 계약」에 있는 오퍼레이션 계약이다. 전제(결제 완료·배송 시작 전 전체 취소, 출고 전 배송지 변경)를 그대로 사용한다.</a:t>
            </a:r>
          </a:p>
          <a:p>
            <a:pPr lvl="0"/>
            <a:r>
              <a:rPr lang="ko-KR" sz="1200"/>
              <a:t>모델을 그리다 용어가 모호하다는 사실을 발견하면 요구로 되돌아간다. 어디로 되돌리는지는 「53. 누락과 모순」에서 정리한다.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정의 근거: Eric Evans, [Domain-Driven Design Reference](https://www.domainlanguage.com/wp-content/uploads/2016/05/DDD_Reference_2015-03.pdf), 2015, "Definitions" — 지식·영향·활동의 영역, 사용자가 프로그램을 적용하는 주제 영역. 본문은 수업의 말로 풀어 썼다.</a:t>
            </a:r>
          </a:p>
          <a:p>
            <a:pPr lvl="0"/>
            <a:r>
              <a:rPr lang="ko-KR" sz="1200"/>
              <a:t>이 세션은 "02. 요구 분석과 유스케이스"에서 정한 주문 시스템의 범위 안에서 모델링한다. 도메인을 하위 영역과 경계로 나누는 판단은 "13. OOAD에서 전문영역으로 — Architecture · DDD · MSA"에서 확장한다.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인용문은 원서 본문을 직접 확인하지 못했고 여러 독립 출처가 같은 문구로 인용한 것을 확인했다.</a:t>
            </a:r>
          </a:p>
          <a:p>
            <a:pPr lvl="0"/>
            <a:r>
              <a:rPr lang="ko-KR" sz="1200"/>
              <a:t>정적 모델은 현실의 사진이 아니라 현재 요구에 답하는 데 필요한 측면만 고른 해석이다.</a:t>
            </a:r>
          </a:p>
          <a:p>
            <a:pPr lvl="0"/>
            <a:r>
              <a:rPr lang="ko-KR" sz="1200"/>
              <a:t>"구현과 분리"는 구현을 무시하라는 뜻이 아니다. 의미를 먼저 합의해야 기술 선택이 의미를 바꾸는지 판단할 수 있다("10. 기술 제약과 도메인 의미 보존").</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사건이 바꿀 대상이 정적 모델에 없으면 누락이다. 어떤 사건에도 등장하지 않는 개념은 불필요하거나 행위를 놓친 신호다.</a:t>
            </a:r>
          </a:p>
          <a:p>
            <a:pPr lvl="0"/>
            <a:r>
              <a:rPr lang="ko-KR" sz="1200"/>
              <a:t>동적 모델과의 본격적인 교차검증은 "04. 동적 모델 — 상호작용과 상태"에서 다룬다. 이 세션은 유스케이스의 흐름·사후조건과 대조하는 수준까지 다룬다(「52. 시나리오 교차검토」).</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OMG [UML 2.5.1](https://www.omg.org/spec/UML/2.5.1/PDF), §6.3.1(객체의 상태), §14.5.10.1(StateMachine).</a:t>
            </a:r>
          </a:p>
          <a:p>
            <a:pPr lvl="0"/>
            <a:r>
              <a:rPr lang="ko-KR" sz="1200"/>
              <a:t>주문 상태 값 목록은 교육용 가정이다.</a:t>
            </a:r>
          </a:p>
          <a:p>
            <a:pPr lvl="0"/>
            <a:r>
              <a:rPr lang="ko-KR" sz="1200"/>
              <a:t>상태 기계는 대비를 위한 미리보기다. 두 전이는 결제 완료·배송 시작 전 전체 취소라는 기존 전제와 일치하는 것만 그렸다. 전이·사건·가드의 표기는 "04. 동적 모델 — 상호작용과 상태"에서 다룬다.</a:t>
            </a:r>
          </a:p>
          <a:p>
            <a:pPr lvl="0"/>
            <a:r>
              <a:rPr lang="ko-KR" sz="1200"/>
              <a:t>"배송 시작 전"과 "출고 전"은 동의어로 가정하지 않는다. 이 세션은 질문으로 식별하고, 실제 사건·상태 관계는 다음 세션에서 확인한다.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Craig Larman, Applying UML and Patterns, 2nd ed., Chapter 10, Introduction·Key Idea·§10.1("visual dictionary"). 3판의 "real-situation" 문구와 섞지 않는다.</a:t>
            </a:r>
          </a:p>
          <a:p>
            <a:pPr lvl="0"/>
            <a:r>
              <a:rPr lang="ko-KR" sz="1200"/>
              <a:t>분석 모델에서 설계 모델로의 전환은 "06. 분석 모델에서 설계 모델로", DDD의 도메인 모델과의 관계는 "13. OOAD에서 전문영역으로 — Architecture · DDD · MSA"에서 다룬다.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설계 모델로의 전환은 "06. 분석 모델에서 설계 모델로", 물리 모델과 매핑은 "10. 기술 제약과 도메인 의미 보존"에서 다룬다.</a:t>
            </a:r>
          </a:p>
          <a:p>
            <a:pPr lvl="0"/>
            <a:r>
              <a:rPr lang="ko-KR" sz="1200"/>
              <a:t>층을 나누는 것은 작업 순서를 강제하려는 것이 아니다. 같은 대상을 서로 다른 질문으로 본다는 뜻이다.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2nd ed., §10.1 — 도메인 모델은 오퍼레이션을 정의하지 않은 클래스 다이어그램으로 표현한다.</a:t>
            </a:r>
          </a:p>
          <a:p>
            <a:pPr lvl="0"/>
            <a:r>
              <a:rPr lang="ko-KR" sz="1200"/>
              <a:t>연관 이름은 읽는 방향이 있다. 위 도식은 "고객이 주문을 한다"로 읽는다. 표기가 같아도 의미는 모델의 관점이 정한다.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Peter Pin-Shan Chen, "The Entity-Relationship Model — Toward a Unified View of Data", *ACM Transactions on Database Systems*, 1976, [저자 공개 PDF](https://www.csc.lsu.edu/~chen/pdf/erd-5-pages.pdf) §1. 같은 논문 초록은 이 모델이 현실 세계의 중요한 의미 정보를 담는다고 설명한다.</a:t>
            </a:r>
          </a:p>
          <a:p>
            <a:pPr lvl="0"/>
            <a:r>
              <a:rPr lang="ko-KR" sz="1200"/>
              <a:t>개념·논리·물리의 3단계는 데이터 모델링 실무에서 널리 쓰는 구분이다. 특정 표준의 정의를 옮긴 것은 아니다.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Larman의 문장은 두 모델의 목적이 다르다는 뜻이다. 데이터 모델이 쓸모없다는 뜻이 아니다. 같은 장은 속성이 없거나 기억할 정보가 없다는 이유만으로 개념을 빼는 것은 관계형 데이터 모델링의 기준이라고 설명한다(Larman, 2nd ed., Chapter 10, 각주 2).</a:t>
            </a:r>
          </a:p>
          <a:p>
            <a:pPr lvl="0"/>
            <a:r>
              <a:rPr lang="ko-KR" sz="1200"/>
              <a:t>실무에서는 데이터 모델조차 제대로 갖추지 않은 채 분석 문서에 시간을 쓰는 경우가 더 흔하다(「45. 잘못된 관행 — 분석 과잉」).</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표의 대응은 개념·논리 데이터 모델 기준이다. 물리 모델의 비정규화·인덱스는 대응 대상이 아니다.</a:t>
            </a:r>
          </a:p>
          <a:p>
            <a:pPr lvl="0"/>
            <a:r>
              <a:rPr lang="ko-KR" sz="1200"/>
              <a:t>마지막 행(도메인)은 뒤의 「20. 속성 도메인」·「21. 속성 수준 업무 규칙」에서 이어서 다룬다.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첫 도식은 까마귀발 표기의 논리 데이터 모델이다. ●는 식별자, (FK)는 외래키다.</a:t>
            </a:r>
          </a:p>
          <a:p>
            <a:pPr lvl="0"/>
            <a:r>
              <a:rPr lang="ko-KR" sz="1200"/>
              <a:t>좋은 데이터 모델에서 출발하면 도메인 모델은 크게 바뀌지 않는다. 바뀌는 곳이 곧 의미를 드러낸 곳이다.</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모든 질문에 "예"여야 개념인 것은 아니다. 속성이 없어도 업무상 구분되는 개념일 수 있다. 질문은 후보를 거르는 도구이지 채점표가 아니다.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2nd ed., Table 10.1 "Conceptual Class Category List"의 범주 일부를 주문 도메인에 적용했다. 원표 전체가 아니다. 같은 후보가 여러 범주에 나타날 수 있다(주문은 거래이자 사건).</a:t>
            </a:r>
          </a:p>
          <a:p>
            <a:pPr lvl="0"/>
            <a:r>
              <a:rPr lang="ko-KR" sz="1200"/>
              <a:t>원표에는 장소, 담는 것·담기는 것, 기록, 카탈로그, 조직 등도 있다. 필요하면 추가로 점검한다.</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원문도 바로 이어서 명사구 가운데 일부만 개념 후보이고, 일부는 이번 반복에서 무시하며, 일부는 속성일 수 있다고 설명한다. 명사 표시는 후보를 모으는 도구다.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"명사 → 클래스"는 "분석 개념을 설계·코드로 기계 변환하지 않는다"는 과정 원칙의 가장 흔한 위반이다. 문장에 없는 개념은 개념 범주 점검과 업무 담당자와의 대화로 보완한다.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2nd ed., Chapter 10, "A Common Mistake in Identifying Conceptual Classes". 확신이 없으면 별도 개념으로 두라고 권한다.</a:t>
            </a:r>
          </a:p>
          <a:p>
            <a:pPr lvl="0"/>
            <a:r>
              <a:rPr lang="ko-KR" sz="1200"/>
              <a:t>주소록 요구는 확정되지 않았다. 두 번째 경우는 판단 기준을 보이기 위한 가정이며, 현재 모델에서는 배송지를 주문의 속성으로 둔다.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값의 종류를 밝히면 단위 혼동과 의미 없는 연산을 분석 단계에서 드러낸다. 값의 종류를 코드의 값 객체로 구현할지는 설계 판단이다. 여기서는 의미를 명시하는 데까지 다룬다.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Chen, 1976, §2.2.3 "Attribute, Value, and Value Set". 같은 절은 값 집합 INCH의 "12"가 FEET의 "1"과 같다는 예로 단위가 값의 의미에 속함을 보인다.</a:t>
            </a:r>
          </a:p>
          <a:p>
            <a:pPr lvl="0"/>
            <a:r>
              <a:rPr lang="ko-KR" sz="1200"/>
              <a:t>표의 규칙은 교육용 예다. 통화·자릿수·주소 형식은 실제 업무에서 확인한다.</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규칙의 범위를 나누는 이유는 규칙을 둘 자리를 정하기 위해서다. 여러 속성에 걸친 제약은 「37. 제약」에서, 시점 규칙은 "04. 동적 모델 — 상호작용과 상태"에서 다룬다.</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Eric Evans, [DDD Reference](https://www.domainlanguage.com/wp-content/uploads/2016/05/DDD_Reference_2015-03.pdf), 2015, "Value Objects". 원문은 식별성이 없고 속성과 그 논리만 중요한 요소를 값 객체로 분류하라는 맥락이다.</a:t>
            </a:r>
          </a:p>
          <a:p>
            <a:pPr lvl="0"/>
            <a:r>
              <a:rPr lang="ko-KR" sz="1200"/>
              <a:t>이 세션은 값 객체를 설계하지 않는다. 속성 규칙이 어디에 속하는지를 분석 단계에서 정하는 데까지 다룬다. 값 객체는 "13. OOAD에서 전문영역으로 — Architecture · DDD · MSA"에서 다룬다.</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저장할지 매번 계산할지는 설계·성능 판단이다. 할인·배송비는 현재 전제에 없으므로 총액 규칙에 넣지 않았다. 필요하면 확인 질문으로 남긴다.</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배송지 변경 계약의 "주문 식별 정보는 변경 전과 같다"는 업무 식별자의 의미다. 저장 키를 뜻하지 않는다.</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도메인 모델의 연관은 탐색 방향이나 참조 구현을 뜻하지 않는다. 방향 표시는 이름을 읽는 방향이다. 탐색 방향은 "06. 분석 모델에서 설계 모델로"와 "07. 책임·협력·계약"에서 결정한다.</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고객–상품이 "관심 상품", "재입고 알림"처럼 다른 의미를 가지면 별도 연관이 된다. 기준은 경로의 중복이 아니라 의미의 중복이다.</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다중성은 양쪽 끝에서 각각 읽는다. 주문 → 결제 0..1은 교육용 가정이다(「28. 다중성과 업무 규칙」). n..m 범위 표기도 있으나 현재 사례에 확인된 한도가 없어 예로 들지 않았다.</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고객 → 주문의 고객 쪽이 1이면 비회원 주문은 없다. 이 세션은 주문 → 결제 0..1, 고객 1을 교육용 가정으로 두고 분할 결제·비회원 주문은 질문으로 남긴다.</a:t>
            </a:r>
          </a:p>
          <a:p>
            <a:pPr lvl="0"/>
            <a:r>
              <a:rPr lang="ko-KR" sz="1200"/>
              <a:t>다중성이 다른 요소(주문 상태 값)와 모순되는지 보는 것도 교차검토다. 개발자가 편의상 정한 다중성은 곧 업무 정책이 된다.</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고객 이름을 주문에 담으면 고객과 주문의 생애가 섞인다. "상품별 판매 수량" 같은 질문에도 모델이 답하지 못한다.</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"주문 1 : 주문 항목 1..*"는 다중성에서 다룬 질문이 실제로 모델 구조를 바꾸는 지점이다.</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주문 항목을 독립 개념으로 둔 「30. 주문과 주문 항목」과 의미가 같다.</a:t>
            </a:r>
          </a:p>
          <a:p>
            <a:pPr lvl="0"/>
            <a:r>
              <a:rPr lang="ko-KR" sz="1200"/>
              <a:t>UML 연관 클래스는 한 쌍의 인스턴스 사이에 인스턴스가 하나다. 같은 주문에 같은 상품이 두 줄(예: 다른 옵션) 들어갈 수 있다면 독립 개념이 더 정확하다. 확인 질문으로 남긴다.</a:t>
            </a:r>
          </a:p>
          <a:p>
            <a:pPr lvl="0"/>
            <a:r>
              <a:rPr lang="ko-KR" sz="1200"/>
              <a:t>연결 테이블은 저장 구조의 결과일 수 있지만 판단의 근거는 아니다.</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근거: Larman, 2nd ed., Chapter 10, "Specification or Description Conceptual Classes". 이 사례의 상품은 이미 명세 개념이다. 개별 실물 요구가 확인될 때 재고 품목을 추가한다(「51. 모델의 유용성」). 이 사례에서 재고는 상품 시스템이 소유하므로 주문 시스템의 모델에는 두지 않는다.</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참조만 두면 과거 사실이 조용히 바뀐다. 배송지 변경은 특정 주문의 배송지를 바꾸는 목표이며 고객 기본 주소 변경과 다르다. 두 정보를 분리해야 이 차이를 모델로 설명할 수 있다.</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"선택된 상품"과 "주문된 상품"을 같은 말로 쓰면 이 차이가 사라진다.</a:t>
            </a:r>
          </a:p>
          <a:p>
            <a:pPr lvl="0"/>
            <a:r>
              <a:rPr lang="ko-KR" sz="1200"/>
              <a:t>구조가 같다고 하나의 개념이나 공통 부모로 합치고 싶은 유혹이 있다. 코드 재사용은 설계 판단이며, 도메인 모델에서는 의미와 규칙이 같은지로 판단한다(「35. 일반화」).</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결제 수단별 속성은 교육용 가정이다. 현재 요구는 결제 수단별 차이를 요구하지 않으므로 종합 모델에 넣지 않는다.</a:t>
            </a:r>
          </a:p>
          <a:p>
            <a:pPr lvl="0"/>
            <a:r>
              <a:rPr lang="ko-KR" sz="1200"/>
              <a:t>의미 근거: OMG [UML 2.5.1](https://www.omg.org/spec/UML/2.5.1/PDF), §9.9.7.1 — 특수 분류자의 모든 인스턴스는 일반 분류자의 인스턴스이기도 하다.</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합성 의미 근거: OMG [UML 2.5.1](https://www.omg.org/spec/UML/2.5.1/PDF), §9.5.3. 같은 절은 합성의 정확한 생애 의미를 의도적으로 명세하지 않는다. 도메인 모델의 "삭제"는 소프트웨어 객체 삭제가 아니라 업무 생애의 결합으로 읽는다.</a:t>
            </a:r>
          </a:p>
          <a:p>
            <a:pPr lvl="0"/>
            <a:r>
              <a:rPr lang="ko-KR" sz="1200"/>
              <a:t>인용 근거: Martin Fowler, [AggregationAndComposition](https://martinfowler.com/bliki/AggregationAndComposition.html), 2003-05-17. Rumbaugh의 말은 Fowler의 글에서 재인용했다. 집합 표기는 쓰지 않는다.</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제약은 필요하면 {수량은 1 이상}처럼 중괄호 메모로 모델에 붙인다. OCL 같은 형식 언어는 이 과정의 범위가 아니다.</a:t>
            </a:r>
          </a:p>
          <a:p>
            <a:pPr lvl="0"/>
            <a:r>
              <a:rPr lang="ko-KR" sz="1200"/>
              <a:t>상태 전이 규칙은 정적 모델에 억지로 넣지 않고 "04. 동적 모델 — 상호작용과 상태"로 넘긴다.</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2nd ed., Chapter 10, "The Mapmaker"; Eric Evans, [DDD Reference](https://www.domainlanguage.com/wp-content/uploads/2016/05/DDD_Reference_2015-03.pdf), 2015, "Ubiquitous Language".</a:t>
            </a:r>
          </a:p>
          <a:p>
            <a:pPr lvl="0"/>
            <a:r>
              <a:rPr lang="ko-KR" sz="1200"/>
              <a:t>적용 예: 현업이 "주문 상품"이라 부르면 개발자가 만든 OrderLine을 강요하지 않는다. 현재 요구와 무관한 포장재는 빼고, 확인되지 않은 "주문 승인" 단계는 만들지 않는다.</a:t>
            </a:r>
          </a:p>
          <a:p>
            <a:pPr lvl="0"/>
            <a:r>
              <a:rPr lang="ko-KR" sz="1200"/>
              <a:t>Evans의 문장은 공통 언어 원칙의 일부다. 여기서는 "용어와 모델은 함께 바뀐다"만 쓴다. 공통 언어의 본격 논의는 "13. OOAD에서 전문영역으로 — Architecture · DDD · MSA"에서 다룬다.</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동음이의어를 두면 "취소되면 환불된다"처럼 서로 다른 사실이 한 단어에 섞인다. 모델에서는 다른 이름·요소로 분리한다.</a:t>
            </a:r>
          </a:p>
          <a:p>
            <a:pPr lvl="0"/>
            <a:r>
              <a:rPr lang="ko-KR" sz="1200"/>
              <a:t>결제 취소와 환불의 실제 구분은 결제 시스템·계약에 따라 다를 수 있다. 여기서는 용어가 다른 사실을 가리킬 수 있음을 보이는 예다.</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정의 열은 교육용 초안이다. 요구 분석에서 시작한 용어를 이어서 정제한다. 확인 질문 열이 비어 있지 않다는 것이 용어집이 살아 있다는 증거다.</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근거: Larman, 2nd ed., Chapter 10 — 후보 목록, 모델 그리기, 연관 추가, 속성 추가의 흐름과 반복 정제. 위 목록은 용어 정렬과 교차검토를 더한 수업용 절차이며 고정 순서가 아니다.</a:t>
            </a: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"02. 요구 분석과 유스케이스"의 유스케이스 다이어그램을 초안에서 상세화로 발전시킨 것과 같은 방식이다. 초안에서 구조를 합의하고, 상세화에서 규칙(속성 도메인·다중성·합성)을 드러낸다.</a:t>
            </a:r>
          </a:p>
          <a:p>
            <a:pPr lvl="0"/>
            <a:r>
              <a:rPr lang="ko-KR" sz="1200"/>
              <a:t>초안 단계에서 속성·다중성을 서둘러 채우면 구조에 대한 합의보다 세부 논쟁이 먼저 시작된다.</a:t>
            </a: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결제–환불 0..1은 전체 취소·전액 환불 전제에 한정된 교육용 가정이다(「53. 누락과 모순」).</a:t>
            </a:r>
          </a:p>
          <a:p>
            <a:pPr lvl="0"/>
            <a:r>
              <a:rPr lang="ko-KR" sz="1200"/>
              <a:t>배송은 주문 시스템이 배송 시스템에 요청한 배송의 기록이다(배송 번호로 배송 현황을 조회한다). 출고·배송의 진행은 배송 시스템이 소유한다. 상품의 원천도 상품 시스템이며, 주문 시스템은 주문에 필요한 상품 정보만 가진다.</a:t>
            </a:r>
          </a:p>
          <a:p>
            <a:pPr lvl="0"/>
            <a:r>
              <a:rPr lang="ko-KR" sz="1200"/>
              <a:t>모델을 문장으로 읽는 것이 가장 싼 검토다. 업무 담당자가 듣고 "아니다"라고 할 수 있어야 한다.</a:t>
            </a: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세션은 패키지의 표기와 개념 묶음까지만 다룬다. 패키지를 경계로 판단하고 의존성 방향을 정하는 일은 "05. 구조적 경계와 의존성"에서 다룬다. 의존 화살표는 그때 쓴다.</a:t>
            </a:r>
          </a:p>
          <a:p>
            <a:pPr lvl="0"/>
            <a:r>
              <a:rPr lang="ko-KR" sz="1200"/>
              <a:t>패키지는 주문 시스템 안의 개념 묶음이다. 상품·배송 패키지의 개념은 외부 시스템의 정보를 주문 시스템 쪽에서 기억하는 것이다.</a:t>
            </a:r>
          </a:p>
          <a:p>
            <a:pPr lvl="0"/>
            <a:r>
              <a:rPr lang="ko-KR" sz="1200"/>
              <a:t>표기 기준: OMG [UML 2.5.1](https://www.omg.org/spec/UML/2.5.1/PDF), §12 Packages.</a:t>
            </a: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분석을 줄이자는 것이 아니다. 분석 시간을 고객과 무엇을 할지 정하는 데 쓰자는 것이다.</a:t>
            </a:r>
          </a:p>
          <a:p>
            <a:pPr lvl="0"/>
            <a:r>
              <a:rPr lang="ko-KR" sz="1200"/>
              <a:t>좋은 데이터 모델은 분석의 가장 확실한 산출물 중 하나다(「11. 데이터 모델과 도메인 모델」).</a:t>
            </a:r>
          </a:p>
          <a:p>
            <a:pPr lvl="0"/>
            <a:r>
              <a:rPr lang="ko-KR" sz="1200"/>
              <a:t>기술 요소의 검토가 필요 없다는 뜻은 아니다. 기술 불확실성은 스파이크·개념 증명으로 따로 줄인다("02. 요구 분석과 유스케이스"의 「14. 업무·기술 불확실성」).</a:t>
            </a: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잘못된 예는 실무에서 「07. 도메인 모델」이라는 이름으로 흔히 공유되는 코드 구조 그림이다. 책임 배치는 "07. 책임·협력·계약", 설계 모델로의 비기계적 전환은 "06. 분석 모델에서 설계 모델로"에서 다룬다. 구현 요소를 빼는 것은 설계를 무시하는 것이 아니라 의미를 먼저 합의하기 위해서다.</a:t>
            </a: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「20. 속성 도메인」과 「22. 규칙의 소유」의 판단을 잘못된 예로 되짚는다. 코드에서 같은 문제를 흔히 "원시 타입 집착"이라고 부른다.</a:t>
            </a: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각 기준은 「25. 연관」·「26. 필요한 연관」·「28. 다중성과 업무 규칙」·「36. 전체와 부분」·「35. 일반화」·「24. 참조와 연관」에서 설명했다. 이 topic은 한 장에서 다시 점검하는 목록이다.</a:t>
            </a: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거대 개념은 「29. 평면 모델」이 커진 형태다. 이름 문제는 「38. 용어 정렬」의 지도 제작자 원칙(이미 쓰는 이름)을 어긴 예다.</a:t>
            </a:r>
          </a:p>
          <a:p>
            <a:pPr lvl="0"/>
            <a:r>
              <a:rPr lang="ko-KR" sz="1200"/>
              <a:t>데이터 모델링에서 조직이 표준으로 정한 명명 규칙(예: 마스터·상세)은 그 조직의 공통 언어일 수 있다. 문제는 규칙 없이 뜻을 더하지 않는 말을 붙이는 경우다.</a:t>
            </a: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「51. 모델의 유용성」과 「54. 정적 모델의 한계」의 판단을 잘못된 예로 되짚는다.</a:t>
            </a: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2nd ed., Chapter 10 — POST와 Register 중 어떤 이름을 쓸지 논의하는 부분.</a:t>
            </a:r>
          </a:p>
          <a:p>
            <a:pPr lvl="0"/>
            <a:r>
              <a:rPr lang="ko-KR" sz="1200"/>
              <a:t>모델링의 추가 비용과 위험 감소 판단은 "04. 동적 모델 — 상호작용과 상태"와 "11. 통합 설계와 적정 모델링"에서 다시 다룬다.</a:t>
            </a: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두 요구의 출처와 전제는 「02. 요구와 정적 모델」의 강사 노트와 같다. 배송지 변경의 "추가 요금·세금·배송 방식 변경이 없는 지역"이라는 가정도 유지한다.</a:t>
            </a:r>
          </a:p>
          <a:p>
            <a:pPr lvl="0"/>
            <a:r>
              <a:rPr lang="ko-KR" sz="1200"/>
              <a:t>성공 경로만 대조한다. 실패·동시성 요구는 모델이 보장한다고 추정하지 않는다.</a:t>
            </a: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부분 취소는 "02. 요구 분석과 유스케이스"의 「30. 규칙·제약·예외 정책」에서 허용 조건을 정의할 대상으로 남긴 것이다.</a:t>
            </a:r>
          </a:p>
          <a:p>
            <a:pPr lvl="0"/>
            <a:r>
              <a:rPr lang="ko-KR" sz="1200"/>
              <a:t>모델링에서 발견한 질문은 요구의 누락이다. "02. 요구 분석과 유스케이스"의 「09. 반복적 접근」과 연결한다. 출고·배송 시작의 사건 순서는 "04. 동적 모델 — 상호작용과 상태"에서 확인한다.</a:t>
            </a: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순서·상태 전이·동시성·실패는 "04. 동적 모델 — 상호작용과 상태", 책임은 "07. 책임·협력·계약", 저장은 "10. 기술 제약과 도메인 의미 보존"에서 다룬다. 정적 모델에 이 답을 넣으면 존재와 사건이 섞인다.</a:t>
            </a: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시간 배분은 전체 SA 완성 후 정한다.</a:t>
            </a:r>
          </a:p>
          <a:p>
            <a:pPr lvl="0"/>
            <a:r>
              <a:rPr lang="ko-KR" sz="1200"/>
              <a:t>"02. 요구 분석과 유스케이스"의 「57. 실습 — 모델로 바꾸기」에서 정한 유스케이스(정기배송을 관리한다)와 대안 흐름(다음 배송 건너뛰기), 성공 경로 전제를 유지한다.</a:t>
            </a:r>
          </a:p>
          <a:p>
            <a:pPr lvl="0"/>
            <a:r>
              <a:rPr lang="ko-KR" sz="1200"/>
              <a:t>세부 검토 기준(충족 / 보완):</a:t>
            </a:r>
          </a:p>
          <a:p>
            <a:pPr lvl="1"/>
            <a:r>
              <a:rPr lang="ko-KR" sz="1200"/>
              <a:t>개념 구분 — 정기배송·배송 회차·결제 승인을 구분한다 / "건너뛰기 버튼"을 개념으로 둔다</a:t>
            </a:r>
          </a:p>
          <a:p>
            <a:pPr lvl="1"/>
            <a:r>
              <a:rPr lang="ko-KR" sz="1200"/>
              <a:t>다중성 — 회차와 결제 승인의 관계를 질문과 함께 제시한다 / 근거 없이 1로 확정한다</a:t>
            </a:r>
          </a:p>
          <a:p>
            <a:pPr lvl="1"/>
            <a:r>
              <a:rPr lang="ko-KR" sz="1200"/>
              <a:t>상태 — 회차 상태 값과 48시간 규칙을 분리한다 / 48시간 조건을 속성이나 개념으로 만든다</a:t>
            </a:r>
          </a:p>
          <a:p>
            <a:pPr lvl="1"/>
            <a:r>
              <a:rPr lang="ko-KR" sz="1200"/>
              <a:t>제약 — 연속 2회를 판단할 정보(회차 순서·상태)가 있는지 확인한다 / 규칙만 나열한다</a:t>
            </a:r>
          </a:p>
          <a:p>
            <a:pPr lvl="1"/>
            <a:r>
              <a:rPr lang="ko-KR" sz="1200"/>
              <a:t>구현 요소 — 키·메서드·화면이 없다 / 건너뛰기()나 회차ID가 있다</a:t>
            </a: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추가 질문: 승인된 결제는 취소·환불·이월 중 무엇인가? 연속 횟수는 언제 초기화되는가?</a:t>
            </a:r>
          </a:p>
          <a:p>
            <a:pPr lvl="0"/>
            <a:r>
              <a:rPr lang="ko-KR" sz="1200"/>
              <a:t>건너뛰기를 별도 개념이 아니라 회차 상태 값으로 둔 것은 판단의 예다. 사유·요청 일시를 기록해야 하면 별도 개념이 될 수 있다.</a:t>
            </a:r>
          </a:p>
          <a:p>
            <a:pPr lvl="0"/>
            <a:r>
              <a:rPr lang="ko-KR" sz="1200"/>
              <a:t>정기배송 항목의 가격이 신청 시점에 확정되는지도 질문이다(「33. 현재 값과 확정 값」).</a:t>
            </a:r>
          </a:p>
          <a:p>
            <a:pPr lvl="0"/>
            <a:r>
              <a:rPr lang="ko-KR" sz="1200"/>
              <a:t>정기배송–주문 연결을 추측으로 그리지 않은 것이 핵심이다. 질문을 남긴 것을 감점하지 않는다.</a:t>
            </a:r>
          </a:p>
          <a:p>
            <a:pPr lvl="0"/>
            <a:r>
              <a:rPr lang="ko-KR" sz="1200"/>
              <a:t>토론 질문: 왜 이것을 개념(또는 속성)으로 판단했는가? 아직 무엇을 모르는가?</a:t>
            </a: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이 세션에서 남긴 "배송 시작과 출고" 질문을 다음 세션의 출발점으로 삼는다.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1"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1">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1">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1">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1">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1"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1"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1"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1"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1"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svgImage1" Type="http://schemas.openxmlformats.org/officeDocument/2006/relationships/image" Target="../media/svg-1.png"/><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plantumlImage3" Type="http://schemas.openxmlformats.org/officeDocument/2006/relationships/image" Target="../media/plantuml-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svgImage2" Type="http://schemas.openxmlformats.org/officeDocument/2006/relationships/image" Target="../media/svg-2.png"/><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plantumlImage4" Type="http://schemas.openxmlformats.org/officeDocument/2006/relationships/image" Target="../media/plantuml-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plantumlImage5" Type="http://schemas.openxmlformats.org/officeDocument/2006/relationships/image" Target="../media/plantuml-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speakerNotes2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speakerNotes2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speakerNotes2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speakerNotes2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plantumlImage6" Type="http://schemas.openxmlformats.org/officeDocument/2006/relationships/image" Target="../media/plantuml-6.png"/><Relationship Id="speakerNotes3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plantumlImage7" Type="http://schemas.openxmlformats.org/officeDocument/2006/relationships/image" Target="../media/plantuml-7.png"/><Relationship Id="speakerNotes31"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plantumlImage8" Type="http://schemas.openxmlformats.org/officeDocument/2006/relationships/image" Target="../media/plantuml-8.png"/><Relationship Id="speakerNotes3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speakerNotes3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speakerNotes3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speakerNotes3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plantumlImage9" Type="http://schemas.openxmlformats.org/officeDocument/2006/relationships/image" Target="../media/plantuml-9.png"/><Relationship Id="speakerNotes3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plantumlImage10" Type="http://schemas.openxmlformats.org/officeDocument/2006/relationships/image" Target="../media/plantuml-10.png"/><Relationship Id="speakerNotes3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plantumlImage11" Type="http://schemas.openxmlformats.org/officeDocument/2006/relationships/image" Target="../media/plantuml-11.png"/><Relationship Id="speakerNotes38"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plantumlImage12" Type="http://schemas.openxmlformats.org/officeDocument/2006/relationships/image" Target="../media/plantuml-1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plantumlImage13" Type="http://schemas.openxmlformats.org/officeDocument/2006/relationships/image" Target="../media/plantuml-13.png"/><Relationship Id="speakerNotes40"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speakerNotes41"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speakerNotes4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plantumlImage14" Type="http://schemas.openxmlformats.org/officeDocument/2006/relationships/image" Target="../media/plantuml-14.png"/><Relationship Id="speakerNotes4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plantumlImage15" Type="http://schemas.openxmlformats.org/officeDocument/2006/relationships/image" Target="../media/plantuml-15.png"/><Relationship Id="speakerNotes4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speakerNotes45"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speakerNotes4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speakerNotes4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speakerNotes48"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mermaidImage2" Type="http://schemas.openxmlformats.org/officeDocument/2006/relationships/image" Target="../media/mermaid-2.png"/><Relationship Id="speakerNotes49"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plantumlImage16" Type="http://schemas.openxmlformats.org/officeDocument/2006/relationships/image" Target="../media/plantuml-16.png"/><Relationship Id="speakerNotes50"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plantumlImage17" Type="http://schemas.openxmlformats.org/officeDocument/2006/relationships/image" Target="../media/plantuml-17.png"/><Relationship Id="speakerNotes51"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svgImage3" Type="http://schemas.openxmlformats.org/officeDocument/2006/relationships/image" Target="../media/svg-3.png"/><Relationship Id="speakerNotes5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plantumlImage18" Type="http://schemas.openxmlformats.org/officeDocument/2006/relationships/image" Target="../media/plantuml-18.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speakerNotes55"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plantumlImage19" Type="http://schemas.openxmlformats.org/officeDocument/2006/relationships/image" Target="../media/plantuml-19.png"/><Relationship Id="speakerNotes56"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speakerNotes57"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speakerNotes58"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speakerNotes59"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speakerNotes60"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speakerNotes61"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speakerNotes6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speakerNotes6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speakerNotes65"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speakerNotes66"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plantumlImage20" Type="http://schemas.openxmlformats.org/officeDocument/2006/relationships/image" Target="../media/plantuml-20.png"/><Relationship Id="speakerNotes68"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speakerNotes70" Type="http://schemas.openxmlformats.org/officeDocument/2006/relationships/notesSlide" Target="../notesSlides/notesSlide7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03. 정적 모델 목차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endParaRPr lang="ko-KR" altLang="en-US" dirty="0">
              <a:solidFill>
                <a:prstClr val="black"/>
              </a:solidFill>
            </a:endParaRP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요구와 정적 모델</a:t>
            </a:r>
          </a:p>
          <a:p>
            <a:pPr lvl="1" marL="355600" indent="0">
              <a:spcBef>
                <a:spcPts val="300"/>
              </a:spcBef>
              <a:spcAft>
                <a:spcPts val="300"/>
              </a:spcAft>
              <a:buNone/>
            </a:pPr>
            <a:r>
              <a:rPr sz="1600" b="0">
                <a:solidFill>
                  <a:srgbClr val="000000"/>
                </a:solidFill>
                <a:latin typeface="맑은 고딕"/>
                <a:ea typeface="맑은 고딕"/>
              </a:rPr>
              <a:t>03. 도메인</a:t>
            </a:r>
          </a:p>
          <a:p>
            <a:pPr lvl="1" marL="355600" indent="0">
              <a:spcBef>
                <a:spcPts val="300"/>
              </a:spcBef>
              <a:spcAft>
                <a:spcPts val="300"/>
              </a:spcAft>
              <a:buNone/>
            </a:pPr>
            <a:r>
              <a:rPr sz="1600" b="0">
                <a:solidFill>
                  <a:srgbClr val="000000"/>
                </a:solidFill>
                <a:latin typeface="맑은 고딕"/>
                <a:ea typeface="맑은 고딕"/>
              </a:rPr>
              <a:t>04. 정적 모델</a:t>
            </a:r>
          </a:p>
          <a:p>
            <a:pPr lvl="1" marL="355600" indent="0">
              <a:spcBef>
                <a:spcPts val="300"/>
              </a:spcBef>
              <a:spcAft>
                <a:spcPts val="300"/>
              </a:spcAft>
              <a:buNone/>
            </a:pPr>
            <a:r>
              <a:rPr sz="1600" b="0">
                <a:solidFill>
                  <a:srgbClr val="000000"/>
                </a:solidFill>
                <a:latin typeface="맑은 고딕"/>
                <a:ea typeface="맑은 고딕"/>
              </a:rPr>
              <a:t>05. 정적·동적 모델</a:t>
            </a:r>
          </a:p>
          <a:p>
            <a:pPr lvl="1" marL="355600" indent="0">
              <a:spcBef>
                <a:spcPts val="300"/>
              </a:spcBef>
              <a:spcAft>
                <a:spcPts val="300"/>
              </a:spcAft>
              <a:buNone/>
            </a:pPr>
            <a:r>
              <a:rPr sz="1600" b="0">
                <a:solidFill>
                  <a:srgbClr val="000000"/>
                </a:solidFill>
                <a:latin typeface="맑은 고딕"/>
                <a:ea typeface="맑은 고딕"/>
              </a:rPr>
              <a:t>06. 상태 값과 상태 전이</a:t>
            </a:r>
          </a:p>
          <a:p>
            <a:pPr lvl="1" marL="355600" indent="0">
              <a:spcBef>
                <a:spcPts val="300"/>
              </a:spcBef>
              <a:spcAft>
                <a:spcPts val="300"/>
              </a:spcAft>
              <a:buNone/>
            </a:pPr>
            <a:r>
              <a:rPr sz="1600" b="0">
                <a:solidFill>
                  <a:srgbClr val="000000"/>
                </a:solidFill>
                <a:latin typeface="맑은 고딕"/>
                <a:ea typeface="맑은 고딕"/>
              </a:rPr>
              <a:t>07. 도메인 모델</a:t>
            </a:r>
          </a:p>
          <a:p>
            <a:pPr lvl="1" marL="355600" indent="0">
              <a:spcBef>
                <a:spcPts val="300"/>
              </a:spcBef>
              <a:spcAft>
                <a:spcPts val="300"/>
              </a:spcAft>
              <a:buNone/>
            </a:pPr>
            <a:r>
              <a:rPr sz="1600" b="0">
                <a:solidFill>
                  <a:srgbClr val="000000"/>
                </a:solidFill>
                <a:latin typeface="맑은 고딕"/>
                <a:ea typeface="맑은 고딕"/>
              </a:rPr>
              <a:t>08. 도메인 모델의 위치</a:t>
            </a:r>
          </a:p>
          <a:p>
            <a:pPr lvl="1" marL="355600" indent="0">
              <a:spcBef>
                <a:spcPts val="300"/>
              </a:spcBef>
              <a:spcAft>
                <a:spcPts val="300"/>
              </a:spcAft>
              <a:buNone/>
            </a:pPr>
            <a:r>
              <a:rPr sz="1600" b="0">
                <a:solidFill>
                  <a:srgbClr val="000000"/>
                </a:solidFill>
                <a:latin typeface="맑은 고딕"/>
                <a:ea typeface="맑은 고딕"/>
              </a:rPr>
              <a:t>09. 클래스 다이어그램</a:t>
            </a:r>
          </a:p>
          <a:p>
            <a:pPr lvl="1" marL="355600" indent="0">
              <a:spcBef>
                <a:spcPts val="300"/>
              </a:spcBef>
              <a:spcAft>
                <a:spcPts val="300"/>
              </a:spcAft>
              <a:buNone/>
            </a:pPr>
            <a:r>
              <a:rPr sz="1600" b="0">
                <a:solidFill>
                  <a:srgbClr val="000000"/>
                </a:solidFill>
                <a:latin typeface="맑은 고딕"/>
                <a:ea typeface="맑은 고딕"/>
              </a:rPr>
              <a:t>10. 정보공학과 데이터 모델링</a:t>
            </a:r>
          </a:p>
          <a:p>
            <a:pPr lvl="1" marL="355600" indent="0">
              <a:spcBef>
                <a:spcPts val="300"/>
              </a:spcBef>
              <a:spcAft>
                <a:spcPts val="300"/>
              </a:spcAft>
              <a:buNone/>
            </a:pPr>
            <a:r>
              <a:rPr sz="1600" b="0">
                <a:solidFill>
                  <a:srgbClr val="000000"/>
                </a:solidFill>
                <a:latin typeface="맑은 고딕"/>
                <a:ea typeface="맑은 고딕"/>
              </a:rPr>
              <a:t>11. 데이터 모델과 도메인 모델</a:t>
            </a:r>
          </a:p>
          <a:p>
            <a:pPr lvl="1" marL="355600" indent="0">
              <a:spcBef>
                <a:spcPts val="300"/>
              </a:spcBef>
              <a:spcAft>
                <a:spcPts val="300"/>
              </a:spcAft>
              <a:buNone/>
            </a:pPr>
            <a:r>
              <a:rPr sz="1600" b="0">
                <a:solidFill>
                  <a:srgbClr val="000000"/>
                </a:solidFill>
                <a:latin typeface="맑은 고딕"/>
                <a:ea typeface="맑은 고딕"/>
              </a:rPr>
              <a:t>12. 모델 요소의 대응</a:t>
            </a:r>
          </a:p>
          <a:p>
            <a:pPr lvl="1" marL="355600" indent="0">
              <a:spcBef>
                <a:spcPts val="300"/>
              </a:spcBef>
              <a:spcAft>
                <a:spcPts val="300"/>
              </a:spcAft>
              <a:buNone/>
            </a:pPr>
            <a:r>
              <a:rPr sz="1600" b="0">
                <a:solidFill>
                  <a:srgbClr val="000000"/>
                </a:solidFill>
                <a:latin typeface="맑은 고딕"/>
                <a:ea typeface="맑은 고딕"/>
              </a:rPr>
              <a:t>13. 같은 사례, 두 모델</a:t>
            </a:r>
          </a:p>
          <a:p>
            <a:pPr lvl="1" marL="355600" indent="0">
              <a:spcBef>
                <a:spcPts val="300"/>
              </a:spcBef>
              <a:spcAft>
                <a:spcPts val="300"/>
              </a:spcAft>
              <a:buNone/>
            </a:pPr>
            <a:r>
              <a:rPr sz="1600" b="0">
                <a:solidFill>
                  <a:srgbClr val="000000"/>
                </a:solidFill>
                <a:latin typeface="맑은 고딕"/>
                <a:ea typeface="맑은 고딕"/>
              </a:rPr>
              <a:t>14. 도메인 개념</a:t>
            </a:r>
          </a:p>
          <a:p>
            <a:pPr lvl="1" marL="355600" indent="0">
              <a:spcBef>
                <a:spcPts val="300"/>
              </a:spcBef>
              <a:spcAft>
                <a:spcPts val="300"/>
              </a:spcAft>
              <a:buNone/>
            </a:pPr>
            <a:r>
              <a:rPr sz="1600" b="0">
                <a:solidFill>
                  <a:srgbClr val="000000"/>
                </a:solidFill>
                <a:latin typeface="맑은 고딕"/>
                <a:ea typeface="맑은 고딕"/>
              </a:rPr>
              <a:t>15. 개념 범주</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16. 유스케이스 어휘</a:t>
            </a:r>
          </a:p>
          <a:p>
            <a:pPr lvl="1" marL="355600" indent="0">
              <a:spcBef>
                <a:spcPts val="300"/>
              </a:spcBef>
              <a:spcAft>
                <a:spcPts val="300"/>
              </a:spcAft>
              <a:buNone/>
            </a:pPr>
            <a:r>
              <a:rPr sz="1600" b="0">
                <a:solidFill>
                  <a:srgbClr val="000000"/>
                </a:solidFill>
                <a:latin typeface="맑은 고딕"/>
                <a:ea typeface="맑은 고딕"/>
              </a:rPr>
              <a:t>17. 명사 추출의 한계</a:t>
            </a:r>
          </a:p>
          <a:p>
            <a:pPr lvl="1" marL="355600" indent="0">
              <a:spcBef>
                <a:spcPts val="300"/>
              </a:spcBef>
              <a:spcAft>
                <a:spcPts val="300"/>
              </a:spcAft>
              <a:buNone/>
            </a:pPr>
            <a:r>
              <a:rPr sz="1600" b="0">
                <a:solidFill>
                  <a:srgbClr val="000000"/>
                </a:solidFill>
                <a:latin typeface="맑은 고딕"/>
                <a:ea typeface="맑은 고딕"/>
              </a:rPr>
              <a:t>18. 개념과 속성</a:t>
            </a:r>
          </a:p>
          <a:p>
            <a:pPr lvl="1" marL="355600" indent="0">
              <a:spcBef>
                <a:spcPts val="300"/>
              </a:spcBef>
              <a:spcAft>
                <a:spcPts val="300"/>
              </a:spcAft>
              <a:buNone/>
            </a:pPr>
            <a:r>
              <a:rPr sz="1600" b="0">
                <a:solidFill>
                  <a:srgbClr val="000000"/>
                </a:solidFill>
                <a:latin typeface="맑은 고딕"/>
                <a:ea typeface="맑은 고딕"/>
              </a:rPr>
              <a:t>19. 속성 값의 의미</a:t>
            </a:r>
          </a:p>
          <a:p>
            <a:pPr lvl="1" marL="355600" indent="0">
              <a:spcBef>
                <a:spcPts val="300"/>
              </a:spcBef>
              <a:spcAft>
                <a:spcPts val="300"/>
              </a:spcAft>
              <a:buNone/>
            </a:pPr>
            <a:r>
              <a:rPr sz="1600" b="0">
                <a:solidFill>
                  <a:srgbClr val="000000"/>
                </a:solidFill>
                <a:latin typeface="맑은 고딕"/>
                <a:ea typeface="맑은 고딕"/>
              </a:rPr>
              <a:t>20. 속성 도메인</a:t>
            </a:r>
          </a:p>
          <a:p>
            <a:pPr lvl="1" marL="355600" indent="0">
              <a:spcBef>
                <a:spcPts val="300"/>
              </a:spcBef>
              <a:spcAft>
                <a:spcPts val="300"/>
              </a:spcAft>
              <a:buNone/>
            </a:pPr>
            <a:r>
              <a:rPr sz="1600" b="0">
                <a:solidFill>
                  <a:srgbClr val="000000"/>
                </a:solidFill>
                <a:latin typeface="맑은 고딕"/>
                <a:ea typeface="맑은 고딕"/>
              </a:rPr>
              <a:t>21. 속성 수준 업무 규칙</a:t>
            </a:r>
          </a:p>
          <a:p>
            <a:pPr lvl="1" marL="355600" indent="0">
              <a:spcBef>
                <a:spcPts val="300"/>
              </a:spcBef>
              <a:spcAft>
                <a:spcPts val="300"/>
              </a:spcAft>
              <a:buNone/>
            </a:pPr>
            <a:r>
              <a:rPr sz="1600" b="0">
                <a:solidFill>
                  <a:srgbClr val="000000"/>
                </a:solidFill>
                <a:latin typeface="맑은 고딕"/>
                <a:ea typeface="맑은 고딕"/>
              </a:rPr>
              <a:t>22. 규칙의 소유</a:t>
            </a:r>
          </a:p>
          <a:p>
            <a:pPr lvl="1" marL="355600" indent="0">
              <a:spcBef>
                <a:spcPts val="300"/>
              </a:spcBef>
              <a:spcAft>
                <a:spcPts val="300"/>
              </a:spcAft>
              <a:buNone/>
            </a:pPr>
            <a:r>
              <a:rPr sz="1600" b="0">
                <a:solidFill>
                  <a:srgbClr val="000000"/>
                </a:solidFill>
                <a:latin typeface="맑은 고딕"/>
                <a:ea typeface="맑은 고딕"/>
              </a:rPr>
              <a:t>23. 파생 속성</a:t>
            </a:r>
          </a:p>
          <a:p>
            <a:pPr lvl="1" marL="355600" indent="0">
              <a:spcBef>
                <a:spcPts val="300"/>
              </a:spcBef>
              <a:spcAft>
                <a:spcPts val="300"/>
              </a:spcAft>
              <a:buNone/>
            </a:pPr>
            <a:r>
              <a:rPr sz="1600" b="0">
                <a:solidFill>
                  <a:srgbClr val="000000"/>
                </a:solidFill>
                <a:latin typeface="맑은 고딕"/>
                <a:ea typeface="맑은 고딕"/>
              </a:rPr>
              <a:t>24. 참조와 연관</a:t>
            </a:r>
          </a:p>
          <a:p>
            <a:pPr lvl="1" marL="355600" indent="0">
              <a:spcBef>
                <a:spcPts val="300"/>
              </a:spcBef>
              <a:spcAft>
                <a:spcPts val="300"/>
              </a:spcAft>
              <a:buNone/>
            </a:pPr>
            <a:r>
              <a:rPr sz="1600" b="0">
                <a:solidFill>
                  <a:srgbClr val="000000"/>
                </a:solidFill>
                <a:latin typeface="맑은 고딕"/>
                <a:ea typeface="맑은 고딕"/>
              </a:rPr>
              <a:t>25. 연관</a:t>
            </a:r>
          </a:p>
          <a:p>
            <a:pPr lvl="1" marL="355600" indent="0">
              <a:spcBef>
                <a:spcPts val="300"/>
              </a:spcBef>
              <a:spcAft>
                <a:spcPts val="300"/>
              </a:spcAft>
              <a:buNone/>
            </a:pPr>
            <a:r>
              <a:rPr sz="1600" b="0">
                <a:solidFill>
                  <a:srgbClr val="000000"/>
                </a:solidFill>
                <a:latin typeface="맑은 고딕"/>
                <a:ea typeface="맑은 고딕"/>
              </a:rPr>
              <a:t>26. 필요한 연관</a:t>
            </a:r>
          </a:p>
          <a:p>
            <a:pPr lvl="1" marL="355600" indent="0">
              <a:spcBef>
                <a:spcPts val="300"/>
              </a:spcBef>
              <a:spcAft>
                <a:spcPts val="300"/>
              </a:spcAft>
              <a:buNone/>
            </a:pPr>
            <a:r>
              <a:rPr sz="1600" b="0">
                <a:solidFill>
                  <a:srgbClr val="000000"/>
                </a:solidFill>
                <a:latin typeface="맑은 고딕"/>
                <a:ea typeface="맑은 고딕"/>
              </a:rPr>
              <a:t>27. 다중성</a:t>
            </a:r>
          </a:p>
          <a:p>
            <a:pPr lvl="1" marL="355600" indent="0">
              <a:spcBef>
                <a:spcPts val="300"/>
              </a:spcBef>
              <a:spcAft>
                <a:spcPts val="300"/>
              </a:spcAft>
              <a:buNone/>
            </a:pPr>
            <a:r>
              <a:rPr sz="1600" b="0">
                <a:solidFill>
                  <a:srgbClr val="000000"/>
                </a:solidFill>
                <a:latin typeface="맑은 고딕"/>
                <a:ea typeface="맑은 고딕"/>
              </a:rPr>
              <a:t>28. 다중성과 업무 규칙</a:t>
            </a:r>
          </a:p>
          <a:p>
            <a:pPr lvl="1" marL="355600" indent="0">
              <a:spcBef>
                <a:spcPts val="300"/>
              </a:spcBef>
              <a:spcAft>
                <a:spcPts val="300"/>
              </a:spcAft>
              <a:buNone/>
            </a:pPr>
            <a:r>
              <a:rPr sz="1600" b="0">
                <a:solidFill>
                  <a:srgbClr val="000000"/>
                </a:solidFill>
                <a:latin typeface="맑은 고딕"/>
                <a:ea typeface="맑은 고딕"/>
              </a:rPr>
              <a:t>29. 평면 모델</a:t>
            </a:r>
          </a:p>
          <a:p>
            <a:pPr lvl="1" marL="355600" indent="0">
              <a:spcBef>
                <a:spcPts val="300"/>
              </a:spcBef>
              <a:spcAft>
                <a:spcPts val="300"/>
              </a:spcAft>
              <a:buNone/>
            </a:pPr>
            <a:r>
              <a:rPr sz="1600" b="0">
                <a:solidFill>
                  <a:srgbClr val="000000"/>
                </a:solidFill>
                <a:latin typeface="맑은 고딕"/>
                <a:ea typeface="맑은 고딕"/>
              </a:rPr>
              <a:t>30. 주문과 주문 항목</a:t>
            </a:r>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03. 정적 모델 목차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31. 연관 클래스</a:t>
            </a:r>
          </a:p>
          <a:p>
            <a:pPr lvl="1" marL="355600" indent="0">
              <a:spcBef>
                <a:spcPts val="300"/>
              </a:spcBef>
              <a:spcAft>
                <a:spcPts val="300"/>
              </a:spcAft>
              <a:buNone/>
            </a:pPr>
            <a:r>
              <a:rPr sz="1600" b="0">
                <a:solidFill>
                  <a:srgbClr val="000000"/>
                </a:solidFill>
                <a:latin typeface="맑은 고딕"/>
                <a:ea typeface="맑은 고딕"/>
              </a:rPr>
              <a:t>32. 명세 개념</a:t>
            </a:r>
          </a:p>
          <a:p>
            <a:pPr lvl="1" marL="355600" indent="0">
              <a:spcBef>
                <a:spcPts val="300"/>
              </a:spcBef>
              <a:spcAft>
                <a:spcPts val="300"/>
              </a:spcAft>
              <a:buNone/>
            </a:pPr>
            <a:r>
              <a:rPr sz="1600" b="0">
                <a:solidFill>
                  <a:srgbClr val="000000"/>
                </a:solidFill>
                <a:latin typeface="맑은 고딕"/>
                <a:ea typeface="맑은 고딕"/>
              </a:rPr>
              <a:t>33. 현재 값과 확정 값</a:t>
            </a:r>
          </a:p>
          <a:p>
            <a:pPr lvl="1" marL="355600" indent="0">
              <a:spcBef>
                <a:spcPts val="300"/>
              </a:spcBef>
              <a:spcAft>
                <a:spcPts val="300"/>
              </a:spcAft>
              <a:buNone/>
            </a:pPr>
            <a:r>
              <a:rPr sz="1600" b="0">
                <a:solidFill>
                  <a:srgbClr val="000000"/>
                </a:solidFill>
                <a:latin typeface="맑은 고딕"/>
                <a:ea typeface="맑은 고딕"/>
              </a:rPr>
              <a:t>34. 같은 구조, 다른 의미</a:t>
            </a:r>
          </a:p>
          <a:p>
            <a:pPr lvl="1" marL="355600" indent="0">
              <a:spcBef>
                <a:spcPts val="300"/>
              </a:spcBef>
              <a:spcAft>
                <a:spcPts val="300"/>
              </a:spcAft>
              <a:buNone/>
            </a:pPr>
            <a:r>
              <a:rPr sz="1600" b="0">
                <a:solidFill>
                  <a:srgbClr val="000000"/>
                </a:solidFill>
                <a:latin typeface="맑은 고딕"/>
                <a:ea typeface="맑은 고딕"/>
              </a:rPr>
              <a:t>35. 일반화</a:t>
            </a:r>
          </a:p>
          <a:p>
            <a:pPr lvl="1" marL="355600" indent="0">
              <a:spcBef>
                <a:spcPts val="300"/>
              </a:spcBef>
              <a:spcAft>
                <a:spcPts val="300"/>
              </a:spcAft>
              <a:buNone/>
            </a:pPr>
            <a:r>
              <a:rPr sz="1600" b="0">
                <a:solidFill>
                  <a:srgbClr val="000000"/>
                </a:solidFill>
                <a:latin typeface="맑은 고딕"/>
                <a:ea typeface="맑은 고딕"/>
              </a:rPr>
              <a:t>36. 전체와 부분</a:t>
            </a:r>
          </a:p>
          <a:p>
            <a:pPr lvl="1" marL="355600" indent="0">
              <a:spcBef>
                <a:spcPts val="300"/>
              </a:spcBef>
              <a:spcAft>
                <a:spcPts val="300"/>
              </a:spcAft>
              <a:buNone/>
            </a:pPr>
            <a:r>
              <a:rPr sz="1600" b="0">
                <a:solidFill>
                  <a:srgbClr val="000000"/>
                </a:solidFill>
                <a:latin typeface="맑은 고딕"/>
                <a:ea typeface="맑은 고딕"/>
              </a:rPr>
              <a:t>37. 제약</a:t>
            </a:r>
          </a:p>
          <a:p>
            <a:pPr lvl="1" marL="355600" indent="0">
              <a:spcBef>
                <a:spcPts val="300"/>
              </a:spcBef>
              <a:spcAft>
                <a:spcPts val="300"/>
              </a:spcAft>
              <a:buNone/>
            </a:pPr>
            <a:r>
              <a:rPr sz="1600" b="0">
                <a:solidFill>
                  <a:srgbClr val="000000"/>
                </a:solidFill>
                <a:latin typeface="맑은 고딕"/>
                <a:ea typeface="맑은 고딕"/>
              </a:rPr>
              <a:t>38. 용어 정렬</a:t>
            </a:r>
          </a:p>
          <a:p>
            <a:pPr lvl="1" marL="355600" indent="0">
              <a:spcBef>
                <a:spcPts val="300"/>
              </a:spcBef>
              <a:spcAft>
                <a:spcPts val="300"/>
              </a:spcAft>
              <a:buNone/>
            </a:pPr>
            <a:r>
              <a:rPr sz="1600" b="0">
                <a:solidFill>
                  <a:srgbClr val="000000"/>
                </a:solidFill>
                <a:latin typeface="맑은 고딕"/>
                <a:ea typeface="맑은 고딕"/>
              </a:rPr>
              <a:t>39. 동의어와 동음이의어</a:t>
            </a:r>
          </a:p>
          <a:p>
            <a:pPr lvl="1" marL="355600" indent="0">
              <a:spcBef>
                <a:spcPts val="300"/>
              </a:spcBef>
              <a:spcAft>
                <a:spcPts val="300"/>
              </a:spcAft>
              <a:buNone/>
            </a:pPr>
            <a:r>
              <a:rPr sz="1600" b="0">
                <a:solidFill>
                  <a:srgbClr val="000000"/>
                </a:solidFill>
                <a:latin typeface="맑은 고딕"/>
                <a:ea typeface="맑은 고딕"/>
              </a:rPr>
              <a:t>40. 용어집</a:t>
            </a:r>
          </a:p>
          <a:p>
            <a:pPr lvl="1" marL="355600" indent="0">
              <a:spcBef>
                <a:spcPts val="300"/>
              </a:spcBef>
              <a:spcAft>
                <a:spcPts val="300"/>
              </a:spcAft>
              <a:buNone/>
            </a:pPr>
            <a:r>
              <a:rPr sz="1600" b="0">
                <a:solidFill>
                  <a:srgbClr val="000000"/>
                </a:solidFill>
                <a:latin typeface="맑은 고딕"/>
                <a:ea typeface="맑은 고딕"/>
              </a:rPr>
              <a:t>41. 모델 작성 절차</a:t>
            </a:r>
          </a:p>
          <a:p>
            <a:pPr lvl="1" marL="355600" indent="0">
              <a:spcBef>
                <a:spcPts val="300"/>
              </a:spcBef>
              <a:spcAft>
                <a:spcPts val="300"/>
              </a:spcAft>
              <a:buNone/>
            </a:pPr>
            <a:r>
              <a:rPr sz="1600" b="0">
                <a:solidFill>
                  <a:srgbClr val="000000"/>
                </a:solidFill>
                <a:latin typeface="맑은 고딕"/>
                <a:ea typeface="맑은 고딕"/>
              </a:rPr>
              <a:t>42. 도메인 모델 —</a:t>
            </a:r>
            <a:r>
              <a:rPr sz="1400" b="0">
                <a:solidFill>
                  <a:srgbClr val="000000"/>
                </a:solidFill>
                <a:latin typeface="맑은 고딕"/>
                <a:ea typeface="맑은 고딕"/>
              </a:rPr>
              <a:t> 초안</a:t>
            </a:r>
          </a:p>
          <a:p>
            <a:pPr lvl="1" marL="355600" indent="0">
              <a:spcBef>
                <a:spcPts val="300"/>
              </a:spcBef>
              <a:spcAft>
                <a:spcPts val="300"/>
              </a:spcAft>
              <a:buNone/>
            </a:pPr>
            <a:r>
              <a:rPr sz="1600" b="0">
                <a:solidFill>
                  <a:srgbClr val="000000"/>
                </a:solidFill>
                <a:latin typeface="맑은 고딕"/>
                <a:ea typeface="맑은 고딕"/>
              </a:rPr>
              <a:t>43. 도메인 모델 —</a:t>
            </a:r>
            <a:r>
              <a:rPr sz="1400" b="0">
                <a:solidFill>
                  <a:srgbClr val="000000"/>
                </a:solidFill>
                <a:latin typeface="맑은 고딕"/>
                <a:ea typeface="맑은 고딕"/>
              </a:rPr>
              <a:t> 상세화</a:t>
            </a:r>
          </a:p>
          <a:p>
            <a:pPr lvl="1" marL="355600" indent="0">
              <a:spcBef>
                <a:spcPts val="300"/>
              </a:spcBef>
              <a:spcAft>
                <a:spcPts val="300"/>
              </a:spcAft>
              <a:buNone/>
            </a:pPr>
            <a:r>
              <a:rPr sz="1600" b="0">
                <a:solidFill>
                  <a:srgbClr val="000000"/>
                </a:solidFill>
                <a:latin typeface="맑은 고딕"/>
                <a:ea typeface="맑은 고딕"/>
              </a:rPr>
              <a:t>44. 개념의 묶음 —</a:t>
            </a:r>
            <a:r>
              <a:rPr sz="1400" b="0">
                <a:solidFill>
                  <a:srgbClr val="000000"/>
                </a:solidFill>
                <a:latin typeface="맑은 고딕"/>
                <a:ea typeface="맑은 고딕"/>
              </a:rPr>
              <a:t> 패키지</a:t>
            </a:r>
          </a:p>
          <a:p>
            <a:pPr lvl="1" marL="355600" indent="0">
              <a:spcBef>
                <a:spcPts val="300"/>
              </a:spcBef>
              <a:spcAft>
                <a:spcPts val="300"/>
              </a:spcAft>
              <a:buNone/>
            </a:pPr>
            <a:r>
              <a:rPr sz="1600" b="0">
                <a:solidFill>
                  <a:srgbClr val="000000"/>
                </a:solidFill>
                <a:latin typeface="맑은 고딕"/>
                <a:ea typeface="맑은 고딕"/>
              </a:rPr>
              <a:t>45. 잘못된 관행 —</a:t>
            </a:r>
            <a:r>
              <a:rPr sz="1400" b="0">
                <a:solidFill>
                  <a:srgbClr val="000000"/>
                </a:solidFill>
                <a:latin typeface="맑은 고딕"/>
                <a:ea typeface="맑은 고딕"/>
              </a:rPr>
              <a:t> 분석 과잉</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46. 잘못된 관행 —</a:t>
            </a:r>
            <a:r>
              <a:rPr sz="1400" b="0">
                <a:solidFill>
                  <a:srgbClr val="000000"/>
                </a:solidFill>
                <a:latin typeface="맑은 고딕"/>
                <a:ea typeface="맑은 고딕"/>
              </a:rPr>
              <a:t> 구현 요소</a:t>
            </a:r>
          </a:p>
          <a:p>
            <a:pPr lvl="1" marL="355600" indent="0">
              <a:spcBef>
                <a:spcPts val="300"/>
              </a:spcBef>
              <a:spcAft>
                <a:spcPts val="300"/>
              </a:spcAft>
              <a:buNone/>
            </a:pPr>
            <a:r>
              <a:rPr sz="1600" b="0">
                <a:solidFill>
                  <a:srgbClr val="000000"/>
                </a:solidFill>
                <a:latin typeface="맑은 고딕"/>
                <a:ea typeface="맑은 고딕"/>
              </a:rPr>
              <a:t>47. 잘못된 관행 —</a:t>
            </a:r>
            <a:r>
              <a:rPr sz="1400" b="0">
                <a:solidFill>
                  <a:srgbClr val="000000"/>
                </a:solidFill>
                <a:latin typeface="맑은 고딕"/>
                <a:ea typeface="맑은 고딕"/>
              </a:rPr>
              <a:t> 규칙 없는 속성</a:t>
            </a:r>
          </a:p>
          <a:p>
            <a:pPr lvl="1" marL="355600" indent="0">
              <a:spcBef>
                <a:spcPts val="300"/>
              </a:spcBef>
              <a:spcAft>
                <a:spcPts val="300"/>
              </a:spcAft>
              <a:buNone/>
            </a:pPr>
            <a:r>
              <a:rPr sz="1600" b="0">
                <a:solidFill>
                  <a:srgbClr val="000000"/>
                </a:solidFill>
                <a:latin typeface="맑은 고딕"/>
                <a:ea typeface="맑은 고딕"/>
              </a:rPr>
              <a:t>48. 잘못된 관행 —</a:t>
            </a:r>
            <a:r>
              <a:rPr sz="1400" b="0">
                <a:solidFill>
                  <a:srgbClr val="000000"/>
                </a:solidFill>
                <a:latin typeface="맑은 고딕"/>
                <a:ea typeface="맑은 고딕"/>
              </a:rPr>
              <a:t> 관계 남용</a:t>
            </a:r>
          </a:p>
          <a:p>
            <a:pPr lvl="1" marL="355600" indent="0">
              <a:spcBef>
                <a:spcPts val="300"/>
              </a:spcBef>
              <a:spcAft>
                <a:spcPts val="300"/>
              </a:spcAft>
              <a:buNone/>
            </a:pPr>
            <a:r>
              <a:rPr sz="1600" b="0">
                <a:solidFill>
                  <a:srgbClr val="000000"/>
                </a:solidFill>
                <a:latin typeface="맑은 고딕"/>
                <a:ea typeface="맑은 고딕"/>
              </a:rPr>
              <a:t>49. 잘못된 관행 —</a:t>
            </a:r>
            <a:r>
              <a:rPr sz="1400" b="0">
                <a:solidFill>
                  <a:srgbClr val="000000"/>
                </a:solidFill>
                <a:latin typeface="맑은 고딕"/>
                <a:ea typeface="맑은 고딕"/>
              </a:rPr>
              <a:t> 거대 개념·모호한 이름</a:t>
            </a:r>
          </a:p>
          <a:p>
            <a:pPr lvl="1" marL="355600" indent="0">
              <a:spcBef>
                <a:spcPts val="300"/>
              </a:spcBef>
              <a:spcAft>
                <a:spcPts val="300"/>
              </a:spcAft>
              <a:buNone/>
            </a:pPr>
            <a:r>
              <a:rPr sz="1600" b="0">
                <a:solidFill>
                  <a:srgbClr val="000000"/>
                </a:solidFill>
                <a:latin typeface="맑은 고딕"/>
                <a:ea typeface="맑은 고딕"/>
              </a:rPr>
              <a:t>50. 잘못된 관행 —</a:t>
            </a:r>
            <a:r>
              <a:rPr sz="1400" b="0">
                <a:solidFill>
                  <a:srgbClr val="000000"/>
                </a:solidFill>
                <a:latin typeface="맑은 고딕"/>
                <a:ea typeface="맑은 고딕"/>
              </a:rPr>
              <a:t> 범위·시점</a:t>
            </a:r>
          </a:p>
          <a:p>
            <a:pPr lvl="1" marL="355600" indent="0">
              <a:spcBef>
                <a:spcPts val="300"/>
              </a:spcBef>
              <a:spcAft>
                <a:spcPts val="300"/>
              </a:spcAft>
              <a:buNone/>
            </a:pPr>
            <a:r>
              <a:rPr sz="1600" b="0">
                <a:solidFill>
                  <a:srgbClr val="000000"/>
                </a:solidFill>
                <a:latin typeface="맑은 고딕"/>
                <a:ea typeface="맑은 고딕"/>
              </a:rPr>
              <a:t>51. 모델의 유용성</a:t>
            </a:r>
          </a:p>
          <a:p>
            <a:pPr lvl="1" marL="355600" indent="0">
              <a:spcBef>
                <a:spcPts val="300"/>
              </a:spcBef>
              <a:spcAft>
                <a:spcPts val="300"/>
              </a:spcAft>
              <a:buNone/>
            </a:pPr>
            <a:r>
              <a:rPr sz="1600" b="0">
                <a:solidFill>
                  <a:srgbClr val="000000"/>
                </a:solidFill>
                <a:latin typeface="맑은 고딕"/>
                <a:ea typeface="맑은 고딕"/>
              </a:rPr>
              <a:t>52. 시나리오 교차검토</a:t>
            </a:r>
          </a:p>
          <a:p>
            <a:pPr lvl="1" marL="355600" indent="0">
              <a:spcBef>
                <a:spcPts val="300"/>
              </a:spcBef>
              <a:spcAft>
                <a:spcPts val="300"/>
              </a:spcAft>
              <a:buNone/>
            </a:pPr>
            <a:r>
              <a:rPr sz="1600" b="0">
                <a:solidFill>
                  <a:srgbClr val="000000"/>
                </a:solidFill>
                <a:latin typeface="맑은 고딕"/>
                <a:ea typeface="맑은 고딕"/>
              </a:rPr>
              <a:t>53. 누락과 모순</a:t>
            </a:r>
          </a:p>
          <a:p>
            <a:pPr lvl="1" marL="355600" indent="0">
              <a:spcBef>
                <a:spcPts val="300"/>
              </a:spcBef>
              <a:spcAft>
                <a:spcPts val="300"/>
              </a:spcAft>
              <a:buNone/>
            </a:pPr>
            <a:r>
              <a:rPr sz="1600" b="0">
                <a:solidFill>
                  <a:srgbClr val="000000"/>
                </a:solidFill>
                <a:latin typeface="맑은 고딕"/>
                <a:ea typeface="맑은 고딕"/>
              </a:rPr>
              <a:t>54. 정적 모델의 한계</a:t>
            </a:r>
          </a:p>
          <a:p>
            <a:pPr lvl="1" marL="355600" indent="0">
              <a:spcBef>
                <a:spcPts val="300"/>
              </a:spcBef>
              <a:spcAft>
                <a:spcPts val="300"/>
              </a:spcAft>
              <a:buNone/>
            </a:pPr>
            <a:r>
              <a:rPr sz="1600" b="0">
                <a:solidFill>
                  <a:srgbClr val="000000"/>
                </a:solidFill>
                <a:latin typeface="맑은 고딕"/>
                <a:ea typeface="맑은 고딕"/>
              </a:rPr>
              <a:t>55. 실습 —</a:t>
            </a:r>
            <a:r>
              <a:rPr sz="1400" b="0">
                <a:solidFill>
                  <a:srgbClr val="000000"/>
                </a:solidFill>
                <a:latin typeface="맑은 고딕"/>
                <a:ea typeface="맑은 고딕"/>
              </a:rPr>
              <a:t> 도메인 모델</a:t>
            </a:r>
          </a:p>
          <a:p>
            <a:pPr lvl="1" marL="355600" indent="0">
              <a:spcBef>
                <a:spcPts val="300"/>
              </a:spcBef>
              <a:spcAft>
                <a:spcPts val="300"/>
              </a:spcAft>
              <a:buNone/>
            </a:pPr>
            <a:r>
              <a:rPr sz="1600" b="0">
                <a:solidFill>
                  <a:srgbClr val="000000"/>
                </a:solidFill>
                <a:latin typeface="맑은 고딕"/>
                <a:ea typeface="맑은 고딕"/>
              </a:rPr>
              <a:t>56. 실습 —</a:t>
            </a:r>
            <a:r>
              <a:rPr sz="1400" b="0">
                <a:solidFill>
                  <a:srgbClr val="000000"/>
                </a:solidFill>
                <a:latin typeface="맑은 고딕"/>
                <a:ea typeface="맑은 고딕"/>
              </a:rPr>
              <a:t> 검토 예시</a:t>
            </a:r>
          </a:p>
          <a:p>
            <a:pPr lvl="1" marL="355600" indent="0">
              <a:spcBef>
                <a:spcPts val="300"/>
              </a:spcBef>
              <a:spcAft>
                <a:spcPts val="300"/>
              </a:spcAft>
              <a:buNone/>
            </a:pPr>
            <a:r>
              <a:rPr sz="1600" b="0">
                <a:solidFill>
                  <a:srgbClr val="000000"/>
                </a:solidFill>
                <a:latin typeface="맑은 고딕"/>
                <a:ea typeface="맑은 고딕"/>
              </a:rPr>
              <a:t>57. 요약</a:t>
            </a:r>
          </a:p>
        </p:txBody>
      </p:sp>
    </p:spTree>
    <p:extLst>
      <p:ext uri="{BB962C8B-B14F-4D97-AF65-F5344CB8AC3E}">
        <p14:creationId xmlns:p14="http://schemas.microsoft.com/office/powerpoint/2010/main" val="11981010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문제영역에 </a:t>
            </a:r>
            <a:r>
              <a:rPr sz="1800" b="1">
                <a:solidFill>
                  <a:srgbClr val="000000"/>
                </a:solidFill>
                <a:latin typeface="맑은 고딕"/>
                <a:ea typeface="맑은 고딕"/>
              </a:rPr>
              <a:t>무엇이 존재하고, 어떤 정보를 가지며, 서로 어떻게 관계하는지</a:t>
            </a:r>
            <a:r>
              <a:rPr sz="1800" b="0">
                <a:solidFill>
                  <a:srgbClr val="000000"/>
                </a:solidFill>
                <a:latin typeface="맑은 고딕"/>
                <a:ea typeface="맑은 고딕"/>
              </a:rPr>
              <a:t>를 구현과 분리된 정적 모델로 명시하고 검토한다.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 분석의 </a:t>
            </a:r>
            <a:r>
              <a:rPr sz="1800" b="1">
                <a:solidFill>
                  <a:srgbClr val="000000"/>
                </a:solidFill>
                <a:latin typeface="맑은 고딕"/>
                <a:ea typeface="맑은 고딕"/>
              </a:rPr>
              <a:t>명세서·정제된 SSD·계약</a:t>
            </a:r>
            <a:r>
              <a:rPr sz="1800" b="0">
                <a:solidFill>
                  <a:srgbClr val="000000"/>
                </a:solidFill>
                <a:latin typeface="맑은 고딕"/>
                <a:ea typeface="맑은 고딕"/>
              </a:rPr>
              <a:t>을 입력으로 개념을 찾고, 발견한 것을 그 산출물에 되돌린다.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정적 모델과 동적 모델, 상태 </a:t>
            </a:r>
            <a:r>
              <a:rPr sz="1800" b="1">
                <a:solidFill>
                  <a:srgbClr val="000000"/>
                </a:solidFill>
                <a:latin typeface="맑은 고딕"/>
                <a:ea typeface="맑은 고딕"/>
              </a:rPr>
              <a:t>값</a:t>
            </a:r>
            <a:r>
              <a:rPr sz="1800" b="0">
                <a:solidFill>
                  <a:srgbClr val="000000"/>
                </a:solidFill>
                <a:latin typeface="맑은 고딕"/>
                <a:ea typeface="맑은 고딕"/>
              </a:rPr>
              <a:t>과 상태 </a:t>
            </a:r>
            <a:r>
              <a:rPr sz="1800" b="1">
                <a:solidFill>
                  <a:srgbClr val="000000"/>
                </a:solidFill>
                <a:latin typeface="맑은 고딕"/>
                <a:ea typeface="맑은 고딕"/>
              </a:rPr>
              <a:t>전이</a:t>
            </a:r>
            <a:r>
              <a:rPr sz="1800" b="0">
                <a:solidFill>
                  <a:srgbClr val="000000"/>
                </a:solidFill>
                <a:latin typeface="맑은 고딕"/>
                <a:ea typeface="맑은 고딕"/>
              </a:rPr>
              <a:t>를 구분한다.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모델을 </a:t>
            </a:r>
            <a:r>
              <a:rPr sz="1800" b="1">
                <a:solidFill>
                  <a:srgbClr val="000000"/>
                </a:solidFill>
                <a:latin typeface="맑은 고딕"/>
                <a:ea typeface="맑은 고딕"/>
              </a:rPr>
              <a:t>기술 요소 없는 개념 모델</a:t>
            </a:r>
            <a:r>
              <a:rPr sz="1800" b="0">
                <a:solidFill>
                  <a:srgbClr val="000000"/>
                </a:solidFill>
                <a:latin typeface="맑은 고딕"/>
                <a:ea typeface="맑은 고딕"/>
              </a:rPr>
              <a:t>로 위치 짓고, 데이터 모델링</a:t>
            </a:r>
            <a:r>
              <a:rPr sz="1400" b="0">
                <a:solidFill>
                  <a:srgbClr val="000000"/>
                </a:solidFill>
                <a:latin typeface="맑은 고딕"/>
                <a:ea typeface="맑은 고딕"/>
              </a:rPr>
              <a:t>(ERD)</a:t>
            </a:r>
            <a:r>
              <a:rPr sz="1800" b="0">
                <a:solidFill>
                  <a:srgbClr val="000000"/>
                </a:solidFill>
                <a:latin typeface="맑은 고딕"/>
                <a:ea typeface="맑은 고딕"/>
              </a:rPr>
              <a:t>과의 대응을 설명한다.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명사를 기계적으로 옮기지 않고 </a:t>
            </a:r>
            <a:r>
              <a:rPr sz="1800" b="1">
                <a:solidFill>
                  <a:srgbClr val="000000"/>
                </a:solidFill>
                <a:latin typeface="맑은 고딕"/>
                <a:ea typeface="맑은 고딕"/>
              </a:rPr>
              <a:t>도메인 개념</a:t>
            </a:r>
            <a:r>
              <a:rPr sz="1800" b="0">
                <a:solidFill>
                  <a:srgbClr val="000000"/>
                </a:solidFill>
                <a:latin typeface="맑은 고딕"/>
                <a:ea typeface="맑은 고딕"/>
              </a:rPr>
              <a:t>과 </a:t>
            </a:r>
            <a:r>
              <a:rPr sz="1800" b="1">
                <a:solidFill>
                  <a:srgbClr val="000000"/>
                </a:solidFill>
                <a:latin typeface="맑은 고딕"/>
                <a:ea typeface="맑은 고딕"/>
              </a:rPr>
              <a:t>속성</a:t>
            </a:r>
            <a:r>
              <a:rPr sz="1800" b="0">
                <a:solidFill>
                  <a:srgbClr val="000000"/>
                </a:solidFill>
                <a:latin typeface="맑은 고딕"/>
                <a:ea typeface="맑은 고딕"/>
              </a:rPr>
              <a:t>을 식별한다.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속성 도메인</a:t>
            </a:r>
            <a:r>
              <a:rPr sz="1800" b="0">
                <a:solidFill>
                  <a:srgbClr val="000000"/>
                </a:solidFill>
                <a:latin typeface="맑은 고딕"/>
                <a:ea typeface="맑은 고딕"/>
              </a:rPr>
              <a:t>과 속성 수준 업무 규칙을 모델에 명시한다.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연관</a:t>
            </a:r>
            <a:r>
              <a:rPr sz="1800" b="0">
                <a:solidFill>
                  <a:srgbClr val="000000"/>
                </a:solidFill>
                <a:latin typeface="맑은 고딕"/>
                <a:ea typeface="맑은 고딕"/>
              </a:rPr>
              <a:t>과 </a:t>
            </a:r>
            <a:r>
              <a:rPr sz="1800" b="1">
                <a:solidFill>
                  <a:srgbClr val="000000"/>
                </a:solidFill>
                <a:latin typeface="맑은 고딕"/>
                <a:ea typeface="맑은 고딕"/>
              </a:rPr>
              <a:t>다중성</a:t>
            </a:r>
            <a:r>
              <a:rPr sz="1800" b="0">
                <a:solidFill>
                  <a:srgbClr val="000000"/>
                </a:solidFill>
                <a:latin typeface="맑은 고딕"/>
                <a:ea typeface="맑은 고딕"/>
              </a:rPr>
              <a:t>으로 관계와 업무 규칙을 드러낸다.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용어를 정렬하고 </a:t>
            </a:r>
            <a:r>
              <a:rPr sz="1800" b="1">
                <a:solidFill>
                  <a:srgbClr val="000000"/>
                </a:solidFill>
                <a:latin typeface="맑은 고딕"/>
                <a:ea typeface="맑은 고딕"/>
              </a:rPr>
              <a:t>개념적 도메인 모델</a:t>
            </a:r>
            <a:r>
              <a:rPr sz="1800" b="0">
                <a:solidFill>
                  <a:srgbClr val="000000"/>
                </a:solidFill>
                <a:latin typeface="맑은 고딕"/>
                <a:ea typeface="맑은 고딕"/>
              </a:rPr>
              <a:t>을 작성한다.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시나리오와 교차검토해 </a:t>
            </a:r>
            <a:r>
              <a:rPr sz="1800" b="1">
                <a:solidFill>
                  <a:srgbClr val="000000"/>
                </a:solidFill>
                <a:latin typeface="맑은 고딕"/>
                <a:ea typeface="맑은 고딕"/>
              </a:rPr>
              <a:t>누락과 모순</a:t>
            </a:r>
            <a:r>
              <a:rPr sz="1800" b="0">
                <a:solidFill>
                  <a:srgbClr val="000000"/>
                </a:solidFill>
                <a:latin typeface="맑은 고딕"/>
                <a:ea typeface="맑은 고딕"/>
              </a:rPr>
              <a:t>을 찾고, 정적 모델링의 </a:t>
            </a:r>
            <a:r>
              <a:rPr sz="1800" b="1">
                <a:solidFill>
                  <a:srgbClr val="000000"/>
                </a:solidFill>
                <a:latin typeface="맑은 고딕"/>
                <a:ea typeface="맑은 고딕"/>
              </a:rPr>
              <a:t>잘못된 관행</a:t>
            </a:r>
            <a:r>
              <a:rPr sz="1800" b="0">
                <a:solidFill>
                  <a:srgbClr val="000000"/>
                </a:solidFill>
                <a:latin typeface="맑은 고딕"/>
                <a:ea typeface="맑은 고딕"/>
              </a:rPr>
              <a:t>을 피한다.</a:t>
            </a:r>
          </a:p>
        </p:txBody>
      </p:sp>
    </p:spTree>
    <p:extLst>
      <p:ext uri="{BB962C8B-B14F-4D97-AF65-F5344CB8AC3E}">
        <p14:creationId xmlns:p14="http://schemas.microsoft.com/office/powerpoint/2010/main" val="35554366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02. 요구와 정적 모델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357073"/>
          <a:ext cx="8305800" cy="3873500"/>
        </p:xfrm>
        <a:graphic>
          <a:graphicData uri="http://schemas.openxmlformats.org/drawingml/2006/table">
            <a:tbl>
              <a:tblPr/>
              <a:tblGrid>
                <a:gridCol w="1262260"/>
                <a:gridCol w="4704208"/>
                <a:gridCol w="2339332"/>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입력</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정적 모델에서 찾는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4826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 명세서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취소 결과 — "주문이 취소 상태이고, 결제 금액 전액의 환불이 완료된다"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 값, 환불 개념, 결제–환불 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정제된 SSD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장바구니에 담는다(상품, 수량), 배송을 요청한다(주문, 배송지)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이벤트 파라미터의 개념·속성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오퍼레이션 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변경 — "해당 주문의 배송지가 새 주소다. 상품·결제 금액은 같다"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속성과 속성 도메인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295353"/>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"02. 요구 분석과 유스케이스"의 </a:t>
            </a:r>
            <a:r>
              <a:rPr sz="1800" b="1">
                <a:solidFill>
                  <a:srgbClr val="000000"/>
                </a:solidFill>
                <a:latin typeface="맑은 고딕"/>
                <a:ea typeface="맑은 고딕"/>
              </a:rPr>
              <a:t>유스케이스 명세서·정제된 SSD·오퍼레이션 계약</a:t>
            </a:r>
            <a:r>
              <a:rPr sz="1800" b="0">
                <a:solidFill>
                  <a:srgbClr val="000000"/>
                </a:solidFill>
                <a:latin typeface="맑은 고딕"/>
                <a:ea typeface="맑은 고딕"/>
              </a:rPr>
              <a:t>이 이 세션의 </a:t>
            </a:r>
            <a:r>
              <a:rPr sz="1800" b="1">
                <a:solidFill>
                  <a:srgbClr val="000000"/>
                </a:solidFill>
                <a:latin typeface="맑은 고딕"/>
                <a:ea typeface="맑은 고딕"/>
              </a:rPr>
              <a:t>입력</a:t>
            </a:r>
            <a:r>
              <a:rPr sz="1800" b="0">
                <a:solidFill>
                  <a:srgbClr val="000000"/>
                </a:solidFill>
                <a:latin typeface="맑은 고딕"/>
                <a:ea typeface="맑은 고딕"/>
              </a:rPr>
              <a:t>이다. 그 안의 용어와 사후조건을 설명하려면 문제영역에 </a:t>
            </a:r>
            <a:r>
              <a:rPr sz="1800" b="1">
                <a:solidFill>
                  <a:srgbClr val="000000"/>
                </a:solidFill>
                <a:latin typeface="맑은 고딕"/>
                <a:ea typeface="맑은 고딕"/>
              </a:rPr>
              <a:t>무엇이 존재하고 어떻게 연결되는지</a:t>
            </a:r>
            <a:r>
              <a:rPr sz="1800" b="0">
                <a:solidFill>
                  <a:srgbClr val="000000"/>
                </a:solidFill>
                <a:latin typeface="맑은 고딕"/>
                <a:ea typeface="맑은 고딕"/>
              </a:rPr>
              <a:t>가 먼저 정해져야 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893773"/>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모델을 그리다 발견한 누락·모순은 입력 산출물로 </a:t>
            </a:r>
            <a:r>
              <a:rPr sz="1800" b="1">
                <a:solidFill>
                  <a:srgbClr val="000000"/>
                </a:solidFill>
                <a:latin typeface="맑은 고딕"/>
                <a:ea typeface="맑은 고딕"/>
              </a:rPr>
              <a:t>되돌려</a:t>
            </a:r>
            <a:r>
              <a:rPr sz="1800" b="0">
                <a:solidFill>
                  <a:srgbClr val="000000"/>
                </a:solidFill>
                <a:latin typeface="맑은 고딕"/>
                <a:ea typeface="맑은 고딕"/>
              </a:rPr>
              <a:t> 보완한다. 별도의 문서를 만들지 않는다.</a:t>
            </a:r>
          </a:p>
        </p:txBody>
      </p:sp>
      <p:pic>
        <p:nvPicPr>
          <p:cNvPr id="15" name="mermaid Diagram 1"/>
          <p:cNvPicPr>
            <a:picLocks noChangeAspect="1"/>
          </p:cNvPicPr>
          <p:nvPr/>
        </p:nvPicPr>
        <p:blipFill>
          <a:blip r:embed="mermaidImage1"/>
          <a:stretch>
            <a:fillRect/>
          </a:stretch>
        </p:blipFill>
        <p:spPr>
          <a:xfrm>
            <a:off x="1256062" y="4999172"/>
            <a:ext cx="6618288" cy="1126331"/>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03. 도메인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도메인</a:t>
            </a:r>
            <a:r>
              <a:rPr sz="1400" b="0">
                <a:solidFill>
                  <a:srgbClr val="000000"/>
                </a:solidFill>
                <a:latin typeface="맑은 고딕"/>
                <a:ea typeface="맑은 고딕"/>
              </a:rPr>
              <a:t>(Domain)</a:t>
            </a:r>
            <a:r>
              <a:rPr sz="1800" b="0">
                <a:solidFill>
                  <a:srgbClr val="000000"/>
                </a:solidFill>
                <a:latin typeface="맑은 고딕"/>
                <a:ea typeface="맑은 고딕"/>
              </a:rPr>
              <a:t>은 소프트웨어가 다루는 </a:t>
            </a:r>
            <a:r>
              <a:rPr sz="1800" b="1">
                <a:solidFill>
                  <a:srgbClr val="000000"/>
                </a:solidFill>
                <a:latin typeface="맑은 고딕"/>
                <a:ea typeface="맑은 고딕"/>
              </a:rPr>
              <a:t>지식·활동·관심의 영역</a:t>
            </a:r>
            <a:r>
              <a:rPr sz="1800" b="0">
                <a:solidFill>
                  <a:srgbClr val="000000"/>
                </a:solidFill>
                <a:latin typeface="맑은 고딕"/>
                <a:ea typeface="맑은 고딕"/>
              </a:rPr>
              <a:t>이다. 분석은 먼저 </a:t>
            </a:r>
            <a:r>
              <a:rPr sz="1800" b="1">
                <a:solidFill>
                  <a:srgbClr val="000000"/>
                </a:solidFill>
                <a:latin typeface="맑은 고딕"/>
                <a:ea typeface="맑은 고딕"/>
              </a:rPr>
              <a:t>문제영역</a:t>
            </a:r>
            <a:r>
              <a:rPr sz="1800" b="0">
                <a:solidFill>
                  <a:srgbClr val="000000"/>
                </a:solidFill>
                <a:latin typeface="맑은 고딕"/>
                <a:ea typeface="맑은 고딕"/>
              </a:rPr>
              <a:t>을 이해하고, 기술 선택은 뒤로 미룬다.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문제영역</a:t>
            </a:r>
            <a:r>
              <a:rPr sz="1800" b="0">
                <a:solidFill>
                  <a:srgbClr val="000000"/>
                </a:solidFill>
                <a:latin typeface="맑은 고딕"/>
                <a:ea typeface="맑은 고딕"/>
              </a:rPr>
              <a:t> —</a:t>
            </a:r>
            <a:r>
              <a:rPr sz="1600" b="0">
                <a:solidFill>
                  <a:srgbClr val="000000"/>
                </a:solidFill>
                <a:latin typeface="맑은 고딕"/>
                <a:ea typeface="맑은 고딕"/>
              </a:rPr>
              <a:t> 고객, 주문, 상품, 결제, 환불, 배송지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해결 영역</a:t>
            </a:r>
            <a:r>
              <a:rPr sz="1800" b="0">
                <a:solidFill>
                  <a:srgbClr val="000000"/>
                </a:solidFill>
                <a:latin typeface="맑은 고딕"/>
                <a:ea typeface="맑은 고딕"/>
              </a:rPr>
              <a:t> —</a:t>
            </a:r>
            <a:r>
              <a:rPr sz="1600" b="0">
                <a:solidFill>
                  <a:srgbClr val="000000"/>
                </a:solidFill>
                <a:latin typeface="맑은 고딕"/>
                <a:ea typeface="맑은 고딕"/>
              </a:rPr>
              <a:t> 화면, API, 테이블, 메시지 큐, 프레임워크</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시스템의 도메인은 프로그램이 아니라 </a:t>
            </a:r>
            <a:r>
              <a:rPr sz="1800" b="1">
                <a:solidFill>
                  <a:srgbClr val="000000"/>
                </a:solidFill>
                <a:latin typeface="맑은 고딕"/>
                <a:ea typeface="맑은 고딕"/>
              </a:rPr>
              <a:t>주문하고, 결제하고, 취소·환불하고, 배송받는 업무</a:t>
            </a:r>
            <a:r>
              <a:rPr sz="1800" b="0">
                <a:solidFill>
                  <a:srgbClr val="000000"/>
                </a:solidFill>
                <a:latin typeface="맑은 고딕"/>
                <a:ea typeface="맑은 고딕"/>
              </a:rPr>
              <a:t>다.</a:t>
            </a:r>
          </a:p>
        </p:txBody>
      </p:sp>
    </p:spTree>
    <p:extLst>
      <p:ext uri="{BB962C8B-B14F-4D97-AF65-F5344CB8AC3E}">
        <p14:creationId xmlns:p14="http://schemas.microsoft.com/office/powerpoint/2010/main" val="35554366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04. 정적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정적 모델</a:t>
            </a:r>
            <a:r>
              <a:rPr sz="1400" b="0">
                <a:solidFill>
                  <a:srgbClr val="000000"/>
                </a:solidFill>
                <a:latin typeface="맑은 고딕"/>
                <a:ea typeface="맑은 고딕"/>
              </a:rPr>
              <a:t>(Static Model)</a:t>
            </a:r>
            <a:r>
              <a:rPr sz="1800" b="0">
                <a:solidFill>
                  <a:srgbClr val="000000"/>
                </a:solidFill>
                <a:latin typeface="맑은 고딕"/>
                <a:ea typeface="맑은 고딕"/>
              </a:rPr>
              <a:t>은 </a:t>
            </a:r>
            <a:r>
              <a:rPr sz="1800" b="1">
                <a:solidFill>
                  <a:srgbClr val="000000"/>
                </a:solidFill>
                <a:latin typeface="맑은 고딕"/>
                <a:ea typeface="맑은 고딕"/>
              </a:rPr>
              <a:t>구현과 분리해</a:t>
            </a:r>
            <a:r>
              <a:rPr sz="1800" b="0">
                <a:solidFill>
                  <a:srgbClr val="000000"/>
                </a:solidFill>
                <a:latin typeface="맑은 고딕"/>
                <a:ea typeface="맑은 고딕"/>
              </a:rPr>
              <a:t> 문제영역의 </a:t>
            </a:r>
            <a:r>
              <a:rPr sz="1800" b="1">
                <a:solidFill>
                  <a:srgbClr val="000000"/>
                </a:solidFill>
                <a:latin typeface="맑은 고딕"/>
                <a:ea typeface="맑은 고딕"/>
              </a:rPr>
              <a:t>개념과 관계</a:t>
            </a:r>
            <a:r>
              <a:rPr sz="1800" b="0">
                <a:solidFill>
                  <a:srgbClr val="000000"/>
                </a:solidFill>
                <a:latin typeface="맑은 고딕"/>
                <a:ea typeface="맑은 고딕"/>
              </a:rPr>
              <a:t>를 이해하고 검토하는 모델이다.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"모델은 </a:t>
            </a:r>
            <a:r>
              <a:rPr sz="1800" b="1">
                <a:solidFill>
                  <a:srgbClr val="000000"/>
                </a:solidFill>
                <a:latin typeface="맑은 고딕"/>
                <a:ea typeface="맑은 고딕"/>
              </a:rPr>
              <a:t>단순화</a:t>
            </a:r>
            <a:r>
              <a:rPr sz="1800" b="0">
                <a:solidFill>
                  <a:srgbClr val="000000"/>
                </a:solidFill>
                <a:latin typeface="맑은 고딕"/>
                <a:ea typeface="맑은 고딕"/>
              </a:rPr>
              <a:t>다. 당면한 문제를 해결하는 데 관련된 측면을 추상화하고 불필요한 세부는 무시하는 현실의 해석이다"</a:t>
            </a:r>
            <a:r>
              <a:rPr sz="1000" b="0">
                <a:solidFill>
                  <a:srgbClr val="000000"/>
                </a:solidFill>
                <a:latin typeface="맑은 고딕"/>
                <a:ea typeface="맑은 고딕"/>
              </a:rPr>
              <a:t>, </a:t>
            </a:r>
            <a:r>
              <a:rPr sz="1000" b="0">
                <a:solidFill>
                  <a:srgbClr val="000000"/>
                </a:solidFill>
                <a:latin typeface="맑은 고딕"/>
                <a:ea typeface="맑은 고딕"/>
              </a:rPr>
              <a:t>"A model is a simplification. It is an interpretation of reality that abstracts the aspects relevant to solving the problem at hand and ignores extraneous detail."</a:t>
            </a:r>
            <a:r>
              <a:rPr sz="1000" b="0">
                <a:solidFill>
                  <a:srgbClr val="000000"/>
                </a:solidFill>
                <a:latin typeface="맑은 고딕"/>
                <a:ea typeface="맑은 고딕"/>
              </a:rPr>
              <a:t>, </a:t>
            </a:r>
            <a:r>
              <a:rPr sz="1000" b="0">
                <a:solidFill>
                  <a:srgbClr val="000000"/>
                </a:solidFill>
                <a:latin typeface="맑은 고딕"/>
                <a:ea typeface="맑은 고딕"/>
              </a:rPr>
              <a:t>Eric Evans, 2003, www</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어떤 </a:t>
            </a:r>
            <a:r>
              <a:rPr sz="1800" b="1">
                <a:solidFill>
                  <a:srgbClr val="000000"/>
                </a:solidFill>
                <a:latin typeface="맑은 고딕"/>
                <a:ea typeface="맑은 고딕"/>
              </a:rPr>
              <a:t>개념</a:t>
            </a:r>
            <a:r>
              <a:rPr sz="1800" b="0">
                <a:solidFill>
                  <a:srgbClr val="000000"/>
                </a:solidFill>
                <a:latin typeface="맑은 고딕"/>
                <a:ea typeface="맑은 고딕"/>
              </a:rPr>
              <a:t>이 존재하는가?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각 개념은 어떤 </a:t>
            </a:r>
            <a:r>
              <a:rPr sz="1800" b="1">
                <a:solidFill>
                  <a:srgbClr val="000000"/>
                </a:solidFill>
                <a:latin typeface="맑은 고딕"/>
                <a:ea typeface="맑은 고딕"/>
              </a:rPr>
              <a:t>정보</a:t>
            </a:r>
            <a:r>
              <a:rPr sz="1800" b="0">
                <a:solidFill>
                  <a:srgbClr val="000000"/>
                </a:solidFill>
                <a:latin typeface="맑은 고딕"/>
                <a:ea typeface="맑은 고딕"/>
              </a:rPr>
              <a:t>를 가지는가?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개념들은 어떤 </a:t>
            </a:r>
            <a:r>
              <a:rPr sz="1800" b="1">
                <a:solidFill>
                  <a:srgbClr val="000000"/>
                </a:solidFill>
                <a:latin typeface="맑은 고딕"/>
                <a:ea typeface="맑은 고딕"/>
              </a:rPr>
              <a:t>관계</a:t>
            </a:r>
            <a:r>
              <a:rPr sz="1800" b="0">
                <a:solidFill>
                  <a:srgbClr val="000000"/>
                </a:solidFill>
                <a:latin typeface="맑은 고딕"/>
                <a:ea typeface="맑은 고딕"/>
              </a:rPr>
              <a:t>로, 몇 개씩 연결되는가?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항상 지켜져야 하는 </a:t>
            </a:r>
            <a:r>
              <a:rPr sz="1800" b="1">
                <a:solidFill>
                  <a:srgbClr val="000000"/>
                </a:solidFill>
                <a:latin typeface="맑은 고딕"/>
                <a:ea typeface="맑은 고딕"/>
              </a:rPr>
              <a:t>제약</a:t>
            </a:r>
            <a:r>
              <a:rPr sz="1800" b="0">
                <a:solidFill>
                  <a:srgbClr val="000000"/>
                </a:solidFill>
                <a:latin typeface="맑은 고딕"/>
                <a:ea typeface="맑은 고딕"/>
              </a:rPr>
              <a:t>은 무엇인가?</a:t>
            </a:r>
          </a:p>
        </p:txBody>
      </p:sp>
    </p:spTree>
    <p:extLst>
      <p:ext uri="{BB962C8B-B14F-4D97-AF65-F5344CB8AC3E}">
        <p14:creationId xmlns:p14="http://schemas.microsoft.com/office/powerpoint/2010/main" val="35554366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05. 정적·동적 모델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71156" y="1842998"/>
          <a:ext cx="6388100" cy="3873500"/>
        </p:xfrm>
        <a:graphic>
          <a:graphicData uri="http://schemas.openxmlformats.org/drawingml/2006/table">
            <a:tbl>
              <a:tblPr/>
              <a:tblGrid>
                <a:gridCol w="889000"/>
                <a:gridCol w="2735580"/>
                <a:gridCol w="276352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정적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동적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질문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무엇이 존재하고 어떻게 관계하는가?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무엇이 어떤 순서로 일어나는가?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 속성, 연관, 다중성, 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이벤트, 상호작용, 상태 전이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표기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클래스 다이어그램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시퀀스·상태 기계 다이어그램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정적 모델은 </a:t>
            </a:r>
            <a:r>
              <a:rPr sz="1800" b="1">
                <a:solidFill>
                  <a:srgbClr val="000000"/>
                </a:solidFill>
                <a:latin typeface="맑은 고딕"/>
                <a:ea typeface="맑은 고딕"/>
              </a:rPr>
              <a:t>무엇이 존재하는지</a:t>
            </a:r>
            <a:r>
              <a:rPr sz="1800" b="0">
                <a:solidFill>
                  <a:srgbClr val="000000"/>
                </a:solidFill>
                <a:latin typeface="맑은 고딕"/>
                <a:ea typeface="맑은 고딕"/>
              </a:rPr>
              <a:t>, 동적 모델은 </a:t>
            </a:r>
            <a:r>
              <a:rPr sz="1800" b="1">
                <a:solidFill>
                  <a:srgbClr val="000000"/>
                </a:solidFill>
                <a:latin typeface="맑은 고딕"/>
                <a:ea typeface="맑은 고딕"/>
              </a:rPr>
              <a:t>무엇이 일어나는지</a:t>
            </a:r>
            <a:r>
              <a:rPr sz="1800" b="0">
                <a:solidFill>
                  <a:srgbClr val="000000"/>
                </a:solidFill>
                <a:latin typeface="맑은 고딕"/>
                <a:ea typeface="맑은 고딕"/>
              </a:rPr>
              <a:t>를 보여준다. 두 모델은 </a:t>
            </a:r>
            <a:r>
              <a:rPr sz="1800" b="1">
                <a:solidFill>
                  <a:srgbClr val="000000"/>
                </a:solidFill>
                <a:latin typeface="맑은 고딕"/>
                <a:ea typeface="맑은 고딕"/>
              </a:rPr>
              <a:t>서로를 검증</a:t>
            </a:r>
            <a:r>
              <a:rPr sz="1800" b="0">
                <a:solidFill>
                  <a:srgbClr val="000000"/>
                </a:solidFill>
                <a:latin typeface="맑은 고딕"/>
                <a:ea typeface="맑은 고딕"/>
              </a:rPr>
              <a:t>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- 7 -</a:t>
            </a:r>
          </a:p>
        </p:txBody>
      </p:sp>
    </p:spTree>
    <p:extLst>
      <p:ext uri="{BB962C8B-B14F-4D97-AF65-F5344CB8AC3E}">
        <p14:creationId xmlns:p14="http://schemas.microsoft.com/office/powerpoint/2010/main" val="27895694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06. 상태 값과 상태 전이 </a:t>
            </a:r>
            <a:r>
              <a:rPr sz="2000" b="1">
                <a:solidFill>
                  <a:srgbClr val="000000"/>
                </a:solidFill>
                <a:latin typeface="맑은 고딕"/>
                <a:ea typeface="맑은 고딕"/>
              </a:rPr>
              <a:t>(1/3)</a:t>
            </a:r>
          </a:p>
          <a:p>
            <a:r>
              <a:rPr sz="1100" b="1">
                <a:solidFill>
                  <a:srgbClr val="000000"/>
                </a:solidFill>
                <a:latin typeface="맑은 고딕"/>
                <a:ea typeface="맑은 고딕"/>
              </a:rPr>
              <a:t>클래스·상태 기계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상태는 정적이기도 하고 동적이기도 하다. 어떤 </a:t>
            </a:r>
            <a:r>
              <a:rPr sz="1800" b="1">
                <a:solidFill>
                  <a:srgbClr val="000000"/>
                </a:solidFill>
                <a:latin typeface="맑은 고딕"/>
                <a:ea typeface="맑은 고딕"/>
              </a:rPr>
              <a:t>상태 값</a:t>
            </a:r>
            <a:r>
              <a:rPr sz="1800" b="0">
                <a:solidFill>
                  <a:srgbClr val="000000"/>
                </a:solidFill>
                <a:latin typeface="맑은 고딕"/>
                <a:ea typeface="맑은 고딕"/>
              </a:rPr>
              <a:t>이 있는지는 정적 모델이, 어떤 사건이 상태를 </a:t>
            </a:r>
            <a:r>
              <a:rPr sz="1800" b="1">
                <a:solidFill>
                  <a:srgbClr val="000000"/>
                </a:solidFill>
                <a:latin typeface="맑은 고딕"/>
                <a:ea typeface="맑은 고딕"/>
              </a:rPr>
              <a:t>바꾸는지</a:t>
            </a:r>
            <a:r>
              <a:rPr sz="1800" b="0">
                <a:solidFill>
                  <a:srgbClr val="000000"/>
                </a:solidFill>
                <a:latin typeface="맑은 고딕"/>
                <a:ea typeface="맑은 고딕"/>
              </a:rPr>
              <a:t>는 동적 모델이 표현한다.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정적 질문</a:t>
            </a:r>
            <a:r>
              <a:rPr sz="1800" b="0">
                <a:solidFill>
                  <a:srgbClr val="000000"/>
                </a:solidFill>
                <a:latin typeface="맑은 고딕"/>
                <a:ea typeface="맑은 고딕"/>
              </a:rPr>
              <a:t> —</a:t>
            </a:r>
            <a:r>
              <a:rPr sz="1600" b="0">
                <a:solidFill>
                  <a:srgbClr val="000000"/>
                </a:solidFill>
                <a:latin typeface="맑은 고딕"/>
                <a:ea typeface="맑은 고딕"/>
              </a:rPr>
              <a:t> 가능한 값은? "배송 시작 전"과 "출고 전"은 같은 경계인가?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열거형</a:t>
            </a:r>
            <a:r>
              <a:rPr sz="1400" b="0">
                <a:solidFill>
                  <a:srgbClr val="000000"/>
                </a:solidFill>
                <a:latin typeface="맑은 고딕"/>
                <a:ea typeface="맑은 고딕"/>
              </a:rPr>
              <a:t>(«enumeration»)</a:t>
            </a:r>
            <a:r>
              <a:rPr sz="1800" b="0">
                <a:solidFill>
                  <a:srgbClr val="000000"/>
                </a:solidFill>
                <a:latin typeface="맑은 고딕"/>
                <a:ea typeface="맑은 고딕"/>
              </a:rPr>
              <a:t> —</a:t>
            </a:r>
            <a:r>
              <a:rPr sz="1600" b="0">
                <a:solidFill>
                  <a:srgbClr val="000000"/>
                </a:solidFill>
                <a:latin typeface="맑은 고딕"/>
                <a:ea typeface="맑은 고딕"/>
              </a:rPr>
              <a:t> 가능한 값을 칸에 나열한 값의 종류다. 속성의 값의 종류로 쓴다(</a:t>
            </a:r>
            <a:r>
              <a:rPr sz="1600" b="0">
                <a:solidFill>
                  <a:srgbClr val="000000"/>
                </a:solidFill>
                <a:latin typeface="맑은 고딕"/>
                <a:ea typeface="맑은 고딕"/>
              </a:rPr>
              <a:t>주문 상태 : 주문 상태</a:t>
            </a:r>
            <a:r>
              <a:rPr sz="1600" b="0">
                <a:solidFill>
                  <a:srgbClr val="000000"/>
                </a:solidFill>
                <a:latin typeface="맑은 고딕"/>
                <a:ea typeface="맑은 고딕"/>
              </a:rPr>
              <a:t>).</a:t>
            </a:r>
          </a:p>
        </p:txBody>
      </p:sp>
    </p:spTree>
    <p:extLst>
      <p:ext uri="{BB962C8B-B14F-4D97-AF65-F5344CB8AC3E}">
        <p14:creationId xmlns:p14="http://schemas.microsoft.com/office/powerpoint/2010/main" val="35554366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06. 상태 값과 상태 전이 </a:t>
            </a:r>
            <a:r>
              <a:rPr sz="2000" b="1">
                <a:solidFill>
                  <a:srgbClr val="000000"/>
                </a:solidFill>
                <a:latin typeface="맑은 고딕"/>
                <a:ea typeface="맑은 고딕"/>
              </a:rPr>
              <a:t>(2/3)</a:t>
            </a:r>
          </a:p>
          <a:p>
            <a:r>
              <a:rPr sz="1100" b="1">
                <a:solidFill>
                  <a:srgbClr val="000000"/>
                </a:solidFill>
                <a:latin typeface="맑은 고딕"/>
                <a:ea typeface="맑은 고딕"/>
              </a:rPr>
              <a:t>클래스·상태 기계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"객체의 상태는 그 객체가 속한 분류자의 </a:t>
            </a:r>
            <a:r>
              <a:rPr sz="1800" b="1">
                <a:solidFill>
                  <a:srgbClr val="000000"/>
                </a:solidFill>
                <a:latin typeface="맑은 고딕"/>
                <a:ea typeface="맑은 고딕"/>
              </a:rPr>
              <a:t>속성 값</a:t>
            </a:r>
            <a:r>
              <a:rPr sz="1800" b="0">
                <a:solidFill>
                  <a:srgbClr val="000000"/>
                </a:solidFill>
                <a:latin typeface="맑은 고딕"/>
                <a:ea typeface="맑은 고딕"/>
              </a:rPr>
              <a:t>으로 식별된다"</a:t>
            </a:r>
            <a:r>
              <a:rPr sz="1000" b="0">
                <a:solidFill>
                  <a:srgbClr val="000000"/>
                </a:solidFill>
                <a:latin typeface="맑은 고딕"/>
                <a:ea typeface="맑은 고딕"/>
              </a:rPr>
              <a:t>, </a:t>
            </a:r>
            <a:r>
              <a:rPr sz="1000" b="0">
                <a:solidFill>
                  <a:srgbClr val="000000"/>
                </a:solidFill>
                <a:latin typeface="맑은 고딕"/>
                <a:ea typeface="맑은 고딕"/>
              </a:rPr>
              <a:t>"The state of an object identifies the values for that object of properties of the classifier of the object."</a:t>
            </a:r>
            <a:r>
              <a:rPr sz="1000" b="0">
                <a:solidFill>
                  <a:srgbClr val="000000"/>
                </a:solidFill>
                <a:latin typeface="맑은 고딕"/>
                <a:ea typeface="맑은 고딕"/>
              </a:rPr>
              <a:t>, </a:t>
            </a:r>
            <a:r>
              <a:rPr sz="1000" b="0">
                <a:solidFill>
                  <a:srgbClr val="000000"/>
                </a:solidFill>
                <a:latin typeface="맑은 고딕"/>
                <a:ea typeface="맑은 고딕"/>
              </a:rPr>
              <a:t>Object Management Group, 2017</a:t>
            </a:r>
          </a:p>
        </p:txBody>
      </p:sp>
      <p:pic>
        <p:nvPicPr>
          <p:cNvPr id="9" name="plantuml Diagram 1"/>
          <p:cNvPicPr>
            <a:picLocks noChangeAspect="1"/>
          </p:cNvPicPr>
          <p:nvPr/>
        </p:nvPicPr>
        <p:blipFill>
          <a:blip r:embed="plantumlImage1"/>
          <a:stretch>
            <a:fillRect/>
          </a:stretch>
        </p:blipFill>
        <p:spPr>
          <a:xfrm>
            <a:off x="3520831" y="2125188"/>
            <a:ext cx="2102338" cy="399756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06. 상태 값과 상태 전이 </a:t>
            </a:r>
            <a:r>
              <a:rPr sz="2000" b="1">
                <a:solidFill>
                  <a:srgbClr val="000000"/>
                </a:solidFill>
                <a:latin typeface="맑은 고딕"/>
                <a:ea typeface="맑은 고딕"/>
              </a:rPr>
              <a:t>(3/3)</a:t>
            </a:r>
          </a:p>
          <a:p>
            <a:r>
              <a:rPr sz="1100" b="1">
                <a:solidFill>
                  <a:srgbClr val="000000"/>
                </a:solidFill>
                <a:latin typeface="맑은 고딕"/>
                <a:ea typeface="맑은 고딕"/>
              </a:rPr>
              <a:t>클래스·상태 기계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동적 질문</a:t>
            </a:r>
            <a:r>
              <a:rPr sz="1800" b="0">
                <a:solidFill>
                  <a:srgbClr val="000000"/>
                </a:solidFill>
                <a:latin typeface="맑은 고딕"/>
                <a:ea typeface="맑은 고딕"/>
              </a:rPr>
              <a:t> —</a:t>
            </a:r>
            <a:r>
              <a:rPr sz="1600" b="0">
                <a:solidFill>
                  <a:srgbClr val="000000"/>
                </a:solidFill>
                <a:latin typeface="맑은 고딕"/>
                <a:ea typeface="맑은 고딕"/>
              </a:rPr>
              <a:t> 어떤 사건이 상태를 바꾸는가? 어떤 전이가 금지되는가?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"상태 기계는 시스템 일부의 </a:t>
            </a:r>
            <a:r>
              <a:rPr sz="1800" b="1">
                <a:solidFill>
                  <a:srgbClr val="000000"/>
                </a:solidFill>
                <a:latin typeface="맑은 고딕"/>
                <a:ea typeface="맑은 고딕"/>
              </a:rPr>
              <a:t>사건 주도 행위</a:t>
            </a:r>
            <a:r>
              <a:rPr sz="1800" b="0">
                <a:solidFill>
                  <a:srgbClr val="000000"/>
                </a:solidFill>
                <a:latin typeface="맑은 고딕"/>
                <a:ea typeface="맑은 고딕"/>
              </a:rPr>
              <a:t>를 표현하는 데 사용할 수 있다"</a:t>
            </a:r>
            <a:r>
              <a:rPr sz="1000" b="0">
                <a:solidFill>
                  <a:srgbClr val="000000"/>
                </a:solidFill>
                <a:latin typeface="맑은 고딕"/>
                <a:ea typeface="맑은 고딕"/>
              </a:rPr>
              <a:t>, </a:t>
            </a:r>
            <a:r>
              <a:rPr sz="1000" b="0">
                <a:solidFill>
                  <a:srgbClr val="000000"/>
                </a:solidFill>
                <a:latin typeface="맑은 고딕"/>
                <a:ea typeface="맑은 고딕"/>
              </a:rPr>
              <a:t>"StateMachines can be used to express event-driven behaviors of parts of a system."</a:t>
            </a:r>
            <a:r>
              <a:rPr sz="1000" b="0">
                <a:solidFill>
                  <a:srgbClr val="000000"/>
                </a:solidFill>
                <a:latin typeface="맑은 고딕"/>
                <a:ea typeface="맑은 고딕"/>
              </a:rPr>
              <a:t>, </a:t>
            </a:r>
            <a:r>
              <a:rPr sz="1000" b="0">
                <a:solidFill>
                  <a:srgbClr val="000000"/>
                </a:solidFill>
                <a:latin typeface="맑은 고딕"/>
                <a:ea typeface="맑은 고딕"/>
              </a:rPr>
              <a:t>Object Management Group, 2017</a:t>
            </a:r>
          </a:p>
        </p:txBody>
      </p:sp>
      <p:pic>
        <p:nvPicPr>
          <p:cNvPr id="9" name="plantuml Diagram 2"/>
          <p:cNvPicPr>
            <a:picLocks noChangeAspect="1"/>
          </p:cNvPicPr>
          <p:nvPr/>
        </p:nvPicPr>
        <p:blipFill>
          <a:blip r:embed="plantumlImage2"/>
          <a:stretch>
            <a:fillRect/>
          </a:stretch>
        </p:blipFill>
        <p:spPr>
          <a:xfrm>
            <a:off x="3368431" y="3327194"/>
            <a:ext cx="2407138" cy="2375877"/>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07. 도메인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도메인 모델</a:t>
            </a:r>
            <a:r>
              <a:rPr sz="1400" b="0">
                <a:solidFill>
                  <a:srgbClr val="000000"/>
                </a:solidFill>
                <a:latin typeface="맑은 고딕"/>
                <a:ea typeface="맑은 고딕"/>
              </a:rPr>
              <a:t>(Domain Model)</a:t>
            </a:r>
            <a:r>
              <a:rPr sz="1800" b="0">
                <a:solidFill>
                  <a:srgbClr val="000000"/>
                </a:solidFill>
                <a:latin typeface="맑은 고딕"/>
                <a:ea typeface="맑은 고딕"/>
              </a:rPr>
              <a:t>은 문제영역의 </a:t>
            </a:r>
            <a:r>
              <a:rPr sz="1800" b="1">
                <a:solidFill>
                  <a:srgbClr val="000000"/>
                </a:solidFill>
                <a:latin typeface="맑은 고딕"/>
                <a:ea typeface="맑은 고딕"/>
              </a:rPr>
              <a:t>개념 클래스</a:t>
            </a:r>
            <a:r>
              <a:rPr sz="1400" b="0">
                <a:solidFill>
                  <a:srgbClr val="000000"/>
                </a:solidFill>
                <a:latin typeface="맑은 고딕"/>
                <a:ea typeface="맑은 고딕"/>
              </a:rPr>
              <a:t>(Conceptual Class)</a:t>
            </a:r>
            <a:r>
              <a:rPr sz="1800" b="0">
                <a:solidFill>
                  <a:srgbClr val="000000"/>
                </a:solidFill>
                <a:latin typeface="맑은 고딕"/>
                <a:ea typeface="맑은 고딕"/>
              </a:rPr>
              <a:t>와 그 속성·연관을 시각화한 정적 모델이다.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관심 영역의 </a:t>
            </a:r>
            <a:r>
              <a:rPr sz="1800" b="1">
                <a:solidFill>
                  <a:srgbClr val="000000"/>
                </a:solidFill>
                <a:latin typeface="맑은 고딕"/>
                <a:ea typeface="맑은 고딕"/>
              </a:rPr>
              <a:t>개념 클래스</a:t>
            </a:r>
            <a:r>
              <a:rPr sz="1800" b="0">
                <a:solidFill>
                  <a:srgbClr val="000000"/>
                </a:solidFill>
                <a:latin typeface="맑은 고딕"/>
                <a:ea typeface="맑은 고딕"/>
              </a:rPr>
              <a:t> 또는 실세계 객체를 시각적으로 표현한 것이다"</a:t>
            </a:r>
            <a:r>
              <a:rPr sz="1000" b="0">
                <a:solidFill>
                  <a:srgbClr val="000000"/>
                </a:solidFill>
                <a:latin typeface="맑은 고딕"/>
                <a:ea typeface="맑은 고딕"/>
              </a:rPr>
              <a:t>, </a:t>
            </a:r>
            <a:r>
              <a:rPr sz="1000" b="0">
                <a:solidFill>
                  <a:srgbClr val="000000"/>
                </a:solidFill>
                <a:latin typeface="맑은 고딕"/>
                <a:ea typeface="맑은 고딕"/>
              </a:rPr>
              <a:t>"A domain model is a visual representation of conceptual classes or real-world objects in a domain of interest."</a:t>
            </a:r>
            <a:r>
              <a:rPr sz="1000" b="0">
                <a:solidFill>
                  <a:srgbClr val="000000"/>
                </a:solidFill>
                <a:latin typeface="맑은 고딕"/>
                <a:ea typeface="맑은 고딕"/>
              </a:rPr>
              <a:t>, </a:t>
            </a:r>
            <a:r>
              <a:rPr sz="1000" b="0">
                <a:solidFill>
                  <a:srgbClr val="000000"/>
                </a:solidFill>
                <a:latin typeface="맑은 고딕"/>
                <a:ea typeface="맑은 고딕"/>
              </a:rPr>
              <a:t>Craig Larman, 2002</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실세계 개념 클래스를 표현한 것이지 </a:t>
            </a:r>
            <a:r>
              <a:rPr sz="1800" b="1">
                <a:solidFill>
                  <a:srgbClr val="000000"/>
                </a:solidFill>
                <a:latin typeface="맑은 고딕"/>
                <a:ea typeface="맑은 고딕"/>
              </a:rPr>
              <a:t>소프트웨어 컴포넌트</a:t>
            </a:r>
            <a:r>
              <a:rPr sz="1800" b="0">
                <a:solidFill>
                  <a:srgbClr val="000000"/>
                </a:solidFill>
                <a:latin typeface="맑은 고딕"/>
                <a:ea typeface="맑은 고딕"/>
              </a:rPr>
              <a:t>를 표현한 것이 아니다"</a:t>
            </a:r>
            <a:r>
              <a:rPr sz="1000" b="0">
                <a:solidFill>
                  <a:srgbClr val="000000"/>
                </a:solidFill>
                <a:latin typeface="맑은 고딕"/>
                <a:ea typeface="맑은 고딕"/>
              </a:rPr>
              <a:t>, </a:t>
            </a:r>
            <a:r>
              <a:rPr sz="1000" b="0">
                <a:solidFill>
                  <a:srgbClr val="000000"/>
                </a:solidFill>
                <a:latin typeface="맑은 고딕"/>
                <a:ea typeface="맑은 고딕"/>
              </a:rPr>
              <a:t>"A domain model is a representation of real-world conceptual classes, not of software components."</a:t>
            </a:r>
            <a:r>
              <a:rPr sz="1000" b="0">
                <a:solidFill>
                  <a:srgbClr val="000000"/>
                </a:solidFill>
                <a:latin typeface="맑은 고딕"/>
                <a:ea typeface="맑은 고딕"/>
              </a:rPr>
              <a:t>, </a:t>
            </a:r>
            <a:r>
              <a:rPr sz="1000" b="0">
                <a:solidFill>
                  <a:srgbClr val="000000"/>
                </a:solidFill>
                <a:latin typeface="맑은 고딕"/>
                <a:ea typeface="맑은 고딕"/>
              </a:rPr>
              <a:t>Craig Larman, 2002</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문제영역의 </a:t>
            </a:r>
            <a:r>
              <a:rPr sz="1800" b="1">
                <a:solidFill>
                  <a:srgbClr val="000000"/>
                </a:solidFill>
                <a:latin typeface="맑은 고딕"/>
                <a:ea typeface="맑은 고딕"/>
              </a:rPr>
              <a:t>시각적 사전</a:t>
            </a:r>
            <a:r>
              <a:rPr sz="1800" b="0">
                <a:solidFill>
                  <a:srgbClr val="000000"/>
                </a:solidFill>
                <a:latin typeface="맑은 고딕"/>
                <a:ea typeface="맑은 고딕"/>
              </a:rPr>
              <a:t>이다. 설계의 영감이 될 수 있지만 설계 클래스로 그대로 옮기지 않는다.</a:t>
            </a:r>
          </a:p>
        </p:txBody>
      </p:sp>
    </p:spTree>
    <p:extLst>
      <p:ext uri="{BB962C8B-B14F-4D97-AF65-F5344CB8AC3E}">
        <p14:creationId xmlns:p14="http://schemas.microsoft.com/office/powerpoint/2010/main" val="35554366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08. 도메인 모델의 위치</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00036"/>
          <a:ext cx="8305800" cy="3873500"/>
        </p:xfrm>
        <a:graphic>
          <a:graphicData uri="http://schemas.openxmlformats.org/drawingml/2006/table">
            <a:tbl>
              <a:tblPr/>
              <a:tblGrid>
                <a:gridCol w="1775911"/>
                <a:gridCol w="2452124"/>
                <a:gridCol w="2953022"/>
                <a:gridCol w="1124744"/>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층</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주문의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기술 요소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개념 모델 (도메인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개념·속성·연관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주문 항목,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설계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클래스·책임·메시지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클래스와 그 책임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언어·구조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물리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테이블·키·인덱스, API·메시지 형식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테이블, 주문 식별 키, 주문 응답 형식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DB·프레임워크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도메인 모델은 </a:t>
            </a:r>
            <a:r>
              <a:rPr sz="1800" b="1">
                <a:solidFill>
                  <a:srgbClr val="000000"/>
                </a:solidFill>
                <a:latin typeface="맑은 고딕"/>
                <a:ea typeface="맑은 고딕"/>
              </a:rPr>
              <a:t>기술 요소가 없는 개념 모델</a:t>
            </a:r>
            <a:r>
              <a:rPr sz="1800" b="0">
                <a:solidFill>
                  <a:srgbClr val="000000"/>
                </a:solidFill>
                <a:latin typeface="맑은 고딕"/>
                <a:ea typeface="맑은 고딕"/>
              </a:rPr>
              <a:t>이다. 그래야 기술이 바뀌어도 </a:t>
            </a:r>
            <a:r>
              <a:rPr sz="1800" b="1">
                <a:solidFill>
                  <a:srgbClr val="000000"/>
                </a:solidFill>
                <a:latin typeface="맑은 고딕"/>
                <a:ea typeface="맑은 고딕"/>
              </a:rPr>
              <a:t>의미를 검토하는 기준</a:t>
            </a:r>
            <a:r>
              <a:rPr sz="1800" b="0">
                <a:solidFill>
                  <a:srgbClr val="000000"/>
                </a:solidFill>
                <a:latin typeface="맑은 고딕"/>
                <a:ea typeface="맑은 고딕"/>
              </a:rPr>
              <a:t>으로 남는다. 같은 "주문"이라도 층마다 표현이 다르다.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- 12 -</a:t>
            </a:r>
          </a:p>
        </p:txBody>
      </p:sp>
    </p:spTree>
    <p:extLst>
      <p:ext uri="{BB962C8B-B14F-4D97-AF65-F5344CB8AC3E}">
        <p14:creationId xmlns:p14="http://schemas.microsoft.com/office/powerpoint/2010/main" val="27895694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09. 클래스 다이어그램 </a:t>
            </a:r>
            <a:r>
              <a:rPr sz="2000" b="1">
                <a:solidFill>
                  <a:srgbClr val="000000"/>
                </a:solidFill>
                <a:latin typeface="맑은 고딕"/>
                <a:ea typeface="맑은 고딕"/>
              </a:rPr>
              <a:t>(1/2)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4076579"/>
          <a:ext cx="8305800" cy="3873500"/>
        </p:xfrm>
        <a:graphic>
          <a:graphicData uri="http://schemas.openxmlformats.org/drawingml/2006/table">
            <a:tbl>
              <a:tblPr/>
              <a:tblGrid>
                <a:gridCol w="1932734"/>
                <a:gridCol w="2668659"/>
                <a:gridCol w="3704407"/>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개념 — 이름 있는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문제영역에서 구분해 이야기하는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업무에서 쓰는 단수 명사로 이름 짓는다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속성 — 사각형 안의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개념이 가지는 단순한 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이름 : 값의 종류로 쓴다. 타입은 업무 값의 종류로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연관 — 실선과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기억하거나 이해할 가치가 있는 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동사구로 이름 짓고 읽는 방향(&gt;)을 표시한다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다중성 — 양 끝의 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상대와 몇 개씩 관계하는가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 0..1, 0..*, 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오퍼레이션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쓰지 않는다. 책임과 메서드는 설계에서 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도메인 모델은 UML </a:t>
            </a:r>
            <a:r>
              <a:rPr sz="1800" b="1">
                <a:solidFill>
                  <a:srgbClr val="000000"/>
                </a:solidFill>
                <a:latin typeface="맑은 고딕"/>
                <a:ea typeface="맑은 고딕"/>
              </a:rPr>
              <a:t>클래스 다이어그램 표기</a:t>
            </a:r>
            <a:r>
              <a:rPr sz="1800" b="0">
                <a:solidFill>
                  <a:srgbClr val="000000"/>
                </a:solidFill>
                <a:latin typeface="맑은 고딕"/>
                <a:ea typeface="맑은 고딕"/>
              </a:rPr>
              <a:t>를 빌리지만, 각 사각형은 소프트웨어 클래스가 아니라 </a:t>
            </a:r>
            <a:r>
              <a:rPr sz="1800" b="1">
                <a:solidFill>
                  <a:srgbClr val="000000"/>
                </a:solidFill>
                <a:latin typeface="맑은 고딕"/>
                <a:ea typeface="맑은 고딕"/>
              </a:rPr>
              <a:t>개념</a:t>
            </a:r>
            <a:r>
              <a:rPr sz="1800" b="0">
                <a:solidFill>
                  <a:srgbClr val="000000"/>
                </a:solidFill>
                <a:latin typeface="맑은 고딕"/>
                <a:ea typeface="맑은 고딕"/>
              </a:rPr>
              <a:t>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450738"/>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표기와 사용법</a:t>
            </a:r>
          </a:p>
        </p:txBody>
      </p:sp>
      <p:pic>
        <p:nvPicPr>
          <p:cNvPr id="15" name="svg Diagram 1" descr="클래스 다이어그램 표기: 개념과 속성, 연관과 다중성, 일반화, 합성, 열거형"/>
          <p:cNvPicPr>
            <a:picLocks noChangeAspect="1"/>
          </p:cNvPicPr>
          <p:nvPr/>
        </p:nvPicPr>
        <p:blipFill>
          <a:blip r:embed="svgImage1"/>
          <a:stretch>
            <a:fillRect/>
          </a:stretch>
        </p:blipFill>
        <p:spPr>
          <a:xfrm>
            <a:off x="1290987" y="1842998"/>
            <a:ext cx="6548438" cy="1506141"/>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09. 클래스 다이어그램 </a:t>
            </a:r>
            <a:r>
              <a:rPr sz="2000" b="1">
                <a:solidFill>
                  <a:srgbClr val="000000"/>
                </a:solidFill>
                <a:latin typeface="맑은 고딕"/>
                <a:ea typeface="맑은 고딕"/>
              </a:rPr>
              <a:t>(2/2)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1585960"/>
          <a:ext cx="8305800" cy="3873500"/>
        </p:xfrm>
        <a:graphic>
          <a:graphicData uri="http://schemas.openxmlformats.org/drawingml/2006/table">
            <a:tbl>
              <a:tblPr/>
              <a:tblGrid>
                <a:gridCol w="1643057"/>
                <a:gridCol w="2227473"/>
                <a:gridCol w="443527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4826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일반화 — 빈 삼각형 화살표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특수 개념이 일반 개념의 한 종류다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특수 → 일반 방향. 일반 개념의 정의가 모두 적용될 때만 쓴다(「35. 일반화」)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4826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합성 — 채운 마름모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부분이 전체에 속하고 생애를 함께한다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마름모를 전체 쪽에 둔다(「36. 전체와 부분」)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4826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열거형 — «enumeration»</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정해진 값의 목록인 값의 종류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속성의 값의 종류로 쓴다(「06. 상태 값과 상태 전이」)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파생 속성 —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다른 값에서 계산되는 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주문 총액처럼 이름 앞에 붙인다(「23. 파생 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연관 클래스 — 점선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 자체가 가지는 정보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연관선의 가운데에서 점선으로 잇는다(「31. 연관 클래스」)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제약 — {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언제나 참이어야 하는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{수량은 1 이상}처럼 중괄호 메모로 붙인다(「37. 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관계와 값의 표기</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405360"/>
            <a:ext cx="8412480" cy="524240"/>
          </a:xfrm>
          <a:prstGeom prst="rect">
            <a:avLst/>
          </a:prstGeom>
          <a:noFill/>
        </p:spPr>
        <p:txBody>
          <a:bodyPr wrap="square">
            <a:spAutoFit/>
          </a:bodyPr>
          <a:lstStyle/>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고객과 주문을 클래스 다이어그램으로 그린 예다.</a:t>
            </a:r>
          </a:p>
        </p:txBody>
      </p:sp>
      <p:pic>
        <p:nvPicPr>
          <p:cNvPr id="15" name="plantuml Diagram 3"/>
          <p:cNvPicPr>
            <a:picLocks noChangeAspect="1"/>
          </p:cNvPicPr>
          <p:nvPr/>
        </p:nvPicPr>
        <p:blipFill>
          <a:blip r:embed="plantumlImage3"/>
          <a:stretch>
            <a:fillRect/>
          </a:stretch>
        </p:blipFill>
        <p:spPr>
          <a:xfrm>
            <a:off x="2896647" y="5066760"/>
            <a:ext cx="3337118" cy="1245705"/>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10. 정보공학과 데이터 모델링</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020635" y="2801048"/>
          <a:ext cx="7089140" cy="3873500"/>
        </p:xfrm>
        <a:graphic>
          <a:graphicData uri="http://schemas.openxmlformats.org/drawingml/2006/table">
            <a:tbl>
              <a:tblPr/>
              <a:tblGrid>
                <a:gridCol w="1450340"/>
                <a:gridCol w="2875280"/>
                <a:gridCol w="276352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단계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초점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개념 데이터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핵심 엔티티와 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고객–주문–상품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논리 데이터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속성·식별자·관계의 카디널리티·정규화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주문(주문번호, 주문일시, 주문상태)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물리 데이터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테이블·컬럼 타입·인덱스·성능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테이블과 인덱스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정보공학의 데이터 모델링은 업무 정보를 </a:t>
            </a:r>
            <a:r>
              <a:rPr sz="1800" b="1">
                <a:solidFill>
                  <a:srgbClr val="000000"/>
                </a:solidFill>
                <a:latin typeface="맑은 고딕"/>
                <a:ea typeface="맑은 고딕"/>
              </a:rPr>
              <a:t>엔티티·속성·관계</a:t>
            </a:r>
            <a:r>
              <a:rPr sz="1800" b="0">
                <a:solidFill>
                  <a:srgbClr val="000000"/>
                </a:solidFill>
                <a:latin typeface="맑은 고딕"/>
                <a:ea typeface="맑은 고딕"/>
              </a:rPr>
              <a:t>로 표현하고, 개념 → 논리 → 물리 모델로 구체화한다.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"개체–관계 모델은 현실 세계가 </a:t>
            </a:r>
            <a:r>
              <a:rPr sz="1800" b="1">
                <a:solidFill>
                  <a:srgbClr val="000000"/>
                </a:solidFill>
                <a:latin typeface="맑은 고딕"/>
                <a:ea typeface="맑은 고딕"/>
              </a:rPr>
              <a:t>개체와 관계</a:t>
            </a:r>
            <a:r>
              <a:rPr sz="1800" b="0">
                <a:solidFill>
                  <a:srgbClr val="000000"/>
                </a:solidFill>
                <a:latin typeface="맑은 고딕"/>
                <a:ea typeface="맑은 고딕"/>
              </a:rPr>
              <a:t>로 이루어져 있다는 더 자연스러운 관점을 취한다"</a:t>
            </a:r>
            <a:r>
              <a:rPr sz="1000" b="0">
                <a:solidFill>
                  <a:srgbClr val="000000"/>
                </a:solidFill>
                <a:latin typeface="맑은 고딕"/>
                <a:ea typeface="맑은 고딕"/>
              </a:rPr>
              <a:t>, </a:t>
            </a:r>
            <a:r>
              <a:rPr sz="1000" b="0">
                <a:solidFill>
                  <a:srgbClr val="000000"/>
                </a:solidFill>
                <a:latin typeface="맑은 고딕"/>
                <a:ea typeface="맑은 고딕"/>
              </a:rPr>
              <a:t>"The entity-relationship model adopts the more natural view that the real world consists of entities and relationships."</a:t>
            </a:r>
            <a:r>
              <a:rPr sz="1000" b="0">
                <a:solidFill>
                  <a:srgbClr val="000000"/>
                </a:solidFill>
                <a:latin typeface="맑은 고딕"/>
                <a:ea typeface="맑은 고딕"/>
              </a:rPr>
              <a:t>, </a:t>
            </a:r>
            <a:r>
              <a:rPr sz="1000" b="0">
                <a:solidFill>
                  <a:srgbClr val="000000"/>
                </a:solidFill>
                <a:latin typeface="맑은 고딕"/>
                <a:ea typeface="맑은 고딕"/>
              </a:rPr>
              <a:t>Peter Pin-Shan Chen, 1976</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- 15 -</a:t>
            </a:r>
          </a:p>
        </p:txBody>
      </p:sp>
    </p:spTree>
    <p:extLst>
      <p:ext uri="{BB962C8B-B14F-4D97-AF65-F5344CB8AC3E}">
        <p14:creationId xmlns:p14="http://schemas.microsoft.com/office/powerpoint/2010/main" val="27895694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11. 데이터 모델과 도메인 모델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05166" y="2649162"/>
          <a:ext cx="5720080" cy="3873500"/>
        </p:xfrm>
        <a:graphic>
          <a:graphicData uri="http://schemas.openxmlformats.org/drawingml/2006/table">
            <a:tbl>
              <a:tblPr/>
              <a:tblGrid>
                <a:gridCol w="1310640"/>
                <a:gridCol w="2092960"/>
                <a:gridCol w="231648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판단</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논리 데이터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도메인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목적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정보를 일관되게 저장·관리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개념과 규칙을 이해·합의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식별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식별자·키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식별자와 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속성 없는 개념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대개 제외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의미가 있으면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행위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다루지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이후 책임·협력의 근거가 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좋은 데이터 모델은 좋은 도메인 모델의 출발점이다.</a:t>
            </a:r>
            <a:r>
              <a:rPr sz="1800" b="0">
                <a:solidFill>
                  <a:srgbClr val="000000"/>
                </a:solidFill>
                <a:latin typeface="맑은 고딕"/>
                <a:ea typeface="맑은 고딕"/>
              </a:rPr>
              <a:t> 목적은 다르지만 뿌리는 같다. 도메인 모델링은 그 위에 </a:t>
            </a:r>
            <a:r>
              <a:rPr sz="1800" b="1">
                <a:solidFill>
                  <a:srgbClr val="000000"/>
                </a:solidFill>
                <a:latin typeface="맑은 고딕"/>
                <a:ea typeface="맑은 고딕"/>
              </a:rPr>
              <a:t>의미·규칙·책임의 자리</a:t>
            </a:r>
            <a:r>
              <a:rPr sz="1800" b="0">
                <a:solidFill>
                  <a:srgbClr val="000000"/>
                </a:solidFill>
                <a:latin typeface="맑은 고딕"/>
                <a:ea typeface="맑은 고딕"/>
              </a:rPr>
              <a:t>를 더한다.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a:t>
            </a:r>
            <a:r>
              <a:rPr sz="1800" b="1">
                <a:solidFill>
                  <a:srgbClr val="000000"/>
                </a:solidFill>
                <a:latin typeface="맑은 고딕"/>
                <a:ea typeface="맑은 고딕"/>
              </a:rPr>
              <a:t>데이터 모델이 아니다</a:t>
            </a:r>
            <a:r>
              <a:rPr sz="18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"Domain models are not data models."</a:t>
            </a:r>
            <a:r>
              <a:rPr sz="1000" b="0">
                <a:solidFill>
                  <a:srgbClr val="000000"/>
                </a:solidFill>
                <a:latin typeface="맑은 고딕"/>
                <a:ea typeface="맑은 고딕"/>
              </a:rPr>
              <a:t>, </a:t>
            </a:r>
            <a:r>
              <a:rPr sz="1000" b="0">
                <a:solidFill>
                  <a:srgbClr val="000000"/>
                </a:solidFill>
                <a:latin typeface="맑은 고딕"/>
                <a:ea typeface="맑은 고딕"/>
              </a:rPr>
              <a:t>Craig Larman, 2002</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- 16 -</a:t>
            </a:r>
          </a:p>
        </p:txBody>
      </p:sp>
    </p:spTree>
    <p:extLst>
      <p:ext uri="{BB962C8B-B14F-4D97-AF65-F5344CB8AC3E}">
        <p14:creationId xmlns:p14="http://schemas.microsoft.com/office/powerpoint/2010/main" val="27895694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12. 모델 요소의 대응</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51496" y="1842998"/>
          <a:ext cx="6027420" cy="3873500"/>
        </p:xfrm>
        <a:graphic>
          <a:graphicData uri="http://schemas.openxmlformats.org/drawingml/2006/table">
            <a:tbl>
              <a:tblPr/>
              <a:tblGrid>
                <a:gridCol w="1534160"/>
                <a:gridCol w="1450340"/>
                <a:gridCol w="304292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ERD</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도메인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도메인 모델에서 달라지는 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엔티티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저장 대상이 아니어도 개념이 될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컬럼 타입보다 값의 종류와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이름과 읽는 방향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카디널리티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다중성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업무 규칙이다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교차(연결) 엔티티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 클래스·개념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관계 자체의 정보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슈퍼·서브타입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일반화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의미와 규칙을 이어받는다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외래키·대리 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연관이 대신한다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도메인(값의 범위)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값의 종류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 수준 업무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ERD의 요소는 대부분 도메인 모델의 요소와 </a:t>
            </a:r>
            <a:r>
              <a:rPr sz="1800" b="1">
                <a:solidFill>
                  <a:srgbClr val="000000"/>
                </a:solidFill>
                <a:latin typeface="맑은 고딕"/>
                <a:ea typeface="맑은 고딕"/>
              </a:rPr>
              <a:t>대응</a:t>
            </a:r>
            <a:r>
              <a:rPr sz="1800" b="0">
                <a:solidFill>
                  <a:srgbClr val="000000"/>
                </a:solidFill>
                <a:latin typeface="맑은 고딕"/>
                <a:ea typeface="맑은 고딕"/>
              </a:rPr>
              <a:t>한다. 차이는 물리 요소를 빼고 의미를 더하는 데 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- 17 -</a:t>
            </a:r>
          </a:p>
        </p:txBody>
      </p:sp>
    </p:spTree>
    <p:extLst>
      <p:ext uri="{BB962C8B-B14F-4D97-AF65-F5344CB8AC3E}">
        <p14:creationId xmlns:p14="http://schemas.microsoft.com/office/powerpoint/2010/main" val="27895694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13. 같은 사례, 두 모델 </a:t>
            </a:r>
            <a:r>
              <a:rPr sz="2000" b="1">
                <a:solidFill>
                  <a:srgbClr val="000000"/>
                </a:solidFill>
                <a:latin typeface="맑은 고딕"/>
                <a:ea typeface="맑은 고딕"/>
              </a:rPr>
              <a:t>(1/3)</a:t>
            </a:r>
          </a:p>
          <a:p>
            <a:r>
              <a:rPr sz="1100" b="1">
                <a:solidFill>
                  <a:srgbClr val="000000"/>
                </a:solidFill>
                <a:latin typeface="맑은 고딕"/>
                <a:ea typeface="맑은 고딕"/>
              </a:rPr>
              <a:t>ERD·클래스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3909230"/>
          <a:ext cx="8305800" cy="3873500"/>
        </p:xfrm>
        <a:graphic>
          <a:graphicData uri="http://schemas.openxmlformats.org/drawingml/2006/table">
            <a:tbl>
              <a:tblPr/>
              <a:tblGrid>
                <a:gridCol w="1791620"/>
                <a:gridCol w="2252196"/>
                <a:gridCol w="2640050"/>
                <a:gridCol w="1621934"/>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도메인 모델에서는</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정확히 하나 — 두 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반드시 하나와 관계한다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관계선의 상대 쪽 끝에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없거나 하나 — 원과 한 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관계가 없어도 되고, 있으면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원은 "없어도 된다"(선택), 줄은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0개 이상 — 원과 까마귀발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없거나 여럿과 관계한다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까마귀발은 "여럿"</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1개 이상 — 줄과 까마귀발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적어도 하나, 여럿일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줄은 "반드시"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식별자 — ●, 구분선 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엔터티 하나를 구별하는 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구분선 위에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식별자만 속성으로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외래키 — (FK)</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다른 엔터티의 식별자를 가진 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관계를 속성으로 구현한다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속성이 아니라 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같은 주문 사례를 </a:t>
            </a:r>
            <a:r>
              <a:rPr sz="1800" b="1">
                <a:solidFill>
                  <a:srgbClr val="000000"/>
                </a:solidFill>
                <a:latin typeface="맑은 고딕"/>
                <a:ea typeface="맑은 고딕"/>
              </a:rPr>
              <a:t>논리 데이터 모델</a:t>
            </a:r>
            <a:r>
              <a:rPr sz="1800" b="0">
                <a:solidFill>
                  <a:srgbClr val="000000"/>
                </a:solidFill>
                <a:latin typeface="맑은 고딕"/>
                <a:ea typeface="맑은 고딕"/>
              </a:rPr>
              <a:t>과 </a:t>
            </a:r>
            <a:r>
              <a:rPr sz="1800" b="1">
                <a:solidFill>
                  <a:srgbClr val="000000"/>
                </a:solidFill>
                <a:latin typeface="맑은 고딕"/>
                <a:ea typeface="맑은 고딕"/>
              </a:rPr>
              <a:t>도메인 모델</a:t>
            </a:r>
            <a:r>
              <a:rPr sz="1800" b="0">
                <a:solidFill>
                  <a:srgbClr val="000000"/>
                </a:solidFill>
                <a:latin typeface="맑은 고딕"/>
                <a:ea typeface="맑은 고딕"/>
              </a:rPr>
              <a:t>로 그려 비교한다. 데이터 모델은 관계의 수를 </a:t>
            </a:r>
            <a:r>
              <a:rPr sz="1800" b="1">
                <a:solidFill>
                  <a:srgbClr val="000000"/>
                </a:solidFill>
                <a:latin typeface="맑은 고딕"/>
                <a:ea typeface="맑은 고딕"/>
              </a:rPr>
              <a:t>까마귀발 표기</a:t>
            </a:r>
            <a:r>
              <a:rPr sz="1800" b="0">
                <a:solidFill>
                  <a:srgbClr val="000000"/>
                </a:solidFill>
                <a:latin typeface="맑은 고딕"/>
                <a:ea typeface="맑은 고딕"/>
              </a:rPr>
              <a:t>로 나타낸다.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283389"/>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표기와 사용법</a:t>
            </a:r>
          </a:p>
        </p:txBody>
      </p:sp>
      <p:pic>
        <p:nvPicPr>
          <p:cNvPr id="15" name="svg Diagram 2" descr="까마귀발 표기: 정확히 하나, 없거나 하나, 0개 이상, 1개 이상, 식별자와 외래키"/>
          <p:cNvPicPr>
            <a:picLocks noChangeAspect="1"/>
          </p:cNvPicPr>
          <p:nvPr/>
        </p:nvPicPr>
        <p:blipFill>
          <a:blip r:embed="svgImage2"/>
          <a:stretch>
            <a:fillRect/>
          </a:stretch>
        </p:blipFill>
        <p:spPr>
          <a:xfrm>
            <a:off x="1654789" y="1842998"/>
            <a:ext cx="5820833" cy="1338792"/>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13. 같은 사례, 두 모델 </a:t>
            </a:r>
            <a:r>
              <a:rPr sz="2000" b="1">
                <a:solidFill>
                  <a:srgbClr val="000000"/>
                </a:solidFill>
                <a:latin typeface="맑은 고딕"/>
                <a:ea typeface="맑은 고딕"/>
              </a:rPr>
              <a:t>(2/3)</a:t>
            </a:r>
          </a:p>
          <a:p>
            <a:r>
              <a:rPr sz="1100" b="1">
                <a:solidFill>
                  <a:srgbClr val="000000"/>
                </a:solidFill>
                <a:latin typeface="맑은 고딕"/>
                <a:ea typeface="맑은 고딕"/>
              </a:rPr>
              <a:t>ERD·클래스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p:txBody>
      </p:sp>
      <p:pic>
        <p:nvPicPr>
          <p:cNvPr id="9" name="plantuml Diagram 4"/>
          <p:cNvPicPr>
            <a:picLocks noChangeAspect="1"/>
          </p:cNvPicPr>
          <p:nvPr/>
        </p:nvPicPr>
        <p:blipFill>
          <a:blip r:embed="plantumlImage4"/>
          <a:stretch>
            <a:fillRect/>
          </a:stretch>
        </p:blipFill>
        <p:spPr>
          <a:xfrm>
            <a:off x="1602154" y="1581042"/>
            <a:ext cx="5939692" cy="424766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13. 같은 사례, 두 모델 </a:t>
            </a:r>
            <a:r>
              <a:rPr sz="2000" b="1">
                <a:solidFill>
                  <a:srgbClr val="000000"/>
                </a:solidFill>
                <a:latin typeface="맑은 고딕"/>
                <a:ea typeface="맑은 고딕"/>
              </a:rPr>
              <a:t>(3/3)</a:t>
            </a:r>
          </a:p>
          <a:p>
            <a:r>
              <a:rPr sz="1100" b="1">
                <a:solidFill>
                  <a:srgbClr val="000000"/>
                </a:solidFill>
                <a:latin typeface="맑은 고딕"/>
                <a:ea typeface="맑은 고딕"/>
              </a:rPr>
              <a:t>ERD·클래스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같은 것</a:t>
            </a:r>
            <a:r>
              <a:rPr sz="1600" b="0">
                <a:solidFill>
                  <a:srgbClr val="000000"/>
                </a:solidFill>
                <a:latin typeface="맑은 고딕"/>
                <a:ea typeface="맑은 고딕"/>
              </a:rPr>
              <a:t> —</a:t>
            </a:r>
            <a:r>
              <a:rPr sz="1400" b="0">
                <a:solidFill>
                  <a:srgbClr val="000000"/>
                </a:solidFill>
                <a:latin typeface="맑은 고딕"/>
                <a:ea typeface="맑은 고딕"/>
              </a:rPr>
              <a:t> 개념, 관계, 카디널리티</a:t>
            </a:r>
            <a:r>
              <a:rPr sz="1000" b="0">
                <a:solidFill>
                  <a:srgbClr val="000000"/>
                </a:solidFill>
                <a:latin typeface="맑은 고딕"/>
                <a:ea typeface="맑은 고딕"/>
              </a:rPr>
              <a:t>(다중성)</a:t>
            </a:r>
            <a:r>
              <a:rPr sz="1400" b="0">
                <a:solidFill>
                  <a:srgbClr val="000000"/>
                </a:solidFill>
                <a:latin typeface="맑은 고딕"/>
                <a:ea typeface="맑은 고딕"/>
              </a:rPr>
              <a:t>, 주문 시점의 단가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달라진 것</a:t>
            </a:r>
            <a:r>
              <a:rPr sz="1600" b="0">
                <a:solidFill>
                  <a:srgbClr val="000000"/>
                </a:solidFill>
                <a:latin typeface="맑은 고딕"/>
                <a:ea typeface="맑은 고딕"/>
              </a:rPr>
              <a:t> —</a:t>
            </a:r>
            <a:r>
              <a:rPr sz="1400" b="0">
                <a:solidFill>
                  <a:srgbClr val="000000"/>
                </a:solidFill>
                <a:latin typeface="맑은 고딕"/>
                <a:ea typeface="맑은 고딕"/>
              </a:rPr>
              <a:t> 식별 키·외래키 대신 연관, 이름 있는 관계, 값의 종류</a:t>
            </a:r>
            <a:r>
              <a:rPr sz="1000" b="0">
                <a:solidFill>
                  <a:srgbClr val="000000"/>
                </a:solidFill>
                <a:latin typeface="맑은 고딕"/>
                <a:ea typeface="맑은 고딕"/>
              </a:rPr>
              <a:t>(금액·주소·주문 상태)</a:t>
            </a:r>
          </a:p>
        </p:txBody>
      </p:sp>
      <p:pic>
        <p:nvPicPr>
          <p:cNvPr id="9" name="plantuml Diagram 5"/>
          <p:cNvPicPr>
            <a:picLocks noChangeAspect="1"/>
          </p:cNvPicPr>
          <p:nvPr/>
        </p:nvPicPr>
        <p:blipFill>
          <a:blip r:embed="plantumlImage5"/>
          <a:stretch>
            <a:fillRect/>
          </a:stretch>
        </p:blipFill>
        <p:spPr>
          <a:xfrm>
            <a:off x="457200" y="3720390"/>
            <a:ext cx="8229600" cy="122626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14. 도메인 개념</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도메인 개념</a:t>
            </a:r>
            <a:r>
              <a:rPr sz="1400" b="0">
                <a:solidFill>
                  <a:srgbClr val="000000"/>
                </a:solidFill>
                <a:latin typeface="맑은 고딕"/>
                <a:ea typeface="맑은 고딕"/>
              </a:rPr>
              <a:t>(Domain Concept)</a:t>
            </a:r>
            <a:r>
              <a:rPr sz="1800" b="0">
                <a:solidFill>
                  <a:srgbClr val="000000"/>
                </a:solidFill>
                <a:latin typeface="맑은 고딕"/>
                <a:ea typeface="맑은 고딕"/>
              </a:rPr>
              <a:t>은 문제영역에서 </a:t>
            </a:r>
            <a:r>
              <a:rPr sz="1800" b="1">
                <a:solidFill>
                  <a:srgbClr val="000000"/>
                </a:solidFill>
                <a:latin typeface="맑은 고딕"/>
                <a:ea typeface="맑은 고딕"/>
              </a:rPr>
              <a:t>구분해 이야기하고, 그 정보나 관계가 요구에 의미를 가지는 것</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업무 담당자가 </a:t>
            </a:r>
            <a:r>
              <a:rPr sz="1800" b="1">
                <a:solidFill>
                  <a:srgbClr val="000000"/>
                </a:solidFill>
                <a:latin typeface="맑은 고딕"/>
                <a:ea typeface="맑은 고딕"/>
              </a:rPr>
              <a:t>이 이름으로</a:t>
            </a:r>
            <a:r>
              <a:rPr sz="1800" b="0">
                <a:solidFill>
                  <a:srgbClr val="000000"/>
                </a:solidFill>
                <a:latin typeface="맑은 고딕"/>
                <a:ea typeface="맑은 고딕"/>
              </a:rPr>
              <a:t> 부르는가?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다른 것과 </a:t>
            </a:r>
            <a:r>
              <a:rPr sz="1800" b="1">
                <a:solidFill>
                  <a:srgbClr val="000000"/>
                </a:solidFill>
                <a:latin typeface="맑은 고딕"/>
                <a:ea typeface="맑은 고딕"/>
              </a:rPr>
              <a:t>구분해 식별</a:t>
            </a:r>
            <a:r>
              <a:rPr sz="1800" b="0">
                <a:solidFill>
                  <a:srgbClr val="000000"/>
                </a:solidFill>
                <a:latin typeface="맑은 고딕"/>
                <a:ea typeface="맑은 고딕"/>
              </a:rPr>
              <a:t>해야 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정보나 관계를 기억</a:t>
            </a:r>
            <a:r>
              <a:rPr sz="1800" b="0">
                <a:solidFill>
                  <a:srgbClr val="000000"/>
                </a:solidFill>
                <a:latin typeface="맑은 고딕"/>
                <a:ea typeface="맑은 고딕"/>
              </a:rPr>
              <a:t>해야 하는가? </a:t>
            </a:r>
            <a:r>
              <a:rPr sz="1800" b="1">
                <a:solidFill>
                  <a:srgbClr val="000000"/>
                </a:solidFill>
                <a:latin typeface="맑은 고딕"/>
                <a:ea typeface="맑은 고딕"/>
              </a:rPr>
              <a:t>업무 규칙</a:t>
            </a:r>
            <a:r>
              <a:rPr sz="1800" b="0">
                <a:solidFill>
                  <a:srgbClr val="000000"/>
                </a:solidFill>
                <a:latin typeface="맑은 고딕"/>
                <a:ea typeface="맑은 고딕"/>
              </a:rPr>
              <a:t>이 걸리는가?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개념</a:t>
            </a:r>
            <a:r>
              <a:rPr sz="1800" b="0">
                <a:solidFill>
                  <a:srgbClr val="000000"/>
                </a:solidFill>
                <a:latin typeface="맑은 고딕"/>
                <a:ea typeface="맑은 고딕"/>
              </a:rPr>
              <a:t> —</a:t>
            </a:r>
            <a:r>
              <a:rPr sz="1600" b="0">
                <a:solidFill>
                  <a:srgbClr val="000000"/>
                </a:solidFill>
                <a:latin typeface="맑은 고딕"/>
                <a:ea typeface="맑은 고딕"/>
              </a:rPr>
              <a:t> 주문, 주문 항목, 상품, 결제, 환불, 고객</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개념이 아닌 것</a:t>
            </a:r>
            <a:r>
              <a:rPr sz="1800" b="0">
                <a:solidFill>
                  <a:srgbClr val="000000"/>
                </a:solidFill>
                <a:latin typeface="맑은 고딕"/>
                <a:ea typeface="맑은 고딕"/>
              </a:rPr>
              <a:t> —</a:t>
            </a:r>
            <a:r>
              <a:rPr sz="1600" b="0">
                <a:solidFill>
                  <a:srgbClr val="000000"/>
                </a:solidFill>
                <a:latin typeface="맑은 고딕"/>
                <a:ea typeface="맑은 고딕"/>
              </a:rPr>
              <a:t> 주문 버튼, 주문 테이블, 주문 서비스</a:t>
            </a:r>
          </a:p>
        </p:txBody>
      </p:sp>
    </p:spTree>
    <p:extLst>
      <p:ext uri="{BB962C8B-B14F-4D97-AF65-F5344CB8AC3E}">
        <p14:creationId xmlns:p14="http://schemas.microsoft.com/office/powerpoint/2010/main" val="35554366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15. 개념 범주</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87716" y="1842998"/>
          <a:ext cx="5554980" cy="3873500"/>
        </p:xfrm>
        <a:graphic>
          <a:graphicData uri="http://schemas.openxmlformats.org/drawingml/2006/table">
            <a:tbl>
              <a:tblPr/>
              <a:tblGrid>
                <a:gridCol w="1478280"/>
                <a:gridCol w="407670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범주</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도메인의 후보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거래 · 거래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결제, 환불 · 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역할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명세·설명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결제, 배송 시작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규칙·정책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정책, 환불 정책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결제·상품·회계·배송 시스템 — 개념이 아니라 지원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자주 나타나는 </a:t>
            </a:r>
            <a:r>
              <a:rPr sz="1800" b="1">
                <a:solidFill>
                  <a:srgbClr val="000000"/>
                </a:solidFill>
                <a:latin typeface="맑은 고딕"/>
                <a:ea typeface="맑은 고딕"/>
              </a:rPr>
              <a:t>개념 범주</a:t>
            </a:r>
            <a:r>
              <a:rPr sz="1800" b="0">
                <a:solidFill>
                  <a:srgbClr val="000000"/>
                </a:solidFill>
                <a:latin typeface="맑은 고딕"/>
                <a:ea typeface="맑은 고딕"/>
              </a:rPr>
              <a:t>를 점검표로 삼아 후보를 떠올린다. 후보를 </a:t>
            </a:r>
            <a:r>
              <a:rPr sz="1800" b="1">
                <a:solidFill>
                  <a:srgbClr val="000000"/>
                </a:solidFill>
                <a:latin typeface="맑은 고딕"/>
                <a:ea typeface="맑은 고딕"/>
              </a:rPr>
              <a:t>모두 모델에 넣지는 않는다</a:t>
            </a:r>
            <a:r>
              <a:rPr sz="18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- 22 -</a:t>
            </a:r>
          </a:p>
        </p:txBody>
      </p:sp>
    </p:spTree>
    <p:extLst>
      <p:ext uri="{BB962C8B-B14F-4D97-AF65-F5344CB8AC3E}">
        <p14:creationId xmlns:p14="http://schemas.microsoft.com/office/powerpoint/2010/main" val="278956947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16. 유스케이스 어휘</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유스케이스의 흐름과 사후조건에는 문제영역의 </a:t>
            </a:r>
            <a:r>
              <a:rPr sz="1800" b="1">
                <a:solidFill>
                  <a:srgbClr val="000000"/>
                </a:solidFill>
                <a:latin typeface="맑은 고딕"/>
                <a:ea typeface="맑은 고딕"/>
              </a:rPr>
              <a:t>어휘</a:t>
            </a:r>
            <a:r>
              <a:rPr sz="1800" b="0">
                <a:solidFill>
                  <a:srgbClr val="000000"/>
                </a:solidFill>
                <a:latin typeface="맑은 고딕"/>
                <a:ea typeface="맑은 고딕"/>
              </a:rPr>
              <a:t>가 이미 담겨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주목할 만한 도메인 개념과 어휘를 시각화한 것이다. 그 용어들은 어디에 있는가? </a:t>
            </a:r>
            <a:r>
              <a:rPr sz="1800" b="1">
                <a:solidFill>
                  <a:srgbClr val="000000"/>
                </a:solidFill>
                <a:latin typeface="맑은 고딕"/>
                <a:ea typeface="맑은 고딕"/>
              </a:rPr>
              <a:t>유스케이스</a:t>
            </a:r>
            <a:r>
              <a:rPr sz="1800" b="0">
                <a:solidFill>
                  <a:srgbClr val="000000"/>
                </a:solidFill>
                <a:latin typeface="맑은 고딕"/>
                <a:ea typeface="맑은 고딕"/>
              </a:rPr>
              <a:t>에 있다"</a:t>
            </a:r>
            <a:r>
              <a:rPr sz="1000" b="0">
                <a:solidFill>
                  <a:srgbClr val="000000"/>
                </a:solidFill>
                <a:latin typeface="맑은 고딕"/>
                <a:ea typeface="맑은 고딕"/>
              </a:rPr>
              <a:t>, </a:t>
            </a:r>
            <a:r>
              <a:rPr sz="1000" b="0">
                <a:solidFill>
                  <a:srgbClr val="000000"/>
                </a:solidFill>
                <a:latin typeface="맑은 고딕"/>
                <a:ea typeface="맑은 고딕"/>
              </a:rPr>
              <a:t>"The domain model is a visualization of noteworthy domain concepts and vocabulary. Where are those terms found? In the use cases."</a:t>
            </a:r>
            <a:r>
              <a:rPr sz="1000" b="0">
                <a:solidFill>
                  <a:srgbClr val="000000"/>
                </a:solidFill>
                <a:latin typeface="맑은 고딕"/>
                <a:ea typeface="맑은 고딕"/>
              </a:rPr>
              <a:t>, </a:t>
            </a:r>
            <a:r>
              <a:rPr sz="1000" b="0">
                <a:solidFill>
                  <a:srgbClr val="000000"/>
                </a:solidFill>
                <a:latin typeface="맑은 고딕"/>
                <a:ea typeface="맑은 고딕"/>
              </a:rPr>
              <a:t>Craig Larman, 2002</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취소 흐름 —</a:t>
            </a:r>
            <a:r>
              <a:rPr sz="1600" b="0">
                <a:solidFill>
                  <a:srgbClr val="000000"/>
                </a:solidFill>
                <a:latin typeface="맑은 고딕"/>
                <a:ea typeface="맑은 고딕"/>
              </a:rPr>
              <a:t> </a:t>
            </a:r>
            <a:r>
              <a:rPr sz="1600" b="1">
                <a:solidFill>
                  <a:srgbClr val="000000"/>
                </a:solidFill>
                <a:latin typeface="맑은 고딕"/>
                <a:ea typeface="맑은 고딕"/>
              </a:rPr>
              <a:t>고객</a:t>
            </a:r>
            <a:r>
              <a:rPr sz="1600" b="0">
                <a:solidFill>
                  <a:srgbClr val="000000"/>
                </a:solidFill>
                <a:latin typeface="맑은 고딕"/>
                <a:ea typeface="맑은 고딕"/>
              </a:rPr>
              <a:t>이 </a:t>
            </a:r>
            <a:r>
              <a:rPr sz="1600" b="1">
                <a:solidFill>
                  <a:srgbClr val="000000"/>
                </a:solidFill>
                <a:latin typeface="맑은 고딕"/>
                <a:ea typeface="맑은 고딕"/>
              </a:rPr>
              <a:t>주문</a:t>
            </a:r>
            <a:r>
              <a:rPr sz="1600" b="0">
                <a:solidFill>
                  <a:srgbClr val="000000"/>
                </a:solidFill>
                <a:latin typeface="맑은 고딕"/>
                <a:ea typeface="맑은 고딕"/>
              </a:rPr>
              <a:t>을 취소한다 → </a:t>
            </a:r>
            <a:r>
              <a:rPr sz="1600" b="1">
                <a:solidFill>
                  <a:srgbClr val="000000"/>
                </a:solidFill>
                <a:latin typeface="맑은 고딕"/>
                <a:ea typeface="맑은 고딕"/>
              </a:rPr>
              <a:t>환불</a:t>
            </a:r>
            <a:r>
              <a:rPr sz="1600" b="0">
                <a:solidFill>
                  <a:srgbClr val="000000"/>
                </a:solidFill>
                <a:latin typeface="맑은 고딕"/>
                <a:ea typeface="맑은 고딕"/>
              </a:rPr>
              <a:t>이 처리된다 → 고객은 </a:t>
            </a:r>
            <a:r>
              <a:rPr sz="1600" b="1">
                <a:solidFill>
                  <a:srgbClr val="000000"/>
                </a:solidFill>
                <a:latin typeface="맑은 고딕"/>
                <a:ea typeface="맑은 고딕"/>
              </a:rPr>
              <a:t>취소 결과</a:t>
            </a:r>
            <a:r>
              <a:rPr sz="1600" b="0">
                <a:solidFill>
                  <a:srgbClr val="000000"/>
                </a:solidFill>
                <a:latin typeface="맑은 고딕"/>
                <a:ea typeface="맑은 고딕"/>
              </a:rPr>
              <a:t>를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개념 후보</a:t>
            </a:r>
            <a:r>
              <a:rPr sz="1800" b="0">
                <a:solidFill>
                  <a:srgbClr val="000000"/>
                </a:solidFill>
                <a:latin typeface="맑은 고딕"/>
                <a:ea typeface="맑은 고딕"/>
              </a:rPr>
              <a:t> —</a:t>
            </a:r>
            <a:r>
              <a:rPr sz="1600" b="0">
                <a:solidFill>
                  <a:srgbClr val="000000"/>
                </a:solidFill>
                <a:latin typeface="맑은 고딕"/>
                <a:ea typeface="맑은 고딕"/>
              </a:rPr>
              <a:t> 고객, 주문, 결제, 환불</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속성·값 후보</a:t>
            </a:r>
            <a:r>
              <a:rPr sz="1800" b="0">
                <a:solidFill>
                  <a:srgbClr val="000000"/>
                </a:solidFill>
                <a:latin typeface="맑은 고딕"/>
                <a:ea typeface="맑은 고딕"/>
              </a:rPr>
              <a:t> —</a:t>
            </a:r>
            <a:r>
              <a:rPr sz="1600" b="0">
                <a:solidFill>
                  <a:srgbClr val="000000"/>
                </a:solidFill>
                <a:latin typeface="맑은 고딕"/>
                <a:ea typeface="맑은 고딕"/>
              </a:rPr>
              <a:t> 결제 금액, 취소 상태</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정제된 SSD —</a:t>
            </a:r>
            <a:r>
              <a:rPr sz="1600" b="0">
                <a:solidFill>
                  <a:srgbClr val="000000"/>
                </a:solidFill>
                <a:latin typeface="맑은 고딕"/>
                <a:ea typeface="맑은 고딕"/>
              </a:rPr>
              <a:t> </a:t>
            </a:r>
            <a:r>
              <a:rPr sz="1600" b="0">
                <a:solidFill>
                  <a:srgbClr val="000000"/>
                </a:solidFill>
                <a:latin typeface="맑은 고딕"/>
                <a:ea typeface="맑은 고딕"/>
              </a:rPr>
              <a:t>장바구니에 담는다(상품, 수량)</a:t>
            </a:r>
            <a:r>
              <a:rPr sz="1600" b="0">
                <a:solidFill>
                  <a:srgbClr val="000000"/>
                </a:solidFill>
                <a:latin typeface="맑은 고딕"/>
                <a:ea typeface="맑은 고딕"/>
              </a:rPr>
              <a:t> → </a:t>
            </a:r>
            <a:r>
              <a:rPr sz="1600" b="1">
                <a:solidFill>
                  <a:srgbClr val="000000"/>
                </a:solidFill>
                <a:latin typeface="맑은 고딕"/>
                <a:ea typeface="맑은 고딕"/>
              </a:rPr>
              <a:t>장바구니</a:t>
            </a:r>
            <a:r>
              <a:rPr sz="1600" b="0">
                <a:solidFill>
                  <a:srgbClr val="000000"/>
                </a:solidFill>
                <a:latin typeface="맑은 고딕"/>
                <a:ea typeface="맑은 고딕"/>
              </a:rPr>
              <a:t>·상품·수량, </a:t>
            </a:r>
            <a:r>
              <a:rPr sz="1600" b="0">
                <a:solidFill>
                  <a:srgbClr val="000000"/>
                </a:solidFill>
                <a:latin typeface="맑은 고딕"/>
                <a:ea typeface="맑은 고딕"/>
              </a:rPr>
              <a:t>배송을 요청한다(주문, 배송지)</a:t>
            </a:r>
            <a:r>
              <a:rPr sz="1600" b="0">
                <a:solidFill>
                  <a:srgbClr val="000000"/>
                </a:solidFill>
                <a:latin typeface="맑은 고딕"/>
                <a:ea typeface="맑은 고딕"/>
              </a:rPr>
              <a:t> → </a:t>
            </a:r>
            <a:r>
              <a:rPr sz="1600" b="1">
                <a:solidFill>
                  <a:srgbClr val="000000"/>
                </a:solidFill>
                <a:latin typeface="맑은 고딕"/>
                <a:ea typeface="맑은 고딕"/>
              </a:rPr>
              <a:t>배송</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확인 필요</a:t>
            </a:r>
            <a:r>
              <a:rPr sz="1800" b="0">
                <a:solidFill>
                  <a:srgbClr val="000000"/>
                </a:solidFill>
                <a:latin typeface="맑은 고딕"/>
                <a:ea typeface="맑은 고딕"/>
              </a:rPr>
              <a:t> —</a:t>
            </a:r>
            <a:r>
              <a:rPr sz="1600" b="0">
                <a:solidFill>
                  <a:srgbClr val="000000"/>
                </a:solidFill>
                <a:latin typeface="맑은 고딕"/>
                <a:ea typeface="맑은 고딕"/>
              </a:rPr>
              <a:t> 배송</a:t>
            </a:r>
            <a:r>
              <a:rPr sz="1200" b="0">
                <a:solidFill>
                  <a:srgbClr val="000000"/>
                </a:solidFill>
                <a:latin typeface="맑은 고딕"/>
                <a:ea typeface="맑은 고딕"/>
              </a:rPr>
              <a:t>(주문 시스템이 무엇을 기억해야 하는가?)</a:t>
            </a:r>
          </a:p>
        </p:txBody>
      </p:sp>
    </p:spTree>
    <p:extLst>
      <p:ext uri="{BB962C8B-B14F-4D97-AF65-F5344CB8AC3E}">
        <p14:creationId xmlns:p14="http://schemas.microsoft.com/office/powerpoint/2010/main" val="355543667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17. 명사 추출의 한계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명사를 기계적으로 클래스로 옮기면 </a:t>
            </a:r>
            <a:r>
              <a:rPr sz="1800" b="1">
                <a:solidFill>
                  <a:srgbClr val="000000"/>
                </a:solidFill>
                <a:latin typeface="맑은 고딕"/>
                <a:ea typeface="맑은 고딕"/>
              </a:rPr>
              <a:t>동의어·속성·해결책 요소·숨은 개념</a:t>
            </a:r>
            <a:r>
              <a:rPr sz="1800" b="0">
                <a:solidFill>
                  <a:srgbClr val="000000"/>
                </a:solidFill>
                <a:latin typeface="맑은 고딕"/>
                <a:ea typeface="맑은 고딕"/>
              </a:rPr>
              <a:t>을 잘못 다룬다.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동의어</a:t>
            </a:r>
            <a:r>
              <a:rPr sz="1800" b="0">
                <a:solidFill>
                  <a:srgbClr val="000000"/>
                </a:solidFill>
                <a:latin typeface="맑은 고딕"/>
                <a:ea typeface="맑은 고딕"/>
              </a:rPr>
              <a:t> —</a:t>
            </a:r>
            <a:r>
              <a:rPr sz="1600" b="0">
                <a:solidFill>
                  <a:srgbClr val="000000"/>
                </a:solidFill>
                <a:latin typeface="맑은 고딕"/>
                <a:ea typeface="맑은 고딕"/>
              </a:rPr>
              <a:t> 주문 상품 / 주문 항목 / 주문 라인 → 이름 하나로</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속성</a:t>
            </a:r>
            <a:r>
              <a:rPr sz="1800" b="0">
                <a:solidFill>
                  <a:srgbClr val="000000"/>
                </a:solidFill>
                <a:latin typeface="맑은 고딕"/>
                <a:ea typeface="맑은 고딕"/>
              </a:rPr>
              <a:t> —</a:t>
            </a:r>
            <a:r>
              <a:rPr sz="1600" b="0">
                <a:solidFill>
                  <a:srgbClr val="000000"/>
                </a:solidFill>
                <a:latin typeface="맑은 고딕"/>
                <a:ea typeface="맑은 고딕"/>
              </a:rPr>
              <a:t> 결제 금액, 주문 일시 → 개념이 아니다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해결책 요소</a:t>
            </a:r>
            <a:r>
              <a:rPr sz="1800" b="0">
                <a:solidFill>
                  <a:srgbClr val="000000"/>
                </a:solidFill>
                <a:latin typeface="맑은 고딕"/>
                <a:ea typeface="맑은 고딕"/>
              </a:rPr>
              <a:t> —</a:t>
            </a:r>
            <a:r>
              <a:rPr sz="1600" b="0">
                <a:solidFill>
                  <a:srgbClr val="000000"/>
                </a:solidFill>
                <a:latin typeface="맑은 고딕"/>
                <a:ea typeface="맑은 고딕"/>
              </a:rPr>
              <a:t> 주문 화면, 취소 버튼 → 문제영역이 아니다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동사 속 개념</a:t>
            </a:r>
            <a:r>
              <a:rPr sz="1800" b="0">
                <a:solidFill>
                  <a:srgbClr val="000000"/>
                </a:solidFill>
                <a:latin typeface="맑은 고딕"/>
                <a:ea typeface="맑은 고딕"/>
              </a:rPr>
              <a:t> —</a:t>
            </a:r>
            <a:r>
              <a:rPr sz="1600" b="0">
                <a:solidFill>
                  <a:srgbClr val="000000"/>
                </a:solidFill>
                <a:latin typeface="맑은 고딕"/>
                <a:ea typeface="맑은 고딕"/>
              </a:rPr>
              <a:t> "환불이 </a:t>
            </a:r>
            <a:r>
              <a:rPr sz="1600" b="1">
                <a:solidFill>
                  <a:srgbClr val="000000"/>
                </a:solidFill>
                <a:latin typeface="맑은 고딕"/>
                <a:ea typeface="맑은 고딕"/>
              </a:rPr>
              <a:t>처리된다</a:t>
            </a:r>
            <a:r>
              <a:rPr sz="1600" b="0">
                <a:solidFill>
                  <a:srgbClr val="000000"/>
                </a:solidFill>
                <a:latin typeface="맑은 고딕"/>
                <a:ea typeface="맑은 고딕"/>
              </a:rPr>
              <a:t>" → 환불</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숨은 개념</a:t>
            </a:r>
            <a:r>
              <a:rPr sz="1800" b="0">
                <a:solidFill>
                  <a:srgbClr val="000000"/>
                </a:solidFill>
                <a:latin typeface="맑은 고딕"/>
                <a:ea typeface="맑은 고딕"/>
              </a:rPr>
              <a:t> —</a:t>
            </a:r>
            <a:r>
              <a:rPr sz="1600" b="0">
                <a:solidFill>
                  <a:srgbClr val="000000"/>
                </a:solidFill>
                <a:latin typeface="맑은 고딕"/>
                <a:ea typeface="맑은 고딕"/>
              </a:rPr>
              <a:t> 흐름에 없는 취소 정책 → 규칙·대화에서 찾는다</a:t>
            </a:r>
          </a:p>
        </p:txBody>
      </p:sp>
    </p:spTree>
    <p:extLst>
      <p:ext uri="{BB962C8B-B14F-4D97-AF65-F5344CB8AC3E}">
        <p14:creationId xmlns:p14="http://schemas.microsoft.com/office/powerpoint/2010/main" val="35554366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18. 개념과 속성</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속성</a:t>
            </a:r>
            <a:r>
              <a:rPr sz="1400" b="0">
                <a:solidFill>
                  <a:srgbClr val="000000"/>
                </a:solidFill>
                <a:latin typeface="맑은 고딕"/>
                <a:ea typeface="맑은 고딕"/>
              </a:rPr>
              <a:t>(Attribute)</a:t>
            </a:r>
            <a:r>
              <a:rPr sz="1800" b="0">
                <a:solidFill>
                  <a:srgbClr val="000000"/>
                </a:solidFill>
                <a:latin typeface="맑은 고딕"/>
                <a:ea typeface="맑은 고딕"/>
              </a:rPr>
              <a:t>은 개념이 가지는 </a:t>
            </a:r>
            <a:r>
              <a:rPr sz="1800" b="1">
                <a:solidFill>
                  <a:srgbClr val="000000"/>
                </a:solidFill>
                <a:latin typeface="맑은 고딕"/>
                <a:ea typeface="맑은 고딕"/>
              </a:rPr>
              <a:t>단순한 값</a:t>
            </a:r>
            <a:r>
              <a:rPr sz="1800" b="0">
                <a:solidFill>
                  <a:srgbClr val="000000"/>
                </a:solidFill>
                <a:latin typeface="맑은 고딕"/>
                <a:ea typeface="맑은 고딕"/>
              </a:rPr>
              <a:t>이다. 숫자나 텍스트로 다루지 않는 것이면 </a:t>
            </a:r>
            <a:r>
              <a:rPr sz="1800" b="1">
                <a:solidFill>
                  <a:srgbClr val="000000"/>
                </a:solidFill>
                <a:latin typeface="맑은 고딕"/>
                <a:ea typeface="맑은 고딕"/>
              </a:rPr>
              <a:t>개념</a:t>
            </a:r>
            <a:r>
              <a:rPr sz="1800" b="0">
                <a:solidFill>
                  <a:srgbClr val="000000"/>
                </a:solidFill>
                <a:latin typeface="맑은 고딕"/>
                <a:ea typeface="맑은 고딕"/>
              </a:rPr>
              <a:t>일 가능성이 높다.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"실세계에서 어떤 개념 X를 </a:t>
            </a:r>
            <a:r>
              <a:rPr sz="1800" b="1">
                <a:solidFill>
                  <a:srgbClr val="000000"/>
                </a:solidFill>
                <a:latin typeface="맑은 고딕"/>
                <a:ea typeface="맑은 고딕"/>
              </a:rPr>
              <a:t>숫자나 텍스트</a:t>
            </a:r>
            <a:r>
              <a:rPr sz="1800" b="0">
                <a:solidFill>
                  <a:srgbClr val="000000"/>
                </a:solidFill>
                <a:latin typeface="맑은 고딕"/>
                <a:ea typeface="맑은 고딕"/>
              </a:rPr>
              <a:t>로 여기지 않는다면, X는 속성이 아니라 개념 클래스일 가능성이 높다"</a:t>
            </a:r>
            <a:r>
              <a:rPr sz="1000" b="0">
                <a:solidFill>
                  <a:srgbClr val="000000"/>
                </a:solidFill>
                <a:latin typeface="맑은 고딕"/>
                <a:ea typeface="맑은 고딕"/>
              </a:rPr>
              <a:t>, </a:t>
            </a:r>
            <a:r>
              <a:rPr sz="1000" b="0">
                <a:solidFill>
                  <a:srgbClr val="000000"/>
                </a:solidFill>
                <a:latin typeface="맑은 고딕"/>
                <a:ea typeface="맑은 고딕"/>
              </a:rPr>
              <a:t>"If we do not think of some conceptual class X as a number or text in the real world, X is probably a conceptual class, not an attribute."</a:t>
            </a:r>
            <a:r>
              <a:rPr sz="1000" b="0">
                <a:solidFill>
                  <a:srgbClr val="000000"/>
                </a:solidFill>
                <a:latin typeface="맑은 고딕"/>
                <a:ea typeface="맑은 고딕"/>
              </a:rPr>
              <a:t>, </a:t>
            </a:r>
            <a:r>
              <a:rPr sz="1000" b="0">
                <a:solidFill>
                  <a:srgbClr val="000000"/>
                </a:solidFill>
                <a:latin typeface="맑은 고딕"/>
                <a:ea typeface="맑은 고딕"/>
              </a:rPr>
              <a:t>Craig Larman, 2002</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배송지는 속성인가?</a:t>
            </a:r>
            <a:r>
              <a:rPr sz="1800" b="0">
                <a:solidFill>
                  <a:srgbClr val="000000"/>
                </a:solidFill>
                <a:latin typeface="맑은 고딕"/>
                <a:ea typeface="맑은 고딕"/>
              </a:rPr>
              <a:t> —</a:t>
            </a:r>
            <a:r>
              <a:rPr sz="1600" b="0">
                <a:solidFill>
                  <a:srgbClr val="000000"/>
                </a:solidFill>
                <a:latin typeface="맑은 고딕"/>
                <a:ea typeface="맑은 고딕"/>
              </a:rPr>
              <a:t> 이 주문을 보낼 주소라는 </a:t>
            </a:r>
            <a:r>
              <a:rPr sz="1600" b="1">
                <a:solidFill>
                  <a:srgbClr val="000000"/>
                </a:solidFill>
                <a:latin typeface="맑은 고딕"/>
                <a:ea typeface="맑은 고딕"/>
              </a:rPr>
              <a:t>값</a:t>
            </a:r>
            <a:r>
              <a:rPr sz="1600" b="0">
                <a:solidFill>
                  <a:srgbClr val="000000"/>
                </a:solidFill>
                <a:latin typeface="맑은 고딕"/>
                <a:ea typeface="맑은 고딕"/>
              </a:rPr>
              <a:t>만 중요하면 </a:t>
            </a:r>
            <a:r>
              <a:rPr sz="1600" b="0">
                <a:solidFill>
                  <a:srgbClr val="000000"/>
                </a:solidFill>
                <a:latin typeface="맑은 고딕"/>
                <a:ea typeface="맑은 고딕"/>
              </a:rPr>
              <a:t>주문.배송지 : 주소</a:t>
            </a:r>
            <a:r>
              <a:rPr sz="1600" b="0">
                <a:solidFill>
                  <a:srgbClr val="000000"/>
                </a:solidFill>
                <a:latin typeface="맑은 고딕"/>
                <a:ea typeface="맑은 고딕"/>
              </a:rPr>
              <a:t>로 충분하다.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개념이 되는 경우</a:t>
            </a:r>
            <a:r>
              <a:rPr sz="1800" b="0">
                <a:solidFill>
                  <a:srgbClr val="000000"/>
                </a:solidFill>
                <a:latin typeface="맑은 고딕"/>
                <a:ea typeface="맑은 고딕"/>
              </a:rPr>
              <a:t> —</a:t>
            </a:r>
            <a:r>
              <a:rPr sz="1600" b="0">
                <a:solidFill>
                  <a:srgbClr val="000000"/>
                </a:solidFill>
                <a:latin typeface="맑은 고딕"/>
                <a:ea typeface="맑은 고딕"/>
              </a:rPr>
              <a:t> 저장된 여러 배송지 중 고르고 배송지마다 수령인·별칭을 관리한다면 </a:t>
            </a:r>
            <a:r>
              <a:rPr sz="1600" b="1">
                <a:solidFill>
                  <a:srgbClr val="000000"/>
                </a:solidFill>
                <a:latin typeface="맑은 고딕"/>
                <a:ea typeface="맑은 고딕"/>
              </a:rPr>
              <a:t>구분되는 대상</a:t>
            </a:r>
            <a:r>
              <a:rPr sz="1600" b="0">
                <a:solidFill>
                  <a:srgbClr val="000000"/>
                </a:solidFill>
                <a:latin typeface="맑은 고딕"/>
                <a:ea typeface="맑은 고딕"/>
              </a:rPr>
              <a:t>이다.</a:t>
            </a:r>
          </a:p>
        </p:txBody>
      </p:sp>
    </p:spTree>
    <p:extLst>
      <p:ext uri="{BB962C8B-B14F-4D97-AF65-F5344CB8AC3E}">
        <p14:creationId xmlns:p14="http://schemas.microsoft.com/office/powerpoint/2010/main" val="35554366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19. 속성 값의 의미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599246" y="1842998"/>
          <a:ext cx="3931920" cy="3873500"/>
        </p:xfrm>
        <a:graphic>
          <a:graphicData uri="http://schemas.openxmlformats.org/drawingml/2006/table">
            <a:tbl>
              <a:tblPr/>
              <a:tblGrid>
                <a:gridCol w="947420"/>
                <a:gridCol w="947420"/>
                <a:gridCol w="203708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속성</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값의 종류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확인할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통화는? 음수가 가능한가?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0이 허용되는가?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필수 구성 요소는?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일시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일시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어느 시간대 기준인가?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가능한 값은?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속성은 이름만으로 끝나지 않는다. 타입은 DB 컬럼이 아니라 </a:t>
            </a:r>
            <a:r>
              <a:rPr sz="1800" b="1">
                <a:solidFill>
                  <a:srgbClr val="000000"/>
                </a:solidFill>
                <a:latin typeface="맑은 고딕"/>
                <a:ea typeface="맑은 고딕"/>
              </a:rPr>
              <a:t>업무 값의 종류</a:t>
            </a:r>
            <a:r>
              <a:rPr sz="1800" b="0">
                <a:solidFill>
                  <a:srgbClr val="000000"/>
                </a:solidFill>
                <a:latin typeface="맑은 고딕"/>
                <a:ea typeface="맑은 고딕"/>
              </a:rPr>
              <a:t>로 적고, </a:t>
            </a:r>
            <a:r>
              <a:rPr sz="1800" b="1">
                <a:solidFill>
                  <a:srgbClr val="000000"/>
                </a:solidFill>
                <a:latin typeface="맑은 고딕"/>
                <a:ea typeface="맑은 고딕"/>
              </a:rPr>
              <a:t>허용 범위</a:t>
            </a:r>
            <a:r>
              <a:rPr sz="1800" b="0">
                <a:solidFill>
                  <a:srgbClr val="000000"/>
                </a:solidFill>
                <a:latin typeface="맑은 고딕"/>
                <a:ea typeface="맑은 고딕"/>
              </a:rPr>
              <a:t>를 묻는다.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- 26 -</a:t>
            </a:r>
          </a:p>
        </p:txBody>
      </p:sp>
    </p:spTree>
    <p:extLst>
      <p:ext uri="{BB962C8B-B14F-4D97-AF65-F5344CB8AC3E}">
        <p14:creationId xmlns:p14="http://schemas.microsoft.com/office/powerpoint/2010/main" val="278956947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20. 속성 도메인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39736" y="2801048"/>
          <a:ext cx="6250940" cy="3873500"/>
        </p:xfrm>
        <a:graphic>
          <a:graphicData uri="http://schemas.openxmlformats.org/drawingml/2006/table">
            <a:tbl>
              <a:tblPr/>
              <a:tblGrid>
                <a:gridCol w="947420"/>
                <a:gridCol w="2512060"/>
                <a:gridCol w="279146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도메인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규칙</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사용하는 속성</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 이상, 통화 단위, 소수 자릿수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판매가, 단가, 결제 금액, 환불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 이상의 정수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항목의 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필수 구성 요소, 형식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고객의 기본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번호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형식, 유일, 재사용 금지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번호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정해진 값 목록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데이터 모델링의 </a:t>
            </a:r>
            <a:r>
              <a:rPr sz="1800" b="1">
                <a:solidFill>
                  <a:srgbClr val="000000"/>
                </a:solidFill>
                <a:latin typeface="맑은 고딕"/>
                <a:ea typeface="맑은 고딕"/>
              </a:rPr>
              <a:t>도메인</a:t>
            </a:r>
            <a:r>
              <a:rPr sz="1800" b="0">
                <a:solidFill>
                  <a:srgbClr val="000000"/>
                </a:solidFill>
                <a:latin typeface="맑은 고딕"/>
                <a:ea typeface="맑은 고딕"/>
              </a:rPr>
              <a:t>은 속성이 가질 수 있는 </a:t>
            </a:r>
            <a:r>
              <a:rPr sz="1800" b="1">
                <a:solidFill>
                  <a:srgbClr val="000000"/>
                </a:solidFill>
                <a:latin typeface="맑은 고딕"/>
                <a:ea typeface="맑은 고딕"/>
              </a:rPr>
              <a:t>값의 집합과 규칙</a:t>
            </a:r>
            <a:r>
              <a:rPr sz="1800" b="0">
                <a:solidFill>
                  <a:srgbClr val="000000"/>
                </a:solidFill>
                <a:latin typeface="맑은 고딕"/>
                <a:ea typeface="맑은 고딕"/>
              </a:rPr>
              <a:t>이다. DB 타입</a:t>
            </a:r>
            <a:r>
              <a:rPr sz="1400" b="0">
                <a:solidFill>
                  <a:srgbClr val="000000"/>
                </a:solidFill>
                <a:latin typeface="맑은 고딕"/>
                <a:ea typeface="맑은 고딕"/>
              </a:rPr>
              <a:t>(숫자·문자열)</a:t>
            </a:r>
            <a:r>
              <a:rPr sz="1800" b="0">
                <a:solidFill>
                  <a:srgbClr val="000000"/>
                </a:solidFill>
                <a:latin typeface="맑은 고딕"/>
                <a:ea typeface="맑은 고딕"/>
              </a:rPr>
              <a:t>이 아니며, 같은 도메인을 쓰는 속성은 같은 규칙을 따른다.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"각 값 집합에는 어떤 값이 그 집합에 </a:t>
            </a:r>
            <a:r>
              <a:rPr sz="1800" b="1">
                <a:solidFill>
                  <a:srgbClr val="000000"/>
                </a:solidFill>
                <a:latin typeface="맑은 고딕"/>
                <a:ea typeface="맑은 고딕"/>
              </a:rPr>
              <a:t>속하는지 검사하는 술어</a:t>
            </a:r>
            <a:r>
              <a:rPr sz="1800" b="0">
                <a:solidFill>
                  <a:srgbClr val="000000"/>
                </a:solidFill>
                <a:latin typeface="맑은 고딕"/>
                <a:ea typeface="맑은 고딕"/>
              </a:rPr>
              <a:t>가 있다"</a:t>
            </a:r>
            <a:r>
              <a:rPr sz="1000" b="0">
                <a:solidFill>
                  <a:srgbClr val="000000"/>
                </a:solidFill>
                <a:latin typeface="맑은 고딕"/>
                <a:ea typeface="맑은 고딕"/>
              </a:rPr>
              <a:t>, </a:t>
            </a:r>
            <a:r>
              <a:rPr sz="1000" b="0">
                <a:solidFill>
                  <a:srgbClr val="000000"/>
                </a:solidFill>
                <a:latin typeface="맑은 고딕"/>
                <a:ea typeface="맑은 고딕"/>
              </a:rPr>
              <a:t>"There is a predicate associated with each value set to test whether a value belongs to it."</a:t>
            </a:r>
            <a:r>
              <a:rPr sz="1000" b="0">
                <a:solidFill>
                  <a:srgbClr val="000000"/>
                </a:solidFill>
                <a:latin typeface="맑은 고딕"/>
                <a:ea typeface="맑은 고딕"/>
              </a:rPr>
              <a:t>, </a:t>
            </a:r>
            <a:r>
              <a:rPr sz="1000" b="0">
                <a:solidFill>
                  <a:srgbClr val="000000"/>
                </a:solidFill>
                <a:latin typeface="맑은 고딕"/>
                <a:ea typeface="맑은 고딕"/>
              </a:rPr>
              <a:t>Peter Pin-Shan Chen, 1976</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- 27 -</a:t>
            </a:r>
          </a:p>
        </p:txBody>
      </p:sp>
    </p:spTree>
    <p:extLst>
      <p:ext uri="{BB962C8B-B14F-4D97-AF65-F5344CB8AC3E}">
        <p14:creationId xmlns:p14="http://schemas.microsoft.com/office/powerpoint/2010/main" val="278956947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21. 속성 수준 업무 규칙</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09586" y="3829198"/>
          <a:ext cx="6111240" cy="3873500"/>
        </p:xfrm>
        <a:graphic>
          <a:graphicData uri="http://schemas.openxmlformats.org/drawingml/2006/table">
            <a:tbl>
              <a:tblPr/>
              <a:tblGrid>
                <a:gridCol w="1310640"/>
                <a:gridCol w="2679700"/>
                <a:gridCol w="212090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규칙의 범위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다루는 곳</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값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수량은 1 이상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 도메인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여러 속성·연관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총액은 주문 항목 금액의 합계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시점·사건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 이후에는 취소할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 전이 규칙(동적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7674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속성 수준 업무 규칙은 </a:t>
            </a:r>
            <a:r>
              <a:rPr sz="1800" b="1">
                <a:solidFill>
                  <a:srgbClr val="000000"/>
                </a:solidFill>
                <a:latin typeface="맑은 고딕"/>
                <a:ea typeface="맑은 고딕"/>
              </a:rPr>
              <a:t>데이터 모델링과 도메인 모델링이 공통으로 다루는 핵심</a:t>
            </a:r>
            <a:r>
              <a:rPr sz="1800" b="0">
                <a:solidFill>
                  <a:srgbClr val="000000"/>
                </a:solidFill>
                <a:latin typeface="맑은 고딕"/>
                <a:ea typeface="맑은 고딕"/>
              </a:rPr>
              <a:t>이다. 규칙이 빠지면 두 모델 모두 이름만 남는다.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금액</a:t>
            </a:r>
            <a:r>
              <a:rPr sz="1800" b="0">
                <a:solidFill>
                  <a:srgbClr val="000000"/>
                </a:solidFill>
                <a:latin typeface="맑은 고딕"/>
                <a:ea typeface="맑은 고딕"/>
              </a:rPr>
              <a:t> —</a:t>
            </a:r>
            <a:r>
              <a:rPr sz="1600" b="0">
                <a:solidFill>
                  <a:srgbClr val="000000"/>
                </a:solidFill>
                <a:latin typeface="맑은 고딕"/>
                <a:ea typeface="맑은 고딕"/>
              </a:rPr>
              <a:t> 같은 통화끼리만 더하고 비교한다.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수량</a:t>
            </a:r>
            <a:r>
              <a:rPr sz="1800" b="0">
                <a:solidFill>
                  <a:srgbClr val="000000"/>
                </a:solidFill>
                <a:latin typeface="맑은 고딕"/>
                <a:ea typeface="맑은 고딕"/>
              </a:rPr>
              <a:t> —</a:t>
            </a:r>
            <a:r>
              <a:rPr sz="1600" b="0">
                <a:solidFill>
                  <a:srgbClr val="000000"/>
                </a:solidFill>
                <a:latin typeface="맑은 고딕"/>
                <a:ea typeface="맑은 고딕"/>
              </a:rPr>
              <a:t> 1 이상이어야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주소</a:t>
            </a:r>
            <a:r>
              <a:rPr sz="1800" b="0">
                <a:solidFill>
                  <a:srgbClr val="000000"/>
                </a:solidFill>
                <a:latin typeface="맑은 고딕"/>
                <a:ea typeface="맑은 고딕"/>
              </a:rPr>
              <a:t> —</a:t>
            </a:r>
            <a:r>
              <a:rPr sz="1600" b="0">
                <a:solidFill>
                  <a:srgbClr val="000000"/>
                </a:solidFill>
                <a:latin typeface="맑은 고딕"/>
                <a:ea typeface="맑은 고딕"/>
              </a:rPr>
              <a:t> 우편번호와 기본 주소가 있어야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 번호</a:t>
            </a:r>
            <a:r>
              <a:rPr sz="1800" b="0">
                <a:solidFill>
                  <a:srgbClr val="000000"/>
                </a:solidFill>
                <a:latin typeface="맑은 고딕"/>
                <a:ea typeface="맑은 고딕"/>
              </a:rPr>
              <a:t> —</a:t>
            </a:r>
            <a:r>
              <a:rPr sz="1600" b="0">
                <a:solidFill>
                  <a:srgbClr val="000000"/>
                </a:solidFill>
                <a:latin typeface="맑은 고딕"/>
                <a:ea typeface="맑은 고딕"/>
              </a:rPr>
              <a:t> 정해진 형식이며 다시 쓰이지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 상태</a:t>
            </a:r>
            <a:r>
              <a:rPr sz="1800" b="0">
                <a:solidFill>
                  <a:srgbClr val="000000"/>
                </a:solidFill>
                <a:latin typeface="맑은 고딕"/>
                <a:ea typeface="맑은 고딕"/>
              </a:rPr>
              <a:t> —</a:t>
            </a:r>
            <a:r>
              <a:rPr sz="1600" b="0">
                <a:solidFill>
                  <a:srgbClr val="000000"/>
                </a:solidFill>
                <a:latin typeface="맑은 고딕"/>
                <a:ea typeface="맑은 고딕"/>
              </a:rPr>
              <a:t> 정해진 값만 가진다.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- 28 -</a:t>
            </a:r>
          </a:p>
        </p:txBody>
      </p:sp>
    </p:spTree>
    <p:extLst>
      <p:ext uri="{BB962C8B-B14F-4D97-AF65-F5344CB8AC3E}">
        <p14:creationId xmlns:p14="http://schemas.microsoft.com/office/powerpoint/2010/main" val="278956947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22. 규칙의 소유</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속성 규칙을 화면·서비스·DB 곳곳의 검사 코드에 흩어 두면 규칙이 서로 달라진다. 규칙은 </a:t>
            </a:r>
            <a:r>
              <a:rPr sz="1800" b="1">
                <a:solidFill>
                  <a:srgbClr val="000000"/>
                </a:solidFill>
                <a:latin typeface="맑은 고딕"/>
                <a:ea typeface="맑은 고딕"/>
              </a:rPr>
              <a:t>값의 종류</a:t>
            </a:r>
            <a:r>
              <a:rPr sz="1800" b="0">
                <a:solidFill>
                  <a:srgbClr val="000000"/>
                </a:solidFill>
                <a:latin typeface="맑은 고딕"/>
                <a:ea typeface="맑은 고딕"/>
              </a:rPr>
              <a:t>가 소유해야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"그 요소가 전달하는 </a:t>
            </a:r>
            <a:r>
              <a:rPr sz="1800" b="1">
                <a:solidFill>
                  <a:srgbClr val="000000"/>
                </a:solidFill>
                <a:latin typeface="맑은 고딕"/>
                <a:ea typeface="맑은 고딕"/>
              </a:rPr>
              <a:t>속성의 의미를 표현</a:t>
            </a:r>
            <a:r>
              <a:rPr sz="1800" b="0">
                <a:solidFill>
                  <a:srgbClr val="000000"/>
                </a:solidFill>
                <a:latin typeface="맑은 고딕"/>
                <a:ea typeface="맑은 고딕"/>
              </a:rPr>
              <a:t>하게 하고 관련 기능을 부여한다"</a:t>
            </a:r>
            <a:r>
              <a:rPr sz="1000" b="0">
                <a:solidFill>
                  <a:srgbClr val="000000"/>
                </a:solidFill>
                <a:latin typeface="맑은 고딕"/>
                <a:ea typeface="맑은 고딕"/>
              </a:rPr>
              <a:t>, </a:t>
            </a:r>
            <a:r>
              <a:rPr sz="1000" b="0">
                <a:solidFill>
                  <a:srgbClr val="000000"/>
                </a:solidFill>
                <a:latin typeface="맑은 고딕"/>
                <a:ea typeface="맑은 고딕"/>
              </a:rPr>
              <a:t>"Make it express the meaning of the attributes it conveys and give it related functionality."</a:t>
            </a:r>
            <a:r>
              <a:rPr sz="1000" b="0">
                <a:solidFill>
                  <a:srgbClr val="000000"/>
                </a:solidFill>
                <a:latin typeface="맑은 고딕"/>
                <a:ea typeface="맑은 고딕"/>
              </a:rPr>
              <a:t>, </a:t>
            </a:r>
            <a:r>
              <a:rPr sz="1000" b="0">
                <a:solidFill>
                  <a:srgbClr val="000000"/>
                </a:solidFill>
                <a:latin typeface="맑은 고딕"/>
                <a:ea typeface="맑은 고딕"/>
              </a:rPr>
              <a:t>Eric Evans, 2015</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데이터 모델링</a:t>
            </a:r>
            <a:r>
              <a:rPr sz="1800" b="0">
                <a:solidFill>
                  <a:srgbClr val="000000"/>
                </a:solidFill>
                <a:latin typeface="맑은 고딕"/>
                <a:ea typeface="맑은 고딕"/>
              </a:rPr>
              <a:t> —</a:t>
            </a:r>
            <a:r>
              <a:rPr sz="1600" b="0">
                <a:solidFill>
                  <a:srgbClr val="000000"/>
                </a:solidFill>
                <a:latin typeface="맑은 고딕"/>
                <a:ea typeface="맑은 고딕"/>
              </a:rPr>
              <a:t> 규칙을 도메인 정의로 소유한다.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도메인 모델링</a:t>
            </a:r>
            <a:r>
              <a:rPr sz="1800" b="0">
                <a:solidFill>
                  <a:srgbClr val="000000"/>
                </a:solidFill>
                <a:latin typeface="맑은 고딕"/>
                <a:ea typeface="맑은 고딕"/>
              </a:rPr>
              <a:t> —</a:t>
            </a:r>
            <a:r>
              <a:rPr sz="1600" b="0">
                <a:solidFill>
                  <a:srgbClr val="000000"/>
                </a:solidFill>
                <a:latin typeface="맑은 고딕"/>
                <a:ea typeface="맑은 고딕"/>
              </a:rPr>
              <a:t> 규칙을 값의 종류</a:t>
            </a:r>
            <a:r>
              <a:rPr sz="1200" b="0">
                <a:solidFill>
                  <a:srgbClr val="000000"/>
                </a:solidFill>
                <a:latin typeface="맑은 고딕"/>
                <a:ea typeface="맑은 고딕"/>
              </a:rPr>
              <a:t>(금액·수량·주소)</a:t>
            </a:r>
            <a:r>
              <a:rPr sz="1600" b="0">
                <a:solidFill>
                  <a:srgbClr val="000000"/>
                </a:solidFill>
                <a:latin typeface="맑은 고딕"/>
                <a:ea typeface="맑은 고딕"/>
              </a:rPr>
              <a:t>로 소유한다.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DDD</a:t>
            </a:r>
            <a:r>
              <a:rPr sz="1800" b="0">
                <a:solidFill>
                  <a:srgbClr val="000000"/>
                </a:solidFill>
                <a:latin typeface="맑은 고딕"/>
                <a:ea typeface="맑은 고딕"/>
              </a:rPr>
              <a:t> —</a:t>
            </a:r>
            <a:r>
              <a:rPr sz="1600" b="0">
                <a:solidFill>
                  <a:srgbClr val="000000"/>
                </a:solidFill>
                <a:latin typeface="맑은 고딕"/>
                <a:ea typeface="맑은 고딕"/>
              </a:rPr>
              <a:t> 이 역할을 </a:t>
            </a:r>
            <a:r>
              <a:rPr sz="1600" b="1">
                <a:solidFill>
                  <a:srgbClr val="000000"/>
                </a:solidFill>
                <a:latin typeface="맑은 고딕"/>
                <a:ea typeface="맑은 고딕"/>
              </a:rPr>
              <a:t>값 객체</a:t>
            </a:r>
            <a:r>
              <a:rPr sz="1600" b="0">
                <a:solidFill>
                  <a:srgbClr val="000000"/>
                </a:solidFill>
                <a:latin typeface="맑은 고딕"/>
                <a:ea typeface="맑은 고딕"/>
              </a:rPr>
              <a:t>가 맡는다.</a:t>
            </a:r>
          </a:p>
        </p:txBody>
      </p:sp>
    </p:spTree>
    <p:extLst>
      <p:ext uri="{BB962C8B-B14F-4D97-AF65-F5344CB8AC3E}">
        <p14:creationId xmlns:p14="http://schemas.microsoft.com/office/powerpoint/2010/main" val="355543667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23. 파생 속성</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1">
                <a:solidFill>
                  <a:srgbClr val="000000"/>
                </a:solidFill>
                <a:latin typeface="맑은 고딕"/>
                <a:ea typeface="맑은 고딕"/>
              </a:rPr>
              <a:t>파생 속성</a:t>
            </a:r>
            <a:r>
              <a:rPr sz="1400" b="0">
                <a:solidFill>
                  <a:srgbClr val="000000"/>
                </a:solidFill>
                <a:latin typeface="맑은 고딕"/>
                <a:ea typeface="맑은 고딕"/>
              </a:rPr>
              <a:t>(Derived Attribute)</a:t>
            </a:r>
            <a:r>
              <a:rPr sz="1800" b="0">
                <a:solidFill>
                  <a:srgbClr val="000000"/>
                </a:solidFill>
                <a:latin typeface="맑은 고딕"/>
                <a:ea typeface="맑은 고딕"/>
              </a:rPr>
              <a:t>은 다른 정보로 </a:t>
            </a:r>
            <a:r>
              <a:rPr sz="1800" b="1">
                <a:solidFill>
                  <a:srgbClr val="000000"/>
                </a:solidFill>
                <a:latin typeface="맑은 고딕"/>
                <a:ea typeface="맑은 고딕"/>
              </a:rPr>
              <a:t>계산해 얻는</a:t>
            </a:r>
            <a:r>
              <a:rPr sz="1800" b="0">
                <a:solidFill>
                  <a:srgbClr val="000000"/>
                </a:solidFill>
                <a:latin typeface="맑은 고딕"/>
                <a:ea typeface="맑은 고딕"/>
              </a:rPr>
              <a:t> 속성이다. 이름 앞에 </a:t>
            </a:r>
            <a:r>
              <a:rPr sz="1800" b="0">
                <a:solidFill>
                  <a:srgbClr val="000000"/>
                </a:solidFill>
                <a:latin typeface="맑은 고딕"/>
                <a:ea typeface="맑은 고딕"/>
              </a:rPr>
              <a:t>/</a:t>
            </a:r>
            <a:r>
              <a:rPr sz="1800" b="0">
                <a:solidFill>
                  <a:srgbClr val="000000"/>
                </a:solidFill>
                <a:latin typeface="맑은 고딕"/>
                <a:ea typeface="맑은 고딕"/>
              </a:rPr>
              <a:t>를 붙인다.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총액 = 주문 항목의 </a:t>
            </a:r>
            <a:r>
              <a:rPr sz="1800" b="1">
                <a:solidFill>
                  <a:srgbClr val="000000"/>
                </a:solidFill>
                <a:latin typeface="맑은 고딕"/>
                <a:ea typeface="맑은 고딕"/>
              </a:rPr>
              <a:t>수량 × 단가 합계</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표시하는 이유는 </a:t>
            </a:r>
            <a:r>
              <a:rPr sz="1800" b="1">
                <a:solidFill>
                  <a:srgbClr val="000000"/>
                </a:solidFill>
                <a:latin typeface="맑은 고딕"/>
                <a:ea typeface="맑은 고딕"/>
              </a:rPr>
              <a:t>계산 규칙이 업무 의미</a:t>
            </a:r>
            <a:r>
              <a:rPr sz="1800" b="0">
                <a:solidFill>
                  <a:srgbClr val="000000"/>
                </a:solidFill>
                <a:latin typeface="맑은 고딕"/>
                <a:ea typeface="맑은 고딕"/>
              </a:rPr>
              <a:t>를 가지기 때문이다.</a:t>
            </a:r>
          </a:p>
        </p:txBody>
      </p:sp>
      <p:pic>
        <p:nvPicPr>
          <p:cNvPr id="9" name="plantuml Diagram 6"/>
          <p:cNvPicPr>
            <a:picLocks noChangeAspect="1"/>
          </p:cNvPicPr>
          <p:nvPr/>
        </p:nvPicPr>
        <p:blipFill>
          <a:blip r:embed="plantumlImage6"/>
          <a:stretch>
            <a:fillRect/>
          </a:stretch>
        </p:blipFill>
        <p:spPr>
          <a:xfrm>
            <a:off x="2157046" y="3589944"/>
            <a:ext cx="4829908" cy="127781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24. 참조와 연관</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다른 개념을 가리키는 정보는 </a:t>
            </a:r>
            <a:r>
              <a:rPr sz="1800" b="0">
                <a:solidFill>
                  <a:srgbClr val="000000"/>
                </a:solidFill>
                <a:latin typeface="맑은 고딕"/>
                <a:ea typeface="맑은 고딕"/>
              </a:rPr>
              <a:t>고객ID</a:t>
            </a:r>
            <a:r>
              <a:rPr sz="1800" b="0">
                <a:solidFill>
                  <a:srgbClr val="000000"/>
                </a:solidFill>
                <a:latin typeface="맑은 고딕"/>
                <a:ea typeface="맑은 고딕"/>
              </a:rPr>
              <a:t> 같은 속성이 아니라 </a:t>
            </a:r>
            <a:r>
              <a:rPr sz="1800" b="1">
                <a:solidFill>
                  <a:srgbClr val="000000"/>
                </a:solidFill>
                <a:latin typeface="맑은 고딕"/>
                <a:ea typeface="맑은 고딕"/>
              </a:rPr>
              <a:t>연관</a:t>
            </a:r>
            <a:r>
              <a:rPr sz="1800" b="0">
                <a:solidFill>
                  <a:srgbClr val="000000"/>
                </a:solidFill>
                <a:latin typeface="맑은 고딕"/>
                <a:ea typeface="맑은 고딕"/>
              </a:rPr>
              <a:t>으로 표현한다.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잘못된 예</a:t>
            </a:r>
            <a:r>
              <a:rPr sz="1800" b="0">
                <a:solidFill>
                  <a:srgbClr val="000000"/>
                </a:solidFill>
                <a:latin typeface="맑은 고딕"/>
                <a:ea typeface="맑은 고딕"/>
              </a:rPr>
              <a:t> —</a:t>
            </a:r>
            <a:r>
              <a:rPr sz="1600" b="0">
                <a:solidFill>
                  <a:srgbClr val="000000"/>
                </a:solidFill>
                <a:latin typeface="맑은 고딕"/>
                <a:ea typeface="맑은 고딕"/>
              </a:rPr>
              <a:t> 고객과 주문의 관계를 그림에서 읽을 수 없다.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업무 식별자</a:t>
            </a:r>
            <a:r>
              <a:rPr sz="1800" b="0">
                <a:solidFill>
                  <a:srgbClr val="000000"/>
                </a:solidFill>
                <a:latin typeface="맑은 고딕"/>
                <a:ea typeface="맑은 고딕"/>
              </a:rPr>
              <a:t> —</a:t>
            </a:r>
            <a:r>
              <a:rPr sz="1600" b="0">
                <a:solidFill>
                  <a:srgbClr val="000000"/>
                </a:solidFill>
                <a:latin typeface="맑은 고딕"/>
                <a:ea typeface="맑은 고딕"/>
              </a:rPr>
              <a:t> 고객이 보는 </a:t>
            </a:r>
            <a:r>
              <a:rPr sz="1600" b="0">
                <a:solidFill>
                  <a:srgbClr val="000000"/>
                </a:solidFill>
                <a:latin typeface="맑은 고딕"/>
                <a:ea typeface="맑은 고딕"/>
              </a:rPr>
              <a:t>주문 번호</a:t>
            </a:r>
            <a:r>
              <a:rPr sz="1600" b="0">
                <a:solidFill>
                  <a:srgbClr val="000000"/>
                </a:solidFill>
                <a:latin typeface="맑은 고딕"/>
                <a:ea typeface="맑은 고딕"/>
              </a:rPr>
              <a:t>는 속성이다. 대리 키·외래키는 넣지 않는다.</a:t>
            </a:r>
          </a:p>
        </p:txBody>
      </p:sp>
      <p:pic>
        <p:nvPicPr>
          <p:cNvPr id="9" name="plantuml Diagram 7"/>
          <p:cNvPicPr>
            <a:picLocks noChangeAspect="1"/>
          </p:cNvPicPr>
          <p:nvPr/>
        </p:nvPicPr>
        <p:blipFill>
          <a:blip r:embed="plantumlImage7"/>
          <a:stretch>
            <a:fillRect/>
          </a:stretch>
        </p:blipFill>
        <p:spPr>
          <a:xfrm>
            <a:off x="2469662" y="3042046"/>
            <a:ext cx="4204677" cy="255953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25. 연관</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연관</a:t>
            </a:r>
            <a:r>
              <a:rPr sz="1400" b="0">
                <a:solidFill>
                  <a:srgbClr val="000000"/>
                </a:solidFill>
                <a:latin typeface="맑은 고딕"/>
                <a:ea typeface="맑은 고딕"/>
              </a:rPr>
              <a:t>(Association)</a:t>
            </a:r>
            <a:r>
              <a:rPr sz="1800" b="0">
                <a:solidFill>
                  <a:srgbClr val="000000"/>
                </a:solidFill>
                <a:latin typeface="맑은 고딕"/>
                <a:ea typeface="맑은 고딕"/>
              </a:rPr>
              <a:t>은 개념 사이의 </a:t>
            </a:r>
            <a:r>
              <a:rPr sz="1800" b="1">
                <a:solidFill>
                  <a:srgbClr val="000000"/>
                </a:solidFill>
                <a:latin typeface="맑은 고딕"/>
                <a:ea typeface="맑은 고딕"/>
              </a:rPr>
              <a:t>의미 있는 관계</a:t>
            </a:r>
            <a:r>
              <a:rPr sz="1800" b="0">
                <a:solidFill>
                  <a:srgbClr val="000000"/>
                </a:solidFill>
                <a:latin typeface="맑은 고딕"/>
                <a:ea typeface="맑은 고딕"/>
              </a:rPr>
              <a:t>다. 이름을 붙일 수 없다면 </a:t>
            </a:r>
            <a:r>
              <a:rPr sz="1800" b="1">
                <a:solidFill>
                  <a:srgbClr val="000000"/>
                </a:solidFill>
                <a:latin typeface="맑은 고딕"/>
                <a:ea typeface="맑은 고딕"/>
              </a:rPr>
              <a:t>관계를 아직 모르는 것</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연관 이름</a:t>
            </a:r>
            <a:r>
              <a:rPr sz="1800" b="0">
                <a:solidFill>
                  <a:srgbClr val="000000"/>
                </a:solidFill>
                <a:latin typeface="맑은 고딕"/>
                <a:ea typeface="맑은 고딕"/>
              </a:rPr>
              <a:t> —</a:t>
            </a:r>
            <a:r>
              <a:rPr sz="1600" b="0">
                <a:solidFill>
                  <a:srgbClr val="000000"/>
                </a:solidFill>
                <a:latin typeface="맑은 고딕"/>
                <a:ea typeface="맑은 고딕"/>
              </a:rPr>
              <a:t> 동사구와 읽는 방향</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역할 이름</a:t>
            </a:r>
            <a:r>
              <a:rPr sz="1800" b="0">
                <a:solidFill>
                  <a:srgbClr val="000000"/>
                </a:solidFill>
                <a:latin typeface="맑은 고딕"/>
                <a:ea typeface="맑은 고딕"/>
              </a:rPr>
              <a:t> —</a:t>
            </a:r>
            <a:r>
              <a:rPr sz="1600" b="0">
                <a:solidFill>
                  <a:srgbClr val="000000"/>
                </a:solidFill>
                <a:latin typeface="맑은 고딕"/>
                <a:ea typeface="맑은 고딕"/>
              </a:rPr>
              <a:t> 관계에서 맡는 역할이 이름과 다를 때</a:t>
            </a:r>
          </a:p>
        </p:txBody>
      </p:sp>
      <p:pic>
        <p:nvPicPr>
          <p:cNvPr id="9" name="plantuml Diagram 8"/>
          <p:cNvPicPr>
            <a:picLocks noChangeAspect="1"/>
          </p:cNvPicPr>
          <p:nvPr/>
        </p:nvPicPr>
        <p:blipFill>
          <a:blip r:embed="plantumlImage8"/>
          <a:stretch>
            <a:fillRect/>
          </a:stretch>
        </p:blipFill>
        <p:spPr>
          <a:xfrm>
            <a:off x="734646" y="3828313"/>
            <a:ext cx="7674708" cy="801077"/>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26. 필요한 연관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가능한 모든 관계를 그리지 않는다. </a:t>
            </a:r>
            <a:r>
              <a:rPr sz="1800" b="1">
                <a:solidFill>
                  <a:srgbClr val="000000"/>
                </a:solidFill>
                <a:latin typeface="맑은 고딕"/>
                <a:ea typeface="맑은 고딕"/>
              </a:rPr>
              <a:t>요구를 충족하려면 기억해야 하는 관계</a:t>
            </a:r>
            <a:r>
              <a:rPr sz="1800" b="0">
                <a:solidFill>
                  <a:srgbClr val="000000"/>
                </a:solidFill>
                <a:latin typeface="맑은 고딕"/>
                <a:ea typeface="맑은 고딕"/>
              </a:rPr>
              <a:t>를 우선한다.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알아야 하는 연관</a:t>
            </a:r>
            <a:r>
              <a:rPr sz="1800" b="0">
                <a:solidFill>
                  <a:srgbClr val="000000"/>
                </a:solidFill>
                <a:latin typeface="맑은 고딕"/>
                <a:ea typeface="맑은 고딕"/>
              </a:rPr>
              <a:t> —</a:t>
            </a:r>
            <a:r>
              <a:rPr sz="1600" b="0">
                <a:solidFill>
                  <a:srgbClr val="000000"/>
                </a:solidFill>
                <a:latin typeface="맑은 고딕"/>
                <a:ea typeface="맑은 고딕"/>
              </a:rPr>
              <a:t> 없으면 요구를 만족할 수 없다. 예: 주문–결제</a:t>
            </a:r>
            <a:r>
              <a:rPr sz="1200" b="0">
                <a:solidFill>
                  <a:srgbClr val="000000"/>
                </a:solidFill>
                <a:latin typeface="맑은 고딕"/>
                <a:ea typeface="맑은 고딕"/>
              </a:rPr>
              <a:t>(전액 환불 확인)</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이해를 돕는 연관</a:t>
            </a:r>
            <a:r>
              <a:rPr sz="1800" b="0">
                <a:solidFill>
                  <a:srgbClr val="000000"/>
                </a:solidFill>
                <a:latin typeface="맑은 고딕"/>
                <a:ea typeface="맑은 고딕"/>
              </a:rPr>
              <a:t> —</a:t>
            </a:r>
            <a:r>
              <a:rPr sz="1600" b="0">
                <a:solidFill>
                  <a:srgbClr val="000000"/>
                </a:solidFill>
                <a:latin typeface="맑은 고딕"/>
                <a:ea typeface="맑은 고딕"/>
              </a:rPr>
              <a:t> 도메인 이해를 돕는다. 예: 상품–상품 카탈로그</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과잉 연관</a:t>
            </a:r>
            <a:r>
              <a:rPr sz="1800" b="0">
                <a:solidFill>
                  <a:srgbClr val="000000"/>
                </a:solidFill>
                <a:latin typeface="맑은 고딕"/>
                <a:ea typeface="맑은 고딕"/>
              </a:rPr>
              <a:t> —</a:t>
            </a:r>
            <a:r>
              <a:rPr sz="1600" b="0">
                <a:solidFill>
                  <a:srgbClr val="000000"/>
                </a:solidFill>
                <a:latin typeface="맑은 고딕"/>
                <a:ea typeface="맑은 고딕"/>
              </a:rPr>
              <a:t> 다른 경로로 이미 알 수 있다. 예: 고객–상품 "구매했다"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빈 이름</a:t>
            </a:r>
            <a:r>
              <a:rPr sz="1800" b="0">
                <a:solidFill>
                  <a:srgbClr val="000000"/>
                </a:solidFill>
                <a:latin typeface="맑은 고딕"/>
                <a:ea typeface="맑은 고딕"/>
              </a:rPr>
              <a:t> —</a:t>
            </a:r>
            <a:r>
              <a:rPr sz="1600" b="0">
                <a:solidFill>
                  <a:srgbClr val="000000"/>
                </a:solidFill>
                <a:latin typeface="맑은 고딕"/>
                <a:ea typeface="맑은 고딕"/>
              </a:rPr>
              <a:t> "관련된다", "가진다"는 의미가 없다.</a:t>
            </a:r>
          </a:p>
        </p:txBody>
      </p:sp>
    </p:spTree>
    <p:extLst>
      <p:ext uri="{BB962C8B-B14F-4D97-AF65-F5344CB8AC3E}">
        <p14:creationId xmlns:p14="http://schemas.microsoft.com/office/powerpoint/2010/main" val="355543667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27. 다중성</a:t>
            </a:r>
          </a:p>
          <a:p>
            <a:r>
              <a:rPr sz="1100" b="1">
                <a:solidFill>
                  <a:srgbClr val="000000"/>
                </a:solidFill>
                <a:latin typeface="맑은 고딕"/>
                <a:ea typeface="맑은 고딕"/>
              </a:rPr>
              <a:t>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838006" y="1842998"/>
          <a:ext cx="3454400" cy="3873500"/>
        </p:xfrm>
        <a:graphic>
          <a:graphicData uri="http://schemas.openxmlformats.org/drawingml/2006/table">
            <a:tbl>
              <a:tblPr/>
              <a:tblGrid>
                <a:gridCol w="889000"/>
                <a:gridCol w="1087120"/>
                <a:gridCol w="147828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정확히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 → 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0..1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없거나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0..*</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0개 이상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 → 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1개 이상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다중성</a:t>
            </a:r>
            <a:r>
              <a:rPr sz="1400" b="0">
                <a:solidFill>
                  <a:srgbClr val="000000"/>
                </a:solidFill>
                <a:latin typeface="맑은 고딕"/>
                <a:ea typeface="맑은 고딕"/>
              </a:rPr>
              <a:t>(Multiplicity)</a:t>
            </a:r>
            <a:r>
              <a:rPr sz="1800" b="0">
                <a:solidFill>
                  <a:srgbClr val="000000"/>
                </a:solidFill>
                <a:latin typeface="맑은 고딕"/>
                <a:ea typeface="맑은 고딕"/>
              </a:rPr>
              <a:t>은 </a:t>
            </a:r>
            <a:r>
              <a:rPr sz="1800" b="1">
                <a:solidFill>
                  <a:srgbClr val="000000"/>
                </a:solidFill>
                <a:latin typeface="맑은 고딕"/>
                <a:ea typeface="맑은 고딕"/>
              </a:rPr>
              <a:t>특정 시점</a:t>
            </a:r>
            <a:r>
              <a:rPr sz="1800" b="0">
                <a:solidFill>
                  <a:srgbClr val="000000"/>
                </a:solidFill>
                <a:latin typeface="맑은 고딕"/>
                <a:ea typeface="맑은 고딕"/>
              </a:rPr>
              <a:t>에 한 인스턴스가 상대 인스턴스 </a:t>
            </a:r>
            <a:r>
              <a:rPr sz="1800" b="1">
                <a:solidFill>
                  <a:srgbClr val="000000"/>
                </a:solidFill>
                <a:latin typeface="맑은 고딕"/>
                <a:ea typeface="맑은 고딕"/>
              </a:rPr>
              <a:t>몇 개와 관계할 수 있는지</a:t>
            </a:r>
            <a:r>
              <a:rPr sz="1800" b="0">
                <a:solidFill>
                  <a:srgbClr val="000000"/>
                </a:solidFill>
                <a:latin typeface="맑은 고딕"/>
                <a:ea typeface="맑은 고딕"/>
              </a:rPr>
              <a:t>를 나타낸다.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- 34 -</a:t>
            </a:r>
          </a:p>
        </p:txBody>
      </p:sp>
    </p:spTree>
    <p:extLst>
      <p:ext uri="{BB962C8B-B14F-4D97-AF65-F5344CB8AC3E}">
        <p14:creationId xmlns:p14="http://schemas.microsoft.com/office/powerpoint/2010/main" val="278956947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28. 다중성과 업무 규칙</a:t>
            </a:r>
          </a:p>
          <a:p>
            <a:r>
              <a:rPr sz="1100" b="1">
                <a:solidFill>
                  <a:srgbClr val="000000"/>
                </a:solidFill>
                <a:latin typeface="맑은 고딕"/>
                <a:ea typeface="맑은 고딕"/>
              </a:rPr>
              <a:t>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318576" y="1842998"/>
          <a:ext cx="4493260" cy="3873500"/>
        </p:xfrm>
        <a:graphic>
          <a:graphicData uri="http://schemas.openxmlformats.org/drawingml/2006/table">
            <a:tbl>
              <a:tblPr/>
              <a:tblGrid>
                <a:gridCol w="1115060"/>
                <a:gridCol w="337820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 결제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함께 결정되는 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없는 주문은 없다 → "결제 대기"와 모순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0..1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전 주문이 있고, 한 번에 결제한다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0..*</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분할 결제·재결제가 기록된다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숫자 하나를 정하면 </a:t>
            </a:r>
            <a:r>
              <a:rPr sz="1800" b="1">
                <a:solidFill>
                  <a:srgbClr val="000000"/>
                </a:solidFill>
                <a:latin typeface="맑은 고딕"/>
                <a:ea typeface="맑은 고딕"/>
              </a:rPr>
              <a:t>업무 규칙을 결정</a:t>
            </a:r>
            <a:r>
              <a:rPr sz="1800" b="0">
                <a:solidFill>
                  <a:srgbClr val="000000"/>
                </a:solidFill>
                <a:latin typeface="맑은 고딕"/>
                <a:ea typeface="맑은 고딕"/>
              </a:rPr>
              <a:t>하게 된다. 모르면 확정하지 않고 </a:t>
            </a:r>
            <a:r>
              <a:rPr sz="1800" b="1">
                <a:solidFill>
                  <a:srgbClr val="000000"/>
                </a:solidFill>
                <a:latin typeface="맑은 고딕"/>
                <a:ea typeface="맑은 고딕"/>
              </a:rPr>
              <a:t>질문으로 남긴다</a:t>
            </a:r>
            <a:r>
              <a:rPr sz="18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- 35 -</a:t>
            </a:r>
          </a:p>
        </p:txBody>
      </p:sp>
    </p:spTree>
    <p:extLst>
      <p:ext uri="{BB962C8B-B14F-4D97-AF65-F5344CB8AC3E}">
        <p14:creationId xmlns:p14="http://schemas.microsoft.com/office/powerpoint/2010/main" val="278956947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29. 평면 모델</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모든 정보를 하나의 개념에 </a:t>
            </a:r>
            <a:r>
              <a:rPr sz="1800" b="1">
                <a:solidFill>
                  <a:srgbClr val="000000"/>
                </a:solidFill>
                <a:latin typeface="맑은 고딕"/>
                <a:ea typeface="맑은 고딕"/>
              </a:rPr>
              <a:t>평평하게</a:t>
            </a:r>
            <a:r>
              <a:rPr sz="1800" b="0">
                <a:solidFill>
                  <a:srgbClr val="000000"/>
                </a:solidFill>
                <a:latin typeface="맑은 고딕"/>
                <a:ea typeface="맑은 고딕"/>
              </a:rPr>
              <a:t> 담으면 반복되는 정보와 생애가 다른 정보가 섞인다.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상품이 늘면 </a:t>
            </a:r>
            <a:r>
              <a:rPr sz="1800" b="1">
                <a:solidFill>
                  <a:srgbClr val="000000"/>
                </a:solidFill>
                <a:latin typeface="맑은 고딕"/>
                <a:ea typeface="맑은 고딕"/>
              </a:rPr>
              <a:t>속성을 추가</a:t>
            </a:r>
            <a:r>
              <a:rPr sz="1800" b="0">
                <a:solidFill>
                  <a:srgbClr val="000000"/>
                </a:solidFill>
                <a:latin typeface="맑은 고딕"/>
                <a:ea typeface="맑은 고딕"/>
              </a:rPr>
              <a:t>해야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상품명1</a:t>
            </a:r>
            <a:r>
              <a:rPr sz="1800" b="0">
                <a:solidFill>
                  <a:srgbClr val="000000"/>
                </a:solidFill>
                <a:latin typeface="맑은 고딕"/>
                <a:ea typeface="맑은 고딕"/>
              </a:rPr>
              <a:t>·</a:t>
            </a:r>
            <a:r>
              <a:rPr sz="1800" b="0">
                <a:solidFill>
                  <a:srgbClr val="000000"/>
                </a:solidFill>
                <a:latin typeface="맑은 고딕"/>
                <a:ea typeface="맑은 고딕"/>
              </a:rPr>
              <a:t>단가1</a:t>
            </a:r>
            <a:r>
              <a:rPr sz="1800" b="0">
                <a:solidFill>
                  <a:srgbClr val="000000"/>
                </a:solidFill>
                <a:latin typeface="맑은 고딕"/>
                <a:ea typeface="맑은 고딕"/>
              </a:rPr>
              <a:t>의 묶음을 </a:t>
            </a:r>
            <a:r>
              <a:rPr sz="1800" b="1">
                <a:solidFill>
                  <a:srgbClr val="000000"/>
                </a:solidFill>
                <a:latin typeface="맑은 고딕"/>
                <a:ea typeface="맑은 고딕"/>
              </a:rPr>
              <a:t>이름의 숫자</a:t>
            </a:r>
            <a:r>
              <a:rPr sz="1800" b="0">
                <a:solidFill>
                  <a:srgbClr val="000000"/>
                </a:solidFill>
                <a:latin typeface="맑은 고딕"/>
                <a:ea typeface="맑은 고딕"/>
              </a:rPr>
              <a:t>로만 표현한다.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반복되는 속성 묶음은 </a:t>
            </a:r>
            <a:r>
              <a:rPr sz="1800" b="1">
                <a:solidFill>
                  <a:srgbClr val="000000"/>
                </a:solidFill>
                <a:latin typeface="맑은 고딕"/>
                <a:ea typeface="맑은 고딕"/>
              </a:rPr>
              <a:t>숨은 개념</a:t>
            </a:r>
            <a:r>
              <a:rPr sz="1800" b="0">
                <a:solidFill>
                  <a:srgbClr val="000000"/>
                </a:solidFill>
                <a:latin typeface="맑은 고딕"/>
                <a:ea typeface="맑은 고딕"/>
              </a:rPr>
              <a:t>의 신호다.</a:t>
            </a:r>
          </a:p>
        </p:txBody>
      </p:sp>
      <p:pic>
        <p:nvPicPr>
          <p:cNvPr id="9" name="plantuml Diagram 9"/>
          <p:cNvPicPr>
            <a:picLocks noChangeAspect="1"/>
          </p:cNvPicPr>
          <p:nvPr/>
        </p:nvPicPr>
        <p:blipFill>
          <a:blip r:embed="plantumlImage9"/>
          <a:stretch>
            <a:fillRect/>
          </a:stretch>
        </p:blipFill>
        <p:spPr>
          <a:xfrm>
            <a:off x="3802185" y="3450579"/>
            <a:ext cx="1539631" cy="2715846"/>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30. 주문과 주문 항목</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반복되는 묶음을 </a:t>
            </a:r>
            <a:r>
              <a:rPr sz="1800" b="1">
                <a:solidFill>
                  <a:srgbClr val="000000"/>
                </a:solidFill>
                <a:latin typeface="맑은 고딕"/>
                <a:ea typeface="맑은 고딕"/>
              </a:rPr>
              <a:t>주문 항목</a:t>
            </a:r>
            <a:r>
              <a:rPr sz="1800" b="0">
                <a:solidFill>
                  <a:srgbClr val="000000"/>
                </a:solidFill>
                <a:latin typeface="맑은 고딕"/>
                <a:ea typeface="맑은 고딕"/>
              </a:rPr>
              <a:t>으로 분리하면 "한 주문에 여러 상품"이 </a:t>
            </a:r>
            <a:r>
              <a:rPr sz="1800" b="1">
                <a:solidFill>
                  <a:srgbClr val="000000"/>
                </a:solidFill>
                <a:latin typeface="맑은 고딕"/>
                <a:ea typeface="맑은 고딕"/>
              </a:rPr>
              <a:t>구조</a:t>
            </a:r>
            <a:r>
              <a:rPr sz="1800" b="0">
                <a:solidFill>
                  <a:srgbClr val="000000"/>
                </a:solidFill>
                <a:latin typeface="맑은 고딕"/>
                <a:ea typeface="맑은 고딕"/>
              </a:rPr>
              <a:t>로 드러난다.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 항목</a:t>
            </a:r>
            <a:r>
              <a:rPr sz="1800" b="0">
                <a:solidFill>
                  <a:srgbClr val="000000"/>
                </a:solidFill>
                <a:latin typeface="맑은 고딕"/>
                <a:ea typeface="맑은 고딕"/>
              </a:rPr>
              <a:t> —</a:t>
            </a:r>
            <a:r>
              <a:rPr sz="1600" b="0">
                <a:solidFill>
                  <a:srgbClr val="000000"/>
                </a:solidFill>
                <a:latin typeface="맑은 고딕"/>
                <a:ea typeface="맑은 고딕"/>
              </a:rPr>
              <a:t> 이 주문에서 이 상품을 </a:t>
            </a:r>
            <a:r>
              <a:rPr sz="1600" b="1">
                <a:solidFill>
                  <a:srgbClr val="000000"/>
                </a:solidFill>
                <a:latin typeface="맑은 고딕"/>
                <a:ea typeface="맑은 고딕"/>
              </a:rPr>
              <a:t>몇 개, 얼마에</a:t>
            </a:r>
            <a:r>
              <a:rPr sz="1600" b="0">
                <a:solidFill>
                  <a:srgbClr val="000000"/>
                </a:solidFill>
                <a:latin typeface="맑은 고딕"/>
                <a:ea typeface="맑은 고딕"/>
              </a:rPr>
              <a:t> 샀는가. 주문도 상품도 아닌 </a:t>
            </a:r>
            <a:r>
              <a:rPr sz="1600" b="1">
                <a:solidFill>
                  <a:srgbClr val="000000"/>
                </a:solidFill>
                <a:latin typeface="맑은 고딕"/>
                <a:ea typeface="맑은 고딕"/>
              </a:rPr>
              <a:t>둘 사이의 사실</a:t>
            </a:r>
            <a:r>
              <a:rPr sz="1600" b="0">
                <a:solidFill>
                  <a:srgbClr val="000000"/>
                </a:solidFill>
                <a:latin typeface="맑은 고딕"/>
                <a:ea typeface="맑은 고딕"/>
              </a:rPr>
              <a:t>이다.</a:t>
            </a:r>
          </a:p>
        </p:txBody>
      </p:sp>
      <p:pic>
        <p:nvPicPr>
          <p:cNvPr id="9" name="plantuml Diagram 10"/>
          <p:cNvPicPr>
            <a:picLocks noChangeAspect="1"/>
          </p:cNvPicPr>
          <p:nvPr/>
        </p:nvPicPr>
        <p:blipFill>
          <a:blip r:embed="plantumlImage10"/>
          <a:stretch>
            <a:fillRect/>
          </a:stretch>
        </p:blipFill>
        <p:spPr>
          <a:xfrm>
            <a:off x="1273908" y="3539236"/>
            <a:ext cx="6596185" cy="127781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31. 연관 클래스 </a:t>
            </a:r>
            <a:r>
              <a:rPr sz="2000" b="1">
                <a:solidFill>
                  <a:srgbClr val="000000"/>
                </a:solidFill>
                <a:latin typeface="맑은 고딕"/>
                <a:ea typeface="맑은 고딕"/>
              </a:rPr>
              <a:t>(1/2)</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주문과 상품은 </a:t>
            </a:r>
            <a:r>
              <a:rPr sz="1800" b="1">
                <a:solidFill>
                  <a:srgbClr val="000000"/>
                </a:solidFill>
                <a:latin typeface="맑은 고딕"/>
                <a:ea typeface="맑은 고딕"/>
              </a:rPr>
              <a:t>다대다</a:t>
            </a:r>
            <a:r>
              <a:rPr sz="1800" b="0">
                <a:solidFill>
                  <a:srgbClr val="000000"/>
                </a:solidFill>
                <a:latin typeface="맑은 고딕"/>
                <a:ea typeface="맑은 고딕"/>
              </a:rPr>
              <a:t>다. 선 하나로는 수량·단가를 둘 곳이 없다.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수량은 주문의 속성도, 상품의 속성도 아니다. </a:t>
            </a:r>
            <a:r>
              <a:rPr sz="1800" b="1">
                <a:solidFill>
                  <a:srgbClr val="000000"/>
                </a:solidFill>
                <a:latin typeface="맑은 고딕"/>
                <a:ea typeface="맑은 고딕"/>
              </a:rPr>
              <a:t>"이 주문–이 상품" 관계</a:t>
            </a:r>
            <a:r>
              <a:rPr sz="1800" b="0">
                <a:solidFill>
                  <a:srgbClr val="000000"/>
                </a:solidFill>
                <a:latin typeface="맑은 고딕"/>
                <a:ea typeface="맑은 고딕"/>
              </a:rPr>
              <a:t>에 속한다.</a:t>
            </a:r>
          </a:p>
        </p:txBody>
      </p:sp>
      <p:pic>
        <p:nvPicPr>
          <p:cNvPr id="9" name="plantuml Diagram 11"/>
          <p:cNvPicPr>
            <a:picLocks noChangeAspect="1"/>
          </p:cNvPicPr>
          <p:nvPr/>
        </p:nvPicPr>
        <p:blipFill>
          <a:blip r:embed="plantumlImage11"/>
          <a:stretch>
            <a:fillRect/>
          </a:stretch>
        </p:blipFill>
        <p:spPr>
          <a:xfrm>
            <a:off x="2938585" y="3684641"/>
            <a:ext cx="3266831" cy="801077"/>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31. 연관 클래스 </a:t>
            </a:r>
            <a:r>
              <a:rPr sz="2000" b="1">
                <a:solidFill>
                  <a:srgbClr val="000000"/>
                </a:solidFill>
                <a:latin typeface="맑은 고딕"/>
                <a:ea typeface="맑은 고딕"/>
              </a:rPr>
              <a:t>(2/2)</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관계 자체가 정보를 가지면 </a:t>
            </a:r>
            <a:r>
              <a:rPr sz="1800" b="1">
                <a:solidFill>
                  <a:srgbClr val="000000"/>
                </a:solidFill>
                <a:latin typeface="맑은 고딕"/>
                <a:ea typeface="맑은 고딕"/>
              </a:rPr>
              <a:t>연관 클래스</a:t>
            </a:r>
            <a:r>
              <a:rPr sz="1400" b="0">
                <a:solidFill>
                  <a:srgbClr val="000000"/>
                </a:solidFill>
                <a:latin typeface="맑은 고딕"/>
                <a:ea typeface="맑은 고딕"/>
              </a:rPr>
              <a:t>(Association Class)</a:t>
            </a:r>
            <a:r>
              <a:rPr sz="1800" b="0">
                <a:solidFill>
                  <a:srgbClr val="000000"/>
                </a:solidFill>
                <a:latin typeface="맑은 고딕"/>
                <a:ea typeface="맑은 고딕"/>
              </a:rPr>
              <a:t>로 표현한다.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"다대다는 중간 클래스로 푼다"를 암기하지 않는다. </a:t>
            </a:r>
            <a:r>
              <a:rPr sz="1800" b="1">
                <a:solidFill>
                  <a:srgbClr val="000000"/>
                </a:solidFill>
                <a:latin typeface="맑은 고딕"/>
                <a:ea typeface="맑은 고딕"/>
              </a:rPr>
              <a:t>관계에 정보가 있는지</a:t>
            </a:r>
            <a:r>
              <a:rPr sz="1800" b="0">
                <a:solidFill>
                  <a:srgbClr val="000000"/>
                </a:solidFill>
                <a:latin typeface="맑은 고딕"/>
                <a:ea typeface="맑은 고딕"/>
              </a:rPr>
              <a:t> 먼저 본다.</a:t>
            </a:r>
          </a:p>
        </p:txBody>
      </p:sp>
      <p:pic>
        <p:nvPicPr>
          <p:cNvPr id="9" name="plantuml Diagram 12"/>
          <p:cNvPicPr>
            <a:picLocks noChangeAspect="1"/>
          </p:cNvPicPr>
          <p:nvPr/>
        </p:nvPicPr>
        <p:blipFill>
          <a:blip r:embed="plantumlImage12"/>
          <a:stretch>
            <a:fillRect/>
          </a:stretch>
        </p:blipFill>
        <p:spPr>
          <a:xfrm>
            <a:off x="2274277" y="3052728"/>
            <a:ext cx="4595446" cy="2250831"/>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32. 명세 개념</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명세 개념</a:t>
            </a:r>
            <a:r>
              <a:rPr sz="1400" b="0">
                <a:solidFill>
                  <a:srgbClr val="000000"/>
                </a:solidFill>
                <a:latin typeface="맑은 고딕"/>
                <a:ea typeface="맑은 고딕"/>
              </a:rPr>
              <a:t>(Specification Concept)</a:t>
            </a:r>
            <a:r>
              <a:rPr sz="1800" b="0">
                <a:solidFill>
                  <a:srgbClr val="000000"/>
                </a:solidFill>
                <a:latin typeface="맑은 고딕"/>
                <a:ea typeface="맑은 고딕"/>
              </a:rPr>
              <a:t>은 </a:t>
            </a:r>
            <a:r>
              <a:rPr sz="1800" b="1">
                <a:solidFill>
                  <a:srgbClr val="000000"/>
                </a:solidFill>
                <a:latin typeface="맑은 고딕"/>
                <a:ea typeface="맑은 고딕"/>
              </a:rPr>
              <a:t>설명 정보</a:t>
            </a:r>
            <a:r>
              <a:rPr sz="1800" b="0">
                <a:solidFill>
                  <a:srgbClr val="000000"/>
                </a:solidFill>
                <a:latin typeface="맑은 고딕"/>
                <a:ea typeface="맑은 고딕"/>
              </a:rPr>
              <a:t>를 담아 </a:t>
            </a:r>
            <a:r>
              <a:rPr sz="1800" b="1">
                <a:solidFill>
                  <a:srgbClr val="000000"/>
                </a:solidFill>
                <a:latin typeface="맑은 고딕"/>
                <a:ea typeface="맑은 고딕"/>
              </a:rPr>
              <a:t>개별 실물</a:t>
            </a:r>
            <a:r>
              <a:rPr sz="1800" b="0">
                <a:solidFill>
                  <a:srgbClr val="000000"/>
                </a:solidFill>
                <a:latin typeface="맑은 고딕"/>
                <a:ea typeface="맑은 고딕"/>
              </a:rPr>
              <a:t>과 구분한다. 실물이 모두 사라져도 설명은 남는다.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필요할 때</a:t>
            </a:r>
            <a:r>
              <a:rPr sz="1800" b="0">
                <a:solidFill>
                  <a:srgbClr val="000000"/>
                </a:solidFill>
                <a:latin typeface="맑은 고딕"/>
                <a:ea typeface="맑은 고딕"/>
              </a:rPr>
              <a:t> —</a:t>
            </a:r>
            <a:r>
              <a:rPr sz="1600" b="0">
                <a:solidFill>
                  <a:srgbClr val="000000"/>
                </a:solidFill>
                <a:latin typeface="맑은 고딕"/>
                <a:ea typeface="맑은 고딕"/>
              </a:rPr>
              <a:t> 재고가 0이어도 상품 정보를 보여주거나, 일련번호별로 추적해야 할 때</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현재 모델</a:t>
            </a:r>
            <a:r>
              <a:rPr sz="1800" b="0">
                <a:solidFill>
                  <a:srgbClr val="000000"/>
                </a:solidFill>
                <a:latin typeface="맑은 고딕"/>
                <a:ea typeface="맑은 고딕"/>
              </a:rPr>
              <a:t> —</a:t>
            </a:r>
            <a:r>
              <a:rPr sz="1600" b="0">
                <a:solidFill>
                  <a:srgbClr val="000000"/>
                </a:solidFill>
                <a:latin typeface="맑은 고딕"/>
                <a:ea typeface="맑은 고딕"/>
              </a:rPr>
              <a:t> 개별 실물 추적 요구가 없으므로 </a:t>
            </a:r>
            <a:r>
              <a:rPr sz="1600" b="1">
                <a:solidFill>
                  <a:srgbClr val="000000"/>
                </a:solidFill>
                <a:latin typeface="맑은 고딕"/>
                <a:ea typeface="맑은 고딕"/>
              </a:rPr>
              <a:t>상품만</a:t>
            </a:r>
            <a:r>
              <a:rPr sz="1600" b="0">
                <a:solidFill>
                  <a:srgbClr val="000000"/>
                </a:solidFill>
                <a:latin typeface="맑은 고딕"/>
                <a:ea typeface="맑은 고딕"/>
              </a:rPr>
              <a:t> 둔다.</a:t>
            </a:r>
          </a:p>
        </p:txBody>
      </p:sp>
      <p:pic>
        <p:nvPicPr>
          <p:cNvPr id="9" name="plantuml Diagram 13"/>
          <p:cNvPicPr>
            <a:picLocks noChangeAspect="1"/>
          </p:cNvPicPr>
          <p:nvPr/>
        </p:nvPicPr>
        <p:blipFill>
          <a:blip r:embed="plantumlImage13"/>
          <a:stretch>
            <a:fillRect/>
          </a:stretch>
        </p:blipFill>
        <p:spPr>
          <a:xfrm>
            <a:off x="2563446" y="3682908"/>
            <a:ext cx="4017108" cy="127781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33. 현재 값과 확정 값</a:t>
            </a:r>
          </a:p>
          <a:p>
            <a:r>
              <a:rPr sz="1100" b="1">
                <a:solidFill>
                  <a:srgbClr val="000000"/>
                </a:solidFill>
                <a:latin typeface="맑은 고딕"/>
                <a:ea typeface="맑은 고딕"/>
              </a:rPr>
              <a:t>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670366" y="2497276"/>
          <a:ext cx="3789680" cy="3873500"/>
        </p:xfrm>
        <a:graphic>
          <a:graphicData uri="http://schemas.openxmlformats.org/drawingml/2006/table">
            <a:tbl>
              <a:tblPr/>
              <a:tblGrid>
                <a:gridCol w="889000"/>
                <a:gridCol w="1450340"/>
                <a:gridCol w="145034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현재 값</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확정 값</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상품의 판매가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항목의 단가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고객의 기본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배송지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43555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같은 이름의 정보라도 </a:t>
            </a:r>
            <a:r>
              <a:rPr sz="1800" b="1">
                <a:solidFill>
                  <a:srgbClr val="000000"/>
                </a:solidFill>
                <a:latin typeface="맑은 고딕"/>
                <a:ea typeface="맑은 고딕"/>
              </a:rPr>
              <a:t>지금의 값을 참조</a:t>
            </a:r>
            <a:r>
              <a:rPr sz="1800" b="0">
                <a:solidFill>
                  <a:srgbClr val="000000"/>
                </a:solidFill>
                <a:latin typeface="맑은 고딕"/>
                <a:ea typeface="맑은 고딕"/>
              </a:rPr>
              <a:t>하는지, </a:t>
            </a:r>
            <a:r>
              <a:rPr sz="1800" b="1">
                <a:solidFill>
                  <a:srgbClr val="000000"/>
                </a:solidFill>
                <a:latin typeface="맑은 고딕"/>
                <a:ea typeface="맑은 고딕"/>
              </a:rPr>
              <a:t>특정 시점에 확정되어 보존</a:t>
            </a:r>
            <a:r>
              <a:rPr sz="1800" b="0">
                <a:solidFill>
                  <a:srgbClr val="000000"/>
                </a:solidFill>
                <a:latin typeface="맑은 고딕"/>
                <a:ea typeface="맑은 고딕"/>
              </a:rPr>
              <a:t>되는지에 따라 속한 개념이 다르다.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판매가가 내일 바뀌면 </a:t>
            </a:r>
            <a:r>
              <a:rPr sz="1800" b="1">
                <a:solidFill>
                  <a:srgbClr val="000000"/>
                </a:solidFill>
                <a:latin typeface="맑은 고딕"/>
                <a:ea typeface="맑은 고딕"/>
              </a:rPr>
              <a:t>어제 주문의 금액</a:t>
            </a:r>
            <a:r>
              <a:rPr sz="1800" b="0">
                <a:solidFill>
                  <a:srgbClr val="000000"/>
                </a:solidFill>
                <a:latin typeface="맑은 고딕"/>
                <a:ea typeface="맑은 고딕"/>
              </a:rPr>
              <a:t>도 바뀌어야 하는가? 아니라면 주문 쪽에 </a:t>
            </a:r>
            <a:r>
              <a:rPr sz="1800" b="1">
                <a:solidFill>
                  <a:srgbClr val="000000"/>
                </a:solidFill>
                <a:latin typeface="맑은 고딕"/>
                <a:ea typeface="맑은 고딕"/>
              </a:rPr>
              <a:t>확정 값</a:t>
            </a:r>
            <a:r>
              <a:rPr sz="1800" b="0">
                <a:solidFill>
                  <a:srgbClr val="000000"/>
                </a:solidFill>
                <a:latin typeface="맑은 고딕"/>
                <a:ea typeface="맑은 고딕"/>
              </a:rPr>
              <a:t>으로 보존한다.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- 41 -</a:t>
            </a:r>
          </a:p>
        </p:txBody>
      </p:sp>
    </p:spTree>
    <p:extLst>
      <p:ext uri="{BB962C8B-B14F-4D97-AF65-F5344CB8AC3E}">
        <p14:creationId xmlns:p14="http://schemas.microsoft.com/office/powerpoint/2010/main" val="278956947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34. 같은 구조, 다른 의미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530666" y="1842998"/>
          <a:ext cx="4069080" cy="3873500"/>
        </p:xfrm>
        <a:graphic>
          <a:graphicData uri="http://schemas.openxmlformats.org/drawingml/2006/table">
            <a:tbl>
              <a:tblPr/>
              <a:tblGrid>
                <a:gridCol w="889000"/>
                <a:gridCol w="1506220"/>
                <a:gridCol w="167386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장바구니 항목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항목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의미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사려는 의도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성립한 거래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현재 판매가 참조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시점 단가 확정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자유롭게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임의로 바꿀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생애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주문하면 비워진다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기록으로 남는다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구조가 같아도 </a:t>
            </a:r>
            <a:r>
              <a:rPr sz="1800" b="1">
                <a:solidFill>
                  <a:srgbClr val="000000"/>
                </a:solidFill>
                <a:latin typeface="맑은 고딕"/>
                <a:ea typeface="맑은 고딕"/>
              </a:rPr>
              <a:t>의미와 생애가 다르면 다른 개념</a:t>
            </a:r>
            <a:r>
              <a:rPr sz="1800" b="0">
                <a:solidFill>
                  <a:srgbClr val="000000"/>
                </a:solidFill>
                <a:latin typeface="맑은 고딕"/>
                <a:ea typeface="맑은 고딕"/>
              </a:rPr>
              <a:t>이다. 장바구니 항목과 주문 항목은 모두 "상품과 수량"을 가진다.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- 42 -</a:t>
            </a:r>
          </a:p>
        </p:txBody>
      </p:sp>
    </p:spTree>
    <p:extLst>
      <p:ext uri="{BB962C8B-B14F-4D97-AF65-F5344CB8AC3E}">
        <p14:creationId xmlns:p14="http://schemas.microsoft.com/office/powerpoint/2010/main" val="278956947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35. 일반화</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일반화</a:t>
            </a:r>
            <a:r>
              <a:rPr sz="1400" b="0">
                <a:solidFill>
                  <a:srgbClr val="000000"/>
                </a:solidFill>
                <a:latin typeface="맑은 고딕"/>
                <a:ea typeface="맑은 고딕"/>
              </a:rPr>
              <a:t>(Generalization)</a:t>
            </a:r>
            <a:r>
              <a:rPr sz="1800" b="0">
                <a:solidFill>
                  <a:srgbClr val="000000"/>
                </a:solidFill>
                <a:latin typeface="맑은 고딕"/>
                <a:ea typeface="맑은 고딕"/>
              </a:rPr>
              <a:t>는 특수 개념이 일반 개념의 </a:t>
            </a:r>
            <a:r>
              <a:rPr sz="1800" b="1">
                <a:solidFill>
                  <a:srgbClr val="000000"/>
                </a:solidFill>
                <a:latin typeface="맑은 고딕"/>
                <a:ea typeface="맑은 고딕"/>
              </a:rPr>
              <a:t>한 종류</a:t>
            </a:r>
            <a:r>
              <a:rPr sz="1800" b="0">
                <a:solidFill>
                  <a:srgbClr val="000000"/>
                </a:solidFill>
                <a:latin typeface="맑은 고딕"/>
                <a:ea typeface="맑은 고딕"/>
              </a:rPr>
              <a:t>이고 일반 개념의 정의가 </a:t>
            </a:r>
            <a:r>
              <a:rPr sz="1800" b="1">
                <a:solidFill>
                  <a:srgbClr val="000000"/>
                </a:solidFill>
                <a:latin typeface="맑은 고딕"/>
                <a:ea typeface="맑은 고딕"/>
              </a:rPr>
              <a:t>모두 적용될 때</a:t>
            </a:r>
            <a:r>
              <a:rPr sz="1800" b="0">
                <a:solidFill>
                  <a:srgbClr val="000000"/>
                </a:solidFill>
                <a:latin typeface="맑은 고딕"/>
                <a:ea typeface="맑은 고딕"/>
              </a:rPr>
              <a:t> 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쓸 때</a:t>
            </a:r>
            <a:r>
              <a:rPr sz="1800" b="0">
                <a:solidFill>
                  <a:srgbClr val="000000"/>
                </a:solidFill>
                <a:latin typeface="맑은 고딕"/>
                <a:ea typeface="맑은 고딕"/>
              </a:rPr>
              <a:t> —</a:t>
            </a:r>
            <a:r>
              <a:rPr sz="1600" b="0">
                <a:solidFill>
                  <a:srgbClr val="000000"/>
                </a:solidFill>
                <a:latin typeface="맑은 고딕"/>
                <a:ea typeface="맑은 고딕"/>
              </a:rPr>
              <a:t> "카드 결제는 결제의 한 종류"가 성립하고 고유한 속성·규칙이 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쓰지 않을 때</a:t>
            </a:r>
            <a:r>
              <a:rPr sz="1800" b="0">
                <a:solidFill>
                  <a:srgbClr val="000000"/>
                </a:solidFill>
                <a:latin typeface="맑은 고딕"/>
                <a:ea typeface="맑은 고딕"/>
              </a:rPr>
              <a:t> —</a:t>
            </a:r>
            <a:r>
              <a:rPr sz="1600" b="0">
                <a:solidFill>
                  <a:srgbClr val="000000"/>
                </a:solidFill>
                <a:latin typeface="맑은 고딕"/>
                <a:ea typeface="맑은 고딕"/>
              </a:rPr>
              <a:t> 차이가 값 하나뿐이면 </a:t>
            </a:r>
            <a:r>
              <a:rPr sz="1600" b="0">
                <a:solidFill>
                  <a:srgbClr val="000000"/>
                </a:solidFill>
                <a:latin typeface="맑은 고딕"/>
                <a:ea typeface="맑은 고딕"/>
              </a:rPr>
              <a:t>결제 수단</a:t>
            </a:r>
            <a:r>
              <a:rPr sz="1600" b="0">
                <a:solidFill>
                  <a:srgbClr val="000000"/>
                </a:solidFill>
                <a:latin typeface="맑은 고딕"/>
                <a:ea typeface="맑은 고딕"/>
              </a:rPr>
              <a:t> 속성으로 충분하다.</a:t>
            </a:r>
          </a:p>
        </p:txBody>
      </p:sp>
      <p:pic>
        <p:nvPicPr>
          <p:cNvPr id="9" name="plantuml Diagram 14"/>
          <p:cNvPicPr>
            <a:picLocks noChangeAspect="1"/>
          </p:cNvPicPr>
          <p:nvPr/>
        </p:nvPicPr>
        <p:blipFill>
          <a:blip r:embed="plantumlImage14"/>
          <a:stretch>
            <a:fillRect/>
          </a:stretch>
        </p:blipFill>
        <p:spPr>
          <a:xfrm>
            <a:off x="2844800" y="3540652"/>
            <a:ext cx="3454400" cy="236806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36. 전체와 부분</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전체–부분 관계는 </a:t>
            </a:r>
            <a:r>
              <a:rPr sz="1800" b="1">
                <a:solidFill>
                  <a:srgbClr val="000000"/>
                </a:solidFill>
                <a:latin typeface="맑은 고딕"/>
                <a:ea typeface="맑은 고딕"/>
              </a:rPr>
              <a:t>표기보다 의미가 먼저</a:t>
            </a:r>
            <a:r>
              <a:rPr sz="1800" b="0">
                <a:solidFill>
                  <a:srgbClr val="000000"/>
                </a:solidFill>
                <a:latin typeface="맑은 고딕"/>
                <a:ea typeface="맑은 고딕"/>
              </a:rPr>
              <a:t>다. 부분이 전체와 </a:t>
            </a:r>
            <a:r>
              <a:rPr sz="1800" b="1">
                <a:solidFill>
                  <a:srgbClr val="000000"/>
                </a:solidFill>
                <a:latin typeface="맑은 고딕"/>
                <a:ea typeface="맑은 고딕"/>
              </a:rPr>
              <a:t>소속과 생애</a:t>
            </a:r>
            <a:r>
              <a:rPr sz="1800" b="0">
                <a:solidFill>
                  <a:srgbClr val="000000"/>
                </a:solidFill>
                <a:latin typeface="맑은 고딕"/>
                <a:ea typeface="맑은 고딕"/>
              </a:rPr>
              <a:t>를 공유하는지 먼저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"집합</a:t>
            </a:r>
            <a:r>
              <a:rPr sz="1400" b="0">
                <a:solidFill>
                  <a:srgbClr val="000000"/>
                </a:solidFill>
                <a:latin typeface="맑은 고딕"/>
                <a:ea typeface="맑은 고딕"/>
              </a:rPr>
              <a:t>(속 빈 마름모)</a:t>
            </a:r>
            <a:r>
              <a:rPr sz="1800" b="0">
                <a:solidFill>
                  <a:srgbClr val="000000"/>
                </a:solidFill>
                <a:latin typeface="맑은 고딕"/>
                <a:ea typeface="맑은 고딕"/>
              </a:rPr>
              <a:t>은 일반 연관 이상의 의미가 없다. Jim Rumbaugh의 말대로 </a:t>
            </a:r>
            <a:r>
              <a:rPr sz="1800" b="1">
                <a:solidFill>
                  <a:srgbClr val="000000"/>
                </a:solidFill>
                <a:latin typeface="맑은 고딕"/>
                <a:ea typeface="맑은 고딕"/>
              </a:rPr>
              <a:t>모델링 위약</a:t>
            </a:r>
            <a:r>
              <a:rPr sz="1800" b="0">
                <a:solidFill>
                  <a:srgbClr val="000000"/>
                </a:solidFill>
                <a:latin typeface="맑은 고딕"/>
                <a:ea typeface="맑은 고딕"/>
              </a:rPr>
              <a:t>이다"</a:t>
            </a:r>
            <a:r>
              <a:rPr sz="1000" b="0">
                <a:solidFill>
                  <a:srgbClr val="000000"/>
                </a:solidFill>
                <a:latin typeface="맑은 고딕"/>
                <a:ea typeface="맑은 고딕"/>
              </a:rPr>
              <a:t>, </a:t>
            </a:r>
            <a:r>
              <a:rPr sz="1000" b="0">
                <a:solidFill>
                  <a:srgbClr val="000000"/>
                </a:solidFill>
                <a:latin typeface="맑은 고딕"/>
                <a:ea typeface="맑은 고딕"/>
              </a:rPr>
              <a:t>"aggregation (white diamond) has no semantics beyond that of a regular association. It is, as Jim Rumbaugh puts it, a modeling placebo."</a:t>
            </a:r>
            <a:r>
              <a:rPr sz="1000" b="0">
                <a:solidFill>
                  <a:srgbClr val="000000"/>
                </a:solidFill>
                <a:latin typeface="맑은 고딕"/>
                <a:ea typeface="맑은 고딕"/>
              </a:rPr>
              <a:t>, </a:t>
            </a:r>
            <a:r>
              <a:rPr sz="1000" b="0">
                <a:solidFill>
                  <a:srgbClr val="000000"/>
                </a:solidFill>
                <a:latin typeface="맑은 고딕"/>
                <a:ea typeface="맑은 고딕"/>
              </a:rPr>
              <a:t>Martin Fowler, 2003</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합성</a:t>
            </a:r>
            <a:r>
              <a:rPr sz="1400" b="0">
                <a:solidFill>
                  <a:srgbClr val="000000"/>
                </a:solidFill>
                <a:latin typeface="맑은 고딕"/>
                <a:ea typeface="맑은 고딕"/>
              </a:rPr>
              <a:t>(Composition)</a:t>
            </a:r>
            <a:r>
              <a:rPr sz="1800" b="0">
                <a:solidFill>
                  <a:srgbClr val="000000"/>
                </a:solidFill>
                <a:latin typeface="맑은 고딕"/>
                <a:ea typeface="맑은 고딕"/>
              </a:rPr>
              <a:t> —</a:t>
            </a:r>
            <a:r>
              <a:rPr sz="1600" b="0">
                <a:solidFill>
                  <a:srgbClr val="000000"/>
                </a:solidFill>
                <a:latin typeface="맑은 고딕"/>
                <a:ea typeface="맑은 고딕"/>
              </a:rPr>
              <a:t> 부분은 한 시점에 </a:t>
            </a:r>
            <a:r>
              <a:rPr sz="1600" b="1">
                <a:solidFill>
                  <a:srgbClr val="000000"/>
                </a:solidFill>
                <a:latin typeface="맑은 고딕"/>
                <a:ea typeface="맑은 고딕"/>
              </a:rPr>
              <a:t>하나의 전체</a:t>
            </a:r>
            <a:r>
              <a:rPr sz="1600" b="0">
                <a:solidFill>
                  <a:srgbClr val="000000"/>
                </a:solidFill>
                <a:latin typeface="맑은 고딕"/>
                <a:ea typeface="맑은 고딕"/>
              </a:rPr>
              <a:t>에만 속하고 생애를 함께한다.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질문</a:t>
            </a:r>
            <a:r>
              <a:rPr sz="1800" b="0">
                <a:solidFill>
                  <a:srgbClr val="000000"/>
                </a:solidFill>
                <a:latin typeface="맑은 고딕"/>
                <a:ea typeface="맑은 고딕"/>
              </a:rPr>
              <a:t> —</a:t>
            </a:r>
            <a:r>
              <a:rPr sz="1600" b="0">
                <a:solidFill>
                  <a:srgbClr val="000000"/>
                </a:solidFill>
                <a:latin typeface="맑은 고딕"/>
                <a:ea typeface="맑은 고딕"/>
              </a:rPr>
              <a:t> 주문 항목은 주문 없이 의미가 있는가? 여러 주문에 속할 수 있는가?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답이 분명하면 합성, 불분명하면 </a:t>
            </a:r>
            <a:r>
              <a:rPr sz="1800" b="1">
                <a:solidFill>
                  <a:srgbClr val="000000"/>
                </a:solidFill>
                <a:latin typeface="맑은 고딕"/>
                <a:ea typeface="맑은 고딕"/>
              </a:rPr>
              <a:t>일반 연관</a:t>
            </a:r>
            <a:r>
              <a:rPr sz="1800" b="0">
                <a:solidFill>
                  <a:srgbClr val="000000"/>
                </a:solidFill>
                <a:latin typeface="맑은 고딕"/>
                <a:ea typeface="맑은 고딕"/>
              </a:rPr>
              <a:t>으로 두고 질문을 남긴다.</a:t>
            </a:r>
          </a:p>
        </p:txBody>
      </p:sp>
      <p:pic>
        <p:nvPicPr>
          <p:cNvPr id="9" name="plantuml Diagram 15"/>
          <p:cNvPicPr>
            <a:picLocks noChangeAspect="1"/>
          </p:cNvPicPr>
          <p:nvPr/>
        </p:nvPicPr>
        <p:blipFill>
          <a:blip r:embed="plantumlImage15"/>
          <a:stretch>
            <a:fillRect/>
          </a:stretch>
        </p:blipFill>
        <p:spPr>
          <a:xfrm>
            <a:off x="2938585" y="4504415"/>
            <a:ext cx="3266831" cy="801077"/>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37. 제약</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제약</a:t>
            </a:r>
            <a:r>
              <a:rPr sz="1400" b="0">
                <a:solidFill>
                  <a:srgbClr val="000000"/>
                </a:solidFill>
                <a:latin typeface="맑은 고딕"/>
                <a:ea typeface="맑은 고딕"/>
              </a:rPr>
              <a:t>(Constraint)</a:t>
            </a:r>
            <a:r>
              <a:rPr sz="1800" b="0">
                <a:solidFill>
                  <a:srgbClr val="000000"/>
                </a:solidFill>
                <a:latin typeface="맑은 고딕"/>
                <a:ea typeface="맑은 고딕"/>
              </a:rPr>
              <a:t>은 </a:t>
            </a:r>
            <a:r>
              <a:rPr sz="1800" b="1">
                <a:solidFill>
                  <a:srgbClr val="000000"/>
                </a:solidFill>
                <a:latin typeface="맑은 고딕"/>
                <a:ea typeface="맑은 고딕"/>
              </a:rPr>
              <a:t>어느 시점에나 참이어야 하는 조건</a:t>
            </a:r>
            <a:r>
              <a:rPr sz="1800" b="0">
                <a:solidFill>
                  <a:srgbClr val="000000"/>
                </a:solidFill>
                <a:latin typeface="맑은 고딕"/>
                <a:ea typeface="맑은 고딕"/>
              </a:rPr>
              <a:t>이다. 모델에는 </a:t>
            </a:r>
            <a:r>
              <a:rPr sz="1800" b="0">
                <a:solidFill>
                  <a:srgbClr val="000000"/>
                </a:solidFill>
                <a:latin typeface="맑은 고딕"/>
                <a:ea typeface="맑은 고딕"/>
              </a:rPr>
              <a:t>{수량은 1 이상}</a:t>
            </a:r>
            <a:r>
              <a:rPr sz="1800" b="0">
                <a:solidFill>
                  <a:srgbClr val="000000"/>
                </a:solidFill>
                <a:latin typeface="맑은 고딕"/>
                <a:ea typeface="맑은 고딕"/>
              </a:rPr>
              <a:t>처럼 </a:t>
            </a:r>
            <a:r>
              <a:rPr sz="1800" b="1">
                <a:solidFill>
                  <a:srgbClr val="000000"/>
                </a:solidFill>
                <a:latin typeface="맑은 고딕"/>
                <a:ea typeface="맑은 고딕"/>
              </a:rPr>
              <a:t>중괄호 메모</a:t>
            </a:r>
            <a:r>
              <a:rPr sz="1800" b="0">
                <a:solidFill>
                  <a:srgbClr val="000000"/>
                </a:solidFill>
                <a:latin typeface="맑은 고딕"/>
                <a:ea typeface="맑은 고딕"/>
              </a:rPr>
              <a:t>로 붙인다. 시점·사건에 따라 허용이 달라지는 규칙은 </a:t>
            </a:r>
            <a:r>
              <a:rPr sz="1800" b="1">
                <a:solidFill>
                  <a:srgbClr val="000000"/>
                </a:solidFill>
                <a:latin typeface="맑은 고딕"/>
                <a:ea typeface="맑은 고딕"/>
              </a:rPr>
              <a:t>상태 전이 규칙</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정적 제약</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 항목의 수량은 1 이상이다.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 총액은 주문 항목의 수량 × 단가 합계다.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환불 금액은 결제 금액을 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상태 전이 규칙</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배송 시작 이후에는 주문을 취소할 수 없다.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출고 전에만 배송지를 변경할 수 있다.</a:t>
            </a:r>
          </a:p>
        </p:txBody>
      </p:sp>
    </p:spTree>
    <p:extLst>
      <p:ext uri="{BB962C8B-B14F-4D97-AF65-F5344CB8AC3E}">
        <p14:creationId xmlns:p14="http://schemas.microsoft.com/office/powerpoint/2010/main" val="355543667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38. 용어 정렬</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모델의 이름은 </a:t>
            </a:r>
            <a:r>
              <a:rPr sz="1800" b="1">
                <a:solidFill>
                  <a:srgbClr val="000000"/>
                </a:solidFill>
                <a:latin typeface="맑은 고딕"/>
                <a:ea typeface="맑은 고딕"/>
              </a:rPr>
              <a:t>문제영역에서 이미 쓰는 말</a:t>
            </a:r>
            <a:r>
              <a:rPr sz="1800" b="0">
                <a:solidFill>
                  <a:srgbClr val="000000"/>
                </a:solidFill>
                <a:latin typeface="맑은 고딕"/>
                <a:ea typeface="맑은 고딕"/>
              </a:rPr>
              <a:t>이어야 한다. 용어가 흔들리면 모델도 흔들린다.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"지도 제작자처럼 도메인 모델을 만든다. 그 영역에서 </a:t>
            </a:r>
            <a:r>
              <a:rPr sz="1800" b="1">
                <a:solidFill>
                  <a:srgbClr val="000000"/>
                </a:solidFill>
                <a:latin typeface="맑은 고딕"/>
                <a:ea typeface="맑은 고딕"/>
              </a:rPr>
              <a:t>이미 쓰는 이름</a:t>
            </a:r>
            <a:r>
              <a:rPr sz="1800" b="0">
                <a:solidFill>
                  <a:srgbClr val="000000"/>
                </a:solidFill>
                <a:latin typeface="맑은 고딕"/>
                <a:ea typeface="맑은 고딕"/>
              </a:rPr>
              <a:t>을 사용하고, 무관한 것은 빼고, 없는 것은 더하지 않는다"</a:t>
            </a:r>
            <a:r>
              <a:rPr sz="1000" b="0">
                <a:solidFill>
                  <a:srgbClr val="000000"/>
                </a:solidFill>
                <a:latin typeface="맑은 고딕"/>
                <a:ea typeface="맑은 고딕"/>
              </a:rPr>
              <a:t>, </a:t>
            </a:r>
            <a:r>
              <a:rPr sz="1000" b="0">
                <a:solidFill>
                  <a:srgbClr val="000000"/>
                </a:solidFill>
                <a:latin typeface="맑은 고딕"/>
                <a:ea typeface="맑은 고딕"/>
              </a:rPr>
              <a:t>"Make a domain model in the spirit of how a cartographer or mapmaker works: Use the existing names in the territory. Exclude irrelevant features. Do not add things that are not there."</a:t>
            </a:r>
            <a:r>
              <a:rPr sz="1000" b="0">
                <a:solidFill>
                  <a:srgbClr val="000000"/>
                </a:solidFill>
                <a:latin typeface="맑은 고딕"/>
                <a:ea typeface="맑은 고딕"/>
              </a:rPr>
              <a:t>, </a:t>
            </a:r>
            <a:r>
              <a:rPr sz="1000" b="0">
                <a:solidFill>
                  <a:srgbClr val="000000"/>
                </a:solidFill>
                <a:latin typeface="맑은 고딕"/>
                <a:ea typeface="맑은 고딕"/>
              </a:rPr>
              <a:t>Craig Larman, 2002</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"언어가 바뀌면 곧 </a:t>
            </a:r>
            <a:r>
              <a:rPr sz="1800" b="1">
                <a:solidFill>
                  <a:srgbClr val="000000"/>
                </a:solidFill>
                <a:latin typeface="맑은 고딕"/>
                <a:ea typeface="맑은 고딕"/>
              </a:rPr>
              <a:t>모델이 바뀐</a:t>
            </a:r>
            <a:r>
              <a:rPr sz="1800" b="0">
                <a:solidFill>
                  <a:srgbClr val="000000"/>
                </a:solidFill>
                <a:latin typeface="맑은 고딕"/>
                <a:ea typeface="맑은 고딕"/>
              </a:rPr>
              <a:t> 것임을 인식한다"</a:t>
            </a:r>
            <a:r>
              <a:rPr sz="1000" b="0">
                <a:solidFill>
                  <a:srgbClr val="000000"/>
                </a:solidFill>
                <a:latin typeface="맑은 고딕"/>
                <a:ea typeface="맑은 고딕"/>
              </a:rPr>
              <a:t>, </a:t>
            </a:r>
            <a:r>
              <a:rPr sz="1000" b="0">
                <a:solidFill>
                  <a:srgbClr val="000000"/>
                </a:solidFill>
                <a:latin typeface="맑은 고딕"/>
                <a:ea typeface="맑은 고딕"/>
              </a:rPr>
              <a:t>"Recognize that a change in the language is a change to the model."</a:t>
            </a:r>
            <a:r>
              <a:rPr sz="1000" b="0">
                <a:solidFill>
                  <a:srgbClr val="000000"/>
                </a:solidFill>
                <a:latin typeface="맑은 고딕"/>
                <a:ea typeface="맑은 고딕"/>
              </a:rPr>
              <a:t>, </a:t>
            </a:r>
            <a:r>
              <a:rPr sz="1000" b="0">
                <a:solidFill>
                  <a:srgbClr val="000000"/>
                </a:solidFill>
                <a:latin typeface="맑은 고딕"/>
                <a:ea typeface="맑은 고딕"/>
              </a:rPr>
              <a:t>Eric Evans, 2015</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"배송 시작"을 "출고"로 바꾸자는 제안은 단어 교체가 아니라 </a:t>
            </a:r>
            <a:r>
              <a:rPr sz="1800" b="1">
                <a:solidFill>
                  <a:srgbClr val="000000"/>
                </a:solidFill>
                <a:latin typeface="맑은 고딕"/>
                <a:ea typeface="맑은 고딕"/>
              </a:rPr>
              <a:t>상태 경계의 변경</a:t>
            </a:r>
            <a:r>
              <a:rPr sz="1800" b="0">
                <a:solidFill>
                  <a:srgbClr val="000000"/>
                </a:solidFill>
                <a:latin typeface="맑은 고딕"/>
                <a:ea typeface="맑은 고딕"/>
              </a:rPr>
              <a:t>일 수 있다.</a:t>
            </a:r>
          </a:p>
        </p:txBody>
      </p:sp>
    </p:spTree>
    <p:extLst>
      <p:ext uri="{BB962C8B-B14F-4D97-AF65-F5344CB8AC3E}">
        <p14:creationId xmlns:p14="http://schemas.microsoft.com/office/powerpoint/2010/main" val="355543667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39. 동의어와 동음이의어</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같은 것을 다르게 부르는 말</a:t>
            </a:r>
            <a:r>
              <a:rPr sz="1800" b="0">
                <a:solidFill>
                  <a:srgbClr val="000000"/>
                </a:solidFill>
                <a:latin typeface="맑은 고딕"/>
                <a:ea typeface="맑은 고딕"/>
              </a:rPr>
              <a:t>과 </a:t>
            </a:r>
            <a:r>
              <a:rPr sz="1800" b="1">
                <a:solidFill>
                  <a:srgbClr val="000000"/>
                </a:solidFill>
                <a:latin typeface="맑은 고딕"/>
                <a:ea typeface="맑은 고딕"/>
              </a:rPr>
              <a:t>다른 것을 같게 부르는 말</a:t>
            </a:r>
            <a:r>
              <a:rPr sz="1800" b="0">
                <a:solidFill>
                  <a:srgbClr val="000000"/>
                </a:solidFill>
                <a:latin typeface="맑은 고딕"/>
                <a:ea typeface="맑은 고딕"/>
              </a:rPr>
              <a:t>을 찾는다.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동의어</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 항목 / 주문 상품 / 주문 라인 → 같은 개념이면 이름 하나로</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배송 시작 / 출고 → 같다고 </a:t>
            </a:r>
            <a:r>
              <a:rPr sz="1600" b="1">
                <a:solidFill>
                  <a:srgbClr val="000000"/>
                </a:solidFill>
                <a:latin typeface="맑은 고딕"/>
                <a:ea typeface="맑은 고딕"/>
              </a:rPr>
              <a:t>가정하지 않고</a:t>
            </a:r>
            <a:r>
              <a:rPr sz="1600" b="0">
                <a:solidFill>
                  <a:srgbClr val="000000"/>
                </a:solidFill>
                <a:latin typeface="맑은 고딕"/>
                <a:ea typeface="맑은 고딕"/>
              </a:rPr>
              <a:t>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동음이의어</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취소</a:t>
            </a:r>
            <a:r>
              <a:rPr sz="1600" b="0">
                <a:solidFill>
                  <a:srgbClr val="000000"/>
                </a:solidFill>
                <a:latin typeface="맑은 고딕"/>
                <a:ea typeface="맑은 고딕"/>
              </a:rPr>
              <a:t> —</a:t>
            </a:r>
            <a:r>
              <a:rPr sz="1400" b="0">
                <a:solidFill>
                  <a:srgbClr val="000000"/>
                </a:solidFill>
                <a:latin typeface="맑은 고딕"/>
                <a:ea typeface="맑은 고딕"/>
              </a:rPr>
              <a:t> 주문 취소 / 결제 취소 / 환불</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주문</a:t>
            </a:r>
            <a:r>
              <a:rPr sz="1600" b="0">
                <a:solidFill>
                  <a:srgbClr val="000000"/>
                </a:solidFill>
                <a:latin typeface="맑은 고딕"/>
                <a:ea typeface="맑은 고딕"/>
              </a:rPr>
              <a:t> —</a:t>
            </a:r>
            <a:r>
              <a:rPr sz="1400" b="0">
                <a:solidFill>
                  <a:srgbClr val="000000"/>
                </a:solidFill>
                <a:latin typeface="맑은 고딕"/>
                <a:ea typeface="맑은 고딕"/>
              </a:rPr>
              <a:t> 주문하는 행위 / 주문 기록</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가격</a:t>
            </a:r>
            <a:r>
              <a:rPr sz="1600" b="0">
                <a:solidFill>
                  <a:srgbClr val="000000"/>
                </a:solidFill>
                <a:latin typeface="맑은 고딕"/>
                <a:ea typeface="맑은 고딕"/>
              </a:rPr>
              <a:t> —</a:t>
            </a:r>
            <a:r>
              <a:rPr sz="1400" b="0">
                <a:solidFill>
                  <a:srgbClr val="000000"/>
                </a:solidFill>
                <a:latin typeface="맑은 고딕"/>
                <a:ea typeface="맑은 고딕"/>
              </a:rPr>
              <a:t> 판매가 / 단가 / 결제 금액</a:t>
            </a:r>
          </a:p>
        </p:txBody>
      </p:sp>
    </p:spTree>
    <p:extLst>
      <p:ext uri="{BB962C8B-B14F-4D97-AF65-F5344CB8AC3E}">
        <p14:creationId xmlns:p14="http://schemas.microsoft.com/office/powerpoint/2010/main" val="355543667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40. 용어집</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27976" y="1842998"/>
          <a:ext cx="6474460" cy="3873500"/>
        </p:xfrm>
        <a:graphic>
          <a:graphicData uri="http://schemas.openxmlformats.org/drawingml/2006/table">
            <a:tbl>
              <a:tblPr/>
              <a:tblGrid>
                <a:gridCol w="947420"/>
                <a:gridCol w="3266440"/>
                <a:gridCol w="226060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용어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확인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상품 구매를 요청해 성립한 거래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전 주문도 주문인가?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주문에서 한 상품을 얼마에 몇 개 샀는가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상품이 두 줄 가능한가?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단가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시점에 확정된 가격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할인은 반영되는가?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주문을 보낼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기본 주소와 어떻게 다른가?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현재 단계 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시작과 출고는 다른가?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결제된 금액의 반환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부분 환불이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용어집</a:t>
            </a:r>
            <a:r>
              <a:rPr sz="1400" b="0">
                <a:solidFill>
                  <a:srgbClr val="000000"/>
                </a:solidFill>
                <a:latin typeface="맑은 고딕"/>
                <a:ea typeface="맑은 고딕"/>
              </a:rPr>
              <a:t>(Glossary)</a:t>
            </a:r>
            <a:r>
              <a:rPr sz="1800" b="0">
                <a:solidFill>
                  <a:srgbClr val="000000"/>
                </a:solidFill>
                <a:latin typeface="맑은 고딕"/>
                <a:ea typeface="맑은 고딕"/>
              </a:rPr>
              <a:t>은 모델의 이름이 </a:t>
            </a:r>
            <a:r>
              <a:rPr sz="1800" b="1">
                <a:solidFill>
                  <a:srgbClr val="000000"/>
                </a:solidFill>
                <a:latin typeface="맑은 고딕"/>
                <a:ea typeface="맑은 고딕"/>
              </a:rPr>
              <a:t>무엇을 뜻하는지</a:t>
            </a:r>
            <a:r>
              <a:rPr sz="1800" b="0">
                <a:solidFill>
                  <a:srgbClr val="000000"/>
                </a:solidFill>
                <a:latin typeface="맑은 고딕"/>
                <a:ea typeface="맑은 고딕"/>
              </a:rPr>
              <a:t> 문장으로 고정한다. 모델과 </a:t>
            </a:r>
            <a:r>
              <a:rPr sz="1800" b="1">
                <a:solidFill>
                  <a:srgbClr val="000000"/>
                </a:solidFill>
                <a:latin typeface="맑은 고딕"/>
                <a:ea typeface="맑은 고딕"/>
              </a:rPr>
              <a:t>함께 정제</a:t>
            </a:r>
            <a:r>
              <a:rPr sz="1800" b="0">
                <a:solidFill>
                  <a:srgbClr val="000000"/>
                </a:solidFill>
                <a:latin typeface="맑은 고딕"/>
                <a:ea typeface="맑은 고딕"/>
              </a:rPr>
              <a:t>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- 48 -</a:t>
            </a:r>
          </a:p>
        </p:txBody>
      </p:sp>
    </p:spTree>
    <p:extLst>
      <p:ext uri="{BB962C8B-B14F-4D97-AF65-F5344CB8AC3E}">
        <p14:creationId xmlns:p14="http://schemas.microsoft.com/office/powerpoint/2010/main" val="278956947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41. 모델 작성 절차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개념적 도메인 모델은 </a:t>
            </a:r>
            <a:r>
              <a:rPr sz="1800" b="1">
                <a:solidFill>
                  <a:srgbClr val="000000"/>
                </a:solidFill>
                <a:latin typeface="맑은 고딕"/>
                <a:ea typeface="맑은 고딕"/>
              </a:rPr>
              <a:t>후보 → 구분 → 관계 → 정렬 → 검토</a:t>
            </a:r>
            <a:r>
              <a:rPr sz="1800" b="0">
                <a:solidFill>
                  <a:srgbClr val="000000"/>
                </a:solidFill>
                <a:latin typeface="맑은 고딕"/>
                <a:ea typeface="맑은 고딕"/>
              </a:rPr>
              <a:t>를 반복하며 만든다.</a:t>
            </a:r>
          </a:p>
          <a:p>
            <a:pPr lvl="2" marL="723900" indent="-368300">
              <a:spcBef>
                <a:spcPts val="600"/>
              </a:spcBef>
              <a:spcAft>
                <a:spcPts val="600"/>
              </a:spcAft>
              <a:buNone/>
            </a:pPr>
            <a:r>
              <a:rPr sz="1800" b="0">
                <a:solidFill>
                  <a:srgbClr val="000000"/>
                </a:solidFill>
                <a:latin typeface="맑은 고딕"/>
                <a:ea typeface="맑은 고딕"/>
              </a:rPr>
              <a:t>1. 현재 반복의 유스케이스와 사후조건을 정한다.</a:t>
            </a:r>
          </a:p>
          <a:p>
            <a:pPr lvl="2" marL="723900" indent="-368300">
              <a:spcBef>
                <a:spcPts val="600"/>
              </a:spcBef>
              <a:spcAft>
                <a:spcPts val="600"/>
              </a:spcAft>
              <a:buNone/>
            </a:pPr>
            <a:r>
              <a:rPr sz="1800" b="0">
                <a:solidFill>
                  <a:srgbClr val="000000"/>
                </a:solidFill>
                <a:latin typeface="맑은 고딕"/>
                <a:ea typeface="맑은 고딕"/>
              </a:rPr>
              <a:t>2. 개념 범주와 어휘로 후보를 모은다.</a:t>
            </a:r>
          </a:p>
          <a:p>
            <a:pPr lvl="2" marL="723900" indent="-368300">
              <a:spcBef>
                <a:spcPts val="600"/>
              </a:spcBef>
              <a:spcAft>
                <a:spcPts val="600"/>
              </a:spcAft>
              <a:buNone/>
            </a:pPr>
            <a:r>
              <a:rPr sz="1800" b="0">
                <a:solidFill>
                  <a:srgbClr val="000000"/>
                </a:solidFill>
                <a:latin typeface="맑은 고딕"/>
                <a:ea typeface="맑은 고딕"/>
              </a:rPr>
              <a:t>3. 개념·속성·해결책 요소·제외 대상으로 구분한다.</a:t>
            </a:r>
          </a:p>
          <a:p>
            <a:pPr lvl="2" marL="723900" indent="-368300">
              <a:spcBef>
                <a:spcPts val="600"/>
              </a:spcBef>
              <a:spcAft>
                <a:spcPts val="600"/>
              </a:spcAft>
              <a:buNone/>
            </a:pPr>
            <a:r>
              <a:rPr sz="1800" b="0">
                <a:solidFill>
                  <a:srgbClr val="000000"/>
                </a:solidFill>
                <a:latin typeface="맑은 고딕"/>
                <a:ea typeface="맑은 고딕"/>
              </a:rPr>
              <a:t>4. 연관·다중성, 속성·제약을 추가한다.</a:t>
            </a:r>
          </a:p>
          <a:p>
            <a:pPr lvl="2" marL="723900" indent="-368300">
              <a:spcBef>
                <a:spcPts val="600"/>
              </a:spcBef>
              <a:spcAft>
                <a:spcPts val="600"/>
              </a:spcAft>
              <a:buNone/>
            </a:pPr>
            <a:r>
              <a:rPr sz="1800" b="0">
                <a:solidFill>
                  <a:srgbClr val="000000"/>
                </a:solidFill>
                <a:latin typeface="맑은 고딕"/>
                <a:ea typeface="맑은 고딕"/>
              </a:rPr>
              <a:t>5. 용어집과 맞추고 시나리오와 교차검토한다.</a:t>
            </a:r>
          </a:p>
        </p:txBody>
      </p:sp>
      <p:pic>
        <p:nvPicPr>
          <p:cNvPr id="9" name="mermaid Diagram 2"/>
          <p:cNvPicPr>
            <a:picLocks noChangeAspect="1"/>
          </p:cNvPicPr>
          <p:nvPr/>
        </p:nvPicPr>
        <p:blipFill>
          <a:blip r:embed="mermaidImage2"/>
          <a:stretch>
            <a:fillRect/>
          </a:stretch>
        </p:blipFill>
        <p:spPr>
          <a:xfrm>
            <a:off x="1149350" y="4201476"/>
            <a:ext cx="6845300" cy="916781"/>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42. 도메인 모델 — 초안</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초안은 </a:t>
            </a:r>
            <a:r>
              <a:rPr sz="1800" b="1">
                <a:solidFill>
                  <a:srgbClr val="000000"/>
                </a:solidFill>
                <a:latin typeface="맑은 고딕"/>
                <a:ea typeface="맑은 고딕"/>
              </a:rPr>
              <a:t>개념과 연관</a:t>
            </a:r>
            <a:r>
              <a:rPr sz="1800" b="0">
                <a:solidFill>
                  <a:srgbClr val="000000"/>
                </a:solidFill>
                <a:latin typeface="맑은 고딕"/>
                <a:ea typeface="맑은 고딕"/>
              </a:rPr>
              <a:t>만으로 문제영역의 구조를 먼저 합의한다. 속성과 다중성은 아직 넣지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구분한 개념 사이에서 </a:t>
            </a:r>
            <a:r>
              <a:rPr sz="1800" b="1">
                <a:solidFill>
                  <a:srgbClr val="000000"/>
                </a:solidFill>
                <a:latin typeface="맑은 고딕"/>
                <a:ea typeface="맑은 고딕"/>
              </a:rPr>
              <a:t>기억할 가치가 있는 관계</a:t>
            </a:r>
            <a:r>
              <a:rPr sz="1800" b="0">
                <a:solidFill>
                  <a:srgbClr val="000000"/>
                </a:solidFill>
                <a:latin typeface="맑은 고딕"/>
                <a:ea typeface="맑은 고딕"/>
              </a:rPr>
              <a:t>만 이름 있는 연관으로 잇는다.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업무 담당자와 "고객이 주문을 한다"처럼 </a:t>
            </a:r>
            <a:r>
              <a:rPr sz="1800" b="1">
                <a:solidFill>
                  <a:srgbClr val="000000"/>
                </a:solidFill>
                <a:latin typeface="맑은 고딕"/>
                <a:ea typeface="맑은 고딕"/>
              </a:rPr>
              <a:t>문장으로 읽으며</a:t>
            </a:r>
            <a:r>
              <a:rPr sz="1800" b="0">
                <a:solidFill>
                  <a:srgbClr val="000000"/>
                </a:solidFill>
                <a:latin typeface="맑은 고딕"/>
                <a:ea typeface="맑은 고딕"/>
              </a:rPr>
              <a:t> 확인한다.</a:t>
            </a:r>
          </a:p>
        </p:txBody>
      </p:sp>
      <p:pic>
        <p:nvPicPr>
          <p:cNvPr id="9" name="plantuml Diagram 16"/>
          <p:cNvPicPr>
            <a:picLocks noChangeAspect="1"/>
          </p:cNvPicPr>
          <p:nvPr/>
        </p:nvPicPr>
        <p:blipFill>
          <a:blip r:embed="plantumlImage16"/>
          <a:stretch>
            <a:fillRect/>
          </a:stretch>
        </p:blipFill>
        <p:spPr>
          <a:xfrm>
            <a:off x="457200" y="3499188"/>
            <a:ext cx="8229600" cy="245099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43. 도메인 모델 — 상세화 </a:t>
            </a:r>
            <a:r>
              <a:rPr sz="2000" b="1">
                <a:solidFill>
                  <a:srgbClr val="000000"/>
                </a:solidFill>
                <a:latin typeface="맑은 고딕"/>
                <a:ea typeface="맑은 고딕"/>
              </a:rPr>
              <a:t>(1/2)</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초안에 </a:t>
            </a:r>
            <a:r>
              <a:rPr sz="1800" b="1">
                <a:solidFill>
                  <a:srgbClr val="000000"/>
                </a:solidFill>
                <a:latin typeface="맑은 고딕"/>
                <a:ea typeface="맑은 고딕"/>
              </a:rPr>
              <a:t>속성과 속성 도메인, 다중성, 합성, 파생 속성</a:t>
            </a:r>
            <a:r>
              <a:rPr sz="1800" b="0">
                <a:solidFill>
                  <a:srgbClr val="000000"/>
                </a:solidFill>
                <a:latin typeface="맑은 고딕"/>
                <a:ea typeface="맑은 고딕"/>
              </a:rPr>
              <a:t>을 더해 요구 산출물</a:t>
            </a:r>
            <a:r>
              <a:rPr sz="1400" b="0">
                <a:solidFill>
                  <a:srgbClr val="000000"/>
                </a:solidFill>
                <a:latin typeface="맑은 고딕"/>
                <a:ea typeface="맑은 고딕"/>
              </a:rPr>
              <a:t>(명세서·정제된 SSD·계약)</a:t>
            </a:r>
            <a:r>
              <a:rPr sz="1800" b="0">
                <a:solidFill>
                  <a:srgbClr val="000000"/>
                </a:solidFill>
                <a:latin typeface="맑은 고딕"/>
                <a:ea typeface="맑은 고딕"/>
              </a:rPr>
              <a:t>에 답할 수준까지 상세화한 주문 시스템의 </a:t>
            </a:r>
            <a:r>
              <a:rPr sz="1800" b="1">
                <a:solidFill>
                  <a:srgbClr val="000000"/>
                </a:solidFill>
                <a:latin typeface="맑은 고딕"/>
                <a:ea typeface="맑은 고딕"/>
              </a:rPr>
              <a:t>개념적 도메인 모델</a:t>
            </a:r>
            <a:r>
              <a:rPr sz="1400" b="0">
                <a:solidFill>
                  <a:srgbClr val="000000"/>
                </a:solidFill>
                <a:latin typeface="맑은 고딕"/>
                <a:ea typeface="맑은 고딕"/>
              </a:rPr>
              <a:t>(Conceptual Domain Model)</a:t>
            </a:r>
            <a:r>
              <a:rPr sz="1800" b="0">
                <a:solidFill>
                  <a:srgbClr val="000000"/>
                </a:solidFill>
                <a:latin typeface="맑은 고딕"/>
                <a:ea typeface="맑은 고딕"/>
              </a:rPr>
              <a:t>이다.</a:t>
            </a:r>
          </a:p>
        </p:txBody>
      </p:sp>
      <p:pic>
        <p:nvPicPr>
          <p:cNvPr id="9" name="plantuml Diagram 17"/>
          <p:cNvPicPr>
            <a:picLocks noChangeAspect="1"/>
          </p:cNvPicPr>
          <p:nvPr/>
        </p:nvPicPr>
        <p:blipFill>
          <a:blip r:embed="plantumlImage17"/>
          <a:stretch>
            <a:fillRect/>
          </a:stretch>
        </p:blipFill>
        <p:spPr>
          <a:xfrm>
            <a:off x="1326662" y="2049965"/>
            <a:ext cx="6490677" cy="439947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43. 도메인 모델 — 상세화 </a:t>
            </a:r>
            <a:r>
              <a:rPr sz="2000" b="1">
                <a:solidFill>
                  <a:srgbClr val="000000"/>
                </a:solidFill>
                <a:latin typeface="맑은 고딕"/>
                <a:ea typeface="맑은 고딕"/>
              </a:rPr>
              <a:t>(2/2)</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모델을 문장으로 읽기</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고객은 주문을 </a:t>
            </a:r>
            <a:r>
              <a:rPr sz="1600" b="1">
                <a:solidFill>
                  <a:srgbClr val="000000"/>
                </a:solidFill>
                <a:latin typeface="맑은 고딕"/>
                <a:ea typeface="맑은 고딕"/>
              </a:rPr>
              <a:t>0개 이상</a:t>
            </a:r>
            <a:r>
              <a:rPr sz="1600" b="0">
                <a:solidFill>
                  <a:srgbClr val="000000"/>
                </a:solidFill>
                <a:latin typeface="맑은 고딕"/>
                <a:ea typeface="맑은 고딕"/>
              </a:rPr>
              <a:t> 하고, 모든 주문에는 고객이 </a:t>
            </a:r>
            <a:r>
              <a:rPr sz="1600" b="1">
                <a:solidFill>
                  <a:srgbClr val="000000"/>
                </a:solidFill>
                <a:latin typeface="맑은 고딕"/>
                <a:ea typeface="맑은 고딕"/>
              </a:rPr>
              <a:t>한 명</a:t>
            </a:r>
            <a:r>
              <a:rPr sz="1600" b="0">
                <a:solidFill>
                  <a:srgbClr val="000000"/>
                </a:solidFill>
                <a:latin typeface="맑은 고딕"/>
                <a:ea typeface="맑은 고딕"/>
              </a:rPr>
              <a:t> 있다.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주문은 주문 항목을 </a:t>
            </a:r>
            <a:r>
              <a:rPr sz="1600" b="1">
                <a:solidFill>
                  <a:srgbClr val="000000"/>
                </a:solidFill>
                <a:latin typeface="맑은 고딕"/>
                <a:ea typeface="맑은 고딕"/>
              </a:rPr>
              <a:t>하나 이상</a:t>
            </a:r>
            <a:r>
              <a:rPr sz="1600" b="0">
                <a:solidFill>
                  <a:srgbClr val="000000"/>
                </a:solidFill>
                <a:latin typeface="맑은 고딕"/>
                <a:ea typeface="맑은 고딕"/>
              </a:rPr>
              <a:t> 포함하며, 주문 항목은 </a:t>
            </a:r>
            <a:r>
              <a:rPr sz="1600" b="1">
                <a:solidFill>
                  <a:srgbClr val="000000"/>
                </a:solidFill>
                <a:latin typeface="맑은 고딕"/>
                <a:ea typeface="맑은 고딕"/>
              </a:rPr>
              <a:t>주문 시점 단가</a:t>
            </a:r>
            <a:r>
              <a:rPr sz="1600" b="0">
                <a:solidFill>
                  <a:srgbClr val="000000"/>
                </a:solidFill>
                <a:latin typeface="맑은 고딕"/>
                <a:ea typeface="맑은 고딕"/>
              </a:rPr>
              <a:t>를 보존한다.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주문은 결제가 </a:t>
            </a:r>
            <a:r>
              <a:rPr sz="1600" b="1">
                <a:solidFill>
                  <a:srgbClr val="000000"/>
                </a:solidFill>
                <a:latin typeface="맑은 고딕"/>
                <a:ea typeface="맑은 고딕"/>
              </a:rPr>
              <a:t>없거나 하나</a:t>
            </a:r>
            <a:r>
              <a:rPr sz="1600" b="0">
                <a:solidFill>
                  <a:srgbClr val="000000"/>
                </a:solidFill>
                <a:latin typeface="맑은 고딕"/>
                <a:ea typeface="맑은 고딕"/>
              </a:rPr>
              <a:t>, 결제는 환불이 </a:t>
            </a:r>
            <a:r>
              <a:rPr sz="1600" b="1">
                <a:solidFill>
                  <a:srgbClr val="000000"/>
                </a:solidFill>
                <a:latin typeface="맑은 고딕"/>
                <a:ea typeface="맑은 고딕"/>
              </a:rPr>
              <a:t>없거나 하나</a:t>
            </a:r>
            <a:r>
              <a:rPr sz="1600" b="0">
                <a:solidFill>
                  <a:srgbClr val="000000"/>
                </a:solidFill>
                <a:latin typeface="맑은 고딕"/>
                <a:ea typeface="맑은 고딕"/>
              </a:rPr>
              <a:t> 있다.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장바구니 항목은 판매가를 </a:t>
            </a:r>
            <a:r>
              <a:rPr sz="1600" b="1">
                <a:solidFill>
                  <a:srgbClr val="000000"/>
                </a:solidFill>
                <a:latin typeface="맑은 고딕"/>
                <a:ea typeface="맑은 고딕"/>
              </a:rPr>
              <a:t>참조</a:t>
            </a:r>
            <a:r>
              <a:rPr sz="1600" b="0">
                <a:solidFill>
                  <a:srgbClr val="000000"/>
                </a:solidFill>
                <a:latin typeface="맑은 고딕"/>
                <a:ea typeface="맑은 고딕"/>
              </a:rPr>
              <a:t>만 한다. 주문은 배송이 </a:t>
            </a:r>
            <a:r>
              <a:rPr sz="1600" b="1">
                <a:solidFill>
                  <a:srgbClr val="000000"/>
                </a:solidFill>
                <a:latin typeface="맑은 고딕"/>
                <a:ea typeface="맑은 고딕"/>
              </a:rPr>
              <a:t>없거나 하나</a:t>
            </a:r>
            <a:r>
              <a:rPr sz="1600" b="0">
                <a:solidFill>
                  <a:srgbClr val="000000"/>
                </a:solidFill>
                <a:latin typeface="맑은 고딕"/>
                <a:ea typeface="맑은 고딕"/>
              </a:rPr>
              <a:t>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의도적으로 넣지 않은 것</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재고 —</a:t>
            </a:r>
            <a:r>
              <a:rPr sz="1400" b="0">
                <a:solidFill>
                  <a:srgbClr val="000000"/>
                </a:solidFill>
                <a:latin typeface="맑은 고딕"/>
                <a:ea typeface="맑은 고딕"/>
              </a:rPr>
              <a:t> 상품 시스템, 입금·영수증 — 회계 시스템이 소유한다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외부 시스템 —</a:t>
            </a:r>
            <a:r>
              <a:rPr sz="1400" b="0">
                <a:solidFill>
                  <a:srgbClr val="000000"/>
                </a:solidFill>
                <a:latin typeface="맑은 고딕"/>
                <a:ea typeface="맑은 고딕"/>
              </a:rPr>
              <a:t> 지원 액터이며 결제·배송 기록과 다르다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결제 수단 —</a:t>
            </a:r>
            <a:r>
              <a:rPr sz="1400" b="0">
                <a:solidFill>
                  <a:srgbClr val="000000"/>
                </a:solidFill>
                <a:latin typeface="맑은 고딕"/>
                <a:ea typeface="맑은 고딕"/>
              </a:rPr>
              <a:t> 현재 요구에 불필요</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오퍼레이션·저장 키·화면 —</a:t>
            </a:r>
            <a:r>
              <a:rPr sz="1400" b="0">
                <a:solidFill>
                  <a:srgbClr val="000000"/>
                </a:solidFill>
                <a:latin typeface="맑은 고딕"/>
                <a:ea typeface="맑은 고딕"/>
              </a:rPr>
              <a:t> 구현 요소</a:t>
            </a:r>
          </a:p>
        </p:txBody>
      </p:sp>
    </p:spTree>
    <p:extLst>
      <p:ext uri="{BB962C8B-B14F-4D97-AF65-F5344CB8AC3E}">
        <p14:creationId xmlns:p14="http://schemas.microsoft.com/office/powerpoint/2010/main" val="355543667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44. 개념의 묶음 — 패키지 </a:t>
            </a:r>
            <a:r>
              <a:rPr sz="2000" b="1">
                <a:solidFill>
                  <a:srgbClr val="000000"/>
                </a:solidFill>
                <a:latin typeface="맑은 고딕"/>
                <a:ea typeface="맑은 고딕"/>
              </a:rPr>
              <a:t>(1/2)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3909230"/>
          <a:ext cx="8305800" cy="3873500"/>
        </p:xfrm>
        <a:graphic>
          <a:graphicData uri="http://schemas.openxmlformats.org/drawingml/2006/table">
            <a:tbl>
              <a:tblPr/>
              <a:tblGrid>
                <a:gridCol w="1477092"/>
                <a:gridCol w="2206169"/>
                <a:gridCol w="4622539"/>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4826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패키지 — 탭이 달린 폴더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개념의 이름 있는 묶음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의미로 이름 짓는다(주문, 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포함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패키지 안에 개념을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개념은 한 패키지에만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4826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의존 — 점선 화살표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패키지가 다른 패키지의 개념을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방향 판단은 "05. 구조적 경계와 의존성"에서. 이 세션에서는 경계를 넘는 연관만 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도메인 모델이 커지면 관련 개념을 </a:t>
            </a:r>
            <a:r>
              <a:rPr sz="1800" b="1">
                <a:solidFill>
                  <a:srgbClr val="000000"/>
                </a:solidFill>
                <a:latin typeface="맑은 고딕"/>
                <a:ea typeface="맑은 고딕"/>
              </a:rPr>
              <a:t>패키지</a:t>
            </a:r>
            <a:r>
              <a:rPr sz="1800" b="0">
                <a:solidFill>
                  <a:srgbClr val="000000"/>
                </a:solidFill>
                <a:latin typeface="맑은 고딕"/>
                <a:ea typeface="맑은 고딕"/>
              </a:rPr>
              <a:t>로 묶어 읽기 쉽게 한다. 패키지는 개념을 담는 이름 있는 묶음이다.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283389"/>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표기와 사용법</a:t>
            </a:r>
          </a:p>
        </p:txBody>
      </p:sp>
      <p:pic>
        <p:nvPicPr>
          <p:cNvPr id="15" name="svg Diagram 3" descr="패키지 다이어그램 표기: 패키지, 포함, 의존"/>
          <p:cNvPicPr>
            <a:picLocks noChangeAspect="1"/>
          </p:cNvPicPr>
          <p:nvPr/>
        </p:nvPicPr>
        <p:blipFill>
          <a:blip r:embed="svgImage3"/>
          <a:stretch>
            <a:fillRect/>
          </a:stretch>
        </p:blipFill>
        <p:spPr>
          <a:xfrm>
            <a:off x="1654789" y="1842998"/>
            <a:ext cx="5820833" cy="1338792"/>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44. 개념의 묶음 — 패키지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 도메인의 개념을 업무 의미로 묶은 </a:t>
            </a:r>
            <a:r>
              <a:rPr sz="1600" b="1">
                <a:solidFill>
                  <a:srgbClr val="000000"/>
                </a:solidFill>
                <a:latin typeface="맑은 고딕"/>
                <a:ea typeface="맑은 고딕"/>
              </a:rPr>
              <a:t>분석 패키지</a:t>
            </a:r>
            <a:r>
              <a:rPr sz="1600" b="0">
                <a:solidFill>
                  <a:srgbClr val="000000"/>
                </a:solidFill>
                <a:latin typeface="맑은 고딕"/>
                <a:ea typeface="맑은 고딕"/>
              </a:rPr>
              <a:t>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묶는 기준은 </a:t>
            </a:r>
            <a:r>
              <a:rPr sz="1600" b="1">
                <a:solidFill>
                  <a:srgbClr val="000000"/>
                </a:solidFill>
                <a:latin typeface="맑은 고딕"/>
                <a:ea typeface="맑은 고딕"/>
              </a:rPr>
              <a:t>업무 의미</a:t>
            </a:r>
            <a:r>
              <a:rPr sz="1600" b="0">
                <a:solidFill>
                  <a:srgbClr val="000000"/>
                </a:solidFill>
                <a:latin typeface="맑은 고딕"/>
                <a:ea typeface="맑은 고딕"/>
              </a:rPr>
              <a:t>다. 화면·서비스·DB 같은 기술 계층으로 묶지 않는다.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패키지 경계를 </a:t>
            </a:r>
            <a:r>
              <a:rPr sz="1600" b="1">
                <a:solidFill>
                  <a:srgbClr val="000000"/>
                </a:solidFill>
                <a:latin typeface="맑은 고딕"/>
                <a:ea typeface="맑은 고딕"/>
              </a:rPr>
              <a:t>넘는 연관</a:t>
            </a:r>
            <a:r>
              <a:rPr sz="1600" b="0">
                <a:solidFill>
                  <a:srgbClr val="000000"/>
                </a:solidFill>
                <a:latin typeface="맑은 고딕"/>
                <a:ea typeface="맑은 고딕"/>
              </a:rPr>
              <a:t>이 경계와 의존성 방향을 판단하는 단서다.</a:t>
            </a:r>
          </a:p>
        </p:txBody>
      </p:sp>
      <p:pic>
        <p:nvPicPr>
          <p:cNvPr id="9" name="plantuml Diagram 18"/>
          <p:cNvPicPr>
            <a:picLocks noChangeAspect="1"/>
          </p:cNvPicPr>
          <p:nvPr/>
        </p:nvPicPr>
        <p:blipFill>
          <a:blip r:embed="plantumlImage18"/>
          <a:stretch>
            <a:fillRect/>
          </a:stretch>
        </p:blipFill>
        <p:spPr>
          <a:xfrm>
            <a:off x="2480986" y="2829560"/>
            <a:ext cx="4182028" cy="348290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45. 잘못된 관행 — 분석 과잉</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분석에 오랜 기간을 쓰지만 </a:t>
            </a:r>
            <a:r>
              <a:rPr sz="1800" b="1">
                <a:solidFill>
                  <a:srgbClr val="000000"/>
                </a:solidFill>
                <a:latin typeface="맑은 고딕"/>
                <a:ea typeface="맑은 고딕"/>
              </a:rPr>
              <a:t>분석의 본질</a:t>
            </a:r>
            <a:r>
              <a:rPr sz="1800" b="0">
                <a:solidFill>
                  <a:srgbClr val="000000"/>
                </a:solidFill>
                <a:latin typeface="맑은 고딕"/>
                <a:ea typeface="맑은 고딕"/>
              </a:rPr>
              <a:t>을 외면하는 경우가 많다. 기간이 길고 문서가 많다고 분석이 된 것은 아니다.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증상</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수개월의 분석 단계, 수백 쪽의 문서와 다이어그램</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정작 핵심 개념·관계·속성 규칙은 모호하다. 제대로 된 데이터 모델도 없다.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분석 회의의 상당 부분이 프레임워크·아키텍처·화면·인프라 같은 </a:t>
            </a:r>
            <a:r>
              <a:rPr sz="1600" b="1">
                <a:solidFill>
                  <a:srgbClr val="000000"/>
                </a:solidFill>
                <a:latin typeface="맑은 고딕"/>
                <a:ea typeface="맑은 고딕"/>
              </a:rPr>
              <a:t>기술 요소</a:t>
            </a:r>
            <a:r>
              <a:rPr sz="1600" b="0">
                <a:solidFill>
                  <a:srgbClr val="000000"/>
                </a:solidFill>
                <a:latin typeface="맑은 고딕"/>
                <a:ea typeface="맑은 고딕"/>
              </a:rPr>
              <a:t>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고객과 </a:t>
            </a:r>
            <a:r>
              <a:rPr sz="1600" b="1">
                <a:solidFill>
                  <a:srgbClr val="000000"/>
                </a:solidFill>
                <a:latin typeface="맑은 고딕"/>
                <a:ea typeface="맑은 고딕"/>
              </a:rPr>
              <a:t>무엇을 할지</a:t>
            </a:r>
            <a:r>
              <a:rPr sz="1200" b="0">
                <a:solidFill>
                  <a:srgbClr val="000000"/>
                </a:solidFill>
                <a:latin typeface="맑은 고딕"/>
                <a:ea typeface="맑은 고딕"/>
              </a:rPr>
              <a:t>(이벤트·목표·규칙)</a:t>
            </a:r>
            <a:r>
              <a:rPr sz="1600" b="0">
                <a:solidFill>
                  <a:srgbClr val="000000"/>
                </a:solidFill>
                <a:latin typeface="맑은 고딕"/>
                <a:ea typeface="맑은 고딕"/>
              </a:rPr>
              <a:t>는 합의하지 못했다.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되돌아볼 질문</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고객과 합의한 이벤트와 목표 목록이 있는가?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핵심 개념·관계·속성 도메인이 모델에 있는가?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분석 산출물에서 기술 요소가 차지하는 비중은 얼마인가?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지금 분석을 더 하면 다음 판단이 달라지는가?</a:t>
            </a:r>
          </a:p>
        </p:txBody>
      </p:sp>
    </p:spTree>
    <p:extLst>
      <p:ext uri="{BB962C8B-B14F-4D97-AF65-F5344CB8AC3E}">
        <p14:creationId xmlns:p14="http://schemas.microsoft.com/office/powerpoint/2010/main" val="355543667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46. 잘못된 관행 — 구현 요소</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도메인 모델에 </a:t>
            </a:r>
            <a:r>
              <a:rPr sz="1800" b="1">
                <a:solidFill>
                  <a:srgbClr val="000000"/>
                </a:solidFill>
                <a:latin typeface="맑은 고딕"/>
                <a:ea typeface="맑은 고딕"/>
              </a:rPr>
              <a:t>구현 결정</a:t>
            </a:r>
            <a:r>
              <a:rPr sz="1800" b="0">
                <a:solidFill>
                  <a:srgbClr val="000000"/>
                </a:solidFill>
                <a:latin typeface="맑은 고딕"/>
                <a:ea typeface="맑은 고딕"/>
              </a:rPr>
              <a:t>이 섞이면 문제영역의 의미가 해결책에 가려진다. 물리 데이터 모델의 요소</a:t>
            </a:r>
            <a:r>
              <a:rPr sz="1400" b="0">
                <a:solidFill>
                  <a:srgbClr val="000000"/>
                </a:solidFill>
                <a:latin typeface="맑은 고딕"/>
                <a:ea typeface="맑은 고딕"/>
              </a:rPr>
              <a:t>(대리 키·외래키·컬럼 타입)</a:t>
            </a:r>
            <a:r>
              <a:rPr sz="1800" b="0">
                <a:solidFill>
                  <a:srgbClr val="000000"/>
                </a:solidFill>
                <a:latin typeface="맑은 고딕"/>
                <a:ea typeface="맑은 고딕"/>
              </a:rPr>
              <a:t>도 여기에 속한다.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메서드</a:t>
            </a:r>
            <a:r>
              <a:rPr sz="1800" b="0">
                <a:solidFill>
                  <a:srgbClr val="000000"/>
                </a:solidFill>
                <a:latin typeface="맑은 고딕"/>
                <a:ea typeface="맑은 고딕"/>
              </a:rPr>
              <a:t> </a:t>
            </a:r>
            <a:r>
              <a:rPr sz="1800" b="0">
                <a:solidFill>
                  <a:srgbClr val="000000"/>
                </a:solidFill>
                <a:latin typeface="맑은 고딕"/>
                <a:ea typeface="맑은 고딕"/>
              </a:rPr>
              <a:t>취소()</a:t>
            </a:r>
            <a:r>
              <a:rPr sz="1800" b="0">
                <a:solidFill>
                  <a:srgbClr val="000000"/>
                </a:solidFill>
                <a:latin typeface="맑은 고딕"/>
                <a:ea typeface="맑은 고딕"/>
              </a:rPr>
              <a:t> → 책임 배치는 설계에서</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키</a:t>
            </a:r>
            <a:r>
              <a:rPr sz="1800" b="0">
                <a:solidFill>
                  <a:srgbClr val="000000"/>
                </a:solidFill>
                <a:latin typeface="맑은 고딕"/>
                <a:ea typeface="맑은 고딕"/>
              </a:rPr>
              <a:t> </a:t>
            </a:r>
            <a:r>
              <a:rPr sz="1800" b="0">
                <a:solidFill>
                  <a:srgbClr val="000000"/>
                </a:solidFill>
                <a:latin typeface="맑은 고딕"/>
                <a:ea typeface="맑은 고딕"/>
              </a:rPr>
              <a:t>주문ID</a:t>
            </a:r>
            <a:r>
              <a:rPr sz="1800" b="0">
                <a:solidFill>
                  <a:srgbClr val="000000"/>
                </a:solidFill>
                <a:latin typeface="맑은 고딕"/>
                <a:ea typeface="맑은 고딕"/>
              </a:rPr>
              <a:t>·</a:t>
            </a:r>
            <a:r>
              <a:rPr sz="1800" b="0">
                <a:solidFill>
                  <a:srgbClr val="000000"/>
                </a:solidFill>
                <a:latin typeface="맑은 고딕"/>
                <a:ea typeface="맑은 고딕"/>
              </a:rPr>
              <a:t>고객ID</a:t>
            </a:r>
            <a:r>
              <a:rPr sz="1800" b="0">
                <a:solidFill>
                  <a:srgbClr val="000000"/>
                </a:solidFill>
                <a:latin typeface="맑은 고딕"/>
                <a:ea typeface="맑은 고딕"/>
              </a:rPr>
              <a:t> → 업무 식별자와 연관으로</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타입</a:t>
            </a:r>
            <a:r>
              <a:rPr sz="1800" b="0">
                <a:solidFill>
                  <a:srgbClr val="000000"/>
                </a:solidFill>
                <a:latin typeface="맑은 고딕"/>
                <a:ea typeface="맑은 고딕"/>
              </a:rPr>
              <a:t> </a:t>
            </a:r>
            <a:r>
              <a:rPr sz="1800" b="0">
                <a:solidFill>
                  <a:srgbClr val="000000"/>
                </a:solidFill>
                <a:latin typeface="맑은 고딕"/>
                <a:ea typeface="맑은 고딕"/>
              </a:rPr>
              <a:t>Long</a:t>
            </a:r>
            <a:r>
              <a:rPr sz="1800" b="0">
                <a:solidFill>
                  <a:srgbClr val="000000"/>
                </a:solidFill>
                <a:latin typeface="맑은 고딕"/>
                <a:ea typeface="맑은 고딕"/>
              </a:rPr>
              <a:t>·</a:t>
            </a:r>
            <a:r>
              <a:rPr sz="1800" b="0">
                <a:solidFill>
                  <a:srgbClr val="000000"/>
                </a:solidFill>
                <a:latin typeface="맑은 고딕"/>
                <a:ea typeface="맑은 고딕"/>
              </a:rPr>
              <a:t>String</a:t>
            </a:r>
            <a:r>
              <a:rPr sz="1800" b="0">
                <a:solidFill>
                  <a:srgbClr val="000000"/>
                </a:solidFill>
                <a:latin typeface="맑은 고딕"/>
                <a:ea typeface="맑은 고딕"/>
              </a:rPr>
              <a:t> → 금액·주문 상태 같은 값의 종류로</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구조 요소</a:t>
            </a:r>
            <a:r>
              <a:rPr sz="1800" b="0">
                <a:solidFill>
                  <a:srgbClr val="000000"/>
                </a:solidFill>
                <a:latin typeface="맑은 고딕"/>
                <a:ea typeface="맑은 고딕"/>
              </a:rPr>
              <a:t> DTO·Repository, </a:t>
            </a:r>
            <a:r>
              <a:rPr sz="1800" b="1">
                <a:solidFill>
                  <a:srgbClr val="000000"/>
                </a:solidFill>
                <a:latin typeface="맑은 고딕"/>
                <a:ea typeface="맑은 고딕"/>
              </a:rPr>
              <a:t>의존 화살표</a:t>
            </a:r>
            <a:r>
              <a:rPr sz="1800" b="0">
                <a:solidFill>
                  <a:srgbClr val="000000"/>
                </a:solidFill>
                <a:latin typeface="맑은 고딕"/>
                <a:ea typeface="맑은 고딕"/>
              </a:rPr>
              <a:t> → 넣지 않는다</a:t>
            </a:r>
          </a:p>
        </p:txBody>
      </p:sp>
      <p:pic>
        <p:nvPicPr>
          <p:cNvPr id="9" name="plantuml Diagram 19"/>
          <p:cNvPicPr>
            <a:picLocks noChangeAspect="1"/>
          </p:cNvPicPr>
          <p:nvPr/>
        </p:nvPicPr>
        <p:blipFill>
          <a:blip r:embed="plantumlImage19"/>
          <a:stretch>
            <a:fillRect/>
          </a:stretch>
        </p:blipFill>
        <p:spPr>
          <a:xfrm>
            <a:off x="1793631" y="3667405"/>
            <a:ext cx="5556738" cy="188350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47. 잘못된 관행 — 규칙 없는 속성</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174306" y="1842998"/>
          <a:ext cx="6781800" cy="3873500"/>
        </p:xfrm>
        <a:graphic>
          <a:graphicData uri="http://schemas.openxmlformats.org/drawingml/2006/table">
            <a:tbl>
              <a:tblPr/>
              <a:tblGrid>
                <a:gridCol w="1953260"/>
                <a:gridCol w="2316480"/>
                <a:gridCol w="251206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문제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금액 : 숫자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통화·음수·자릿수 규칙이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금액 :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상태 : 문자열 "C"</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가능한 값이 모델에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 : 주문 상태(값 목록)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 : 문자열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필수 구성·형식이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수량 : 정수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0·음수 허용 여부를 모른다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 : 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속성을 숫자·문자열 타입으로만 두면 </a:t>
            </a:r>
            <a:r>
              <a:rPr sz="1800" b="1">
                <a:solidFill>
                  <a:srgbClr val="000000"/>
                </a:solidFill>
                <a:latin typeface="맑은 고딕"/>
                <a:ea typeface="맑은 고딕"/>
              </a:rPr>
              <a:t>속성 수준 업무 규칙</a:t>
            </a:r>
            <a:r>
              <a:rPr sz="1800" b="0">
                <a:solidFill>
                  <a:srgbClr val="000000"/>
                </a:solidFill>
                <a:latin typeface="맑은 고딕"/>
                <a:ea typeface="맑은 고딕"/>
              </a:rPr>
              <a:t>이 모델에서 사라지고, 화면·서비스·DB가 </a:t>
            </a:r>
            <a:r>
              <a:rPr sz="1800" b="1">
                <a:solidFill>
                  <a:srgbClr val="000000"/>
                </a:solidFill>
                <a:latin typeface="맑은 고딕"/>
                <a:ea typeface="맑은 고딕"/>
              </a:rPr>
              <a:t>제각각 다르게 검사</a:t>
            </a:r>
            <a:r>
              <a:rPr sz="1800" b="0">
                <a:solidFill>
                  <a:srgbClr val="000000"/>
                </a:solidFill>
                <a:latin typeface="맑은 고딕"/>
                <a:ea typeface="맑은 고딕"/>
              </a:rPr>
              <a:t>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- 57 -</a:t>
            </a:r>
          </a:p>
        </p:txBody>
      </p:sp>
    </p:spTree>
    <p:extLst>
      <p:ext uri="{BB962C8B-B14F-4D97-AF65-F5344CB8AC3E}">
        <p14:creationId xmlns:p14="http://schemas.microsoft.com/office/powerpoint/2010/main" val="278956947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48. 잘못된 관행 — 관계 남용</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03896" y="1842998"/>
          <a:ext cx="5722620" cy="3873500"/>
        </p:xfrm>
        <a:graphic>
          <a:graphicData uri="http://schemas.openxmlformats.org/drawingml/2006/table">
            <a:tbl>
              <a:tblPr/>
              <a:tblGrid>
                <a:gridCol w="2456180"/>
                <a:gridCol w="326644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기준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이름 없는 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 이름과 읽는 방향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가능한 모든 관계를 그린 거미줄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알아야 하는 연관을 우선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추측으로 정한 다중성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모르면 질문으로 남김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습관적인 집합(속 빈 마름모)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의미가 분명할 때만 합성, 아니면 일반 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구조가 같다는 이유의 일반화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 한 종류"가 성립할 때만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연관 대신 상대의 식별 키 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연관으로 표현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관계는 많이 그릴수록 좋은 것이 아니다. </a:t>
            </a:r>
            <a:r>
              <a:rPr sz="1800" b="1">
                <a:solidFill>
                  <a:srgbClr val="000000"/>
                </a:solidFill>
                <a:latin typeface="맑은 고딕"/>
                <a:ea typeface="맑은 고딕"/>
              </a:rPr>
              <a:t>의미 없는 선</a:t>
            </a:r>
            <a:r>
              <a:rPr sz="1800" b="0">
                <a:solidFill>
                  <a:srgbClr val="000000"/>
                </a:solidFill>
                <a:latin typeface="맑은 고딕"/>
                <a:ea typeface="맑은 고딕"/>
              </a:rPr>
              <a:t>은 모델을 읽기 어렵게 만든다.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- 58 -</a:t>
            </a:r>
          </a:p>
        </p:txBody>
      </p:sp>
    </p:spTree>
    <p:extLst>
      <p:ext uri="{BB962C8B-B14F-4D97-AF65-F5344CB8AC3E}">
        <p14:creationId xmlns:p14="http://schemas.microsoft.com/office/powerpoint/2010/main" val="278956947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49. 잘못된 관행 — 거대 개념·모호한 이름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65696" y="1842998"/>
          <a:ext cx="7399020" cy="3873500"/>
        </p:xfrm>
        <a:graphic>
          <a:graphicData uri="http://schemas.openxmlformats.org/drawingml/2006/table">
            <a:tbl>
              <a:tblPr/>
              <a:tblGrid>
                <a:gridCol w="3713480"/>
                <a:gridCol w="368554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"주문"에 결제·배송·환불·고객 정보를 모두 담는다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의미와 생애가 다른 개념으로 나눈다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이름마다 붙는 정보·데이터·관리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뜻을 더하지 않는 말은 빼고 업무 이름으로 부른다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개발자만 쓰는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담당자가 쓰는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상품·주문 항목·주문 라인을 섞어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용어집에서 하나로 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개념 하나에 모든 것을 담거나 뜻이 흐린 이름을 쓰면 모델이 </a:t>
            </a:r>
            <a:r>
              <a:rPr sz="1800" b="1">
                <a:solidFill>
                  <a:srgbClr val="000000"/>
                </a:solidFill>
                <a:latin typeface="맑은 고딕"/>
                <a:ea typeface="맑은 고딕"/>
              </a:rPr>
              <a:t>업무 담당자와 대화하지 못한다</a:t>
            </a:r>
            <a:r>
              <a:rPr sz="18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- 59 -</a:t>
            </a:r>
          </a:p>
        </p:txBody>
      </p:sp>
    </p:spTree>
    <p:extLst>
      <p:ext uri="{BB962C8B-B14F-4D97-AF65-F5344CB8AC3E}">
        <p14:creationId xmlns:p14="http://schemas.microsoft.com/office/powerpoint/2010/main" val="278956947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50. 잘못된 관행 — 범위·시점</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91425" y="1842998"/>
          <a:ext cx="7147560" cy="3873500"/>
        </p:xfrm>
        <a:graphic>
          <a:graphicData uri="http://schemas.openxmlformats.org/drawingml/2006/table">
            <a:tbl>
              <a:tblPr/>
              <a:tblGrid>
                <a:gridCol w="2595880"/>
                <a:gridCol w="455168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전사 모델을 한 번에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현재 반복의 유스케이스가 필요로 하는 범위만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확인되지 않은 개념·관계를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그림에 있으면 사실처럼 읽힌다. 질문으로 남긴다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 전이·처리 순서를 섞는다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정적 모델에는 존재와 관계만, 사건과 순서는 동적 모델에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한 번 그리고 방치한다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요구·용어가 바뀌면 모델도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모델의 </a:t>
            </a:r>
            <a:r>
              <a:rPr sz="1800" b="1">
                <a:solidFill>
                  <a:srgbClr val="000000"/>
                </a:solidFill>
                <a:latin typeface="맑은 고딕"/>
                <a:ea typeface="맑은 고딕"/>
              </a:rPr>
              <a:t>범위와 시점</a:t>
            </a:r>
            <a:r>
              <a:rPr sz="1800" b="0">
                <a:solidFill>
                  <a:srgbClr val="000000"/>
                </a:solidFill>
                <a:latin typeface="맑은 고딕"/>
                <a:ea typeface="맑은 고딕"/>
              </a:rPr>
              <a:t>을 잘못 잡으면 그리는 데 시간을 쓰고도 판단에 쓰이지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- 60 -</a:t>
            </a:r>
          </a:p>
        </p:txBody>
      </p:sp>
    </p:spTree>
    <p:extLst>
      <p:ext uri="{BB962C8B-B14F-4D97-AF65-F5344CB8AC3E}">
        <p14:creationId xmlns:p14="http://schemas.microsoft.com/office/powerpoint/2010/main" val="2789569477"/>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51. 모델의 유용성</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도메인 모델에 정답 하나가 있는 것은 아니다. </a:t>
            </a:r>
            <a:r>
              <a:rPr sz="1800" b="1">
                <a:solidFill>
                  <a:srgbClr val="000000"/>
                </a:solidFill>
                <a:latin typeface="맑은 고딕"/>
                <a:ea typeface="맑은 고딕"/>
              </a:rPr>
              <a:t>현재의 질문에 답하고 소통을 돕는 정도</a:t>
            </a:r>
            <a:r>
              <a:rPr sz="1800" b="0">
                <a:solidFill>
                  <a:srgbClr val="000000"/>
                </a:solidFill>
                <a:latin typeface="맑은 고딕"/>
                <a:ea typeface="맑은 고딕"/>
              </a:rPr>
              <a:t>로 평가한다.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절대적으로 옳거나 그른 것이 아니라 </a:t>
            </a:r>
            <a:r>
              <a:rPr sz="1800" b="1">
                <a:solidFill>
                  <a:srgbClr val="000000"/>
                </a:solidFill>
                <a:latin typeface="맑은 고딕"/>
                <a:ea typeface="맑은 고딕"/>
              </a:rPr>
              <a:t>더 유용하거나 덜 유용할</a:t>
            </a:r>
            <a:r>
              <a:rPr sz="1800" b="0">
                <a:solidFill>
                  <a:srgbClr val="000000"/>
                </a:solidFill>
                <a:latin typeface="맑은 고딕"/>
                <a:ea typeface="맑은 고딕"/>
              </a:rPr>
              <a:t> 뿐이며, 소통의 도구다"</a:t>
            </a:r>
            <a:r>
              <a:rPr sz="1000" b="0">
                <a:solidFill>
                  <a:srgbClr val="000000"/>
                </a:solidFill>
                <a:latin typeface="맑은 고딕"/>
                <a:ea typeface="맑은 고딕"/>
              </a:rPr>
              <a:t>, </a:t>
            </a:r>
            <a:r>
              <a:rPr sz="1000" b="0">
                <a:solidFill>
                  <a:srgbClr val="000000"/>
                </a:solidFill>
                <a:latin typeface="맑은 고딕"/>
                <a:ea typeface="맑은 고딕"/>
              </a:rPr>
              <a:t>"A domain model is not absolutely correct or wrong, but more or less useful; it is a tool of communication."</a:t>
            </a:r>
            <a:r>
              <a:rPr sz="1000" b="0">
                <a:solidFill>
                  <a:srgbClr val="000000"/>
                </a:solidFill>
                <a:latin typeface="맑은 고딕"/>
                <a:ea typeface="맑은 고딕"/>
              </a:rPr>
              <a:t>, </a:t>
            </a:r>
            <a:r>
              <a:rPr sz="1000" b="0">
                <a:solidFill>
                  <a:srgbClr val="000000"/>
                </a:solidFill>
                <a:latin typeface="맑은 고딕"/>
                <a:ea typeface="맑은 고딕"/>
              </a:rPr>
              <a:t>Craig Larman, 2002</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모르면 그리지 않는다</a:t>
            </a:r>
            <a:r>
              <a:rPr sz="1800" b="0">
                <a:solidFill>
                  <a:srgbClr val="000000"/>
                </a:solidFill>
                <a:latin typeface="맑은 고딕"/>
                <a:ea typeface="맑은 고딕"/>
              </a:rPr>
              <a:t> —</a:t>
            </a:r>
            <a:r>
              <a:rPr sz="1600" b="0">
                <a:solidFill>
                  <a:srgbClr val="000000"/>
                </a:solidFill>
                <a:latin typeface="맑은 고딕"/>
                <a:ea typeface="맑은 고딕"/>
              </a:rPr>
              <a:t> 그림에 있으면 사실처럼 읽힌다. 확인 질문으로 남긴다.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멈출 때</a:t>
            </a:r>
            <a:r>
              <a:rPr sz="1800" b="0">
                <a:solidFill>
                  <a:srgbClr val="000000"/>
                </a:solidFill>
                <a:latin typeface="맑은 고딕"/>
                <a:ea typeface="맑은 고딕"/>
              </a:rPr>
              <a:t> —</a:t>
            </a:r>
            <a:r>
              <a:rPr sz="1600" b="0">
                <a:solidFill>
                  <a:srgbClr val="000000"/>
                </a:solidFill>
                <a:latin typeface="맑은 고딕"/>
                <a:ea typeface="맑은 고딕"/>
              </a:rPr>
              <a:t> 요구의 용어가 모두 모델로 설명되고, 남은 질문은 업무 확인으로만 답할 수 있다.</a:t>
            </a:r>
          </a:p>
        </p:txBody>
      </p:sp>
    </p:spTree>
    <p:extLst>
      <p:ext uri="{BB962C8B-B14F-4D97-AF65-F5344CB8AC3E}">
        <p14:creationId xmlns:p14="http://schemas.microsoft.com/office/powerpoint/2010/main" val="355543667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52. 시나리오 교차검토 </a:t>
            </a:r>
            <a:r>
              <a:rPr sz="2000" b="1">
                <a:solidFill>
                  <a:srgbClr val="000000"/>
                </a:solidFill>
                <a:latin typeface="맑은 고딕"/>
                <a:ea typeface="맑은 고딕"/>
              </a:rPr>
              <a:t>(1/2)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240238"/>
          <a:ext cx="8305800" cy="3873500"/>
        </p:xfrm>
        <a:graphic>
          <a:graphicData uri="http://schemas.openxmlformats.org/drawingml/2006/table">
            <a:tbl>
              <a:tblPr/>
              <a:tblGrid>
                <a:gridCol w="1783978"/>
                <a:gridCol w="2104552"/>
                <a:gridCol w="441727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요구 문장</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모델 요소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결과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4826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 소유의 결제 완료 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고객–주문, 주문–결제, 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시작 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 배송 중 이전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배송 시작의 정의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 취소됨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금액 전액 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결제–환불, 결제 금액·환불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17851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요구의 </a:t>
            </a:r>
            <a:r>
              <a:rPr sz="1800" b="1">
                <a:solidFill>
                  <a:srgbClr val="000000"/>
                </a:solidFill>
                <a:latin typeface="맑은 고딕"/>
                <a:ea typeface="맑은 고딕"/>
              </a:rPr>
              <a:t>각 문장을 모델 요소로 설명할 수 있는지</a:t>
            </a:r>
            <a:r>
              <a:rPr sz="1800" b="0">
                <a:solidFill>
                  <a:srgbClr val="000000"/>
                </a:solidFill>
                <a:latin typeface="맑은 고딕"/>
                <a:ea typeface="맑은 고딕"/>
              </a:rPr>
              <a:t> 대조한다. ✘와 △는 모델을 고칠 곳이자 </a:t>
            </a:r>
            <a:r>
              <a:rPr sz="1800" b="1">
                <a:solidFill>
                  <a:srgbClr val="000000"/>
                </a:solidFill>
                <a:latin typeface="맑은 고딕"/>
                <a:ea typeface="맑은 고딕"/>
              </a:rPr>
              <a:t>요구에 되물을 질문</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취소 —</a:t>
            </a:r>
            <a:r>
              <a:rPr sz="1600" b="0">
                <a:solidFill>
                  <a:srgbClr val="000000"/>
                </a:solidFill>
                <a:latin typeface="맑은 고딕"/>
                <a:ea typeface="맑은 고딕"/>
              </a:rPr>
              <a:t> 대안 흐름의 조건</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- 62 -</a:t>
            </a:r>
          </a:p>
        </p:txBody>
      </p:sp>
    </p:spTree>
    <p:extLst>
      <p:ext uri="{BB962C8B-B14F-4D97-AF65-F5344CB8AC3E}">
        <p14:creationId xmlns:p14="http://schemas.microsoft.com/office/powerpoint/2010/main" val="278956947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52. 시나리오 교차검토 </a:t>
            </a:r>
            <a:r>
              <a:rPr sz="2000" b="1">
                <a:solidFill>
                  <a:srgbClr val="000000"/>
                </a:solidFill>
                <a:latin typeface="맑은 고딕"/>
                <a:ea typeface="맑은 고딕"/>
              </a:rPr>
              <a:t>(2/2)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1585960"/>
          <a:ext cx="8305800" cy="3873500"/>
        </p:xfrm>
        <a:graphic>
          <a:graphicData uri="http://schemas.openxmlformats.org/drawingml/2006/table">
            <a:tbl>
              <a:tblPr/>
              <a:tblGrid>
                <a:gridCol w="1783978"/>
                <a:gridCol w="2104552"/>
                <a:gridCol w="441727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요구 문장</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모델 요소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결과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 소유의 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4826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출고 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출고는 배송 시스템이 판단한다 — 물을 것인가, 통보받아 기억할 것인가?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새 주소는 유효하다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유효 조건 미정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배송지가 새 주소다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배송지 :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상품·결제 금액은 같다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항목–상품, 결제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배송지 변경 —</a:t>
            </a:r>
            <a:r>
              <a:rPr sz="1600" b="0">
                <a:solidFill>
                  <a:srgbClr val="000000"/>
                </a:solidFill>
                <a:latin typeface="맑은 고딕"/>
                <a:ea typeface="맑은 고딕"/>
              </a:rPr>
              <a:t> 오퍼레이션 계약</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- 63 -</a:t>
            </a:r>
          </a:p>
        </p:txBody>
      </p:sp>
    </p:spTree>
    <p:extLst>
      <p:ext uri="{BB962C8B-B14F-4D97-AF65-F5344CB8AC3E}">
        <p14:creationId xmlns:p14="http://schemas.microsoft.com/office/powerpoint/2010/main" val="278956947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53. 누락과 모순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516445" y="4857349"/>
          <a:ext cx="8097520" cy="3873500"/>
        </p:xfrm>
        <a:graphic>
          <a:graphicData uri="http://schemas.openxmlformats.org/drawingml/2006/table">
            <a:tbl>
              <a:tblPr/>
              <a:tblGrid>
                <a:gridCol w="3126740"/>
                <a:gridCol w="497078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발견</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되돌릴 곳</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출고는 배송 시스템이 판단한다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변경 계약의 사전조건, 정제된 SSD(배송 시스템에 묻는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부분 취소의 허용 여부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유스케이스 명세서의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"취소"가 주문 취소와 결제 취소를 섞는다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명세서·계약의 용어, 용어집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3795629"/>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발견한 문제는 </a:t>
            </a:r>
            <a:r>
              <a:rPr sz="1800" b="1">
                <a:solidFill>
                  <a:srgbClr val="000000"/>
                </a:solidFill>
                <a:latin typeface="맑은 고딕"/>
                <a:ea typeface="맑은 고딕"/>
              </a:rPr>
              <a:t>모델을 고칠 것</a:t>
            </a:r>
            <a:r>
              <a:rPr sz="1800" b="0">
                <a:solidFill>
                  <a:srgbClr val="000000"/>
                </a:solidFill>
                <a:latin typeface="맑은 고딕"/>
                <a:ea typeface="맑은 고딕"/>
              </a:rPr>
              <a:t>과 </a:t>
            </a:r>
            <a:r>
              <a:rPr sz="1800" b="1">
                <a:solidFill>
                  <a:srgbClr val="000000"/>
                </a:solidFill>
                <a:latin typeface="맑은 고딕"/>
                <a:ea typeface="맑은 고딕"/>
              </a:rPr>
              <a:t>요구에 되물을 것</a:t>
            </a:r>
            <a:r>
              <a:rPr sz="1800" b="0">
                <a:solidFill>
                  <a:srgbClr val="000000"/>
                </a:solidFill>
                <a:latin typeface="맑은 고딕"/>
                <a:ea typeface="맑은 고딕"/>
              </a:rPr>
              <a:t>으로 나눈다. 추측으로 채우지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확인: 출고 정보</a:t>
            </a:r>
            <a:r>
              <a:rPr sz="1800" b="0">
                <a:solidFill>
                  <a:srgbClr val="000000"/>
                </a:solidFill>
                <a:latin typeface="맑은 고딕"/>
                <a:ea typeface="맑은 고딕"/>
              </a:rPr>
              <a:t> —</a:t>
            </a:r>
            <a:r>
              <a:rPr sz="1600" b="0">
                <a:solidFill>
                  <a:srgbClr val="000000"/>
                </a:solidFill>
                <a:latin typeface="맑은 고딕"/>
                <a:ea typeface="맑은 고딕"/>
              </a:rPr>
              <a:t> 출고는 배송 시스템이 소유한다. 주문 시스템이 "출고 전"을 판단하려면 배송 시스템에 </a:t>
            </a:r>
            <a:r>
              <a:rPr sz="1600" b="1">
                <a:solidFill>
                  <a:srgbClr val="000000"/>
                </a:solidFill>
                <a:latin typeface="맑은 고딕"/>
                <a:ea typeface="맑은 고딕"/>
              </a:rPr>
              <a:t>물어야</a:t>
            </a:r>
            <a:r>
              <a:rPr sz="1600" b="0">
                <a:solidFill>
                  <a:srgbClr val="000000"/>
                </a:solidFill>
                <a:latin typeface="맑은 고딕"/>
                <a:ea typeface="맑은 고딕"/>
              </a:rPr>
              <a:t> 하는가, 통보받아 배송 상태로 </a:t>
            </a:r>
            <a:r>
              <a:rPr sz="1600" b="1">
                <a:solidFill>
                  <a:srgbClr val="000000"/>
                </a:solidFill>
                <a:latin typeface="맑은 고딕"/>
                <a:ea typeface="맑은 고딕"/>
              </a:rPr>
              <a:t>기억해야</a:t>
            </a:r>
            <a:r>
              <a:rPr sz="1600" b="0">
                <a:solidFill>
                  <a:srgbClr val="000000"/>
                </a:solidFill>
                <a:latin typeface="맑은 고딕"/>
                <a:ea typeface="맑은 고딕"/>
              </a:rPr>
              <a:t> 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긴장: 부분 취소</a:t>
            </a:r>
            <a:r>
              <a:rPr sz="1800" b="0">
                <a:solidFill>
                  <a:srgbClr val="000000"/>
                </a:solidFill>
                <a:latin typeface="맑은 고딕"/>
                <a:ea typeface="맑은 고딕"/>
              </a:rPr>
              <a:t> —</a:t>
            </a:r>
            <a:r>
              <a:rPr sz="1600" b="0">
                <a:solidFill>
                  <a:srgbClr val="000000"/>
                </a:solidFill>
                <a:latin typeface="맑은 고딕"/>
                <a:ea typeface="맑은 고딕"/>
              </a:rPr>
              <a:t> 허용되면 결제–환불은 </a:t>
            </a:r>
            <a:r>
              <a:rPr sz="1600" b="0">
                <a:solidFill>
                  <a:srgbClr val="000000"/>
                </a:solidFill>
                <a:latin typeface="맑은 고딕"/>
                <a:ea typeface="맑은 고딕"/>
              </a:rPr>
              <a:t>0..*</a:t>
            </a:r>
            <a:r>
              <a:rPr sz="1600" b="0">
                <a:solidFill>
                  <a:srgbClr val="000000"/>
                </a:solidFill>
                <a:latin typeface="맑은 고딕"/>
                <a:ea typeface="맑은 고딕"/>
              </a:rPr>
              <a:t>가 되고, 환불이 </a:t>
            </a:r>
            <a:r>
              <a:rPr sz="1600" b="1">
                <a:solidFill>
                  <a:srgbClr val="000000"/>
                </a:solidFill>
                <a:latin typeface="맑은 고딕"/>
                <a:ea typeface="맑은 고딕"/>
              </a:rPr>
              <a:t>어느 주문 항목</a:t>
            </a:r>
            <a:r>
              <a:rPr sz="1600" b="0">
                <a:solidFill>
                  <a:srgbClr val="000000"/>
                </a:solidFill>
                <a:latin typeface="맑은 고딕"/>
                <a:ea typeface="맑은 고딕"/>
              </a:rPr>
              <a:t>의 것인지 알아야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모순: 취소의 의미</a:t>
            </a:r>
            <a:r>
              <a:rPr sz="1800" b="0">
                <a:solidFill>
                  <a:srgbClr val="000000"/>
                </a:solidFill>
                <a:latin typeface="맑은 고딕"/>
                <a:ea typeface="맑은 고딕"/>
              </a:rPr>
              <a:t> —</a:t>
            </a:r>
            <a:r>
              <a:rPr sz="1600" b="0">
                <a:solidFill>
                  <a:srgbClr val="000000"/>
                </a:solidFill>
                <a:latin typeface="맑은 고딕"/>
                <a:ea typeface="맑은 고딕"/>
              </a:rPr>
              <a:t> 주문 상태 </a:t>
            </a:r>
            <a:r>
              <a:rPr sz="1600" b="0">
                <a:solidFill>
                  <a:srgbClr val="000000"/>
                </a:solidFill>
                <a:latin typeface="맑은 고딕"/>
                <a:ea typeface="맑은 고딕"/>
              </a:rPr>
              <a:t>취소됨</a:t>
            </a:r>
            <a:r>
              <a:rPr sz="1600" b="0">
                <a:solidFill>
                  <a:srgbClr val="000000"/>
                </a:solidFill>
                <a:latin typeface="맑은 고딕"/>
                <a:ea typeface="맑은 고딕"/>
              </a:rPr>
              <a:t>과 결제 취소·환불이 한 단어에 섞이면 사후조건의 두 사실이 구분되지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되돌릴 곳</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발견은 별도 문서가 아니라 </a:t>
            </a:r>
            <a:r>
              <a:rPr sz="1600" b="1">
                <a:solidFill>
                  <a:srgbClr val="000000"/>
                </a:solidFill>
                <a:latin typeface="맑은 고딕"/>
                <a:ea typeface="맑은 고딕"/>
              </a:rPr>
              <a:t>입력 산출물을 고쳐</a:t>
            </a:r>
            <a:r>
              <a:rPr sz="1600" b="0">
                <a:solidFill>
                  <a:srgbClr val="000000"/>
                </a:solidFill>
                <a:latin typeface="맑은 고딕"/>
                <a:ea typeface="맑은 고딕"/>
              </a:rPr>
              <a:t> 반영한다.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- 64 -</a:t>
            </a:r>
          </a:p>
        </p:txBody>
      </p:sp>
    </p:spTree>
    <p:extLst>
      <p:ext uri="{BB962C8B-B14F-4D97-AF65-F5344CB8AC3E}">
        <p14:creationId xmlns:p14="http://schemas.microsoft.com/office/powerpoint/2010/main" val="278956947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54. 정적 모델의 한계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정적 모델은 </a:t>
            </a:r>
            <a:r>
              <a:rPr sz="1800" b="1">
                <a:solidFill>
                  <a:srgbClr val="000000"/>
                </a:solidFill>
                <a:latin typeface="맑은 고딕"/>
                <a:ea typeface="맑은 고딕"/>
              </a:rPr>
              <a:t>무엇이 존재하는지</a:t>
            </a:r>
            <a:r>
              <a:rPr sz="1800" b="0">
                <a:solidFill>
                  <a:srgbClr val="000000"/>
                </a:solidFill>
                <a:latin typeface="맑은 고딕"/>
                <a:ea typeface="맑은 고딕"/>
              </a:rPr>
              <a:t>를 보여줄 뿐, </a:t>
            </a:r>
            <a:r>
              <a:rPr sz="1800" b="1">
                <a:solidFill>
                  <a:srgbClr val="000000"/>
                </a:solidFill>
                <a:latin typeface="맑은 고딕"/>
                <a:ea typeface="맑은 고딕"/>
              </a:rPr>
              <a:t>무엇이 어떤 순서로 일어나는지</a:t>
            </a:r>
            <a:r>
              <a:rPr sz="1800" b="0">
                <a:solidFill>
                  <a:srgbClr val="000000"/>
                </a:solidFill>
                <a:latin typeface="맑은 고딕"/>
                <a:ea typeface="맑은 고딕"/>
              </a:rPr>
              <a:t>는 보여주지 못한다.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순서</a:t>
            </a:r>
            <a:r>
              <a:rPr sz="1800" b="0">
                <a:solidFill>
                  <a:srgbClr val="000000"/>
                </a:solidFill>
                <a:latin typeface="맑은 고딕"/>
                <a:ea typeface="맑은 고딕"/>
              </a:rPr>
              <a:t> —</a:t>
            </a:r>
            <a:r>
              <a:rPr sz="1600" b="0">
                <a:solidFill>
                  <a:srgbClr val="000000"/>
                </a:solidFill>
                <a:latin typeface="맑은 고딕"/>
                <a:ea typeface="맑은 고딕"/>
              </a:rPr>
              <a:t> 주문 취소에서 시스템과 외부는 어떤 순서로 상호작용하는가?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상태 전이</a:t>
            </a:r>
            <a:r>
              <a:rPr sz="1800" b="0">
                <a:solidFill>
                  <a:srgbClr val="000000"/>
                </a:solidFill>
                <a:latin typeface="맑은 고딕"/>
                <a:ea typeface="맑은 고딕"/>
              </a:rPr>
              <a:t> —</a:t>
            </a:r>
            <a:r>
              <a:rPr sz="1600" b="0">
                <a:solidFill>
                  <a:srgbClr val="000000"/>
                </a:solidFill>
                <a:latin typeface="맑은 고딕"/>
                <a:ea typeface="맑은 고딕"/>
              </a:rPr>
              <a:t> 주문 상태는 어떤 사건으로 바뀌는가?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동시성·실패</a:t>
            </a:r>
            <a:r>
              <a:rPr sz="1800" b="0">
                <a:solidFill>
                  <a:srgbClr val="000000"/>
                </a:solidFill>
                <a:latin typeface="맑은 고딕"/>
                <a:ea typeface="맑은 고딕"/>
              </a:rPr>
              <a:t> —</a:t>
            </a:r>
            <a:r>
              <a:rPr sz="1600" b="0">
                <a:solidFill>
                  <a:srgbClr val="000000"/>
                </a:solidFill>
                <a:latin typeface="맑은 고딕"/>
                <a:ea typeface="맑은 고딕"/>
              </a:rPr>
              <a:t> 출고와 취소가 동시에 일어나면? 환불이 실패하면?</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책임</a:t>
            </a:r>
            <a:r>
              <a:rPr sz="1800" b="0">
                <a:solidFill>
                  <a:srgbClr val="000000"/>
                </a:solidFill>
                <a:latin typeface="맑은 고딕"/>
                <a:ea typeface="맑은 고딕"/>
              </a:rPr>
              <a:t> —</a:t>
            </a:r>
            <a:r>
              <a:rPr sz="1600" b="0">
                <a:solidFill>
                  <a:srgbClr val="000000"/>
                </a:solidFill>
                <a:latin typeface="맑은 고딕"/>
                <a:ea typeface="맑은 고딕"/>
              </a:rPr>
              <a:t> 주문 취소를 어떤 객체가 책임지는가?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저장</a:t>
            </a:r>
            <a:r>
              <a:rPr sz="1800" b="0">
                <a:solidFill>
                  <a:srgbClr val="000000"/>
                </a:solidFill>
                <a:latin typeface="맑은 고딕"/>
                <a:ea typeface="맑은 고딕"/>
              </a:rPr>
              <a:t> —</a:t>
            </a:r>
            <a:r>
              <a:rPr sz="1600" b="0">
                <a:solidFill>
                  <a:srgbClr val="000000"/>
                </a:solidFill>
                <a:latin typeface="맑은 고딕"/>
                <a:ea typeface="맑은 고딕"/>
              </a:rPr>
              <a:t> 주문 정보를 어디에 어떻게 저장하는가?</a:t>
            </a:r>
          </a:p>
        </p:txBody>
      </p:sp>
    </p:spTree>
    <p:extLst>
      <p:ext uri="{BB962C8B-B14F-4D97-AF65-F5344CB8AC3E}">
        <p14:creationId xmlns:p14="http://schemas.microsoft.com/office/powerpoint/2010/main" val="3555436673"/>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55. 실습 — 도메인 모델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요구 분석 실습의 정기배송 요청을 이어서, 이번에는 </a:t>
            </a:r>
            <a:r>
              <a:rPr sz="1800" b="1">
                <a:solidFill>
                  <a:srgbClr val="000000"/>
                </a:solidFill>
                <a:latin typeface="맑은 고딕"/>
                <a:ea typeface="맑은 고딕"/>
              </a:rPr>
              <a:t>정적 의미</a:t>
            </a:r>
            <a:r>
              <a:rPr sz="1800" b="0">
                <a:solidFill>
                  <a:srgbClr val="000000"/>
                </a:solidFill>
                <a:latin typeface="맑은 고딕"/>
                <a:ea typeface="맑은 고딕"/>
              </a:rPr>
              <a:t>를 모델로 만든다.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“정기배송 고객에게 다음 배송을 건너뛸 수 있는 버튼을 만들어 주세요.” </a:t>
            </a:r>
            <a:r>
              <a:rPr sz="1400" b="0">
                <a:solidFill>
                  <a:srgbClr val="000000"/>
                </a:solidFill>
                <a:latin typeface="맑은 고딕"/>
                <a:ea typeface="맑은 고딕"/>
              </a:rPr>
              <a:t>(조건: 48시간 전까지만 가능, 연속 2회 초과 불가, 결제 승인 건 별도 처리, 다음 배송일 안내 필요)</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과제</a:t>
            </a:r>
          </a:p>
          <a:p>
            <a:pPr lvl="3" marL="1077913" indent="-354013">
              <a:spcBef>
                <a:spcPts val="600"/>
              </a:spcBef>
              <a:spcAft>
                <a:spcPts val="600"/>
              </a:spcAft>
              <a:buNone/>
            </a:pPr>
            <a:r>
              <a:rPr sz="1200" b="0">
                <a:solidFill>
                  <a:srgbClr val="000000"/>
                </a:solidFill>
                <a:latin typeface="맑은 고딕"/>
                <a:ea typeface="맑은 고딕"/>
              </a:rPr>
              <a:t>(1)</a:t>
            </a:r>
            <a:r>
              <a:rPr sz="1600" b="0">
                <a:solidFill>
                  <a:srgbClr val="000000"/>
                </a:solidFill>
                <a:latin typeface="맑은 고딕"/>
                <a:ea typeface="맑은 고딕"/>
              </a:rPr>
              <a:t> 개념·속성·해결책 요소 구분</a:t>
            </a:r>
          </a:p>
          <a:p>
            <a:pPr lvl="3" marL="1077913" indent="-354013">
              <a:spcBef>
                <a:spcPts val="600"/>
              </a:spcBef>
              <a:spcAft>
                <a:spcPts val="600"/>
              </a:spcAft>
              <a:buNone/>
            </a:pPr>
            <a:r>
              <a:rPr sz="1200" b="0">
                <a:solidFill>
                  <a:srgbClr val="000000"/>
                </a:solidFill>
                <a:latin typeface="맑은 고딕"/>
                <a:ea typeface="맑은 고딕"/>
              </a:rPr>
              <a:t>(2)</a:t>
            </a:r>
            <a:r>
              <a:rPr sz="1600" b="0">
                <a:solidFill>
                  <a:srgbClr val="000000"/>
                </a:solidFill>
                <a:latin typeface="맑은 고딕"/>
                <a:ea typeface="맑은 고딕"/>
              </a:rPr>
              <a:t> 연관·다중성, 모르는 다중성은 질문으로</a:t>
            </a:r>
          </a:p>
          <a:p>
            <a:pPr lvl="3" marL="1077913" indent="-354013">
              <a:spcBef>
                <a:spcPts val="600"/>
              </a:spcBef>
              <a:spcAft>
                <a:spcPts val="600"/>
              </a:spcAft>
              <a:buNone/>
            </a:pPr>
            <a:r>
              <a:rPr sz="1200" b="0">
                <a:solidFill>
                  <a:srgbClr val="000000"/>
                </a:solidFill>
                <a:latin typeface="맑은 고딕"/>
                <a:ea typeface="맑은 고딕"/>
              </a:rPr>
              <a:t>(3)</a:t>
            </a:r>
            <a:r>
              <a:rPr sz="1600" b="0">
                <a:solidFill>
                  <a:srgbClr val="000000"/>
                </a:solidFill>
                <a:latin typeface="맑은 고딕"/>
                <a:ea typeface="맑은 고딕"/>
              </a:rPr>
              <a:t> 속성의 값 종류와 정적 제약</a:t>
            </a:r>
          </a:p>
          <a:p>
            <a:pPr lvl="3" marL="1077913" indent="-354013">
              <a:spcBef>
                <a:spcPts val="600"/>
              </a:spcBef>
              <a:spcAft>
                <a:spcPts val="600"/>
              </a:spcAft>
              <a:buNone/>
            </a:pPr>
            <a:r>
              <a:rPr sz="1200" b="0">
                <a:solidFill>
                  <a:srgbClr val="000000"/>
                </a:solidFill>
                <a:latin typeface="맑은 고딕"/>
                <a:ea typeface="맑은 고딕"/>
              </a:rPr>
              <a:t>(4)</a:t>
            </a:r>
            <a:r>
              <a:rPr sz="1600" b="0">
                <a:solidFill>
                  <a:srgbClr val="000000"/>
                </a:solidFill>
                <a:latin typeface="맑은 고딕"/>
                <a:ea typeface="맑은 고딕"/>
              </a:rPr>
              <a:t> 용어집 초안</a:t>
            </a:r>
          </a:p>
          <a:p>
            <a:pPr lvl="3" marL="1077913" indent="-354013">
              <a:spcBef>
                <a:spcPts val="600"/>
              </a:spcBef>
              <a:spcAft>
                <a:spcPts val="600"/>
              </a:spcAft>
              <a:buNone/>
            </a:pPr>
            <a:r>
              <a:rPr sz="1200" b="0">
                <a:solidFill>
                  <a:srgbClr val="000000"/>
                </a:solidFill>
                <a:latin typeface="맑은 고딕"/>
                <a:ea typeface="맑은 고딕"/>
              </a:rPr>
              <a:t>(5)</a:t>
            </a:r>
            <a:r>
              <a:rPr sz="1600" b="0">
                <a:solidFill>
                  <a:srgbClr val="000000"/>
                </a:solidFill>
                <a:latin typeface="맑은 고딕"/>
                <a:ea typeface="맑은 고딕"/>
              </a:rPr>
              <a:t> 네 조건을 정적 제약·전이 규칙·질문으로 분류</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진행</a:t>
            </a:r>
            <a:r>
              <a:rPr sz="1800" b="0">
                <a:solidFill>
                  <a:srgbClr val="000000"/>
                </a:solidFill>
                <a:latin typeface="맑은 고딕"/>
                <a:ea typeface="맑은 고딕"/>
              </a:rPr>
              <a:t> —</a:t>
            </a:r>
            <a:r>
              <a:rPr sz="1600" b="0">
                <a:solidFill>
                  <a:srgbClr val="000000"/>
                </a:solidFill>
                <a:latin typeface="맑은 고딕"/>
                <a:ea typeface="맑은 고딕"/>
              </a:rPr>
              <a:t> 개인 작성 → 소그룹 비교 → 모델을 문장으로 읽으며 검토</a:t>
            </a:r>
          </a:p>
        </p:txBody>
      </p:sp>
    </p:spTree>
    <p:extLst>
      <p:ext uri="{BB962C8B-B14F-4D97-AF65-F5344CB8AC3E}">
        <p14:creationId xmlns:p14="http://schemas.microsoft.com/office/powerpoint/2010/main" val="355543667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55. 실습 — 도메인 모델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검토 기준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명사를 기계적으로 옮기지 않았는가?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연관에 이름과 다중성이 있는가?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현재 값과 확정 값을 구분했는가?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구현 요소가 없는가?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상태 값과 전이 규칙을 구분했는가?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미확인 정책을 질문으로 남겼는가?</a:t>
            </a:r>
          </a:p>
        </p:txBody>
      </p:sp>
    </p:spTree>
    <p:extLst>
      <p:ext uri="{BB962C8B-B14F-4D97-AF65-F5344CB8AC3E}">
        <p14:creationId xmlns:p14="http://schemas.microsoft.com/office/powerpoint/2010/main" val="355543667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56. 실습 — 검토 예시 </a:t>
            </a:r>
            <a:r>
              <a:rPr sz="2000" b="1">
                <a:solidFill>
                  <a:srgbClr val="000000"/>
                </a:solidFill>
                <a:latin typeface="맑은 고딕"/>
                <a:ea typeface="맑은 고딕"/>
              </a:rPr>
              <a:t>(1/2)</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검토 예는 유일한 정답이 아니다. </a:t>
            </a:r>
            <a:r>
              <a:rPr sz="1800" b="1">
                <a:solidFill>
                  <a:srgbClr val="000000"/>
                </a:solidFill>
                <a:latin typeface="맑은 고딕"/>
                <a:ea typeface="맑은 고딕"/>
              </a:rPr>
              <a:t>결제 전·마감 전·연속 제한에 걸리지 않는 고객 본인의 배송 건</a:t>
            </a:r>
            <a:r>
              <a:rPr sz="1800" b="0">
                <a:solidFill>
                  <a:srgbClr val="000000"/>
                </a:solidFill>
                <a:latin typeface="맑은 고딕"/>
                <a:ea typeface="맑은 고딕"/>
              </a:rPr>
              <a:t>이라는 전제를 유지한다.</a:t>
            </a:r>
          </a:p>
        </p:txBody>
      </p:sp>
      <p:pic>
        <p:nvPicPr>
          <p:cNvPr id="9" name="plantuml Diagram 20"/>
          <p:cNvPicPr>
            <a:picLocks noChangeAspect="1"/>
          </p:cNvPicPr>
          <p:nvPr/>
        </p:nvPicPr>
        <p:blipFill>
          <a:blip r:embed="plantumlImage20"/>
          <a:stretch>
            <a:fillRect/>
          </a:stretch>
        </p:blipFill>
        <p:spPr>
          <a:xfrm>
            <a:off x="457200" y="3038720"/>
            <a:ext cx="8229600" cy="2114626"/>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56. 실습 — 검토 예시 </a:t>
            </a:r>
            <a:r>
              <a:rPr sz="2000" b="1">
                <a:solidFill>
                  <a:srgbClr val="000000"/>
                </a:solidFill>
                <a:latin typeface="맑은 고딕"/>
                <a:ea typeface="맑은 고딕"/>
              </a:rPr>
              <a:t>(2/2)</a:t>
            </a:r>
          </a:p>
          <a:p>
            <a:r>
              <a:rPr sz="1100" b="1">
                <a:solidFill>
                  <a:srgbClr val="000000"/>
                </a:solidFill>
                <a:latin typeface="맑은 고딕"/>
                <a:ea typeface="맑은 고딕"/>
              </a:rPr>
              <a:t>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194116" y="1983200"/>
          <a:ext cx="4742180" cy="3873500"/>
        </p:xfrm>
        <a:graphic>
          <a:graphicData uri="http://schemas.openxmlformats.org/drawingml/2006/table">
            <a:tbl>
              <a:tblPr/>
              <a:tblGrid>
                <a:gridCol w="1617980"/>
                <a:gridCol w="1310640"/>
                <a:gridCol w="181356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조건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분류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모델과의 연결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48시간 전까지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전이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예정 배송일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연속 2회 초과 불가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제약·전이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회차 번호·회차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승인 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확인 질문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회차–결제 승인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다음 배송일 안내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파생 정보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주기·예정 배송일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9214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가정</a:t>
            </a:r>
            <a:r>
              <a:rPr sz="1800" b="0">
                <a:solidFill>
                  <a:srgbClr val="000000"/>
                </a:solidFill>
                <a:latin typeface="맑은 고딕"/>
                <a:ea typeface="맑은 고딕"/>
              </a:rPr>
              <a:t> —</a:t>
            </a:r>
            <a:r>
              <a:rPr sz="1600" b="0">
                <a:solidFill>
                  <a:srgbClr val="000000"/>
                </a:solidFill>
                <a:latin typeface="맑은 고딕"/>
                <a:ea typeface="맑은 고딕"/>
              </a:rPr>
              <a:t> 회차 상태 </a:t>
            </a:r>
            <a:r>
              <a:rPr sz="1600" b="0">
                <a:solidFill>
                  <a:srgbClr val="000000"/>
                </a:solidFill>
                <a:latin typeface="맑은 고딕"/>
                <a:ea typeface="맑은 고딕"/>
              </a:rPr>
              <a:t>예정</a:t>
            </a:r>
            <a:r>
              <a:rPr sz="1600" b="0">
                <a:solidFill>
                  <a:srgbClr val="000000"/>
                </a:solidFill>
                <a:latin typeface="맑은 고딕"/>
                <a:ea typeface="맑은 고딕"/>
              </a:rPr>
              <a:t>·</a:t>
            </a:r>
            <a:r>
              <a:rPr sz="1600" b="0">
                <a:solidFill>
                  <a:srgbClr val="000000"/>
                </a:solidFill>
                <a:latin typeface="맑은 고딕"/>
                <a:ea typeface="맑은 고딕"/>
              </a:rPr>
              <a:t>건너뜀</a:t>
            </a:r>
            <a:r>
              <a:rPr sz="1600" b="0">
                <a:solidFill>
                  <a:srgbClr val="000000"/>
                </a:solidFill>
                <a:latin typeface="맑은 고딕"/>
                <a:ea typeface="맑은 고딕"/>
              </a:rPr>
              <a:t>·</a:t>
            </a:r>
            <a:r>
              <a:rPr sz="1600" b="0">
                <a:solidFill>
                  <a:srgbClr val="000000"/>
                </a:solidFill>
                <a:latin typeface="맑은 고딕"/>
                <a:ea typeface="맑은 고딕"/>
              </a:rPr>
              <a:t>배송됨</a:t>
            </a:r>
            <a:r>
              <a:rPr sz="1600" b="0">
                <a:solidFill>
                  <a:srgbClr val="000000"/>
                </a:solidFill>
                <a:latin typeface="맑은 고딕"/>
                <a:ea typeface="맑은 고딕"/>
              </a:rPr>
              <a:t>, 회차마다 결제 승인 0..1</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질문</a:t>
            </a:r>
            <a:r>
              <a:rPr sz="1800" b="0">
                <a:solidFill>
                  <a:srgbClr val="000000"/>
                </a:solidFill>
                <a:latin typeface="맑은 고딕"/>
                <a:ea typeface="맑은 고딕"/>
              </a:rPr>
              <a:t> —</a:t>
            </a:r>
            <a:r>
              <a:rPr sz="1600" b="0">
                <a:solidFill>
                  <a:srgbClr val="000000"/>
                </a:solidFill>
                <a:latin typeface="맑은 고딕"/>
                <a:ea typeface="맑은 고딕"/>
              </a:rPr>
              <a:t> 회차마다 주문이 생기는가? 승인된 결제는 어떻게 처리하는가?</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- 69 -</a:t>
            </a:r>
          </a:p>
        </p:txBody>
      </p:sp>
    </p:spTree>
    <p:extLst>
      <p:ext uri="{BB962C8B-B14F-4D97-AF65-F5344CB8AC3E}">
        <p14:creationId xmlns:p14="http://schemas.microsoft.com/office/powerpoint/2010/main" val="278956947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57.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문제영역의 개념·속성·관계·제약을 구현과 분리된 정적 모델로 명시하고 시나리오와 교차검토했다.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정적 모델의 핵심</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정적 모델</a:t>
            </a:r>
            <a:r>
              <a:rPr sz="1600" b="0">
                <a:solidFill>
                  <a:srgbClr val="000000"/>
                </a:solidFill>
                <a:latin typeface="맑은 고딕"/>
                <a:ea typeface="맑은 고딕"/>
              </a:rPr>
              <a:t> —</a:t>
            </a:r>
            <a:r>
              <a:rPr sz="1400" b="0">
                <a:solidFill>
                  <a:srgbClr val="000000"/>
                </a:solidFill>
                <a:latin typeface="맑은 고딕"/>
                <a:ea typeface="맑은 고딕"/>
              </a:rPr>
              <a:t> 기술 요소 없는 존재·관계. 상태 값은 정적, 전이는 동적</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데이터 모델</a:t>
            </a:r>
            <a:r>
              <a:rPr sz="1600" b="0">
                <a:solidFill>
                  <a:srgbClr val="000000"/>
                </a:solidFill>
                <a:latin typeface="맑은 고딕"/>
                <a:ea typeface="맑은 고딕"/>
              </a:rPr>
              <a:t> —</a:t>
            </a:r>
            <a:r>
              <a:rPr sz="1400" b="0">
                <a:solidFill>
                  <a:srgbClr val="000000"/>
                </a:solidFill>
                <a:latin typeface="맑은 고딕"/>
                <a:ea typeface="맑은 고딕"/>
              </a:rPr>
              <a:t> 좋은 데이터 모델이 도메인 모델의 출발점</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속성 규칙</a:t>
            </a:r>
            <a:r>
              <a:rPr sz="1600" b="0">
                <a:solidFill>
                  <a:srgbClr val="000000"/>
                </a:solidFill>
                <a:latin typeface="맑은 고딕"/>
                <a:ea typeface="맑은 고딕"/>
              </a:rPr>
              <a:t> —</a:t>
            </a:r>
            <a:r>
              <a:rPr sz="1400" b="0">
                <a:solidFill>
                  <a:srgbClr val="000000"/>
                </a:solidFill>
                <a:latin typeface="맑은 고딕"/>
                <a:ea typeface="맑은 고딕"/>
              </a:rPr>
              <a:t> 속성 도메인으로 명시하고 값의 종류가 소유</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연관</a:t>
            </a:r>
            <a:r>
              <a:rPr sz="1600" b="0">
                <a:solidFill>
                  <a:srgbClr val="000000"/>
                </a:solidFill>
                <a:latin typeface="맑은 고딕"/>
                <a:ea typeface="맑은 고딕"/>
              </a:rPr>
              <a:t> —</a:t>
            </a:r>
            <a:r>
              <a:rPr sz="1400" b="0">
                <a:solidFill>
                  <a:srgbClr val="000000"/>
                </a:solidFill>
                <a:latin typeface="맑은 고딕"/>
                <a:ea typeface="맑은 고딕"/>
              </a:rPr>
              <a:t> 선보다 의미, 다중성은 업무 규칙</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검토</a:t>
            </a:r>
            <a:r>
              <a:rPr sz="1600" b="0">
                <a:solidFill>
                  <a:srgbClr val="000000"/>
                </a:solidFill>
                <a:latin typeface="맑은 고딕"/>
                <a:ea typeface="맑은 고딕"/>
              </a:rPr>
              <a:t> —</a:t>
            </a:r>
            <a:r>
              <a:rPr sz="1400" b="0">
                <a:solidFill>
                  <a:srgbClr val="000000"/>
                </a:solidFill>
                <a:latin typeface="맑은 고딕"/>
                <a:ea typeface="맑은 고딕"/>
              </a:rPr>
              <a:t> 용어 정렬, 교차검토, 분석 과잉 경계</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다음 세션</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a:t>
            </a:r>
            <a:r>
              <a:rPr sz="1600" b="1">
                <a:solidFill>
                  <a:srgbClr val="000000"/>
                </a:solidFill>
                <a:latin typeface="맑은 고딕"/>
                <a:ea typeface="맑은 고딕"/>
              </a:rPr>
              <a:t>04. 동적 모델 —</a:t>
            </a:r>
            <a:r>
              <a:rPr sz="1400" b="1">
                <a:solidFill>
                  <a:srgbClr val="000000"/>
                </a:solidFill>
                <a:latin typeface="맑은 고딕"/>
                <a:ea typeface="맑은 고딕"/>
              </a:rPr>
              <a:t> 상호작용과 상태</a:t>
            </a:r>
            <a:r>
              <a:rPr sz="1400" b="0">
                <a:solidFill>
                  <a:srgbClr val="000000"/>
                </a:solidFill>
                <a:latin typeface="맑은 고딕"/>
                <a:ea typeface="맑은 고딕"/>
              </a:rPr>
              <a:t>" — 사건·상호작용·상태 전이로 정적 모델을 검증한다.</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16015</TotalTime>
  <Words>2142</Words>
  <Application>Microsoft Macintosh PowerPoint</Application>
  <PresentationFormat>화면 슬라이드 쇼(4:3)</PresentationFormat>
  <Paragraphs>347</Paragraphs>
  <Slides>70</Slides>
  <Notes>57</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70</vt:i4>
      </vt:variant>
    </vt:vector>
  </HeadingPairs>
  <TitlesOfParts>
    <vt:vector size="74" baseType="lpstr">
      <vt:lpstr>맑은 고딕</vt:lpstr>
      <vt:lpstr>Arial</vt:lpstr>
      <vt:lpstr>Wingdings</vt:lpstr>
      <vt:lpstr>4_Office 테마</vt:lpstr>
      <vt:lpstr>03. 정적 모델 목차 (1/2)</vt:lpstr>
      <vt:lpstr>03. 정적 모델 목차 (2/2)</vt:lpstr>
      <vt:lpstr>01. 세션 목표</vt:lpstr>
      <vt:lpstr>02. 요구와 정적 모델</vt:lpstr>
      <vt:lpstr>03. 도메인</vt:lpstr>
      <vt:lpstr>04. 정적 모델</vt:lpstr>
      <vt:lpstr>05. 정적·동적 모델</vt:lpstr>
      <vt:lpstr>06. 상태 값과 상태 전이 (1/3) 클래스·상태 기계 다이어그램</vt:lpstr>
      <vt:lpstr>06. 상태 값과 상태 전이 (2/3) 클래스·상태 기계 다이어그램</vt:lpstr>
      <vt:lpstr>06. 상태 값과 상태 전이 (3/3) 클래스·상태 기계 다이어그램</vt:lpstr>
      <vt:lpstr>07. 도메인 모델</vt:lpstr>
      <vt:lpstr>08. 도메인 모델의 위치</vt:lpstr>
      <vt:lpstr>09. 클래스 다이어그램 (1/2)</vt:lpstr>
      <vt:lpstr>09. 클래스 다이어그램 (2/2)</vt:lpstr>
      <vt:lpstr>10. 정보공학과 데이터 모델링</vt:lpstr>
      <vt:lpstr>11. 데이터 모델과 도메인 모델</vt:lpstr>
      <vt:lpstr>12. 모델 요소의 대응</vt:lpstr>
      <vt:lpstr>13. 같은 사례, 두 모델 (1/3) ERD·클래스 다이어그램</vt:lpstr>
      <vt:lpstr>13. 같은 사례, 두 모델 (2/3) ERD·클래스 다이어그램</vt:lpstr>
      <vt:lpstr>13. 같은 사례, 두 모델 (3/3) ERD·클래스 다이어그램</vt:lpstr>
      <vt:lpstr>14. 도메인 개념</vt:lpstr>
      <vt:lpstr>15. 개념 범주</vt:lpstr>
      <vt:lpstr>16. 유스케이스 어휘</vt:lpstr>
      <vt:lpstr>17. 명사 추출의 한계</vt:lpstr>
      <vt:lpstr>18. 개념과 속성</vt:lpstr>
      <vt:lpstr>19. 속성 값의 의미</vt:lpstr>
      <vt:lpstr>20. 속성 도메인</vt:lpstr>
      <vt:lpstr>21. 속성 수준 업무 규칙</vt:lpstr>
      <vt:lpstr>22. 규칙의 소유</vt:lpstr>
      <vt:lpstr>23. 파생 속성 클래스 다이어그램</vt:lpstr>
      <vt:lpstr>24. 참조와 연관 클래스 다이어그램</vt:lpstr>
      <vt:lpstr>25. 연관 클래스 다이어그램</vt:lpstr>
      <vt:lpstr>26. 필요한 연관</vt:lpstr>
      <vt:lpstr>27. 다중성 클래스 다이어그램</vt:lpstr>
      <vt:lpstr>28. 다중성과 업무 규칙 클래스 다이어그램</vt:lpstr>
      <vt:lpstr>29. 평면 모델 클래스 다이어그램</vt:lpstr>
      <vt:lpstr>30. 주문과 주문 항목 클래스 다이어그램</vt:lpstr>
      <vt:lpstr>31. 연관 클래스 (1/2) 클래스 다이어그램</vt:lpstr>
      <vt:lpstr>31. 연관 클래스 (2/2) 클래스 다이어그램</vt:lpstr>
      <vt:lpstr>32. 명세 개념 클래스 다이어그램</vt:lpstr>
      <vt:lpstr>33. 현재 값과 확정 값 클래스 다이어그램</vt:lpstr>
      <vt:lpstr>34. 같은 구조, 다른 의미</vt:lpstr>
      <vt:lpstr>35. 일반화 클래스 다이어그램</vt:lpstr>
      <vt:lpstr>36. 전체와 부분 클래스 다이어그램</vt:lpstr>
      <vt:lpstr>37. 제약 클래스 다이어그램</vt:lpstr>
      <vt:lpstr>38. 용어 정렬</vt:lpstr>
      <vt:lpstr>39. 동의어와 동음이의어</vt:lpstr>
      <vt:lpstr>40. 용어집</vt:lpstr>
      <vt:lpstr>41. 모델 작성 절차</vt:lpstr>
      <vt:lpstr>42. 도메인 모델 — 초안 클래스 다이어그램</vt:lpstr>
      <vt:lpstr>43. 도메인 모델 — 상세화 (1/2) 클래스 다이어그램</vt:lpstr>
      <vt:lpstr>43. 도메인 모델 — 상세화 (2/2) 클래스 다이어그램</vt:lpstr>
      <vt:lpstr>44. 개념의 묶음 — 패키지 (1/2)</vt:lpstr>
      <vt:lpstr>44. 개념의 묶음 — 패키지 (2/2)</vt:lpstr>
      <vt:lpstr>45. 잘못된 관행 — 분석 과잉</vt:lpstr>
      <vt:lpstr>46. 잘못된 관행 — 구현 요소 클래스 다이어그램</vt:lpstr>
      <vt:lpstr>47. 잘못된 관행 — 규칙 없는 속성</vt:lpstr>
      <vt:lpstr>48. 잘못된 관행 — 관계 남용</vt:lpstr>
      <vt:lpstr>49. 잘못된 관행 — 거대 개념·모호한 이름</vt:lpstr>
      <vt:lpstr>50. 잘못된 관행 — 범위·시점</vt:lpstr>
      <vt:lpstr>51. 모델의 유용성</vt:lpstr>
      <vt:lpstr>52. 시나리오 교차검토 (1/2)</vt:lpstr>
      <vt:lpstr>52. 시나리오 교차검토 (2/2)</vt:lpstr>
      <vt:lpstr>53. 누락과 모순</vt:lpstr>
      <vt:lpstr>54. 정적 모델의 한계</vt:lpstr>
      <vt:lpstr>55. 실습 — 도메인 모델 (1/2)</vt:lpstr>
      <vt:lpstr>55. 실습 — 도메인 모델 (2/2)</vt:lpstr>
      <vt:lpstr>56. 실습 — 검토 예시 (1/2) 클래스 다이어그램</vt:lpstr>
      <vt:lpstr>56. 실습 — 검토 예시 (2/2) 클래스 다이어그램</vt:lpstr>
      <vt:lpstr>57. 요약</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03. 정적 모델 — 도메인 개념과 관계</dc:title>
  <dc:creator>Kim YoungSan</dc:creator>
  <cp:lastModifiedBy>Youngon Kim</cp:lastModifiedBy>
  <cp:revision>42</cp:revision>
  <dcterms:created xsi:type="dcterms:W3CDTF">2021-02-25T22:04:20Z</dcterms:created>
  <dcterms:modified xsi:type="dcterms:W3CDTF">2026-09-21T23:10:41Z</dcterms:modified>
</cp:coreProperties>
</file>