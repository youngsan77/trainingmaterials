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「57. 누락과 모순」에서 정리한다.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다룬다(「56.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§9.2 "What is a Domain Model?" 원문 확인. 같은 절은 도메인 모델을 영역의 주목할 만한 추상·어휘·정보를 담은 "시각적 사전(visual dictionary)"이라고 설명한다.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§9.2 원문 확인 — 도메인 모델은 오퍼레이션(메서드 시그니처)을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3rd ed.(2004), §9.14 "Guideline: How to Find Associations with a Common Associations List"의 Table 9.2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§9.2 "What is a Domain Model?"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3rd ed., Chapter 9, "Definition: Are Domain and Data Models the Same Thing?").</a:t>
            </a:r>
          </a:p>
          <a:p>
            <a:pPr lvl="0"/>
            <a:r>
              <a:rPr lang="ko-KR" sz="1200"/>
              <a:t>실무에서는 데이터 모델조차 제대로 갖추지 않은 채 분석 문서에 시간을 쓰는 경우가 더 흔하다(「49. 잘못된 관행 — 분석 과잉」).</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§9.5의 Table 9.1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같은 곳은 나머지 용어가 다른 문서나 전문가의 머릿속에 있다고 덧붙인다 — 용어집("02. 요구 분석과 유스케이스"의 「18. 용어집」)과 전문가와의 대화가 함께 원천이다.</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「33.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§9.12 "Guideline: A Common Mistake with Attributes vs. Classes" 원문 확인.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§9.13 "Guideline: When to Model with 'Description' Classes?" 원문 확인. 이 사례의 상품은 이미 명세 개념이다. 개별 실물 요구가 확인될 때 재고 품목을 추가한다(「55. 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§9.10 "Guideline: Think Like a Mapmaker; Use Domain Terms" 원문 확인. 원문은 세 항목의 글머리 목록이며 항목마다 예가 붙어 있다. 인용은 세 항목을 이어 옮긴 것이다.</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정의했다. 이 세션은 새로 만들지 않고 정제한다 —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§9.4 "Guideline: How to Create a Domain Model?" 원문 확인 — 개념 클래스 찾기, 클래스 다이어그램으로 그리기, 연관과 속성 추가, 반복 정제. 위 목록은 용어 정렬과 교차검토를 더한 수업용 절차이며 고정 순서가 아니다.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가정이다(「57.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다룬다(「47. 패키지 기준」, 「48. 도메인 모델 — 패키지별」). 패키지를 경계로 판단하고 의존성 방향을 정하는 일은 "05. 구조적 경계와 의존성"에서 다룬다. 의존 화살표는 그때 쓴다.</a:t>
            </a:r>
          </a:p>
          <a:p>
            <a:pPr lvl="0"/>
            <a:r>
              <a:rPr lang="ko-KR" sz="1200"/>
              <a:t>표기 기준: OMG [UML 2.5.1](https://www.omg.org/spec/UML/2.5.1/PDF), §12 Packages.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§32.18 "Using Packages to Organize the Domain Model"의 지침 "How to Partition the Domain Model" 원문 확인. 원문은 네 항목의 글머리 목록이며, 인용은 네 항목을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모델(「45. 도메인 모델 — 상세화」)은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「55. 모델의 유용성」과 「58. 정적 모델의 한계」의 판단을 잘못된 예로 되짚는다.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§32.6 "NextGen POS Conceptual Class Hierarchies" 원문 확인 — 외부 서비스 거래의 변형을 모두 모델에 그릴지 논의하는 부분이다.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결제가 1..*인 이유 — 일시불은 한 번, 월별 청구는 매월 결제가 생긴다. 청구는 결제 시스템이 하고, 이 모델은 그 결과를 기억한다.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회차 상태 — 값과 전이는 실습 4의 상태 기계에서 정하고, 코드에서는 enum이나 상태 패턴으로 옮긴다.</a:t>
            </a:r>
          </a:p>
          <a:p>
            <a:pPr lvl="0"/>
            <a:r>
              <a:rPr lang="ko-KR" sz="1200"/>
              <a:t>단가는 신청 때 확정한 값으로, 상품의 판매가(현재 값)와 다르다.</a:t>
            </a:r>
          </a:p>
          <a:p>
            <a:pPr lvl="0"/>
            <a:r>
              <a:rPr lang="ko-KR" sz="1200"/>
              <a:t>상태가 회차에 있는 이유 — 취소·배송은 회차 단위로 일어난다. 정기배송의 해지·만료는 회차의 상태와 만료일로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「56. 시나리오 교차검토」, 「57.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 정제</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패키지 기준</a:t>
            </a:r>
          </a:p>
          <a:p>
            <a:pPr lvl="1" marL="355600" indent="0">
              <a:spcBef>
                <a:spcPts val="300"/>
              </a:spcBef>
              <a:spcAft>
                <a:spcPts val="300"/>
              </a:spcAft>
              <a:buNone/>
            </a:pPr>
            <a:r>
              <a:rPr sz="1600" b="0">
                <a:solidFill>
                  <a:srgbClr val="000000"/>
                </a:solidFill>
                <a:latin typeface="맑은 고딕"/>
                <a:ea typeface="맑은 고딕"/>
              </a:rPr>
              <a:t>48. 도메인 모델 —</a:t>
            </a:r>
            <a:r>
              <a:rPr sz="1400" b="0">
                <a:solidFill>
                  <a:srgbClr val="000000"/>
                </a:solidFill>
                <a:latin typeface="맑은 고딕"/>
                <a:ea typeface="맑은 고딕"/>
              </a:rPr>
              <a:t> 패키지별</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53.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54.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55. 모델의 유용성</a:t>
            </a:r>
          </a:p>
          <a:p>
            <a:pPr lvl="1" marL="355600" indent="0">
              <a:spcBef>
                <a:spcPts val="300"/>
              </a:spcBef>
              <a:spcAft>
                <a:spcPts val="300"/>
              </a:spcAft>
              <a:buNone/>
            </a:pPr>
            <a:r>
              <a:rPr sz="1600" b="0">
                <a:solidFill>
                  <a:srgbClr val="000000"/>
                </a:solidFill>
                <a:latin typeface="맑은 고딕"/>
                <a:ea typeface="맑은 고딕"/>
              </a:rPr>
              <a:t>56. 시나리오 교차검토</a:t>
            </a:r>
          </a:p>
          <a:p>
            <a:pPr lvl="1" marL="355600" indent="0">
              <a:spcBef>
                <a:spcPts val="300"/>
              </a:spcBef>
              <a:spcAft>
                <a:spcPts val="300"/>
              </a:spcAft>
              <a:buNone/>
            </a:pPr>
            <a:r>
              <a:rPr sz="1600" b="0">
                <a:solidFill>
                  <a:srgbClr val="000000"/>
                </a:solidFill>
                <a:latin typeface="맑은 고딕"/>
                <a:ea typeface="맑은 고딕"/>
              </a:rPr>
              <a:t>57. 누락과 모순</a:t>
            </a:r>
          </a:p>
          <a:p>
            <a:pPr lvl="1" marL="355600" indent="0">
              <a:spcBef>
                <a:spcPts val="300"/>
              </a:spcBef>
              <a:spcAft>
                <a:spcPts val="300"/>
              </a:spcAft>
              <a:buNone/>
            </a:pPr>
            <a:r>
              <a:rPr sz="1600" b="0">
                <a:solidFill>
                  <a:srgbClr val="000000"/>
                </a:solidFill>
                <a:latin typeface="맑은 고딕"/>
                <a:ea typeface="맑은 고딕"/>
              </a:rPr>
              <a:t>58. 정적 모델의 한계</a:t>
            </a:r>
          </a:p>
          <a:p>
            <a:pPr lvl="1" marL="355600" indent="0">
              <a:spcBef>
                <a:spcPts val="300"/>
              </a:spcBef>
              <a:spcAft>
                <a:spcPts val="300"/>
              </a:spcAft>
              <a:buNone/>
            </a:pPr>
            <a:r>
              <a:rPr sz="1600" b="0">
                <a:solidFill>
                  <a:srgbClr val="000000"/>
                </a:solidFill>
                <a:latin typeface="맑은 고딕"/>
                <a:ea typeface="맑은 고딕"/>
              </a:rPr>
              <a:t>59.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60. 도메인 모델 초안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도메인 모델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이전 산출물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or out-of-scope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 정제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10003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모델을 그리며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도메인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있다(전체 취소 전제의 </a:t>
            </a:r>
            <a:r>
              <a:rPr sz="1600" b="1">
                <a:solidFill>
                  <a:srgbClr val="000000"/>
                </a:solidFill>
                <a:latin typeface="맑은 고딕"/>
                <a:ea typeface="맑은 고딕"/>
              </a:rPr>
              <a:t>교육용 가정</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패키지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3215" y="2801048"/>
          <a:ext cx="6443980" cy="3873500"/>
        </p:xfrm>
        <a:graphic>
          <a:graphicData uri="http://schemas.openxmlformats.org/drawingml/2006/table">
            <a:tbl>
              <a:tblPr/>
              <a:tblGrid>
                <a:gridCol w="1450340"/>
                <a:gridCol w="4104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개념(「37. 일반화」의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질문으로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are in a class hierarchy together; participate in the same use cases; are strongly associated"</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「45. 도메인 모델 —</a:t>
            </a:r>
            <a:r>
              <a:rPr sz="1600" b="0">
                <a:solidFill>
                  <a:srgbClr val="000000"/>
                </a:solidFill>
                <a:latin typeface="맑은 고딕"/>
                <a:ea typeface="맑은 고딕"/>
              </a:rPr>
              <a:t> 상세화」의 통합 모델을 </a:t>
            </a:r>
            <a:r>
              <a:rPr sz="1600" b="1">
                <a:solidFill>
                  <a:srgbClr val="000000"/>
                </a:solidFill>
                <a:latin typeface="맑은 고딕"/>
                <a:ea typeface="맑은 고딕"/>
              </a:rPr>
              <a:t>패키지 기준</a:t>
            </a:r>
            <a:r>
              <a:rPr sz="1600" b="0">
                <a:solidFill>
                  <a:srgbClr val="000000"/>
                </a:solidFill>
                <a:latin typeface="맑은 고딕"/>
                <a:ea typeface="맑은 고딕"/>
              </a:rPr>
              <a:t>으로 나눈 것이다. 속성은 감추고 클래스 이름과 관계만 남겨 </a:t>
            </a:r>
            <a:r>
              <a:rPr sz="1600" b="1">
                <a:solidFill>
                  <a:srgbClr val="000000"/>
                </a:solidFill>
                <a:latin typeface="맑은 고딕"/>
                <a:ea typeface="맑은 고딕"/>
              </a:rPr>
              <a:t>묶음</a:t>
            </a:r>
            <a:r>
              <a:rPr sz="1600" b="0">
                <a:solidFill>
                  <a:srgbClr val="000000"/>
                </a:solidFill>
                <a:latin typeface="맑은 고딕"/>
                <a:ea typeface="맑은 고딕"/>
              </a:rPr>
              <a:t>을 드러낸다.</a:t>
            </a:r>
          </a:p>
        </p:txBody>
      </p:sp>
      <p:pic>
        <p:nvPicPr>
          <p:cNvPr id="9" name="plantuml Diagram 26"/>
          <p:cNvPicPr>
            <a:picLocks noChangeAspect="1"/>
          </p:cNvPicPr>
          <p:nvPr/>
        </p:nvPicPr>
        <p:blipFill>
          <a:blip r:embed="plantumlImage26"/>
          <a:stretch>
            <a:fillRect/>
          </a:stretch>
        </p:blipFill>
        <p:spPr>
          <a:xfrm>
            <a:off x="1641231" y="2596456"/>
            <a:ext cx="5861538" cy="2999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51511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327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57.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도메인 모델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p:txBody>
      </p:sp>
      <p:pic>
        <p:nvPicPr>
          <p:cNvPr id="9" name="plantuml Diagram 28"/>
          <p:cNvPicPr>
            <a:picLocks noChangeAspect="1"/>
          </p:cNvPicPr>
          <p:nvPr/>
        </p:nvPicPr>
        <p:blipFill>
          <a:blip r:embed="plantumlImage28"/>
          <a:stretch>
            <a:fillRect/>
          </a:stretch>
        </p:blipFill>
        <p:spPr>
          <a:xfrm>
            <a:off x="2173654" y="3181430"/>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도메인 모델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29"/>
          <p:cNvPicPr>
            <a:picLocks noChangeAspect="1"/>
          </p:cNvPicPr>
          <p:nvPr/>
        </p:nvPicPr>
        <p:blipFill>
          <a:blip r:embed="plantumlImage29"/>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이전 산출물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정기배송의 상태가 아니라 회차 상태와 만료일로 판단한다. 회차 상태의 값과 전이는 실습 4의 상태 기계에서 구체화한다.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패키지</a:t>
            </a:r>
            <a:r>
              <a:rPr sz="1600" b="0">
                <a:solidFill>
                  <a:srgbClr val="000000"/>
                </a:solidFill>
                <a:latin typeface="맑은 고딕"/>
                <a:ea typeface="맑은 고딕"/>
              </a:rPr>
              <a:t> —</a:t>
            </a:r>
            <a:r>
              <a:rPr sz="1400" b="0">
                <a:solidFill>
                  <a:srgbClr val="000000"/>
                </a:solidFill>
                <a:latin typeface="맑은 고딕"/>
                <a:ea typeface="맑은 고딕"/>
              </a:rPr>
              <a:t> 주제 영역·클래스 계층·유스케이스·강한 연관으로 개념을 묶는다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정렬과 용어집 정제,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 (1/3)</vt:lpstr>
      <vt:lpstr>03. 정적 모델 목차 (2/3)</vt:lpstr>
      <vt:lpstr>03. 정적 모델 목차 (3/3)</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 정제</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vt:lpstr>
      <vt:lpstr>47. 패키지 기준</vt:lpstr>
      <vt:lpstr>48. 도메인 모델 — 패키지별 (1/2) 패키지 다이어그램</vt:lpstr>
      <vt:lpstr>48. 도메인 모델 — 패키지별 (2/2) 패키지 다이어그램</vt:lpstr>
      <vt:lpstr>49. 잘못된 관행 — 분석 과잉</vt:lpstr>
      <vt:lpstr>50. 잘못된 관행 — 구현 요소 클래스 다이어그램</vt:lpstr>
      <vt:lpstr>51. 잘못된 관행 — 규칙 없는 속성</vt:lpstr>
      <vt:lpstr>52. 잘못된 관행 — 관계 남용</vt:lpstr>
      <vt:lpstr>53. 잘못된 관행 — 거대 개념·모호한 이름</vt:lpstr>
      <vt:lpstr>54. 잘못된 관행 — 범위·시점</vt:lpstr>
      <vt:lpstr>55. 모델의 유용성</vt:lpstr>
      <vt:lpstr>56. 시나리오 교차검토</vt:lpstr>
      <vt:lpstr>57. 누락과 모순</vt:lpstr>
      <vt:lpstr>58. 정적 모델의 한계</vt:lpstr>
      <vt:lpstr>59. 실습 — 도메인 모델</vt:lpstr>
      <vt:lpstr>60. 도메인 모델 초안 (안)</vt:lpstr>
      <vt:lpstr>61. 도메인 모델 상세 (안)</vt:lpstr>
      <vt:lpstr>62. 이전 산출물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