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변경은 "02. 요구 분석과 유스케이스"의 "39. 시스템 오퍼레이션과 계약"에 있는 오퍼레이션 계약, 주문 취소는 같은 세션 "31. 유스케이스 상세화"에 있는 「주문을 관리한다」 명세의 주문 취소 대안 흐름 결과다. 두 문구와 전제(결제 완료·배송 시작 전 전체 취소, 출고 전 배송지 변경)를 그대로 사용한다.</a:t>
            </a:r>
          </a:p>
          <a:p>
            <a:pPr lvl="0"/>
            <a:r>
              <a:rPr lang="ko-KR" sz="1200"/>
              <a:t>모델을 그리다 용어가 모호하다는 사실을 발견하면 요구로 되돌아간다.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인용문은 원서 본문을 직접 확인하지 못했고 여러 독립 출처가 같은 문구로 인용한 것을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다룬다("50. 시나리오 교차검토").</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 §14.5.10.1(StateMachine).</a:t>
            </a:r>
          </a:p>
          <a:p>
            <a:pPr lvl="0"/>
            <a:r>
              <a:rPr lang="ko-KR" sz="1200"/>
              <a:t>주문 상태 값 목록은 교육용 가정이다.</a:t>
            </a:r>
          </a:p>
          <a:p>
            <a:pPr lvl="0"/>
            <a:r>
              <a:rPr lang="ko-KR" sz="1200"/>
              <a:t>상태 기계는 대비를 위한 미리보기다. 두 전이는 결제 완료·배송 시작 전 전체 취소라는 기존 전제와 일치하는 것만 그렸다. 전이·사건·가드의 표기는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흔하다("43. 잘못된 관행 — 분석 과잉").</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"20. 속성 도메인"·"21. 속성 수준 업무 규칙"에서 이어서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규칙의 범위를 나누는 이유는 규칙을 둘 자리를 정하기 위해서다. 여러 속성에 걸친 제약은 "37. 제약"에서, 시점 규칙은 "04. 동적 모델 — 상호작용과 상태"에서 다룬다.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다중성은 양쪽 끝에서 각각 읽는다. 주문 → 결제 0..1은 교육용 가정이다("28. 다중성과 업무 규칙"). n..m 범위 표기도 있으나 현재 사례에 확인된 한도가 없어 예로 들지 않았다.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"주문 1 : 주문 항목 1..*"는 다중성에서 다룬 질문이 실제로 모델 구조를 바꾸는 지점이다.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"30.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근거: Larman, 2nd ed., Chapter 10, "Specification or Description Conceptual Classes". 이 사례의 상품은 이미 명세 개념이다. 개별 실물 요구가 확인될 때 재고 품목을 추가한다("49. 모델의 유용성").</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판단한다("35. 일반화").</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 Eric Evans, [DDD Reference](https://www.domainlanguage.com/wp-content/uploads/2016/05/DDD_Reference_2015-03.pdf), 2015, "Ubiquitous Language".</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Evans의 문장은 공통 언어 원칙의 일부다. 여기서는 "용어와 모델은 함께 바뀐다"만 쓴다. 공통 언어의 본격 논의는 "13. OOAD에서 전문영역으로 — Architecture · DDD · MSA"에서 다룬다.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정의 열은 교육용 초안이다. 요구 분석에서 시작한 용어를 이어서 정제한다. 확인 질문 열이 비어 있지 않다는 것이 용어집이 살아 있다는 증거다.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가정이다("51. 누락과 모순").</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하나다("11.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"20. 속성 도메인"과 "22. 규칙의 소유"의 판단을 잘못된 예로 되짚는다. 코드에서 같은 문제를 흔히 "원시 타입 집착"이라고 부른다.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각 기준은 "25. 연관"·"26. 필요한 연관"·"28. 다중성과 업무 규칙"·"36. 전체와 부분"·"35. 일반화"·"24. 참조와 연관"에서 설명했다. 이 topic은 한 장에서 다시 점검하는 목록이다.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"29. 평면 모델"이 커진 형태다. 이름 문제는 "38.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"49. 모델의 유용성"과 "52. 정적 모델의 한계"의 판단을 잘못된 예로 되짚는다.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"29.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"02. 요구 분석과 유스케이스"의 "52. 실습 — 모델로 바꾸기"에서 정한 유스케이스(정기배송을 관리한다)와 대안 흐름(다음 배송 건너뛰기), 성공 경로 전제를 유지한다.</a:t>
            </a:r>
          </a:p>
          <a:p>
            <a:pPr lvl="0"/>
            <a:r>
              <a:rPr lang="ko-KR" sz="1200"/>
              <a:t>세부 검토 기준(충족 / 보완):</a:t>
            </a:r>
          </a:p>
          <a:p>
            <a:pPr lvl="1"/>
            <a:r>
              <a:rPr lang="ko-KR" sz="1200"/>
              <a:t>개념 구분 — 정기배송·배송 회차·결제 승인을 구분한다 / "건너뛰기 버튼"을 개념으로 둔다</a:t>
            </a:r>
          </a:p>
          <a:p>
            <a:pPr lvl="1"/>
            <a:r>
              <a:rPr lang="ko-KR" sz="1200"/>
              <a:t>다중성 — 회차와 결제 승인의 관계를 질문과 함께 제시한다 / 근거 없이 1로 확정한다</a:t>
            </a:r>
          </a:p>
          <a:p>
            <a:pPr lvl="1"/>
            <a:r>
              <a:rPr lang="ko-KR" sz="1200"/>
              <a:t>상태 — 회차 상태 값과 48시간 규칙을 분리한다 / 48시간 조건을 속성이나 개념으로 만든다</a:t>
            </a:r>
          </a:p>
          <a:p>
            <a:pPr lvl="1"/>
            <a:r>
              <a:rPr lang="ko-KR" sz="1200"/>
              <a:t>제약 — 연속 2회를 판단할 정보(회차 순서·상태)가 있는지 확인한다 / 규칙만 나열한다</a:t>
            </a:r>
          </a:p>
          <a:p>
            <a:pPr lvl="1"/>
            <a:r>
              <a:rPr lang="ko-KR" sz="1200"/>
              <a:t>구현 요소 — 키·메서드·화면이 없다 / 건너뛰기()나 회차ID가 있다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추가 질문: 승인된 결제는 취소·환불·이월 중 무엇인가? 연속 횟수는 언제 초기화되는가?</a:t>
            </a:r>
          </a:p>
          <a:p>
            <a:pPr lvl="0"/>
            <a:r>
              <a:rPr lang="ko-KR" sz="1200"/>
              <a:t>건너뛰기를 별도 개념이 아니라 회차 상태 값으로 둔 것은 판단의 예다. 사유·요청 일시를 기록해야 하면 별도 개념이 될 수 있다.</a:t>
            </a:r>
          </a:p>
          <a:p>
            <a:pPr lvl="0"/>
            <a:r>
              <a:rPr lang="ko-KR" sz="1200"/>
              <a:t>정기배송 항목의 가격이 신청 시점에 확정되는지도 질문이다("33. 현재 값과 확정 값").</a:t>
            </a:r>
          </a:p>
          <a:p>
            <a:pPr lvl="0"/>
            <a:r>
              <a:rPr lang="ko-KR" sz="1200"/>
              <a:t>정기배송–주문 연결을 추측으로 그리지 않은 것이 핵심이다. 질문을 남긴 것을 감점하지 않는다.</a:t>
            </a:r>
          </a:p>
          <a:p>
            <a:pPr lvl="0"/>
            <a:r>
              <a:rPr lang="ko-KR" sz="1200"/>
              <a:t>토론 질문: 왜 이것을 개념(또는 속성)으로 판단했는가? 아직 무엇을 모르는가?</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정보공학과 데이터 모델링</a:t>
            </a:r>
          </a:p>
          <a:p>
            <a:pPr lvl="1" marL="355600" indent="0">
              <a:spcBef>
                <a:spcPts val="300"/>
              </a:spcBef>
              <a:spcAft>
                <a:spcPts val="300"/>
              </a:spcAft>
              <a:buNone/>
            </a:pPr>
            <a:r>
              <a:rPr sz="1600" b="0">
                <a:solidFill>
                  <a:srgbClr val="000000"/>
                </a:solidFill>
                <a:latin typeface="맑은 고딕"/>
                <a:ea typeface="맑은 고딕"/>
              </a:rPr>
              <a:t>11. 데이터 모델과 도메인 모델</a:t>
            </a:r>
          </a:p>
          <a:p>
            <a:pPr lvl="1" marL="355600" indent="0">
              <a:spcBef>
                <a:spcPts val="300"/>
              </a:spcBef>
              <a:spcAft>
                <a:spcPts val="300"/>
              </a:spcAft>
              <a:buNone/>
            </a:pPr>
            <a:r>
              <a:rPr sz="1600" b="0">
                <a:solidFill>
                  <a:srgbClr val="000000"/>
                </a:solidFill>
                <a:latin typeface="맑은 고딕"/>
                <a:ea typeface="맑은 고딕"/>
              </a:rPr>
              <a:t>12. 모델 요소의 대응</a:t>
            </a:r>
          </a:p>
          <a:p>
            <a:pPr lvl="1" marL="355600" indent="0">
              <a:spcBef>
                <a:spcPts val="300"/>
              </a:spcBef>
              <a:spcAft>
                <a:spcPts val="300"/>
              </a:spcAft>
              <a:buNone/>
            </a:pPr>
            <a:r>
              <a:rPr sz="1600" b="0">
                <a:solidFill>
                  <a:srgbClr val="000000"/>
                </a:solidFill>
                <a:latin typeface="맑은 고딕"/>
                <a:ea typeface="맑은 고딕"/>
              </a:rPr>
              <a:t>13. 같은 사례, 두 모델</a:t>
            </a:r>
          </a:p>
          <a:p>
            <a:pPr lvl="1" marL="355600" indent="0">
              <a:spcBef>
                <a:spcPts val="300"/>
              </a:spcBef>
              <a:spcAft>
                <a:spcPts val="300"/>
              </a:spcAft>
              <a:buNone/>
            </a:pPr>
            <a:r>
              <a:rPr sz="1600" b="0">
                <a:solidFill>
                  <a:srgbClr val="000000"/>
                </a:solidFill>
                <a:latin typeface="맑은 고딕"/>
                <a:ea typeface="맑은 고딕"/>
              </a:rPr>
              <a:t>14. 도메인 개념</a:t>
            </a:r>
          </a:p>
          <a:p>
            <a:pPr lvl="1" marL="355600" indent="0">
              <a:spcBef>
                <a:spcPts val="300"/>
              </a:spcBef>
              <a:spcAft>
                <a:spcPts val="300"/>
              </a:spcAft>
              <a:buNone/>
            </a:pPr>
            <a:r>
              <a:rPr sz="1600" b="0">
                <a:solidFill>
                  <a:srgbClr val="000000"/>
                </a:solidFill>
                <a:latin typeface="맑은 고딕"/>
                <a:ea typeface="맑은 고딕"/>
              </a:rPr>
              <a:t>15. 개념 범주</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유스케이스 어휘</a:t>
            </a:r>
          </a:p>
          <a:p>
            <a:pPr lvl="1" marL="355600" indent="0">
              <a:spcBef>
                <a:spcPts val="300"/>
              </a:spcBef>
              <a:spcAft>
                <a:spcPts val="300"/>
              </a:spcAft>
              <a:buNone/>
            </a:pPr>
            <a:r>
              <a:rPr sz="1600" b="0">
                <a:solidFill>
                  <a:srgbClr val="000000"/>
                </a:solidFill>
                <a:latin typeface="맑은 고딕"/>
                <a:ea typeface="맑은 고딕"/>
              </a:rPr>
              <a:t>17. 명사 추출의 한계</a:t>
            </a:r>
          </a:p>
          <a:p>
            <a:pPr lvl="1" marL="355600" indent="0">
              <a:spcBef>
                <a:spcPts val="300"/>
              </a:spcBef>
              <a:spcAft>
                <a:spcPts val="300"/>
              </a:spcAft>
              <a:buNone/>
            </a:pPr>
            <a:r>
              <a:rPr sz="1600" b="0">
                <a:solidFill>
                  <a:srgbClr val="000000"/>
                </a:solidFill>
                <a:latin typeface="맑은 고딕"/>
                <a:ea typeface="맑은 고딕"/>
              </a:rPr>
              <a:t>18. 개념과 속성</a:t>
            </a:r>
          </a:p>
          <a:p>
            <a:pPr lvl="1" marL="355600" indent="0">
              <a:spcBef>
                <a:spcPts val="300"/>
              </a:spcBef>
              <a:spcAft>
                <a:spcPts val="300"/>
              </a:spcAft>
              <a:buNone/>
            </a:pPr>
            <a:r>
              <a:rPr sz="1600" b="0">
                <a:solidFill>
                  <a:srgbClr val="000000"/>
                </a:solidFill>
                <a:latin typeface="맑은 고딕"/>
                <a:ea typeface="맑은 고딕"/>
              </a:rPr>
              <a:t>19. 속성 값의 의미</a:t>
            </a:r>
          </a:p>
          <a:p>
            <a:pPr lvl="1" marL="355600" indent="0">
              <a:spcBef>
                <a:spcPts val="300"/>
              </a:spcBef>
              <a:spcAft>
                <a:spcPts val="300"/>
              </a:spcAft>
              <a:buNone/>
            </a:pPr>
            <a:r>
              <a:rPr sz="1600" b="0">
                <a:solidFill>
                  <a:srgbClr val="000000"/>
                </a:solidFill>
                <a:latin typeface="맑은 고딕"/>
                <a:ea typeface="맑은 고딕"/>
              </a:rPr>
              <a:t>20. 속성 도메인</a:t>
            </a:r>
          </a:p>
          <a:p>
            <a:pPr lvl="1" marL="355600" indent="0">
              <a:spcBef>
                <a:spcPts val="300"/>
              </a:spcBef>
              <a:spcAft>
                <a:spcPts val="300"/>
              </a:spcAft>
              <a:buNone/>
            </a:pPr>
            <a:r>
              <a:rPr sz="1600" b="0">
                <a:solidFill>
                  <a:srgbClr val="000000"/>
                </a:solidFill>
                <a:latin typeface="맑은 고딕"/>
                <a:ea typeface="맑은 고딕"/>
              </a:rPr>
              <a:t>21. 속성 수준 업무 규칙</a:t>
            </a:r>
          </a:p>
          <a:p>
            <a:pPr lvl="1" marL="355600" indent="0">
              <a:spcBef>
                <a:spcPts val="300"/>
              </a:spcBef>
              <a:spcAft>
                <a:spcPts val="300"/>
              </a:spcAft>
              <a:buNone/>
            </a:pPr>
            <a:r>
              <a:rPr sz="1600" b="0">
                <a:solidFill>
                  <a:srgbClr val="000000"/>
                </a:solidFill>
                <a:latin typeface="맑은 고딕"/>
                <a:ea typeface="맑은 고딕"/>
              </a:rPr>
              <a:t>22. 규칙의 소유</a:t>
            </a:r>
          </a:p>
          <a:p>
            <a:pPr lvl="1" marL="355600" indent="0">
              <a:spcBef>
                <a:spcPts val="300"/>
              </a:spcBef>
              <a:spcAft>
                <a:spcPts val="300"/>
              </a:spcAft>
              <a:buNone/>
            </a:pPr>
            <a:r>
              <a:rPr sz="1600" b="0">
                <a:solidFill>
                  <a:srgbClr val="000000"/>
                </a:solidFill>
                <a:latin typeface="맑은 고딕"/>
                <a:ea typeface="맑은 고딕"/>
              </a:rPr>
              <a:t>23. 파생 속성</a:t>
            </a:r>
          </a:p>
          <a:p>
            <a:pPr lvl="1" marL="355600" indent="0">
              <a:spcBef>
                <a:spcPts val="300"/>
              </a:spcBef>
              <a:spcAft>
                <a:spcPts val="300"/>
              </a:spcAft>
              <a:buNone/>
            </a:pPr>
            <a:r>
              <a:rPr sz="1600" b="0">
                <a:solidFill>
                  <a:srgbClr val="000000"/>
                </a:solidFill>
                <a:latin typeface="맑은 고딕"/>
                <a:ea typeface="맑은 고딕"/>
              </a:rPr>
              <a:t>24. 참조와 연관</a:t>
            </a:r>
          </a:p>
          <a:p>
            <a:pPr lvl="1" marL="355600" indent="0">
              <a:spcBef>
                <a:spcPts val="300"/>
              </a:spcBef>
              <a:spcAft>
                <a:spcPts val="300"/>
              </a:spcAft>
              <a:buNone/>
            </a:pPr>
            <a:r>
              <a:rPr sz="1600" b="0">
                <a:solidFill>
                  <a:srgbClr val="000000"/>
                </a:solidFill>
                <a:latin typeface="맑은 고딕"/>
                <a:ea typeface="맑은 고딕"/>
              </a:rPr>
              <a:t>25. 연관</a:t>
            </a:r>
          </a:p>
          <a:p>
            <a:pPr lvl="1" marL="355600" indent="0">
              <a:spcBef>
                <a:spcPts val="300"/>
              </a:spcBef>
              <a:spcAft>
                <a:spcPts val="300"/>
              </a:spcAft>
              <a:buNone/>
            </a:pPr>
            <a:r>
              <a:rPr sz="1600" b="0">
                <a:solidFill>
                  <a:srgbClr val="000000"/>
                </a:solidFill>
                <a:latin typeface="맑은 고딕"/>
                <a:ea typeface="맑은 고딕"/>
              </a:rPr>
              <a:t>26. 필요한 연관</a:t>
            </a:r>
          </a:p>
          <a:p>
            <a:pPr lvl="1" marL="355600" indent="0">
              <a:spcBef>
                <a:spcPts val="300"/>
              </a:spcBef>
              <a:spcAft>
                <a:spcPts val="300"/>
              </a:spcAft>
              <a:buNone/>
            </a:pPr>
            <a:r>
              <a:rPr sz="1600" b="0">
                <a:solidFill>
                  <a:srgbClr val="000000"/>
                </a:solidFill>
                <a:latin typeface="맑은 고딕"/>
                <a:ea typeface="맑은 고딕"/>
              </a:rPr>
              <a:t>27. 다중성</a:t>
            </a:r>
          </a:p>
          <a:p>
            <a:pPr lvl="1" marL="355600" indent="0">
              <a:spcBef>
                <a:spcPts val="300"/>
              </a:spcBef>
              <a:spcAft>
                <a:spcPts val="300"/>
              </a:spcAft>
              <a:buNone/>
            </a:pPr>
            <a:r>
              <a:rPr sz="1600" b="0">
                <a:solidFill>
                  <a:srgbClr val="000000"/>
                </a:solidFill>
                <a:latin typeface="맑은 고딕"/>
                <a:ea typeface="맑은 고딕"/>
              </a:rPr>
              <a:t>28. 다중성과 업무 규칙</a:t>
            </a:r>
          </a:p>
          <a:p>
            <a:pPr lvl="1" marL="355600" indent="0">
              <a:spcBef>
                <a:spcPts val="300"/>
              </a:spcBef>
              <a:spcAft>
                <a:spcPts val="300"/>
              </a:spcAft>
              <a:buNone/>
            </a:pPr>
            <a:r>
              <a:rPr sz="1600" b="0">
                <a:solidFill>
                  <a:srgbClr val="000000"/>
                </a:solidFill>
                <a:latin typeface="맑은 고딕"/>
                <a:ea typeface="맑은 고딕"/>
              </a:rPr>
              <a:t>29. 평면 모델</a:t>
            </a:r>
          </a:p>
          <a:p>
            <a:pPr lvl="1" marL="355600" indent="0">
              <a:spcBef>
                <a:spcPts val="300"/>
              </a:spcBef>
              <a:spcAft>
                <a:spcPts val="300"/>
              </a:spcAft>
              <a:buNone/>
            </a:pPr>
            <a:r>
              <a:rPr sz="1600" b="0">
                <a:solidFill>
                  <a:srgbClr val="000000"/>
                </a:solidFill>
                <a:latin typeface="맑은 고딕"/>
                <a:ea typeface="맑은 고딕"/>
              </a:rPr>
              <a:t>30. 주문과 주문 항목</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연관 클래스</a:t>
            </a:r>
          </a:p>
          <a:p>
            <a:pPr lvl="1" marL="355600" indent="0">
              <a:spcBef>
                <a:spcPts val="300"/>
              </a:spcBef>
              <a:spcAft>
                <a:spcPts val="300"/>
              </a:spcAft>
              <a:buNone/>
            </a:pPr>
            <a:r>
              <a:rPr sz="1600" b="0">
                <a:solidFill>
                  <a:srgbClr val="000000"/>
                </a:solidFill>
                <a:latin typeface="맑은 고딕"/>
                <a:ea typeface="맑은 고딕"/>
              </a:rPr>
              <a:t>32. 명세 개념</a:t>
            </a:r>
          </a:p>
          <a:p>
            <a:pPr lvl="1" marL="355600" indent="0">
              <a:spcBef>
                <a:spcPts val="300"/>
              </a:spcBef>
              <a:spcAft>
                <a:spcPts val="300"/>
              </a:spcAft>
              <a:buNone/>
            </a:pPr>
            <a:r>
              <a:rPr sz="1600" b="0">
                <a:solidFill>
                  <a:srgbClr val="000000"/>
                </a:solidFill>
                <a:latin typeface="맑은 고딕"/>
                <a:ea typeface="맑은 고딕"/>
              </a:rPr>
              <a:t>33. 현재 값과 확정 값</a:t>
            </a:r>
          </a:p>
          <a:p>
            <a:pPr lvl="1" marL="355600" indent="0">
              <a:spcBef>
                <a:spcPts val="300"/>
              </a:spcBef>
              <a:spcAft>
                <a:spcPts val="300"/>
              </a:spcAft>
              <a:buNone/>
            </a:pPr>
            <a:r>
              <a:rPr sz="1600" b="0">
                <a:solidFill>
                  <a:srgbClr val="000000"/>
                </a:solidFill>
                <a:latin typeface="맑은 고딕"/>
                <a:ea typeface="맑은 고딕"/>
              </a:rPr>
              <a:t>34. 같은 구조, 다른 의미</a:t>
            </a:r>
          </a:p>
          <a:p>
            <a:pPr lvl="1" marL="355600" indent="0">
              <a:spcBef>
                <a:spcPts val="300"/>
              </a:spcBef>
              <a:spcAft>
                <a:spcPts val="300"/>
              </a:spcAft>
              <a:buNone/>
            </a:pPr>
            <a:r>
              <a:rPr sz="1600" b="0">
                <a:solidFill>
                  <a:srgbClr val="000000"/>
                </a:solidFill>
                <a:latin typeface="맑은 고딕"/>
                <a:ea typeface="맑은 고딕"/>
              </a:rPr>
              <a:t>35. 일반화</a:t>
            </a:r>
          </a:p>
          <a:p>
            <a:pPr lvl="1" marL="355600" indent="0">
              <a:spcBef>
                <a:spcPts val="300"/>
              </a:spcBef>
              <a:spcAft>
                <a:spcPts val="300"/>
              </a:spcAft>
              <a:buNone/>
            </a:pPr>
            <a:r>
              <a:rPr sz="1600" b="0">
                <a:solidFill>
                  <a:srgbClr val="000000"/>
                </a:solidFill>
                <a:latin typeface="맑은 고딕"/>
                <a:ea typeface="맑은 고딕"/>
              </a:rPr>
              <a:t>36. 전체와 부분</a:t>
            </a:r>
          </a:p>
          <a:p>
            <a:pPr lvl="1" marL="355600" indent="0">
              <a:spcBef>
                <a:spcPts val="300"/>
              </a:spcBef>
              <a:spcAft>
                <a:spcPts val="300"/>
              </a:spcAft>
              <a:buNone/>
            </a:pPr>
            <a:r>
              <a:rPr sz="1600" b="0">
                <a:solidFill>
                  <a:srgbClr val="000000"/>
                </a:solidFill>
                <a:latin typeface="맑은 고딕"/>
                <a:ea typeface="맑은 고딕"/>
              </a:rPr>
              <a:t>37. 제약</a:t>
            </a:r>
          </a:p>
          <a:p>
            <a:pPr lvl="1" marL="355600" indent="0">
              <a:spcBef>
                <a:spcPts val="300"/>
              </a:spcBef>
              <a:spcAft>
                <a:spcPts val="300"/>
              </a:spcAft>
              <a:buNone/>
            </a:pPr>
            <a:r>
              <a:rPr sz="1600" b="0">
                <a:solidFill>
                  <a:srgbClr val="000000"/>
                </a:solidFill>
                <a:latin typeface="맑은 고딕"/>
                <a:ea typeface="맑은 고딕"/>
              </a:rPr>
              <a:t>38. 용어 정렬</a:t>
            </a:r>
          </a:p>
          <a:p>
            <a:pPr lvl="1" marL="355600" indent="0">
              <a:spcBef>
                <a:spcPts val="300"/>
              </a:spcBef>
              <a:spcAft>
                <a:spcPts val="300"/>
              </a:spcAft>
              <a:buNone/>
            </a:pPr>
            <a:r>
              <a:rPr sz="1600" b="0">
                <a:solidFill>
                  <a:srgbClr val="000000"/>
                </a:solidFill>
                <a:latin typeface="맑은 고딕"/>
                <a:ea typeface="맑은 고딕"/>
              </a:rPr>
              <a:t>39. 동의어와 동음이의어</a:t>
            </a:r>
          </a:p>
          <a:p>
            <a:pPr lvl="1" marL="355600" indent="0">
              <a:spcBef>
                <a:spcPts val="300"/>
              </a:spcBef>
              <a:spcAft>
                <a:spcPts val="300"/>
              </a:spcAft>
              <a:buNone/>
            </a:pPr>
            <a:r>
              <a:rPr sz="1600" b="0">
                <a:solidFill>
                  <a:srgbClr val="000000"/>
                </a:solidFill>
                <a:latin typeface="맑은 고딕"/>
                <a:ea typeface="맑은 고딕"/>
              </a:rPr>
              <a:t>40. 용어집</a:t>
            </a:r>
          </a:p>
          <a:p>
            <a:pPr lvl="1" marL="355600" indent="0">
              <a:spcBef>
                <a:spcPts val="300"/>
              </a:spcBef>
              <a:spcAft>
                <a:spcPts val="300"/>
              </a:spcAft>
              <a:buNone/>
            </a:pPr>
            <a:r>
              <a:rPr sz="1600" b="0">
                <a:solidFill>
                  <a:srgbClr val="000000"/>
                </a:solidFill>
                <a:latin typeface="맑은 고딕"/>
                <a:ea typeface="맑은 고딕"/>
              </a:rPr>
              <a:t>41. 모델 작성 절차</a:t>
            </a:r>
          </a:p>
          <a:p>
            <a:pPr lvl="1" marL="355600" indent="0">
              <a:spcBef>
                <a:spcPts val="300"/>
              </a:spcBef>
              <a:spcAft>
                <a:spcPts val="300"/>
              </a:spcAft>
              <a:buNone/>
            </a:pPr>
            <a:r>
              <a:rPr sz="1600" b="0">
                <a:solidFill>
                  <a:srgbClr val="000000"/>
                </a:solidFill>
                <a:latin typeface="맑은 고딕"/>
                <a:ea typeface="맑은 고딕"/>
              </a:rPr>
              <a:t>42. 개념적 도메인 모델</a:t>
            </a:r>
          </a:p>
          <a:p>
            <a:pPr lvl="1" marL="355600" indent="0">
              <a:spcBef>
                <a:spcPts val="300"/>
              </a:spcBef>
              <a:spcAft>
                <a:spcPts val="300"/>
              </a:spcAft>
              <a:buNone/>
            </a:pPr>
            <a:r>
              <a:rPr sz="1600" b="0">
                <a:solidFill>
                  <a:srgbClr val="000000"/>
                </a:solidFill>
                <a:latin typeface="맑은 고딕"/>
                <a:ea typeface="맑은 고딕"/>
              </a:rPr>
              <a:t>43.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44.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45. 잘못된 관행 —</a:t>
            </a:r>
            <a:r>
              <a:rPr sz="1400" b="0">
                <a:solidFill>
                  <a:srgbClr val="000000"/>
                </a:solidFill>
                <a:latin typeface="맑은 고딕"/>
                <a:ea typeface="맑은 고딕"/>
              </a:rPr>
              <a:t> 규칙 없는 속성</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47.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48.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49. 모델의 유용성</a:t>
            </a:r>
          </a:p>
          <a:p>
            <a:pPr lvl="1" marL="355600" indent="0">
              <a:spcBef>
                <a:spcPts val="300"/>
              </a:spcBef>
              <a:spcAft>
                <a:spcPts val="300"/>
              </a:spcAft>
              <a:buNone/>
            </a:pPr>
            <a:r>
              <a:rPr sz="1600" b="0">
                <a:solidFill>
                  <a:srgbClr val="000000"/>
                </a:solidFill>
                <a:latin typeface="맑은 고딕"/>
                <a:ea typeface="맑은 고딕"/>
              </a:rPr>
              <a:t>50. 시나리오 교차검토</a:t>
            </a:r>
          </a:p>
          <a:p>
            <a:pPr lvl="1" marL="355600" indent="0">
              <a:spcBef>
                <a:spcPts val="300"/>
              </a:spcBef>
              <a:spcAft>
                <a:spcPts val="300"/>
              </a:spcAft>
              <a:buNone/>
            </a:pPr>
            <a:r>
              <a:rPr sz="1600" b="0">
                <a:solidFill>
                  <a:srgbClr val="000000"/>
                </a:solidFill>
                <a:latin typeface="맑은 고딕"/>
                <a:ea typeface="맑은 고딕"/>
              </a:rPr>
              <a:t>51. 누락과 모순</a:t>
            </a:r>
          </a:p>
          <a:p>
            <a:pPr lvl="1" marL="355600" indent="0">
              <a:spcBef>
                <a:spcPts val="300"/>
              </a:spcBef>
              <a:spcAft>
                <a:spcPts val="300"/>
              </a:spcAft>
              <a:buNone/>
            </a:pPr>
            <a:r>
              <a:rPr sz="1600" b="0">
                <a:solidFill>
                  <a:srgbClr val="000000"/>
                </a:solidFill>
                <a:latin typeface="맑은 고딕"/>
                <a:ea typeface="맑은 고딕"/>
              </a:rPr>
              <a:t>52. 정적 모델의 한계</a:t>
            </a:r>
          </a:p>
          <a:p>
            <a:pPr lvl="1" marL="355600" indent="0">
              <a:spcBef>
                <a:spcPts val="300"/>
              </a:spcBef>
              <a:spcAft>
                <a:spcPts val="300"/>
              </a:spcAft>
              <a:buNone/>
            </a:pPr>
            <a:r>
              <a:rPr sz="1600" b="0">
                <a:solidFill>
                  <a:srgbClr val="000000"/>
                </a:solidFill>
                <a:latin typeface="맑은 고딕"/>
                <a:ea typeface="맑은 고딕"/>
              </a:rPr>
              <a:t>53.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54. 실습 —</a:t>
            </a:r>
            <a:r>
              <a:rPr sz="1400" b="0">
                <a:solidFill>
                  <a:srgbClr val="000000"/>
                </a:solidFill>
                <a:latin typeface="맑은 고딕"/>
                <a:ea typeface="맑은 고딕"/>
              </a:rPr>
              <a:t> 검토 예시</a:t>
            </a:r>
          </a:p>
          <a:p>
            <a:pPr lvl="1" marL="355600" indent="0">
              <a:spcBef>
                <a:spcPts val="300"/>
              </a:spcBef>
              <a:spcAft>
                <a:spcPts val="300"/>
              </a:spcAft>
              <a:buNone/>
            </a:pPr>
            <a:r>
              <a:rPr sz="1600" b="0">
                <a:solidFill>
                  <a:srgbClr val="000000"/>
                </a:solidFill>
                <a:latin typeface="맑은 고딕"/>
                <a:ea typeface="맑은 고딕"/>
              </a:rPr>
              <a:t>55.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모델에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관계와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정렬하고 </a:t>
            </a:r>
            <a:r>
              <a:rPr sz="1800" b="1">
                <a:solidFill>
                  <a:srgbClr val="000000"/>
                </a:solidFill>
                <a:latin typeface="맑은 고딕"/>
                <a:ea typeface="맑은 고딕"/>
              </a:rPr>
              <a:t>개념적 도메인 모델</a:t>
            </a:r>
            <a:r>
              <a:rPr sz="1800" b="0">
                <a:solidFill>
                  <a:srgbClr val="000000"/>
                </a:solidFill>
                <a:latin typeface="맑은 고딕"/>
                <a:ea typeface="맑은 고딕"/>
              </a:rPr>
              <a:t>을 작성한다.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분석에서 쓴 </a:t>
            </a:r>
            <a:r>
              <a:rPr sz="1800" b="1">
                <a:solidFill>
                  <a:srgbClr val="000000"/>
                </a:solidFill>
                <a:latin typeface="맑은 고딕"/>
                <a:ea typeface="맑은 고딕"/>
              </a:rPr>
              <a:t>성공 사후조건</a:t>
            </a:r>
            <a:r>
              <a:rPr sz="1800" b="0">
                <a:solidFill>
                  <a:srgbClr val="000000"/>
                </a:solidFill>
                <a:latin typeface="맑은 고딕"/>
                <a:ea typeface="맑은 고딕"/>
              </a:rPr>
              <a:t>은 성공 후 참이어야 하는 상태다. 그 상태를 말하려면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 계약</a:t>
            </a:r>
            <a:r>
              <a:rPr sz="1800" b="0">
                <a:solidFill>
                  <a:srgbClr val="000000"/>
                </a:solidFill>
                <a:latin typeface="맑은 고딕"/>
                <a:ea typeface="맑은 고딕"/>
              </a:rPr>
              <a:t> —</a:t>
            </a:r>
            <a:r>
              <a:rPr sz="1600" b="0">
                <a:solidFill>
                  <a:srgbClr val="000000"/>
                </a:solidFill>
                <a:latin typeface="맑은 고딕"/>
                <a:ea typeface="맑은 고딕"/>
              </a:rPr>
              <a:t> "해당 주문의 </a:t>
            </a:r>
            <a:r>
              <a:rPr sz="1600" b="1">
                <a:solidFill>
                  <a:srgbClr val="000000"/>
                </a:solidFill>
                <a:latin typeface="맑은 고딕"/>
                <a:ea typeface="맑은 고딕"/>
              </a:rPr>
              <a:t>배송지</a:t>
            </a:r>
            <a:r>
              <a:rPr sz="1600" b="0">
                <a:solidFill>
                  <a:srgbClr val="000000"/>
                </a:solidFill>
                <a:latin typeface="맑은 고딕"/>
                <a:ea typeface="맑은 고딕"/>
              </a:rPr>
              <a:t>가 지정한 새 주소다. 주문 식별 정보·</a:t>
            </a:r>
            <a:r>
              <a:rPr sz="1600" b="1">
                <a:solidFill>
                  <a:srgbClr val="000000"/>
                </a:solidFill>
                <a:latin typeface="맑은 고딕"/>
                <a:ea typeface="맑은 고딕"/>
              </a:rPr>
              <a:t>상품</a:t>
            </a:r>
            <a:r>
              <a:rPr sz="1600" b="0">
                <a:solidFill>
                  <a:srgbClr val="000000"/>
                </a:solidFill>
                <a:latin typeface="맑은 고딕"/>
                <a:ea typeface="맑은 고딕"/>
              </a:rPr>
              <a:t>·</a:t>
            </a:r>
            <a:r>
              <a:rPr sz="1600" b="1">
                <a:solidFill>
                  <a:srgbClr val="000000"/>
                </a:solidFill>
                <a:latin typeface="맑은 고딕"/>
                <a:ea typeface="맑은 고딕"/>
              </a:rPr>
              <a:t>결제 금액</a:t>
            </a:r>
            <a:r>
              <a:rPr sz="1600" b="0">
                <a:solidFill>
                  <a:srgbClr val="000000"/>
                </a:solidFill>
                <a:latin typeface="맑은 고딕"/>
                <a:ea typeface="맑은 고딕"/>
              </a:rPr>
              <a:t>은 변경 전과 같다"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 흐름의 결과</a:t>
            </a:r>
            <a:r>
              <a:rPr sz="1800" b="0">
                <a:solidFill>
                  <a:srgbClr val="000000"/>
                </a:solidFill>
                <a:latin typeface="맑은 고딕"/>
                <a:ea typeface="맑은 고딕"/>
              </a:rPr>
              <a:t> —</a:t>
            </a:r>
            <a:r>
              <a:rPr sz="1600" b="0">
                <a:solidFill>
                  <a:srgbClr val="000000"/>
                </a:solidFill>
                <a:latin typeface="맑은 고딕"/>
                <a:ea typeface="맑은 고딕"/>
              </a:rPr>
              <a:t> "주문이 </a:t>
            </a:r>
            <a:r>
              <a:rPr sz="1600" b="1">
                <a:solidFill>
                  <a:srgbClr val="000000"/>
                </a:solidFill>
                <a:latin typeface="맑은 고딕"/>
                <a:ea typeface="맑은 고딕"/>
              </a:rPr>
              <a:t>취소 상태</a:t>
            </a:r>
            <a:r>
              <a:rPr sz="1600" b="0">
                <a:solidFill>
                  <a:srgbClr val="000000"/>
                </a:solidFill>
                <a:latin typeface="맑은 고딕"/>
                <a:ea typeface="맑은 고딕"/>
              </a:rPr>
              <a:t>이고, 결제 금액 전액의 </a:t>
            </a:r>
            <a:r>
              <a:rPr sz="1600" b="1">
                <a:solidFill>
                  <a:srgbClr val="000000"/>
                </a:solidFill>
                <a:latin typeface="맑은 고딕"/>
                <a:ea typeface="맑은 고딕"/>
              </a:rPr>
              <a:t>환불</a:t>
            </a:r>
            <a:r>
              <a:rPr sz="1600" b="0">
                <a:solidFill>
                  <a:srgbClr val="000000"/>
                </a:solidFill>
                <a:latin typeface="맑은 고딕"/>
                <a:ea typeface="맑은 고딕"/>
              </a:rPr>
              <a:t>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주문·상품·결제·환불은 무엇이며 서로 어떤 관계인가? 배송지는 값인가, 별도 개념인가?</a:t>
            </a:r>
          </a:p>
        </p:txBody>
      </p:sp>
      <p:pic>
        <p:nvPicPr>
          <p:cNvPr id="9" name="mermaid Diagram 1"/>
          <p:cNvPicPr>
            <a:picLocks noChangeAspect="1"/>
          </p:cNvPicPr>
          <p:nvPr/>
        </p:nvPicPr>
        <p:blipFill>
          <a:blip r:embed="mermaidImage1"/>
          <a:stretch>
            <a:fillRect/>
          </a:stretch>
        </p:blipFill>
        <p:spPr>
          <a:xfrm>
            <a:off x="1799828" y="4181213"/>
            <a:ext cx="5544344"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6" y="1842998"/>
          <a:ext cx="6388100" cy="3873500"/>
        </p:xfrm>
        <a:graphic>
          <a:graphicData uri="http://schemas.openxmlformats.org/drawingml/2006/table">
            <a:tbl>
              <a:tblPr/>
              <a:tblGrid>
                <a:gridCol w="889000"/>
                <a:gridCol w="2735580"/>
                <a:gridCol w="27635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시퀀스·상태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832488" y="3500120"/>
            <a:ext cx="1479024" cy="281234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시스템 일부의 </a:t>
            </a:r>
            <a:r>
              <a:rPr sz="1800" b="1">
                <a:solidFill>
                  <a:srgbClr val="000000"/>
                </a:solidFill>
                <a:latin typeface="맑은 고딕"/>
                <a:ea typeface="맑은 고딕"/>
              </a:rPr>
              <a:t>사건 주도 행위</a:t>
            </a:r>
            <a:r>
              <a:rPr sz="1800" b="0">
                <a:solidFill>
                  <a:srgbClr val="000000"/>
                </a:solidFill>
                <a:latin typeface="맑은 고딕"/>
                <a:ea typeface="맑은 고딕"/>
              </a:rPr>
              <a:t>를 표현하는 데 사용할 수 있다"</a:t>
            </a:r>
            <a:r>
              <a:rPr sz="1000" b="0">
                <a:solidFill>
                  <a:srgbClr val="000000"/>
                </a:solidFill>
                <a:latin typeface="맑은 고딕"/>
                <a:ea typeface="맑은 고딕"/>
              </a:rPr>
              <a:t>, </a:t>
            </a:r>
            <a:r>
              <a:rPr sz="1000" b="0">
                <a:solidFill>
                  <a:srgbClr val="000000"/>
                </a:solidFill>
                <a:latin typeface="맑은 고딕"/>
                <a:ea typeface="맑은 고딕"/>
              </a:rPr>
              <a:t>"StateMachines can be used to express event-driven behaviors of parts of a system."</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2"/>
          <p:cNvPicPr>
            <a:picLocks noChangeAspect="1"/>
          </p:cNvPicPr>
          <p:nvPr/>
        </p:nvPicPr>
        <p:blipFill>
          <a:blip r:embed="plantumlImage2"/>
          <a:stretch>
            <a:fillRect/>
          </a:stretch>
        </p:blipFill>
        <p:spPr>
          <a:xfrm>
            <a:off x="3368431" y="3327194"/>
            <a:ext cx="2407138" cy="23758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실세계 개념 클래스를 표현한 것이지 </a:t>
            </a:r>
            <a:r>
              <a:rPr sz="1800" b="1">
                <a:solidFill>
                  <a:srgbClr val="000000"/>
                </a:solidFill>
                <a:latin typeface="맑은 고딕"/>
                <a:ea typeface="맑은 고딕"/>
              </a:rPr>
              <a:t>소프트웨어 컴포넌트</a:t>
            </a:r>
            <a:r>
              <a:rPr sz="1800" b="0">
                <a:solidFill>
                  <a:srgbClr val="000000"/>
                </a:solidFill>
                <a:latin typeface="맑은 고딕"/>
                <a:ea typeface="맑은 고딕"/>
              </a:rPr>
              <a:t>를 표현한 것이 아니다"</a:t>
            </a:r>
            <a:r>
              <a:rPr sz="1000" b="0">
                <a:solidFill>
                  <a:srgbClr val="000000"/>
                </a:solidFill>
                <a:latin typeface="맑은 고딕"/>
                <a:ea typeface="맑은 고딕"/>
              </a:rPr>
              <a:t>, </a:t>
            </a:r>
            <a:r>
              <a:rPr sz="1000" b="0">
                <a:solidFill>
                  <a:srgbClr val="000000"/>
                </a:solidFill>
                <a:latin typeface="맑은 고딕"/>
                <a:ea typeface="맑은 고딕"/>
              </a:rPr>
              <a:t>"A domain model is a representation of real-world conceptual classes, not of software components."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이름이 있는 사각형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사각형 안의 단순한 값</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600" b="0">
                <a:solidFill>
                  <a:srgbClr val="000000"/>
                </a:solidFill>
                <a:latin typeface="맑은 고딕"/>
                <a:ea typeface="맑은 고딕"/>
              </a:rPr>
              <a:t> 이름 있는 실선과 양 끝의 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a:t>
            </a:r>
            <a:r>
              <a:rPr sz="1800" b="0">
                <a:solidFill>
                  <a:srgbClr val="000000"/>
                </a:solidFill>
                <a:latin typeface="맑은 고딕"/>
                <a:ea typeface="맑은 고딕"/>
              </a:rPr>
              <a:t> —</a:t>
            </a:r>
            <a:r>
              <a:rPr sz="1600" b="0">
                <a:solidFill>
                  <a:srgbClr val="000000"/>
                </a:solidFill>
                <a:latin typeface="맑은 고딕"/>
                <a:ea typeface="맑은 고딕"/>
              </a:rPr>
              <a:t> 쓰지 않는다</a:t>
            </a:r>
          </a:p>
        </p:txBody>
      </p:sp>
      <p:pic>
        <p:nvPicPr>
          <p:cNvPr id="9" name="plantuml Diagram 3"/>
          <p:cNvPicPr>
            <a:picLocks noChangeAspect="1"/>
          </p:cNvPicPr>
          <p:nvPr/>
        </p:nvPicPr>
        <p:blipFill>
          <a:blip r:embed="plantumlImage3"/>
          <a:stretch>
            <a:fillRect/>
          </a:stretch>
        </p:blipFill>
        <p:spPr>
          <a:xfrm>
            <a:off x="2860431" y="3877287"/>
            <a:ext cx="3423138"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a:t>
            </a:r>
          </a:p>
        </p:txBody>
      </p:sp>
      <p:pic>
        <p:nvPicPr>
          <p:cNvPr id="9" name="plantuml Diagram 4"/>
          <p:cNvPicPr>
            <a:picLocks noChangeAspect="1"/>
          </p:cNvPicPr>
          <p:nvPr/>
        </p:nvPicPr>
        <p:blipFill>
          <a:blip r:embed="plantumlImage4"/>
          <a:stretch>
            <a:fillRect/>
          </a:stretch>
        </p:blipFill>
        <p:spPr>
          <a:xfrm>
            <a:off x="1602154" y="1818532"/>
            <a:ext cx="5939692" cy="42476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p:txBody>
      </p:sp>
      <p:pic>
        <p:nvPicPr>
          <p:cNvPr id="9" name="plantuml Diagram 5"/>
          <p:cNvPicPr>
            <a:picLocks noChangeAspect="1"/>
          </p:cNvPicPr>
          <p:nvPr/>
        </p:nvPicPr>
        <p:blipFill>
          <a:blip r:embed="plantumlImage5"/>
          <a:stretch>
            <a:fillRect/>
          </a:stretch>
        </p:blipFill>
        <p:spPr>
          <a:xfrm>
            <a:off x="457200" y="3720390"/>
            <a:ext cx="8229600" cy="12262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39886" y="1842998"/>
          <a:ext cx="3850640" cy="3873500"/>
        </p:xfrm>
        <a:graphic>
          <a:graphicData uri="http://schemas.openxmlformats.org/drawingml/2006/table">
            <a:tbl>
              <a:tblPr/>
              <a:tblGrid>
                <a:gridCol w="1478280"/>
                <a:gridCol w="23723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유스케이스 어휘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(개념인가, 상태 값인가?)</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파생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6"/>
          <p:cNvPicPr>
            <a:picLocks noChangeAspect="1"/>
          </p:cNvPicPr>
          <p:nvPr/>
        </p:nvPicPr>
        <p:blipFill>
          <a:blip r:embed="plantumlImage6"/>
          <a:stretch>
            <a:fillRect/>
          </a:stretch>
        </p:blipFill>
        <p:spPr>
          <a:xfrm>
            <a:off x="2157046" y="3589944"/>
            <a:ext cx="4829908"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참조와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7"/>
          <p:cNvPicPr>
            <a:picLocks noChangeAspect="1"/>
          </p:cNvPicPr>
          <p:nvPr/>
        </p:nvPicPr>
        <p:blipFill>
          <a:blip r:embed="plantumlImage7"/>
          <a:stretch>
            <a:fillRect/>
          </a:stretch>
        </p:blipFill>
        <p:spPr>
          <a:xfrm>
            <a:off x="2469662" y="3042046"/>
            <a:ext cx="4204677" cy="25595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8"/>
          <p:cNvPicPr>
            <a:picLocks noChangeAspect="1"/>
          </p:cNvPicPr>
          <p:nvPr/>
        </p:nvPicPr>
        <p:blipFill>
          <a:blip r:embed="plantumlImage8"/>
          <a:stretch>
            <a:fillRect/>
          </a:stretch>
        </p:blipFill>
        <p:spPr>
          <a:xfrm>
            <a:off x="734646" y="3828313"/>
            <a:ext cx="7674708"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다중성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다중성과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평면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9"/>
          <p:cNvPicPr>
            <a:picLocks noChangeAspect="1"/>
          </p:cNvPicPr>
          <p:nvPr/>
        </p:nvPicPr>
        <p:blipFill>
          <a:blip r:embed="plantumlImage9"/>
          <a:stretch>
            <a:fillRect/>
          </a:stretch>
        </p:blipFill>
        <p:spPr>
          <a:xfrm>
            <a:off x="3802185" y="3450579"/>
            <a:ext cx="1539631" cy="2715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주문과 주문 항목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0"/>
          <p:cNvPicPr>
            <a:picLocks noChangeAspect="1"/>
          </p:cNvPicPr>
          <p:nvPr/>
        </p:nvPicPr>
        <p:blipFill>
          <a:blip r:embed="plantumlImage10"/>
          <a:stretch>
            <a:fillRect/>
          </a:stretch>
        </p:blipFill>
        <p:spPr>
          <a:xfrm>
            <a:off x="1273908" y="3539236"/>
            <a:ext cx="6596185"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연관 클래스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1"/>
          <p:cNvPicPr>
            <a:picLocks noChangeAspect="1"/>
          </p:cNvPicPr>
          <p:nvPr/>
        </p:nvPicPr>
        <p:blipFill>
          <a:blip r:embed="plantumlImage11"/>
          <a:stretch>
            <a:fillRect/>
          </a:stretch>
        </p:blipFill>
        <p:spPr>
          <a:xfrm>
            <a:off x="2938585" y="3684641"/>
            <a:ext cx="3266831"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연관 클래스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2"/>
          <p:cNvPicPr>
            <a:picLocks noChangeAspect="1"/>
          </p:cNvPicPr>
          <p:nvPr/>
        </p:nvPicPr>
        <p:blipFill>
          <a:blip r:embed="plantumlImage12"/>
          <a:stretch>
            <a:fillRect/>
          </a:stretch>
        </p:blipFill>
        <p:spPr>
          <a:xfrm>
            <a:off x="2274277" y="3052728"/>
            <a:ext cx="4595446" cy="22508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명세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3"/>
          <p:cNvPicPr>
            <a:picLocks noChangeAspect="1"/>
          </p:cNvPicPr>
          <p:nvPr/>
        </p:nvPicPr>
        <p:blipFill>
          <a:blip r:embed="plantumlImage13"/>
          <a:stretch>
            <a:fillRect/>
          </a:stretch>
        </p:blipFill>
        <p:spPr>
          <a:xfrm>
            <a:off x="2563446" y="3682908"/>
            <a:ext cx="4017108"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현재 값과 확정 값</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일반화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4"/>
          <p:cNvPicPr>
            <a:picLocks noChangeAspect="1"/>
          </p:cNvPicPr>
          <p:nvPr/>
        </p:nvPicPr>
        <p:blipFill>
          <a:blip r:embed="plantumlImage14"/>
          <a:stretch>
            <a:fillRect/>
          </a:stretch>
        </p:blipFill>
        <p:spPr>
          <a:xfrm>
            <a:off x="2844800" y="3540652"/>
            <a:ext cx="3454400" cy="23680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전체와 부분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5"/>
          <p:cNvPicPr>
            <a:picLocks noChangeAspect="1"/>
          </p:cNvPicPr>
          <p:nvPr/>
        </p:nvPicPr>
        <p:blipFill>
          <a:blip r:embed="plantumlImage15"/>
          <a:stretch>
            <a:fillRect/>
          </a:stretch>
        </p:blipFill>
        <p:spPr>
          <a:xfrm>
            <a:off x="2938585" y="4504415"/>
            <a:ext cx="3266831"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수량은 1 이상이다.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총액은 주문 항목의 수량 × 단가 합계다.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환불 금액은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전에만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"언어가 바뀌면 곧 </a:t>
            </a:r>
            <a:r>
              <a:rPr sz="1800" b="1">
                <a:solidFill>
                  <a:srgbClr val="000000"/>
                </a:solidFill>
                <a:latin typeface="맑은 고딕"/>
                <a:ea typeface="맑은 고딕"/>
              </a:rPr>
              <a:t>모델이 바뀐</a:t>
            </a:r>
            <a:r>
              <a:rPr sz="1800" b="0">
                <a:solidFill>
                  <a:srgbClr val="000000"/>
                </a:solidFill>
                <a:latin typeface="맑은 고딕"/>
                <a:ea typeface="맑은 고딕"/>
              </a:rPr>
              <a:t> 것임을 인식한다"</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7976" y="1842998"/>
          <a:ext cx="6474460" cy="3873500"/>
        </p:xfrm>
        <a:graphic>
          <a:graphicData uri="http://schemas.openxmlformats.org/drawingml/2006/table">
            <a:tbl>
              <a:tblPr/>
              <a:tblGrid>
                <a:gridCol w="947420"/>
                <a:gridCol w="3266440"/>
                <a:gridCol w="22606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모델의 이름이 </a:t>
            </a:r>
            <a:r>
              <a:rPr sz="1800" b="1">
                <a:solidFill>
                  <a:srgbClr val="000000"/>
                </a:solidFill>
                <a:latin typeface="맑은 고딕"/>
                <a:ea typeface="맑은 고딕"/>
              </a:rPr>
              <a:t>무엇을 뜻하는지</a:t>
            </a:r>
            <a:r>
              <a:rPr sz="1800" b="0">
                <a:solidFill>
                  <a:srgbClr val="000000"/>
                </a:solidFill>
                <a:latin typeface="맑은 고딕"/>
                <a:ea typeface="맑은 고딕"/>
              </a:rPr>
              <a:t> 문장으로 고정한다.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723900" indent="-368300">
              <a:spcBef>
                <a:spcPts val="600"/>
              </a:spcBef>
              <a:spcAft>
                <a:spcPts val="600"/>
              </a:spcAft>
              <a:buNone/>
            </a:pPr>
            <a:r>
              <a:rPr sz="1800" b="0">
                <a:solidFill>
                  <a:srgbClr val="000000"/>
                </a:solidFill>
                <a:latin typeface="맑은 고딕"/>
                <a:ea typeface="맑은 고딕"/>
              </a:rPr>
              <a:t>1. 현재 반복의 유스케이스와 사후조건을 정한다.</a:t>
            </a:r>
          </a:p>
          <a:p>
            <a:pPr lvl="2" marL="723900" indent="-368300">
              <a:spcBef>
                <a:spcPts val="600"/>
              </a:spcBef>
              <a:spcAft>
                <a:spcPts val="600"/>
              </a:spcAft>
              <a:buNone/>
            </a:pPr>
            <a:r>
              <a:rPr sz="1800" b="0">
                <a:solidFill>
                  <a:srgbClr val="000000"/>
                </a:solidFill>
                <a:latin typeface="맑은 고딕"/>
                <a:ea typeface="맑은 고딕"/>
              </a:rPr>
              <a:t>2. 개념 범주와 어휘로 후보를 모은다.</a:t>
            </a:r>
          </a:p>
          <a:p>
            <a:pPr lvl="2" marL="723900" indent="-368300">
              <a:spcBef>
                <a:spcPts val="600"/>
              </a:spcBef>
              <a:spcAft>
                <a:spcPts val="600"/>
              </a:spcAft>
              <a:buNone/>
            </a:pPr>
            <a:r>
              <a:rPr sz="1800" b="0">
                <a:solidFill>
                  <a:srgbClr val="000000"/>
                </a:solidFill>
                <a:latin typeface="맑은 고딕"/>
                <a:ea typeface="맑은 고딕"/>
              </a:rPr>
              <a:t>3. 개념·속성·해결책 요소·제외 대상으로 구분한다.</a:t>
            </a:r>
          </a:p>
          <a:p>
            <a:pPr lvl="2" marL="723900" indent="-368300">
              <a:spcBef>
                <a:spcPts val="600"/>
              </a:spcBef>
              <a:spcAft>
                <a:spcPts val="600"/>
              </a:spcAft>
              <a:buNone/>
            </a:pPr>
            <a:r>
              <a:rPr sz="1800" b="0">
                <a:solidFill>
                  <a:srgbClr val="000000"/>
                </a:solidFill>
                <a:latin typeface="맑은 고딕"/>
                <a:ea typeface="맑은 고딕"/>
              </a:rPr>
              <a:t>4. 연관·다중성, 속성·제약을 추가한다.</a:t>
            </a:r>
          </a:p>
          <a:p>
            <a:pPr lvl="2" marL="723900" indent="-368300">
              <a:spcBef>
                <a:spcPts val="600"/>
              </a:spcBef>
              <a:spcAft>
                <a:spcPts val="600"/>
              </a:spcAft>
              <a:buNone/>
            </a:pPr>
            <a:r>
              <a:rPr sz="1800" b="0">
                <a:solidFill>
                  <a:srgbClr val="000000"/>
                </a:solidFill>
                <a:latin typeface="맑은 고딕"/>
                <a:ea typeface="맑은 고딕"/>
              </a:rPr>
              <a:t>5. 용어집과 맞추고 시나리오와 교차검토한다.</a:t>
            </a:r>
          </a:p>
        </p:txBody>
      </p:sp>
      <p:pic>
        <p:nvPicPr>
          <p:cNvPr id="9" name="mermaid Diagram 2"/>
          <p:cNvPicPr>
            <a:picLocks noChangeAspect="1"/>
          </p:cNvPicPr>
          <p:nvPr/>
        </p:nvPicPr>
        <p:blipFill>
          <a:blip r:embed="mermaidImage2"/>
          <a:stretch>
            <a:fillRect/>
          </a:stretch>
        </p:blipFill>
        <p:spPr>
          <a:xfrm>
            <a:off x="1149350" y="4201476"/>
            <a:ext cx="6845300" cy="9167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개념적 도메인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취소·배송지 변경 요구에 답하는 데 필요한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16"/>
          <p:cNvPicPr>
            <a:picLocks noChangeAspect="1"/>
          </p:cNvPicPr>
          <p:nvPr/>
        </p:nvPicPr>
        <p:blipFill>
          <a:blip r:embed="plantumlImage16"/>
          <a:stretch>
            <a:fillRect/>
          </a:stretch>
        </p:blipFill>
        <p:spPr>
          <a:xfrm>
            <a:off x="457200" y="2702178"/>
            <a:ext cx="8229600" cy="278770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개념적 도메인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장바구니·재고 품목·결제 수단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 시스템 —</a:t>
            </a:r>
            <a:r>
              <a:rPr sz="1400" b="0">
                <a:solidFill>
                  <a:srgbClr val="000000"/>
                </a:solidFill>
                <a:latin typeface="맑은 고딕"/>
                <a:ea typeface="맑은 고딕"/>
              </a:rPr>
              <a:t> 지원 액터이며 결제 기록과 다르다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오퍼레이션·저장 키·화면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잘못된 관행 — 분석 과잉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수백 쪽의 문서와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핵심 개념·관계·속성 규칙은 모호하다. 제대로 된 데이터 모델도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잘못된 관행 — 분석 과잉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이벤트와 목표 목록이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핵심 개념·관계·속성 도메인이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기술 요소가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다음 판단이 달라지는가?</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잘못된 관행 — 구현 요소</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17"/>
          <p:cNvPicPr>
            <a:picLocks noChangeAspect="1"/>
          </p:cNvPicPr>
          <p:nvPr/>
        </p:nvPicPr>
        <p:blipFill>
          <a:blip r:embed="plantumlImage17"/>
          <a:stretch>
            <a:fillRect/>
          </a:stretch>
        </p:blipFill>
        <p:spPr>
          <a:xfrm>
            <a:off x="1793631" y="3667405"/>
            <a:ext cx="5556738" cy="18835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시나리오 교차검토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83856" y="2240238"/>
          <a:ext cx="6362700" cy="3873500"/>
        </p:xfrm>
        <a:graphic>
          <a:graphicData uri="http://schemas.openxmlformats.org/drawingml/2006/table">
            <a:tbl>
              <a:tblPr/>
              <a:tblGrid>
                <a:gridCol w="2176780"/>
                <a:gridCol w="2567940"/>
                <a:gridCol w="16179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시나리오 교차검토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1585960"/>
          <a:ext cx="5552440" cy="3873500"/>
        </p:xfrm>
        <a:graphic>
          <a:graphicData uri="http://schemas.openxmlformats.org/drawingml/2006/table">
            <a:tbl>
              <a:tblPr/>
              <a:tblGrid>
                <a:gridCol w="1813560"/>
                <a:gridCol w="2120900"/>
                <a:gridCol w="16179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 정보가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51. 누락과 모순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 출고 정보</a:t>
            </a:r>
            <a:r>
              <a:rPr sz="1800" b="0">
                <a:solidFill>
                  <a:srgbClr val="000000"/>
                </a:solidFill>
                <a:latin typeface="맑은 고딕"/>
                <a:ea typeface="맑은 고딕"/>
              </a:rPr>
              <a:t> —</a:t>
            </a:r>
            <a:r>
              <a:rPr sz="1600" b="0">
                <a:solidFill>
                  <a:srgbClr val="000000"/>
                </a:solidFill>
                <a:latin typeface="맑은 고딕"/>
                <a:ea typeface="맑은 고딕"/>
              </a:rPr>
              <a:t> 주문 상태에 </a:t>
            </a:r>
            <a:r>
              <a:rPr sz="1600" b="0">
                <a:solidFill>
                  <a:srgbClr val="000000"/>
                </a:solidFill>
                <a:latin typeface="맑은 고딕"/>
                <a:ea typeface="맑은 고딕"/>
              </a:rPr>
              <a:t>출고됨</a:t>
            </a:r>
            <a:r>
              <a:rPr sz="1600" b="0">
                <a:solidFill>
                  <a:srgbClr val="000000"/>
                </a:solidFill>
                <a:latin typeface="맑은 고딕"/>
                <a:ea typeface="맑은 고딕"/>
              </a:rPr>
              <a:t>을 추가할지, </a:t>
            </a:r>
            <a:r>
              <a:rPr sz="1600" b="1">
                <a:solidFill>
                  <a:srgbClr val="000000"/>
                </a:solidFill>
                <a:latin typeface="맑은 고딕"/>
                <a:ea typeface="맑은 고딕"/>
              </a:rPr>
              <a:t>배송</a:t>
            </a:r>
            <a:r>
              <a:rPr sz="1600" b="0">
                <a:solidFill>
                  <a:srgbClr val="000000"/>
                </a:solidFill>
                <a:latin typeface="맑은 고딕"/>
                <a:ea typeface="맑은 고딕"/>
              </a:rPr>
              <a:t> 개념이 필요한지는 "출고와 배송 시작은 같은가?"에 달려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52.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실습 — 도메인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 실습의 정기배송 요청을 이어서, 이번에는 </a:t>
            </a:r>
            <a:r>
              <a:rPr sz="1800" b="1">
                <a:solidFill>
                  <a:srgbClr val="000000"/>
                </a:solidFill>
                <a:latin typeface="맑은 고딕"/>
                <a:ea typeface="맑은 고딕"/>
              </a:rPr>
              <a:t>정적 의미</a:t>
            </a:r>
            <a:r>
              <a:rPr sz="1800" b="0">
                <a:solidFill>
                  <a:srgbClr val="000000"/>
                </a:solidFill>
                <a:latin typeface="맑은 고딕"/>
                <a:ea typeface="맑은 고딕"/>
              </a:rPr>
              <a:t>를 모델로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개념·속성·해결책 요소 구분</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연관·다중성, 모르는 다중성은 질문으로</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속성의 값 종류와 정적 제약</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용어집 초안</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네 조건을 정적 제약·전이 규칙·질문으로 분류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모델을 문장으로 읽으며 검토</a:t>
            </a:r>
          </a:p>
        </p:txBody>
      </p:sp>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실습 — 도메인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명사를 기계적으로 옮기지 않았는가?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연관에 이름과 다중성이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현재 값과 확정 값을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 요소가 없는가?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값과 전이 규칙을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미확인 정책을 질문으로 남겼는가?</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실습 — 검토 예시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검토 예는 유일한 정답이 아니다. </a:t>
            </a:r>
            <a:r>
              <a:rPr sz="1800" b="1">
                <a:solidFill>
                  <a:srgbClr val="000000"/>
                </a:solidFill>
                <a:latin typeface="맑은 고딕"/>
                <a:ea typeface="맑은 고딕"/>
              </a:rPr>
              <a:t>결제 전·마감 전·연속 제한에 걸리지 않는 고객 본인의 배송 건</a:t>
            </a:r>
            <a:r>
              <a:rPr sz="1800" b="0">
                <a:solidFill>
                  <a:srgbClr val="000000"/>
                </a:solidFill>
                <a:latin typeface="맑은 고딕"/>
                <a:ea typeface="맑은 고딕"/>
              </a:rPr>
              <a:t>이라는 전제를 유지한다.</a:t>
            </a:r>
          </a:p>
        </p:txBody>
      </p:sp>
      <p:pic>
        <p:nvPicPr>
          <p:cNvPr id="9" name="plantuml Diagram 18"/>
          <p:cNvPicPr>
            <a:picLocks noChangeAspect="1"/>
          </p:cNvPicPr>
          <p:nvPr/>
        </p:nvPicPr>
        <p:blipFill>
          <a:blip r:embed="plantumlImage18"/>
          <a:stretch>
            <a:fillRect/>
          </a:stretch>
        </p:blipFill>
        <p:spPr>
          <a:xfrm>
            <a:off x="457200" y="3038720"/>
            <a:ext cx="8229600" cy="211462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실습 — 검토 예시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94116" y="1983200"/>
          <a:ext cx="4742180" cy="3873500"/>
        </p:xfrm>
        <a:graphic>
          <a:graphicData uri="http://schemas.openxmlformats.org/drawingml/2006/table">
            <a:tbl>
              <a:tblPr/>
              <a:tblGrid>
                <a:gridCol w="1617980"/>
                <a:gridCol w="1310640"/>
                <a:gridCol w="18135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모델과의 연결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48시간 전까지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연속 2회 초과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번호·회차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회차–결제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다음 배송일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주기·예정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가정</a:t>
            </a:r>
            <a:r>
              <a:rPr sz="1800" b="0">
                <a:solidFill>
                  <a:srgbClr val="000000"/>
                </a:solidFill>
                <a:latin typeface="맑은 고딕"/>
                <a:ea typeface="맑은 고딕"/>
              </a:rPr>
              <a:t> —</a:t>
            </a:r>
            <a:r>
              <a:rPr sz="1600" b="0">
                <a:solidFill>
                  <a:srgbClr val="000000"/>
                </a:solidFill>
                <a:latin typeface="맑은 고딕"/>
                <a:ea typeface="맑은 고딕"/>
              </a:rPr>
              <a:t> 회차 상태 </a:t>
            </a:r>
            <a:r>
              <a:rPr sz="1600" b="0">
                <a:solidFill>
                  <a:srgbClr val="000000"/>
                </a:solidFill>
                <a:latin typeface="맑은 고딕"/>
                <a:ea typeface="맑은 고딕"/>
              </a:rPr>
              <a:t>예정</a:t>
            </a:r>
            <a:r>
              <a:rPr sz="1600" b="0">
                <a:solidFill>
                  <a:srgbClr val="000000"/>
                </a:solidFill>
                <a:latin typeface="맑은 고딕"/>
                <a:ea typeface="맑은 고딕"/>
              </a:rPr>
              <a:t>·</a:t>
            </a:r>
            <a:r>
              <a:rPr sz="1600" b="0">
                <a:solidFill>
                  <a:srgbClr val="000000"/>
                </a:solidFill>
                <a:latin typeface="맑은 고딕"/>
                <a:ea typeface="맑은 고딕"/>
              </a:rPr>
              <a:t>건너뜀</a:t>
            </a:r>
            <a:r>
              <a:rPr sz="1600" b="0">
                <a:solidFill>
                  <a:srgbClr val="000000"/>
                </a:solidFill>
                <a:latin typeface="맑은 고딕"/>
                <a:ea typeface="맑은 고딕"/>
              </a:rPr>
              <a:t>·</a:t>
            </a:r>
            <a:r>
              <a:rPr sz="1600" b="0">
                <a:solidFill>
                  <a:srgbClr val="000000"/>
                </a:solidFill>
                <a:latin typeface="맑은 고딕"/>
                <a:ea typeface="맑은 고딕"/>
              </a:rPr>
              <a:t>배송됨</a:t>
            </a:r>
            <a:r>
              <a:rPr sz="1600" b="0">
                <a:solidFill>
                  <a:srgbClr val="000000"/>
                </a:solidFill>
                <a:latin typeface="맑은 고딕"/>
                <a:ea typeface="맑은 고딕"/>
              </a:rPr>
              <a:t>, 회차마다 결제 승인 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회차마다 주문이 생기는가? 승인된 결제는 어떻게 처리하는가?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개념·속성·관계·제약을 구현과 분리된 정적 모델로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 —</a:t>
            </a:r>
            <a:r>
              <a:rPr sz="1400" b="0">
                <a:solidFill>
                  <a:srgbClr val="000000"/>
                </a:solidFill>
                <a:latin typeface="맑은 고딕"/>
                <a:ea typeface="맑은 고딕"/>
              </a:rPr>
              <a:t> 기술 요소 없는 존재·관계. 상태 값은 정적, 전이는 동적</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연관</a:t>
            </a:r>
            <a:r>
              <a:rPr sz="1600" b="0">
                <a:solidFill>
                  <a:srgbClr val="000000"/>
                </a:solidFill>
                <a:latin typeface="맑은 고딕"/>
                <a:ea typeface="맑은 고딕"/>
              </a:rPr>
              <a:t> —</a:t>
            </a:r>
            <a:r>
              <a:rPr sz="1400" b="0">
                <a:solidFill>
                  <a:srgbClr val="000000"/>
                </a:solidFill>
                <a:latin typeface="맑은 고딕"/>
                <a:ea typeface="맑은 고딕"/>
              </a:rPr>
              <a:t> 선보다 의미, 다중성은 업무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65</Slides>
  <Notes>55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65</vt:i4>
      </vt:variant>
    </vt:vector>
  </HeadingPairs>
  <TitlesOfParts>
    <vt:vector size="69" baseType="lpstr">
      <vt:lpstr>맑은 고딕</vt:lpstr>
      <vt:lpstr>Arial</vt:lpstr>
      <vt:lpstr>Wingdings</vt:lpstr>
      <vt:lpstr>4_Office 테마</vt:lpstr>
      <vt:lpstr>03. 정적 모델 목차 (1/2)</vt:lpstr>
      <vt:lpstr>03. 정적 모델 목차 (2/2)</vt:lpstr>
      <vt:lpstr>01. 세션 목표</vt:lpstr>
      <vt:lpstr>02. 요구와 정적 모델</vt:lpstr>
      <vt:lpstr>03. 도메인</vt:lpstr>
      <vt:lpstr>04. 정적 모델</vt:lpstr>
      <vt:lpstr>05. 정적·동적 모델</vt:lpstr>
      <vt:lpstr>06. 상태 값과 상태 전이 (1/2)</vt:lpstr>
      <vt:lpstr>06. 상태 값과 상태 전이 (2/2)</vt:lpstr>
      <vt:lpstr>07. 도메인 모델</vt:lpstr>
      <vt:lpstr>08. 도메인 모델의 위치</vt:lpstr>
      <vt:lpstr>09. 클래스 다이어그램</vt:lpstr>
      <vt:lpstr>10. 정보공학과 데이터 모델링</vt:lpstr>
      <vt:lpstr>11. 데이터 모델과 도메인 모델</vt:lpstr>
      <vt:lpstr>12. 모델 요소의 대응</vt:lpstr>
      <vt:lpstr>13. 같은 사례, 두 모델 (1/2)</vt:lpstr>
      <vt:lpstr>13. 같은 사례, 두 모델 (2/2)</vt:lpstr>
      <vt:lpstr>14. 도메인 개념</vt:lpstr>
      <vt:lpstr>15. 개념 범주</vt:lpstr>
      <vt:lpstr>16. 유스케이스 어휘</vt:lpstr>
      <vt:lpstr>17. 명사 추출의 한계</vt:lpstr>
      <vt:lpstr>18. 개념과 속성</vt:lpstr>
      <vt:lpstr>19. 속성 값의 의미</vt:lpstr>
      <vt:lpstr>20. 속성 도메인</vt:lpstr>
      <vt:lpstr>21. 속성 수준 업무 규칙</vt:lpstr>
      <vt:lpstr>22. 규칙의 소유</vt:lpstr>
      <vt:lpstr>23. 파생 속성</vt:lpstr>
      <vt:lpstr>24. 참조와 연관</vt:lpstr>
      <vt:lpstr>25. 연관</vt:lpstr>
      <vt:lpstr>26. 필요한 연관</vt:lpstr>
      <vt:lpstr>27. 다중성</vt:lpstr>
      <vt:lpstr>28. 다중성과 업무 규칙</vt:lpstr>
      <vt:lpstr>29. 평면 모델</vt:lpstr>
      <vt:lpstr>30. 주문과 주문 항목</vt:lpstr>
      <vt:lpstr>31. 연관 클래스 (1/2)</vt:lpstr>
      <vt:lpstr>31. 연관 클래스 (2/2)</vt:lpstr>
      <vt:lpstr>32. 명세 개념</vt:lpstr>
      <vt:lpstr>33. 현재 값과 확정 값</vt:lpstr>
      <vt:lpstr>34. 같은 구조, 다른 의미</vt:lpstr>
      <vt:lpstr>35. 일반화</vt:lpstr>
      <vt:lpstr>36. 전체와 부분</vt:lpstr>
      <vt:lpstr>37. 제약</vt:lpstr>
      <vt:lpstr>38. 용어 정렬</vt:lpstr>
      <vt:lpstr>39. 동의어와 동음이의어</vt:lpstr>
      <vt:lpstr>40. 용어집</vt:lpstr>
      <vt:lpstr>41. 모델 작성 절차</vt:lpstr>
      <vt:lpstr>42. 개념적 도메인 모델 (1/2)</vt:lpstr>
      <vt:lpstr>42. 개념적 도메인 모델 (2/2)</vt:lpstr>
      <vt:lpstr>43. 잘못된 관행 — 분석 과잉 (1/2)</vt:lpstr>
      <vt:lpstr>43. 잘못된 관행 — 분석 과잉 (2/2)</vt:lpstr>
      <vt:lpstr>44. 잘못된 관행 — 구현 요소</vt:lpstr>
      <vt:lpstr>45. 잘못된 관행 — 규칙 없는 속성</vt:lpstr>
      <vt:lpstr>46. 잘못된 관행 — 관계 남용</vt:lpstr>
      <vt:lpstr>47. 잘못된 관행 — 거대 개념·모호한 이름</vt:lpstr>
      <vt:lpstr>48. 잘못된 관행 — 범위·시점</vt:lpstr>
      <vt:lpstr>49. 모델의 유용성</vt:lpstr>
      <vt:lpstr>50. 시나리오 교차검토 (1/2)</vt:lpstr>
      <vt:lpstr>50. 시나리오 교차검토 (2/2)</vt:lpstr>
      <vt:lpstr>51. 누락과 모순</vt:lpstr>
      <vt:lpstr>52. 정적 모델의 한계</vt:lpstr>
      <vt:lpstr>53. 실습 — 도메인 모델 (1/2)</vt:lpstr>
      <vt:lpstr>53. 실습 — 도메인 모델 (2/2)</vt:lpstr>
      <vt:lpstr>54. 실습 — 검토 예시 (1/2)</vt:lpstr>
      <vt:lpstr>54. 실습 — 검토 예시 (2/2)</vt:lpstr>
      <vt:lpstr>55.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