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이 세션은 그 행위가 전제하는 정적 의미 구조를 다룬다. 설계 클래스로의 전환은 "06. 분석 모델에서 설계 모델로", 객체 책임은 "07. 책임·협력·계약"에서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「57. 누락과 모순」에서 정리한다.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[Domain-Driven Design Reference](https://www.domainlanguage.com/wp-content/uploads/2016/05/DDD_Reference_2015-03.pdf), 2015, "Definitions" — 지식·영향·활동의 영역, 사용자가 프로그램을 적용하는 주제 영역. 본문은 수업의 말로 풀어 썼다.</a:t>
            </a:r>
          </a:p>
          <a:p>
            <a:pPr lvl="0"/>
            <a:r>
              <a:rPr lang="ko-KR" sz="1200"/>
              <a:t>이 세션은 "02. 요구 분석과 유스케이스"에서 정한 주문 시스템의 범위 안에서 모델링한다. 도메인을 하위 영역과 경계로 나누는 판단은 "13. OOAD에서 전문영역으로 — Architecture · DDD · MSA"에서 확장한다.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Design*(2003) 원서 본문은 미확인이다(www). 재인용처: "Domain Model Definition — System Architecture"(dckms 문서). 영어 문구가 이 페이지와 일치함을 확인했다.</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「11. 상호작용」부터 다룬다. 이 세션은 정적 모델이 네 다이어그램에 무엇을 주고 무엇을 돌려받는지만 본다.</a:t>
            </a:r>
          </a:p>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이 세션은 유스케이스의 흐름·사후조건과 대조하는 수준까지 다룬다(「56. 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 §6.3.1(객체의 상태).</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이 세션은 질문으로 식별하고, 실제 사건·상태 관계는 다음 세션에서 확인한다.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2nd ed., Chapter 10, Introduction·Key Idea·§10.1("visual dictionary") 원문 확인. 3판의 "real-situation" 문구와 섞지 않는다.</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 모델로의 전환은 "06. 분석 모델에서 설계 모델로", 물리 모델과 매핑은 "10. 기술 제약과 도메인 의미 보존"에서 다룬다.</a:t>
            </a:r>
          </a:p>
          <a:p>
            <a:pPr lvl="0"/>
            <a:r>
              <a:rPr lang="ko-KR" sz="1200"/>
              <a:t>층을 나누는 것은 작업 순서를 강제하려는 것이 아니다. 같은 대상을 서로 다른 질문으로 본다는 뜻이다.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§10.1 — 도메인 모델은 오퍼레이션을 정의하지 않은 클래스 다이어그램으로 표현한다.</a:t>
            </a:r>
          </a:p>
          <a:p>
            <a:pPr lvl="0"/>
            <a:r>
              <a:rPr lang="ko-KR" sz="1200"/>
              <a:t>연관 이름은 읽는 방향이 있다. 위 도식은 "고객이 주문을 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유형 근거: Peter Coad·Eric Lefebvre·Jeff De Luca, *Java Modeling in Color with UML*, 1999, [Chapter 1 "Archetypes, Color, and the Domain-Neutral Component"](https://dn.embarcadero.com/article/29871)의 네 원형(Moment-Interval, Role, Party·Place·Thing, Description)을 이 과정의 말로 옮겼다. 원서는 색으로 유형을 구분하지만 이 과정은 UML 표기에 바탕색을 쓰지 않고, 도식에는 클래스 이름만 쓴다. 유형은 본문에서 대응시킨다. 거래 항목은 원서에서 순간·기간의 세부 항목으로 다룬다.</a:t>
            </a:r>
          </a:p>
          <a:p>
            <a:pPr lvl="0"/>
            <a:r>
              <a:rPr lang="ko-KR" sz="1200"/>
              <a:t>「17. 개념 범주」는 후보를 찾는 점검표이고, 도메인 유형은 찾은 개념에서 빠진 속성·연관을 예상하는 도구다. 이 사례의 상품은 설명이고, 개별 실물(재고 품목)은 모델에 두지 않았다(「34. 명세 개념」).</a:t>
            </a:r>
          </a:p>
          <a:p>
            <a:pPr lvl="0"/>
            <a:r>
              <a:rPr lang="ko-KR" sz="1200"/>
              <a:t>같은 사각형이라도 도메인 모델의 사각형은 개념이다(「08. 도메인 모델의 위치」). 인터페이스·오퍼레이션은 설계에서 정한다.</a:t>
            </a:r>
          </a:p>
          <a:p>
            <a:pPr lvl="0"/>
            <a:r>
              <a:rPr lang="ko-KR" sz="1200"/>
              <a:t>데이터 타입은 식별자가 없어 값이 같으면 같은 것이다. 금액 1,000원은 어디에 있든 같은 금액이다. 개념 클래스는 값이 같아도 다른 주문이다.</a:t>
            </a:r>
          </a:p>
          <a:p>
            <a:pPr lvl="0"/>
            <a:r>
              <a:rPr lang="ko-KR" sz="1200"/>
              <a:t>근거: OMG [UML 2.5.1](https://www.omg.org/spec/UML/2.5.1/PDF), §10.2 DataType·Enumeration, §9.2.3.2 추상 분류자, §10.4 Interface.</a:t>
            </a:r>
          </a:p>
          <a:p>
            <a:pPr lvl="0"/>
            <a:r>
              <a:rPr lang="ko-KR" sz="1200"/>
              <a:t>연관 클래스는 「33. 연관 클래스」, 추상 클래스는 「37. 일반화」에서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의미의 분류는 Craig Larman, *Applying UML and Patterns*, 2nd ed., Chapter 11 ["Finding Associations—Common Associations List"](https://www.oreilly.com/library/view/applying-uml-and/0130925691/0130925691_ch11lev1sec4.html)의 Table 11.1 일부를 도메인 유형에 맞춰 묶은 수업용 정리다.</a:t>
            </a:r>
          </a:p>
          <a:p>
            <a:pPr lvl="0"/>
            <a:r>
              <a:rPr lang="ko-KR" sz="1200"/>
              <a:t>코드의 관계는 설계의 결정이다. 집합과 연관은 코드가 같다(참조 필드). 그래서 도메인 모델은 집합을 쓰지 않는다(「38. 전체와 부분」).</a:t>
            </a:r>
          </a:p>
          <a:p>
            <a:pPr lvl="0"/>
            <a:r>
              <a:rPr lang="ko-KR" sz="1200"/>
              <a:t>의존·실현은 오퍼레이션과 인터페이스가 정해져야 생긴다. 도메인 모델에서는 쓰지 않고 "06. 분석 모델에서 설계 모델로"와 "07. 책임·협력·계약"에서 다룬다.</a:t>
            </a:r>
          </a:p>
          <a:p>
            <a:pPr lvl="0"/>
            <a:r>
              <a:rPr lang="ko-KR" sz="1200"/>
              <a:t>코드는 code/s03/관계유형.java에서 발췌했다. 근거: OMG [UML 2.5.1](https://www.omg.org/spec/UML/2.5.1/PDF), §9.5.3 AggregationKind, §7.7.3.1 Dependency, §10.4.3 InterfaceRealization.</a:t>
            </a:r>
          </a:p>
          <a:p>
            <a:pPr lvl="0"/>
            <a:r>
              <a:rPr lang="ko-KR" sz="1200"/>
              <a:t>연관은 「27. 연관」, 일반화는 「37. 일반화」, 합성은 「38. 전체와 부분」에서 자세히 본다.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§1.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2nd ed., §10.1 "Domain Models"의 각주 2 원문 확인.</a:t>
            </a:r>
          </a:p>
          <a:p>
            <a:pPr lvl="0"/>
            <a:r>
              <a:rPr lang="ko-KR" sz="1200"/>
              <a:t>Larman의 문장은 두 모델의 목적이 다르다는 뜻이다. 데이터 모델이 쓸모없다는 뜻이 아니다. 같은 장은 속성이 없거나 기억할 정보가 없다는 이유만으로 개념을 빼는 것은 관계형 데이터 모델링의 기준이라고 설명한다(Larman, 2nd ed., Chapter 10, 각주 2).</a:t>
            </a:r>
          </a:p>
          <a:p>
            <a:pPr lvl="0"/>
            <a:r>
              <a:rPr lang="ko-KR" sz="1200"/>
              <a:t>실무에서는 데이터 모델조차 제대로 갖추지 않은 채 분석 문서에 시간을 쓰는 경우가 더 흔하다(「49. 잘못된 관행 — 분석 과잉」).</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「22. 속성 도메인」·「23. 속성 수준 업무 규칙」에서 이어서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a:p>
            <a:pPr lvl="0"/>
            <a:r>
              <a:rPr lang="ko-KR" sz="1200"/>
              <a:t>좋은 데이터 모델에서 출발하면 도메인 모델은 크게 바뀌지 않는다. 바뀌는 곳이 곧 의미를 드러낸 곳이다.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질문에 "예"여야 개념인 것은 아니다. 속성이 없어도 업무상 구분되는 개념일 수 있다. 질문은 후보를 거르는 도구이지 채점표가 아니다.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Table 10.1 "Conceptual Class Category List"의 범주 일부를 주문 도메인에 적용했다. 원표 전체가 아니다. 같은 후보가 여러 범주에 나타날 수 있다(주문은 거래이자 사건).</a:t>
            </a:r>
          </a:p>
          <a:p>
            <a:pPr lvl="0"/>
            <a:r>
              <a:rPr lang="ko-KR" sz="1200"/>
              <a:t>원표에는 장소, 담는 것·담기는 것, 기록, 카탈로그, 조직 등도 있다. 필요하면 추가로 점검한다.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2nd ed., Chapter 10 "Finding Conceptual Classes with Noun Phrase Identification" 원문 확인.</a:t>
            </a:r>
          </a:p>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않는다(「45. 도메인 모델 — 상세화」의 의도적으로 넣지 않은 것).</a:t>
            </a:r>
          </a:p>
          <a:p>
            <a:pPr lvl="0"/>
            <a:r>
              <a:rPr lang="ko-KR" sz="1200"/>
              <a:t>흐름 번호는 "02. 요구 분석과 유스케이스"의 「33. 유스케이스 상세화」와 같다.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"A Common Mistake in Identifying Conceptual Classes" 원문 확인. 확신이 없으면 별도 개념으로 두라고 권한다.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종류를 밝히면 단위 혼동과 의미 없는 연산을 분석 단계에서 드러낸다. 값의 종류를 코드의 값 객체로 구현할지는 설계 판단이다. 여기서는 의미를 명시하는 데까지 다룬다.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§2.2.3 "Attribute, Value, and Value Set". 같은 절은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「39. 제약」에서, 시점 규칙은 "04. 동적 모델 — 상호작용과 상태"에서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이 세션은 값 객체를 설계하지 않는다. 속성 규칙이 어디에 속하는지를 분석 단계에서 정하는 데까지 다룬다. 값 객체는 "13. OOAD에서 전문영역으로 — Architecture · DDD · MSA"에서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 매번 계산할지는 설계·성능 판단이다. 할인·배송비는 현재 전제에 없으므로 총액 규칙에 넣지 않았다. 필요하면 확인 질문으로 남긴다.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모델의 연관은 탐색 방향이나 참조 구현을 뜻하지 않는다. 방향 표시는 이름을 읽는 방향이다. 탐색 방향은 "06. 분석 모델에서 설계 모델로"와 "07. 책임·협력·계약"에서 결정한다.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다중성은 양쪽 끝에서 각각 읽는다. 주문 → 결제 0..1은 교육용 가정이다(「30. 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이 세션은 주문 → 결제 0..1, 고객 1을 교육용 가정으로 두고 분할 결제·비회원 주문은 질문으로 남긴다.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항목을 독립 개념으로 둔 「32. 주문과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"Specification or Description Conceptual Classes". 이 사례의 상품은 이미 명세 개념이다. 개별 실물 요구가 확인될 때 재고 품목을 추가한다(「55. 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판단한다(「37. 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수단별 속성은 교육용 가정이다. 현재 요구는 결제 수단별 차이를 요구하지 않으므로 종합 모델에 넣지 않는다.</a:t>
            </a:r>
          </a:p>
          <a:p>
            <a:pPr lvl="0"/>
            <a:r>
              <a:rPr lang="ko-KR" sz="1200"/>
              <a:t>의미 근거: OMG [UML 2.5.1](https://www.omg.org/spec/UML/2.5.1/PDF), §9.9.7.1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합성 의미 근거: OMG [UML 2.5.1](https://www.omg.org/spec/UML/2.5.1/PDF), §9.5.3. 같은 절은 합성의 정확한 생애 의미를 의도적으로 명세하지 않는다. 도메인 모델의 "삭제"는 소프트웨어 객체 삭제가 아니라 업무 생애의 결합으로 읽는다.</a:t>
            </a:r>
          </a:p>
          <a:p>
            <a:pPr lvl="0"/>
            <a:r>
              <a:rPr lang="ko-KR" sz="1200"/>
              <a:t>인용 근거: Martin Fowler, [AggregationAndComposition](https://martinfowler.com/bliki/AggregationAndComposition.html), 2003-05-17. Rumbaugh의 말은 Fowler의 글에서 재인용했다. 집합 표기는 쓰지 않는다.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"The Mapmaker" 원문 확인. 원문은 세 항목의 글머리 목록이다.</a:t>
            </a:r>
          </a:p>
          <a:p>
            <a:pPr lvl="0"/>
            <a:r>
              <a:rPr lang="ko-KR" sz="1200"/>
              <a:t>적용 예: 현업이 "주문 상품"이라 부르면 개발자가 만든 OrderLine을 강요하지 않는다. 현재 요구와 무관한 포장재는 빼고, 확인되지 않은 "주문 승인" 단계는 만들지 않는다.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여기서는 용어가 다른 사실을 가리킬 수 있음을 보이는 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정의했다. 이 세션은 새로 만들지 않고 정제한다 —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2nd ed., Chapter 10 — 후보 목록, 모델 그리기, 연관 추가, 속성 추가의 흐름과 반복 정제. 위 목록은 용어 정렬과 교차검토를 더한 수업용 절차이며 고정 순서가 아니다.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가정이다(「57. 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a:p>
            <a:pPr lvl="0"/>
            <a:r>
              <a:rPr lang="ko-KR" sz="1200"/>
              <a:t>Optional·Map·참조의 방향은 코드의 결정이다. 모델로 역수입하지 않는다. 코드는 code/s03/상세.java에서 발췌했으며, 그 파일을 컴파일·실행해 확인한다.</a:t>
            </a:r>
          </a:p>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세션은 패키지의 표기와 의미로 묶는 기준까지 다룬다(「47. 패키지 기준」, 「48. 도메인 모델 — 패키지별」). 패키지를 경계로 판단하고 의존성 방향을 정하는 일은 "05. 구조적 경계와 의존성"에서 다룬다. 의존 화살표는 그때 쓴다.</a:t>
            </a:r>
          </a:p>
          <a:p>
            <a:pPr lvl="0"/>
            <a:r>
              <a:rPr lang="ko-KR" sz="1200"/>
              <a:t>표기 기준: OMG [UML 2.5.1](https://www.omg.org/spec/UML/2.5.1/PDF), §12 Packages.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*Applying UML and Patterns*(2nd ed., 2002)의 도메인 모델 패키지 지침이다. 원서 본문은 확인하지 못했다(www). 재인용처: Ezequiel Cuellar, "Section 3 - Architecture"(Larman 책의 정리 노트, objectsbydesign.com)에서 네 항목의 문구를 확인했다. 인용은 목록의 네 항목을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모델(「45. 도메인 모델 — 상세화」)은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하나다(「13. 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「07. 도메인 모델」이라는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「22. 속성 도메인」과 「24. 규칙의 소유」의 판단을 잘못된 예로 되짚는다. 코드에서 같은 문제를 흔히 "원시 타입 집착"이라고 부른다.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「27. 연관」·「28. 필요한 연관」·「30. 다중성과 업무 규칙」·「38. 전체와 부분」·「37. 일반화」·「26. 참조와 연관」에서 설명했다. 이 topic은 한 장에서 다시 점검하는 목록이다.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「31. 평면 모델」이 커진 형태다. 이름 문제는 「40. 용어 정렬」의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「55. 모델의 유용성」과 「58. 정적 모델의 한계」의 판단을 잘못된 예로 되짚는다.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2nd ed., Chapter 10 — POST와 Register 중 어떤 이름을 쓸지 논의하는 부분 원문 확인. 원문은 "as a rule of thumb"으로 시작하는 문장의 일부다.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「02. 요구와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규칙·제약·예외 정책」에서 허용 조건을 정의할 대상으로 남긴 것이다.</a:t>
            </a:r>
          </a:p>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결제가 1..*인 이유 — 일시불은 한 번, 월별 청구는 매월 결제가 생긴다. 청구는 결제 시스템이 하고, 이 모델은 그 결과를 기억한다.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회차 상태 — 값과 전이는 실습 4의 상태 기계에서 정하고, 코드에서는 enum이나 상태 패턴으로 옮긴다.</a:t>
            </a:r>
          </a:p>
          <a:p>
            <a:pPr lvl="0"/>
            <a:r>
              <a:rPr lang="ko-KR" sz="1200"/>
              <a:t>단가는 신청 때 확정한 값으로, 상품의 판매가(현재 값)와 다르다.</a:t>
            </a:r>
          </a:p>
          <a:p>
            <a:pPr lvl="0"/>
            <a:r>
              <a:rPr lang="ko-KR" sz="1200"/>
              <a:t>상태가 회차에 있는 이유 — 취소·배송은 회차 단위로 일어난다. 정기배송의 해지·만료는 회차의 상태와 만료일로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「56. 시나리오 교차검토」, 「57.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요구와 정적 모델</a:t>
            </a:r>
          </a:p>
          <a:p>
            <a:pPr lvl="1" marL="355600" indent="0">
              <a:spcBef>
                <a:spcPts val="300"/>
              </a:spcBef>
              <a:spcAft>
                <a:spcPts val="300"/>
              </a:spcAft>
              <a:buNone/>
            </a:pPr>
            <a:r>
              <a:rPr sz="1600" b="0">
                <a:solidFill>
                  <a:srgbClr val="000000"/>
                </a:solidFill>
                <a:latin typeface="맑은 고딕"/>
                <a:ea typeface="맑은 고딕"/>
              </a:rPr>
              <a:t>03. 도메인</a:t>
            </a:r>
          </a:p>
          <a:p>
            <a:pPr lvl="1" marL="355600" indent="0">
              <a:spcBef>
                <a:spcPts val="300"/>
              </a:spcBef>
              <a:spcAft>
                <a:spcPts val="300"/>
              </a:spcAft>
              <a:buNone/>
            </a:pPr>
            <a:r>
              <a:rPr sz="1600" b="0">
                <a:solidFill>
                  <a:srgbClr val="000000"/>
                </a:solidFill>
                <a:latin typeface="맑은 고딕"/>
                <a:ea typeface="맑은 고딕"/>
              </a:rPr>
              <a:t>04. 정적 모델</a:t>
            </a:r>
          </a:p>
          <a:p>
            <a:pPr lvl="1" marL="355600" indent="0">
              <a:spcBef>
                <a:spcPts val="300"/>
              </a:spcBef>
              <a:spcAft>
                <a:spcPts val="300"/>
              </a:spcAft>
              <a:buNone/>
            </a:pPr>
            <a:r>
              <a:rPr sz="1600" b="0">
                <a:solidFill>
                  <a:srgbClr val="000000"/>
                </a:solidFill>
                <a:latin typeface="맑은 고딕"/>
                <a:ea typeface="맑은 고딕"/>
              </a:rPr>
              <a:t>05. 정적·동적 모델</a:t>
            </a:r>
          </a:p>
          <a:p>
            <a:pPr lvl="1" marL="355600" indent="0">
              <a:spcBef>
                <a:spcPts val="300"/>
              </a:spcBef>
              <a:spcAft>
                <a:spcPts val="300"/>
              </a:spcAft>
              <a:buNone/>
            </a:pPr>
            <a:r>
              <a:rPr sz="1600" b="0">
                <a:solidFill>
                  <a:srgbClr val="000000"/>
                </a:solidFill>
                <a:latin typeface="맑은 고딕"/>
                <a:ea typeface="맑은 고딕"/>
              </a:rPr>
              <a:t>06. 상태 값과 상태 전이</a:t>
            </a:r>
          </a:p>
          <a:p>
            <a:pPr lvl="1" marL="355600" indent="0">
              <a:spcBef>
                <a:spcPts val="300"/>
              </a:spcBef>
              <a:spcAft>
                <a:spcPts val="300"/>
              </a:spcAft>
              <a:buNone/>
            </a:pPr>
            <a:r>
              <a:rPr sz="1600" b="0">
                <a:solidFill>
                  <a:srgbClr val="000000"/>
                </a:solidFill>
                <a:latin typeface="맑은 고딕"/>
                <a:ea typeface="맑은 고딕"/>
              </a:rPr>
              <a:t>07. 도메인 모델</a:t>
            </a:r>
          </a:p>
          <a:p>
            <a:pPr lvl="1" marL="355600" indent="0">
              <a:spcBef>
                <a:spcPts val="300"/>
              </a:spcBef>
              <a:spcAft>
                <a:spcPts val="300"/>
              </a:spcAft>
              <a:buNone/>
            </a:pPr>
            <a:r>
              <a:rPr sz="1600" b="0">
                <a:solidFill>
                  <a:srgbClr val="000000"/>
                </a:solidFill>
                <a:latin typeface="맑은 고딕"/>
                <a:ea typeface="맑은 고딕"/>
              </a:rPr>
              <a:t>08. 도메인 모델의 위치</a:t>
            </a:r>
          </a:p>
          <a:p>
            <a:pPr lvl="1" marL="355600" indent="0">
              <a:spcBef>
                <a:spcPts val="300"/>
              </a:spcBef>
              <a:spcAft>
                <a:spcPts val="300"/>
              </a:spcAft>
              <a:buNone/>
            </a:pPr>
            <a:r>
              <a:rPr sz="1600" b="0">
                <a:solidFill>
                  <a:srgbClr val="000000"/>
                </a:solidFill>
                <a:latin typeface="맑은 고딕"/>
                <a:ea typeface="맑은 고딕"/>
              </a:rPr>
              <a:t>09. 클래스 다이어그램</a:t>
            </a:r>
          </a:p>
          <a:p>
            <a:pPr lvl="1" marL="355600" indent="0">
              <a:spcBef>
                <a:spcPts val="300"/>
              </a:spcBef>
              <a:spcAft>
                <a:spcPts val="300"/>
              </a:spcAft>
              <a:buNone/>
            </a:pPr>
            <a:r>
              <a:rPr sz="1600" b="0">
                <a:solidFill>
                  <a:srgbClr val="000000"/>
                </a:solidFill>
                <a:latin typeface="맑은 고딕"/>
                <a:ea typeface="맑은 고딕"/>
              </a:rPr>
              <a:t>10. 클래스 유형</a:t>
            </a:r>
          </a:p>
          <a:p>
            <a:pPr lvl="1" marL="355600" indent="0">
              <a:spcBef>
                <a:spcPts val="300"/>
              </a:spcBef>
              <a:spcAft>
                <a:spcPts val="300"/>
              </a:spcAft>
              <a:buNone/>
            </a:pPr>
            <a:r>
              <a:rPr sz="1600" b="0">
                <a:solidFill>
                  <a:srgbClr val="000000"/>
                </a:solidFill>
                <a:latin typeface="맑은 고딕"/>
                <a:ea typeface="맑은 고딕"/>
              </a:rPr>
              <a:t>11. 관계 유형</a:t>
            </a:r>
          </a:p>
          <a:p>
            <a:pPr lvl="1" marL="355600" indent="0">
              <a:spcBef>
                <a:spcPts val="300"/>
              </a:spcBef>
              <a:spcAft>
                <a:spcPts val="300"/>
              </a:spcAft>
              <a:buNone/>
            </a:pPr>
            <a:r>
              <a:rPr sz="1600" b="0">
                <a:solidFill>
                  <a:srgbClr val="000000"/>
                </a:solidFill>
                <a:latin typeface="맑은 고딕"/>
                <a:ea typeface="맑은 고딕"/>
              </a:rPr>
              <a:t>12. 정보공학과 데이터 모델링</a:t>
            </a:r>
          </a:p>
          <a:p>
            <a:pPr lvl="1" marL="355600" indent="0">
              <a:spcBef>
                <a:spcPts val="300"/>
              </a:spcBef>
              <a:spcAft>
                <a:spcPts val="300"/>
              </a:spcAft>
              <a:buNone/>
            </a:pPr>
            <a:r>
              <a:rPr sz="1600" b="0">
                <a:solidFill>
                  <a:srgbClr val="000000"/>
                </a:solidFill>
                <a:latin typeface="맑은 고딕"/>
                <a:ea typeface="맑은 고딕"/>
              </a:rPr>
              <a:t>13. 데이터 모델과 도메인 모델</a:t>
            </a:r>
          </a:p>
          <a:p>
            <a:pPr lvl="1" marL="355600" indent="0">
              <a:spcBef>
                <a:spcPts val="300"/>
              </a:spcBef>
              <a:spcAft>
                <a:spcPts val="300"/>
              </a:spcAft>
              <a:buNone/>
            </a:pPr>
            <a:r>
              <a:rPr sz="1600" b="0">
                <a:solidFill>
                  <a:srgbClr val="000000"/>
                </a:solidFill>
                <a:latin typeface="맑은 고딕"/>
                <a:ea typeface="맑은 고딕"/>
              </a:rPr>
              <a:t>14. 모델 요소의 대응</a:t>
            </a:r>
          </a:p>
          <a:p>
            <a:pPr lvl="1" marL="355600" indent="0">
              <a:spcBef>
                <a:spcPts val="300"/>
              </a:spcBef>
              <a:spcAft>
                <a:spcPts val="300"/>
              </a:spcAft>
              <a:buNone/>
            </a:pPr>
            <a:r>
              <a:rPr sz="1600" b="0">
                <a:solidFill>
                  <a:srgbClr val="000000"/>
                </a:solidFill>
                <a:latin typeface="맑은 고딕"/>
                <a:ea typeface="맑은 고딕"/>
              </a:rPr>
              <a:t>15. 같은 사례, 두 모델</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도메인 개념</a:t>
            </a:r>
          </a:p>
          <a:p>
            <a:pPr lvl="1" marL="355600" indent="0">
              <a:spcBef>
                <a:spcPts val="300"/>
              </a:spcBef>
              <a:spcAft>
                <a:spcPts val="300"/>
              </a:spcAft>
              <a:buNone/>
            </a:pPr>
            <a:r>
              <a:rPr sz="1600" b="0">
                <a:solidFill>
                  <a:srgbClr val="000000"/>
                </a:solidFill>
                <a:latin typeface="맑은 고딕"/>
                <a:ea typeface="맑은 고딕"/>
              </a:rPr>
              <a:t>17. 개념 범주</a:t>
            </a:r>
          </a:p>
          <a:p>
            <a:pPr lvl="1" marL="355600" indent="0">
              <a:spcBef>
                <a:spcPts val="300"/>
              </a:spcBef>
              <a:spcAft>
                <a:spcPts val="300"/>
              </a:spcAft>
              <a:buNone/>
            </a:pPr>
            <a:r>
              <a:rPr sz="1600" b="0">
                <a:solidFill>
                  <a:srgbClr val="000000"/>
                </a:solidFill>
                <a:latin typeface="맑은 고딕"/>
                <a:ea typeface="맑은 고딕"/>
              </a:rPr>
              <a:t>18. 유스케이스 어휘</a:t>
            </a:r>
          </a:p>
          <a:p>
            <a:pPr lvl="1" marL="355600" indent="0">
              <a:spcBef>
                <a:spcPts val="300"/>
              </a:spcBef>
              <a:spcAft>
                <a:spcPts val="300"/>
              </a:spcAft>
              <a:buNone/>
            </a:pPr>
            <a:r>
              <a:rPr sz="1600" b="0">
                <a:solidFill>
                  <a:srgbClr val="000000"/>
                </a:solidFill>
                <a:latin typeface="맑은 고딕"/>
                <a:ea typeface="맑은 고딕"/>
              </a:rPr>
              <a:t>19. 명사 추출의 한계</a:t>
            </a:r>
          </a:p>
          <a:p>
            <a:pPr lvl="1" marL="355600" indent="0">
              <a:spcBef>
                <a:spcPts val="300"/>
              </a:spcBef>
              <a:spcAft>
                <a:spcPts val="300"/>
              </a:spcAft>
              <a:buNone/>
            </a:pPr>
            <a:r>
              <a:rPr sz="1600" b="0">
                <a:solidFill>
                  <a:srgbClr val="000000"/>
                </a:solidFill>
                <a:latin typeface="맑은 고딕"/>
                <a:ea typeface="맑은 고딕"/>
              </a:rPr>
              <a:t>20. 개념과 속성</a:t>
            </a:r>
          </a:p>
          <a:p>
            <a:pPr lvl="1" marL="355600" indent="0">
              <a:spcBef>
                <a:spcPts val="300"/>
              </a:spcBef>
              <a:spcAft>
                <a:spcPts val="300"/>
              </a:spcAft>
              <a:buNone/>
            </a:pPr>
            <a:r>
              <a:rPr sz="1600" b="0">
                <a:solidFill>
                  <a:srgbClr val="000000"/>
                </a:solidFill>
                <a:latin typeface="맑은 고딕"/>
                <a:ea typeface="맑은 고딕"/>
              </a:rPr>
              <a:t>21. 속성 값의 의미</a:t>
            </a:r>
          </a:p>
          <a:p>
            <a:pPr lvl="1" marL="355600" indent="0">
              <a:spcBef>
                <a:spcPts val="300"/>
              </a:spcBef>
              <a:spcAft>
                <a:spcPts val="300"/>
              </a:spcAft>
              <a:buNone/>
            </a:pPr>
            <a:r>
              <a:rPr sz="1600" b="0">
                <a:solidFill>
                  <a:srgbClr val="000000"/>
                </a:solidFill>
                <a:latin typeface="맑은 고딕"/>
                <a:ea typeface="맑은 고딕"/>
              </a:rPr>
              <a:t>22. 속성 도메인</a:t>
            </a:r>
          </a:p>
          <a:p>
            <a:pPr lvl="1" marL="355600" indent="0">
              <a:spcBef>
                <a:spcPts val="300"/>
              </a:spcBef>
              <a:spcAft>
                <a:spcPts val="300"/>
              </a:spcAft>
              <a:buNone/>
            </a:pPr>
            <a:r>
              <a:rPr sz="1600" b="0">
                <a:solidFill>
                  <a:srgbClr val="000000"/>
                </a:solidFill>
                <a:latin typeface="맑은 고딕"/>
                <a:ea typeface="맑은 고딕"/>
              </a:rPr>
              <a:t>23. 속성 수준 업무 규칙</a:t>
            </a:r>
          </a:p>
          <a:p>
            <a:pPr lvl="1" marL="355600" indent="0">
              <a:spcBef>
                <a:spcPts val="300"/>
              </a:spcBef>
              <a:spcAft>
                <a:spcPts val="300"/>
              </a:spcAft>
              <a:buNone/>
            </a:pPr>
            <a:r>
              <a:rPr sz="1600" b="0">
                <a:solidFill>
                  <a:srgbClr val="000000"/>
                </a:solidFill>
                <a:latin typeface="맑은 고딕"/>
                <a:ea typeface="맑은 고딕"/>
              </a:rPr>
              <a:t>24. 규칙의 소유</a:t>
            </a:r>
          </a:p>
          <a:p>
            <a:pPr lvl="1" marL="355600" indent="0">
              <a:spcBef>
                <a:spcPts val="300"/>
              </a:spcBef>
              <a:spcAft>
                <a:spcPts val="300"/>
              </a:spcAft>
              <a:buNone/>
            </a:pPr>
            <a:r>
              <a:rPr sz="1600" b="0">
                <a:solidFill>
                  <a:srgbClr val="000000"/>
                </a:solidFill>
                <a:latin typeface="맑은 고딕"/>
                <a:ea typeface="맑은 고딕"/>
              </a:rPr>
              <a:t>25. 파생 속성</a:t>
            </a:r>
          </a:p>
          <a:p>
            <a:pPr lvl="1" marL="355600" indent="0">
              <a:spcBef>
                <a:spcPts val="300"/>
              </a:spcBef>
              <a:spcAft>
                <a:spcPts val="300"/>
              </a:spcAft>
              <a:buNone/>
            </a:pPr>
            <a:r>
              <a:rPr sz="1600" b="0">
                <a:solidFill>
                  <a:srgbClr val="000000"/>
                </a:solidFill>
                <a:latin typeface="맑은 고딕"/>
                <a:ea typeface="맑은 고딕"/>
              </a:rPr>
              <a:t>26. 참조와 연관</a:t>
            </a:r>
          </a:p>
          <a:p>
            <a:pPr lvl="1" marL="355600" indent="0">
              <a:spcBef>
                <a:spcPts val="300"/>
              </a:spcBef>
              <a:spcAft>
                <a:spcPts val="300"/>
              </a:spcAft>
              <a:buNone/>
            </a:pPr>
            <a:r>
              <a:rPr sz="1600" b="0">
                <a:solidFill>
                  <a:srgbClr val="000000"/>
                </a:solidFill>
                <a:latin typeface="맑은 고딕"/>
                <a:ea typeface="맑은 고딕"/>
              </a:rPr>
              <a:t>27. 연관</a:t>
            </a:r>
          </a:p>
          <a:p>
            <a:pPr lvl="1" marL="355600" indent="0">
              <a:spcBef>
                <a:spcPts val="300"/>
              </a:spcBef>
              <a:spcAft>
                <a:spcPts val="300"/>
              </a:spcAft>
              <a:buNone/>
            </a:pPr>
            <a:r>
              <a:rPr sz="1600" b="0">
                <a:solidFill>
                  <a:srgbClr val="000000"/>
                </a:solidFill>
                <a:latin typeface="맑은 고딕"/>
                <a:ea typeface="맑은 고딕"/>
              </a:rPr>
              <a:t>28. 필요한 연관</a:t>
            </a:r>
          </a:p>
          <a:p>
            <a:pPr lvl="1" marL="355600" indent="0">
              <a:spcBef>
                <a:spcPts val="300"/>
              </a:spcBef>
              <a:spcAft>
                <a:spcPts val="300"/>
              </a:spcAft>
              <a:buNone/>
            </a:pPr>
            <a:r>
              <a:rPr sz="1600" b="0">
                <a:solidFill>
                  <a:srgbClr val="000000"/>
                </a:solidFill>
                <a:latin typeface="맑은 고딕"/>
                <a:ea typeface="맑은 고딕"/>
              </a:rPr>
              <a:t>29. 다중성</a:t>
            </a:r>
          </a:p>
          <a:p>
            <a:pPr lvl="1" marL="355600" indent="0">
              <a:spcBef>
                <a:spcPts val="300"/>
              </a:spcBef>
              <a:spcAft>
                <a:spcPts val="300"/>
              </a:spcAft>
              <a:buNone/>
            </a:pPr>
            <a:r>
              <a:rPr sz="1600" b="0">
                <a:solidFill>
                  <a:srgbClr val="000000"/>
                </a:solidFill>
                <a:latin typeface="맑은 고딕"/>
                <a:ea typeface="맑은 고딕"/>
              </a:rPr>
              <a:t>30. 다중성과 업무 규칙</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평면 모델</a:t>
            </a:r>
          </a:p>
          <a:p>
            <a:pPr lvl="1" marL="355600" indent="0">
              <a:spcBef>
                <a:spcPts val="300"/>
              </a:spcBef>
              <a:spcAft>
                <a:spcPts val="300"/>
              </a:spcAft>
              <a:buNone/>
            </a:pPr>
            <a:r>
              <a:rPr sz="1600" b="0">
                <a:solidFill>
                  <a:srgbClr val="000000"/>
                </a:solidFill>
                <a:latin typeface="맑은 고딕"/>
                <a:ea typeface="맑은 고딕"/>
              </a:rPr>
              <a:t>32. 주문과 주문 항목</a:t>
            </a:r>
          </a:p>
          <a:p>
            <a:pPr lvl="1" marL="355600" indent="0">
              <a:spcBef>
                <a:spcPts val="300"/>
              </a:spcBef>
              <a:spcAft>
                <a:spcPts val="300"/>
              </a:spcAft>
              <a:buNone/>
            </a:pPr>
            <a:r>
              <a:rPr sz="1600" b="0">
                <a:solidFill>
                  <a:srgbClr val="000000"/>
                </a:solidFill>
                <a:latin typeface="맑은 고딕"/>
                <a:ea typeface="맑은 고딕"/>
              </a:rPr>
              <a:t>33. 연관 클래스</a:t>
            </a:r>
          </a:p>
          <a:p>
            <a:pPr lvl="1" marL="355600" indent="0">
              <a:spcBef>
                <a:spcPts val="300"/>
              </a:spcBef>
              <a:spcAft>
                <a:spcPts val="300"/>
              </a:spcAft>
              <a:buNone/>
            </a:pPr>
            <a:r>
              <a:rPr sz="1600" b="0">
                <a:solidFill>
                  <a:srgbClr val="000000"/>
                </a:solidFill>
                <a:latin typeface="맑은 고딕"/>
                <a:ea typeface="맑은 고딕"/>
              </a:rPr>
              <a:t>34. 명세 개념</a:t>
            </a:r>
          </a:p>
          <a:p>
            <a:pPr lvl="1" marL="355600" indent="0">
              <a:spcBef>
                <a:spcPts val="300"/>
              </a:spcBef>
              <a:spcAft>
                <a:spcPts val="300"/>
              </a:spcAft>
              <a:buNone/>
            </a:pPr>
            <a:r>
              <a:rPr sz="1600" b="0">
                <a:solidFill>
                  <a:srgbClr val="000000"/>
                </a:solidFill>
                <a:latin typeface="맑은 고딕"/>
                <a:ea typeface="맑은 고딕"/>
              </a:rPr>
              <a:t>35. 현재 값과 확정 값</a:t>
            </a:r>
          </a:p>
          <a:p>
            <a:pPr lvl="1" marL="355600" indent="0">
              <a:spcBef>
                <a:spcPts val="300"/>
              </a:spcBef>
              <a:spcAft>
                <a:spcPts val="300"/>
              </a:spcAft>
              <a:buNone/>
            </a:pPr>
            <a:r>
              <a:rPr sz="1600" b="0">
                <a:solidFill>
                  <a:srgbClr val="000000"/>
                </a:solidFill>
                <a:latin typeface="맑은 고딕"/>
                <a:ea typeface="맑은 고딕"/>
              </a:rPr>
              <a:t>36. 같은 구조, 다른 의미</a:t>
            </a:r>
          </a:p>
          <a:p>
            <a:pPr lvl="1" marL="355600" indent="0">
              <a:spcBef>
                <a:spcPts val="300"/>
              </a:spcBef>
              <a:spcAft>
                <a:spcPts val="300"/>
              </a:spcAft>
              <a:buNone/>
            </a:pPr>
            <a:r>
              <a:rPr sz="1600" b="0">
                <a:solidFill>
                  <a:srgbClr val="000000"/>
                </a:solidFill>
                <a:latin typeface="맑은 고딕"/>
                <a:ea typeface="맑은 고딕"/>
              </a:rPr>
              <a:t>37. 일반화</a:t>
            </a:r>
          </a:p>
          <a:p>
            <a:pPr lvl="1" marL="355600" indent="0">
              <a:spcBef>
                <a:spcPts val="300"/>
              </a:spcBef>
              <a:spcAft>
                <a:spcPts val="300"/>
              </a:spcAft>
              <a:buNone/>
            </a:pPr>
            <a:r>
              <a:rPr sz="1600" b="0">
                <a:solidFill>
                  <a:srgbClr val="000000"/>
                </a:solidFill>
                <a:latin typeface="맑은 고딕"/>
                <a:ea typeface="맑은 고딕"/>
              </a:rPr>
              <a:t>38. 전체와 부분</a:t>
            </a:r>
          </a:p>
          <a:p>
            <a:pPr lvl="1" marL="355600" indent="0">
              <a:spcBef>
                <a:spcPts val="300"/>
              </a:spcBef>
              <a:spcAft>
                <a:spcPts val="300"/>
              </a:spcAft>
              <a:buNone/>
            </a:pPr>
            <a:r>
              <a:rPr sz="1600" b="0">
                <a:solidFill>
                  <a:srgbClr val="000000"/>
                </a:solidFill>
                <a:latin typeface="맑은 고딕"/>
                <a:ea typeface="맑은 고딕"/>
              </a:rPr>
              <a:t>39. 제약</a:t>
            </a:r>
          </a:p>
          <a:p>
            <a:pPr lvl="1" marL="355600" indent="0">
              <a:spcBef>
                <a:spcPts val="300"/>
              </a:spcBef>
              <a:spcAft>
                <a:spcPts val="300"/>
              </a:spcAft>
              <a:buNone/>
            </a:pPr>
            <a:r>
              <a:rPr sz="1600" b="0">
                <a:solidFill>
                  <a:srgbClr val="000000"/>
                </a:solidFill>
                <a:latin typeface="맑은 고딕"/>
                <a:ea typeface="맑은 고딕"/>
              </a:rPr>
              <a:t>40. 용어 정렬</a:t>
            </a:r>
          </a:p>
          <a:p>
            <a:pPr lvl="1" marL="355600" indent="0">
              <a:spcBef>
                <a:spcPts val="300"/>
              </a:spcBef>
              <a:spcAft>
                <a:spcPts val="300"/>
              </a:spcAft>
              <a:buNone/>
            </a:pPr>
            <a:r>
              <a:rPr sz="1600" b="0">
                <a:solidFill>
                  <a:srgbClr val="000000"/>
                </a:solidFill>
                <a:latin typeface="맑은 고딕"/>
                <a:ea typeface="맑은 고딕"/>
              </a:rPr>
              <a:t>41. 동의어와 동음이의어</a:t>
            </a:r>
          </a:p>
          <a:p>
            <a:pPr lvl="1" marL="355600" indent="0">
              <a:spcBef>
                <a:spcPts val="300"/>
              </a:spcBef>
              <a:spcAft>
                <a:spcPts val="300"/>
              </a:spcAft>
              <a:buNone/>
            </a:pPr>
            <a:r>
              <a:rPr sz="1600" b="0">
                <a:solidFill>
                  <a:srgbClr val="000000"/>
                </a:solidFill>
                <a:latin typeface="맑은 고딕"/>
                <a:ea typeface="맑은 고딕"/>
              </a:rPr>
              <a:t>42. 용어집 정제</a:t>
            </a:r>
          </a:p>
          <a:p>
            <a:pPr lvl="1" marL="355600" indent="0">
              <a:spcBef>
                <a:spcPts val="300"/>
              </a:spcBef>
              <a:spcAft>
                <a:spcPts val="300"/>
              </a:spcAft>
              <a:buNone/>
            </a:pPr>
            <a:r>
              <a:rPr sz="1600" b="0">
                <a:solidFill>
                  <a:srgbClr val="000000"/>
                </a:solidFill>
                <a:latin typeface="맑은 고딕"/>
                <a:ea typeface="맑은 고딕"/>
              </a:rPr>
              <a:t>43. 모델 작성 절차</a:t>
            </a:r>
          </a:p>
          <a:p>
            <a:pPr lvl="1" marL="355600" indent="0">
              <a:spcBef>
                <a:spcPts val="300"/>
              </a:spcBef>
              <a:spcAft>
                <a:spcPts val="300"/>
              </a:spcAft>
              <a:buNone/>
            </a:pPr>
            <a:r>
              <a:rPr sz="1600" b="0">
                <a:solidFill>
                  <a:srgbClr val="000000"/>
                </a:solidFill>
                <a:latin typeface="맑은 고딕"/>
                <a:ea typeface="맑은 고딕"/>
              </a:rPr>
              <a:t>44. 도메인 모델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45. 도메인 모델 —</a:t>
            </a:r>
            <a:r>
              <a:rPr sz="1400" b="0">
                <a:solidFill>
                  <a:srgbClr val="000000"/>
                </a:solidFill>
                <a:latin typeface="맑은 고딕"/>
                <a:ea typeface="맑은 고딕"/>
              </a:rPr>
              <a:t> 상세화</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개념의 묶음 —</a:t>
            </a:r>
            <a:r>
              <a:rPr sz="1400" b="0">
                <a:solidFill>
                  <a:srgbClr val="000000"/>
                </a:solidFill>
                <a:latin typeface="맑은 고딕"/>
                <a:ea typeface="맑은 고딕"/>
              </a:rPr>
              <a:t> 패키지</a:t>
            </a:r>
          </a:p>
          <a:p>
            <a:pPr lvl="1" marL="355600" indent="0">
              <a:spcBef>
                <a:spcPts val="300"/>
              </a:spcBef>
              <a:spcAft>
                <a:spcPts val="300"/>
              </a:spcAft>
              <a:buNone/>
            </a:pPr>
            <a:r>
              <a:rPr sz="1600" b="0">
                <a:solidFill>
                  <a:srgbClr val="000000"/>
                </a:solidFill>
                <a:latin typeface="맑은 고딕"/>
                <a:ea typeface="맑은 고딕"/>
              </a:rPr>
              <a:t>47. 패키지 기준</a:t>
            </a:r>
          </a:p>
          <a:p>
            <a:pPr lvl="1" marL="355600" indent="0">
              <a:spcBef>
                <a:spcPts val="300"/>
              </a:spcBef>
              <a:spcAft>
                <a:spcPts val="300"/>
              </a:spcAft>
              <a:buNone/>
            </a:pPr>
            <a:r>
              <a:rPr sz="1600" b="0">
                <a:solidFill>
                  <a:srgbClr val="000000"/>
                </a:solidFill>
                <a:latin typeface="맑은 고딕"/>
                <a:ea typeface="맑은 고딕"/>
              </a:rPr>
              <a:t>48. 도메인 모델 —</a:t>
            </a:r>
            <a:r>
              <a:rPr sz="1400" b="0">
                <a:solidFill>
                  <a:srgbClr val="000000"/>
                </a:solidFill>
                <a:latin typeface="맑은 고딕"/>
                <a:ea typeface="맑은 고딕"/>
              </a:rPr>
              <a:t> 패키지별</a:t>
            </a:r>
          </a:p>
          <a:p>
            <a:pPr lvl="1" marL="355600" indent="0">
              <a:spcBef>
                <a:spcPts val="300"/>
              </a:spcBef>
              <a:spcAft>
                <a:spcPts val="300"/>
              </a:spcAft>
              <a:buNone/>
            </a:pPr>
            <a:r>
              <a:rPr sz="1600" b="0">
                <a:solidFill>
                  <a:srgbClr val="000000"/>
                </a:solidFill>
                <a:latin typeface="맑은 고딕"/>
                <a:ea typeface="맑은 고딕"/>
              </a:rPr>
              <a:t>49. 잘못된 관행 —</a:t>
            </a:r>
            <a:r>
              <a:rPr sz="1400" b="0">
                <a:solidFill>
                  <a:srgbClr val="000000"/>
                </a:solidFill>
                <a:latin typeface="맑은 고딕"/>
                <a:ea typeface="맑은 고딕"/>
              </a:rPr>
              <a:t> 분석 과잉</a:t>
            </a:r>
          </a:p>
          <a:p>
            <a:pPr lvl="1" marL="355600" indent="0">
              <a:spcBef>
                <a:spcPts val="300"/>
              </a:spcBef>
              <a:spcAft>
                <a:spcPts val="300"/>
              </a:spcAft>
              <a:buNone/>
            </a:pPr>
            <a:r>
              <a:rPr sz="1600" b="0">
                <a:solidFill>
                  <a:srgbClr val="000000"/>
                </a:solidFill>
                <a:latin typeface="맑은 고딕"/>
                <a:ea typeface="맑은 고딕"/>
              </a:rPr>
              <a:t>50. 잘못된 관행 —</a:t>
            </a:r>
            <a:r>
              <a:rPr sz="1400" b="0">
                <a:solidFill>
                  <a:srgbClr val="000000"/>
                </a:solidFill>
                <a:latin typeface="맑은 고딕"/>
                <a:ea typeface="맑은 고딕"/>
              </a:rPr>
              <a:t> 구현 요소</a:t>
            </a:r>
          </a:p>
          <a:p>
            <a:pPr lvl="1" marL="355600" indent="0">
              <a:spcBef>
                <a:spcPts val="300"/>
              </a:spcBef>
              <a:spcAft>
                <a:spcPts val="300"/>
              </a:spcAft>
              <a:buNone/>
            </a:pPr>
            <a:r>
              <a:rPr sz="1600" b="0">
                <a:solidFill>
                  <a:srgbClr val="000000"/>
                </a:solidFill>
                <a:latin typeface="맑은 고딕"/>
                <a:ea typeface="맑은 고딕"/>
              </a:rPr>
              <a:t>51. 잘못된 관행 —</a:t>
            </a:r>
            <a:r>
              <a:rPr sz="1400" b="0">
                <a:solidFill>
                  <a:srgbClr val="000000"/>
                </a:solidFill>
                <a:latin typeface="맑은 고딕"/>
                <a:ea typeface="맑은 고딕"/>
              </a:rPr>
              <a:t> 규칙 없는 속성</a:t>
            </a:r>
          </a:p>
          <a:p>
            <a:pPr lvl="1" marL="355600" indent="0">
              <a:spcBef>
                <a:spcPts val="300"/>
              </a:spcBef>
              <a:spcAft>
                <a:spcPts val="300"/>
              </a:spcAft>
              <a:buNone/>
            </a:pPr>
            <a:r>
              <a:rPr sz="1600" b="0">
                <a:solidFill>
                  <a:srgbClr val="000000"/>
                </a:solidFill>
                <a:latin typeface="맑은 고딕"/>
                <a:ea typeface="맑은 고딕"/>
              </a:rPr>
              <a:t>52. 잘못된 관행 —</a:t>
            </a:r>
            <a:r>
              <a:rPr sz="1400" b="0">
                <a:solidFill>
                  <a:srgbClr val="000000"/>
                </a:solidFill>
                <a:latin typeface="맑은 고딕"/>
                <a:ea typeface="맑은 고딕"/>
              </a:rPr>
              <a:t> 관계 남용</a:t>
            </a:r>
          </a:p>
          <a:p>
            <a:pPr lvl="1" marL="355600" indent="0">
              <a:spcBef>
                <a:spcPts val="300"/>
              </a:spcBef>
              <a:spcAft>
                <a:spcPts val="300"/>
              </a:spcAft>
              <a:buNone/>
            </a:pPr>
            <a:r>
              <a:rPr sz="1600" b="0">
                <a:solidFill>
                  <a:srgbClr val="000000"/>
                </a:solidFill>
                <a:latin typeface="맑은 고딕"/>
                <a:ea typeface="맑은 고딕"/>
              </a:rPr>
              <a:t>53. 잘못된 관행 —</a:t>
            </a:r>
            <a:r>
              <a:rPr sz="1400" b="0">
                <a:solidFill>
                  <a:srgbClr val="000000"/>
                </a:solidFill>
                <a:latin typeface="맑은 고딕"/>
                <a:ea typeface="맑은 고딕"/>
              </a:rPr>
              <a:t> 거대 개념·모호한 이름</a:t>
            </a:r>
          </a:p>
          <a:p>
            <a:pPr lvl="1" marL="355600" indent="0">
              <a:spcBef>
                <a:spcPts val="300"/>
              </a:spcBef>
              <a:spcAft>
                <a:spcPts val="300"/>
              </a:spcAft>
              <a:buNone/>
            </a:pPr>
            <a:r>
              <a:rPr sz="1600" b="0">
                <a:solidFill>
                  <a:srgbClr val="000000"/>
                </a:solidFill>
                <a:latin typeface="맑은 고딕"/>
                <a:ea typeface="맑은 고딕"/>
              </a:rPr>
              <a:t>54. 잘못된 관행 —</a:t>
            </a:r>
            <a:r>
              <a:rPr sz="1400" b="0">
                <a:solidFill>
                  <a:srgbClr val="000000"/>
                </a:solidFill>
                <a:latin typeface="맑은 고딕"/>
                <a:ea typeface="맑은 고딕"/>
              </a:rPr>
              <a:t> 범위·시점</a:t>
            </a:r>
          </a:p>
          <a:p>
            <a:pPr lvl="1" marL="355600" indent="0">
              <a:spcBef>
                <a:spcPts val="300"/>
              </a:spcBef>
              <a:spcAft>
                <a:spcPts val="300"/>
              </a:spcAft>
              <a:buNone/>
            </a:pPr>
            <a:r>
              <a:rPr sz="1600" b="0">
                <a:solidFill>
                  <a:srgbClr val="000000"/>
                </a:solidFill>
                <a:latin typeface="맑은 고딕"/>
                <a:ea typeface="맑은 고딕"/>
              </a:rPr>
              <a:t>55. 모델의 유용성</a:t>
            </a:r>
          </a:p>
          <a:p>
            <a:pPr lvl="1" marL="355600" indent="0">
              <a:spcBef>
                <a:spcPts val="300"/>
              </a:spcBef>
              <a:spcAft>
                <a:spcPts val="300"/>
              </a:spcAft>
              <a:buNone/>
            </a:pPr>
            <a:r>
              <a:rPr sz="1600" b="0">
                <a:solidFill>
                  <a:srgbClr val="000000"/>
                </a:solidFill>
                <a:latin typeface="맑은 고딕"/>
                <a:ea typeface="맑은 고딕"/>
              </a:rPr>
              <a:t>56. 시나리오 교차검토</a:t>
            </a:r>
          </a:p>
          <a:p>
            <a:pPr lvl="1" marL="355600" indent="0">
              <a:spcBef>
                <a:spcPts val="300"/>
              </a:spcBef>
              <a:spcAft>
                <a:spcPts val="300"/>
              </a:spcAft>
              <a:buNone/>
            </a:pPr>
            <a:r>
              <a:rPr sz="1600" b="0">
                <a:solidFill>
                  <a:srgbClr val="000000"/>
                </a:solidFill>
                <a:latin typeface="맑은 고딕"/>
                <a:ea typeface="맑은 고딕"/>
              </a:rPr>
              <a:t>57. 누락과 모순</a:t>
            </a:r>
          </a:p>
          <a:p>
            <a:pPr lvl="1" marL="355600" indent="0">
              <a:spcBef>
                <a:spcPts val="300"/>
              </a:spcBef>
              <a:spcAft>
                <a:spcPts val="300"/>
              </a:spcAft>
              <a:buNone/>
            </a:pPr>
            <a:r>
              <a:rPr sz="1600" b="0">
                <a:solidFill>
                  <a:srgbClr val="000000"/>
                </a:solidFill>
                <a:latin typeface="맑은 고딕"/>
                <a:ea typeface="맑은 고딕"/>
              </a:rPr>
              <a:t>58. 정적 모델의 한계</a:t>
            </a:r>
          </a:p>
          <a:p>
            <a:pPr lvl="1" marL="355600" indent="0">
              <a:spcBef>
                <a:spcPts val="300"/>
              </a:spcBef>
              <a:spcAft>
                <a:spcPts val="300"/>
              </a:spcAft>
              <a:buNone/>
            </a:pPr>
            <a:r>
              <a:rPr sz="1600" b="0">
                <a:solidFill>
                  <a:srgbClr val="000000"/>
                </a:solidFill>
                <a:latin typeface="맑은 고딕"/>
                <a:ea typeface="맑은 고딕"/>
              </a:rPr>
              <a:t>59.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60. 도메인 모델 초안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도메인 모델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이전 산출물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문제영역에 </a:t>
            </a:r>
            <a:r>
              <a:rPr sz="1800" b="1">
                <a:solidFill>
                  <a:srgbClr val="000000"/>
                </a:solidFill>
                <a:latin typeface="맑은 고딕"/>
                <a:ea typeface="맑은 고딕"/>
              </a:rPr>
              <a:t>무엇이 존재하고, 어떤 정보를 가지며, 서로 어떻게 관계하는지</a:t>
            </a:r>
            <a:r>
              <a:rPr sz="1800" b="0">
                <a:solidFill>
                  <a:srgbClr val="000000"/>
                </a:solidFill>
                <a:latin typeface="맑은 고딕"/>
                <a:ea typeface="맑은 고딕"/>
              </a:rPr>
              <a:t>를 구현과 분리된 정적 모델로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을 입력으로 개념을 찾고, 발견한 것을 그 산출물에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모델(활동·시퀀스·커뮤니케이션·</a:t>
            </a:r>
            <a:r>
              <a:rPr sz="1800" b="1">
                <a:solidFill>
                  <a:srgbClr val="000000"/>
                </a:solidFill>
                <a:latin typeface="맑은 고딕"/>
                <a:ea typeface="맑은 고딕"/>
              </a:rPr>
              <a:t>상태 기계</a:t>
            </a:r>
            <a:r>
              <a:rPr sz="1800" b="0">
                <a:solidFill>
                  <a:srgbClr val="000000"/>
                </a:solidFill>
                <a:latin typeface="맑은 고딕"/>
                <a:ea typeface="맑은 고딕"/>
              </a:rPr>
              <a:t>)의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모델링</a:t>
            </a:r>
            <a:r>
              <a:rPr sz="1400" b="0">
                <a:solidFill>
                  <a:srgbClr val="000000"/>
                </a:solidFill>
                <a:latin typeface="맑은 고딕"/>
                <a:ea typeface="맑은 고딕"/>
              </a:rPr>
              <a:t>(ERD)</a:t>
            </a:r>
            <a:r>
              <a:rPr sz="1800" b="0">
                <a:solidFill>
                  <a:srgbClr val="000000"/>
                </a:solidFill>
                <a:latin typeface="맑은 고딕"/>
                <a:ea typeface="맑은 고딕"/>
              </a:rPr>
              <a:t>과의 대응을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명사를 기계적으로 옮기지 않고 </a:t>
            </a:r>
            <a:r>
              <a:rPr sz="1800" b="1">
                <a:solidFill>
                  <a:srgbClr val="000000"/>
                </a:solidFill>
                <a:latin typeface="맑은 고딕"/>
                <a:ea typeface="맑은 고딕"/>
              </a:rPr>
              <a:t>도메인 개념</a:t>
            </a:r>
            <a:r>
              <a:rPr sz="1800" b="0">
                <a:solidFill>
                  <a:srgbClr val="000000"/>
                </a:solidFill>
                <a:latin typeface="맑은 고딕"/>
                <a:ea typeface="맑은 고딕"/>
              </a:rPr>
              <a:t>과 </a:t>
            </a:r>
            <a:r>
              <a:rPr sz="1800" b="1">
                <a:solidFill>
                  <a:srgbClr val="000000"/>
                </a:solidFill>
                <a:latin typeface="맑은 고딕"/>
                <a:ea typeface="맑은 고딕"/>
              </a:rPr>
              <a:t>속성</a:t>
            </a:r>
            <a:r>
              <a:rPr sz="1800" b="0">
                <a:solidFill>
                  <a:srgbClr val="000000"/>
                </a:solidFill>
                <a:latin typeface="맑은 고딕"/>
                <a:ea typeface="맑은 고딕"/>
              </a:rPr>
              <a:t>을 식별하며, </a:t>
            </a:r>
            <a:r>
              <a:rPr sz="1800" b="1">
                <a:solidFill>
                  <a:srgbClr val="000000"/>
                </a:solidFill>
                <a:latin typeface="맑은 고딕"/>
                <a:ea typeface="맑은 고딕"/>
              </a:rPr>
              <a:t>속성 도메인</a:t>
            </a:r>
            <a:r>
              <a:rPr sz="1800" b="0">
                <a:solidFill>
                  <a:srgbClr val="000000"/>
                </a:solidFill>
                <a:latin typeface="맑은 고딕"/>
                <a:ea typeface="맑은 고딕"/>
              </a:rPr>
              <a:t>과 속성 수준 업무 규칙을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400" b="0">
                <a:solidFill>
                  <a:srgbClr val="000000"/>
                </a:solidFill>
                <a:latin typeface="맑은 고딕"/>
                <a:ea typeface="맑은 고딕"/>
              </a:rPr>
              <a:t>(연관·집합·합성·일반화·의존·실현)</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작성하고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모델이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정적 모델링의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요구와 정적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5707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1067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pic>
        <p:nvPicPr>
          <p:cNvPr id="15" name="mermaid Diagram 1"/>
          <p:cNvPicPr>
            <a:picLocks noChangeAspect="1"/>
          </p:cNvPicPr>
          <p:nvPr/>
        </p:nvPicPr>
        <p:blipFill>
          <a:blip r:embed="mermaidImage1"/>
          <a:stretch>
            <a:fillRect/>
          </a:stretch>
        </p:blipFill>
        <p:spPr>
          <a:xfrm>
            <a:off x="1556893" y="4908819"/>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도메인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소프트웨어가 다루는 </a:t>
            </a:r>
            <a:r>
              <a:rPr sz="1800" b="1">
                <a:solidFill>
                  <a:srgbClr val="000000"/>
                </a:solidFill>
                <a:latin typeface="맑은 고딕"/>
                <a:ea typeface="맑은 고딕"/>
              </a:rPr>
              <a:t>지식·활동·관심의 영역</a:t>
            </a:r>
            <a:r>
              <a:rPr sz="1800" b="0">
                <a:solidFill>
                  <a:srgbClr val="000000"/>
                </a:solidFill>
                <a:latin typeface="맑은 고딕"/>
                <a:ea typeface="맑은 고딕"/>
              </a:rPr>
              <a:t>이다. 분석은 먼저 </a:t>
            </a:r>
            <a:r>
              <a:rPr sz="1800" b="1">
                <a:solidFill>
                  <a:srgbClr val="000000"/>
                </a:solidFill>
                <a:latin typeface="맑은 고딕"/>
                <a:ea typeface="맑은 고딕"/>
              </a:rPr>
              <a:t>문제영역</a:t>
            </a:r>
            <a:r>
              <a:rPr sz="1800" b="0">
                <a:solidFill>
                  <a:srgbClr val="000000"/>
                </a:solidFill>
                <a:latin typeface="맑은 고딕"/>
                <a:ea typeface="맑은 고딕"/>
              </a:rPr>
              <a:t>을 이해하고, 기술 선택은 뒤로 미룬다.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문제영역</a:t>
            </a:r>
            <a:r>
              <a:rPr sz="1800" b="0">
                <a:solidFill>
                  <a:srgbClr val="000000"/>
                </a:solidFill>
                <a:latin typeface="맑은 고딕"/>
                <a:ea typeface="맑은 고딕"/>
              </a:rPr>
              <a:t> —</a:t>
            </a:r>
            <a:r>
              <a:rPr sz="1600" b="0">
                <a:solidFill>
                  <a:srgbClr val="000000"/>
                </a:solidFill>
                <a:latin typeface="맑은 고딕"/>
                <a:ea typeface="맑은 고딕"/>
              </a:rPr>
              <a:t> 고객, 주문, 상품, 결제, 환불, 배송지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 영역</a:t>
            </a:r>
            <a:r>
              <a:rPr sz="1800" b="0">
                <a:solidFill>
                  <a:srgbClr val="000000"/>
                </a:solidFill>
                <a:latin typeface="맑은 고딕"/>
                <a:ea typeface="맑은 고딕"/>
              </a:rPr>
              <a:t> —</a:t>
            </a:r>
            <a:r>
              <a:rPr sz="1600" b="0">
                <a:solidFill>
                  <a:srgbClr val="000000"/>
                </a:solidFill>
                <a:latin typeface="맑은 고딕"/>
                <a:ea typeface="맑은 고딕"/>
              </a:rPr>
              <a:t> 화면, API, 테이블, 메시지 큐, 프레임워크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시스템의 도메인은 프로그램이 아니라 </a:t>
            </a:r>
            <a:r>
              <a:rPr sz="1800" b="1">
                <a:solidFill>
                  <a:srgbClr val="000000"/>
                </a:solidFill>
                <a:latin typeface="맑은 고딕"/>
                <a:ea typeface="맑은 고딕"/>
              </a:rPr>
              <a:t>주문하고, 결제하고, 취소·환불하고, 배송받는 업무</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a:t>
            </a:r>
            <a:r>
              <a:rPr sz="1800" b="1">
                <a:solidFill>
                  <a:srgbClr val="000000"/>
                </a:solidFill>
                <a:latin typeface="맑은 고딕"/>
                <a:ea typeface="맑은 고딕"/>
              </a:rPr>
              <a:t>구현과 분리해</a:t>
            </a:r>
            <a:r>
              <a:rPr sz="1800" b="0">
                <a:solidFill>
                  <a:srgbClr val="000000"/>
                </a:solidFill>
                <a:latin typeface="맑은 고딕"/>
                <a:ea typeface="맑은 고딕"/>
              </a:rPr>
              <a:t>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이해하고 검토하는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a:t>
            </a:r>
            <a:r>
              <a:rPr sz="1800" b="1">
                <a:solidFill>
                  <a:srgbClr val="000000"/>
                </a:solidFill>
                <a:latin typeface="맑은 고딕"/>
                <a:ea typeface="맑은 고딕"/>
              </a:rPr>
              <a:t>단순화</a:t>
            </a:r>
            <a:r>
              <a:rPr sz="1800" b="0">
                <a:solidFill>
                  <a:srgbClr val="000000"/>
                </a:solidFill>
                <a:latin typeface="맑은 고딕"/>
                <a:ea typeface="맑은 고딕"/>
              </a:rPr>
              <a:t>다. 당면한 문제를 해결하는 데 관련된 측면을 추상화하고 불필요한 세부는 무시하는 현실의 해석이다"</a:t>
            </a:r>
            <a:r>
              <a:rPr sz="1000" b="0">
                <a:solidFill>
                  <a:srgbClr val="000000"/>
                </a:solidFill>
                <a:latin typeface="맑은 고딕"/>
                <a:ea typeface="맑은 고딕"/>
              </a:rPr>
              <a:t>, </a:t>
            </a:r>
            <a:r>
              <a:rPr sz="1000" b="0">
                <a:solidFill>
                  <a:srgbClr val="000000"/>
                </a:solidFill>
                <a:latin typeface="맑은 고딕"/>
                <a:ea typeface="맑은 고딕"/>
              </a:rPr>
              <a:t>"A model is a simplification. It is an interpretation of reality that abstracts the aspects relevant to solving the problem at hand and ignores extraneous detail."</a:t>
            </a:r>
            <a:r>
              <a:rPr sz="1000" b="0">
                <a:solidFill>
                  <a:srgbClr val="000000"/>
                </a:solidFill>
                <a:latin typeface="맑은 고딕"/>
                <a:ea typeface="맑은 고딕"/>
              </a:rPr>
              <a:t>, </a:t>
            </a:r>
            <a:r>
              <a:rPr sz="1000" b="0">
                <a:solidFill>
                  <a:srgbClr val="000000"/>
                </a:solidFill>
                <a:latin typeface="맑은 고딕"/>
                <a:ea typeface="맑은 고딕"/>
              </a:rPr>
              <a:t>Eric Evans, 2003,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a:t>
            </a:r>
            <a:r>
              <a:rPr sz="1800" b="1">
                <a:solidFill>
                  <a:srgbClr val="000000"/>
                </a:solidFill>
                <a:latin typeface="맑은 고딕"/>
                <a:ea typeface="맑은 고딕"/>
              </a:rPr>
              <a:t>개념</a:t>
            </a:r>
            <a:r>
              <a:rPr sz="1800" b="0">
                <a:solidFill>
                  <a:srgbClr val="000000"/>
                </a:solidFill>
                <a:latin typeface="맑은 고딕"/>
                <a:ea typeface="맑은 고딕"/>
              </a:rPr>
              <a:t>이 존재하는가?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개념은 어떤 </a:t>
            </a:r>
            <a:r>
              <a:rPr sz="1800" b="1">
                <a:solidFill>
                  <a:srgbClr val="000000"/>
                </a:solidFill>
                <a:latin typeface="맑은 고딕"/>
                <a:ea typeface="맑은 고딕"/>
              </a:rPr>
              <a:t>정보</a:t>
            </a:r>
            <a:r>
              <a:rPr sz="1800" b="0">
                <a:solidFill>
                  <a:srgbClr val="000000"/>
                </a:solidFill>
                <a:latin typeface="맑은 고딕"/>
                <a:ea typeface="맑은 고딕"/>
              </a:rPr>
              <a:t>를 가지는가?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개념들은 어떤 </a:t>
            </a:r>
            <a:r>
              <a:rPr sz="1800" b="1">
                <a:solidFill>
                  <a:srgbClr val="000000"/>
                </a:solidFill>
                <a:latin typeface="맑은 고딕"/>
                <a:ea typeface="맑은 고딕"/>
              </a:rPr>
              <a:t>관계</a:t>
            </a:r>
            <a:r>
              <a:rPr sz="1800" b="0">
                <a:solidFill>
                  <a:srgbClr val="000000"/>
                </a:solidFill>
                <a:latin typeface="맑은 고딕"/>
                <a:ea typeface="맑은 고딕"/>
              </a:rPr>
              <a:t>로, 몇 개씩 연결되는가?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항상 지켜져야 하는 </a:t>
            </a:r>
            <a:r>
              <a:rPr sz="1800" b="1">
                <a:solidFill>
                  <a:srgbClr val="000000"/>
                </a:solidFill>
                <a:latin typeface="맑은 고딕"/>
                <a:ea typeface="맑은 고딕"/>
              </a:rPr>
              <a:t>제약</a:t>
            </a:r>
            <a:r>
              <a:rPr sz="1800" b="0">
                <a:solidFill>
                  <a:srgbClr val="000000"/>
                </a:solidFill>
                <a:latin typeface="맑은 고딕"/>
                <a:ea typeface="맑은 고딕"/>
              </a:rPr>
              <a:t>은 무엇인가?</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4299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한 사건, 네 다이어그램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취소</a:t>
            </a:r>
            <a:r>
              <a:rPr sz="1600" b="0">
                <a:solidFill>
                  <a:srgbClr val="000000"/>
                </a:solidFill>
                <a:latin typeface="맑은 고딕"/>
                <a:ea typeface="맑은 고딕"/>
              </a:rPr>
              <a:t> 하나를 네 동적 다이어그램으로 보면 모두 </a:t>
            </a:r>
            <a:r>
              <a:rPr sz="1600" b="1">
                <a:solidFill>
                  <a:srgbClr val="000000"/>
                </a:solidFill>
                <a:latin typeface="맑은 고딕"/>
                <a:ea typeface="맑은 고딕"/>
              </a:rPr>
              <a:t>주문의 상태 전이</a:t>
            </a:r>
            <a:r>
              <a:rPr sz="1200" b="0">
                <a:solidFill>
                  <a:srgbClr val="000000"/>
                </a:solidFill>
                <a:latin typeface="맑은 고딕"/>
                <a:ea typeface="맑은 고딕"/>
              </a:rPr>
              <a:t>(결제 완료 → 취소됨)</a:t>
            </a:r>
            <a:r>
              <a:rPr sz="1600" b="0">
                <a:solidFill>
                  <a:srgbClr val="000000"/>
                </a:solidFill>
                <a:latin typeface="맑은 고딕"/>
                <a:ea typeface="맑은 고딕"/>
              </a:rPr>
              <a:t>로 모인다. 각 다이어그램은 정적 모델의 어휘를 쓴다.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정적·동적 모델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모델과의 연결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svg Diagram 1" descr="주문 취소 한 사건을 활동·시퀀스·커뮤니케이션·클래스 다이어그램으로 보고 모두 주문 상태 기계의 전이로 모이는 관계"/>
          <p:cNvPicPr>
            <a:picLocks noChangeAspect="1"/>
          </p:cNvPicPr>
          <p:nvPr/>
        </p:nvPicPr>
        <p:blipFill>
          <a:blip r:embed="svgImage1"/>
          <a:stretch>
            <a:fillRect/>
          </a:stretch>
        </p:blipFill>
        <p:spPr>
          <a:xfrm>
            <a:off x="2183955" y="3309043"/>
            <a:ext cx="4762500" cy="2857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(1/3)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정적이기도 하고 동적이기도 하다. 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 사례의 상태 값은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(2/3)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400" b="0">
                <a:solidFill>
                  <a:srgbClr val="000000"/>
                </a:solidFill>
                <a:latin typeface="맑은 고딕"/>
                <a:ea typeface="맑은 고딕"/>
              </a:rPr>
              <a:t>(«enumeration»)</a:t>
            </a:r>
            <a:r>
              <a:rPr sz="1800" b="0">
                <a:solidFill>
                  <a:srgbClr val="000000"/>
                </a:solidFill>
                <a:latin typeface="맑은 고딕"/>
                <a:ea typeface="맑은 고딕"/>
              </a:rPr>
              <a:t> —</a:t>
            </a:r>
            <a:r>
              <a:rPr sz="1600" b="0">
                <a:solidFill>
                  <a:srgbClr val="000000"/>
                </a:solidFill>
                <a:latin typeface="맑은 고딕"/>
                <a:ea typeface="맑은 고딕"/>
              </a:rPr>
              <a:t> 가능한 값을 칸에 나열한 값의 종류다. 속성의 값의 종류로 쓴다(</a:t>
            </a:r>
            <a:r>
              <a:rPr sz="1600" b="0">
                <a:solidFill>
                  <a:srgbClr val="000000"/>
                </a:solidFill>
                <a:latin typeface="맑은 고딕"/>
                <a:ea typeface="맑은 고딕"/>
              </a:rPr>
              <a:t>주문 상태 : 주문 상태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p:txBody>
      </p:sp>
      <p:pic>
        <p:nvPicPr>
          <p:cNvPr id="9" name="plantuml Diagram 1"/>
          <p:cNvPicPr>
            <a:picLocks noChangeAspect="1"/>
          </p:cNvPicPr>
          <p:nvPr/>
        </p:nvPicPr>
        <p:blipFill>
          <a:blip r:embed="plantumlImage1"/>
          <a:stretch>
            <a:fillRect/>
          </a:stretch>
        </p:blipFill>
        <p:spPr>
          <a:xfrm>
            <a:off x="3915019" y="3190181"/>
            <a:ext cx="1313962" cy="26499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상태 값과 상태 전이 </a:t>
            </a:r>
            <a:r>
              <a:rPr sz="2000" b="1">
                <a:solidFill>
                  <a:srgbClr val="000000"/>
                </a:solidFill>
                <a:latin typeface="맑은 고딕"/>
                <a:ea typeface="맑은 고딕"/>
              </a:rPr>
              <a:t>(3/3)</a:t>
            </a:r>
          </a:p>
          <a:p>
            <a:r>
              <a:rPr sz="1100" b="1">
                <a:solidFill>
                  <a:srgbClr val="000000"/>
                </a:solidFill>
                <a:latin typeface="맑은 고딕"/>
                <a:ea typeface="맑은 고딕"/>
              </a:rPr>
              <a:t>클래스·상태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쓰이지 않는 값이나 값에 없는 상태는 누락이다.</a:t>
            </a:r>
          </a:p>
        </p:txBody>
      </p:sp>
      <p:pic>
        <p:nvPicPr>
          <p:cNvPr id="9" name="plantuml Diagram 2"/>
          <p:cNvPicPr>
            <a:picLocks noChangeAspect="1"/>
          </p:cNvPicPr>
          <p:nvPr/>
        </p:nvPicPr>
        <p:blipFill>
          <a:blip r:embed="plantumlImage2"/>
          <a:stretch>
            <a:fillRect/>
          </a:stretch>
        </p:blipFill>
        <p:spPr>
          <a:xfrm>
            <a:off x="1909885" y="3771792"/>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관심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 또는 실세계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real-world objects in a domain of interest."</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문제영역의 </a:t>
            </a:r>
            <a:r>
              <a:rPr sz="1800" b="1">
                <a:solidFill>
                  <a:srgbClr val="000000"/>
                </a:solidFill>
                <a:latin typeface="맑은 고딕"/>
                <a:ea typeface="맑은 고딕"/>
              </a:rPr>
              <a:t>시각적 사전</a:t>
            </a:r>
            <a:r>
              <a:rPr sz="1800" b="0">
                <a:solidFill>
                  <a:srgbClr val="000000"/>
                </a:solidFill>
                <a:latin typeface="맑은 고딕"/>
                <a:ea typeface="맑은 고딕"/>
              </a:rPr>
              <a:t>이다. 소프트웨어 컴포넌트가 아니며, 설계의 영감이 될 수 있지만 설계 클래스로 그대로 옮기지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도메인 모델의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775911"/>
                <a:gridCol w="2452124"/>
                <a:gridCol w="2953022"/>
                <a:gridCol w="112474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 (도메인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클래스·책임·메시지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클래스와 그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언어·구조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테이블·키·인덱스, API·메시지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주문 식별 키, 주문 응답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DB·프레임워크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기술 요소가 없는 개념 모델</a:t>
            </a:r>
            <a:r>
              <a:rPr sz="1800" b="0">
                <a:solidFill>
                  <a:srgbClr val="000000"/>
                </a:solidFill>
                <a:latin typeface="맑은 고딕"/>
                <a:ea typeface="맑은 고딕"/>
              </a:rPr>
              <a:t>이다. 그래야 기술이 바뀌어도 </a:t>
            </a:r>
            <a:r>
              <a:rPr sz="1800" b="1">
                <a:solidFill>
                  <a:srgbClr val="000000"/>
                </a:solidFill>
                <a:latin typeface="맑은 고딕"/>
                <a:ea typeface="맑은 고딕"/>
              </a:rPr>
              <a:t>의미를 검토하는 기준</a:t>
            </a:r>
            <a:r>
              <a:rPr sz="1800" b="0">
                <a:solidFill>
                  <a:srgbClr val="000000"/>
                </a:solidFill>
                <a:latin typeface="맑은 고딕"/>
                <a:ea typeface="맑은 고딕"/>
              </a:rPr>
              <a:t>으로 남는다. 같은 "주문"이라도 층마다 표현이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39657"/>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13817"/>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2" descr="클래스 다이어그램 표기: 개념과 속성, 연관과 다중성, 일반화, 합성, 열거형"/>
          <p:cNvPicPr>
            <a:picLocks noChangeAspect="1"/>
          </p:cNvPicPr>
          <p:nvPr/>
        </p:nvPicPr>
        <p:blipFill>
          <a:blip r:embed="svgImage2"/>
          <a:stretch>
            <a:fillRect/>
          </a:stretch>
        </p:blipFill>
        <p:spPr>
          <a:xfrm>
            <a:off x="1588643" y="184299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5" y="1585960"/>
          <a:ext cx="7647940" cy="3873500"/>
        </p:xfrm>
        <a:graphic>
          <a:graphicData uri="http://schemas.openxmlformats.org/drawingml/2006/table">
            <a:tbl>
              <a:tblPr/>
              <a:tblGrid>
                <a:gridCol w="1282700"/>
                <a:gridCol w="2092960"/>
                <a:gridCol w="4272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붙인다(「25. 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붙인다(「39.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값과 제약의 표기</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551560"/>
            <a:ext cx="8412480" cy="117851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클래스의 종류</a:t>
            </a:r>
            <a:r>
              <a:rPr sz="1600" b="0">
                <a:solidFill>
                  <a:srgbClr val="000000"/>
                </a:solidFill>
                <a:latin typeface="맑은 고딕"/>
                <a:ea typeface="맑은 고딕"/>
              </a:rPr>
              <a:t>는 「10. 클래스 유형」, </a:t>
            </a:r>
            <a:r>
              <a:rPr sz="1600" b="1">
                <a:solidFill>
                  <a:srgbClr val="000000"/>
                </a:solidFill>
                <a:latin typeface="맑은 고딕"/>
                <a:ea typeface="맑은 고딕"/>
              </a:rPr>
              <a:t>관계의 종류</a:t>
            </a:r>
            <a:r>
              <a:rPr sz="1600" b="0">
                <a:solidFill>
                  <a:srgbClr val="000000"/>
                </a:solidFill>
                <a:latin typeface="맑은 고딕"/>
                <a:ea typeface="맑은 고딕"/>
              </a:rPr>
              <a:t>는 「11. 관계 유형」에서 정리한다.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고객과 주문</a:t>
            </a:r>
            <a:r>
              <a:rPr sz="1600" b="0">
                <a:solidFill>
                  <a:srgbClr val="000000"/>
                </a:solidFill>
                <a:latin typeface="맑은 고딕"/>
                <a:ea typeface="맑은 고딕"/>
              </a:rPr>
              <a:t>을 클래스 다이어그램으로 그린 예다.</a:t>
            </a:r>
          </a:p>
        </p:txBody>
      </p:sp>
      <p:pic>
        <p:nvPicPr>
          <p:cNvPr id="15" name="plantuml Diagram 3"/>
          <p:cNvPicPr>
            <a:picLocks noChangeAspect="1"/>
          </p:cNvPicPr>
          <p:nvPr/>
        </p:nvPicPr>
        <p:blipFill>
          <a:blip r:embed="plantumlImage3"/>
          <a:stretch>
            <a:fillRect/>
          </a:stretch>
        </p:blipFill>
        <p:spPr>
          <a:xfrm>
            <a:off x="3495475" y="4690534"/>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(1/4)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a:t>
            </a:r>
            <a:r>
              <a:rPr sz="1800" b="1">
                <a:solidFill>
                  <a:srgbClr val="000000"/>
                </a:solidFill>
                <a:latin typeface="맑은 고딕"/>
                <a:ea typeface="맑은 고딕"/>
              </a:rPr>
              <a:t>유형</a:t>
            </a:r>
            <a:r>
              <a:rPr sz="1800" b="0">
                <a:solidFill>
                  <a:srgbClr val="000000"/>
                </a:solidFill>
                <a:latin typeface="맑은 고딕"/>
                <a:ea typeface="맑은 고딕"/>
              </a:rPr>
              <a:t>이 다르다. </a:t>
            </a:r>
            <a:r>
              <a:rPr sz="1800" b="1">
                <a:solidFill>
                  <a:srgbClr val="000000"/>
                </a:solidFill>
                <a:latin typeface="맑은 고딕"/>
                <a:ea typeface="맑은 고딕"/>
              </a:rPr>
              <a:t>UML 표기에 따른 유형</a:t>
            </a:r>
            <a:r>
              <a:rPr sz="1800" b="0">
                <a:solidFill>
                  <a:srgbClr val="000000"/>
                </a:solidFill>
                <a:latin typeface="맑은 고딕"/>
                <a:ea typeface="맑은 고딕"/>
              </a:rPr>
              <a:t>과 </a:t>
            </a:r>
            <a:r>
              <a:rPr sz="1800" b="1">
                <a:solidFill>
                  <a:srgbClr val="000000"/>
                </a:solidFill>
                <a:latin typeface="맑은 고딕"/>
                <a:ea typeface="맑은 고딕"/>
              </a:rPr>
              <a:t>도메인 의미에 따른 유형</a:t>
            </a:r>
            <a:r>
              <a:rPr sz="1800" b="0">
                <a:solidFill>
                  <a:srgbClr val="000000"/>
                </a:solidFill>
                <a:latin typeface="맑은 고딕"/>
                <a:ea typeface="맑은 고딕"/>
              </a:rPr>
              <a:t>이 있다. 먼저 UML 유형이다.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(2/4)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1">
                <a:solidFill>
                  <a:srgbClr val="000000"/>
                </a:solidFill>
                <a:latin typeface="맑은 고딕"/>
                <a:ea typeface="맑은 고딕"/>
              </a:rPr>
              <a:t>개념 클래스</a:t>
            </a:r>
            <a:r>
              <a:rPr sz="1800" b="0">
                <a:solidFill>
                  <a:srgbClr val="000000"/>
                </a:solidFill>
                <a:latin typeface="맑은 고딕"/>
                <a:ea typeface="맑은 고딕"/>
              </a:rPr>
              <a:t>), 주문 상태(</a:t>
            </a:r>
            <a:r>
              <a:rPr sz="1800" b="1">
                <a:solidFill>
                  <a:srgbClr val="000000"/>
                </a:solidFill>
                <a:latin typeface="맑은 고딕"/>
                <a:ea typeface="맑은 고딕"/>
              </a:rPr>
              <a:t>열거형</a:t>
            </a:r>
            <a:r>
              <a:rPr sz="1800" b="0">
                <a:solidFill>
                  <a:srgbClr val="000000"/>
                </a:solidFill>
                <a:latin typeface="맑은 고딕"/>
                <a:ea typeface="맑은 고딕"/>
              </a:rPr>
              <a:t>), 주소(</a:t>
            </a:r>
            <a:r>
              <a:rPr sz="1800" b="1">
                <a:solidFill>
                  <a:srgbClr val="000000"/>
                </a:solidFill>
                <a:latin typeface="맑은 고딕"/>
                <a:ea typeface="맑은 고딕"/>
              </a:rPr>
              <a:t>데이터 타입</a:t>
            </a:r>
            <a:r>
              <a:rPr sz="1800" b="0">
                <a:solidFill>
                  <a:srgbClr val="000000"/>
                </a:solidFill>
                <a:latin typeface="맑은 고딕"/>
                <a:ea typeface="맑은 고딕"/>
              </a:rPr>
              <a:t>), 결제(</a:t>
            </a:r>
            <a:r>
              <a:rPr sz="1800" b="1">
                <a:solidFill>
                  <a:srgbClr val="000000"/>
                </a:solidFill>
                <a:latin typeface="맑은 고딕"/>
                <a:ea typeface="맑은 고딕"/>
              </a:rPr>
              <a:t>추상 클래스</a:t>
            </a:r>
            <a:r>
              <a:rPr sz="1800" b="0">
                <a:solidFill>
                  <a:srgbClr val="000000"/>
                </a:solidFill>
                <a:latin typeface="맑은 고딕"/>
                <a:ea typeface="맑은 고딕"/>
              </a:rPr>
              <a:t>), 결제 시스템(</a:t>
            </a:r>
            <a:r>
              <a:rPr sz="1800" b="1">
                <a:solidFill>
                  <a:srgbClr val="000000"/>
                </a:solidFill>
                <a:latin typeface="맑은 고딕"/>
                <a:ea typeface="맑은 고딕"/>
              </a:rPr>
              <a:t>인터페이스</a:t>
            </a:r>
            <a:r>
              <a:rPr sz="1800" b="0">
                <a:solidFill>
                  <a:srgbClr val="000000"/>
                </a:solidFill>
                <a:latin typeface="맑은 고딕"/>
                <a:ea typeface="맑은 고딕"/>
              </a:rPr>
              <a:t>)이다. 인터페이스는 설계 유형과 대비하려고 넣었다.</a:t>
            </a:r>
          </a:p>
        </p:txBody>
      </p:sp>
      <p:pic>
        <p:nvPicPr>
          <p:cNvPr id="9" name="plantuml Diagram 4"/>
          <p:cNvPicPr>
            <a:picLocks noChangeAspect="1"/>
          </p:cNvPicPr>
          <p:nvPr/>
        </p:nvPicPr>
        <p:blipFill>
          <a:blip r:embed="plantumlImage4"/>
          <a:stretch>
            <a:fillRect/>
          </a:stretch>
        </p:blipFill>
        <p:spPr>
          <a:xfrm>
            <a:off x="2540000" y="2538866"/>
            <a:ext cx="4064000" cy="3421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(3/4)</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1288753"/>
                <a:gridCol w="1959085"/>
                <a:gridCol w="1710814"/>
                <a:gridCol w="1710814"/>
                <a:gridCol w="163633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전형적인 연관</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기록해야 할 일 — 순간·기간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일시, 상태,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역할, 다음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거래를 이루는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확정 값(단가)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거래(합성),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거래에 참여하는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당사자,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당사자·장소·물건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역할·거래 대상인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 재고 품목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식별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실체가 공유하는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기준 값(판매가)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실체,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도메인에서 맡는 </a:t>
            </a:r>
            <a:r>
              <a:rPr sz="1600" b="1">
                <a:solidFill>
                  <a:srgbClr val="000000"/>
                </a:solidFill>
                <a:latin typeface="맑은 고딕"/>
                <a:ea typeface="맑은 고딕"/>
              </a:rPr>
              <a:t>유형</a:t>
            </a:r>
            <a:r>
              <a:rPr sz="1600" b="0">
                <a:solidFill>
                  <a:srgbClr val="000000"/>
                </a:solidFill>
                <a:latin typeface="맑은 고딕"/>
                <a:ea typeface="맑은 고딕"/>
              </a:rPr>
              <a:t>으로도 나눈다. 유형을 알면 </a:t>
            </a:r>
            <a:r>
              <a:rPr sz="1600" b="1">
                <a:solidFill>
                  <a:srgbClr val="000000"/>
                </a:solidFill>
                <a:latin typeface="맑은 고딕"/>
                <a:ea typeface="맑은 고딕"/>
              </a:rPr>
              <a:t>빠진 속성과 연관</a:t>
            </a:r>
            <a:r>
              <a:rPr sz="1600" b="0">
                <a:solidFill>
                  <a:srgbClr val="000000"/>
                </a:solidFill>
                <a:latin typeface="맑은 고딕"/>
                <a:ea typeface="맑은 고딕"/>
              </a:rPr>
              <a:t>을 예상할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클래스 유형 </a:t>
            </a:r>
            <a:r>
              <a:rPr sz="2000" b="1">
                <a:solidFill>
                  <a:srgbClr val="000000"/>
                </a:solidFill>
                <a:latin typeface="맑은 고딕"/>
                <a:ea typeface="맑은 고딕"/>
              </a:rPr>
              <a:t>(4/4)</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유형으로 본 주문 모델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모델은 </a:t>
            </a:r>
            <a:r>
              <a:rPr sz="1600" b="1">
                <a:solidFill>
                  <a:srgbClr val="000000"/>
                </a:solidFill>
                <a:latin typeface="맑은 고딕"/>
                <a:ea typeface="맑은 고딕"/>
              </a:rPr>
              <a:t>거래</a:t>
            </a:r>
            <a:r>
              <a:rPr sz="1200" b="0">
                <a:solidFill>
                  <a:srgbClr val="000000"/>
                </a:solidFill>
                <a:latin typeface="맑은 고딕"/>
                <a:ea typeface="맑은 고딕"/>
              </a:rPr>
              <a:t>(주문·결제·환불·배송)</a:t>
            </a:r>
            <a:r>
              <a:rPr sz="1600" b="0">
                <a:solidFill>
                  <a:srgbClr val="000000"/>
                </a:solidFill>
                <a:latin typeface="맑은 고딕"/>
                <a:ea typeface="맑은 고딕"/>
              </a:rPr>
              <a:t>가 중심이고, 주문 항목은 거래 항목, 고객은 역할, 상품은 설명이다. 거래에 번호·일시·상태가 없거나 거래 항목에 확정 값이 없으면 먼저 의심한다.</a:t>
            </a:r>
          </a:p>
        </p:txBody>
      </p:sp>
      <p:pic>
        <p:nvPicPr>
          <p:cNvPr id="9" name="plantuml Diagram 5"/>
          <p:cNvPicPr>
            <a:picLocks noChangeAspect="1"/>
          </p:cNvPicPr>
          <p:nvPr/>
        </p:nvPicPr>
        <p:blipFill>
          <a:blip r:embed="plantumlImage5"/>
          <a:stretch>
            <a:fillRect/>
          </a:stretch>
        </p:blipFill>
        <p:spPr>
          <a:xfrm>
            <a:off x="2075962" y="3065769"/>
            <a:ext cx="4992077" cy="2842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(1/3)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(2/3)</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240238"/>
          <a:ext cx="5580380" cy="3873500"/>
        </p:xfrm>
        <a:graphic>
          <a:graphicData uri="http://schemas.openxmlformats.org/drawingml/2006/table">
            <a:tbl>
              <a:tblPr/>
              <a:tblGrid>
                <a:gridCol w="1757680"/>
                <a:gridCol w="2903220"/>
                <a:gridCol w="919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연관의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UML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뒤따르는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환불, 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 —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설명 — 실체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 재고 품목(「34. 명세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 —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 — 특수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의미에 따른 연관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연관은 </a:t>
            </a:r>
            <a:r>
              <a:rPr sz="1600" b="1">
                <a:solidFill>
                  <a:srgbClr val="000000"/>
                </a:solidFill>
                <a:latin typeface="맑은 고딕"/>
                <a:ea typeface="맑은 고딕"/>
              </a:rPr>
              <a:t>도메인 의미</a:t>
            </a:r>
            <a:r>
              <a:rPr sz="1600" b="0">
                <a:solidFill>
                  <a:srgbClr val="000000"/>
                </a:solidFill>
                <a:latin typeface="맑은 고딕"/>
                <a:ea typeface="맑은 고딕"/>
              </a:rPr>
              <a:t>로도 나눈다. 개념의 도메인 유형</a:t>
            </a:r>
            <a:r>
              <a:rPr sz="1200" b="0">
                <a:solidFill>
                  <a:srgbClr val="000000"/>
                </a:solidFill>
                <a:latin typeface="맑은 고딕"/>
                <a:ea typeface="맑은 고딕"/>
              </a:rPr>
              <a:t>(「10. 클래스 유형」)</a:t>
            </a:r>
            <a:r>
              <a:rPr sz="1600" b="0">
                <a:solidFill>
                  <a:srgbClr val="000000"/>
                </a:solidFill>
                <a:latin typeface="맑은 고딕"/>
                <a:ea typeface="맑은 고딕"/>
              </a:rPr>
              <a:t>을 알면 </a:t>
            </a:r>
            <a:r>
              <a:rPr sz="1600" b="1">
                <a:solidFill>
                  <a:srgbClr val="000000"/>
                </a:solidFill>
                <a:latin typeface="맑은 고딕"/>
                <a:ea typeface="맑은 고딕"/>
              </a:rPr>
              <a:t>있어야 할 연관</a:t>
            </a:r>
            <a:r>
              <a:rPr sz="1600" b="0">
                <a:solidFill>
                  <a:srgbClr val="000000"/>
                </a:solidFill>
                <a:latin typeface="맑은 고딕"/>
                <a:ea typeface="맑은 고딕"/>
              </a:rPr>
              <a:t>을 점검할 수 있다</a:t>
            </a:r>
            <a:r>
              <a:rPr sz="1200" b="0">
                <a:solidFill>
                  <a:srgbClr val="000000"/>
                </a:solidFill>
                <a:latin typeface="맑은 고딕"/>
                <a:ea typeface="맑은 고딕"/>
              </a:rPr>
              <a:t>(「28. 필요한 연관」)</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45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거래가 역할이나 뒤따르는 거래와 이어지지 않으면 </a:t>
            </a:r>
            <a:r>
              <a:rPr sz="1600" b="1">
                <a:solidFill>
                  <a:srgbClr val="000000"/>
                </a:solidFill>
                <a:latin typeface="맑은 고딕"/>
                <a:ea typeface="맑은 고딕"/>
              </a:rPr>
              <a:t>누가·무엇 다음에</a:t>
            </a:r>
            <a:r>
              <a:rPr sz="16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관계 유형 </a:t>
            </a:r>
            <a:r>
              <a:rPr sz="2000" b="1">
                <a:solidFill>
                  <a:srgbClr val="000000"/>
                </a:solidFill>
                <a:latin typeface="맑은 고딕"/>
                <a:ea typeface="맑은 고딕"/>
              </a:rPr>
              <a:t>(3/3)</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49543"/>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유형과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사례로 여섯 관계를 그리고 코드로 옮겼다. 합성은 </a:t>
            </a:r>
            <a:r>
              <a:rPr sz="1600" b="1">
                <a:solidFill>
                  <a:srgbClr val="000000"/>
                </a:solidFill>
                <a:latin typeface="맑은 고딕"/>
                <a:ea typeface="맑은 고딕"/>
              </a:rPr>
              <a:t>주문이 주문 항목을 만드는 것</a:t>
            </a:r>
            <a:r>
              <a:rPr sz="1600" b="0">
                <a:solidFill>
                  <a:srgbClr val="000000"/>
                </a:solidFill>
                <a:latin typeface="맑은 고딕"/>
                <a:ea typeface="맑은 고딕"/>
              </a:rPr>
              <a:t>으로, 의존은 </a:t>
            </a:r>
            <a:r>
              <a:rPr sz="1600" b="1">
                <a:solidFill>
                  <a:srgbClr val="000000"/>
                </a:solidFill>
                <a:latin typeface="맑은 고딕"/>
                <a:ea typeface="맑은 고딕"/>
              </a:rPr>
              <a:t>매개변수로 잠깐 쓰는 것</a:t>
            </a:r>
            <a:r>
              <a:rPr sz="16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49543"/>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6"/>
          <p:cNvPicPr>
            <a:picLocks noChangeAspect="1"/>
          </p:cNvPicPr>
          <p:nvPr/>
        </p:nvPicPr>
        <p:blipFill>
          <a:blip r:embed="plantumlImage6"/>
          <a:stretch>
            <a:fillRect/>
          </a:stretch>
        </p:blipFill>
        <p:spPr>
          <a:xfrm>
            <a:off x="1792654" y="224023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정보공학과 데이터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010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64916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모델 요소의 대응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184299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(1/3)</a:t>
            </a:r>
          </a:p>
          <a:p>
            <a:r>
              <a:rPr sz="1100" b="1">
                <a:solidFill>
                  <a:srgbClr val="000000"/>
                </a:solidFill>
                <a:latin typeface="맑은 고딕"/>
                <a:ea typeface="맑은 고딕"/>
              </a:rPr>
              <a:t>ERD·클래스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8752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까마귀발 표기: 정확히 하나, 없거나 하나, 0개 이상, 1개 이상, 식별자와 외래키"/>
          <p:cNvPicPr>
            <a:picLocks noChangeAspect="1"/>
          </p:cNvPicPr>
          <p:nvPr/>
        </p:nvPicPr>
        <p:blipFill>
          <a:blip r:embed="svgImage3"/>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(2/3)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plantuml Diagram 7"/>
          <p:cNvPicPr>
            <a:picLocks noChangeAspect="1"/>
          </p:cNvPicPr>
          <p:nvPr/>
        </p:nvPicPr>
        <p:blipFill>
          <a:blip r:embed="plantumlImage7"/>
          <a:stretch>
            <a:fillRect/>
          </a:stretch>
        </p:blipFill>
        <p:spPr>
          <a:xfrm>
            <a:off x="2715846" y="237747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같은 사례, 두 모델 </a:t>
            </a:r>
            <a:r>
              <a:rPr sz="2000" b="1">
                <a:solidFill>
                  <a:srgbClr val="000000"/>
                </a:solidFill>
                <a:latin typeface="맑은 고딕"/>
                <a:ea typeface="맑은 고딕"/>
              </a:rPr>
              <a:t>(3/3)</a:t>
            </a:r>
          </a:p>
          <a:p>
            <a:r>
              <a:rPr sz="1100" b="1">
                <a:solidFill>
                  <a:srgbClr val="000000"/>
                </a:solidFill>
                <a:latin typeface="맑은 고딕"/>
                <a:ea typeface="맑은 고딕"/>
              </a:rPr>
              <a:t>ERD·클래스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같은 것</a:t>
            </a:r>
            <a:r>
              <a:rPr sz="1600" b="0">
                <a:solidFill>
                  <a:srgbClr val="000000"/>
                </a:solidFill>
                <a:latin typeface="맑은 고딕"/>
                <a:ea typeface="맑은 고딕"/>
              </a:rPr>
              <a:t> —</a:t>
            </a:r>
            <a:r>
              <a:rPr sz="1400" b="0">
                <a:solidFill>
                  <a:srgbClr val="000000"/>
                </a:solidFill>
                <a:latin typeface="맑은 고딕"/>
                <a:ea typeface="맑은 고딕"/>
              </a:rPr>
              <a:t> 개념, 관계, 카디널리티</a:t>
            </a:r>
            <a:r>
              <a:rPr sz="1000" b="0">
                <a:solidFill>
                  <a:srgbClr val="000000"/>
                </a:solidFill>
                <a:latin typeface="맑은 고딕"/>
                <a:ea typeface="맑은 고딕"/>
              </a:rPr>
              <a:t>(다중성)</a:t>
            </a:r>
            <a:r>
              <a:rPr sz="1400" b="0">
                <a:solidFill>
                  <a:srgbClr val="000000"/>
                </a:solidFill>
                <a:latin typeface="맑은 고딕"/>
                <a:ea typeface="맑은 고딕"/>
              </a:rPr>
              <a:t>, 주문 시점의 단가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달라진 것</a:t>
            </a:r>
            <a:r>
              <a:rPr sz="1600" b="0">
                <a:solidFill>
                  <a:srgbClr val="000000"/>
                </a:solidFill>
                <a:latin typeface="맑은 고딕"/>
                <a:ea typeface="맑은 고딕"/>
              </a:rPr>
              <a:t> —</a:t>
            </a:r>
            <a:r>
              <a:rPr sz="1400" b="0">
                <a:solidFill>
                  <a:srgbClr val="000000"/>
                </a:solidFill>
                <a:latin typeface="맑은 고딕"/>
                <a:ea typeface="맑은 고딕"/>
              </a:rPr>
              <a:t> 식별 키·외래키 대신 연관, 이름 있는 관계, 값의 종류</a:t>
            </a:r>
            <a:r>
              <a:rPr sz="1000" b="0">
                <a:solidFill>
                  <a:srgbClr val="000000"/>
                </a:solidFill>
                <a:latin typeface="맑은 고딕"/>
                <a:ea typeface="맑은 고딕"/>
              </a:rPr>
              <a:t>(금액·주소·주문 상태)</a:t>
            </a:r>
          </a:p>
        </p:txBody>
      </p:sp>
      <p:pic>
        <p:nvPicPr>
          <p:cNvPr id="9" name="plantuml Diagram 8"/>
          <p:cNvPicPr>
            <a:picLocks noChangeAspect="1"/>
          </p:cNvPicPr>
          <p:nvPr/>
        </p:nvPicPr>
        <p:blipFill>
          <a:blip r:embed="plantumlImage8"/>
          <a:stretch>
            <a:fillRect/>
          </a:stretch>
        </p:blipFill>
        <p:spPr>
          <a:xfrm>
            <a:off x="884115" y="37840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도메인 개념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개념</a:t>
            </a:r>
            <a:r>
              <a:rPr sz="1400" b="0">
                <a:solidFill>
                  <a:srgbClr val="000000"/>
                </a:solidFill>
                <a:latin typeface="맑은 고딕"/>
                <a:ea typeface="맑은 고딕"/>
              </a:rPr>
              <a:t>(Domain Concept)</a:t>
            </a:r>
            <a:r>
              <a:rPr sz="1800" b="0">
                <a:solidFill>
                  <a:srgbClr val="000000"/>
                </a:solidFill>
                <a:latin typeface="맑은 고딕"/>
                <a:ea typeface="맑은 고딕"/>
              </a:rPr>
              <a:t>은 문제영역에서 </a:t>
            </a:r>
            <a:r>
              <a:rPr sz="1800" b="1">
                <a:solidFill>
                  <a:srgbClr val="000000"/>
                </a:solidFill>
                <a:latin typeface="맑은 고딕"/>
                <a:ea typeface="맑은 고딕"/>
              </a:rPr>
              <a:t>구분해 이야기하고, 그 정보나 관계가 요구에 의미를 가지는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담당자가 </a:t>
            </a:r>
            <a:r>
              <a:rPr sz="1800" b="1">
                <a:solidFill>
                  <a:srgbClr val="000000"/>
                </a:solidFill>
                <a:latin typeface="맑은 고딕"/>
                <a:ea typeface="맑은 고딕"/>
              </a:rPr>
              <a:t>이 이름으로</a:t>
            </a:r>
            <a:r>
              <a:rPr sz="1800" b="0">
                <a:solidFill>
                  <a:srgbClr val="000000"/>
                </a:solidFill>
                <a:latin typeface="맑은 고딕"/>
                <a:ea typeface="맑은 고딕"/>
              </a:rPr>
              <a:t> 부르는가?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다른 것과 </a:t>
            </a:r>
            <a:r>
              <a:rPr sz="1800" b="1">
                <a:solidFill>
                  <a:srgbClr val="000000"/>
                </a:solidFill>
                <a:latin typeface="맑은 고딕"/>
                <a:ea typeface="맑은 고딕"/>
              </a:rPr>
              <a:t>구분해 식별</a:t>
            </a:r>
            <a:r>
              <a:rPr sz="18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정보나 관계를 기억</a:t>
            </a:r>
            <a:r>
              <a:rPr sz="1800" b="0">
                <a:solidFill>
                  <a:srgbClr val="000000"/>
                </a:solidFill>
                <a:latin typeface="맑은 고딕"/>
                <a:ea typeface="맑은 고딕"/>
              </a:rPr>
              <a:t>해야 하는가? </a:t>
            </a:r>
            <a:r>
              <a:rPr sz="1800" b="1">
                <a:solidFill>
                  <a:srgbClr val="000000"/>
                </a:solidFill>
                <a:latin typeface="맑은 고딕"/>
                <a:ea typeface="맑은 고딕"/>
              </a:rPr>
              <a:t>업무 규칙</a:t>
            </a:r>
            <a:r>
              <a:rPr sz="1800" b="0">
                <a:solidFill>
                  <a:srgbClr val="000000"/>
                </a:solidFill>
                <a:latin typeface="맑은 고딕"/>
                <a:ea typeface="맑은 고딕"/>
              </a:rPr>
              <a:t>이 걸리는가?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개념 범주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1842998"/>
          <a:ext cx="5554980" cy="3873500"/>
        </p:xfrm>
        <a:graphic>
          <a:graphicData uri="http://schemas.openxmlformats.org/drawingml/2006/table">
            <a:tbl>
              <a:tblPr/>
              <a:tblGrid>
                <a:gridCol w="147828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 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정책, 환불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개념이 아니라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In the use cases."</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필요</a:t>
            </a:r>
            <a:r>
              <a:rPr sz="1800" b="0">
                <a:solidFill>
                  <a:srgbClr val="000000"/>
                </a:solidFill>
                <a:latin typeface="맑은 고딕"/>
                <a:ea typeface="맑은 고딕"/>
              </a:rPr>
              <a:t> —</a:t>
            </a:r>
            <a:r>
              <a:rPr sz="1600" b="0">
                <a:solidFill>
                  <a:srgbClr val="000000"/>
                </a:solidFill>
                <a:latin typeface="맑은 고딕"/>
                <a:ea typeface="맑은 고딕"/>
              </a:rPr>
              <a:t> 배송</a:t>
            </a:r>
            <a:r>
              <a:rPr sz="1200" b="0">
                <a:solidFill>
                  <a:srgbClr val="000000"/>
                </a:solidFill>
                <a:latin typeface="맑은 고딕"/>
                <a:ea typeface="맑은 고딕"/>
              </a:rPr>
              <a:t>(주문 시스템이 무엇을 기억해야 하는가?)</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유스케이스 어휘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497276"/>
          <a:ext cx="8305800" cy="3873500"/>
        </p:xfrm>
        <a:graphic>
          <a:graphicData uri="http://schemas.openxmlformats.org/drawingml/2006/table">
            <a:tbl>
              <a:tblPr/>
              <a:tblGrid>
                <a:gridCol w="889000"/>
                <a:gridCol w="2418233"/>
                <a:gridCol w="2109224"/>
                <a:gridCol w="2889343"/>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금액·주문 상태,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3a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배송지(기본 주소와 별개)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흐름·SSD·계약에서 모델로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"02. 요구 분석과 유스케이스"의 명세서 </a:t>
            </a:r>
            <a:r>
              <a:rPr sz="1600" b="1">
                <a:solidFill>
                  <a:srgbClr val="000000"/>
                </a:solidFill>
                <a:latin typeface="맑은 고딕"/>
                <a:ea typeface="맑은 고딕"/>
              </a:rPr>
              <a:t>흐름 단계마다</a:t>
            </a:r>
            <a:r>
              <a:rPr sz="1600" b="0">
                <a:solidFill>
                  <a:srgbClr val="000000"/>
                </a:solidFill>
                <a:latin typeface="맑은 고딕"/>
                <a:ea typeface="맑은 고딕"/>
              </a:rPr>
              <a:t> 시스템 이벤트와 그 결과가 </a:t>
            </a:r>
            <a:r>
              <a:rPr sz="1600" b="1">
                <a:solidFill>
                  <a:srgbClr val="000000"/>
                </a:solidFill>
                <a:latin typeface="맑은 고딕"/>
                <a:ea typeface="맑은 고딕"/>
              </a:rPr>
              <a:t>개념·속성·연관</a:t>
            </a:r>
            <a:r>
              <a:rPr sz="1600" b="0">
                <a:solidFill>
                  <a:srgbClr val="000000"/>
                </a:solidFill>
                <a:latin typeface="맑은 고딕"/>
                <a:ea typeface="맑은 고딕"/>
              </a:rPr>
              <a:t>으로 이어진다. 이 표가 「44. 도메인 모델 —</a:t>
            </a:r>
            <a:r>
              <a:rPr sz="1400" b="0">
                <a:solidFill>
                  <a:srgbClr val="000000"/>
                </a:solidFill>
                <a:latin typeface="맑은 고딕"/>
                <a:ea typeface="맑은 고딕"/>
              </a:rPr>
              <a:t>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명사 추출의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개념과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숫자나 텍스트로 다루지 않는 것이면 </a:t>
            </a:r>
            <a:r>
              <a:rPr sz="1800" b="1">
                <a:solidFill>
                  <a:srgbClr val="000000"/>
                </a:solidFill>
                <a:latin typeface="맑은 고딕"/>
                <a:ea typeface="맑은 고딕"/>
              </a:rPr>
              <a:t>개념</a:t>
            </a:r>
            <a:r>
              <a:rPr sz="1800" b="0">
                <a:solidFill>
                  <a:srgbClr val="000000"/>
                </a:solidFill>
                <a:latin typeface="맑은 고딕"/>
                <a:ea typeface="맑은 고딕"/>
              </a:rPr>
              <a:t>일 가능성이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"실세계에서 어떤 개념 X를 </a:t>
            </a:r>
            <a:r>
              <a:rPr sz="1800" b="1">
                <a:solidFill>
                  <a:srgbClr val="000000"/>
                </a:solidFill>
                <a:latin typeface="맑은 고딕"/>
                <a:ea typeface="맑은 고딕"/>
              </a:rPr>
              <a:t>숫자나 텍스트</a:t>
            </a:r>
            <a:r>
              <a:rPr sz="18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a:t>
            </a:r>
            <a:r>
              <a:rPr sz="1600" b="0">
                <a:solidFill>
                  <a:srgbClr val="000000"/>
                </a:solidFill>
                <a:latin typeface="맑은 고딕"/>
                <a:ea typeface="맑은 고딕"/>
              </a:rPr>
              <a:t>주문.배송지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속성 값의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값의 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음수가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시간대 기준인가?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속성은 이름만으로 끝나지 않는다. 타입은 DB 컬럼이 아니라 </a:t>
            </a:r>
            <a:r>
              <a:rPr sz="1800" b="1">
                <a:solidFill>
                  <a:srgbClr val="000000"/>
                </a:solidFill>
                <a:latin typeface="맑은 고딕"/>
                <a:ea typeface="맑은 고딕"/>
              </a:rPr>
              <a:t>업무 값의 종류</a:t>
            </a:r>
            <a:r>
              <a:rPr sz="1800" b="0">
                <a:solidFill>
                  <a:srgbClr val="000000"/>
                </a:solidFill>
                <a:latin typeface="맑은 고딕"/>
                <a:ea typeface="맑은 고딕"/>
              </a:rPr>
              <a:t>로 적고, </a:t>
            </a:r>
            <a:r>
              <a:rPr sz="1800" b="1">
                <a:solidFill>
                  <a:srgbClr val="000000"/>
                </a:solidFill>
                <a:latin typeface="맑은 고딕"/>
                <a:ea typeface="맑은 고딕"/>
              </a:rPr>
              <a:t>허용 범위</a:t>
            </a:r>
            <a:r>
              <a:rPr sz="1800" b="0">
                <a:solidFill>
                  <a:srgbClr val="000000"/>
                </a:solidFill>
                <a:latin typeface="맑은 고딕"/>
                <a:ea typeface="맑은 고딕"/>
              </a:rPr>
              <a:t>를 묻는다.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속성 도메인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010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DB 타입</a:t>
            </a:r>
            <a:r>
              <a:rPr sz="1400" b="0">
                <a:solidFill>
                  <a:srgbClr val="000000"/>
                </a:solidFill>
                <a:latin typeface="맑은 고딕"/>
                <a:ea typeface="맑은 고딕"/>
              </a:rPr>
              <a:t>(숫자·문자열)</a:t>
            </a:r>
            <a:r>
              <a:rPr sz="1800" b="0">
                <a:solidFill>
                  <a:srgbClr val="000000"/>
                </a:solidFill>
                <a:latin typeface="맑은 고딕"/>
                <a:ea typeface="맑은 고딕"/>
              </a:rPr>
              <a:t>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Peter Pin-Shan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속성 수준 업무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3829198"/>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금액</a:t>
            </a:r>
            <a:r>
              <a:rPr sz="1800" b="0">
                <a:solidFill>
                  <a:srgbClr val="000000"/>
                </a:solidFill>
                <a:latin typeface="맑은 고딕"/>
                <a:ea typeface="맑은 고딕"/>
              </a:rPr>
              <a:t> —</a:t>
            </a:r>
            <a:r>
              <a:rPr sz="1600" b="0">
                <a:solidFill>
                  <a:srgbClr val="000000"/>
                </a:solidFill>
                <a:latin typeface="맑은 고딕"/>
                <a:ea typeface="맑은 고딕"/>
              </a:rPr>
              <a:t> 같은 통화끼리만 더하고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a:t>
            </a:r>
            <a:r>
              <a:rPr sz="1800" b="0">
                <a:solidFill>
                  <a:srgbClr val="000000"/>
                </a:solidFill>
                <a:latin typeface="맑은 고딕"/>
                <a:ea typeface="맑은 고딕"/>
              </a:rPr>
              <a:t> —</a:t>
            </a:r>
            <a:r>
              <a:rPr sz="1600" b="0">
                <a:solidFill>
                  <a:srgbClr val="000000"/>
                </a:solidFill>
                <a:latin typeface="맑은 고딕"/>
                <a:ea typeface="맑은 고딕"/>
              </a:rPr>
              <a:t> 1 이상이어야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주소</a:t>
            </a:r>
            <a:r>
              <a:rPr sz="1800" b="0">
                <a:solidFill>
                  <a:srgbClr val="000000"/>
                </a:solidFill>
                <a:latin typeface="맑은 고딕"/>
                <a:ea typeface="맑은 고딕"/>
              </a:rPr>
              <a:t> —</a:t>
            </a:r>
            <a:r>
              <a:rPr sz="1600" b="0">
                <a:solidFill>
                  <a:srgbClr val="000000"/>
                </a:solidFill>
                <a:latin typeface="맑은 고딕"/>
                <a:ea typeface="맑은 고딕"/>
              </a:rPr>
              <a:t> 우편번호와 기본 주소가 있어야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번호</a:t>
            </a:r>
            <a:r>
              <a:rPr sz="1800" b="0">
                <a:solidFill>
                  <a:srgbClr val="000000"/>
                </a:solidFill>
                <a:latin typeface="맑은 고딕"/>
                <a:ea typeface="맑은 고딕"/>
              </a:rPr>
              <a:t> —</a:t>
            </a:r>
            <a:r>
              <a:rPr sz="1600" b="0">
                <a:solidFill>
                  <a:srgbClr val="000000"/>
                </a:solidFill>
                <a:latin typeface="맑은 고딕"/>
                <a:ea typeface="맑은 고딕"/>
              </a:rPr>
              <a:t> 정해진 형식이며 다시 쓰이지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 —</a:t>
            </a:r>
            <a:r>
              <a:rPr sz="1600" b="0">
                <a:solidFill>
                  <a:srgbClr val="000000"/>
                </a:solidFill>
                <a:latin typeface="맑은 고딕"/>
                <a:ea typeface="맑은 고딕"/>
              </a:rPr>
              <a:t> 정해진 값만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규칙의 소유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 곳곳의 검사 코드에 흩어 두면 규칙이 서로 달라진다. 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Eric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규칙을 도메인 정의로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규칙을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로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DDD</a:t>
            </a:r>
            <a:r>
              <a:rPr sz="1800" b="0">
                <a:solidFill>
                  <a:srgbClr val="000000"/>
                </a:solidFill>
                <a:latin typeface="맑은 고딕"/>
                <a:ea typeface="맑은 고딕"/>
              </a:rPr>
              <a:t> —</a:t>
            </a:r>
            <a:r>
              <a:rPr sz="1600" b="0">
                <a:solidFill>
                  <a:srgbClr val="000000"/>
                </a:solidFill>
                <a:latin typeface="맑은 고딕"/>
                <a:ea typeface="맑은 고딕"/>
              </a:rPr>
              <a:t>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파생 속성</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표시하는 이유는 </a:t>
            </a:r>
            <a:r>
              <a:rPr sz="1800" b="1">
                <a:solidFill>
                  <a:srgbClr val="000000"/>
                </a:solidFill>
                <a:latin typeface="맑은 고딕"/>
                <a:ea typeface="맑은 고딕"/>
              </a:rPr>
              <a:t>계산 규칙이 업무 의미</a:t>
            </a:r>
            <a:r>
              <a:rPr sz="1800" b="0">
                <a:solidFill>
                  <a:srgbClr val="000000"/>
                </a:solidFill>
                <a:latin typeface="맑은 고딕"/>
                <a:ea typeface="맑은 고딕"/>
              </a:rPr>
              <a:t>를 가지기 때문이다.</a:t>
            </a:r>
          </a:p>
        </p:txBody>
      </p:sp>
      <p:pic>
        <p:nvPicPr>
          <p:cNvPr id="9" name="plantuml Diagram 9"/>
          <p:cNvPicPr>
            <a:picLocks noChangeAspect="1"/>
          </p:cNvPicPr>
          <p:nvPr/>
        </p:nvPicPr>
        <p:blipFill>
          <a:blip r:embed="plantumlImage9"/>
          <a:stretch>
            <a:fillRect/>
          </a:stretch>
        </p:blipFill>
        <p:spPr>
          <a:xfrm>
            <a:off x="3062654" y="3829534"/>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참조와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넣지 않는다.</a:t>
            </a:r>
          </a:p>
        </p:txBody>
      </p:sp>
      <p:pic>
        <p:nvPicPr>
          <p:cNvPr id="9" name="plantuml Diagram 10"/>
          <p:cNvPicPr>
            <a:picLocks noChangeAspect="1"/>
          </p:cNvPicPr>
          <p:nvPr/>
        </p:nvPicPr>
        <p:blipFill>
          <a:blip r:embed="plantumlImage10"/>
          <a:stretch>
            <a:fillRect/>
          </a:stretch>
        </p:blipFill>
        <p:spPr>
          <a:xfrm>
            <a:off x="3258038" y="3521960"/>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동사구와 읽는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이름과 다를 때</a:t>
            </a:r>
          </a:p>
        </p:txBody>
      </p:sp>
      <p:pic>
        <p:nvPicPr>
          <p:cNvPr id="9" name="plantuml Diagram 11"/>
          <p:cNvPicPr>
            <a:picLocks noChangeAspect="1"/>
          </p:cNvPicPr>
          <p:nvPr/>
        </p:nvPicPr>
        <p:blipFill>
          <a:blip r:embed="plantumlImage11"/>
          <a:stretch>
            <a:fillRect/>
          </a:stretch>
        </p:blipFill>
        <p:spPr>
          <a:xfrm>
            <a:off x="2173654" y="3978515"/>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필요한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a:t>
            </a:r>
            <a:r>
              <a:rPr sz="1800" b="1">
                <a:solidFill>
                  <a:srgbClr val="000000"/>
                </a:solidFill>
                <a:latin typeface="맑은 고딕"/>
                <a:ea typeface="맑은 고딕"/>
              </a:rPr>
              <a:t>요구를 충족하려면 기억해야 하는 관계</a:t>
            </a:r>
            <a:r>
              <a:rPr sz="1800" b="0">
                <a:solidFill>
                  <a:srgbClr val="000000"/>
                </a:solidFill>
                <a:latin typeface="맑은 고딕"/>
                <a:ea typeface="맑은 고딕"/>
              </a:rPr>
              <a:t>를 우선한다.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알아야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도메인 이해를 돕는다. 예: 상품–상품 카탈로그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다중성</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18429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예의 다중성은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r>
              <a:rPr sz="1400" b="0">
                <a:solidFill>
                  <a:srgbClr val="000000"/>
                </a:solidFill>
                <a:latin typeface="맑은 고딕"/>
                <a:ea typeface="맑은 고딕"/>
              </a:rPr>
              <a:t>(「30. 다중성과 업무 규칙」)</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다중성과 업무 규칙</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1842998"/>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a:t>
            </a:r>
            <a:r>
              <a:rPr sz="1800" b="0">
                <a:solidFill>
                  <a:srgbClr val="000000"/>
                </a:solidFill>
                <a:latin typeface="맑은 고딕"/>
                <a:ea typeface="맑은 고딕"/>
              </a:rPr>
              <a:t>0..1</a:t>
            </a:r>
            <a:r>
              <a:rPr sz="1800" b="0">
                <a:solidFill>
                  <a:srgbClr val="000000"/>
                </a:solidFill>
                <a:latin typeface="맑은 고딕"/>
                <a:ea typeface="맑은 고딕"/>
              </a:rPr>
              <a:t>을 </a:t>
            </a:r>
            <a:r>
              <a:rPr sz="1800" b="1">
                <a:solidFill>
                  <a:srgbClr val="000000"/>
                </a:solidFill>
                <a:latin typeface="맑은 고딕"/>
                <a:ea typeface="맑은 고딕"/>
              </a:rPr>
              <a:t>교육용 가정</a:t>
            </a:r>
            <a:r>
              <a:rPr sz="1800" b="0">
                <a:solidFill>
                  <a:srgbClr val="000000"/>
                </a:solidFill>
                <a:latin typeface="맑은 고딕"/>
                <a:ea typeface="맑은 고딕"/>
              </a:rPr>
              <a:t>으로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평면 모델</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모든 정보를 하나의 개념에 </a:t>
            </a:r>
            <a:r>
              <a:rPr sz="1800" b="1">
                <a:solidFill>
                  <a:srgbClr val="000000"/>
                </a:solidFill>
                <a:latin typeface="맑은 고딕"/>
                <a:ea typeface="맑은 고딕"/>
              </a:rPr>
              <a:t>평평하게</a:t>
            </a:r>
            <a:r>
              <a:rPr sz="1800" b="0">
                <a:solidFill>
                  <a:srgbClr val="000000"/>
                </a:solidFill>
                <a:latin typeface="맑은 고딕"/>
                <a:ea typeface="맑은 고딕"/>
              </a:rPr>
              <a:t> 담으면 반복되는 정보와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상품명1</a:t>
            </a:r>
            <a:r>
              <a:rPr sz="1800" b="0">
                <a:solidFill>
                  <a:srgbClr val="000000"/>
                </a:solidFill>
                <a:latin typeface="맑은 고딕"/>
                <a:ea typeface="맑은 고딕"/>
              </a:rPr>
              <a:t>·</a:t>
            </a:r>
            <a:r>
              <a:rPr sz="1800" b="0">
                <a:solidFill>
                  <a:srgbClr val="000000"/>
                </a:solidFill>
                <a:latin typeface="맑은 고딕"/>
                <a:ea typeface="맑은 고딕"/>
              </a:rPr>
              <a:t>단가1</a:t>
            </a:r>
            <a:r>
              <a:rPr sz="1800" b="0">
                <a:solidFill>
                  <a:srgbClr val="000000"/>
                </a:solidFill>
                <a:latin typeface="맑은 고딕"/>
                <a:ea typeface="맑은 고딕"/>
              </a:rPr>
              <a:t>의 묶음을 </a:t>
            </a:r>
            <a:r>
              <a:rPr sz="1800" b="1">
                <a:solidFill>
                  <a:srgbClr val="000000"/>
                </a:solidFill>
                <a:latin typeface="맑은 고딕"/>
                <a:ea typeface="맑은 고딕"/>
              </a:rPr>
              <a:t>이름의 숫자</a:t>
            </a:r>
            <a:r>
              <a:rPr sz="1800" b="0">
                <a:solidFill>
                  <a:srgbClr val="000000"/>
                </a:solidFill>
                <a:latin typeface="맑은 고딕"/>
                <a:ea typeface="맑은 고딕"/>
              </a:rPr>
              <a:t>로만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pic>
        <p:nvPicPr>
          <p:cNvPr id="9" name="plantuml Diagram 12"/>
          <p:cNvPicPr>
            <a:picLocks noChangeAspect="1"/>
          </p:cNvPicPr>
          <p:nvPr/>
        </p:nvPicPr>
        <p:blipFill>
          <a:blip r:embed="plantumlImage12"/>
          <a:stretch>
            <a:fillRect/>
          </a:stretch>
        </p:blipFill>
        <p:spPr>
          <a:xfrm>
            <a:off x="4090865" y="395980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주문과 주문 항목</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pic>
        <p:nvPicPr>
          <p:cNvPr id="9" name="plantuml Diagram 13"/>
          <p:cNvPicPr>
            <a:picLocks noChangeAspect="1"/>
          </p:cNvPicPr>
          <p:nvPr/>
        </p:nvPicPr>
        <p:blipFill>
          <a:blip r:embed="plantumlImage13"/>
          <a:stretch>
            <a:fillRect/>
          </a:stretch>
        </p:blipFill>
        <p:spPr>
          <a:xfrm>
            <a:off x="2510692" y="377882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pic>
        <p:nvPicPr>
          <p:cNvPr id="9" name="plantuml Diagram 14"/>
          <p:cNvPicPr>
            <a:picLocks noChangeAspect="1"/>
          </p:cNvPicPr>
          <p:nvPr/>
        </p:nvPicPr>
        <p:blipFill>
          <a:blip r:embed="plantumlImage14"/>
          <a:stretch>
            <a:fillRect/>
          </a:stretch>
        </p:blipFill>
        <p:spPr>
          <a:xfrm>
            <a:off x="3551115" y="383484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연관 클래스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"다대다는 중간 클래스로 푼다"를 암기하지 않는다. </a:t>
            </a:r>
            <a:r>
              <a:rPr sz="1800" b="1">
                <a:solidFill>
                  <a:srgbClr val="000000"/>
                </a:solidFill>
                <a:latin typeface="맑은 고딕"/>
                <a:ea typeface="맑은 고딕"/>
              </a:rPr>
              <a:t>관계에 정보가 있는지</a:t>
            </a:r>
            <a:r>
              <a:rPr sz="1800" b="0">
                <a:solidFill>
                  <a:srgbClr val="000000"/>
                </a:solidFill>
                <a:latin typeface="맑은 고딕"/>
                <a:ea typeface="맑은 고딕"/>
              </a:rPr>
              <a:t> 먼저 본다.</a:t>
            </a:r>
          </a:p>
        </p:txBody>
      </p:sp>
      <p:pic>
        <p:nvPicPr>
          <p:cNvPr id="9" name="plantuml Diagram 15"/>
          <p:cNvPicPr>
            <a:picLocks noChangeAspect="1"/>
          </p:cNvPicPr>
          <p:nvPr/>
        </p:nvPicPr>
        <p:blipFill>
          <a:blip r:embed="plantumlImage15"/>
          <a:stretch>
            <a:fillRect/>
          </a:stretch>
        </p:blipFill>
        <p:spPr>
          <a:xfrm>
            <a:off x="3135923" y="3381795"/>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명세 개념</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명세 개념</a:t>
            </a:r>
            <a:r>
              <a:rPr sz="1400" b="0">
                <a:solidFill>
                  <a:srgbClr val="000000"/>
                </a:solidFill>
                <a:latin typeface="맑은 고딕"/>
                <a:ea typeface="맑은 고딕"/>
              </a:rPr>
              <a:t>(Specification Concept)</a:t>
            </a:r>
            <a:r>
              <a:rPr sz="1800" b="0">
                <a:solidFill>
                  <a:srgbClr val="000000"/>
                </a:solidFill>
                <a:latin typeface="맑은 고딕"/>
                <a:ea typeface="맑은 고딕"/>
              </a:rPr>
              <a:t>은 </a:t>
            </a:r>
            <a:r>
              <a:rPr sz="1800" b="1">
                <a:solidFill>
                  <a:srgbClr val="000000"/>
                </a:solidFill>
                <a:latin typeface="맑은 고딕"/>
                <a:ea typeface="맑은 고딕"/>
              </a:rPr>
              <a:t>설명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필요할 때</a:t>
            </a:r>
            <a:r>
              <a:rPr sz="1800" b="0">
                <a:solidFill>
                  <a:srgbClr val="000000"/>
                </a:solidFill>
                <a:latin typeface="맑은 고딕"/>
                <a:ea typeface="맑은 고딕"/>
              </a:rPr>
              <a:t> —</a:t>
            </a:r>
            <a:r>
              <a:rPr sz="1600" b="0">
                <a:solidFill>
                  <a:srgbClr val="000000"/>
                </a:solidFill>
                <a:latin typeface="맑은 고딕"/>
                <a:ea typeface="맑은 고딕"/>
              </a:rPr>
              <a:t> 재고가 0이어도 상품 정보를 보여주거나, 일련번호별로 추적해야 할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 추적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a:t>
            </a:r>
          </a:p>
        </p:txBody>
      </p:sp>
      <p:pic>
        <p:nvPicPr>
          <p:cNvPr id="9" name="plantuml Diagram 16"/>
          <p:cNvPicPr>
            <a:picLocks noChangeAspect="1"/>
          </p:cNvPicPr>
          <p:nvPr/>
        </p:nvPicPr>
        <p:blipFill>
          <a:blip r:embed="plantumlImage16"/>
          <a:stretch>
            <a:fillRect/>
          </a:stretch>
        </p:blipFill>
        <p:spPr>
          <a:xfrm>
            <a:off x="3316654" y="3922498"/>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현재 값과 확정 값</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2497276"/>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같은 구조, 다른 의미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184299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일반화</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이고 일반 개념의 정의가 </a:t>
            </a:r>
            <a:r>
              <a:rPr sz="1800" b="1">
                <a:solidFill>
                  <a:srgbClr val="000000"/>
                </a:solidFill>
                <a:latin typeface="맑은 고딕"/>
                <a:ea typeface="맑은 고딕"/>
              </a:rPr>
              <a:t>모두 적용될 때</a:t>
            </a:r>
            <a:r>
              <a:rPr sz="1800" b="0">
                <a:solidFill>
                  <a:srgbClr val="000000"/>
                </a:solidFill>
                <a:latin typeface="맑은 고딕"/>
                <a:ea typeface="맑은 고딕"/>
              </a:rPr>
              <a:t> 쓴다. 도식의 결제 수단별 속성은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쓸 때</a:t>
            </a:r>
            <a:r>
              <a:rPr sz="1800" b="0">
                <a:solidFill>
                  <a:srgbClr val="000000"/>
                </a:solidFill>
                <a:latin typeface="맑은 고딕"/>
                <a:ea typeface="맑은 고딕"/>
              </a:rPr>
              <a:t> —</a:t>
            </a:r>
            <a:r>
              <a:rPr sz="1600" b="0">
                <a:solidFill>
                  <a:srgbClr val="000000"/>
                </a:solidFill>
                <a:latin typeface="맑은 고딕"/>
                <a:ea typeface="맑은 고딕"/>
              </a:rPr>
              <a:t> "카드 결제는 결제의 한 종류"가 성립하고 고유한 속성·규칙이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pic>
        <p:nvPicPr>
          <p:cNvPr id="9" name="plantuml Diagram 17"/>
          <p:cNvPicPr>
            <a:picLocks noChangeAspect="1"/>
          </p:cNvPicPr>
          <p:nvPr/>
        </p:nvPicPr>
        <p:blipFill>
          <a:blip r:embed="plantumlImage17"/>
          <a:stretch>
            <a:fillRect/>
          </a:stretch>
        </p:blipFill>
        <p:spPr>
          <a:xfrm>
            <a:off x="3492500" y="4138333"/>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전체와 부분</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전체–부분 관계는 </a:t>
            </a:r>
            <a:r>
              <a:rPr sz="1800" b="1">
                <a:solidFill>
                  <a:srgbClr val="000000"/>
                </a:solidFill>
                <a:latin typeface="맑은 고딕"/>
                <a:ea typeface="맑은 고딕"/>
              </a:rPr>
              <a:t>표기보다 의미가 먼저</a:t>
            </a:r>
            <a:r>
              <a:rPr sz="1800" b="0">
                <a:solidFill>
                  <a:srgbClr val="000000"/>
                </a:solidFill>
                <a:latin typeface="맑은 고딕"/>
                <a:ea typeface="맑은 고딕"/>
              </a:rPr>
              <a:t>다. 부분이 전체와 </a:t>
            </a:r>
            <a:r>
              <a:rPr sz="1800" b="1">
                <a:solidFill>
                  <a:srgbClr val="000000"/>
                </a:solidFill>
                <a:latin typeface="맑은 고딕"/>
                <a:ea typeface="맑은 고딕"/>
              </a:rPr>
              <a:t>소속과 생애</a:t>
            </a:r>
            <a:r>
              <a:rPr sz="1800" b="0">
                <a:solidFill>
                  <a:srgbClr val="000000"/>
                </a:solidFill>
                <a:latin typeface="맑은 고딕"/>
                <a:ea typeface="맑은 고딕"/>
              </a:rPr>
              <a:t>를 공유하는지 먼저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"집합</a:t>
            </a:r>
            <a:r>
              <a:rPr sz="1400" b="0">
                <a:solidFill>
                  <a:srgbClr val="000000"/>
                </a:solidFill>
                <a:latin typeface="맑은 고딕"/>
                <a:ea typeface="맑은 고딕"/>
              </a:rPr>
              <a:t>(속 빈 마름모)</a:t>
            </a:r>
            <a:r>
              <a:rPr sz="1800" b="0">
                <a:solidFill>
                  <a:srgbClr val="000000"/>
                </a:solidFill>
                <a:latin typeface="맑은 고딕"/>
                <a:ea typeface="맑은 고딕"/>
              </a:rPr>
              <a:t>은 일반 연관 이상의 의미가 없다. Jim Rumbaugh의 말대로 </a:t>
            </a:r>
            <a:r>
              <a:rPr sz="1800" b="1">
                <a:solidFill>
                  <a:srgbClr val="000000"/>
                </a:solidFill>
                <a:latin typeface="맑은 고딕"/>
                <a:ea typeface="맑은 고딕"/>
              </a:rPr>
              <a:t>모델링 위약</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"aggregation (white diamond) has no semantics beyond that of a regular association. It is, as Jim Rumbaugh puts it, a modeling placebo."</a:t>
            </a:r>
            <a:r>
              <a:rPr sz="1000" b="0">
                <a:solidFill>
                  <a:srgbClr val="000000"/>
                </a:solidFill>
                <a:latin typeface="맑은 고딕"/>
                <a:ea typeface="맑은 고딕"/>
              </a:rPr>
              <a:t>, </a:t>
            </a:r>
            <a:r>
              <a:rPr sz="1000" b="0">
                <a:solidFill>
                  <a:srgbClr val="000000"/>
                </a:solidFill>
                <a:latin typeface="맑은 고딕"/>
                <a:ea typeface="맑은 고딕"/>
              </a:rPr>
              <a:t>Martin Fowler,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답이 분명하면 합성, 불분명하면 </a:t>
            </a:r>
            <a:r>
              <a:rPr sz="1800" b="1">
                <a:solidFill>
                  <a:srgbClr val="000000"/>
                </a:solidFill>
                <a:latin typeface="맑은 고딕"/>
                <a:ea typeface="맑은 고딕"/>
              </a:rPr>
              <a:t>일반 연관</a:t>
            </a:r>
            <a:r>
              <a:rPr sz="1800" b="0">
                <a:solidFill>
                  <a:srgbClr val="000000"/>
                </a:solidFill>
                <a:latin typeface="맑은 고딕"/>
                <a:ea typeface="맑은 고딕"/>
              </a:rPr>
              <a:t>으로 두고 질문을 남긴다.</a:t>
            </a:r>
          </a:p>
        </p:txBody>
      </p:sp>
      <p:pic>
        <p:nvPicPr>
          <p:cNvPr id="9" name="plantuml Diagram 18"/>
          <p:cNvPicPr>
            <a:picLocks noChangeAspect="1"/>
          </p:cNvPicPr>
          <p:nvPr/>
        </p:nvPicPr>
        <p:blipFill>
          <a:blip r:embed="plantumlImage18"/>
          <a:stretch>
            <a:fillRect/>
          </a:stretch>
        </p:blipFill>
        <p:spPr>
          <a:xfrm>
            <a:off x="3551115" y="4654617"/>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제약</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0">
                <a:solidFill>
                  <a:srgbClr val="000000"/>
                </a:solidFill>
                <a:latin typeface="맑은 고딕"/>
                <a:ea typeface="맑은 고딕"/>
              </a:rPr>
              <a:t>{수량은 1 이상}</a:t>
            </a:r>
            <a:r>
              <a:rPr sz="1800" b="0">
                <a:solidFill>
                  <a:srgbClr val="000000"/>
                </a:solidFill>
                <a:latin typeface="맑은 고딕"/>
                <a:ea typeface="맑은 고딕"/>
              </a:rPr>
              <a:t>처럼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 시점·사건에 따라 허용이 달라지는 규칙은 </a:t>
            </a:r>
            <a:r>
              <a:rPr sz="1800" b="1">
                <a:solidFill>
                  <a:srgbClr val="000000"/>
                </a:solidFill>
                <a:latin typeface="맑은 고딕"/>
                <a:ea typeface="맑은 고딕"/>
              </a:rPr>
              <a:t>상태 전이 규칙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항목의 </a:t>
            </a:r>
            <a:r>
              <a:rPr sz="1600" b="1">
                <a:solidFill>
                  <a:srgbClr val="000000"/>
                </a:solidFill>
                <a:latin typeface="맑은 고딕"/>
                <a:ea typeface="맑은 고딕"/>
              </a:rPr>
              <a:t>수량은 1 이상</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총액</a:t>
            </a:r>
            <a:r>
              <a:rPr sz="1600" b="0">
                <a:solidFill>
                  <a:srgbClr val="000000"/>
                </a:solidFill>
                <a:latin typeface="맑은 고딕"/>
                <a:ea typeface="맑은 고딕"/>
              </a:rPr>
              <a:t>은 주문 항목의 수량 × 단가 합계다.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환불 금액</a:t>
            </a:r>
            <a:r>
              <a:rPr sz="1600" b="0">
                <a:solidFill>
                  <a:srgbClr val="000000"/>
                </a:solidFill>
                <a:latin typeface="맑은 고딕"/>
                <a:ea typeface="맑은 고딕"/>
              </a:rPr>
              <a:t>은 결제 금액을 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전</a:t>
            </a:r>
            <a:r>
              <a:rPr sz="1600" b="0">
                <a:solidFill>
                  <a:srgbClr val="000000"/>
                </a:solidFill>
                <a:latin typeface="맑은 고딕"/>
                <a:ea typeface="맑은 고딕"/>
              </a:rPr>
              <a:t>에만 배송지를 변경할 수 있다.</a:t>
            </a:r>
          </a:p>
        </p:txBody>
      </p:sp>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무관한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Exclude irrelevant features.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동의어와 동음이의어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용어집 정제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6" y="2100036"/>
          <a:ext cx="8036560" cy="3873500"/>
        </p:xfrm>
        <a:graphic>
          <a:graphicData uri="http://schemas.openxmlformats.org/drawingml/2006/table">
            <a:tbl>
              <a:tblPr/>
              <a:tblGrid>
                <a:gridCol w="947420"/>
                <a:gridCol w="326644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모델을 그리며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도메인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개념적 도메인 모델은 </a:t>
            </a:r>
            <a:r>
              <a:rPr sz="1800" b="1">
                <a:solidFill>
                  <a:srgbClr val="000000"/>
                </a:solidFill>
                <a:latin typeface="맑은 고딕"/>
                <a:ea typeface="맑은 고딕"/>
              </a:rPr>
              <a:t>후보 → 구분 → 관계 → 정렬 → 검토</a:t>
            </a:r>
            <a:r>
              <a:rPr sz="1800" b="0">
                <a:solidFill>
                  <a:srgbClr val="000000"/>
                </a:solidFill>
                <a:latin typeface="맑은 고딕"/>
                <a:ea typeface="맑은 고딕"/>
              </a:rPr>
              <a:t>를 반복하며 만든다.</a:t>
            </a:r>
          </a:p>
          <a:p>
            <a:pPr lvl="2" marL="607060" indent="-251460">
              <a:spcBef>
                <a:spcPts val="600"/>
              </a:spcBef>
              <a:spcAft>
                <a:spcPts val="600"/>
              </a:spcAft>
              <a:buNone/>
            </a:pPr>
            <a:r>
              <a:rPr sz="1800" b="0">
                <a:solidFill>
                  <a:srgbClr val="000000"/>
                </a:solidFill>
                <a:latin typeface="맑은 고딕"/>
                <a:ea typeface="맑은 고딕"/>
              </a:rPr>
              <a:t>1. 현재 반복의 </a:t>
            </a:r>
            <a:r>
              <a:rPr sz="1800" b="1">
                <a:solidFill>
                  <a:srgbClr val="000000"/>
                </a:solidFill>
                <a:latin typeface="맑은 고딕"/>
                <a:ea typeface="맑은 고딕"/>
              </a:rPr>
              <a:t>유스케이스와 사후조건</a:t>
            </a:r>
            <a:r>
              <a:rPr sz="1800" b="0">
                <a:solidFill>
                  <a:srgbClr val="000000"/>
                </a:solidFill>
                <a:latin typeface="맑은 고딕"/>
                <a:ea typeface="맑은 고딕"/>
              </a:rPr>
              <a:t>을 정한다.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개념 범주와 어휘</a:t>
            </a:r>
            <a:r>
              <a:rPr sz="1800" b="0">
                <a:solidFill>
                  <a:srgbClr val="000000"/>
                </a:solidFill>
                <a:latin typeface="맑은 고딕"/>
                <a:ea typeface="맑은 고딕"/>
              </a:rPr>
              <a:t>로 후보를 모은다.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개념·속성·해결책 요소·제외 대상</a:t>
            </a:r>
            <a:r>
              <a:rPr sz="1800" b="0">
                <a:solidFill>
                  <a:srgbClr val="000000"/>
                </a:solidFill>
                <a:latin typeface="맑은 고딕"/>
                <a:ea typeface="맑은 고딕"/>
              </a:rPr>
              <a:t>으로 구분한다.</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연관·다중성</a:t>
            </a:r>
            <a:r>
              <a:rPr sz="1800" b="0">
                <a:solidFill>
                  <a:srgbClr val="000000"/>
                </a:solidFill>
                <a:latin typeface="맑은 고딕"/>
                <a:ea typeface="맑은 고딕"/>
              </a:rPr>
              <a:t>, </a:t>
            </a:r>
            <a:r>
              <a:rPr sz="1800" b="1">
                <a:solidFill>
                  <a:srgbClr val="000000"/>
                </a:solidFill>
                <a:latin typeface="맑은 고딕"/>
                <a:ea typeface="맑은 고딕"/>
              </a:rPr>
              <a:t>속성·제약</a:t>
            </a:r>
            <a:r>
              <a:rPr sz="1800" b="0">
                <a:solidFill>
                  <a:srgbClr val="000000"/>
                </a:solidFill>
                <a:latin typeface="맑은 고딕"/>
                <a:ea typeface="맑은 고딕"/>
              </a:rPr>
              <a:t>을 추가한다.</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용어집</a:t>
            </a:r>
            <a:r>
              <a:rPr sz="1800" b="0">
                <a:solidFill>
                  <a:srgbClr val="000000"/>
                </a:solidFill>
                <a:latin typeface="맑은 고딕"/>
                <a:ea typeface="맑은 고딕"/>
              </a:rPr>
              <a:t>과 맞추고 </a:t>
            </a:r>
            <a:r>
              <a:rPr sz="1800" b="1">
                <a:solidFill>
                  <a:srgbClr val="000000"/>
                </a:solidFill>
                <a:latin typeface="맑은 고딕"/>
                <a:ea typeface="맑은 고딕"/>
              </a:rPr>
              <a:t>시나리오</a:t>
            </a:r>
            <a:r>
              <a:rPr sz="1800" b="0">
                <a:solidFill>
                  <a:srgbClr val="000000"/>
                </a:solidFill>
                <a:latin typeface="맑은 고딕"/>
                <a:ea typeface="맑은 고딕"/>
              </a:rPr>
              <a:t>와 교차검토한다.</a:t>
            </a:r>
          </a:p>
        </p:txBody>
      </p:sp>
      <p:pic>
        <p:nvPicPr>
          <p:cNvPr id="9" name="mermaid Diagram 2"/>
          <p:cNvPicPr>
            <a:picLocks noChangeAspect="1"/>
          </p:cNvPicPr>
          <p:nvPr/>
        </p:nvPicPr>
        <p:blipFill>
          <a:blip r:embed="mermaidImage2"/>
          <a:stretch>
            <a:fillRect/>
          </a:stretch>
        </p:blipFill>
        <p:spPr>
          <a:xfrm>
            <a:off x="1460500" y="4167741"/>
            <a:ext cx="6223000" cy="984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(1/2)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구분한 개념 사이에서 </a:t>
            </a:r>
            <a:r>
              <a:rPr sz="1800" b="1">
                <a:solidFill>
                  <a:srgbClr val="000000"/>
                </a:solidFill>
                <a:latin typeface="맑은 고딕"/>
                <a:ea typeface="맑은 고딕"/>
              </a:rPr>
              <a:t>기억할 가치가 있는 관계</a:t>
            </a:r>
            <a:r>
              <a:rPr sz="1800" b="0">
                <a:solidFill>
                  <a:srgbClr val="000000"/>
                </a:solidFill>
                <a:latin typeface="맑은 고딕"/>
                <a:ea typeface="맑은 고딕"/>
              </a:rPr>
              <a:t>만 이름 있는 연관으로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"고객이 주문을 한다"처럼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p:txBody>
      </p:sp>
      <p:pic>
        <p:nvPicPr>
          <p:cNvPr id="9" name="plantuml Diagram 19"/>
          <p:cNvPicPr>
            <a:picLocks noChangeAspect="1"/>
          </p:cNvPicPr>
          <p:nvPr/>
        </p:nvPicPr>
        <p:blipFill>
          <a:blip r:embed="plantumlImage19"/>
          <a:stretch>
            <a:fillRect/>
          </a:stretch>
        </p:blipFill>
        <p:spPr>
          <a:xfrm>
            <a:off x="1763346" y="388819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도메인 모델 — 초안 </a:t>
            </a:r>
            <a:r>
              <a:rPr sz="2000" b="1">
                <a:solidFill>
                  <a:srgbClr val="000000"/>
                </a:solidFill>
                <a:latin typeface="맑은 고딕"/>
                <a:ea typeface="맑은 고딕"/>
              </a:rPr>
              <a:t>(2/2)</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22947"/>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개념은 </a:t>
            </a:r>
            <a:r>
              <a:rPr sz="1600" b="1">
                <a:solidFill>
                  <a:srgbClr val="000000"/>
                </a:solidFill>
                <a:latin typeface="맑은 고딕"/>
                <a:ea typeface="맑은 고딕"/>
              </a:rPr>
              <a:t>클래스</a:t>
            </a:r>
            <a:r>
              <a:rPr sz="1600" b="0">
                <a:solidFill>
                  <a:srgbClr val="000000"/>
                </a:solidFill>
                <a:latin typeface="맑은 고딕"/>
                <a:ea typeface="맑은 고딕"/>
              </a:rPr>
              <a:t>, 연관은 </a:t>
            </a:r>
            <a:r>
              <a:rPr sz="1600" b="1">
                <a:solidFill>
                  <a:srgbClr val="000000"/>
                </a:solidFill>
                <a:latin typeface="맑은 고딕"/>
                <a:ea typeface="맑은 고딕"/>
              </a:rPr>
              <a:t>참조</a:t>
            </a:r>
            <a:r>
              <a:rPr sz="1600" b="0">
                <a:solidFill>
                  <a:srgbClr val="000000"/>
                </a:solidFill>
                <a:latin typeface="맑은 고딕"/>
                <a:ea typeface="맑은 고딕"/>
              </a:rPr>
              <a:t>가 된다. 모델에 없는 </a:t>
            </a:r>
            <a:r>
              <a:rPr sz="1600" b="1">
                <a:solidFill>
                  <a:srgbClr val="000000"/>
                </a:solidFill>
                <a:latin typeface="맑은 고딕"/>
                <a:ea typeface="맑은 고딕"/>
              </a:rPr>
              <a:t>방향</a:t>
            </a:r>
            <a:r>
              <a:rPr sz="1200" b="0">
                <a:solidFill>
                  <a:srgbClr val="000000"/>
                </a:solidFill>
                <a:latin typeface="맑은 고딕"/>
                <a:ea typeface="맑은 고딕"/>
              </a:rPr>
              <a:t>(누가 누구를 아는가)</a:t>
            </a:r>
            <a:r>
              <a:rPr sz="1600" b="0">
                <a:solidFill>
                  <a:srgbClr val="000000"/>
                </a:solidFill>
                <a:latin typeface="맑은 고딕"/>
                <a:ea typeface="맑은 고딕"/>
              </a:rPr>
              <a:t>과 컬렉션은 코드가 정한다.</a:t>
            </a:r>
          </a:p>
        </p:txBody>
      </p:sp>
      <p:pic>
        <p:nvPicPr>
          <p:cNvPr id="33" name="plantuml Diagram 20"/>
          <p:cNvPicPr>
            <a:picLocks noChangeAspect="1"/>
          </p:cNvPicPr>
          <p:nvPr/>
        </p:nvPicPr>
        <p:blipFill>
          <a:blip r:embed="plantumlImage20"/>
          <a:stretch>
            <a:fillRect/>
          </a:stretch>
        </p:blipFill>
        <p:spPr>
          <a:xfrm>
            <a:off x="1763346" y="224023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(1/6)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pic>
        <p:nvPicPr>
          <p:cNvPr id="9" name="plantuml Diagram 21"/>
          <p:cNvPicPr>
            <a:picLocks noChangeAspect="1"/>
          </p:cNvPicPr>
          <p:nvPr/>
        </p:nvPicPr>
        <p:blipFill>
          <a:blip r:embed="plantumlImage21"/>
          <a:stretch>
            <a:fillRect/>
          </a:stretch>
        </p:blipFill>
        <p:spPr>
          <a:xfrm>
            <a:off x="1621692" y="2249941"/>
            <a:ext cx="5900615" cy="39995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(2/6)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문장으로 읽기</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주문을 </a:t>
            </a:r>
            <a:r>
              <a:rPr sz="1600" b="1">
                <a:solidFill>
                  <a:srgbClr val="000000"/>
                </a:solidFill>
                <a:latin typeface="맑은 고딕"/>
                <a:ea typeface="맑은 고딕"/>
              </a:rPr>
              <a:t>0개 이상</a:t>
            </a:r>
            <a:r>
              <a:rPr sz="1600" b="0">
                <a:solidFill>
                  <a:srgbClr val="000000"/>
                </a:solidFill>
                <a:latin typeface="맑은 고딕"/>
                <a:ea typeface="맑은 고딕"/>
              </a:rPr>
              <a:t> 하고, 모든 주문에는 고객이 </a:t>
            </a:r>
            <a:r>
              <a:rPr sz="1600" b="1">
                <a:solidFill>
                  <a:srgbClr val="000000"/>
                </a:solidFill>
                <a:latin typeface="맑은 고딕"/>
                <a:ea typeface="맑은 고딕"/>
              </a:rPr>
              <a:t>한 명</a:t>
            </a:r>
            <a:r>
              <a:rPr sz="1600" b="0">
                <a:solidFill>
                  <a:srgbClr val="000000"/>
                </a:solidFill>
                <a:latin typeface="맑은 고딕"/>
                <a:ea typeface="맑은 고딕"/>
              </a:rPr>
              <a:t>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주문 항목을 </a:t>
            </a:r>
            <a:r>
              <a:rPr sz="1600" b="1">
                <a:solidFill>
                  <a:srgbClr val="000000"/>
                </a:solidFill>
                <a:latin typeface="맑은 고딕"/>
                <a:ea typeface="맑은 고딕"/>
              </a:rPr>
              <a:t>하나 이상</a:t>
            </a:r>
            <a:r>
              <a:rPr sz="1600" b="0">
                <a:solidFill>
                  <a:srgbClr val="000000"/>
                </a:solidFill>
                <a:latin typeface="맑은 고딕"/>
                <a:ea typeface="맑은 고딕"/>
              </a:rPr>
              <a:t> 포함하며, 주문 항목은 </a:t>
            </a:r>
            <a:r>
              <a:rPr sz="1600" b="1">
                <a:solidFill>
                  <a:srgbClr val="000000"/>
                </a:solidFill>
                <a:latin typeface="맑은 고딕"/>
                <a:ea typeface="맑은 고딕"/>
              </a:rPr>
              <a:t>주문 시점 단가</a:t>
            </a:r>
            <a:r>
              <a:rPr sz="1600" b="0">
                <a:solidFill>
                  <a:srgbClr val="000000"/>
                </a:solidFill>
                <a:latin typeface="맑은 고딕"/>
                <a:ea typeface="맑은 고딕"/>
              </a:rPr>
              <a:t>를 보존한다.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주문은 결제가 </a:t>
            </a:r>
            <a:r>
              <a:rPr sz="1600" b="1">
                <a:solidFill>
                  <a:srgbClr val="000000"/>
                </a:solidFill>
                <a:latin typeface="맑은 고딕"/>
                <a:ea typeface="맑은 고딕"/>
              </a:rPr>
              <a:t>없거나 하나</a:t>
            </a:r>
            <a:r>
              <a:rPr sz="1600" b="0">
                <a:solidFill>
                  <a:srgbClr val="000000"/>
                </a:solidFill>
                <a:latin typeface="맑은 고딕"/>
                <a:ea typeface="맑은 고딕"/>
              </a:rPr>
              <a:t>, 결제는 환불이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있다(전체 취소 전제의 </a:t>
            </a:r>
            <a:r>
              <a:rPr sz="1600" b="1">
                <a:solidFill>
                  <a:srgbClr val="000000"/>
                </a:solidFill>
                <a:latin typeface="맑은 고딕"/>
                <a:ea typeface="맑은 고딕"/>
              </a:rPr>
              <a:t>교육용 가정</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장바구니 항목은 판매가를 </a:t>
            </a:r>
            <a:r>
              <a:rPr sz="1600" b="1">
                <a:solidFill>
                  <a:srgbClr val="000000"/>
                </a:solidFill>
                <a:latin typeface="맑은 고딕"/>
                <a:ea typeface="맑은 고딕"/>
              </a:rPr>
              <a:t>참조</a:t>
            </a:r>
            <a:r>
              <a:rPr sz="1600" b="0">
                <a:solidFill>
                  <a:srgbClr val="000000"/>
                </a:solidFill>
                <a:latin typeface="맑은 고딕"/>
                <a:ea typeface="맑은 고딕"/>
              </a:rPr>
              <a:t>만 한다. 주문은 배송이 </a:t>
            </a:r>
            <a:r>
              <a:rPr sz="1600" b="1">
                <a:solidFill>
                  <a:srgbClr val="000000"/>
                </a:solidFill>
                <a:latin typeface="맑은 고딕"/>
                <a:ea typeface="맑은 고딕"/>
              </a:rPr>
              <a:t>없거나 하나</a:t>
            </a:r>
            <a:r>
              <a:rPr sz="16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의도적으로 넣지 않은 것</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재고</a:t>
            </a:r>
            <a:r>
              <a:rPr sz="1600" b="0">
                <a:solidFill>
                  <a:srgbClr val="000000"/>
                </a:solidFill>
                <a:latin typeface="맑은 고딕"/>
                <a:ea typeface="맑은 고딕"/>
              </a:rPr>
              <a:t> —</a:t>
            </a:r>
            <a:r>
              <a:rPr sz="1400" b="0">
                <a:solidFill>
                  <a:srgbClr val="000000"/>
                </a:solidFill>
                <a:latin typeface="맑은 고딕"/>
                <a:ea typeface="맑은 고딕"/>
              </a:rPr>
              <a:t> 상품 시스템, </a:t>
            </a:r>
            <a:r>
              <a:rPr sz="1400" b="1">
                <a:solidFill>
                  <a:srgbClr val="000000"/>
                </a:solidFill>
                <a:latin typeface="맑은 고딕"/>
                <a:ea typeface="맑은 고딕"/>
              </a:rPr>
              <a:t>입금·영수증</a:t>
            </a:r>
            <a:r>
              <a:rPr sz="1400" b="0">
                <a:solidFill>
                  <a:srgbClr val="000000"/>
                </a:solidFill>
                <a:latin typeface="맑은 고딕"/>
                <a:ea typeface="맑은 고딕"/>
              </a:rPr>
              <a:t> — 회계 시스템이 소유한다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외부 시스템</a:t>
            </a:r>
            <a:r>
              <a:rPr sz="1600" b="0">
                <a:solidFill>
                  <a:srgbClr val="000000"/>
                </a:solidFill>
                <a:latin typeface="맑은 고딕"/>
                <a:ea typeface="맑은 고딕"/>
              </a:rPr>
              <a:t> —</a:t>
            </a:r>
            <a:r>
              <a:rPr sz="1400" b="0">
                <a:solidFill>
                  <a:srgbClr val="000000"/>
                </a:solidFill>
                <a:latin typeface="맑은 고딕"/>
                <a:ea typeface="맑은 고딕"/>
              </a:rPr>
              <a:t> 지원 액터이며 결제·배송 기록과 다르다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수단</a:t>
            </a:r>
            <a:r>
              <a:rPr sz="1600" b="0">
                <a:solidFill>
                  <a:srgbClr val="000000"/>
                </a:solidFill>
                <a:latin typeface="맑은 고딕"/>
                <a:ea typeface="맑은 고딕"/>
              </a:rPr>
              <a:t> —</a:t>
            </a:r>
            <a:r>
              <a:rPr sz="1400" b="0">
                <a:solidFill>
                  <a:srgbClr val="000000"/>
                </a:solidFill>
                <a:latin typeface="맑은 고딕"/>
                <a:ea typeface="맑은 고딕"/>
              </a:rPr>
              <a:t> 현재 요구에 불필요</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오퍼레이션·저장 키·화면</a:t>
            </a:r>
            <a:r>
              <a:rPr sz="1600" b="0">
                <a:solidFill>
                  <a:srgbClr val="000000"/>
                </a:solidFill>
                <a:latin typeface="맑은 고딕"/>
                <a:ea typeface="맑은 고딕"/>
              </a:rPr>
              <a:t> —</a:t>
            </a:r>
            <a:r>
              <a:rPr sz="14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(3/6)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022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속성 도메인은 </a:t>
            </a:r>
            <a:r>
              <a:rPr sz="1600" b="1">
                <a:solidFill>
                  <a:srgbClr val="000000"/>
                </a:solidFill>
                <a:latin typeface="맑은 고딕"/>
                <a:ea typeface="맑은 고딕"/>
              </a:rPr>
              <a:t>속성의 타입</a:t>
            </a:r>
            <a:r>
              <a:rPr sz="1600" b="0">
                <a:solidFill>
                  <a:srgbClr val="000000"/>
                </a:solidFill>
                <a:latin typeface="맑은 고딕"/>
                <a:ea typeface="맑은 고딕"/>
              </a:rPr>
              <a:t>이 된다. 모델의 </a:t>
            </a:r>
            <a:r>
              <a:rPr sz="1600" b="0">
                <a:solidFill>
                  <a:srgbClr val="000000"/>
                </a:solidFill>
                <a:latin typeface="맑은 고딕"/>
                <a:ea typeface="맑은 고딕"/>
              </a:rPr>
              <a:t>수량 : 수량</a:t>
            </a:r>
            <a:r>
              <a:rPr sz="1600" b="0">
                <a:solidFill>
                  <a:srgbClr val="000000"/>
                </a:solidFill>
                <a:latin typeface="맑은 고딕"/>
                <a:ea typeface="맑은 고딕"/>
              </a:rPr>
              <a:t>은 주문 항목의 필드 </a:t>
            </a:r>
            <a:r>
              <a:rPr sz="1600" b="0">
                <a:solidFill>
                  <a:srgbClr val="000000"/>
                </a:solidFill>
                <a:latin typeface="맑은 고딕"/>
                <a:ea typeface="맑은 고딕"/>
              </a:rPr>
              <a:t>수량 수량</a:t>
            </a:r>
            <a:r>
              <a:rPr sz="1600" b="0">
                <a:solidFill>
                  <a:srgbClr val="000000"/>
                </a:solidFill>
                <a:latin typeface="맑은 고딕"/>
                <a:ea typeface="맑은 고딕"/>
              </a:rPr>
              <a:t>이고, 규칙은 그 타입이 </a:t>
            </a:r>
            <a:r>
              <a:rPr sz="1600" b="1">
                <a:solidFill>
                  <a:srgbClr val="000000"/>
                </a:solidFill>
                <a:latin typeface="맑은 고딕"/>
                <a:ea typeface="맑은 고딕"/>
              </a:rPr>
              <a:t>만들어질 때마다</a:t>
            </a:r>
            <a:r>
              <a:rPr sz="16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022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2"/>
          <p:cNvPicPr>
            <a:picLocks noChangeAspect="1"/>
          </p:cNvPicPr>
          <p:nvPr/>
        </p:nvPicPr>
        <p:blipFill>
          <a:blip r:embed="plantumlImage22"/>
          <a:stretch>
            <a:fillRect/>
          </a:stretch>
        </p:blipFill>
        <p:spPr>
          <a:xfrm>
            <a:off x="2254738" y="2240238"/>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(4/6)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407"/>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다중성·합성과 코드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합성</a:t>
            </a:r>
            <a:r>
              <a:rPr sz="1600" b="0">
                <a:solidFill>
                  <a:srgbClr val="000000"/>
                </a:solidFill>
                <a:latin typeface="맑은 고딕"/>
                <a:ea typeface="맑은 고딕"/>
              </a:rPr>
              <a:t>·</a:t>
            </a:r>
            <a:r>
              <a:rPr sz="1600" b="0">
                <a:solidFill>
                  <a:srgbClr val="000000"/>
                </a:solidFill>
                <a:latin typeface="맑은 고딕"/>
                <a:ea typeface="맑은 고딕"/>
              </a:rPr>
              <a:t>1..*</a:t>
            </a:r>
            <a:r>
              <a:rPr sz="1600" b="0">
                <a:solidFill>
                  <a:srgbClr val="000000"/>
                </a:solidFill>
                <a:latin typeface="맑은 고딕"/>
                <a:ea typeface="맑은 고딕"/>
              </a:rPr>
              <a:t>·</a:t>
            </a:r>
            <a:r>
              <a:rPr sz="1600" b="1">
                <a:solidFill>
                  <a:srgbClr val="000000"/>
                </a:solidFill>
                <a:latin typeface="맑은 고딕"/>
                <a:ea typeface="맑은 고딕"/>
              </a:rPr>
              <a:t>확정 값</a:t>
            </a:r>
            <a:r>
              <a:rPr sz="1600" b="0">
                <a:solidFill>
                  <a:srgbClr val="000000"/>
                </a:solidFill>
                <a:latin typeface="맑은 고딕"/>
                <a:ea typeface="맑은 고딕"/>
              </a:rPr>
              <a:t>·</a:t>
            </a:r>
            <a:r>
              <a:rPr sz="1600" b="1">
                <a:solidFill>
                  <a:srgbClr val="000000"/>
                </a:solidFill>
                <a:latin typeface="맑은 고딕"/>
                <a:ea typeface="맑은 고딕"/>
              </a:rPr>
              <a:t>파생 속성</a:t>
            </a:r>
            <a:r>
              <a:rPr sz="16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009407"/>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3"/>
          <p:cNvPicPr>
            <a:picLocks noChangeAspect="1"/>
          </p:cNvPicPr>
          <p:nvPr/>
        </p:nvPicPr>
        <p:blipFill>
          <a:blip r:embed="plantumlImage23"/>
          <a:stretch>
            <a:fillRect/>
          </a:stretch>
        </p:blipFill>
        <p:spPr>
          <a:xfrm>
            <a:off x="2544396" y="1983200"/>
            <a:ext cx="4055208" cy="191647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(5/6)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4010"/>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두 값을 함께 보는 </a:t>
            </a:r>
            <a:r>
              <a:rPr sz="1600" b="1">
                <a:solidFill>
                  <a:srgbClr val="000000"/>
                </a:solidFill>
                <a:latin typeface="맑은 고딕"/>
                <a:ea typeface="맑은 고딕"/>
              </a:rPr>
              <a:t>제약</a:t>
            </a:r>
            <a:r>
              <a:rPr sz="1600" b="0">
                <a:solidFill>
                  <a:srgbClr val="000000"/>
                </a:solidFill>
                <a:latin typeface="맑은 고딕"/>
                <a:ea typeface="맑은 고딕"/>
              </a:rPr>
              <a:t> </a:t>
            </a:r>
            <a:r>
              <a:rPr sz="1600" b="0">
                <a:solidFill>
                  <a:srgbClr val="000000"/>
                </a:solidFill>
                <a:latin typeface="맑은 고딕"/>
                <a:ea typeface="맑은 고딕"/>
              </a:rPr>
              <a:t>{환불 금액 ≤ 결제 금액}</a:t>
            </a:r>
            <a:r>
              <a:rPr sz="1600" b="0">
                <a:solidFill>
                  <a:srgbClr val="000000"/>
                </a:solidFill>
                <a:latin typeface="맑은 고딕"/>
                <a:ea typeface="맑은 고딕"/>
              </a:rPr>
              <a:t>은 그 값을 가진 </a:t>
            </a:r>
            <a:r>
              <a:rPr sz="1600" b="1">
                <a:solidFill>
                  <a:srgbClr val="000000"/>
                </a:solidFill>
                <a:latin typeface="맑은 고딕"/>
                <a:ea typeface="맑은 고딕"/>
              </a:rPr>
              <a:t>환불</a:t>
            </a:r>
            <a:r>
              <a:rPr sz="16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4010"/>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4"/>
          <p:cNvPicPr>
            <a:picLocks noChangeAspect="1"/>
          </p:cNvPicPr>
          <p:nvPr/>
        </p:nvPicPr>
        <p:blipFill>
          <a:blip r:embed="plantumlImage24"/>
          <a:stretch>
            <a:fillRect/>
          </a:stretch>
        </p:blipFill>
        <p:spPr>
          <a:xfrm>
            <a:off x="1965081" y="2240238"/>
            <a:ext cx="5213838" cy="246404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도메인 모델 — 상세화 </a:t>
            </a:r>
            <a:r>
              <a:rPr sz="2000" b="1">
                <a:solidFill>
                  <a:srgbClr val="000000"/>
                </a:solidFill>
                <a:latin typeface="맑은 고딕"/>
                <a:ea typeface="맑은 고딕"/>
              </a:rPr>
              <a:t>(6/6)</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3075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도메인모델테스트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펜 = new 상품("펜", new 금액(1000));</a:t>
            </a:r>
          </a:p>
          <a:p>
            <a:pPr marL="0" indent="0" algn="l">
              <a:lnSpc>
                <a:spcPts val="960"/>
              </a:lnSpc>
              <a:spcBef>
                <a:spcPts val="0"/>
              </a:spcBef>
              <a:spcAft>
                <a:spcPts val="0"/>
              </a:spcAft>
              <a:buNone/>
            </a:pPr>
            <a:r>
              <a:rPr sz="800" b="0">
                <a:solidFill>
                  <a:srgbClr val="000000"/>
                </a:solidFill>
                <a:latin typeface="Consolas"/>
                <a:ea typeface="맑은 고딕"/>
              </a:rPr>
              <a:t>        var 주문 = new 주문(new 고객("김"), Map.of(펜, new 수량(2)), new 주소("서울"));</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펜.판매가 = new 금액(1500);</a:t>
            </a:r>
          </a:p>
          <a:p>
            <a:pPr marL="0" indent="0" algn="l">
              <a:lnSpc>
                <a:spcPts val="960"/>
              </a:lnSpc>
              <a:spcBef>
                <a:spcPts val="0"/>
              </a:spcBef>
              <a:spcAft>
                <a:spcPts val="0"/>
              </a:spcAft>
              <a:buNone/>
            </a:pPr>
            <a:r>
              <a:rPr sz="800" b="0">
                <a:solidFill>
                  <a:srgbClr val="000000"/>
                </a:solidFill>
                <a:latin typeface="Consolas"/>
                <a:ea typeface="맑은 고딕"/>
              </a:rPr>
              <a:t>        확인(주문.주문총액().equals(new 금액(2000)));</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「39. 제약」의 규칙과 확정 값의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30755"/>
            <a:ext cx="4114800" cy="10972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거절(() -&gt; new 수량(0));</a:t>
            </a:r>
          </a:p>
          <a:p>
            <a:pPr marL="0" indent="0" algn="l">
              <a:lnSpc>
                <a:spcPts val="960"/>
              </a:lnSpc>
              <a:spcBef>
                <a:spcPts val="0"/>
              </a:spcBef>
              <a:spcAft>
                <a:spcPts val="0"/>
              </a:spcAft>
              <a:buNone/>
            </a:pPr>
            <a:r>
              <a:rPr sz="800" b="0">
                <a:solidFill>
                  <a:srgbClr val="000000"/>
                </a:solidFill>
                <a:latin typeface="Consolas"/>
                <a:ea typeface="맑은 고딕"/>
              </a:rPr>
              <a:t>        거절(() -&gt; new 주문(new 고객("김"), Map.of(), new 주소("서울")));</a:t>
            </a:r>
          </a:p>
          <a:p>
            <a:pPr marL="0" indent="0" algn="l">
              <a:lnSpc>
                <a:spcPts val="960"/>
              </a:lnSpc>
              <a:spcBef>
                <a:spcPts val="0"/>
              </a:spcBef>
              <a:spcAft>
                <a:spcPts val="0"/>
              </a:spcAft>
              <a:buNone/>
            </a:pPr>
            <a:r>
              <a:rPr sz="800" b="0">
                <a:solidFill>
                  <a:srgbClr val="000000"/>
                </a:solidFill>
                <a:latin typeface="Consolas"/>
                <a:ea typeface="맑은 고딕"/>
              </a:rPr>
              <a:t>        거절(() -&gt; new 환불(new 결제(new 금액(2000)), new 금액(3000)));</a:t>
            </a:r>
          </a:p>
          <a:p>
            <a:pPr marL="0" indent="0" algn="l">
              <a:lnSpc>
                <a:spcPts val="960"/>
              </a:lnSpc>
              <a:spcBef>
                <a:spcPts val="0"/>
              </a:spcBef>
              <a:spcAft>
                <a:spcPts val="0"/>
              </a:spcAft>
              <a:buNone/>
            </a:pPr>
            <a:r>
              <a:rPr sz="800" b="0">
                <a:solidFill>
                  <a:srgbClr val="000000"/>
                </a:solidFill>
                <a:latin typeface="Consolas"/>
                <a:ea typeface="맑은 고딕"/>
              </a:rPr>
              <a:t>        System.out.println("정적 모델 규칙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25"/>
          <p:cNvPicPr>
            <a:picLocks noChangeAspect="1"/>
          </p:cNvPicPr>
          <p:nvPr/>
        </p:nvPicPr>
        <p:blipFill>
          <a:blip r:embed="plantumlImage25"/>
          <a:stretch>
            <a:fillRect/>
          </a:stretch>
        </p:blipFill>
        <p:spPr>
          <a:xfrm>
            <a:off x="1675423" y="198320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46. 개념의 묶음 —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3787521"/>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61681"/>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4" descr="패키지 다이어그램 표기: 패키지, 포함, 의존"/>
          <p:cNvPicPr>
            <a:picLocks noChangeAspect="1"/>
          </p:cNvPicPr>
          <p:nvPr/>
        </p:nvPicPr>
        <p:blipFill>
          <a:blip r:embed="svgImage4"/>
          <a:stretch>
            <a:fillRect/>
          </a:stretch>
        </p:blipFill>
        <p:spPr>
          <a:xfrm>
            <a:off x="1919372" y="1842998"/>
            <a:ext cx="5291667" cy="121708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패키지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43215" y="2801048"/>
          <a:ext cx="6443980" cy="3873500"/>
        </p:xfrm>
        <a:graphic>
          <a:graphicData uri="http://schemas.openxmlformats.org/drawingml/2006/table">
            <a:tbl>
              <a:tblPr/>
              <a:tblGrid>
                <a:gridCol w="1450340"/>
                <a:gridCol w="410464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개념(「37. 일반화」의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질문으로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are in a class hierarchy together; participate in the same use cases; are strongly associated"</a:t>
            </a:r>
            <a:r>
              <a:rPr sz="1000" b="0">
                <a:solidFill>
                  <a:srgbClr val="000000"/>
                </a:solidFill>
                <a:latin typeface="맑은 고딕"/>
                <a:ea typeface="맑은 고딕"/>
              </a:rPr>
              <a:t>, </a:t>
            </a:r>
            <a:r>
              <a:rPr sz="1000" b="0">
                <a:solidFill>
                  <a:srgbClr val="000000"/>
                </a:solidFill>
                <a:latin typeface="맑은 고딕"/>
                <a:ea typeface="맑은 고딕"/>
              </a:rPr>
              <a:t>Craig Larman, 2002, www</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26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「45. 도메인 모델 —</a:t>
            </a:r>
            <a:r>
              <a:rPr sz="1600" b="0">
                <a:solidFill>
                  <a:srgbClr val="000000"/>
                </a:solidFill>
                <a:latin typeface="맑은 고딕"/>
                <a:ea typeface="맑은 고딕"/>
              </a:rPr>
              <a:t> 상세화」의 통합 모델을 </a:t>
            </a:r>
            <a:r>
              <a:rPr sz="1600" b="1">
                <a:solidFill>
                  <a:srgbClr val="000000"/>
                </a:solidFill>
                <a:latin typeface="맑은 고딕"/>
                <a:ea typeface="맑은 고딕"/>
              </a:rPr>
              <a:t>패키지 기준</a:t>
            </a:r>
            <a:r>
              <a:rPr sz="1600" b="0">
                <a:solidFill>
                  <a:srgbClr val="000000"/>
                </a:solidFill>
                <a:latin typeface="맑은 고딕"/>
                <a:ea typeface="맑은 고딕"/>
              </a:rPr>
              <a:t>으로 나눈 것이다. 속성은 감추고 클래스 이름과 관계만 남겨 </a:t>
            </a:r>
            <a:r>
              <a:rPr sz="1600" b="1">
                <a:solidFill>
                  <a:srgbClr val="000000"/>
                </a:solidFill>
                <a:latin typeface="맑은 고딕"/>
                <a:ea typeface="맑은 고딕"/>
              </a:rPr>
              <a:t>묶음</a:t>
            </a:r>
            <a:r>
              <a:rPr sz="1600" b="0">
                <a:solidFill>
                  <a:srgbClr val="000000"/>
                </a:solidFill>
                <a:latin typeface="맑은 고딕"/>
                <a:ea typeface="맑은 고딕"/>
              </a:rPr>
              <a:t>을 드러낸다.</a:t>
            </a:r>
          </a:p>
        </p:txBody>
      </p:sp>
      <p:pic>
        <p:nvPicPr>
          <p:cNvPr id="9" name="plantuml Diagram 26"/>
          <p:cNvPicPr>
            <a:picLocks noChangeAspect="1"/>
          </p:cNvPicPr>
          <p:nvPr/>
        </p:nvPicPr>
        <p:blipFill>
          <a:blip r:embed="plantumlImage26"/>
          <a:stretch>
            <a:fillRect/>
          </a:stretch>
        </p:blipFill>
        <p:spPr>
          <a:xfrm>
            <a:off x="1641231" y="2596456"/>
            <a:ext cx="5861538" cy="299915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48. 도메인 모델 — 패키지별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51511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327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잘못된 관행 — 분석 과잉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수개월의 분석 단계, </a:t>
            </a:r>
            <a:r>
              <a:rPr sz="1600" b="1">
                <a:solidFill>
                  <a:srgbClr val="000000"/>
                </a:solidFill>
                <a:latin typeface="맑은 고딕"/>
                <a:ea typeface="맑은 고딕"/>
              </a:rPr>
              <a:t>수백 쪽의 문서</a:t>
            </a:r>
            <a:r>
              <a:rPr sz="1600" b="0">
                <a:solidFill>
                  <a:srgbClr val="000000"/>
                </a:solidFill>
                <a:latin typeface="맑은 고딕"/>
                <a:ea typeface="맑은 고딕"/>
              </a:rPr>
              <a:t>와 다이어그램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정작 </a:t>
            </a:r>
            <a:r>
              <a:rPr sz="1600" b="1">
                <a:solidFill>
                  <a:srgbClr val="000000"/>
                </a:solidFill>
                <a:latin typeface="맑은 고딕"/>
                <a:ea typeface="맑은 고딕"/>
              </a:rPr>
              <a:t>핵심 개념·관계·속성 규칙</a:t>
            </a:r>
            <a:r>
              <a:rPr sz="1600" b="0">
                <a:solidFill>
                  <a:srgbClr val="000000"/>
                </a:solidFill>
                <a:latin typeface="맑은 고딕"/>
                <a:ea typeface="맑은 고딕"/>
              </a:rPr>
              <a:t>은 모호하다. 제대로 된 </a:t>
            </a:r>
            <a:r>
              <a:rPr sz="1600" b="1">
                <a:solidFill>
                  <a:srgbClr val="000000"/>
                </a:solidFill>
                <a:latin typeface="맑은 고딕"/>
                <a:ea typeface="맑은 고딕"/>
              </a:rPr>
              <a:t>데이터 모델</a:t>
            </a:r>
            <a:r>
              <a:rPr sz="1600" b="0">
                <a:solidFill>
                  <a:srgbClr val="000000"/>
                </a:solidFill>
                <a:latin typeface="맑은 고딕"/>
                <a:ea typeface="맑은 고딕"/>
              </a:rPr>
              <a:t>도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회의의 상당 부분이 프레임워크·아키텍처·화면·인프라 같은 </a:t>
            </a:r>
            <a:r>
              <a:rPr sz="1600" b="1">
                <a:solidFill>
                  <a:srgbClr val="000000"/>
                </a:solidFill>
                <a:latin typeface="맑은 고딕"/>
                <a:ea typeface="맑은 고딕"/>
              </a:rPr>
              <a:t>기술 요소</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a:t>
            </a:r>
            <a:r>
              <a:rPr sz="1600" b="1">
                <a:solidFill>
                  <a:srgbClr val="000000"/>
                </a:solidFill>
                <a:latin typeface="맑은 고딕"/>
                <a:ea typeface="맑은 고딕"/>
              </a:rPr>
              <a:t>무엇을 할지</a:t>
            </a:r>
            <a:r>
              <a:rPr sz="1200" b="0">
                <a:solidFill>
                  <a:srgbClr val="000000"/>
                </a:solidFill>
                <a:latin typeface="맑은 고딕"/>
                <a:ea typeface="맑은 고딕"/>
              </a:rPr>
              <a:t>(이벤트·목표·규칙)</a:t>
            </a:r>
            <a:r>
              <a:rPr sz="1600" b="0">
                <a:solidFill>
                  <a:srgbClr val="000000"/>
                </a:solidFill>
                <a:latin typeface="맑은 고딕"/>
                <a:ea typeface="맑은 고딕"/>
              </a:rPr>
              <a:t>는 합의하지 못했다.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되돌아볼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합의한 </a:t>
            </a:r>
            <a:r>
              <a:rPr sz="1600" b="1">
                <a:solidFill>
                  <a:srgbClr val="000000"/>
                </a:solidFill>
                <a:latin typeface="맑은 고딕"/>
                <a:ea typeface="맑은 고딕"/>
              </a:rPr>
              <a:t>이벤트와 목표 목록</a:t>
            </a:r>
            <a:r>
              <a:rPr sz="1600" b="0">
                <a:solidFill>
                  <a:srgbClr val="000000"/>
                </a:solidFill>
                <a:latin typeface="맑은 고딕"/>
                <a:ea typeface="맑은 고딕"/>
              </a:rPr>
              <a:t>이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핵심 개념·관계·속성 도메인</a:t>
            </a:r>
            <a:r>
              <a:rPr sz="1600" b="0">
                <a:solidFill>
                  <a:srgbClr val="000000"/>
                </a:solidFill>
                <a:latin typeface="맑은 고딕"/>
                <a:ea typeface="맑은 고딕"/>
              </a:rPr>
              <a:t>이 모델에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분석 산출물에서 </a:t>
            </a:r>
            <a:r>
              <a:rPr sz="1600" b="1">
                <a:solidFill>
                  <a:srgbClr val="000000"/>
                </a:solidFill>
                <a:latin typeface="맑은 고딕"/>
                <a:ea typeface="맑은 고딕"/>
              </a:rPr>
              <a:t>기술 요소</a:t>
            </a:r>
            <a:r>
              <a:rPr sz="1600" b="0">
                <a:solidFill>
                  <a:srgbClr val="000000"/>
                </a:solidFill>
                <a:latin typeface="맑은 고딕"/>
                <a:ea typeface="맑은 고딕"/>
              </a:rPr>
              <a:t>가 차지하는 비중은 얼마인가?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지금 분석을 더 하면 </a:t>
            </a:r>
            <a:r>
              <a:rPr sz="1600" b="1">
                <a:solidFill>
                  <a:srgbClr val="000000"/>
                </a:solidFill>
                <a:latin typeface="맑은 고딕"/>
                <a:ea typeface="맑은 고딕"/>
              </a:rPr>
              <a:t>다음 판단이 달라지는가</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50. 잘못된 관행 — 구현 요소</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pic>
        <p:nvPicPr>
          <p:cNvPr id="9" name="plantuml Diagram 27"/>
          <p:cNvPicPr>
            <a:picLocks noChangeAspect="1"/>
          </p:cNvPicPr>
          <p:nvPr/>
        </p:nvPicPr>
        <p:blipFill>
          <a:blip r:embed="plantumlImage27"/>
          <a:stretch>
            <a:fillRect/>
          </a:stretch>
        </p:blipFill>
        <p:spPr>
          <a:xfrm>
            <a:off x="2835519" y="392759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잘못된 관행 — 규칙 없는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184299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잘못된 관행 — 관계 남용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알아야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관행 — 거대 개념·모호한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184299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잘못된 관행 — 범위·시점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42998"/>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그리는 데 시간을 쓰고도 판단에 쓰이지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- 77 -</a:t>
            </a:r>
          </a:p>
        </p:txBody>
      </p:sp>
    </p:spTree>
    <p:extLst>
      <p:ext uri="{BB962C8B-B14F-4D97-AF65-F5344CB8AC3E}">
        <p14:creationId xmlns:p14="http://schemas.microsoft.com/office/powerpoint/2010/main" val="27895694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모델의 유용성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답하고 소통을 돕는 정도</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절대적으로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뿐이며, 소통의 도구다"</a:t>
            </a:r>
            <a:r>
              <a:rPr sz="1000" b="0">
                <a:solidFill>
                  <a:srgbClr val="000000"/>
                </a:solidFill>
                <a:latin typeface="맑은 고딕"/>
                <a:ea typeface="맑은 고딕"/>
              </a:rPr>
              <a:t>, </a:t>
            </a:r>
            <a:r>
              <a:rPr sz="1000" b="0">
                <a:solidFill>
                  <a:srgbClr val="000000"/>
                </a:solidFill>
                <a:latin typeface="맑은 고딕"/>
                <a:ea typeface="맑은 고딕"/>
              </a:rPr>
              <a:t>"A domain model is not absolutely correct or wrong, but more or less useful; it is a tool of communication."</a:t>
            </a:r>
            <a:r>
              <a:rPr sz="1000" b="0">
                <a:solidFill>
                  <a:srgbClr val="000000"/>
                </a:solidFill>
                <a:latin typeface="맑은 고딕"/>
                <a:ea typeface="맑은 고딕"/>
              </a:rPr>
              <a:t>, </a:t>
            </a:r>
            <a:r>
              <a:rPr sz="1000" b="0">
                <a:solidFill>
                  <a:srgbClr val="000000"/>
                </a:solidFill>
                <a:latin typeface="맑은 고딕"/>
                <a:ea typeface="맑은 고딕"/>
              </a:rPr>
              <a:t>Craig Larman, 2002</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확인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56. 시나리오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a:t>
            </a:r>
            <a:r>
              <a:rPr sz="1600" b="0">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a:t>
            </a:r>
            <a:r>
              <a:rPr sz="1600" b="0">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57. 누락과 모순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7349"/>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9562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곳</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발견은 별도 문서가 아니라 </a:t>
            </a:r>
            <a:r>
              <a:rPr sz="1600" b="1">
                <a:solidFill>
                  <a:srgbClr val="000000"/>
                </a:solidFill>
                <a:latin typeface="맑은 고딕"/>
                <a:ea typeface="맑은 고딕"/>
              </a:rPr>
              <a:t>입력 산출물을 고쳐</a:t>
            </a:r>
            <a:r>
              <a:rPr sz="16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정적 모델의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명세서의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도메인 모델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p:txBody>
      </p:sp>
      <p:pic>
        <p:nvPicPr>
          <p:cNvPr id="9" name="plantuml Diagram 28"/>
          <p:cNvPicPr>
            <a:picLocks noChangeAspect="1"/>
          </p:cNvPicPr>
          <p:nvPr/>
        </p:nvPicPr>
        <p:blipFill>
          <a:blip r:embed="plantumlImage28"/>
          <a:stretch>
            <a:fillRect/>
          </a:stretch>
        </p:blipFill>
        <p:spPr>
          <a:xfrm>
            <a:off x="2173654" y="3181430"/>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도메인 모델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29"/>
          <p:cNvPicPr>
            <a:picLocks noChangeAspect="1"/>
          </p:cNvPicPr>
          <p:nvPr/>
        </p:nvPicPr>
        <p:blipFill>
          <a:blip r:embed="plantumlImage29"/>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이전 산출물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정기배송의 상태가 아니라 회차 상태와 만료일로 판단한다. 회차 상태의 값과 전이는 실습 4의 상태 기계에서 구체화한다.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구현과 분리된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시나리오와 교차검토했다.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정적·동적 모델</a:t>
            </a:r>
            <a:r>
              <a:rPr sz="1600" b="0">
                <a:solidFill>
                  <a:srgbClr val="000000"/>
                </a:solidFill>
                <a:latin typeface="맑은 고딕"/>
                <a:ea typeface="맑은 고딕"/>
              </a:rPr>
              <a:t> —</a:t>
            </a:r>
            <a:r>
              <a:rPr sz="1400" b="0">
                <a:solidFill>
                  <a:srgbClr val="000000"/>
                </a:solidFill>
                <a:latin typeface="맑은 고딕"/>
                <a:ea typeface="맑은 고딕"/>
              </a:rPr>
              <a:t> 존재·관계는 정적, 사건·전이는 동적. 네 동적 다이어그램은 주문의 상태 기계로 모인다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데이터 모델</a:t>
            </a:r>
            <a:r>
              <a:rPr sz="1600" b="0">
                <a:solidFill>
                  <a:srgbClr val="000000"/>
                </a:solidFill>
                <a:latin typeface="맑은 고딕"/>
                <a:ea typeface="맑은 고딕"/>
              </a:rPr>
              <a:t> —</a:t>
            </a:r>
            <a:r>
              <a:rPr sz="1400" b="0">
                <a:solidFill>
                  <a:srgbClr val="000000"/>
                </a:solidFill>
                <a:latin typeface="맑은 고딕"/>
                <a:ea typeface="맑은 고딕"/>
              </a:rPr>
              <a:t> 좋은 데이터 모델이 도메인 모델의 출발점</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속성 규칙</a:t>
            </a:r>
            <a:r>
              <a:rPr sz="1600" b="0">
                <a:solidFill>
                  <a:srgbClr val="000000"/>
                </a:solidFill>
                <a:latin typeface="맑은 고딕"/>
                <a:ea typeface="맑은 고딕"/>
              </a:rPr>
              <a:t> —</a:t>
            </a:r>
            <a:r>
              <a:rPr sz="1400" b="0">
                <a:solidFill>
                  <a:srgbClr val="000000"/>
                </a:solidFill>
                <a:latin typeface="맑은 고딕"/>
                <a:ea typeface="맑은 고딕"/>
              </a:rPr>
              <a:t> 속성 도메인으로 명시하고 값의 종류가 소유</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클래스·관계 유형</a:t>
            </a:r>
            <a:r>
              <a:rPr sz="1600" b="0">
                <a:solidFill>
                  <a:srgbClr val="000000"/>
                </a:solidFill>
                <a:latin typeface="맑은 고딕"/>
                <a:ea typeface="맑은 고딕"/>
              </a:rPr>
              <a:t> —</a:t>
            </a:r>
            <a:r>
              <a:rPr sz="1400" b="0">
                <a:solidFill>
                  <a:srgbClr val="000000"/>
                </a:solidFill>
                <a:latin typeface="맑은 고딕"/>
                <a:ea typeface="맑은 고딕"/>
              </a:rPr>
              <a:t> UML 유형</a:t>
            </a:r>
            <a:r>
              <a:rPr sz="1000" b="0">
                <a:solidFill>
                  <a:srgbClr val="000000"/>
                </a:solidFill>
                <a:latin typeface="맑은 고딕"/>
                <a:ea typeface="맑은 고딕"/>
              </a:rPr>
              <a:t>(개념 클래스·데이터 타입·열거형, 연관·합성·일반화)</a:t>
            </a:r>
            <a:r>
              <a:rPr sz="1400" b="0">
                <a:solidFill>
                  <a:srgbClr val="000000"/>
                </a:solidFill>
                <a:latin typeface="맑은 고딕"/>
                <a:ea typeface="맑은 고딕"/>
              </a:rPr>
              <a:t>과 거래 중심의 도메인 유형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모델과 코드</a:t>
            </a:r>
            <a:r>
              <a:rPr sz="1600" b="0">
                <a:solidFill>
                  <a:srgbClr val="000000"/>
                </a:solidFill>
                <a:latin typeface="맑은 고딕"/>
                <a:ea typeface="맑은 고딕"/>
              </a:rPr>
              <a:t> —</a:t>
            </a:r>
            <a:r>
              <a:rPr sz="1400" b="0">
                <a:solidFill>
                  <a:srgbClr val="000000"/>
                </a:solidFill>
                <a:latin typeface="맑은 고딕"/>
                <a:ea typeface="맑은 고딕"/>
              </a:rPr>
              <a:t> 속성 도메인은 값의 종류, 규칙 예시는 테스트. 방향·컬렉션은 설계의 결정</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패키지</a:t>
            </a:r>
            <a:r>
              <a:rPr sz="1600" b="0">
                <a:solidFill>
                  <a:srgbClr val="000000"/>
                </a:solidFill>
                <a:latin typeface="맑은 고딕"/>
                <a:ea typeface="맑은 고딕"/>
              </a:rPr>
              <a:t> —</a:t>
            </a:r>
            <a:r>
              <a:rPr sz="1400" b="0">
                <a:solidFill>
                  <a:srgbClr val="000000"/>
                </a:solidFill>
                <a:latin typeface="맑은 고딕"/>
                <a:ea typeface="맑은 고딕"/>
              </a:rPr>
              <a:t> 주제 영역·클래스 계층·유스케이스·강한 연관으로 개념을 묶는다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검토</a:t>
            </a:r>
            <a:r>
              <a:rPr sz="1600" b="0">
                <a:solidFill>
                  <a:srgbClr val="000000"/>
                </a:solidFill>
                <a:latin typeface="맑은 고딕"/>
                <a:ea typeface="맑은 고딕"/>
              </a:rPr>
              <a:t> —</a:t>
            </a:r>
            <a:r>
              <a:rPr sz="1400" b="0">
                <a:solidFill>
                  <a:srgbClr val="000000"/>
                </a:solidFill>
                <a:latin typeface="맑은 고딕"/>
                <a:ea typeface="맑은 고딕"/>
              </a:rPr>
              <a:t> 용어 정렬과 용어집 정제, 교차검토, 분석 과잉 경계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04. 동적 모델 —</a:t>
            </a:r>
            <a:r>
              <a:rPr sz="1400" b="1">
                <a:solidFill>
                  <a:srgbClr val="000000"/>
                </a:solidFill>
                <a:latin typeface="맑은 고딕"/>
                <a:ea typeface="맑은 고딕"/>
              </a:rPr>
              <a:t> 상호작용과 상태</a:t>
            </a:r>
            <a:r>
              <a:rPr sz="14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 (1/3)</vt:lpstr>
      <vt:lpstr>03. 정적 모델 목차 (2/3)</vt:lpstr>
      <vt:lpstr>03. 정적 모델 목차 (3/3)</vt:lpstr>
      <vt:lpstr>01. 세션 목표</vt:lpstr>
      <vt:lpstr>02. 요구와 정적 모델</vt:lpstr>
      <vt:lpstr>03. 도메인</vt:lpstr>
      <vt:lpstr>04. 정적 모델</vt:lpstr>
      <vt:lpstr>05. 정적·동적 모델 (1/2)</vt:lpstr>
      <vt:lpstr>05. 정적·동적 모델 (2/2)</vt:lpstr>
      <vt:lpstr>06. 상태 값과 상태 전이 (1/3) 클래스·상태 기계 다이어그램</vt:lpstr>
      <vt:lpstr>06. 상태 값과 상태 전이 (2/3) 클래스·상태 기계 다이어그램</vt:lpstr>
      <vt:lpstr>06. 상태 값과 상태 전이 (3/3) 클래스·상태 기계 다이어그램</vt:lpstr>
      <vt:lpstr>07. 도메인 모델</vt:lpstr>
      <vt:lpstr>08. 도메인 모델의 위치</vt:lpstr>
      <vt:lpstr>09. 클래스 다이어그램 (1/2)</vt:lpstr>
      <vt:lpstr>09. 클래스 다이어그램 (2/2)</vt:lpstr>
      <vt:lpstr>10. 클래스 유형 (1/4) 클래스 다이어그램</vt:lpstr>
      <vt:lpstr>10. 클래스 유형 (2/4) 클래스 다이어그램</vt:lpstr>
      <vt:lpstr>10. 클래스 유형 (3/4) 클래스 다이어그램</vt:lpstr>
      <vt:lpstr>10. 클래스 유형 (4/4) 클래스 다이어그램</vt:lpstr>
      <vt:lpstr>11. 관계 유형 (1/3) 클래스 다이어그램</vt:lpstr>
      <vt:lpstr>11. 관계 유형 (2/3) 클래스 다이어그램</vt:lpstr>
      <vt:lpstr>11. 관계 유형 (3/3) 클래스 다이어그램</vt:lpstr>
      <vt:lpstr>12. 정보공학과 데이터 모델링</vt:lpstr>
      <vt:lpstr>13. 데이터 모델과 도메인 모델</vt:lpstr>
      <vt:lpstr>14. 모델 요소의 대응</vt:lpstr>
      <vt:lpstr>15. 같은 사례, 두 모델 (1/3) ERD·클래스 다이어그램</vt:lpstr>
      <vt:lpstr>15. 같은 사례, 두 모델 (2/3) ERD·클래스 다이어그램</vt:lpstr>
      <vt:lpstr>15. 같은 사례, 두 모델 (3/3) ERD·클래스 다이어그램</vt:lpstr>
      <vt:lpstr>16. 도메인 개념</vt:lpstr>
      <vt:lpstr>17. 개념 범주</vt:lpstr>
      <vt:lpstr>18. 유스케이스 어휘 (1/2)</vt:lpstr>
      <vt:lpstr>18. 유스케이스 어휘 (2/2)</vt:lpstr>
      <vt:lpstr>19. 명사 추출의 한계</vt:lpstr>
      <vt:lpstr>20. 개념과 속성</vt:lpstr>
      <vt:lpstr>21. 속성 값의 의미</vt:lpstr>
      <vt:lpstr>22. 속성 도메인</vt:lpstr>
      <vt:lpstr>23. 속성 수준 업무 규칙</vt:lpstr>
      <vt:lpstr>24. 규칙의 소유</vt:lpstr>
      <vt:lpstr>25. 파생 속성 클래스 다이어그램</vt:lpstr>
      <vt:lpstr>26. 참조와 연관 클래스 다이어그램</vt:lpstr>
      <vt:lpstr>27. 연관 클래스 다이어그램</vt:lpstr>
      <vt:lpstr>28. 필요한 연관</vt:lpstr>
      <vt:lpstr>29. 다중성 클래스 다이어그램</vt:lpstr>
      <vt:lpstr>30. 다중성과 업무 규칙 클래스 다이어그램</vt:lpstr>
      <vt:lpstr>31. 평면 모델 클래스 다이어그램</vt:lpstr>
      <vt:lpstr>32. 주문과 주문 항목 클래스 다이어그램</vt:lpstr>
      <vt:lpstr>33. 연관 클래스 (1/2) 클래스 다이어그램</vt:lpstr>
      <vt:lpstr>33. 연관 클래스 (2/2) 클래스 다이어그램</vt:lpstr>
      <vt:lpstr>34. 명세 개념 클래스 다이어그램</vt:lpstr>
      <vt:lpstr>35. 현재 값과 확정 값 클래스 다이어그램</vt:lpstr>
      <vt:lpstr>36. 같은 구조, 다른 의미</vt:lpstr>
      <vt:lpstr>37. 일반화 클래스 다이어그램</vt:lpstr>
      <vt:lpstr>38. 전체와 부분 클래스 다이어그램</vt:lpstr>
      <vt:lpstr>39. 제약 클래스 다이어그램</vt:lpstr>
      <vt:lpstr>40. 용어 정렬</vt:lpstr>
      <vt:lpstr>41. 동의어와 동음이의어</vt:lpstr>
      <vt:lpstr>42. 용어집 정제</vt:lpstr>
      <vt:lpstr>43. 모델 작성 절차</vt:lpstr>
      <vt:lpstr>44. 도메인 모델 — 초안 (1/2) 클래스 다이어그램</vt:lpstr>
      <vt:lpstr>44. 도메인 모델 — 초안 (2/2) 클래스 다이어그램</vt:lpstr>
      <vt:lpstr>45. 도메인 모델 — 상세화 (1/6) 클래스 다이어그램</vt:lpstr>
      <vt:lpstr>45. 도메인 모델 — 상세화 (2/6) 클래스 다이어그램</vt:lpstr>
      <vt:lpstr>45. 도메인 모델 — 상세화 (3/6) 클래스 다이어그램</vt:lpstr>
      <vt:lpstr>45. 도메인 모델 — 상세화 (4/6) 클래스 다이어그램</vt:lpstr>
      <vt:lpstr>45. 도메인 모델 — 상세화 (5/6) 클래스 다이어그램</vt:lpstr>
      <vt:lpstr>45. 도메인 모델 — 상세화 (6/6) 클래스 다이어그램</vt:lpstr>
      <vt:lpstr>46. 개념의 묶음 — 패키지</vt:lpstr>
      <vt:lpstr>47. 패키지 기준</vt:lpstr>
      <vt:lpstr>48. 도메인 모델 — 패키지별 (1/2) 패키지 다이어그램</vt:lpstr>
      <vt:lpstr>48. 도메인 모델 — 패키지별 (2/2) 패키지 다이어그램</vt:lpstr>
      <vt:lpstr>49. 잘못된 관행 — 분석 과잉</vt:lpstr>
      <vt:lpstr>50. 잘못된 관행 — 구현 요소 클래스 다이어그램</vt:lpstr>
      <vt:lpstr>51. 잘못된 관행 — 규칙 없는 속성</vt:lpstr>
      <vt:lpstr>52. 잘못된 관행 — 관계 남용</vt:lpstr>
      <vt:lpstr>53. 잘못된 관행 — 거대 개념·모호한 이름</vt:lpstr>
      <vt:lpstr>54. 잘못된 관행 — 범위·시점</vt:lpstr>
      <vt:lpstr>55. 모델의 유용성</vt:lpstr>
      <vt:lpstr>56. 시나리오 교차검토</vt:lpstr>
      <vt:lpstr>57. 누락과 모순</vt:lpstr>
      <vt:lpstr>58. 정적 모델의 한계</vt:lpstr>
      <vt:lpstr>59. 실습 — 도메인 모델</vt:lpstr>
      <vt:lpstr>60. 도메인 모델 초안 (안)</vt:lpstr>
      <vt:lpstr>61. 도메인 모델 상세 (안)</vt:lpstr>
      <vt:lpstr>62. 이전 산출물 보완 (안)</vt:lpstr>
      <vt:lpstr>63.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