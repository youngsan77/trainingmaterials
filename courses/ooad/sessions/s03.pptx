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「32. 유스케이스 상세화」에 있는 「주문을 관리한다」 명세의 주문 취소 대안 흐름 결과, 정제된 SSD는 "02. 요구 분석과 유스케이스"의 「43. 정제된 SSD」, 배송지 변경은 "02. 요구 분석과 유스케이스"의 「44.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「55. 누락과 모순」에서 정리한다.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다룬다(「54. 시나리오 교차검토」).</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2nd ed., Chapter 11 ["Finding Associations—Common Associations List"](https://www.oreilly.com/library/view/applying-uml-and/0130925691/0130925691_ch11lev1sec4.html)의 Table 11.1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§10.1 "Domain Models"의 각주 2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흔하다(「47. 잘못된 관행 — 분석 과잉」).</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Chapter 10 "Finding Conceptual Classes with Noun Phrase Identification" 원문 확인.</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「32.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"Specification or Description Conceptual Classes". 이 사례의 상품은 이미 명세 개념이다. 개별 실물 요구가 확인될 때 재고 품목을 추가한다(「53. 모델의 유용성」). 이 사례에서 재고는 상품 시스템이 소유하므로 주문 시스템의 모델에는 두지 않는다.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열은 교육용 초안이다. 요구 분석에서 시작한 용어를 이어서 정제한다. 확인 질문 열이 비어 있지 않다는 것이 용어집이 살아 있다는 증거다.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가정이다(「55.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개념 묶음까지만 다룬다. 패키지를 경계로 판단하고 의존성 방향을 정하는 일은 "05. 구조적 경계와 의존성"에서 다룬다. 의존 화살표는 그때 쓴다.</a:t>
            </a:r>
          </a:p>
          <a:p>
            <a:pPr lvl="0"/>
            <a:r>
              <a:rPr lang="ko-KR" sz="1200"/>
              <a:t>패키지는 주문 시스템 안의 개념 묶음이다. 상품·배송 패키지의 개념은 외부 시스템의 정보를 주문 시스템 쪽에서 기억하는 것이다.</a:t>
            </a:r>
          </a:p>
          <a:p>
            <a:pPr lvl="0"/>
            <a:r>
              <a:rPr lang="ko-KR" sz="1200"/>
              <a:t>표기 기준: OMG [UML 2.5.1](https://www.omg.org/spec/UML/2.5.1/PDF), §12 Packages.</a:t>
            </a:r>
          </a:p>
          <a:p>
            <a:pPr lvl="0"/>
            <a:r>
              <a:rPr lang="ko-KR" sz="1200"/>
              <a:t>패키지 사이 의존 방향의 판단은 "05. 구조적 경계와 의존성"에서 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「53. 모델의 유용성」과 「56. 정적 모델의 한계」의 판단을 잘못된 예로 되짚는다.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「30.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시간 배분은 전체 SA 완성 후 정한다.</a:t>
            </a:r>
          </a:p>
          <a:p>
            <a:pPr lvl="0"/>
            <a:r>
              <a:rPr lang="ko-KR" sz="1200"/>
              <a:t>"02. 요구 분석과 유스케이스"의 「57. 실습 — 모델로 바꾸기」에서 정한 유스케이스(정기배송을 관리한다)와 대안 흐름(다음 배송 건너뛰기), 성공 경로 전제를 유지한다.</a:t>
            </a:r>
          </a:p>
          <a:p>
            <a:pPr lvl="0"/>
            <a:r>
              <a:rPr lang="ko-KR" sz="1200"/>
              <a:t>세부 검토 기준(충족 / 보완):</a:t>
            </a:r>
          </a:p>
          <a:p>
            <a:pPr lvl="1"/>
            <a:r>
              <a:rPr lang="ko-KR" sz="1200"/>
              <a:t>개념 구분 — 정기배송·배송 회차·결제 승인을 구분한다 / "건너뛰기 버튼"을 개념으로 둔다</a:t>
            </a:r>
          </a:p>
          <a:p>
            <a:pPr lvl="1"/>
            <a:r>
              <a:rPr lang="ko-KR" sz="1200"/>
              <a:t>다중성 — 회차와 결제 승인의 관계를 질문과 함께 제시한다 / 근거 없이 1로 확정한다</a:t>
            </a:r>
          </a:p>
          <a:p>
            <a:pPr lvl="1"/>
            <a:r>
              <a:rPr lang="ko-KR" sz="1200"/>
              <a:t>상태 — 회차 상태 값과 48시간 규칙을 분리한다 / 48시간 조건을 속성이나 개념으로 만든다</a:t>
            </a:r>
          </a:p>
          <a:p>
            <a:pPr lvl="1"/>
            <a:r>
              <a:rPr lang="ko-KR" sz="1200"/>
              <a:t>제약 — 연속 2회를 판단할 정보(회차 순서·상태)가 있는지 확인한다 / 규칙만 나열한다</a:t>
            </a:r>
          </a:p>
          <a:p>
            <a:pPr lvl="1"/>
            <a:r>
              <a:rPr lang="ko-KR" sz="1200"/>
              <a:t>구현 요소 — 키·메서드·화면이 없다 / 건너뛰기()나 회차ID가 있다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추가 질문: 승인된 결제는 취소·환불·이월 중 무엇인가? 연속 횟수는 언제 초기화되는가?</a:t>
            </a:r>
          </a:p>
          <a:p>
            <a:pPr lvl="0"/>
            <a:r>
              <a:rPr lang="ko-KR" sz="1200"/>
              <a:t>건너뛰기를 별도 개념이 아니라 회차 상태 값으로 둔 것은 판단의 예다. 사유·요청 일시를 기록해야 하면 별도 개념이 될 수 있다.</a:t>
            </a:r>
          </a:p>
          <a:p>
            <a:pPr lvl="0"/>
            <a:r>
              <a:rPr lang="ko-KR" sz="1200"/>
              <a:t>정기배송 항목의 가격이 신청 시점에 확정되는지도 질문이다(「35. 현재 값과 확정 값」).</a:t>
            </a:r>
          </a:p>
          <a:p>
            <a:pPr lvl="0"/>
            <a:r>
              <a:rPr lang="ko-KR" sz="1200"/>
              <a:t>정기배송–주문 연결을 추측으로 그리지 않은 것이 핵심이다. 질문을 남긴 것을 감점하지 않는다.</a:t>
            </a:r>
          </a:p>
          <a:p>
            <a:pPr lvl="0"/>
            <a:r>
              <a:rPr lang="ko-KR" sz="1200"/>
              <a:t>토론 질문: 왜 이것을 개념(또는 속성)으로 판단했는가? 아직 무엇을 모르는가?</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48.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53. 모델의 유용성</a:t>
            </a:r>
          </a:p>
          <a:p>
            <a:pPr lvl="1" marL="355600" indent="0">
              <a:spcBef>
                <a:spcPts val="300"/>
              </a:spcBef>
              <a:spcAft>
                <a:spcPts val="300"/>
              </a:spcAft>
              <a:buNone/>
            </a:pPr>
            <a:r>
              <a:rPr sz="1600" b="0">
                <a:solidFill>
                  <a:srgbClr val="000000"/>
                </a:solidFill>
                <a:latin typeface="맑은 고딕"/>
                <a:ea typeface="맑은 고딕"/>
              </a:rPr>
              <a:t>54. 시나리오 교차검토</a:t>
            </a:r>
          </a:p>
          <a:p>
            <a:pPr lvl="1" marL="355600" indent="0">
              <a:spcBef>
                <a:spcPts val="300"/>
              </a:spcBef>
              <a:spcAft>
                <a:spcPts val="300"/>
              </a:spcAft>
              <a:buNone/>
            </a:pPr>
            <a:r>
              <a:rPr sz="1600" b="0">
                <a:solidFill>
                  <a:srgbClr val="000000"/>
                </a:solidFill>
                <a:latin typeface="맑은 고딕"/>
                <a:ea typeface="맑은 고딕"/>
              </a:rPr>
              <a:t>55. 누락과 모순</a:t>
            </a:r>
          </a:p>
          <a:p>
            <a:pPr lvl="1" marL="355600" indent="0">
              <a:spcBef>
                <a:spcPts val="300"/>
              </a:spcBef>
              <a:spcAft>
                <a:spcPts val="300"/>
              </a:spcAft>
              <a:buNone/>
            </a:pPr>
            <a:r>
              <a:rPr sz="1600" b="0">
                <a:solidFill>
                  <a:srgbClr val="000000"/>
                </a:solidFill>
                <a:latin typeface="맑은 고딕"/>
                <a:ea typeface="맑은 고딕"/>
              </a:rPr>
              <a:t>56. 정적 모델의 한계</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검토 예시</a:t>
            </a:r>
          </a:p>
          <a:p>
            <a:pPr lvl="1" marL="355600" indent="0">
              <a:spcBef>
                <a:spcPts val="300"/>
              </a:spcBef>
              <a:spcAft>
                <a:spcPts val="300"/>
              </a:spcAft>
              <a:buNone/>
            </a:pPr>
            <a:r>
              <a:rPr sz="1600" b="0">
                <a:solidFill>
                  <a:srgbClr val="000000"/>
                </a:solidFill>
                <a:latin typeface="맑은 고딕"/>
                <a:ea typeface="맑은 고딕"/>
              </a:rPr>
              <a:t>59.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- 50 -</a:t>
            </a:r>
          </a:p>
        </p:txBody>
      </p:sp>
    </p:spTree>
    <p:extLst>
      <p:ext uri="{BB962C8B-B14F-4D97-AF65-F5344CB8AC3E}">
        <p14:creationId xmlns:p14="http://schemas.microsoft.com/office/powerpoint/2010/main" val="27895694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7976" y="1842998"/>
          <a:ext cx="6474460" cy="3873500"/>
        </p:xfrm>
        <a:graphic>
          <a:graphicData uri="http://schemas.openxmlformats.org/drawingml/2006/table">
            <a:tbl>
              <a:tblPr/>
              <a:tblGrid>
                <a:gridCol w="947420"/>
                <a:gridCol w="326644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모델의 이름이 </a:t>
            </a:r>
            <a:r>
              <a:rPr sz="1800" b="1">
                <a:solidFill>
                  <a:srgbClr val="000000"/>
                </a:solidFill>
                <a:latin typeface="맑은 고딕"/>
                <a:ea typeface="맑은 고딕"/>
              </a:rPr>
              <a:t>무엇을 뜻하는지</a:t>
            </a:r>
            <a:r>
              <a:rPr sz="1800" b="0">
                <a:solidFill>
                  <a:srgbClr val="000000"/>
                </a:solidFill>
                <a:latin typeface="맑은 고딕"/>
                <a:ea typeface="맑은 고딕"/>
              </a:rPr>
              <a:t> 문장으로 고정한다.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있다(전체 취소 전제의 </a:t>
            </a:r>
            <a:r>
              <a:rPr sz="1600" b="1">
                <a:solidFill>
                  <a:srgbClr val="000000"/>
                </a:solidFill>
                <a:latin typeface="맑은 고딕"/>
                <a:ea typeface="맑은 고딕"/>
              </a:rPr>
              <a:t>교육용 가정</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개념의 묶음 — 패키지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도메인의 개념을 업무 의미로 묶은 </a:t>
            </a:r>
            <a:r>
              <a:rPr sz="1600" b="1">
                <a:solidFill>
                  <a:srgbClr val="000000"/>
                </a:solidFill>
                <a:latin typeface="맑은 고딕"/>
                <a:ea typeface="맑은 고딕"/>
              </a:rPr>
              <a:t>분석 패키지</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묶는 기준은 </a:t>
            </a:r>
            <a:r>
              <a:rPr sz="1600" b="1">
                <a:solidFill>
                  <a:srgbClr val="000000"/>
                </a:solidFill>
                <a:latin typeface="맑은 고딕"/>
                <a:ea typeface="맑은 고딕"/>
              </a:rPr>
              <a:t>업무 의미</a:t>
            </a:r>
            <a:r>
              <a:rPr sz="1600" b="0">
                <a:solidFill>
                  <a:srgbClr val="000000"/>
                </a:solidFill>
                <a:latin typeface="맑은 고딕"/>
                <a:ea typeface="맑은 고딕"/>
              </a:rPr>
              <a:t>다. 화면·서비스·DB 같은 기술 계층으로 묶지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패키지 경계를 </a:t>
            </a:r>
            <a:r>
              <a:rPr sz="1600" b="1">
                <a:solidFill>
                  <a:srgbClr val="000000"/>
                </a:solidFill>
                <a:latin typeface="맑은 고딕"/>
                <a:ea typeface="맑은 고딕"/>
              </a:rPr>
              <a:t>넘는 연관</a:t>
            </a:r>
            <a:r>
              <a:rPr sz="1600" b="0">
                <a:solidFill>
                  <a:srgbClr val="000000"/>
                </a:solidFill>
                <a:latin typeface="맑은 고딕"/>
                <a:ea typeface="맑은 고딕"/>
              </a:rPr>
              <a:t>이 경계와 의존성 방향을 판단하는 단서다.</a:t>
            </a:r>
          </a:p>
        </p:txBody>
      </p:sp>
      <p:pic>
        <p:nvPicPr>
          <p:cNvPr id="9" name="plantuml Diagram 26"/>
          <p:cNvPicPr>
            <a:picLocks noChangeAspect="1"/>
          </p:cNvPicPr>
          <p:nvPr/>
        </p:nvPicPr>
        <p:blipFill>
          <a:blip r:embed="plantumlImage26"/>
          <a:stretch>
            <a:fillRect/>
          </a:stretch>
        </p:blipFill>
        <p:spPr>
          <a:xfrm>
            <a:off x="2344615" y="323262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 실습의 정기배송 요청을 이어서, 이번에는 </a:t>
            </a:r>
            <a:r>
              <a:rPr sz="1800" b="1">
                <a:solidFill>
                  <a:srgbClr val="000000"/>
                </a:solidFill>
                <a:latin typeface="맑은 고딕"/>
                <a:ea typeface="맑은 고딕"/>
              </a:rPr>
              <a:t>정적 의미</a:t>
            </a:r>
            <a:r>
              <a:rPr sz="1800" b="0">
                <a:solidFill>
                  <a:srgbClr val="000000"/>
                </a:solidFill>
                <a:latin typeface="맑은 고딕"/>
                <a:ea typeface="맑은 고딕"/>
              </a:rPr>
              <a:t>를 모델로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08380" indent="-284480">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개념·속성·해결책 요소 구분</a:t>
            </a:r>
          </a:p>
          <a:p>
            <a:pPr lvl="3" marL="1008380" indent="-284480">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연관·다중성, 모르는 다중성은 질문으로</a:t>
            </a:r>
          </a:p>
          <a:p>
            <a:pPr lvl="3" marL="1008380" indent="-284480">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속성의 값 종류와 정적 제약</a:t>
            </a:r>
          </a:p>
          <a:p>
            <a:pPr lvl="3" marL="1008380" indent="-284480">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용어집 초안</a:t>
            </a:r>
          </a:p>
          <a:p>
            <a:pPr lvl="3" marL="1008380" indent="-284480">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네 조건을 정적 제약·전이 규칙·질문으로 분류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모델을 문장으로 읽으며 검토</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도메인 모델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명사를 </a:t>
            </a:r>
            <a:r>
              <a:rPr sz="1600" b="1">
                <a:solidFill>
                  <a:srgbClr val="000000"/>
                </a:solidFill>
                <a:latin typeface="맑은 고딕"/>
                <a:ea typeface="맑은 고딕"/>
              </a:rPr>
              <a:t>기계적으로</a:t>
            </a:r>
            <a:r>
              <a:rPr sz="1600" b="0">
                <a:solidFill>
                  <a:srgbClr val="000000"/>
                </a:solidFill>
                <a:latin typeface="맑은 고딕"/>
                <a:ea typeface="맑은 고딕"/>
              </a:rPr>
              <a:t> 옮기지 않았는가?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연관에 </a:t>
            </a:r>
            <a:r>
              <a:rPr sz="1600" b="1">
                <a:solidFill>
                  <a:srgbClr val="000000"/>
                </a:solidFill>
                <a:latin typeface="맑은 고딕"/>
                <a:ea typeface="맑은 고딕"/>
              </a:rPr>
              <a:t>이름과 다중성</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현재 값과 확정 값</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 요소가 없는가?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값과 전이 규칙</a:t>
            </a:r>
            <a:r>
              <a:rPr sz="1600" b="0">
                <a:solidFill>
                  <a:srgbClr val="000000"/>
                </a:solidFill>
                <a:latin typeface="맑은 고딕"/>
                <a:ea typeface="맑은 고딕"/>
              </a:rPr>
              <a:t>을 구분했는가?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미확인 정책</a:t>
            </a:r>
            <a:r>
              <a:rPr sz="1600" b="0">
                <a:solidFill>
                  <a:srgbClr val="000000"/>
                </a:solidFill>
                <a:latin typeface="맑은 고딕"/>
                <a:ea typeface="맑은 고딕"/>
              </a:rPr>
              <a:t>을 질문으로 남겼는가?</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실습 — 검토 예시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94116" y="4862909"/>
          <a:ext cx="4742180" cy="3873500"/>
        </p:xfrm>
        <a:graphic>
          <a:graphicData uri="http://schemas.openxmlformats.org/drawingml/2006/table">
            <a:tbl>
              <a:tblPr/>
              <a:tblGrid>
                <a:gridCol w="1617980"/>
                <a:gridCol w="13106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모델과의 연결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48시간 전까지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연속 2회 초과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제약·전이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번호·회차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 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회차–결제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다음 배송일 안내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주기·예정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검토 예는 유일한 정답이 아니다. </a:t>
            </a:r>
            <a:r>
              <a:rPr sz="1800" b="1">
                <a:solidFill>
                  <a:srgbClr val="000000"/>
                </a:solidFill>
                <a:latin typeface="맑은 고딕"/>
                <a:ea typeface="맑은 고딕"/>
              </a:rPr>
              <a:t>결제 전·마감 전·연속 제한에 걸리지 않는 고객 본인의 배송 건</a:t>
            </a:r>
            <a:r>
              <a:rPr sz="1800" b="0">
                <a:solidFill>
                  <a:srgbClr val="000000"/>
                </a:solidFill>
                <a:latin typeface="맑은 고딕"/>
                <a:ea typeface="맑은 고딕"/>
              </a:rPr>
              <a:t>이라는 전제를 유지한다.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9829"/>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가정</a:t>
            </a:r>
            <a:r>
              <a:rPr sz="1800" b="0">
                <a:solidFill>
                  <a:srgbClr val="000000"/>
                </a:solidFill>
                <a:latin typeface="맑은 고딕"/>
                <a:ea typeface="맑은 고딕"/>
              </a:rPr>
              <a:t> —</a:t>
            </a:r>
            <a:r>
              <a:rPr sz="1600" b="0">
                <a:solidFill>
                  <a:srgbClr val="000000"/>
                </a:solidFill>
                <a:latin typeface="맑은 고딕"/>
                <a:ea typeface="맑은 고딕"/>
              </a:rPr>
              <a:t> 회차 상태 </a:t>
            </a:r>
            <a:r>
              <a:rPr sz="1600" b="0">
                <a:solidFill>
                  <a:srgbClr val="000000"/>
                </a:solidFill>
                <a:latin typeface="맑은 고딕"/>
                <a:ea typeface="맑은 고딕"/>
              </a:rPr>
              <a:t>예정</a:t>
            </a:r>
            <a:r>
              <a:rPr sz="1600" b="0">
                <a:solidFill>
                  <a:srgbClr val="000000"/>
                </a:solidFill>
                <a:latin typeface="맑은 고딕"/>
                <a:ea typeface="맑은 고딕"/>
              </a:rPr>
              <a:t>·</a:t>
            </a:r>
            <a:r>
              <a:rPr sz="1600" b="0">
                <a:solidFill>
                  <a:srgbClr val="000000"/>
                </a:solidFill>
                <a:latin typeface="맑은 고딕"/>
                <a:ea typeface="맑은 고딕"/>
              </a:rPr>
              <a:t>건너뜀</a:t>
            </a:r>
            <a:r>
              <a:rPr sz="1600" b="0">
                <a:solidFill>
                  <a:srgbClr val="000000"/>
                </a:solidFill>
                <a:latin typeface="맑은 고딕"/>
                <a:ea typeface="맑은 고딕"/>
              </a:rPr>
              <a:t>·</a:t>
            </a:r>
            <a:r>
              <a:rPr sz="1600" b="0">
                <a:solidFill>
                  <a:srgbClr val="000000"/>
                </a:solidFill>
                <a:latin typeface="맑은 고딕"/>
                <a:ea typeface="맑은 고딕"/>
              </a:rPr>
              <a:t>배송됨</a:t>
            </a:r>
            <a:r>
              <a:rPr sz="1600" b="0">
                <a:solidFill>
                  <a:srgbClr val="000000"/>
                </a:solidFill>
                <a:latin typeface="맑은 고딕"/>
                <a:ea typeface="맑은 고딕"/>
              </a:rPr>
              <a:t>, 회차마다 결제 승인 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회차마다 주문이 생기는가? 승인된 결제는 어떻게 처리하는가?</a:t>
            </a:r>
          </a:p>
        </p:txBody>
      </p:sp>
      <p:pic>
        <p:nvPicPr>
          <p:cNvPr id="15" name="plantuml Diagram 28"/>
          <p:cNvPicPr>
            <a:picLocks noChangeAspect="1"/>
          </p:cNvPicPr>
          <p:nvPr/>
        </p:nvPicPr>
        <p:blipFill>
          <a:blip r:embed="plantumlImage28"/>
          <a:stretch>
            <a:fillRect/>
          </a:stretch>
        </p:blipFill>
        <p:spPr>
          <a:xfrm>
            <a:off x="877321" y="1842998"/>
            <a:ext cx="7375769" cy="189523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82</Slides>
  <Notes>59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82</vt:i4>
      </vt:variant>
    </vt:vector>
  </HeadingPairs>
  <TitlesOfParts>
    <vt:vector size="86" baseType="lpstr">
      <vt:lpstr>맑은 고딕</vt:lpstr>
      <vt:lpstr>Arial</vt:lpstr>
      <vt:lpstr>Wingdings</vt:lpstr>
      <vt:lpstr>4_Office 테마</vt:lpstr>
      <vt:lpstr>03. 정적 모델 목차 (1/2)</vt:lpstr>
      <vt:lpstr>03. 정적 모델 목차 (2/2)</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 (1/2)</vt:lpstr>
      <vt:lpstr>46. 개념의 묶음 — 패키지 (2/2)</vt:lpstr>
      <vt:lpstr>47. 잘못된 관행 — 분석 과잉</vt:lpstr>
      <vt:lpstr>48. 잘못된 관행 — 구현 요소 클래스 다이어그램</vt:lpstr>
      <vt:lpstr>49. 잘못된 관행 — 규칙 없는 속성</vt:lpstr>
      <vt:lpstr>50. 잘못된 관행 — 관계 남용</vt:lpstr>
      <vt:lpstr>51. 잘못된 관행 — 거대 개념·모호한 이름</vt:lpstr>
      <vt:lpstr>52. 잘못된 관행 — 범위·시점</vt:lpstr>
      <vt:lpstr>53. 모델의 유용성</vt:lpstr>
      <vt:lpstr>54. 시나리오 교차검토</vt:lpstr>
      <vt:lpstr>55. 누락과 모순</vt:lpstr>
      <vt:lpstr>56. 정적 모델의 한계</vt:lpstr>
      <vt:lpstr>57. 실습 — 도메인 모델 (1/2)</vt:lpstr>
      <vt:lpstr>57. 실습 — 도메인 모델 (2/2)</vt:lpstr>
      <vt:lpstr>58. 실습 — 검토 예시 클래스 다이어그램</vt:lpstr>
      <vt:lpstr>59.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