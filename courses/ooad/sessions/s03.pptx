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유스케이스"가 요구를 행위 관점으로 구조화했다면, 이 세션은 그 행위가 전제하는 정적 의미 구조를 다룬다. 설계 클래스로의 전환은 "06. 분석 모델에서 설계 모델로", 객체 책임은 "07. 책임·협력·계약"에서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취소는 "02. 요구 분석과 유스케이스"의 「33. 유스케이스 상세화」에 있는 「주문을 관리한다」 명세의 주문 취소 대안 흐름 결과, 정제된 SSD는 "02. 요구 분석과 유스케이스"의 「44. 정제된 SSD」, 배송지 변경은 "02. 요구 분석과 유스케이스"의 「45. 시스템 오퍼레이션과 계약」에 있는 오퍼레이션 계약이다. 전제(결제 완료·배송 시작 전 전체 취소, 출고 전 배송지 변경)를 그대로 사용한다.</a:t>
            </a:r>
          </a:p>
          <a:p>
            <a:pPr lvl="0"/>
            <a:r>
              <a:rPr lang="ko-KR" sz="1200"/>
              <a:t>모델을 그리다 용어가 모호하다는 사실을 발견하면 요구로 되돌아간다. 어디로 되돌리는지는 「57. 누락과 모순」에서 정리한다.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[Domain-Driven Design Reference](https://www.domainlanguage.com/wp-content/uploads/2016/05/DDD_Reference_2015-03.pdf), 2015, "Definitions" — 지식·영향·활동의 영역, 사용자가 프로그램을 적용하는 주제 영역. 본문은 수업의 말로 풀어 썼다.</a:t>
            </a:r>
          </a:p>
          <a:p>
            <a:pPr lvl="0"/>
            <a:r>
              <a:rPr lang="ko-KR" sz="1200"/>
              <a:t>이 세션은 "02. 요구 분석과 유스케이스"에서 정한 주문 시스템의 범위 안에서 모델링한다. 도메인을 하위 영역과 경계로 나누는 판단은 "13. OOAD에서 전문영역으로 — Architecture · DDD · MSA"에서 확장한다.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Evans, *Domain-Driven Design*(2003) 원서 본문은 미확인이다(www). 재인용처: "Domain Model Definition — System Architecture"(dckms 문서). 영어 문구가 이 페이지와 일치함을 확인했다.</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있다("10. 기술 제약과 도메인 의미 보존").</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다이어그램의 표기와 작성법은 "04. 동적 모델 — 상호작용과 상태"의 「11. 상호작용」부터 다룬다. 이 세션은 정적 모델이 네 다이어그램에 무엇을 주고 무엇을 돌려받는지만 본다.</a:t>
            </a:r>
          </a:p>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"04. 동적 모델 — 상호작용과 상태"에서 다룬다. 이 세션은 유스케이스의 흐름·사후조건과 대조하는 수준까지 다룬다(「56. 시나리오 교차검토」).</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 §6.3.1(객체의 상태).</a:t>
            </a:r>
          </a:p>
          <a:p>
            <a:pPr lvl="0"/>
            <a:r>
              <a:rPr lang="ko-KR" sz="1200"/>
              <a:t>주문 상태 값 목록은 교육용 가정이다.</a:t>
            </a:r>
          </a:p>
          <a:p>
            <a:pPr lvl="0"/>
            <a:r>
              <a:rPr lang="ko-KR" sz="1200"/>
              <a:t>상태 기계는 대비를 위한 미리보기다. 전이는 결제 완료·배송 시작 전 전체 취소라는 기존 전제와 일치하는 것만 그렸다. 가드·시간 이벤트와 금지된 전이는 "04. 동적 모델 — 상호작용과 상태"에서 다룬다.</a:t>
            </a:r>
          </a:p>
          <a:p>
            <a:pPr lvl="0"/>
            <a:r>
              <a:rPr lang="ko-KR" sz="1200"/>
              <a:t>"배송 시작 전"과 "출고 전"은 동의어로 가정하지 않는다. 이 세션은 질문으로 식별하고, 실제 사건·상태 관계는 다음 세션에서 확인한다.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3rd ed.(2004), §9.2 "What is a Domain Model?" 원문 확인. 같은 절은 도메인 모델을 영역의 주목할 만한 추상·어휘·정보를 담은 "시각적 사전(visual dictionary)"이라고 설명한다.</a:t>
            </a:r>
          </a:p>
          <a:p>
            <a:pPr lvl="0"/>
            <a:r>
              <a:rPr lang="ko-KR" sz="1200"/>
              <a:t>분석 모델에서 설계 모델로의 전환은 "06. 분석 모델에서 설계 모델로", DDD의 도메인 모델과의 관계는 "13. OOAD에서 전문영역으로 — Architecture · DDD · MSA"에서 다룬다.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 모델로의 전환은 "06. 분석 모델에서 설계 모델로", 물리 모델과 매핑은 "10. 기술 제약과 도메인 의미 보존"에서 다룬다.</a:t>
            </a:r>
          </a:p>
          <a:p>
            <a:pPr lvl="0"/>
            <a:r>
              <a:rPr lang="ko-KR" sz="1200"/>
              <a:t>층을 나누는 것은 작업 순서를 강제하려는 것이 아니다. 같은 대상을 서로 다른 질문으로 본다는 뜻이다.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3rd ed., §9.2 원문 확인 — 도메인 모델은 오퍼레이션(메서드 시그니처)을 정의하지 않은 클래스 다이어그램으로 표현한다.</a:t>
            </a:r>
          </a:p>
          <a:p>
            <a:pPr lvl="0"/>
            <a:r>
              <a:rPr lang="ko-KR" sz="1200"/>
              <a:t>연관 이름은 읽는 방향이 있다. 위 도식은 "고객이 주문을 한다"로 읽는다. 표기가 같아도 의미는 모델의 관점이 정한다.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유형 근거: Peter Coad·Eric Lefebvre·Jeff De Luca, *Java Modeling in Color with UML*, 1999, [Chapter 1 "Archetypes, Color, and the Domain-Neutral Component"](https://dn.embarcadero.com/article/29871)의 네 원형(Moment-Interval, Role, Party·Place·Thing, Description)을 이 과정의 말로 옮겼다. 원서는 색으로 유형을 구분하지만 이 과정은 UML 표기에 바탕색을 쓰지 않고, 도식에는 클래스 이름만 쓴다. 유형은 본문에서 대응시킨다. 거래 항목은 원서에서 순간·기간의 세부 항목으로 다룬다.</a:t>
            </a:r>
          </a:p>
          <a:p>
            <a:pPr lvl="0"/>
            <a:r>
              <a:rPr lang="ko-KR" sz="1200"/>
              <a:t>「17. 개념 범주」는 후보를 찾는 점검표이고, 도메인 유형은 찾은 개념에서 빠진 속성·연관을 예상하는 도구다. 이 사례의 상품은 설명이고, 개별 실물(재고 품목)은 모델에 두지 않았다(「34. 명세 개념」).</a:t>
            </a:r>
          </a:p>
          <a:p>
            <a:pPr lvl="0"/>
            <a:r>
              <a:rPr lang="ko-KR" sz="1200"/>
              <a:t>같은 사각형이라도 도메인 모델의 사각형은 개념이다(「08. 도메인 모델의 위치」). 인터페이스·오퍼레이션은 설계에서 정한다.</a:t>
            </a:r>
          </a:p>
          <a:p>
            <a:pPr lvl="0"/>
            <a:r>
              <a:rPr lang="ko-KR" sz="1200"/>
              <a:t>데이터 타입은 식별자가 없어 값이 같으면 같은 것이다. 금액 1,000원은 어디에 있든 같은 금액이다. 개념 클래스는 값이 같아도 다른 주문이다.</a:t>
            </a:r>
          </a:p>
          <a:p>
            <a:pPr lvl="0"/>
            <a:r>
              <a:rPr lang="ko-KR" sz="1200"/>
              <a:t>근거: OMG [UML 2.5.1](https://www.omg.org/spec/UML/2.5.1/PDF), §10.2 DataType·Enumeration, §9.2.3.2 추상 분류자, §10.4 Interface.</a:t>
            </a:r>
          </a:p>
          <a:p>
            <a:pPr lvl="0"/>
            <a:r>
              <a:rPr lang="ko-KR" sz="1200"/>
              <a:t>연관 클래스는 「33. 연관 클래스」, 추상 클래스는 「37. 일반화」에서 자세히 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의미의 분류는 Craig Larman, *Applying UML and Patterns*, 3rd ed.(2004), §9.14 "Guideline: How to Find Associations with a Common Associations List"의 Table 9.2 일부를 도메인 유형에 맞춰 묶은 수업용 정리다.</a:t>
            </a:r>
          </a:p>
          <a:p>
            <a:pPr lvl="0"/>
            <a:r>
              <a:rPr lang="ko-KR" sz="1200"/>
              <a:t>코드의 관계는 설계의 결정이다. 집합과 연관은 코드가 같다(참조 필드). 그래서 도메인 모델은 집합을 쓰지 않는다(「38. 전체와 부분」).</a:t>
            </a:r>
          </a:p>
          <a:p>
            <a:pPr lvl="0"/>
            <a:r>
              <a:rPr lang="ko-KR" sz="1200"/>
              <a:t>의존·실현은 오퍼레이션과 인터페이스가 정해져야 생긴다. 도메인 모델에서는 쓰지 않고 "06. 분석 모델에서 설계 모델로"와 "07. 책임·협력·계약"에서 다룬다.</a:t>
            </a:r>
          </a:p>
          <a:p>
            <a:pPr lvl="0"/>
            <a:r>
              <a:rPr lang="ko-KR" sz="1200"/>
              <a:t>코드는 code/s03/관계유형.java에서 발췌했다. 근거: OMG [UML 2.5.1](https://www.omg.org/spec/UML/2.5.1/PDF), §9.5.3 AggregationKind, §7.7.3.1 Dependency, §10.4.3 InterfaceRealization.</a:t>
            </a:r>
          </a:p>
          <a:p>
            <a:pPr lvl="0"/>
            <a:r>
              <a:rPr lang="ko-KR" sz="1200"/>
              <a:t>연관은 「27. 연관」, 일반화는 「37. 일반화」, 합성은 「38. 전체와 부분」에서 자세히 본다.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§1.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§9.2 "What is a Domain Model?" 원문 확인.</a:t>
            </a:r>
          </a:p>
          <a:p>
            <a:pPr lvl="0"/>
            <a:r>
              <a:rPr lang="ko-KR" sz="1200"/>
              <a:t>Larman의 문장은 두 모델의 목적이 다르다는 뜻이다. 데이터 모델이 쓸모없다는 뜻이 아니다. 같은 장은 속성이 없거나 기억할 정보가 없다는 이유만으로 개념을 빼는 것은 관계형 데이터 모델링의 기준이라고 설명한다(Larman, 3rd ed., Chapter 9, "Definition: Are Domain and Data Models the Same Thing?").</a:t>
            </a:r>
          </a:p>
          <a:p>
            <a:pPr lvl="0"/>
            <a:r>
              <a:rPr lang="ko-KR" sz="1200"/>
              <a:t>실무에서는 데이터 모델조차 제대로 갖추지 않은 채 분석 문서에 시간을 쓰는 경우가 더 흔하다(「49. 잘못된 관행 — 분석 과잉」).</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「22. 속성 도메인」·「23. 속성 수준 업무 규칙」에서 이어서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a:p>
            <a:pPr lvl="0"/>
            <a:r>
              <a:rPr lang="ko-KR" sz="1200"/>
              <a:t>좋은 데이터 모델에서 출발하면 도메인 모델은 크게 바뀌지 않는다. 바뀌는 곳이 곧 의미를 드러낸 곳이다.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모든 질문에 "예"여야 개념인 것은 아니다. 속성이 없어도 업무상 구분되는 개념일 수 있다. 질문은 후보를 거르는 도구이지 채점표가 아니다.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3rd ed., §9.5의 Table 9.1 "Conceptual Class Category List"의 범주 일부를 주문 도메인에 적용했다. 원표 전체가 아니다. 같은 후보가 여러 범주에 나타날 수 있다(주문은 거래이자 사건).</a:t>
            </a:r>
          </a:p>
          <a:p>
            <a:pPr lvl="0"/>
            <a:r>
              <a:rPr lang="ko-KR" sz="1200"/>
              <a:t>원표에는 장소, 담는 것·담기는 것, 기록, 카탈로그, 조직 등도 있다. 필요하면 추가로 점검한다.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§9.5 "Method 3: Finding Conceptual Classes with Noun Phrase Identification" 원문 확인. 같은 곳은 나머지 용어가 다른 문서나 전문가의 머릿속에 있다고 덧붙인다 — 용어집("02. 요구 분석과 유스케이스"의 「18. 용어집」)과 전문가와의 대화가 함께 원천이다.</a:t>
            </a:r>
          </a:p>
          <a:p>
            <a:pPr lvl="0"/>
            <a:r>
              <a:rPr lang="ko-KR" sz="1200"/>
              <a:t>결제 계약의 사후조건(배송을 요청했다)에서 배송 기록이 나온다. 입금·영수증은 회계 시스템의 것이라 개념이 아니다.</a:t>
            </a:r>
          </a:p>
          <a:p>
            <a:pPr lvl="0"/>
            <a:r>
              <a:rPr lang="ko-KR" sz="1200"/>
              <a:t>결제 수단은 이벤트의 파라미터지만 현재 요구에서 기억할 필요가 없어 속성으로 넣지 않는다(「45. 도메인 모델 — 상세화」의 의도적으로 넣지 않은 것).</a:t>
            </a:r>
          </a:p>
          <a:p>
            <a:pPr lvl="0"/>
            <a:r>
              <a:rPr lang="ko-KR" sz="1200"/>
              <a:t>흐름 번호는 "02. 요구 분석과 유스케이스"의 「33. 유스케이스 상세화」와 같다.</a:t>
            </a:r>
          </a:p>
          <a:p>
            <a:pPr lvl="0"/>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 §9.12 "Guideline: A Common Mistake with Attributes vs. Classes" 원문 확인. 확신이 없으면 별도 개념으로 두라고 권한다.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종류를 밝히면 단위 혼동과 의미 없는 연산을 분석 단계에서 드러낸다. 값의 종류를 코드의 값 객체로 구현할지는 설계 판단이다. 여기서는 의미를 명시하는 데까지 다룬다.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§2.2.3 "Attribute, Value, and Value Set". 같은 절은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규칙의 범위를 나누는 이유는 규칙을 둘 자리를 정하기 위해서다. 여러 속성에 걸친 제약은 「39. 제약」에서, 시점 규칙은 "04. 동적 모델 — 상호작용과 상태"에서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이 세션은 값 객체를 설계하지 않는다. 속성 규칙이 어디에 속하는지를 분석 단계에서 정하는 데까지 다룬다. 값 객체는 "13. OOAD에서 전문영역으로 — Architecture · DDD · MSA"에서 다룬다.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저장할지 매번 계산할지는 설계·성능 판단이다. 할인·배송비는 현재 전제에 없으므로 총액 규칙에 넣지 않았다. 필요하면 확인 질문으로 남긴다.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모델의 연관은 탐색 방향이나 참조 구현을 뜻하지 않는다. 방향 표시는 이름을 읽는 방향이다. 탐색 방향은 "06. 분석 모델에서 설계 모델로"와 "07. 책임·협력·계약"에서 결정한다.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다중성은 양쪽 끝에서 각각 읽는다. 주문 → 결제 0..1은 교육용 가정이다(「30. 다중성과 업무 규칙」). n..m 범위 표기도 있으나 현재 사례에 확인된 한도가 없어 예로 들지 않았다.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이 세션은 주문 → 결제 0..1, 고객 1을 교육용 가정으로 두고 분할 결제·비회원 주문은 질문으로 남긴다.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1 : 주문 항목 1..*"는 다중성에서 다룬 질문이 실제로 모델 구조를 바꾸는 지점이다.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항목을 독립 개념으로 둔 「32. 주문과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3rd ed., §9.13 "Guideline: When to Model with 'Description' Classes?" 원문 확인. 이 사례의 상품은 이미 명세 개념이다. 개별 실물 요구가 확인될 때 재고 품목을 추가한다(「55. 모델의 유용성」). 이 사례에서 재고는 상품 시스템이 소유하므로 주문 시스템의 모델에는 두지 않는다.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판단한다(「37. 일반화」).</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수단별 속성은 교육용 가정이다. 현재 요구는 결제 수단별 차이를 요구하지 않으므로 종합 모델에 넣지 않는다.</a:t>
            </a:r>
          </a:p>
          <a:p>
            <a:pPr lvl="0"/>
            <a:r>
              <a:rPr lang="ko-KR" sz="1200"/>
              <a:t>의미 근거: OMG [UML 2.5.1](https://www.omg.org/spec/UML/2.5.1/PDF), §9.9.7.1 — 특수 분류자의 모든 인스턴스는 일반 분류자의 인스턴스이기도 하다.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합성 의미 근거: OMG [UML 2.5.1](https://www.omg.org/spec/UML/2.5.1/PDF), §9.5.3. 같은 절은 합성의 정확한 생애 의미를 의도적으로 명세하지 않는다. 도메인 모델의 "삭제"는 소프트웨어 객체 삭제가 아니라 업무 생애의 결합으로 읽는다.</a:t>
            </a:r>
          </a:p>
          <a:p>
            <a:pPr lvl="0"/>
            <a:r>
              <a:rPr lang="ko-KR" sz="1200"/>
              <a:t>인용 근거: Martin Fowler, [AggregationAndComposition](https://martinfowler.com/bliki/AggregationAndComposition.html), 2003-05-17. Rumbaugh의 말은 Fowler의 글에서 재인용했다. 집합 표기는 쓰지 않는다.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"04. 동적 모델 — 상호작용과 상태"로 넘긴다.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 §9.10 "Guideline: Think Like a Mapmaker; Use Domain Terms" 원문 확인. 원문은 세 항목의 글머리 목록이며 항목마다 예가 붙어 있다. 인용은 세 항목을 이어 옮긴 것이다.</a:t>
            </a:r>
          </a:p>
          <a:p>
            <a:pPr lvl="0"/>
            <a:r>
              <a:rPr lang="ko-KR" sz="1200"/>
              <a:t>적용 예: 현업이 "주문 상품"이라 부르면 개발자가 만든 OrderLine을 강요하지 않는다. 현재 요구와 무관한 포장재는 빼고, 확인되지 않은 "주문 승인" 단계는 만들지 않는다.</a:t>
            </a:r>
          </a:p>
          <a:p>
            <a:pPr lvl="0"/>
            <a:r>
              <a:rPr lang="ko-KR" sz="1200"/>
              <a:t>"용어와 모델은 함께 바뀐다"는 Evans의 공통 언어(Ubiquitous Language) 원칙과 같은 생각이다(Eric Evans, *DDD Reference*, 2015). 공통 언어의 본격 논의는 "13. OOAD에서 전문영역으로 — Architecture · DDD · MSA"에서 다룬다.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여기서는 용어가 다른 사실을 가리킬 수 있음을 보이는 예다.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용어집은 "02. 요구 분석과 유스케이스"의 「18. 용어집」에서 정의했다. 이 세션은 새로 만들지 않고 정제한다 — 배송지·환불은 도메인 모델을 그리며 뜻을 확정한 용어다.</a:t>
            </a:r>
          </a:p>
          <a:p>
            <a:pPr lvl="0"/>
            <a:r>
              <a:rPr lang="ko-KR" sz="1200"/>
              <a:t>확인 질문 열이 비어 있지 않다는 것이 용어집이 살아 있다는 증거다. 답을 얻으면 정의를 고치고 질문을 지운다.</a:t>
            </a:r>
          </a:p>
          <a:p>
            <a:pPr lvl="0"/>
            <a:r>
              <a:rPr lang="ko-KR" sz="1200"/>
              <a:t>영문명의 원천은 과정 설계의 "영한 용어집과 명명 규칙"이다. 설계 이름으로의 전환은 "05. 구조적 경계와 의존성"에서 보인다.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3rd ed., §9.4 "Guideline: How to Create a Domain Model?" 원문 확인 — 개념 클래스 찾기, 클래스 다이어그램으로 그리기, 연관과 속성 추가, 반복 정제. 위 목록은 용어 정렬과 교차검토를 더한 수업용 절차이며 고정 순서가 아니다.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방향·컬렉션은 설계의 결정이다. 코드에서 정한 방향을 모델로 되돌려 그리지 않는다. 코드는 연관이 있다는 사실만 옮겼고 다중성·규칙은 아직 보장하지 않는다.</a:t>
            </a:r>
          </a:p>
          <a:p>
            <a:pPr lvl="0"/>
            <a:r>
              <a:rPr lang="ko-KR" sz="1200"/>
              <a:t>"02. 요구 분석과 유스케이스"의 유스케이스 다이어그램을 초안에서 상세화로 발전시킨 것과 같은 방식이다. 초안에서 구조를 합의하고, 상세화에서 규칙(속성 도메인·다중성·합성)을 드러낸다.</a:t>
            </a:r>
          </a:p>
          <a:p>
            <a:pPr lvl="0"/>
            <a:r>
              <a:rPr lang="ko-KR" sz="1200"/>
              <a:t>초안 단계에서 속성·다중성을 서둘러 채우면 구조에 대한 합의보다 세부 논쟁이 먼저 시작된다.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가정이다(「57. 누락과 모순」).</a:t>
            </a:r>
          </a:p>
          <a:p>
            <a:pPr lvl="0"/>
            <a:r>
              <a:rPr lang="ko-KR" sz="1200"/>
              <a:t>배송은 주문 시스템이 배송 시스템에 요청한 배송의 기록이다(배송 번호로 배송 현황을 조회한다). 출고·배송의 진행은 배송 시스템이 소유한다. 상품의 원천도 상품 시스템이며, 주문 시스템은 주문에 필요한 상품 정보만 가진다.</a:t>
            </a:r>
          </a:p>
          <a:p>
            <a:pPr lvl="0"/>
            <a:r>
              <a:rPr lang="ko-KR" sz="1200"/>
              <a:t>개념(주문·주문 항목·상품·결제·환불)은 필드와 생성자를 가진 class로, 데이터 타입(금액·수량·주소)은 record로 옮겼다. 필드가 곧 모델의 속성·연관이다.</a:t>
            </a:r>
          </a:p>
          <a:p>
            <a:pPr lvl="0"/>
            <a:r>
              <a:rPr lang="ko-KR" sz="1200"/>
              <a:t>속성 도메인과 코드 — record는 값을 담는 자바 클래스이고, 수량 { … }은 값이 만들어질 때마다 실행되는 생성자다. 그래서 수량이 0인 수량은 존재할 수 없고, 그 타입을 필드로 가진 주문 항목도 잘못된 수량을 가질 수 없다. 규칙을 속성마다 검사하지 않고 값의 종류 한 곳에 둔다(DRY). {환불 금액 ≤ 결제 금액}처럼 두 값을 함께 보는 제약은 그 값을 가진 개념(환불)이 지킨다.</a:t>
            </a:r>
          </a:p>
          <a:p>
            <a:pPr lvl="0"/>
            <a:r>
              <a:rPr lang="ko-KR" sz="1200"/>
              <a:t>다중성·합성과 코드 — 합성은 주문이 주문 항목을 만드는 것, 1..*는 빈 주문의 거절, 확정 값은 판매가를 단가로 옮겨 적는 것, 파생 속성은 저장하지 않는 계산으로 드러난다.</a:t>
            </a:r>
          </a:p>
          <a:p>
            <a:pPr lvl="0"/>
            <a:r>
              <a:rPr lang="ko-KR" sz="1200"/>
              <a:t>코드가 보장하는 것 — 수량 1 이상, 금액 0 이상, 빈 주문 거절, 주문 시점의 단가, 환불 금액 ≤ 결제 금액. 보장하지 않는 것 — 상태 전이(결제 대기 → 결제 완료 …)와 배송 시작 후 취소 금지. 이것은 "04. 동적 모델 — 상호작용과 상태"의 상태 기계가 다룬다.</a:t>
            </a:r>
          </a:p>
          <a:p>
            <a:pPr lvl="0"/>
            <a:r>
              <a:rPr lang="ko-KR" sz="1200"/>
              <a:t>Optional·Map·참조의 방향은 코드의 결정이다. 모델로 역수입하지 않는다. 코드는 code/s03/상세.java에서 발췌했으며, 그 파일을 컴파일·실행해 확인한다.</a:t>
            </a:r>
          </a:p>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세션은 패키지의 표기와 의미로 묶는 기준까지 다룬다(「47. 패키지 기준」, 「48. 도메인 모델 — 패키지별」). 패키지를 경계로 판단하고 의존성 방향을 정하는 일은 "05. 구조적 경계와 의존성"에서 다룬다. 의존 화살표는 그때 쓴다.</a:t>
            </a:r>
          </a:p>
          <a:p>
            <a:pPr lvl="0"/>
            <a:r>
              <a:rPr lang="ko-KR" sz="1200"/>
              <a:t>표기 기준: OMG [UML 2.5.1](https://www.omg.org/spec/UML/2.5.1/PDF), §12 Packages.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§32.18 "Using Packages to Organize the Domain Model"의 지침 "How to Partition the Domain Model" 원문 확인. 원문은 네 항목의 글머리 목록이며, 인용은 네 항목을 이어 옮긴 것이다.</a:t>
            </a:r>
          </a:p>
          <a:p>
            <a:pPr lvl="0"/>
            <a:r>
              <a:rPr lang="ko-KR" sz="1200"/>
              <a:t>네 기준이 부딪히면 주제 영역을 먼저 본다. 변경 이유·외부 시스템으로 다시 묶는 설계의 기준은 "05. 구조적 경계와 의존성"에서 더한다.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통합 모델(「45. 도메인 모델 — 상세화」)은 개념 사이의 규칙을, 패키지별 모델은 어디까지가 한 묶음인지를 보인다. 둘은 같은 모델의 두 관점이다.</a:t>
            </a:r>
          </a:p>
          <a:p>
            <a:pPr lvl="0"/>
            <a:r>
              <a:rPr lang="ko-KR" sz="1200"/>
              <a:t>상품·배송 패키지의 개념은 외부 시스템의 정보를 주문 시스템 쪽에서 기억하는 것이다.</a:t>
            </a:r>
          </a:p>
          <a:p>
            <a:pPr lvl="0"/>
            <a:r>
              <a:rPr lang="ko-KR" sz="1200"/>
              <a:t>이 묶음을 변경 이유로 다시 확인하고 패키지 사이의 의존 방향을 정하는 일은 "05. 구조적 경계와 의존성"에서 한다.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하나다(「13. 데이터 모델과 도메인 모델」).</a:t>
            </a:r>
          </a:p>
          <a:p>
            <a:pPr lvl="0"/>
            <a:r>
              <a:rPr lang="ko-KR" sz="1200"/>
              <a:t>기술 요소의 검토가 필요 없다는 뜻은 아니다. 기술 불확실성은 스파이크·개념 증명으로 따로 줄인다("02. 요구 분석과 유스케이스"의 「14. 업무·기술 불확실성」).</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잘못된 예는 실무에서 「07. 도메인 모델」이라는 이름으로 흔히 공유되는 코드 구조 그림이다. 책임 배치는 "07. 책임·협력·계약", 설계 모델로의 비기계적 전환은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「22. 속성 도메인」과 「24. 규칙의 소유」의 판단을 잘못된 예로 되짚는다. 코드에서 같은 문제를 흔히 "원시 타입 집착"이라고 부른다.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기준은 「27. 연관」·「28. 필요한 연관」·「30. 다중성과 업무 규칙」·「38. 전체와 부분」·「37. 일반화」·「26. 참조와 연관」에서 설명했다. 이 topic은 한 장에서 다시 점검하는 목록이다.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「31. 평면 모델」이 커진 형태다. 이름 문제는 「40. 용어 정렬」의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「55. 모델의 유용성」과 「58. 정적 모델의 한계」의 판단을 잘못된 예로 되짚는다.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§32.6 "NextGen POS Conceptual Class Hierarchies" 원문 확인 — 외부 서비스 거래의 변형을 모두 모델에 그릴지 논의하는 부분이다.</a:t>
            </a:r>
          </a:p>
          <a:p>
            <a:pPr lvl="0"/>
            <a:r>
              <a:rPr lang="ko-KR" sz="1200"/>
              <a:t>모델링의 추가 비용과 위험 감소 판단은 "04. 동적 모델 — 상호작용과 상태"와 "11. 통합 설계와 적정 모델링"에서 다시 다룬다.</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「02. 요구와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"02. 요구 분석과 유스케이스"의 「31. 규칙과 특별 요구사항」에서 허용 조건을 정의할 대상으로 남긴 것이다.</a:t>
            </a:r>
          </a:p>
          <a:p>
            <a:pPr lvl="0"/>
            <a:r>
              <a:rPr lang="ko-KR" sz="1200"/>
              <a:t>모델링에서 발견한 질문은 요구의 누락이다. "02. 요구 분석과 유스케이스"의 「09. 반복적 접근」과 연결한다. 출고·배송 시작의 사건 순서는 "04. 동적 모델 — 상호작용과 상태"에서 확인한다.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순서·상태 전이·동시성·실패는 "04. 동적 모델 — 상호작용과 상태", 책임은 "07. 책임·협력·계약", 저장은 "10. 기술 제약과 도메인 의미 보존"에서 다룬다. 정적 모델에 이 답을 넣으면 존재와 사건이 섞인다.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초안에서는 n:m을 그대로 드러내야 상세화에서 해소할 대상이 분명해진다.</a:t>
            </a:r>
          </a:p>
          <a:p>
            <a:pPr lvl="0"/>
            <a:r>
              <a:rPr lang="ko-KR" sz="1200"/>
              <a:t>LLM은 상태를 큰 개념(정기배송)에 몰아 두거나, ID·외래키를 속성으로 넣기 쉽다.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결제가 1..*인 이유 — 일시불은 한 번, 월별 청구는 매월 결제가 생긴다. 청구는 결제 시스템이 하고, 이 모델은 그 결과를 기억한다.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 — 배송 주기: 일수 1~28, 기간: 개월 수 1~12, 첫 배송일: 신청 다음 날부터 7일 이내, 청구 방식: 일시불·월별, 상품 종류: 식품·공산품, 결제 방법: 카드·계좌이체·간편결제.</a:t>
            </a:r>
          </a:p>
          <a:p>
            <a:pPr lvl="0"/>
            <a:r>
              <a:rPr lang="ko-KR" sz="1200"/>
              <a:t>파생 속성 — 만료일 = 첫 배송일 + 기간 − 1일, 회차 금액 = Σ(단가 × 수량).</a:t>
            </a:r>
          </a:p>
          <a:p>
            <a:pPr lvl="0"/>
            <a:r>
              <a:rPr lang="ko-KR" sz="1200"/>
              <a:t>회차 상태 — 값과 전이는 실습 4의 상태 기계에서 정하고, 코드에서는 enum이나 상태 패턴으로 옮긴다.</a:t>
            </a:r>
          </a:p>
          <a:p>
            <a:pPr lvl="0"/>
            <a:r>
              <a:rPr lang="ko-KR" sz="1200"/>
              <a:t>단가는 신청 때 확정한 값으로, 상품의 판매가(현재 값)와 다르다.</a:t>
            </a:r>
          </a:p>
          <a:p>
            <a:pPr lvl="0"/>
            <a:r>
              <a:rPr lang="ko-KR" sz="1200"/>
              <a:t>상태가 회차에 있는 이유 — 취소·배송은 회차 단위로 일어난다. 정기배송의 해지·만료는 회차의 상태와 만료일로 드러난다.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모델을 만들며 유스케이스의 모호한 말(배송 일정, 남은 배송)이 개념으로 드러나는 것이 정적 분석의 가치다 — 「56. 시나리오 교차검토」, 「57. 누락과 모순」.</a:t>
            </a:r>
          </a:p>
          <a:p>
            <a:pPr lvl="0"/>
            <a:r>
              <a:rPr lang="ko-KR" sz="1200"/>
              <a:t>청구 실패로 인한 정지(R7)는 이 유스케이스의 범위가 아니다(UC5). 정지를 정기배송의 상태로 둘지는 관리자 유스케이스를 분석할 때 판단한다.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남긴 "배송 시작과 출고" 질문을 다음 세션의 출발점으로 삼는다.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plantumlImage21" Type="http://schemas.openxmlformats.org/officeDocument/2006/relationships/image" Target="../media/plantuml-21.png"/><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22" Type="http://schemas.openxmlformats.org/officeDocument/2006/relationships/image" Target="../media/plantuml-2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plantumlImage23" Type="http://schemas.openxmlformats.org/officeDocument/2006/relationships/image" Target="../media/plantuml-2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plantumlImage24" Type="http://schemas.openxmlformats.org/officeDocument/2006/relationships/image" Target="../media/plantuml-2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plantumlImage25" Type="http://schemas.openxmlformats.org/officeDocument/2006/relationships/image" Target="../media/plantuml-2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plantumlImage26" Type="http://schemas.openxmlformats.org/officeDocument/2006/relationships/image" Target="../media/plantuml-26.png"/><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plantumlImage27" Type="http://schemas.openxmlformats.org/officeDocument/2006/relationships/image" Target="../media/plantuml-27.png"/><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plantumlImage28" Type="http://schemas.openxmlformats.org/officeDocument/2006/relationships/image" Target="../media/plantuml-28.png"/><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plantumlImage29" Type="http://schemas.openxmlformats.org/officeDocument/2006/relationships/image" Target="../media/plantuml-29.png"/><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요구와 정적 모델</a:t>
            </a:r>
          </a:p>
          <a:p>
            <a:pPr lvl="1" marL="355600" indent="0">
              <a:spcBef>
                <a:spcPts val="300"/>
              </a:spcBef>
              <a:spcAft>
                <a:spcPts val="300"/>
              </a:spcAft>
              <a:buNone/>
            </a:pPr>
            <a:r>
              <a:rPr sz="1600" b="0">
                <a:solidFill>
                  <a:srgbClr val="000000"/>
                </a:solidFill>
                <a:latin typeface="맑은 고딕"/>
                <a:ea typeface="맑은 고딕"/>
              </a:rPr>
              <a:t>03. 도메인</a:t>
            </a:r>
          </a:p>
          <a:p>
            <a:pPr lvl="1" marL="355600" indent="0">
              <a:spcBef>
                <a:spcPts val="300"/>
              </a:spcBef>
              <a:spcAft>
                <a:spcPts val="300"/>
              </a:spcAft>
              <a:buNone/>
            </a:pPr>
            <a:r>
              <a:rPr sz="1600" b="0">
                <a:solidFill>
                  <a:srgbClr val="000000"/>
                </a:solidFill>
                <a:latin typeface="맑은 고딕"/>
                <a:ea typeface="맑은 고딕"/>
              </a:rPr>
              <a:t>04. 정적 모델</a:t>
            </a:r>
          </a:p>
          <a:p>
            <a:pPr lvl="1" marL="355600" indent="0">
              <a:spcBef>
                <a:spcPts val="300"/>
              </a:spcBef>
              <a:spcAft>
                <a:spcPts val="300"/>
              </a:spcAft>
              <a:buNone/>
            </a:pPr>
            <a:r>
              <a:rPr sz="1600" b="0">
                <a:solidFill>
                  <a:srgbClr val="000000"/>
                </a:solidFill>
                <a:latin typeface="맑은 고딕"/>
                <a:ea typeface="맑은 고딕"/>
              </a:rPr>
              <a:t>05. 정적·동적 모델</a:t>
            </a:r>
          </a:p>
          <a:p>
            <a:pPr lvl="1" marL="355600" indent="0">
              <a:spcBef>
                <a:spcPts val="300"/>
              </a:spcBef>
              <a:spcAft>
                <a:spcPts val="300"/>
              </a:spcAft>
              <a:buNone/>
            </a:pPr>
            <a:r>
              <a:rPr sz="1600" b="0">
                <a:solidFill>
                  <a:srgbClr val="000000"/>
                </a:solidFill>
                <a:latin typeface="맑은 고딕"/>
                <a:ea typeface="맑은 고딕"/>
              </a:rPr>
              <a:t>06. 상태 값과 상태 전이</a:t>
            </a:r>
          </a:p>
          <a:p>
            <a:pPr lvl="1" marL="355600" indent="0">
              <a:spcBef>
                <a:spcPts val="300"/>
              </a:spcBef>
              <a:spcAft>
                <a:spcPts val="300"/>
              </a:spcAft>
              <a:buNone/>
            </a:pPr>
            <a:r>
              <a:rPr sz="1600" b="0">
                <a:solidFill>
                  <a:srgbClr val="000000"/>
                </a:solidFill>
                <a:latin typeface="맑은 고딕"/>
                <a:ea typeface="맑은 고딕"/>
              </a:rPr>
              <a:t>07. 도메인 모델</a:t>
            </a:r>
          </a:p>
          <a:p>
            <a:pPr lvl="1" marL="355600" indent="0">
              <a:spcBef>
                <a:spcPts val="300"/>
              </a:spcBef>
              <a:spcAft>
                <a:spcPts val="300"/>
              </a:spcAft>
              <a:buNone/>
            </a:pPr>
            <a:r>
              <a:rPr sz="1600" b="0">
                <a:solidFill>
                  <a:srgbClr val="000000"/>
                </a:solidFill>
                <a:latin typeface="맑은 고딕"/>
                <a:ea typeface="맑은 고딕"/>
              </a:rPr>
              <a:t>08. 도메인 모델의 위치</a:t>
            </a:r>
          </a:p>
          <a:p>
            <a:pPr lvl="1" marL="355600" indent="0">
              <a:spcBef>
                <a:spcPts val="300"/>
              </a:spcBef>
              <a:spcAft>
                <a:spcPts val="300"/>
              </a:spcAft>
              <a:buNone/>
            </a:pPr>
            <a:r>
              <a:rPr sz="1600" b="0">
                <a:solidFill>
                  <a:srgbClr val="000000"/>
                </a:solidFill>
                <a:latin typeface="맑은 고딕"/>
                <a:ea typeface="맑은 고딕"/>
              </a:rPr>
              <a:t>09. 클래스 다이어그램</a:t>
            </a:r>
          </a:p>
          <a:p>
            <a:pPr lvl="1" marL="355600" indent="0">
              <a:spcBef>
                <a:spcPts val="300"/>
              </a:spcBef>
              <a:spcAft>
                <a:spcPts val="300"/>
              </a:spcAft>
              <a:buNone/>
            </a:pPr>
            <a:r>
              <a:rPr sz="1600" b="0">
                <a:solidFill>
                  <a:srgbClr val="000000"/>
                </a:solidFill>
                <a:latin typeface="맑은 고딕"/>
                <a:ea typeface="맑은 고딕"/>
              </a:rPr>
              <a:t>10. 클래스 유형</a:t>
            </a:r>
          </a:p>
          <a:p>
            <a:pPr lvl="1" marL="355600" indent="0">
              <a:spcBef>
                <a:spcPts val="300"/>
              </a:spcBef>
              <a:spcAft>
                <a:spcPts val="300"/>
              </a:spcAft>
              <a:buNone/>
            </a:pPr>
            <a:r>
              <a:rPr sz="1600" b="0">
                <a:solidFill>
                  <a:srgbClr val="000000"/>
                </a:solidFill>
                <a:latin typeface="맑은 고딕"/>
                <a:ea typeface="맑은 고딕"/>
              </a:rPr>
              <a:t>11. 관계 유형</a:t>
            </a:r>
          </a:p>
          <a:p>
            <a:pPr lvl="1" marL="355600" indent="0">
              <a:spcBef>
                <a:spcPts val="300"/>
              </a:spcBef>
              <a:spcAft>
                <a:spcPts val="300"/>
              </a:spcAft>
              <a:buNone/>
            </a:pPr>
            <a:r>
              <a:rPr sz="1600" b="0">
                <a:solidFill>
                  <a:srgbClr val="000000"/>
                </a:solidFill>
                <a:latin typeface="맑은 고딕"/>
                <a:ea typeface="맑은 고딕"/>
              </a:rPr>
              <a:t>12. 정보공학과 데이터 모델링</a:t>
            </a:r>
          </a:p>
          <a:p>
            <a:pPr lvl="1" marL="355600" indent="0">
              <a:spcBef>
                <a:spcPts val="300"/>
              </a:spcBef>
              <a:spcAft>
                <a:spcPts val="300"/>
              </a:spcAft>
              <a:buNone/>
            </a:pPr>
            <a:r>
              <a:rPr sz="1600" b="0">
                <a:solidFill>
                  <a:srgbClr val="000000"/>
                </a:solidFill>
                <a:latin typeface="맑은 고딕"/>
                <a:ea typeface="맑은 고딕"/>
              </a:rPr>
              <a:t>13. 데이터 모델과 도메인 모델</a:t>
            </a:r>
          </a:p>
          <a:p>
            <a:pPr lvl="1" marL="355600" indent="0">
              <a:spcBef>
                <a:spcPts val="300"/>
              </a:spcBef>
              <a:spcAft>
                <a:spcPts val="300"/>
              </a:spcAft>
              <a:buNone/>
            </a:pPr>
            <a:r>
              <a:rPr sz="1600" b="0">
                <a:solidFill>
                  <a:srgbClr val="000000"/>
                </a:solidFill>
                <a:latin typeface="맑은 고딕"/>
                <a:ea typeface="맑은 고딕"/>
              </a:rPr>
              <a:t>14. 모델 요소의 대응</a:t>
            </a:r>
          </a:p>
          <a:p>
            <a:pPr lvl="1" marL="355600" indent="0">
              <a:spcBef>
                <a:spcPts val="300"/>
              </a:spcBef>
              <a:spcAft>
                <a:spcPts val="300"/>
              </a:spcAft>
              <a:buNone/>
            </a:pPr>
            <a:r>
              <a:rPr sz="1600" b="0">
                <a:solidFill>
                  <a:srgbClr val="000000"/>
                </a:solidFill>
                <a:latin typeface="맑은 고딕"/>
                <a:ea typeface="맑은 고딕"/>
              </a:rPr>
              <a:t>15. 같은 사례, 두 모델</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도메인 개념</a:t>
            </a:r>
          </a:p>
          <a:p>
            <a:pPr lvl="1" marL="355600" indent="0">
              <a:spcBef>
                <a:spcPts val="300"/>
              </a:spcBef>
              <a:spcAft>
                <a:spcPts val="300"/>
              </a:spcAft>
              <a:buNone/>
            </a:pPr>
            <a:r>
              <a:rPr sz="1600" b="0">
                <a:solidFill>
                  <a:srgbClr val="000000"/>
                </a:solidFill>
                <a:latin typeface="맑은 고딕"/>
                <a:ea typeface="맑은 고딕"/>
              </a:rPr>
              <a:t>17. 개념 범주</a:t>
            </a:r>
          </a:p>
          <a:p>
            <a:pPr lvl="1" marL="355600" indent="0">
              <a:spcBef>
                <a:spcPts val="300"/>
              </a:spcBef>
              <a:spcAft>
                <a:spcPts val="300"/>
              </a:spcAft>
              <a:buNone/>
            </a:pPr>
            <a:r>
              <a:rPr sz="1600" b="0">
                <a:solidFill>
                  <a:srgbClr val="000000"/>
                </a:solidFill>
                <a:latin typeface="맑은 고딕"/>
                <a:ea typeface="맑은 고딕"/>
              </a:rPr>
              <a:t>18. 유스케이스 어휘</a:t>
            </a:r>
          </a:p>
          <a:p>
            <a:pPr lvl="1" marL="355600" indent="0">
              <a:spcBef>
                <a:spcPts val="300"/>
              </a:spcBef>
              <a:spcAft>
                <a:spcPts val="300"/>
              </a:spcAft>
              <a:buNone/>
            </a:pPr>
            <a:r>
              <a:rPr sz="1600" b="0">
                <a:solidFill>
                  <a:srgbClr val="000000"/>
                </a:solidFill>
                <a:latin typeface="맑은 고딕"/>
                <a:ea typeface="맑은 고딕"/>
              </a:rPr>
              <a:t>19. 명사 추출의 한계</a:t>
            </a:r>
          </a:p>
          <a:p>
            <a:pPr lvl="1" marL="355600" indent="0">
              <a:spcBef>
                <a:spcPts val="300"/>
              </a:spcBef>
              <a:spcAft>
                <a:spcPts val="300"/>
              </a:spcAft>
              <a:buNone/>
            </a:pPr>
            <a:r>
              <a:rPr sz="1600" b="0">
                <a:solidFill>
                  <a:srgbClr val="000000"/>
                </a:solidFill>
                <a:latin typeface="맑은 고딕"/>
                <a:ea typeface="맑은 고딕"/>
              </a:rPr>
              <a:t>20. 개념과 속성</a:t>
            </a:r>
          </a:p>
          <a:p>
            <a:pPr lvl="1" marL="355600" indent="0">
              <a:spcBef>
                <a:spcPts val="300"/>
              </a:spcBef>
              <a:spcAft>
                <a:spcPts val="300"/>
              </a:spcAft>
              <a:buNone/>
            </a:pPr>
            <a:r>
              <a:rPr sz="1600" b="0">
                <a:solidFill>
                  <a:srgbClr val="000000"/>
                </a:solidFill>
                <a:latin typeface="맑은 고딕"/>
                <a:ea typeface="맑은 고딕"/>
              </a:rPr>
              <a:t>21. 속성 값의 의미</a:t>
            </a:r>
          </a:p>
          <a:p>
            <a:pPr lvl="1" marL="355600" indent="0">
              <a:spcBef>
                <a:spcPts val="300"/>
              </a:spcBef>
              <a:spcAft>
                <a:spcPts val="300"/>
              </a:spcAft>
              <a:buNone/>
            </a:pPr>
            <a:r>
              <a:rPr sz="1600" b="0">
                <a:solidFill>
                  <a:srgbClr val="000000"/>
                </a:solidFill>
                <a:latin typeface="맑은 고딕"/>
                <a:ea typeface="맑은 고딕"/>
              </a:rPr>
              <a:t>22. 속성 도메인</a:t>
            </a:r>
          </a:p>
          <a:p>
            <a:pPr lvl="1" marL="355600" indent="0">
              <a:spcBef>
                <a:spcPts val="300"/>
              </a:spcBef>
              <a:spcAft>
                <a:spcPts val="300"/>
              </a:spcAft>
              <a:buNone/>
            </a:pPr>
            <a:r>
              <a:rPr sz="1600" b="0">
                <a:solidFill>
                  <a:srgbClr val="000000"/>
                </a:solidFill>
                <a:latin typeface="맑은 고딕"/>
                <a:ea typeface="맑은 고딕"/>
              </a:rPr>
              <a:t>23. 속성 수준 업무 규칙</a:t>
            </a:r>
          </a:p>
          <a:p>
            <a:pPr lvl="1" marL="355600" indent="0">
              <a:spcBef>
                <a:spcPts val="300"/>
              </a:spcBef>
              <a:spcAft>
                <a:spcPts val="300"/>
              </a:spcAft>
              <a:buNone/>
            </a:pPr>
            <a:r>
              <a:rPr sz="1600" b="0">
                <a:solidFill>
                  <a:srgbClr val="000000"/>
                </a:solidFill>
                <a:latin typeface="맑은 고딕"/>
                <a:ea typeface="맑은 고딕"/>
              </a:rPr>
              <a:t>24. 규칙의 소유</a:t>
            </a:r>
          </a:p>
          <a:p>
            <a:pPr lvl="1" marL="355600" indent="0">
              <a:spcBef>
                <a:spcPts val="300"/>
              </a:spcBef>
              <a:spcAft>
                <a:spcPts val="300"/>
              </a:spcAft>
              <a:buNone/>
            </a:pPr>
            <a:r>
              <a:rPr sz="1600" b="0">
                <a:solidFill>
                  <a:srgbClr val="000000"/>
                </a:solidFill>
                <a:latin typeface="맑은 고딕"/>
                <a:ea typeface="맑은 고딕"/>
              </a:rPr>
              <a:t>25. 파생 속성</a:t>
            </a:r>
          </a:p>
          <a:p>
            <a:pPr lvl="1" marL="355600" indent="0">
              <a:spcBef>
                <a:spcPts val="300"/>
              </a:spcBef>
              <a:spcAft>
                <a:spcPts val="300"/>
              </a:spcAft>
              <a:buNone/>
            </a:pPr>
            <a:r>
              <a:rPr sz="1600" b="0">
                <a:solidFill>
                  <a:srgbClr val="000000"/>
                </a:solidFill>
                <a:latin typeface="맑은 고딕"/>
                <a:ea typeface="맑은 고딕"/>
              </a:rPr>
              <a:t>26. 참조와 연관</a:t>
            </a:r>
          </a:p>
          <a:p>
            <a:pPr lvl="1" marL="355600" indent="0">
              <a:spcBef>
                <a:spcPts val="300"/>
              </a:spcBef>
              <a:spcAft>
                <a:spcPts val="300"/>
              </a:spcAft>
              <a:buNone/>
            </a:pPr>
            <a:r>
              <a:rPr sz="1600" b="0">
                <a:solidFill>
                  <a:srgbClr val="000000"/>
                </a:solidFill>
                <a:latin typeface="맑은 고딕"/>
                <a:ea typeface="맑은 고딕"/>
              </a:rPr>
              <a:t>27. 연관</a:t>
            </a:r>
          </a:p>
          <a:p>
            <a:pPr lvl="1" marL="355600" indent="0">
              <a:spcBef>
                <a:spcPts val="300"/>
              </a:spcBef>
              <a:spcAft>
                <a:spcPts val="300"/>
              </a:spcAft>
              <a:buNone/>
            </a:pPr>
            <a:r>
              <a:rPr sz="1600" b="0">
                <a:solidFill>
                  <a:srgbClr val="000000"/>
                </a:solidFill>
                <a:latin typeface="맑은 고딕"/>
                <a:ea typeface="맑은 고딕"/>
              </a:rPr>
              <a:t>28. 필요한 연관</a:t>
            </a:r>
          </a:p>
          <a:p>
            <a:pPr lvl="1" marL="355600" indent="0">
              <a:spcBef>
                <a:spcPts val="300"/>
              </a:spcBef>
              <a:spcAft>
                <a:spcPts val="300"/>
              </a:spcAft>
              <a:buNone/>
            </a:pPr>
            <a:r>
              <a:rPr sz="1600" b="0">
                <a:solidFill>
                  <a:srgbClr val="000000"/>
                </a:solidFill>
                <a:latin typeface="맑은 고딕"/>
                <a:ea typeface="맑은 고딕"/>
              </a:rPr>
              <a:t>29. 다중성</a:t>
            </a:r>
          </a:p>
          <a:p>
            <a:pPr lvl="1" marL="355600" indent="0">
              <a:spcBef>
                <a:spcPts val="300"/>
              </a:spcBef>
              <a:spcAft>
                <a:spcPts val="300"/>
              </a:spcAft>
              <a:buNone/>
            </a:pPr>
            <a:r>
              <a:rPr sz="1600" b="0">
                <a:solidFill>
                  <a:srgbClr val="000000"/>
                </a:solidFill>
                <a:latin typeface="맑은 고딕"/>
                <a:ea typeface="맑은 고딕"/>
              </a:rPr>
              <a:t>30. 다중성과 업무 규칙</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평면 모델</a:t>
            </a:r>
          </a:p>
          <a:p>
            <a:pPr lvl="1" marL="355600" indent="0">
              <a:spcBef>
                <a:spcPts val="300"/>
              </a:spcBef>
              <a:spcAft>
                <a:spcPts val="300"/>
              </a:spcAft>
              <a:buNone/>
            </a:pPr>
            <a:r>
              <a:rPr sz="1600" b="0">
                <a:solidFill>
                  <a:srgbClr val="000000"/>
                </a:solidFill>
                <a:latin typeface="맑은 고딕"/>
                <a:ea typeface="맑은 고딕"/>
              </a:rPr>
              <a:t>32. 주문과 주문 항목</a:t>
            </a:r>
          </a:p>
          <a:p>
            <a:pPr lvl="1" marL="355600" indent="0">
              <a:spcBef>
                <a:spcPts val="300"/>
              </a:spcBef>
              <a:spcAft>
                <a:spcPts val="300"/>
              </a:spcAft>
              <a:buNone/>
            </a:pPr>
            <a:r>
              <a:rPr sz="1600" b="0">
                <a:solidFill>
                  <a:srgbClr val="000000"/>
                </a:solidFill>
                <a:latin typeface="맑은 고딕"/>
                <a:ea typeface="맑은 고딕"/>
              </a:rPr>
              <a:t>33. 연관 클래스</a:t>
            </a:r>
          </a:p>
          <a:p>
            <a:pPr lvl="1" marL="355600" indent="0">
              <a:spcBef>
                <a:spcPts val="300"/>
              </a:spcBef>
              <a:spcAft>
                <a:spcPts val="300"/>
              </a:spcAft>
              <a:buNone/>
            </a:pPr>
            <a:r>
              <a:rPr sz="1600" b="0">
                <a:solidFill>
                  <a:srgbClr val="000000"/>
                </a:solidFill>
                <a:latin typeface="맑은 고딕"/>
                <a:ea typeface="맑은 고딕"/>
              </a:rPr>
              <a:t>34. 명세 개념</a:t>
            </a:r>
          </a:p>
          <a:p>
            <a:pPr lvl="1" marL="355600" indent="0">
              <a:spcBef>
                <a:spcPts val="300"/>
              </a:spcBef>
              <a:spcAft>
                <a:spcPts val="300"/>
              </a:spcAft>
              <a:buNone/>
            </a:pPr>
            <a:r>
              <a:rPr sz="1600" b="0">
                <a:solidFill>
                  <a:srgbClr val="000000"/>
                </a:solidFill>
                <a:latin typeface="맑은 고딕"/>
                <a:ea typeface="맑은 고딕"/>
              </a:rPr>
              <a:t>35. 현재 값과 확정 값</a:t>
            </a:r>
          </a:p>
          <a:p>
            <a:pPr lvl="1" marL="355600" indent="0">
              <a:spcBef>
                <a:spcPts val="300"/>
              </a:spcBef>
              <a:spcAft>
                <a:spcPts val="300"/>
              </a:spcAft>
              <a:buNone/>
            </a:pPr>
            <a:r>
              <a:rPr sz="1600" b="0">
                <a:solidFill>
                  <a:srgbClr val="000000"/>
                </a:solidFill>
                <a:latin typeface="맑은 고딕"/>
                <a:ea typeface="맑은 고딕"/>
              </a:rPr>
              <a:t>36. 같은 구조, 다른 의미</a:t>
            </a:r>
          </a:p>
          <a:p>
            <a:pPr lvl="1" marL="355600" indent="0">
              <a:spcBef>
                <a:spcPts val="300"/>
              </a:spcBef>
              <a:spcAft>
                <a:spcPts val="300"/>
              </a:spcAft>
              <a:buNone/>
            </a:pPr>
            <a:r>
              <a:rPr sz="1600" b="0">
                <a:solidFill>
                  <a:srgbClr val="000000"/>
                </a:solidFill>
                <a:latin typeface="맑은 고딕"/>
                <a:ea typeface="맑은 고딕"/>
              </a:rPr>
              <a:t>37. 일반화</a:t>
            </a:r>
          </a:p>
          <a:p>
            <a:pPr lvl="1" marL="355600" indent="0">
              <a:spcBef>
                <a:spcPts val="300"/>
              </a:spcBef>
              <a:spcAft>
                <a:spcPts val="300"/>
              </a:spcAft>
              <a:buNone/>
            </a:pPr>
            <a:r>
              <a:rPr sz="1600" b="0">
                <a:solidFill>
                  <a:srgbClr val="000000"/>
                </a:solidFill>
                <a:latin typeface="맑은 고딕"/>
                <a:ea typeface="맑은 고딕"/>
              </a:rPr>
              <a:t>38. 전체와 부분</a:t>
            </a:r>
          </a:p>
          <a:p>
            <a:pPr lvl="1" marL="355600" indent="0">
              <a:spcBef>
                <a:spcPts val="300"/>
              </a:spcBef>
              <a:spcAft>
                <a:spcPts val="300"/>
              </a:spcAft>
              <a:buNone/>
            </a:pPr>
            <a:r>
              <a:rPr sz="1600" b="0">
                <a:solidFill>
                  <a:srgbClr val="000000"/>
                </a:solidFill>
                <a:latin typeface="맑은 고딕"/>
                <a:ea typeface="맑은 고딕"/>
              </a:rPr>
              <a:t>39. 제약</a:t>
            </a:r>
          </a:p>
          <a:p>
            <a:pPr lvl="1" marL="355600" indent="0">
              <a:spcBef>
                <a:spcPts val="300"/>
              </a:spcBef>
              <a:spcAft>
                <a:spcPts val="300"/>
              </a:spcAft>
              <a:buNone/>
            </a:pPr>
            <a:r>
              <a:rPr sz="1600" b="0">
                <a:solidFill>
                  <a:srgbClr val="000000"/>
                </a:solidFill>
                <a:latin typeface="맑은 고딕"/>
                <a:ea typeface="맑은 고딕"/>
              </a:rPr>
              <a:t>40. 용어 정렬</a:t>
            </a:r>
          </a:p>
          <a:p>
            <a:pPr lvl="1" marL="355600" indent="0">
              <a:spcBef>
                <a:spcPts val="300"/>
              </a:spcBef>
              <a:spcAft>
                <a:spcPts val="300"/>
              </a:spcAft>
              <a:buNone/>
            </a:pPr>
            <a:r>
              <a:rPr sz="1600" b="0">
                <a:solidFill>
                  <a:srgbClr val="000000"/>
                </a:solidFill>
                <a:latin typeface="맑은 고딕"/>
                <a:ea typeface="맑은 고딕"/>
              </a:rPr>
              <a:t>41. 동의어와 동음이의어</a:t>
            </a:r>
          </a:p>
          <a:p>
            <a:pPr lvl="1" marL="355600" indent="0">
              <a:spcBef>
                <a:spcPts val="300"/>
              </a:spcBef>
              <a:spcAft>
                <a:spcPts val="300"/>
              </a:spcAft>
              <a:buNone/>
            </a:pPr>
            <a:r>
              <a:rPr sz="1600" b="0">
                <a:solidFill>
                  <a:srgbClr val="000000"/>
                </a:solidFill>
                <a:latin typeface="맑은 고딕"/>
                <a:ea typeface="맑은 고딕"/>
              </a:rPr>
              <a:t>42. 용어집 정제</a:t>
            </a:r>
          </a:p>
          <a:p>
            <a:pPr lvl="1" marL="355600" indent="0">
              <a:spcBef>
                <a:spcPts val="300"/>
              </a:spcBef>
              <a:spcAft>
                <a:spcPts val="300"/>
              </a:spcAft>
              <a:buNone/>
            </a:pPr>
            <a:r>
              <a:rPr sz="1600" b="0">
                <a:solidFill>
                  <a:srgbClr val="000000"/>
                </a:solidFill>
                <a:latin typeface="맑은 고딕"/>
                <a:ea typeface="맑은 고딕"/>
              </a:rPr>
              <a:t>43. 모델 작성 절차</a:t>
            </a:r>
          </a:p>
          <a:p>
            <a:pPr lvl="1" marL="355600" indent="0">
              <a:spcBef>
                <a:spcPts val="300"/>
              </a:spcBef>
              <a:spcAft>
                <a:spcPts val="300"/>
              </a:spcAft>
              <a:buNone/>
            </a:pPr>
            <a:r>
              <a:rPr sz="1600" b="0">
                <a:solidFill>
                  <a:srgbClr val="000000"/>
                </a:solidFill>
                <a:latin typeface="맑은 고딕"/>
                <a:ea typeface="맑은 고딕"/>
              </a:rPr>
              <a:t>44. 도메인 모델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45. 도메인 모델 —</a:t>
            </a:r>
            <a:r>
              <a:rPr sz="1400" b="0">
                <a:solidFill>
                  <a:srgbClr val="000000"/>
                </a:solidFill>
                <a:latin typeface="맑은 고딕"/>
                <a:ea typeface="맑은 고딕"/>
              </a:rPr>
              <a:t> 상세화</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개념의 묶음 —</a:t>
            </a:r>
            <a:r>
              <a:rPr sz="1400" b="0">
                <a:solidFill>
                  <a:srgbClr val="000000"/>
                </a:solidFill>
                <a:latin typeface="맑은 고딕"/>
                <a:ea typeface="맑은 고딕"/>
              </a:rPr>
              <a:t> 패키지</a:t>
            </a:r>
          </a:p>
          <a:p>
            <a:pPr lvl="1" marL="355600" indent="0">
              <a:spcBef>
                <a:spcPts val="300"/>
              </a:spcBef>
              <a:spcAft>
                <a:spcPts val="300"/>
              </a:spcAft>
              <a:buNone/>
            </a:pPr>
            <a:r>
              <a:rPr sz="1600" b="0">
                <a:solidFill>
                  <a:srgbClr val="000000"/>
                </a:solidFill>
                <a:latin typeface="맑은 고딕"/>
                <a:ea typeface="맑은 고딕"/>
              </a:rPr>
              <a:t>47. 패키지 기준</a:t>
            </a:r>
          </a:p>
          <a:p>
            <a:pPr lvl="1" marL="355600" indent="0">
              <a:spcBef>
                <a:spcPts val="300"/>
              </a:spcBef>
              <a:spcAft>
                <a:spcPts val="300"/>
              </a:spcAft>
              <a:buNone/>
            </a:pPr>
            <a:r>
              <a:rPr sz="1600" b="0">
                <a:solidFill>
                  <a:srgbClr val="000000"/>
                </a:solidFill>
                <a:latin typeface="맑은 고딕"/>
                <a:ea typeface="맑은 고딕"/>
              </a:rPr>
              <a:t>48. 도메인 모델 —</a:t>
            </a:r>
            <a:r>
              <a:rPr sz="1400" b="0">
                <a:solidFill>
                  <a:srgbClr val="000000"/>
                </a:solidFill>
                <a:latin typeface="맑은 고딕"/>
                <a:ea typeface="맑은 고딕"/>
              </a:rPr>
              <a:t> 패키지별</a:t>
            </a:r>
          </a:p>
          <a:p>
            <a:pPr lvl="1" marL="355600" indent="0">
              <a:spcBef>
                <a:spcPts val="300"/>
              </a:spcBef>
              <a:spcAft>
                <a:spcPts val="300"/>
              </a:spcAft>
              <a:buNone/>
            </a:pPr>
            <a:r>
              <a:rPr sz="1600" b="0">
                <a:solidFill>
                  <a:srgbClr val="000000"/>
                </a:solidFill>
                <a:latin typeface="맑은 고딕"/>
                <a:ea typeface="맑은 고딕"/>
              </a:rPr>
              <a:t>49. 잘못된 관행 —</a:t>
            </a:r>
            <a:r>
              <a:rPr sz="1400" b="0">
                <a:solidFill>
                  <a:srgbClr val="000000"/>
                </a:solidFill>
                <a:latin typeface="맑은 고딕"/>
                <a:ea typeface="맑은 고딕"/>
              </a:rPr>
              <a:t> 분석 과잉</a:t>
            </a:r>
          </a:p>
          <a:p>
            <a:pPr lvl="1" marL="355600" indent="0">
              <a:spcBef>
                <a:spcPts val="300"/>
              </a:spcBef>
              <a:spcAft>
                <a:spcPts val="300"/>
              </a:spcAft>
              <a:buNone/>
            </a:pPr>
            <a:r>
              <a:rPr sz="1600" b="0">
                <a:solidFill>
                  <a:srgbClr val="000000"/>
                </a:solidFill>
                <a:latin typeface="맑은 고딕"/>
                <a:ea typeface="맑은 고딕"/>
              </a:rPr>
              <a:t>50. 잘못된 관행 —</a:t>
            </a:r>
            <a:r>
              <a:rPr sz="1400" b="0">
                <a:solidFill>
                  <a:srgbClr val="000000"/>
                </a:solidFill>
                <a:latin typeface="맑은 고딕"/>
                <a:ea typeface="맑은 고딕"/>
              </a:rPr>
              <a:t> 구현 요소</a:t>
            </a:r>
          </a:p>
          <a:p>
            <a:pPr lvl="1" marL="355600" indent="0">
              <a:spcBef>
                <a:spcPts val="300"/>
              </a:spcBef>
              <a:spcAft>
                <a:spcPts val="300"/>
              </a:spcAft>
              <a:buNone/>
            </a:pPr>
            <a:r>
              <a:rPr sz="1600" b="0">
                <a:solidFill>
                  <a:srgbClr val="000000"/>
                </a:solidFill>
                <a:latin typeface="맑은 고딕"/>
                <a:ea typeface="맑은 고딕"/>
              </a:rPr>
              <a:t>51. 잘못된 관행 —</a:t>
            </a:r>
            <a:r>
              <a:rPr sz="1400" b="0">
                <a:solidFill>
                  <a:srgbClr val="000000"/>
                </a:solidFill>
                <a:latin typeface="맑은 고딕"/>
                <a:ea typeface="맑은 고딕"/>
              </a:rPr>
              <a:t> 규칙 없는 속성</a:t>
            </a:r>
          </a:p>
          <a:p>
            <a:pPr lvl="1" marL="355600" indent="0">
              <a:spcBef>
                <a:spcPts val="300"/>
              </a:spcBef>
              <a:spcAft>
                <a:spcPts val="300"/>
              </a:spcAft>
              <a:buNone/>
            </a:pPr>
            <a:r>
              <a:rPr sz="1600" b="0">
                <a:solidFill>
                  <a:srgbClr val="000000"/>
                </a:solidFill>
                <a:latin typeface="맑은 고딕"/>
                <a:ea typeface="맑은 고딕"/>
              </a:rPr>
              <a:t>52. 잘못된 관행 —</a:t>
            </a:r>
            <a:r>
              <a:rPr sz="1400" b="0">
                <a:solidFill>
                  <a:srgbClr val="000000"/>
                </a:solidFill>
                <a:latin typeface="맑은 고딕"/>
                <a:ea typeface="맑은 고딕"/>
              </a:rPr>
              <a:t> 관계 남용</a:t>
            </a:r>
          </a:p>
          <a:p>
            <a:pPr lvl="1" marL="355600" indent="0">
              <a:spcBef>
                <a:spcPts val="300"/>
              </a:spcBef>
              <a:spcAft>
                <a:spcPts val="300"/>
              </a:spcAft>
              <a:buNone/>
            </a:pPr>
            <a:r>
              <a:rPr sz="1600" b="0">
                <a:solidFill>
                  <a:srgbClr val="000000"/>
                </a:solidFill>
                <a:latin typeface="맑은 고딕"/>
                <a:ea typeface="맑은 고딕"/>
              </a:rPr>
              <a:t>53. 잘못된 관행 —</a:t>
            </a:r>
            <a:r>
              <a:rPr sz="1400" b="0">
                <a:solidFill>
                  <a:srgbClr val="000000"/>
                </a:solidFill>
                <a:latin typeface="맑은 고딕"/>
                <a:ea typeface="맑은 고딕"/>
              </a:rPr>
              <a:t> 거대 개념·모호한 이름</a:t>
            </a:r>
          </a:p>
          <a:p>
            <a:pPr lvl="1" marL="355600" indent="0">
              <a:spcBef>
                <a:spcPts val="300"/>
              </a:spcBef>
              <a:spcAft>
                <a:spcPts val="300"/>
              </a:spcAft>
              <a:buNone/>
            </a:pPr>
            <a:r>
              <a:rPr sz="1600" b="0">
                <a:solidFill>
                  <a:srgbClr val="000000"/>
                </a:solidFill>
                <a:latin typeface="맑은 고딕"/>
                <a:ea typeface="맑은 고딕"/>
              </a:rPr>
              <a:t>54. 잘못된 관행 —</a:t>
            </a:r>
            <a:r>
              <a:rPr sz="1400" b="0">
                <a:solidFill>
                  <a:srgbClr val="000000"/>
                </a:solidFill>
                <a:latin typeface="맑은 고딕"/>
                <a:ea typeface="맑은 고딕"/>
              </a:rPr>
              <a:t> 범위·시점</a:t>
            </a:r>
          </a:p>
          <a:p>
            <a:pPr lvl="1" marL="355600" indent="0">
              <a:spcBef>
                <a:spcPts val="300"/>
              </a:spcBef>
              <a:spcAft>
                <a:spcPts val="300"/>
              </a:spcAft>
              <a:buNone/>
            </a:pPr>
            <a:r>
              <a:rPr sz="1600" b="0">
                <a:solidFill>
                  <a:srgbClr val="000000"/>
                </a:solidFill>
                <a:latin typeface="맑은 고딕"/>
                <a:ea typeface="맑은 고딕"/>
              </a:rPr>
              <a:t>55. 모델의 유용성</a:t>
            </a:r>
          </a:p>
          <a:p>
            <a:pPr lvl="1" marL="355600" indent="0">
              <a:spcBef>
                <a:spcPts val="300"/>
              </a:spcBef>
              <a:spcAft>
                <a:spcPts val="300"/>
              </a:spcAft>
              <a:buNone/>
            </a:pPr>
            <a:r>
              <a:rPr sz="1600" b="0">
                <a:solidFill>
                  <a:srgbClr val="000000"/>
                </a:solidFill>
                <a:latin typeface="맑은 고딕"/>
                <a:ea typeface="맑은 고딕"/>
              </a:rPr>
              <a:t>56. 시나리오 교차검토</a:t>
            </a:r>
          </a:p>
          <a:p>
            <a:pPr lvl="1" marL="355600" indent="0">
              <a:spcBef>
                <a:spcPts val="300"/>
              </a:spcBef>
              <a:spcAft>
                <a:spcPts val="300"/>
              </a:spcAft>
              <a:buNone/>
            </a:pPr>
            <a:r>
              <a:rPr sz="1600" b="0">
                <a:solidFill>
                  <a:srgbClr val="000000"/>
                </a:solidFill>
                <a:latin typeface="맑은 고딕"/>
                <a:ea typeface="맑은 고딕"/>
              </a:rPr>
              <a:t>57. 누락과 모순</a:t>
            </a:r>
          </a:p>
          <a:p>
            <a:pPr lvl="1" marL="355600" indent="0">
              <a:spcBef>
                <a:spcPts val="300"/>
              </a:spcBef>
              <a:spcAft>
                <a:spcPts val="300"/>
              </a:spcAft>
              <a:buNone/>
            </a:pPr>
            <a:r>
              <a:rPr sz="1600" b="0">
                <a:solidFill>
                  <a:srgbClr val="000000"/>
                </a:solidFill>
                <a:latin typeface="맑은 고딕"/>
                <a:ea typeface="맑은 고딕"/>
              </a:rPr>
              <a:t>58. 정적 모델의 한계</a:t>
            </a:r>
          </a:p>
          <a:p>
            <a:pPr lvl="1" marL="355600" indent="0">
              <a:spcBef>
                <a:spcPts val="300"/>
              </a:spcBef>
              <a:spcAft>
                <a:spcPts val="300"/>
              </a:spcAft>
              <a:buNone/>
            </a:pPr>
            <a:r>
              <a:rPr sz="1600" b="0">
                <a:solidFill>
                  <a:srgbClr val="000000"/>
                </a:solidFill>
                <a:latin typeface="맑은 고딕"/>
                <a:ea typeface="맑은 고딕"/>
              </a:rPr>
              <a:t>59.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60. 도메인 모델 초안 </a:t>
            </a:r>
            <a:r>
              <a:rPr sz="1200" b="0">
                <a:solidFill>
                  <a:srgbClr val="000000"/>
                </a:solidFill>
                <a:latin typeface="맑은 고딕"/>
                <a:ea typeface="맑은 고딕"/>
              </a:rPr>
              <a:t>(안)</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61. 도메인 모델 상세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62. 이전 산출물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63.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문제영역에 </a:t>
            </a:r>
            <a:r>
              <a:rPr sz="1800" b="1">
                <a:solidFill>
                  <a:srgbClr val="000000"/>
                </a:solidFill>
                <a:latin typeface="맑은 고딕"/>
                <a:ea typeface="맑은 고딕"/>
              </a:rPr>
              <a:t>무엇이 존재하고, 어떤 정보를 가지며, 서로 어떻게 관계하는지</a:t>
            </a:r>
            <a:r>
              <a:rPr sz="1800" b="0">
                <a:solidFill>
                  <a:srgbClr val="000000"/>
                </a:solidFill>
                <a:latin typeface="맑은 고딕"/>
                <a:ea typeface="맑은 고딕"/>
              </a:rPr>
              <a:t>를 구현과 분리된 정적 모델로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명세서·정제된 SSD·계약</a:t>
            </a:r>
            <a:r>
              <a:rPr sz="1800" b="0">
                <a:solidFill>
                  <a:srgbClr val="000000"/>
                </a:solidFill>
                <a:latin typeface="맑은 고딕"/>
                <a:ea typeface="맑은 고딕"/>
              </a:rPr>
              <a:t>을 입력으로 개념을 찾고, 발견한 것을 그 산출물에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 동적 모델</a:t>
            </a:r>
            <a:r>
              <a:rPr sz="1400" b="0">
                <a:solidFill>
                  <a:srgbClr val="000000"/>
                </a:solidFill>
                <a:latin typeface="맑은 고딕"/>
                <a:ea typeface="맑은 고딕"/>
              </a:rPr>
              <a:t>(활동·시퀀스·커뮤니케이션·</a:t>
            </a:r>
            <a:r>
              <a:rPr sz="1400" b="1">
                <a:solidFill>
                  <a:srgbClr val="000000"/>
                </a:solidFill>
                <a:latin typeface="맑은 고딕"/>
                <a:ea typeface="맑은 고딕"/>
              </a:rPr>
              <a:t>상태 기계</a:t>
            </a:r>
            <a:r>
              <a:rPr sz="1400" b="0">
                <a:solidFill>
                  <a:srgbClr val="000000"/>
                </a:solidFill>
                <a:latin typeface="맑은 고딕"/>
                <a:ea typeface="맑은 고딕"/>
              </a:rPr>
              <a:t>)</a:t>
            </a:r>
            <a:r>
              <a:rPr sz="1800" b="0">
                <a:solidFill>
                  <a:srgbClr val="000000"/>
                </a:solidFill>
                <a:latin typeface="맑은 고딕"/>
                <a:ea typeface="맑은 고딕"/>
              </a:rPr>
              <a:t>의 관계를 알고,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모델링</a:t>
            </a:r>
            <a:r>
              <a:rPr sz="1400" b="0">
                <a:solidFill>
                  <a:srgbClr val="000000"/>
                </a:solidFill>
                <a:latin typeface="맑은 고딕"/>
                <a:ea typeface="맑은 고딕"/>
              </a:rPr>
              <a:t>(ERD)</a:t>
            </a:r>
            <a:r>
              <a:rPr sz="1800" b="0">
                <a:solidFill>
                  <a:srgbClr val="000000"/>
                </a:solidFill>
                <a:latin typeface="맑은 고딕"/>
                <a:ea typeface="맑은 고딕"/>
              </a:rPr>
              <a:t>과의 대응을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명사를 기계적으로 옮기지 않고 </a:t>
            </a:r>
            <a:r>
              <a:rPr sz="1800" b="1">
                <a:solidFill>
                  <a:srgbClr val="000000"/>
                </a:solidFill>
                <a:latin typeface="맑은 고딕"/>
                <a:ea typeface="맑은 고딕"/>
              </a:rPr>
              <a:t>도메인 개념</a:t>
            </a:r>
            <a:r>
              <a:rPr sz="1800" b="0">
                <a:solidFill>
                  <a:srgbClr val="000000"/>
                </a:solidFill>
                <a:latin typeface="맑은 고딕"/>
                <a:ea typeface="맑은 고딕"/>
              </a:rPr>
              <a:t>과 </a:t>
            </a:r>
            <a:r>
              <a:rPr sz="1800" b="1">
                <a:solidFill>
                  <a:srgbClr val="000000"/>
                </a:solidFill>
                <a:latin typeface="맑은 고딕"/>
                <a:ea typeface="맑은 고딕"/>
              </a:rPr>
              <a:t>속성</a:t>
            </a:r>
            <a:r>
              <a:rPr sz="1800" b="0">
                <a:solidFill>
                  <a:srgbClr val="000000"/>
                </a:solidFill>
                <a:latin typeface="맑은 고딕"/>
                <a:ea typeface="맑은 고딕"/>
              </a:rPr>
              <a:t>을 식별하며, </a:t>
            </a:r>
            <a:r>
              <a:rPr sz="1800" b="1">
                <a:solidFill>
                  <a:srgbClr val="000000"/>
                </a:solidFill>
                <a:latin typeface="맑은 고딕"/>
                <a:ea typeface="맑은 고딕"/>
              </a:rPr>
              <a:t>속성 도메인</a:t>
            </a:r>
            <a:r>
              <a:rPr sz="1800" b="0">
                <a:solidFill>
                  <a:srgbClr val="000000"/>
                </a:solidFill>
                <a:latin typeface="맑은 고딕"/>
                <a:ea typeface="맑은 고딕"/>
              </a:rPr>
              <a:t>과 속성 수준 업무 규칙을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r>
              <a:rPr sz="1800" b="0">
                <a:solidFill>
                  <a:srgbClr val="000000"/>
                </a:solidFill>
                <a:latin typeface="맑은 고딕"/>
                <a:ea typeface="맑은 고딕"/>
              </a:rPr>
              <a:t>과 </a:t>
            </a:r>
            <a:r>
              <a:rPr sz="1800" b="1">
                <a:solidFill>
                  <a:srgbClr val="000000"/>
                </a:solidFill>
                <a:latin typeface="맑은 고딕"/>
                <a:ea typeface="맑은 고딕"/>
              </a:rPr>
              <a:t>관계 유형</a:t>
            </a:r>
            <a:r>
              <a:rPr sz="1400" b="0">
                <a:solidFill>
                  <a:srgbClr val="000000"/>
                </a:solidFill>
                <a:latin typeface="맑은 고딕"/>
                <a:ea typeface="맑은 고딕"/>
              </a:rPr>
              <a:t>(연관·집합·합성·일반화·의존·실현)</a:t>
            </a:r>
            <a:r>
              <a:rPr sz="1800" b="0">
                <a:solidFill>
                  <a:srgbClr val="000000"/>
                </a:solidFill>
                <a:latin typeface="맑은 고딕"/>
                <a:ea typeface="맑은 고딕"/>
              </a:rPr>
              <a:t>을 구분하고, </a:t>
            </a: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정렬해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(초안·상세)</a:t>
            </a:r>
            <a:r>
              <a:rPr sz="1800" b="0">
                <a:solidFill>
                  <a:srgbClr val="000000"/>
                </a:solidFill>
                <a:latin typeface="맑은 고딕"/>
                <a:ea typeface="맑은 고딕"/>
              </a:rPr>
              <a:t>을 작성하고 </a:t>
            </a:r>
            <a:r>
              <a:rPr sz="1800" b="1">
                <a:solidFill>
                  <a:srgbClr val="000000"/>
                </a:solidFill>
                <a:latin typeface="맑은 고딕"/>
                <a:ea typeface="맑은 고딕"/>
              </a:rPr>
              <a:t>패키지</a:t>
            </a:r>
            <a:r>
              <a:rPr sz="1800" b="0">
                <a:solidFill>
                  <a:srgbClr val="000000"/>
                </a:solidFill>
                <a:latin typeface="맑은 고딕"/>
                <a:ea typeface="맑은 고딕"/>
              </a:rPr>
              <a:t>로 묶으며, 모델이 </a:t>
            </a:r>
            <a:r>
              <a:rPr sz="1800" b="1">
                <a:solidFill>
                  <a:srgbClr val="000000"/>
                </a:solidFill>
                <a:latin typeface="맑은 고딕"/>
                <a:ea typeface="맑은 고딕"/>
              </a:rPr>
              <a:t>코드·테스트</a:t>
            </a:r>
            <a:r>
              <a:rPr sz="1800" b="0">
                <a:solidFill>
                  <a:srgbClr val="000000"/>
                </a:solidFill>
                <a:latin typeface="맑은 고딕"/>
                <a:ea typeface="맑은 고딕"/>
              </a:rPr>
              <a:t>로 어떻게 이어지는지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정적 모델링의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요구와 정적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57073"/>
          <a:ext cx="8305800" cy="3873500"/>
        </p:xfrm>
        <a:graphic>
          <a:graphicData uri="http://schemas.openxmlformats.org/drawingml/2006/table">
            <a:tbl>
              <a:tblPr/>
              <a:tblGrid>
                <a:gridCol w="1506220"/>
                <a:gridCol w="4371340"/>
                <a:gridCol w="2428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찾는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결과 — 주문이 취소 상태, 전액 환불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환불, 결제–환불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 배송을 요청한다(주문,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파라미터의 개념·속성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 배송지는 새 주소, 상품·결제 금액은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이 이 세션의 </a:t>
            </a:r>
            <a:r>
              <a:rPr sz="1800" b="1">
                <a:solidFill>
                  <a:srgbClr val="000000"/>
                </a:solidFill>
                <a:latin typeface="맑은 고딕"/>
                <a:ea typeface="맑은 고딕"/>
              </a:rPr>
              <a:t>입력</a:t>
            </a:r>
            <a:r>
              <a:rPr sz="1800" b="0">
                <a:solidFill>
                  <a:srgbClr val="000000"/>
                </a:solidFill>
                <a:latin typeface="맑은 고딕"/>
                <a:ea typeface="맑은 고딕"/>
              </a:rPr>
              <a:t>이다. 그 안의 용어와 사후조건을 설명하려면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1067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그리다 발견한 누락·모순은 입력 산출물로 </a:t>
            </a:r>
            <a:r>
              <a:rPr sz="1800" b="1">
                <a:solidFill>
                  <a:srgbClr val="000000"/>
                </a:solidFill>
                <a:latin typeface="맑은 고딕"/>
                <a:ea typeface="맑은 고딕"/>
              </a:rPr>
              <a:t>되돌려</a:t>
            </a:r>
            <a:r>
              <a:rPr sz="1800" b="0">
                <a:solidFill>
                  <a:srgbClr val="000000"/>
                </a:solidFill>
                <a:latin typeface="맑은 고딕"/>
                <a:ea typeface="맑은 고딕"/>
              </a:rPr>
              <a:t> 보완한다. 별도의 문서를 만들지 않는다.</a:t>
            </a:r>
          </a:p>
        </p:txBody>
      </p:sp>
      <p:pic>
        <p:nvPicPr>
          <p:cNvPr id="15" name="mermaid Diagram 1"/>
          <p:cNvPicPr>
            <a:picLocks noChangeAspect="1"/>
          </p:cNvPicPr>
          <p:nvPr/>
        </p:nvPicPr>
        <p:blipFill>
          <a:blip r:embed="mermaidImage1"/>
          <a:stretch>
            <a:fillRect/>
          </a:stretch>
        </p:blipFill>
        <p:spPr>
          <a:xfrm>
            <a:off x="1556893" y="4908819"/>
            <a:ext cx="6016625" cy="102393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도메인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소프트웨어가 다루는 </a:t>
            </a:r>
            <a:r>
              <a:rPr sz="1800" b="1">
                <a:solidFill>
                  <a:srgbClr val="000000"/>
                </a:solidFill>
                <a:latin typeface="맑은 고딕"/>
                <a:ea typeface="맑은 고딕"/>
              </a:rPr>
              <a:t>지식·활동·관심의 영역</a:t>
            </a:r>
            <a:r>
              <a:rPr sz="1800" b="0">
                <a:solidFill>
                  <a:srgbClr val="000000"/>
                </a:solidFill>
                <a:latin typeface="맑은 고딕"/>
                <a:ea typeface="맑은 고딕"/>
              </a:rPr>
              <a:t>이다. 분석은 먼저 </a:t>
            </a:r>
            <a:r>
              <a:rPr sz="1800" b="1">
                <a:solidFill>
                  <a:srgbClr val="000000"/>
                </a:solidFill>
                <a:latin typeface="맑은 고딕"/>
                <a:ea typeface="맑은 고딕"/>
              </a:rPr>
              <a:t>문제영역</a:t>
            </a:r>
            <a:r>
              <a:rPr sz="1800" b="0">
                <a:solidFill>
                  <a:srgbClr val="000000"/>
                </a:solidFill>
                <a:latin typeface="맑은 고딕"/>
                <a:ea typeface="맑은 고딕"/>
              </a:rPr>
              <a:t>을 이해하고, 기술 선택은 뒤로 미룬다.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문제영역</a:t>
            </a:r>
            <a:r>
              <a:rPr sz="1800" b="0">
                <a:solidFill>
                  <a:srgbClr val="000000"/>
                </a:solidFill>
                <a:latin typeface="맑은 고딕"/>
                <a:ea typeface="맑은 고딕"/>
              </a:rPr>
              <a:t> —</a:t>
            </a:r>
            <a:r>
              <a:rPr sz="1600" b="0">
                <a:solidFill>
                  <a:srgbClr val="000000"/>
                </a:solidFill>
                <a:latin typeface="맑은 고딕"/>
                <a:ea typeface="맑은 고딕"/>
              </a:rPr>
              <a:t> 고객, 주문, 상품, 결제, 환불, 배송지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 영역</a:t>
            </a:r>
            <a:r>
              <a:rPr sz="1800" b="0">
                <a:solidFill>
                  <a:srgbClr val="000000"/>
                </a:solidFill>
                <a:latin typeface="맑은 고딕"/>
                <a:ea typeface="맑은 고딕"/>
              </a:rPr>
              <a:t> —</a:t>
            </a:r>
            <a:r>
              <a:rPr sz="1600" b="0">
                <a:solidFill>
                  <a:srgbClr val="000000"/>
                </a:solidFill>
                <a:latin typeface="맑은 고딕"/>
                <a:ea typeface="맑은 고딕"/>
              </a:rPr>
              <a:t> 화면, API, 테이블, 메시지 큐, 프레임워크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시스템의 도메인은 프로그램이 아니라 </a:t>
            </a:r>
            <a:r>
              <a:rPr sz="1800" b="1">
                <a:solidFill>
                  <a:srgbClr val="000000"/>
                </a:solidFill>
                <a:latin typeface="맑은 고딕"/>
                <a:ea typeface="맑은 고딕"/>
              </a:rPr>
              <a:t>주문하고, 결제하고, 취소·환불하고, 배송받는 업무</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정적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a:t>
            </a:r>
            <a:r>
              <a:rPr sz="1800" b="1">
                <a:solidFill>
                  <a:srgbClr val="000000"/>
                </a:solidFill>
                <a:latin typeface="맑은 고딕"/>
                <a:ea typeface="맑은 고딕"/>
              </a:rPr>
              <a:t>구현과 분리해</a:t>
            </a:r>
            <a:r>
              <a:rPr sz="1800" b="0">
                <a:solidFill>
                  <a:srgbClr val="000000"/>
                </a:solidFill>
                <a:latin typeface="맑은 고딕"/>
                <a:ea typeface="맑은 고딕"/>
              </a:rPr>
              <a:t>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이해하고 검토하는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a:t>
            </a:r>
            <a:r>
              <a:rPr sz="1800" b="1">
                <a:solidFill>
                  <a:srgbClr val="000000"/>
                </a:solidFill>
                <a:latin typeface="맑은 고딕"/>
                <a:ea typeface="맑은 고딕"/>
              </a:rPr>
              <a:t>단순화</a:t>
            </a:r>
            <a:r>
              <a:rPr sz="1800" b="0">
                <a:solidFill>
                  <a:srgbClr val="000000"/>
                </a:solidFill>
                <a:latin typeface="맑은 고딕"/>
                <a:ea typeface="맑은 고딕"/>
              </a:rPr>
              <a:t>다. 당면한 문제를 해결하는 데 관련된 측면을 추상화하고 불필요한 세부는 무시하는 현실의 해석이다"</a:t>
            </a:r>
            <a:r>
              <a:rPr sz="1000" b="0">
                <a:solidFill>
                  <a:srgbClr val="000000"/>
                </a:solidFill>
                <a:latin typeface="맑은 고딕"/>
                <a:ea typeface="맑은 고딕"/>
              </a:rPr>
              <a:t>, </a:t>
            </a:r>
            <a:r>
              <a:rPr sz="1000" b="0">
                <a:solidFill>
                  <a:srgbClr val="000000"/>
                </a:solidFill>
                <a:latin typeface="맑은 고딕"/>
                <a:ea typeface="맑은 고딕"/>
              </a:rPr>
              <a:t>"A model is a simplification. It is an interpretation of reality that abstracts the aspects relevant to solving the problem at hand and ignores extraneous detail."</a:t>
            </a:r>
            <a:r>
              <a:rPr sz="1000" b="0">
                <a:solidFill>
                  <a:srgbClr val="000000"/>
                </a:solidFill>
                <a:latin typeface="맑은 고딕"/>
                <a:ea typeface="맑은 고딕"/>
              </a:rPr>
              <a:t>, </a:t>
            </a:r>
            <a:r>
              <a:rPr sz="1000" b="0">
                <a:solidFill>
                  <a:srgbClr val="000000"/>
                </a:solidFill>
                <a:latin typeface="맑은 고딕"/>
                <a:ea typeface="맑은 고딕"/>
              </a:rPr>
              <a:t>[Evans 2004, 재인용]</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어떤 </a:t>
            </a:r>
            <a:r>
              <a:rPr sz="1800" b="1">
                <a:solidFill>
                  <a:srgbClr val="000000"/>
                </a:solidFill>
                <a:latin typeface="맑은 고딕"/>
                <a:ea typeface="맑은 고딕"/>
              </a:rPr>
              <a:t>개념</a:t>
            </a:r>
            <a:r>
              <a:rPr sz="1800" b="0">
                <a:solidFill>
                  <a:srgbClr val="000000"/>
                </a:solidFill>
                <a:latin typeface="맑은 고딕"/>
                <a:ea typeface="맑은 고딕"/>
              </a:rPr>
              <a:t>이 존재하는가?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개념은 어떤 </a:t>
            </a:r>
            <a:r>
              <a:rPr sz="1800" b="1">
                <a:solidFill>
                  <a:srgbClr val="000000"/>
                </a:solidFill>
                <a:latin typeface="맑은 고딕"/>
                <a:ea typeface="맑은 고딕"/>
              </a:rPr>
              <a:t>정보</a:t>
            </a:r>
            <a:r>
              <a:rPr sz="1800" b="0">
                <a:solidFill>
                  <a:srgbClr val="000000"/>
                </a:solidFill>
                <a:latin typeface="맑은 고딕"/>
                <a:ea typeface="맑은 고딕"/>
              </a:rPr>
              <a:t>를 가지는가?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개념들은 어떤 </a:t>
            </a:r>
            <a:r>
              <a:rPr sz="1800" b="1">
                <a:solidFill>
                  <a:srgbClr val="000000"/>
                </a:solidFill>
                <a:latin typeface="맑은 고딕"/>
                <a:ea typeface="맑은 고딕"/>
              </a:rPr>
              <a:t>관계</a:t>
            </a:r>
            <a:r>
              <a:rPr sz="1800" b="0">
                <a:solidFill>
                  <a:srgbClr val="000000"/>
                </a:solidFill>
                <a:latin typeface="맑은 고딕"/>
                <a:ea typeface="맑은 고딕"/>
              </a:rPr>
              <a:t>로, 몇 개씩 연결되는가?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항상 지켜져야 하는 </a:t>
            </a:r>
            <a:r>
              <a:rPr sz="1800" b="1">
                <a:solidFill>
                  <a:srgbClr val="000000"/>
                </a:solidFill>
                <a:latin typeface="맑은 고딕"/>
                <a:ea typeface="맑은 고딕"/>
              </a:rPr>
              <a:t>제약</a:t>
            </a:r>
            <a:r>
              <a:rPr sz="1800" b="0">
                <a:solidFill>
                  <a:srgbClr val="000000"/>
                </a:solidFill>
                <a:latin typeface="맑은 고딕"/>
                <a:ea typeface="맑은 고딕"/>
              </a:rPr>
              <a:t>은 무엇인가?</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1842998"/>
          <a:ext cx="7142480" cy="3873500"/>
        </p:xfrm>
        <a:graphic>
          <a:graphicData uri="http://schemas.openxmlformats.org/drawingml/2006/table">
            <a:tbl>
              <a:tblPr/>
              <a:tblGrid>
                <a:gridCol w="889000"/>
                <a:gridCol w="273558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활동·시퀀스·커뮤니케이션·상태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모델의 중심은 </a:t>
            </a:r>
            <a:r>
              <a:rPr sz="1800" b="1">
                <a:solidFill>
                  <a:srgbClr val="000000"/>
                </a:solidFill>
                <a:latin typeface="맑은 고딕"/>
                <a:ea typeface="맑은 고딕"/>
              </a:rPr>
              <a:t>상태 기계</a:t>
            </a:r>
            <a:r>
              <a:rPr sz="1800" b="0">
                <a:solidFill>
                  <a:srgbClr val="000000"/>
                </a:solidFill>
                <a:latin typeface="맑은 고딕"/>
                <a:ea typeface="맑은 고딕"/>
              </a:rPr>
              <a:t>다. 정적 모델의 </a:t>
            </a:r>
            <a:r>
              <a:rPr sz="1800" b="1">
                <a:solidFill>
                  <a:srgbClr val="000000"/>
                </a:solidFill>
                <a:latin typeface="맑은 고딕"/>
                <a:ea typeface="맑은 고딕"/>
              </a:rPr>
              <a:t>상태 값</a:t>
            </a:r>
            <a:r>
              <a:rPr sz="1400" b="0">
                <a:solidFill>
                  <a:srgbClr val="000000"/>
                </a:solidFill>
                <a:latin typeface="맑은 고딕"/>
                <a:ea typeface="맑은 고딕"/>
              </a:rPr>
              <a:t>(열거형)</a:t>
            </a:r>
            <a:r>
              <a:rPr sz="1800" b="0">
                <a:solidFill>
                  <a:srgbClr val="000000"/>
                </a:solidFill>
                <a:latin typeface="맑은 고딕"/>
                <a:ea typeface="맑은 고딕"/>
              </a:rPr>
              <a:t>과 동적 모델의 </a:t>
            </a:r>
            <a:r>
              <a:rPr sz="1800" b="1">
                <a:solidFill>
                  <a:srgbClr val="000000"/>
                </a:solidFill>
                <a:latin typeface="맑은 고딕"/>
                <a:ea typeface="맑은 고딕"/>
              </a:rPr>
              <a:t>사건</a:t>
            </a:r>
            <a:r>
              <a:rPr sz="1800" b="0">
                <a:solidFill>
                  <a:srgbClr val="000000"/>
                </a:solidFill>
                <a:latin typeface="맑은 고딕"/>
                <a:ea typeface="맑은 고딕"/>
              </a:rPr>
              <a:t>이 만나는 곳이기 때문이다.</a:t>
            </a:r>
          </a:p>
          <a:p>
            <a:pPr marL="342900" indent="0">
              <a:spcBef>
                <a:spcPts val="600"/>
              </a:spcBef>
              <a:spcAft>
                <a:spcPts val="600"/>
              </a:spcAft>
              <a:buNone/>
            </a:pPr>
            <a:r>
              <a:rPr sz="1800" b="1">
                <a:solidFill>
                  <a:srgbClr val="000000"/>
                </a:solidFill>
                <a:latin typeface="맑은 고딕"/>
                <a:ea typeface="맑은 고딕"/>
              </a:rPr>
              <a:t>한 사건, 네 다이어그램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취소</a:t>
            </a:r>
            <a:r>
              <a:rPr sz="1800" b="0">
                <a:solidFill>
                  <a:srgbClr val="000000"/>
                </a:solidFill>
                <a:latin typeface="맑은 고딕"/>
                <a:ea typeface="맑은 고딕"/>
              </a:rPr>
              <a:t> 하나를 네 동적 다이어그램으로 보면 모두 </a:t>
            </a:r>
            <a:r>
              <a:rPr sz="1800" b="1">
                <a:solidFill>
                  <a:srgbClr val="000000"/>
                </a:solidFill>
                <a:latin typeface="맑은 고딕"/>
                <a:ea typeface="맑은 고딕"/>
              </a:rPr>
              <a:t>주문의 상태 전이</a:t>
            </a:r>
            <a:r>
              <a:rPr sz="1400" b="0">
                <a:solidFill>
                  <a:srgbClr val="000000"/>
                </a:solidFill>
                <a:latin typeface="맑은 고딕"/>
                <a:ea typeface="맑은 고딕"/>
              </a:rPr>
              <a:t>(결제 완료 → 취소됨)</a:t>
            </a:r>
            <a:r>
              <a:rPr sz="1800" b="0">
                <a:solidFill>
                  <a:srgbClr val="000000"/>
                </a:solidFill>
                <a:latin typeface="맑은 고딕"/>
                <a:ea typeface="맑은 고딕"/>
              </a:rPr>
              <a:t>로 모인다. 각 다이어그램은 정적 모델의 어휘를 쓴다.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1143000"/>
                <a:gridCol w="2387600"/>
                <a:gridCol w="2387600"/>
                <a:gridCol w="238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취소에서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 드러나는 누락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단계에서 상태가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행동이 만드는 개념(환불)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흐름에 없는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메시지가 전이를 일으키는가?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개념(생명선), 연관(메시지의 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보낼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메시지가 어느 링크를 지나는가?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연관(링크),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링크에 대응하는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사건으로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열거형 상태 값,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없는 상태 값, 값에 없는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정적 모델과의 연결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pic>
        <p:nvPicPr>
          <p:cNvPr id="14" name="svg Diagram 1" descr="주문 취소 한 사건을 활동·시퀀스·커뮤니케이션·클래스 다이어그램으로 보고 모두 주문 상태 기계의 전이로 모이는 관계"/>
          <p:cNvPicPr>
            <a:picLocks noChangeAspect="1"/>
          </p:cNvPicPr>
          <p:nvPr/>
        </p:nvPicPr>
        <p:blipFill>
          <a:blip r:embed="svgImage1"/>
          <a:stretch>
            <a:fillRect/>
          </a:stretch>
        </p:blipFill>
        <p:spPr>
          <a:xfrm>
            <a:off x="2183955" y="3309043"/>
            <a:ext cx="4762500" cy="2857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(1/3)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정적이기도 하고 동적이기도 하다. 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 사례의 상태 값은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(2/3)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열거형</a:t>
            </a:r>
            <a:r>
              <a:rPr sz="1400" b="0">
                <a:solidFill>
                  <a:srgbClr val="000000"/>
                </a:solidFill>
                <a:latin typeface="맑은 고딕"/>
                <a:ea typeface="맑은 고딕"/>
              </a:rPr>
              <a:t>(«enumeration»)</a:t>
            </a:r>
            <a:r>
              <a:rPr sz="1800" b="0">
                <a:solidFill>
                  <a:srgbClr val="000000"/>
                </a:solidFill>
                <a:latin typeface="맑은 고딕"/>
                <a:ea typeface="맑은 고딕"/>
              </a:rPr>
              <a:t> —</a:t>
            </a:r>
            <a:r>
              <a:rPr sz="1600" b="0">
                <a:solidFill>
                  <a:srgbClr val="000000"/>
                </a:solidFill>
                <a:latin typeface="맑은 고딕"/>
                <a:ea typeface="맑은 고딕"/>
              </a:rPr>
              <a:t> 가능한 값을 칸에 나열한 값의 종류다. 속성의 값의 종류로 쓴다(</a:t>
            </a:r>
            <a:r>
              <a:rPr sz="1600" b="0">
                <a:solidFill>
                  <a:srgbClr val="000000"/>
                </a:solidFill>
                <a:latin typeface="맑은 고딕"/>
                <a:ea typeface="맑은 고딕"/>
              </a:rPr>
              <a:t>주문 상태 : 주문 상태</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a:t>
            </a:r>
            <a:r>
              <a:rPr sz="1000" b="0">
                <a:solidFill>
                  <a:srgbClr val="000000"/>
                </a:solidFill>
                <a:latin typeface="맑은 고딕"/>
                <a:ea typeface="맑은 고딕"/>
              </a:rPr>
              <a:t>, </a:t>
            </a:r>
            <a:r>
              <a:rPr sz="1000" b="0">
                <a:solidFill>
                  <a:srgbClr val="000000"/>
                </a:solidFill>
                <a:latin typeface="맑은 고딕"/>
                <a:ea typeface="맑은 고딕"/>
              </a:rPr>
              <a:t>[OMG 2017]</a:t>
            </a:r>
          </a:p>
        </p:txBody>
      </p:sp>
      <p:pic>
        <p:nvPicPr>
          <p:cNvPr id="9" name="plantuml Diagram 1"/>
          <p:cNvPicPr>
            <a:picLocks noChangeAspect="1"/>
          </p:cNvPicPr>
          <p:nvPr/>
        </p:nvPicPr>
        <p:blipFill>
          <a:blip r:embed="plantumlImage1"/>
          <a:stretch>
            <a:fillRect/>
          </a:stretch>
        </p:blipFill>
        <p:spPr>
          <a:xfrm>
            <a:off x="3915019" y="3190181"/>
            <a:ext cx="1313962" cy="26499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(3/3)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기계의 </a:t>
            </a:r>
            <a:r>
              <a:rPr sz="1800" b="1">
                <a:solidFill>
                  <a:srgbClr val="000000"/>
                </a:solidFill>
                <a:latin typeface="맑은 고딕"/>
                <a:ea typeface="맑은 고딕"/>
              </a:rPr>
              <a:t>상태</a:t>
            </a:r>
            <a:r>
              <a:rPr sz="1800" b="0">
                <a:solidFill>
                  <a:srgbClr val="000000"/>
                </a:solidFill>
                <a:latin typeface="맑은 고딕"/>
                <a:ea typeface="맑은 고딕"/>
              </a:rPr>
              <a:t>는 열거형 </a:t>
            </a:r>
            <a:r>
              <a:rPr sz="1800" b="0">
                <a:solidFill>
                  <a:srgbClr val="000000"/>
                </a:solidFill>
                <a:latin typeface="맑은 고딕"/>
                <a:ea typeface="맑은 고딕"/>
              </a:rPr>
              <a:t>주문 상태</a:t>
            </a:r>
            <a:r>
              <a:rPr sz="1800" b="0">
                <a:solidFill>
                  <a:srgbClr val="000000"/>
                </a:solidFill>
                <a:latin typeface="맑은 고딕"/>
                <a:ea typeface="맑은 고딕"/>
              </a:rPr>
              <a:t>의 </a:t>
            </a:r>
            <a:r>
              <a:rPr sz="1800" b="1">
                <a:solidFill>
                  <a:srgbClr val="000000"/>
                </a:solidFill>
                <a:latin typeface="맑은 고딕"/>
                <a:ea typeface="맑은 고딕"/>
              </a:rPr>
              <a:t>값</a:t>
            </a:r>
            <a:r>
              <a:rPr sz="1800" b="0">
                <a:solidFill>
                  <a:srgbClr val="000000"/>
                </a:solidFill>
                <a:latin typeface="맑은 고딕"/>
                <a:ea typeface="맑은 고딕"/>
              </a:rPr>
              <a:t>과 하나씩 대응한다. 전이에 쓰이지 않는 값이나 값에 없는 상태는 누락이다.</a:t>
            </a:r>
          </a:p>
        </p:txBody>
      </p:sp>
      <p:pic>
        <p:nvPicPr>
          <p:cNvPr id="9" name="plantuml Diagram 2"/>
          <p:cNvPicPr>
            <a:picLocks noChangeAspect="1"/>
          </p:cNvPicPr>
          <p:nvPr/>
        </p:nvPicPr>
        <p:blipFill>
          <a:blip r:embed="plantumlImage2"/>
          <a:stretch>
            <a:fillRect/>
          </a:stretch>
        </p:blipFill>
        <p:spPr>
          <a:xfrm>
            <a:off x="1909885" y="3771792"/>
            <a:ext cx="5324231"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나 실제 상황의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real-situation objects in a domain"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문제영역의 </a:t>
            </a:r>
            <a:r>
              <a:rPr sz="1800" b="1">
                <a:solidFill>
                  <a:srgbClr val="000000"/>
                </a:solidFill>
                <a:latin typeface="맑은 고딕"/>
                <a:ea typeface="맑은 고딕"/>
              </a:rPr>
              <a:t>시각적 사전</a:t>
            </a:r>
            <a:r>
              <a:rPr sz="1800" b="0">
                <a:solidFill>
                  <a:srgbClr val="000000"/>
                </a:solidFill>
                <a:latin typeface="맑은 고딕"/>
                <a:ea typeface="맑은 고딕"/>
              </a:rPr>
              <a:t>이다. 소프트웨어 컴포넌트가 아니며, 설계의 영감이 될 수 있지만 설계 클래스로 그대로 옮기지 않는다.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도메인 모델의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775911"/>
                <a:gridCol w="2452124"/>
                <a:gridCol w="2953022"/>
                <a:gridCol w="112474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모델 (도메인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클래스·책임·메시지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클래스와 그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언어·구조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테이블·키·인덱스, API·메시지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 주문 식별 키, 주문 응답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DB·프레임워크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기술 요소가 없는 개념 모델</a:t>
            </a:r>
            <a:r>
              <a:rPr sz="1800" b="0">
                <a:solidFill>
                  <a:srgbClr val="000000"/>
                </a:solidFill>
                <a:latin typeface="맑은 고딕"/>
                <a:ea typeface="맑은 고딕"/>
              </a:rPr>
              <a:t>이다. 그래야 기술이 바뀌어도 </a:t>
            </a:r>
            <a:r>
              <a:rPr sz="1800" b="1">
                <a:solidFill>
                  <a:srgbClr val="000000"/>
                </a:solidFill>
                <a:latin typeface="맑은 고딕"/>
                <a:ea typeface="맑은 고딕"/>
              </a:rPr>
              <a:t>의미를 검토하는 기준</a:t>
            </a:r>
            <a:r>
              <a:rPr sz="1800" b="0">
                <a:solidFill>
                  <a:srgbClr val="000000"/>
                </a:solidFill>
                <a:latin typeface="맑은 고딕"/>
                <a:ea typeface="맑은 고딕"/>
              </a:rPr>
              <a:t>으로 남는다. 같은 "주문"이라도 층마다 표현이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939657"/>
          <a:ext cx="8305800" cy="3873500"/>
        </p:xfrm>
        <a:graphic>
          <a:graphicData uri="http://schemas.openxmlformats.org/drawingml/2006/table">
            <a:tbl>
              <a:tblPr/>
              <a:tblGrid>
                <a:gridCol w="1981200"/>
                <a:gridCol w="2735580"/>
                <a:gridCol w="3589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 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구분해 이야기하는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쓰는 단수 명사로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 사각형 안의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개념이 가지는 단순한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 값의 종류로 쓴다. 타입은 업무 값의 종류로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실선과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기억하거나 이해할 가치가 있는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동사구로 이름 짓고 읽는 방향(&gt;)을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 양 끝의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상대와 몇 개씩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0..1, 0..*,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책임과 메서드는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13817"/>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pic>
        <p:nvPicPr>
          <p:cNvPr id="15" name="svg Diagram 2" descr="클래스 다이어그램 표기: 개념과 속성, 연관과 다중성, 일반화, 합성, 열거형"/>
          <p:cNvPicPr>
            <a:picLocks noChangeAspect="1"/>
          </p:cNvPicPr>
          <p:nvPr/>
        </p:nvPicPr>
        <p:blipFill>
          <a:blip r:embed="svgImage2"/>
          <a:stretch>
            <a:fillRect/>
          </a:stretch>
        </p:blipFill>
        <p:spPr>
          <a:xfrm>
            <a:off x="1588643" y="184299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5" y="1585960"/>
          <a:ext cx="7647940" cy="3873500"/>
        </p:xfrm>
        <a:graphic>
          <a:graphicData uri="http://schemas.openxmlformats.org/drawingml/2006/table">
            <a:tbl>
              <a:tblPr/>
              <a:tblGrid>
                <a:gridCol w="1282700"/>
                <a:gridCol w="2092960"/>
                <a:gridCol w="4272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값에서 계산되는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총액처럼 이름 앞에 붙인다(「25. 파생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 —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언제나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이상}처럼 중괄호 메모로 붙인다(「39.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값과 제약의 표기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55156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클래스의 종류</a:t>
            </a:r>
            <a:r>
              <a:rPr sz="1800" b="0">
                <a:solidFill>
                  <a:srgbClr val="000000"/>
                </a:solidFill>
                <a:latin typeface="맑은 고딕"/>
                <a:ea typeface="맑은 고딕"/>
              </a:rPr>
              <a:t>는 「10. 클래스 유형」, </a:t>
            </a:r>
            <a:r>
              <a:rPr sz="1800" b="1">
                <a:solidFill>
                  <a:srgbClr val="000000"/>
                </a:solidFill>
                <a:latin typeface="맑은 고딕"/>
                <a:ea typeface="맑은 고딕"/>
              </a:rPr>
              <a:t>관계의 종류</a:t>
            </a:r>
            <a:r>
              <a:rPr sz="1800" b="0">
                <a:solidFill>
                  <a:srgbClr val="000000"/>
                </a:solidFill>
                <a:latin typeface="맑은 고딕"/>
                <a:ea typeface="맑은 고딕"/>
              </a:rPr>
              <a:t>는 「11. 관계 유형」에서 정리한다.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고객과 주문</a:t>
            </a:r>
            <a:r>
              <a:rPr sz="1800" b="0">
                <a:solidFill>
                  <a:srgbClr val="000000"/>
                </a:solidFill>
                <a:latin typeface="맑은 고딕"/>
                <a:ea typeface="맑은 고딕"/>
              </a:rPr>
              <a:t>을 클래스 다이어그램으로 그린 예다.</a:t>
            </a:r>
          </a:p>
        </p:txBody>
      </p:sp>
      <p:pic>
        <p:nvPicPr>
          <p:cNvPr id="15" name="plantuml Diagram 3"/>
          <p:cNvPicPr>
            <a:picLocks noChangeAspect="1"/>
          </p:cNvPicPr>
          <p:nvPr/>
        </p:nvPicPr>
        <p:blipFill>
          <a:blip r:embed="plantumlImage3"/>
          <a:stretch>
            <a:fillRect/>
          </a:stretch>
        </p:blipFill>
        <p:spPr>
          <a:xfrm>
            <a:off x="3495475" y="4690534"/>
            <a:ext cx="2139462" cy="79863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(1/4)</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024167"/>
                <a:gridCol w="1629574"/>
                <a:gridCol w="2313947"/>
                <a:gridCol w="1945438"/>
                <a:gridCol w="139267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«dataType»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같으면 같은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속성의 타입 — 금액,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record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열거형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«enumeration»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값의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enum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연관에 점선으로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자체가 가지는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참조의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기울인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직접 인스턴스가 없는 일반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일반화의 위쪽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abstract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오퍼레이션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다이어그램의 사각형은 모두 비슷해 보이지만 </a:t>
            </a:r>
            <a:r>
              <a:rPr sz="1800" b="1">
                <a:solidFill>
                  <a:srgbClr val="000000"/>
                </a:solidFill>
                <a:latin typeface="맑은 고딕"/>
                <a:ea typeface="맑은 고딕"/>
              </a:rPr>
              <a:t>유형</a:t>
            </a:r>
            <a:r>
              <a:rPr sz="1800" b="0">
                <a:solidFill>
                  <a:srgbClr val="000000"/>
                </a:solidFill>
                <a:latin typeface="맑은 고딕"/>
                <a:ea typeface="맑은 고딕"/>
              </a:rPr>
              <a:t>이 다르다. </a:t>
            </a:r>
            <a:r>
              <a:rPr sz="1800" b="1">
                <a:solidFill>
                  <a:srgbClr val="000000"/>
                </a:solidFill>
                <a:latin typeface="맑은 고딕"/>
                <a:ea typeface="맑은 고딕"/>
              </a:rPr>
              <a:t>UML 표기에 따른 유형</a:t>
            </a:r>
            <a:r>
              <a:rPr sz="1800" b="0">
                <a:solidFill>
                  <a:srgbClr val="000000"/>
                </a:solidFill>
                <a:latin typeface="맑은 고딕"/>
                <a:ea typeface="맑은 고딕"/>
              </a:rPr>
              <a:t>과 </a:t>
            </a:r>
            <a:r>
              <a:rPr sz="1800" b="1">
                <a:solidFill>
                  <a:srgbClr val="000000"/>
                </a:solidFill>
                <a:latin typeface="맑은 고딕"/>
                <a:ea typeface="맑은 고딕"/>
              </a:rPr>
              <a:t>도메인 의미에 따른 유형</a:t>
            </a:r>
            <a:r>
              <a:rPr sz="1800" b="0">
                <a:solidFill>
                  <a:srgbClr val="000000"/>
                </a:solidFill>
                <a:latin typeface="맑은 고딕"/>
                <a:ea typeface="맑은 고딕"/>
              </a:rPr>
              <a:t>이 있다. 먼저 UML 유형이다.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(2/4)</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a:t>
            </a:r>
            <a:r>
              <a:rPr sz="1400" b="0">
                <a:solidFill>
                  <a:srgbClr val="000000"/>
                </a:solidFill>
                <a:latin typeface="맑은 고딕"/>
                <a:ea typeface="맑은 고딕"/>
              </a:rPr>
              <a:t>(</a:t>
            </a:r>
            <a:r>
              <a:rPr sz="1400" b="1">
                <a:solidFill>
                  <a:srgbClr val="000000"/>
                </a:solidFill>
                <a:latin typeface="맑은 고딕"/>
                <a:ea typeface="맑은 고딕"/>
              </a:rPr>
              <a:t>개념 클래스</a:t>
            </a:r>
            <a:r>
              <a:rPr sz="1400" b="0">
                <a:solidFill>
                  <a:srgbClr val="000000"/>
                </a:solidFill>
                <a:latin typeface="맑은 고딕"/>
                <a:ea typeface="맑은 고딕"/>
              </a:rPr>
              <a:t>)</a:t>
            </a:r>
            <a:r>
              <a:rPr sz="1800" b="0">
                <a:solidFill>
                  <a:srgbClr val="000000"/>
                </a:solidFill>
                <a:latin typeface="맑은 고딕"/>
                <a:ea typeface="맑은 고딕"/>
              </a:rPr>
              <a:t>, 주문 상태</a:t>
            </a:r>
            <a:r>
              <a:rPr sz="1400" b="0">
                <a:solidFill>
                  <a:srgbClr val="000000"/>
                </a:solidFill>
                <a:latin typeface="맑은 고딕"/>
                <a:ea typeface="맑은 고딕"/>
              </a:rPr>
              <a:t>(</a:t>
            </a:r>
            <a:r>
              <a:rPr sz="1400" b="1">
                <a:solidFill>
                  <a:srgbClr val="000000"/>
                </a:solidFill>
                <a:latin typeface="맑은 고딕"/>
                <a:ea typeface="맑은 고딕"/>
              </a:rPr>
              <a:t>열거형</a:t>
            </a:r>
            <a:r>
              <a:rPr sz="1400" b="0">
                <a:solidFill>
                  <a:srgbClr val="000000"/>
                </a:solidFill>
                <a:latin typeface="맑은 고딕"/>
                <a:ea typeface="맑은 고딕"/>
              </a:rPr>
              <a:t>)</a:t>
            </a:r>
            <a:r>
              <a:rPr sz="1800" b="0">
                <a:solidFill>
                  <a:srgbClr val="000000"/>
                </a:solidFill>
                <a:latin typeface="맑은 고딕"/>
                <a:ea typeface="맑은 고딕"/>
              </a:rPr>
              <a:t>, 주소</a:t>
            </a:r>
            <a:r>
              <a:rPr sz="1400" b="0">
                <a:solidFill>
                  <a:srgbClr val="000000"/>
                </a:solidFill>
                <a:latin typeface="맑은 고딕"/>
                <a:ea typeface="맑은 고딕"/>
              </a:rPr>
              <a:t>(</a:t>
            </a:r>
            <a:r>
              <a:rPr sz="1400" b="1">
                <a:solidFill>
                  <a:srgbClr val="000000"/>
                </a:solidFill>
                <a:latin typeface="맑은 고딕"/>
                <a:ea typeface="맑은 고딕"/>
              </a:rPr>
              <a:t>데이터 타입</a:t>
            </a:r>
            <a:r>
              <a:rPr sz="1400" b="0">
                <a:solidFill>
                  <a:srgbClr val="000000"/>
                </a:solidFill>
                <a:latin typeface="맑은 고딕"/>
                <a:ea typeface="맑은 고딕"/>
              </a:rPr>
              <a:t>)</a:t>
            </a:r>
            <a:r>
              <a:rPr sz="1800" b="0">
                <a:solidFill>
                  <a:srgbClr val="000000"/>
                </a:solidFill>
                <a:latin typeface="맑은 고딕"/>
                <a:ea typeface="맑은 고딕"/>
              </a:rPr>
              <a:t>, 결제</a:t>
            </a:r>
            <a:r>
              <a:rPr sz="1400" b="0">
                <a:solidFill>
                  <a:srgbClr val="000000"/>
                </a:solidFill>
                <a:latin typeface="맑은 고딕"/>
                <a:ea typeface="맑은 고딕"/>
              </a:rPr>
              <a:t>(</a:t>
            </a:r>
            <a:r>
              <a:rPr sz="1400" b="1">
                <a:solidFill>
                  <a:srgbClr val="000000"/>
                </a:solidFill>
                <a:latin typeface="맑은 고딕"/>
                <a:ea typeface="맑은 고딕"/>
              </a:rPr>
              <a:t>추상 클래스</a:t>
            </a:r>
            <a:r>
              <a:rPr sz="1400" b="0">
                <a:solidFill>
                  <a:srgbClr val="000000"/>
                </a:solidFill>
                <a:latin typeface="맑은 고딕"/>
                <a:ea typeface="맑은 고딕"/>
              </a:rPr>
              <a:t>)</a:t>
            </a:r>
            <a:r>
              <a:rPr sz="1800" b="0">
                <a:solidFill>
                  <a:srgbClr val="000000"/>
                </a:solidFill>
                <a:latin typeface="맑은 고딕"/>
                <a:ea typeface="맑은 고딕"/>
              </a:rPr>
              <a:t>, 결제 시스템</a:t>
            </a:r>
            <a:r>
              <a:rPr sz="1400" b="0">
                <a:solidFill>
                  <a:srgbClr val="000000"/>
                </a:solidFill>
                <a:latin typeface="맑은 고딕"/>
                <a:ea typeface="맑은 고딕"/>
              </a:rPr>
              <a:t>(</a:t>
            </a:r>
            <a:r>
              <a:rPr sz="1400" b="1">
                <a:solidFill>
                  <a:srgbClr val="000000"/>
                </a:solidFill>
                <a:latin typeface="맑은 고딕"/>
                <a:ea typeface="맑은 고딕"/>
              </a:rPr>
              <a:t>인터페이스</a:t>
            </a:r>
            <a:r>
              <a:rPr sz="1400" b="0">
                <a:solidFill>
                  <a:srgbClr val="000000"/>
                </a:solidFill>
                <a:latin typeface="맑은 고딕"/>
                <a:ea typeface="맑은 고딕"/>
              </a:rPr>
              <a:t>)</a:t>
            </a:r>
            <a:r>
              <a:rPr sz="1800" b="0">
                <a:solidFill>
                  <a:srgbClr val="000000"/>
                </a:solidFill>
                <a:latin typeface="맑은 고딕"/>
                <a:ea typeface="맑은 고딕"/>
              </a:rPr>
              <a:t>이다. 인터페이스는 설계 유형과 대비하려고 넣었다.</a:t>
            </a:r>
          </a:p>
        </p:txBody>
      </p:sp>
      <p:pic>
        <p:nvPicPr>
          <p:cNvPr id="9" name="plantuml Diagram 4"/>
          <p:cNvPicPr>
            <a:picLocks noChangeAspect="1"/>
          </p:cNvPicPr>
          <p:nvPr/>
        </p:nvPicPr>
        <p:blipFill>
          <a:blip r:embed="plantumlImage4"/>
          <a:stretch>
            <a:fillRect/>
          </a:stretch>
        </p:blipFill>
        <p:spPr>
          <a:xfrm>
            <a:off x="2540000" y="2538866"/>
            <a:ext cx="4064000" cy="3421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(3/4)</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1288753"/>
                <a:gridCol w="1959085"/>
                <a:gridCol w="1710814"/>
                <a:gridCol w="1710814"/>
                <a:gridCol w="1636333"/>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전형적인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전형적인 연관</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거래(순간·기간)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기록해야 할 일 — 순간·기간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 일시, 상태,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역할, 다음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거래를 이루는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확정 값(단가)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거래(합성),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거래에 참여하는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역할별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당사자,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당사자·장소·물건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역할·거래 대상인 실체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 재고 품목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식별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설명(명세)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실체가 공유하는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기준 값(판매가)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실체,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도메인 유형</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개념은 도메인에서 맡는 </a:t>
            </a:r>
            <a:r>
              <a:rPr sz="1800" b="1">
                <a:solidFill>
                  <a:srgbClr val="000000"/>
                </a:solidFill>
                <a:latin typeface="맑은 고딕"/>
                <a:ea typeface="맑은 고딕"/>
              </a:rPr>
              <a:t>유형</a:t>
            </a:r>
            <a:r>
              <a:rPr sz="1800" b="0">
                <a:solidFill>
                  <a:srgbClr val="000000"/>
                </a:solidFill>
                <a:latin typeface="맑은 고딕"/>
                <a:ea typeface="맑은 고딕"/>
              </a:rPr>
              <a:t>으로도 나눈다. 유형을 알면 </a:t>
            </a:r>
            <a:r>
              <a:rPr sz="1800" b="1">
                <a:solidFill>
                  <a:srgbClr val="000000"/>
                </a:solidFill>
                <a:latin typeface="맑은 고딕"/>
                <a:ea typeface="맑은 고딕"/>
              </a:rPr>
              <a:t>빠진 속성과 연관</a:t>
            </a:r>
            <a:r>
              <a:rPr sz="1800" b="0">
                <a:solidFill>
                  <a:srgbClr val="000000"/>
                </a:solidFill>
                <a:latin typeface="맑은 고딕"/>
                <a:ea typeface="맑은 고딕"/>
              </a:rPr>
              <a:t>을 예상할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(4/4)</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도메인 유형으로 본 주문 모델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모델은 </a:t>
            </a:r>
            <a:r>
              <a:rPr sz="1800" b="1">
                <a:solidFill>
                  <a:srgbClr val="000000"/>
                </a:solidFill>
                <a:latin typeface="맑은 고딕"/>
                <a:ea typeface="맑은 고딕"/>
              </a:rPr>
              <a:t>거래</a:t>
            </a:r>
            <a:r>
              <a:rPr sz="1400" b="0">
                <a:solidFill>
                  <a:srgbClr val="000000"/>
                </a:solidFill>
                <a:latin typeface="맑은 고딕"/>
                <a:ea typeface="맑은 고딕"/>
              </a:rPr>
              <a:t>(주문·결제·환불·배송)</a:t>
            </a:r>
            <a:r>
              <a:rPr sz="1800" b="0">
                <a:solidFill>
                  <a:srgbClr val="000000"/>
                </a:solidFill>
                <a:latin typeface="맑은 고딕"/>
                <a:ea typeface="맑은 고딕"/>
              </a:rPr>
              <a:t>가 중심이고, 주문 항목은 거래 항목, 고객은 역할, 상품은 설명이다. 거래에 번호·일시·상태가 없거나 거래 항목에 확정 값이 없으면 먼저 의심한다.</a:t>
            </a:r>
          </a:p>
        </p:txBody>
      </p:sp>
      <p:pic>
        <p:nvPicPr>
          <p:cNvPr id="9" name="plantuml Diagram 5"/>
          <p:cNvPicPr>
            <a:picLocks noChangeAspect="1"/>
          </p:cNvPicPr>
          <p:nvPr/>
        </p:nvPicPr>
        <p:blipFill>
          <a:blip r:embed="plantumlImage5"/>
          <a:stretch>
            <a:fillRect/>
          </a:stretch>
        </p:blipFill>
        <p:spPr>
          <a:xfrm>
            <a:off x="2075962" y="3065769"/>
            <a:ext cx="4992077" cy="28428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(1/3)</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889000"/>
                <a:gridCol w="1423178"/>
                <a:gridCol w="2084594"/>
                <a:gridCol w="1967473"/>
                <a:gridCol w="194155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기억할 구조적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필드(방향은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전체–부분, 생애는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연관과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공유되는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채운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전체에 속하고 생애를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전체가 부분을 만들고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특수가 일반의 한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정의가 모두 적용될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extends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열린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잠깐 쓴다 — 바뀌면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매개변수·지역 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implements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사이의 관계는 UML 표기로 여섯 가지다. 도메인 모델은 </a:t>
            </a:r>
            <a:r>
              <a:rPr sz="1800" b="1">
                <a:solidFill>
                  <a:srgbClr val="000000"/>
                </a:solidFill>
                <a:latin typeface="맑은 고딕"/>
                <a:ea typeface="맑은 고딕"/>
              </a:rPr>
              <a:t>연관·합성·일반화</a:t>
            </a:r>
            <a:r>
              <a:rPr sz="1800" b="0">
                <a:solidFill>
                  <a:srgbClr val="000000"/>
                </a:solidFill>
                <a:latin typeface="맑은 고딕"/>
                <a:ea typeface="맑은 고딕"/>
              </a:rPr>
              <a:t>를 쓰고, </a:t>
            </a:r>
            <a:r>
              <a:rPr sz="1800" b="1">
                <a:solidFill>
                  <a:srgbClr val="000000"/>
                </a:solidFill>
                <a:latin typeface="맑은 고딕"/>
                <a:ea typeface="맑은 고딕"/>
              </a:rPr>
              <a:t>의존·실현</a:t>
            </a:r>
            <a:r>
              <a:rPr sz="1800" b="0">
                <a:solidFill>
                  <a:srgbClr val="000000"/>
                </a:solidFill>
                <a:latin typeface="맑은 고딕"/>
                <a:ea typeface="맑은 고딕"/>
              </a:rPr>
              <a:t>은 설계에서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(2/3)</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2240238"/>
          <a:ext cx="5580380" cy="3873500"/>
        </p:xfrm>
        <a:graphic>
          <a:graphicData uri="http://schemas.openxmlformats.org/drawingml/2006/table">
            <a:tbl>
              <a:tblPr/>
              <a:tblGrid>
                <a:gridCol w="1757680"/>
                <a:gridCol w="2903220"/>
                <a:gridCol w="919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연관의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UML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뒤따르는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 — 환불, 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 —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설명 — 실체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 재고 품목(「34. 명세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담는 것 — 담기는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 — 특수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도메인 의미에 따른 연관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연관은 </a:t>
            </a:r>
            <a:r>
              <a:rPr sz="1800" b="1">
                <a:solidFill>
                  <a:srgbClr val="000000"/>
                </a:solidFill>
                <a:latin typeface="맑은 고딕"/>
                <a:ea typeface="맑은 고딕"/>
              </a:rPr>
              <a:t>도메인 의미</a:t>
            </a:r>
            <a:r>
              <a:rPr sz="1800" b="0">
                <a:solidFill>
                  <a:srgbClr val="000000"/>
                </a:solidFill>
                <a:latin typeface="맑은 고딕"/>
                <a:ea typeface="맑은 고딕"/>
              </a:rPr>
              <a:t>로도 나눈다. 개념의 도메인 유형</a:t>
            </a:r>
            <a:r>
              <a:rPr sz="1400" b="0">
                <a:solidFill>
                  <a:srgbClr val="000000"/>
                </a:solidFill>
                <a:latin typeface="맑은 고딕"/>
                <a:ea typeface="맑은 고딕"/>
              </a:rPr>
              <a:t>(「10. 클래스 유형」)</a:t>
            </a:r>
            <a:r>
              <a:rPr sz="1800" b="0">
                <a:solidFill>
                  <a:srgbClr val="000000"/>
                </a:solidFill>
                <a:latin typeface="맑은 고딕"/>
                <a:ea typeface="맑은 고딕"/>
              </a:rPr>
              <a:t>을 알면 </a:t>
            </a:r>
            <a:r>
              <a:rPr sz="1800" b="1">
                <a:solidFill>
                  <a:srgbClr val="000000"/>
                </a:solidFill>
                <a:latin typeface="맑은 고딕"/>
                <a:ea typeface="맑은 고딕"/>
              </a:rPr>
              <a:t>있어야 할 연관</a:t>
            </a:r>
            <a:r>
              <a:rPr sz="1800" b="0">
                <a:solidFill>
                  <a:srgbClr val="000000"/>
                </a:solidFill>
                <a:latin typeface="맑은 고딕"/>
                <a:ea typeface="맑은 고딕"/>
              </a:rPr>
              <a:t>을 점검할 수 있다</a:t>
            </a:r>
            <a:r>
              <a:rPr sz="1400" b="0">
                <a:solidFill>
                  <a:srgbClr val="000000"/>
                </a:solidFill>
                <a:latin typeface="맑은 고딕"/>
                <a:ea typeface="맑은 고딕"/>
              </a:rPr>
              <a:t>(「28. 필요한 연관」)</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4583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거래가 역할이나 뒤따르는 거래와 이어지지 않으면 </a:t>
            </a:r>
            <a:r>
              <a:rPr sz="1800" b="1">
                <a:solidFill>
                  <a:srgbClr val="000000"/>
                </a:solidFill>
                <a:latin typeface="맑은 고딕"/>
                <a:ea typeface="맑은 고딕"/>
              </a:rPr>
              <a:t>누가·무엇 다음에</a:t>
            </a:r>
            <a:r>
              <a:rPr sz="1800" b="0">
                <a:solidFill>
                  <a:srgbClr val="000000"/>
                </a:solidFill>
                <a:latin typeface="맑은 고딕"/>
                <a:ea typeface="맑은 고딕"/>
              </a:rPr>
              <a:t> 일어난 일인지 모델이 답하지 못한다.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(3/3)</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49543"/>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고객·상품·주문항목·할인정책 생략</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상품카탈로그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List&lt;상품&gt; 상품들 = new ArrayList&lt;&gt;();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고객 고객;</a:t>
            </a:r>
          </a:p>
          <a:p>
            <a:pPr marL="0" indent="0" algn="l">
              <a:lnSpc>
                <a:spcPts val="1080"/>
              </a:lnSpc>
              <a:spcBef>
                <a:spcPts val="0"/>
              </a:spcBef>
              <a:spcAft>
                <a:spcPts val="0"/>
              </a:spcAft>
              <a:buNone/>
            </a:pPr>
            <a:r>
              <a:rPr sz="900" b="0">
                <a:solidFill>
                  <a:srgbClr val="000000"/>
                </a:solidFill>
                <a:latin typeface="Consolas"/>
                <a:ea typeface="맑은 고딕"/>
              </a:rPr>
              <a:t>    final List&lt;주문항목&gt; 항목들 = new ArrayList&lt;&gt;();</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a:t>
            </a:r>
            <a:r>
              <a:rPr sz="900" b="0">
                <a:solidFill>
                  <a:srgbClr val="000000"/>
                </a:solidFill>
                <a:latin typeface="Consolas"/>
                <a:ea typeface="맑은 고딕"/>
              </a:rPr>
              <a:t>(고객 고객) { this.고객 = 고객;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담는다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할인액</a:t>
            </a:r>
            <a:r>
              <a:rPr sz="900" b="0">
                <a:solidFill>
                  <a:srgbClr val="000000"/>
                </a:solidFill>
                <a:latin typeface="Consolas"/>
                <a:ea typeface="맑은 고딕"/>
              </a:rPr>
              <a:t>(할인정책 정책) { return 정책.할인액(this);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관계 유형과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사례로 여섯 관계를 그리고 코드로 옮겼다. 합성은 </a:t>
            </a:r>
            <a:r>
              <a:rPr sz="1800" b="1">
                <a:solidFill>
                  <a:srgbClr val="000000"/>
                </a:solidFill>
                <a:latin typeface="맑은 고딕"/>
                <a:ea typeface="맑은 고딕"/>
              </a:rPr>
              <a:t>주문이 주문 항목을 만드는 것</a:t>
            </a:r>
            <a:r>
              <a:rPr sz="1800" b="0">
                <a:solidFill>
                  <a:srgbClr val="000000"/>
                </a:solidFill>
                <a:latin typeface="맑은 고딕"/>
                <a:ea typeface="맑은 고딕"/>
              </a:rPr>
              <a:t>으로, 의존은 </a:t>
            </a:r>
            <a:r>
              <a:rPr sz="1800" b="1">
                <a:solidFill>
                  <a:srgbClr val="000000"/>
                </a:solidFill>
                <a:latin typeface="맑은 고딕"/>
                <a:ea typeface="맑은 고딕"/>
              </a:rPr>
              <a:t>매개변수로 잠깐 쓰는 것</a:t>
            </a:r>
            <a:r>
              <a:rPr sz="18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49543"/>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abstract class </a:t>
            </a:r>
            <a:r>
              <a:rPr sz="900" b="1">
                <a:solidFill>
                  <a:srgbClr val="000000"/>
                </a:solidFill>
                <a:latin typeface="Consolas"/>
                <a:ea typeface="맑은 고딕"/>
              </a:rPr>
              <a:t>결제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카드결제</a:t>
            </a:r>
            <a:r>
              <a:rPr sz="900" b="0">
                <a:solidFill>
                  <a:srgbClr val="000000"/>
                </a:solidFill>
                <a:latin typeface="Consolas"/>
                <a:ea typeface="맑은 고딕"/>
              </a:rPr>
              <a:t> extends 결제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 boolean 승인한다(int 금액);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결제대행</a:t>
            </a:r>
            <a:r>
              <a:rPr sz="900" b="0">
                <a:solidFill>
                  <a:srgbClr val="000000"/>
                </a:solidFill>
                <a:latin typeface="Consolas"/>
                <a:ea typeface="맑은 고딕"/>
              </a:rPr>
              <a:t> implements 결제시스템 {</a:t>
            </a:r>
          </a:p>
          <a:p>
            <a:pPr marL="0" indent="0" algn="l">
              <a:lnSpc>
                <a:spcPts val="1080"/>
              </a:lnSpc>
              <a:spcBef>
                <a:spcPts val="0"/>
              </a:spcBef>
              <a:spcAft>
                <a:spcPts val="0"/>
              </a:spcAft>
              <a:buNone/>
            </a:pPr>
            <a:r>
              <a:rPr sz="900" b="0">
                <a:solidFill>
                  <a:srgbClr val="000000"/>
                </a:solidFill>
                <a:latin typeface="Consolas"/>
                <a:ea typeface="맑은 고딕"/>
              </a:rPr>
              <a:t>    public boolean </a:t>
            </a:r>
            <a:r>
              <a:rPr sz="900" b="1">
                <a:solidFill>
                  <a:srgbClr val="000000"/>
                </a:solidFill>
                <a:latin typeface="Consolas"/>
                <a:ea typeface="맑은 고딕"/>
              </a:rPr>
              <a:t>승인한다</a:t>
            </a:r>
            <a:r>
              <a:rPr sz="900" b="0">
                <a:solidFill>
                  <a:srgbClr val="000000"/>
                </a:solidFill>
                <a:latin typeface="Consolas"/>
                <a:ea typeface="맑은 고딕"/>
              </a:rPr>
              <a:t>(int 금액) { return true; }</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6"/>
          <p:cNvPicPr>
            <a:picLocks noChangeAspect="1"/>
          </p:cNvPicPr>
          <p:nvPr/>
        </p:nvPicPr>
        <p:blipFill>
          <a:blip r:embed="plantumlImage6"/>
          <a:stretch>
            <a:fillRect/>
          </a:stretch>
        </p:blipFill>
        <p:spPr>
          <a:xfrm>
            <a:off x="1792654" y="2240238"/>
            <a:ext cx="5558692" cy="149957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정보공학과 데이터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2801048"/>
          <a:ext cx="7089140" cy="3873500"/>
        </p:xfrm>
        <a:graphic>
          <a:graphicData uri="http://schemas.openxmlformats.org/drawingml/2006/table">
            <a:tbl>
              <a:tblPr/>
              <a:tblGrid>
                <a:gridCol w="1450340"/>
                <a:gridCol w="287528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a:t>
            </a:r>
            <a:r>
              <a:rPr sz="1000" b="0">
                <a:solidFill>
                  <a:srgbClr val="000000"/>
                </a:solidFill>
                <a:latin typeface="맑은 고딕"/>
                <a:ea typeface="맑은 고딕"/>
              </a:rPr>
              <a:t>, </a:t>
            </a:r>
            <a:r>
              <a:rPr sz="1000" b="0">
                <a:solidFill>
                  <a:srgbClr val="000000"/>
                </a:solidFill>
                <a:latin typeface="맑은 고딕"/>
                <a:ea typeface="맑은 고딕"/>
              </a:rPr>
              <a:t>[Chen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649162"/>
          <a:ext cx="5720080" cy="3873500"/>
        </p:xfrm>
        <a:graphic>
          <a:graphicData uri="http://schemas.openxmlformats.org/drawingml/2006/table">
            <a:tbl>
              <a:tblPr/>
              <a:tblGrid>
                <a:gridCol w="131064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모델 요소의 대응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1842998"/>
          <a:ext cx="6027420" cy="3873500"/>
        </p:xfrm>
        <a:graphic>
          <a:graphicData uri="http://schemas.openxmlformats.org/drawingml/2006/table">
            <a:tbl>
              <a:tblPr/>
              <a:tblGrid>
                <a:gridCol w="1534160"/>
                <a:gridCol w="145034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(1/3)</a:t>
            </a:r>
          </a:p>
          <a:p>
            <a:r>
              <a:rPr sz="1100" b="1">
                <a:solidFill>
                  <a:srgbClr val="000000"/>
                </a:solidFill>
                <a:latin typeface="맑은 고딕"/>
                <a:ea typeface="맑은 고딕"/>
              </a:rPr>
              <a:t>ERD·클래스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787521"/>
          <a:ext cx="8305800" cy="3873500"/>
        </p:xfrm>
        <a:graphic>
          <a:graphicData uri="http://schemas.openxmlformats.org/drawingml/2006/table">
            <a:tbl>
              <a:tblPr/>
              <a:tblGrid>
                <a:gridCol w="1791620"/>
                <a:gridCol w="2252196"/>
                <a:gridCol w="2640050"/>
                <a:gridCol w="162193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정확히 하나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하나와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관계선의 상대 쪽 끝에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없거나 하나 — 원과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관계가 없어도 되고, 있으면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원은 "없어도 된다"(선택), 줄은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0개 이상 — 원과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여럿과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까마귀발은 "여럿"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1개 이상 — 줄과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적어도 하나, 여럿일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줄은 "반드시"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식별자 — ●, 구분선 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엔터티 하나를 구별하는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구분선 위에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식별자만 속성으로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 — (FK)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엔터티의 식별자를 가진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관계를 속성으로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속성이 아니라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 데이터 모델은 관계의 수를 </a:t>
            </a:r>
            <a:r>
              <a:rPr sz="1800" b="1">
                <a:solidFill>
                  <a:srgbClr val="000000"/>
                </a:solidFill>
                <a:latin typeface="맑은 고딕"/>
                <a:ea typeface="맑은 고딕"/>
              </a:rPr>
              <a:t>까마귀발 표기</a:t>
            </a:r>
            <a:r>
              <a:rPr sz="1800" b="0">
                <a:solidFill>
                  <a:srgbClr val="000000"/>
                </a:solidFill>
                <a:latin typeface="맑은 고딕"/>
                <a:ea typeface="맑은 고딕"/>
              </a:rPr>
              <a:t>로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61681"/>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pic>
        <p:nvPicPr>
          <p:cNvPr id="15" name="svg Diagram 3" descr="까마귀발 표기: 정확히 하나, 없거나 하나, 0개 이상, 1개 이상, 식별자와 외래키"/>
          <p:cNvPicPr>
            <a:picLocks noChangeAspect="1"/>
          </p:cNvPicPr>
          <p:nvPr/>
        </p:nvPicPr>
        <p:blipFill>
          <a:blip r:embed="svgImage3"/>
          <a:stretch>
            <a:fillRect/>
          </a:stretch>
        </p:blipFill>
        <p:spPr>
          <a:xfrm>
            <a:off x="1919372" y="1842998"/>
            <a:ext cx="5291667" cy="121708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(2/3)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pic>
        <p:nvPicPr>
          <p:cNvPr id="9" name="plantuml Diagram 7"/>
          <p:cNvPicPr>
            <a:picLocks noChangeAspect="1"/>
          </p:cNvPicPr>
          <p:nvPr/>
        </p:nvPicPr>
        <p:blipFill>
          <a:blip r:embed="plantumlImage7"/>
          <a:stretch>
            <a:fillRect/>
          </a:stretch>
        </p:blipFill>
        <p:spPr>
          <a:xfrm>
            <a:off x="2715846" y="2377478"/>
            <a:ext cx="3712308" cy="2654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(3/3)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것</a:t>
            </a:r>
            <a:r>
              <a:rPr sz="1800" b="0">
                <a:solidFill>
                  <a:srgbClr val="000000"/>
                </a:solidFill>
                <a:latin typeface="맑은 고딕"/>
                <a:ea typeface="맑은 고딕"/>
              </a:rPr>
              <a:t> —</a:t>
            </a:r>
            <a:r>
              <a:rPr sz="1600" b="0">
                <a:solidFill>
                  <a:srgbClr val="000000"/>
                </a:solidFill>
                <a:latin typeface="맑은 고딕"/>
                <a:ea typeface="맑은 고딕"/>
              </a:rPr>
              <a:t> 개념, 관계, 카디널리티</a:t>
            </a:r>
            <a:r>
              <a:rPr sz="1200" b="0">
                <a:solidFill>
                  <a:srgbClr val="000000"/>
                </a:solidFill>
                <a:latin typeface="맑은 고딕"/>
                <a:ea typeface="맑은 고딕"/>
              </a:rPr>
              <a:t>(다중성)</a:t>
            </a:r>
            <a:r>
              <a:rPr sz="1600" b="0">
                <a:solidFill>
                  <a:srgbClr val="000000"/>
                </a:solidFill>
                <a:latin typeface="맑은 고딕"/>
                <a:ea typeface="맑은 고딕"/>
              </a:rPr>
              <a:t>, 주문 시점의 단가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달라진 것</a:t>
            </a:r>
            <a:r>
              <a:rPr sz="1800" b="0">
                <a:solidFill>
                  <a:srgbClr val="000000"/>
                </a:solidFill>
                <a:latin typeface="맑은 고딕"/>
                <a:ea typeface="맑은 고딕"/>
              </a:rPr>
              <a:t> —</a:t>
            </a:r>
            <a:r>
              <a:rPr sz="1600" b="0">
                <a:solidFill>
                  <a:srgbClr val="000000"/>
                </a:solidFill>
                <a:latin typeface="맑은 고딕"/>
                <a:ea typeface="맑은 고딕"/>
              </a:rPr>
              <a:t> 식별 키·외래키 대신 연관, 이름 있는 관계, 값의 종류</a:t>
            </a:r>
            <a:r>
              <a:rPr sz="1200" b="0">
                <a:solidFill>
                  <a:srgbClr val="000000"/>
                </a:solidFill>
                <a:latin typeface="맑은 고딕"/>
                <a:ea typeface="맑은 고딕"/>
              </a:rPr>
              <a:t>(금액·주소·주문 상태)</a:t>
            </a:r>
          </a:p>
        </p:txBody>
      </p:sp>
      <p:pic>
        <p:nvPicPr>
          <p:cNvPr id="9" name="plantuml Diagram 8"/>
          <p:cNvPicPr>
            <a:picLocks noChangeAspect="1"/>
          </p:cNvPicPr>
          <p:nvPr/>
        </p:nvPicPr>
        <p:blipFill>
          <a:blip r:embed="plantumlImage8"/>
          <a:stretch>
            <a:fillRect/>
          </a:stretch>
        </p:blipFill>
        <p:spPr>
          <a:xfrm>
            <a:off x="884115" y="3784003"/>
            <a:ext cx="7375769" cy="1099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도메인 개념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개념</a:t>
            </a:r>
            <a:r>
              <a:rPr sz="1400" b="0">
                <a:solidFill>
                  <a:srgbClr val="000000"/>
                </a:solidFill>
                <a:latin typeface="맑은 고딕"/>
                <a:ea typeface="맑은 고딕"/>
              </a:rPr>
              <a:t>(Domain Concept)</a:t>
            </a:r>
            <a:r>
              <a:rPr sz="1800" b="0">
                <a:solidFill>
                  <a:srgbClr val="000000"/>
                </a:solidFill>
                <a:latin typeface="맑은 고딕"/>
                <a:ea typeface="맑은 고딕"/>
              </a:rPr>
              <a:t>은 문제영역에서 </a:t>
            </a:r>
            <a:r>
              <a:rPr sz="1800" b="1">
                <a:solidFill>
                  <a:srgbClr val="000000"/>
                </a:solidFill>
                <a:latin typeface="맑은 고딕"/>
                <a:ea typeface="맑은 고딕"/>
              </a:rPr>
              <a:t>구분해 이야기하고, 그 정보나 관계가 요구에 의미를 가지는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담당자가 </a:t>
            </a:r>
            <a:r>
              <a:rPr sz="1800" b="1">
                <a:solidFill>
                  <a:srgbClr val="000000"/>
                </a:solidFill>
                <a:latin typeface="맑은 고딕"/>
                <a:ea typeface="맑은 고딕"/>
              </a:rPr>
              <a:t>이 이름으로</a:t>
            </a:r>
            <a:r>
              <a:rPr sz="1800" b="0">
                <a:solidFill>
                  <a:srgbClr val="000000"/>
                </a:solidFill>
                <a:latin typeface="맑은 고딕"/>
                <a:ea typeface="맑은 고딕"/>
              </a:rPr>
              <a:t> 부르는가?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다른 것과 </a:t>
            </a:r>
            <a:r>
              <a:rPr sz="1800" b="1">
                <a:solidFill>
                  <a:srgbClr val="000000"/>
                </a:solidFill>
                <a:latin typeface="맑은 고딕"/>
                <a:ea typeface="맑은 고딕"/>
              </a:rPr>
              <a:t>구분해 식별</a:t>
            </a:r>
            <a:r>
              <a:rPr sz="1800" b="0">
                <a:solidFill>
                  <a:srgbClr val="000000"/>
                </a:solidFill>
                <a:latin typeface="맑은 고딕"/>
                <a:ea typeface="맑은 고딕"/>
              </a:rPr>
              <a:t>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정보나 관계를 기억</a:t>
            </a:r>
            <a:r>
              <a:rPr sz="1800" b="0">
                <a:solidFill>
                  <a:srgbClr val="000000"/>
                </a:solidFill>
                <a:latin typeface="맑은 고딕"/>
                <a:ea typeface="맑은 고딕"/>
              </a:rPr>
              <a:t>해야 하는가? </a:t>
            </a:r>
            <a:r>
              <a:rPr sz="1800" b="1">
                <a:solidFill>
                  <a:srgbClr val="000000"/>
                </a:solidFill>
                <a:latin typeface="맑은 고딕"/>
                <a:ea typeface="맑은 고딕"/>
              </a:rPr>
              <a:t>업무 규칙</a:t>
            </a:r>
            <a:r>
              <a:rPr sz="1800" b="0">
                <a:solidFill>
                  <a:srgbClr val="000000"/>
                </a:solidFill>
                <a:latin typeface="맑은 고딕"/>
                <a:ea typeface="맑은 고딕"/>
              </a:rPr>
              <a:t>이 걸리는가?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개념 범주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7716" y="1842998"/>
          <a:ext cx="5554980" cy="3873500"/>
        </p:xfrm>
        <a:graphic>
          <a:graphicData uri="http://schemas.openxmlformats.org/drawingml/2006/table">
            <a:tbl>
              <a:tblPr/>
              <a:tblGrid>
                <a:gridCol w="147828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정책, 환불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 — 개념이 아니라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유스케이스 어휘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일부는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Some are in the use cases."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 —</a:t>
            </a:r>
            <a:r>
              <a:rPr sz="1600" b="0">
                <a:solidFill>
                  <a:srgbClr val="000000"/>
                </a:solidFill>
                <a:latin typeface="맑은 고딕"/>
                <a:ea typeface="맑은 고딕"/>
              </a:rPr>
              <a:t> </a:t>
            </a:r>
            <a:r>
              <a:rPr sz="1600" b="0">
                <a:solidFill>
                  <a:srgbClr val="000000"/>
                </a:solidFill>
                <a:latin typeface="맑은 고딕"/>
                <a:ea typeface="맑은 고딕"/>
              </a:rPr>
              <a:t>장바구니에 담는다(상품, 수량)</a:t>
            </a:r>
            <a:r>
              <a:rPr sz="1600" b="0">
                <a:solidFill>
                  <a:srgbClr val="000000"/>
                </a:solidFill>
                <a:latin typeface="맑은 고딕"/>
                <a:ea typeface="맑은 고딕"/>
              </a:rPr>
              <a:t> → </a:t>
            </a:r>
            <a:r>
              <a:rPr sz="1600" b="1">
                <a:solidFill>
                  <a:srgbClr val="000000"/>
                </a:solidFill>
                <a:latin typeface="맑은 고딕"/>
                <a:ea typeface="맑은 고딕"/>
              </a:rPr>
              <a:t>장바구니</a:t>
            </a:r>
            <a:r>
              <a:rPr sz="1600" b="0">
                <a:solidFill>
                  <a:srgbClr val="000000"/>
                </a:solidFill>
                <a:latin typeface="맑은 고딕"/>
                <a:ea typeface="맑은 고딕"/>
              </a:rPr>
              <a:t>·상품·수량, </a:t>
            </a:r>
            <a:r>
              <a:rPr sz="1600" b="0">
                <a:solidFill>
                  <a:srgbClr val="000000"/>
                </a:solidFill>
                <a:latin typeface="맑은 고딕"/>
                <a:ea typeface="맑은 고딕"/>
              </a:rPr>
              <a:t>배송을 요청한다(주문, 배송지)</a:t>
            </a:r>
            <a:r>
              <a:rPr sz="1600" b="0">
                <a:solidFill>
                  <a:srgbClr val="000000"/>
                </a:solidFill>
                <a:latin typeface="맑은 고딕"/>
                <a:ea typeface="맑은 고딕"/>
              </a:rPr>
              <a:t> → </a:t>
            </a:r>
            <a:r>
              <a:rPr sz="1600" b="1">
                <a:solidFill>
                  <a:srgbClr val="000000"/>
                </a:solidFill>
                <a:latin typeface="맑은 고딕"/>
                <a:ea typeface="맑은 고딕"/>
              </a:rPr>
              <a:t>배송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필요</a:t>
            </a:r>
            <a:r>
              <a:rPr sz="1800" b="0">
                <a:solidFill>
                  <a:srgbClr val="000000"/>
                </a:solidFill>
                <a:latin typeface="맑은 고딕"/>
                <a:ea typeface="맑은 고딕"/>
              </a:rPr>
              <a:t> —</a:t>
            </a:r>
            <a:r>
              <a:rPr sz="1600" b="0">
                <a:solidFill>
                  <a:srgbClr val="000000"/>
                </a:solidFill>
                <a:latin typeface="맑은 고딕"/>
                <a:ea typeface="맑은 고딕"/>
              </a:rPr>
              <a:t> 배송</a:t>
            </a:r>
            <a:r>
              <a:rPr sz="1200" b="0">
                <a:solidFill>
                  <a:srgbClr val="000000"/>
                </a:solidFill>
                <a:latin typeface="맑은 고딕"/>
                <a:ea typeface="맑은 고딕"/>
              </a:rPr>
              <a:t>(주문 시스템이 무엇을 기억해야 하는가?)</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유스케이스 어휘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497276"/>
          <a:ext cx="8305800" cy="3873500"/>
        </p:xfrm>
        <a:graphic>
          <a:graphicData uri="http://schemas.openxmlformats.org/drawingml/2006/table">
            <a:tbl>
              <a:tblPr/>
              <a:tblGrid>
                <a:gridCol w="889000"/>
                <a:gridCol w="2418233"/>
                <a:gridCol w="2109224"/>
                <a:gridCol w="2889343"/>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속성 ·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상품명,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장바구니 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단가·결제 금액·주문 상태, 주문–결제·배송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1a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취소됨 · 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3a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배송지(기본 주소와 별개)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흐름·SSD·계약에서 모델로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"02. 요구 분석과 유스케이스"의 명세서 </a:t>
            </a:r>
            <a:r>
              <a:rPr sz="1800" b="1">
                <a:solidFill>
                  <a:srgbClr val="000000"/>
                </a:solidFill>
                <a:latin typeface="맑은 고딕"/>
                <a:ea typeface="맑은 고딕"/>
              </a:rPr>
              <a:t>흐름 단계마다</a:t>
            </a:r>
            <a:r>
              <a:rPr sz="1800" b="0">
                <a:solidFill>
                  <a:srgbClr val="000000"/>
                </a:solidFill>
                <a:latin typeface="맑은 고딕"/>
                <a:ea typeface="맑은 고딕"/>
              </a:rPr>
              <a:t> 시스템 이벤트와 그 결과가 </a:t>
            </a:r>
            <a:r>
              <a:rPr sz="1800" b="1">
                <a:solidFill>
                  <a:srgbClr val="000000"/>
                </a:solidFill>
                <a:latin typeface="맑은 고딕"/>
                <a:ea typeface="맑은 고딕"/>
              </a:rPr>
              <a:t>개념·속성·연관</a:t>
            </a:r>
            <a:r>
              <a:rPr sz="1800" b="0">
                <a:solidFill>
                  <a:srgbClr val="000000"/>
                </a:solidFill>
                <a:latin typeface="맑은 고딕"/>
                <a:ea typeface="맑은 고딕"/>
              </a:rPr>
              <a:t>으로 이어진다. 이 표가 「44. 도메인 모델 —</a:t>
            </a:r>
            <a:r>
              <a:rPr sz="1600" b="0">
                <a:solidFill>
                  <a:srgbClr val="000000"/>
                </a:solidFill>
                <a:latin typeface="맑은 고딕"/>
                <a:ea typeface="맑은 고딕"/>
              </a:rPr>
              <a:t> 초안」의 출발점이다.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명사 추출의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개념과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숫자나 텍스트로 다루지 않는 것이면 </a:t>
            </a:r>
            <a:r>
              <a:rPr sz="1800" b="1">
                <a:solidFill>
                  <a:srgbClr val="000000"/>
                </a:solidFill>
                <a:latin typeface="맑은 고딕"/>
                <a:ea typeface="맑은 고딕"/>
              </a:rPr>
              <a:t>개념</a:t>
            </a:r>
            <a:r>
              <a:rPr sz="1800" b="0">
                <a:solidFill>
                  <a:srgbClr val="000000"/>
                </a:solidFill>
                <a:latin typeface="맑은 고딕"/>
                <a:ea typeface="맑은 고딕"/>
              </a:rPr>
              <a:t>일 가능성이 높다.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"실세계에서 어떤 개념 X를 </a:t>
            </a:r>
            <a:r>
              <a:rPr sz="1800" b="1">
                <a:solidFill>
                  <a:srgbClr val="000000"/>
                </a:solidFill>
                <a:latin typeface="맑은 고딕"/>
                <a:ea typeface="맑은 고딕"/>
              </a:rPr>
              <a:t>숫자나 텍스트</a:t>
            </a:r>
            <a:r>
              <a:rPr sz="18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a:t>
            </a:r>
            <a:r>
              <a:rPr sz="1600" b="0">
                <a:solidFill>
                  <a:srgbClr val="000000"/>
                </a:solidFill>
                <a:latin typeface="맑은 고딕"/>
                <a:ea typeface="맑은 고딕"/>
              </a:rPr>
              <a:t>주문.배송지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속성 값의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42998"/>
          <a:ext cx="3931920" cy="3873500"/>
        </p:xfrm>
        <a:graphic>
          <a:graphicData uri="http://schemas.openxmlformats.org/drawingml/2006/table">
            <a:tbl>
              <a:tblPr/>
              <a:tblGrid>
                <a:gridCol w="947420"/>
                <a:gridCol w="9474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값의 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음수가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시간대 기준인가?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속성은 이름만으로 끝나지 않는다. 타입은 DB 컬럼이 아니라 </a:t>
            </a:r>
            <a:r>
              <a:rPr sz="1800" b="1">
                <a:solidFill>
                  <a:srgbClr val="000000"/>
                </a:solidFill>
                <a:latin typeface="맑은 고딕"/>
                <a:ea typeface="맑은 고딕"/>
              </a:rPr>
              <a:t>업무 값의 종류</a:t>
            </a:r>
            <a:r>
              <a:rPr sz="1800" b="0">
                <a:solidFill>
                  <a:srgbClr val="000000"/>
                </a:solidFill>
                <a:latin typeface="맑은 고딕"/>
                <a:ea typeface="맑은 고딕"/>
              </a:rPr>
              <a:t>로 적고, </a:t>
            </a:r>
            <a:r>
              <a:rPr sz="1800" b="1">
                <a:solidFill>
                  <a:srgbClr val="000000"/>
                </a:solidFill>
                <a:latin typeface="맑은 고딕"/>
                <a:ea typeface="맑은 고딕"/>
              </a:rPr>
              <a:t>허용 범위</a:t>
            </a:r>
            <a:r>
              <a:rPr sz="1800" b="0">
                <a:solidFill>
                  <a:srgbClr val="000000"/>
                </a:solidFill>
                <a:latin typeface="맑은 고딕"/>
                <a:ea typeface="맑은 고딕"/>
              </a:rPr>
              <a:t>를 묻는다.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속성 도메인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649162"/>
          <a:ext cx="6250940" cy="3873500"/>
        </p:xfrm>
        <a:graphic>
          <a:graphicData uri="http://schemas.openxmlformats.org/drawingml/2006/table">
            <a:tbl>
              <a:tblPr/>
              <a:tblGrid>
                <a:gridCol w="947420"/>
                <a:gridCol w="25120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DB 타입</a:t>
            </a:r>
            <a:r>
              <a:rPr sz="1400" b="0">
                <a:solidFill>
                  <a:srgbClr val="000000"/>
                </a:solidFill>
                <a:latin typeface="맑은 고딕"/>
                <a:ea typeface="맑은 고딕"/>
              </a:rPr>
              <a:t>(숫자·문자열)</a:t>
            </a:r>
            <a:r>
              <a:rPr sz="1800" b="0">
                <a:solidFill>
                  <a:srgbClr val="000000"/>
                </a:solidFill>
                <a:latin typeface="맑은 고딕"/>
                <a:ea typeface="맑은 고딕"/>
              </a:rPr>
              <a:t>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a:t>
            </a:r>
            <a:r>
              <a:rPr sz="1000" b="0">
                <a:solidFill>
                  <a:srgbClr val="000000"/>
                </a:solidFill>
                <a:latin typeface="맑은 고딕"/>
                <a:ea typeface="맑은 고딕"/>
              </a:rPr>
              <a:t>, </a:t>
            </a:r>
            <a:r>
              <a:rPr sz="1000" b="0">
                <a:solidFill>
                  <a:srgbClr val="000000"/>
                </a:solidFill>
                <a:latin typeface="맑은 고딕"/>
                <a:ea typeface="맑은 고딕"/>
              </a:rPr>
              <a:t>[Chen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속성 수준 업무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3829198"/>
          <a:ext cx="6111240" cy="3873500"/>
        </p:xfrm>
        <a:graphic>
          <a:graphicData uri="http://schemas.openxmlformats.org/drawingml/2006/table">
            <a:tbl>
              <a:tblPr/>
              <a:tblGrid>
                <a:gridCol w="1310640"/>
                <a:gridCol w="26797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금액</a:t>
            </a:r>
            <a:r>
              <a:rPr sz="1800" b="0">
                <a:solidFill>
                  <a:srgbClr val="000000"/>
                </a:solidFill>
                <a:latin typeface="맑은 고딕"/>
                <a:ea typeface="맑은 고딕"/>
              </a:rPr>
              <a:t> —</a:t>
            </a:r>
            <a:r>
              <a:rPr sz="1600" b="0">
                <a:solidFill>
                  <a:srgbClr val="000000"/>
                </a:solidFill>
                <a:latin typeface="맑은 고딕"/>
                <a:ea typeface="맑은 고딕"/>
              </a:rPr>
              <a:t> 같은 통화끼리만 더하고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수량</a:t>
            </a:r>
            <a:r>
              <a:rPr sz="1800" b="0">
                <a:solidFill>
                  <a:srgbClr val="000000"/>
                </a:solidFill>
                <a:latin typeface="맑은 고딕"/>
                <a:ea typeface="맑은 고딕"/>
              </a:rPr>
              <a:t> —</a:t>
            </a:r>
            <a:r>
              <a:rPr sz="1600" b="0">
                <a:solidFill>
                  <a:srgbClr val="000000"/>
                </a:solidFill>
                <a:latin typeface="맑은 고딕"/>
                <a:ea typeface="맑은 고딕"/>
              </a:rPr>
              <a:t> 1 이상이어야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주소</a:t>
            </a:r>
            <a:r>
              <a:rPr sz="1800" b="0">
                <a:solidFill>
                  <a:srgbClr val="000000"/>
                </a:solidFill>
                <a:latin typeface="맑은 고딕"/>
                <a:ea typeface="맑은 고딕"/>
              </a:rPr>
              <a:t> —</a:t>
            </a:r>
            <a:r>
              <a:rPr sz="1600" b="0">
                <a:solidFill>
                  <a:srgbClr val="000000"/>
                </a:solidFill>
                <a:latin typeface="맑은 고딕"/>
                <a:ea typeface="맑은 고딕"/>
              </a:rPr>
              <a:t> 우편번호와 기본 주소가 있어야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번호</a:t>
            </a:r>
            <a:r>
              <a:rPr sz="1800" b="0">
                <a:solidFill>
                  <a:srgbClr val="000000"/>
                </a:solidFill>
                <a:latin typeface="맑은 고딕"/>
                <a:ea typeface="맑은 고딕"/>
              </a:rPr>
              <a:t> —</a:t>
            </a:r>
            <a:r>
              <a:rPr sz="1600" b="0">
                <a:solidFill>
                  <a:srgbClr val="000000"/>
                </a:solidFill>
                <a:latin typeface="맑은 고딕"/>
                <a:ea typeface="맑은 고딕"/>
              </a:rPr>
              <a:t> 정해진 형식이며 다시 쓰이지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 —</a:t>
            </a:r>
            <a:r>
              <a:rPr sz="1600" b="0">
                <a:solidFill>
                  <a:srgbClr val="000000"/>
                </a:solidFill>
                <a:latin typeface="맑은 고딕"/>
                <a:ea typeface="맑은 고딕"/>
              </a:rPr>
              <a:t> 정해진 값만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규칙의 소유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 곳곳의 검사 코드에 흩어 두면 규칙이 서로 달라진다. 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규칙을 도메인 정의로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규칙을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DDD</a:t>
            </a:r>
            <a:r>
              <a:rPr sz="1800" b="0">
                <a:solidFill>
                  <a:srgbClr val="000000"/>
                </a:solidFill>
                <a:latin typeface="맑은 고딕"/>
                <a:ea typeface="맑은 고딕"/>
              </a:rPr>
              <a:t> —</a:t>
            </a:r>
            <a:r>
              <a:rPr sz="1600" b="0">
                <a:solidFill>
                  <a:srgbClr val="000000"/>
                </a:solidFill>
                <a:latin typeface="맑은 고딕"/>
                <a:ea typeface="맑은 고딕"/>
              </a:rPr>
              <a:t>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파생 속성</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표시하는 이유는 </a:t>
            </a:r>
            <a:r>
              <a:rPr sz="1800" b="1">
                <a:solidFill>
                  <a:srgbClr val="000000"/>
                </a:solidFill>
                <a:latin typeface="맑은 고딕"/>
                <a:ea typeface="맑은 고딕"/>
              </a:rPr>
              <a:t>계산 규칙이 업무 의미</a:t>
            </a:r>
            <a:r>
              <a:rPr sz="1800" b="0">
                <a:solidFill>
                  <a:srgbClr val="000000"/>
                </a:solidFill>
                <a:latin typeface="맑은 고딕"/>
                <a:ea typeface="맑은 고딕"/>
              </a:rPr>
              <a:t>를 가지기 때문이다.</a:t>
            </a:r>
          </a:p>
        </p:txBody>
      </p:sp>
      <p:pic>
        <p:nvPicPr>
          <p:cNvPr id="9" name="plantuml Diagram 9"/>
          <p:cNvPicPr>
            <a:picLocks noChangeAspect="1"/>
          </p:cNvPicPr>
          <p:nvPr/>
        </p:nvPicPr>
        <p:blipFill>
          <a:blip r:embed="plantumlImage9"/>
          <a:stretch>
            <a:fillRect/>
          </a:stretch>
        </p:blipFill>
        <p:spPr>
          <a:xfrm>
            <a:off x="3062654" y="3829534"/>
            <a:ext cx="3018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참조와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넣지 않는다.</a:t>
            </a:r>
          </a:p>
        </p:txBody>
      </p:sp>
      <p:pic>
        <p:nvPicPr>
          <p:cNvPr id="9" name="plantuml Diagram 10"/>
          <p:cNvPicPr>
            <a:picLocks noChangeAspect="1"/>
          </p:cNvPicPr>
          <p:nvPr/>
        </p:nvPicPr>
        <p:blipFill>
          <a:blip r:embed="plantumlImage10"/>
          <a:stretch>
            <a:fillRect/>
          </a:stretch>
        </p:blipFill>
        <p:spPr>
          <a:xfrm>
            <a:off x="3258038" y="3521960"/>
            <a:ext cx="2627923" cy="15997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동사구와 읽는 방향</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이름과 다를 때</a:t>
            </a:r>
          </a:p>
        </p:txBody>
      </p:sp>
      <p:pic>
        <p:nvPicPr>
          <p:cNvPr id="9" name="plantuml Diagram 11"/>
          <p:cNvPicPr>
            <a:picLocks noChangeAspect="1"/>
          </p:cNvPicPr>
          <p:nvPr/>
        </p:nvPicPr>
        <p:blipFill>
          <a:blip r:embed="plantumlImage11"/>
          <a:stretch>
            <a:fillRect/>
          </a:stretch>
        </p:blipFill>
        <p:spPr>
          <a:xfrm>
            <a:off x="2173654" y="3978515"/>
            <a:ext cx="4796692"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필요한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a:t>
            </a:r>
            <a:r>
              <a:rPr sz="1800" b="1">
                <a:solidFill>
                  <a:srgbClr val="000000"/>
                </a:solidFill>
                <a:latin typeface="맑은 고딕"/>
                <a:ea typeface="맑은 고딕"/>
              </a:rPr>
              <a:t>요구를 충족하려면 기억해야 하는 관계</a:t>
            </a:r>
            <a:r>
              <a:rPr sz="1800" b="0">
                <a:solidFill>
                  <a:srgbClr val="000000"/>
                </a:solidFill>
                <a:latin typeface="맑은 고딕"/>
                <a:ea typeface="맑은 고딕"/>
              </a:rPr>
              <a:t>를 우선한다.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알아야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도메인 이해를 돕는다. 예: 상품–상품 카탈로그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다중성</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1842998"/>
          <a:ext cx="3454400" cy="3873500"/>
        </p:xfrm>
        <a:graphic>
          <a:graphicData uri="http://schemas.openxmlformats.org/drawingml/2006/table">
            <a:tbl>
              <a:tblPr/>
              <a:tblGrid>
                <a:gridCol w="889000"/>
                <a:gridCol w="108712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예의 다중성은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r>
              <a:rPr sz="1400" b="0">
                <a:solidFill>
                  <a:srgbClr val="000000"/>
                </a:solidFill>
                <a:latin typeface="맑은 고딕"/>
                <a:ea typeface="맑은 고딕"/>
              </a:rPr>
              <a:t>(「30. 다중성과 업무 규칙」)</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다중성과 업무 규칙</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1842998"/>
          <a:ext cx="4493260" cy="3873500"/>
        </p:xfrm>
        <a:graphic>
          <a:graphicData uri="http://schemas.openxmlformats.org/drawingml/2006/table">
            <a:tbl>
              <a:tblPr/>
              <a:tblGrid>
                <a:gridCol w="111506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 이 사례는 </a:t>
            </a:r>
            <a:r>
              <a:rPr sz="1800" b="0">
                <a:solidFill>
                  <a:srgbClr val="000000"/>
                </a:solidFill>
                <a:latin typeface="맑은 고딕"/>
                <a:ea typeface="맑은 고딕"/>
              </a:rPr>
              <a:t>0..1</a:t>
            </a:r>
            <a:r>
              <a:rPr sz="1800" b="0">
                <a:solidFill>
                  <a:srgbClr val="000000"/>
                </a:solidFill>
                <a:latin typeface="맑은 고딕"/>
                <a:ea typeface="맑은 고딕"/>
              </a:rPr>
              <a:t>을 </a:t>
            </a:r>
            <a:r>
              <a:rPr sz="1800" b="1">
                <a:solidFill>
                  <a:srgbClr val="000000"/>
                </a:solidFill>
                <a:latin typeface="맑은 고딕"/>
                <a:ea typeface="맑은 고딕"/>
              </a:rPr>
              <a:t>교육용 가정</a:t>
            </a:r>
            <a:r>
              <a:rPr sz="1800" b="0">
                <a:solidFill>
                  <a:srgbClr val="000000"/>
                </a:solidFill>
                <a:latin typeface="맑은 고딕"/>
                <a:ea typeface="맑은 고딕"/>
              </a:rPr>
              <a:t>으로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평면 모델</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모든 정보를 하나의 개념에 </a:t>
            </a:r>
            <a:r>
              <a:rPr sz="1800" b="1">
                <a:solidFill>
                  <a:srgbClr val="000000"/>
                </a:solidFill>
                <a:latin typeface="맑은 고딕"/>
                <a:ea typeface="맑은 고딕"/>
              </a:rPr>
              <a:t>평평하게</a:t>
            </a:r>
            <a:r>
              <a:rPr sz="1800" b="0">
                <a:solidFill>
                  <a:srgbClr val="000000"/>
                </a:solidFill>
                <a:latin typeface="맑은 고딕"/>
                <a:ea typeface="맑은 고딕"/>
              </a:rPr>
              <a:t> 담으면 반복되는 정보와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상품명1</a:t>
            </a:r>
            <a:r>
              <a:rPr sz="1800" b="0">
                <a:solidFill>
                  <a:srgbClr val="000000"/>
                </a:solidFill>
                <a:latin typeface="맑은 고딕"/>
                <a:ea typeface="맑은 고딕"/>
              </a:rPr>
              <a:t>·</a:t>
            </a:r>
            <a:r>
              <a:rPr sz="1800" b="0">
                <a:solidFill>
                  <a:srgbClr val="000000"/>
                </a:solidFill>
                <a:latin typeface="맑은 고딕"/>
                <a:ea typeface="맑은 고딕"/>
              </a:rPr>
              <a:t>단가1</a:t>
            </a:r>
            <a:r>
              <a:rPr sz="1800" b="0">
                <a:solidFill>
                  <a:srgbClr val="000000"/>
                </a:solidFill>
                <a:latin typeface="맑은 고딕"/>
                <a:ea typeface="맑은 고딕"/>
              </a:rPr>
              <a:t>의 묶음을 </a:t>
            </a:r>
            <a:r>
              <a:rPr sz="1800" b="1">
                <a:solidFill>
                  <a:srgbClr val="000000"/>
                </a:solidFill>
                <a:latin typeface="맑은 고딕"/>
                <a:ea typeface="맑은 고딕"/>
              </a:rPr>
              <a:t>이름의 숫자</a:t>
            </a:r>
            <a:r>
              <a:rPr sz="1800" b="0">
                <a:solidFill>
                  <a:srgbClr val="000000"/>
                </a:solidFill>
                <a:latin typeface="맑은 고딕"/>
                <a:ea typeface="맑은 고딕"/>
              </a:rPr>
              <a:t>로만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pic>
        <p:nvPicPr>
          <p:cNvPr id="9" name="plantuml Diagram 12"/>
          <p:cNvPicPr>
            <a:picLocks noChangeAspect="1"/>
          </p:cNvPicPr>
          <p:nvPr/>
        </p:nvPicPr>
        <p:blipFill>
          <a:blip r:embed="plantumlImage12"/>
          <a:stretch>
            <a:fillRect/>
          </a:stretch>
        </p:blipFill>
        <p:spPr>
          <a:xfrm>
            <a:off x="4090865" y="3959801"/>
            <a:ext cx="962269" cy="16974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주문과 주문 항목</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pic>
        <p:nvPicPr>
          <p:cNvPr id="9" name="plantuml Diagram 13"/>
          <p:cNvPicPr>
            <a:picLocks noChangeAspect="1"/>
          </p:cNvPicPr>
          <p:nvPr/>
        </p:nvPicPr>
        <p:blipFill>
          <a:blip r:embed="plantumlImage13"/>
          <a:stretch>
            <a:fillRect/>
          </a:stretch>
        </p:blipFill>
        <p:spPr>
          <a:xfrm>
            <a:off x="2510692" y="3778826"/>
            <a:ext cx="4122615"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연관 클래스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pic>
        <p:nvPicPr>
          <p:cNvPr id="9" name="plantuml Diagram 14"/>
          <p:cNvPicPr>
            <a:picLocks noChangeAspect="1"/>
          </p:cNvPicPr>
          <p:nvPr/>
        </p:nvPicPr>
        <p:blipFill>
          <a:blip r:embed="plantumlImage14"/>
          <a:stretch>
            <a:fillRect/>
          </a:stretch>
        </p:blipFill>
        <p:spPr>
          <a:xfrm>
            <a:off x="3551115" y="3834843"/>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연관 클래스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"다대다는 중간 클래스로 푼다"를 암기하지 않는다. </a:t>
            </a:r>
            <a:r>
              <a:rPr sz="1800" b="1">
                <a:solidFill>
                  <a:srgbClr val="000000"/>
                </a:solidFill>
                <a:latin typeface="맑은 고딕"/>
                <a:ea typeface="맑은 고딕"/>
              </a:rPr>
              <a:t>관계에 정보가 있는지</a:t>
            </a:r>
            <a:r>
              <a:rPr sz="1800" b="0">
                <a:solidFill>
                  <a:srgbClr val="000000"/>
                </a:solidFill>
                <a:latin typeface="맑은 고딕"/>
                <a:ea typeface="맑은 고딕"/>
              </a:rPr>
              <a:t> 먼저 본다.</a:t>
            </a:r>
          </a:p>
        </p:txBody>
      </p:sp>
      <p:pic>
        <p:nvPicPr>
          <p:cNvPr id="9" name="plantuml Diagram 15"/>
          <p:cNvPicPr>
            <a:picLocks noChangeAspect="1"/>
          </p:cNvPicPr>
          <p:nvPr/>
        </p:nvPicPr>
        <p:blipFill>
          <a:blip r:embed="plantumlImage15"/>
          <a:stretch>
            <a:fillRect/>
          </a:stretch>
        </p:blipFill>
        <p:spPr>
          <a:xfrm>
            <a:off x="3135923" y="3381795"/>
            <a:ext cx="2872154" cy="140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명세 개념</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명세 개념</a:t>
            </a:r>
            <a:r>
              <a:rPr sz="1400" b="0">
                <a:solidFill>
                  <a:srgbClr val="000000"/>
                </a:solidFill>
                <a:latin typeface="맑은 고딕"/>
                <a:ea typeface="맑은 고딕"/>
              </a:rPr>
              <a:t>(Specification Concept)</a:t>
            </a:r>
            <a:r>
              <a:rPr sz="1800" b="0">
                <a:solidFill>
                  <a:srgbClr val="000000"/>
                </a:solidFill>
                <a:latin typeface="맑은 고딕"/>
                <a:ea typeface="맑은 고딕"/>
              </a:rPr>
              <a:t>은 </a:t>
            </a:r>
            <a:r>
              <a:rPr sz="1800" b="1">
                <a:solidFill>
                  <a:srgbClr val="000000"/>
                </a:solidFill>
                <a:latin typeface="맑은 고딕"/>
                <a:ea typeface="맑은 고딕"/>
              </a:rPr>
              <a:t>설명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필요할 때</a:t>
            </a:r>
            <a:r>
              <a:rPr sz="1800" b="0">
                <a:solidFill>
                  <a:srgbClr val="000000"/>
                </a:solidFill>
                <a:latin typeface="맑은 고딕"/>
                <a:ea typeface="맑은 고딕"/>
              </a:rPr>
              <a:t> —</a:t>
            </a:r>
            <a:r>
              <a:rPr sz="1600" b="0">
                <a:solidFill>
                  <a:srgbClr val="000000"/>
                </a:solidFill>
                <a:latin typeface="맑은 고딕"/>
                <a:ea typeface="맑은 고딕"/>
              </a:rPr>
              <a:t> 재고가 0이어도 상품 정보를 보여주거나, 일련번호별로 추적해야 할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 추적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a:t>
            </a:r>
          </a:p>
        </p:txBody>
      </p:sp>
      <p:pic>
        <p:nvPicPr>
          <p:cNvPr id="9" name="plantuml Diagram 16"/>
          <p:cNvPicPr>
            <a:picLocks noChangeAspect="1"/>
          </p:cNvPicPr>
          <p:nvPr/>
        </p:nvPicPr>
        <p:blipFill>
          <a:blip r:embed="plantumlImage16"/>
          <a:stretch>
            <a:fillRect/>
          </a:stretch>
        </p:blipFill>
        <p:spPr>
          <a:xfrm>
            <a:off x="3316654" y="3922498"/>
            <a:ext cx="2510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현재 값과 확정 값</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2497276"/>
          <a:ext cx="3789680" cy="3873500"/>
        </p:xfrm>
        <a:graphic>
          <a:graphicData uri="http://schemas.openxmlformats.org/drawingml/2006/table">
            <a:tbl>
              <a:tblPr/>
              <a:tblGrid>
                <a:gridCol w="88900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같은 구조, 다른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1842998"/>
          <a:ext cx="4069080" cy="3873500"/>
        </p:xfrm>
        <a:graphic>
          <a:graphicData uri="http://schemas.openxmlformats.org/drawingml/2006/table">
            <a:tbl>
              <a:tblPr/>
              <a:tblGrid>
                <a:gridCol w="889000"/>
                <a:gridCol w="15062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37. 일반화</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이고 일반 개념의 정의가 </a:t>
            </a:r>
            <a:r>
              <a:rPr sz="1800" b="1">
                <a:solidFill>
                  <a:srgbClr val="000000"/>
                </a:solidFill>
                <a:latin typeface="맑은 고딕"/>
                <a:ea typeface="맑은 고딕"/>
              </a:rPr>
              <a:t>모두 적용될 때</a:t>
            </a:r>
            <a:r>
              <a:rPr sz="1800" b="0">
                <a:solidFill>
                  <a:srgbClr val="000000"/>
                </a:solidFill>
                <a:latin typeface="맑은 고딕"/>
                <a:ea typeface="맑은 고딕"/>
              </a:rPr>
              <a:t> 쓴다. 도식의 결제 수단별 속성은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쓸 때</a:t>
            </a:r>
            <a:r>
              <a:rPr sz="1800" b="0">
                <a:solidFill>
                  <a:srgbClr val="000000"/>
                </a:solidFill>
                <a:latin typeface="맑은 고딕"/>
                <a:ea typeface="맑은 고딕"/>
              </a:rPr>
              <a:t> —</a:t>
            </a:r>
            <a:r>
              <a:rPr sz="1600" b="0">
                <a:solidFill>
                  <a:srgbClr val="000000"/>
                </a:solidFill>
                <a:latin typeface="맑은 고딕"/>
                <a:ea typeface="맑은 고딕"/>
              </a:rPr>
              <a:t> "카드 결제는 결제의 한 종류"가 성립하고 고유한 속성·규칙이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pic>
        <p:nvPicPr>
          <p:cNvPr id="9" name="plantuml Diagram 17"/>
          <p:cNvPicPr>
            <a:picLocks noChangeAspect="1"/>
          </p:cNvPicPr>
          <p:nvPr/>
        </p:nvPicPr>
        <p:blipFill>
          <a:blip r:embed="plantumlImage17"/>
          <a:stretch>
            <a:fillRect/>
          </a:stretch>
        </p:blipFill>
        <p:spPr>
          <a:xfrm>
            <a:off x="3492500" y="4138333"/>
            <a:ext cx="2159000" cy="1480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38. 전체와 부분</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전체–부분 관계는 </a:t>
            </a:r>
            <a:r>
              <a:rPr sz="1800" b="1">
                <a:solidFill>
                  <a:srgbClr val="000000"/>
                </a:solidFill>
                <a:latin typeface="맑은 고딕"/>
                <a:ea typeface="맑은 고딕"/>
              </a:rPr>
              <a:t>표기보다 의미가 먼저</a:t>
            </a:r>
            <a:r>
              <a:rPr sz="1800" b="0">
                <a:solidFill>
                  <a:srgbClr val="000000"/>
                </a:solidFill>
                <a:latin typeface="맑은 고딕"/>
                <a:ea typeface="맑은 고딕"/>
              </a:rPr>
              <a:t>다. 부분이 전체와 </a:t>
            </a:r>
            <a:r>
              <a:rPr sz="1800" b="1">
                <a:solidFill>
                  <a:srgbClr val="000000"/>
                </a:solidFill>
                <a:latin typeface="맑은 고딕"/>
                <a:ea typeface="맑은 고딕"/>
              </a:rPr>
              <a:t>소속과 생애</a:t>
            </a:r>
            <a:r>
              <a:rPr sz="1800" b="0">
                <a:solidFill>
                  <a:srgbClr val="000000"/>
                </a:solidFill>
                <a:latin typeface="맑은 고딕"/>
                <a:ea typeface="맑은 고딕"/>
              </a:rPr>
              <a:t>를 공유하는지 먼저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"집합</a:t>
            </a:r>
            <a:r>
              <a:rPr sz="1400" b="0">
                <a:solidFill>
                  <a:srgbClr val="000000"/>
                </a:solidFill>
                <a:latin typeface="맑은 고딕"/>
                <a:ea typeface="맑은 고딕"/>
              </a:rPr>
              <a:t>(속 빈 마름모)</a:t>
            </a:r>
            <a:r>
              <a:rPr sz="1800" b="0">
                <a:solidFill>
                  <a:srgbClr val="000000"/>
                </a:solidFill>
                <a:latin typeface="맑은 고딕"/>
                <a:ea typeface="맑은 고딕"/>
              </a:rPr>
              <a:t>은 일반 연관 이상의 의미가 없다. Jim Rumbaugh의 말대로 </a:t>
            </a:r>
            <a:r>
              <a:rPr sz="1800" b="1">
                <a:solidFill>
                  <a:srgbClr val="000000"/>
                </a:solidFill>
                <a:latin typeface="맑은 고딕"/>
                <a:ea typeface="맑은 고딕"/>
              </a:rPr>
              <a:t>모델링 위약</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"aggregation (white diamond) has no semantics beyond that of a regular association. It is, as Jim Rumbaugh puts it, a modeling placebo."</a:t>
            </a:r>
            <a:r>
              <a:rPr sz="1000" b="0">
                <a:solidFill>
                  <a:srgbClr val="000000"/>
                </a:solidFill>
                <a:latin typeface="맑은 고딕"/>
                <a:ea typeface="맑은 고딕"/>
              </a:rPr>
              <a:t>, </a:t>
            </a:r>
            <a:r>
              <a:rPr sz="1000" b="0">
                <a:solidFill>
                  <a:srgbClr val="000000"/>
                </a:solidFill>
                <a:latin typeface="맑은 고딕"/>
                <a:ea typeface="맑은 고딕"/>
              </a:rPr>
              <a:t>[Fowler 2003a]</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답이 분명하면 합성, 불분명하면 </a:t>
            </a:r>
            <a:r>
              <a:rPr sz="1800" b="1">
                <a:solidFill>
                  <a:srgbClr val="000000"/>
                </a:solidFill>
                <a:latin typeface="맑은 고딕"/>
                <a:ea typeface="맑은 고딕"/>
              </a:rPr>
              <a:t>일반 연관</a:t>
            </a:r>
            <a:r>
              <a:rPr sz="1800" b="0">
                <a:solidFill>
                  <a:srgbClr val="000000"/>
                </a:solidFill>
                <a:latin typeface="맑은 고딕"/>
                <a:ea typeface="맑은 고딕"/>
              </a:rPr>
              <a:t>으로 두고 질문을 남긴다.</a:t>
            </a:r>
          </a:p>
        </p:txBody>
      </p:sp>
      <p:pic>
        <p:nvPicPr>
          <p:cNvPr id="9" name="plantuml Diagram 18"/>
          <p:cNvPicPr>
            <a:picLocks noChangeAspect="1"/>
          </p:cNvPicPr>
          <p:nvPr/>
        </p:nvPicPr>
        <p:blipFill>
          <a:blip r:embed="plantumlImage18"/>
          <a:stretch>
            <a:fillRect/>
          </a:stretch>
        </p:blipFill>
        <p:spPr>
          <a:xfrm>
            <a:off x="3551115" y="4654617"/>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제약</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모델에는 </a:t>
            </a:r>
            <a:r>
              <a:rPr sz="1800" b="0">
                <a:solidFill>
                  <a:srgbClr val="000000"/>
                </a:solidFill>
                <a:latin typeface="맑은 고딕"/>
                <a:ea typeface="맑은 고딕"/>
              </a:rPr>
              <a:t>{수량은 1 이상}</a:t>
            </a:r>
            <a:r>
              <a:rPr sz="1800" b="0">
                <a:solidFill>
                  <a:srgbClr val="000000"/>
                </a:solidFill>
                <a:latin typeface="맑은 고딕"/>
                <a:ea typeface="맑은 고딕"/>
              </a:rPr>
              <a:t>처럼 </a:t>
            </a:r>
            <a:r>
              <a:rPr sz="1800" b="1">
                <a:solidFill>
                  <a:srgbClr val="000000"/>
                </a:solidFill>
                <a:latin typeface="맑은 고딕"/>
                <a:ea typeface="맑은 고딕"/>
              </a:rPr>
              <a:t>중괄호 메모</a:t>
            </a:r>
            <a:r>
              <a:rPr sz="1800" b="0">
                <a:solidFill>
                  <a:srgbClr val="000000"/>
                </a:solidFill>
                <a:latin typeface="맑은 고딕"/>
                <a:ea typeface="맑은 고딕"/>
              </a:rPr>
              <a:t>로 붙인다. 시점·사건에 따라 허용이 달라지는 규칙은 </a:t>
            </a:r>
            <a:r>
              <a:rPr sz="1800" b="1">
                <a:solidFill>
                  <a:srgbClr val="000000"/>
                </a:solidFill>
                <a:latin typeface="맑은 고딕"/>
                <a:ea typeface="맑은 고딕"/>
              </a:rPr>
              <a:t>상태 전이 규칙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항목의 </a:t>
            </a:r>
            <a:r>
              <a:rPr sz="1600" b="1">
                <a:solidFill>
                  <a:srgbClr val="000000"/>
                </a:solidFill>
                <a:latin typeface="맑은 고딕"/>
                <a:ea typeface="맑은 고딕"/>
              </a:rPr>
              <a:t>수량은 1 이상</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총액</a:t>
            </a:r>
            <a:r>
              <a:rPr sz="1600" b="0">
                <a:solidFill>
                  <a:srgbClr val="000000"/>
                </a:solidFill>
                <a:latin typeface="맑은 고딕"/>
                <a:ea typeface="맑은 고딕"/>
              </a:rPr>
              <a:t>은 주문 항목의 수량 × 단가 합계다.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환불 금액</a:t>
            </a:r>
            <a:r>
              <a:rPr sz="1600" b="0">
                <a:solidFill>
                  <a:srgbClr val="000000"/>
                </a:solidFill>
                <a:latin typeface="맑은 고딕"/>
                <a:ea typeface="맑은 고딕"/>
              </a:rPr>
              <a:t>은 결제 금액을 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주문을 취소할 수 없다.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출고 전</a:t>
            </a:r>
            <a:r>
              <a:rPr sz="1600" b="0">
                <a:solidFill>
                  <a:srgbClr val="000000"/>
                </a:solidFill>
                <a:latin typeface="맑은 고딕"/>
                <a:ea typeface="맑은 고딕"/>
              </a:rPr>
              <a:t>에만 배송지를 변경할 수 있다.</a:t>
            </a:r>
          </a:p>
        </p:txBody>
      </p:sp>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무관하거나 범위 밖의 것은 빼고,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Exclude irrelevant or out-of-scope features. Do not add things that are not there."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동의어와 동음이의어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a:t>
            </a:r>
            <a:r>
              <a:rPr sz="1600" b="1">
                <a:solidFill>
                  <a:srgbClr val="000000"/>
                </a:solidFill>
                <a:latin typeface="맑은 고딕"/>
                <a:ea typeface="맑은 고딕"/>
              </a:rPr>
              <a:t>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p:txBody>
      </p:sp>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용어집 정제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6" y="2100036"/>
          <a:ext cx="8036560" cy="3873500"/>
        </p:xfrm>
        <a:graphic>
          <a:graphicData uri="http://schemas.openxmlformats.org/drawingml/2006/table">
            <a:tbl>
              <a:tblPr/>
              <a:tblGrid>
                <a:gridCol w="947420"/>
                <a:gridCol w="3266440"/>
                <a:gridCol w="156210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 분석에서 정의한 </a:t>
            </a:r>
            <a:r>
              <a:rPr sz="1800" b="1">
                <a:solidFill>
                  <a:srgbClr val="000000"/>
                </a:solidFill>
                <a:latin typeface="맑은 고딕"/>
                <a:ea typeface="맑은 고딕"/>
              </a:rPr>
              <a:t>용어집</a:t>
            </a:r>
            <a:r>
              <a:rPr sz="1800" b="0">
                <a:solidFill>
                  <a:srgbClr val="000000"/>
                </a:solidFill>
                <a:latin typeface="맑은 고딕"/>
                <a:ea typeface="맑은 고딕"/>
              </a:rPr>
              <a:t>을 도메인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 모델을 그리며 드러난 </a:t>
            </a:r>
            <a:r>
              <a:rPr sz="1800" b="1">
                <a:solidFill>
                  <a:srgbClr val="000000"/>
                </a:solidFill>
                <a:latin typeface="맑은 고딕"/>
                <a:ea typeface="맑은 고딕"/>
              </a:rPr>
              <a:t>새 용어와 뜻의 차이</a:t>
            </a:r>
            <a:r>
              <a:rPr sz="1800" b="0">
                <a:solidFill>
                  <a:srgbClr val="000000"/>
                </a:solidFill>
                <a:latin typeface="맑은 고딕"/>
                <a:ea typeface="맑은 고딕"/>
              </a:rPr>
              <a:t>를 되돌리고, 도메인 모델의 이름은 용어집과 </a:t>
            </a:r>
            <a:r>
              <a:rPr sz="1800" b="1">
                <a:solidFill>
                  <a:srgbClr val="000000"/>
                </a:solidFill>
                <a:latin typeface="맑은 고딕"/>
                <a:ea typeface="맑은 고딕"/>
              </a:rPr>
              <a:t>같게</a:t>
            </a:r>
            <a:r>
              <a:rPr sz="1800" b="0">
                <a:solidFill>
                  <a:srgbClr val="000000"/>
                </a:solidFill>
                <a:latin typeface="맑은 고딕"/>
                <a:ea typeface="맑은 고딕"/>
              </a:rPr>
              <a:t>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17636"/>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한글 용어</a:t>
            </a:r>
            <a:r>
              <a:rPr sz="1800" b="0">
                <a:solidFill>
                  <a:srgbClr val="000000"/>
                </a:solidFill>
                <a:latin typeface="맑은 고딕"/>
                <a:ea typeface="맑은 고딕"/>
              </a:rPr>
              <a:t>로 그린다. 영문명은 설계와 코드에서 쓴다.</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개념적 도메인 모델은 </a:t>
            </a:r>
            <a:r>
              <a:rPr sz="1800" b="1">
                <a:solidFill>
                  <a:srgbClr val="000000"/>
                </a:solidFill>
                <a:latin typeface="맑은 고딕"/>
                <a:ea typeface="맑은 고딕"/>
              </a:rPr>
              <a:t>후보 → 구분 → 관계 → 정렬 → 검토</a:t>
            </a:r>
            <a:r>
              <a:rPr sz="1800" b="0">
                <a:solidFill>
                  <a:srgbClr val="000000"/>
                </a:solidFill>
                <a:latin typeface="맑은 고딕"/>
                <a:ea typeface="맑은 고딕"/>
              </a:rPr>
              <a:t>를 반복하며 만든다.</a:t>
            </a:r>
          </a:p>
          <a:p>
            <a:pPr lvl="2" marL="607060" indent="-251460">
              <a:spcBef>
                <a:spcPts val="600"/>
              </a:spcBef>
              <a:spcAft>
                <a:spcPts val="600"/>
              </a:spcAft>
              <a:buNone/>
            </a:pPr>
            <a:r>
              <a:rPr sz="1800" b="0">
                <a:solidFill>
                  <a:srgbClr val="000000"/>
                </a:solidFill>
                <a:latin typeface="맑은 고딕"/>
                <a:ea typeface="맑은 고딕"/>
              </a:rPr>
              <a:t>1. 현재 반복의 </a:t>
            </a:r>
            <a:r>
              <a:rPr sz="1800" b="1">
                <a:solidFill>
                  <a:srgbClr val="000000"/>
                </a:solidFill>
                <a:latin typeface="맑은 고딕"/>
                <a:ea typeface="맑은 고딕"/>
              </a:rPr>
              <a:t>유스케이스와 사후조건</a:t>
            </a:r>
            <a:r>
              <a:rPr sz="1800" b="0">
                <a:solidFill>
                  <a:srgbClr val="000000"/>
                </a:solidFill>
                <a:latin typeface="맑은 고딕"/>
                <a:ea typeface="맑은 고딕"/>
              </a:rPr>
              <a:t>을 정한다.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개념 범주와 어휘</a:t>
            </a:r>
            <a:r>
              <a:rPr sz="1800" b="0">
                <a:solidFill>
                  <a:srgbClr val="000000"/>
                </a:solidFill>
                <a:latin typeface="맑은 고딕"/>
                <a:ea typeface="맑은 고딕"/>
              </a:rPr>
              <a:t>로 후보를 모은다.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개념·속성·해결책 요소·제외 대상</a:t>
            </a:r>
            <a:r>
              <a:rPr sz="1800" b="0">
                <a:solidFill>
                  <a:srgbClr val="000000"/>
                </a:solidFill>
                <a:latin typeface="맑은 고딕"/>
                <a:ea typeface="맑은 고딕"/>
              </a:rPr>
              <a:t>으로 구분한다.</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연관·다중성</a:t>
            </a:r>
            <a:r>
              <a:rPr sz="1800" b="0">
                <a:solidFill>
                  <a:srgbClr val="000000"/>
                </a:solidFill>
                <a:latin typeface="맑은 고딕"/>
                <a:ea typeface="맑은 고딕"/>
              </a:rPr>
              <a:t>, </a:t>
            </a:r>
            <a:r>
              <a:rPr sz="1800" b="1">
                <a:solidFill>
                  <a:srgbClr val="000000"/>
                </a:solidFill>
                <a:latin typeface="맑은 고딕"/>
                <a:ea typeface="맑은 고딕"/>
              </a:rPr>
              <a:t>속성·제약</a:t>
            </a:r>
            <a:r>
              <a:rPr sz="1800" b="0">
                <a:solidFill>
                  <a:srgbClr val="000000"/>
                </a:solidFill>
                <a:latin typeface="맑은 고딕"/>
                <a:ea typeface="맑은 고딕"/>
              </a:rPr>
              <a:t>을 추가한다.</a:t>
            </a:r>
          </a:p>
          <a:p>
            <a:pPr lvl="2" marL="607060" indent="-251460">
              <a:spcBef>
                <a:spcPts val="600"/>
              </a:spcBef>
              <a:spcAft>
                <a:spcPts val="600"/>
              </a:spcAft>
              <a:buNone/>
            </a:pPr>
            <a:r>
              <a:rPr sz="1800" b="0">
                <a:solidFill>
                  <a:srgbClr val="000000"/>
                </a:solidFill>
                <a:latin typeface="맑은 고딕"/>
                <a:ea typeface="맑은 고딕"/>
              </a:rPr>
              <a:t>5. </a:t>
            </a:r>
            <a:r>
              <a:rPr sz="1800" b="1">
                <a:solidFill>
                  <a:srgbClr val="000000"/>
                </a:solidFill>
                <a:latin typeface="맑은 고딕"/>
                <a:ea typeface="맑은 고딕"/>
              </a:rPr>
              <a:t>용어집</a:t>
            </a:r>
            <a:r>
              <a:rPr sz="1800" b="0">
                <a:solidFill>
                  <a:srgbClr val="000000"/>
                </a:solidFill>
                <a:latin typeface="맑은 고딕"/>
                <a:ea typeface="맑은 고딕"/>
              </a:rPr>
              <a:t>과 맞추고 </a:t>
            </a:r>
            <a:r>
              <a:rPr sz="1800" b="1">
                <a:solidFill>
                  <a:srgbClr val="000000"/>
                </a:solidFill>
                <a:latin typeface="맑은 고딕"/>
                <a:ea typeface="맑은 고딕"/>
              </a:rPr>
              <a:t>시나리오</a:t>
            </a:r>
            <a:r>
              <a:rPr sz="1800" b="0">
                <a:solidFill>
                  <a:srgbClr val="000000"/>
                </a:solidFill>
                <a:latin typeface="맑은 고딕"/>
                <a:ea typeface="맑은 고딕"/>
              </a:rPr>
              <a:t>와 교차검토한다.</a:t>
            </a:r>
          </a:p>
        </p:txBody>
      </p:sp>
      <p:pic>
        <p:nvPicPr>
          <p:cNvPr id="9" name="mermaid Diagram 2"/>
          <p:cNvPicPr>
            <a:picLocks noChangeAspect="1"/>
          </p:cNvPicPr>
          <p:nvPr/>
        </p:nvPicPr>
        <p:blipFill>
          <a:blip r:embed="mermaidImage2"/>
          <a:stretch>
            <a:fillRect/>
          </a:stretch>
        </p:blipFill>
        <p:spPr>
          <a:xfrm>
            <a:off x="1460500" y="4167741"/>
            <a:ext cx="6223000" cy="984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도메인 모델 — 초안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개념과 연관</a:t>
            </a:r>
            <a:r>
              <a:rPr sz="1800" b="0">
                <a:solidFill>
                  <a:srgbClr val="000000"/>
                </a:solidFill>
                <a:latin typeface="맑은 고딕"/>
                <a:ea typeface="맑은 고딕"/>
              </a:rPr>
              <a:t>만으로 문제영역의 구조를 먼저 합의한다. 속성과 다중성은 아직 넣지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구분한 개념 사이에서 </a:t>
            </a:r>
            <a:r>
              <a:rPr sz="1800" b="1">
                <a:solidFill>
                  <a:srgbClr val="000000"/>
                </a:solidFill>
                <a:latin typeface="맑은 고딕"/>
                <a:ea typeface="맑은 고딕"/>
              </a:rPr>
              <a:t>기억할 가치가 있는 관계</a:t>
            </a:r>
            <a:r>
              <a:rPr sz="1800" b="0">
                <a:solidFill>
                  <a:srgbClr val="000000"/>
                </a:solidFill>
                <a:latin typeface="맑은 고딕"/>
                <a:ea typeface="맑은 고딕"/>
              </a:rPr>
              <a:t>만 이름 있는 연관으로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"고객이 주문을 한다"처럼 </a:t>
            </a:r>
            <a:r>
              <a:rPr sz="1800" b="1">
                <a:solidFill>
                  <a:srgbClr val="000000"/>
                </a:solidFill>
                <a:latin typeface="맑은 고딕"/>
                <a:ea typeface="맑은 고딕"/>
              </a:rPr>
              <a:t>문장으로 읽으며</a:t>
            </a:r>
            <a:r>
              <a:rPr sz="1800" b="0">
                <a:solidFill>
                  <a:srgbClr val="000000"/>
                </a:solidFill>
                <a:latin typeface="맑은 고딕"/>
                <a:ea typeface="맑은 고딕"/>
              </a:rPr>
              <a:t> 확인한다.</a:t>
            </a:r>
          </a:p>
        </p:txBody>
      </p:sp>
      <p:pic>
        <p:nvPicPr>
          <p:cNvPr id="9" name="plantuml Diagram 19"/>
          <p:cNvPicPr>
            <a:picLocks noChangeAspect="1"/>
          </p:cNvPicPr>
          <p:nvPr/>
        </p:nvPicPr>
        <p:blipFill>
          <a:blip r:embed="plantumlImage19"/>
          <a:stretch>
            <a:fillRect/>
          </a:stretch>
        </p:blipFill>
        <p:spPr>
          <a:xfrm>
            <a:off x="1763346" y="3888192"/>
            <a:ext cx="5617308" cy="1672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도메인 모델 — 초안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22947"/>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고객</a:t>
            </a:r>
            <a:r>
              <a:rPr sz="1000" b="0">
                <a:solidFill>
                  <a:srgbClr val="000000"/>
                </a:solidFill>
                <a:latin typeface="Consolas"/>
                <a:ea typeface="맑은 고딕"/>
              </a:rPr>
              <a:t> { 장바구니 장바구니;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a:t>
            </a:r>
            <a:r>
              <a:rPr sz="1000" b="0">
                <a:solidFill>
                  <a:srgbClr val="000000"/>
                </a:solidFill>
                <a:latin typeface="Consolas"/>
                <a:ea typeface="맑은 고딕"/>
              </a:rPr>
              <a:t> { List&lt;장바구니항목&gt; 항목들;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상품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a:t>
            </a:r>
            <a:r>
              <a:rPr sz="1000" b="0">
                <a:solidFill>
                  <a:srgbClr val="000000"/>
                </a:solidFill>
                <a:latin typeface="Consolas"/>
                <a:ea typeface="맑은 고딕"/>
              </a:rPr>
              <a:t> { 고객 고객; List&lt;주문항목&gt; 항목들; 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결제</a:t>
            </a:r>
            <a:r>
              <a:rPr sz="1000" b="0">
                <a:solidFill>
                  <a:srgbClr val="000000"/>
                </a:solidFill>
                <a:latin typeface="Consolas"/>
                <a:ea typeface="맑은 고딕"/>
              </a:rPr>
              <a:t> { 환불 환불;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환불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배송</a:t>
            </a: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초안과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개념은 </a:t>
            </a:r>
            <a:r>
              <a:rPr sz="1800" b="1">
                <a:solidFill>
                  <a:srgbClr val="000000"/>
                </a:solidFill>
                <a:latin typeface="맑은 고딕"/>
                <a:ea typeface="맑은 고딕"/>
              </a:rPr>
              <a:t>클래스</a:t>
            </a:r>
            <a:r>
              <a:rPr sz="1800" b="0">
                <a:solidFill>
                  <a:srgbClr val="000000"/>
                </a:solidFill>
                <a:latin typeface="맑은 고딕"/>
                <a:ea typeface="맑은 고딕"/>
              </a:rPr>
              <a:t>, 연관은 </a:t>
            </a:r>
            <a:r>
              <a:rPr sz="1800" b="1">
                <a:solidFill>
                  <a:srgbClr val="000000"/>
                </a:solidFill>
                <a:latin typeface="맑은 고딕"/>
                <a:ea typeface="맑은 고딕"/>
              </a:rPr>
              <a:t>참조</a:t>
            </a:r>
            <a:r>
              <a:rPr sz="1800" b="0">
                <a:solidFill>
                  <a:srgbClr val="000000"/>
                </a:solidFill>
                <a:latin typeface="맑은 고딕"/>
                <a:ea typeface="맑은 고딕"/>
              </a:rPr>
              <a:t>가 된다. 모델에 없는 </a:t>
            </a:r>
            <a:r>
              <a:rPr sz="1800" b="1">
                <a:solidFill>
                  <a:srgbClr val="000000"/>
                </a:solidFill>
                <a:latin typeface="맑은 고딕"/>
                <a:ea typeface="맑은 고딕"/>
              </a:rPr>
              <a:t>방향</a:t>
            </a:r>
            <a:r>
              <a:rPr sz="1400" b="0">
                <a:solidFill>
                  <a:srgbClr val="000000"/>
                </a:solidFill>
                <a:latin typeface="맑은 고딕"/>
                <a:ea typeface="맑은 고딕"/>
              </a:rPr>
              <a:t>(누가 누구를 아는가)</a:t>
            </a:r>
            <a:r>
              <a:rPr sz="1800" b="0">
                <a:solidFill>
                  <a:srgbClr val="000000"/>
                </a:solidFill>
                <a:latin typeface="맑은 고딕"/>
                <a:ea typeface="맑은 고딕"/>
              </a:rPr>
              <a:t>과 컬렉션은 코드가 정한다.</a:t>
            </a:r>
          </a:p>
        </p:txBody>
      </p:sp>
      <p:pic>
        <p:nvPicPr>
          <p:cNvPr id="33" name="plantuml Diagram 20"/>
          <p:cNvPicPr>
            <a:picLocks noChangeAspect="1"/>
          </p:cNvPicPr>
          <p:nvPr/>
        </p:nvPicPr>
        <p:blipFill>
          <a:blip r:embed="plantumlImage20"/>
          <a:stretch>
            <a:fillRect/>
          </a:stretch>
        </p:blipFill>
        <p:spPr>
          <a:xfrm>
            <a:off x="1763346" y="2240238"/>
            <a:ext cx="5617308" cy="16729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(1/6)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 </a:t>
            </a:r>
            <a:r>
              <a:rPr sz="1800" b="1">
                <a:solidFill>
                  <a:srgbClr val="000000"/>
                </a:solidFill>
                <a:latin typeface="맑은 고딕"/>
                <a:ea typeface="맑은 고딕"/>
              </a:rPr>
              <a:t>속성과 속성 도메인, 다중성, 합성, 파생 속성</a:t>
            </a:r>
            <a:r>
              <a:rPr sz="1800" b="0">
                <a:solidFill>
                  <a:srgbClr val="000000"/>
                </a:solidFill>
                <a:latin typeface="맑은 고딕"/>
                <a:ea typeface="맑은 고딕"/>
              </a:rPr>
              <a:t>을 더해 요구 산출물</a:t>
            </a:r>
            <a:r>
              <a:rPr sz="1400" b="0">
                <a:solidFill>
                  <a:srgbClr val="000000"/>
                </a:solidFill>
                <a:latin typeface="맑은 고딕"/>
                <a:ea typeface="맑은 고딕"/>
              </a:rPr>
              <a:t>(명세서·정제된 SSD·계약)</a:t>
            </a:r>
            <a:r>
              <a:rPr sz="1800" b="0">
                <a:solidFill>
                  <a:srgbClr val="000000"/>
                </a:solidFill>
                <a:latin typeface="맑은 고딕"/>
                <a:ea typeface="맑은 고딕"/>
              </a:rPr>
              <a:t>에 답할 수준까지 상세화한 주문 시스템의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pic>
        <p:nvPicPr>
          <p:cNvPr id="9" name="plantuml Diagram 21"/>
          <p:cNvPicPr>
            <a:picLocks noChangeAspect="1"/>
          </p:cNvPicPr>
          <p:nvPr/>
        </p:nvPicPr>
        <p:blipFill>
          <a:blip r:embed="plantumlImage21"/>
          <a:stretch>
            <a:fillRect/>
          </a:stretch>
        </p:blipFill>
        <p:spPr>
          <a:xfrm>
            <a:off x="1621692" y="2249941"/>
            <a:ext cx="5900615" cy="39995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(2/6)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모델을 문장으로 읽기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주문을 </a:t>
            </a:r>
            <a:r>
              <a:rPr sz="1800" b="1">
                <a:solidFill>
                  <a:srgbClr val="000000"/>
                </a:solidFill>
                <a:latin typeface="맑은 고딕"/>
                <a:ea typeface="맑은 고딕"/>
              </a:rPr>
              <a:t>0개 이상</a:t>
            </a:r>
            <a:r>
              <a:rPr sz="1800" b="0">
                <a:solidFill>
                  <a:srgbClr val="000000"/>
                </a:solidFill>
                <a:latin typeface="맑은 고딕"/>
                <a:ea typeface="맑은 고딕"/>
              </a:rPr>
              <a:t> 하고, 모든 주문에는 고객이 </a:t>
            </a:r>
            <a:r>
              <a:rPr sz="1800" b="1">
                <a:solidFill>
                  <a:srgbClr val="000000"/>
                </a:solidFill>
                <a:latin typeface="맑은 고딕"/>
                <a:ea typeface="맑은 고딕"/>
              </a:rPr>
              <a:t>한 명</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주문 항목을 </a:t>
            </a:r>
            <a:r>
              <a:rPr sz="1800" b="1">
                <a:solidFill>
                  <a:srgbClr val="000000"/>
                </a:solidFill>
                <a:latin typeface="맑은 고딕"/>
                <a:ea typeface="맑은 고딕"/>
              </a:rPr>
              <a:t>하나 이상</a:t>
            </a:r>
            <a:r>
              <a:rPr sz="1800" b="0">
                <a:solidFill>
                  <a:srgbClr val="000000"/>
                </a:solidFill>
                <a:latin typeface="맑은 고딕"/>
                <a:ea typeface="맑은 고딕"/>
              </a:rPr>
              <a:t> 포함하며, 주문 항목은 </a:t>
            </a:r>
            <a:r>
              <a:rPr sz="1800" b="1">
                <a:solidFill>
                  <a:srgbClr val="000000"/>
                </a:solidFill>
                <a:latin typeface="맑은 고딕"/>
                <a:ea typeface="맑은 고딕"/>
              </a:rPr>
              <a:t>주문 시점 단가</a:t>
            </a:r>
            <a:r>
              <a:rPr sz="1800" b="0">
                <a:solidFill>
                  <a:srgbClr val="000000"/>
                </a:solidFill>
                <a:latin typeface="맑은 고딕"/>
                <a:ea typeface="맑은 고딕"/>
              </a:rPr>
              <a:t>를 보존한다.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결제가 </a:t>
            </a:r>
            <a:r>
              <a:rPr sz="1800" b="1">
                <a:solidFill>
                  <a:srgbClr val="000000"/>
                </a:solidFill>
                <a:latin typeface="맑은 고딕"/>
                <a:ea typeface="맑은 고딕"/>
              </a:rPr>
              <a:t>없거나 하나</a:t>
            </a:r>
            <a:r>
              <a:rPr sz="1800" b="0">
                <a:solidFill>
                  <a:srgbClr val="000000"/>
                </a:solidFill>
                <a:latin typeface="맑은 고딕"/>
                <a:ea typeface="맑은 고딕"/>
              </a:rPr>
              <a:t>, 결제는 환불이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r>
              <a:rPr sz="1400" b="0">
                <a:solidFill>
                  <a:srgbClr val="000000"/>
                </a:solidFill>
                <a:latin typeface="맑은 고딕"/>
                <a:ea typeface="맑은 고딕"/>
              </a:rPr>
              <a:t>(전체 취소 전제의 </a:t>
            </a:r>
            <a:r>
              <a:rPr sz="1400" b="1">
                <a:solidFill>
                  <a:srgbClr val="000000"/>
                </a:solidFill>
                <a:latin typeface="맑은 고딕"/>
                <a:ea typeface="맑은 고딕"/>
              </a:rPr>
              <a:t>교육용 가정</a:t>
            </a:r>
            <a:r>
              <a:rPr sz="1400" b="0">
                <a:solidFill>
                  <a:srgbClr val="000000"/>
                </a:solidFill>
                <a:latin typeface="맑은 고딕"/>
                <a:ea typeface="맑은 고딕"/>
              </a:rPr>
              <a:t>)</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 항목은 판매가를 </a:t>
            </a:r>
            <a:r>
              <a:rPr sz="1800" b="1">
                <a:solidFill>
                  <a:srgbClr val="000000"/>
                </a:solidFill>
                <a:latin typeface="맑은 고딕"/>
                <a:ea typeface="맑은 고딕"/>
              </a:rPr>
              <a:t>참조</a:t>
            </a:r>
            <a:r>
              <a:rPr sz="1800" b="0">
                <a:solidFill>
                  <a:srgbClr val="000000"/>
                </a:solidFill>
                <a:latin typeface="맑은 고딕"/>
                <a:ea typeface="맑은 고딕"/>
              </a:rPr>
              <a:t>만 한다. 주문은 배송이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p>
          <a:p>
            <a:pPr marL="342900" indent="0">
              <a:spcBef>
                <a:spcPts val="600"/>
              </a:spcBef>
              <a:spcAft>
                <a:spcPts val="600"/>
              </a:spcAft>
              <a:buNone/>
            </a:pPr>
            <a:r>
              <a:rPr sz="1800" b="1">
                <a:solidFill>
                  <a:srgbClr val="000000"/>
                </a:solidFill>
                <a:latin typeface="맑은 고딕"/>
                <a:ea typeface="맑은 고딕"/>
              </a:rPr>
              <a:t>의도적으로 넣지 않은 것</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재고</a:t>
            </a:r>
            <a:r>
              <a:rPr sz="1800" b="0">
                <a:solidFill>
                  <a:srgbClr val="000000"/>
                </a:solidFill>
                <a:latin typeface="맑은 고딕"/>
                <a:ea typeface="맑은 고딕"/>
              </a:rPr>
              <a:t> —</a:t>
            </a:r>
            <a:r>
              <a:rPr sz="1600" b="0">
                <a:solidFill>
                  <a:srgbClr val="000000"/>
                </a:solidFill>
                <a:latin typeface="맑은 고딕"/>
                <a:ea typeface="맑은 고딕"/>
              </a:rPr>
              <a:t> 상품 시스템, </a:t>
            </a:r>
            <a:r>
              <a:rPr sz="1600" b="1">
                <a:solidFill>
                  <a:srgbClr val="000000"/>
                </a:solidFill>
                <a:latin typeface="맑은 고딕"/>
                <a:ea typeface="맑은 고딕"/>
              </a:rPr>
              <a:t>입금·영수증</a:t>
            </a:r>
            <a:r>
              <a:rPr sz="1600" b="0">
                <a:solidFill>
                  <a:srgbClr val="000000"/>
                </a:solidFill>
                <a:latin typeface="맑은 고딕"/>
                <a:ea typeface="맑은 고딕"/>
              </a:rPr>
              <a:t> — 회계 시스템이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지원 액터이며 결제·배송 기록과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 수단</a:t>
            </a:r>
            <a:r>
              <a:rPr sz="1800" b="0">
                <a:solidFill>
                  <a:srgbClr val="000000"/>
                </a:solidFill>
                <a:latin typeface="맑은 고딕"/>
                <a:ea typeface="맑은 고딕"/>
              </a:rPr>
              <a:t> —</a:t>
            </a:r>
            <a:r>
              <a:rPr sz="1600" b="0">
                <a:solidFill>
                  <a:srgbClr val="000000"/>
                </a:solidFill>
                <a:latin typeface="맑은 고딕"/>
                <a:ea typeface="맑은 고딕"/>
              </a:rPr>
              <a:t> 현재 요구에 불필요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오퍼레이션·저장 키·화면</a:t>
            </a:r>
            <a:r>
              <a:rPr sz="1800" b="0">
                <a:solidFill>
                  <a:srgbClr val="000000"/>
                </a:solidFill>
                <a:latin typeface="맑은 고딕"/>
                <a:ea typeface="맑은 고딕"/>
              </a:rPr>
              <a:t> —</a:t>
            </a:r>
            <a:r>
              <a:rPr sz="16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(3/6)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40227"/>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수량</a:t>
            </a:r>
            <a:r>
              <a:rPr sz="800" b="0">
                <a:solidFill>
                  <a:srgbClr val="000000"/>
                </a:solidFill>
                <a:latin typeface="Consolas"/>
                <a:ea typeface="맑은 고딕"/>
              </a:rPr>
              <a:t>(int 값) {</a:t>
            </a:r>
          </a:p>
          <a:p>
            <a:pPr marL="0" indent="0" algn="l">
              <a:lnSpc>
                <a:spcPts val="960"/>
              </a:lnSpc>
              <a:spcBef>
                <a:spcPts val="0"/>
              </a:spcBef>
              <a:spcAft>
                <a:spcPts val="0"/>
              </a:spcAft>
              <a:buNone/>
            </a:pPr>
            <a:r>
              <a:rPr sz="800" b="0">
                <a:solidFill>
                  <a:srgbClr val="000000"/>
                </a:solidFill>
                <a:latin typeface="Consolas"/>
                <a:ea typeface="맑은 고딕"/>
              </a:rPr>
              <a:t>    수량 { 규칙.확인(값 &gt;= 1, "수량은 1 이상");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금액</a:t>
            </a:r>
            <a:r>
              <a:rPr sz="800" b="0">
                <a:solidFill>
                  <a:srgbClr val="000000"/>
                </a:solidFill>
                <a:latin typeface="Consolas"/>
                <a:ea typeface="맑은 고딕"/>
              </a:rPr>
              <a:t>(int 원) {</a:t>
            </a:r>
          </a:p>
          <a:p>
            <a:pPr marL="0" indent="0" algn="l">
              <a:lnSpc>
                <a:spcPts val="960"/>
              </a:lnSpc>
              <a:spcBef>
                <a:spcPts val="0"/>
              </a:spcBef>
              <a:spcAft>
                <a:spcPts val="0"/>
              </a:spcAft>
              <a:buNone/>
            </a:pPr>
            <a:r>
              <a:rPr sz="800" b="0">
                <a:solidFill>
                  <a:srgbClr val="000000"/>
                </a:solidFill>
                <a:latin typeface="Consolas"/>
                <a:ea typeface="맑은 고딕"/>
              </a:rPr>
              <a:t>    금액 { 규칙.확인(원 &gt;= 0, "금액은 0 이상"); }</a:t>
            </a:r>
          </a:p>
          <a:p>
            <a:pPr marL="0" indent="0" algn="l">
              <a:lnSpc>
                <a:spcPts val="960"/>
              </a:lnSpc>
              <a:spcBef>
                <a:spcPts val="0"/>
              </a:spcBef>
              <a:spcAft>
                <a:spcPts val="0"/>
              </a:spcAft>
              <a:buNone/>
            </a:pPr>
            <a:r>
              <a:rPr sz="800" b="0">
                <a:solidFill>
                  <a:srgbClr val="000000"/>
                </a:solidFill>
                <a:latin typeface="Consolas"/>
                <a:ea typeface="맑은 고딕"/>
              </a:rPr>
              <a:t>    // ... 더한다·곱한다 생략</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주소</a:t>
            </a:r>
            <a:r>
              <a:rPr sz="800" b="0">
                <a:solidFill>
                  <a:srgbClr val="000000"/>
                </a:solidFill>
                <a:latin typeface="Consolas"/>
                <a:ea typeface="맑은 고딕"/>
              </a:rPr>
              <a:t>(String 값) {}</a:t>
            </a:r>
          </a:p>
          <a:p>
            <a:pPr marL="0" indent="0" algn="l">
              <a:lnSpc>
                <a:spcPts val="960"/>
              </a:lnSpc>
              <a:spcBef>
                <a:spcPts val="0"/>
              </a:spcBef>
              <a:spcAft>
                <a:spcPts val="0"/>
              </a:spcAft>
              <a:buNone/>
            </a:pPr>
            <a:r>
              <a:rPr sz="800" b="0">
                <a:solidFill>
                  <a:srgbClr val="000000"/>
                </a:solidFill>
                <a:latin typeface="Consolas"/>
                <a:ea typeface="맑은 고딕"/>
              </a:rPr>
              <a:t>enum </a:t>
            </a:r>
            <a:r>
              <a:rPr sz="800" b="1">
                <a:solidFill>
                  <a:srgbClr val="000000"/>
                </a:solidFill>
                <a:latin typeface="Consolas"/>
                <a:ea typeface="맑은 고딕"/>
              </a:rPr>
              <a:t>주문상태</a:t>
            </a:r>
            <a:r>
              <a:rPr sz="800" b="0">
                <a:solidFill>
                  <a:srgbClr val="000000"/>
                </a:solidFill>
                <a:latin typeface="Consolas"/>
                <a:ea typeface="맑은 고딕"/>
              </a:rPr>
              <a:t> { 결제대기, 결제완료, 배송중, 배송완료, 취소됨 }</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속성 도메인과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 도메인은 </a:t>
            </a:r>
            <a:r>
              <a:rPr sz="1800" b="1">
                <a:solidFill>
                  <a:srgbClr val="000000"/>
                </a:solidFill>
                <a:latin typeface="맑은 고딕"/>
                <a:ea typeface="맑은 고딕"/>
              </a:rPr>
              <a:t>속성의 타입</a:t>
            </a:r>
            <a:r>
              <a:rPr sz="1800" b="0">
                <a:solidFill>
                  <a:srgbClr val="000000"/>
                </a:solidFill>
                <a:latin typeface="맑은 고딕"/>
                <a:ea typeface="맑은 고딕"/>
              </a:rPr>
              <a:t>이 된다. 모델의 </a:t>
            </a:r>
            <a:r>
              <a:rPr sz="1800" b="0">
                <a:solidFill>
                  <a:srgbClr val="000000"/>
                </a:solidFill>
                <a:latin typeface="맑은 고딕"/>
                <a:ea typeface="맑은 고딕"/>
              </a:rPr>
              <a:t>수량 : 수량</a:t>
            </a:r>
            <a:r>
              <a:rPr sz="1800" b="0">
                <a:solidFill>
                  <a:srgbClr val="000000"/>
                </a:solidFill>
                <a:latin typeface="맑은 고딕"/>
                <a:ea typeface="맑은 고딕"/>
              </a:rPr>
              <a:t>은 주문 항목의 필드 </a:t>
            </a:r>
            <a:r>
              <a:rPr sz="1800" b="0">
                <a:solidFill>
                  <a:srgbClr val="000000"/>
                </a:solidFill>
                <a:latin typeface="맑은 고딕"/>
                <a:ea typeface="맑은 고딕"/>
              </a:rPr>
              <a:t>수량 수량</a:t>
            </a:r>
            <a:r>
              <a:rPr sz="1800" b="0">
                <a:solidFill>
                  <a:srgbClr val="000000"/>
                </a:solidFill>
                <a:latin typeface="맑은 고딕"/>
                <a:ea typeface="맑은 고딕"/>
              </a:rPr>
              <a:t>이고, 규칙은 그 타입이 </a:t>
            </a:r>
            <a:r>
              <a:rPr sz="1800" b="1">
                <a:solidFill>
                  <a:srgbClr val="000000"/>
                </a:solidFill>
                <a:latin typeface="맑은 고딕"/>
                <a:ea typeface="맑은 고딕"/>
              </a:rPr>
              <a:t>만들어질 때마다</a:t>
            </a:r>
            <a:r>
              <a:rPr sz="1800" b="0">
                <a:solidFill>
                  <a:srgbClr val="000000"/>
                </a:solidFill>
                <a:latin typeface="맑은 고딕"/>
                <a:ea typeface="맑은 고딕"/>
              </a:rPr>
              <a:t>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540227"/>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수량 수량;</a:t>
            </a:r>
          </a:p>
          <a:p>
            <a:pPr marL="0" indent="0" algn="l">
              <a:lnSpc>
                <a:spcPts val="960"/>
              </a:lnSpc>
              <a:spcBef>
                <a:spcPts val="0"/>
              </a:spcBef>
              <a:spcAft>
                <a:spcPts val="0"/>
              </a:spcAft>
              <a:buNone/>
            </a:pPr>
            <a:r>
              <a:rPr sz="800" b="0">
                <a:solidFill>
                  <a:srgbClr val="000000"/>
                </a:solidFill>
                <a:latin typeface="Consolas"/>
                <a:ea typeface="맑은 고딕"/>
              </a:rPr>
              <a:t>    private final 금액 단가;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수량 수량, 금액 단가)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금액</a:t>
            </a:r>
            <a:r>
              <a:rPr sz="800" b="0">
                <a:solidFill>
                  <a:srgbClr val="000000"/>
                </a:solidFill>
                <a:latin typeface="Consolas"/>
                <a:ea typeface="맑은 고딕"/>
              </a:rPr>
              <a:t>() { return 단가.곱한다(수량);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2"/>
          <p:cNvPicPr>
            <a:picLocks noChangeAspect="1"/>
          </p:cNvPicPr>
          <p:nvPr/>
        </p:nvPicPr>
        <p:blipFill>
          <a:blip r:embed="plantumlImage22"/>
          <a:stretch>
            <a:fillRect/>
          </a:stretch>
        </p:blipFill>
        <p:spPr>
          <a:xfrm>
            <a:off x="2254738" y="2240238"/>
            <a:ext cx="4634523" cy="21902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(4/6)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09407"/>
            <a:ext cx="411480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String 상품명;</a:t>
            </a:r>
          </a:p>
          <a:p>
            <a:pPr marL="0" indent="0" algn="l">
              <a:lnSpc>
                <a:spcPts val="960"/>
              </a:lnSpc>
              <a:spcBef>
                <a:spcPts val="0"/>
              </a:spcBef>
              <a:spcAft>
                <a:spcPts val="0"/>
              </a:spcAft>
              <a:buNone/>
            </a:pPr>
            <a:r>
              <a:rPr sz="800" b="0">
                <a:solidFill>
                  <a:srgbClr val="000000"/>
                </a:solidFill>
                <a:latin typeface="Consolas"/>
                <a:ea typeface="맑은 고딕"/>
              </a:rPr>
              <a:t>    금액 판매가;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금액 판매가) {</a:t>
            </a:r>
          </a:p>
          <a:p>
            <a:pPr marL="0" indent="0" algn="l">
              <a:lnSpc>
                <a:spcPts val="960"/>
              </a:lnSpc>
              <a:spcBef>
                <a:spcPts val="0"/>
              </a:spcBef>
              <a:spcAft>
                <a:spcPts val="0"/>
              </a:spcAft>
              <a:buNone/>
            </a:pPr>
            <a:r>
              <a:rPr sz="800" b="0">
                <a:solidFill>
                  <a:srgbClr val="000000"/>
                </a:solidFill>
                <a:latin typeface="Consolas"/>
                <a:ea typeface="맑은 고딕"/>
              </a:rPr>
              <a:t>        this.상품명 = 상품명;</a:t>
            </a:r>
          </a:p>
          <a:p>
            <a:pPr marL="0" indent="0" algn="l">
              <a:lnSpc>
                <a:spcPts val="960"/>
              </a:lnSpc>
              <a:spcBef>
                <a:spcPts val="0"/>
              </a:spcBef>
              <a:spcAft>
                <a:spcPts val="0"/>
              </a:spcAft>
              <a:buNone/>
            </a:pPr>
            <a:r>
              <a:rPr sz="800" b="0">
                <a:solidFill>
                  <a:srgbClr val="000000"/>
                </a:solidFill>
                <a:latin typeface="Consolas"/>
                <a:ea typeface="맑은 고딕"/>
              </a:rPr>
              <a:t>        this.판매가 = 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고객 고객;</a:t>
            </a:r>
          </a:p>
          <a:p>
            <a:pPr marL="0" indent="0" algn="l">
              <a:lnSpc>
                <a:spcPts val="960"/>
              </a:lnSpc>
              <a:spcBef>
                <a:spcPts val="0"/>
              </a:spcBef>
              <a:spcAft>
                <a:spcPts val="0"/>
              </a:spcAft>
              <a:buNone/>
            </a:pPr>
            <a:r>
              <a:rPr sz="800" b="0">
                <a:solidFill>
                  <a:srgbClr val="000000"/>
                </a:solidFill>
                <a:latin typeface="Consolas"/>
                <a:ea typeface="맑은 고딕"/>
              </a:rPr>
              <a:t>    final List&lt;주문항목&gt; 항목들 = new ArrayList&lt;&gt;();</a:t>
            </a:r>
          </a:p>
          <a:p>
            <a:pPr marL="0" indent="0" algn="l">
              <a:lnSpc>
                <a:spcPts val="960"/>
              </a:lnSpc>
              <a:spcBef>
                <a:spcPts val="0"/>
              </a:spcBef>
              <a:spcAft>
                <a:spcPts val="0"/>
              </a:spcAft>
              <a:buNone/>
            </a:pPr>
            <a:r>
              <a:rPr sz="800" b="0">
                <a:solidFill>
                  <a:srgbClr val="000000"/>
                </a:solidFill>
                <a:latin typeface="Consolas"/>
                <a:ea typeface="맑은 고딕"/>
              </a:rPr>
              <a:t>    주소 배송지;</a:t>
            </a:r>
          </a:p>
          <a:p>
            <a:pPr marL="0" indent="0" algn="l">
              <a:lnSpc>
                <a:spcPts val="960"/>
              </a:lnSpc>
              <a:spcBef>
                <a:spcPts val="0"/>
              </a:spcBef>
              <a:spcAft>
                <a:spcPts val="0"/>
              </a:spcAft>
              <a:buNone/>
            </a:pPr>
            <a:r>
              <a:rPr sz="800" b="0">
                <a:solidFill>
                  <a:srgbClr val="000000"/>
                </a:solidFill>
                <a:latin typeface="Consolas"/>
                <a:ea typeface="맑은 고딕"/>
              </a:rPr>
              <a:t>    주문상태 상태 = 주문상태.결제대기;</a:t>
            </a:r>
          </a:p>
          <a:p>
            <a:pPr marL="0" indent="0" algn="l">
              <a:lnSpc>
                <a:spcPts val="960"/>
              </a:lnSpc>
              <a:spcBef>
                <a:spcPts val="0"/>
              </a:spcBef>
              <a:spcAft>
                <a:spcPts val="0"/>
              </a:spcAft>
              <a:buNone/>
            </a:pPr>
            <a:r>
              <a:rPr sz="800" b="0">
                <a:solidFill>
                  <a:srgbClr val="000000"/>
                </a:solidFill>
                <a:latin typeface="Consolas"/>
                <a:ea typeface="맑은 고딕"/>
              </a:rPr>
              <a:t>    Optional&lt;결제&gt; 결제 = Optional.empty();</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다중성·합성과 코드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800" b="0">
                <a:solidFill>
                  <a:srgbClr val="000000"/>
                </a:solidFill>
                <a:latin typeface="맑은 고딕"/>
                <a:ea typeface="맑은 고딕"/>
              </a:rPr>
              <a:t>·</a:t>
            </a:r>
            <a:r>
              <a:rPr sz="1800" b="0">
                <a:solidFill>
                  <a:srgbClr val="000000"/>
                </a:solidFill>
                <a:latin typeface="맑은 고딕"/>
                <a:ea typeface="맑은 고딕"/>
              </a:rPr>
              <a:t>1..*</a:t>
            </a:r>
            <a:r>
              <a:rPr sz="1800" b="0">
                <a:solidFill>
                  <a:srgbClr val="000000"/>
                </a:solidFill>
                <a:latin typeface="맑은 고딕"/>
                <a:ea typeface="맑은 고딕"/>
              </a:rPr>
              <a:t>·</a:t>
            </a:r>
            <a:r>
              <a:rPr sz="1800" b="1">
                <a:solidFill>
                  <a:srgbClr val="000000"/>
                </a:solidFill>
                <a:latin typeface="맑은 고딕"/>
                <a:ea typeface="맑은 고딕"/>
              </a:rPr>
              <a:t>확정 값</a:t>
            </a:r>
            <a:r>
              <a:rPr sz="1800" b="0">
                <a:solidFill>
                  <a:srgbClr val="000000"/>
                </a:solidFill>
                <a:latin typeface="맑은 고딕"/>
                <a:ea typeface="맑은 고딕"/>
              </a:rPr>
              <a:t>·</a:t>
            </a:r>
            <a:r>
              <a:rPr sz="1800" b="1">
                <a:solidFill>
                  <a:srgbClr val="000000"/>
                </a:solidFill>
                <a:latin typeface="맑은 고딕"/>
                <a:ea typeface="맑은 고딕"/>
              </a:rPr>
              <a:t>파생 속성</a:t>
            </a:r>
            <a:r>
              <a:rPr sz="1800" b="0">
                <a:solidFill>
                  <a:srgbClr val="000000"/>
                </a:solidFill>
                <a:latin typeface="맑은 고딕"/>
                <a:ea typeface="맑은 고딕"/>
              </a:rPr>
              <a:t>이 코드에서 드러나는 모습이다.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009407"/>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(고객 고객, Map&lt;상품, 수량&gt; 담은것, 주소 배송지) {</a:t>
            </a:r>
          </a:p>
          <a:p>
            <a:pPr marL="0" indent="0" algn="l">
              <a:lnSpc>
                <a:spcPts val="960"/>
              </a:lnSpc>
              <a:spcBef>
                <a:spcPts val="0"/>
              </a:spcBef>
              <a:spcAft>
                <a:spcPts val="0"/>
              </a:spcAft>
              <a:buNone/>
            </a:pPr>
            <a:r>
              <a:rPr sz="800" b="0">
                <a:solidFill>
                  <a:srgbClr val="000000"/>
                </a:solidFill>
                <a:latin typeface="Consolas"/>
                <a:ea typeface="맑은 고딕"/>
              </a:rPr>
              <a:t>        규칙.확인(!담은것.isEmpty(), "주문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this.배송지 = 배송지;</a:t>
            </a:r>
          </a:p>
          <a:p>
            <a:pPr marL="0" indent="0" algn="l">
              <a:lnSpc>
                <a:spcPts val="960"/>
              </a:lnSpc>
              <a:spcBef>
                <a:spcPts val="0"/>
              </a:spcBef>
              <a:spcAft>
                <a:spcPts val="0"/>
              </a:spcAft>
              <a:buNone/>
            </a:pPr>
            <a:r>
              <a:rPr sz="800" b="0">
                <a:solidFill>
                  <a:srgbClr val="000000"/>
                </a:solidFill>
                <a:latin typeface="Consolas"/>
                <a:ea typeface="맑은 고딕"/>
              </a:rPr>
              <a:t>        담은것.forEach((상품, 수량) -&gt;</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주문총액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합계 = new 금액(0);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합계.더한다(항목.금액());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3"/>
          <p:cNvPicPr>
            <a:picLocks noChangeAspect="1"/>
          </p:cNvPicPr>
          <p:nvPr/>
        </p:nvPicPr>
        <p:blipFill>
          <a:blip r:embed="plantumlImage23"/>
          <a:stretch>
            <a:fillRect/>
          </a:stretch>
        </p:blipFill>
        <p:spPr>
          <a:xfrm>
            <a:off x="2544396" y="1983200"/>
            <a:ext cx="4055208" cy="191647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(5/6)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14010"/>
            <a:ext cx="4114800" cy="9753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결제금액;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결제</a:t>
            </a:r>
            <a:r>
              <a:rPr sz="800" b="0">
                <a:solidFill>
                  <a:srgbClr val="000000"/>
                </a:solidFill>
                <a:latin typeface="Consolas"/>
                <a:ea typeface="맑은 고딕"/>
              </a:rPr>
              <a:t>(금액 결제금액) { this.결제금액 = 결제금액;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결제금액</a:t>
            </a:r>
            <a:r>
              <a:rPr sz="800" b="0">
                <a:solidFill>
                  <a:srgbClr val="000000"/>
                </a:solidFill>
                <a:latin typeface="Consolas"/>
                <a:ea typeface="맑은 고딕"/>
              </a:rPr>
              <a:t>() { return 결제금액;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제약과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값을 함께 보는 </a:t>
            </a:r>
            <a:r>
              <a:rPr sz="1800" b="1">
                <a:solidFill>
                  <a:srgbClr val="000000"/>
                </a:solidFill>
                <a:latin typeface="맑은 고딕"/>
                <a:ea typeface="맑은 고딕"/>
              </a:rPr>
              <a:t>제약</a:t>
            </a:r>
            <a:r>
              <a:rPr sz="1800" b="0">
                <a:solidFill>
                  <a:srgbClr val="000000"/>
                </a:solidFill>
                <a:latin typeface="맑은 고딕"/>
                <a:ea typeface="맑은 고딕"/>
              </a:rPr>
              <a:t> </a:t>
            </a:r>
            <a:r>
              <a:rPr sz="1800" b="0">
                <a:solidFill>
                  <a:srgbClr val="000000"/>
                </a:solidFill>
                <a:latin typeface="맑은 고딕"/>
                <a:ea typeface="맑은 고딕"/>
              </a:rPr>
              <a:t>{환불 금액 ≤ 결제 금액}</a:t>
            </a:r>
            <a:r>
              <a:rPr sz="1800" b="0">
                <a:solidFill>
                  <a:srgbClr val="000000"/>
                </a:solidFill>
                <a:latin typeface="맑은 고딕"/>
                <a:ea typeface="맑은 고딕"/>
              </a:rPr>
              <a:t>은 그 값을 가진 </a:t>
            </a:r>
            <a:r>
              <a:rPr sz="1800" b="1">
                <a:solidFill>
                  <a:srgbClr val="000000"/>
                </a:solidFill>
                <a:latin typeface="맑은 고딕"/>
                <a:ea typeface="맑은 고딕"/>
              </a:rPr>
              <a:t>환불</a:t>
            </a:r>
            <a:r>
              <a:rPr sz="1800" b="0">
                <a:solidFill>
                  <a:srgbClr val="000000"/>
                </a:solidFill>
                <a:latin typeface="맑은 고딕"/>
                <a:ea typeface="맑은 고딕"/>
              </a:rPr>
              <a:t>이 만들어질 때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14010"/>
            <a:ext cx="4114800" cy="146304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결제 결제;</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(결제 결제, 금액 환불금액) {</a:t>
            </a:r>
          </a:p>
          <a:p>
            <a:pPr marL="0" indent="0" algn="l">
              <a:lnSpc>
                <a:spcPts val="960"/>
              </a:lnSpc>
              <a:spcBef>
                <a:spcPts val="0"/>
              </a:spcBef>
              <a:spcAft>
                <a:spcPts val="0"/>
              </a:spcAft>
              <a:buNone/>
            </a:pPr>
            <a:r>
              <a:rPr sz="800" b="0">
                <a:solidFill>
                  <a:srgbClr val="000000"/>
                </a:solidFill>
                <a:latin typeface="Consolas"/>
                <a:ea typeface="맑은 고딕"/>
              </a:rPr>
              <a:t>        규칙.확인(환불금액.원() &lt;= 결제.결제금액().원(),</a:t>
            </a:r>
          </a:p>
          <a:p>
            <a:pPr marL="0" indent="0" algn="l">
              <a:lnSpc>
                <a:spcPts val="960"/>
              </a:lnSpc>
              <a:spcBef>
                <a:spcPts val="0"/>
              </a:spcBef>
              <a:spcAft>
                <a:spcPts val="0"/>
              </a:spcAft>
              <a:buNone/>
            </a:pPr>
            <a:r>
              <a:rPr sz="800" b="0">
                <a:solidFill>
                  <a:srgbClr val="000000"/>
                </a:solidFill>
                <a:latin typeface="Consolas"/>
                <a:ea typeface="맑은 고딕"/>
              </a:rPr>
              <a:t>                "환불 금액 ≤ 결제 금액");</a:t>
            </a:r>
          </a:p>
          <a:p>
            <a:pPr marL="0" indent="0" algn="l">
              <a:lnSpc>
                <a:spcPts val="960"/>
              </a:lnSpc>
              <a:spcBef>
                <a:spcPts val="0"/>
              </a:spcBef>
              <a:spcAft>
                <a:spcPts val="0"/>
              </a:spcAft>
              <a:buNone/>
            </a:pPr>
            <a:r>
              <a:rPr sz="800" b="0">
                <a:solidFill>
                  <a:srgbClr val="000000"/>
                </a:solidFill>
                <a:latin typeface="Consolas"/>
                <a:ea typeface="맑은 고딕"/>
              </a:rPr>
              <a:t>        this.결제 = 결제;</a:t>
            </a:r>
          </a:p>
          <a:p>
            <a:pPr marL="0" indent="0" algn="l">
              <a:lnSpc>
                <a:spcPts val="960"/>
              </a:lnSpc>
              <a:spcBef>
                <a:spcPts val="0"/>
              </a:spcBef>
              <a:spcAft>
                <a:spcPts val="0"/>
              </a:spcAft>
              <a:buNone/>
            </a:pPr>
            <a:r>
              <a:rPr sz="800" b="0">
                <a:solidFill>
                  <a:srgbClr val="000000"/>
                </a:solidFill>
                <a:latin typeface="Consolas"/>
                <a:ea typeface="맑은 고딕"/>
              </a:rPr>
              <a:t>        this.환불금액 = 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4"/>
          <p:cNvPicPr>
            <a:picLocks noChangeAspect="1"/>
          </p:cNvPicPr>
          <p:nvPr/>
        </p:nvPicPr>
        <p:blipFill>
          <a:blip r:embed="plantumlImage24"/>
          <a:stretch>
            <a:fillRect/>
          </a:stretch>
        </p:blipFill>
        <p:spPr>
          <a:xfrm>
            <a:off x="1965081" y="2240238"/>
            <a:ext cx="5213838" cy="2464044"/>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(6/6)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30755"/>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class </a:t>
            </a:r>
            <a:r>
              <a:rPr sz="800" b="1">
                <a:solidFill>
                  <a:srgbClr val="000000"/>
                </a:solidFill>
                <a:latin typeface="Consolas"/>
                <a:ea typeface="맑은 고딕"/>
              </a:rPr>
              <a:t>도메인모델테스트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public static void </a:t>
            </a:r>
            <a:r>
              <a:rPr sz="800" b="1">
                <a:solidFill>
                  <a:srgbClr val="000000"/>
                </a:solidFill>
                <a:latin typeface="Consolas"/>
                <a:ea typeface="맑은 고딕"/>
              </a:rPr>
              <a:t>main</a:t>
            </a:r>
            <a:r>
              <a:rPr sz="800" b="0">
                <a:solidFill>
                  <a:srgbClr val="000000"/>
                </a:solidFill>
                <a:latin typeface="Consolas"/>
                <a:ea typeface="맑은 고딕"/>
              </a:rPr>
              <a:t>(String[] args) {</a:t>
            </a:r>
          </a:p>
          <a:p>
            <a:pPr marL="0" indent="0" algn="l">
              <a:lnSpc>
                <a:spcPts val="960"/>
              </a:lnSpc>
              <a:spcBef>
                <a:spcPts val="0"/>
              </a:spcBef>
              <a:spcAft>
                <a:spcPts val="0"/>
              </a:spcAft>
              <a:buNone/>
            </a:pPr>
            <a:r>
              <a:rPr sz="800" b="0">
                <a:solidFill>
                  <a:srgbClr val="000000"/>
                </a:solidFill>
                <a:latin typeface="Consolas"/>
                <a:ea typeface="맑은 고딕"/>
              </a:rPr>
              <a:t>        var 펜 = new 상품("펜", new 금액(1000));</a:t>
            </a:r>
          </a:p>
          <a:p>
            <a:pPr marL="0" indent="0" algn="l">
              <a:lnSpc>
                <a:spcPts val="960"/>
              </a:lnSpc>
              <a:spcBef>
                <a:spcPts val="0"/>
              </a:spcBef>
              <a:spcAft>
                <a:spcPts val="0"/>
              </a:spcAft>
              <a:buNone/>
            </a:pPr>
            <a:r>
              <a:rPr sz="800" b="0">
                <a:solidFill>
                  <a:srgbClr val="000000"/>
                </a:solidFill>
                <a:latin typeface="Consolas"/>
                <a:ea typeface="맑은 고딕"/>
              </a:rPr>
              <a:t>        var 주문 = new 주문(new 고객("김"), Map.of(펜, new 수량(2)), new 주소("서울"));</a:t>
            </a:r>
          </a:p>
          <a:p>
            <a:pPr marL="0" indent="0" algn="l">
              <a:lnSpc>
                <a:spcPts val="960"/>
              </a:lnSpc>
              <a:spcBef>
                <a:spcPts val="0"/>
              </a:spcBef>
              <a:spcAft>
                <a:spcPts val="0"/>
              </a:spcAft>
              <a:buNone/>
            </a:pPr>
            <a:r>
              <a:rPr sz="800" b="0">
                <a:solidFill>
                  <a:srgbClr val="000000"/>
                </a:solidFill>
                <a:latin typeface="Consolas"/>
                <a:ea typeface="맑은 고딕"/>
              </a:rPr>
              <a:t>        확인(주문.주문총액().equals(new 금액(2000)));</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펜.판매가 = new 금액(1500);</a:t>
            </a:r>
          </a:p>
          <a:p>
            <a:pPr marL="0" indent="0" algn="l">
              <a:lnSpc>
                <a:spcPts val="960"/>
              </a:lnSpc>
              <a:spcBef>
                <a:spcPts val="0"/>
              </a:spcBef>
              <a:spcAft>
                <a:spcPts val="0"/>
              </a:spcAft>
              <a:buNone/>
            </a:pPr>
            <a:r>
              <a:rPr sz="800" b="0">
                <a:solidFill>
                  <a:srgbClr val="000000"/>
                </a:solidFill>
                <a:latin typeface="Consolas"/>
                <a:ea typeface="맑은 고딕"/>
              </a:rPr>
              <a:t>        확인(주문.주문총액().equals(new 금액(2000)));</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규칙에서 테스트로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「39. 제약」의 규칙과 확정 값의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30755"/>
            <a:ext cx="4114800" cy="109728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거절(() -&gt; new 수량(0));</a:t>
            </a:r>
          </a:p>
          <a:p>
            <a:pPr marL="0" indent="0" algn="l">
              <a:lnSpc>
                <a:spcPts val="960"/>
              </a:lnSpc>
              <a:spcBef>
                <a:spcPts val="0"/>
              </a:spcBef>
              <a:spcAft>
                <a:spcPts val="0"/>
              </a:spcAft>
              <a:buNone/>
            </a:pPr>
            <a:r>
              <a:rPr sz="800" b="0">
                <a:solidFill>
                  <a:srgbClr val="000000"/>
                </a:solidFill>
                <a:latin typeface="Consolas"/>
                <a:ea typeface="맑은 고딕"/>
              </a:rPr>
              <a:t>        거절(() -&gt; new 주문(new 고객("김"), Map.of(), new 주소("서울")));</a:t>
            </a:r>
          </a:p>
          <a:p>
            <a:pPr marL="0" indent="0" algn="l">
              <a:lnSpc>
                <a:spcPts val="960"/>
              </a:lnSpc>
              <a:spcBef>
                <a:spcPts val="0"/>
              </a:spcBef>
              <a:spcAft>
                <a:spcPts val="0"/>
              </a:spcAft>
              <a:buNone/>
            </a:pPr>
            <a:r>
              <a:rPr sz="800" b="0">
                <a:solidFill>
                  <a:srgbClr val="000000"/>
                </a:solidFill>
                <a:latin typeface="Consolas"/>
                <a:ea typeface="맑은 고딕"/>
              </a:rPr>
              <a:t>        거절(() -&gt; new 환불(new 결제(new 금액(2000)), new 금액(3000)));</a:t>
            </a:r>
          </a:p>
          <a:p>
            <a:pPr marL="0" indent="0" algn="l">
              <a:lnSpc>
                <a:spcPts val="960"/>
              </a:lnSpc>
              <a:spcBef>
                <a:spcPts val="0"/>
              </a:spcBef>
              <a:spcAft>
                <a:spcPts val="0"/>
              </a:spcAft>
              <a:buNone/>
            </a:pPr>
            <a:r>
              <a:rPr sz="800" b="0">
                <a:solidFill>
                  <a:srgbClr val="000000"/>
                </a:solidFill>
                <a:latin typeface="Consolas"/>
                <a:ea typeface="맑은 고딕"/>
              </a:rPr>
              <a:t>        System.out.println("정적 모델 규칙 확인");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확인·거절 생략</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5"/>
          <p:cNvPicPr>
            <a:picLocks noChangeAspect="1"/>
          </p:cNvPicPr>
          <p:nvPr/>
        </p:nvPicPr>
        <p:blipFill>
          <a:blip r:embed="plantumlImage25"/>
          <a:stretch>
            <a:fillRect/>
          </a:stretch>
        </p:blipFill>
        <p:spPr>
          <a:xfrm>
            <a:off x="1675423" y="1983200"/>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46. 개념의 묶음 —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5" y="3787521"/>
          <a:ext cx="7787640" cy="3873500"/>
        </p:xfrm>
        <a:graphic>
          <a:graphicData uri="http://schemas.openxmlformats.org/drawingml/2006/table">
            <a:tbl>
              <a:tblPr/>
              <a:tblGrid>
                <a:gridCol w="1981200"/>
                <a:gridCol w="295910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탭이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의미로 이름 짓는다(주문,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안에 개념을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개념은 한 패키지에만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패키지가 다른 패키지의 개념을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연관만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관련 개념을 </a:t>
            </a:r>
            <a:r>
              <a:rPr sz="1800" b="1">
                <a:solidFill>
                  <a:srgbClr val="000000"/>
                </a:solidFill>
                <a:latin typeface="맑은 고딕"/>
                <a:ea typeface="맑은 고딕"/>
              </a:rPr>
              <a:t>패키지</a:t>
            </a:r>
            <a:r>
              <a:rPr sz="1800" b="0">
                <a:solidFill>
                  <a:srgbClr val="000000"/>
                </a:solidFill>
                <a:latin typeface="맑은 고딕"/>
                <a:ea typeface="맑은 고딕"/>
              </a:rPr>
              <a:t>로 묶어 읽기 쉽게 한다. 패키지는 개념을 담는 이름 있는 묶음이다.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61681"/>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pic>
        <p:nvPicPr>
          <p:cNvPr id="15" name="svg Diagram 4" descr="패키지 다이어그램 표기: 패키지, 포함, 의존"/>
          <p:cNvPicPr>
            <a:picLocks noChangeAspect="1"/>
          </p:cNvPicPr>
          <p:nvPr/>
        </p:nvPicPr>
        <p:blipFill>
          <a:blip r:embed="svgImage4"/>
          <a:stretch>
            <a:fillRect/>
          </a:stretch>
        </p:blipFill>
        <p:spPr>
          <a:xfrm>
            <a:off x="1919372" y="1842998"/>
            <a:ext cx="5291667" cy="121708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패키지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3215" y="2801048"/>
          <a:ext cx="6443980" cy="3873500"/>
        </p:xfrm>
        <a:graphic>
          <a:graphicData uri="http://schemas.openxmlformats.org/drawingml/2006/table">
            <a:tbl>
              <a:tblPr/>
              <a:tblGrid>
                <a:gridCol w="1450340"/>
                <a:gridCol w="410464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주문과 주문 항목은 한 주문의 내용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그 특수 개념(「37. 일반화」의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항목은 "장바구니에 담는다"에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강한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환불은 결제에 딸린다(결제–환불)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분석에서는 개념을 </a:t>
            </a:r>
            <a:r>
              <a:rPr sz="1800" b="1">
                <a:solidFill>
                  <a:srgbClr val="000000"/>
                </a:solidFill>
                <a:latin typeface="맑은 고딕"/>
                <a:ea typeface="맑은 고딕"/>
              </a:rPr>
              <a:t>의미</a:t>
            </a:r>
            <a:r>
              <a:rPr sz="1800" b="0">
                <a:solidFill>
                  <a:srgbClr val="000000"/>
                </a:solidFill>
                <a:latin typeface="맑은 고딕"/>
                <a:ea typeface="맑은 고딕"/>
              </a:rPr>
              <a:t>로 묶는다. 무엇을 함께 두는지는 다음 네 질문으로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a:t>
            </a:r>
            <a:r>
              <a:rPr sz="1800" b="1">
                <a:solidFill>
                  <a:srgbClr val="000000"/>
                </a:solidFill>
                <a:latin typeface="맑은 고딕"/>
                <a:ea typeface="맑은 고딕"/>
              </a:rPr>
              <a:t>주제 영역</a:t>
            </a:r>
            <a:r>
              <a:rPr sz="1800" b="0">
                <a:solidFill>
                  <a:srgbClr val="000000"/>
                </a:solidFill>
                <a:latin typeface="맑은 고딕"/>
                <a:ea typeface="맑은 고딕"/>
              </a:rPr>
              <a:t>에 있어 개념이나 목적으로 가깝다, 같은 </a:t>
            </a:r>
            <a:r>
              <a:rPr sz="1800" b="1">
                <a:solidFill>
                  <a:srgbClr val="000000"/>
                </a:solidFill>
                <a:latin typeface="맑은 고딕"/>
                <a:ea typeface="맑은 고딕"/>
              </a:rPr>
              <a:t>클래스 계층</a:t>
            </a:r>
            <a:r>
              <a:rPr sz="1800" b="0">
                <a:solidFill>
                  <a:srgbClr val="000000"/>
                </a:solidFill>
                <a:latin typeface="맑은 고딕"/>
                <a:ea typeface="맑은 고딕"/>
              </a:rPr>
              <a:t>에 있다, 같은 </a:t>
            </a:r>
            <a:r>
              <a:rPr sz="1800" b="1">
                <a:solidFill>
                  <a:srgbClr val="000000"/>
                </a:solidFill>
                <a:latin typeface="맑은 고딕"/>
                <a:ea typeface="맑은 고딕"/>
              </a:rPr>
              <a:t>유스케이스</a:t>
            </a:r>
            <a:r>
              <a:rPr sz="1800" b="0">
                <a:solidFill>
                  <a:srgbClr val="000000"/>
                </a:solidFill>
                <a:latin typeface="맑은 고딕"/>
                <a:ea typeface="맑은 고딕"/>
              </a:rPr>
              <a:t>에 참여한다, </a:t>
            </a:r>
            <a:r>
              <a:rPr sz="1800" b="1">
                <a:solidFill>
                  <a:srgbClr val="000000"/>
                </a:solidFill>
                <a:latin typeface="맑은 고딕"/>
                <a:ea typeface="맑은 고딕"/>
              </a:rPr>
              <a:t>강하게 연관</a:t>
            </a:r>
            <a:r>
              <a:rPr sz="1800" b="0">
                <a:solidFill>
                  <a:srgbClr val="000000"/>
                </a:solidFill>
                <a:latin typeface="맑은 고딕"/>
                <a:ea typeface="맑은 고딕"/>
              </a:rPr>
              <a:t>되어 있다"</a:t>
            </a:r>
            <a:r>
              <a:rPr sz="1000" b="0">
                <a:solidFill>
                  <a:srgbClr val="000000"/>
                </a:solidFill>
                <a:latin typeface="맑은 고딕"/>
                <a:ea typeface="맑은 고딕"/>
              </a:rPr>
              <a:t>, </a:t>
            </a:r>
            <a:r>
              <a:rPr sz="1000" b="0">
                <a:solidFill>
                  <a:srgbClr val="000000"/>
                </a:solidFill>
                <a:latin typeface="맑은 고딕"/>
                <a:ea typeface="맑은 고딕"/>
              </a:rPr>
              <a:t>"are in the same subject area—closely related by concept or purpose; are in a class hierarchy together; participate in the same use cases; are strongly associated"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4264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화면·서비스·DB 같은 </a:t>
            </a:r>
            <a:r>
              <a:rPr sz="1800" b="1">
                <a:solidFill>
                  <a:srgbClr val="000000"/>
                </a:solidFill>
                <a:latin typeface="맑은 고딕"/>
                <a:ea typeface="맑은 고딕"/>
              </a:rPr>
              <a:t>기술 계층</a:t>
            </a:r>
            <a:r>
              <a:rPr sz="1800" b="0">
                <a:solidFill>
                  <a:srgbClr val="000000"/>
                </a:solidFill>
                <a:latin typeface="맑은 고딕"/>
                <a:ea typeface="맑은 고딕"/>
              </a:rPr>
              <a:t>은 분석의 기준이 아니다.</a:t>
            </a:r>
          </a:p>
        </p:txBody>
      </p:sp>
    </p:spTree>
    <p:extLst>
      <p:ext uri="{BB962C8B-B14F-4D97-AF65-F5344CB8AC3E}">
        <p14:creationId xmlns:p14="http://schemas.microsoft.com/office/powerpoint/2010/main" val="27895694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도메인 모델 — 패키지별 </a:t>
            </a:r>
            <a:r>
              <a:rPr sz="2000" b="1">
                <a:solidFill>
                  <a:srgbClr val="000000"/>
                </a:solidFill>
                <a:latin typeface="맑은 고딕"/>
                <a:ea typeface="맑은 고딕"/>
              </a:rPr>
              <a:t>(1/2)</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「45. 도메인 모델 —</a:t>
            </a:r>
            <a:r>
              <a:rPr sz="1600" b="0">
                <a:solidFill>
                  <a:srgbClr val="000000"/>
                </a:solidFill>
                <a:latin typeface="맑은 고딕"/>
                <a:ea typeface="맑은 고딕"/>
              </a:rPr>
              <a:t> 상세화」의 통합 모델을 </a:t>
            </a:r>
            <a:r>
              <a:rPr sz="1600" b="1">
                <a:solidFill>
                  <a:srgbClr val="000000"/>
                </a:solidFill>
                <a:latin typeface="맑은 고딕"/>
                <a:ea typeface="맑은 고딕"/>
              </a:rPr>
              <a:t>패키지 기준</a:t>
            </a:r>
            <a:r>
              <a:rPr sz="1600" b="0">
                <a:solidFill>
                  <a:srgbClr val="000000"/>
                </a:solidFill>
                <a:latin typeface="맑은 고딕"/>
                <a:ea typeface="맑은 고딕"/>
              </a:rPr>
              <a:t>으로 나눈 것이다. 속성은 감추고 클래스 이름과 관계만 남겨 </a:t>
            </a:r>
            <a:r>
              <a:rPr sz="1600" b="1">
                <a:solidFill>
                  <a:srgbClr val="000000"/>
                </a:solidFill>
                <a:latin typeface="맑은 고딕"/>
                <a:ea typeface="맑은 고딕"/>
              </a:rPr>
              <a:t>묶음</a:t>
            </a:r>
            <a:r>
              <a:rPr sz="1600" b="0">
                <a:solidFill>
                  <a:srgbClr val="000000"/>
                </a:solidFill>
                <a:latin typeface="맑은 고딕"/>
                <a:ea typeface="맑은 고딕"/>
              </a:rPr>
              <a:t>을 드러낸다.</a:t>
            </a:r>
          </a:p>
        </p:txBody>
      </p:sp>
      <p:pic>
        <p:nvPicPr>
          <p:cNvPr id="9" name="plantuml Diagram 26"/>
          <p:cNvPicPr>
            <a:picLocks noChangeAspect="1"/>
          </p:cNvPicPr>
          <p:nvPr/>
        </p:nvPicPr>
        <p:blipFill>
          <a:blip r:embed="plantumlImage26"/>
          <a:stretch>
            <a:fillRect/>
          </a:stretch>
        </p:blipFill>
        <p:spPr>
          <a:xfrm>
            <a:off x="1641231" y="2596456"/>
            <a:ext cx="5861538" cy="299915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48. 도메인 모델 — 패키지별 </a:t>
            </a:r>
            <a:r>
              <a:rPr sz="2000" b="1">
                <a:solidFill>
                  <a:srgbClr val="000000"/>
                </a:solidFill>
                <a:latin typeface="맑은 고딕"/>
                <a:ea typeface="맑은 고딕"/>
              </a:rPr>
              <a:t>(2/2)</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2316" y="1515110"/>
          <a:ext cx="5605780" cy="3873500"/>
        </p:xfrm>
        <a:graphic>
          <a:graphicData uri="http://schemas.openxmlformats.org/drawingml/2006/table">
            <a:tbl>
              <a:tblPr/>
              <a:tblGrid>
                <a:gridCol w="889000"/>
                <a:gridCol w="195326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담은 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유스케이스·합성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영역(상품 시스템 정보의 기억)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강한 연관·클래스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영역(배송 요청의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327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패키지를 </a:t>
            </a:r>
            <a:r>
              <a:rPr sz="1800" b="1">
                <a:solidFill>
                  <a:srgbClr val="000000"/>
                </a:solidFill>
                <a:latin typeface="맑은 고딕"/>
                <a:ea typeface="맑은 고딕"/>
              </a:rPr>
              <a:t>넘는 연관</a:t>
            </a:r>
            <a:r>
              <a:rPr sz="1400" b="0">
                <a:solidFill>
                  <a:srgbClr val="000000"/>
                </a:solidFill>
                <a:latin typeface="맑은 고딕"/>
                <a:ea typeface="맑은 고딕"/>
              </a:rPr>
              <a:t>(주문–결제, 주문 항목–상품 등)</a:t>
            </a:r>
            <a:r>
              <a:rPr sz="1800" b="0">
                <a:solidFill>
                  <a:srgbClr val="000000"/>
                </a:solidFill>
                <a:latin typeface="맑은 고딕"/>
                <a:ea typeface="맑은 고딕"/>
              </a:rPr>
              <a:t>이 다음에 판단할 </a:t>
            </a:r>
            <a:r>
              <a:rPr sz="1800" b="1">
                <a:solidFill>
                  <a:srgbClr val="000000"/>
                </a:solidFill>
                <a:latin typeface="맑은 고딕"/>
                <a:ea typeface="맑은 고딕"/>
              </a:rPr>
              <a:t>경계와 방향</a:t>
            </a:r>
            <a:r>
              <a:rPr sz="1800" b="0">
                <a:solidFill>
                  <a:srgbClr val="000000"/>
                </a:solidFill>
                <a:latin typeface="맑은 고딕"/>
                <a:ea typeface="맑은 고딕"/>
              </a:rPr>
              <a:t>의 단서다.</a:t>
            </a:r>
          </a:p>
        </p:txBody>
      </p:sp>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잘못된 관행 — 분석 과잉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marL="342900" indent="0">
              <a:spcBef>
                <a:spcPts val="600"/>
              </a:spcBef>
              <a:spcAft>
                <a:spcPts val="600"/>
              </a:spcAft>
              <a:buNone/>
            </a:pPr>
            <a:r>
              <a:rPr sz="1800" b="1">
                <a:solidFill>
                  <a:srgbClr val="000000"/>
                </a:solidFill>
                <a:latin typeface="맑은 고딕"/>
                <a:ea typeface="맑은 고딕"/>
              </a:rPr>
              <a:t>증상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수개월의 분석 단계, </a:t>
            </a:r>
            <a:r>
              <a:rPr sz="1800" b="1">
                <a:solidFill>
                  <a:srgbClr val="000000"/>
                </a:solidFill>
                <a:latin typeface="맑은 고딕"/>
                <a:ea typeface="맑은 고딕"/>
              </a:rPr>
              <a:t>수백 쪽의 문서</a:t>
            </a:r>
            <a:r>
              <a:rPr sz="1800" b="0">
                <a:solidFill>
                  <a:srgbClr val="000000"/>
                </a:solidFill>
                <a:latin typeface="맑은 고딕"/>
                <a:ea typeface="맑은 고딕"/>
              </a:rPr>
              <a:t>와 다이어그램</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정작 </a:t>
            </a:r>
            <a:r>
              <a:rPr sz="1800" b="1">
                <a:solidFill>
                  <a:srgbClr val="000000"/>
                </a:solidFill>
                <a:latin typeface="맑은 고딕"/>
                <a:ea typeface="맑은 고딕"/>
              </a:rPr>
              <a:t>핵심 개념·관계·속성 규칙</a:t>
            </a:r>
            <a:r>
              <a:rPr sz="1800" b="0">
                <a:solidFill>
                  <a:srgbClr val="000000"/>
                </a:solidFill>
                <a:latin typeface="맑은 고딕"/>
                <a:ea typeface="맑은 고딕"/>
              </a:rPr>
              <a:t>은 모호하다. 제대로 된 </a:t>
            </a:r>
            <a:r>
              <a:rPr sz="1800" b="1">
                <a:solidFill>
                  <a:srgbClr val="000000"/>
                </a:solidFill>
                <a:latin typeface="맑은 고딕"/>
                <a:ea typeface="맑은 고딕"/>
              </a:rPr>
              <a:t>데이터 모델</a:t>
            </a:r>
            <a:r>
              <a:rPr sz="1800" b="0">
                <a:solidFill>
                  <a:srgbClr val="000000"/>
                </a:solidFill>
                <a:latin typeface="맑은 고딕"/>
                <a:ea typeface="맑은 고딕"/>
              </a:rPr>
              <a:t>도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회의의 상당 부분이 프레임워크·아키텍처·화면·인프라 같은 </a:t>
            </a:r>
            <a:r>
              <a:rPr sz="1800" b="1">
                <a:solidFill>
                  <a:srgbClr val="000000"/>
                </a:solidFill>
                <a:latin typeface="맑은 고딕"/>
                <a:ea typeface="맑은 고딕"/>
              </a:rPr>
              <a:t>기술 요소</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a:t>
            </a:r>
            <a:r>
              <a:rPr sz="1800" b="1">
                <a:solidFill>
                  <a:srgbClr val="000000"/>
                </a:solidFill>
                <a:latin typeface="맑은 고딕"/>
                <a:ea typeface="맑은 고딕"/>
              </a:rPr>
              <a:t>무엇을 할지</a:t>
            </a:r>
            <a:r>
              <a:rPr sz="1400" b="0">
                <a:solidFill>
                  <a:srgbClr val="000000"/>
                </a:solidFill>
                <a:latin typeface="맑은 고딕"/>
                <a:ea typeface="맑은 고딕"/>
              </a:rPr>
              <a:t>(이벤트·목표·규칙)</a:t>
            </a:r>
            <a:r>
              <a:rPr sz="1800" b="0">
                <a:solidFill>
                  <a:srgbClr val="000000"/>
                </a:solidFill>
                <a:latin typeface="맑은 고딕"/>
                <a:ea typeface="맑은 고딕"/>
              </a:rPr>
              <a:t>는 합의하지 못했다.</a:t>
            </a:r>
          </a:p>
          <a:p>
            <a:pPr marL="342900" indent="0">
              <a:spcBef>
                <a:spcPts val="600"/>
              </a:spcBef>
              <a:spcAft>
                <a:spcPts val="600"/>
              </a:spcAft>
              <a:buNone/>
            </a:pPr>
            <a:r>
              <a:rPr sz="1800" b="1">
                <a:solidFill>
                  <a:srgbClr val="000000"/>
                </a:solidFill>
                <a:latin typeface="맑은 고딕"/>
                <a:ea typeface="맑은 고딕"/>
              </a:rPr>
              <a:t>되돌아볼 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합의한 </a:t>
            </a:r>
            <a:r>
              <a:rPr sz="1800" b="1">
                <a:solidFill>
                  <a:srgbClr val="000000"/>
                </a:solidFill>
                <a:latin typeface="맑은 고딕"/>
                <a:ea typeface="맑은 고딕"/>
              </a:rPr>
              <a:t>이벤트와 목표 목록</a:t>
            </a:r>
            <a:r>
              <a:rPr sz="1800" b="0">
                <a:solidFill>
                  <a:srgbClr val="000000"/>
                </a:solidFill>
                <a:latin typeface="맑은 고딕"/>
                <a:ea typeface="맑은 고딕"/>
              </a:rPr>
              <a:t>이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핵심 개념·관계·속성 도메인</a:t>
            </a:r>
            <a:r>
              <a:rPr sz="1800" b="0">
                <a:solidFill>
                  <a:srgbClr val="000000"/>
                </a:solidFill>
                <a:latin typeface="맑은 고딕"/>
                <a:ea typeface="맑은 고딕"/>
              </a:rPr>
              <a:t>이 모델에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산출물에서 </a:t>
            </a:r>
            <a:r>
              <a:rPr sz="1800" b="1">
                <a:solidFill>
                  <a:srgbClr val="000000"/>
                </a:solidFill>
                <a:latin typeface="맑은 고딕"/>
                <a:ea typeface="맑은 고딕"/>
              </a:rPr>
              <a:t>기술 요소</a:t>
            </a:r>
            <a:r>
              <a:rPr sz="1800" b="0">
                <a:solidFill>
                  <a:srgbClr val="000000"/>
                </a:solidFill>
                <a:latin typeface="맑은 고딕"/>
                <a:ea typeface="맑은 고딕"/>
              </a:rPr>
              <a:t>가 차지하는 비중은 얼마인가?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지금 분석을 더 하면 </a:t>
            </a:r>
            <a:r>
              <a:rPr sz="1800" b="1">
                <a:solidFill>
                  <a:srgbClr val="000000"/>
                </a:solidFill>
                <a:latin typeface="맑은 고딕"/>
                <a:ea typeface="맑은 고딕"/>
              </a:rPr>
              <a:t>다음 판단이 달라지는가</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50. 잘못된 관행 — 구현 요소</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pic>
        <p:nvPicPr>
          <p:cNvPr id="9" name="plantuml Diagram 27"/>
          <p:cNvPicPr>
            <a:picLocks noChangeAspect="1"/>
          </p:cNvPicPr>
          <p:nvPr/>
        </p:nvPicPr>
        <p:blipFill>
          <a:blip r:embed="plantumlImage27"/>
          <a:stretch>
            <a:fillRect/>
          </a:stretch>
        </p:blipFill>
        <p:spPr>
          <a:xfrm>
            <a:off x="2835519" y="3927599"/>
            <a:ext cx="3472962"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잘못된 관행 — 규칙 없는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1842998"/>
          <a:ext cx="6781800" cy="3873500"/>
        </p:xfrm>
        <a:graphic>
          <a:graphicData uri="http://schemas.openxmlformats.org/drawingml/2006/table">
            <a:tbl>
              <a:tblPr/>
              <a:tblGrid>
                <a:gridCol w="1953260"/>
                <a:gridCol w="231648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잘못된 관행 — 관계 남용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1842998"/>
          <a:ext cx="5722620" cy="3873500"/>
        </p:xfrm>
        <a:graphic>
          <a:graphicData uri="http://schemas.openxmlformats.org/drawingml/2006/table">
            <a:tbl>
              <a:tblPr/>
              <a:tblGrid>
                <a:gridCol w="245618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알아야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잘못된 관행 — 거대 개념·모호한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1842998"/>
          <a:ext cx="7399020" cy="3873500"/>
        </p:xfrm>
        <a:graphic>
          <a:graphicData uri="http://schemas.openxmlformats.org/drawingml/2006/table">
            <a:tbl>
              <a:tblPr/>
              <a:tblGrid>
                <a:gridCol w="371348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54. 잘못된 관행 — 범위·시점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42998"/>
          <a:ext cx="7147560" cy="3873500"/>
        </p:xfrm>
        <a:graphic>
          <a:graphicData uri="http://schemas.openxmlformats.org/drawingml/2006/table">
            <a:tbl>
              <a:tblPr/>
              <a:tblGrid>
                <a:gridCol w="259588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그리는 데 시간을 쓰고도 판단에 쓰이지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- 77 -</a:t>
            </a:r>
          </a:p>
        </p:txBody>
      </p:sp>
    </p:spTree>
    <p:extLst>
      <p:ext uri="{BB962C8B-B14F-4D97-AF65-F5344CB8AC3E}">
        <p14:creationId xmlns:p14="http://schemas.microsoft.com/office/powerpoint/2010/main" val="278956947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모델의 유용성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답하는 데 얼마나 유용한가</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반드시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뿐이다"</a:t>
            </a:r>
            <a:r>
              <a:rPr sz="1000" b="0">
                <a:solidFill>
                  <a:srgbClr val="000000"/>
                </a:solidFill>
                <a:latin typeface="맑은 고딕"/>
                <a:ea typeface="맑은 고딕"/>
              </a:rPr>
              <a:t>, </a:t>
            </a:r>
            <a:r>
              <a:rPr sz="1000" b="0">
                <a:solidFill>
                  <a:srgbClr val="000000"/>
                </a:solidFill>
                <a:latin typeface="맑은 고딕"/>
                <a:ea typeface="맑은 고딕"/>
              </a:rPr>
              <a:t>"domain models are not necessarily correct or wrong, but rather more or less useful."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확인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56. 시나리오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주문 취소 —</a:t>
            </a:r>
            <a:r>
              <a:rPr sz="1600" b="1">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81838"/>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배송지 변경 —</a:t>
            </a:r>
            <a:r>
              <a:rPr sz="1600" b="1">
                <a:solidFill>
                  <a:srgbClr val="000000"/>
                </a:solidFill>
                <a:latin typeface="맑은 고딕"/>
                <a:ea typeface="맑은 고딕"/>
              </a:rPr>
              <a:t> 오퍼레이션 계약</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40767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404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출고는 배송 시스템이 판단한다 — 물을 것인가, 통보받아 기억할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57. 누락과 모순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857349"/>
          <a:ext cx="8305800" cy="3873500"/>
        </p:xfrm>
        <a:graphic>
          <a:graphicData uri="http://schemas.openxmlformats.org/drawingml/2006/table">
            <a:tbl>
              <a:tblPr/>
              <a:tblGrid>
                <a:gridCol w="3865906"/>
                <a:gridCol w="443989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계약의 사전조건, 정제된 SSD(배송 시스템에 묻는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취소의 허용 여부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명세서의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주문 취소와 결제 취소를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명세서·계약의 용어,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분석 예시 코드의 상품.단가가 판매가와 단가를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예시 코드 — 식별자를 용어집에 맞춘다(상품.판매가)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79562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출고 정보</a:t>
            </a:r>
            <a:r>
              <a:rPr sz="1800" b="0">
                <a:solidFill>
                  <a:srgbClr val="000000"/>
                </a:solidFill>
                <a:latin typeface="맑은 고딕"/>
                <a:ea typeface="맑은 고딕"/>
              </a:rPr>
              <a:t> —</a:t>
            </a:r>
            <a:r>
              <a:rPr sz="1600" b="0">
                <a:solidFill>
                  <a:srgbClr val="000000"/>
                </a:solidFill>
                <a:latin typeface="맑은 고딕"/>
                <a:ea typeface="맑은 고딕"/>
              </a:rPr>
              <a:t> 출고는 배송 시스템이 소유한다. 주문 시스템이 "출고 전"을 판단하려면 배송 시스템에 </a:t>
            </a:r>
            <a:r>
              <a:rPr sz="1600" b="1">
                <a:solidFill>
                  <a:srgbClr val="000000"/>
                </a:solidFill>
                <a:latin typeface="맑은 고딕"/>
                <a:ea typeface="맑은 고딕"/>
              </a:rPr>
              <a:t>물어야</a:t>
            </a:r>
            <a:r>
              <a:rPr sz="1600" b="0">
                <a:solidFill>
                  <a:srgbClr val="000000"/>
                </a:solidFill>
                <a:latin typeface="맑은 고딕"/>
                <a:ea typeface="맑은 고딕"/>
              </a:rPr>
              <a:t> 하는가, 통보받아 배송 상태로 </a:t>
            </a:r>
            <a:r>
              <a:rPr sz="1600" b="1">
                <a:solidFill>
                  <a:srgbClr val="000000"/>
                </a:solidFill>
                <a:latin typeface="맑은 고딕"/>
                <a:ea typeface="맑은 고딕"/>
              </a:rPr>
              <a:t>기억해야</a:t>
            </a:r>
            <a:r>
              <a:rPr sz="1600" b="0">
                <a:solidFill>
                  <a:srgbClr val="000000"/>
                </a:solidFill>
                <a:latin typeface="맑은 고딕"/>
                <a:ea typeface="맑은 고딕"/>
              </a:rPr>
              <a:t>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a:p>
            <a:pPr marL="342900" indent="0">
              <a:spcBef>
                <a:spcPts val="600"/>
              </a:spcBef>
              <a:spcAft>
                <a:spcPts val="600"/>
              </a:spcAft>
              <a:buNone/>
            </a:pPr>
            <a:r>
              <a:rPr sz="1800" b="1">
                <a:solidFill>
                  <a:srgbClr val="000000"/>
                </a:solidFill>
                <a:latin typeface="맑은 고딕"/>
                <a:ea typeface="맑은 고딕"/>
              </a:rPr>
              <a:t>되돌릴 곳</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발견은 별도 문서가 아니라 </a:t>
            </a:r>
            <a:r>
              <a:rPr sz="1800" b="1">
                <a:solidFill>
                  <a:srgbClr val="000000"/>
                </a:solidFill>
                <a:latin typeface="맑은 고딕"/>
                <a:ea typeface="맑은 고딕"/>
              </a:rPr>
              <a:t>입력 산출물을 고쳐</a:t>
            </a:r>
            <a:r>
              <a:rPr sz="1800" b="0">
                <a:solidFill>
                  <a:srgbClr val="000000"/>
                </a:solidFill>
                <a:latin typeface="맑은 고딕"/>
                <a:ea typeface="맑은 고딕"/>
              </a:rPr>
              <a:t>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- 80 -</a:t>
            </a:r>
          </a:p>
        </p:txBody>
      </p:sp>
    </p:spTree>
    <p:extLst>
      <p:ext uri="{BB962C8B-B14F-4D97-AF65-F5344CB8AC3E}">
        <p14:creationId xmlns:p14="http://schemas.microsoft.com/office/powerpoint/2010/main" val="27895694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정적 모델의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59.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 유스케이스 명세서와 요구사항 명세서의 </a:t>
            </a:r>
            <a:r>
              <a:rPr sz="1600" b="1">
                <a:solidFill>
                  <a:srgbClr val="000000"/>
                </a:solidFill>
                <a:latin typeface="맑은 고딕"/>
                <a:ea typeface="맑은 고딕"/>
              </a:rPr>
              <a:t>업무 규칙</a:t>
            </a:r>
            <a:r>
              <a:rPr sz="1600" b="0">
                <a:solidFill>
                  <a:srgbClr val="000000"/>
                </a:solidFill>
                <a:latin typeface="맑은 고딕"/>
                <a:ea typeface="맑은 고딕"/>
              </a:rPr>
              <a:t>을 LLM에 제공하여 </a:t>
            </a:r>
            <a:r>
              <a:rPr sz="1600" b="1">
                <a:solidFill>
                  <a:srgbClr val="000000"/>
                </a:solidFill>
                <a:latin typeface="맑은 고딕"/>
                <a:ea typeface="맑은 고딕"/>
              </a:rPr>
              <a:t>도메인 모델</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요구사항 명세서의 업무 규칙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유스케이스 명세서로 도메인 모델 </a:t>
            </a:r>
            <a:r>
              <a:rPr sz="1400" b="1">
                <a:solidFill>
                  <a:srgbClr val="000000"/>
                </a:solidFill>
                <a:latin typeface="맑은 고딕"/>
                <a:ea typeface="맑은 고딕"/>
              </a:rPr>
              <a:t>초안</a:t>
            </a:r>
            <a:r>
              <a:rPr sz="1400" b="0">
                <a:solidFill>
                  <a:srgbClr val="000000"/>
                </a:solidFill>
                <a:latin typeface="맑은 고딕"/>
                <a:ea typeface="맑은 고딕"/>
              </a:rPr>
              <a:t>을 PlantUML 클래스 다이어그램으로 그려줘. 관계와 다중성만 보이고, 속성과 n:m 해소는 하지 마. 개념 이름은 </a:t>
            </a:r>
            <a:r>
              <a:rPr sz="1400" b="1">
                <a:solidFill>
                  <a:srgbClr val="000000"/>
                </a:solidFill>
                <a:latin typeface="맑은 고딕"/>
                <a:ea typeface="맑은 고딕"/>
              </a:rPr>
              <a:t>용어집</a:t>
            </a:r>
            <a:r>
              <a:rPr sz="1400" b="0">
                <a:solidFill>
                  <a:srgbClr val="000000"/>
                </a:solidFill>
                <a:latin typeface="맑은 고딕"/>
                <a:ea typeface="맑은 고딕"/>
              </a:rPr>
              <a:t>을 따라줘."</a:t>
            </a:r>
          </a:p>
          <a:p>
            <a:pPr lvl="3" marL="723900" indent="0">
              <a:spcBef>
                <a:spcPts val="300"/>
              </a:spcBef>
              <a:spcAft>
                <a:spcPts val="300"/>
              </a:spcAft>
              <a:buNone/>
            </a:pPr>
            <a:r>
              <a:rPr sz="1400" b="0">
                <a:solidFill>
                  <a:srgbClr val="000000"/>
                </a:solidFill>
                <a:latin typeface="맑은 고딕"/>
                <a:ea typeface="맑은 고딕"/>
              </a:rPr>
              <a:t>② "초안의 </a:t>
            </a:r>
            <a:r>
              <a:rPr sz="1400" b="1">
                <a:solidFill>
                  <a:srgbClr val="000000"/>
                </a:solidFill>
                <a:latin typeface="맑은 고딕"/>
                <a:ea typeface="맑은 고딕"/>
              </a:rPr>
              <a:t>n:m 관계를 해소</a:t>
            </a:r>
            <a:r>
              <a:rPr sz="1400" b="0">
                <a:solidFill>
                  <a:srgbClr val="000000"/>
                </a:solidFill>
                <a:latin typeface="맑은 고딕"/>
                <a:ea typeface="맑은 고딕"/>
              </a:rPr>
              <a:t>하고, 업무 규칙에 필요한 속성과 속성 도메인을 더해 </a:t>
            </a:r>
            <a:r>
              <a:rPr sz="1400" b="1">
                <a:solidFill>
                  <a:srgbClr val="000000"/>
                </a:solidFill>
                <a:latin typeface="맑은 고딕"/>
                <a:ea typeface="맑은 고딕"/>
              </a:rPr>
              <a:t>상세 도메인 모델</a:t>
            </a:r>
            <a:r>
              <a:rPr sz="1400" b="0">
                <a:solidFill>
                  <a:srgbClr val="000000"/>
                </a:solidFill>
                <a:latin typeface="맑은 고딕"/>
                <a:ea typeface="맑은 고딕"/>
              </a:rPr>
              <a:t>로 바꿔줘. ID·외래키 같은 구현 요소는 넣지 마."</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개념과 용어</a:t>
            </a:r>
            <a:r>
              <a:rPr sz="1400" b="0">
                <a:solidFill>
                  <a:srgbClr val="000000"/>
                </a:solidFill>
                <a:latin typeface="맑은 고딕"/>
                <a:ea typeface="맑은 고딕"/>
              </a:rPr>
              <a:t> —</a:t>
            </a:r>
            <a:r>
              <a:rPr sz="1200" b="0">
                <a:solidFill>
                  <a:srgbClr val="000000"/>
                </a:solidFill>
                <a:latin typeface="맑은 고딕"/>
                <a:ea typeface="맑은 고딕"/>
              </a:rPr>
              <a:t> 흐름의 사건이 남기는 개념이 모두 있고,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n:m 해소</a:t>
            </a:r>
            <a:r>
              <a:rPr sz="1400" b="0">
                <a:solidFill>
                  <a:srgbClr val="000000"/>
                </a:solidFill>
                <a:latin typeface="맑은 고딕"/>
                <a:ea typeface="맑은 고딕"/>
              </a:rPr>
              <a:t> —</a:t>
            </a:r>
            <a:r>
              <a:rPr sz="1200" b="0">
                <a:solidFill>
                  <a:srgbClr val="000000"/>
                </a:solidFill>
                <a:latin typeface="맑은 고딕"/>
                <a:ea typeface="맑은 고딕"/>
              </a:rPr>
              <a:t> n:m 관계를 </a:t>
            </a:r>
            <a:r>
              <a:rPr sz="1200" b="1">
                <a:solidFill>
                  <a:srgbClr val="000000"/>
                </a:solidFill>
                <a:latin typeface="맑은 고딕"/>
                <a:ea typeface="맑은 고딕"/>
              </a:rPr>
              <a:t>항목</a:t>
            </a:r>
            <a:r>
              <a:rPr sz="1200" b="0">
                <a:solidFill>
                  <a:srgbClr val="000000"/>
                </a:solidFill>
                <a:latin typeface="맑은 고딕"/>
                <a:ea typeface="맑은 고딕"/>
              </a:rPr>
              <a:t>으로 풀었는가?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숨은 개념</a:t>
            </a:r>
            <a:r>
              <a:rPr sz="1400" b="0">
                <a:solidFill>
                  <a:srgbClr val="000000"/>
                </a:solidFill>
                <a:latin typeface="맑은 고딕"/>
                <a:ea typeface="맑은 고딕"/>
              </a:rPr>
              <a:t> —</a:t>
            </a:r>
            <a:r>
              <a:rPr sz="1200" b="0">
                <a:solidFill>
                  <a:srgbClr val="000000"/>
                </a:solidFill>
                <a:latin typeface="맑은 고딕"/>
                <a:ea typeface="맑은 고딕"/>
              </a:rPr>
              <a:t> "배송 일정"을 </a:t>
            </a:r>
            <a:r>
              <a:rPr sz="1200" b="1">
                <a:solidFill>
                  <a:srgbClr val="000000"/>
                </a:solidFill>
                <a:latin typeface="맑은 고딕"/>
                <a:ea typeface="맑은 고딕"/>
              </a:rPr>
              <a:t>배송 회차</a:t>
            </a:r>
            <a:r>
              <a:rPr sz="1200" b="0">
                <a:solidFill>
                  <a:srgbClr val="000000"/>
                </a:solidFill>
                <a:latin typeface="맑은 고딕"/>
                <a:ea typeface="맑은 고딕"/>
              </a:rPr>
              <a:t>로 드러냈는가?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상태의 주인</a:t>
            </a:r>
            <a:r>
              <a:rPr sz="1400" b="0">
                <a:solidFill>
                  <a:srgbClr val="000000"/>
                </a:solidFill>
                <a:latin typeface="맑은 고딕"/>
                <a:ea typeface="맑은 고딕"/>
              </a:rPr>
              <a:t> —</a:t>
            </a:r>
            <a:r>
              <a:rPr sz="1200" b="0">
                <a:solidFill>
                  <a:srgbClr val="000000"/>
                </a:solidFill>
                <a:latin typeface="맑은 고딕"/>
                <a:ea typeface="맑은 고딕"/>
              </a:rPr>
              <a:t> 상태를 </a:t>
            </a:r>
            <a:r>
              <a:rPr sz="1200" b="1">
                <a:solidFill>
                  <a:srgbClr val="000000"/>
                </a:solidFill>
                <a:latin typeface="맑은 고딕"/>
                <a:ea typeface="맑은 고딕"/>
              </a:rPr>
              <a:t>어느 개념</a:t>
            </a:r>
            <a:r>
              <a:rPr sz="1200" b="0">
                <a:solidFill>
                  <a:srgbClr val="000000"/>
                </a:solidFill>
                <a:latin typeface="맑은 고딕"/>
                <a:ea typeface="맑은 고딕"/>
              </a:rPr>
              <a:t>이 갖는지 판단했는가?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속성 도메인</a:t>
            </a:r>
            <a:r>
              <a:rPr sz="1400" b="0">
                <a:solidFill>
                  <a:srgbClr val="000000"/>
                </a:solidFill>
                <a:latin typeface="맑은 고딕"/>
                <a:ea typeface="맑은 고딕"/>
              </a:rPr>
              <a:t> —</a:t>
            </a:r>
            <a:r>
              <a:rPr sz="1200" b="0">
                <a:solidFill>
                  <a:srgbClr val="000000"/>
                </a:solidFill>
                <a:latin typeface="맑은 고딕"/>
                <a:ea typeface="맑은 고딕"/>
              </a:rPr>
              <a:t> 단가·배송 주기·기간을 원시 값이 아닌 </a:t>
            </a:r>
            <a:r>
              <a:rPr sz="1200" b="1">
                <a:solidFill>
                  <a:srgbClr val="000000"/>
                </a:solidFill>
                <a:latin typeface="맑은 고딕"/>
                <a:ea typeface="맑은 고딕"/>
              </a:rPr>
              <a:t>도메인</a:t>
            </a:r>
            <a:r>
              <a:rPr sz="1200" b="0">
                <a:solidFill>
                  <a:srgbClr val="000000"/>
                </a:solidFill>
                <a:latin typeface="맑은 고딕"/>
                <a:ea typeface="맑은 고딕"/>
              </a:rPr>
              <a:t>으로 표현했는가?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구현 요소</a:t>
            </a:r>
            <a:r>
              <a:rPr sz="1400" b="0">
                <a:solidFill>
                  <a:srgbClr val="000000"/>
                </a:solidFill>
                <a:latin typeface="맑은 고딕"/>
                <a:ea typeface="맑은 고딕"/>
              </a:rPr>
              <a:t> —</a:t>
            </a:r>
            <a:r>
              <a:rPr sz="1200" b="0">
                <a:solidFill>
                  <a:srgbClr val="000000"/>
                </a:solidFill>
                <a:latin typeface="맑은 고딕"/>
                <a:ea typeface="맑은 고딕"/>
              </a:rPr>
              <a:t> ID·외래키 같은 구현 요소가 없는가?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도메인 모델 초안과 상세. 실습 4의 입력이 됩니다.</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60. 도메인 모델 초안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 신청이 남기는 개념과 그 관계다. </a:t>
            </a:r>
            <a:r>
              <a:rPr sz="1400" b="1">
                <a:solidFill>
                  <a:srgbClr val="000000"/>
                </a:solidFill>
                <a:latin typeface="맑은 고딕"/>
                <a:ea typeface="맑은 고딕"/>
              </a:rPr>
              <a:t>장바구니–상품</a:t>
            </a:r>
            <a:r>
              <a:rPr sz="1400" b="0">
                <a:solidFill>
                  <a:srgbClr val="000000"/>
                </a:solidFill>
                <a:latin typeface="맑은 고딕"/>
                <a:ea typeface="맑은 고딕"/>
              </a:rPr>
              <a:t>, </a:t>
            </a:r>
            <a:r>
              <a:rPr sz="1400" b="1">
                <a:solidFill>
                  <a:srgbClr val="000000"/>
                </a:solidFill>
                <a:latin typeface="맑은 고딕"/>
                <a:ea typeface="맑은 고딕"/>
              </a:rPr>
              <a:t>정기배송–상품</a:t>
            </a:r>
            <a:r>
              <a:rPr sz="1400" b="0">
                <a:solidFill>
                  <a:srgbClr val="000000"/>
                </a:solidFill>
                <a:latin typeface="맑은 고딕"/>
                <a:ea typeface="맑은 고딕"/>
              </a:rPr>
              <a:t>은 n:m이며, 상세화에서 해소한다.</a:t>
            </a:r>
          </a:p>
        </p:txBody>
      </p:sp>
      <p:pic>
        <p:nvPicPr>
          <p:cNvPr id="9" name="plantuml Diagram 28"/>
          <p:cNvPicPr>
            <a:picLocks noChangeAspect="1"/>
          </p:cNvPicPr>
          <p:nvPr/>
        </p:nvPicPr>
        <p:blipFill>
          <a:blip r:embed="plantumlImage28"/>
          <a:stretch>
            <a:fillRect/>
          </a:stretch>
        </p:blipFill>
        <p:spPr>
          <a:xfrm>
            <a:off x="2173654" y="3181430"/>
            <a:ext cx="4796692" cy="12431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61. 도메인 모델 상세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n:m을 </a:t>
            </a:r>
            <a:r>
              <a:rPr sz="1400" b="1">
                <a:solidFill>
                  <a:srgbClr val="000000"/>
                </a:solidFill>
                <a:latin typeface="맑은 고딕"/>
                <a:ea typeface="맑은 고딕"/>
              </a:rPr>
              <a:t>항목</a:t>
            </a:r>
            <a:r>
              <a:rPr sz="1400" b="0">
                <a:solidFill>
                  <a:srgbClr val="000000"/>
                </a:solidFill>
                <a:latin typeface="맑은 고딕"/>
                <a:ea typeface="맑은 고딕"/>
              </a:rPr>
              <a:t>으로 해소하고, </a:t>
            </a:r>
            <a:r>
              <a:rPr sz="1400" b="1">
                <a:solidFill>
                  <a:srgbClr val="000000"/>
                </a:solidFill>
                <a:latin typeface="맑은 고딕"/>
                <a:ea typeface="맑은 고딕"/>
              </a:rPr>
              <a:t>배송 회차</a:t>
            </a:r>
            <a:r>
              <a:rPr sz="1400" b="0">
                <a:solidFill>
                  <a:srgbClr val="000000"/>
                </a:solidFill>
                <a:latin typeface="맑은 고딕"/>
                <a:ea typeface="맑은 고딕"/>
              </a:rPr>
              <a:t>를 드러냈다.</a:t>
            </a:r>
          </a:p>
        </p:txBody>
      </p:sp>
      <p:pic>
        <p:nvPicPr>
          <p:cNvPr id="9" name="plantuml Diagram 29"/>
          <p:cNvPicPr>
            <a:picLocks noChangeAspect="1"/>
          </p:cNvPicPr>
          <p:nvPr/>
        </p:nvPicPr>
        <p:blipFill>
          <a:blip r:embed="plantumlImage29"/>
          <a:stretch>
            <a:fillRect/>
          </a:stretch>
        </p:blipFill>
        <p:spPr>
          <a:xfrm>
            <a:off x="1988771" y="1488144"/>
            <a:ext cx="5166458" cy="475786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62. 이전 산출물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 회차</a:t>
            </a:r>
            <a:r>
              <a:rPr sz="1200" b="0">
                <a:solidFill>
                  <a:srgbClr val="000000"/>
                </a:solidFill>
                <a:latin typeface="맑은 고딕"/>
                <a:ea typeface="맑은 고딕"/>
              </a:rPr>
              <a:t> —</a:t>
            </a:r>
            <a:r>
              <a:rPr sz="1000" b="0">
                <a:solidFill>
                  <a:srgbClr val="000000"/>
                </a:solidFill>
                <a:latin typeface="맑은 고딕"/>
                <a:ea typeface="맑은 고딕"/>
              </a:rPr>
              <a:t> 기본 흐름 4의 "배송 일정"은 배송 회차의 목록이고, 1c 해지의 "남은 배송의 취소"는 남은 회차의 취소다.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해지·만료</a:t>
            </a:r>
            <a:r>
              <a:rPr sz="1200" b="0">
                <a:solidFill>
                  <a:srgbClr val="000000"/>
                </a:solidFill>
                <a:latin typeface="맑은 고딕"/>
                <a:ea typeface="맑은 고딕"/>
              </a:rPr>
              <a:t> —</a:t>
            </a:r>
            <a:r>
              <a:rPr sz="1000" b="0">
                <a:solidFill>
                  <a:srgbClr val="000000"/>
                </a:solidFill>
                <a:latin typeface="맑은 고딕"/>
                <a:ea typeface="맑은 고딕"/>
              </a:rPr>
              <a:t> 정기배송의 상태가 아니라 회차 상태와 만료일로 판단한다. 회차 상태의 값과 전이는 실습 4의 상태 기계에서 구체화한다.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용어 정렬</a:t>
            </a:r>
            <a:r>
              <a:rPr sz="1200" b="0">
                <a:solidFill>
                  <a:srgbClr val="000000"/>
                </a:solidFill>
                <a:latin typeface="맑은 고딕"/>
                <a:ea typeface="맑은 고딕"/>
              </a:rPr>
              <a:t> —</a:t>
            </a:r>
            <a:r>
              <a:rPr sz="1000" b="0">
                <a:solidFill>
                  <a:srgbClr val="000000"/>
                </a:solidFill>
                <a:latin typeface="맑은 고딕"/>
                <a:ea typeface="맑은 고딕"/>
              </a:rPr>
              <a:t> "배송 일정"·"남은 회차"·"다음 배송"을 </a:t>
            </a:r>
            <a:r>
              <a:rPr sz="1000" b="1">
                <a:solidFill>
                  <a:srgbClr val="000000"/>
                </a:solidFill>
                <a:latin typeface="맑은 고딕"/>
                <a:ea typeface="맑은 고딕"/>
              </a:rPr>
              <a:t>배송 회차</a:t>
            </a:r>
            <a:r>
              <a:rPr sz="1000" b="0">
                <a:solidFill>
                  <a:srgbClr val="000000"/>
                </a:solidFill>
                <a:latin typeface="맑은 고딕"/>
                <a:ea typeface="맑은 고딕"/>
              </a:rPr>
              <a:t>로 통일한다.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모델을 만들며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정기배송 항목 </a:t>
            </a:r>
            <a:r>
              <a:rPr sz="1000" b="0">
                <a:solidFill>
                  <a:srgbClr val="000000"/>
                </a:solidFill>
                <a:latin typeface="맑은 고딕"/>
                <a:ea typeface="맑은 고딕"/>
              </a:rPr>
              <a:t>SubscriptionItem</a:t>
            </a:r>
            <a:r>
              <a:rPr sz="1000" b="0">
                <a:solidFill>
                  <a:srgbClr val="000000"/>
                </a:solidFill>
                <a:latin typeface="맑은 고딕"/>
                <a:ea typeface="맑은 고딕"/>
              </a:rPr>
              <a:t>, 배송 회차 </a:t>
            </a:r>
            <a:r>
              <a:rPr sz="1000" b="0">
                <a:solidFill>
                  <a:srgbClr val="000000"/>
                </a:solidFill>
                <a:latin typeface="맑은 고딕"/>
                <a:ea typeface="맑은 고딕"/>
              </a:rPr>
              <a:t>DeliveryRound</a:t>
            </a:r>
            <a:r>
              <a:rPr sz="1000" b="0">
                <a:solidFill>
                  <a:srgbClr val="000000"/>
                </a:solidFill>
                <a:latin typeface="맑은 고딕"/>
                <a:ea typeface="맑은 고딕"/>
              </a:rPr>
              <a:t>, 회차 상태 </a:t>
            </a:r>
            <a:r>
              <a:rPr sz="1000" b="0">
                <a:solidFill>
                  <a:srgbClr val="000000"/>
                </a:solidFill>
                <a:latin typeface="맑은 고딕"/>
                <a:ea typeface="맑은 고딕"/>
              </a:rPr>
              <a:t>RoundStatus</a:t>
            </a:r>
            <a:r>
              <a:rPr sz="1000" b="0">
                <a:solidFill>
                  <a:srgbClr val="000000"/>
                </a:solidFill>
                <a:latin typeface="맑은 고딕"/>
                <a:ea typeface="맑은 고딕"/>
              </a:rPr>
              <a:t>, 배송 예정일 </a:t>
            </a:r>
            <a:r>
              <a:rPr sz="1000" b="0">
                <a:solidFill>
                  <a:srgbClr val="000000"/>
                </a:solidFill>
                <a:latin typeface="맑은 고딕"/>
                <a:ea typeface="맑은 고딕"/>
              </a:rPr>
              <a:t>scheduledDate</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배송 회차와 상태의 주인</a:t>
            </a:r>
            <a:r>
              <a:rPr sz="800" b="0">
                <a:solidFill>
                  <a:srgbClr val="000000"/>
                </a:solidFill>
                <a:latin typeface="맑은 고딕"/>
                <a:ea typeface="맑은 고딕"/>
              </a:rPr>
              <a:t>(회차 상태)</a:t>
            </a:r>
            <a:r>
              <a:rPr sz="1000" b="0">
                <a:solidFill>
                  <a:srgbClr val="000000"/>
                </a:solidFill>
                <a:latin typeface="맑은 고딕"/>
                <a:ea typeface="맑은 고딕"/>
              </a:rPr>
              <a:t>, 용어집의 새 용어. 실습 4의 시퀀스·상태 기계의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용어 정렬.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문제영역의 </a:t>
            </a:r>
            <a:r>
              <a:rPr sz="1800" b="1">
                <a:solidFill>
                  <a:srgbClr val="000000"/>
                </a:solidFill>
                <a:latin typeface="맑은 고딕"/>
                <a:ea typeface="맑은 고딕"/>
              </a:rPr>
              <a:t>개념·속성·관계·제약</a:t>
            </a:r>
            <a:r>
              <a:rPr sz="1800" b="0">
                <a:solidFill>
                  <a:srgbClr val="000000"/>
                </a:solidFill>
                <a:latin typeface="맑은 고딕"/>
                <a:ea typeface="맑은 고딕"/>
              </a:rPr>
              <a:t>을 구현과 분리된 </a:t>
            </a:r>
            <a:r>
              <a:rPr sz="1800" b="1">
                <a:solidFill>
                  <a:srgbClr val="000000"/>
                </a:solidFill>
                <a:latin typeface="맑은 고딕"/>
                <a:ea typeface="맑은 고딕"/>
              </a:rPr>
              <a:t>정적 모델</a:t>
            </a:r>
            <a:r>
              <a:rPr sz="1800" b="0">
                <a:solidFill>
                  <a:srgbClr val="000000"/>
                </a:solidFill>
                <a:latin typeface="맑은 고딕"/>
                <a:ea typeface="맑은 고딕"/>
              </a:rPr>
              <a:t>로 명시하고 시나리오와 교차검토했다.</a:t>
            </a:r>
          </a:p>
          <a:p>
            <a:pPr marL="342900" indent="0">
              <a:spcBef>
                <a:spcPts val="600"/>
              </a:spcBef>
              <a:spcAft>
                <a:spcPts val="600"/>
              </a:spcAft>
              <a:buNone/>
            </a:pPr>
            <a:r>
              <a:rPr sz="1800" b="1">
                <a:solidFill>
                  <a:srgbClr val="000000"/>
                </a:solidFill>
                <a:latin typeface="맑은 고딕"/>
                <a:ea typeface="맑은 고딕"/>
              </a:rPr>
              <a:t>정적 모델의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정적·동적 모델</a:t>
            </a:r>
            <a:r>
              <a:rPr sz="1800" b="0">
                <a:solidFill>
                  <a:srgbClr val="000000"/>
                </a:solidFill>
                <a:latin typeface="맑은 고딕"/>
                <a:ea typeface="맑은 고딕"/>
              </a:rPr>
              <a:t> —</a:t>
            </a:r>
            <a:r>
              <a:rPr sz="1600" b="0">
                <a:solidFill>
                  <a:srgbClr val="000000"/>
                </a:solidFill>
                <a:latin typeface="맑은 고딕"/>
                <a:ea typeface="맑은 고딕"/>
              </a:rPr>
              <a:t> 존재·관계는 정적, 사건·전이는 동적. 네 동적 다이어그램은 주문의 상태 기계로 모인다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a:t>
            </a:r>
            <a:r>
              <a:rPr sz="1800" b="0">
                <a:solidFill>
                  <a:srgbClr val="000000"/>
                </a:solidFill>
                <a:latin typeface="맑은 고딕"/>
                <a:ea typeface="맑은 고딕"/>
              </a:rPr>
              <a:t> —</a:t>
            </a:r>
            <a:r>
              <a:rPr sz="1600" b="0">
                <a:solidFill>
                  <a:srgbClr val="000000"/>
                </a:solidFill>
                <a:latin typeface="맑은 고딕"/>
                <a:ea typeface="맑은 고딕"/>
              </a:rPr>
              <a:t> 좋은 데이터 모델이 도메인 모델의 출발점</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규칙</a:t>
            </a:r>
            <a:r>
              <a:rPr sz="1800" b="0">
                <a:solidFill>
                  <a:srgbClr val="000000"/>
                </a:solidFill>
                <a:latin typeface="맑은 고딕"/>
                <a:ea typeface="맑은 고딕"/>
              </a:rPr>
              <a:t> —</a:t>
            </a:r>
            <a:r>
              <a:rPr sz="1600" b="0">
                <a:solidFill>
                  <a:srgbClr val="000000"/>
                </a:solidFill>
                <a:latin typeface="맑은 고딕"/>
                <a:ea typeface="맑은 고딕"/>
              </a:rPr>
              <a:t> 속성 도메인으로 명시하고 값의 종류가 소유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클래스·관계 유형</a:t>
            </a:r>
            <a:r>
              <a:rPr sz="1800" b="0">
                <a:solidFill>
                  <a:srgbClr val="000000"/>
                </a:solidFill>
                <a:latin typeface="맑은 고딕"/>
                <a:ea typeface="맑은 고딕"/>
              </a:rPr>
              <a:t> —</a:t>
            </a:r>
            <a:r>
              <a:rPr sz="1600" b="0">
                <a:solidFill>
                  <a:srgbClr val="000000"/>
                </a:solidFill>
                <a:latin typeface="맑은 고딕"/>
                <a:ea typeface="맑은 고딕"/>
              </a:rPr>
              <a:t> UML 유형</a:t>
            </a:r>
            <a:r>
              <a:rPr sz="1200" b="0">
                <a:solidFill>
                  <a:srgbClr val="000000"/>
                </a:solidFill>
                <a:latin typeface="맑은 고딕"/>
                <a:ea typeface="맑은 고딕"/>
              </a:rPr>
              <a:t>(개념 클래스·데이터 타입·열거형, 연관·합성·일반화)</a:t>
            </a:r>
            <a:r>
              <a:rPr sz="1600" b="0">
                <a:solidFill>
                  <a:srgbClr val="000000"/>
                </a:solidFill>
                <a:latin typeface="맑은 고딕"/>
                <a:ea typeface="맑은 고딕"/>
              </a:rPr>
              <a:t>과 거래 중심의 도메인 유형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모델과 코드</a:t>
            </a:r>
            <a:r>
              <a:rPr sz="1800" b="0">
                <a:solidFill>
                  <a:srgbClr val="000000"/>
                </a:solidFill>
                <a:latin typeface="맑은 고딕"/>
                <a:ea typeface="맑은 고딕"/>
              </a:rPr>
              <a:t> —</a:t>
            </a:r>
            <a:r>
              <a:rPr sz="1600" b="0">
                <a:solidFill>
                  <a:srgbClr val="000000"/>
                </a:solidFill>
                <a:latin typeface="맑은 고딕"/>
                <a:ea typeface="맑은 고딕"/>
              </a:rPr>
              <a:t> 속성 도메인은 값의 종류, 규칙 예시는 테스트. 방향·컬렉션은 설계의 결정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a:t>
            </a:r>
            <a:r>
              <a:rPr sz="1800" b="0">
                <a:solidFill>
                  <a:srgbClr val="000000"/>
                </a:solidFill>
                <a:latin typeface="맑은 고딕"/>
                <a:ea typeface="맑은 고딕"/>
              </a:rPr>
              <a:t> —</a:t>
            </a:r>
            <a:r>
              <a:rPr sz="1600" b="0">
                <a:solidFill>
                  <a:srgbClr val="000000"/>
                </a:solidFill>
                <a:latin typeface="맑은 고딕"/>
                <a:ea typeface="맑은 고딕"/>
              </a:rPr>
              <a:t> 주제 영역·클래스 계층·유스케이스·강한 연관으로 개념을 묶는다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a:t>
            </a:r>
            <a:r>
              <a:rPr sz="1800" b="0">
                <a:solidFill>
                  <a:srgbClr val="000000"/>
                </a:solidFill>
                <a:latin typeface="맑은 고딕"/>
                <a:ea typeface="맑은 고딕"/>
              </a:rPr>
              <a:t> —</a:t>
            </a:r>
            <a:r>
              <a:rPr sz="1600" b="0">
                <a:solidFill>
                  <a:srgbClr val="000000"/>
                </a:solidFill>
                <a:latin typeface="맑은 고딕"/>
                <a:ea typeface="맑은 고딕"/>
              </a:rPr>
              <a:t> 용어 정렬과 용어집 정제, 교차검토, 분석 과잉 경계</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04. 동적 모델 —</a:t>
            </a:r>
            <a:r>
              <a:rPr sz="1600" b="1">
                <a:solidFill>
                  <a:srgbClr val="000000"/>
                </a:solidFill>
                <a:latin typeface="맑은 고딕"/>
                <a:ea typeface="맑은 고딕"/>
              </a:rPr>
              <a:t> 상호작용과 상태</a:t>
            </a:r>
            <a:r>
              <a:rPr sz="16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86</Slides>
  <Notes>63</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86</vt:i4>
      </vt:variant>
    </vt:vector>
  </HeadingPairs>
  <TitlesOfParts>
    <vt:vector size="90" baseType="lpstr">
      <vt:lpstr>맑은 고딕</vt:lpstr>
      <vt:lpstr>Arial</vt:lpstr>
      <vt:lpstr>Wingdings</vt:lpstr>
      <vt:lpstr>4_Office 테마</vt:lpstr>
      <vt:lpstr>03. 정적 모델 목차 (1/3)</vt:lpstr>
      <vt:lpstr>03. 정적 모델 목차 (2/3)</vt:lpstr>
      <vt:lpstr>03. 정적 모델 목차 (3/3)</vt:lpstr>
      <vt:lpstr>01. 세션 목표</vt:lpstr>
      <vt:lpstr>02. 요구와 정적 모델</vt:lpstr>
      <vt:lpstr>03. 도메인</vt:lpstr>
      <vt:lpstr>04. 정적 모델</vt:lpstr>
      <vt:lpstr>05. 정적·동적 모델 (1/2)</vt:lpstr>
      <vt:lpstr>05. 정적·동적 모델 (2/2)</vt:lpstr>
      <vt:lpstr>06. 상태 값과 상태 전이 (1/3) 클래스·상태 기계 다이어그램</vt:lpstr>
      <vt:lpstr>06. 상태 값과 상태 전이 (2/3) 클래스·상태 기계 다이어그램</vt:lpstr>
      <vt:lpstr>06. 상태 값과 상태 전이 (3/3) 클래스·상태 기계 다이어그램</vt:lpstr>
      <vt:lpstr>07. 도메인 모델</vt:lpstr>
      <vt:lpstr>08. 도메인 모델의 위치</vt:lpstr>
      <vt:lpstr>09. 클래스 다이어그램 (1/2)</vt:lpstr>
      <vt:lpstr>09. 클래스 다이어그램 (2/2)</vt:lpstr>
      <vt:lpstr>10. 클래스 유형 (1/4) 클래스 다이어그램</vt:lpstr>
      <vt:lpstr>10. 클래스 유형 (2/4) 클래스 다이어그램</vt:lpstr>
      <vt:lpstr>10. 클래스 유형 (3/4) 클래스 다이어그램</vt:lpstr>
      <vt:lpstr>10. 클래스 유형 (4/4) 클래스 다이어그램</vt:lpstr>
      <vt:lpstr>11. 관계 유형 (1/3) 클래스 다이어그램</vt:lpstr>
      <vt:lpstr>11. 관계 유형 (2/3) 클래스 다이어그램</vt:lpstr>
      <vt:lpstr>11. 관계 유형 (3/3) 클래스 다이어그램</vt:lpstr>
      <vt:lpstr>12. 정보공학과 데이터 모델링</vt:lpstr>
      <vt:lpstr>13. 데이터 모델과 도메인 모델</vt:lpstr>
      <vt:lpstr>14. 모델 요소의 대응</vt:lpstr>
      <vt:lpstr>15. 같은 사례, 두 모델 (1/3) ERD·클래스 다이어그램</vt:lpstr>
      <vt:lpstr>15. 같은 사례, 두 모델 (2/3) ERD·클래스 다이어그램</vt:lpstr>
      <vt:lpstr>15. 같은 사례, 두 모델 (3/3) ERD·클래스 다이어그램</vt:lpstr>
      <vt:lpstr>16. 도메인 개념</vt:lpstr>
      <vt:lpstr>17. 개념 범주</vt:lpstr>
      <vt:lpstr>18. 유스케이스 어휘 (1/2)</vt:lpstr>
      <vt:lpstr>18. 유스케이스 어휘 (2/2)</vt:lpstr>
      <vt:lpstr>19. 명사 추출의 한계</vt:lpstr>
      <vt:lpstr>20. 개념과 속성</vt:lpstr>
      <vt:lpstr>21. 속성 값의 의미</vt:lpstr>
      <vt:lpstr>22. 속성 도메인</vt:lpstr>
      <vt:lpstr>23. 속성 수준 업무 규칙</vt:lpstr>
      <vt:lpstr>24. 규칙의 소유</vt:lpstr>
      <vt:lpstr>25. 파생 속성 클래스 다이어그램</vt:lpstr>
      <vt:lpstr>26. 참조와 연관 클래스 다이어그램</vt:lpstr>
      <vt:lpstr>27. 연관 클래스 다이어그램</vt:lpstr>
      <vt:lpstr>28. 필요한 연관</vt:lpstr>
      <vt:lpstr>29. 다중성 클래스 다이어그램</vt:lpstr>
      <vt:lpstr>30. 다중성과 업무 규칙 클래스 다이어그램</vt:lpstr>
      <vt:lpstr>31. 평면 모델 클래스 다이어그램</vt:lpstr>
      <vt:lpstr>32. 주문과 주문 항목 클래스 다이어그램</vt:lpstr>
      <vt:lpstr>33. 연관 클래스 (1/2) 클래스 다이어그램</vt:lpstr>
      <vt:lpstr>33. 연관 클래스 (2/2) 클래스 다이어그램</vt:lpstr>
      <vt:lpstr>34. 명세 개념 클래스 다이어그램</vt:lpstr>
      <vt:lpstr>35. 현재 값과 확정 값 클래스 다이어그램</vt:lpstr>
      <vt:lpstr>36. 같은 구조, 다른 의미</vt:lpstr>
      <vt:lpstr>37. 일반화 클래스 다이어그램</vt:lpstr>
      <vt:lpstr>38. 전체와 부분 클래스 다이어그램</vt:lpstr>
      <vt:lpstr>39. 제약 클래스 다이어그램</vt:lpstr>
      <vt:lpstr>40. 용어 정렬</vt:lpstr>
      <vt:lpstr>41. 동의어와 동음이의어</vt:lpstr>
      <vt:lpstr>42. 용어집 정제</vt:lpstr>
      <vt:lpstr>43. 모델 작성 절차</vt:lpstr>
      <vt:lpstr>44. 도메인 모델 — 초안 (1/2) 클래스 다이어그램</vt:lpstr>
      <vt:lpstr>44. 도메인 모델 — 초안 (2/2) 클래스 다이어그램</vt:lpstr>
      <vt:lpstr>45. 도메인 모델 — 상세화 (1/6) 클래스 다이어그램</vt:lpstr>
      <vt:lpstr>45. 도메인 모델 — 상세화 (2/6) 클래스 다이어그램</vt:lpstr>
      <vt:lpstr>45. 도메인 모델 — 상세화 (3/6) 클래스 다이어그램</vt:lpstr>
      <vt:lpstr>45. 도메인 모델 — 상세화 (4/6) 클래스 다이어그램</vt:lpstr>
      <vt:lpstr>45. 도메인 모델 — 상세화 (5/6) 클래스 다이어그램</vt:lpstr>
      <vt:lpstr>45. 도메인 모델 — 상세화 (6/6) 클래스 다이어그램</vt:lpstr>
      <vt:lpstr>46. 개념의 묶음 — 패키지</vt:lpstr>
      <vt:lpstr>47. 패키지 기준</vt:lpstr>
      <vt:lpstr>48. 도메인 모델 — 패키지별 (1/2) 패키지 다이어그램</vt:lpstr>
      <vt:lpstr>48. 도메인 모델 — 패키지별 (2/2) 패키지 다이어그램</vt:lpstr>
      <vt:lpstr>49. 잘못된 관행 — 분석 과잉</vt:lpstr>
      <vt:lpstr>50. 잘못된 관행 — 구현 요소 클래스 다이어그램</vt:lpstr>
      <vt:lpstr>51. 잘못된 관행 — 규칙 없는 속성</vt:lpstr>
      <vt:lpstr>52. 잘못된 관행 — 관계 남용</vt:lpstr>
      <vt:lpstr>53. 잘못된 관행 — 거대 개념·모호한 이름</vt:lpstr>
      <vt:lpstr>54. 잘못된 관행 — 범위·시점</vt:lpstr>
      <vt:lpstr>55. 모델의 유용성</vt:lpstr>
      <vt:lpstr>56. 시나리오 교차검토</vt:lpstr>
      <vt:lpstr>57. 누락과 모순</vt:lpstr>
      <vt:lpstr>58. 정적 모델의 한계</vt:lpstr>
      <vt:lpstr>59. 실습 — 도메인 모델</vt:lpstr>
      <vt:lpstr>60. 도메인 모델 초안 (안)</vt:lpstr>
      <vt:lpstr>61. 도메인 모델 상세 (안)</vt:lpstr>
      <vt:lpstr>62. 이전 산출물 보완 (안)</vt:lpstr>
      <vt:lpstr>63.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