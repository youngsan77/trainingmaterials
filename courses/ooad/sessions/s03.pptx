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유스케이스"가 요구를 행위 관점으로 구조화했다면, 정적 모델은 그 행위가 전제하는 의미 구조를 드러낸다. 설계 클래스로의 전환은 "세션 06. 분석 모델에서 설계 모델로", 객체 책임은 "세션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"세션 02. 요구 분석과 유스케이스"의 「33. 유스케이스 상세화」에 있는 「주문을 관리한다」 명세의 주문 취소 대안 흐름 결과, 정제된 SSD는 "세션 02. 요구 분석과 유스케이스"의 「44. 정제된 SSD」, 배송지 변경은 "세션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「누락과 모순」에서 정리한다.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[DDD Reference](https://www.domainlanguage.com/wp-content/uploads/2016/05/DDD_Reference_2015-03.pdf), 2015, 용어 정의의 "domain" 원문 확인(verify-quote).</a:t>
            </a:r>
          </a:p>
          <a:p>
            <a:pPr lvl="0"/>
            <a:r>
              <a:rPr lang="ko-KR" sz="1200"/>
              <a:t>도메인 모델의 범위는 "세션 02. 요구 분석과 유스케이스"에서 정한 주문 시스템의 범위다. 도메인을 하위 영역과 경계로 나누는 판단은 "세션 13. OOAD에서 전문영역으로 — Architecture · DDD · MSA"에서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문제·기회 근거: IIBA, [Global Business Analysis Core Standard](https://www.iiba.org/globalassets/standards-and-resources/core-standard/iiba-core-standard.pdf), 2017, 핵심 개념 "Need"의 정의 원문 확인(verify-quote). IIBA는 필요(Need)와 해결책(Solution)을 서로 다른 핵심 개념으로 둔다.</a:t>
            </a:r>
          </a:p>
          <a:p>
            <a:pPr lvl="0"/>
            <a:r>
              <a:rPr lang="ko-KR" sz="1200"/>
              <a:t>문제 행은 "세션 02. 요구 분석과 유스케이스"의 「05. 요청에는 무엇이 섞여 있는가?」와 같은 요청이다. 기회 행은 같은 세 장면 안에서 고른 교육용 예다.</a:t>
            </a:r>
          </a:p>
          <a:p>
            <a:pPr lvl="0"/>
            <a:r>
              <a:rPr lang="ko-KR" sz="1200"/>
              <a:t>기회는 고객이 아직 말하지 않은 필요일 수 있다("세션 02. 요구 분석과 유스케이스"의 「02. 요구공학의 본질」).</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Eric Evans, [DDD Reference](https://www.domainlanguage.com/wp-content/uploads/2016/05/DDD_Reference_2015-03.pdf), 2015, 용어 정의의 "model" 원문 확인(verify-quote).</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있다("세션 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정적·동적의 구분은 "세션 04. 동적 모델 — 상호작용과 상태"의 출발점이다. 두 모델이 서로를 검증한다는 관계에 초점을 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"세션 04. 동적 모델 — 상호작용과 상태"의 「04. 상호작용 모델」부터 다룬다. 정적 모델이 네 다이어그램에 무엇을 주고 무엇을 돌려받는지에 초점을 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"세션 04. 동적 모델 — 상호작용과 상태"에서 다룬다. 정적 모델에서는 유스케이스의 흐름·사후조건과 대조한다(「시나리오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2.5.1](https://www.omg.org/spec/UML/2.5.1/PDF)의 객체 상태 설명, 원문 확인(verify-quote).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"세션 04. 동적 모델 — 상호작용과 상태"에서 다룬다.</a:t>
            </a:r>
          </a:p>
          <a:p>
            <a:pPr lvl="0"/>
            <a:r>
              <a:rPr lang="ko-KR" sz="1200"/>
              <a:t>"배송 시작 전"과 "출고 전"은 동의어로 가정하지 않는다. 정적 모델은 둘의 차이를 질문으로 드러내고, 실제 사건·상태 관계는 "세션 04. 동적 모델 — 상호작용과 상태"에서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 "Informally, a conceptual class is an idea, thing, or object.", "a conceptual class may be considered in terms of its symbol, intension, and extension". 원문의 symbol·intension·extension을 표기·정의·인스턴스로 옮겼다. 같은 곳은 도메인 모델이 오퍼레이션 없는 클래스 다이어그램이며 영역의 시각적 사전(visual dictionary)이라고 설명한다.</a:t>
            </a:r>
          </a:p>
          <a:p>
            <a:pPr lvl="0"/>
            <a:r>
              <a:rPr lang="ko-KR" sz="1200"/>
              <a:t>모든 질문에 답할 수 있어야 개념인 것은 아니다. 속성이 없어도 업무상 구분되는 개념일 수 있다(「데이터 모델과 도메인 모델」).</a:t>
            </a:r>
          </a:p>
          <a:p>
            <a:pPr lvl="0"/>
            <a:r>
              <a:rPr lang="ko-KR" sz="1200"/>
              <a:t>분석 모델에서 설계 모델로의 전환은 "세션 06. 분석 모델에서 설계 모델로", DDD의 도메인 모델과의 관계는 "세션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내포는 용어집(「용어집 정제」)의 정의와 같다. 그래서 용어집과 도메인 모델은 함께 정제한다.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모델링의 개념·논리·물리 세 단계는 데이터 쪽 구체화다(「정보공학의 데이터 모델링」). 객체 쪽은 도메인 모델에서 설계 모델로, 다시 코드로 구체화된다. "물리 모델"이라는 말은 데이터 쪽에만 쓴다.</a:t>
            </a:r>
          </a:p>
          <a:p>
            <a:pPr lvl="0"/>
            <a:r>
              <a:rPr lang="ko-KR" sz="1200"/>
              <a:t>"세션 10. 기술 제약과 도메인 의미 보존"의 물리 모델(OrderRow)은 테이블의 행을 코드로 옮긴 저장용 클래스다 — 데이터 쪽의 물리 모델을 객체로 표현한 것이다.</a:t>
            </a:r>
          </a:p>
          <a:p>
            <a:pPr lvl="0"/>
            <a:r>
              <a:rPr lang="ko-KR" sz="1200"/>
              <a:t>근거: Larman 2004 원문 확인(verify-quote) — 객체지향 설계와 언어가 소프트웨어 구성 요소와 도메인 개념 사이의 표현 간극을 줄인다("lower representational gap"). 설계 이름의 영문은 과정의 영한 용어집을 따른다.</a:t>
            </a:r>
          </a:p>
          <a:p>
            <a:pPr lvl="0"/>
            <a:r>
              <a:rPr lang="ko-KR" sz="1200"/>
              <a:t>설계 이름을 도메인 모델에서 가져오면 표현 간극이 작아진다. 층은 작업 순서가 아니라 같은 대상을 서로 다른 질문으로 보는 관점이다.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 — 도메인 모델은 오퍼레이션(메서드 시그니처)을 정의하지 않은 클래스 다이어그램으로 표현한다.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연관 이름은 읽는 방향이 있다. 위 도식은 "고객이 주문을 주문한다"로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사각형이라도 도메인 모델의 사각형은 개념이다(「도메인 모델의 위치」). 인터페이스는 설계 유형과 대비하려고 넣었다. 인터페이스·오퍼레이션은 설계에서 정한다.</a:t>
            </a:r>
          </a:p>
          <a:p>
            <a:pPr lvl="0"/>
            <a:r>
              <a:rPr lang="ko-KR" sz="1200"/>
              <a:t>데이터 타입은 식별자가 없어 값이 같으면 같은 것이다. 개념 클래스는 식별된다.</a:t>
            </a:r>
          </a:p>
          <a:p>
            <a:pPr lvl="0"/>
            <a:r>
              <a:rPr lang="ko-KR" sz="1200"/>
              <a:t>근거: OMG [UML 2.5.1](https://www.omg.org/spec/UML/2.5.1/PDF)의 DataType·Enumeration, 추상 분류자, Interface 정의.</a:t>
            </a:r>
          </a:p>
          <a:p>
            <a:pPr lvl="0"/>
            <a:r>
              <a:rPr lang="ko-KR" sz="1200"/>
              <a:t>데이터 타입은 「데이터 타입」, 연관 클래스는 「연관 클래스」, 추상 클래스는 「일반화」에서 자세히 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인터페이스는 설계의 유형이다. 도메인 모델에는 쓰지 않으며, 설계 유형과 대비하려고 넣었다.</a:t>
            </a:r>
          </a:p>
          <a:p>
            <a:pPr lvl="0"/>
            <a:r>
              <a:rPr lang="ko-KR" sz="1200"/>
              <a:t>주소는 데이터 타입이지만 도식에는 스테레오타입을 붙이지 않는다(session-authoring-guide.md의 UML 공통 규칙). 유형은 본문에서 대응시킨다.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코드의 관계는 설계의 결정이다. 집합과 연관은 코드가 같다(참조 필드). 도메인 모델은 집합을 쓰지 않고 필요하면 합성을 쓴다(「집합과 합성」).</a:t>
            </a:r>
          </a:p>
          <a:p>
            <a:pPr lvl="0"/>
            <a:r>
              <a:rPr lang="ko-KR" sz="1200"/>
              <a:t>의존·실현은 오퍼레이션과 인터페이스가 정해져야 생긴다. 도메인 모델에서는 쓰지 않고 "세션 06. 분석 모델에서 설계 모델로"와 "세션 07. 책임·협력·계약"에서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code/s03/관계유형.java에서 발췌했다. 근거: OMG [UML 2.5.1](https://www.omg.org/spec/UML/2.5.1/PDF)의 AggregationKind, Dependency, InterfaceRealization 정의.</a:t>
            </a:r>
          </a:p>
          <a:p>
            <a:pPr lvl="0"/>
            <a:r>
              <a:rPr lang="ko-KR" sz="1200"/>
              <a:t>연관은 「연관의 이름」, 도메인에서 자주 나타나는 연관은 「기억해야 하는 연관」, 일반화는 「일반화」, 합성은 「집합과 합성」에서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집합이 UML에서 일반 연관과 구별되는 의미가 없다고 설명하고, Rumbaugh의 말("Think of it as a modeling placebo.")을 인용한 뒤 위 지침을 둔다. 합성을 보일 조건도 같은 곳의 지침이다.</a:t>
            </a:r>
          </a:p>
          <a:p>
            <a:pPr lvl="0"/>
            <a:r>
              <a:rPr lang="ko-KR" sz="1200"/>
              <a:t>합성 의미 근거: OMG [UML 2.5.1](https://www.omg.org/spec/UML/2.5.1/PDF)의 AggregationKind 정의. 같은 정의는 합성의 정확한 생애 의미를 의도적으로 명세하지 않는다. 도메인 모델의 "삭제"는 소프트웨어 객체 삭제가 아니라 업무 생애의 결합으로 읽는다.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서론 원문 확인(verify-quote).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a:t>
            </a:r>
          </a:p>
          <a:p>
            <a:pPr lvl="0"/>
            <a:r>
              <a:rPr lang="ko-KR" sz="1200"/>
              <a:t>Larman의 문장은 두 모델의 목적이 다르다는 뜻이다. 데이터 모델이 쓸모없다는 뜻이 아니다. 같은 곳은 속성이 없거나 기억할 정보가 없다는 이유만으로 개념을 빼는 것은 관계형 데이터 모델링의 기준이라고 설명한다. 그래서 개념을 찾을 때 데이터 모델은 출발점이 된다(「개념 클래스를 찾는 세 전략」).</a:t>
            </a:r>
          </a:p>
          <a:p>
            <a:pPr lvl="0"/>
            <a:r>
              <a:rPr lang="ko-KR" sz="1200"/>
              <a:t>실무에서는 데이터 모델조차 제대로 갖추지 않은 채 분석 문서에 시간을 쓰는 경우가 더 흔하다(「분석 과잉」).</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「속성 도메인」·「속성 수준 업무 규칙」에서 이어서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좋은 데이터 모델에서 출발하면 도메인 모델은 크게 바뀌지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생략한 부분은 "(see a following guideline)"이다.</a:t>
            </a:r>
          </a:p>
          <a:p>
            <a:pPr lvl="0"/>
            <a:r>
              <a:rPr lang="ko-KR" sz="1200"/>
              <a:t>세 단계는 한 번에 끝내는 순서가 아니다. 다음 반복에서 다룰 유스케이스가 늘면 다시 찾고 더한다. 과정은 Larman의 반복 구성을 따르지 않고 단계별로 구성했지만, 모델은 반복적으로 만든다.</a:t>
            </a:r>
          </a:p>
          <a:p>
            <a:pPr lvl="0"/>
            <a:r>
              <a:rPr lang="ko-KR" sz="1200"/>
              <a:t>용어 정렬(「지도 제작자의 원칙」)과 시나리오 교차검토(「시나리오 교차검토」)는 세 단계 내내 함께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기존 모델의 예로 Len Silverston의 공개된 데이터 모델 책을 든다. 데이터 모델링을 먼저 하는 이 과정의 관점(「데이터 모델과 도메인 모델」)과 같은 출발점이다.</a:t>
            </a:r>
          </a:p>
          <a:p>
            <a:pPr lvl="0"/>
            <a:r>
              <a:rPr lang="ko-KR" sz="1200"/>
              <a:t>데이터 모델을 그대로 옮기는 것이 아니라 출발점으로 쓴다. 외래키가 연관으로, 컬럼 타입이 값의 종류로 바뀌는 곳은 「같은 사례, 두 모델」에서 보았다.</a:t>
            </a:r>
          </a:p>
          <a:p>
            <a:pPr lvl="0"/>
            <a:r>
              <a:rPr lang="ko-KR" sz="1200"/>
              <a:t>세 전략은 함께 쓴다. 같은 후보가 여러 전략에서 나오면 그만큼 확실하다.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범주 이름). 원표의 범주 일부를 주문 사례에 적용했다. 원표에는 거래가 기록되는 곳, 장소, 물리적 객체, 카탈로그, 금융 수단, 일정·문서 등도 있다. 같은 후보가 여러 범주에 나타날 수 있다(결제는 거래이자 사건).</a:t>
            </a:r>
          </a:p>
          <a:p>
            <a:pPr lvl="0"/>
            <a:r>
              <a:rPr lang="ko-KR" sz="1200"/>
              <a:t>원표는 협력 시스템을 개념 후보로 두지만, 이 과정은 외부 시스템을 유스케이스 다이어그램의 지원 액터로 두고 도메인 모델에 그리지 않는다("세션 02. 요구 분석과 유스케이스"의 「23. 경계 판단」).</a:t>
            </a:r>
          </a:p>
          <a:p>
            <a:pPr lvl="0"/>
            <a:r>
              <a:rPr lang="ko-KR" sz="1200"/>
              <a:t>원문은 업무 거래가 가장 중요한 범주이므로 거래부터 시작하라고 권한다.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명사구 전략을 설명하는 곳이다. 같은 곳은 나머지 용어가 다른 문서나 전문가의 머릿속에 있다고 덧붙인다 — 용어집("세션 02. 요구 분석과 유스케이스"의 「18. 용어집」)과 전문가와의 대화가 함께 원천이다.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않는다(「상세화」의 의도적으로 넣지 않은 것).</a:t>
            </a:r>
          </a:p>
          <a:p>
            <a:pPr lvl="0"/>
            <a:r>
              <a:rPr lang="ko-KR" sz="1200"/>
              <a:t>표의 행 순서가 기본 흐름의 이벤트 순서다. 흐름은 "세션 02. 요구 분석과 유스케이스"의 「33. 유스케이스 상세화」와 같다.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이어서 서로 다른 명사구가 같은 개념 클래스나 속성을 가리킬 수 있다고 설명한다.</a:t>
            </a:r>
          </a:p>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유스케이스 같은 요구가 정보를 기억할 필요를 말하거나 암시할 때 속성을 넣으라고 한다. 마지막 bullet도 원문의 권고다.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숫자나 문자열로 보이는 것을 새 데이터 타입 클래스로 두는 네 조건. 원문의 예는 전화번호·사람 이름, 사회보장번호, 판촉가의 시작·종료일, 결제 금액의 통화 단위다. 표의 조건은 원문의 요약이다.</a:t>
            </a:r>
          </a:p>
          <a:p>
            <a:pPr lvl="0"/>
            <a:r>
              <a:rPr lang="ko-KR" sz="1200"/>
              <a:t>값의 종류를 밝히면 단위 혼동과 의미 없는 연산을 분석 단계에서 드러낸다. 값의 종류를 코드의 값 객체로 구현할지는 설계 판단이며, 정적 모델은 값의 의미를 명시한다.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원문 확인(verify-quote) — 속성·값·값 집합을 정의하는 부분이다. 같은 곳은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「제약」에서, 시점 규칙은 "세션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정적 모델은 값 객체를 설계하지 않고, 속성 규칙이 어디에 속하는지를 분석한다. 값 객체는 "세션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저장할지는 성능·조회 요구에 따른 설계 판단이다. 할인·배송비는 공통 전제에 없다.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외래키에 해당하는 속성을 도메인 모델에 두지 말라는 지침으로 이어진다.</a:t>
            </a:r>
          </a:p>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이름 짓기는 원문의 지침 "Name an association based on a ClassName-VerbPhrase-ClassName format where the verb phrase creates a sequence that is readable and meaningful."을 따랐다.</a:t>
            </a:r>
          </a:p>
          <a:p>
            <a:pPr lvl="0"/>
            <a:r>
              <a:rPr lang="ko-KR" sz="1200"/>
              <a:t>도메인 모델의 연관은 탐색 방향이나 참조 구현을 뜻하지 않는다. 탐색 방향은 "세션 06. 분석 모델에서 설계 모델로"와 "세션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기억해야 하는 연관을 "need-to-remember" 연관이라 부르고, 일반 연관 목록에서 나온 연관은 이해를 돕는 데 쓴다. 너무 많은 연관을 그리지 말라는 지침도 함께 둔다.</a:t>
            </a:r>
          </a:p>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원표의 일부다. 원표에는 부분, 소속, 조직 단위, 사용·관리·소유, 기록되는 곳, 이웃 등도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같은 곳은 다중성이 기간 전체가 아니라 특정 시점의 수라고 설명한다.</a:t>
            </a:r>
          </a:p>
          <a:p>
            <a:pPr lvl="0"/>
            <a:r>
              <a:rPr lang="ko-KR" sz="1200"/>
              <a:t>다중성은 양쪽 끝에서 각각 읽는다. 주문 → 결제 0..1은 교육용 가정이다(「다중성과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주문 → 결제 0..1, 고객 1은 교육용 가정이며, 분할 결제·비회원 주문은 확인할 질문이다.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연관 클래스의 세 단서. 원문은 세 단서를 글머리 목록으로 든다.</a:t>
            </a:r>
          </a:p>
          <a:p>
            <a:pPr lvl="0"/>
            <a:r>
              <a:rPr lang="ko-KR" sz="1200"/>
              <a:t>주문 항목을 독립 개념으로 둔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정의와 설명 클래스를 더하는 세 조건. 원문의 예는 상품 설명(ProductDescription)과 개별 품목(Item)이다. 개별 실물 요구가 확인될 때 재고 품목을 추가한다(「모델의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100% 규칙, Is-a 규칙("All the members of a subclass set must be members of their superclass set."), 상태를 하위 클래스로 모델링하지 않는다는 지침. 원문은 대안으로 상태 계층을 따로 두고 연관하거나, 도메인 모델에서 상태를 보이지 않고 상태 기계에서 보이라고 한다. 이 과정은 열거형 상태 값과 상태 기계를 쓴다.</a:t>
            </a:r>
          </a:p>
          <a:p>
            <a:pPr lvl="0"/>
            <a:r>
              <a:rPr lang="ko-KR" sz="1200"/>
              <a:t>첫 도식의 결제 수단별 속성은 교육용 가정이다. 현재 요구는 결제 수단별 차이를 요구하지 않으므로 종합 모델에 넣지 않는다.</a:t>
            </a:r>
          </a:p>
          <a:p>
            <a:pPr lvl="0"/>
            <a:r>
              <a:rPr lang="ko-KR" sz="1200"/>
              <a:t>의미 근거: OMG [UML 2.5.1](https://www.omg.org/spec/UML/2.5.1/PDF)의 Generalization 정의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대안으로 상태 계층을 따로 두고 연관하거나, 도메인 모델에서 상태를 보이지 않고 상태 기계에서 보이라고 한다. 이 과정은 열거형 상태 값과 상태 기계를 쓴다(「상태 값과 상태 전이」).</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"세션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세 항목의 글머리 목록이며 항목마다 예가 붙어 있다. 인용은 예를 생략(…)하고 세 항목을 이어 옮긴 것이다.</a:t>
            </a:r>
          </a:p>
          <a:p>
            <a:pPr lvl="0"/>
            <a:r>
              <a:rPr lang="ko-KR" sz="1200"/>
              <a:t>"용어와 모델은 함께 바뀐다"는 Evans의 공통 언어(Ubiquitous Language) 원칙과 같은 생각이다(Eric Evans, *DDD Reference*, 2015). 공통 언어의 본격 논의는 "세션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두 용어는 서로 다른 사실을 가리킬 수 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"세션 02. 요구 분석과 유스케이스"의 「18. 용어집」에서 정의하고, 정적 모델에서 정제한다.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"세션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Optional·Map·참조의 방향은 코드의 결정이다. 모델로 역수입하지 않는다. 코드는 code/s03/상세.java에서 발췌했으며, 그 파일을 컴파일·실행해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값을 함께 보는 제약은 그 값을 가진 개념이 지킨다. 값 하나의 규칙은 값의 종류(record)가, 두 값의 규칙은 그 값을 함께 가진 환불이 검사한다.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"세션 04. 동적 모델 — 상호작용과 상태"의 상태 기계가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모델은 패키지의 표기와 의미로 묶는 기준까지 다룬다(「패키지 기준」, 「패키지별 도메인 모델」). 패키지를 경계로 판단하고 의존성 방향을 정하는 일은 "세션 05. 구조적 경계와 의존성"에서 다룬다. 의존 화살표는 그때 쓴다.</a:t>
            </a:r>
          </a:p>
          <a:p>
            <a:pPr lvl="0"/>
            <a:r>
              <a:rPr lang="ko-KR" sz="1200"/>
              <a:t>표기 기준: OMG [UML 2.5.1](https://www.omg.org/spec/UML/2.5.1/PDF)의 Packages.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도메인 모델을 패키지로 나누는 지침. 원문은 네 항목의 글머리 목록이며, 인용은 네 항목을 생략 표시(…)로 이어 옮긴 것이다.</a:t>
            </a:r>
          </a:p>
          <a:p>
            <a:pPr lvl="0"/>
            <a:r>
              <a:rPr lang="ko-KR" sz="1200"/>
              <a:t>네 기준이 부딪히면 주제 영역을 먼저 본다. 변경 이유·외부 시스템으로 다시 묶는 설계의 기준은 "세션 05. 구조적 경계와 의존성"에서 더한다.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모델(「규칙에서 테스트로」)은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"세션 05. 구조적 경계와 의존성"에서 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하나다(「데이터 모델과 도메인 모델」).</a:t>
            </a:r>
          </a:p>
          <a:p>
            <a:pPr lvl="0"/>
            <a:r>
              <a:rPr lang="ko-KR" sz="1200"/>
              <a:t>기술 요소의 검토가 필요 없다는 뜻은 아니다. 기술 불확실성은 스파이크·개념 증명으로 따로 줄인다("세션 02. 요구 분석과 유스케이스"의 「14. 업무·기술 불확실성」).</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「표기·정의·인스턴스」이라는 이름으로 흔히 공유되는 코드 구조 그림이다. 책임 배치는 "세션 07. 책임·협력·계약", 설계 모델로의 비기계적 전환은 "세션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도메인」과 「규칙의 소유」의 판단을 잘못된 예로 되짚는다. 코드에서 같은 문제를 흔히 "원시 타입 집착"이라고 부른다.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「연관의 이름」·「기억해야 하는 연관」·「다중성과 업무 규칙」·「집합과 합성」·「일반화」·「속성이 아닌 연관」에서 설명했다. 이 topic은 한 장에서 다시 점검하는 목록이다.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「반복되는 속성 묶음」이 커진 형태다. 이름 문제는 「지도 제작자의 원칙」의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「모델의 유용성」과 「정적 모델의 한계」의 판단을 잘못된 예로 되짚는다.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외부 서비스 거래의 변형을 모두 모델에 그릴지 논의하는 부분이다. 도메인 모델 장의 결론도 "There is no such thing as a single correct domain model."이라고 쓴다.</a:t>
            </a:r>
          </a:p>
          <a:p>
            <a:pPr lvl="0"/>
            <a:r>
              <a:rPr lang="ko-KR" sz="1200"/>
              <a:t>모델링의 추가 비용과 위험 감소 판단은 "세션 04. 동적 모델 — 상호작용과 상태"와 "세션 11. 통합 설계와 적정 모델링"에서 다시 다룬다.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「요구 산출물과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"세션 02. 요구 분석과 유스케이스"의 「31. 규칙과 특별 요구사항」에서 허용 조건을 정의할 대상으로 남긴 것이다.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모델링에서 발견한 질문은 요구의 누락이다. "세션 02. 요구 분석과 유스케이스"의 「09. 반복적 접근」과 연결한다. 출고·배송 시작의 사건 순서는 "세션 04. 동적 모델 — 상호작용과 상태"에서 확인한다.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"세션 04. 동적 모델 — 상호작용과 상태", 책임은 "세션 07. 책임·협력·계약", 저장은 "세션 10. 기술 제약과 도메인 의미 보존"에서 다룬다. 정적 모델에 이 답을 넣으면 존재와 사건이 섞인다.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 n:m을 드러내야 상세화에서 해소할 대상이 분명해진다.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단가는 신청 때 확정한 값으로, 상품의 판매가(현재 값)와 다르다.</a:t>
            </a:r>
          </a:p>
          <a:p>
            <a:pPr lvl="0"/>
            <a:r>
              <a:rPr lang="ko-KR" sz="1200"/>
              <a:t>상태가 회차에 있는 이유 — 취소·배송은 회차 단위로 일어난다.</a:t>
            </a:r>
          </a:p>
          <a:p>
            <a:pPr lvl="0"/>
            <a:r>
              <a:rPr lang="ko-KR" sz="1200"/>
              <a:t>회차 상태 — 값과 전이는 회차를 다루는 유스케이스(다음 배송을 취소한다)에서 정하고, 코드에서는 enum이나 상태 패턴으로 옮긴다.</a:t>
            </a:r>
          </a:p>
          <a:p>
            <a:pPr lvl="0"/>
            <a:r>
              <a:rPr lang="ko-KR" sz="1200"/>
              <a:t>정기배송의 해지·만료를 회차 상태와 만료일로 판단한다는 초안은 실습 4의 동적 모델링에서 재검토한다.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「시나리오 교차검토」,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30" Type="http://schemas.openxmlformats.org/officeDocument/2006/relationships/image" Target="../media/plantuml-30.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plantumlImage31" Type="http://schemas.openxmlformats.org/officeDocument/2006/relationships/image" Target="../media/plantuml-31.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32" Type="http://schemas.openxmlformats.org/officeDocument/2006/relationships/image" Target="../media/plantuml-32.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plantumlImage33" Type="http://schemas.openxmlformats.org/officeDocument/2006/relationships/image" Target="../media/plantuml-33.png"/><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요구에서 정적 모델로</a:t>
            </a:r>
          </a:p>
          <a:p>
            <a:pPr lvl="1" marL="355600" indent="0">
              <a:spcBef>
                <a:spcPts val="300"/>
              </a:spcBef>
              <a:spcAft>
                <a:spcPts val="300"/>
              </a:spcAft>
              <a:buNone/>
            </a:pPr>
            <a:r>
              <a:rPr sz="1600" b="0">
                <a:solidFill>
                  <a:srgbClr val="000000"/>
                </a:solidFill>
                <a:latin typeface="맑은 고딕"/>
                <a:ea typeface="맑은 고딕"/>
              </a:rPr>
              <a:t>03. 정적 모델과 동적 모델</a:t>
            </a:r>
          </a:p>
          <a:p>
            <a:pPr lvl="1" marL="355600" indent="0">
              <a:spcBef>
                <a:spcPts val="300"/>
              </a:spcBef>
              <a:spcAft>
                <a:spcPts val="300"/>
              </a:spcAft>
              <a:buNone/>
            </a:pPr>
            <a:r>
              <a:rPr sz="1600" b="0">
                <a:solidFill>
                  <a:srgbClr val="000000"/>
                </a:solidFill>
                <a:latin typeface="맑은 고딕"/>
                <a:ea typeface="맑은 고딕"/>
              </a:rPr>
              <a:t>04. 도메인 모델</a:t>
            </a:r>
          </a:p>
          <a:p>
            <a:pPr lvl="1" marL="355600" indent="0">
              <a:spcBef>
                <a:spcPts val="300"/>
              </a:spcBef>
              <a:spcAft>
                <a:spcPts val="300"/>
              </a:spcAft>
              <a:buNone/>
            </a:pPr>
            <a:r>
              <a:rPr sz="1600" b="0">
                <a:solidFill>
                  <a:srgbClr val="000000"/>
                </a:solidFill>
                <a:latin typeface="맑은 고딕"/>
                <a:ea typeface="맑은 고딕"/>
              </a:rPr>
              <a:t>05. 클래스 다이어그램</a:t>
            </a:r>
          </a:p>
          <a:p>
            <a:pPr lvl="1" marL="355600" indent="0">
              <a:spcBef>
                <a:spcPts val="300"/>
              </a:spcBef>
              <a:spcAft>
                <a:spcPts val="300"/>
              </a:spcAft>
              <a:buNone/>
            </a:pPr>
            <a:r>
              <a:rPr sz="1600" b="0">
                <a:solidFill>
                  <a:srgbClr val="000000"/>
                </a:solidFill>
                <a:latin typeface="맑은 고딕"/>
                <a:ea typeface="맑은 고딕"/>
              </a:rPr>
              <a:t>06. 데이터 모델과 도메인 모델</a:t>
            </a:r>
          </a:p>
          <a:p>
            <a:pPr lvl="1" marL="355600" indent="0">
              <a:spcBef>
                <a:spcPts val="300"/>
              </a:spcBef>
              <a:spcAft>
                <a:spcPts val="300"/>
              </a:spcAft>
              <a:buNone/>
            </a:pPr>
            <a:r>
              <a:rPr sz="1600" b="0">
                <a:solidFill>
                  <a:srgbClr val="000000"/>
                </a:solidFill>
                <a:latin typeface="맑은 고딕"/>
                <a:ea typeface="맑은 고딕"/>
              </a:rPr>
              <a:t>07. 모델 작성 절차</a:t>
            </a:r>
          </a:p>
          <a:p>
            <a:pPr lvl="1" marL="355600" indent="0">
              <a:spcBef>
                <a:spcPts val="300"/>
              </a:spcBef>
              <a:spcAft>
                <a:spcPts val="300"/>
              </a:spcAft>
              <a:buNone/>
            </a:pPr>
            <a:r>
              <a:rPr sz="1600" b="0">
                <a:solidFill>
                  <a:srgbClr val="000000"/>
                </a:solidFill>
                <a:latin typeface="맑은 고딕"/>
                <a:ea typeface="맑은 고딕"/>
              </a:rPr>
              <a:t>08. 개념 클래스 찾기</a:t>
            </a:r>
          </a:p>
          <a:p>
            <a:pPr lvl="1" marL="355600" indent="0">
              <a:spcBef>
                <a:spcPts val="300"/>
              </a:spcBef>
              <a:spcAft>
                <a:spcPts val="300"/>
              </a:spcAft>
              <a:buNone/>
            </a:pPr>
            <a:r>
              <a:rPr sz="1600" b="0">
                <a:solidFill>
                  <a:srgbClr val="000000"/>
                </a:solidFill>
                <a:latin typeface="맑은 고딕"/>
                <a:ea typeface="맑은 고딕"/>
              </a:rPr>
              <a:t>09. 속성</a:t>
            </a:r>
          </a:p>
          <a:p>
            <a:pPr lvl="1" marL="355600" indent="0">
              <a:spcBef>
                <a:spcPts val="300"/>
              </a:spcBef>
              <a:spcAft>
                <a:spcPts val="300"/>
              </a:spcAft>
              <a:buNone/>
            </a:pPr>
            <a:r>
              <a:rPr sz="1600" b="0">
                <a:solidFill>
                  <a:srgbClr val="000000"/>
                </a:solidFill>
                <a:latin typeface="맑은 고딕"/>
                <a:ea typeface="맑은 고딕"/>
              </a:rPr>
              <a:t>10. 연관</a:t>
            </a:r>
          </a:p>
          <a:p>
            <a:pPr lvl="1" marL="355600" indent="0">
              <a:spcBef>
                <a:spcPts val="300"/>
              </a:spcBef>
              <a:spcAft>
                <a:spcPts val="300"/>
              </a:spcAft>
              <a:buNone/>
            </a:pPr>
            <a:r>
              <a:rPr sz="1600" b="0">
                <a:solidFill>
                  <a:srgbClr val="000000"/>
                </a:solidFill>
                <a:latin typeface="맑은 고딕"/>
                <a:ea typeface="맑은 고딕"/>
              </a:rPr>
              <a:t>11. 개념의 분리</a:t>
            </a:r>
          </a:p>
          <a:p>
            <a:pPr lvl="1" marL="355600" indent="0">
              <a:spcBef>
                <a:spcPts val="300"/>
              </a:spcBef>
              <a:spcAft>
                <a:spcPts val="300"/>
              </a:spcAft>
              <a:buNone/>
            </a:pPr>
            <a:r>
              <a:rPr sz="1600" b="0">
                <a:solidFill>
                  <a:srgbClr val="000000"/>
                </a:solidFill>
                <a:latin typeface="맑은 고딕"/>
                <a:ea typeface="맑은 고딕"/>
              </a:rPr>
              <a:t>12. 일반화와 제약</a:t>
            </a:r>
          </a:p>
          <a:p>
            <a:pPr lvl="1" marL="355600" indent="0">
              <a:spcBef>
                <a:spcPts val="300"/>
              </a:spcBef>
              <a:spcAft>
                <a:spcPts val="300"/>
              </a:spcAft>
              <a:buNone/>
            </a:pPr>
            <a:r>
              <a:rPr sz="1600" b="0">
                <a:solidFill>
                  <a:srgbClr val="000000"/>
                </a:solidFill>
                <a:latin typeface="맑은 고딕"/>
                <a:ea typeface="맑은 고딕"/>
              </a:rPr>
              <a:t>13. 용어 정렬</a:t>
            </a:r>
          </a:p>
          <a:p>
            <a:pPr lvl="1" marL="355600" indent="0">
              <a:spcBef>
                <a:spcPts val="300"/>
              </a:spcBef>
              <a:spcAft>
                <a:spcPts val="300"/>
              </a:spcAft>
              <a:buNone/>
            </a:pPr>
            <a:r>
              <a:rPr sz="1600" b="0">
                <a:solidFill>
                  <a:srgbClr val="000000"/>
                </a:solidFill>
                <a:latin typeface="맑은 고딕"/>
                <a:ea typeface="맑은 고딕"/>
              </a:rPr>
              <a:t>14. 도메인 모델 작성</a:t>
            </a:r>
          </a:p>
          <a:p>
            <a:pPr lvl="1" marL="355600" indent="0">
              <a:spcBef>
                <a:spcPts val="300"/>
              </a:spcBef>
              <a:spcAft>
                <a:spcPts val="300"/>
              </a:spcAft>
              <a:buNone/>
            </a:pPr>
            <a:r>
              <a:rPr sz="1600" b="0">
                <a:solidFill>
                  <a:srgbClr val="000000"/>
                </a:solidFill>
                <a:latin typeface="맑은 고딕"/>
                <a:ea typeface="맑은 고딕"/>
              </a:rPr>
              <a:t>15. 패키지</a:t>
            </a:r>
          </a:p>
          <a:p>
            <a:pPr lvl="1" marL="355600" indent="0">
              <a:spcBef>
                <a:spcPts val="300"/>
              </a:spcBef>
              <a:spcAft>
                <a:spcPts val="300"/>
              </a:spcAft>
              <a:buNone/>
            </a:pPr>
            <a:r>
              <a:rPr sz="1600" b="0">
                <a:solidFill>
                  <a:srgbClr val="000000"/>
                </a:solidFill>
                <a:latin typeface="맑은 고딕"/>
                <a:ea typeface="맑은 고딕"/>
              </a:rPr>
              <a:t>16. 잘못된 관행</a:t>
            </a:r>
          </a:p>
          <a:p>
            <a:pPr lvl="1" marL="355600" indent="0">
              <a:spcBef>
                <a:spcPts val="300"/>
              </a:spcBef>
              <a:spcAft>
                <a:spcPts val="300"/>
              </a:spcAft>
              <a:buNone/>
            </a:pPr>
            <a:r>
              <a:rPr sz="1600" b="0">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19.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문제영역에 </a:t>
            </a:r>
            <a:r>
              <a:rPr sz="1800" b="1">
                <a:solidFill>
                  <a:srgbClr val="000000"/>
                </a:solidFill>
                <a:latin typeface="맑은 고딕"/>
                <a:ea typeface="맑은 고딕"/>
              </a:rPr>
              <a:t>무엇이 존재하고, 어떤 정보를 가지며, 어떻게 관계하는지</a:t>
            </a:r>
            <a:r>
              <a:rPr sz="1800" b="0">
                <a:solidFill>
                  <a:srgbClr val="000000"/>
                </a:solidFill>
                <a:latin typeface="맑은 고딕"/>
                <a:ea typeface="맑은 고딕"/>
              </a:rPr>
              <a:t>를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에서 개념을 찾고, 발견한 것을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a:t>
            </a:r>
            <a:r>
              <a:rPr sz="1400" b="0">
                <a:solidFill>
                  <a:srgbClr val="000000"/>
                </a:solidFill>
                <a:latin typeface="맑은 고딕"/>
                <a:ea typeface="맑은 고딕"/>
              </a:rPr>
              <a:t>(ERD)</a:t>
            </a:r>
            <a:r>
              <a:rPr sz="1800" b="0">
                <a:solidFill>
                  <a:srgbClr val="000000"/>
                </a:solidFill>
                <a:latin typeface="맑은 고딕"/>
                <a:ea typeface="맑은 고딕"/>
              </a:rPr>
              <a:t>과 대응시킨다.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찾기 → 그리기 → 연관·속성</a:t>
            </a:r>
            <a:r>
              <a:rPr sz="1800" b="0">
                <a:solidFill>
                  <a:srgbClr val="000000"/>
                </a:solidFill>
                <a:latin typeface="맑은 고딕"/>
                <a:ea typeface="맑은 고딕"/>
              </a:rPr>
              <a:t>의 절차로 </a:t>
            </a:r>
            <a:r>
              <a:rPr sz="1800" b="1">
                <a:solidFill>
                  <a:srgbClr val="000000"/>
                </a:solidFill>
                <a:latin typeface="맑은 고딕"/>
                <a:ea typeface="맑은 고딕"/>
              </a:rPr>
              <a:t>개념 클래스</a:t>
            </a:r>
            <a:r>
              <a:rPr sz="1800" b="0">
                <a:solidFill>
                  <a:srgbClr val="000000"/>
                </a:solidFill>
                <a:latin typeface="맑은 고딕"/>
                <a:ea typeface="맑은 고딕"/>
              </a:rPr>
              <a:t>와 </a:t>
            </a:r>
            <a:r>
              <a:rPr sz="1800" b="1">
                <a:solidFill>
                  <a:srgbClr val="000000"/>
                </a:solidFill>
                <a:latin typeface="맑은 고딕"/>
                <a:ea typeface="맑은 고딕"/>
              </a:rPr>
              <a:t>속성 도메인</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그리고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a:t>
            </a:r>
            <a:r>
              <a:rPr sz="1800" b="1">
                <a:solidFill>
                  <a:srgbClr val="000000"/>
                </a:solidFill>
                <a:latin typeface="맑은 고딕"/>
                <a:ea typeface="맑은 고딕"/>
              </a:rPr>
              <a:t>코드·테스트</a:t>
            </a:r>
            <a:r>
              <a:rPr sz="1800" b="0">
                <a:solidFill>
                  <a:srgbClr val="000000"/>
                </a:solidFill>
                <a:latin typeface="맑은 고딕"/>
                <a:ea typeface="맑은 고딕"/>
              </a:rPr>
              <a:t>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 산출물과 정적 모델</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60650"/>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"세션 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622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입력에서 찾는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4125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967842"/>
            <a:ext cx="8412480" cy="201168"/>
          </a:xfrm>
          <a:prstGeom prst="rect">
            <a:avLst/>
          </a:prstGeom>
          <a:noFill/>
        </p:spPr>
        <p:txBody>
          <a:bodyPr wrap="square">
            <a:spAutoFit/>
          </a:bodyPr>
          <a:lstStyle/>
          <a:p>
            <a:pPr algn="ctr"/>
            <a:r>
              <a:rPr sz="1400" b="1">
                <a:solidFill>
                  <a:srgbClr val="000000"/>
                </a:solidFill>
                <a:latin typeface="맑은 고딕"/>
                <a:ea typeface="맑은 고딕"/>
              </a:rPr>
              <a:t>정적 모델의 입력과 되돌림</a:t>
            </a:r>
          </a:p>
        </p:txBody>
      </p:sp>
      <p:pic>
        <p:nvPicPr>
          <p:cNvPr id="17" name="mermaid Diagram 1"/>
          <p:cNvPicPr>
            <a:picLocks noChangeAspect="1"/>
          </p:cNvPicPr>
          <p:nvPr/>
        </p:nvPicPr>
        <p:blipFill>
          <a:blip r:embed="mermaidImage1"/>
          <a:stretch>
            <a:fillRect/>
          </a:stretch>
        </p:blipFill>
        <p:spPr>
          <a:xfrm>
            <a:off x="1556893" y="5205586"/>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소프트웨어를 적용하는 </a:t>
            </a:r>
            <a:r>
              <a:rPr sz="1800" b="1">
                <a:solidFill>
                  <a:srgbClr val="000000"/>
                </a:solidFill>
                <a:latin typeface="맑은 고딕"/>
                <a:ea typeface="맑은 고딕"/>
              </a:rPr>
              <a:t>업무의 영역</a:t>
            </a:r>
            <a:r>
              <a:rPr sz="1800" b="0">
                <a:solidFill>
                  <a:srgbClr val="000000"/>
                </a:solidFill>
                <a:latin typeface="맑은 고딕"/>
                <a:ea typeface="맑은 고딕"/>
              </a:rPr>
              <a:t>이다. 그 영역의 지식과 사람들이 하는 활동을 포함한다.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지식·영향·활동의 영역</a:t>
            </a:r>
            <a:r>
              <a:rPr sz="1800" b="0">
                <a:solidFill>
                  <a:srgbClr val="000000"/>
                </a:solidFill>
                <a:latin typeface="맑은 고딕"/>
                <a:ea typeface="맑은 고딕"/>
              </a:rPr>
              <a:t>이며 사용자가 프로그램을 적용하는 주제 영역이 그 소프트웨어의 </a:t>
            </a:r>
            <a:r>
              <a:rPr sz="1800" b="1">
                <a:solidFill>
                  <a:srgbClr val="000000"/>
                </a:solidFill>
                <a:latin typeface="맑은 고딕"/>
                <a:ea typeface="맑은 고딕"/>
              </a:rPr>
              <a:t>도메인</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sphere of knowledge, influence, or activity. The subject area to which the user applies a program is the domain of the software.",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도메인</a:t>
            </a:r>
            <a:r>
              <a:rPr sz="1800" b="0">
                <a:solidFill>
                  <a:srgbClr val="000000"/>
                </a:solidFill>
                <a:latin typeface="맑은 고딕"/>
                <a:ea typeface="맑은 고딕"/>
              </a:rPr>
              <a:t> —</a:t>
            </a:r>
            <a:r>
              <a:rPr sz="1600" b="0">
                <a:solidFill>
                  <a:srgbClr val="000000"/>
                </a:solidFill>
                <a:latin typeface="맑은 고딕"/>
                <a:ea typeface="맑은 고딕"/>
              </a:rPr>
              <a:t> 고객이 상품을 골라 주문하고, 결제하고, 취소·환불받고, 배송받는 </a:t>
            </a:r>
            <a:r>
              <a:rPr sz="1600" b="1">
                <a:solidFill>
                  <a:srgbClr val="000000"/>
                </a:solidFill>
                <a:latin typeface="맑은 고딕"/>
                <a:ea typeface="맑은 고딕"/>
              </a:rPr>
              <a:t>업무</a:t>
            </a:r>
            <a:r>
              <a:rPr sz="1600" b="0">
                <a:solidFill>
                  <a:srgbClr val="000000"/>
                </a:solidFill>
                <a:latin typeface="맑은 고딕"/>
                <a:ea typeface="맑은 고딕"/>
              </a:rPr>
              <a:t>와 그 업무의 규칙</a:t>
            </a:r>
            <a:r>
              <a:rPr sz="1200" b="0">
                <a:solidFill>
                  <a:srgbClr val="000000"/>
                </a:solidFill>
                <a:latin typeface="맑은 고딕"/>
                <a:ea typeface="맑은 고딕"/>
              </a:rPr>
              <a:t>(배송 시작 전 취소, 출고 전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도메인은 </a:t>
            </a:r>
            <a:r>
              <a:rPr sz="1800" b="1">
                <a:solidFill>
                  <a:srgbClr val="000000"/>
                </a:solidFill>
                <a:latin typeface="맑은 고딕"/>
                <a:ea typeface="맑은 고딕"/>
              </a:rPr>
              <a:t>프로그램이 아니다</a:t>
            </a:r>
            <a:r>
              <a:rPr sz="1800" b="0">
                <a:solidFill>
                  <a:srgbClr val="000000"/>
                </a:solidFill>
                <a:latin typeface="맑은 고딕"/>
                <a:ea typeface="맑은 고딕"/>
              </a:rPr>
              <a:t>. 프로그램이 없어도 주문 업무는 있고, 프로그램은 그 업무를 돕는다.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문제영역과 해결영역</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898948"/>
          <a:ext cx="7256780" cy="3873500"/>
        </p:xfrm>
        <a:graphic>
          <a:graphicData uri="http://schemas.openxmlformats.org/drawingml/2006/table">
            <a:tbl>
              <a:tblPr/>
              <a:tblGrid>
                <a:gridCol w="1394460"/>
                <a:gridCol w="212090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더 잘할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전이면 고객이 직접 취소하고 환불받는다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무엇으로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화면, 결제 API, 주문 테이블, 메시지 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도메인을 두 질문으로 본다. 분석은 </a:t>
            </a:r>
            <a:r>
              <a:rPr sz="1800" b="1">
                <a:solidFill>
                  <a:srgbClr val="000000"/>
                </a:solidFill>
                <a:latin typeface="맑은 고딕"/>
                <a:ea typeface="맑은 고딕"/>
              </a:rPr>
              <a:t>무엇이 필요한가</a:t>
            </a:r>
            <a:r>
              <a:rPr sz="1800" b="0">
                <a:solidFill>
                  <a:srgbClr val="000000"/>
                </a:solidFill>
                <a:latin typeface="맑은 고딕"/>
                <a:ea typeface="맑은 고딕"/>
              </a:rPr>
              <a:t>를, 설계는 </a:t>
            </a:r>
            <a:r>
              <a:rPr sz="1800" b="1">
                <a:solidFill>
                  <a:srgbClr val="000000"/>
                </a:solidFill>
                <a:latin typeface="맑은 고딕"/>
                <a:ea typeface="맑은 고딕"/>
              </a:rPr>
              <a:t>어떻게 충족하는가</a:t>
            </a:r>
            <a:r>
              <a:rPr sz="1800" b="0">
                <a:solidFill>
                  <a:srgbClr val="000000"/>
                </a:solidFill>
                <a:latin typeface="맑은 고딕"/>
                <a:ea typeface="맑은 고딕"/>
              </a:rPr>
              <a:t>를 묻는다. 필요는 문제에서만 생기지 않고 </a:t>
            </a:r>
            <a:r>
              <a:rPr sz="1800" b="1">
                <a:solidFill>
                  <a:srgbClr val="000000"/>
                </a:solidFill>
                <a:latin typeface="맑은 고딕"/>
                <a:ea typeface="맑은 고딕"/>
              </a:rPr>
              <a:t>기회</a:t>
            </a:r>
            <a:r>
              <a:rPr sz="1800" b="0">
                <a:solidFill>
                  <a:srgbClr val="000000"/>
                </a:solidFill>
                <a:latin typeface="맑은 고딕"/>
                <a:ea typeface="맑은 고딕"/>
              </a:rPr>
              <a:t>에서도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필요는 해결해야 할 </a:t>
            </a:r>
            <a:r>
              <a:rPr sz="1800" b="1">
                <a:solidFill>
                  <a:srgbClr val="000000"/>
                </a:solidFill>
                <a:latin typeface="맑은 고딕"/>
                <a:ea typeface="맑은 고딕"/>
              </a:rPr>
              <a:t>문제나 기회</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problem or opportunity to be addressed.", [IIBA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문제영역과 해결영역</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문제영역의 말</a:t>
            </a:r>
            <a:r>
              <a:rPr sz="1400" b="0">
                <a:solidFill>
                  <a:srgbClr val="000000"/>
                </a:solidFill>
                <a:latin typeface="맑은 고딕"/>
                <a:ea typeface="맑은 고딕"/>
              </a:rPr>
              <a:t>(주문·결제·환불)</a:t>
            </a:r>
            <a:r>
              <a:rPr sz="1800" b="0">
                <a:solidFill>
                  <a:srgbClr val="000000"/>
                </a:solidFill>
                <a:latin typeface="맑은 고딕"/>
                <a:ea typeface="맑은 고딕"/>
              </a:rPr>
              <a:t>로 그린다. 해결영역의 말은 설계에서 쓴다. 그래서 도메인 모델에는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문제영역을 모델로 옮길 때는 모든 것을 담지 않고 </a:t>
            </a:r>
            <a:r>
              <a:rPr sz="1800" b="1">
                <a:solidFill>
                  <a:srgbClr val="000000"/>
                </a:solidFill>
                <a:latin typeface="맑은 고딕"/>
                <a:ea typeface="맑은 고딕"/>
              </a:rPr>
              <a:t>필요한 측면만</a:t>
            </a:r>
            <a:r>
              <a:rPr sz="1800" b="0">
                <a:solidFill>
                  <a:srgbClr val="000000"/>
                </a:solidFill>
                <a:latin typeface="맑은 고딕"/>
                <a:ea typeface="맑은 고딕"/>
              </a:rPr>
              <a:t> 고른다. 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그중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구현과 분리해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도메인의 </a:t>
            </a:r>
            <a:r>
              <a:rPr sz="1800" b="1">
                <a:solidFill>
                  <a:srgbClr val="000000"/>
                </a:solidFill>
                <a:latin typeface="맑은 고딕"/>
                <a:ea typeface="맑은 고딕"/>
              </a:rPr>
              <a:t>선택된 측면</a:t>
            </a:r>
            <a:r>
              <a:rPr sz="1800" b="0">
                <a:solidFill>
                  <a:srgbClr val="000000"/>
                </a:solidFill>
                <a:latin typeface="맑은 고딕"/>
                <a:ea typeface="맑은 고딕"/>
              </a:rPr>
              <a:t>을 기술하고 그 도메인과 관련된 문제를 푸는 데 쓸 수 있는 </a:t>
            </a:r>
            <a:r>
              <a:rPr sz="1800" b="1">
                <a:solidFill>
                  <a:srgbClr val="000000"/>
                </a:solidFill>
                <a:latin typeface="맑은 고딕"/>
                <a:ea typeface="맑은 고딕"/>
              </a:rPr>
              <a:t>추상의 체계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system of abstractions that describes selected aspects of a domain and can be used to solve problems related to that domain.", [Evans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무엇이 존재하는가?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각 개념은 무엇을 기억하는가? 주문의 주문 상태, 결제의 결제 금액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몇 개씩 연결되는가? 주문 하나에 결제는 없거나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언제나 지킬 조건은? 환불 금액은 결제 금액을 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3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클래스 다이어그램</a:t>
            </a:r>
          </a:p>
        </p:txBody>
      </p:sp>
      <p:pic>
        <p:nvPicPr>
          <p:cNvPr id="10" name="plantuml Diagram 1"/>
          <p:cNvPicPr>
            <a:picLocks noChangeAspect="1"/>
          </p:cNvPicPr>
          <p:nvPr/>
        </p:nvPicPr>
        <p:blipFill>
          <a:blip r:embed="plantumlImage1"/>
          <a:stretch>
            <a:fillRect/>
          </a:stretch>
        </p:blipFill>
        <p:spPr>
          <a:xfrm>
            <a:off x="1778000" y="4862114"/>
            <a:ext cx="5588000" cy="107705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존재와 사건</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2112010"/>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모델과 동적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한 사건, 네 다이어그램</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가운데의 </a:t>
            </a:r>
            <a:r>
              <a:rPr sz="1800" b="1">
                <a:solidFill>
                  <a:srgbClr val="000000"/>
                </a:solidFill>
                <a:latin typeface="맑은 고딕"/>
                <a:ea typeface="맑은 고딕"/>
              </a:rPr>
              <a:t>주문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a:t>
            </a:r>
          </a:p>
        </p:txBody>
      </p:sp>
      <p:pic>
        <p:nvPicPr>
          <p:cNvPr id="9" name="svg Diagram 1" descr="주문 취소 한 사건을 활동·시퀀스·커뮤니케이션·클래스 다이어그램으로 보고 모두 가운데 주문 상태 기계의 전이로 모이는 관계"/>
          <p:cNvPicPr>
            <a:picLocks noChangeAspect="1"/>
          </p:cNvPicPr>
          <p:nvPr/>
        </p:nvPicPr>
        <p:blipFill>
          <a:blip r:embed="svgImage1"/>
          <a:stretch>
            <a:fillRect/>
          </a:stretch>
        </p:blipFill>
        <p:spPr>
          <a:xfrm>
            <a:off x="1595437" y="1813560"/>
            <a:ext cx="5953125" cy="3690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정적 모델과의 연결</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다이어그램은 정적 모델의 요소를 쓰고, 쓸 요소가 없으면 정적 모델의 </a:t>
            </a:r>
            <a:r>
              <a:rPr sz="1800" b="1">
                <a:solidFill>
                  <a:srgbClr val="000000"/>
                </a:solidFill>
                <a:latin typeface="맑은 고딕"/>
                <a:ea typeface="맑은 고딕"/>
              </a:rPr>
              <a:t>누락</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다이어그램별로 쓰는 정적 모델 요소</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(1/2)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 [OMG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800" b="0">
                <a:solidFill>
                  <a:srgbClr val="000000"/>
                </a:solidFill>
                <a:latin typeface="맑은 고딕"/>
                <a:ea typeface="맑은 고딕"/>
              </a:rPr>
              <a:t> —</a:t>
            </a:r>
            <a:r>
              <a:rPr sz="1600" b="0">
                <a:solidFill>
                  <a:srgbClr val="000000"/>
                </a:solidFill>
                <a:latin typeface="맑은 고딕"/>
                <a:ea typeface="맑은 고딕"/>
              </a:rPr>
              <a:t> 가능한 값을 나열한 값의 종류다. 주문의 속성 </a:t>
            </a:r>
            <a:r>
              <a:rPr sz="1600" b="0">
                <a:solidFill>
                  <a:srgbClr val="000000"/>
                </a:solidFill>
                <a:latin typeface="맑은 고딕"/>
                <a:ea typeface="맑은 고딕"/>
              </a:rPr>
              <a:t>주문 상태</a:t>
            </a:r>
            <a:r>
              <a:rPr sz="1600" b="0">
                <a:solidFill>
                  <a:srgbClr val="000000"/>
                </a:solidFill>
                <a:latin typeface="맑은 고딕"/>
                <a:ea typeface="맑은 고딕"/>
              </a:rPr>
              <a:t>의 타입이다.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10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열거형</a:t>
            </a:r>
          </a:p>
        </p:txBody>
      </p:sp>
      <p:pic>
        <p:nvPicPr>
          <p:cNvPr id="10" name="plantuml Diagram 2"/>
          <p:cNvPicPr>
            <a:picLocks noChangeAspect="1"/>
          </p:cNvPicPr>
          <p:nvPr/>
        </p:nvPicPr>
        <p:blipFill>
          <a:blip r:embed="plantumlImage2"/>
          <a:stretch>
            <a:fillRect/>
          </a:stretch>
        </p:blipFill>
        <p:spPr>
          <a:xfrm>
            <a:off x="3228731" y="4048852"/>
            <a:ext cx="2686538" cy="1397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(2/2)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없는 값이나 값에 없는 상태는 </a:t>
            </a:r>
            <a:r>
              <a:rPr sz="1800" b="1">
                <a:solidFill>
                  <a:srgbClr val="000000"/>
                </a:solidFill>
                <a:latin typeface="맑은 고딕"/>
                <a:ea typeface="맑은 고딕"/>
              </a:rPr>
              <a:t>누락</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37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3"/>
          <p:cNvPicPr>
            <a:picLocks noChangeAspect="1"/>
          </p:cNvPicPr>
          <p:nvPr/>
        </p:nvPicPr>
        <p:blipFill>
          <a:blip r:embed="plantumlImage3"/>
          <a:stretch>
            <a:fillRect/>
          </a:stretch>
        </p:blipFill>
        <p:spPr>
          <a:xfrm>
            <a:off x="1909885" y="2474976"/>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클래스</a:t>
            </a:r>
            <a:r>
              <a:rPr sz="1800" b="0">
                <a:solidFill>
                  <a:srgbClr val="000000"/>
                </a:solidFill>
                <a:latin typeface="맑은 고딕"/>
                <a:ea typeface="맑은 고딕"/>
              </a:rPr>
              <a:t>는 업무에서 구분해 이야기하는 </a:t>
            </a:r>
            <a:r>
              <a:rPr sz="1800" b="1">
                <a:solidFill>
                  <a:srgbClr val="000000"/>
                </a:solidFill>
                <a:latin typeface="맑은 고딕"/>
                <a:ea typeface="맑은 고딕"/>
              </a:rPr>
              <a:t>아이디어·사물·객체</a:t>
            </a:r>
            <a:r>
              <a:rPr sz="1800" b="0">
                <a:solidFill>
                  <a:srgbClr val="000000"/>
                </a:solidFill>
                <a:latin typeface="맑은 고딕"/>
                <a:ea typeface="맑은 고딕"/>
              </a:rPr>
              <a:t>다. 소프트웨어 클래스가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클래스 다이어그램으로 그리되 </a:t>
            </a:r>
            <a:r>
              <a:rPr sz="1800" b="1">
                <a:solidFill>
                  <a:srgbClr val="000000"/>
                </a:solidFill>
                <a:latin typeface="맑은 고딕"/>
                <a:ea typeface="맑은 고딕"/>
              </a:rPr>
              <a:t>오퍼레이션은 쓰지 않는다</a:t>
            </a:r>
            <a:r>
              <a:rPr sz="1800" b="0">
                <a:solidFill>
                  <a:srgbClr val="000000"/>
                </a:solidFill>
                <a:latin typeface="맑은 고딕"/>
                <a:ea typeface="맑은 고딕"/>
              </a:rPr>
              <a:t>. 책임과 메서드는 설계에서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표기·정의·인스턴스</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클래스는 </a:t>
            </a:r>
            <a:r>
              <a:rPr sz="1800" b="1">
                <a:solidFill>
                  <a:srgbClr val="000000"/>
                </a:solidFill>
                <a:latin typeface="맑은 고딕"/>
                <a:ea typeface="맑은 고딕"/>
              </a:rPr>
              <a:t>세 측면</a:t>
            </a:r>
            <a:r>
              <a:rPr sz="1800" b="0">
                <a:solidFill>
                  <a:srgbClr val="000000"/>
                </a:solidFill>
                <a:latin typeface="맑은 고딕"/>
                <a:ea typeface="맑은 고딕"/>
              </a:rPr>
              <a:t>으로 본다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a:t>
            </a:r>
            <a:r>
              <a:rPr sz="1800" b="0">
                <a:solidFill>
                  <a:srgbClr val="000000"/>
                </a:solidFill>
                <a:latin typeface="맑은 고딕"/>
                <a:ea typeface="맑은 고딕"/>
              </a:rPr>
              <a:t> —</a:t>
            </a:r>
            <a:r>
              <a:rPr sz="1600" b="0">
                <a:solidFill>
                  <a:srgbClr val="000000"/>
                </a:solidFill>
                <a:latin typeface="맑은 고딕"/>
                <a:ea typeface="맑은 고딕"/>
              </a:rPr>
              <a:t> 도식에 그리는 이름 "주문"이다. 업무 담당자가 부르는 말을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정의</a:t>
            </a:r>
            <a:r>
              <a:rPr sz="1800" b="0">
                <a:solidFill>
                  <a:srgbClr val="000000"/>
                </a:solidFill>
                <a:latin typeface="맑은 고딕"/>
                <a:ea typeface="맑은 고딕"/>
              </a:rPr>
              <a:t> —</a:t>
            </a:r>
            <a:r>
              <a:rPr sz="1600" b="0">
                <a:solidFill>
                  <a:srgbClr val="000000"/>
                </a:solidFill>
                <a:latin typeface="맑은 고딕"/>
                <a:ea typeface="맑은 고딕"/>
              </a:rPr>
              <a:t> 무엇이 주문인지 정한 문장이다. 용어집에 둔다</a:t>
            </a:r>
            <a:r>
              <a:rPr sz="1200" b="0">
                <a:solidFill>
                  <a:srgbClr val="000000"/>
                </a:solidFill>
                <a:latin typeface="맑은 고딕"/>
                <a:ea typeface="맑은 고딕"/>
              </a:rPr>
              <a:t>(「용어집 정제」)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인스턴스</a:t>
            </a:r>
            <a:r>
              <a:rPr sz="1800" b="0">
                <a:solidFill>
                  <a:srgbClr val="000000"/>
                </a:solidFill>
                <a:latin typeface="맑은 고딕"/>
                <a:ea typeface="맑은 고딕"/>
              </a:rPr>
              <a:t> —</a:t>
            </a:r>
            <a:r>
              <a:rPr sz="1600" b="0">
                <a:solidFill>
                  <a:srgbClr val="000000"/>
                </a:solidFill>
                <a:latin typeface="맑은 고딕"/>
                <a:ea typeface="맑은 고딕"/>
              </a:rPr>
              <a:t> 정의에 맞는 주문 하나하나</a:t>
            </a:r>
            <a:r>
              <a:rPr sz="1200" b="0">
                <a:solidFill>
                  <a:srgbClr val="000000"/>
                </a:solidFill>
                <a:latin typeface="맑은 고딕"/>
                <a:ea typeface="맑은 고딕"/>
              </a:rPr>
              <a:t>(O-1, O-2)</a:t>
            </a:r>
            <a:r>
              <a:rPr sz="1600" b="0">
                <a:solidFill>
                  <a:srgbClr val="000000"/>
                </a:solidFill>
                <a:latin typeface="맑은 고딕"/>
                <a:ea typeface="맑은 고딕"/>
              </a:rPr>
              <a:t>다. 예시와 테스트의 값이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같아도 정의가 다르면 </a:t>
            </a:r>
            <a:r>
              <a:rPr sz="1800" b="1">
                <a:solidFill>
                  <a:srgbClr val="000000"/>
                </a:solidFill>
                <a:latin typeface="맑은 고딕"/>
                <a:ea typeface="맑은 고딕"/>
              </a:rPr>
              <a:t>다른 개념</a:t>
            </a:r>
            <a:r>
              <a:rPr sz="1800" b="0">
                <a:solidFill>
                  <a:srgbClr val="000000"/>
                </a:solidFill>
                <a:latin typeface="맑은 고딕"/>
                <a:ea typeface="맑은 고딕"/>
              </a:rPr>
              <a:t>이다. 인스턴스를 떠올리면 다중성이 보인다 —</a:t>
            </a:r>
            <a:r>
              <a:rPr sz="1600" b="0">
                <a:solidFill>
                  <a:srgbClr val="000000"/>
                </a:solidFill>
                <a:latin typeface="맑은 고딕"/>
                <a:ea typeface="맑은 고딕"/>
              </a:rPr>
              <a:t> O-1에는 주문 항목이 몇 개인가?</a:t>
            </a:r>
          </a:p>
        </p:txBody>
      </p:sp>
      <p:pic>
        <p:nvPicPr>
          <p:cNvPr id="9" name="svg Diagram 2" descr="개념 클래스 주문의 세 측면: 표기는 이름 주문, 정의는 용어집의 정의, 인스턴스는 주문 O-1, O-2, O-3"/>
          <p:cNvPicPr>
            <a:picLocks noChangeAspect="1"/>
          </p:cNvPicPr>
          <p:nvPr/>
        </p:nvPicPr>
        <p:blipFill>
          <a:blip r:embed="svgImage2"/>
          <a:stretch>
            <a:fillRect/>
          </a:stretch>
        </p:blipFill>
        <p:spPr>
          <a:xfrm>
            <a:off x="1595437" y="3764280"/>
            <a:ext cx="5953125" cy="12501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모델의 위치</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주문도 </a:t>
            </a:r>
            <a:r>
              <a:rPr sz="1800" b="1">
                <a:solidFill>
                  <a:srgbClr val="000000"/>
                </a:solidFill>
                <a:latin typeface="맑은 고딕"/>
                <a:ea typeface="맑은 고딕"/>
              </a:rPr>
              <a:t>객체</a:t>
            </a:r>
            <a:r>
              <a:rPr sz="1800" b="0">
                <a:solidFill>
                  <a:srgbClr val="000000"/>
                </a:solidFill>
                <a:latin typeface="맑은 고딕"/>
                <a:ea typeface="맑은 고딕"/>
              </a:rPr>
              <a:t> 쪽과 </a:t>
            </a:r>
            <a:r>
              <a:rPr sz="1800" b="1">
                <a:solidFill>
                  <a:srgbClr val="000000"/>
                </a:solidFill>
                <a:latin typeface="맑은 고딕"/>
                <a:ea typeface="맑은 고딕"/>
              </a:rPr>
              <a:t>데이터</a:t>
            </a:r>
            <a:r>
              <a:rPr sz="1800" b="0">
                <a:solidFill>
                  <a:srgbClr val="000000"/>
                </a:solidFill>
                <a:latin typeface="맑은 고딕"/>
                <a:ea typeface="맑은 고딕"/>
              </a:rPr>
              <a:t> 쪽에서 따로 구체화된다. 맨 위의 두 모델은 같은 문제영역을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쪽</a:t>
            </a:r>
            <a:r>
              <a:rPr sz="1800" b="0">
                <a:solidFill>
                  <a:srgbClr val="000000"/>
                </a:solidFill>
                <a:latin typeface="맑은 고딕"/>
                <a:ea typeface="맑은 고딕"/>
              </a:rPr>
              <a:t> —</a:t>
            </a:r>
            <a:r>
              <a:rPr sz="1600" b="0">
                <a:solidFill>
                  <a:srgbClr val="000000"/>
                </a:solidFill>
                <a:latin typeface="맑은 고딕"/>
                <a:ea typeface="맑은 고딕"/>
              </a:rPr>
              <a:t> 설계 모델을 거쳐 </a:t>
            </a:r>
            <a:r>
              <a:rPr sz="1600" b="1">
                <a:solidFill>
                  <a:srgbClr val="000000"/>
                </a:solidFill>
                <a:latin typeface="맑은 고딕"/>
                <a:ea typeface="맑은 고딕"/>
              </a:rPr>
              <a:t>코드</a:t>
            </a:r>
            <a:r>
              <a:rPr sz="1600" b="0">
                <a:solidFill>
                  <a:srgbClr val="000000"/>
                </a:solidFill>
                <a:latin typeface="맑은 고딕"/>
                <a:ea typeface="맑은 고딕"/>
              </a:rPr>
              <a:t>로 구현된다.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쪽</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물리 데이터 모델</a:t>
            </a:r>
            <a:r>
              <a:rPr sz="1200" b="0">
                <a:solidFill>
                  <a:srgbClr val="000000"/>
                </a:solidFill>
                <a:latin typeface="맑은 고딕"/>
                <a:ea typeface="맑은 고딕"/>
              </a:rPr>
              <a:t>(테이블·키·컬럼 타입)</a:t>
            </a:r>
            <a:r>
              <a:rPr sz="1600" b="0">
                <a:solidFill>
                  <a:srgbClr val="000000"/>
                </a:solidFill>
                <a:latin typeface="맑은 고딕"/>
                <a:ea typeface="맑은 고딕"/>
              </a:rPr>
              <a:t>로 저장된다.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모델에는 둘의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pic>
        <p:nvPicPr>
          <p:cNvPr id="9" name="svg Diagram 3" descr="객체 쪽은 도메인 모델, 설계 모델, 코드로, 데이터 쪽은 논리 데이터 모델, 물리 데이터 모델로 구체화된다"/>
          <p:cNvPicPr>
            <a:picLocks noChangeAspect="1"/>
          </p:cNvPicPr>
          <p:nvPr/>
        </p:nvPicPr>
        <p:blipFill>
          <a:blip r:embed="svgImage3"/>
          <a:stretch>
            <a:fillRect/>
          </a:stretch>
        </p:blipFill>
        <p:spPr>
          <a:xfrm>
            <a:off x="1893094" y="2865120"/>
            <a:ext cx="5357813" cy="19645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표기와 사용법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11123"/>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32003"/>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다이어그램 표기</a:t>
            </a:r>
          </a:p>
        </p:txBody>
      </p:sp>
      <p:pic>
        <p:nvPicPr>
          <p:cNvPr id="16" name="svg Diagram 4" descr="클래스 다이어그램 표기: 개념과 속성, 연관과 다중성, 일반화, 합성, 열거형"/>
          <p:cNvPicPr>
            <a:picLocks noChangeAspect="1"/>
          </p:cNvPicPr>
          <p:nvPr/>
        </p:nvPicPr>
        <p:blipFill>
          <a:blip r:embed="svgImage4"/>
          <a:stretch>
            <a:fillRect/>
          </a:stretch>
        </p:blipFill>
        <p:spPr>
          <a:xfrm>
            <a:off x="1588643" y="2124456"/>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값과 제약의 표기</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6" y="1515110"/>
          <a:ext cx="7312660" cy="3873500"/>
        </p:xfrm>
        <a:graphic>
          <a:graphicData uri="http://schemas.openxmlformats.org/drawingml/2006/table">
            <a:tbl>
              <a:tblPr/>
              <a:tblGrid>
                <a:gridCol w="1282700"/>
                <a:gridCol w="20929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771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고객과 주문</a:t>
            </a:r>
            <a:r>
              <a:rPr sz="1800" b="0">
                <a:solidFill>
                  <a:srgbClr val="000000"/>
                </a:solidFill>
                <a:latin typeface="맑은 고딕"/>
                <a:ea typeface="맑은 고딕"/>
              </a:rPr>
              <a:t>을 그린 예다. "고객이 주문을 </a:t>
            </a:r>
            <a:r>
              <a:rPr sz="1800" b="1">
                <a:solidFill>
                  <a:srgbClr val="000000"/>
                </a:solidFill>
                <a:latin typeface="맑은 고딕"/>
                <a:ea typeface="맑은 고딕"/>
              </a:rPr>
              <a:t>주문한다</a:t>
            </a:r>
            <a:r>
              <a:rPr sz="1800" b="0">
                <a:solidFill>
                  <a:srgbClr val="000000"/>
                </a:solidFill>
                <a:latin typeface="맑은 고딕"/>
                <a:ea typeface="맑은 고딕"/>
              </a:rPr>
              <a:t>"로 읽고, 고객 한 명은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34302"/>
            <a:ext cx="8412480" cy="201168"/>
          </a:xfrm>
          <a:prstGeom prst="rect">
            <a:avLst/>
          </a:prstGeom>
          <a:noFill/>
        </p:spPr>
        <p:txBody>
          <a:bodyPr wrap="square">
            <a:spAutoFit/>
          </a:bodyPr>
          <a:lstStyle/>
          <a:p>
            <a:pPr algn="ctr"/>
            <a:r>
              <a:rPr sz="1400" b="1">
                <a:solidFill>
                  <a:srgbClr val="000000"/>
                </a:solidFill>
                <a:latin typeface="맑은 고딕"/>
                <a:ea typeface="맑은 고딕"/>
              </a:rPr>
              <a:t>고객–주문 클래스 다이어그램</a:t>
            </a:r>
          </a:p>
        </p:txBody>
      </p:sp>
      <p:pic>
        <p:nvPicPr>
          <p:cNvPr id="16" name="plantuml Diagram 4"/>
          <p:cNvPicPr>
            <a:picLocks noChangeAspect="1"/>
          </p:cNvPicPr>
          <p:nvPr/>
        </p:nvPicPr>
        <p:blipFill>
          <a:blip r:embed="plantumlImage4"/>
          <a:stretch>
            <a:fillRect/>
          </a:stretch>
        </p:blipFill>
        <p:spPr>
          <a:xfrm>
            <a:off x="3495475" y="3772046"/>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UML 표기의 </a:t>
            </a:r>
            <a:r>
              <a:rPr sz="1800" b="1">
                <a:solidFill>
                  <a:srgbClr val="000000"/>
                </a:solidFill>
                <a:latin typeface="맑은 고딕"/>
                <a:ea typeface="맑은 고딕"/>
              </a:rPr>
              <a:t>유형</a:t>
            </a:r>
            <a:r>
              <a:rPr sz="1800" b="0">
                <a:solidFill>
                  <a:srgbClr val="000000"/>
                </a:solidFill>
                <a:latin typeface="맑은 고딕"/>
                <a:ea typeface="맑은 고딕"/>
              </a:rPr>
              <a:t>이 다르다. 도메인 모델은 그중 개념 클래스·데이터 타입·열거형을 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클래스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30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타입과 개념 클래스</a:t>
            </a:r>
            <a:r>
              <a:rPr sz="1800" b="0">
                <a:solidFill>
                  <a:srgbClr val="000000"/>
                </a:solidFill>
                <a:latin typeface="맑은 고딕"/>
                <a:ea typeface="맑은 고딕"/>
              </a:rPr>
              <a:t> —</a:t>
            </a:r>
            <a:r>
              <a:rPr sz="1600" b="0">
                <a:solidFill>
                  <a:srgbClr val="000000"/>
                </a:solidFill>
                <a:latin typeface="맑은 고딕"/>
                <a:ea typeface="맑은 고딕"/>
              </a:rPr>
              <a:t> 금액 1,000원은 어디에 있든 같은 금액이다. 주문은 내용이 같아도 서로 다른 주문이다.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클래스 유형의 예</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UML </a:t>
            </a:r>
            <a:r>
              <a:rPr sz="1800" b="1">
                <a:solidFill>
                  <a:srgbClr val="000000"/>
                </a:solidFill>
                <a:latin typeface="맑은 고딕"/>
                <a:ea typeface="맑은 고딕"/>
              </a:rPr>
              <a:t>클래스 유형</a:t>
            </a:r>
            <a:r>
              <a:rPr sz="1800" b="0">
                <a:solidFill>
                  <a:srgbClr val="000000"/>
                </a:solidFill>
                <a:latin typeface="맑은 고딕"/>
                <a:ea typeface="맑은 고딕"/>
              </a:rPr>
              <a:t>을 주문 사례에서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 클래스</a:t>
            </a:r>
            <a:r>
              <a:rPr sz="1200" b="0">
                <a:solidFill>
                  <a:srgbClr val="000000"/>
                </a:solidFill>
                <a:latin typeface="맑은 고딕"/>
                <a:ea typeface="맑은 고딕"/>
              </a:rPr>
              <a:t>(주문)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열거형</a:t>
            </a:r>
            <a:r>
              <a:rPr sz="1200" b="0">
                <a:solidFill>
                  <a:srgbClr val="000000"/>
                </a:solidFill>
                <a:latin typeface="맑은 고딕"/>
                <a:ea typeface="맑은 고딕"/>
              </a:rPr>
              <a:t>(주문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타입</a:t>
            </a:r>
            <a:r>
              <a:rPr sz="1200" b="0">
                <a:solidFill>
                  <a:srgbClr val="000000"/>
                </a:solidFill>
                <a:latin typeface="맑은 고딕"/>
                <a:ea typeface="맑은 고딕"/>
              </a:rPr>
              <a:t>(주소)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추상 클래스</a:t>
            </a:r>
            <a:r>
              <a:rPr sz="1200" b="0">
                <a:solidFill>
                  <a:srgbClr val="000000"/>
                </a:solidFill>
                <a:latin typeface="맑은 고딕"/>
                <a:ea typeface="맑은 고딕"/>
              </a:rPr>
              <a:t>(결제)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인터페이스</a:t>
            </a:r>
            <a:r>
              <a:rPr sz="1200" b="0">
                <a:solidFill>
                  <a:srgbClr val="000000"/>
                </a:solidFill>
                <a:latin typeface="맑은 고딕"/>
                <a:ea typeface="맑은 고딕"/>
              </a:rPr>
              <a:t>(결제 시스템)</a:t>
            </a:r>
          </a:p>
        </p:txBody>
      </p:sp>
      <p:sp>
        <p:nvSpPr>
          <p:cNvPr id="9" name="TextBox 12">
            <a:extLst>
              <a:ext uri="{FF2B5EF4-FFF2-40B4-BE49-F238E27FC236}">
                <a16:creationId xmlns:a16="http://schemas.microsoft.com/office/drawing/2014/main" id="{654EDDB4-901F-3D48-A715-17D163E8A7AC}"/>
              </a:ext>
            </a:extLst>
          </p:cNvPr>
          <p:cNvSpPr txBox="1"/>
          <p:nvPr/>
        </p:nvSpPr>
        <p:spPr>
          <a:xfrm>
            <a:off x="5349240" y="2293503"/>
            <a:ext cx="342900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유형</a:t>
            </a:r>
          </a:p>
        </p:txBody>
      </p:sp>
      <p:pic>
        <p:nvPicPr>
          <p:cNvPr id="10" name="plantuml Diagram 5"/>
          <p:cNvPicPr>
            <a:picLocks noChangeAspect="1"/>
          </p:cNvPicPr>
          <p:nvPr/>
        </p:nvPicPr>
        <p:blipFill>
          <a:blip r:embed="plantumlImage5"/>
          <a:stretch>
            <a:fillRect/>
          </a:stretch>
        </p:blipFill>
        <p:spPr>
          <a:xfrm>
            <a:off x="5622769" y="2531247"/>
            <a:ext cx="2881942" cy="24264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관계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집합과 연관</a:t>
            </a:r>
            <a:r>
              <a:rPr sz="1800" b="0">
                <a:solidFill>
                  <a:srgbClr val="000000"/>
                </a:solidFill>
                <a:latin typeface="맑은 고딕"/>
                <a:ea typeface="맑은 고딕"/>
              </a:rPr>
              <a:t> —</a:t>
            </a:r>
            <a:r>
              <a:rPr sz="1600" b="0">
                <a:solidFill>
                  <a:srgbClr val="000000"/>
                </a:solidFill>
                <a:latin typeface="맑은 고딕"/>
                <a:ea typeface="맑은 고딕"/>
              </a:rPr>
              <a:t> 코드가 같다</a:t>
            </a:r>
            <a:r>
              <a:rPr sz="1200" b="0">
                <a:solidFill>
                  <a:srgbClr val="000000"/>
                </a:solidFill>
                <a:latin typeface="맑은 고딕"/>
                <a:ea typeface="맑은 고딕"/>
              </a:rPr>
              <a:t>(참조 필드)</a:t>
            </a:r>
            <a:r>
              <a:rPr sz="1600" b="0">
                <a:solidFill>
                  <a:srgbClr val="000000"/>
                </a:solidFill>
                <a:latin typeface="맑은 고딕"/>
                <a:ea typeface="맑은 고딕"/>
              </a:rPr>
              <a:t>. 그래서 도메인 모델은 집합 대신 일반 연관이나 합성을 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 유형과 코드</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72927"/>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7292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관계 유형</a:t>
            </a:r>
          </a:p>
        </p:txBody>
      </p:sp>
      <p:pic>
        <p:nvPicPr>
          <p:cNvPr id="35" name="plantuml Diagram 6"/>
          <p:cNvPicPr>
            <a:picLocks noChangeAspect="1"/>
          </p:cNvPicPr>
          <p:nvPr/>
        </p:nvPicPr>
        <p:blipFill>
          <a:blip r:embed="plantumlImage6"/>
          <a:stretch>
            <a:fillRect/>
          </a:stretch>
        </p:blipFill>
        <p:spPr>
          <a:xfrm>
            <a:off x="1792654" y="2153894"/>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집합과 합성</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관계 유형 가운데 </a:t>
            </a:r>
            <a:r>
              <a:rPr sz="1800" b="1">
                <a:solidFill>
                  <a:srgbClr val="000000"/>
                </a:solidFill>
                <a:latin typeface="맑은 고딕"/>
                <a:ea typeface="맑은 고딕"/>
              </a:rPr>
              <a:t>집합과 합성</a:t>
            </a:r>
            <a:r>
              <a:rPr sz="1800" b="0">
                <a:solidFill>
                  <a:srgbClr val="000000"/>
                </a:solidFill>
                <a:latin typeface="맑은 고딕"/>
                <a:ea typeface="맑은 고딕"/>
              </a:rPr>
              <a:t>은 전체–부분 관계다. 표기보다 </a:t>
            </a:r>
            <a:r>
              <a:rPr sz="1800" b="1">
                <a:solidFill>
                  <a:srgbClr val="000000"/>
                </a:solidFill>
                <a:latin typeface="맑은 고딕"/>
                <a:ea typeface="맑은 고딕"/>
              </a:rPr>
              <a:t>의미가 먼저</a:t>
            </a:r>
            <a:r>
              <a:rPr sz="1800" b="0">
                <a:solidFill>
                  <a:srgbClr val="000000"/>
                </a:solidFill>
                <a:latin typeface="맑은 고딕"/>
                <a:ea typeface="맑은 고딕"/>
              </a:rPr>
              <a:t>다 —</a:t>
            </a:r>
            <a:r>
              <a:rPr sz="1600" b="0">
                <a:solidFill>
                  <a:srgbClr val="000000"/>
                </a:solidFill>
                <a:latin typeface="맑은 고딕"/>
                <a:ea typeface="맑은 고딕"/>
              </a:rPr>
              <a:t> 부분이 전체와 </a:t>
            </a:r>
            <a:r>
              <a:rPr sz="1600" b="1">
                <a:solidFill>
                  <a:srgbClr val="000000"/>
                </a:solidFill>
                <a:latin typeface="맑은 고딕"/>
                <a:ea typeface="맑은 고딕"/>
              </a:rPr>
              <a:t>소속과 생애</a:t>
            </a:r>
            <a:r>
              <a:rPr sz="1600" b="0">
                <a:solidFill>
                  <a:srgbClr val="000000"/>
                </a:solidFill>
                <a:latin typeface="맑은 고딕"/>
                <a:ea typeface="맑은 고딕"/>
              </a:rPr>
              <a:t>를 공유하는지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UML의 </a:t>
            </a:r>
            <a:r>
              <a:rPr sz="1800" b="1">
                <a:solidFill>
                  <a:srgbClr val="000000"/>
                </a:solidFill>
                <a:latin typeface="맑은 고딕"/>
                <a:ea typeface="맑은 고딕"/>
              </a:rPr>
              <a:t>집합은 쓰지 말고</a:t>
            </a:r>
            <a:r>
              <a:rPr sz="1800" b="0">
                <a:solidFill>
                  <a:srgbClr val="000000"/>
                </a:solidFill>
                <a:latin typeface="맑은 고딕"/>
                <a:ea typeface="맑은 고딕"/>
              </a:rPr>
              <a:t> 적절할 때 </a:t>
            </a:r>
            <a:r>
              <a:rPr sz="1800" b="1">
                <a:solidFill>
                  <a:srgbClr val="000000"/>
                </a:solidFill>
                <a:latin typeface="맑은 고딕"/>
                <a:ea typeface="맑은 고딕"/>
              </a:rPr>
              <a:t>합성</a:t>
            </a:r>
            <a:r>
              <a:rPr sz="1800" b="0">
                <a:solidFill>
                  <a:srgbClr val="000000"/>
                </a:solidFill>
                <a:latin typeface="맑은 고딕"/>
                <a:ea typeface="맑은 고딕"/>
              </a:rPr>
              <a:t>을 쓴다</a:t>
            </a:r>
            <a:r>
              <a:rPr sz="1000" b="0">
                <a:solidFill>
                  <a:srgbClr val="000000"/>
                </a:solidFill>
                <a:latin typeface="맑은 고딕"/>
                <a:ea typeface="맑은 고딕"/>
              </a:rPr>
              <a:t>, </a:t>
            </a:r>
            <a:r>
              <a:rPr sz="1000" b="0">
                <a:solidFill>
                  <a:srgbClr val="000000"/>
                </a:solidFill>
                <a:latin typeface="맑은 고딕"/>
                <a:ea typeface="맑은 고딕"/>
              </a:rPr>
              <a:t>"don't bother to use aggregation in the UML; rather, use composition when appropriate.", [Larman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합성은 </a:t>
            </a:r>
            <a:r>
              <a:rPr sz="1600" b="1">
                <a:solidFill>
                  <a:srgbClr val="000000"/>
                </a:solidFill>
                <a:latin typeface="맑은 고딕"/>
                <a:ea typeface="맑은 고딕"/>
              </a:rPr>
              <a:t>확신이 없으면 뺀다</a:t>
            </a:r>
            <a:r>
              <a:rPr sz="1000" b="0">
                <a:solidFill>
                  <a:srgbClr val="000000"/>
                </a:solidFill>
                <a:latin typeface="맑은 고딕"/>
                <a:ea typeface="맑은 고딕"/>
              </a:rPr>
              <a:t>, </a:t>
            </a:r>
            <a:r>
              <a:rPr sz="1000" b="0">
                <a:solidFill>
                  <a:srgbClr val="000000"/>
                </a:solidFill>
                <a:latin typeface="맑은 고딕"/>
                <a:ea typeface="맑은 고딕"/>
              </a:rPr>
              <a:t>"On composition: If in doubt, leave it out."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합성을 보일 때</a:t>
            </a:r>
            <a:r>
              <a:rPr sz="1800" b="0">
                <a:solidFill>
                  <a:srgbClr val="000000"/>
                </a:solidFill>
                <a:latin typeface="맑은 고딕"/>
                <a:ea typeface="맑은 고딕"/>
              </a:rPr>
              <a:t> —</a:t>
            </a:r>
            <a:r>
              <a:rPr sz="1600" b="0">
                <a:solidFill>
                  <a:srgbClr val="000000"/>
                </a:solidFill>
                <a:latin typeface="맑은 고딕"/>
                <a:ea typeface="맑은 고딕"/>
              </a:rPr>
              <a:t> 부분의 생애가 전체에 묶이고, 전체–부분의 조립이 분명하며, 전체의 속성·연산이 부분에 전해진다.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 불분명하면 </a:t>
            </a:r>
            <a:r>
              <a:rPr sz="1600" b="1">
                <a:solidFill>
                  <a:srgbClr val="000000"/>
                </a:solidFill>
                <a:latin typeface="맑은 고딕"/>
                <a:ea typeface="맑은 고딕"/>
              </a:rPr>
              <a:t>일반 연관</a:t>
            </a:r>
            <a:r>
              <a:rPr sz="1600" b="0">
                <a:solidFill>
                  <a:srgbClr val="000000"/>
                </a:solidFill>
                <a:latin typeface="맑은 고딕"/>
                <a:ea typeface="맑은 고딕"/>
              </a:rPr>
              <a:t>으로 두고 질문을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3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주문–주문 항목 합성</a:t>
            </a:r>
          </a:p>
        </p:txBody>
      </p:sp>
      <p:pic>
        <p:nvPicPr>
          <p:cNvPr id="10" name="plantuml Diagram 7"/>
          <p:cNvPicPr>
            <a:picLocks noChangeAspect="1"/>
          </p:cNvPicPr>
          <p:nvPr/>
        </p:nvPicPr>
        <p:blipFill>
          <a:blip r:embed="plantumlImage7"/>
          <a:stretch>
            <a:fillRect/>
          </a:stretch>
        </p:blipFill>
        <p:spPr>
          <a:xfrm>
            <a:off x="3551115" y="4862114"/>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정보공학의 데이터 모델링</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289894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모델의 세 단계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이 중 </a:t>
            </a:r>
            <a:r>
              <a:rPr sz="1800" b="1">
                <a:solidFill>
                  <a:srgbClr val="000000"/>
                </a:solidFill>
                <a:latin typeface="맑은 고딕"/>
                <a:ea typeface="맑은 고딕"/>
              </a:rPr>
              <a:t>개념·논리 데이터 모델</a:t>
            </a:r>
            <a:r>
              <a:rPr sz="1800" b="0">
                <a:solidFill>
                  <a:srgbClr val="000000"/>
                </a:solidFill>
                <a:latin typeface="맑은 고딕"/>
                <a:ea typeface="맑은 고딕"/>
              </a:rPr>
              <a:t>과 겹친다. 물리 데이터 모델의 테이블·인덱스는 다루지 않는다.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모델과 도메인 모델</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736850"/>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논리 데이터 모델과 도메인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0545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없는 개념</a:t>
            </a:r>
            <a:r>
              <a:rPr sz="1800" b="0">
                <a:solidFill>
                  <a:srgbClr val="000000"/>
                </a:solidFill>
                <a:latin typeface="맑은 고딕"/>
                <a:ea typeface="맑은 고딕"/>
              </a:rPr>
              <a:t> —</a:t>
            </a:r>
            <a:r>
              <a:rPr sz="1600" b="0">
                <a:solidFill>
                  <a:srgbClr val="000000"/>
                </a:solidFill>
                <a:latin typeface="맑은 고딕"/>
                <a:ea typeface="맑은 고딕"/>
              </a:rPr>
              <a:t> 장바구니는 기억할 속성이 없어도 업무에서 구분하는 개념이다. 관계형 데이터 모델링은 이런 것을 빼지만 도메인 모델은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출발점</a:t>
            </a:r>
            <a:r>
              <a:rPr sz="1800" b="0">
                <a:solidFill>
                  <a:srgbClr val="000000"/>
                </a:solidFill>
                <a:latin typeface="맑은 고딕"/>
                <a:ea typeface="맑은 고딕"/>
              </a:rPr>
              <a:t> —</a:t>
            </a:r>
            <a:r>
              <a:rPr sz="1600" b="0">
                <a:solidFill>
                  <a:srgbClr val="000000"/>
                </a:solidFill>
                <a:latin typeface="맑은 고딕"/>
                <a:ea typeface="맑은 고딕"/>
              </a:rPr>
              <a:t> 그래도 좋은 데이터 모델은 개념과 관계를 이미 담고 있어 도메인 모델의 출발점이 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요소의 대응</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2112010"/>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ERD와 도메인 모델의 대응</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까마귀발 표기</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274201"/>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5081"/>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까마귀발 표기</a:t>
            </a:r>
          </a:p>
        </p:txBody>
      </p:sp>
      <p:pic>
        <p:nvPicPr>
          <p:cNvPr id="16" name="svg Diagram 5" descr="까마귀발 표기: 정확히 하나, 없거나 하나, 0개 이상, 1개 이상, 식별자와 외래키"/>
          <p:cNvPicPr>
            <a:picLocks noChangeAspect="1"/>
          </p:cNvPicPr>
          <p:nvPr/>
        </p:nvPicPr>
        <p:blipFill>
          <a:blip r:embed="svgImage5"/>
          <a:stretch>
            <a:fillRect/>
          </a:stretch>
        </p:blipFill>
        <p:spPr>
          <a:xfrm>
            <a:off x="1886299" y="2124456"/>
            <a:ext cx="5357813" cy="123229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(1/2)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먼저 </a:t>
            </a:r>
            <a:r>
              <a:rPr sz="1800" b="1">
                <a:solidFill>
                  <a:srgbClr val="000000"/>
                </a:solidFill>
                <a:latin typeface="맑은 고딕"/>
                <a:ea typeface="맑은 고딕"/>
              </a:rPr>
              <a:t>논리 데이터 모델</a:t>
            </a:r>
            <a:r>
              <a:rPr sz="1800" b="0">
                <a:solidFill>
                  <a:srgbClr val="000000"/>
                </a:solidFill>
                <a:latin typeface="맑은 고딕"/>
                <a:ea typeface="맑은 고딕"/>
              </a:rPr>
              <a:t>이다. 주문상품은 주문번호와 상품번호를 식별자로 갖는 </a:t>
            </a:r>
            <a:r>
              <a:rPr sz="1800" b="1">
                <a:solidFill>
                  <a:srgbClr val="000000"/>
                </a:solidFill>
                <a:latin typeface="맑은 고딕"/>
                <a:ea typeface="맑은 고딕"/>
              </a:rPr>
              <a:t>교차 엔티티</a:t>
            </a:r>
            <a:r>
              <a:rPr sz="1800" b="0">
                <a:solidFill>
                  <a:srgbClr val="000000"/>
                </a:solidFill>
                <a:latin typeface="맑은 고딕"/>
                <a:ea typeface="맑은 고딕"/>
              </a:rPr>
              <a:t>이고, 관계는 </a:t>
            </a:r>
            <a:r>
              <a:rPr sz="1800" b="1">
                <a:solidFill>
                  <a:srgbClr val="000000"/>
                </a:solidFill>
                <a:latin typeface="맑은 고딕"/>
                <a:ea typeface="맑은 고딕"/>
              </a:rPr>
              <a:t>외래키</a:t>
            </a:r>
            <a:r>
              <a:rPr sz="1400" b="0">
                <a:solidFill>
                  <a:srgbClr val="000000"/>
                </a:solidFill>
                <a:latin typeface="맑은 고딕"/>
                <a:ea typeface="맑은 고딕"/>
              </a:rPr>
              <a:t>(FK)</a:t>
            </a:r>
            <a:r>
              <a:rPr sz="1800" b="0">
                <a:solidFill>
                  <a:srgbClr val="000000"/>
                </a:solidFill>
                <a:latin typeface="맑은 고딕"/>
                <a:ea typeface="맑은 고딕"/>
              </a:rPr>
              <a:t>로 구현된다.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논리 데이터 모델</a:t>
            </a:r>
          </a:p>
        </p:txBody>
      </p:sp>
      <p:pic>
        <p:nvPicPr>
          <p:cNvPr id="10" name="plantuml Diagram 8"/>
          <p:cNvPicPr>
            <a:picLocks noChangeAspect="1"/>
          </p:cNvPicPr>
          <p:nvPr/>
        </p:nvPicPr>
        <p:blipFill>
          <a:blip r:embed="plantumlImage8"/>
          <a:stretch>
            <a:fillRect/>
          </a:stretch>
        </p:blipFill>
        <p:spPr>
          <a:xfrm>
            <a:off x="2715846" y="2124456"/>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(2/2)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사례의 </a:t>
            </a:r>
            <a:r>
              <a:rPr sz="1800" b="1">
                <a:solidFill>
                  <a:srgbClr val="000000"/>
                </a:solidFill>
                <a:latin typeface="맑은 고딕"/>
                <a:ea typeface="맑은 고딕"/>
              </a:rPr>
              <a:t>도메인 모델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바뀐 곳이 곧 도메인 모델이 </a:t>
            </a:r>
            <a:r>
              <a:rPr sz="1800" b="1">
                <a:solidFill>
                  <a:srgbClr val="000000"/>
                </a:solidFill>
                <a:latin typeface="맑은 고딕"/>
                <a:ea typeface="맑은 고딕"/>
              </a:rPr>
              <a:t>의미를 드러낸</a:t>
            </a:r>
            <a:r>
              <a:rPr sz="1800" b="0">
                <a:solidFill>
                  <a:srgbClr val="000000"/>
                </a:solidFill>
                <a:latin typeface="맑은 고딕"/>
                <a:ea typeface="맑은 고딕"/>
              </a:rPr>
              <a:t> 곳이다.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9"/>
          <p:cNvPicPr>
            <a:picLocks noChangeAspect="1"/>
          </p:cNvPicPr>
          <p:nvPr/>
        </p:nvPicPr>
        <p:blipFill>
          <a:blip r:embed="plantumlImage9"/>
          <a:stretch>
            <a:fillRect/>
          </a:stretch>
        </p:blipFill>
        <p:spPr>
          <a:xfrm>
            <a:off x="884115" y="3176016"/>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세 단계</a:t>
            </a:r>
          </a:p>
          <a:p>
            <a:r>
              <a:rPr sz="1100" b="1">
                <a:solidFill>
                  <a:srgbClr val="000000"/>
                </a:solidFill>
                <a:latin typeface="맑은 고딕"/>
                <a:ea typeface="맑은 고딕"/>
              </a:rPr>
              <a:t>07.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현재 반복에서 다루는 요구</a:t>
            </a:r>
            <a:r>
              <a:rPr sz="1800" b="0">
                <a:solidFill>
                  <a:srgbClr val="000000"/>
                </a:solidFill>
                <a:latin typeface="맑은 고딕"/>
                <a:ea typeface="맑은 고딕"/>
              </a:rPr>
              <a:t>의 범위 안에서 세 단계로 만든다. 이 세션의 다음 그룹들도 이 순서를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현재 반복의 요구로 범위를 한정해 1. </a:t>
            </a:r>
            <a:r>
              <a:rPr sz="1800" b="1">
                <a:solidFill>
                  <a:srgbClr val="000000"/>
                </a:solidFill>
                <a:latin typeface="맑은 고딕"/>
                <a:ea typeface="맑은 고딕"/>
              </a:rPr>
              <a:t>개념 클래스를 찾는다</a:t>
            </a:r>
            <a:r>
              <a:rPr sz="1800" b="0">
                <a:solidFill>
                  <a:srgbClr val="000000"/>
                </a:solidFill>
                <a:latin typeface="맑은 고딕"/>
                <a:ea typeface="맑은 고딕"/>
              </a:rPr>
              <a:t> 2. 클래스 다이어그램의 클래스로 그린다 3. </a:t>
            </a:r>
            <a:r>
              <a:rPr sz="1800" b="1">
                <a:solidFill>
                  <a:srgbClr val="000000"/>
                </a:solidFill>
                <a:latin typeface="맑은 고딕"/>
                <a:ea typeface="맑은 고딕"/>
              </a:rPr>
              <a:t>연관과 속성</a:t>
            </a:r>
            <a:r>
              <a:rPr sz="1800" b="0">
                <a:solidFill>
                  <a:srgbClr val="000000"/>
                </a:solidFill>
                <a:latin typeface="맑은 고딕"/>
                <a:ea typeface="맑은 고딕"/>
              </a:rPr>
              <a:t>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 [Larman 2004]</a:t>
            </a:r>
          </a:p>
          <a:p>
            <a:pPr lvl="3" marL="947420" indent="-223520">
              <a:spcBef>
                <a:spcPts val="600"/>
              </a:spcBef>
              <a:spcAft>
                <a:spcPts val="6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 클래스를 찾는다</a:t>
            </a:r>
            <a:r>
              <a:rPr sz="1600" b="0">
                <a:solidFill>
                  <a:srgbClr val="000000"/>
                </a:solidFill>
                <a:latin typeface="맑은 고딕"/>
                <a:ea typeface="맑은 고딕"/>
              </a:rPr>
              <a:t> —</a:t>
            </a:r>
            <a:r>
              <a:rPr sz="1400" b="0">
                <a:solidFill>
                  <a:srgbClr val="000000"/>
                </a:solidFill>
                <a:latin typeface="맑은 고딕"/>
                <a:ea typeface="맑은 고딕"/>
              </a:rPr>
              <a:t> 기존 모델, 범주 목록, 유스케이스의 명사구에서 찾는다.</a:t>
            </a:r>
          </a:p>
          <a:p>
            <a:pPr lvl="3" marL="947420" indent="-223520">
              <a:spcBef>
                <a:spcPts val="600"/>
              </a:spcBef>
              <a:spcAft>
                <a:spcPts val="600"/>
              </a:spcAft>
              <a:buNone/>
            </a:pPr>
            <a:r>
              <a:rPr sz="1600" b="0">
                <a:solidFill>
                  <a:srgbClr val="000000"/>
                </a:solidFill>
                <a:latin typeface="맑은 고딕"/>
                <a:ea typeface="맑은 고딕"/>
              </a:rPr>
              <a:t>2. </a:t>
            </a:r>
            <a:r>
              <a:rPr sz="1600" b="1">
                <a:solidFill>
                  <a:srgbClr val="000000"/>
                </a:solidFill>
                <a:latin typeface="맑은 고딕"/>
                <a:ea typeface="맑은 고딕"/>
              </a:rPr>
              <a:t>클래스로 그린다</a:t>
            </a:r>
            <a:r>
              <a:rPr sz="1600" b="0">
                <a:solidFill>
                  <a:srgbClr val="000000"/>
                </a:solidFill>
                <a:latin typeface="맑은 고딕"/>
                <a:ea typeface="맑은 고딕"/>
              </a:rPr>
              <a:t> —</a:t>
            </a:r>
            <a:r>
              <a:rPr sz="1400" b="0">
                <a:solidFill>
                  <a:srgbClr val="000000"/>
                </a:solidFill>
                <a:latin typeface="맑은 고딕"/>
                <a:ea typeface="맑은 고딕"/>
              </a:rPr>
              <a:t> 찾은 개념에 이름 있는 연관만 이은 것이 </a:t>
            </a:r>
            <a:r>
              <a:rPr sz="1400" b="1">
                <a:solidFill>
                  <a:srgbClr val="000000"/>
                </a:solidFill>
                <a:latin typeface="맑은 고딕"/>
                <a:ea typeface="맑은 고딕"/>
              </a:rPr>
              <a:t>초안</a:t>
            </a:r>
            <a:r>
              <a:rPr sz="1400" b="0">
                <a:solidFill>
                  <a:srgbClr val="000000"/>
                </a:solidFill>
                <a:latin typeface="맑은 고딕"/>
                <a:ea typeface="맑은 고딕"/>
              </a:rPr>
              <a:t>이다.</a:t>
            </a:r>
          </a:p>
          <a:p>
            <a:pPr lvl="3" marL="947420" indent="-223520">
              <a:spcBef>
                <a:spcPts val="600"/>
              </a:spcBef>
              <a:spcAft>
                <a:spcPts val="600"/>
              </a:spcAft>
              <a:buNone/>
            </a:pPr>
            <a:r>
              <a:rPr sz="1600" b="0">
                <a:solidFill>
                  <a:srgbClr val="000000"/>
                </a:solidFill>
                <a:latin typeface="맑은 고딕"/>
                <a:ea typeface="맑은 고딕"/>
              </a:rPr>
              <a:t>3. </a:t>
            </a:r>
            <a:r>
              <a:rPr sz="1600" b="1">
                <a:solidFill>
                  <a:srgbClr val="000000"/>
                </a:solidFill>
                <a:latin typeface="맑은 고딕"/>
                <a:ea typeface="맑은 고딕"/>
              </a:rPr>
              <a:t>연관과 속성을 더한다</a:t>
            </a:r>
            <a:r>
              <a:rPr sz="1600" b="0">
                <a:solidFill>
                  <a:srgbClr val="000000"/>
                </a:solidFill>
                <a:latin typeface="맑은 고딕"/>
                <a:ea typeface="맑은 고딕"/>
              </a:rPr>
              <a:t> —</a:t>
            </a:r>
            <a:r>
              <a:rPr sz="1400" b="0">
                <a:solidFill>
                  <a:srgbClr val="000000"/>
                </a:solidFill>
                <a:latin typeface="맑은 고딕"/>
                <a:ea typeface="맑은 고딕"/>
              </a:rPr>
              <a:t> 속성·다중성·합성까지 더한 것이 </a:t>
            </a:r>
            <a:r>
              <a:rPr sz="1400" b="1">
                <a:solidFill>
                  <a:srgbClr val="000000"/>
                </a:solidFill>
                <a:latin typeface="맑은 고딕"/>
                <a:ea typeface="맑은 고딕"/>
              </a:rPr>
              <a:t>상세</a:t>
            </a:r>
            <a:r>
              <a:rPr sz="14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35948"/>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작성 절차</a:t>
            </a:r>
          </a:p>
        </p:txBody>
      </p:sp>
      <p:pic>
        <p:nvPicPr>
          <p:cNvPr id="10" name="mermaid Diagram 2"/>
          <p:cNvPicPr>
            <a:picLocks noChangeAspect="1"/>
          </p:cNvPicPr>
          <p:nvPr/>
        </p:nvPicPr>
        <p:blipFill>
          <a:blip r:embed="mermaidImage2"/>
          <a:stretch>
            <a:fillRect/>
          </a:stretch>
        </p:blipFill>
        <p:spPr>
          <a:xfrm>
            <a:off x="1551781" y="4673692"/>
            <a:ext cx="604043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클래스를 찾는 세 전략</a:t>
            </a:r>
          </a:p>
          <a:p>
            <a:r>
              <a:rPr sz="1100" b="1">
                <a:solidFill>
                  <a:srgbClr val="000000"/>
                </a:solidFill>
                <a:latin typeface="맑은 고딕"/>
                <a:ea typeface="맑은 고딕"/>
              </a:rPr>
              <a:t>07. 모델 작성 절차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6" y="2898948"/>
          <a:ext cx="7983220" cy="3873500"/>
        </p:xfrm>
        <a:graphic>
          <a:graphicData uri="http://schemas.openxmlformats.org/drawingml/2006/table">
            <a:tbl>
              <a:tblPr/>
              <a:tblGrid>
                <a:gridCol w="2120900"/>
                <a:gridCol w="281940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무엇에서 찾는가?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① 기존 모델의 재사용·수정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검증된 도메인 모델·데이터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논리 데이터 모델의 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② 범주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자주 나타나는 개념의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범주에서 결제·환불(「개념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③ 명사구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흐름·사후조건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배송(「유스케이스 어휘」)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클래스를 찾는 전략은 셋이다. 가장 먼저 </a:t>
            </a:r>
            <a:r>
              <a:rPr sz="1800" b="1">
                <a:solidFill>
                  <a:srgbClr val="000000"/>
                </a:solidFill>
                <a:latin typeface="맑은 고딕"/>
                <a:ea typeface="맑은 고딕"/>
              </a:rPr>
              <a:t>이미 있는 모델</a:t>
            </a:r>
            <a:r>
              <a:rPr sz="1800" b="0">
                <a:solidFill>
                  <a:srgbClr val="000000"/>
                </a:solidFill>
                <a:latin typeface="맑은 고딕"/>
                <a:ea typeface="맑은 고딕"/>
              </a:rPr>
              <a:t>에서 시작한다.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기존 모델을 재사용하거나 고친다 — 이것이 </a:t>
            </a:r>
            <a:r>
              <a:rPr sz="1800" b="1">
                <a:solidFill>
                  <a:srgbClr val="000000"/>
                </a:solidFill>
                <a:latin typeface="맑은 고딕"/>
                <a:ea typeface="맑은 고딕"/>
              </a:rPr>
              <a:t>첫째이자 가장 좋고</a:t>
            </a:r>
            <a:r>
              <a:rPr sz="1800" b="0">
                <a:solidFill>
                  <a:srgbClr val="000000"/>
                </a:solidFill>
                <a:latin typeface="맑은 고딕"/>
                <a:ea typeface="맑은 고딕"/>
              </a:rPr>
              <a:t> 대개 가장 쉬운 방법이다</a:t>
            </a:r>
            <a:r>
              <a:rPr sz="1000" b="0">
                <a:solidFill>
                  <a:srgbClr val="000000"/>
                </a:solidFill>
                <a:latin typeface="맑은 고딕"/>
                <a:ea typeface="맑은 고딕"/>
              </a:rPr>
              <a:t>, </a:t>
            </a:r>
            <a:r>
              <a:rPr sz="1000" b="0">
                <a:solidFill>
                  <a:srgbClr val="000000"/>
                </a:solidFill>
                <a:latin typeface="맑은 고딕"/>
                <a:ea typeface="맑은 고딕"/>
              </a:rPr>
              <a:t>"Reuse or modify existing models. This is the first, best, and usually easiest approach",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클래스를 찾는 세 전략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이 있으면 ①에서 출발한다</a:t>
            </a:r>
            <a:r>
              <a:rPr sz="1400" b="0">
                <a:solidFill>
                  <a:srgbClr val="000000"/>
                </a:solidFill>
                <a:latin typeface="맑은 고딕"/>
                <a:ea typeface="맑은 고딕"/>
              </a:rPr>
              <a:t>(「같은 사례, 두 모델」)</a:t>
            </a:r>
            <a:r>
              <a:rPr sz="1800" b="0">
                <a:solidFill>
                  <a:srgbClr val="000000"/>
                </a:solidFill>
                <a:latin typeface="맑은 고딕"/>
                <a:ea typeface="맑은 고딕"/>
              </a:rPr>
              <a:t>. ②와 ③은 빠진 개념을 채운다.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범주</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14235" y="2386330"/>
          <a:ext cx="7901940" cy="3873500"/>
        </p:xfrm>
        <a:graphic>
          <a:graphicData uri="http://schemas.openxmlformats.org/drawingml/2006/table">
            <a:tbl>
              <a:tblPr/>
              <a:tblGrid>
                <a:gridCol w="382524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거래·거래 항목과 관련된 상품·서비스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거래와 관련된 사람·조직의 역할, 유스케이스의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사물의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것과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기억해야 할 주목할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 시작 — 거래·상태로 이미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협력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이 과정에서는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재무·업무·계약의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 회계 시스템의 것이라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거래에서 시작해 그 항목·대상·참여자로 넓힌다.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 범주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49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거래</a:t>
            </a:r>
            <a:r>
              <a:rPr sz="1800" b="0">
                <a:solidFill>
                  <a:srgbClr val="000000"/>
                </a:solidFill>
                <a:latin typeface="맑은 고딕"/>
                <a:ea typeface="맑은 고딕"/>
              </a:rPr>
              <a:t>가 가장 중요하다. 주문 시스템의 핵심은 주문·결제·환불·배송의 </a:t>
            </a:r>
            <a:r>
              <a:rPr sz="1800" b="1">
                <a:solidFill>
                  <a:srgbClr val="000000"/>
                </a:solidFill>
                <a:latin typeface="맑은 고딕"/>
                <a:ea typeface="맑은 고딕"/>
              </a:rPr>
              <a:t>기록</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어휘</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 [Larman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넣지 않는 것</a:t>
            </a:r>
            <a:r>
              <a:rPr sz="1800" b="0">
                <a:solidFill>
                  <a:srgbClr val="000000"/>
                </a:solidFill>
                <a:latin typeface="맑은 고딕"/>
                <a:ea typeface="맑은 고딕"/>
              </a:rPr>
              <a:t> —</a:t>
            </a:r>
            <a:r>
              <a:rPr sz="1600" b="0">
                <a:solidFill>
                  <a:srgbClr val="000000"/>
                </a:solidFill>
                <a:latin typeface="맑은 고딕"/>
                <a:ea typeface="맑은 고딕"/>
              </a:rPr>
              <a:t> 결제 수단은 기억할 필요가 없어 속성이 아니다. 입금·영수증은 회계 시스템의 것이다.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흐름에서 찾은 개념</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947420"/>
                <a:gridCol w="2501900"/>
                <a:gridCol w="228854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 ·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"세션 02. 요구 분석과 유스케이스"의 명세서 </a:t>
            </a:r>
            <a:r>
              <a:rPr sz="1800" b="1">
                <a:solidFill>
                  <a:srgbClr val="000000"/>
                </a:solidFill>
                <a:latin typeface="맑은 고딕"/>
                <a:ea typeface="맑은 고딕"/>
              </a:rPr>
              <a:t>흐름의 이벤트마다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흐름에서 찾은 개념</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명사 추출의 한계</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방법의 약점은 </a:t>
            </a:r>
            <a:r>
              <a:rPr sz="1800" b="1">
                <a:solidFill>
                  <a:srgbClr val="000000"/>
                </a:solidFill>
                <a:latin typeface="맑은 고딕"/>
                <a:ea typeface="맑은 고딕"/>
              </a:rPr>
              <a:t>자연어의 부정확성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weakness of this approach is the imprecision of natural language",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개념과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요구가 </a:t>
            </a:r>
            <a:r>
              <a:rPr sz="1800" b="1">
                <a:solidFill>
                  <a:srgbClr val="000000"/>
                </a:solidFill>
                <a:latin typeface="맑은 고딕"/>
                <a:ea typeface="맑은 고딕"/>
              </a:rPr>
              <a:t>기억하라고 하는</a:t>
            </a:r>
            <a:r>
              <a:rPr sz="1800" b="0">
                <a:solidFill>
                  <a:srgbClr val="000000"/>
                </a:solidFill>
                <a:latin typeface="맑은 고딕"/>
                <a:ea typeface="맑은 고딕"/>
              </a:rPr>
              <a:t> 정보만 속성으로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속성은 객체의 </a:t>
            </a:r>
            <a:r>
              <a:rPr sz="1800" b="1">
                <a:solidFill>
                  <a:srgbClr val="000000"/>
                </a:solidFill>
                <a:latin typeface="맑은 고딕"/>
                <a:ea typeface="맑은 고딕"/>
              </a:rPr>
              <a:t>논리적 데이터 값</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attribute is a logical data value of an object.", [Larman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실세계에서 어떤 개념 X를 </a:t>
            </a:r>
            <a:r>
              <a:rPr sz="1600" b="1">
                <a:solidFill>
                  <a:srgbClr val="000000"/>
                </a:solidFill>
                <a:latin typeface="맑은 고딕"/>
                <a:ea typeface="맑은 고딕"/>
              </a:rPr>
              <a:t>숫자나 텍스트</a:t>
            </a:r>
            <a:r>
              <a:rPr sz="16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주문의 속성 </a:t>
            </a:r>
            <a:r>
              <a:rPr sz="1600" b="0">
                <a:solidFill>
                  <a:srgbClr val="000000"/>
                </a:solidFill>
                <a:latin typeface="맑은 고딕"/>
                <a:ea typeface="맑은 고딕"/>
              </a:rPr>
              <a:t>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속성인지 개념인지 </a:t>
            </a:r>
            <a:r>
              <a:rPr sz="1800" b="1">
                <a:solidFill>
                  <a:srgbClr val="000000"/>
                </a:solidFill>
                <a:latin typeface="맑은 고딕"/>
                <a:ea typeface="맑은 고딕"/>
              </a:rPr>
              <a:t>확신이 없으면</a:t>
            </a:r>
            <a:r>
              <a:rPr sz="1800" b="0">
                <a:solidFill>
                  <a:srgbClr val="000000"/>
                </a:solidFill>
                <a:latin typeface="맑은 고딕"/>
                <a:ea typeface="맑은 고딕"/>
              </a:rPr>
              <a:t> 개념으로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타입</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898948"/>
          <a:ext cx="6921500" cy="3873500"/>
        </p:xfrm>
        <a:graphic>
          <a:graphicData uri="http://schemas.openxmlformats.org/drawingml/2006/table">
            <a:tbl>
              <a:tblPr/>
              <a:tblGrid>
                <a:gridCol w="2009140"/>
                <a:gridCol w="245618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부분으로 이루어진다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검증·해석 연산이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 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형식은? 다시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속성을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요구에는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판매가에 적용 기간이 생기는가?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단위가 있는 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 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속성의 타입은 대개 숫자·문자열 같은 기본 </a:t>
            </a:r>
            <a:r>
              <a:rPr sz="1800" b="1">
                <a:solidFill>
                  <a:srgbClr val="000000"/>
                </a:solidFill>
                <a:latin typeface="맑은 고딕"/>
                <a:ea typeface="맑은 고딕"/>
              </a:rPr>
              <a:t>데이터 타입</a:t>
            </a:r>
            <a:r>
              <a:rPr sz="1800" b="0">
                <a:solidFill>
                  <a:srgbClr val="000000"/>
                </a:solidFill>
                <a:latin typeface="맑은 고딕"/>
                <a:ea typeface="맑은 고딕"/>
              </a:rPr>
              <a:t>이다. 그러나 아래 조건에 맞으면 숫자나 문자열이 아니라 </a:t>
            </a:r>
            <a:r>
              <a:rPr sz="1800" b="1">
                <a:solidFill>
                  <a:srgbClr val="000000"/>
                </a:solidFill>
                <a:latin typeface="맑은 고딕"/>
                <a:ea typeface="맑은 고딕"/>
              </a:rPr>
              <a:t>새 데이터 타입</a:t>
            </a:r>
            <a:r>
              <a:rPr sz="1800" b="0">
                <a:solidFill>
                  <a:srgbClr val="000000"/>
                </a:solidFill>
                <a:latin typeface="맑은 고딕"/>
                <a:ea typeface="맑은 고딕"/>
              </a:rPr>
              <a:t>, 곧 업무 값의 종류로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대부분의 수치는 </a:t>
            </a:r>
            <a:r>
              <a:rPr sz="1800" b="1">
                <a:solidFill>
                  <a:srgbClr val="000000"/>
                </a:solidFill>
                <a:latin typeface="맑은 고딕"/>
                <a:ea typeface="맑은 고딕"/>
              </a:rPr>
              <a:t>단순한 숫자</a:t>
            </a:r>
            <a:r>
              <a:rPr sz="1800" b="0">
                <a:solidFill>
                  <a:srgbClr val="000000"/>
                </a:solidFill>
                <a:latin typeface="맑은 고딕"/>
                <a:ea typeface="맑은 고딕"/>
              </a:rPr>
              <a:t>로 표현하지 않는다</a:t>
            </a:r>
            <a:r>
              <a:rPr sz="1000" b="0">
                <a:solidFill>
                  <a:srgbClr val="000000"/>
                </a:solidFill>
                <a:latin typeface="맑은 고딕"/>
                <a:ea typeface="맑은 고딕"/>
              </a:rPr>
              <a:t>, </a:t>
            </a:r>
            <a:r>
              <a:rPr sz="1000" b="0">
                <a:solidFill>
                  <a:srgbClr val="000000"/>
                </a:solidFill>
                <a:latin typeface="맑은 고딕"/>
                <a:ea typeface="맑은 고딕"/>
              </a:rPr>
              <a:t>"Most numeric quantities should not be represented as plain numbers.",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타입으로 두는 조건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67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상태는 정해진 값의 목록이므로 </a:t>
            </a:r>
            <a:r>
              <a:rPr sz="1800" b="1">
                <a:solidFill>
                  <a:srgbClr val="000000"/>
                </a:solidFill>
                <a:latin typeface="맑은 고딕"/>
                <a:ea typeface="맑은 고딕"/>
              </a:rPr>
              <a:t>열거형</a:t>
            </a:r>
            <a:r>
              <a:rPr sz="1800" b="0">
                <a:solidFill>
                  <a:srgbClr val="000000"/>
                </a:solidFill>
                <a:latin typeface="맑은 고딕"/>
                <a:ea typeface="맑은 고딕"/>
              </a:rPr>
              <a:t>으로 둔다</a:t>
            </a:r>
            <a:r>
              <a:rPr sz="1400" b="0">
                <a:solidFill>
                  <a:srgbClr val="000000"/>
                </a:solidFill>
                <a:latin typeface="맑은 고딕"/>
                <a:ea typeface="맑은 고딕"/>
              </a:rPr>
              <a:t>(「상태 값과 상태 전이」)</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도메인</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898948"/>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숫자·문자열 같은 DB 타입이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 [Chen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속성 도메인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555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단위도 도메인이다</a:t>
            </a:r>
            <a:r>
              <a:rPr sz="1800" b="0">
                <a:solidFill>
                  <a:srgbClr val="000000"/>
                </a:solidFill>
                <a:latin typeface="맑은 고딕"/>
                <a:ea typeface="맑은 고딕"/>
              </a:rPr>
              <a:t> —</a:t>
            </a:r>
            <a:r>
              <a:rPr sz="1600" b="0">
                <a:solidFill>
                  <a:srgbClr val="000000"/>
                </a:solidFill>
                <a:latin typeface="맑은 고딕"/>
                <a:ea typeface="맑은 고딕"/>
              </a:rPr>
              <a:t> 같은 12라도 인치와 피트는 다른 값이다. 결제 금액 10,000이 원인지 달러인지 모르면 비교할 수 없다.</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수준 업무 규칙</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36850"/>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도메인」의 규칙은 </a:t>
            </a:r>
            <a:r>
              <a:rPr sz="1800" b="1">
                <a:solidFill>
                  <a:srgbClr val="000000"/>
                </a:solidFill>
                <a:latin typeface="맑은 고딕"/>
                <a:ea typeface="맑은 고딕"/>
              </a:rPr>
              <a:t>값 하나</a:t>
            </a:r>
            <a:r>
              <a:rPr sz="1800" b="0">
                <a:solidFill>
                  <a:srgbClr val="000000"/>
                </a:solidFill>
                <a:latin typeface="맑은 고딕"/>
                <a:ea typeface="맑은 고딕"/>
              </a:rPr>
              <a:t>에 걸린다. 규칙이 걸리는 범위가 넓어지면 다루는 곳도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규칙의 범위와 다루는 곳</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소유</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화면·서비스·DB의 검사 코드에 </a:t>
            </a:r>
            <a:r>
              <a:rPr sz="1800" b="1">
                <a:solidFill>
                  <a:srgbClr val="000000"/>
                </a:solidFill>
                <a:latin typeface="맑은 고딕"/>
                <a:ea typeface="맑은 고딕"/>
              </a:rPr>
              <a:t>흩어 두면</a:t>
            </a:r>
            <a:r>
              <a:rPr sz="1800" b="0">
                <a:solidFill>
                  <a:srgbClr val="000000"/>
                </a:solidFill>
                <a:latin typeface="맑은 고딕"/>
                <a:ea typeface="맑은 고딕"/>
              </a:rPr>
              <a:t> 규칙이 서로 달라진다. 화면은 수량 1 이상을 검사하는데 다른 경로가 검사하지 않으면 수량 0인 주문이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 [Evans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소유한다. 수량이라는 값의 종류가 "1 이상"을 지키면, 어느 경로로 만들어도 같은 규칙을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도메인 정의가 규칙을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가 규칙을 소유한다. DDD에서는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파생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r>
              <a:rPr sz="1800" b="0">
                <a:solidFill>
                  <a:srgbClr val="000000"/>
                </a:solidFill>
                <a:latin typeface="맑은 고딕"/>
                <a:ea typeface="맑은 고딕"/>
              </a:rPr>
              <a:t>. 고객이 확인하는 금액이라 계산 규칙이 </a:t>
            </a:r>
            <a:r>
              <a:rPr sz="1800" b="1">
                <a:solidFill>
                  <a:srgbClr val="000000"/>
                </a:solidFill>
                <a:latin typeface="맑은 고딕"/>
                <a:ea typeface="맑은 고딕"/>
              </a:rPr>
              <a:t>업무 의미</a:t>
            </a:r>
            <a:r>
              <a:rPr sz="1800" b="0">
                <a:solidFill>
                  <a:srgbClr val="000000"/>
                </a:solidFill>
                <a:latin typeface="맑은 고딕"/>
                <a:ea typeface="맑은 고딕"/>
              </a:rPr>
              <a:t>를 가진다.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저장과 계산</a:t>
            </a:r>
            <a:r>
              <a:rPr sz="1800" b="0">
                <a:solidFill>
                  <a:srgbClr val="000000"/>
                </a:solidFill>
                <a:latin typeface="맑은 고딕"/>
                <a:ea typeface="맑은 고딕"/>
              </a:rPr>
              <a:t> —</a:t>
            </a:r>
            <a:r>
              <a:rPr sz="1600" b="0">
                <a:solidFill>
                  <a:srgbClr val="000000"/>
                </a:solidFill>
                <a:latin typeface="맑은 고딕"/>
                <a:ea typeface="맑은 고딕"/>
              </a:rPr>
              <a:t> 저장할지 매번 계산할지는 설계가 정한다. 모델은 계산 규칙만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규칙이 바뀔 때</a:t>
            </a:r>
            <a:r>
              <a:rPr sz="1800" b="0">
                <a:solidFill>
                  <a:srgbClr val="000000"/>
                </a:solidFill>
                <a:latin typeface="맑은 고딕"/>
                <a:ea typeface="맑은 고딕"/>
              </a:rPr>
              <a:t> —</a:t>
            </a:r>
            <a:r>
              <a:rPr sz="1600" b="0">
                <a:solidFill>
                  <a:srgbClr val="000000"/>
                </a:solidFill>
                <a:latin typeface="맑은 고딕"/>
                <a:ea typeface="맑은 고딕"/>
              </a:rPr>
              <a:t> 할인·배송비가 생기면 총액 규칙이 바뀐다. 지금 요구에는 없으므로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파생 속성</a:t>
            </a:r>
          </a:p>
        </p:txBody>
      </p:sp>
      <p:pic>
        <p:nvPicPr>
          <p:cNvPr id="10" name="plantuml Diagram 10"/>
          <p:cNvPicPr>
            <a:picLocks noChangeAspect="1"/>
          </p:cNvPicPr>
          <p:nvPr/>
        </p:nvPicPr>
        <p:blipFill>
          <a:blip r:embed="plantumlImage10"/>
          <a:stretch>
            <a:fillRect/>
          </a:stretch>
        </p:blipFill>
        <p:spPr>
          <a:xfrm>
            <a:off x="3062654" y="3998976"/>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속성이 아닌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 클래스는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잇는다</a:t>
            </a:r>
            <a:r>
              <a:rPr sz="1000" b="0">
                <a:solidFill>
                  <a:srgbClr val="000000"/>
                </a:solidFill>
                <a:latin typeface="맑은 고딕"/>
                <a:ea typeface="맑은 고딕"/>
              </a:rPr>
              <a:t>, </a:t>
            </a:r>
            <a:r>
              <a:rPr sz="1000" b="0">
                <a:solidFill>
                  <a:srgbClr val="000000"/>
                </a:solidFill>
                <a:latin typeface="맑은 고딕"/>
                <a:ea typeface="맑은 고딕"/>
              </a:rPr>
              <a:t>"Relate conceptual classes with an association, not with an attribute.",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빼고 연관으로 잇는다.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690"/>
            <a:ext cx="8412480" cy="201168"/>
          </a:xfrm>
          <a:prstGeom prst="rect">
            <a:avLst/>
          </a:prstGeom>
          <a:noFill/>
        </p:spPr>
        <p:txBody>
          <a:bodyPr wrap="square">
            <a:spAutoFit/>
          </a:bodyPr>
          <a:lstStyle/>
          <a:p>
            <a:pPr algn="ctr"/>
            <a:r>
              <a:rPr sz="1400" b="1">
                <a:solidFill>
                  <a:srgbClr val="000000"/>
                </a:solidFill>
                <a:latin typeface="맑은 고딕"/>
                <a:ea typeface="맑은 고딕"/>
              </a:rPr>
              <a:t>식별 키 속성과 연관</a:t>
            </a:r>
          </a:p>
        </p:txBody>
      </p:sp>
      <p:pic>
        <p:nvPicPr>
          <p:cNvPr id="10" name="plantuml Diagram 11"/>
          <p:cNvPicPr>
            <a:picLocks noChangeAspect="1"/>
          </p:cNvPicPr>
          <p:nvPr/>
        </p:nvPicPr>
        <p:blipFill>
          <a:blip r:embed="plantumlImage11"/>
          <a:stretch>
            <a:fillRect/>
          </a:stretch>
        </p:blipFill>
        <p:spPr>
          <a:xfrm>
            <a:off x="3258038" y="3612434"/>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연관의 이름</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클래스</a:t>
            </a:r>
            <a:r>
              <a:rPr sz="1400" b="0">
                <a:solidFill>
                  <a:srgbClr val="000000"/>
                </a:solidFill>
                <a:latin typeface="맑은 고딕"/>
                <a:ea typeface="맑은 고딕"/>
              </a:rPr>
              <a:t>(정확히는 그 인스턴스)</a:t>
            </a:r>
            <a:r>
              <a:rPr sz="1800" b="0">
                <a:solidFill>
                  <a:srgbClr val="000000"/>
                </a:solidFill>
                <a:latin typeface="맑은 고딕"/>
                <a:ea typeface="맑은 고딕"/>
              </a:rPr>
              <a:t> 사이의 </a:t>
            </a:r>
            <a:r>
              <a:rPr sz="1800" b="1">
                <a:solidFill>
                  <a:srgbClr val="000000"/>
                </a:solidFill>
                <a:latin typeface="맑은 고딕"/>
                <a:ea typeface="맑은 고딕"/>
              </a:rPr>
              <a:t>의미 있고 흥미로운 연결</a:t>
            </a:r>
            <a:r>
              <a:rPr sz="1800" b="0">
                <a:solidFill>
                  <a:srgbClr val="000000"/>
                </a:solidFill>
                <a:latin typeface="맑은 고딕"/>
                <a:ea typeface="맑은 고딕"/>
              </a:rPr>
              <a:t>을 나타내는 관계다</a:t>
            </a:r>
            <a:r>
              <a:rPr sz="1000" b="0">
                <a:solidFill>
                  <a:srgbClr val="000000"/>
                </a:solidFill>
                <a:latin typeface="맑은 고딕"/>
                <a:ea typeface="맑은 고딕"/>
              </a:rPr>
              <a:t>, </a:t>
            </a:r>
            <a:r>
              <a:rPr sz="1000" b="0">
                <a:solidFill>
                  <a:srgbClr val="000000"/>
                </a:solidFill>
                <a:latin typeface="맑은 고딕"/>
                <a:ea typeface="맑은 고딕"/>
              </a:rPr>
              <a:t>"An association is a relationship between classes (more precisely, instances of those classes) that indicates some meaningful and interesting connection.",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클래스-동사구-클래스</a:t>
            </a:r>
            <a:r>
              <a:rPr sz="1600" b="0">
                <a:solidFill>
                  <a:srgbClr val="000000"/>
                </a:solidFill>
                <a:latin typeface="맑은 고딕"/>
                <a:ea typeface="맑은 고딕"/>
              </a:rPr>
              <a:t>로 읽히게 짓는다. 위 도식은 "고객이 주문을 </a:t>
            </a:r>
            <a:r>
              <a:rPr sz="1600" b="1">
                <a:solidFill>
                  <a:srgbClr val="000000"/>
                </a:solidFill>
                <a:latin typeface="맑은 고딕"/>
                <a:ea typeface="맑은 고딕"/>
              </a:rPr>
              <a:t>주문한다</a:t>
            </a:r>
            <a:r>
              <a:rPr sz="1600" b="0">
                <a:solidFill>
                  <a:srgbClr val="000000"/>
                </a:solidFill>
                <a:latin typeface="맑은 고딕"/>
                <a:ea typeface="맑은 고딕"/>
              </a:rPr>
              <a:t>", "주문이 주문 항목을 </a:t>
            </a:r>
            <a:r>
              <a:rPr sz="1600" b="1">
                <a:solidFill>
                  <a:srgbClr val="000000"/>
                </a:solidFill>
                <a:latin typeface="맑은 고딕"/>
                <a:ea typeface="맑은 고딕"/>
              </a:rPr>
              <a:t>포함한다</a:t>
            </a:r>
            <a:r>
              <a:rPr sz="1600" b="0">
                <a:solidFill>
                  <a:srgbClr val="000000"/>
                </a:solidFill>
                <a:latin typeface="맑은 고딕"/>
                <a:ea typeface="맑은 고딕"/>
              </a:rPr>
              <a:t>"로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방향</a:t>
            </a:r>
            <a:r>
              <a:rPr sz="1800" b="0">
                <a:solidFill>
                  <a:srgbClr val="000000"/>
                </a:solidFill>
                <a:latin typeface="맑은 고딕"/>
                <a:ea typeface="맑은 고딕"/>
              </a:rPr>
              <a:t> —</a:t>
            </a:r>
            <a:r>
              <a:rPr sz="1600" b="0">
                <a:solidFill>
                  <a:srgbClr val="000000"/>
                </a:solidFill>
                <a:latin typeface="맑은 고딕"/>
                <a:ea typeface="맑은 고딕"/>
              </a:rPr>
              <a:t> 이름 옆의 </a:t>
            </a:r>
            <a:r>
              <a:rPr sz="1600" b="0">
                <a:solidFill>
                  <a:srgbClr val="000000"/>
                </a:solidFill>
                <a:latin typeface="맑은 고딕"/>
                <a:ea typeface="맑은 고딕"/>
              </a:rPr>
              <a:t>&gt;</a:t>
            </a:r>
            <a:r>
              <a:rPr sz="1600" b="0">
                <a:solidFill>
                  <a:srgbClr val="000000"/>
                </a:solidFill>
                <a:latin typeface="맑은 고딕"/>
                <a:ea typeface="맑은 고딕"/>
              </a:rPr>
              <a:t>는 읽는 방향이다. 탐색 방향이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클래스 이름과 다를 때 연관 끝에 붙인다.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7385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주문의 연관</a:t>
            </a:r>
          </a:p>
        </p:txBody>
      </p:sp>
      <p:pic>
        <p:nvPicPr>
          <p:cNvPr id="10" name="plantuml Diagram 12"/>
          <p:cNvPicPr>
            <a:picLocks noChangeAspect="1"/>
          </p:cNvPicPr>
          <p:nvPr/>
        </p:nvPicPr>
        <p:blipFill>
          <a:blip r:embed="plantumlImage12"/>
          <a:stretch>
            <a:fillRect/>
          </a:stretch>
        </p:blipFill>
        <p:spPr>
          <a:xfrm>
            <a:off x="2173654" y="4511594"/>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기억해야 하는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관계를 </a:t>
            </a:r>
            <a:r>
              <a:rPr sz="1800" b="1">
                <a:solidFill>
                  <a:srgbClr val="000000"/>
                </a:solidFill>
                <a:latin typeface="맑은 고딕"/>
                <a:ea typeface="맑은 고딕"/>
              </a:rPr>
              <a:t>일정 기간 기억해야 하는</a:t>
            </a:r>
            <a:r>
              <a:rPr sz="1800" b="0">
                <a:solidFill>
                  <a:srgbClr val="000000"/>
                </a:solidFill>
                <a:latin typeface="맑은 고딕"/>
                <a:ea typeface="맑은 고딕"/>
              </a:rPr>
              <a:t> 연관을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관계에 대한 지식을 </a:t>
            </a:r>
            <a:r>
              <a:rPr sz="1800" b="1">
                <a:solidFill>
                  <a:srgbClr val="000000"/>
                </a:solidFill>
                <a:latin typeface="맑은 고딕"/>
                <a:ea typeface="맑은 고딕"/>
              </a:rPr>
              <a:t>일정 기간 보존해야 하는</a:t>
            </a:r>
            <a:r>
              <a:rPr sz="1800" b="0">
                <a:solidFill>
                  <a:srgbClr val="000000"/>
                </a:solidFill>
                <a:latin typeface="맑은 고딕"/>
                <a:ea typeface="맑은 고딕"/>
              </a:rPr>
              <a:t> 연관</a:t>
            </a:r>
            <a:r>
              <a:rPr sz="1000" b="0">
                <a:solidFill>
                  <a:srgbClr val="000000"/>
                </a:solidFill>
                <a:latin typeface="맑은 고딕"/>
                <a:ea typeface="맑은 고딕"/>
              </a:rPr>
              <a:t>, </a:t>
            </a:r>
            <a:r>
              <a:rPr sz="1000" b="0">
                <a:solidFill>
                  <a:srgbClr val="000000"/>
                </a:solidFill>
                <a:latin typeface="맑은 고딕"/>
                <a:ea typeface="맑은 고딕"/>
              </a:rPr>
              <a:t>"Associations for which knowledge of the relationship needs to be preserved for some duration",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기억해야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아래 목록에서 나와 도메인 이해를 돕는다. 예: 장바구니–장바구니 항목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일반적인 연관 목록</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2112010"/>
          <a:ext cx="6588760" cy="3873500"/>
        </p:xfrm>
        <a:graphic>
          <a:graphicData uri="http://schemas.openxmlformats.org/drawingml/2006/table">
            <a:tbl>
              <a:tblPr/>
              <a:tblGrid>
                <a:gridCol w="26517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다른 거래 B와 관련된 거래다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결제–주문, 환불–결제, 배송–주문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B의 항목이다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거래(항목) B의 상품·서비스다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B와 관련된 역할이다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B에 물리적·논리적으로 담긴다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B의 설명이다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상품–재고 품목 — 현재 모델에 없다(「설명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연관의 목록으로 </a:t>
            </a:r>
            <a:r>
              <a:rPr sz="1800" b="1">
                <a:solidFill>
                  <a:srgbClr val="000000"/>
                </a:solidFill>
                <a:latin typeface="맑은 고딕"/>
                <a:ea typeface="맑은 고딕"/>
              </a:rPr>
              <a:t>빠진 연관</a:t>
            </a:r>
            <a:r>
              <a:rPr sz="1800" b="0">
                <a:solidFill>
                  <a:srgbClr val="000000"/>
                </a:solidFill>
                <a:latin typeface="맑은 고딕"/>
                <a:ea typeface="맑은 고딕"/>
              </a:rPr>
              <a:t>을 점검한다. 목록에 맞는다고 모두 그리지는 않고, 기억할 필요가 있는 것만 그린다.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일반적인 연관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모델의 연관은 대부분 </a:t>
            </a:r>
            <a:r>
              <a:rPr sz="1800" b="1">
                <a:solidFill>
                  <a:srgbClr val="000000"/>
                </a:solidFill>
                <a:latin typeface="맑은 고딕"/>
                <a:ea typeface="맑은 고딕"/>
              </a:rPr>
              <a:t>거래</a:t>
            </a:r>
            <a:r>
              <a:rPr sz="1800" b="0">
                <a:solidFill>
                  <a:srgbClr val="000000"/>
                </a:solidFill>
                <a:latin typeface="맑은 고딕"/>
                <a:ea typeface="맑은 고딕"/>
              </a:rPr>
              <a:t>를 중심으로 이어진다. 거래가 다른 거래·항목·역할과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289894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다중성은 클래스 A의 인스턴스 </a:t>
            </a:r>
            <a:r>
              <a:rPr sz="1800" b="1">
                <a:solidFill>
                  <a:srgbClr val="000000"/>
                </a:solidFill>
                <a:latin typeface="맑은 고딕"/>
                <a:ea typeface="맑은 고딕"/>
              </a:rPr>
              <a:t>몇 개</a:t>
            </a:r>
            <a:r>
              <a:rPr sz="1800" b="0">
                <a:solidFill>
                  <a:srgbClr val="000000"/>
                </a:solidFill>
                <a:latin typeface="맑은 고딕"/>
                <a:ea typeface="맑은 고딕"/>
              </a:rPr>
              <a:t>가 클래스 B의 인스턴스 하나와 연관될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"Multiplicity defines how many instances of a class A can be associated with one instance of a class B.",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 표기</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다중성과 업무 규칙</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3261907"/>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주문 → 결제를 </a:t>
            </a:r>
            <a:r>
              <a:rPr sz="1800" b="0">
                <a:solidFill>
                  <a:srgbClr val="000000"/>
                </a:solidFill>
                <a:latin typeface="맑은 고딕"/>
                <a:ea typeface="맑은 고딕"/>
              </a:rPr>
              <a:t>0..1</a:t>
            </a:r>
            <a:r>
              <a:rPr sz="1800" b="0">
                <a:solidFill>
                  <a:srgbClr val="000000"/>
                </a:solidFill>
                <a:latin typeface="맑은 고딕"/>
                <a:ea typeface="맑은 고딕"/>
              </a:rPr>
              <a:t>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6345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다중성이 정하는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42507"/>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 주문의 고객 쪽이 </a:t>
            </a:r>
            <a:r>
              <a:rPr sz="1800" b="0">
                <a:solidFill>
                  <a:srgbClr val="000000"/>
                </a:solidFill>
                <a:latin typeface="맑은 고딕"/>
                <a:ea typeface="맑은 고딕"/>
              </a:rPr>
              <a:t>1</a:t>
            </a:r>
            <a:r>
              <a:rPr sz="1800" b="0">
                <a:solidFill>
                  <a:srgbClr val="000000"/>
                </a:solidFill>
                <a:latin typeface="맑은 고딕"/>
                <a:ea typeface="맑은 고딕"/>
              </a:rPr>
              <a:t>이면 </a:t>
            </a:r>
            <a:r>
              <a:rPr sz="1800" b="1">
                <a:solidFill>
                  <a:srgbClr val="000000"/>
                </a:solidFill>
                <a:latin typeface="맑은 고딕"/>
                <a:ea typeface="맑은 고딕"/>
              </a:rPr>
              <a:t>비회원 주문</a:t>
            </a:r>
            <a:r>
              <a:rPr sz="1800" b="0">
                <a:solidFill>
                  <a:srgbClr val="000000"/>
                </a:solidFill>
                <a:latin typeface="맑은 고딕"/>
                <a:ea typeface="맑은 고딕"/>
              </a:rPr>
              <a:t>은 없다. 정하지 않았다면 질문으로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주문–결제 다중성</a:t>
            </a:r>
          </a:p>
        </p:txBody>
      </p:sp>
      <p:pic>
        <p:nvPicPr>
          <p:cNvPr id="17" name="plantuml Diagram 13"/>
          <p:cNvPicPr>
            <a:picLocks noChangeAspect="1"/>
          </p:cNvPicPr>
          <p:nvPr/>
        </p:nvPicPr>
        <p:blipFill>
          <a:blip r:embed="plantumlImage13"/>
          <a:stretch>
            <a:fillRect/>
          </a:stretch>
        </p:blipFill>
        <p:spPr>
          <a:xfrm>
            <a:off x="3544321" y="2124456"/>
            <a:ext cx="2041769" cy="500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반복되는 속성 묶음</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개념에 모든 정보를 담으면 </a:t>
            </a:r>
            <a:r>
              <a:rPr sz="1800" b="1">
                <a:solidFill>
                  <a:srgbClr val="000000"/>
                </a:solidFill>
                <a:latin typeface="맑은 고딕"/>
                <a:ea typeface="맑은 고딕"/>
              </a:rPr>
              <a:t>반복되는 속성 묶음</a:t>
            </a:r>
            <a:r>
              <a:rPr sz="1800" b="0">
                <a:solidFill>
                  <a:srgbClr val="000000"/>
                </a:solidFill>
                <a:latin typeface="맑은 고딕"/>
                <a:ea typeface="맑은 고딕"/>
              </a:rPr>
              <a:t>이 생기고,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하고, 묶음은 </a:t>
            </a:r>
            <a:r>
              <a:rPr sz="1800" b="1">
                <a:solidFill>
                  <a:srgbClr val="000000"/>
                </a:solidFill>
                <a:latin typeface="맑은 고딕"/>
                <a:ea typeface="맑은 고딕"/>
              </a:rPr>
              <a:t>이름의 숫자</a:t>
            </a:r>
            <a:r>
              <a:rPr sz="1800" b="0">
                <a:solidFill>
                  <a:srgbClr val="000000"/>
                </a:solidFill>
                <a:latin typeface="맑은 고딕"/>
                <a:ea typeface="맑은 고딕"/>
              </a:rPr>
              <a:t>로만 구분된다.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이름을 주문에 담으면 고객과 주문의 </a:t>
            </a:r>
            <a:r>
              <a:rPr sz="1800" b="1">
                <a:solidFill>
                  <a:srgbClr val="000000"/>
                </a:solidFill>
                <a:latin typeface="맑은 고딕"/>
                <a:ea typeface="맑은 고딕"/>
              </a:rPr>
              <a:t>생애가 섞인다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반복되는 속성 묶음</a:t>
            </a:r>
          </a:p>
        </p:txBody>
      </p:sp>
      <p:pic>
        <p:nvPicPr>
          <p:cNvPr id="10" name="plantuml Diagram 14"/>
          <p:cNvPicPr>
            <a:picLocks noChangeAspect="1"/>
          </p:cNvPicPr>
          <p:nvPr/>
        </p:nvPicPr>
        <p:blipFill>
          <a:blip r:embed="plantumlImage14"/>
          <a:stretch>
            <a:fillRect/>
          </a:stretch>
        </p:blipFill>
        <p:spPr>
          <a:xfrm>
            <a:off x="4090865" y="3176016"/>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항목</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주문과 주문 항목</a:t>
            </a:r>
          </a:p>
        </p:txBody>
      </p:sp>
      <p:pic>
        <p:nvPicPr>
          <p:cNvPr id="10" name="plantuml Diagram 15"/>
          <p:cNvPicPr>
            <a:picLocks noChangeAspect="1"/>
          </p:cNvPicPr>
          <p:nvPr/>
        </p:nvPicPr>
        <p:blipFill>
          <a:blip r:embed="plantumlImage15"/>
          <a:stretch>
            <a:fillRect/>
          </a:stretch>
        </p:blipFill>
        <p:spPr>
          <a:xfrm>
            <a:off x="2510692" y="274929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(1/2)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37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주문–상품 다대다</a:t>
            </a:r>
          </a:p>
        </p:txBody>
      </p:sp>
      <p:pic>
        <p:nvPicPr>
          <p:cNvPr id="10" name="plantuml Diagram 16"/>
          <p:cNvPicPr>
            <a:picLocks noChangeAspect="1"/>
          </p:cNvPicPr>
          <p:nvPr/>
        </p:nvPicPr>
        <p:blipFill>
          <a:blip r:embed="plantumlImage16"/>
          <a:stretch>
            <a:fillRect/>
          </a:stretch>
        </p:blipFill>
        <p:spPr>
          <a:xfrm>
            <a:off x="3551115" y="2474976"/>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(2/2)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 아래 단서가 보이면 연관 클래스를 생각한다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관련된 속성</a:t>
            </a:r>
            <a:r>
              <a:rPr sz="1800" b="0">
                <a:solidFill>
                  <a:srgbClr val="000000"/>
                </a:solidFill>
                <a:latin typeface="맑은 고딕"/>
                <a:ea typeface="맑은 고딕"/>
              </a:rPr>
              <a:t> —</a:t>
            </a:r>
            <a:r>
              <a:rPr sz="1600" b="0">
                <a:solidFill>
                  <a:srgbClr val="000000"/>
                </a:solidFill>
                <a:latin typeface="맑은 고딕"/>
                <a:ea typeface="맑은 고딕"/>
              </a:rPr>
              <a:t> 수량·단가는 "이 주문–이 상품"에 관련된다.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매인 생애</a:t>
            </a:r>
            <a:r>
              <a:rPr sz="1800" b="0">
                <a:solidFill>
                  <a:srgbClr val="000000"/>
                </a:solidFill>
                <a:latin typeface="맑은 고딕"/>
                <a:ea typeface="맑은 고딕"/>
              </a:rPr>
              <a:t> —</a:t>
            </a:r>
            <a:r>
              <a:rPr sz="1600" b="0">
                <a:solidFill>
                  <a:srgbClr val="000000"/>
                </a:solidFill>
                <a:latin typeface="맑은 고딕"/>
                <a:ea typeface="맑은 고딕"/>
              </a:rPr>
              <a:t> 주문과 상품의 관계가 없으면 주문 항목도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다대다와 관계의 정보</a:t>
            </a:r>
            <a:r>
              <a:rPr sz="1800" b="0">
                <a:solidFill>
                  <a:srgbClr val="000000"/>
                </a:solidFill>
                <a:latin typeface="맑은 고딕"/>
                <a:ea typeface="맑은 고딕"/>
              </a:rPr>
              <a:t> —</a:t>
            </a:r>
            <a:r>
              <a:rPr sz="1600" b="0">
                <a:solidFill>
                  <a:srgbClr val="000000"/>
                </a:solidFill>
                <a:latin typeface="맑은 고딕"/>
                <a:ea typeface="맑은 고딕"/>
              </a:rPr>
              <a:t> "다대다는 중간 클래스로 푼다"를 암기하지 않는다. </a:t>
            </a:r>
            <a:r>
              <a:rPr sz="1600" b="1">
                <a:solidFill>
                  <a:srgbClr val="000000"/>
                </a:solidFill>
                <a:latin typeface="맑은 고딕"/>
                <a:ea typeface="맑은 고딕"/>
              </a:rPr>
              <a:t>관계에 정보가 있는지</a:t>
            </a:r>
            <a:r>
              <a:rPr sz="1600" b="0">
                <a:solidFill>
                  <a:srgbClr val="000000"/>
                </a:solidFill>
                <a:latin typeface="맑은 고딕"/>
                <a:ea typeface="맑은 고딕"/>
              </a:rPr>
              <a:t> 먼저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한계</a:t>
            </a:r>
            <a:r>
              <a:rPr sz="1800" b="0">
                <a:solidFill>
                  <a:srgbClr val="000000"/>
                </a:solidFill>
                <a:latin typeface="맑은 고딕"/>
                <a:ea typeface="맑은 고딕"/>
              </a:rPr>
              <a:t> —</a:t>
            </a:r>
            <a:r>
              <a:rPr sz="1600" b="0">
                <a:solidFill>
                  <a:srgbClr val="000000"/>
                </a:solidFill>
                <a:latin typeface="맑은 고딕"/>
                <a:ea typeface="맑은 고딕"/>
              </a:rPr>
              <a:t> 연관 클래스는 주문–상품 한 쌍에 하나다. 같은 주문에 같은 상품이 두 줄 들어갈 수 있으면 독립 개념으로 둔다</a:t>
            </a:r>
            <a:r>
              <a:rPr sz="1200" b="0">
                <a:solidFill>
                  <a:srgbClr val="000000"/>
                </a:solidFill>
                <a:latin typeface="맑은 고딕"/>
                <a:ea typeface="맑은 고딕"/>
              </a:rPr>
              <a:t>(「주문 항목」)</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374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항목 연관 클래스</a:t>
            </a:r>
          </a:p>
        </p:txBody>
      </p:sp>
      <p:pic>
        <p:nvPicPr>
          <p:cNvPr id="10" name="plantuml Diagram 17"/>
          <p:cNvPicPr>
            <a:picLocks noChangeAspect="1"/>
          </p:cNvPicPr>
          <p:nvPr/>
        </p:nvPicPr>
        <p:blipFill>
          <a:blip r:embed="plantumlImage17"/>
          <a:stretch>
            <a:fillRect/>
          </a:stretch>
        </p:blipFill>
        <p:spPr>
          <a:xfrm>
            <a:off x="3135923" y="4075176"/>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설명 클래스</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설명 클래스</a:t>
            </a:r>
            <a:r>
              <a:rPr sz="1400" b="0">
                <a:solidFill>
                  <a:srgbClr val="000000"/>
                </a:solidFill>
                <a:latin typeface="맑은 고딕"/>
                <a:ea typeface="맑은 고딕"/>
              </a:rPr>
              <a:t>(Description Class)</a:t>
            </a:r>
            <a:r>
              <a:rPr sz="1800" b="0">
                <a:solidFill>
                  <a:srgbClr val="000000"/>
                </a:solidFill>
                <a:latin typeface="맑은 고딕"/>
                <a:ea typeface="맑은 고딕"/>
              </a:rPr>
              <a:t>는 다른 것을 </a:t>
            </a:r>
            <a:r>
              <a:rPr sz="1800" b="1">
                <a:solidFill>
                  <a:srgbClr val="000000"/>
                </a:solidFill>
                <a:latin typeface="맑은 고딕"/>
                <a:ea typeface="맑은 고딕"/>
              </a:rPr>
              <a:t>설명하는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설명 클래스는 </a:t>
            </a:r>
            <a:r>
              <a:rPr sz="1800" b="1">
                <a:solidFill>
                  <a:srgbClr val="000000"/>
                </a:solidFill>
                <a:latin typeface="맑은 고딕"/>
                <a:ea typeface="맑은 고딕"/>
              </a:rPr>
              <a:t>다른 것을 설명하는 정보</a:t>
            </a:r>
            <a:r>
              <a:rPr sz="1800" b="0">
                <a:solidFill>
                  <a:srgbClr val="000000"/>
                </a:solidFill>
                <a:latin typeface="맑은 고딕"/>
                <a:ea typeface="맑은 고딕"/>
              </a:rPr>
              <a:t>를 담는다</a:t>
            </a:r>
            <a:r>
              <a:rPr sz="1000" b="0">
                <a:solidFill>
                  <a:srgbClr val="000000"/>
                </a:solidFill>
                <a:latin typeface="맑은 고딕"/>
                <a:ea typeface="맑은 고딕"/>
              </a:rPr>
              <a:t>, </a:t>
            </a:r>
            <a:r>
              <a:rPr sz="1000" b="0">
                <a:solidFill>
                  <a:srgbClr val="000000"/>
                </a:solidFill>
                <a:latin typeface="맑은 고딕"/>
                <a:ea typeface="맑은 고딕"/>
              </a:rPr>
              <a:t>"A description class contains information that describes something else.",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 때</a:t>
            </a:r>
            <a:r>
              <a:rPr sz="1800" b="0">
                <a:solidFill>
                  <a:srgbClr val="000000"/>
                </a:solidFill>
                <a:latin typeface="맑은 고딕"/>
                <a:ea typeface="맑은 고딕"/>
              </a:rPr>
              <a:t> —</a:t>
            </a:r>
            <a:r>
              <a:rPr sz="1600" b="0">
                <a:solidFill>
                  <a:srgbClr val="000000"/>
                </a:solidFill>
                <a:latin typeface="맑은 고딕"/>
                <a:ea typeface="맑은 고딕"/>
              </a:rPr>
              <a:t> 실물이 없어도 설명이 필요하다</a:t>
            </a:r>
            <a:r>
              <a:rPr sz="1200" b="0">
                <a:solidFill>
                  <a:srgbClr val="000000"/>
                </a:solidFill>
                <a:latin typeface="맑은 고딕"/>
                <a:ea typeface="맑은 고딕"/>
              </a:rPr>
              <a:t>(재고가 0이어도 상품을 보여 준다)</a:t>
            </a:r>
            <a:r>
              <a:rPr sz="1600" b="0">
                <a:solidFill>
                  <a:srgbClr val="000000"/>
                </a:solidFill>
                <a:latin typeface="맑은 고딕"/>
                <a:ea typeface="맑은 고딕"/>
              </a:rPr>
              <a:t>. 실물을 지우면 설명까지 사라진다. 같은 설명이 실물마다 반복된다.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실물을 추적하는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 상품이 이미 설명 클래스다. 재고는 </a:t>
            </a:r>
            <a:r>
              <a:rPr sz="1600" b="1">
                <a:solidFill>
                  <a:srgbClr val="000000"/>
                </a:solidFill>
                <a:latin typeface="맑은 고딕"/>
                <a:ea typeface="맑은 고딕"/>
              </a:rPr>
              <a:t>상품 시스템</a:t>
            </a:r>
            <a:r>
              <a:rPr sz="1600" b="0">
                <a:solidFill>
                  <a:srgbClr val="000000"/>
                </a:solidFill>
                <a:latin typeface="맑은 고딕"/>
                <a:ea typeface="맑은 고딕"/>
              </a:rPr>
              <a:t>이 소유한다.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9010"/>
            <a:ext cx="8412480" cy="201168"/>
          </a:xfrm>
          <a:prstGeom prst="rect">
            <a:avLst/>
          </a:prstGeom>
          <a:noFill/>
        </p:spPr>
        <p:txBody>
          <a:bodyPr wrap="square">
            <a:spAutoFit/>
          </a:bodyPr>
          <a:lstStyle/>
          <a:p>
            <a:pPr algn="ctr"/>
            <a:r>
              <a:rPr sz="1400" b="1">
                <a:solidFill>
                  <a:srgbClr val="000000"/>
                </a:solidFill>
                <a:latin typeface="맑은 고딕"/>
                <a:ea typeface="맑은 고딕"/>
              </a:rPr>
              <a:t>상품과 재고 품목</a:t>
            </a:r>
          </a:p>
        </p:txBody>
      </p:sp>
      <p:pic>
        <p:nvPicPr>
          <p:cNvPr id="10" name="plantuml Diagram 18"/>
          <p:cNvPicPr>
            <a:picLocks noChangeAspect="1"/>
          </p:cNvPicPr>
          <p:nvPr/>
        </p:nvPicPr>
        <p:blipFill>
          <a:blip r:embed="plantumlImage18"/>
          <a:stretch>
            <a:fillRect/>
          </a:stretch>
        </p:blipFill>
        <p:spPr>
          <a:xfrm>
            <a:off x="3316654" y="3886754"/>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361690"/>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a:t>
            </a:r>
            <a:r>
              <a:rPr sz="1800" b="0">
                <a:solidFill>
                  <a:srgbClr val="000000"/>
                </a:solidFill>
                <a:latin typeface="맑은 고딕"/>
                <a:ea typeface="맑은 고딕"/>
              </a:rPr>
              <a:t>은 특정 주문의 배송지를 바꾸는 것이다. 고객의 기본 주소 변경과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63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현재 값과 확정 값</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27442"/>
            <a:ext cx="8412480" cy="201168"/>
          </a:xfrm>
          <a:prstGeom prst="rect">
            <a:avLst/>
          </a:prstGeom>
          <a:noFill/>
        </p:spPr>
        <p:txBody>
          <a:bodyPr wrap="square">
            <a:spAutoFit/>
          </a:bodyPr>
          <a:lstStyle/>
          <a:p>
            <a:pPr algn="ctr"/>
            <a:r>
              <a:rPr sz="1400" b="1">
                <a:solidFill>
                  <a:srgbClr val="000000"/>
                </a:solidFill>
                <a:latin typeface="맑은 고딕"/>
                <a:ea typeface="맑은 고딕"/>
              </a:rPr>
              <a:t>현재 값과 확정 값</a:t>
            </a:r>
          </a:p>
        </p:txBody>
      </p:sp>
      <p:pic>
        <p:nvPicPr>
          <p:cNvPr id="16" name="plantuml Diagram 19"/>
          <p:cNvPicPr>
            <a:picLocks noChangeAspect="1"/>
          </p:cNvPicPr>
          <p:nvPr/>
        </p:nvPicPr>
        <p:blipFill>
          <a:blip r:embed="plantumlImage19"/>
          <a:stretch>
            <a:fillRect/>
          </a:stretch>
        </p:blipFill>
        <p:spPr>
          <a:xfrm>
            <a:off x="3163321" y="4765186"/>
            <a:ext cx="2803769" cy="13041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구조, 다른 의미</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112010"/>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장바구니 항목과 주문 항목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구조가 같다고 한 개념이나 공통 부모로 합치지 않는다. </a:t>
            </a:r>
            <a:r>
              <a:rPr sz="1800" b="1">
                <a:solidFill>
                  <a:srgbClr val="000000"/>
                </a:solidFill>
                <a:latin typeface="맑은 고딕"/>
                <a:ea typeface="맑은 고딕"/>
              </a:rPr>
              <a:t>의미와 규칙</a:t>
            </a:r>
            <a:r>
              <a:rPr sz="1800" b="0">
                <a:solidFill>
                  <a:srgbClr val="000000"/>
                </a:solidFill>
                <a:latin typeface="맑은 고딕"/>
                <a:ea typeface="맑은 고딕"/>
              </a:rPr>
              <a:t>이 같은지로 판단한다.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일반화</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91469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일 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상위 개념 정의의 </a:t>
            </a:r>
            <a:r>
              <a:rPr sz="1800" b="1">
                <a:solidFill>
                  <a:srgbClr val="000000"/>
                </a:solidFill>
                <a:latin typeface="맑은 고딕"/>
                <a:ea typeface="맑은 고딕"/>
              </a:rPr>
              <a:t>100%</a:t>
            </a:r>
            <a:r>
              <a:rPr sz="1800" b="0">
                <a:solidFill>
                  <a:srgbClr val="000000"/>
                </a:solidFill>
                <a:latin typeface="맑은 고딕"/>
                <a:ea typeface="맑은 고딕"/>
              </a:rPr>
              <a:t>가 하위 클래스에 적용되어야 한다</a:t>
            </a:r>
            <a:r>
              <a:rPr sz="1000" b="0">
                <a:solidFill>
                  <a:srgbClr val="000000"/>
                </a:solidFill>
                <a:latin typeface="맑은 고딕"/>
                <a:ea typeface="맑은 고딕"/>
              </a:rPr>
              <a:t>, </a:t>
            </a:r>
            <a:r>
              <a:rPr sz="1000" b="0">
                <a:solidFill>
                  <a:srgbClr val="000000"/>
                </a:solidFill>
                <a:latin typeface="맑은 고딕"/>
                <a:ea typeface="맑은 고딕"/>
              </a:rPr>
              <a:t>"100% of the conceptual superclass's definition should be applicable to the subclass.",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100% 규칙</a:t>
            </a:r>
            <a:r>
              <a:rPr sz="1800" b="0">
                <a:solidFill>
                  <a:srgbClr val="000000"/>
                </a:solidFill>
                <a:latin typeface="맑은 고딕"/>
                <a:ea typeface="맑은 고딕"/>
              </a:rPr>
              <a:t> —</a:t>
            </a:r>
            <a:r>
              <a:rPr sz="1600" b="0">
                <a:solidFill>
                  <a:srgbClr val="000000"/>
                </a:solidFill>
                <a:latin typeface="맑은 고딕"/>
                <a:ea typeface="맑은 고딕"/>
              </a:rPr>
              <a:t> 결제의 정의가 카드 결제에도 그대로 맞는다.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Is-a 규칙</a:t>
            </a:r>
            <a:r>
              <a:rPr sz="1800" b="0">
                <a:solidFill>
                  <a:srgbClr val="000000"/>
                </a:solidFill>
                <a:latin typeface="맑은 고딕"/>
                <a:ea typeface="맑은 고딕"/>
              </a:rPr>
              <a:t> —</a:t>
            </a:r>
            <a:r>
              <a:rPr sz="1600" b="0">
                <a:solidFill>
                  <a:srgbClr val="000000"/>
                </a:solidFill>
                <a:latin typeface="맑은 고딕"/>
                <a:ea typeface="맑은 고딕"/>
              </a:rPr>
              <a:t> 모든 카드 결제는 </a:t>
            </a:r>
            <a:r>
              <a:rPr sz="1600" b="1">
                <a:solidFill>
                  <a:srgbClr val="000000"/>
                </a:solidFill>
                <a:latin typeface="맑은 고딕"/>
                <a:ea typeface="맑은 고딕"/>
              </a:rPr>
              <a:t>결제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76570"/>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일반화</a:t>
            </a:r>
          </a:p>
        </p:txBody>
      </p:sp>
      <p:pic>
        <p:nvPicPr>
          <p:cNvPr id="10" name="plantuml Diagram 20"/>
          <p:cNvPicPr>
            <a:picLocks noChangeAspect="1"/>
          </p:cNvPicPr>
          <p:nvPr/>
        </p:nvPicPr>
        <p:blipFill>
          <a:blip r:embed="plantumlImage20"/>
          <a:stretch>
            <a:fillRect/>
          </a:stretch>
        </p:blipFill>
        <p:spPr>
          <a:xfrm>
            <a:off x="3492500" y="3414314"/>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상태는 하위 클래스가 아니다</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X의 </a:t>
            </a:r>
            <a:r>
              <a:rPr sz="1800" b="1">
                <a:solidFill>
                  <a:srgbClr val="000000"/>
                </a:solidFill>
                <a:latin typeface="맑은 고딕"/>
                <a:ea typeface="맑은 고딕"/>
              </a:rPr>
              <a:t>상태</a:t>
            </a:r>
            <a:r>
              <a:rPr sz="1800" b="0">
                <a:solidFill>
                  <a:srgbClr val="000000"/>
                </a:solidFill>
                <a:latin typeface="맑은 고딕"/>
                <a:ea typeface="맑은 고딕"/>
              </a:rPr>
              <a:t>를 X의 하위 클래스로 모델링하지 않는다</a:t>
            </a:r>
            <a:r>
              <a:rPr sz="1000" b="0">
                <a:solidFill>
                  <a:srgbClr val="000000"/>
                </a:solidFill>
                <a:latin typeface="맑은 고딕"/>
                <a:ea typeface="맑은 고딕"/>
              </a:rPr>
              <a:t>, </a:t>
            </a:r>
            <a:r>
              <a:rPr sz="1000" b="0">
                <a:solidFill>
                  <a:srgbClr val="000000"/>
                </a:solidFill>
                <a:latin typeface="맑은 고딕"/>
                <a:ea typeface="맑은 고딕"/>
              </a:rPr>
              <a:t>"Do not model the states of a concept X as subclasses of X.",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O-1을 취소하면 주문이 </a:t>
            </a:r>
            <a:r>
              <a:rPr sz="1600" b="1">
                <a:solidFill>
                  <a:srgbClr val="000000"/>
                </a:solidFill>
                <a:latin typeface="맑은 고딕"/>
                <a:ea typeface="맑은 고딕"/>
              </a:rPr>
              <a:t>클래스를 바꿔야</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예</a:t>
            </a:r>
            <a:r>
              <a:rPr sz="1800" b="0">
                <a:solidFill>
                  <a:srgbClr val="000000"/>
                </a:solidFill>
                <a:latin typeface="맑은 고딕"/>
                <a:ea typeface="맑은 고딕"/>
              </a:rPr>
              <a:t> —</a:t>
            </a:r>
            <a:r>
              <a:rPr sz="1600" b="0">
                <a:solidFill>
                  <a:srgbClr val="000000"/>
                </a:solidFill>
                <a:latin typeface="맑은 고딕"/>
                <a:ea typeface="맑은 고딕"/>
              </a:rPr>
              <a:t> 상태는 </a:t>
            </a:r>
            <a:r>
              <a:rPr sz="1600" b="1">
                <a:solidFill>
                  <a:srgbClr val="000000"/>
                </a:solidFill>
                <a:latin typeface="맑은 고딕"/>
                <a:ea typeface="맑은 고딕"/>
              </a:rPr>
              <a:t>상태 값</a:t>
            </a:r>
            <a:r>
              <a:rPr sz="1600" b="0">
                <a:solidFill>
                  <a:srgbClr val="000000"/>
                </a:solidFill>
                <a:latin typeface="맑은 고딕"/>
                <a:ea typeface="맑은 고딕"/>
              </a:rPr>
              <a:t>이고, 값을 바꾸는 사건은 상태 기계가 맡는다.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49850"/>
            <a:ext cx="8412480" cy="201168"/>
          </a:xfrm>
          <a:prstGeom prst="rect">
            <a:avLst/>
          </a:prstGeom>
          <a:noFill/>
        </p:spPr>
        <p:txBody>
          <a:bodyPr wrap="square">
            <a:spAutoFit/>
          </a:bodyPr>
          <a:lstStyle/>
          <a:p>
            <a:pPr algn="ctr"/>
            <a:r>
              <a:rPr sz="1400" b="1">
                <a:solidFill>
                  <a:srgbClr val="000000"/>
                </a:solidFill>
                <a:latin typeface="맑은 고딕"/>
                <a:ea typeface="맑은 고딕"/>
              </a:rPr>
              <a:t>상태 하위 클래스와 상태 값</a:t>
            </a:r>
          </a:p>
        </p:txBody>
      </p:sp>
      <p:pic>
        <p:nvPicPr>
          <p:cNvPr id="10" name="plantuml Diagram 21"/>
          <p:cNvPicPr>
            <a:picLocks noChangeAspect="1"/>
          </p:cNvPicPr>
          <p:nvPr/>
        </p:nvPicPr>
        <p:blipFill>
          <a:blip r:embed="plantumlImage21"/>
          <a:stretch>
            <a:fillRect/>
          </a:stretch>
        </p:blipFill>
        <p:spPr>
          <a:xfrm>
            <a:off x="3140808" y="2987594"/>
            <a:ext cx="2862385" cy="16265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제약</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r>
              <a:rPr sz="1800" b="0">
                <a:solidFill>
                  <a:srgbClr val="000000"/>
                </a:solidFill>
                <a:latin typeface="맑은 고딕"/>
                <a:ea typeface="맑은 고딕"/>
              </a:rPr>
              <a:t> —</a:t>
            </a:r>
            <a:r>
              <a:rPr sz="1600" b="0">
                <a:solidFill>
                  <a:srgbClr val="000000"/>
                </a:solidFill>
                <a:latin typeface="맑은 고딕"/>
                <a:ea typeface="맑은 고딕"/>
              </a:rPr>
              <a:t> 수량은 1 이상, 주문 총액은 수량 × 단가의 합계, 환불 금액은 결제 금액 이하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r>
              <a:rPr sz="1800" b="0">
                <a:solidFill>
                  <a:srgbClr val="000000"/>
                </a:solidFill>
                <a:latin typeface="맑은 고딕"/>
                <a:ea typeface="맑은 고딕"/>
              </a:rPr>
              <a:t> —</a:t>
            </a:r>
            <a:r>
              <a:rPr sz="1600" b="0">
                <a:solidFill>
                  <a:srgbClr val="000000"/>
                </a:solidFill>
                <a:latin typeface="맑은 고딕"/>
                <a:ea typeface="맑은 고딕"/>
              </a:rPr>
              <a:t> "배송 시작 이후에는 취소할 수 없다"처럼 </a:t>
            </a:r>
            <a:r>
              <a:rPr sz="1600" b="1">
                <a:solidFill>
                  <a:srgbClr val="000000"/>
                </a:solidFill>
                <a:latin typeface="맑은 고딕"/>
                <a:ea typeface="맑은 고딕"/>
              </a:rPr>
              <a:t>시점·사건</a:t>
            </a:r>
            <a:r>
              <a:rPr sz="1600" b="0">
                <a:solidFill>
                  <a:srgbClr val="000000"/>
                </a:solidFill>
                <a:latin typeface="맑은 고딕"/>
                <a:ea typeface="맑은 고딕"/>
              </a:rPr>
              <a:t>에 따라 허용이 달라지는 규칙은 동적 모델에서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제약</a:t>
            </a:r>
          </a:p>
        </p:txBody>
      </p:sp>
      <p:pic>
        <p:nvPicPr>
          <p:cNvPr id="10" name="plantuml Diagram 22"/>
          <p:cNvPicPr>
            <a:picLocks noChangeAspect="1"/>
          </p:cNvPicPr>
          <p:nvPr/>
        </p:nvPicPr>
        <p:blipFill>
          <a:blip r:embed="plantumlImage22"/>
          <a:stretch>
            <a:fillRect/>
          </a:stretch>
        </p:blipFill>
        <p:spPr>
          <a:xfrm>
            <a:off x="2818423" y="3374136"/>
            <a:ext cx="3507154" cy="17315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지도 제작자의 원칙</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빼며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 Exclude irrelevant or out-of-scope features. … Do not add things that are not there.",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쓰는 이름</a:t>
            </a:r>
            <a:r>
              <a:rPr sz="1800" b="0">
                <a:solidFill>
                  <a:srgbClr val="000000"/>
                </a:solidFill>
                <a:latin typeface="맑은 고딕"/>
                <a:ea typeface="맑은 고딕"/>
              </a:rPr>
              <a:t> —</a:t>
            </a:r>
            <a:r>
              <a:rPr sz="1600" b="0">
                <a:solidFill>
                  <a:srgbClr val="000000"/>
                </a:solidFill>
                <a:latin typeface="맑은 고딕"/>
                <a:ea typeface="맑은 고딕"/>
              </a:rPr>
              <a:t> 현업이 부르는 "주문 항목"을 쓰고, 개발자가 만든 </a:t>
            </a:r>
            <a:r>
              <a:rPr sz="1600" b="0">
                <a:solidFill>
                  <a:srgbClr val="000000"/>
                </a:solidFill>
                <a:latin typeface="맑은 고딕"/>
                <a:ea typeface="맑은 고딕"/>
              </a:rPr>
              <a:t>OrderLine</a:t>
            </a:r>
            <a:r>
              <a:rPr sz="1600" b="0">
                <a:solidFill>
                  <a:srgbClr val="000000"/>
                </a:solidFill>
                <a:latin typeface="맑은 고딕"/>
                <a:ea typeface="맑은 고딕"/>
              </a:rPr>
              <a:t>을 강요하지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밖은 뺀다</a:t>
            </a:r>
            <a:r>
              <a:rPr sz="1800" b="0">
                <a:solidFill>
                  <a:srgbClr val="000000"/>
                </a:solidFill>
                <a:latin typeface="맑은 고딕"/>
                <a:ea typeface="맑은 고딕"/>
              </a:rPr>
              <a:t> —</a:t>
            </a:r>
            <a:r>
              <a:rPr sz="1600" b="0">
                <a:solidFill>
                  <a:srgbClr val="000000"/>
                </a:solidFill>
                <a:latin typeface="맑은 고딕"/>
                <a:ea typeface="맑은 고딕"/>
              </a:rPr>
              <a:t> 현재 요구와 무관한 포장재는 그리지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없는 것은 더하지 않는다</a:t>
            </a:r>
            <a:r>
              <a:rPr sz="1800" b="0">
                <a:solidFill>
                  <a:srgbClr val="000000"/>
                </a:solidFill>
                <a:latin typeface="맑은 고딕"/>
                <a:ea typeface="맑은 고딕"/>
              </a:rPr>
              <a:t> —</a:t>
            </a:r>
            <a:r>
              <a:rPr sz="1600" b="0">
                <a:solidFill>
                  <a:srgbClr val="000000"/>
                </a:solidFill>
                <a:latin typeface="맑은 고딕"/>
                <a:ea typeface="맑은 고딕"/>
              </a:rPr>
              <a:t> 확인되지 않은 "주문 승인" 단계는 만들지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동의어와 동음이의어</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동음이의어를 그대로 두면 "취소되면 환불된다"처럼 서로 다른 사실이 한 단어에 섞인다. 모델에서는 </a:t>
            </a:r>
            <a:r>
              <a:rPr sz="1800" b="1">
                <a:solidFill>
                  <a:srgbClr val="000000"/>
                </a:solidFill>
                <a:latin typeface="맑은 고딕"/>
                <a:ea typeface="맑은 고딕"/>
              </a:rPr>
              <a:t>다른 이름</a:t>
            </a:r>
            <a:r>
              <a:rPr sz="1800" b="0">
                <a:solidFill>
                  <a:srgbClr val="000000"/>
                </a:solidFill>
                <a:latin typeface="맑은 고딕"/>
                <a:ea typeface="맑은 고딕"/>
              </a:rPr>
              <a:t>으로 나눈다.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정제</a:t>
            </a:r>
          </a:p>
          <a:p>
            <a:r>
              <a:rPr sz="1100" b="1">
                <a:solidFill>
                  <a:srgbClr val="000000"/>
                </a:solidFill>
                <a:latin typeface="맑은 고딕"/>
                <a:ea typeface="맑은 고딕"/>
              </a:rPr>
              <a:t>13. 용어 정렬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05016" y="2386330"/>
          <a:ext cx="8120380" cy="3873500"/>
        </p:xfrm>
        <a:graphic>
          <a:graphicData uri="http://schemas.openxmlformats.org/drawingml/2006/table">
            <a:tbl>
              <a:tblPr/>
              <a:tblGrid>
                <a:gridCol w="947420"/>
                <a:gridCol w="335026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모델에서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정제한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3093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기억할 관계만 </a:t>
            </a:r>
            <a:r>
              <a:rPr sz="1800" b="1">
                <a:solidFill>
                  <a:srgbClr val="000000"/>
                </a:solidFill>
                <a:latin typeface="맑은 고딕"/>
                <a:ea typeface="맑은 고딕"/>
              </a:rPr>
              <a:t>이름 있는 연관</a:t>
            </a:r>
            <a:r>
              <a:rPr sz="1800" b="0">
                <a:solidFill>
                  <a:srgbClr val="000000"/>
                </a:solidFill>
                <a:latin typeface="맑은 고딕"/>
                <a:ea typeface="맑은 고딕"/>
              </a:rPr>
              <a:t>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"장바구니가 장바구니 항목을 담는다"처럼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속성부터 채우면 구조보다 </a:t>
            </a:r>
            <a:r>
              <a:rPr sz="1800" b="1">
                <a:solidFill>
                  <a:srgbClr val="000000"/>
                </a:solidFill>
                <a:latin typeface="맑은 고딕"/>
                <a:ea typeface="맑은 고딕"/>
              </a:rPr>
              <a:t>세부 논쟁</a:t>
            </a:r>
            <a:r>
              <a:rPr sz="1800" b="0">
                <a:solidFill>
                  <a:srgbClr val="000000"/>
                </a:solidFill>
                <a:latin typeface="맑은 고딕"/>
                <a:ea typeface="맑은 고딕"/>
              </a:rPr>
              <a:t>이 먼저 시작된다.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 초안</a:t>
            </a:r>
          </a:p>
        </p:txBody>
      </p:sp>
      <p:pic>
        <p:nvPicPr>
          <p:cNvPr id="10" name="plantuml Diagram 23"/>
          <p:cNvPicPr>
            <a:picLocks noChangeAspect="1"/>
          </p:cNvPicPr>
          <p:nvPr/>
        </p:nvPicPr>
        <p:blipFill>
          <a:blip r:embed="plantumlImage23"/>
          <a:stretch>
            <a:fillRect/>
          </a:stretch>
        </p:blipFill>
        <p:spPr>
          <a:xfrm>
            <a:off x="1763346" y="3176016"/>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초안과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46331"/>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초안</a:t>
            </a:r>
          </a:p>
        </p:txBody>
      </p:sp>
      <p:pic>
        <p:nvPicPr>
          <p:cNvPr id="34" name="plantuml Diagram 24"/>
          <p:cNvPicPr>
            <a:picLocks noChangeAspect="1"/>
          </p:cNvPicPr>
          <p:nvPr/>
        </p:nvPicPr>
        <p:blipFill>
          <a:blip r:embed="plantumlImage24"/>
          <a:stretch>
            <a:fillRect/>
          </a:stretch>
        </p:blipFill>
        <p:spPr>
          <a:xfrm>
            <a:off x="1763346" y="2153894"/>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상세화</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 상세화</a:t>
            </a:r>
          </a:p>
        </p:txBody>
      </p:sp>
      <p:pic>
        <p:nvPicPr>
          <p:cNvPr id="10" name="plantuml Diagram 25"/>
          <p:cNvPicPr>
            <a:picLocks noChangeAspect="1"/>
          </p:cNvPicPr>
          <p:nvPr/>
        </p:nvPicPr>
        <p:blipFill>
          <a:blip r:embed="plantumlImage25"/>
          <a:stretch>
            <a:fillRect/>
          </a:stretch>
        </p:blipFill>
        <p:spPr>
          <a:xfrm>
            <a:off x="1637793" y="2398776"/>
            <a:ext cx="5868415" cy="397769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모델을 문장으로 읽기</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속성 도메인과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111177"/>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a:t>
            </a:r>
            <a:r>
              <a:rPr sz="1800" b="0">
                <a:solidFill>
                  <a:srgbClr val="000000"/>
                </a:solidFill>
                <a:latin typeface="맑은 고딕"/>
                <a:ea typeface="맑은 고딕"/>
              </a:rPr>
              <a:t>수량</a:t>
            </a:r>
            <a:r>
              <a:rPr sz="1800" b="0">
                <a:solidFill>
                  <a:srgbClr val="000000"/>
                </a:solidFill>
                <a:latin typeface="맑은 고딕"/>
                <a:ea typeface="맑은 고딕"/>
              </a:rPr>
              <a:t> 타입의 필드가 되고,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111177"/>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6"/>
          <p:cNvPicPr>
            <a:picLocks noChangeAspect="1"/>
          </p:cNvPicPr>
          <p:nvPr/>
        </p:nvPicPr>
        <p:blipFill>
          <a:blip r:embed="plantumlImage26"/>
          <a:stretch>
            <a:fillRect/>
          </a:stretch>
        </p:blipFill>
        <p:spPr>
          <a:xfrm>
            <a:off x="1675423" y="2153894"/>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다중성·합성과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306574"/>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306574"/>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6591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7"/>
          <p:cNvPicPr>
            <a:picLocks noChangeAspect="1"/>
          </p:cNvPicPr>
          <p:nvPr/>
        </p:nvPicPr>
        <p:blipFill>
          <a:blip r:embed="plantumlImage27"/>
          <a:stretch>
            <a:fillRect/>
          </a:stretch>
        </p:blipFill>
        <p:spPr>
          <a:xfrm>
            <a:off x="2254738" y="1896856"/>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제약과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111177"/>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111177"/>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8"/>
          <p:cNvPicPr>
            <a:picLocks noChangeAspect="1"/>
          </p:cNvPicPr>
          <p:nvPr/>
        </p:nvPicPr>
        <p:blipFill>
          <a:blip r:embed="plantumlImage28"/>
          <a:stretch>
            <a:fillRect/>
          </a:stretch>
        </p:blipFill>
        <p:spPr>
          <a:xfrm>
            <a:off x="1675423" y="2153894"/>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규칙에서 테스트로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4139"/>
            <a:ext cx="4114800" cy="15087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도메인모델테스트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펜 = new 상품("펜", new 금액(1000));</a:t>
            </a:r>
          </a:p>
          <a:p>
            <a:pPr marL="0" indent="0" algn="l">
              <a:lnSpc>
                <a:spcPts val="1080"/>
              </a:lnSpc>
              <a:spcBef>
                <a:spcPts val="0"/>
              </a:spcBef>
              <a:spcAft>
                <a:spcPts val="0"/>
              </a:spcAft>
              <a:buNone/>
            </a:pPr>
            <a:r>
              <a:rPr sz="900" b="0">
                <a:solidFill>
                  <a:srgbClr val="000000"/>
                </a:solidFill>
                <a:latin typeface="Consolas"/>
                <a:ea typeface="맑은 고딕"/>
              </a:rPr>
              <a:t>        var 주문 =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Map.of(펜, new 수량(2)), new 주소("서울"));</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펜.판매가 = new 금액(1500);</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4139"/>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거절(() -&gt; new 수량(0));</a:t>
            </a:r>
          </a:p>
          <a:p>
            <a:pPr marL="0" indent="0" algn="l">
              <a:lnSpc>
                <a:spcPts val="1080"/>
              </a:lnSpc>
              <a:spcBef>
                <a:spcPts val="0"/>
              </a:spcBef>
              <a:spcAft>
                <a:spcPts val="0"/>
              </a:spcAft>
              <a:buNone/>
            </a:pPr>
            <a:r>
              <a:rPr sz="900" b="0">
                <a:solidFill>
                  <a:srgbClr val="000000"/>
                </a:solidFill>
                <a:latin typeface="Consolas"/>
                <a:ea typeface="맑은 고딕"/>
              </a:rPr>
              <a:t>        거절(() -&gt;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 new 주소("서울")));</a:t>
            </a:r>
          </a:p>
          <a:p>
            <a:pPr marL="0" indent="0" algn="l">
              <a:lnSpc>
                <a:spcPts val="1080"/>
              </a:lnSpc>
              <a:spcBef>
                <a:spcPts val="0"/>
              </a:spcBef>
              <a:spcAft>
                <a:spcPts val="0"/>
              </a:spcAft>
              <a:buNone/>
            </a:pPr>
            <a:r>
              <a:rPr sz="900" b="0">
                <a:solidFill>
                  <a:srgbClr val="000000"/>
                </a:solidFill>
                <a:latin typeface="Consolas"/>
                <a:ea typeface="맑은 고딕"/>
              </a:rPr>
              <a:t>        거절(() -&gt; new 환불(new 결제(new 금액(2000)),</a:t>
            </a:r>
          </a:p>
          <a:p>
            <a:pPr marL="0" indent="0" algn="l">
              <a:lnSpc>
                <a:spcPts val="1080"/>
              </a:lnSpc>
              <a:spcBef>
                <a:spcPts val="0"/>
              </a:spcBef>
              <a:spcAft>
                <a:spcPts val="0"/>
              </a:spcAft>
              <a:buNone/>
            </a:pPr>
            <a:r>
              <a:rPr sz="900" b="0">
                <a:solidFill>
                  <a:srgbClr val="000000"/>
                </a:solidFill>
                <a:latin typeface="Consolas"/>
                <a:ea typeface="맑은 고딕"/>
              </a:rPr>
              <a:t>                new 금액(3000)));</a:t>
            </a:r>
          </a:p>
          <a:p>
            <a:pPr marL="0" indent="0" algn="l">
              <a:lnSpc>
                <a:spcPts val="1080"/>
              </a:lnSpc>
              <a:spcBef>
                <a:spcPts val="0"/>
              </a:spcBef>
              <a:spcAft>
                <a:spcPts val="0"/>
              </a:spcAft>
              <a:buNone/>
            </a:pPr>
            <a:r>
              <a:rPr sz="900" b="0">
                <a:solidFill>
                  <a:srgbClr val="000000"/>
                </a:solidFill>
                <a:latin typeface="Consolas"/>
                <a:ea typeface="맑은 고딕"/>
              </a:rPr>
              <a:t>        System.out.println("정적 모델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6591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9"/>
          <p:cNvPicPr>
            <a:picLocks noChangeAspect="1"/>
          </p:cNvPicPr>
          <p:nvPr/>
        </p:nvPicPr>
        <p:blipFill>
          <a:blip r:embed="plantumlImage29"/>
          <a:stretch>
            <a:fillRect/>
          </a:stretch>
        </p:blipFill>
        <p:spPr>
          <a:xfrm>
            <a:off x="1675423" y="1896856"/>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표기</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4411123"/>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32003"/>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 표기</a:t>
            </a:r>
          </a:p>
        </p:txBody>
      </p:sp>
      <p:pic>
        <p:nvPicPr>
          <p:cNvPr id="16" name="svg Diagram 6" descr="패키지 다이어그램 표기: 패키지, 포함, 의존"/>
          <p:cNvPicPr>
            <a:picLocks noChangeAspect="1"/>
          </p:cNvPicPr>
          <p:nvPr/>
        </p:nvPicPr>
        <p:blipFill>
          <a:blip r:embed="svgImage6"/>
          <a:stretch>
            <a:fillRect/>
          </a:stretch>
        </p:blipFill>
        <p:spPr>
          <a:xfrm>
            <a:off x="1588643" y="2124456"/>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기준</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8085" y="3061046"/>
          <a:ext cx="7254240" cy="3873500"/>
        </p:xfrm>
        <a:graphic>
          <a:graphicData uri="http://schemas.openxmlformats.org/drawingml/2006/table">
            <a:tbl>
              <a:tblPr/>
              <a:tblGrid>
                <a:gridCol w="1450340"/>
                <a:gridCol w="491490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개념(「상태는 하위 클래스가 아니다」의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기준으로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에서 개념이나 목적으로 가깝거나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있거나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참여하거나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 are in a class hierarchy together … participate in the same use cases … are strongly associated",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기준과 주문 사례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2964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(1/2)</a:t>
            </a:r>
          </a:p>
          <a:p>
            <a:r>
              <a:rPr sz="1100" b="1">
                <a:solidFill>
                  <a:srgbClr val="000000"/>
                </a:solidFill>
                <a:latin typeface="맑은 고딕"/>
                <a:ea typeface="맑은 고딕"/>
              </a:rPr>
              <a:t>15. 패키지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「규칙에서 테스트로」의 통합 모델을 </a:t>
            </a:r>
            <a:r>
              <a:rPr sz="1800" b="1">
                <a:solidFill>
                  <a:srgbClr val="000000"/>
                </a:solidFill>
                <a:latin typeface="맑은 고딕"/>
                <a:ea typeface="맑은 고딕"/>
              </a:rPr>
              <a:t>패키지 기준</a:t>
            </a:r>
            <a:r>
              <a:rPr sz="1800" b="0">
                <a:solidFill>
                  <a:srgbClr val="000000"/>
                </a:solidFill>
                <a:latin typeface="맑은 고딕"/>
                <a:ea typeface="맑은 고딕"/>
              </a:rPr>
              <a:t>으로 나눈 것이다. 속성·다중성·연관 이름은 감추고 클래스와 관계만 남겨 </a:t>
            </a:r>
            <a:r>
              <a:rPr sz="1800" b="1">
                <a:solidFill>
                  <a:srgbClr val="000000"/>
                </a:solidFill>
                <a:latin typeface="맑은 고딕"/>
                <a:ea typeface="맑은 고딕"/>
              </a:rPr>
              <a:t>묶음</a:t>
            </a:r>
            <a:r>
              <a:rPr sz="1800" b="0">
                <a:solidFill>
                  <a:srgbClr val="000000"/>
                </a:solidFill>
                <a:latin typeface="맑은 고딕"/>
                <a:ea typeface="맑은 고딕"/>
              </a:rPr>
              <a:t>을 드러낸다.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r>
              <a:rPr sz="1400" b="1">
                <a:solidFill>
                  <a:srgbClr val="000000"/>
                </a:solidFill>
                <a:latin typeface="맑은 고딕"/>
                <a:ea typeface="맑은 고딕"/>
              </a:rPr>
              <a:t>도메인 모델 — 패키지별</a:t>
            </a:r>
          </a:p>
        </p:txBody>
      </p:sp>
      <p:pic>
        <p:nvPicPr>
          <p:cNvPr id="10" name="plantuml Diagram 30"/>
          <p:cNvPicPr>
            <a:picLocks noChangeAspect="1"/>
          </p:cNvPicPr>
          <p:nvPr/>
        </p:nvPicPr>
        <p:blipFill>
          <a:blip r:embed="plantumlImage30"/>
          <a:stretch>
            <a:fillRect/>
          </a:stretch>
        </p:blipFill>
        <p:spPr>
          <a:xfrm>
            <a:off x="2344615" y="2398776"/>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(2/2)</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패키지와 담은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3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과잉</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구현 요소</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88792"/>
            <a:ext cx="8412480" cy="201168"/>
          </a:xfrm>
          <a:prstGeom prst="rect">
            <a:avLst/>
          </a:prstGeom>
          <a:noFill/>
        </p:spPr>
        <p:txBody>
          <a:bodyPr wrap="square">
            <a:spAutoFit/>
          </a:bodyPr>
          <a:lstStyle/>
          <a:p>
            <a:pPr algn="ctr"/>
            <a:r>
              <a:rPr sz="1400" b="1">
                <a:solidFill>
                  <a:srgbClr val="000000"/>
                </a:solidFill>
                <a:latin typeface="맑은 고딕"/>
                <a:ea typeface="맑은 고딕"/>
              </a:rPr>
              <a:t>구현 요소가 섞인 모델</a:t>
            </a:r>
          </a:p>
        </p:txBody>
      </p:sp>
      <p:pic>
        <p:nvPicPr>
          <p:cNvPr id="10" name="plantuml Diagram 31"/>
          <p:cNvPicPr>
            <a:picLocks noChangeAspect="1"/>
          </p:cNvPicPr>
          <p:nvPr/>
        </p:nvPicPr>
        <p:blipFill>
          <a:blip r:embed="plantumlImage31"/>
          <a:stretch>
            <a:fillRect/>
          </a:stretch>
        </p:blipFill>
        <p:spPr>
          <a:xfrm>
            <a:off x="2835519" y="3526536"/>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 없는 속성</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12010"/>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 없는 속성의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남용</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2112010"/>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기억해야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관계 남용의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개념과 이름</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2112010"/>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개념과 이름의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범위·시점</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37690"/>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그려 놓고도 판단에 쓰지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범위와 시점의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모델의 유용성</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 </a:t>
            </a:r>
            <a:r>
              <a:rPr sz="2000" b="1">
                <a:solidFill>
                  <a:srgbClr val="000000"/>
                </a:solidFill>
                <a:latin typeface="맑은 고딕"/>
                <a:ea typeface="맑은 고딕"/>
              </a:rPr>
              <a:t>(1/2)</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64080"/>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 </a:t>
            </a:r>
            <a:r>
              <a:rPr sz="2000" b="1">
                <a:solidFill>
                  <a:srgbClr val="000000"/>
                </a:solidFill>
                <a:latin typeface="맑은 고딕"/>
                <a:ea typeface="맑은 고딕"/>
              </a:rPr>
              <a:t>(2/2)</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39240"/>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되돌릴 곳</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39240"/>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모델의 한계</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정의서의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정의서의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a:t>
            </a:r>
            <a:r>
              <a:rPr sz="1800" b="0">
                <a:solidFill>
                  <a:srgbClr val="000000"/>
                </a:solidFill>
                <a:latin typeface="맑은 고딕"/>
                <a:ea typeface="맑은 고딕"/>
              </a:rPr>
              <a:t> —</a:t>
            </a:r>
            <a:r>
              <a:rPr sz="1600" b="0">
                <a:solidFill>
                  <a:srgbClr val="000000"/>
                </a:solidFill>
                <a:latin typeface="맑은 고딕"/>
                <a:ea typeface="맑은 고딕"/>
              </a:rPr>
              <a:t> 존재·관계는 정적 모델, 사건·전이는 동적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작성 절차</a:t>
            </a:r>
            <a:r>
              <a:rPr sz="1800" b="0">
                <a:solidFill>
                  <a:srgbClr val="000000"/>
                </a:solidFill>
                <a:latin typeface="맑은 고딕"/>
                <a:ea typeface="맑은 고딕"/>
              </a:rPr>
              <a:t> —</a:t>
            </a:r>
            <a:r>
              <a:rPr sz="1600" b="0">
                <a:solidFill>
                  <a:srgbClr val="000000"/>
                </a:solidFill>
                <a:latin typeface="맑은 고딕"/>
                <a:ea typeface="맑은 고딕"/>
              </a:rPr>
              <a:t> 찾기 → 그리기 → 연관·속성. 출발점은 데이터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연관·다중성·합성·일반화. 상태는 하위 클래스가 아님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값의 종류는 타입, 규칙 예시는 테스트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용어집 정제, 패키지, 시나리오 교차검토</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결제가 </a:t>
            </a:r>
            <a:r>
              <a:rPr sz="1400" b="1">
                <a:solidFill>
                  <a:srgbClr val="000000"/>
                </a:solidFill>
                <a:latin typeface="맑은 고딕"/>
                <a:ea typeface="맑은 고딕"/>
              </a:rPr>
              <a:t>1..*</a:t>
            </a:r>
            <a:r>
              <a:rPr sz="1400" b="1">
                <a:solidFill>
                  <a:srgbClr val="000000"/>
                </a:solidFill>
                <a:latin typeface="맑은 고딕"/>
                <a:ea typeface="맑은 고딕"/>
              </a:rPr>
              <a:t>인 이유</a:t>
            </a:r>
            <a:r>
              <a:rPr sz="1400" b="0">
                <a:solidFill>
                  <a:srgbClr val="000000"/>
                </a:solidFill>
                <a:latin typeface="맑은 고딕"/>
                <a:ea typeface="맑은 고딕"/>
              </a:rPr>
              <a:t> —</a:t>
            </a:r>
            <a:r>
              <a:rPr sz="1200" b="0">
                <a:solidFill>
                  <a:srgbClr val="000000"/>
                </a:solidFill>
                <a:latin typeface="맑은 고딕"/>
                <a:ea typeface="맑은 고딕"/>
              </a:rPr>
              <a:t> 일시불은 한 번, 월별 청구는 매월 결제가 생긴다. 청구는 결제 시스템이 하고, 이 모델은 그 결과를 기억한다.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09734"/>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도메인 모델(초안)</a:t>
            </a:r>
          </a:p>
        </p:txBody>
      </p:sp>
      <p:pic>
        <p:nvPicPr>
          <p:cNvPr id="10" name="plantuml Diagram 32"/>
          <p:cNvPicPr>
            <a:picLocks noChangeAspect="1"/>
          </p:cNvPicPr>
          <p:nvPr/>
        </p:nvPicPr>
        <p:blipFill>
          <a:blip r:embed="plantumlImage32"/>
          <a:stretch>
            <a:fillRect/>
          </a:stretch>
        </p:blipFill>
        <p:spPr>
          <a:xfrm>
            <a:off x="2173654" y="2147478"/>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33"/>
          <p:cNvPicPr>
            <a:picLocks noChangeAspect="1"/>
          </p:cNvPicPr>
          <p:nvPr/>
        </p:nvPicPr>
        <p:blipFill>
          <a:blip r:embed="plantumlImage33"/>
          <a:stretch>
            <a:fillRect/>
          </a:stretch>
        </p:blipFill>
        <p:spPr>
          <a:xfrm>
            <a:off x="1988771" y="1539240"/>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이전 산출물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회차 상태와 만료일로 판단한다는 초안을 실습 4에서 재검토한다. 회차 상태의 값과 전이는 「다음 배송을 취소한다」에서 정한다.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정의서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87</Slides>
  <Notes>81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87</vt:i4>
      </vt:variant>
    </vt:vector>
  </HeadingPairs>
  <TitlesOfParts>
    <vt:vector size="91" baseType="lpstr">
      <vt:lpstr>맑은 고딕</vt:lpstr>
      <vt:lpstr>Arial</vt:lpstr>
      <vt:lpstr>Wingdings</vt:lpstr>
      <vt:lpstr>4_Office 테마</vt:lpstr>
      <vt:lpstr>03. 정적 모델 목차</vt:lpstr>
      <vt:lpstr>01. 세션 목표</vt:lpstr>
      <vt:lpstr>요구 산출물과 정적 모델 02. 요구에서 정적 모델로</vt:lpstr>
      <vt:lpstr>도메인 02. 요구에서 정적 모델로</vt:lpstr>
      <vt:lpstr>문제영역과 해결영역 02. 요구에서 정적 모델로</vt:lpstr>
      <vt:lpstr>정적 모델 02. 요구에서 정적 모델로</vt:lpstr>
      <vt:lpstr>존재와 사건 03. 정적 모델과 동적 모델</vt:lpstr>
      <vt:lpstr>한 사건, 네 다이어그램 03. 정적 모델과 동적 모델</vt:lpstr>
      <vt:lpstr>정적 모델과의 연결 03. 정적 모델과 동적 모델</vt:lpstr>
      <vt:lpstr>상태 값과 상태 전이 (1/2) 03. 정적 모델과 동적 모델</vt:lpstr>
      <vt:lpstr>상태 값과 상태 전이 (2/2) 03. 정적 모델과 동적 모델</vt:lpstr>
      <vt:lpstr>도메인 모델 04. 도메인 모델</vt:lpstr>
      <vt:lpstr>표기·정의·인스턴스 04. 도메인 모델</vt:lpstr>
      <vt:lpstr>도메인 모델의 위치 04. 도메인 모델</vt:lpstr>
      <vt:lpstr>표기와 사용법 05. 클래스 다이어그램</vt:lpstr>
      <vt:lpstr>값과 제약의 표기 05. 클래스 다이어그램</vt:lpstr>
      <vt:lpstr>클래스 유형 05. 클래스 다이어그램</vt:lpstr>
      <vt:lpstr>클래스 유형의 예 05. 클래스 다이어그램</vt:lpstr>
      <vt:lpstr>관계 유형 05. 클래스 다이어그램</vt:lpstr>
      <vt:lpstr>관계 유형과 코드 05. 클래스 다이어그램</vt:lpstr>
      <vt:lpstr>집합과 합성 05. 클래스 다이어그램</vt:lpstr>
      <vt:lpstr>정보공학의 데이터 모델링 06. 데이터 모델과 도메인 모델</vt:lpstr>
      <vt:lpstr>데이터 모델과 도메인 모델 06. 데이터 모델과 도메인 모델</vt:lpstr>
      <vt:lpstr>모델 요소의 대응 06. 데이터 모델과 도메인 모델</vt:lpstr>
      <vt:lpstr>까마귀발 표기 06. 데이터 모델과 도메인 모델</vt:lpstr>
      <vt:lpstr>같은 사례, 두 모델 (1/2) 06. 데이터 모델과 도메인 모델</vt:lpstr>
      <vt:lpstr>같은 사례, 두 모델 (2/2) 06. 데이터 모델과 도메인 모델</vt:lpstr>
      <vt:lpstr>세 단계 07. 모델 작성 절차</vt:lpstr>
      <vt:lpstr>개념 클래스를 찾는 세 전략 07. 모델 작성 절차</vt:lpstr>
      <vt:lpstr>개념 범주 08. 개념 클래스 찾기</vt:lpstr>
      <vt:lpstr>유스케이스 어휘 08. 개념 클래스 찾기</vt:lpstr>
      <vt:lpstr>흐름에서 찾은 개념 08. 개념 클래스 찾기</vt:lpstr>
      <vt:lpstr>명사 추출의 한계 08. 개념 클래스 찾기</vt:lpstr>
      <vt:lpstr>개념과 속성 09. 속성</vt:lpstr>
      <vt:lpstr>데이터 타입 09. 속성</vt:lpstr>
      <vt:lpstr>속성 도메인 09. 속성</vt:lpstr>
      <vt:lpstr>속성 수준 업무 규칙 09. 속성</vt:lpstr>
      <vt:lpstr>규칙의 소유 09. 속성</vt:lpstr>
      <vt:lpstr>파생 속성 09. 속성</vt:lpstr>
      <vt:lpstr>속성이 아닌 연관 10. 연관</vt:lpstr>
      <vt:lpstr>연관의 이름 10. 연관</vt:lpstr>
      <vt:lpstr>기억해야 하는 연관 10. 연관</vt:lpstr>
      <vt:lpstr>일반적인 연관 목록 10. 연관</vt:lpstr>
      <vt:lpstr>다중성 10. 연관</vt:lpstr>
      <vt:lpstr>다중성과 업무 규칙 10. 연관</vt:lpstr>
      <vt:lpstr>반복되는 속성 묶음 11. 개념의 분리</vt:lpstr>
      <vt:lpstr>주문 항목 11. 개념의 분리</vt:lpstr>
      <vt:lpstr>연관 클래스 (1/2) 11. 개념의 분리</vt:lpstr>
      <vt:lpstr>연관 클래스 (2/2) 11. 개념의 분리</vt:lpstr>
      <vt:lpstr>설명 클래스 11. 개념의 분리</vt:lpstr>
      <vt:lpstr>현재 값과 확정 값 11. 개념의 분리</vt:lpstr>
      <vt:lpstr>같은 구조, 다른 의미 11. 개념의 분리</vt:lpstr>
      <vt:lpstr>일반화 12. 일반화와 제약</vt:lpstr>
      <vt:lpstr>상태는 하위 클래스가 아니다 12. 일반화와 제약</vt:lpstr>
      <vt:lpstr>제약 12. 일반화와 제약</vt:lpstr>
      <vt:lpstr>지도 제작자의 원칙 13. 용어 정렬</vt:lpstr>
      <vt:lpstr>동의어와 동음이의어 13. 용어 정렬</vt:lpstr>
      <vt:lpstr>용어집 정제 13. 용어 정렬</vt:lpstr>
      <vt:lpstr>초안 14. 도메인 모델 작성</vt:lpstr>
      <vt:lpstr>초안과 코드 14. 도메인 모델 작성</vt:lpstr>
      <vt:lpstr>상세화 14. 도메인 모델 작성</vt:lpstr>
      <vt:lpstr>모델을 문장으로 읽기 14. 도메인 모델 작성</vt:lpstr>
      <vt:lpstr>속성 도메인과 코드 14. 도메인 모델 작성</vt:lpstr>
      <vt:lpstr>다중성·합성과 코드 14. 도메인 모델 작성</vt:lpstr>
      <vt:lpstr>제약과 코드 14. 도메인 모델 작성</vt:lpstr>
      <vt:lpstr>규칙에서 테스트로 14. 도메인 모델 작성</vt:lpstr>
      <vt:lpstr>패키지 표기 15. 패키지</vt:lpstr>
      <vt:lpstr>패키지 기준 15. 패키지</vt:lpstr>
      <vt:lpstr>패키지별 도메인 모델 (1/2) 15. 패키지</vt:lpstr>
      <vt:lpstr>패키지별 도메인 모델 (2/2) 15. 패키지</vt:lpstr>
      <vt:lpstr>분석 과잉 16. 잘못된 관행</vt:lpstr>
      <vt:lpstr>구현 요소 16. 잘못된 관행</vt:lpstr>
      <vt:lpstr>규칙 없는 속성 16. 잘못된 관행</vt:lpstr>
      <vt:lpstr>관계 남용 16. 잘못된 관행</vt:lpstr>
      <vt:lpstr>개념과 이름 16. 잘못된 관행</vt:lpstr>
      <vt:lpstr>범위·시점 16. 잘못된 관행</vt:lpstr>
      <vt:lpstr>모델의 유용성 17. 모델의 검토</vt:lpstr>
      <vt:lpstr>시나리오 교차검토 (1/2) 17. 모델의 검토</vt:lpstr>
      <vt:lpstr>시나리오 교차검토 (2/2) 17. 모델의 검토</vt:lpstr>
      <vt:lpstr>누락과 모순 17. 모델의 검토</vt:lpstr>
      <vt:lpstr>되돌릴 곳 17. 모델의 검토</vt:lpstr>
      <vt:lpstr>정적 모델의 한계 17. 모델의 검토</vt:lpstr>
      <vt:lpstr>18. 실습 — 도메인 모델</vt:lpstr>
      <vt:lpstr>19. 요약</vt:lpstr>
      <vt:lpstr>도메인 모델 초안 (안) 별첨. 실습 답</vt:lpstr>
      <vt:lpstr>도메인 모델 상세 (안) 별첨. 실습 답</vt:lpstr>
      <vt:lpstr>이전 산출물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