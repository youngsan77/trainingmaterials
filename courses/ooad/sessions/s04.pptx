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Default Extension="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7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8.xml" ContentType="application/vnd.openxmlformats-officedocument.presentationml.notesSlide+xml"/>
  <Override PartName="/ppt/slides/slide58.xml" ContentType="application/vnd.openxmlformats-officedocument.presentationml.slide+xml"/>
  <Override PartName="/ppt/notesSlides/notesSlide59.xml" ContentType="application/vnd.openxmlformats-officedocument.presentationml.notesSlide+xml"/>
  <Override PartName="/ppt/slides/slide59.xml" ContentType="application/vnd.openxmlformats-officedocument.presentationml.slide+xml"/>
  <Override PartName="/ppt/notesSlides/notesSlide60.xml" ContentType="application/vnd.openxmlformats-officedocument.presentationml.notesSlide+xml"/>
  <Override PartName="/ppt/slides/slide60.xml" ContentType="application/vnd.openxmlformats-officedocument.presentationml.slide+xml"/>
  <Override PartName="/ppt/notesSlides/notesSlide61.xml" ContentType="application/vnd.openxmlformats-officedocument.presentationml.notes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Slides/notesSlide63.xml" ContentType="application/vnd.openxmlformats-officedocument.presentationml.notes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Slides/notesSlide65.xml" ContentType="application/vnd.openxmlformats-officedocument.presentationml.notesSlide+xml"/>
  <Override PartName="/ppt/slides/slide6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15"/>
  </p:notesMasterIdLst>
  <p:sldIdLst>
    <p:sldId id="256" r:id="javaLecture1"/>
    <p:sldId id="257" r:id="javaLecture2"/>
    <p:sldId id="258" r:id="javaLecture3"/>
    <p:sldId id="259" r:id="javaLecture4"/>
    <p:sldId id="260" r:id="javaLecture5"/>
    <p:sldId id="261" r:id="javaLecture6"/>
    <p:sldId id="262" r:id="javaLecture7"/>
    <p:sldId id="263" r:id="javaLecture8"/>
    <p:sldId id="264" r:id="javaLecture9"/>
    <p:sldId id="265" r:id="javaLecture10"/>
    <p:sldId id="266" r:id="javaLecture11"/>
    <p:sldId id="267" r:id="javaLecture12"/>
    <p:sldId id="268" r:id="javaLecture13"/>
    <p:sldId id="269" r:id="javaLecture14"/>
    <p:sldId id="270" r:id="javaLecture15"/>
    <p:sldId id="271" r:id="javaLecture16"/>
    <p:sldId id="272" r:id="javaLecture17"/>
    <p:sldId id="273" r:id="javaLecture18"/>
    <p:sldId id="274" r:id="javaLecture19"/>
    <p:sldId id="275" r:id="javaLecture20"/>
    <p:sldId id="276" r:id="javaLecture21"/>
    <p:sldId id="277" r:id="javaLecture22"/>
    <p:sldId id="278" r:id="javaLecture23"/>
    <p:sldId id="279" r:id="javaLecture24"/>
    <p:sldId id="280" r:id="javaLecture25"/>
    <p:sldId id="281" r:id="javaLecture26"/>
    <p:sldId id="282" r:id="javaLecture27"/>
    <p:sldId id="283" r:id="javaLecture28"/>
    <p:sldId id="284" r:id="javaLecture29"/>
    <p:sldId id="285" r:id="javaLecture30"/>
    <p:sldId id="286" r:id="javaLecture31"/>
    <p:sldId id="287" r:id="javaLecture32"/>
    <p:sldId id="288" r:id="javaLecture33"/>
    <p:sldId id="289" r:id="javaLecture34"/>
    <p:sldId id="290" r:id="javaLecture35"/>
    <p:sldId id="291" r:id="javaLecture36"/>
    <p:sldId id="292" r:id="javaLecture37"/>
    <p:sldId id="293" r:id="javaLecture38"/>
    <p:sldId id="294" r:id="javaLecture39"/>
    <p:sldId id="295" r:id="javaLecture40"/>
    <p:sldId id="296" r:id="javaLecture41"/>
    <p:sldId id="297" r:id="javaLecture42"/>
    <p:sldId id="298" r:id="javaLecture43"/>
    <p:sldId id="299" r:id="javaLecture44"/>
    <p:sldId id="300" r:id="javaLecture45"/>
    <p:sldId id="301" r:id="javaLecture46"/>
    <p:sldId id="302" r:id="javaLecture47"/>
    <p:sldId id="303" r:id="javaLecture48"/>
    <p:sldId id="304" r:id="javaLecture49"/>
    <p:sldId id="305" r:id="javaLecture50"/>
    <p:sldId id="306" r:id="javaLecture51"/>
    <p:sldId id="307" r:id="javaLecture52"/>
    <p:sldId id="308" r:id="javaLecture53"/>
    <p:sldId id="309" r:id="javaLecture54"/>
    <p:sldId id="310" r:id="javaLecture55"/>
    <p:sldId id="311" r:id="javaLecture56"/>
    <p:sldId id="312" r:id="javaLecture57"/>
    <p:sldId id="313" r:id="javaLecture58"/>
    <p:sldId id="314" r:id="javaLecture59"/>
    <p:sldId id="315" r:id="javaLecture60"/>
    <p:sldId id="316" r:id="javaLecture61"/>
    <p:sldId id="317" r:id="javaLecture62"/>
    <p:sldId id="318" r:id="javaLecture63"/>
    <p:sldId id="319" r:id="javaLecture64"/>
    <p:sldId id="320" r:id="javaLecture6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4" orient="horz" pos="890" userDrawn="1">
          <p15:clr>
            <a:srgbClr val="A4A3A4"/>
          </p15:clr>
        </p15:guide>
        <p15:guide id="5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641C14D-A5A2-2B4D-B033-1B776E74D04A}" v="40" dt="2026-09-12T11:52:04.69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862"/>
    <p:restoredTop sz="92496"/>
  </p:normalViewPr>
  <p:slideViewPr>
    <p:cSldViewPr snapToGrid="0">
      <p:cViewPr varScale="1">
        <p:scale>
          <a:sx n="106" d="100"/>
          <a:sy n="106" d="100"/>
        </p:scale>
        <p:origin x="1984" y="184"/>
      </p:cViewPr>
      <p:guideLst>
        <p:guide orient="horz" pos="89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8" d="100"/>
        <a:sy n="118" d="100"/>
      </p:scale>
      <p:origin x="0" y="0"/>
    </p:cViewPr>
  </p:sorterViewPr>
  <p:gridSpacing cx="76200" cy="76200"/>
</p:viewPr>
</file>

<file path=ppt/_rels/presentation.xml.rels><?xml version="1.0" encoding="UTF-8" standalone="yes"?>
<Relationships xmlns="http://schemas.openxmlformats.org/package/2006/relationships"><Relationship Id="rId18" Type="http://schemas.openxmlformats.org/officeDocument/2006/relationships/theme" Target="theme/theme1.xml"/><Relationship Id="rId17" Type="http://schemas.openxmlformats.org/officeDocument/2006/relationships/viewProps" Target="viewProps.xml"/><Relationship Id="rId16" Type="http://schemas.openxmlformats.org/officeDocument/2006/relationships/presProps" Target="pres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15" Type="http://schemas.openxmlformats.org/officeDocument/2006/relationships/notesMaster" Target="notesMasters/notesMaster1.xml"/><Relationship Id="rId19" Type="http://schemas.openxmlformats.org/officeDocument/2006/relationships/tableStyles" Target="tableStyles.xml"/><Relationship Id="javaLecture1" Type="http://schemas.openxmlformats.org/officeDocument/2006/relationships/slide" Target="slides/slide1.xml"/><Relationship Id="javaLecture2" Type="http://schemas.openxmlformats.org/officeDocument/2006/relationships/slide" Target="slides/slide2.xml"/><Relationship Id="javaLecture3" Type="http://schemas.openxmlformats.org/officeDocument/2006/relationships/slide" Target="slides/slide3.xml"/><Relationship Id="javaLecture4" Type="http://schemas.openxmlformats.org/officeDocument/2006/relationships/slide" Target="slides/slide4.xml"/><Relationship Id="javaLecture5" Type="http://schemas.openxmlformats.org/officeDocument/2006/relationships/slide" Target="slides/slide5.xml"/><Relationship Id="javaLecture6" Type="http://schemas.openxmlformats.org/officeDocument/2006/relationships/slide" Target="slides/slide6.xml"/><Relationship Id="javaLecture7" Type="http://schemas.openxmlformats.org/officeDocument/2006/relationships/slide" Target="slides/slide7.xml"/><Relationship Id="javaLecture8" Type="http://schemas.openxmlformats.org/officeDocument/2006/relationships/slide" Target="slides/slide8.xml"/><Relationship Id="javaLecture9" Type="http://schemas.openxmlformats.org/officeDocument/2006/relationships/slide" Target="slides/slide9.xml"/><Relationship Id="javaLecture10" Type="http://schemas.openxmlformats.org/officeDocument/2006/relationships/slide" Target="slides/slide10.xml"/><Relationship Id="javaLecture11" Type="http://schemas.openxmlformats.org/officeDocument/2006/relationships/slide" Target="slides/slide11.xml"/><Relationship Id="javaLecture12" Type="http://schemas.openxmlformats.org/officeDocument/2006/relationships/slide" Target="slides/slide12.xml"/><Relationship Id="javaLecture13" Type="http://schemas.openxmlformats.org/officeDocument/2006/relationships/slide" Target="slides/slide13.xml"/><Relationship Id="javaLecture14" Type="http://schemas.openxmlformats.org/officeDocument/2006/relationships/slide" Target="slides/slide14.xml"/><Relationship Id="javaLecture15" Type="http://schemas.openxmlformats.org/officeDocument/2006/relationships/slide" Target="slides/slide15.xml"/><Relationship Id="javaLecture16" Type="http://schemas.openxmlformats.org/officeDocument/2006/relationships/slide" Target="slides/slide16.xml"/><Relationship Id="javaLecture17" Type="http://schemas.openxmlformats.org/officeDocument/2006/relationships/slide" Target="slides/slide17.xml"/><Relationship Id="javaLecture18" Type="http://schemas.openxmlformats.org/officeDocument/2006/relationships/slide" Target="slides/slide18.xml"/><Relationship Id="javaLecture19" Type="http://schemas.openxmlformats.org/officeDocument/2006/relationships/slide" Target="slides/slide19.xml"/><Relationship Id="javaLecture20" Type="http://schemas.openxmlformats.org/officeDocument/2006/relationships/slide" Target="slides/slide20.xml"/><Relationship Id="javaLecture21" Type="http://schemas.openxmlformats.org/officeDocument/2006/relationships/slide" Target="slides/slide21.xml"/><Relationship Id="javaLecture22" Type="http://schemas.openxmlformats.org/officeDocument/2006/relationships/slide" Target="slides/slide22.xml"/><Relationship Id="javaLecture23" Type="http://schemas.openxmlformats.org/officeDocument/2006/relationships/slide" Target="slides/slide23.xml"/><Relationship Id="javaLecture24" Type="http://schemas.openxmlformats.org/officeDocument/2006/relationships/slide" Target="slides/slide24.xml"/><Relationship Id="javaLecture25" Type="http://schemas.openxmlformats.org/officeDocument/2006/relationships/slide" Target="slides/slide25.xml"/><Relationship Id="javaLecture26" Type="http://schemas.openxmlformats.org/officeDocument/2006/relationships/slide" Target="slides/slide26.xml"/><Relationship Id="javaLecture27" Type="http://schemas.openxmlformats.org/officeDocument/2006/relationships/slide" Target="slides/slide27.xml"/><Relationship Id="javaLecture28" Type="http://schemas.openxmlformats.org/officeDocument/2006/relationships/slide" Target="slides/slide28.xml"/><Relationship Id="javaLecture29" Type="http://schemas.openxmlformats.org/officeDocument/2006/relationships/slide" Target="slides/slide29.xml"/><Relationship Id="javaLecture30" Type="http://schemas.openxmlformats.org/officeDocument/2006/relationships/slide" Target="slides/slide30.xml"/><Relationship Id="javaLecture31" Type="http://schemas.openxmlformats.org/officeDocument/2006/relationships/slide" Target="slides/slide31.xml"/><Relationship Id="javaLecture32" Type="http://schemas.openxmlformats.org/officeDocument/2006/relationships/slide" Target="slides/slide32.xml"/><Relationship Id="javaLecture33" Type="http://schemas.openxmlformats.org/officeDocument/2006/relationships/slide" Target="slides/slide33.xml"/><Relationship Id="javaLecture34" Type="http://schemas.openxmlformats.org/officeDocument/2006/relationships/slide" Target="slides/slide34.xml"/><Relationship Id="javaLecture35" Type="http://schemas.openxmlformats.org/officeDocument/2006/relationships/slide" Target="slides/slide35.xml"/><Relationship Id="javaLecture36" Type="http://schemas.openxmlformats.org/officeDocument/2006/relationships/slide" Target="slides/slide36.xml"/><Relationship Id="javaLecture37" Type="http://schemas.openxmlformats.org/officeDocument/2006/relationships/slide" Target="slides/slide37.xml"/><Relationship Id="javaLecture38" Type="http://schemas.openxmlformats.org/officeDocument/2006/relationships/slide" Target="slides/slide38.xml"/><Relationship Id="javaLecture39" Type="http://schemas.openxmlformats.org/officeDocument/2006/relationships/slide" Target="slides/slide39.xml"/><Relationship Id="javaLecture40" Type="http://schemas.openxmlformats.org/officeDocument/2006/relationships/slide" Target="slides/slide40.xml"/><Relationship Id="javaLecture41" Type="http://schemas.openxmlformats.org/officeDocument/2006/relationships/slide" Target="slides/slide41.xml"/><Relationship Id="javaLecture42" Type="http://schemas.openxmlformats.org/officeDocument/2006/relationships/slide" Target="slides/slide42.xml"/><Relationship Id="javaLecture43" Type="http://schemas.openxmlformats.org/officeDocument/2006/relationships/slide" Target="slides/slide43.xml"/><Relationship Id="javaLecture44" Type="http://schemas.openxmlformats.org/officeDocument/2006/relationships/slide" Target="slides/slide44.xml"/><Relationship Id="javaLecture45" Type="http://schemas.openxmlformats.org/officeDocument/2006/relationships/slide" Target="slides/slide45.xml"/><Relationship Id="javaLecture46" Type="http://schemas.openxmlformats.org/officeDocument/2006/relationships/slide" Target="slides/slide46.xml"/><Relationship Id="javaLecture47" Type="http://schemas.openxmlformats.org/officeDocument/2006/relationships/slide" Target="slides/slide47.xml"/><Relationship Id="javaLecture48" Type="http://schemas.openxmlformats.org/officeDocument/2006/relationships/slide" Target="slides/slide48.xml"/><Relationship Id="javaLecture49" Type="http://schemas.openxmlformats.org/officeDocument/2006/relationships/slide" Target="slides/slide49.xml"/><Relationship Id="javaLecture50" Type="http://schemas.openxmlformats.org/officeDocument/2006/relationships/slide" Target="slides/slide50.xml"/><Relationship Id="javaLecture51" Type="http://schemas.openxmlformats.org/officeDocument/2006/relationships/slide" Target="slides/slide51.xml"/><Relationship Id="javaLecture52" Type="http://schemas.openxmlformats.org/officeDocument/2006/relationships/slide" Target="slides/slide52.xml"/><Relationship Id="javaLecture53" Type="http://schemas.openxmlformats.org/officeDocument/2006/relationships/slide" Target="slides/slide53.xml"/><Relationship Id="javaLecture54" Type="http://schemas.openxmlformats.org/officeDocument/2006/relationships/slide" Target="slides/slide54.xml"/><Relationship Id="javaLecture55" Type="http://schemas.openxmlformats.org/officeDocument/2006/relationships/slide" Target="slides/slide55.xml"/><Relationship Id="javaLecture56" Type="http://schemas.openxmlformats.org/officeDocument/2006/relationships/slide" Target="slides/slide56.xml"/><Relationship Id="javaLecture57" Type="http://schemas.openxmlformats.org/officeDocument/2006/relationships/slide" Target="slides/slide57.xml"/><Relationship Id="javaLecture58" Type="http://schemas.openxmlformats.org/officeDocument/2006/relationships/slide" Target="slides/slide58.xml"/><Relationship Id="javaLecture59" Type="http://schemas.openxmlformats.org/officeDocument/2006/relationships/slide" Target="slides/slide59.xml"/><Relationship Id="javaLecture60" Type="http://schemas.openxmlformats.org/officeDocument/2006/relationships/slide" Target="slides/slide60.xml"/><Relationship Id="javaLecture61" Type="http://schemas.openxmlformats.org/officeDocument/2006/relationships/slide" Target="slides/slide61.xml"/><Relationship Id="javaLecture62" Type="http://schemas.openxmlformats.org/officeDocument/2006/relationships/slide" Target="slides/slide62.xml"/><Relationship Id="javaLecture63" Type="http://schemas.openxmlformats.org/officeDocument/2006/relationships/slide" Target="slides/slide63.xml"/><Relationship Id="javaLecture64" Type="http://schemas.openxmlformats.org/officeDocument/2006/relationships/slide" Target="slides/slide64.xml"/><Relationship Id="javaLecture65" Type="http://schemas.openxmlformats.org/officeDocument/2006/relationships/slide" Target="slides/slide6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CE4FF0-A6B5-46CD-9CD3-2CF2AFF3AE5A}" type="datetimeFigureOut">
              <a:rPr lang="ko-KR" altLang="en-US" smtClean="0"/>
              <a:t>2026. 9. 22.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25E7E4-F626-4F14-BF5E-991C69F9D18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96618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</Relationships>
</file>

<file path=ppt/notesSlides/_rels/notesSlide15.xml.rels><?xml version="1.0" encoding="UTF-8"?>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6.xml.rels><?xml version="1.0" encoding="UTF-8"?>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7.xml.rels><?xml version="1.0" encoding="UTF-8"?>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9.xml.rels><?xml version="1.0" encoding="UTF-8"?>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20.xml.rels><?xml version="1.0" encoding="UTF-8"?>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22.xml.rels><?xml version="1.0" encoding="UTF-8"?>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23.xml.rels><?xml version="1.0" encoding="UTF-8"?>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4.xml.rels><?xml version="1.0" encoding="UTF-8"?>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6.xml.rels><?xml version="1.0" encoding="UTF-8"?>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7.xml.rels><?xml version="1.0" encoding="UTF-8"?>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8.xml.rels><?xml version="1.0" encoding="UTF-8"?>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9.xml.rels><?xml version="1.0" encoding="UTF-8"?>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30.xml.rels><?xml version="1.0" encoding="UTF-8"?>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31.xml.rels><?xml version="1.0" encoding="UTF-8"?>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33.xml.rels><?xml version="1.0" encoding="UTF-8"?>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</Relationships>
</file>

<file path=ppt/notesSlides/_rels/notesSlide35.xml.rels><?xml version="1.0" encoding="UTF-8"?>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37.xml.rels><?xml version="1.0" encoding="UTF-8"?>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8.xml.rels><?xml version="1.0" encoding="UTF-8"?>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9.xml.rels><?xml version="1.0" encoding="UTF-8"?>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40.xml.rels><?xml version="1.0" encoding="UTF-8"?>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41.xml.rels><?xml version="1.0" encoding="UTF-8"?>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42.xml.rels><?xml version="1.0" encoding="UTF-8"?>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_rels/notesSlide43.xml.rels><?xml version="1.0" encoding="UTF-8"?>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</Relationships>
</file>

<file path=ppt/notesSlides/_rels/notesSlide44.xml.rels><?xml version="1.0" encoding="UTF-8"?>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</Relationships>
</file>

<file path=ppt/notesSlides/_rels/notesSlide45.xml.rels><?xml version="1.0" encoding="UTF-8"?>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</Relationships>
</file>

<file path=ppt/notesSlides/_rels/notesSlide46.xml.rels><?xml version="1.0" encoding="UTF-8"?>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</Relationships>
</file>

<file path=ppt/notesSlides/_rels/notesSlide47.xml.rels><?xml version="1.0" encoding="UTF-8"?>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</Relationships>
</file>

<file path=ppt/notesSlides/_rels/notesSlide48.xml.rels><?xml version="1.0" encoding="UTF-8"?>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</Relationships>
</file>

<file path=ppt/notesSlides/_rels/notesSlide49.xml.rels><?xml version="1.0" encoding="UTF-8"?>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</Relationships>
</file>

<file path=ppt/notesSlides/_rels/notesSlide50.xml.rels><?xml version="1.0" encoding="UTF-8"?>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</Relationships>
</file>

<file path=ppt/notesSlides/_rels/notesSlide51.xml.rels><?xml version="1.0" encoding="UTF-8"?><Relationships xmlns="http://schemas.openxmlformats.org/package/2006/relationships"><Relationship Id="rId1" Type="http://schemas.openxmlformats.org/officeDocument/2006/relationships/slide" Target="../slides/slide51.xml"/><Relationship Id="rId2" Type="http://schemas.openxmlformats.org/officeDocument/2006/relationships/notesMaster" Target="../notesMasters/notesMaster1.xml"/></Relationships>
</file>

<file path=ppt/notesSlides/_rels/notesSlide52.xml.rels><?xml version="1.0" encoding="UTF-8"?><Relationships xmlns="http://schemas.openxmlformats.org/package/2006/relationships"><Relationship Id="rId1" Type="http://schemas.openxmlformats.org/officeDocument/2006/relationships/slide" Target="../slides/slide52.xml"/><Relationship Id="rId2" Type="http://schemas.openxmlformats.org/officeDocument/2006/relationships/notesMaster" Target="../notesMasters/notesMaster1.xml"/></Relationships>
</file>

<file path=ppt/notesSlides/_rels/notesSlide53.xml.rels><?xml version="1.0" encoding="UTF-8"?>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</Relationships>
</file>

<file path=ppt/notesSlides/_rels/notesSlide54.xml.rels><?xml version="1.0" encoding="UTF-8"?>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</Relationships>
</file>

<file path=ppt/notesSlides/_rels/notesSlide55.xml.rels><?xml version="1.0" encoding="UTF-8"?>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</Relationships>
</file>

<file path=ppt/notesSlides/_rels/notesSlide56.xml.rels><?xml version="1.0" encoding="UTF-8"?>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</Relationships>
</file>

<file path=ppt/notesSlides/_rels/notesSlide57.xml.rels><?xml version="1.0" encoding="UTF-8"?>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</Relationships>
</file>

<file path=ppt/notesSlides/_rels/notesSlide58.xml.rels><?xml version="1.0" encoding="UTF-8"?>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</Relationships>
</file>

<file path=ppt/notesSlides/_rels/notesSlide59.xml.rels><?xml version="1.0" encoding="UTF-8"?>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</Relationships>
</file>

<file path=ppt/notesSlides/_rels/notesSlide60.xml.rels><?xml version="1.0" encoding="UTF-8"?>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</Relationships>
</file>

<file path=ppt/notesSlides/_rels/notesSlide61.xml.rels><?xml version="1.0" encoding="UTF-8"?>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</Relationships>
</file>

<file path=ppt/notesSlides/_rels/notesSlide63.xml.rels><?xml version="1.0" encoding="UTF-8"?><Relationships xmlns="http://schemas.openxmlformats.org/package/2006/relationships"><Relationship Id="rId1" Type="http://schemas.openxmlformats.org/officeDocument/2006/relationships/slide" Target="../slides/slide63.xml"/><Relationship Id="rId2" Type="http://schemas.openxmlformats.org/officeDocument/2006/relationships/notesMaster" Target="../notesMasters/notesMaster1.xml"/></Relationships>
</file>

<file path=ppt/notesSlides/_rels/notesSlide65.xml.rels><?xml version="1.0" encoding="UTF-8"?><Relationships xmlns="http://schemas.openxmlformats.org/package/2006/relationships"><Relationship Id="rId1" Type="http://schemas.openxmlformats.org/officeDocument/2006/relationships/slide" Target="../slides/slide65.xml"/><Relationship Id="rId2" Type="http://schemas.openxmlformats.org/officeDocument/2006/relationships/notesMaster" Target="../notesMasters/notesMaster1.xml"/></Relationship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"03. 정적 모델 — 도메인 개념과 관계"가 무엇이 존재하는가를 다뤘다면, 이 세션은 무엇이 일어나는가를 다룬다. 설계 객체 사이의 책임과 협력은 "07. 책임·협력·계약"에서 다룬다.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학습을 위해 요구 분석("02. 요구 분석과 유스케이스")과 정적·동적 분석을 세션으로 나눴지만, 실제로는 요구와 분석을 나누지 않고 함께 반복한다. 질문은 "03. 정적 모델 — 도메인 개념과 관계"의 「53. 누락과 모순」과 「54. 정적 모델의 한계」에서 남긴 것이다. 사례의 전제(결제 완료·배송 시작 전 전체 취소, 출고 전 배송지 변경)는 그대로 유지한다.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인용 근거: OMG [UML 2.5.1](https://www.omg.org/spec/UML/2.5.1/PDF), §6.3.1. "02. 요구 분석과 유스케이스"에서 요구의 공통 단위로 본 이벤트가 동적 모델의 출발점이다.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인용 근거: Scott W. Ambler, [The Principles of Agile Modeling](https://agilemodeling.com/principles.htm), "Multiple Models"(게시 연도 미표기).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David Harel, "Statecharts: A Visual Formalism for Complex Systems", *Science of Computer Programming*, 1987, [논문 PDF](https://dubroy.com/refs/Statecharts_a_visual_formalism_for_complex_systems.pdf) §1.</a:t>
            </a:r>
          </a:p>
          <a:p>
            <a:pPr lvl="0"/>
            <a:r>
              <a:rPr lang="ko-KR" sz="1200"/>
              <a:t>표의 상호작용과 상태는 이 세션 뒤에서 모델로 확인할 교육용 예다.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시간 흐름이 핵심이면 시퀀스, 참여자 연결이 핵심이면 커뮤니케이션을 고른다. 두 다이어그램은 같은 상호작용의 의미를 공유한다.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분석의 메시지는 "누가 누구에게 무엇을 알리거나 요청하는가"라는 업무 의미다. 어느 객체가 그 책임을 최종적으로 지는지는 설계에서 다시 결정한다. 분석의 상호작용을 설계에 그대로 옮기지 않는다("06. 분석 모델에서 설계 모델로").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어느 프로세스든 "정적 모델과 동적 모델이 서로를 검증한다"는 원칙은 같다. 달라지는 것은 분석 단계에서 그 검증을 얼마나 문서화된 모델로 남기느냐다. 통합 프로세스에서는 설계와 테스트가 그 검증을 이어받는다.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출처: "02. 요구 분석과 유스케이스"의 「43. 정제된 SSD」. 표기(외부 시스템, 동기·비동기 요청)도 그 topic에서 소개했다. "03. 정적 모델 — 도메인 개념과 관계"를 거치며 용어(장바구니, 배송)가 개념으로 확인되었다.</a:t>
            </a:r>
          </a:p>
          <a:p>
            <a:pPr lvl="0"/>
            <a:r>
              <a:rPr lang="ko-KR" sz="1200"/>
              <a:t>요구 산출물을 다시 그리는 것이 아니다. 분석의 입력으로 다시 보는 것이다. 분석에서 발견한 것은 이 SSD와 계약, 명세서에 되돌린다(「43. 누락과 모순」).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결제 계약의 출처는 "02. 요구 분석과 유스케이스"의 「44. 시스템 오퍼레이션과 계약」이다. 사전조건이 참인 호출의 정상 완료에서 사후조건이 성립한다는 계약 의미는 OMG [UML 2.5.1](https://www.omg.org/spec/UML/2.5.1/PDF), §9.6.3.1에 근거한다.</a:t>
            </a:r>
          </a:p>
          <a:p>
            <a:pPr lvl="0"/>
            <a:r>
              <a:rPr lang="ko-KR" sz="1200"/>
              <a:t>명세서의 취소 결과("주문이 취소 상태")와 달리 계약의 끝 상태는 취소 처리 중이다. 환불이 비동기라 즉시 끝나지 않는다는 사실은 「26. 주문 취소 시퀀스」에서 드러났다. 이 차이는 명세서의 결과로 되돌린다.</a:t>
            </a:r>
          </a:p>
          <a:p>
            <a:pPr lvl="0"/>
            <a:r>
              <a:rPr lang="ko-KR" sz="1200"/>
              <a:t>두 계약 모두 성공 계약이다. 결제 실패·출고 중단 거절·환불 실패는 포함하지 않는다.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OMG UML 2.5.1, §17.12.11.1 "Interaction". 네 다이어그램의 정의는 같은 표준의 Chapter 15 Activities, Chapter 17 Interactions(시퀀스·커뮤니케이션), Chapter 14 StateMachines를 이 과정의 말로 요약한 것이다.</a:t>
            </a:r>
          </a:p>
          <a:p>
            <a:pPr lvl="0"/>
            <a:r>
              <a:rPr lang="ko-KR" sz="1200"/>
              <a:t>시퀀스와 커뮤니케이션은 같은 상호작용을 다르게 그린 상호작용 다이어그램이다. 이 세션은 활동 → 시퀀스 → 커뮤니케이션 → 상태 기계 순으로 다룬다.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인용 근거: OMG UML 2.5.1, §17.1.1 "Overview". 같은 절은 상호작용이 이후 상세 설계에서 정밀한 통신을 정할 때도 쓰인다고 설명한다. 분석에서는 앞의 용도가 중심이다.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이것이 「08. 프로세스와 동적 분석」에서 말한 "동적 분석 없이는 정적 분석이 제대로 될 수 없다"의 구체적인 모습이다. 예는 뒤의 시퀀스 다이어그램들에서 하나씩 확인하고, 「43. 누락과 모순」에서 종합한다.</a:t>
            </a:r>
          </a:p>
          <a:p>
            <a:pPr lvl="0"/>
            <a:r>
              <a:rPr lang="ko-KR" sz="1200"/>
              <a:t>발견은 별도 문서가 아니라 원래 산출물을 고쳐 반영한다. "03. 정적 모델 — 도메인 개념과 관계"가 남긴 "출고 전을 누가 판단하는가"도 여기서 답을 얻는다 — 주문 시스템이 배송 시스템에 묻는다.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표기 기준: 저장소 references/sw-engineering/uml/activity.md. 흐름의 화살표는 행동 사이의 제어 흐름이며, 업무 순서도의 선과 같지 않다.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흐름은 "02. 요구 분석과 유스케이스"의 「32. 유스케이스 상세화」와 같다. 행동의 주체는 행동 이름에 적었다. 책임자를 레인으로 나누는 표기는 「16. 업무 흐름」에서 보인다. 가드는 대안 흐름의 조건이다. 결제 실패·환불 실패는 이 그림의 범위 밖이다.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결제 승인 거절 경로는 생략했다. 레인은 시스템 단위로 나눴다. 사람(배송 담당자)의 행동은 배송 시스템 레인 안에 있다.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각 이벤트는 상태 기계의 전이와 대응한다. 이벤트를 과거형("배송이 시작되었다")으로 쓰면 도메인 이벤트의 표현과 같다. 시스템 사이의 이벤트 기반 설계로의 확장은 "13. OOAD에서 전문영역으로 — Architecture · DDD · MSA"에서 다룬다.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"주문" 경로의 SSD는 「09. 정제된 SSD」다. 모든 경로에 SSD를 그리지 않는다. 규칙·예외가 많은 경로를 고른다.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"02. 요구 분석과 유스케이스"는 SSD에 필요한 표기만 제한적으로 소개했다. 여기서는 전체 표기를 다룬다. 표기 기준: OMG UML 2.5.1, §17.8; 저장소 references/sw-engineering/uml/sequence.md. 응답 화살표는 UML에서 선택 사항이다. 동기 호출의 응답을 모두 그리면 그림만 복잡해진다.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상품을 조회한다는 상태를 바꾸지 않아 상호작용을 그리지 않는다. 분석에서는 컨트롤러·서비스가 첫 메시지를 받지 않는다. 설계에서는 첫 메시지를 응용 서비스 같은 설계 객체가 받을 수 있다("07. 책임·협력·계약"). 분석에서는 어떤 개념이 사건의 중심인지 확인하는 것이 목적이다.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도식은 "03. 정적 모델 — 도메인 개념과 관계"의 「43. 도메인 모델 — 상세화」에서 속성을 뺀 것이다. 시퀀스 다이어그램을 그릴 때 이 도식을 옆에 두고 대조한다.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이것이 동적 모델이 정적 모델의 연관을 검증하는 가장 직접적인 방법이다.</a:t>
            </a:r>
          </a:p>
          <a:p>
            <a:pPr lvl="0"/>
            <a:r>
              <a:rPr lang="ko-KR" sz="1200"/>
              <a:t>장바구니 → 주문은 주문을 만드는 순간에만 필요한 연결이다. 만든 뒤에도 기억해야 하는 관계가 아니면 연관으로 두지 않는다. 판단의 근거를 기록해 둔다.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장바구니 항목과 주문 항목의 차이는 "03. 정적 모델 — 도메인 개념과 관계"의 「34. 같은 구조, 다른 의미」다. 상품 정보의 원천은 상품 시스템이며, :상품은 주문 시스템이 가진 상품 정보다.</a:t>
            </a:r>
          </a:p>
          <a:p>
            <a:pPr lvl="0"/>
            <a:r>
              <a:rPr lang="ko-KR" sz="1200"/>
              <a:t>같은 상품을 다시 담으면 수량을 합치는가? 상호작용을 그리면서 생긴 요구 질문이다.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누가 주문을 만들고 누가 단가를 확정하는지는 분석의 판단이며, 설계에서 책임으로 다시 결정한다("07. 책임·협력·계약").</a:t>
            </a:r>
          </a:p>
          <a:p>
            <a:pPr lvl="0"/>
            <a:r>
              <a:rPr lang="ko-KR" sz="1200"/>
              <a:t>결제가 실패하면 비워진 장바구니를 되살리는가? 요구 질문으로 남긴다.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성공 경로다. 승인 거절은 alt로 그릴 수 있다(「27. 시퀀스 다이어그램 조각」).</a:t>
            </a:r>
          </a:p>
          <a:p>
            <a:pPr lvl="0"/>
            <a:r>
              <a:rPr lang="ko-KR" sz="1200"/>
              <a:t>재고 확보 시점은 요구 질문이다. 답이 정해지면 "02. 요구 분석과 유스케이스"의 명세서 규칙과 정제된 SSD의 순서를 고친다.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성공 경로다. 결제 완료·배송 시작 전 주문의 전체 취소라는 전제를 유지한다.</a:t>
            </a:r>
          </a:p>
          <a:p>
            <a:pPr lvl="0"/>
            <a:r>
              <a:rPr lang="ko-KR" sz="1200"/>
              <a:t>발견한 순서·예외·중간 상태는 "02. 요구 분석과 유스케이스"의 명세서(대안 흐름 1c, 예외 흐름)와 정제된 SSD, 「10. 계약의 정제」에 되돌린다.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alt의 "이미 출고됨" 칸은 「26. 주문 취소 시퀀스」에서 발견한 예외다. 출고 후 취소를 거절한다는 것은 교육용 가정이며, 실제 규칙은 「34. 출고와 배송 시작」의 질문으로 남아 있다.</a:t>
            </a:r>
          </a:p>
          <a:p>
            <a:pPr lvl="0"/>
            <a:r>
              <a:rPr lang="ko-KR" sz="1200"/>
              <a:t>loop는 「09. 정제된 SSD」의 [상품마다]와 「24. 주문 생성 시퀀스」의 [장바구니 항목마다]에서 이미 썼다.</a:t>
            </a:r>
          </a:p>
          <a:p>
            <a:pPr lvl="0"/>
            <a:r>
              <a:rPr lang="ko-KR" sz="1200"/>
              <a:t>서로 배타적인 대안을 opt 여러 개나 par로 그리지 않는다. 조각을 두 단계 이상 겹치면 그림을 나눈다.</a:t>
            </a:r>
          </a:p>
          <a:p>
            <a:pPr lvl="0"/>
            <a:r>
              <a:rPr lang="ko-KR" sz="1200"/>
              <a:t>표기 기준: OMG UML 2.5.1, §17.6; 저장소 references/sw-engineering/uml/sequence.md.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표기 기준: 저장소 references/sw-engineering/uml/communication.md; OMG UML 2.5.1, §17.9 Communication Diagrams(메시지 번호의 조건 [ ]과 반복 *). 메시지 번호 없이 객체만 연결한 그림은 커뮤니케이션 다이어그램이 아니다.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같은 상호작용을 두 다이어그램으로 모두 그릴 필요는 없다. 질문에 맞는 하나를 고른다.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커뮤니케이션 다이어그램을 최종 객체 구조나 연관의 정본으로 쓰지 않는다(저장소 references/sw-engineering/uml/communication.md). 연관으로 둘지는 정적 모델에서 판단한다.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인용 근거: OMG UML 2.5.1, §14.5.9.1 "State". 상태의 불변 조건이 정적 모델의 제약과 연결된다는 점은 「38. 상태와 불변 조건」에서 다시 다룬다.</a:t>
            </a:r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표기 기준: OMG UML 2.5.1, §14.2.4; 저장소 references/sw-engineering/uml/state-machine.md. 분석에서는 효과를 업무 결과로 쓴다. 진입·이탈 행위는 필요할 때만 쓴다.</a:t>
            </a:r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상태 목록과 전이는 교육용 가정이다. "03. 정적 모델 — 도메인 개념과 관계"의 주문 상태 값(결제 대기·결제 완료·배송 중·배송 완료·취소됨)에 취소 처리 중이 더해졌다. 이 차이는 「41. 상태와 정적 모델」에서 정적 모델로 되돌린다.</a:t>
            </a:r>
          </a:p>
          <a:p>
            <a:pPr lvl="0"/>
            <a:r>
              <a:rPr lang="ko-KR" sz="1200"/>
              <a:t>결제의 배송 요청은 주문 상태를 바꾸지 않는다. 결제 실패·배송 실패·출고 중단 거절·부분 취소는 이 모델의 범위 밖이다.</a:t>
            </a:r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"03. 정적 모델 — 도메인 개념과 관계"는 두 표현이 같은지와 출고를 누가 아는지를 질문으로 남겼다. 동적 모델은 둘이 다르고 판단 주체도 다르다는 사실, 그리고 그 차이가 만드는 새로운 요구 질문을 보여준다. 답이 정해지면 "02. 요구 분석과 유스케이스"의 규칙과 계약을 고친다.</a:t>
            </a:r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금지된 사건에 대한 외부 응답(예: 취소 불가 안내)은 유스케이스의 대안·예외 흐름이다. 상태 기계는 "일어날 수 없다"를, 유스케이스는 "그때 고객에게 무엇을 보여주는가"를 담당한다.</a:t>
            </a:r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"예정일 2일 전"은 교육용 가정이다. 48시간 조건은 "02. 요구 분석과 유스케이스"의 실습 조건을 가드로 옮긴 것이다. 두 사건이 가까운 시점에 겹치면 어느 쪽이 먼저인지는 요구로 확인한다.</a:t>
            </a:r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인용 근거: Harel, 1987, §1. Harel의 상태 차트는 계층·병행·통신으로 이 문제를 줄인다. 이 과정에서는 계층(상위 상태)까지만 개념으로 소개한다.</a:t>
            </a:r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"03. 정적 모델 — 도메인 개념과 관계"의 「37. 제약」과 「28. 다중성과 업무 규칙」에 연결된다. 환불 상태(승인 전·완료)는 상태 기계가 드러낸 새 속성이다.</a:t>
            </a:r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"03. 정적 모델 — 도메인 개념과 관계"의 「52. 시나리오 교차검토」가 요구 문장을 모델에 댔다면, 이 절차는 동적 모델을 모델에 댄다.</a:t>
            </a:r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외부 시스템이 소유한 결과(재고, 입금, 영수증)는 주문 시스템의 정적 모델로 설명하지 않는다. 계약이 "요청했다"로 쓰인 이유다.</a:t>
            </a:r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출고 관련 상태를 배송 시스템에 두면 주문 상태 기계는 단순해진다. 주문 시스템의 배송 개념은 필요한 만큼(배송 상태)만 기억한다. 어느 쪽에 둘지는 업무 규칙이 어느 개념·시스템에 걸리는지로 판단한다.</a:t>
            </a:r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메시지 자체를 정적 모델의 오퍼레이션으로 옮기지 않는다. 어떤 객체가 어떤 책임을 가질지는 "07. 책임·협력·계약"에서 정한다.</a:t>
            </a:r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발견한 누락은 모델만의 문제가 아니라 요구의 누락일 수 있다. "02. 요구 분석과 유스케이스"의 「09. 반복적 접근」처럼 요구·정적 모델·동적 모델을 함께 고친다.</a:t>
            </a:r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인용 근거: Scott W. Ambler, [Just Barely Good Enough Models and Documents](https://agilemodeling.com/essays/barelygoodenough.htm)(게시 연도 미표기).</a:t>
            </a:r>
          </a:p>
          <a:p>
            <a:pPr lvl="0"/>
            <a:r>
              <a:rPr lang="ko-KR" sz="1200"/>
              <a:t>「08. 프로세스와 동적 분석」과 함께 본다. 분석을 독립 단계로 두면 "충분한 만큼"의 기준이 더 높아진다. 모델링의 추가 비용과 위험 감소 판단은 "11. 통합 설계와 적정 모델링"에서 다룬다.</a:t>
            </a:r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설계에서는 오른쪽 열의 설계 객체와 오퍼레이션이 정상이다("07. 책임·협력·계약"). 문제는 분석 단계에 섞이는 것이다.</a:t>
            </a:r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「08. 프로세스와 동적 분석」의 판단을 잘못된 예로 되짚는다. 분석과 설계를 통합하는 프로세스라면 이 검증을 설계의 상호작용과 테스트가 이어받아야 한다.</a:t>
            </a:r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「44. 적정 동적 모델링」의 기준을 잘못된 예로 되짚는다.</a:t>
            </a:r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저장소 기준(references/sw-engineering/uml/activity.md)은 책임과 행동·제어 의미가 없는 순서도 대용으로 활동 다이어그램을 쓰지 말라고 정한다.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플래그 여러 개는 "결제되지 않았는데 출고됨"처럼 불가능한 조합을 허용한다. 상태 기계는 가능한 상태와 전이만 허용한다.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"03. 정적 모델 — 도메인 개념과 관계"의 용어집이 모든 모델의 기준이다.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동시성·실패 처리의 기술적 수단은 설계와 구현의 문제지만, 어떤 결과를 보장해야 하는지는 요구다. 동적 모델은 그 질문을 드러내는 데까지 다룬다.</a:t>
            </a: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시간 배분은 전체 SA 완성 후 정한다.</a:t>
            </a:r>
          </a:p>
          <a:p>
            <a:pPr lvl="0"/>
            <a:r>
              <a:rPr lang="ko-KR" sz="1200"/>
              <a:t>세부 검토 기준(충족 / 보완):</a:t>
            </a:r>
          </a:p>
          <a:p>
            <a:pPr lvl="1"/>
            <a:r>
              <a:rPr lang="ko-KR" sz="1200"/>
              <a:t>SSD — 고객·정기배송 시스템·결제 시스템만 있다 / 내부 서비스·저장소가 있다</a:t>
            </a:r>
          </a:p>
          <a:p>
            <a:pPr lvl="1"/>
            <a:r>
              <a:rPr lang="ko-KR" sz="1200"/>
              <a:t>상호작용 — 정기배송·배송 회차·결제 승인이 업무 메시지로 상호작용한다 / 메서드 시그니처와 설계 객체를 쓴다</a:t>
            </a:r>
          </a:p>
          <a:p>
            <a:pPr lvl="1"/>
            <a:r>
              <a:rPr lang="ko-KR" sz="1200"/>
              <a:t>상태 기계 — 예정·결제 승인됨·건너뜀·배송됨과 가드가 있다 / 화면 단계를 상태로 둔다</a:t>
            </a:r>
          </a:p>
          <a:p>
            <a:pPr lvl="1"/>
            <a:r>
              <a:rPr lang="ko-KR" sz="1200"/>
              <a:t>교차검토 — 연속 횟수를 판단할 정보, 결제 승인 후 건너뛰기의 처리를 질문으로 남긴다 / 모델 간 이름이 다르다</a:t>
            </a: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/>
            <a:r>
              <a:rPr lang="ko-KR" sz="1200"/>
              <a:t>"예정일 2일 전"의 결제 승인 시점과 상태 이름은 교육용 가정이다.</a:t>
            </a:r>
          </a:p>
          <a:p>
            <a:pPr lvl="0"/>
            <a:r>
              <a:rPr lang="ko-KR" sz="1200"/>
              <a:t>결제 승인됨 상태의 건너뛰기(취소·환불·이월)는 "02. 요구 분석과 유스케이스" 실습에서 남긴 질문과 같다. 전이를 추측으로 그리지 않은 것이 이 예시의 핵심이다.</a:t>
            </a:r>
          </a:p>
          <a:p>
            <a:pPr lvl="0"/>
            <a:r>
              <a:rPr lang="ko-KR" sz="1200"/>
              <a:t>토론 질문: 이 상태는 누구의 것인가(정기배송인가, 배송 회차인가)? 아직 무엇을 모르는가?</a:t>
            </a: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"/>
          <p:cNvSpPr/>
          <p:nvPr>
            <p:ph type="sldImg" idx="2"/>
          </p:nvPr>
        </p:nvSpPr>
        <p:spPr/>
        <p:txBody>
          <a:bodyPr/>
          <a:lstStyle/>
          <a:p/>
        </p:txBody>
      </p:sp>
      <p:sp>
        <p:nvSpPr>
          <p:cNvPr id="3" name="슬라이드 노트 개체 틀"/>
          <p:cNvSpPr/>
          <p:nvPr>
            <p:ph type="body" idx="3"/>
          </p:nvPr>
        </p:nvSpPr>
        <p:spPr/>
        <p:txBody>
          <a:bodyPr/>
          <a:lstStyle/>
          <a:p>
            <a:pPr lvl="0">
              <a:buNone/>
            </a:pPr>
            <a:r>
              <a:rPr lang="ko-KR" sz="1200"/>
              <a:t>주문 시스템이 외부 시스템에 보내는 요청과 받는 통보는 다음 세션에서 의존 방향의 판단(주문 시스템이 배송 시스템을 아는가, 통보를 받는가?)으로 이어진다.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Straight Connector 8">
            <a:extLst>
              <a:ext uri="{FF2B5EF4-FFF2-40B4-BE49-F238E27FC236}">
                <a16:creationId xmlns:a16="http://schemas.microsoft.com/office/drawing/2014/main" id="{FF0E9F20-7865-40BF-831C-21A3A6DE669A}"/>
              </a:ext>
            </a:extLst>
          </p:cNvPr>
          <p:cNvCxnSpPr/>
          <p:nvPr userDrawn="1"/>
        </p:nvCxnSpPr>
        <p:spPr>
          <a:xfrm>
            <a:off x="370822" y="692696"/>
            <a:ext cx="8424000" cy="0"/>
          </a:xfrm>
          <a:prstGeom prst="line">
            <a:avLst/>
          </a:prstGeom>
          <a:ln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제목 1">
            <a:extLst>
              <a:ext uri="{FF2B5EF4-FFF2-40B4-BE49-F238E27FC236}">
                <a16:creationId xmlns:a16="http://schemas.microsoft.com/office/drawing/2014/main" id="{2094DC8E-CD32-4D9A-9DFC-F863952312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6189" y="-38114"/>
            <a:ext cx="6300034" cy="720080"/>
          </a:xfrm>
          <a:prstGeom prst="rect">
            <a:avLst/>
          </a:prstGeom>
        </p:spPr>
        <p:txBody>
          <a:bodyPr anchor="ctr" anchorCtr="0"/>
          <a:lstStyle>
            <a:lvl1pPr>
              <a:defRPr sz="2800" b="1"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5" name="슬라이드 번호 개체 틀 5">
            <a:extLst>
              <a:ext uri="{FF2B5EF4-FFF2-40B4-BE49-F238E27FC236}">
                <a16:creationId xmlns:a16="http://schemas.microsoft.com/office/drawing/2014/main" id="{48BCF7E4-4941-4537-9EC8-57C44E02DBE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  <a:prstGeom prst="rect">
            <a:avLst/>
          </a:prstGeom>
        </p:spPr>
        <p:txBody>
          <a:bodyPr/>
          <a:lstStyle>
            <a:lvl1pPr algn="ctr">
              <a:defRPr sz="800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>
              <a:defRPr/>
            </a:pPr>
            <a:r>
              <a:rPr lang="en-US" altLang="ko-KR" dirty="0">
                <a:solidFill>
                  <a:prstClr val="black"/>
                </a:solidFill>
              </a:rPr>
              <a:t>- </a:t>
            </a:r>
            <a:fld id="{A18F303B-5FF2-4BD3-899C-BAED341F6249}" type="slidenum">
              <a:rPr lang="ko-KR" altLang="en-US" smtClean="0">
                <a:solidFill>
                  <a:prstClr val="black"/>
                </a:solidFill>
              </a:rPr>
              <a:pPr>
                <a:defRPr/>
              </a:pPr>
              <a:t>‹#›</a:t>
            </a:fld>
            <a:r>
              <a:rPr lang="ko-KR" altLang="en-US" dirty="0">
                <a:solidFill>
                  <a:prstClr val="black"/>
                </a:solidFill>
              </a:rPr>
              <a:t> </a:t>
            </a:r>
            <a:r>
              <a:rPr lang="en-US" altLang="ko-KR" dirty="0">
                <a:solidFill>
                  <a:prstClr val="black"/>
                </a:solidFill>
              </a:rPr>
              <a:t>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6" name="내용 개체 틀 2">
            <a:extLst>
              <a:ext uri="{FF2B5EF4-FFF2-40B4-BE49-F238E27FC236}">
                <a16:creationId xmlns:a16="http://schemas.microsoft.com/office/drawing/2014/main" id="{F7FC7E0F-889C-4F19-8056-F2D1D63579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76189" y="980728"/>
            <a:ext cx="8424000" cy="5530862"/>
          </a:xfrm>
          <a:prstGeom prst="rect">
            <a:avLst/>
          </a:prstGeom>
        </p:spPr>
        <p:txBody>
          <a:bodyPr>
            <a:normAutofit/>
          </a:bodyPr>
          <a:lstStyle>
            <a:lvl1pPr marL="342900" indent="-3429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"/>
              <a:defRPr sz="2000" b="1"/>
            </a:lvl1pPr>
            <a:lvl2pPr marL="723900" indent="-368300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"/>
              <a:defRPr sz="1800" b="0"/>
            </a:lvl2pPr>
            <a:lvl3pPr marL="1077913" indent="-354013">
              <a:spcBef>
                <a:spcPts val="300"/>
              </a:spcBef>
              <a:spcAft>
                <a:spcPts val="300"/>
              </a:spcAft>
              <a:buSzPct val="90000"/>
              <a:buFont typeface="Wingdings" pitchFamily="2" charset="2"/>
              <a:buChar char=""/>
              <a:defRPr sz="1600" b="0"/>
            </a:lvl3pPr>
            <a:lvl4pPr marL="1433513" indent="-355600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l"/>
              <a:defRPr sz="1400" b="0"/>
            </a:lvl4pPr>
            <a:lvl5pPr marL="1787525" indent="-354013">
              <a:spcBef>
                <a:spcPts val="300"/>
              </a:spcBef>
              <a:spcAft>
                <a:spcPts val="300"/>
              </a:spcAft>
              <a:buFont typeface="Wingdings" pitchFamily="2" charset="2"/>
              <a:buChar char="§"/>
              <a:defRPr sz="1400" b="0"/>
            </a:lvl5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8" name="텍스트 개체 틀 2">
            <a:extLst>
              <a:ext uri="{FF2B5EF4-FFF2-40B4-BE49-F238E27FC236}">
                <a16:creationId xmlns:a16="http://schemas.microsoft.com/office/drawing/2014/main" id="{535D420B-3C82-4BF6-9CCA-F8DA0A133FB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076056" y="367445"/>
            <a:ext cx="3699901" cy="264734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1800" b="1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2pPr>
            <a:lvl3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3pPr>
            <a:lvl4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4pPr>
            <a:lvl5pPr marL="0" indent="0">
              <a:spcBef>
                <a:spcPts val="0"/>
              </a:spcBef>
              <a:buNone/>
              <a:defRPr sz="1300" b="1">
                <a:latin typeface="+mn-ea"/>
                <a:ea typeface="+mn-ea"/>
              </a:defRPr>
            </a:lvl5pPr>
          </a:lstStyle>
          <a:p>
            <a:pPr lvl="0"/>
            <a:r>
              <a:rPr lang="en-US" altLang="ko-KR"/>
              <a:t>Level #1</a:t>
            </a:r>
          </a:p>
        </p:txBody>
      </p:sp>
      <p:sp>
        <p:nvSpPr>
          <p:cNvPr id="11" name="텍스트 개체 틀 9">
            <a:extLst>
              <a:ext uri="{FF2B5EF4-FFF2-40B4-BE49-F238E27FC236}">
                <a16:creationId xmlns:a16="http://schemas.microsoft.com/office/drawing/2014/main" id="{2A28188B-9A75-4416-A436-43EDEDA9605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860420" y="710786"/>
            <a:ext cx="2915537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r">
              <a:buNone/>
              <a:defRPr lang="en-US" altLang="ko-KR" sz="1400" b="1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/>
              <a:t>Level #2</a:t>
            </a:r>
          </a:p>
        </p:txBody>
      </p:sp>
      <p:sp>
        <p:nvSpPr>
          <p:cNvPr id="2" name="텍스트 개체 틀 9">
            <a:extLst>
              <a:ext uri="{FF2B5EF4-FFF2-40B4-BE49-F238E27FC236}">
                <a16:creationId xmlns:a16="http://schemas.microsoft.com/office/drawing/2014/main" id="{B690A1C8-68B5-5F79-8C0D-DCD7EE5EA9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14367" y="6485290"/>
            <a:ext cx="6244438" cy="238278"/>
          </a:xfrm>
          <a:prstGeom prst="rect">
            <a:avLst/>
          </a:prstGeom>
        </p:spPr>
        <p:txBody>
          <a:bodyPr lIns="0" tIns="0" rIns="0" bIns="0" anchor="ctr"/>
          <a:lstStyle>
            <a:lvl1pPr marL="0" indent="0" algn="l">
              <a:buNone/>
              <a:defRPr lang="en-US" altLang="ko-KR" sz="600" b="0" i="0" kern="1200" baseline="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Arial" pitchFamily="34" charset="0"/>
              </a:defRPr>
            </a:lvl1pPr>
          </a:lstStyle>
          <a:p>
            <a:pPr lvl="0"/>
            <a:r>
              <a:rPr lang="en-US" altLang="ko-KR" dirty="0"/>
              <a:t>Level #3</a:t>
            </a:r>
          </a:p>
        </p:txBody>
      </p:sp>
    </p:spTree>
    <p:extLst>
      <p:ext uri="{BB962C8B-B14F-4D97-AF65-F5344CB8AC3E}">
        <p14:creationId xmlns:p14="http://schemas.microsoft.com/office/powerpoint/2010/main" val="6893852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505AE4B-11F0-DD96-DBC0-88B2F9E857D9}"/>
              </a:ext>
            </a:extLst>
          </p:cNvPr>
          <p:cNvSpPr txBox="1"/>
          <p:nvPr userDrawn="1"/>
        </p:nvSpPr>
        <p:spPr>
          <a:xfrm>
            <a:off x="1519279" y="6647902"/>
            <a:ext cx="6121163" cy="1846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00000"/>
              </a:lnSpc>
            </a:pPr>
            <a:r>
              <a:rPr lang="ko-KR" altLang="ko-KR" sz="600" dirty="0"/>
              <a:t>© 2026 </a:t>
            </a:r>
            <a:r>
              <a:rPr lang="ko-KR" altLang="ko-KR" sz="600" dirty="0" err="1"/>
              <a:t>Young</a:t>
            </a:r>
            <a:r>
              <a:rPr lang="ko-KR" altLang="ko-KR" sz="600" dirty="0"/>
              <a:t> </a:t>
            </a:r>
            <a:r>
              <a:rPr lang="ko-KR" altLang="ko-KR" sz="600" dirty="0" err="1"/>
              <a:t>On</a:t>
            </a:r>
            <a:r>
              <a:rPr lang="ko-KR" altLang="ko-KR" sz="600" dirty="0"/>
              <a:t> Kim. LLM-</a:t>
            </a:r>
            <a:r>
              <a:rPr lang="ko-KR" altLang="ko-KR" sz="600" dirty="0" err="1"/>
              <a:t>generated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content</a:t>
            </a:r>
            <a:r>
              <a:rPr lang="ko-KR" altLang="ko-KR" sz="600" dirty="0"/>
              <a:t>, </a:t>
            </a:r>
            <a:r>
              <a:rPr lang="ko-KR" altLang="ko-KR" sz="600" dirty="0" err="1"/>
              <a:t>directed</a:t>
            </a:r>
            <a:r>
              <a:rPr lang="ko-KR" altLang="ko-KR" sz="600" dirty="0"/>
              <a:t>, </a:t>
            </a:r>
            <a:r>
              <a:rPr lang="ko-KR" altLang="ko-KR" sz="600" dirty="0" err="1"/>
              <a:t>reviewed</a:t>
            </a:r>
            <a:r>
              <a:rPr lang="ko-KR" altLang="ko-KR" sz="600" dirty="0"/>
              <a:t> and </a:t>
            </a:r>
            <a:r>
              <a:rPr lang="ko-KR" altLang="ko-KR" sz="600" dirty="0" err="1"/>
              <a:t>validated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the</a:t>
            </a:r>
            <a:r>
              <a:rPr lang="ko-KR" altLang="ko-KR" sz="600" dirty="0"/>
              <a:t> </a:t>
            </a:r>
            <a:r>
              <a:rPr lang="ko-KR" altLang="ko-KR" sz="600" dirty="0" err="1"/>
              <a:t>author</a:t>
            </a:r>
            <a:r>
              <a:rPr lang="ko-KR" altLang="ko-KR" sz="600" dirty="0"/>
              <a:t>; </a:t>
            </a:r>
            <a:r>
              <a:rPr lang="ko-KR" altLang="ko-KR" sz="600" dirty="0" err="1"/>
              <a:t>rendered</a:t>
            </a:r>
            <a:r>
              <a:rPr lang="ko-KR" altLang="ko-KR" sz="600" dirty="0"/>
              <a:t> </a:t>
            </a:r>
            <a:r>
              <a:rPr lang="ko-KR" altLang="ko-KR" sz="600" dirty="0" err="1"/>
              <a:t>by</a:t>
            </a:r>
            <a:r>
              <a:rPr lang="ko-KR" altLang="ko-KR" sz="600" dirty="0"/>
              <a:t> </a:t>
            </a:r>
            <a:r>
              <a:rPr lang="ko-KR" altLang="ko-KR" sz="600" dirty="0" err="1"/>
              <a:t>TrainingMaterials</a:t>
            </a:r>
            <a:r>
              <a:rPr lang="ko-KR" altLang="ko-KR" sz="600" dirty="0"/>
              <a:t>.</a:t>
            </a:r>
            <a:endParaRPr lang="ko-KR" altLang="en-US" sz="500" dirty="0">
              <a:solidFill>
                <a:prstClr val="black"/>
              </a:solidFill>
              <a:latin typeface="맑은 고딕"/>
              <a:ea typeface="맑은 고딕"/>
            </a:endParaRPr>
          </a:p>
        </p:txBody>
      </p:sp>
    </p:spTree>
    <p:extLst>
      <p:ext uri="{BB962C8B-B14F-4D97-AF65-F5344CB8AC3E}">
        <p14:creationId xmlns:p14="http://schemas.microsoft.com/office/powerpoint/2010/main" val="33776571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</p:sldLayoutIdLst>
  <p:hf hdr="0" ftr="0" dt="0"/>
  <p:txStyles>
    <p:titleStyle>
      <a:lvl1pPr algn="l" rtl="0" eaLnBrk="0" fontAlgn="base" latinLnBrk="1" hangingPunct="0">
        <a:spcBef>
          <a:spcPct val="0"/>
        </a:spcBef>
        <a:spcAft>
          <a:spcPct val="0"/>
        </a:spcAft>
        <a:defRPr sz="32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j-cs"/>
        </a:defRPr>
      </a:lvl1pPr>
      <a:lvl2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l" rtl="0" eaLnBrk="0" fontAlgn="base" latinLnBrk="1" hangingPunct="0">
        <a:spcBef>
          <a:spcPct val="0"/>
        </a:spcBef>
        <a:spcAft>
          <a:spcPct val="0"/>
        </a:spcAft>
        <a:defRPr sz="32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Wingdings" pitchFamily="2" charset="2"/>
        <a:buChar char="u"/>
        <a:defRPr sz="20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Wingdings" pitchFamily="2" charset="2"/>
        <a:buChar char="l"/>
        <a:defRPr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16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1400" kern="1200">
          <a:solidFill>
            <a:schemeClr val="tx1"/>
          </a:solidFill>
          <a:latin typeface="맑은 고딕" pitchFamily="50" charset="-127"/>
          <a:ea typeface="맑은 고딕" pitchFamily="50" charset="-127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" Type="http://schemas.openxmlformats.org/officeDocument/2006/relationships/notesSlide" Target="../notesSlides/notesSlide3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1" Type="http://schemas.openxmlformats.org/officeDocument/2006/relationships/image" Target="../media/mermaid-1.png"/><Relationship Id="speakerNotes4" Type="http://schemas.openxmlformats.org/officeDocument/2006/relationships/notesSlide" Target="../notesSlides/notesSlide4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" Type="http://schemas.openxmlformats.org/officeDocument/2006/relationships/notesSlide" Target="../notesSlides/notesSlide6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7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8" Type="http://schemas.openxmlformats.org/officeDocument/2006/relationships/notesSlide" Target="../notesSlides/notesSlide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9" Type="http://schemas.openxmlformats.org/officeDocument/2006/relationships/notesSlide" Target="../notesSlides/notesSlide9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0" Type="http://schemas.openxmlformats.org/officeDocument/2006/relationships/notesSlide" Target="../notesSlides/notesSlide10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" Type="http://schemas.openxmlformats.org/officeDocument/2006/relationships/image" Target="../media/plantuml-1.png"/><Relationship Id="speakerNotes11" Type="http://schemas.openxmlformats.org/officeDocument/2006/relationships/notesSlide" Target="../notesSlides/notesSlide1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3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mermaidImage2" Type="http://schemas.openxmlformats.org/officeDocument/2006/relationships/image" Target="../media/mermaid-2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5" Type="http://schemas.openxmlformats.org/officeDocument/2006/relationships/notesSlide" Target="../notesSlides/notesSlide15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16" Type="http://schemas.openxmlformats.org/officeDocument/2006/relationships/notesSlide" Target="../notesSlides/notesSlide16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1" Type="http://schemas.openxmlformats.org/officeDocument/2006/relationships/image" Target="../media/svg-1.png"/><Relationship Id="speakerNotes17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2" Type="http://schemas.openxmlformats.org/officeDocument/2006/relationships/image" Target="../media/plantuml-2.png"/><Relationship Id="speakerNotes19" Type="http://schemas.openxmlformats.org/officeDocument/2006/relationships/notesSlide" Target="../notesSlides/notesSlide19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3" Type="http://schemas.openxmlformats.org/officeDocument/2006/relationships/image" Target="../media/plantuml-3.png"/><Relationship Id="speakerNotes20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3" Type="http://schemas.openxmlformats.org/officeDocument/2006/relationships/notesSlide" Target="../notesSlides/notesSlide23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2" Type="http://schemas.openxmlformats.org/officeDocument/2006/relationships/image" Target="../media/svg-2.png"/><Relationship Id="speakerNotes24" Type="http://schemas.openxmlformats.org/officeDocument/2006/relationships/notesSlide" Target="../notesSlides/notesSlide24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6" Type="http://schemas.openxmlformats.org/officeDocument/2006/relationships/notesSlide" Target="../notesSlides/notesSlide26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4" Type="http://schemas.openxmlformats.org/officeDocument/2006/relationships/image" Target="../media/plantuml-4.png"/><Relationship Id="speakerNotes27" Type="http://schemas.openxmlformats.org/officeDocument/2006/relationships/notesSlide" Target="../notesSlides/notesSlide27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28" Type="http://schemas.openxmlformats.org/officeDocument/2006/relationships/notesSlide" Target="../notesSlides/notesSlide28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5" Type="http://schemas.openxmlformats.org/officeDocument/2006/relationships/image" Target="../media/plantuml-5.png"/><Relationship Id="speakerNotes29" Type="http://schemas.openxmlformats.org/officeDocument/2006/relationships/notesSlide" Target="../notesSlides/notesSlide29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6" Type="http://schemas.openxmlformats.org/officeDocument/2006/relationships/image" Target="../media/plantuml-6.png"/><Relationship Id="speakerNotes30" Type="http://schemas.openxmlformats.org/officeDocument/2006/relationships/notesSlide" Target="../notesSlides/notesSlide30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7" Type="http://schemas.openxmlformats.org/officeDocument/2006/relationships/image" Target="../media/plantuml-7.png"/><Relationship Id="speakerNotes31" Type="http://schemas.openxmlformats.org/officeDocument/2006/relationships/notesSlide" Target="../notesSlides/notesSlide3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8" Type="http://schemas.openxmlformats.org/officeDocument/2006/relationships/image" Target="../media/plantuml-8.png"/><Relationship Id="speakerNotes33" Type="http://schemas.openxmlformats.org/officeDocument/2006/relationships/notesSlide" Target="../notesSlides/notesSlide33.xml"/></Relationships>
</file>

<file path=ppt/slides/_rels/slide3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5" Type="http://schemas.openxmlformats.org/officeDocument/2006/relationships/notesSlide" Target="../notesSlides/notesSlide35.xml"/></Relationships>
</file>

<file path=ppt/slides/_rels/slide3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9" Type="http://schemas.openxmlformats.org/officeDocument/2006/relationships/image" Target="../media/plantuml-9.png"/></Relationships>
</file>

<file path=ppt/slides/_rels/slide3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3" Type="http://schemas.openxmlformats.org/officeDocument/2006/relationships/image" Target="../media/svg-3.png"/><Relationship Id="speakerNotes37" Type="http://schemas.openxmlformats.org/officeDocument/2006/relationships/notesSlide" Target="../notesSlides/notesSlide37.xml"/></Relationships>
</file>

<file path=ppt/slides/_rels/slide3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0" Type="http://schemas.openxmlformats.org/officeDocument/2006/relationships/image" Target="../media/plantuml-10.png"/><Relationship Id="speakerNotes38" Type="http://schemas.openxmlformats.org/officeDocument/2006/relationships/notesSlide" Target="../notesSlides/notesSlide38.xml"/></Relationships>
</file>

<file path=ppt/slides/_rels/slide3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39" Type="http://schemas.openxmlformats.org/officeDocument/2006/relationships/notesSlide" Target="../notesSlides/notesSlide39.xml"/></Relationships>
</file>

<file path=ppt/slides/_rels/slide4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0" Type="http://schemas.openxmlformats.org/officeDocument/2006/relationships/notesSlide" Target="../notesSlides/notesSlide40.xml"/></Relationships>
</file>

<file path=ppt/slides/_rels/slide4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vgImage4" Type="http://schemas.openxmlformats.org/officeDocument/2006/relationships/image" Target="../media/svg-4.png"/><Relationship Id="speakerNotes41" Type="http://schemas.openxmlformats.org/officeDocument/2006/relationships/notesSlide" Target="../notesSlides/notesSlide41.xml"/></Relationships>
</file>

<file path=ppt/slides/_rels/slide4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1" Type="http://schemas.openxmlformats.org/officeDocument/2006/relationships/image" Target="../media/plantuml-11.png"/><Relationship Id="speakerNotes42" Type="http://schemas.openxmlformats.org/officeDocument/2006/relationships/notesSlide" Target="../notesSlides/notesSlide42.xml"/></Relationships>
</file>

<file path=ppt/slides/_rels/slide4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3" Type="http://schemas.openxmlformats.org/officeDocument/2006/relationships/notesSlide" Target="../notesSlides/notesSlide43.xml"/></Relationships>
</file>

<file path=ppt/slides/_rels/slide4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4" Type="http://schemas.openxmlformats.org/officeDocument/2006/relationships/notesSlide" Target="../notesSlides/notesSlide44.xml"/></Relationships>
</file>

<file path=ppt/slides/_rels/slide4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2" Type="http://schemas.openxmlformats.org/officeDocument/2006/relationships/image" Target="../media/plantuml-12.png"/><Relationship Id="speakerNotes45" Type="http://schemas.openxmlformats.org/officeDocument/2006/relationships/notesSlide" Target="../notesSlides/notesSlide45.xml"/></Relationships>
</file>

<file path=ppt/slides/_rels/slide4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6" Type="http://schemas.openxmlformats.org/officeDocument/2006/relationships/notesSlide" Target="../notesSlides/notesSlide46.xml"/></Relationships>
</file>

<file path=ppt/slides/_rels/slide4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7" Type="http://schemas.openxmlformats.org/officeDocument/2006/relationships/notesSlide" Target="../notesSlides/notesSlide47.xml"/></Relationships>
</file>

<file path=ppt/slides/_rels/slide4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8" Type="http://schemas.openxmlformats.org/officeDocument/2006/relationships/notesSlide" Target="../notesSlides/notesSlide48.xml"/></Relationships>
</file>

<file path=ppt/slides/_rels/slide4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49" Type="http://schemas.openxmlformats.org/officeDocument/2006/relationships/notesSlide" Target="../notesSlides/notesSlide49.xml"/></Relationships>
</file>

<file path=ppt/slides/_rels/slide5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0" Type="http://schemas.openxmlformats.org/officeDocument/2006/relationships/notesSlide" Target="../notesSlides/notesSlide50.xml"/></Relationships>
</file>

<file path=ppt/slides/_rels/slide5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1" Type="http://schemas.openxmlformats.org/officeDocument/2006/relationships/notesSlide" Target="../notesSlides/notesSlide51.xml"/></Relationships>
</file>

<file path=ppt/slides/_rels/slide5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2" Type="http://schemas.openxmlformats.org/officeDocument/2006/relationships/notesSlide" Target="../notesSlides/notesSlide52.xml"/></Relationships>
</file>

<file path=ppt/slides/_rels/slide5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3" Type="http://schemas.openxmlformats.org/officeDocument/2006/relationships/notesSlide" Target="../notesSlides/notesSlide53.xml"/></Relationships>
</file>

<file path=ppt/slides/_rels/slide5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4" Type="http://schemas.openxmlformats.org/officeDocument/2006/relationships/notesSlide" Target="../notesSlides/notesSlide54.xml"/></Relationships>
</file>

<file path=ppt/slides/_rels/slide5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5" Type="http://schemas.openxmlformats.org/officeDocument/2006/relationships/notesSlide" Target="../notesSlides/notesSlide55.xml"/></Relationships>
</file>

<file path=ppt/slides/_rels/slide5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6" Type="http://schemas.openxmlformats.org/officeDocument/2006/relationships/notesSlide" Target="../notesSlides/notesSlide56.xml"/></Relationships>
</file>

<file path=ppt/slides/_rels/slide5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7" Type="http://schemas.openxmlformats.org/officeDocument/2006/relationships/notesSlide" Target="../notesSlides/notesSlide57.xml"/></Relationships>
</file>

<file path=ppt/slides/_rels/slide5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8" Type="http://schemas.openxmlformats.org/officeDocument/2006/relationships/notesSlide" Target="../notesSlides/notesSlide58.xml"/></Relationships>
</file>

<file path=ppt/slides/_rels/slide5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59" Type="http://schemas.openxmlformats.org/officeDocument/2006/relationships/notesSlide" Target="../notesSlides/notesSlide59.xml"/></Relationships>
</file>

<file path=ppt/slides/_rels/slide6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0" Type="http://schemas.openxmlformats.org/officeDocument/2006/relationships/notesSlide" Target="../notesSlides/notesSlide60.xml"/></Relationships>
</file>

<file path=ppt/slides/_rels/slide6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1" Type="http://schemas.openxmlformats.org/officeDocument/2006/relationships/notesSlide" Target="../notesSlides/notesSlide61.xml"/></Relationships>
</file>

<file path=ppt/slides/_rels/slide6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3" Type="http://schemas.openxmlformats.org/officeDocument/2006/relationships/image" Target="../media/plantuml-13.png"/><Relationship Id="speakerNotes63" Type="http://schemas.openxmlformats.org/officeDocument/2006/relationships/notesSlide" Target="../notesSlides/notesSlide63.xml"/></Relationships>
</file>

<file path=ppt/slides/_rels/slide6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plantumlImage14" Type="http://schemas.openxmlformats.org/officeDocument/2006/relationships/image" Target="../media/plantuml-14.png"/></Relationships>
</file>

<file path=ppt/slides/_rels/slide6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speakerNotes65" Type="http://schemas.openxmlformats.org/officeDocument/2006/relationships/notesSlide" Target="../notesSlides/notesSlide6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동적 모델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- 1 -</a:t>
            </a:r>
            <a:endParaRPr lang="ko-KR" altLang="en-US" dirty="0">
              <a:solidFill>
                <a:prstClr val="black"/>
              </a:solidFill>
            </a:endParaRP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02. 정적 모델에서 동적 모델로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03. 동적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04. 정적·동적 모델의 상호 검증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05. 사건과 반응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06. 동적 모델의 종류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07. 분석과 설계의 상호작용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08. 프로세스와 동적 분석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09. 정제된 SSD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10. 계약의 정제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11. 상호작용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12. 상호작용 모델의 용도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13. 상호작용에서 발견하는 것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14. 활동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15. 유스케이스와 활동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16. 업무 흐름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17. 이벤트와 활동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18. 활동과 SSD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19. 시퀀스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20. 오퍼레이션에서 상호작용으로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21. 참여 객체와 도메인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22. 연관을 따라 흐르는 메시지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23. 장바구니 담기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24. 주문 생성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25. 결제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26. 주문 취소 시퀀스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27. 시퀀스 다이어그램 조각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28. 커뮤니케이션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29. 시퀀스와 커뮤니케이션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30. 링크와 연관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BBD6A-BEC8-8565-421F-EBAC1ED42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A14CAC-1EBE-1F63-E3BA-E3EE686B2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동적 모델 목차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B9EEDA23-0B0A-564A-4691-C5337C3EB28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- 2 -</a:t>
            </a:r>
          </a:p>
        </p:txBody>
      </p:sp>
      <p:sp>
        <p:nvSpPr>
          <p:cNvPr id="10" name="내용 개체 틀 9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8822" y="949064"/>
            <a:ext cx="4580822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31. 상태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32. 상태 기계 다이어그램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33. 주문 상태 기계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34. 출고와 배송 시작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35. 가드와 금지된 전이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36. 시간 이벤트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37. 상태 폭증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38. 상태와 불변 조건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39. 교차검토 절차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40. 계약과 정적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41. 상태와 정적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42. 상호작용과 정적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43. 누락과 모순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44. 적정 동적 모델링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45.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설계 객체 혼입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BD61A0BF-30A1-CFBA-B6DC-C8AB25F4C72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t/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E4E919F-9032-122E-A91D-6BEFC90E256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336ED9B1-5AD1-2C46-246C-15655B3852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4" name="TOC 열 4">
            <a:extLst>
              <a:ext uri="{FF2B5EF4-FFF2-40B4-BE49-F238E27FC236}">
                <a16:creationId xmlns:a16="http://schemas.microsoft.com/office/drawing/2014/main" id="{F02C014B-77F1-D298-AF5D-A7FD2F69A4BB}"/>
              </a:ext>
            </a:extLst>
          </p:cNvPr>
          <p:cNvSpPr>
            <a:spLocks noGrp="1"/>
          </p:cNvSpPr>
          <p:nvPr/>
        </p:nvSpPr>
        <p:spPr>
          <a:xfrm>
            <a:off x="4426820" y="949064"/>
            <a:ext cx="4195811" cy="5530862"/>
          </a:xfrm>
        </p:spPr>
        <p:txBody>
          <a:bodyPr>
            <a:normAutofit/>
          </a:bodyPr>
          <a:lstStyle/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46.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정적 모델만 있는 분석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47.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모든 흐름 그리기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48.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순서도가 된 활동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49.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상태 기계 오용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50. 잘못된 관행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모델 간 불일치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51. 동적 모델의 한계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52.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동적 모델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53. 실습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검토 예시</a:t>
            </a:r>
          </a:p>
          <a:p>
            <a:pPr lvl="1" marL="355600" indent="0">
              <a:spcBef>
                <a:spcPts val="300"/>
              </a:spcBef>
              <a:spcAft>
                <a:spcPts val="300"/>
              </a:spcAft>
              <a:buNone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54. 요약</a:t>
            </a:r>
          </a:p>
        </p:txBody>
      </p:sp>
    </p:spTree>
    <p:extLst>
      <p:ext uri="{BB962C8B-B14F-4D97-AF65-F5344CB8AC3E}">
        <p14:creationId xmlns:p14="http://schemas.microsoft.com/office/powerpoint/2010/main" val="11981010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01. 세션 목표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시나리오의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오퍼레이션·상호작용·상태 변화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동적 모델로 확인하고, 정적 모델과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모델과 동적 모델이 서로를 검증하는 방식을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분석의 상호작용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(도메인 객체)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설계의 상호작용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(설계 객체)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 분석의 정제된 시스템 시퀀스 다이어그램과 계약을 입력으로, 활동 다이어그램으로 유스케이스와 시스템 간 흐름을, 시퀀스·커뮤니케이션 다이어그램으로 도메인 객체의 상호작용을 모델링한다.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기계로 사건에 따른 상태 전이와 금지된 전이를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모델과 정적 모델을 교차검토해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누락과 모순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찾고, 요구 산출물과 정적 모델에 되돌린다. 필요한 만큼만 모델링한다.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02. 정적 모델에서 동적 모델로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모델은 무엇이 존재하는지 보여주지만,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어떤 순서로 무엇이 바뀌는지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보여주지 못한다. "03. 정적 모델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 개념과 관계"는 다음 질문을 남겼다.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출고와 배송 시작은 같은 사건인가?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상태는 어떤 사건으로 어떤 값에서 어떤 값으로 바뀌는가?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환불이 완료되지 않으면 주문은 어떤 상태인가?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취소에서 시스템과 외부는 어떤 순서로 상호작용하는가?</a:t>
            </a:r>
          </a:p>
        </p:txBody>
      </p:sp>
      <p:pic>
        <p:nvPicPr>
          <p:cNvPr id="9" name="mermaid Diagram 1"/>
          <p:cNvPicPr>
            <a:picLocks noChangeAspect="1"/>
          </p:cNvPicPr>
          <p:nvPr/>
        </p:nvPicPr>
        <p:blipFill>
          <a:blip r:embed="mermaidImage1"/>
          <a:stretch>
            <a:fillRect/>
          </a:stretch>
        </p:blipFill>
        <p:spPr>
          <a:xfrm>
            <a:off x="1468041" y="4242446"/>
            <a:ext cx="6207919" cy="733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03. 동적 모델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(Dynamic Model)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일어나는지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즉 사건과 그에 따른 상호작용·상태 변화를 표현한다.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"사건은 가능한 발생들의 집합이다. 발생은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시스템에 어떤 결과를 가져오는, 일어나는 무언가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 event describes a set of possible occurrences. An occurrence is something that happens that has some consequence with regard to the system."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Object Management Group, 2017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어떤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일어나는가?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누가 누구와 어떤 순서로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사건의 결과로 무엇의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바뀌는가?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04. 정적·동적 모델의 상호 검증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12735" y="2801048"/>
          <a:ext cx="6504940" cy="3873500"/>
        </p:xfrm>
        <a:graphic>
          <a:graphicData uri="http://schemas.openxmlformats.org/drawingml/2006/table">
            <a:tbl>
              <a:tblPr/>
              <a:tblGrid>
                <a:gridCol w="3098800"/>
                <a:gridCol w="340614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 모델이 정적 모델에 묻는 질문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모델이 동적 모델에 묻는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사건이 바꾸는 대상이 모델에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개념은 어떤 사건에 참여하는가?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상호작용하는 객체 사이에 연관이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연관은 어떤 상호작용에서 쓰이는가?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값이 속성으로 정의되어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상태 값에 들어오고 나가는 사건이 있는가?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존재하는지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동적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일어나는지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보여주며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서로를 검증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 한 모델만으로는 문제영역을 다 볼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"각 모델은 소프트웨어의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측면만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기술하므로 여러 모델을 함께 써야 할 수 있다"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"You potentially need to use multiple models to develop software because each model describes a single aspect of your software."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Scott W. Ambler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05. 사건과 반응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30186" y="2801048"/>
          <a:ext cx="6670040" cy="3873500"/>
        </p:xfrm>
        <a:graphic>
          <a:graphicData uri="http://schemas.openxmlformats.org/drawingml/2006/table">
            <a:tbl>
              <a:tblPr/>
              <a:tblGrid>
                <a:gridCol w="2595880"/>
                <a:gridCol w="1645920"/>
                <a:gridCol w="242824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변화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고객이 주문을 취소한다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→ 결제 → 환불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주문: 결제 완료 → 취소됨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시스템이 배송 시작을 알린다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 → 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주문: 결제 완료 → 배송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예정일이 다가온다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정기배송 →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회차: 예정 → 결제 승인됨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시스템은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사건에 반응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하는 시스템이다. 사건이 일어나면 시스템은 상호작용하고 상태를 바꾼다.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"반응형 시스템은 대체로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 주도적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이며, 외부와 내부의 자극에 계속 반응해야 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reactive system ..., is characterized by being, to a large extent, event-driven, continuously having to react to external and internal stimuli."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David Harel, 1987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06. 동적 모델의 종류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1550082"/>
                <a:gridCol w="4855103"/>
                <a:gridCol w="1900615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다이어그램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답하는 질문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세션의 역할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정제된 시스템 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시나리오에서 액터·외부 시스템과 어떤 이벤트를 주고받는가?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출발점 — 요구 분석의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전체의 흐름과 분기는 무엇인가? 여러 액터에 걸친 업무 흐름은?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수준의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객체가 어떤 순서로 상호작용하는가?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커뮤니케이션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어떤 객체들이 연결되어 상호작용하는가?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시퀀스의 보완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개념이 사건에 따라 어떤 상태가 되는가?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확인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답하려는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고른다. 한 다이어그램으로 모든 질문에 답하지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07. 분석과 설계의 상호작용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3669573"/>
                <a:gridCol w="3747227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분석의 상호작용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설계의 상호작용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액터, 도메인 객체(주문·결제·환불·배송), 외부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설계 객체(응용 서비스·도메인 객체·저장소·연동 어댑터)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의미 — 취소한다, 환불을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오퍼레이션 — 이름, 인자, 반환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목적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개념·연관·상태를 발견하고 검증한다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책임을 배치하고 협력을 결정한다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다루는 곳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세션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"07. 책임·협력·계약"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같은 시퀀스 다이어그램이라도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분석에서는 도메인 객체 사이의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설계에서는 설계 객체 사이의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그린다.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08. 프로세스와 동적 분석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분석의 비중은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개발 프로세스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따라 달라진다. 그러나 분석을 독립 단계로 둔다면 동적 분석은 생략할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분석과 설계를 통합하는 경우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(애자일 등)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 객체의 상호작용은 간단히 확인하고, 설계 객체의 상호작용에 집중한다.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분석을 독립 단계로 두는 경우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적절한 동적 분석 없이는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정적 분석이 제대로 될 수 없다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개념·연관·속성·상태는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사건과 상호작용을 따라가야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발견되고 검증된다.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예: 취소 처리 중 상태는 취소 상호작용에서, 배송 시작 통보는 시스템 간 업무 흐름에서 드러난다.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정적 모델만 그리고 분석을 끝내면 누락된 개념과 모순이 설계·구현 단계로 넘어간다.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09. 정제된 SSD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"02. 요구 분석과 유스케이스"의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정제된 SSD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동적 분석의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입력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시스템은 블랙박스이고, 외부 시스템과 무엇을 주고받는지까지 보인다. 이 세션은 블랙박스를 열어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객체의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펼친다.</a:t>
            </a:r>
          </a:p>
        </p:txBody>
      </p:sp>
      <p:pic>
        <p:nvPicPr>
          <p:cNvPr id="9" name="plantuml Diagram 1"/>
          <p:cNvPicPr>
            <a:picLocks noChangeAspect="1"/>
          </p:cNvPicPr>
          <p:nvPr/>
        </p:nvPicPr>
        <p:blipFill>
          <a:blip r:embed="plantumlImage1"/>
          <a:stretch>
            <a:fillRect/>
          </a:stretch>
        </p:blipFill>
        <p:spPr>
          <a:xfrm>
            <a:off x="708758" y="2087039"/>
            <a:ext cx="7726485" cy="4325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10. 계약의 정제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357073"/>
          <a:ext cx="83058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741680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— 요구 분석의 계약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고객의 주문이 결제 대기이고 배송지가 지정되었다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성공 사후조건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승인되어 주문과 연결되었다. 상품 시스템에 재고 차감을, 배송 시스템에 배송을, 회계 시스템에 입금 처리·영수증 발행을 요청했다. 주문 상태가 결제 완료다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2953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요구 분석의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입력으로 쓰고, 시나리오 분석에 필요한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 취소 계약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명세서의 대안 흐름 1c에서 작성한다. 사후조건의 각 표현은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 모델의 요소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외부 시스템에 대한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설명되어야 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- 12 -</a:t>
            </a:r>
          </a:p>
        </p:txBody>
      </p:sp>
      <p:graphicFrame>
        <p:nvGraphicFramePr>
          <p:cNvPr id="14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576273"/>
          <a:ext cx="83058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741680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항목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관련 유스케이스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관리한다 — 대안 흐름 1c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고객 소유의 결제 완료 주문이며 배송 시작 전이다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성공 사후조건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시스템이 출고 중단을 받아들였다. 결제에 연결된 환불이 생겨 결제 시스템에 요청되었고 환불 금액은 결제 금액과 같다. 주문 상태가 취소 처리 중이다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상호작용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(Interaction)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참여자 사이에서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관찰 가능한 정보 교환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분석에서는 도메인 객체가 사건을 처리하기 위해 무엇을 주고받는지 본다.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"상호작용은 연결된 요소들 사이의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관찰 가능한 정보 교환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초점을 둔 행위 단위다"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"An Interaction is a unit of Behavior that focuses on the observable exchange of information between connectable elements."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Object Management Group, 2017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정제된 SSD는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밖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본 상호작용이다. 이제 흐름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(활동)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시스템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상호작용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(시퀀스·커뮤니케이션)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개념의 생애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(상태 기계)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들어간다.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네 가지 동적 다이어그램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11. 상호작용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515110"/>
          <a:ext cx="83058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338164"/>
                <a:gridCol w="2379217"/>
                <a:gridCol w="2699419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다이어그램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보여주는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모델과의 관계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행동과 행동 사이의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유스케이스·업무 흐름, 분기·병행, 책임자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행동이 만들고 바꾸는 개념과 상태 값을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생명선 사이에 시간 순서로 오가는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 하나를 처리하는 객체의 상호작용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생명선은 개념의 인스턴스, 메시지는 연관을 따른다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커뮤니케이션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링크로 연결된 객체와 번호 붙은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상호작용의 참여자 연결 구조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링크는 연관의 후보다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개념이 사건에 따라 거치는 상태와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개념의 생애, 허용·금지된 전이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상태는 상태 값, 불변 조건은 제약이다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1033239" y="5678424"/>
            <a:ext cx="6528540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- 14 -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3864610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모델과의 관계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정적 모델은 동적 모델의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어휘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(참여자, 상태 값)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주고, 동적 모델은 정적 모델의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누락과 모순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드러낸다.</a:t>
            </a:r>
          </a:p>
        </p:txBody>
      </p:sp>
      <p:pic>
        <p:nvPicPr>
          <p:cNvPr id="15" name="mermaid Diagram 2"/>
          <p:cNvPicPr>
            <a:picLocks noChangeAspect="1"/>
          </p:cNvPicPr>
          <p:nvPr/>
        </p:nvPicPr>
        <p:blipFill>
          <a:blip r:embed="mermaidImage2"/>
          <a:stretch>
            <a:fillRect/>
          </a:stretch>
        </p:blipFill>
        <p:spPr>
          <a:xfrm>
            <a:off x="1290987" y="5336008"/>
            <a:ext cx="6548438" cy="820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12. 상호작용 모델의 용도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 모델은 그림을 남기는 것이 목적이 아니다. 상황을 파악하고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공통의 이해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이르기 위해 그린다.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"상호작용은 상황을 더 잘 파악하거나, 그 상황에 대한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공통의 이해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 이르려는 집단을 위해 쓰인다"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"They are used to get a better grip of an interaction situation for an individual designer or for a group that needs to achieve a common understanding of the situation."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Object Management Group, 2017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업무 담당자와 함께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읽을 수 있는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그린다.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합의가 끝나면 모든 그림을 유지할 필요는 없다. 판단의 근거가 되는 것만 남긴다.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13. 상호작용에서 발견하는 것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00036"/>
          <a:ext cx="8305800" cy="3873500"/>
        </p:xfrm>
        <a:graphic>
          <a:graphicData uri="http://schemas.openxmlformats.org/drawingml/2006/table">
            <a:tbl>
              <a:tblPr/>
              <a:tblGrid>
                <a:gridCol w="1613766"/>
                <a:gridCol w="1770166"/>
                <a:gridCol w="2734634"/>
                <a:gridCol w="2187233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상호작용에서 보는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발견하는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 세션의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되돌릴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모델에 없는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메시지의 경로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빠진 연관, 일시적 연결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→ 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생성·변경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확정 값, 상태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단가 확정, 취소 처리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속성·상태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규칙이 된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승인 뒤 재고 차감, 출고 중단 뒤 환불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규칙, 정제된 SSD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동기·비동기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즉시 끝나지 않는 처리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시작·환불 완료 통보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계약, 상태 기계, 이벤트 목록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외부의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예외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 거절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예외 흐름,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도메인 객체의 상호작용을 따라가면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 모델과 요구 산출물만으로는 보이지 않던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드러난다. 무엇을 보고 무엇을 찾는지 먼저 정리한다.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활동 다이어그램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행동의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표현한다. 수영 레인으로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누가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 행동을 하는지 나눌 수 있다.</a:t>
            </a:r>
          </a:p>
        </p:txBody>
      </p:sp>
      <p:pic>
        <p:nvPicPr>
          <p:cNvPr id="9" name="svg Diagram 1" descr="활동 다이어그램 표기: 시작, 행동, 흐름, 결정·병합, 분기·합류, 종료, 수영 레인"/>
          <p:cNvPicPr>
            <a:picLocks noChangeAspect="1"/>
          </p:cNvPicPr>
          <p:nvPr/>
        </p:nvPicPr>
        <p:blipFill>
          <a:blip r:embed="svgImage1"/>
          <a:stretch>
            <a:fillRect/>
          </a:stretch>
        </p:blipFill>
        <p:spPr>
          <a:xfrm>
            <a:off x="1821656" y="3417633"/>
            <a:ext cx="5500688" cy="104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14. 활동 다이어그램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240238"/>
          <a:ext cx="8305800" cy="3873500"/>
        </p:xfrm>
        <a:graphic>
          <a:graphicData uri="http://schemas.openxmlformats.org/drawingml/2006/table">
            <a:tbl>
              <a:tblPr/>
              <a:tblGrid>
                <a:gridCol w="1863384"/>
                <a:gridCol w="2571814"/>
                <a:gridCol w="3870602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시작 — 채운 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흐름의 시작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하나만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 — 둥근 사각형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수행하는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동사로 쓴다. 주체를 이름에 쓰거나 수영 레인으로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흐름 — 화살표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 사이의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데이터가 아니라 제어의 흐름이다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결정·병합 — 마름모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조건에 따른 분기와 다시 합침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나가는 흐름마다 [조건]을 쓴다. 조건이 서로 겹치지 않게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분기·합류 — 굵은 막대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병행의 시작과, 모두 끝날 때까지 기다림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순서와 상관없이 함께 일어나도 되는 일에만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종료 — 테두리 안의 채운 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흐름의 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경로마다 둘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수영 레인 — 세로 구역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행동의 책임자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액터·시스템별로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결정·병합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조건에 따른 분기와 다시 합침,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분기·합류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병행 흐름의 시작과 동기화다. 둘을 서로 대신하지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표기와 사용법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- 18 -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15. 유스케이스와 활동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- 19 -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유스케이스 전체의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보여준다. 기본 흐름과 대안 흐름이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함께 드러난다. 「주문을 관리한다」의 흐름이다.</a:t>
            </a:r>
          </a:p>
        </p:txBody>
      </p:sp>
      <p:pic>
        <p:nvPicPr>
          <p:cNvPr id="9" name="plantuml Diagram 2"/>
          <p:cNvPicPr>
            <a:picLocks noChangeAspect="1"/>
          </p:cNvPicPr>
          <p:nvPr/>
        </p:nvPicPr>
        <p:blipFill>
          <a:blip r:embed="plantumlImage2"/>
          <a:stretch>
            <a:fillRect/>
          </a:stretch>
        </p:blipFill>
        <p:spPr>
          <a:xfrm>
            <a:off x="23690" y="1640536"/>
            <a:ext cx="9096619" cy="49109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업무 흐름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활동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여러 시스템에 걸친 업무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보여줄 때도 쓴다. 결제에서 배송까지의 흐름이다.</a:t>
            </a:r>
          </a:p>
        </p:txBody>
      </p:sp>
      <p:pic>
        <p:nvPicPr>
          <p:cNvPr id="9" name="plantuml Diagram 3"/>
          <p:cNvPicPr>
            <a:picLocks noChangeAspect="1"/>
          </p:cNvPicPr>
          <p:nvPr/>
        </p:nvPicPr>
        <p:blipFill>
          <a:blip r:embed="plantumlImage3"/>
          <a:stretch>
            <a:fillRect/>
          </a:stretch>
        </p:blipFill>
        <p:spPr>
          <a:xfrm>
            <a:off x="1260304" y="1841758"/>
            <a:ext cx="6623392" cy="4508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16. 업무 흐름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활동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흐름이 주문 시스템에서 배송 시스템의 「배송을 처리한다」로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경계를 넘는다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분기·합류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사이의 두 흐름은 서로 기다리지 않는다. 정제된 SSD의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비동기 요청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시스템은 배송 시스템이 배송을 시작했다는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받아 주문을 바꾼다.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17. 이벤트와 활동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44156" y="2100036"/>
          <a:ext cx="6642100" cy="3873500"/>
        </p:xfrm>
        <a:graphic>
          <a:graphicData uri="http://schemas.openxmlformats.org/drawingml/2006/table">
            <a:tbl>
              <a:tblPr/>
              <a:tblGrid>
                <a:gridCol w="2120900"/>
                <a:gridCol w="1869440"/>
                <a:gridCol w="265176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레인 경계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반응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시스템 → 주문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 차감·배송·입금을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시스템 → 배송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배송이 요청되었다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 → 주문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배송이 시작되었다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배송 중으로 바꾼다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시스템 → 회계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입금 처리가 요청되었다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입금을 처리하고 영수증을 발행한다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다이어그램의 레인 경계에서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드러난다. 한 레인의 행동이 끝나면 다른 레인이 그 결과에 반응한다. "02. 요구 분석과 유스케이스"의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이벤트 중심 요구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동적 모델로 이어지는 방식이다.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- 22 -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18. 활동과 SSD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34606" y="2100036"/>
          <a:ext cx="7061200" cy="3873500"/>
        </p:xfrm>
        <a:graphic>
          <a:graphicData uri="http://schemas.openxmlformats.org/drawingml/2006/table">
            <a:tbl>
              <a:tblPr/>
              <a:tblGrid>
                <a:gridCol w="947420"/>
                <a:gridCol w="2791460"/>
                <a:gridCol w="332232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구분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 다이어그램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시퀀스 다이어그램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대상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전체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유스케이스 시나리오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보이는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분기·병합, 대안 흐름, 책임자(레인)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시스템 이벤트의 순서, 외부 시스템과의 교환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관계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활동의 경로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= SSD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다이어그램과 SSD는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수준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모델이다. 둘 다 시스템을 블랙박스로 본다. 활동 다이어그램으로 흐름 전체를 보고, 중요한 경로마다 SSD로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확인한다.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- 23 -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시퀀스 다이어그램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78892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시퀀스 다이어그램은 상호작용을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생명선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시간 순서의 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표현한다. 위에서 아래로 읽는다. SSD는 시스템 밖에서 본 시퀀스 다이어그램이고, 분석의 시퀀스 다이어그램은 시스템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도메인 객체 사이를 본다.</a:t>
            </a:r>
          </a:p>
        </p:txBody>
      </p:sp>
      <p:pic>
        <p:nvPicPr>
          <p:cNvPr id="9" name="svg Diagram 2" descr="시퀀스 다이어그램 표기: 생명선, 동기 메시지, 비동기 메시지, 자기 호출, 생성, 조각"/>
          <p:cNvPicPr>
            <a:picLocks noChangeAspect="1"/>
          </p:cNvPicPr>
          <p:nvPr/>
        </p:nvPicPr>
        <p:blipFill>
          <a:blip r:embed="svgImage2"/>
          <a:stretch>
            <a:fillRect/>
          </a:stretch>
        </p:blipFill>
        <p:spPr>
          <a:xfrm>
            <a:off x="1370542" y="3458040"/>
            <a:ext cx="6402917" cy="1338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19. 시퀀스 다이어그램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240238"/>
          <a:ext cx="8305800" cy="3873500"/>
        </p:xfrm>
        <a:graphic>
          <a:graphicData uri="http://schemas.openxmlformats.org/drawingml/2006/table">
            <a:tbl>
              <a:tblPr/>
              <a:tblGrid>
                <a:gridCol w="1748958"/>
                <a:gridCol w="2287637"/>
                <a:gridCol w="4269206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생명선 — 머리 박스와 점선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참여자와 그 존재 기간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분석에서는 :주문처럼 도메인 개념의 인스턴스. 첫 메시지를 보내는 액터를 왼쪽에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동기 메시지 — 채운 화살촉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받는 쪽이 처리를 마칠 때까지 기다리는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동사로 이름 짓는다. 이 과정의 분석에서는 모두 동기다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비동기 메시지 — 열린 화살촉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기다리지 않는 알림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사건을 알리기만 할 때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자기 호출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자신에게 보내는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변화·계산처럼 객체 안에서 일어나는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생성 — 중간에서 시작하는 생명선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 도중에 생기는 참여자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생기는 시점에 박스를 둔다(주문 항목, 환불)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조각 — 이름표 달린 사각형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조건·반복·병행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「27. 시퀀스 다이어그램 조각」에서 종류별로 다룬다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단계의 메시지는 모두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동기 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응답은 그리지 않는다. 비동기일 때만 열린 화살촉으로 구분한다.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표기와 사용법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20. 오퍼레이션에서 상호작용으로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00036"/>
          <a:ext cx="8305800" cy="3873500"/>
        </p:xfrm>
        <a:graphic>
          <a:graphicData uri="http://schemas.openxmlformats.org/drawingml/2006/table">
            <a:tbl>
              <a:tblPr/>
              <a:tblGrid>
                <a:gridCol w="1967163"/>
                <a:gridCol w="1898469"/>
                <a:gridCol w="4440168"/>
              </a:tblGrid>
              <a:tr h="4826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SSD의 시스템 이벤트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첫 메시지를 받는 도메인 객체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이어지는 상호작용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장바구니에 담는다(상품, 수량)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:장바구니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항목을 만들고 상품의 판매가를 참조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배송지를 지정한다(주소)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:장바구니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만들고 주문 항목마다 단가를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결제한다(결제 수단)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결제를 만들어 승인을 요청하고, 재고 차감·배송·입금·영수증을 외부에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취소한다(주문)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중단을 요청하고 환불을 요청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SSD의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 오퍼레이션 하나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시스템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안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펼친 것이 분석의 시퀀스 다이어그램이다. 블랙박스를 열어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객체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가 무엇을 주고받는지 본다. 첫 메시지는 그 사건의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중심 개념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받는다.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21. 참여 객체와 도메인 모델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- 27 -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시퀀스 다이어그램의 참여자는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도메인 모델 개념의 인스턴스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생명선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:주문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"주문 개념의 한 인스턴스"를 뜻한다.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모델에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없는 개념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생명선이 될 수 없다. 필요하면 그 자체가 정적 모델의 누락이다.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외부 시스템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도메인 개념이 아니라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지원 액터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생명선으로 쓰되 정적 모델에는 넣지 않는다.</a:t>
            </a:r>
          </a:p>
        </p:txBody>
      </p:sp>
      <p:pic>
        <p:nvPicPr>
          <p:cNvPr id="9" name="plantuml Diagram 4"/>
          <p:cNvPicPr>
            <a:picLocks noChangeAspect="1"/>
          </p:cNvPicPr>
          <p:nvPr/>
        </p:nvPicPr>
        <p:blipFill>
          <a:blip r:embed="plantumlImage4"/>
          <a:stretch>
            <a:fillRect/>
          </a:stretch>
        </p:blipFill>
        <p:spPr>
          <a:xfrm>
            <a:off x="457200" y="3645702"/>
            <a:ext cx="8229600" cy="2465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22. 연관을 따라 흐르는 메시지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34606" y="2100036"/>
          <a:ext cx="7061200" cy="3873500"/>
        </p:xfrm>
        <a:graphic>
          <a:graphicData uri="http://schemas.openxmlformats.org/drawingml/2006/table">
            <a:tbl>
              <a:tblPr/>
              <a:tblGrid>
                <a:gridCol w="2819400"/>
                <a:gridCol w="2204720"/>
                <a:gridCol w="203708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보내는 쪽 → 받는 쪽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따라가는 연관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항목을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:장바구니 → :장바구니 항목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— 장바구니 항목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:장바구니 → :주문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판매가를 가져온다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 항목 → :상품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항목 — 상품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결제를 만든다, 환불을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 → :결제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— 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배송을 만든다, 출고 중단을 요청한다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 → :배송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—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객체는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아는 상대에게만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메시지를 보낼 수 있다. 분석에서 메시지는 도메인 모델의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연관을 따라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흐른다. 연관이 없는데 메시지가 필요하면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연관이 빠졌거나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그 순간에만 필요한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일시적 연결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- 28 -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23. 장바구니 담기 시퀀스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- 29 -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장바구니에 담는다(상품, 수량)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도메인 객체의 상호작용으로 펼친다.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장바구니 항목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사려는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의도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판매가는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참조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만 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상품 조회는 상태를 바꾸지 않아 그리지 않는다.</a:t>
            </a:r>
          </a:p>
        </p:txBody>
      </p:sp>
      <p:pic>
        <p:nvPicPr>
          <p:cNvPr id="9" name="plantuml Diagram 5"/>
          <p:cNvPicPr>
            <a:picLocks noChangeAspect="1"/>
          </p:cNvPicPr>
          <p:nvPr/>
        </p:nvPicPr>
        <p:blipFill>
          <a:blip r:embed="plantumlImage5"/>
          <a:stretch>
            <a:fillRect/>
          </a:stretch>
        </p:blipFill>
        <p:spPr>
          <a:xfrm>
            <a:off x="1398954" y="3037927"/>
            <a:ext cx="6346092" cy="2758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24. 주문 생성 시퀀스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이벤트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배송지를 지정한다(주소)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에서 장바구니로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주문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만들어진다.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항목이 상품의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현재 판매가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주문 시점의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단가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확정한다. "03. 정적 모델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 개념과 관계"의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현재 값과 확정 값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 사건으로 일어나는 모습이다.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결제 대기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시작한다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(「33. 주문 상태 기계」)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pic>
        <p:nvPicPr>
          <p:cNvPr id="9" name="plantuml Diagram 6"/>
          <p:cNvPicPr>
            <a:picLocks noChangeAspect="1"/>
          </p:cNvPicPr>
          <p:nvPr/>
        </p:nvPicPr>
        <p:blipFill>
          <a:blip r:embed="plantumlImage6"/>
          <a:stretch>
            <a:fillRect/>
          </a:stretch>
        </p:blipFill>
        <p:spPr>
          <a:xfrm>
            <a:off x="1423914" y="3270459"/>
            <a:ext cx="6296172" cy="32157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결제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이벤트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결제한다(결제 수단)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펼친다. 정제된 SSD에서 주문 시스템이 외부에 보낸 요청을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어느 도메인 객체가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보내는지가 드러난다.</a:t>
            </a:r>
          </a:p>
        </p:txBody>
      </p:sp>
      <p:pic>
        <p:nvPicPr>
          <p:cNvPr id="9" name="plantuml Diagram 7"/>
          <p:cNvPicPr>
            <a:picLocks noChangeAspect="1"/>
          </p:cNvPicPr>
          <p:nvPr/>
        </p:nvPicPr>
        <p:blipFill>
          <a:blip r:embed="plantumlImage7"/>
          <a:stretch>
            <a:fillRect/>
          </a:stretch>
        </p:blipFill>
        <p:spPr>
          <a:xfrm>
            <a:off x="273001" y="2275365"/>
            <a:ext cx="8597998" cy="3641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25. 결제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재고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승인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뒤에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재고 차감을 요청한다. 차감이 실패하면 이미 승인된 결제를 되돌려야 한다 → 재고를 결제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전에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확보해야 하는가?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 요청은 비동기다. 주문은 배송 시작을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나중에 통보로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안다 → 상태 기계의 전이 사건이 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요청의 주체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결제가 입금·영수증을, 배송이 배송 시스템을 맡는다. 누가 요청하는지는 분석의 판단이며 설계에서 다시 정한다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("07. 책임·협력·계약")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주문 취소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시스템 이벤트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주문을 취소한다(주문)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도메인 객체의 상호작용으로 펼친다.</a:t>
            </a:r>
          </a:p>
        </p:txBody>
      </p:sp>
      <p:pic>
        <p:nvPicPr>
          <p:cNvPr id="9" name="plantuml Diagram 8"/>
          <p:cNvPicPr>
            <a:picLocks noChangeAspect="1"/>
          </p:cNvPicPr>
          <p:nvPr/>
        </p:nvPicPr>
        <p:blipFill>
          <a:blip r:embed="plantumlImage8"/>
          <a:stretch>
            <a:fillRect/>
          </a:stretch>
        </p:blipFill>
        <p:spPr>
          <a:xfrm>
            <a:off x="359508" y="2449184"/>
            <a:ext cx="8424985" cy="3293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26. 주문 취소 시퀀스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출고 중단을 먼저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확인하고 환불한다. 이미 출고되었다면 환불하면 안 되기 때문이다. 이 순서도 업무 규칙이다.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출고 중단은 배송 시스템이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거절할 수 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→ 취소의 새 예외다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(「27. 시퀀스 다이어그램 조각」)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환불은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비동기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완료 통보가 올 때까지 취소가 끝나지 않는다 →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 처리 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상태가 필요하다.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27. 시퀀스 다이어그램 조각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268389"/>
          <a:ext cx="8305800" cy="3873500"/>
        </p:xfrm>
        <a:graphic>
          <a:graphicData uri="http://schemas.openxmlformats.org/drawingml/2006/table">
            <a:tbl>
              <a:tblPr/>
              <a:tblGrid>
                <a:gridCol w="889000"/>
                <a:gridCol w="2254159"/>
                <a:gridCol w="2437831"/>
                <a:gridCol w="272481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조각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 쓰는 법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loop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 동안 반복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[상품마다]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메시지가 여러 번 오갈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alt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서로 배타적인 대안 중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칸마다 [조건], 마지막은 [그 밖]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조건에 따라 다른 상호작용이 일어날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opt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조건이 참일 때만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[쿠폰이 있으면]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선택적으로 일어나는 상호작용 하나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par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 없이 함께 일어날 수 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칸마다 병행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순서가 업무 의미를 갖지 않을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break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조건이 참이면 나머지를 중단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[결제 거절]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예외로 상호작용이 끝날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22066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 조각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(Combined Fragment)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메시지의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조건·반복·병행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표현한다.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프레임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(왼쪽 위에 이름표가 달린 사각형)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그리고, 이름표에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연산자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, 칸 안에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조건</a:t>
            </a:r>
            <a:r>
              <a:rPr sz="1400" b="1">
                <a:solidFill>
                  <a:srgbClr val="000000"/>
                </a:solidFill>
                <a:latin typeface="맑은 고딕"/>
                <a:ea typeface="맑은 고딕"/>
              </a:rPr>
              <a:t>(가드)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쓴다. 메시지를 보기 좋게 묶는 상자가 아니다.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커뮤니케이션 다이어그램은 프레임을 쓰지 않는다. 같은 조건·반복을 메시지 번호의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[조건]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*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표현한다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(「28. 커뮤니케이션 다이어그램」)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27. 시퀀스 다이어그램 조각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- 36 -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 취소 상호작용에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alt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쓴 예다. 출고 중단의 결과에 따라 상호작용이 갈린다.</a:t>
            </a:r>
          </a:p>
        </p:txBody>
      </p:sp>
      <p:pic>
        <p:nvPicPr>
          <p:cNvPr id="9" name="plantuml Diagram 9"/>
          <p:cNvPicPr>
            <a:picLocks noChangeAspect="1"/>
          </p:cNvPicPr>
          <p:nvPr/>
        </p:nvPicPr>
        <p:blipFill>
          <a:blip r:embed="plantumlImage9"/>
          <a:stretch>
            <a:fillRect/>
          </a:stretch>
        </p:blipFill>
        <p:spPr>
          <a:xfrm>
            <a:off x="1178193" y="1879600"/>
            <a:ext cx="6787614" cy="4432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28. 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4167691"/>
          <a:ext cx="8305800" cy="3873500"/>
        </p:xfrm>
        <a:graphic>
          <a:graphicData uri="http://schemas.openxmlformats.org/drawingml/2006/table">
            <a:tbl>
              <a:tblPr/>
              <a:tblGrid>
                <a:gridCol w="1428934"/>
                <a:gridCol w="2670405"/>
                <a:gridCol w="4206461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객체 — 사각형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상호작용의 참여자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:주문처럼 도메인 개념의 인스턴스 이름을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 — 실선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두 객체가 메시지를 주고받을 수 있는 연결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반복해서 필요한 링크는 연관의 후보다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번호 붙은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 위의 메시지와 그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1:부터 쓰고 화살표로 보내는 방향을 표시한다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중첩 번호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앞 메시지를 처리하는 도중의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1.1, 1.2처럼 쓴다. 같은 수준은 끝자리를 올린다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조건·반복 — [조건], *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조건이 참일 때만, 또는 반복해서 보내는 메시지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1.2 [출고 중단됨]: 환불을 요청한다, 1.1 *[주문 항목마다]: 재고를 줄인다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커뮤니케이션 다이어그램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(Communication Diagram)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같은 상호작용을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객체 사이의 링크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번호 붙은 메시지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표현한다.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- 37 -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887573"/>
            <a:ext cx="8412480" cy="11785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번호가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순서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처리하는 도중에 보내는 메시지다. 화살표는 메시지의 방향이다.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표기와 사용법</a:t>
            </a:r>
          </a:p>
        </p:txBody>
      </p:sp>
      <p:pic>
        <p:nvPicPr>
          <p:cNvPr id="15" name="svg Diagram 3" descr="커뮤니케이션 다이어그램 표기: 객체, 링크, 번호 붙은 메시지, 중첩 번호"/>
          <p:cNvPicPr>
            <a:picLocks noChangeAspect="1"/>
          </p:cNvPicPr>
          <p:nvPr/>
        </p:nvPicPr>
        <p:blipFill>
          <a:blip r:embed="svgImage3"/>
          <a:stretch>
            <a:fillRect/>
          </a:stretch>
        </p:blipFill>
        <p:spPr>
          <a:xfrm>
            <a:off x="2207768" y="1842998"/>
            <a:ext cx="4714875" cy="942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29. 시퀀스와 커뮤니케이션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942656" y="3193838"/>
          <a:ext cx="5245100" cy="3873500"/>
        </p:xfrm>
        <a:graphic>
          <a:graphicData uri="http://schemas.openxmlformats.org/drawingml/2006/table">
            <a:tbl>
              <a:tblPr/>
              <a:tblGrid>
                <a:gridCol w="1170940"/>
                <a:gridCol w="2120900"/>
                <a:gridCol w="195326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강조점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시퀀스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커뮤니케이션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 보이는 것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시간 순서, 조건·반복 조각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누구와 연결되는가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고르는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순서와 흐름이 핵심일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 구조가 핵심일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두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같은 상호작용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다른 방식으로 강조한다. 「26. 주문 취소 시퀀스」을 커뮤니케이션 다이어그램으로 다시 그린다.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- 38 -</a:t>
            </a:r>
          </a:p>
        </p:txBody>
      </p:sp>
      <p:pic>
        <p:nvPicPr>
          <p:cNvPr id="14" name="plantuml Diagram 10"/>
          <p:cNvPicPr>
            <a:picLocks noChangeAspect="1"/>
          </p:cNvPicPr>
          <p:nvPr/>
        </p:nvPicPr>
        <p:blipFill>
          <a:blip r:embed="plantumlImage10"/>
          <a:stretch>
            <a:fillRect/>
          </a:stretch>
        </p:blipFill>
        <p:spPr>
          <a:xfrm>
            <a:off x="304355" y="1842998"/>
            <a:ext cx="8521700" cy="12492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30. 링크와 연관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11796" y="2100036"/>
          <a:ext cx="6306820" cy="3873500"/>
        </p:xfrm>
        <a:graphic>
          <a:graphicData uri="http://schemas.openxmlformats.org/drawingml/2006/table">
            <a:tbl>
              <a:tblPr/>
              <a:tblGrid>
                <a:gridCol w="2092960"/>
                <a:gridCol w="1450340"/>
                <a:gridCol w="276352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연관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판단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— 결제, 결제 — 환불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—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장바구니 — 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일시적 연결 — 연관으로 두지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— 배송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시스템과의 연결. 정적 모델 밖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링크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두 객체가 메시지를 주고받으려면 서로를 알아야 한다는 뜻이다. 링크가 곧 연관은 아니지만,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반복해서 필요한 링크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정적 모델의 연관 후보다.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- 39 -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31. 상태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(State)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어떤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불변 조건이 성립하는 상황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사건이 일어나면 한 상태에서 다른 상태로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"상태는 어떤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(대개 암묵적인)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불변 조건이 성립하는 상황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모델링한다"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State models a situation during which some (usually implicit) invariant condition holds."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Object Management Group, 2017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예: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상태에서는 "환불 금액 = 결제 금액"이 참이다.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값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정적 모델의 속성이고, 상태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동적 모델이다("03. 정적 모델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 개념과 관계"의 「06. 상태 값과 상태 전이」).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32. 상태 기계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3618188"/>
          <a:ext cx="8305800" cy="3873500"/>
        </p:xfrm>
        <a:graphic>
          <a:graphicData uri="http://schemas.openxmlformats.org/drawingml/2006/table">
            <a:tbl>
              <a:tblPr/>
              <a:tblGrid>
                <a:gridCol w="2064707"/>
                <a:gridCol w="1682808"/>
                <a:gridCol w="4558285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표기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이렇게 쓴다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초기 상태 — 채운 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생애의 시작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하나만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— 둥근 사각형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불변 조건이 성립하는 상황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상황을 이름으로 쓴다(결제 완료). 화면·처리 단계가 아니다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전이 — 화살표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사건에 따른 상태 변화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 [가드] / 효과. 사건이 일어나고 가드가 참이면 전이하며 효과가 일어난다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가드 — [조건]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전이가 일어나는 조건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필요할 때만 쓴다. 같은 사건의 가드는 겹치지 않게 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효과 — /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전이할 때 일어나는 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결과로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26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종료 상태 — 테두리 안의 채운 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생애의 끝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더 이상 사건에 반응하지 않는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한 개념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사건에 따라 어떤 상태를 거치는지 보여준다.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- 41 -</a:t>
            </a:r>
          </a:p>
        </p:txBody>
      </p:sp>
      <p:sp>
        <p:nvSpPr>
          <p:cNvPr id="14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2992348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표기와 사용법</a:t>
            </a:r>
          </a:p>
        </p:txBody>
      </p:sp>
      <p:pic>
        <p:nvPicPr>
          <p:cNvPr id="15" name="svg Diagram 4" descr="상태 기계 다이어그램 표기: 초기 상태, 상태, 전이, 종료 상태"/>
          <p:cNvPicPr>
            <a:picLocks noChangeAspect="1"/>
          </p:cNvPicPr>
          <p:nvPr/>
        </p:nvPicPr>
        <p:blipFill>
          <a:blip r:embed="svgImage4"/>
          <a:stretch>
            <a:fillRect/>
          </a:stretch>
        </p:blipFill>
        <p:spPr>
          <a:xfrm>
            <a:off x="1945830" y="1842998"/>
            <a:ext cx="5238750" cy="1047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33. 주문 상태 기계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주문의 생애를 상태 기계로 그린다. 주문은 외부 시스템의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통보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로 전이한다.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출고 준비 중·출고됨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배송 시스템의 상태라 주문에 두지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중·배송 완료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배송 시스템의 통보로,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환불 완료 통보로 전이한다. 그 전까지는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취소 처리 중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(「26. 주문 취소 시퀀스」)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pic>
        <p:nvPicPr>
          <p:cNvPr id="9" name="plantuml Diagram 11"/>
          <p:cNvPicPr>
            <a:picLocks noChangeAspect="1"/>
          </p:cNvPicPr>
          <p:nvPr/>
        </p:nvPicPr>
        <p:blipFill>
          <a:blip r:embed="plantumlImage11"/>
          <a:stretch>
            <a:fillRect/>
          </a:stretch>
        </p:blipFill>
        <p:spPr>
          <a:xfrm>
            <a:off x="300404" y="4260449"/>
            <a:ext cx="8543192" cy="12358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34. 출고와 배송 시작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230185" y="2754313"/>
          <a:ext cx="6670040" cy="3873500"/>
        </p:xfrm>
        <a:graphic>
          <a:graphicData uri="http://schemas.openxmlformats.org/drawingml/2006/table">
            <a:tbl>
              <a:tblPr/>
              <a:tblGrid>
                <a:gridCol w="1087120"/>
                <a:gridCol w="1170940"/>
                <a:gridCol w="441198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누가 판단하는가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배송지 변경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 — 주문 시스템이 변경을 요청하고 결과를 받는다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시작 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시스템(주문 상태)과 배송 시스템(출고 중단 결과)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692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"출고 전"과 "배송 시작 전"은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 다른 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이고, 판단하는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시스템도 다르다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그 차이가 새로운 요구 질문을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발견한 질문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출고는 됐지만 배송 시작 전인 주문의 취소를 허용하는가? 규칙대로라면 허용되지만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물건은 이미 물류센터를 떠났다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 모델이 아니라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요구의 문제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이므로 업무 담당자에게 되묻는다.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- 43 -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35. 가드와 금지된 전이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전이가 일어나는 조건이다.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전이가 없는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도 규칙이다. 상태 기계에 없는 전이는 일어날 수 없다.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가드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주문 취소 [출고 중단됨]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처럼 사건이 같아도 조건에 따라 전이가 갈린다.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금지된 전이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대기·배송 중·배송 완료에서 나가는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주문 취소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전이가 없다. "배송 시작 이후에는 취소할 수 없다"는 규칙이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전이의 부재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로 표현된다.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무시되는 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해당 상태에서 받은 사건이 전이를 일으키지 않으면, 시스템이 그 사건에 어떻게 응답할지는 요구로 정한다.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36. 시간 이벤트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시간이 지나는 것 자체도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이다. 시간 이벤트는 상태 기계와 유스케이스를 시작하는 정상적인 사건이다.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시간 이벤트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"예정일 2일 전이 된다"는 아무도 요청하지 않아도 일어난다.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정기배송의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배송 회차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시간 이벤트로 결제가 승인되고, 고객의 요청으로 건너뛸 수 있다.</a:t>
            </a:r>
          </a:p>
        </p:txBody>
      </p:sp>
      <p:pic>
        <p:nvPicPr>
          <p:cNvPr id="9" name="plantuml Diagram 12"/>
          <p:cNvPicPr>
            <a:picLocks noChangeAspect="1"/>
          </p:cNvPicPr>
          <p:nvPr/>
        </p:nvPicPr>
        <p:blipFill>
          <a:blip r:embed="plantumlImage12"/>
          <a:stretch>
            <a:fillRect/>
          </a:stretch>
        </p:blipFill>
        <p:spPr>
          <a:xfrm>
            <a:off x="1794669" y="3444240"/>
            <a:ext cx="5554661" cy="2868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37. 상태 폭증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- 46 -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상태 조합을 평평하게 그리면 상태 기계는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감당할 수 없이 커진다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 판단이 필요한 개념과 상태에만 그린다.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"복잡한 시스템은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기하급수적으로 늘어나는 상태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때문에 이런 단순한 방식으로는 유익하게 기술할 수 없다"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 complex system cannot be beneficially described in this naive fashion, because of the unmanageable, exponentially growing multitude of states"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David Harel, 1987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대상을 고른다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생애와 규칙이 중요한 개념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(주문·배송 회차)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만 그린다.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축을 나눈다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상태와 배송 상태를 한 상태 이름에 곱해 넣지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묶는다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같은 전이를 공유하는 상태는 상위 상태로 묶을 수 있다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(예: 배송 시작 전)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38. 상태와 불변 조건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67676" y="2100036"/>
          <a:ext cx="6195060" cy="3873500"/>
        </p:xfrm>
        <a:graphic>
          <a:graphicData uri="http://schemas.openxmlformats.org/drawingml/2006/table">
            <a:tbl>
              <a:tblPr/>
              <a:tblGrid>
                <a:gridCol w="1170940"/>
                <a:gridCol w="2316480"/>
                <a:gridCol w="270764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불변 조건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요소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완료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하나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주문–결제 0..1 → 이 상태에서는 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처리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환불이 있고 완료 통보 전이다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결제–환불 연관, 환불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 금액 = 결제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제약 환불 금액 ≤ 결제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배송이 하나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주문–배송 0..1 → 이 상태에서는 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각 상태의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불변 조건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은 정적 모델의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제약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대응한다. 상태 기계와 제약을 맞대면 모순을 찾을 수 있고, 상태에 따라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다중성이 달라지는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연관은 규칙으로 남긴다.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39. 교차검토 절차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- 48 -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정적 모델과 동적 모델을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서로의 질문으로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검토한다. 한 번에 끝나지 않고 반복한다.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1. SSD의 시스템 오퍼레이션마다 계약의 사후조건을 정적 모델 요소로 설명한다.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2. 상호작용의 참여자와 링크가 정적 모델의 개념·연관에 있는지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3. 상태 기계의 상태 값이 정적 모델의 속성 값과 같은지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4. 상태의 불변 조건이 정적 모델의 제약과 모순되지 않는지 확인한다.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5. 발견한 누락·모순을 모델과 요구로 되돌린다.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40. 계약과 정적 모델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1842998"/>
          <a:ext cx="8305800" cy="3873500"/>
        </p:xfrm>
        <a:graphic>
          <a:graphicData uri="http://schemas.openxmlformats.org/drawingml/2006/table">
            <a:tbl>
              <a:tblPr/>
              <a:tblGrid>
                <a:gridCol w="895135"/>
                <a:gridCol w="2505419"/>
                <a:gridCol w="2558215"/>
                <a:gridCol w="234703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사후조건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설명하는 요소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결제가 승인되어 주문과 연결되었다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개념, 주문–결제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 차감·입금·영수증을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외부 시스템의 결과 — 정적 모델 밖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 요청만 보장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배송을 요청했다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개념, 주문–배송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중단을 받아들였다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상태?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출고 중단을 기억할 값이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환불이 생겼다, 금액 = 결제 금액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결제–환불 연관, 제약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취소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상태가 취소 처리 중이다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 값?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값이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「10. 계약의 정제」의 사후조건을 정적 모델 요소나 외부 요청으로 설명할 수 있는지 대조한다.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- 49 -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41. 상태와 정적 모델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상태 기계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412306" y="2100036"/>
          <a:ext cx="8305800" cy="3873500"/>
        </p:xfrm>
        <a:graphic>
          <a:graphicData uri="http://schemas.openxmlformats.org/drawingml/2006/table">
            <a:tbl>
              <a:tblPr/>
              <a:tblGrid>
                <a:gridCol w="3567751"/>
                <a:gridCol w="1430891"/>
                <a:gridCol w="3307158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 대기, 결제 완료, 배송 중, 배송 완료, 취소됨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 값 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 처리 중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값 추가 또는 환불 상태로 분리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배송의 배송 상태 값으로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준비 중, 출고됨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시스템의 상태. 주문 시스템에 두지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0383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기계의 상태 값과 정적 모델의 주문 상태 값을 대조한다. 판단 질문은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이 상태가 주문의 것인가, 배송·환불의 것인가, 다른 시스템의 것인가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다. 한 개념에 모든 상태를 모으면 상태 폭증이 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- 50 -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42. 상호작용과 정적 모델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99325" y="1585960"/>
          <a:ext cx="7731760" cy="3873500"/>
        </p:xfrm>
        <a:graphic>
          <a:graphicData uri="http://schemas.openxmlformats.org/drawingml/2006/table">
            <a:tbl>
              <a:tblPr/>
              <a:tblGrid>
                <a:gridCol w="4076700"/>
                <a:gridCol w="1534160"/>
                <a:gridCol w="212090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상호작용에서 본 것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결과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 — 장바구니·주문·주문 항목·상품·결제·환불·배송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 있음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 — 결제·상품·배송·회계 시스템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지원 액터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 정적 모델에 넣지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 — 장바구니–주문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연관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 일시적 연결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 — 출고 중단의 결과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상태 값 없음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✘ 값 추가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 — 환불을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결제–환불 0..1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✔ 전체 취소 전제에서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상호작용의 참여자·링크·메시지를 정적 모델과 대조한다.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- 51 -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43. 누락과 모순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466406" y="4343274"/>
          <a:ext cx="6197600" cy="3873500"/>
        </p:xfrm>
        <a:graphic>
          <a:graphicData uri="http://schemas.openxmlformats.org/drawingml/2006/table">
            <a:tbl>
              <a:tblPr/>
              <a:tblGrid>
                <a:gridCol w="3126740"/>
                <a:gridCol w="307086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되돌릴 곳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재고 차감 시점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규칙, 정제된 SSD의 순서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배송 시작·완료, 환불 완료는 통보로 온다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이벤트 목록, 정제된 SSD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출고 중단이 거절될 수 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예외 흐름, 취소 계약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취소가 즉시 끝나지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명세서 결과, 계약, 정적 모델의 상태 값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3281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교차검토로 발견한 것을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모델을 고칠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과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요구에 되물을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으로 나눈다.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정적 모델에 반영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상태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취소 처리 중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(또는 환불 상태)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, 배송 상태 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출고 중단됨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요구에 되물음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재고가 모자라면? 출고됐지만 배송 시작 전인 주문의 취소는? 환불 실패 시 주문은 취소 처리 중에 머무는가?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범위 밖으로 남김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결제 실패, 부분 취소, 배송 실패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되돌릴 곳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발견은 별도 문서가 아니라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요구 산출물과 정적 모델을 고쳐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반영한다.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- 52 -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44. 적정 동적 모델링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57566" y="2801048"/>
          <a:ext cx="5415280" cy="3873500"/>
        </p:xfrm>
        <a:graphic>
          <a:graphicData uri="http://schemas.openxmlformats.org/drawingml/2006/table">
            <a:tbl>
              <a:tblPr/>
              <a:tblGrid>
                <a:gridCol w="2959100"/>
                <a:gridCol w="245618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그릴 때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그리지 않을 때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규칙·예외가 많은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단순 조회·자명한 흐름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여러 개념·외부 시스템이 얽힌 상호작용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한 개념 안에서 끝나는 처리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생애와 전이 규칙이 중요한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상태가 없거나 두세 개뿐인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모델의 누락이 의심될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새 판단이 나오지 않을 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1739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질문에 답할 만큼만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그린다. 모든 흐름과 모든 개념에 모든 다이어그램을 그리지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"모델과 문서는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당면한 작업에 충분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해야 한다. 애자일 실무자들의 말로는 '겨우 충분할 만큼'이다"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"agile models and agile documents are sufficient for the task at hand, or as agilists like to say they are just barely good enough"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, 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Scott W. Ambler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- 53 -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45. 잘못된 관행 — 설계 객체 혼입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340675" y="1842998"/>
          <a:ext cx="6449060" cy="3873500"/>
        </p:xfrm>
        <a:graphic>
          <a:graphicData uri="http://schemas.openxmlformats.org/drawingml/2006/table">
            <a:tbl>
              <a:tblPr/>
              <a:tblGrid>
                <a:gridCol w="3713480"/>
                <a:gridCol w="273558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참여자: 주문 컨트롤러, 주문 서비스, 주문 저장소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참여자: 주문, 결제, 환불, 배송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메시지: cancel(orderId): boolean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메시지: 취소한다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메시지: DB 저장, 트랜잭션 커밋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결과: 주문이 취소됨이 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분석 시퀀스를 설계에 그대로 옮긴다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책임 배치는 설계에서 다시 결정한다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분석의 상호작용에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설계 객체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넣으면 도메인 객체 사이의 의미가 기술 구조에 가려진다.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- 54 -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46. 잘못된 관행 — 정적 모델만 있는 분석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629476" y="1842998"/>
          <a:ext cx="7871460" cy="3873500"/>
        </p:xfrm>
        <a:graphic>
          <a:graphicData uri="http://schemas.openxmlformats.org/drawingml/2006/table">
            <a:tbl>
              <a:tblPr/>
              <a:tblGrid>
                <a:gridCol w="2456180"/>
                <a:gridCol w="2763520"/>
                <a:gridCol w="265176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드러나지 않는 것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 err="1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도메인 모델만 그리고 분석 종료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환불·배송 같은 누락 개념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주요 흐름을 상호작용으로 따라간다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주문 상태를 값 목록으로만 정의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금지된 전이, 중간 상태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상태 기계로 전이를 확인한다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연관을 추측으로 확정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실제로 쓰이지 않는 연관, 빠진 연관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링크와 대조한다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클래스 다이어그램만 그리고 분석을 끝내면, 개념·연관·속성·상태가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사건으로 검증되지 않은 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설계로 넘어간다.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- 55 -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47. 잘못된 관행 — 모든 흐름 그리기</a:t>
            </a:r>
          </a:p>
          <a:p>
            <a:r>
              <a:rPr sz="1100" b="1">
                <a:solidFill>
                  <a:srgbClr val="000000"/>
                </a:solidFill>
                <a:latin typeface="맑은 고딕"/>
                <a:ea typeface="맑은 고딕"/>
              </a:rPr>
              <a:t>시퀀스·커뮤니케이션 다이어그램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77456" y="1842998"/>
          <a:ext cx="7175500" cy="3873500"/>
        </p:xfrm>
        <a:graphic>
          <a:graphicData uri="http://schemas.openxmlformats.org/drawingml/2006/table">
            <a:tbl>
              <a:tblPr/>
              <a:tblGrid>
                <a:gridCol w="4076700"/>
                <a:gridCol w="309880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조회·등록 같은 단순 흐름마다 시퀀스를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규칙·예외가 많은 흐름만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요청에 응답 화살표를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의미 있는 응답만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방어 코드 수준의 예외를 모두 조각으로 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목표 달성 경로가 달라지는 경우만 넣는다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같은 상호작용을 시퀀스와 커뮤니케이션으로 모두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질문에 맞는 하나를 고른다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모든 시나리오·조회·예외마다 다이어그램을 그리면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핵심 흐름이 묻힌다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- 56 -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48. 잘못된 관행 — 순서도가 된 활동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801686" y="1842998"/>
          <a:ext cx="5527040" cy="3873500"/>
        </p:xfrm>
        <a:graphic>
          <a:graphicData uri="http://schemas.openxmlformats.org/drawingml/2006/table">
            <a:tbl>
              <a:tblPr/>
              <a:tblGrid>
                <a:gridCol w="3350260"/>
                <a:gridCol w="217678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버튼 클릭·화면 이동을 행동으로 나열한다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의미의 행동을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반복문·변수 대입 같은 코드 흐름을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 흐름만 그린다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수영 레인 없이 누가 하는지 알 수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레인으로 책임자를 나눈다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결정(마름모)과 병행(굵은 막대)을 섞어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분기는 마름모, 병행은 막대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활동 다이어그램을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화면 조작 순서나 코드 제어 흐름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의 순서도로 쓰면 업무 흐름과 책임이 보이지 않는다.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- 57 -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49. 잘못된 관행 — 상태 기계 오용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991425" y="1842998"/>
          <a:ext cx="7147560" cy="3873500"/>
        </p:xfrm>
        <a:graphic>
          <a:graphicData uri="http://schemas.openxmlformats.org/drawingml/2006/table">
            <a:tbl>
              <a:tblPr/>
              <a:tblGrid>
                <a:gridCol w="4048760"/>
                <a:gridCol w="309880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입력 중·저장 중 같은 화면·처리 단계를 상태로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업무적으로 의미 있는 상황만 상태로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결제됨·출고됨·취소됨을 참·거짓 플래그 여러 개로 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하나의 상태 값과 전이로 표현한다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결제·배송 상태를 곱해 모든 조합을 상태로 만든다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축을 나누거나 상위 상태로 묶는다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사건 이름 없는 화살표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모든 전이에 사건, 필요하면 가드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7812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상태 기계에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상태가 아닌 것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을 넣거나 상태를 흩어 두면 규칙이 사라진다.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- 58 -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87152-D004-1569-E429-90A42420A6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E2AB02-3ADE-69B8-887E-7981AD15EF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50. 잘못된 관행 — 모델 간 불일치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F0895985-68EF-30BA-2165-4B3D90ECD41C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D985C1FD-84C4-10F9-372D-6A84E1680E0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E26A8878-48FF-5E3A-5D05-0F900C22011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 altLang="ko-KR" dirty="0"/>
          </a:p>
        </p:txBody>
      </p:sp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93753AB9-526C-CE2D-446D-7615D9B6D6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1827855"/>
              </p:ext>
            </p:extLst>
          </p:nvPr>
        </p:nvGraphicFramePr>
        <p:xfrm>
          <a:off x="1033335" y="1585960"/>
          <a:ext cx="7063740" cy="3873500"/>
        </p:xfrm>
        <a:graphic>
          <a:graphicData uri="http://schemas.openxmlformats.org/drawingml/2006/table">
            <a:tbl>
              <a:tblPr/>
              <a:tblGrid>
                <a:gridCol w="4104640"/>
                <a:gridCol w="2959100"/>
              </a:tblGrid>
              <a:tr h="3175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잘못된 예</a:t>
                      </a:r>
                    </a:p>
                  </a:txBody>
                  <a:tcPr marL="6750" marR="6750" marT="6750" marB="0" anchor="ctr">
                    <a:lnL>
                      <a:noFill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1" i="0" u="none" strike="noStrike" dirty="0">
                          <a:solidFill>
                            <a:schemeClr val="bg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바른 예</a:t>
                      </a:r>
                    </a:p>
                  </a:txBody>
                  <a:tcPr marL="6750" marR="6750" marT="6750" marB="0" anchor="ctr">
                    <a:lnL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정적 모델은 "배송 중", 상태 기계는 "배송 진행"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용어집의 이름을 모든 모델에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상호작용의 참여자가 정적 모델에 없다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개념을 추가하거나 참여자를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동적 모델에서 찾은 상태를 정적 모델에 반영하지 않는다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발견 즉시 정적 모델과 용어집을 고친다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7500"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" sz="1000" b="1" i="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계약의 사후조건이 모델에 없는 말을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10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 panose="020B0503020000020004" pitchFamily="34" charset="-127"/>
                          <a:ea typeface="맑은 고딕" panose="020B0503020000020004" pitchFamily="34" charset="-127"/>
                          <a:cs typeface="맑은 고딕"/>
                        </a:rPr>
                        <a:t>모델의 요소로 사후조건을 쓴다</a:t>
                      </a:r>
                    </a:p>
                  </a:txBody>
                  <a:tcPr marL="81005" marR="6750" marT="6750" marB="0" anchor="ctr">
                    <a:lnL>
                      <a:noFill/>
                    </a:lnL>
                    <a:lnR>
                      <a:noFill/>
                    </a:lnR>
                    <a:lnT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654EDDB4-901F-3D48-A715-17D163E8A7AC}"/>
              </a:ext>
            </a:extLst>
          </p:cNvPr>
          <p:cNvSpPr txBox="1"/>
          <p:nvPr/>
        </p:nvSpPr>
        <p:spPr>
          <a:xfrm>
            <a:off x="365760" y="960120"/>
            <a:ext cx="8412480" cy="524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모델마다 이름과 값이 다르면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서로를 검증할 수 없다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.</a:t>
            </a:r>
          </a:p>
        </p:txBody>
      </p:sp>
      <p:sp>
        <p:nvSpPr>
          <p:cNvPr id="8" name="슬라이드 번호 개체 틀 2">
            <a:extLst>
              <a:ext uri="{FF2B5EF4-FFF2-40B4-BE49-F238E27FC236}">
                <a16:creationId xmlns:a16="http://schemas.microsoft.com/office/drawing/2014/main" id="{741B75C6-7ED3-AA4C-41B6-F69C599EA44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>
          <a:xfrm>
            <a:off x="3508472" y="6449625"/>
            <a:ext cx="2133600" cy="238277"/>
          </a:xfrm>
        </p:spPr>
        <p:txBody>
          <a:bodyPr>
            <a:norm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34" charset="-127"/>
                <a:ea typeface="맑은 고딕" panose="020B0503020000020004" pitchFamily="34" charset="-127"/>
                <a:cs typeface="+mn-cs"/>
              </a:rPr>
              <a:t>- 59 -</a:t>
            </a:r>
          </a:p>
        </p:txBody>
      </p:sp>
    </p:spTree>
    <p:extLst>
      <p:ext uri="{BB962C8B-B14F-4D97-AF65-F5344CB8AC3E}">
        <p14:creationId xmlns:p14="http://schemas.microsoft.com/office/powerpoint/2010/main" val="278956947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51. 동적 모델의 한계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- 60 -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분석의 동적 모델은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무엇이 일어나는지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보여줄 뿐, </a:t>
            </a: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어떤 구조로 실현할지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는 정하지 않는다.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책임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 취소를 어느 객체가 조정하는가? → "07. 책임·협력·계약"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경계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주문과 배송은 같은 경계 안에 있는가? → "05. 구조적 경계와 의존성"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실패와 동시성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출고와 취소가 동시에 일어나면? 환불이 실패하면? → 요구 확인과 설계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기술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이벤트를 어떤 방식으로 전달하는가? → "10. 기술 제약과 도메인 의미 보존"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52. 실습 — 동적 모델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- 61 -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"02. 요구 분석과 유스케이스"·"03. 정적 모델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도메인 개념과 관계"의 정기배송 사례를 이어서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동적 모델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을 만든다.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“정기배송 고객에게 다음 배송을 건너뛸 수 있는 버튼을 만들어 주세요.” 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(조건: 48시간 전까지만 가능, 연속 2회 초과 불가, 결제 승인 건 별도 처리, 다음 배송일 안내 필요)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과제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(1)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「정기배송을 관리한다」의 활동 다이어그램과 건너뛰기 시나리오의 SSD를 그린다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(2)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건너뛰기의 도메인 객체 상호작용을 시퀀스 다이어그램으로 그린다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(3)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배송 회차의 상태 기계를 그린다</a:t>
            </a: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(시간 이벤트 포함)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None/>
            </a:pPr>
            <a:r>
              <a:rPr sz="1200" b="0">
                <a:solidFill>
                  <a:srgbClr val="000000"/>
                </a:solidFill>
                <a:latin typeface="맑은 고딕"/>
                <a:ea typeface="맑은 고딕"/>
              </a:rPr>
              <a:t>(4)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정적 모델과 교차검토해 누락·모순을 찾는다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진행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개인 작성 → 소그룹 비교 → 교차검토 결과 공유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52. 실습 — 동적 모델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- 62 -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검토 기준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SSD에 시스템 안의 객체를 넣지 않고, 시스템의 책임은 업무 결과로 썼는가?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상호작용 참여자가 도메인 객체인가?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48시간·연속 2회 조건을 가드로 표현했는가?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시간 이벤트를 사건으로 다뤘는가?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정적 모델에 없는 개념·상태를 찾아 되돌렸는가?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53. 실습 — 검토 예시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(1/2)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- 63 -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검토 예는 유일한 정답이 아니다. 앞의 사례와 같은 전제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(결제 전·마감 전·연속 제한에 걸리지 않는 고객 본인의 회차)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를 유지한다.</a:t>
            </a:r>
          </a:p>
        </p:txBody>
      </p:sp>
      <p:pic>
        <p:nvPicPr>
          <p:cNvPr id="9" name="plantuml Diagram 13"/>
          <p:cNvPicPr>
            <a:picLocks noChangeAspect="1"/>
          </p:cNvPicPr>
          <p:nvPr/>
        </p:nvPicPr>
        <p:blipFill>
          <a:blip r:embed="plantumlImage13"/>
          <a:stretch>
            <a:fillRect/>
          </a:stretch>
        </p:blipFill>
        <p:spPr>
          <a:xfrm>
            <a:off x="1633415" y="2474340"/>
            <a:ext cx="5877169" cy="3243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53. 실습 — 검토 예시 </a:t>
            </a:r>
            <a:r>
              <a:rPr sz="2000" b="1">
                <a:solidFill>
                  <a:srgbClr val="000000"/>
                </a:solidFill>
                <a:latin typeface="맑은 고딕"/>
                <a:ea typeface="맑은 고딕"/>
              </a:rPr>
              <a:t>(2/2)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- 64 -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5760" y="960120"/>
            <a:ext cx="8412480" cy="2514600"/>
          </a:xfrm>
        </p:spPr>
        <p:txBody>
          <a:bodyPr>
            <a:normAutofit/>
          </a:bodyPr>
          <a:lstStyle/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1">
                <a:solidFill>
                  <a:srgbClr val="000000"/>
                </a:solidFill>
                <a:latin typeface="맑은 고딕"/>
                <a:ea typeface="맑은 고딕"/>
              </a:rPr>
              <a:t>발견</a:t>
            </a: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연속 2회를 판단하려면 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직전 회차의 상태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를 알아야 한다. 결제 승인됨 상태에서의 건너뛰기는 전이가 없다 → 요구에 되묻는다.</a:t>
            </a:r>
          </a:p>
        </p:txBody>
      </p:sp>
      <p:pic>
        <p:nvPicPr>
          <p:cNvPr id="9" name="plantuml Diagram 14"/>
          <p:cNvPicPr>
            <a:picLocks noChangeAspect="1"/>
          </p:cNvPicPr>
          <p:nvPr/>
        </p:nvPicPr>
        <p:blipFill>
          <a:blip r:embed="plantumlImage14"/>
          <a:stretch>
            <a:fillRect/>
          </a:stretch>
        </p:blipFill>
        <p:spPr>
          <a:xfrm>
            <a:off x="2307012" y="1879600"/>
            <a:ext cx="4529977" cy="4432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4F1F13-426B-086B-7D8C-9A58A0F879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26A92D-924E-0575-9551-F8FD7BFD3F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400" b="1">
                <a:solidFill>
                  <a:srgbClr val="000000"/>
                </a:solidFill>
                <a:latin typeface="맑은 고딕"/>
                <a:ea typeface="맑은 고딕"/>
              </a:rPr>
              <a:t>54. 요약</a:t>
            </a:r>
          </a:p>
        </p:txBody>
      </p:sp>
      <p:sp>
        <p:nvSpPr>
          <p:cNvPr id="3" name="슬라이드 번호 개체 틀 2">
            <a:extLst>
              <a:ext uri="{FF2B5EF4-FFF2-40B4-BE49-F238E27FC236}">
                <a16:creationId xmlns:a16="http://schemas.microsoft.com/office/drawing/2014/main" id="{12CF30EE-4DFD-8063-56B8-B8689E76DF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>
                <a:solidFill>
                  <a:prstClr val="black"/>
                </a:solidFill>
              </a:rPr>
              <a:t>- 65 -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66274C8-E16F-5AEB-614B-D8D32DA3E8C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kumimoji="1" lang="en-US" altLang="ko-KR" sz="1400" dirty="0" err="1"/>
              <a:t>04. 동적 모델 — 상호작용과 상태</a:t>
            </a:r>
          </a:p>
        </p:txBody>
      </p:sp>
      <p:sp>
        <p:nvSpPr>
          <p:cNvPr id="6" name="텍스트 개체 틀 5">
            <a:extLst>
              <a:ext uri="{FF2B5EF4-FFF2-40B4-BE49-F238E27FC236}">
                <a16:creationId xmlns:a16="http://schemas.microsoft.com/office/drawing/2014/main" id="{A24E58E1-194B-A320-AEEE-24D08685BB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endParaRPr kumimoji="1" lang="ko-KR" altLang="en-US" dirty="0"/>
          </a:p>
        </p:txBody>
      </p:sp>
      <p:sp>
        <p:nvSpPr>
          <p:cNvPr id="7" name="텍스트 개체 틀 6">
            <a:extLst>
              <a:ext uri="{FF2B5EF4-FFF2-40B4-BE49-F238E27FC236}">
                <a16:creationId xmlns:a16="http://schemas.microsoft.com/office/drawing/2014/main" id="{A219F420-613B-6234-45F6-0955A9A4505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kumimoji="1" lang="en-US" altLang="ko-KR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EBA2C4A-B0BF-F2E4-EA6E-614C99CBA1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spcBef>
                <a:spcPts val="600"/>
              </a:spcBef>
              <a:spcAft>
                <a:spcPts val="600"/>
              </a:spcAft>
              <a:buNone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이 세션은 사건에 따른 상호작용과 상태 변화를 동적 모델로 확인하고, 정적 모델과 서로 검증했다.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동적 모델의 핵심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정적·동적 모델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존재와 사건. 서로의 질문으로 검증한다.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분석과 설계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분석은 도메인 객체, 설계는 설계 객체의 상호작용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다이어그램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활동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(유스케이스)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·SSD</a:t>
            </a:r>
            <a:r>
              <a:rPr sz="1000" b="0">
                <a:solidFill>
                  <a:srgbClr val="000000"/>
                </a:solidFill>
                <a:latin typeface="맑은 고딕"/>
                <a:ea typeface="맑은 고딕"/>
              </a:rPr>
              <a:t>(시나리오)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에서 출발해 시퀀스 중심, 커뮤니케이션·상태 기계로 보완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교차검토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계약·상호작용·상태를 정적 모델에 대어 누락과 모순을 찾는다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적정 모델링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질문에 답할 만큼만 그린다</a:t>
            </a:r>
          </a:p>
          <a:p>
            <a:pPr lvl="2" marL="723900" indent="-368300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"/>
            </a:pPr>
            <a:r>
              <a:rPr sz="1800" b="0">
                <a:solidFill>
                  <a:srgbClr val="000000"/>
                </a:solidFill>
                <a:latin typeface="맑은 고딕"/>
                <a:ea typeface="맑은 고딕"/>
              </a:rPr>
              <a:t>다음 세션</a:t>
            </a:r>
          </a:p>
          <a:p>
            <a:pPr lvl="3" marL="1077913" indent="-354013">
              <a:spcBef>
                <a:spcPts val="600"/>
              </a:spcBef>
              <a:spcAft>
                <a:spcPts val="600"/>
              </a:spcAft>
              <a:buSzPct val="90000"/>
              <a:buFont typeface="Wingdings" pitchFamily="2" charset="2"/>
              <a:buChar char=""/>
            </a:pP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</a:t>
            </a:r>
            <a:r>
              <a:rPr sz="1600" b="1">
                <a:solidFill>
                  <a:srgbClr val="000000"/>
                </a:solidFill>
                <a:latin typeface="맑은 고딕"/>
                <a:ea typeface="맑은 고딕"/>
              </a:rPr>
              <a:t>05. 구조적 경계와 의존성</a:t>
            </a:r>
            <a:r>
              <a:rPr sz="1600" b="0">
                <a:solidFill>
                  <a:srgbClr val="000000"/>
                </a:solidFill>
                <a:latin typeface="맑은 고딕"/>
                <a:ea typeface="맑은 고딕"/>
              </a:rPr>
              <a:t>" —</a:t>
            </a:r>
            <a:r>
              <a:rPr sz="1400" b="0">
                <a:solidFill>
                  <a:srgbClr val="000000"/>
                </a:solidFill>
                <a:latin typeface="맑은 고딕"/>
                <a:ea typeface="맑은 고딕"/>
              </a:rPr>
              <a:t> 분석 결과를 바탕으로 책임이 놓일 경계와 의존성 방향을 판단한다.</a:t>
            </a:r>
          </a:p>
        </p:txBody>
      </p:sp>
    </p:spTree>
    <p:extLst>
      <p:ext uri="{BB962C8B-B14F-4D97-AF65-F5344CB8AC3E}">
        <p14:creationId xmlns:p14="http://schemas.microsoft.com/office/powerpoint/2010/main" val="3555436673"/>
      </p:ext>
    </p:extLst>
  </p:cSld>
  <p:clrMapOvr>
    <a:masterClrMapping/>
  </p:clrMapOvr>
</p:sld>
</file>

<file path=ppt/theme/theme1.xml><?xml version="1.0" encoding="utf-8"?>
<a:theme xmlns:a="http://schemas.openxmlformats.org/drawingml/2006/main" name="4_Office 테마">
  <a:themeElements>
    <a:clrScheme name="태양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/>
      </a:spPr>
      <a:bodyPr lIns="0" rIns="0" rtlCol="0" anchor="ctr"/>
      <a:lstStyle>
        <a:defPPr algn="ctr">
          <a:defRPr sz="1200" b="1" dirty="0" smtClean="0">
            <a:solidFill>
              <a:schemeClr val="bg1"/>
            </a:solidFill>
          </a:defRPr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16015</TotalTime>
  <Words>2142</Words>
  <Application>Microsoft Macintosh PowerPoint</Application>
  <PresentationFormat>화면 슬라이드 쇼(4:3)</PresentationFormat>
  <Paragraphs>347</Paragraphs>
  <Slides>65</Slides>
  <Notes>54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65</vt:i4>
      </vt:variant>
    </vt:vector>
  </HeadingPairs>
  <TitlesOfParts>
    <vt:vector size="69" baseType="lpstr">
      <vt:lpstr>맑은 고딕</vt:lpstr>
      <vt:lpstr>Arial</vt:lpstr>
      <vt:lpstr>Wingdings</vt:lpstr>
      <vt:lpstr>4_Office 테마</vt:lpstr>
      <vt:lpstr>04. 동적 모델 목차 (1/2)</vt:lpstr>
      <vt:lpstr>04. 동적 모델 목차 (2/2)</vt:lpstr>
      <vt:lpstr>01. 세션 목표</vt:lpstr>
      <vt:lpstr>02. 정적 모델에서 동적 모델로</vt:lpstr>
      <vt:lpstr>03. 동적 모델</vt:lpstr>
      <vt:lpstr>04. 정적·동적 모델의 상호 검증</vt:lpstr>
      <vt:lpstr>05. 사건과 반응</vt:lpstr>
      <vt:lpstr>06. 동적 모델의 종류</vt:lpstr>
      <vt:lpstr>07. 분석과 설계의 상호작용</vt:lpstr>
      <vt:lpstr>08. 프로세스와 동적 분석</vt:lpstr>
      <vt:lpstr>09. 정제된 SSD</vt:lpstr>
      <vt:lpstr>10. 계약의 정제</vt:lpstr>
      <vt:lpstr>11. 상호작용 (1/2)</vt:lpstr>
      <vt:lpstr>11. 상호작용 (2/2)</vt:lpstr>
      <vt:lpstr>12. 상호작용 모델의 용도 시퀀스·커뮤니케이션 다이어그램</vt:lpstr>
      <vt:lpstr>13. 상호작용에서 발견하는 것 시퀀스·커뮤니케이션 다이어그램</vt:lpstr>
      <vt:lpstr>14. 활동 다이어그램 (1/2)</vt:lpstr>
      <vt:lpstr>14. 활동 다이어그램 (2/2)</vt:lpstr>
      <vt:lpstr>15. 유스케이스와 활동</vt:lpstr>
      <vt:lpstr>16. 업무 흐름 (1/2) 활동 다이어그램</vt:lpstr>
      <vt:lpstr>16. 업무 흐름 (2/2) 활동 다이어그램</vt:lpstr>
      <vt:lpstr>17. 이벤트와 활동</vt:lpstr>
      <vt:lpstr>18. 활동과 SSD</vt:lpstr>
      <vt:lpstr>19. 시퀀스 다이어그램 (1/2)</vt:lpstr>
      <vt:lpstr>19. 시퀀스 다이어그램 (2/2)</vt:lpstr>
      <vt:lpstr>20. 오퍼레이션에서 상호작용으로 시퀀스 다이어그램</vt:lpstr>
      <vt:lpstr>21. 참여 객체와 도메인 모델 시퀀스 다이어그램</vt:lpstr>
      <vt:lpstr>22. 연관을 따라 흐르는 메시지 시퀀스 다이어그램</vt:lpstr>
      <vt:lpstr>23. 장바구니 담기 시퀀스</vt:lpstr>
      <vt:lpstr>24. 주문 생성 시퀀스</vt:lpstr>
      <vt:lpstr>25. 결제 시퀀스 (1/2)</vt:lpstr>
      <vt:lpstr>25. 결제 시퀀스 (2/2)</vt:lpstr>
      <vt:lpstr>26. 주문 취소 시퀀스 (1/2)</vt:lpstr>
      <vt:lpstr>26. 주문 취소 시퀀스 (2/2)</vt:lpstr>
      <vt:lpstr>27. 시퀀스 다이어그램 조각 (1/2)</vt:lpstr>
      <vt:lpstr>27. 시퀀스 다이어그램 조각 (2/2)</vt:lpstr>
      <vt:lpstr>28. 커뮤니케이션 다이어그램</vt:lpstr>
      <vt:lpstr>29. 시퀀스와 커뮤니케이션</vt:lpstr>
      <vt:lpstr>30. 링크와 연관 커뮤니케이션 다이어그램</vt:lpstr>
      <vt:lpstr>31. 상태 상태 기계 다이어그램</vt:lpstr>
      <vt:lpstr>32. 상태 기계 다이어그램</vt:lpstr>
      <vt:lpstr>33. 주문 상태 기계</vt:lpstr>
      <vt:lpstr>34. 출고와 배송 시작 상태 기계 다이어그램</vt:lpstr>
      <vt:lpstr>35. 가드와 금지된 전이 상태 기계 다이어그램</vt:lpstr>
      <vt:lpstr>36. 시간 이벤트 상태 기계 다이어그램</vt:lpstr>
      <vt:lpstr>37. 상태 폭증 상태 기계 다이어그램</vt:lpstr>
      <vt:lpstr>38. 상태와 불변 조건 상태 기계 다이어그램</vt:lpstr>
      <vt:lpstr>39. 교차검토 절차</vt:lpstr>
      <vt:lpstr>40. 계약과 정적 모델</vt:lpstr>
      <vt:lpstr>41. 상태와 정적 모델 상태 기계 다이어그램</vt:lpstr>
      <vt:lpstr>42. 상호작용과 정적 모델 시퀀스·커뮤니케이션 다이어그램</vt:lpstr>
      <vt:lpstr>43. 누락과 모순</vt:lpstr>
      <vt:lpstr>44. 적정 동적 모델링</vt:lpstr>
      <vt:lpstr>45. 잘못된 관행 — 설계 객체 혼입 시퀀스 다이어그램</vt:lpstr>
      <vt:lpstr>46. 잘못된 관행 — 정적 모델만 있는 분석</vt:lpstr>
      <vt:lpstr>47. 잘못된 관행 — 모든 흐름 그리기 시퀀스·커뮤니케이션 다이어그램</vt:lpstr>
      <vt:lpstr>48. 잘못된 관행 — 순서도가 된 활동</vt:lpstr>
      <vt:lpstr>49. 잘못된 관행 — 상태 기계 오용</vt:lpstr>
      <vt:lpstr>50. 잘못된 관행 — 모델 간 불일치</vt:lpstr>
      <vt:lpstr>51. 동적 모델의 한계</vt:lpstr>
      <vt:lpstr>52. 실습 — 동적 모델 (1/2)</vt:lpstr>
      <vt:lpstr>52. 실습 — 동적 모델 (2/2)</vt:lpstr>
      <vt:lpstr>53. 실습 — 검토 예시 (1/2)</vt:lpstr>
      <vt:lpstr>53. 실습 — 검토 예시 (2/2)</vt:lpstr>
      <vt:lpstr>54. 요약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04. 동적 모델 — 상호작용과 상태</dc:title>
  <dc:creator>Kim YoungSan</dc:creator>
  <cp:lastModifiedBy>Youngon Kim</cp:lastModifiedBy>
  <cp:revision>42</cp:revision>
  <dcterms:created xsi:type="dcterms:W3CDTF">2021-02-25T22:04:20Z</dcterms:created>
  <dcterms:modified xsi:type="dcterms:W3CDTF">2026-09-21T23:10:41Z</dcterms:modified>
</cp:coreProperties>
</file>