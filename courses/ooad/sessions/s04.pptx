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  <p:sldId id="321" r:id="javaLecture66"/>
    <p:sldId id="322" r:id="javaLecture67"/>
    <p:sldId id="323" r:id="javaLecture68"/>
    <p:sldId id="324" r:id="javaLecture69"/>
    <p:sldId id="325" r:id="javaLecture70"/>
    <p:sldId id="326" r:id="javaLecture7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Relationship Id="javaLecture66" Type="http://schemas.openxmlformats.org/officeDocument/2006/relationships/slide" Target="slides/slide66.xml"/><Relationship Id="javaLecture67" Type="http://schemas.openxmlformats.org/officeDocument/2006/relationships/slide" Target="slides/slide67.xml"/><Relationship Id="javaLecture68" Type="http://schemas.openxmlformats.org/officeDocument/2006/relationships/slide" Target="slides/slide68.xml"/><Relationship Id="javaLecture69" Type="http://schemas.openxmlformats.org/officeDocument/2006/relationships/slide" Target="slides/slide69.xml"/><Relationship Id="javaLecture70" Type="http://schemas.openxmlformats.org/officeDocument/2006/relationships/slide" Target="slides/slide70.xml"/><Relationship Id="javaLecture71" Type="http://schemas.openxmlformats.org/officeDocument/2006/relationships/slide" Target="slides/slide7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"1.0" encoding="UTF-8"?>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66.xml.rels><?xml version="1.0" encoding="UTF-8"?>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_rels/notesSlide67.xml.rels><?xml version="1.0" encoding="UTF-8"?>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</Relationships>
</file>

<file path=ppt/notesSlides/_rels/notesSlide68.xml.rels><?xml version="1.0" encoding="UTF-8"?>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</Relationships>
</file>

<file path=ppt/notesSlides/_rels/notesSlide69.xml.rels><?xml version="1.0" encoding="UTF-8"?>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</Relationships>
</file>

<file path=ppt/notesSlides/_rels/notesSlide70.xml.rels><?xml version="1.0" encoding="UTF-8"?>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</Relationships>
</file>

<file path=ppt/notesSlides/_rels/notesSlide71.xml.rels><?xml version="1.0" encoding="UTF-8"?>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「57. 누락과 모순」과 「58.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「44.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「45.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흐름은 "02. 요구 분석과 유스케이스"의 「33.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  <a:p>
            <a:pPr lvl="0"/>
            <a:r>
              <a:rPr lang="ko-KR" sz="1200"/>
              <a:t>주문 취소 활동의 두 결정은 코드의 두 if다. 코드는 모두 code/s04/주문생애.java에서 발췌했으며, 그 파일을 컴파일·실행해 확인한다. "이미 출고됨"에서 거절하는 것은 교육용 가정이다(「27. 시퀀스 다이어그램 조각」).</a:t>
            </a:r>
          </a:p>
          <a:p>
            <a:pPr lvl="0"/>
            <a:r>
              <a:rPr lang="ko-KR" sz="1200"/>
              <a:t>"결제 완료인가? — 아니요"의 거절 중 배송 시작 이후는 확인된 규칙이고, 결제 대기의 취소는 미정이다. 코드는 확인된 경로만 구현했을 뿐 결제 대기의 처리를 정한 것이 아니다(「35. 가드와 금지된 전이」).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생명선·메시지·상태의 이름은 용어집의 한글 용어를 쓴다. 영문 이름(Order)은 설계에서 쓴다 — "05. 구조적 경계와 의존성".</a:t>
            </a:r>
          </a:p>
          <a:p>
            <a:pPr lvl="0"/>
            <a:r>
              <a:rPr lang="ko-KR" sz="1200"/>
              <a:t>도식은 "03. 정적 모델 — 도메인 개념과 관계"의 「45.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「36.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현재 값과 확정 값은 "03. 정적 모델 — 도메인 개념과 관계"에서 정했다. 분석이 확인하는 것은 언제 주문이 성립하고 단가가 확정되는가다. 누가 만들고 확정하는지는 이해를 돕는 배치 예이며,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1a,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순서와 흐름이 핵심이면 시퀀스, 참여자 구조가 핵심이면 커뮤니케이션을 고른다. 시퀀스는 조건·반복 조각(「27. 시퀀스 다이어그램 조각」)을 쓰고, 커뮤니케이션은 번호의 [조건]·*로 대신한다.</a:t>
            </a:r>
          </a:p>
          <a:p>
            <a:pPr lvl="0"/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  <a:p>
            <a:pPr lvl="0"/>
            <a:r>
              <a:rPr lang="ko-KR" sz="1200"/>
              <a:t>새 상태 취소 처리 중은 용어집에도 더한다("02. 요구 분석과 유스케이스"의 「18. 용어집」). 동적 모델이 찾은 이름을 용어집에 되돌리지 않으면 모델마다 다른 이름이 생긴다.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관계"는 두 표현이 같은지와 출고를 누가 아는지를 질문으로 남겼다. 판단 주체가 다르다는 것은 공통 전제이고, 두 경계의 선후는 이 topic의 교육용 가정이다. 동적 모델은 그 가정 아래 드러나는 새로운 요구 질문을 보여준다. 실제 관계는 업무 담당자에게 확인한다. 답이 정해지면 "02. 요구 분석과 유스케이스"의 규칙과 계약을 고친다.</a:t>
            </a:r>
          </a:p>
          <a:p>
            <a:pPr lvl="0"/>
            <a:r>
              <a:rPr lang="ko-KR" sz="1200"/>
              <a:t>용어집은 두 용어를 처음부터 다른 용어로 정의했다(출고 dispatch, 배송 시작 deliveryStarted). 같다는 증거가 나오기 전에는 하나로 합치지 않는다.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회차는 시간 이벤트로 결제를 요청하고, 고객의 요청으로 건너뛸 수 있다. 시간이 된 사실과 외부 결제가 승인된 사실은 다른 사건이며, 그림은 승인 성공 경로만 보인다.</a:t>
            </a:r>
          </a:p>
          <a:p>
            <a:pPr lvl="0"/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「39. 제약」과 「30.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정적 모델 — 도메인 개념과 관계"의 「56.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유스케이스"에서 정의하고 "03. 정적 모델 — 도메인 개념과 관계"의 「42. 용어집 정제」에서 정제한 용어집이 모든 모델의 기준이다. 설계부터는 같은 용어집의 영문명을 쓴다.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예는 「15. 유스케이스와 활동」, 「26. 주문 취소 시퀀스」, 「30. 링크와 연관」, 「33. 주문 상태 기계」, 「35. 가드와 금지된 전이」에 있다.</a:t>
            </a:r>
          </a:p>
          <a:p>
            <a:pPr lvl="0"/>
            <a:r>
              <a:rPr lang="ko-KR" sz="1200"/>
              <a:t>"01. OOAD 개요"의 다섯 다이어그램 코드, "02. 요구 분석과 유스케이스"의 SSD·계약 코드, "03. 정적 모델 — 도메인 개념과 관계"의 클래스 다이어그램 코드에 이어 동적 모델까지 다이어그램–코드–테스트를 끝까지 이었다.</a:t>
            </a:r>
          </a:p>
          <a:p>
            <a:pPr lvl="0"/>
            <a:r>
              <a:rPr lang="ko-KR" sz="1200"/>
              <a:t>도메인 객체가 외부 시스템 인터페이스(배송시스템, 결제시스템)를 직접 가진 것은 설계의 결정이다. 분석 모델에 되돌려 그리지 않는다(「45. 잘못된 관행 — 설계 객체 혼입」). 누가 외부와 이야기할지는 "05. 구조적 경계와 의존성"과 "07. 책임·협력·계약"에서 다시 정한다.</a:t>
            </a:r>
          </a:p>
          <a:p>
            <a:pPr lvl="0"/>
            <a:r>
              <a:rPr lang="ko-KR" sz="1200"/>
              <a:t>코드의 enum에는 취소처리중이 있다. 「41. 상태와 정적 모델」에서 정적 모델의 상태 값에 더하기로 한 결과다. 모델과 코드의 상태 값은 한 원천이어야 한다(DRY).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분석의 상호작용은 도메인 객체 사이다. 화면·컨트롤러·저장소는 설계에서 다룬다.</a:t>
            </a:r>
          </a:p>
          <a:p>
            <a:pPr lvl="0"/>
            <a:r>
              <a:rPr lang="ko-KR" sz="1200"/>
              <a:t>LLM은 모든 흐름을 한 시퀀스에 넣거나, 상태 기계를 순서도처럼 그리기 쉽다.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항목·정기배송 항목의 생성은 읽기 쉽도록 생략했다.</a:t>
            </a:r>
          </a:p>
          <a:p>
            <a:pPr lvl="0"/>
            <a:r>
              <a:rPr lang="ko-KR" sz="1200"/>
              <a:t>배송 요청은 비동기다. 배송 시스템이 회차마다 배송한다.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반복은 번호 뒤의 *로, 순서는 번호로 표현한다. 프레임(loop)은 쓰지 않는다.</a:t>
            </a:r>
          </a:p>
          <a:p>
            <a:pPr lvl="0"/>
            <a:r>
              <a:rPr lang="ko-KR" sz="1200"/>
              <a:t>링크가 도메인 모델의 연관과 맞는지 확인하는 것이 커뮤니케이션 다이어그램의 쓸모다.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만료는 시간 이벤트다. 사람이 아니라 시간이 전이를 일으킨다.</a:t>
            </a:r>
          </a:p>
          <a:p>
            <a:pPr lvl="0"/>
            <a:r>
              <a:rPr lang="ko-KR" sz="1200"/>
              <a:t>코드에서는 상태를 enum이나 상태 패턴으로 옮기고, 전이를 한 곳에서 검사한다.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모델만으로는 상태의 주인을 잘못 판단하기 쉽다. 동적 분석이 이를 바로잡는다 — 「41. 상태와 정적 모델」.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2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5" Type="http://schemas.openxmlformats.org/officeDocument/2006/relationships/image" Target="../media/svg-5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6" Type="http://schemas.openxmlformats.org/officeDocument/2006/relationships/image" Target="../media/svg-6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5" Type="http://schemas.openxmlformats.org/officeDocument/2006/relationships/image" Target="../media/plantuml-15.png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2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_rels/slide6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6" Type="http://schemas.openxmlformats.org/officeDocument/2006/relationships/notesSlide" Target="../notesSlides/notesSlide66.xml"/></Relationships>
</file>

<file path=ppt/slides/_rels/slide6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6" Type="http://schemas.openxmlformats.org/officeDocument/2006/relationships/image" Target="../media/plantuml-16.png"/><Relationship Id="speakerNotes67" Type="http://schemas.openxmlformats.org/officeDocument/2006/relationships/notesSlide" Target="../notesSlides/notesSlide67.xml"/></Relationships>
</file>

<file path=ppt/slides/_rels/slide6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7" Type="http://schemas.openxmlformats.org/officeDocument/2006/relationships/image" Target="../media/plantuml-17.png"/><Relationship Id="speakerNotes68" Type="http://schemas.openxmlformats.org/officeDocument/2006/relationships/notesSlide" Target="../notesSlides/notesSlide68.xml"/></Relationships>
</file>

<file path=ppt/slides/_rels/slide6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8" Type="http://schemas.openxmlformats.org/officeDocument/2006/relationships/image" Target="../media/plantuml-18.png"/><Relationship Id="speakerNotes69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0" Type="http://schemas.openxmlformats.org/officeDocument/2006/relationships/notesSlide" Target="../notesSlides/notesSlide70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1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유스케이스와 시스템 간 흐름을,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확인하고, 네 다이어그램이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자바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어떻게 이어지는지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출고와 배송 시작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0219" y="4275784"/>
            <a:ext cx="5643563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[Harel 1987]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679190"/>
                <a:gridCol w="367919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상태는 취소 상호작용에서,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모델만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59962" y="2283645"/>
            <a:ext cx="7024077" cy="393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23570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 시스템에 재고 차감을, 배송 시스템에 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회계 시스템에 입금 처리·영수증 발행을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1a에서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17866" y="4186673"/>
          <a:ext cx="56946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4328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결제에 연결된 환불이 생겨 결제 시스템에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금액은 결제 금액과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09603"/>
          <a:ext cx="830580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092960"/>
                <a:gridCol w="2595880"/>
                <a:gridCol w="2473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바꾸는 개념·상태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개념, 메시지는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개념의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047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9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95437" y="3712117"/>
            <a:ext cx="595312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근거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61836" y="3522938"/>
          <a:ext cx="8206740" cy="3873500"/>
        </p:xfrm>
        <a:graphic>
          <a:graphicData uri="http://schemas.openxmlformats.org/drawingml/2006/table">
            <a:tbl>
              <a:tblPr/>
              <a:tblGrid>
                <a:gridCol w="2204720"/>
                <a:gridCol w="304292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동사로, 주체는 이름이나 레인으로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겹치지 않는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(병행)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서로 대신하지 않는다.</a:t>
            </a:r>
          </a:p>
        </p:txBody>
      </p:sp>
      <p:pic>
        <p:nvPicPr>
          <p:cNvPr id="15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2064893" y="1842998"/>
            <a:ext cx="50006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850656" y="2086990"/>
            <a:ext cx="7442688" cy="401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5102352" y="2240238"/>
            <a:ext cx="3675888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주문상태.결제완료)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취소할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(!배송.출고중단을요청한다())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IllegalStateException("이미 출고되었다");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결제.환불을요청한다();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전이(주문상태.결제완료, 주문상태.취소처리중);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활동과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메서드 호출이 된다. 거절로 끝나는 가지는 예외로 드러난다. "이미 출고됨"의 거절은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65760" y="2240238"/>
            <a:ext cx="4626864" cy="39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svg Diagram 2" descr="결제에서 배송까지 여러 시스템에 걸친 업무 흐름 활동 다이어그램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625203" y="2086853"/>
            <a:ext cx="5893594" cy="4018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서로의 순서에 의존하지 않고, 합류는 둘 다 끝나기를 기다린다.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시스템의 처리를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기다리지 않고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흐름의 순서,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요청자가 완료를 기다리는가의 구분이다. 서로 대신하지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9888"/>
          <a:ext cx="8305800" cy="3873500"/>
        </p:xfrm>
        <a:graphic>
          <a:graphicData uri="http://schemas.openxmlformats.org/drawingml/2006/table">
            <a:tbl>
              <a:tblPr/>
              <a:tblGrid>
                <a:gridCol w="2540000"/>
                <a:gridCol w="2595880"/>
                <a:gridCol w="3169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개념의 인스턴스, 액터는 왼쪽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안의 상태 변화·계산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54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응답은 그리지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열린 화살촉으로 구분한다.</a:t>
            </a:r>
          </a:p>
        </p:txBody>
      </p:sp>
      <p:pic>
        <p:nvPicPr>
          <p:cNvPr id="15" name="svg Diagram 3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1945830" y="2357073"/>
            <a:ext cx="523875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6" y="2100036"/>
          <a:ext cx="809498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231648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승인·재고·배송·입금을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763346" y="4036978"/>
            <a:ext cx="5617308" cy="168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상태를 바꾸지 않아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588846" y="3555208"/>
            <a:ext cx="3966308" cy="172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사실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주문이 성립할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확정된다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예로 둔 배치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누가 만들고 확정하는지는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 배치의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028092" y="3662865"/>
            <a:ext cx="5087815" cy="259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663819" y="2440881"/>
            <a:ext cx="7816362" cy="331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어떤 요청이 필요한지는 분석이 확인하고, 누가 요청하는지는 배치 예로 두어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742462" y="2598898"/>
            <a:ext cx="7659077" cy="2994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(3/3)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445954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배송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boolean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출고중단을요청한다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배송시스템.출고중단을요청한다(배송번호);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금액 환불금액;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시퀀스와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받는 객체의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완료를 기다리지 않는 요청이 된다. 결과는 나중에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온다.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445954"/>
            <a:ext cx="4114800" cy="1828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(금액 환불금액) { this.환불금액 = 환불금액;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(결제시스템 결제시스템)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결제시스템.환불을요청한다(환불금액);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환불을요청한다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새환불 = new 환불(결제금액);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환불 = Optional.of(새환불);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새환불.요청한다(결제시스템);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891323" y="2240238"/>
            <a:ext cx="5361354" cy="2095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75431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프레임을 쓰지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상호작용이 갈린다. 출고 후의 거절은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pic>
        <p:nvPicPr>
          <p:cNvPr id="9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2115038" y="2491436"/>
            <a:ext cx="4913923" cy="320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77216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204210"/>
                <a:gridCol w="320421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시퀀스」의 앞부분을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번호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그렸다. 시퀀스는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커뮤니케이션은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누구와 연결되는지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잘 보인다.</a:t>
            </a:r>
          </a:p>
        </p:txBody>
      </p:sp>
      <p:pic>
        <p:nvPicPr>
          <p:cNvPr id="9" name="svg Diagram 5" descr="주문 취소 앞부분을 같은 번호로 그린 시퀀스 다이어그램과 커뮤니케이션 다이어그램"/>
          <p:cNvPicPr>
            <a:picLocks noChangeAspect="1"/>
          </p:cNvPicPr>
          <p:nvPr/>
        </p:nvPicPr>
        <p:blipFill>
          <a:blip r:embed="svgImage5"/>
          <a:stretch>
            <a:fillRect/>
          </a:stretch>
        </p:blipFill>
        <p:spPr>
          <a:xfrm>
            <a:off x="1774031" y="2761421"/>
            <a:ext cx="5595938" cy="297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92966"/>
            <a:ext cx="411480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final 금액 결제금액;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결제시스템 결제시스템;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Optional&lt;환불&gt; 환불 = Optional.empty();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링크와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참조 필드다. 번호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취소한다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호출,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1.2.1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환불을요청한다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안의 호출이다.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492966"/>
            <a:ext cx="411480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결제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배송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주문상태 상태 = 주문상태.결제대기;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결제되었다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(결제 결제, 배송 배송)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전이(주문상태.결제대기, 주문상태.결제완료);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this.결제 = 결제;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this.배송 = 배송;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693615" y="2240238"/>
            <a:ext cx="7756769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[OMG 2017]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("03. 정적 모델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22938"/>
          <a:ext cx="8305800" cy="3873500"/>
        </p:xfrm>
        <a:graphic>
          <a:graphicData uri="http://schemas.openxmlformats.org/drawingml/2006/table">
            <a:tbl>
              <a:tblPr/>
              <a:tblGrid>
                <a:gridCol w="2567940"/>
                <a:gridCol w="2092960"/>
                <a:gridCol w="3644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상황의 이름(결제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 — 가드가 참이면 전이한다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970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6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6"/>
          <a:stretch>
            <a:fillRect/>
          </a:stretch>
        </p:blipFill>
        <p:spPr>
          <a:xfrm>
            <a:off x="2183956" y="1842998"/>
            <a:ext cx="476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 상태 목록은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688731" y="4162952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473427"/>
            <a:ext cx="8412480" cy="2641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결제대기, 결제완료, 배송중, 배송완료, 취소처리중,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... 배송·환불·결제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배송시작통보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전이(주문상태.결제완료, 주문상태.배송중);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전이(주문상태.배송중, 주문상태.배송완료);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환불완료통보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전이(주문상태.취소처리중, 주문상태.취소됨);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취소한다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출발, 주문상태 도착)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(상태 != 출발)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" + 도착 + "이 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도착;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178518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기계와 코드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값,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상태를 바꾸는 메서드,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 전의 검사가 된다.</a:t>
            </a:r>
          </a:p>
        </p:txBody>
      </p:sp>
      <p:pic>
        <p:nvPicPr>
          <p:cNvPr id="33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688731" y="2240238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3011351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49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시스템이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여기서는 출고를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물류센터 반출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시작을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운송 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구분하는 업무를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이 가정 아래 두 경계의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허용되지만, 가정대로라면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전이가 없는 이유는 둘 중 하나다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확인된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했거나, 요구가 아직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둘을 구분해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확정된 요구가 아니다. 화살표가 없는 것은 금지가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30465"/>
            <a:ext cx="4114800" cy="19507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주문생애테스트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요청 = new ArrayList&lt;String&gt;();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결제시스템 결제시스템 = 금액 -&gt; 요청.add("환불 " + 금액.원());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배송시스템 출고전 = 번호 -&gt; 요청.add("출고 중단");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주문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주문.결제되었다(new 결제(new 금액(2000),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배송("배송-1",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주문.취소한다();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주문상태.취소처리중);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확인(요청.equals(List.of("출고 중단", "환불 2000")));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주문.환불완료통보();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확인(주문.상태 == 주문상태.취소됨);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435556"/>
          </a:xfrm>
        </p:spPr>
        <p:txBody>
          <a:bodyPr>
            <a:normAutofit/>
          </a:bodyPr>
          <a:lstStyle/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전이에서 테스트로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거절되어야 한다. 배송 중의 취소가 거절되고, 취소는 출고 중단 → 환불 순서로 요청한다.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미정인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테스트 기대값으로 정하지 않는다.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3730465"/>
            <a:ext cx="4114800" cy="1219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var 배송중 = new 주문();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배송중.결제되었다(new 결제(new 금액(1000), 결제시스템),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    new 배송("배송-2", 출고전));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배송중.배송시작통보();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거절(배송중::취소한다);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생애 확인");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확인·거절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688731" y="2497276"/>
            <a:ext cx="7766538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교육용 가정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승인됨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바로 가는 전이는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승인 성공을 축약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 결제 요청과 승인은 따로 일어난다.</a:t>
            </a:r>
          </a:p>
        </p:txBody>
      </p:sp>
      <p:pic>
        <p:nvPicPr>
          <p:cNvPr id="9" name="plantuml Diagram 15"/>
          <p:cNvPicPr>
            <a:picLocks noChangeAspect="1"/>
          </p:cNvPicPr>
          <p:nvPr/>
        </p:nvPicPr>
        <p:blipFill>
          <a:blip r:embed="plantumlImage15"/>
          <a:stretch>
            <a:fillRect/>
          </a:stretch>
        </p:blipFill>
        <p:spPr>
          <a:xfrm>
            <a:off x="2557096" y="3837929"/>
            <a:ext cx="4029808" cy="20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[Harel 1987]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계약의 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요소로 설명한다.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참여자와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정적 모델의 개념·연관에 있는지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속성 값과 같은지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정적 모델의 제약과 모순되지 않는지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요구로 되돌린다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452793"/>
                <a:gridCol w="2452793"/>
                <a:gridCol w="2452793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사후조건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385820"/>
                <a:gridCol w="1534160"/>
                <a:gridCol w="3385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참여자·링크·메시지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[Ambler]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2756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모든 모델의 이름을 정한다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한글 용어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설계는 같은 용어의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영문명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32396" y="1842998"/>
          <a:ext cx="6865620" cy="3873500"/>
        </p:xfrm>
        <a:graphic>
          <a:graphicData uri="http://schemas.openxmlformats.org/drawingml/2006/table">
            <a:tbl>
              <a:tblPr/>
              <a:tblGrid>
                <a:gridCol w="1143000"/>
                <a:gridCol w="2148840"/>
                <a:gridCol w="35737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·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메서드 호출 · if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순서에 의존하지 않는 호출 · 모두 끝난 뒤 진행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· 생성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객체의 메서드 · new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· alt·loop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완료를 기다리지 않는 요청 · if·for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· 번호 1.1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참조 필드 · 호출 안의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·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enum 값 · 상태를 바꾸는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· 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전 검사 ·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요구의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허용·거절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동적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행위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다른 면에서 본다. 주문 취소를 코드로 옮기면 각 다이어그램의 요소가 코드의 서로 다른 곳에 나타난다.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모델에서 코드로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비동기의 기준은 반환값이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완료를 기다리는가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예제는 전달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(큐·이벤트)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생략하고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기록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순서만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코드에 없는 전이는 일어나지 않고, 취소는 출고 중단 뒤에 환불을 요청한다.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보장하지 않는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결제 대기 취소의 정책, 출고 중단 거절·환불 실패의 정책, 통보가 오지 않을 때의 처리. 요구 질문으로 남긴 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「정기배송을 신청한다」의 기본 흐름과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실습 2의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실습 3의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 상세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실제로는 여러분의 결과물을 이어 씁니다.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"위 기본 흐름을 도메인 모델의 객체로 PlantUML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그려줘. 화면·컨트롤러 같은 설계 객체는 넣지 마."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"정기배송의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PlantUML로 그려줘. 전이마다 사건, 가드, 동작을 표시해줘."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참여 객체와 이름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모델의 개념만 참여하고, 메시지·상태의 이름이 용어집과 같은가?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메시지가 도메인 모델의 연관을 따라 흐르는가?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반복·외부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담기의 반복과 결제·배송 요청이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정기배송의 상태가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으로 바뀌는가?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가드·시간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요청 결과의 가드와 만료 같은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교차 검토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도메인 모델에 없는 속성·연관이 필요하면 되돌렸는가?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시퀀스와 상태 기계 다이어그램.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시퀀스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기본 흐름을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으로 펼쳤다. 장바구니가 정기배송을 만들고, 정기배송이 결제·확정·배송 요청을 이끈다.</a:t>
            </a:r>
          </a:p>
        </p:txBody>
      </p:sp>
      <p:pic>
        <p:nvPicPr>
          <p:cNvPr id="9" name="plantuml Diagram 16"/>
          <p:cNvPicPr>
            <a:picLocks noChangeAspect="1"/>
          </p:cNvPicPr>
          <p:nvPr/>
        </p:nvPicPr>
        <p:blipFill>
          <a:blip r:embed="plantumlImage16"/>
          <a:stretch>
            <a:fillRect/>
          </a:stretch>
        </p:blipFill>
        <p:spPr>
          <a:xfrm>
            <a:off x="465015" y="1957815"/>
            <a:ext cx="8213969" cy="406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55. 커뮤니케이션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같은 상호작용을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링크와 메시지 번호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로 보였다. 링크는 도메인 모델의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연관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일치해야 한다.</a:t>
            </a:r>
          </a:p>
        </p:txBody>
      </p:sp>
      <p:pic>
        <p:nvPicPr>
          <p:cNvPr id="9" name="plantuml Diagram 17"/>
          <p:cNvPicPr>
            <a:picLocks noChangeAspect="1"/>
          </p:cNvPicPr>
          <p:nvPr/>
        </p:nvPicPr>
        <p:blipFill>
          <a:blip r:embed="plantumlImage17"/>
          <a:stretch>
            <a:fillRect/>
          </a:stretch>
        </p:blipFill>
        <p:spPr>
          <a:xfrm>
            <a:off x="1162538" y="2523804"/>
            <a:ext cx="6818923" cy="268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56. 상태 기계 다이어그램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정기배송은 결제와 배송 요청의 결과에 따라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되거나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신청 실패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되고, 해지나 만료로 끝난다.</a:t>
            </a:r>
          </a:p>
        </p:txBody>
      </p:sp>
      <p:pic>
        <p:nvPicPr>
          <p:cNvPr id="9" name="plantuml Diagram 18"/>
          <p:cNvPicPr>
            <a:picLocks noChangeAspect="1"/>
          </p:cNvPicPr>
          <p:nvPr/>
        </p:nvPicPr>
        <p:blipFill>
          <a:blip r:embed="plantumlImage18"/>
          <a:stretch>
            <a:fillRect/>
          </a:stretch>
        </p:blipFill>
        <p:spPr>
          <a:xfrm>
            <a:off x="1146663" y="1688535"/>
            <a:ext cx="6850673" cy="4357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57. 동적 모델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도메인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정기배송에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를 더한다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대기·확정·신청 실패·해지됨·만료됨)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"정기배송은 상태를 갖지 않는다"를 고친다.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회차별 취소·배송은 배송 회차가 갖는다. 해지는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판단한다.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생성 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장바구니가 정기배송을, 정기배송이 배송 회차와 결제를 만든다.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7a 배송 요청 실패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"결제 승인 후 미확정" 상태가 있음을 밝힌다.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동적 모델을 만들며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SubscriptionStatus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결제 대기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PENDING_PAYMENT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확정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CONFIRMED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신청 실패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FAILED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해지됨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TERMINATED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만료됨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EXPIRED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상태와 그 용어, 생성 책임. 실습 5의 패키지·코드의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 명세서의 7a 설명.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상호작용과 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했다.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결정은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if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메시지는 받는 객체의 메서드, 링크는 필드, 상태는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enum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금지된 전이는 거절 테스트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71</Slides>
  <Notes>58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</vt:lpstr>
      <vt:lpstr>15. 유스케이스와 활동 (1/2)</vt:lpstr>
      <vt:lpstr>15. 유스케이스와 활동 (2/2)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(1/3)</vt:lpstr>
      <vt:lpstr>26. 주문 취소 시퀀스 (2/3)</vt:lpstr>
      <vt:lpstr>26. 주문 취소 시퀀스 (3/3)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(1/2) 커뮤니케이션 다이어그램</vt:lpstr>
      <vt:lpstr>30. 링크와 연관 (2/2) 커뮤니케이션 다이어그램</vt:lpstr>
      <vt:lpstr>31. 상태 상태 기계 다이어그램</vt:lpstr>
      <vt:lpstr>32. 상태 기계 다이어그램</vt:lpstr>
      <vt:lpstr>33. 주문 상태 기계 (1/2)</vt:lpstr>
      <vt:lpstr>33. 주문 상태 기계 (2/2)</vt:lpstr>
      <vt:lpstr>34. 출고와 배송 시작 상태 기계 다이어그램</vt:lpstr>
      <vt:lpstr>35. 가드와 금지된 전이 (1/2) 상태 기계 다이어그램</vt:lpstr>
      <vt:lpstr>35. 가드와 금지된 전이 (2/2)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모델에서 코드로 (1/2)</vt:lpstr>
      <vt:lpstr>51. 동적 모델에서 코드로 (2/2)</vt:lpstr>
      <vt:lpstr>52. 동적 모델의 한계</vt:lpstr>
      <vt:lpstr>53. 실습 — 동적 모델</vt:lpstr>
      <vt:lpstr>54. 시퀀스 다이어그램 (안)</vt:lpstr>
      <vt:lpstr>55. 커뮤니케이션 다이어그램 (안)</vt:lpstr>
      <vt:lpstr>56. 상태 기계 다이어그램 (안)</vt:lpstr>
      <vt:lpstr>57. 동적 모델 보완 (안)</vt:lpstr>
      <vt:lpstr>58.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