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7.xml.rels><?xml version="1.0" encoding="UTF-8"?>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「53. 누락과 모순」과 「54.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「43.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「44.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흐름은 "02. 요구 분석과 유스케이스"의 「32.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도식은 "03. 정적 모델 — 도메인 개념과 관계"의 「43.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「34.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누가 주문을 만들고 누가 단가를 확정하는지는 분석의 판단이며,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1c,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관계"는 두 표현이 같은지와 출고를 누가 아는지를 질문으로 남겼다. 동적 모델은 둘이 다르고 판단 주체도 다르다는 사실, 그리고 그 차이가 만드는 새로운 요구 질문을 보여준다. 답이 정해지면 "02. 요구 분석과 유스케이스"의 규칙과 계약을 고친다.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관계"의 「37. 제약」과 「28.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관계"의 「52.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관계"의 용어집이 모든 모델의 기준이다.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배분은 전체 SA 완성 후 정한다.</a:t>
            </a:r>
          </a:p>
          <a:p>
            <a:pPr lvl="0"/>
            <a:r>
              <a:rPr lang="ko-KR" sz="1200"/>
              <a:t>세부 검토 기준(충족 / 보완):</a:t>
            </a:r>
          </a:p>
          <a:p>
            <a:pPr lvl="1"/>
            <a:r>
              <a:rPr lang="ko-KR" sz="1200"/>
              <a:t>SSD — 고객·정기배송 시스템·결제 시스템만 있다 / 내부 서비스·저장소가 있다</a:t>
            </a:r>
          </a:p>
          <a:p>
            <a:pPr lvl="1"/>
            <a:r>
              <a:rPr lang="ko-KR" sz="1200"/>
              <a:t>상호작용 — 정기배송·배송 회차·결제 승인이 업무 메시지로 상호작용한다 / 메서드 시그니처와 설계 객체를 쓴다</a:t>
            </a:r>
          </a:p>
          <a:p>
            <a:pPr lvl="1"/>
            <a:r>
              <a:rPr lang="ko-KR" sz="1200"/>
              <a:t>상태 기계 — 예정·결제 승인됨·건너뜀·배송됨과 가드가 있다 / 화면 단계를 상태로 둔다</a:t>
            </a:r>
          </a:p>
          <a:p>
            <a:pPr lvl="1"/>
            <a:r>
              <a:rPr lang="ko-KR" sz="1200"/>
              <a:t>교차검토 — 연속 횟수를 판단할 정보, 결제 승인 후 건너뛰기의 처리를 질문으로 남긴다 / 모델 간 이름이 다르다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"예정일 2일 전"의 결제 승인 시점과 상태 이름은 교육용 가정이다.</a:t>
            </a:r>
          </a:p>
          <a:p>
            <a:pPr lvl="0"/>
            <a:r>
              <a:rPr lang="ko-KR" sz="1200"/>
              <a:t>결제 승인됨 상태의 건너뛰기(취소·환불·이월)는 "02. 요구 분석과 유스케이스" 실습에서 남긴 질문과 같다. 전이를 추측으로 그리지 않은 것이 이 예시의 핵심이다.</a:t>
            </a:r>
          </a:p>
          <a:p>
            <a:pPr lvl="0"/>
            <a:r>
              <a:rPr lang="ko-KR" sz="1200"/>
              <a:t>토론 질문: 이 상태는 누구의 것인가(정기배송인가, 배송 회차인가)? 아직 무엇을 모르는가?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7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검토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서로를 검증하는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활동 다이어그램으로 유스케이스와 시스템 간 흐름을, 시퀀스·커뮤니케이션 다이어그램으로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출고와 배송 시작은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상태는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어떤 순서로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8041" y="4242446"/>
            <a:ext cx="6207919" cy="73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669573"/>
                <a:gridCol w="3747227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취소 처리 중 상태는 취소 상호작용에서, 배송 시작 통보는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모델만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708758" y="2087039"/>
            <a:ext cx="7726485" cy="43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35707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7416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연결되었다. 상품 시스템에 재고 차감을, 배송 시스템에 배송을, 회계 시스템에 입금 처리·영수증 발행을 요청했다. 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1c에서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7627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7416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1c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받아들였다. 결제에 연결된 환불이 생겨 결제 시스템에 요청되었고 환불 금액은 결제 금액과 같다. 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0960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38164"/>
                <a:gridCol w="2379217"/>
                <a:gridCol w="2699419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분기·병행,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만들고 바꾸는 개념과 상태 값을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사이에 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하나를 처리하는 객체의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개념의 인스턴스, 메시지는 연관을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링크로 연결된 객체와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거치는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047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297781" y="3674811"/>
            <a:ext cx="6548438" cy="82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판단의 근거가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pic>
        <p:nvPicPr>
          <p:cNvPr id="9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1821656" y="3417633"/>
            <a:ext cx="5500688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240238"/>
          <a:ext cx="8305800" cy="3873500"/>
        </p:xfrm>
        <a:graphic>
          <a:graphicData uri="http://schemas.openxmlformats.org/drawingml/2006/table">
            <a:tbl>
              <a:tblPr/>
              <a:tblGrid>
                <a:gridCol w="1863384"/>
                <a:gridCol w="2571814"/>
                <a:gridCol w="3870602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쓴다. 주체를 이름에 쓰거나 수영 레인으로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[조건]을 쓴다. 조건이 서로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상관없이 함께 일어나도 되는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조건에 따른 분기와 다시 합침,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병행 흐름의 시작과 동기화다. 둘을 서로 대신하지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23690" y="1640536"/>
            <a:ext cx="9096619" cy="491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260304" y="1841758"/>
            <a:ext cx="6623392" cy="450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서로 기다리지 않는다.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시스템이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pic>
        <p:nvPicPr>
          <p:cNvPr id="9" name="svg Diagram 2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370542" y="3458040"/>
            <a:ext cx="6402917" cy="133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240238"/>
          <a:ext cx="8305800" cy="3873500"/>
        </p:xfrm>
        <a:graphic>
          <a:graphicData uri="http://schemas.openxmlformats.org/drawingml/2006/table">
            <a:tbl>
              <a:tblPr/>
              <a:tblGrid>
                <a:gridCol w="1748958"/>
                <a:gridCol w="2287637"/>
                <a:gridCol w="4269206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분석에서는 :주문처럼 도메인 개념의 인스턴스. 첫 메시지를 보내는 액터를 왼쪽에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쪽이 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짓는다. 이 과정의 분석에서는 모두 동기다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변화·계산처럼 객체 안에서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종류별로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단계의 메시지는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응답은 그리지 않는다. 비동기일 때만 열린 화살촉으로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967163"/>
                <a:gridCol w="1898469"/>
                <a:gridCol w="4440168"/>
              </a:tblGrid>
              <a:tr h="482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승인을 요청하고, 재고 차감·배송·입금·영수증을 외부에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457200" y="3645702"/>
            <a:ext cx="8229600" cy="2465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도메인 객체의 상호작용으로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상태를 바꾸지 않아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398954" y="3037927"/>
            <a:ext cx="6346092" cy="2758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항목이 상품의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확정한다.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사건으로 일어나는 모습이다.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1423914" y="3270459"/>
            <a:ext cx="6296172" cy="321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273001" y="2275365"/>
            <a:ext cx="8597998" cy="3641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누가 요청하는지는 분석의 판단이며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도메인 객체의 상호작용으로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359508" y="2449184"/>
            <a:ext cx="8424985" cy="3293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75431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프레임을 쓰지 않는다.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출고 중단의 결과에 따라 상호작용이 갈린다.</a:t>
            </a:r>
          </a:p>
        </p:txBody>
      </p:sp>
      <p:pic>
        <p:nvPicPr>
          <p:cNvPr id="9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178193" y="1879600"/>
            <a:ext cx="6787614" cy="44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67691"/>
          <a:ext cx="8305800" cy="3873500"/>
        </p:xfrm>
        <a:graphic>
          <a:graphicData uri="http://schemas.openxmlformats.org/drawingml/2006/table">
            <a:tbl>
              <a:tblPr/>
              <a:tblGrid>
                <a:gridCol w="1428934"/>
                <a:gridCol w="2670405"/>
                <a:gridCol w="4206461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요청한다, 1.1 *[주문 항목마다]: 재고를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87573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3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2207768" y="1842998"/>
            <a:ext cx="4714875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2656" y="3201898"/>
          <a:ext cx="524510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120900"/>
                <a:gridCol w="19532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강조점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 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순서, 조건·반복 조각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누구와 연결되는가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고르는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흐름이 핵심일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구조가 핵심일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시퀀스」을 커뮤니케이션 다이어그램으로 다시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pic>
        <p:nvPicPr>
          <p:cNvPr id="14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98982" y="1842998"/>
            <a:ext cx="8532446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모델이다("03.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618188"/>
          <a:ext cx="8305800" cy="3873500"/>
        </p:xfrm>
        <a:graphic>
          <a:graphicData uri="http://schemas.openxmlformats.org/drawingml/2006/table">
            <a:tbl>
              <a:tblPr/>
              <a:tblGrid>
                <a:gridCol w="2064707"/>
                <a:gridCol w="1682808"/>
                <a:gridCol w="4558285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상황을 이름으로 쓴다(결제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효과. 사건이 일어나고 가드가 참이면 전이하며 효과가 일어난다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923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1945830" y="1842998"/>
            <a:ext cx="52387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300404" y="4106779"/>
            <a:ext cx="8543192" cy="123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754313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다른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시스템도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전이가 없는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규칙이다. 상태 기계에 없는 전이는 일어날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대기·배송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회차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시간 이벤트로 결제가 승인되고, 고객의 요청으로 건너뛸 수 있다.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1794669" y="3444240"/>
            <a:ext cx="5554661" cy="286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계약의 사후조건을 정적 모델 요소로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참여자와 링크가 정적 모델의 개념·연관에 있는지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상태 값이 정적 모델의 속성 값과 같은지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불변 조건이 정적 모델의 제약과 모순되지 않는지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모델과 요구로 되돌린다.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895135"/>
                <a:gridCol w="2505419"/>
                <a:gridCol w="2558215"/>
                <a:gridCol w="234703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사후조건을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567751"/>
                <a:gridCol w="1430891"/>
                <a:gridCol w="3307158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참여자·링크·메시지를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유스케이스"·"03.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정기배송 사례를 이어서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“정기배송 고객에게 다음 배송을 건너뛸 수 있는 버튼을 만들어 주세요.”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(조건: 48시간 전까지만 가능, 연속 2회 초과 불가, 결제 승인 건 별도 처리, 다음 배송일 안내 필요)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「정기배송을 관리한다」의 활동 다이어그램과 건너뛰기 시나리오의 SSD를 그린다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건너뛰기의 도메인 객체 상호작용을 시퀀스 다이어그램으로 그린다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회차의 상태 기계를 그린다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(시간 이벤트 포함)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(4)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정적 모델과 교차검토해 누락·모순을 찾는다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개인 작성 → 소그룹 비교 → 교차검토 결과 공유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 기준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SSD에 시스템 안의 객체를 넣지 않고, 시스템의 책임은 업무 결과로 썼는가?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상호작용 참여자가 도메인 객체인가?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48시간·연속 2회 조건을 가드로 표현했는가?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시간 이벤트를 사건으로 다뤘는가?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모델에 없는 개념·상태를 찾아 되돌렸는가?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검토 예는 유일한 정답이 아니다. 앞의 사례와 같은 전제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(결제 전·마감 전·연속 제한에 걸리지 않는 고객 본인의 회차)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유지한다.</a:t>
            </a:r>
          </a:p>
        </p:txBody>
      </p:sp>
      <p:pic>
        <p:nvPicPr>
          <p:cNvPr id="9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1633415" y="2474340"/>
            <a:ext cx="5877169" cy="324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연속 2회를 판단하려면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직전 회차의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알아야 한다. 결제 승인됨 상태에서의 건너뛰기는 전이가 없다 → 요구에 되묻는다.</a:t>
            </a:r>
          </a:p>
        </p:txBody>
      </p:sp>
      <p:pic>
        <p:nvPicPr>
          <p:cNvPr id="9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2307012" y="1879600"/>
            <a:ext cx="4529977" cy="44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상호작용과 상태 변화를 동적 모델로 확인하고, 정적 모델과 서로 검증했다.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16015</TotalTime>
  <Words>2142</Words>
  <Application>Microsoft Macintosh PowerPoint</Application>
  <PresentationFormat>화면 슬라이드 쇼(4:3)</PresentationFormat>
  <Paragraphs>347</Paragraphs>
  <Slides>65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65</vt:i4>
      </vt:variant>
    </vt:vector>
  </HeadingPairs>
  <TitlesOfParts>
    <vt:vector size="69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 (1/2)</vt:lpstr>
      <vt:lpstr>14. 활동 다이어그램 (2/2)</vt:lpstr>
      <vt:lpstr>15. 유스케이스와 활동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 (1/2)</vt:lpstr>
      <vt:lpstr>19. 시퀀스 다이어그램 (2/2)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(1/2)</vt:lpstr>
      <vt:lpstr>26. 주문 취소 시퀀스 (2/2)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커뮤니케이션 다이어그램</vt:lpstr>
      <vt:lpstr>31. 상태 상태 기계 다이어그램</vt:lpstr>
      <vt:lpstr>32. 상태 기계 다이어그램</vt:lpstr>
      <vt:lpstr>33. 주문 상태 기계</vt:lpstr>
      <vt:lpstr>34. 출고와 배송 시작 상태 기계 다이어그램</vt:lpstr>
      <vt:lpstr>35. 가드와 금지된 전이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모델의 한계</vt:lpstr>
      <vt:lpstr>52. 실습 — 동적 모델 (1/2)</vt:lpstr>
      <vt:lpstr>52. 실습 — 동적 모델 (2/2)</vt:lpstr>
      <vt:lpstr>53. 실습 — 검토 예시 (1/2)</vt:lpstr>
      <vt:lpstr>53. 실습 — 검토 예시 (2/2)</vt:lpstr>
      <vt:lpstr>54.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