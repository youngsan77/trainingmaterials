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  <p:sldId id="299" r:id="javaLecture44"/>
    <p:sldId id="300" r:id="javaLecture45"/>
    <p:sldId id="301" r:id="javaLecture46"/>
    <p:sldId id="302" r:id="javaLecture47"/>
    <p:sldId id="303" r:id="javaLecture48"/>
    <p:sldId id="304" r:id="javaLecture49"/>
    <p:sldId id="305" r:id="javaLecture50"/>
    <p:sldId id="306" r:id="javaLecture51"/>
    <p:sldId id="307" r:id="javaLecture52"/>
    <p:sldId id="308" r:id="javaLecture53"/>
    <p:sldId id="309" r:id="javaLecture54"/>
    <p:sldId id="310" r:id="javaLecture55"/>
    <p:sldId id="311" r:id="javaLecture56"/>
    <p:sldId id="312" r:id="javaLecture57"/>
    <p:sldId id="313" r:id="javaLecture58"/>
    <p:sldId id="314" r:id="javaLecture59"/>
    <p:sldId id="315" r:id="javaLecture60"/>
    <p:sldId id="316" r:id="javaLecture61"/>
    <p:sldId id="317" r:id="javaLecture62"/>
    <p:sldId id="318" r:id="javaLecture63"/>
    <p:sldId id="319" r:id="javaLecture64"/>
    <p:sldId id="320" r:id="javaLecture65"/>
    <p:sldId id="321" r:id="javaLecture66"/>
    <p:sldId id="322" r:id="javaLecture67"/>
    <p:sldId id="323" r:id="javaLecture68"/>
    <p:sldId id="324" r:id="javaLecture69"/>
    <p:sldId id="325" r:id="javaLecture70"/>
    <p:sldId id="326" r:id="javaLecture7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Relationship Id="javaLecture44" Type="http://schemas.openxmlformats.org/officeDocument/2006/relationships/slide" Target="slides/slide44.xml"/><Relationship Id="javaLecture45" Type="http://schemas.openxmlformats.org/officeDocument/2006/relationships/slide" Target="slides/slide45.xml"/><Relationship Id="javaLecture46" Type="http://schemas.openxmlformats.org/officeDocument/2006/relationships/slide" Target="slides/slide46.xml"/><Relationship Id="javaLecture47" Type="http://schemas.openxmlformats.org/officeDocument/2006/relationships/slide" Target="slides/slide47.xml"/><Relationship Id="javaLecture48" Type="http://schemas.openxmlformats.org/officeDocument/2006/relationships/slide" Target="slides/slide48.xml"/><Relationship Id="javaLecture49" Type="http://schemas.openxmlformats.org/officeDocument/2006/relationships/slide" Target="slides/slide49.xml"/><Relationship Id="javaLecture50" Type="http://schemas.openxmlformats.org/officeDocument/2006/relationships/slide" Target="slides/slide50.xml"/><Relationship Id="javaLecture51" Type="http://schemas.openxmlformats.org/officeDocument/2006/relationships/slide" Target="slides/slide51.xml"/><Relationship Id="javaLecture52" Type="http://schemas.openxmlformats.org/officeDocument/2006/relationships/slide" Target="slides/slide52.xml"/><Relationship Id="javaLecture53" Type="http://schemas.openxmlformats.org/officeDocument/2006/relationships/slide" Target="slides/slide53.xml"/><Relationship Id="javaLecture54" Type="http://schemas.openxmlformats.org/officeDocument/2006/relationships/slide" Target="slides/slide54.xml"/><Relationship Id="javaLecture55" Type="http://schemas.openxmlformats.org/officeDocument/2006/relationships/slide" Target="slides/slide55.xml"/><Relationship Id="javaLecture56" Type="http://schemas.openxmlformats.org/officeDocument/2006/relationships/slide" Target="slides/slide56.xml"/><Relationship Id="javaLecture57" Type="http://schemas.openxmlformats.org/officeDocument/2006/relationships/slide" Target="slides/slide57.xml"/><Relationship Id="javaLecture58" Type="http://schemas.openxmlformats.org/officeDocument/2006/relationships/slide" Target="slides/slide58.xml"/><Relationship Id="javaLecture59" Type="http://schemas.openxmlformats.org/officeDocument/2006/relationships/slide" Target="slides/slide59.xml"/><Relationship Id="javaLecture60" Type="http://schemas.openxmlformats.org/officeDocument/2006/relationships/slide" Target="slides/slide60.xml"/><Relationship Id="javaLecture61" Type="http://schemas.openxmlformats.org/officeDocument/2006/relationships/slide" Target="slides/slide61.xml"/><Relationship Id="javaLecture62" Type="http://schemas.openxmlformats.org/officeDocument/2006/relationships/slide" Target="slides/slide62.xml"/><Relationship Id="javaLecture63" Type="http://schemas.openxmlformats.org/officeDocument/2006/relationships/slide" Target="slides/slide63.xml"/><Relationship Id="javaLecture64" Type="http://schemas.openxmlformats.org/officeDocument/2006/relationships/slide" Target="slides/slide64.xml"/><Relationship Id="javaLecture65" Type="http://schemas.openxmlformats.org/officeDocument/2006/relationships/slide" Target="slides/slide65.xml"/><Relationship Id="javaLecture66" Type="http://schemas.openxmlformats.org/officeDocument/2006/relationships/slide" Target="slides/slide66.xml"/><Relationship Id="javaLecture67" Type="http://schemas.openxmlformats.org/officeDocument/2006/relationships/slide" Target="slides/slide67.xml"/><Relationship Id="javaLecture68" Type="http://schemas.openxmlformats.org/officeDocument/2006/relationships/slide" Target="slides/slide68.xml"/><Relationship Id="javaLecture69" Type="http://schemas.openxmlformats.org/officeDocument/2006/relationships/slide" Target="slides/slide69.xml"/><Relationship Id="javaLecture70" Type="http://schemas.openxmlformats.org/officeDocument/2006/relationships/slide" Target="slides/slide70.xml"/><Relationship Id="javaLecture71" Type="http://schemas.openxmlformats.org/officeDocument/2006/relationships/slide" Target="slides/slide7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45.xml.rels><?xml version="1.0" encoding="UTF-8"?>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46.xml.rels><?xml version="1.0" encoding="UTF-8"?>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</Relationships>
</file>

<file path=ppt/notesSlides/_rels/notesSlide48.xml.rels><?xml version="1.0" encoding="UTF-8"?>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</Relationships>
</file>

<file path=ppt/notesSlides/_rels/notesSlide49.xml.rels><?xml version="1.0" encoding="UTF-8"?>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</Relationships>
</file>

<file path=ppt/notesSlides/_rels/notesSlide50.xml.rels><?xml version="1.0" encoding="UTF-8"?>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</Relationships>
</file>

<file path=ppt/notesSlides/_rels/notesSlide51.xml.rels><?xml version="1.0" encoding="UTF-8"?>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</Relationships>
</file>

<file path=ppt/notesSlides/_rels/notesSlide52.xml.rels><?xml version="1.0" encoding="UTF-8"?>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53.xml.rels><?xml version="1.0" encoding="UTF-8"?>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54.xml.rels><?xml version="1.0" encoding="UTF-8"?>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</Relationships>
</file>

<file path=ppt/notesSlides/_rels/notesSlide55.xml.rels><?xml version="1.0" encoding="UTF-8"?>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</Relationships>
</file>

<file path=ppt/notesSlides/_rels/notesSlide56.xml.rels><?xml version="1.0" encoding="UTF-8"?>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</Relationships>
</file>

<file path=ppt/notesSlides/_rels/notesSlide57.xml.rels><?xml version="1.0" encoding="UTF-8"?>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</Relationships>
</file>

<file path=ppt/notesSlides/_rels/notesSlide58.xml.rels><?xml version="1.0" encoding="UTF-8"?>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</Relationships>
</file>

<file path=ppt/notesSlides/_rels/notesSlide59.xml.rels><?xml version="1.0" encoding="UTF-8"?>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</Relationships>
</file>

<file path=ppt/notesSlides/_rels/notesSlide60.xml.rels><?xml version="1.0" encoding="UTF-8"?>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</Relationships>
</file>

<file path=ppt/notesSlides/_rels/notesSlide61.xml.rels><?xml version="1.0" encoding="UTF-8"?>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</Relationships>
</file>

<file path=ppt/notesSlides/_rels/notesSlide62.xml.rels><?xml version="1.0" encoding="UTF-8"?>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</Relationships>
</file>

<file path=ppt/notesSlides/_rels/notesSlide63.xml.rels><?xml version="1.0" encoding="UTF-8"?>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</Relationships>
</file>

<file path=ppt/notesSlides/_rels/notesSlide65.xml.rels><?xml version="1.0" encoding="UTF-8"?>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</Relationships>
</file>

<file path=ppt/notesSlides/_rels/notesSlide66.xml.rels><?xml version="1.0" encoding="UTF-8"?>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</Relationships>
</file>

<file path=ppt/notesSlides/_rels/notesSlide67.xml.rels><?xml version="1.0" encoding="UTF-8"?>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</Relationships>
</file>

<file path=ppt/notesSlides/_rels/notesSlide68.xml.rels><?xml version="1.0" encoding="UTF-8"?>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</Relationships>
</file>

<file path=ppt/notesSlides/_rels/notesSlide69.xml.rels><?xml version="1.0" encoding="UTF-8"?>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</Relationships>
</file>

<file path=ppt/notesSlides/_rels/notesSlide70.xml.rels><?xml version="1.0" encoding="UTF-8"?>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</Relationships>
</file>

<file path=ppt/notesSlides/_rels/notesSlide71.xml.rels><?xml version="1.0" encoding="UTF-8"?>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관계"가 무엇이 존재하는가를 다뤘다면, 이 세션은 무엇이 일어나는가를 다룬다. 설계 객체 사이의 책임과 협력은 "07. 책임·협력·계약"에서 다룬다.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학습을 위해 요구 분석("02. 요구 분석과 유스케이스")과 정적·동적 분석을 세션으로 나눴지만, 실제로는 요구와 분석을 나누지 않고 함께 반복한다. 질문은 "03. 정적 모델 — 도메인 개념과 관계"의 「57. 누락과 모순」과 「58. 정적 모델의 한계」에서 남긴 것이다. 사례의 전제(결제 완료·배송 시작 전 전체 취소, 출고 전 배송지 변경)는 그대로 유지한다.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[UML 2.5.1](https://www.omg.org/spec/UML/2.5.1/PDF), §6.3.1. "02. 요구 분석과 유스케이스"에서 요구의 공통 단위로 본 이벤트가 동적 모델의 출발점이다.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Scott W. Ambler, [The Principles of Agile Modeling](https://agilemodeling.com/principles.htm), "Multiple Models"(게시 연도 미표기).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David Harel, "Statecharts: A Visual Formalism for Complex Systems", *Science of Computer Programming*, 1987, [논문 PDF](https://dubroy.com/refs/Statecharts_a_visual_formalism_for_complex_systems.pdf) §1.</a:t>
            </a:r>
          </a:p>
          <a:p>
            <a:pPr lvl="0"/>
            <a:r>
              <a:rPr lang="ko-KR" sz="1200"/>
              <a:t>표의 상호작용과 상태는 이 세션 뒤에서 모델로 확인할 교육용 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시간 흐름이 핵심이면 시퀀스, 참여자 연결이 핵심이면 커뮤니케이션을 고른다. 두 다이어그램은 같은 상호작용의 의미를 공유한다.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분석의 메시지는 "누가 누구에게 무엇을 알리거나 요청하는가"라는 업무 의미다. 어느 객체가 그 책임을 최종적으로 지는지는 설계에서 다시 결정한다. 분석의 상호작용을 설계에 그대로 옮기지 않는다("06. 분석 모델에서 설계 모델로").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어느 프로세스든 "정적 모델과 동적 모델이 서로를 검증한다"는 원칙은 같다. 달라지는 것은 분석 단계에서 그 검증을 얼마나 문서화된 모델로 남기느냐다. 통합 프로세스에서는 설계와 테스트가 그 검증을 이어받는다.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출처: "02. 요구 분석과 유스케이스"의 「44. 정제된 SSD」. 표기(외부 시스템, 동기·비동기 요청)도 그 topic에서 소개했다. "03. 정적 모델 — 도메인 개념과 관계"를 거치며 용어(장바구니, 배송)가 개념으로 확인되었다.</a:t>
            </a:r>
          </a:p>
          <a:p>
            <a:pPr lvl="0"/>
            <a:r>
              <a:rPr lang="ko-KR" sz="1200"/>
              <a:t>요구 산출물을 다시 그리는 것이 아니다. 분석의 입력으로 다시 보는 것이다. 분석에서 발견한 것은 이 SSD와 계약, 명세서에 되돌린다(「43. 누락과 모순」).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결제 계약의 출처는 "02. 요구 분석과 유스케이스"의 「45. 시스템 오퍼레이션과 계약」이다. 사전조건이 참인 호출의 정상 완료에서 사후조건이 성립한다는 계약 의미는 OMG [UML 2.5.1](https://www.omg.org/spec/UML/2.5.1/PDF), §9.6.3.1에 근거한다.</a:t>
            </a:r>
          </a:p>
          <a:p>
            <a:pPr lvl="0"/>
            <a:r>
              <a:rPr lang="ko-KR" sz="1200"/>
              <a:t>명세서의 취소 결과("주문이 취소 상태")와 달리 계약의 끝 상태는 취소 처리 중이다. 환불이 비동기라 즉시 끝나지 않는다는 사실은 「26. 주문 취소 시퀀스」에서 드러났다. 이 차이는 명세서의 결과로 되돌린다.</a:t>
            </a:r>
          </a:p>
          <a:p>
            <a:pPr lvl="0"/>
            <a:r>
              <a:rPr lang="ko-KR" sz="1200"/>
              <a:t>두 계약 모두 성공 계약이다. 결제 실패·출고 중단 거절·환불 실패는 포함하지 않는다.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UML 2.5.1, §17.12.11.1 "Interaction". 네 다이어그램의 정의는 같은 표준의 Chapter 15 Activities, Chapter 17 Interactions(시퀀스·커뮤니케이션), Chapter 14 StateMachines를 이 과정의 말로 요약한 것이다.</a:t>
            </a:r>
          </a:p>
          <a:p>
            <a:pPr lvl="0"/>
            <a:r>
              <a:rPr lang="ko-KR" sz="1200"/>
              <a:t>시퀀스와 커뮤니케이션은 같은 상호작용을 다르게 그린 상호작용 다이어그램이다. 이 세션은 활동 → 시퀀스 → 커뮤니케이션 → 상태 기계 순으로 다룬다.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UML 2.5.1, §17.1.1 "Overview". 같은 절은 상호작용이 이후 상세 설계에서 정밀한 통신을 정할 때도 쓰인다고 설명한다. 분석에서는 앞의 용도가 중심이다.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이것이 「08. 프로세스와 동적 분석」에서 말한 "동적 분석 없이는 정적 분석이 제대로 될 수 없다"의 구체적인 모습이다. 예는 뒤의 시퀀스 다이어그램들에서 하나씩 확인하고, 「43. 누락과 모순」에서 종합한다.</a:t>
            </a:r>
          </a:p>
          <a:p>
            <a:pPr lvl="0"/>
            <a:r>
              <a:rPr lang="ko-KR" sz="1200"/>
              <a:t>발견은 별도 문서가 아니라 원래 산출물을 고쳐 반영한다. "03. 정적 모델 — 도메인 개념과 관계"가 남긴 "출고 전을 누가 판단하는가"도 여기서 답을 얻는다 — 주문 시스템이 배송 시스템에 묻는다.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표기 기준: 저장소 references/sw-engineering/uml/activity.md. 흐름의 화살표는 행동 사이의 제어 흐름이며, 업무 순서도의 선과 같지 않다.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흐름은 "02. 요구 분석과 유스케이스"의 「33. 유스케이스 상세화」와 같다. 행동의 주체는 행동 이름에 적었다. 책임자를 레인으로 나누는 표기는 「16. 업무 흐름」에서 보인다. 가드는 대안 흐름의 조건이다. 결제 실패·환불 실패는 이 그림의 범위 밖이다.</a:t>
            </a:r>
          </a:p>
          <a:p>
            <a:pPr lvl="0"/>
            <a:r>
              <a:rPr lang="ko-KR" sz="1200"/>
              <a:t>주문 취소 활동의 두 결정은 코드의 두 if다. 코드는 모두 code/s04/주문생애.java에서 발췌했으며, 그 파일을 컴파일·실행해 확인한다. "이미 출고됨"에서 거절하는 것은 교육용 가정이다(「27. 시퀀스 다이어그램 조각」).</a:t>
            </a:r>
          </a:p>
          <a:p>
            <a:pPr lvl="0"/>
            <a:r>
              <a:rPr lang="ko-KR" sz="1200"/>
              <a:t>"결제 완료인가? — 아니요"의 거절 중 배송 시작 이후는 확인된 규칙이고, 결제 대기의 취소는 미정이다. 코드는 확인된 경로만 구현했을 뿐 결제 대기의 처리를 정한 것이 아니다(「35. 가드와 금지된 전이」).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결제 승인 거절 경로는 생략했다. 레인은 시스템 단위로 나눴다. 사람(배송 담당자)의 행동은 배송 시스템 레인 안에 있다.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각 이벤트는 상태 기계의 전이와 대응한다. 이벤트를 과거형("배송이 시작되었다")으로 쓰면 도메인 이벤트의 표현과 같다. 시스템 사이의 이벤트 기반 설계로의 확장은 "13. OOAD에서 전문영역으로 — Architecture · DDD · MSA"에서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"주문" 경로의 SSD는 「09. 정제된 SSD」다. 모든 경로에 SSD를 그리지 않는다. 규칙·예외가 많은 경로를 고른다.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"02. 요구 분석과 유스케이스"는 SSD에 필요한 표기만 제한적으로 소개했다. 여기서는 전체 표기를 다룬다. 표기 기준: OMG UML 2.5.1, §17.8; 저장소 references/sw-engineering/uml/sequence.md. 응답 화살표는 UML에서 선택 사항이다. 동기 호출의 응답을 모두 그리면 그림만 복잡해진다.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상품을 조회한다는 상태를 바꾸지 않아 상호작용을 그리지 않는다. 분석에서는 컨트롤러·서비스가 첫 메시지를 받지 않는다. 설계에서는 첫 메시지를 응용 서비스 같은 설계 객체가 받을 수 있다("07. 책임·협력·계약"). 분석에서는 어떤 개념이 사건의 중심인지 확인하는 것이 목적이다.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생명선·메시지·상태의 이름은 용어집의 한글 용어를 쓴다. 영문 이름(Order)은 설계에서 쓴다 — "05. 구조적 경계와 의존성".</a:t>
            </a:r>
          </a:p>
          <a:p>
            <a:pPr lvl="0"/>
            <a:r>
              <a:rPr lang="ko-KR" sz="1200"/>
              <a:t>도식은 "03. 정적 모델 — 도메인 개념과 관계"의 「45. 도메인 모델 — 상세화」에서 속성을 뺀 것이다. 시퀀스 다이어그램을 그릴 때 이 도식을 옆에 두고 대조한다.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이것이 동적 모델이 정적 모델의 연관을 검증하는 가장 직접적인 방법이다.</a:t>
            </a:r>
          </a:p>
          <a:p>
            <a:pPr lvl="0"/>
            <a:r>
              <a:rPr lang="ko-KR" sz="1200"/>
              <a:t>장바구니 → 주문은 주문을 만드는 순간에만 필요한 연결이다. 만든 뒤에도 기억해야 하는 관계가 아니면 연관으로 두지 않는다. 판단의 근거를 기록해 둔다.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장바구니 항목과 주문 항목의 차이는 "03. 정적 모델 — 도메인 개념과 관계"의 「36. 같은 구조, 다른 의미」다. 상품 정보의 원천은 상품 시스템이며, :상품은 주문 시스템이 가진 상품 정보다.</a:t>
            </a:r>
          </a:p>
          <a:p>
            <a:pPr lvl="0"/>
            <a:r>
              <a:rPr lang="ko-KR" sz="1200"/>
              <a:t>같은 상품을 다시 담으면 수량을 합치는가? 상호작용을 그리면서 생긴 요구 질문이다.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현재 값과 확정 값은 "03. 정적 모델 — 도메인 개념과 관계"에서 정했다. 분석이 확인하는 것은 언제 주문이 성립하고 단가가 확정되는가다. 누가 만들고 확정하는지는 이해를 돕는 배치 예이며, 설계에서 책임으로 다시 결정한다("07. 책임·협력·계약").</a:t>
            </a:r>
          </a:p>
          <a:p>
            <a:pPr lvl="0"/>
            <a:r>
              <a:rPr lang="ko-KR" sz="1200"/>
              <a:t>결제가 실패하면 비워진 장바구니를 되살리는가? 요구 질문으로 남긴다.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성공 경로다. 승인 거절은 alt로 그릴 수 있다(「27. 시퀀스 다이어그램 조각」).</a:t>
            </a:r>
          </a:p>
          <a:p>
            <a:pPr lvl="0"/>
            <a:r>
              <a:rPr lang="ko-KR" sz="1200"/>
              <a:t>재고 확보 시점은 요구 질문이다. 답이 정해지면 "02. 요구 분석과 유스케이스"의 명세서 규칙과 정제된 SSD의 순서를 고친다.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성공 경로다. 결제 완료·배송 시작 전 주문의 전체 취소라는 전제를 유지한다.</a:t>
            </a:r>
          </a:p>
          <a:p>
            <a:pPr lvl="0"/>
            <a:r>
              <a:rPr lang="ko-KR" sz="1200"/>
              <a:t>발견한 순서·예외·중간 상태는 "02. 요구 분석과 유스케이스"의 명세서(대안 흐름 1a, 예외 흐름)와 정제된 SSD, 「10. 계약의 정제」에 되돌린다.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alt의 "이미 출고됨" 칸은 「26. 주문 취소 시퀀스」에서 발견한 예외다. 출고 후 취소를 거절한다는 것은 교육용 가정이며, 실제 규칙은 「34. 출고와 배송 시작」의 질문으로 남아 있다.</a:t>
            </a:r>
          </a:p>
          <a:p>
            <a:pPr lvl="0"/>
            <a:r>
              <a:rPr lang="ko-KR" sz="1200"/>
              <a:t>loop는 「09. 정제된 SSD」의 [상품마다]와 「24. 주문 생성 시퀀스」의 [장바구니 항목마다]에서 이미 썼다.</a:t>
            </a:r>
          </a:p>
          <a:p>
            <a:pPr lvl="0"/>
            <a:r>
              <a:rPr lang="ko-KR" sz="1200"/>
              <a:t>서로 배타적인 대안을 opt 여러 개나 par로 그리지 않는다. 조각을 두 단계 이상 겹치면 그림을 나눈다.</a:t>
            </a:r>
          </a:p>
          <a:p>
            <a:pPr lvl="0"/>
            <a:r>
              <a:rPr lang="ko-KR" sz="1200"/>
              <a:t>표기 기준: OMG UML 2.5.1, §17.6; 저장소 references/sw-engineering/uml/sequence.md.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표기 기준: 저장소 references/sw-engineering/uml/communication.md; OMG UML 2.5.1, §17.9 Communication Diagrams(메시지 번호의 조건 [ ]과 반복 *). 메시지 번호 없이 객체만 연결한 그림은 커뮤니케이션 다이어그램이 아니다.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순서와 흐름이 핵심이면 시퀀스, 참여자 구조가 핵심이면 커뮤니케이션을 고른다. 시퀀스는 조건·반복 조각(「27. 시퀀스 다이어그램 조각」)을 쓰고, 커뮤니케이션은 번호의 [조건]·*로 대신한다.</a:t>
            </a:r>
          </a:p>
          <a:p>
            <a:pPr lvl="0"/>
            <a:r>
              <a:rPr lang="ko-KR" sz="1200"/>
              <a:t>같은 상호작용을 두 다이어그램으로 모두 그릴 필요는 없다. 질문에 맞는 하나를 고른다.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커뮤니케이션 다이어그램을 최종 객체 구조나 연관의 정본으로 쓰지 않는다(저장소 references/sw-engineering/uml/communication.md). 연관으로 둘지는 정적 모델에서 판단한다.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UML 2.5.1, §14.5.9.1 "State". 상태의 불변 조건이 정적 모델의 제약과 연결된다는 점은 「38. 상태와 불변 조건」에서 다시 다룬다.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표기 기준: OMG UML 2.5.1, §14.2.4; 저장소 references/sw-engineering/uml/state-machine.md. 분석에서는 효과를 업무 결과로 쓴다. 진입·이탈 행위는 필요할 때만 쓴다.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상태 목록과 전이는 교육용 가정이다. "03. 정적 모델 — 도메인 개념과 관계"의 주문 상태 값(결제 대기·결제 완료·배송 중·배송 완료·취소됨)에 취소 처리 중이 더해졌다. 이 차이는 「41. 상태와 정적 모델」에서 정적 모델로 되돌린다.</a:t>
            </a:r>
          </a:p>
          <a:p>
            <a:pPr lvl="0"/>
            <a:r>
              <a:rPr lang="ko-KR" sz="1200"/>
              <a:t>결제의 배송 요청은 주문 상태를 바꾸지 않는다. 결제 실패·배송 실패·출고 중단 거절·부분 취소는 이 모델의 범위 밖이다.</a:t>
            </a:r>
          </a:p>
          <a:p>
            <a:pPr lvl="0"/>
            <a:r>
              <a:rPr lang="ko-KR" sz="1200"/>
              <a:t>새 상태 취소 처리 중은 용어집에도 더한다("02. 요구 분석과 유스케이스"의 「18. 용어집」). 동적 모델이 찾은 이름을 용어집에 되돌리지 않으면 모델마다 다른 이름이 생긴다.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관계"는 두 표현이 같은지와 출고를 누가 아는지를 질문으로 남겼다. 판단 주체가 다르다는 것은 공통 전제이고, 두 경계의 선후는 이 topic의 교육용 가정이다. 동적 모델은 그 가정 아래 드러나는 새로운 요구 질문을 보여준다. 실제 관계는 업무 담당자에게 확인한다. 답이 정해지면 "02. 요구 분석과 유스케이스"의 규칙과 계약을 고친다.</a:t>
            </a:r>
          </a:p>
          <a:p>
            <a:pPr lvl="0"/>
            <a:r>
              <a:rPr lang="ko-KR" sz="1200"/>
              <a:t>용어집은 두 용어를 처음부터 다른 용어로 정의했다(출고 dispatch, 배송 시작 deliveryStarted). 같다는 증거가 나오기 전에는 하나로 합치지 않는다.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금지된 사건에 대한 외부 응답(예: 취소 불가 안내)은 유스케이스의 대안·예외 흐름이다. 상태 기계는 "일어날 수 없다"를, 유스케이스는 "그때 고객에게 무엇을 보여주는가"를 담당한다.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배송 회차는 시간 이벤트로 결제를 요청하고, 고객의 요청으로 건너뛸 수 있다. 시간이 된 사실과 외부 결제가 승인된 사실은 다른 사건이며, 그림은 승인 성공 경로만 보인다.</a:t>
            </a:r>
          </a:p>
          <a:p>
            <a:pPr lvl="0"/>
            <a:r>
              <a:rPr lang="ko-KR" sz="1200"/>
              <a:t>"예정일 2일 전"은 교육용 가정이다. 48시간 조건은 "02. 요구 분석과 유스케이스"의 실습 조건을 가드로 옮긴 것이다. 두 사건이 가까운 시점에 겹치면 어느 쪽이 먼저인지는 요구로 확인한다.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Harel, 1987, §1. Harel의 상태 차트는 계층·병행·통신으로 이 문제를 줄인다. 이 과정에서는 계층(상위 상태)까지만 개념으로 소개한다.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관계"의 「39. 제약」과 「30. 다중성과 업무 규칙」에 연결된다. 환불 상태(승인 전·완료)는 상태 기계가 드러낸 새 속성이다.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관계"의 「56. 시나리오 교차검토」가 요구 문장을 모델에 댔다면, 이 절차는 동적 모델을 모델에 댄다.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외부 시스템이 소유한 결과(재고, 입금, 영수증)는 주문 시스템의 정적 모델로 설명하지 않는다. 계약이 "요청했다"로 쓰인 이유다.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출고 관련 상태를 배송 시스템에 두면 주문 상태 기계는 단순해진다. 주문 시스템의 배송 개념은 필요한 만큼(배송 상태)만 기억한다. 어느 쪽에 둘지는 업무 규칙이 어느 개념·시스템에 걸리는지로 판단한다.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메시지 자체를 정적 모델의 오퍼레이션으로 옮기지 않는다. 어떤 객체가 어떤 책임을 가질지는 "07. 책임·협력·계약"에서 정한다.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발견한 누락은 모델만의 문제가 아니라 요구의 누락일 수 있다. "02. 요구 분석과 유스케이스"의 「09. 반복적 접근」처럼 요구·정적 모델·동적 모델을 함께 고친다.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Scott W. Ambler, [Just Barely Good Enough Models and Documents](https://agilemodeling.com/essays/barelygoodenough.htm)(게시 연도 미표기).</a:t>
            </a:r>
          </a:p>
          <a:p>
            <a:pPr lvl="0"/>
            <a:r>
              <a:rPr lang="ko-KR" sz="1200"/>
              <a:t>「08. 프로세스와 동적 분석」과 함께 본다. 분석을 독립 단계로 두면 "충분한 만큼"의 기준이 더 높아진다. 모델링의 추가 비용과 위험 감소 판단은 "11. 통합 설계와 적정 모델링"에서 다룬다.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설계에서는 오른쪽 열의 설계 객체와 오퍼레이션이 정상이다("07. 책임·협력·계약"). 문제는 분석 단계에 섞이는 것이다.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「08. 프로세스와 동적 분석」의 판단을 잘못된 예로 되짚는다. 분석과 설계를 통합하는 프로세스라면 이 검증을 설계의 상호작용과 테스트가 이어받아야 한다.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「44. 적정 동적 모델링」의 기준을 잘못된 예로 되짚는다.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저장소 기준(references/sw-engineering/uml/activity.md)은 책임과 행동·제어 의미가 없는 순서도 대용으로 활동 다이어그램을 쓰지 말라고 정한다.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플래그 여러 개는 "결제되지 않았는데 출고됨"처럼 불가능한 조합을 허용한다. 상태 기계는 가능한 상태와 전이만 허용한다.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"02. 요구 분석과 유스케이스"에서 정의하고 "03. 정적 모델 — 도메인 개념과 관계"의 「42. 용어집 정제」에서 정제한 용어집이 모든 모델의 기준이다. 설계부터는 같은 용어집의 영문명을 쓴다.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예는 「15. 유스케이스와 활동」, 「26. 주문 취소 시퀀스」, 「30. 링크와 연관」, 「33. 주문 상태 기계」, 「35. 가드와 금지된 전이」에 있다.</a:t>
            </a:r>
          </a:p>
          <a:p>
            <a:pPr lvl="0"/>
            <a:r>
              <a:rPr lang="ko-KR" sz="1200"/>
              <a:t>"01. OOAD 개요"의 다섯 다이어그램 코드, "02. 요구 분석과 유스케이스"의 SSD·계약 코드, "03. 정적 모델 — 도메인 개념과 관계"의 클래스 다이어그램 코드에 이어 동적 모델까지 다이어그램–코드–테스트를 끝까지 이었다.</a:t>
            </a:r>
          </a:p>
          <a:p>
            <a:pPr lvl="0"/>
            <a:r>
              <a:rPr lang="ko-KR" sz="1200"/>
              <a:t>도메인 객체가 외부 시스템 인터페이스(배송시스템, 결제시스템)를 직접 가진 것은 설계의 결정이다. 분석 모델에 되돌려 그리지 않는다(「45. 잘못된 관행 — 설계 객체 혼입」). 누가 외부와 이야기할지는 "05. 구조적 경계와 의존성"과 "07. 책임·협력·계약"에서 다시 정한다.</a:t>
            </a:r>
          </a:p>
          <a:p>
            <a:pPr lvl="0"/>
            <a:r>
              <a:rPr lang="ko-KR" sz="1200"/>
              <a:t>코드의 enum에는 취소처리중이 있다. 「41. 상태와 정적 모델」에서 정적 모델의 상태 값에 더하기로 한 결과다. 모델과 코드의 상태 값은 한 원천이어야 한다(DRY).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동시성·실패 처리의 기술적 수단은 설계와 구현의 문제지만, 어떤 결과를 보장해야 하는지는 요구다. 동적 모델은 그 질문을 드러내는 데까지 다룬다.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분석의 상호작용은 도메인 객체 사이다. 화면·컨트롤러·저장소는 설계에서 다룬다.</a:t>
            </a:r>
          </a:p>
          <a:p>
            <a:pPr lvl="0"/>
            <a:r>
              <a:rPr lang="ko-KR" sz="1200"/>
              <a:t>LLM은 모든 흐름을 한 시퀀스에 넣거나, 상태 기계를 순서도처럼 그리기 쉽다.</a:t>
            </a: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장바구니 항목·정기배송 항목의 생성은 읽기 쉽도록 생략했다.</a:t>
            </a:r>
          </a:p>
          <a:p>
            <a:pPr lvl="0"/>
            <a:r>
              <a:rPr lang="ko-KR" sz="1200"/>
              <a:t>배송 요청은 비동기다. 배송 시스템이 회차마다 배송한다.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반복은 번호 뒤의 *로, 순서는 번호로 표현한다. 프레임(loop)은 쓰지 않는다.</a:t>
            </a:r>
          </a:p>
          <a:p>
            <a:pPr lvl="0"/>
            <a:r>
              <a:rPr lang="ko-KR" sz="1200"/>
              <a:t>링크가 도메인 모델의 연관과 맞는지 확인하는 것이 커뮤니케이션 다이어그램의 쓸모다.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만료는 시간 이벤트다. 사람이 아니라 시간이 전이를 일으킨다.</a:t>
            </a:r>
          </a:p>
          <a:p>
            <a:pPr lvl="0"/>
            <a:r>
              <a:rPr lang="ko-KR" sz="1200"/>
              <a:t>코드에서는 상태를 enum이나 상태 패턴으로 옮기고, 전이를 한 곳에서 검사한다.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정적 모델만으로는 상태의 주인을 잘못 판단하기 쉽다. 동적 분석이 이를 바로잡는다 — 「41. 상태와 정적 모델」.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주문 시스템이 외부 시스템에 보내는 요청과 받는 통보는 다음 세션에서 의존 방향의 판단(주문 시스템이 배송 시스템을 아는가, 통보를 받는가?)으로 이어진다.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1" Type="http://schemas.openxmlformats.org/officeDocument/2006/relationships/image" Target="../media/svg-1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2" Type="http://schemas.openxmlformats.org/officeDocument/2006/relationships/image" Target="../media/svg-2.png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3" Type="http://schemas.openxmlformats.org/officeDocument/2006/relationships/image" Target="../media/svg-3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7" Type="http://schemas.openxmlformats.org/officeDocument/2006/relationships/image" Target="../media/plantuml-7.png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8" Type="http://schemas.openxmlformats.org/officeDocument/2006/relationships/image" Target="../media/plantuml-8.png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9" Type="http://schemas.openxmlformats.org/officeDocument/2006/relationships/image" Target="../media/plantuml-9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0" Type="http://schemas.openxmlformats.org/officeDocument/2006/relationships/image" Target="../media/plantuml-10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4" Type="http://schemas.openxmlformats.org/officeDocument/2006/relationships/image" Target="../media/svg-4.png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5" Type="http://schemas.openxmlformats.org/officeDocument/2006/relationships/image" Target="../media/svg-5.png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1" Type="http://schemas.openxmlformats.org/officeDocument/2006/relationships/image" Target="../media/plantuml-11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6" Type="http://schemas.openxmlformats.org/officeDocument/2006/relationships/image" Target="../media/svg-6.png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2" Type="http://schemas.openxmlformats.org/officeDocument/2006/relationships/image" Target="../media/plantuml-12.png"/><Relationship Id="speakerNotes43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3" Type="http://schemas.openxmlformats.org/officeDocument/2006/relationships/image" Target="../media/plantuml-13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5" Type="http://schemas.openxmlformats.org/officeDocument/2006/relationships/notesSlide" Target="../notesSlides/notesSlide45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6" Type="http://schemas.openxmlformats.org/officeDocument/2006/relationships/notesSlide" Target="../notesSlides/notesSlide46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4" Type="http://schemas.openxmlformats.org/officeDocument/2006/relationships/image" Target="../media/plantuml-14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5" Type="http://schemas.openxmlformats.org/officeDocument/2006/relationships/image" Target="../media/plantuml-15.png"/><Relationship Id="speakerNotes48" Type="http://schemas.openxmlformats.org/officeDocument/2006/relationships/notesSlide" Target="../notesSlides/notesSlide48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9" Type="http://schemas.openxmlformats.org/officeDocument/2006/relationships/notesSlide" Target="../notesSlides/notesSlide49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0" Type="http://schemas.openxmlformats.org/officeDocument/2006/relationships/notesSlide" Target="../notesSlides/notesSlide50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1" Type="http://schemas.openxmlformats.org/officeDocument/2006/relationships/notesSlide" Target="../notesSlides/notesSlide51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2" Type="http://schemas.openxmlformats.org/officeDocument/2006/relationships/notesSlide" Target="../notesSlides/notesSlide52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3" Type="http://schemas.openxmlformats.org/officeDocument/2006/relationships/notesSlide" Target="../notesSlides/notesSlide53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4" Type="http://schemas.openxmlformats.org/officeDocument/2006/relationships/notesSlide" Target="../notesSlides/notesSlide54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5" Type="http://schemas.openxmlformats.org/officeDocument/2006/relationships/notesSlide" Target="../notesSlides/notesSlide55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6" Type="http://schemas.openxmlformats.org/officeDocument/2006/relationships/notesSlide" Target="../notesSlides/notesSlide56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7" Type="http://schemas.openxmlformats.org/officeDocument/2006/relationships/notesSlide" Target="../notesSlides/notesSlide57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8" Type="http://schemas.openxmlformats.org/officeDocument/2006/relationships/notesSlide" Target="../notesSlides/notesSlide58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9" Type="http://schemas.openxmlformats.org/officeDocument/2006/relationships/notesSlide" Target="../notesSlides/notesSlide59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0" Type="http://schemas.openxmlformats.org/officeDocument/2006/relationships/notesSlide" Target="../notesSlides/notesSlide60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1" Type="http://schemas.openxmlformats.org/officeDocument/2006/relationships/notesSlide" Target="../notesSlides/notesSlide61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2" Type="http://schemas.openxmlformats.org/officeDocument/2006/relationships/notesSlide" Target="../notesSlides/notesSlide62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3" Type="http://schemas.openxmlformats.org/officeDocument/2006/relationships/notesSlide" Target="../notesSlides/notesSlide63.xml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5" Type="http://schemas.openxmlformats.org/officeDocument/2006/relationships/notesSlide" Target="../notesSlides/notesSlide65.xml"/></Relationships>
</file>

<file path=ppt/slides/_rels/slide6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6" Type="http://schemas.openxmlformats.org/officeDocument/2006/relationships/notesSlide" Target="../notesSlides/notesSlide66.xml"/></Relationships>
</file>

<file path=ppt/slides/_rels/slide6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6" Type="http://schemas.openxmlformats.org/officeDocument/2006/relationships/image" Target="../media/plantuml-16.png"/><Relationship Id="speakerNotes67" Type="http://schemas.openxmlformats.org/officeDocument/2006/relationships/notesSlide" Target="../notesSlides/notesSlide67.xml"/></Relationships>
</file>

<file path=ppt/slides/_rels/slide6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7" Type="http://schemas.openxmlformats.org/officeDocument/2006/relationships/image" Target="../media/plantuml-17.png"/><Relationship Id="speakerNotes68" Type="http://schemas.openxmlformats.org/officeDocument/2006/relationships/notesSlide" Target="../notesSlides/notesSlide68.xml"/></Relationships>
</file>

<file path=ppt/slides/_rels/slide6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8" Type="http://schemas.openxmlformats.org/officeDocument/2006/relationships/image" Target="../media/plantuml-18.png"/><Relationship Id="speakerNotes69" Type="http://schemas.openxmlformats.org/officeDocument/2006/relationships/notesSlide" Target="../notesSlides/notesSlide69.xml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0" Type="http://schemas.openxmlformats.org/officeDocument/2006/relationships/notesSlide" Target="../notesSlides/notesSlide70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1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동적 모델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정적 모델에서 동적 모델로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동적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정적·동적 모델의 상호 검증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사건과 반응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동적 모델의 종류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분석과 설계의 상호작용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프로세스와 동적 분석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정제된 SSD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계약의 정제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상호작용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상호작용 모델의 용도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상호작용에서 발견하는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활동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유스케이스와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업무 흐름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이벤트와 활동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활동과 SSD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시퀀스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오퍼레이션에서 상호작용으로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참여 객체와 도메인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연관을 따라 흐르는 메시지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장바구니 담기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주문 생성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결제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주문 취소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28. 커뮤니케이션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29. 시퀀스와 커뮤니케이션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30. 링크와 연관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동적 모델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31. 상태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32. 상태 기계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33. 주문 상태 기계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34. 출고와 배송 시작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35. 가드와 금지된 전이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36. 시간 이벤트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37. 상태 폭증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38. 상태와 불변 조건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39. 교차검토 절차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40. 계약과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41. 상태와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42. 상호작용과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43. 누락과 모순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44. 적정 동적 모델링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45.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설계 객체 혼입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46.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정적 모델만 있는 분석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47.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모든 흐름 그리기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48.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순서도가 된 활동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49.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상태 기계 오용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50.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 간 불일치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51. 동적 모델에서 코드로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52. 동적 모델의 한계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동적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54. 시퀀스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55. 커뮤니케이션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56. 상태 기계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57. 동적 모델 보완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58. 요약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시나리오의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오퍼레이션·상호작용·상태 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동적 모델로 확인하고, 정적 모델과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서로를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방식을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(도메인 객체)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(설계 객체)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분석의 정제된 시스템 시퀀스 다이어그램과 계약을 입력으로,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활동 다이어그램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유스케이스와 시스템 간 흐름을,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도메인 객체의 상호작용을 모델링한다.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기계로 사건에 따른 상태 전이와 금지된 전이를 확인하고, 네 다이어그램이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자바 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어떻게 이어지는지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모델과 정적 모델을 교차검토해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누락과 모순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찾고, 요구 산출물과 정적 모델에 되돌린다. 필요한 만큼만 모델링한다.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정적 모델에서 동적 모델로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모델은 무엇이 존재하는지 보여주지만,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순서로 무엇이 바뀌는지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보여주지 못한다. "03. 정적 모델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개념과 관계"는 다음 질문을 남겼다.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출고와 배송 시작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같은 사건인가?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어떤 사건으로 어떤 값에서 어떤 값으로 바뀌는가?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환불이 완료되지 않으면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주문은 어떤 상태인가?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취소에서 시스템과 외부는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상호작용하는가?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750219" y="4275784"/>
            <a:ext cx="5643563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동적 모델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(Dynamic Model)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즉 사건과 그에 따른 상호작용·상태 변화를 표현한다.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"사건은 가능한 발생들의 집합이다. 발생은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시스템에 어떤 결과를 가져오는, 일어나는 무언가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event describes a set of possible occurrences. An occurrence is something that happens that has some consequence with regard to the system."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일어나는가?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누가 누구와 어떤 순서로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사건의 결과로 무엇의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바뀌는가?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정적·동적 모델의 상호 검증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12735" y="2801048"/>
          <a:ext cx="6504940" cy="3873500"/>
        </p:xfrm>
        <a:graphic>
          <a:graphicData uri="http://schemas.openxmlformats.org/drawingml/2006/table">
            <a:tbl>
              <a:tblPr/>
              <a:tblGrid>
                <a:gridCol w="3098800"/>
                <a:gridCol w="34061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 모델이 정적 모델에 묻는 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모델이 동적 모델에 묻는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사건이 바꾸는 대상이 모델에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개념은 어떤 사건에 참여하는가?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상호작용하는 객체 사이에 연관이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연관은 어떤 상호작용에서 쓰이는가?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값이 속성으로 정의되어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상태 값에 들어오고 나가는 사건이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존재하는지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보여주며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서로를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 한 모델만으로는 문제영역을 다 볼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"각 모델은 소프트웨어의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측면만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기술하므로 여러 모델을 함께 써야 할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"You potentially need to use multiple models to develop software because each model describes a single aspect of your software."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Scott W. Ambler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사건과 반응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6" y="2801048"/>
          <a:ext cx="6670040" cy="3873500"/>
        </p:xfrm>
        <a:graphic>
          <a:graphicData uri="http://schemas.openxmlformats.org/drawingml/2006/table">
            <a:tbl>
              <a:tblPr/>
              <a:tblGrid>
                <a:gridCol w="2595880"/>
                <a:gridCol w="1645920"/>
                <a:gridCol w="2428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변화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주문을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→ 결제 →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주문: 결제 완료 →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시스템이 배송 시작을 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→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주문: 결제 완료 → 배송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예정일이 다가온다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→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회차: 예정 → 결제 승인됨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시스템은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사건에 반응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시스템이다. 사건이 일어나면 시스템은 상호작용하고 상태를 바꾼다.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"반응형 시스템은 대체로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 주도적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외부와 내부의 자극에 계속 반응해야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reactive system ..., is characterized by being, to a large extent, event-driven, continuously having to react to external and internal stimuli."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David Harel, 1987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동적 모델의 종류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1550082"/>
                <a:gridCol w="4855103"/>
                <a:gridCol w="1900615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세션의 역할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정제된 시스템 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시나리오에서 액터·외부 시스템과 어떤 이벤트를 주고받는가?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출발점 — 요구 분석의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전체의 흐름과 분기는 무엇인가? 여러 액터에 걸친 업무 흐름은?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수준의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객체가 어떤 순서로 상호작용하는가?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객체들이 연결되어 상호작용하는가?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시퀀스의 보완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개념이 사건에 따라 어떤 상태가 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답하려는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고른다. 한 다이어그램으로 모든 질문에 답하지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분석과 설계의 상호작용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3679190"/>
                <a:gridCol w="367919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분석의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설계의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액터, 도메인 객체(주문·결제·환불·배송), 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객체(응용 서비스·도메인 객체·저장소·연동 어댑터)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의미 — 취소한다, 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오퍼레이션 — 이름, 인자, 반환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개념·연관·상태를 발견하고 검증한다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책임을 배치하고 협력을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다루는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"07. 책임·협력·계약"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시퀀스 다이어그램이라도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분석에서는 도메인 객체 사이의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설계에서는 설계 객체 사이의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그린다.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프로세스와 동적 분석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분석의 비중은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 프로세스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달라진다. 그러나 분석을 독립 단계로 둔다면 동적 분석은 생략할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분석과 설계를 통합하는 경우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(애자일 등)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객체의 상호작용은 간단히 확인하고, 설계 객체의 상호작용에 집중한다.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분석을 독립 단계로 두는 경우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적절한 동적 분석 없이는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정적 분석이 제대로 될 수 없다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개념·연관·속성·상태는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사건과 상호작용을 따라가야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발견되고 검증된다.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예: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상태는 취소 상호작용에서,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배송 시작 통보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시스템 간 업무 흐름에서 드러난다.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정적 모델만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그리고 분석을 끝내면 누락된 개념과 모순이 설계·구현 단계로 넘어간다.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정제된 SSD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"02. 요구 분석과 유스케이스"의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정제된 SSD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동적 분석의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시스템은 블랙박스이고, 외부 시스템과 무엇을 주고받는지까지 보인다. 이 세션은 블랙박스를 열어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펼친다.</a:t>
            </a:r>
          </a:p>
        </p:txBody>
      </p:sp>
      <p:pic>
        <p:nvPicPr>
          <p:cNvPr id="9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059962" y="2283645"/>
            <a:ext cx="7024077" cy="393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계약의 정제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17866" y="2357073"/>
          <a:ext cx="569468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43281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— 요구 분석의 계약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주문이 결제 대기이고 배송지가 지정되었다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성공 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승인되어 주문과 연결되었다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시스템에 재고 차감을, 배송 시스템에 배송을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회계 시스템에 입금 처리·영수증 발행을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상태가 결제 완료다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분석의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입력으로 쓰고, 시나리오 분석에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취소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명세서의 대안 흐름 1a에서 작성한다. 사후조건의 각 표현은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모델의 요소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시스템에 대한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설명되어야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graphicFrame>
        <p:nvGraphicFramePr>
          <p:cNvPr id="14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17866" y="4186673"/>
          <a:ext cx="569468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43281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관련 유스케이스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관리한다 — 대안 흐름 1a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 소유의 결제 완료 주문이며 배송 시작 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성공 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시스템이 출고 중단을 받아들였다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결제에 연결된 환불이 생겨 결제 시스템에 요청되었다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금액은 결제 금액과 같다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상태가 취소 처리 중이다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상호작용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109603"/>
          <a:ext cx="8305800" cy="3873500"/>
        </p:xfrm>
        <a:graphic>
          <a:graphicData uri="http://schemas.openxmlformats.org/drawingml/2006/table">
            <a:tbl>
              <a:tblPr/>
              <a:tblGrid>
                <a:gridCol w="1143000"/>
                <a:gridCol w="2092960"/>
                <a:gridCol w="2595880"/>
                <a:gridCol w="2473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보여주는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모델과의 관계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행동과 행동 사이의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유스케이스·업무 흐름, 분기·병행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행동이 바꾸는 개념·상태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시간 순서로 오가는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하나의 상호작용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생명선은 개념, 메시지는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링크와 번호 붙은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상호작용의 참여자 연결 구조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링크는 연관의 후보다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개념의 상태와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개념의 생애, 허용·금지된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상태는 상태 값, 불변 조건은 제약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3047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(Interaction)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참여자 사이에서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관찰 가능한 정보 교환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분석에서는 도메인 객체가 사건을 처리하기 위해 무엇을 주고받는지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"상호작용은 연결된 요소들 사이의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관찰 가능한 정보 교환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초점을 둔 행위 단위다"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Interaction is a unit of Behavior that focuses on the observable exchange of information between connectable elements."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정제된 SSD는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밖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본 상호작용이다. 이제 흐름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(활동)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(시퀀스·커뮤니케이션)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개념의 생애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(상태 기계)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들어간다.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 가지 동적 다이어그램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상호작용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모델과의 관계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정적 모델은 동적 모델의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어휘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(참여자, 상태 값)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주고, 동적 모델은 정적 모델의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누락과 모순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드러낸다.</a:t>
            </a:r>
          </a:p>
        </p:txBody>
      </p:sp>
      <p:pic>
        <p:nvPicPr>
          <p:cNvPr id="9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595437" y="3712117"/>
            <a:ext cx="5953125" cy="74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상호작용 모델의 용도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 모델은 그림을 남기는 것이 목적이 아니다. 상황을 파악하고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공통의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이르기 위해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"상호작용은 상황을 더 잘 파악하거나, 그 상황에 대한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공통의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이르려는 집단을 위해 쓰인다"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"They are used to get a better grip of an interaction situation for an individual designer or for a group that needs to achieve a common understanding of the situation."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담당자와 함께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읽을 수 있는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합의가 끝나면 모든 그림을 유지할 필요는 없다.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판단의 근거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되는 것만 남긴다.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상호작용에서 발견하는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00036"/>
          <a:ext cx="8305800" cy="3873500"/>
        </p:xfrm>
        <a:graphic>
          <a:graphicData uri="http://schemas.openxmlformats.org/drawingml/2006/table">
            <a:tbl>
              <a:tblPr/>
              <a:tblGrid>
                <a:gridCol w="1613766"/>
                <a:gridCol w="1770166"/>
                <a:gridCol w="2734634"/>
                <a:gridCol w="2187233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상호작용에서 보는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모델에 없는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메시지의 경로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연관, 일시적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→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생성·변경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 값, 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확정, 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속성·상태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재고 차감, 출고 중단 뒤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규칙, 정제된 SSD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동기·비동기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즉시 끝나지 않는 처리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시작·환불 완료 통보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계약, 상태 기계, 이벤트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외부의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예외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예외 흐름,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상호작용을 따라가면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모델과 요구 산출물만으로는 보이지 않던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드러난다. 무엇을 보고 무엇을 찾는지 먼저 정리한다.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활동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61836" y="3522938"/>
          <a:ext cx="8206740" cy="3873500"/>
        </p:xfrm>
        <a:graphic>
          <a:graphicData uri="http://schemas.openxmlformats.org/drawingml/2006/table">
            <a:tbl>
              <a:tblPr/>
              <a:tblGrid>
                <a:gridCol w="2204720"/>
                <a:gridCol w="304292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시작 —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흐름의 시작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하나만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— 둥근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수행하는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동사로, 주체는 이름이나 레인으로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 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사이의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데이터가 아니라 제어의 흐름이다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결정·병합 — 마름모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조건에 따른 분기와 다시 합침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나가는 흐름마다 겹치지 않는 [조건]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분기·합류 — 굵은 막대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병행의 시작과, 모두 끝날 때까지 기다림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순서와 상관없는 일에만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— 테두리 안의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흐름의 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경로마다 둘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수영 레인 — 세로 구역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행동의 책임자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액터·시스템별로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행동의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표현한다. 수영 레인으로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행동을 하는지 나눌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9709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결정·병합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(조건)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분기·합류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(병행)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서로 대신하지 않는다.</a:t>
            </a:r>
          </a:p>
        </p:txBody>
      </p:sp>
      <p:pic>
        <p:nvPicPr>
          <p:cNvPr id="15" name="svg Diagram 1" descr="활동 다이어그램 표기: 시작, 행동, 흐름, 결정·병합, 분기·합류, 종료, 수영 레인"/>
          <p:cNvPicPr>
            <a:picLocks noChangeAspect="1"/>
          </p:cNvPicPr>
          <p:nvPr/>
        </p:nvPicPr>
        <p:blipFill>
          <a:blip r:embed="svgImage1"/>
          <a:stretch>
            <a:fillRect/>
          </a:stretch>
        </p:blipFill>
        <p:spPr>
          <a:xfrm>
            <a:off x="2064893" y="1842998"/>
            <a:ext cx="5000625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유스케이스와 활동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유스케이스 전체의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보여준다. 기본 흐름과 대안 흐름이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함께 드러난다. 「주문을 관리한다」의 흐름이다.</a:t>
            </a:r>
          </a:p>
        </p:txBody>
      </p:sp>
      <p:pic>
        <p:nvPicPr>
          <p:cNvPr id="9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850656" y="2086990"/>
            <a:ext cx="7442688" cy="401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유스케이스와 활동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5102352" y="2240238"/>
            <a:ext cx="3675888" cy="2476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취소한다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(상태 != 주문상태.결제완료)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IllegalStateException(상태 + "에서는 취소할 수 없다");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(!배송.출고중단을요청한다())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IllegalStateException("이미 출고되었다");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결제.환불을요청한다();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전이(주문상태.결제완료, 주문상태.취소처리중);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17851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 활동과 코드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if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행동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메서드 호출이 된다. 거절로 끝나는 가지는 예외로 드러난다. "이미 출고됨"의 거절은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pic>
        <p:nvPicPr>
          <p:cNvPr id="33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365760" y="2240238"/>
            <a:ext cx="4626864" cy="3933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업무 흐름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활동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시스템에 걸친 업무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보여줄 때도 쓴다. 결제에서 배송까지의 흐름이다.</a:t>
            </a:r>
          </a:p>
        </p:txBody>
      </p:sp>
      <p:pic>
        <p:nvPicPr>
          <p:cNvPr id="9" name="svg Diagram 2" descr="결제에서 배송까지 여러 시스템에 걸친 업무 흐름 활동 다이어그램"/>
          <p:cNvPicPr>
            <a:picLocks noChangeAspect="1"/>
          </p:cNvPicPr>
          <p:nvPr/>
        </p:nvPicPr>
        <p:blipFill>
          <a:blip r:embed="svgImage2"/>
          <a:stretch>
            <a:fillRect/>
          </a:stretch>
        </p:blipFill>
        <p:spPr>
          <a:xfrm>
            <a:off x="1625203" y="2086853"/>
            <a:ext cx="5893594" cy="4018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업무 흐름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활동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흐름이 주문 시스템에서 배송 시스템의 「배송을 처리한다」로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경계를 넘는다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분기·합류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사이의 두 흐름은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서로의 순서에 의존하지 않고, 합류는 둘 다 끝나기를 기다린다.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시스템은 배송 시스템의 처리를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기다리지 않고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배송을 시작했다는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받아 주문을 바꾼다. 정제된 SSD의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흐름의 순서,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요청자가 완료를 기다리는가의 구분이다. 서로 대신하지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이벤트와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44156" y="2100036"/>
          <a:ext cx="6642100" cy="3873500"/>
        </p:xfrm>
        <a:graphic>
          <a:graphicData uri="http://schemas.openxmlformats.org/drawingml/2006/table">
            <a:tbl>
              <a:tblPr/>
              <a:tblGrid>
                <a:gridCol w="2120900"/>
                <a:gridCol w="1869440"/>
                <a:gridCol w="26517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레인 경계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반응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시스템 → 주문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차감·배송·입금을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 → 배송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요청되었다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→ 주문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시작되었다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배송 중으로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 → 회계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입금 처리가 요청되었다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입금을 처리하고 영수증을 발행한다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다이어그램의 레인 경계에서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드러난다. 한 레인의 행동이 끝나면 다른 레인이 그 결과에 반응한다. "02. 요구 분석과 유스케이스"의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 중심 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동적 모델로 이어지는 방식이다.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활동과 SSD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4606" y="2100036"/>
          <a:ext cx="70612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791460"/>
                <a:gridCol w="33223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 다이어그램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시퀀스 다이어그램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시나리오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보이는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분기·병합, 대안 흐름, 책임자(레인)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이벤트의 순서, 외부 시스템과의 교환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활동의 경로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= SSD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다이어그램과 SSD는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모델이다. 둘 다 시스템을 블랙박스로 본다. 활동 다이어그램으로 흐름 전체를 보고, 중요한 경로마다 SSD로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179888"/>
          <a:ext cx="8305800" cy="3873500"/>
        </p:xfrm>
        <a:graphic>
          <a:graphicData uri="http://schemas.openxmlformats.org/drawingml/2006/table">
            <a:tbl>
              <a:tblPr/>
              <a:tblGrid>
                <a:gridCol w="2540000"/>
                <a:gridCol w="2595880"/>
                <a:gridCol w="31699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생명선 — 머리 박스와 점선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참여자와 그 존재 기간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:주문처럼 개념의 인스턴스, 액터는 왼쪽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동기 메시지 — 채운 화살촉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처리를 마칠 때까지 기다리는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동사로 이름 짓는다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비동기 메시지 — 열린 화살촉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기다리지 않는 알림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사건을 알리기만 할 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자기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자신에게 보내는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안의 상태 변화·계산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 — 중간에서 시작하는 생명선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 도중에 생기는 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생기는 시점에 박스를 둔다(주문 항목, 환불)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 — 이름표 달린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조건·반복·병행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「27. 시퀀스 다이어그램 조각」에서 다룬다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 다이어그램은 상호작용을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생명선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시간 순서의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표현한다. 위에서 아래로 읽는다. SSD는 시스템 밖에서 본 시퀀스 다이어그램이고, 분석의 시퀀스 다이어그램은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도메인 객체 사이를 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5404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응답은 그리지 않는다.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열린 화살촉으로 구분한다.</a:t>
            </a:r>
          </a:p>
        </p:txBody>
      </p:sp>
      <p:pic>
        <p:nvPicPr>
          <p:cNvPr id="15" name="svg Diagram 3" descr="시퀀스 다이어그램 표기: 생명선, 동기 메시지, 비동기 메시지, 자기 호출, 생성, 조각"/>
          <p:cNvPicPr>
            <a:picLocks noChangeAspect="1"/>
          </p:cNvPicPr>
          <p:nvPr/>
        </p:nvPicPr>
        <p:blipFill>
          <a:blip r:embed="svgImage3"/>
          <a:stretch>
            <a:fillRect/>
          </a:stretch>
        </p:blipFill>
        <p:spPr>
          <a:xfrm>
            <a:off x="1945830" y="2357073"/>
            <a:ext cx="5238750" cy="109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오퍼레이션에서 상호작용으로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17716" y="2100036"/>
          <a:ext cx="8094980" cy="3873500"/>
        </p:xfrm>
        <a:graphic>
          <a:graphicData uri="http://schemas.openxmlformats.org/drawingml/2006/table">
            <a:tbl>
              <a:tblPr/>
              <a:tblGrid>
                <a:gridCol w="2400300"/>
                <a:gridCol w="2316480"/>
                <a:gridCol w="33782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SSD의 시스템 이벤트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메시지를 받는 도메인 객체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이어지는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장바구니에 담는다(상품, 수량)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항목을 만들고 상품의 판매가를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배송지를 지정한다(주소)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만들고 주문 항목마다 단가를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결제한다(결제 수단)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결제를 만들어 승인·재고·배송·입금을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취소한다(주문)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요청하고 환불을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SSD의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오퍼레이션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펼친 것이 분석의 시퀀스 다이어그램이다. 블랙박스를 열어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무엇을 주고받는지 본다. 첫 메시지는 그 사건의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중심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받는다.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참여 객체와 도메인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 다이어그램의 참여자는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 개념의 인스턴스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생명선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:주문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"주문 개념의 한 인스턴스"를 뜻한다.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모델에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없는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생명선이 될 수 없다. 필요하면 그 자체가 정적 모델의 누락이다.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시스템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개념이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지원 액터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생명선으로 쓰되 정적 모델에는 넣지 않는다.</a:t>
            </a:r>
          </a:p>
        </p:txBody>
      </p:sp>
      <p:pic>
        <p:nvPicPr>
          <p:cNvPr id="9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1763346" y="4036978"/>
            <a:ext cx="5617308" cy="168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연관을 따라 흐르는 메시지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4606" y="2100036"/>
          <a:ext cx="7061200" cy="3873500"/>
        </p:xfrm>
        <a:graphic>
          <a:graphicData uri="http://schemas.openxmlformats.org/drawingml/2006/table">
            <a:tbl>
              <a:tblPr/>
              <a:tblGrid>
                <a:gridCol w="2819400"/>
                <a:gridCol w="2204720"/>
                <a:gridCol w="2037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보내는 쪽 → 받는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따라가는 연관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항목을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 → :장바구니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— 장바구니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 → 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판매가를 가져온다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항목 → :상품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— 상품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결제를 만든다, 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→ :결제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배송을 만든다, 출고 중단을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→ :배송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아는 상대에게만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메시지를 보낼 수 있다. 분석에서 메시지는 도메인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연관을 따라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흐른다. 연관이 없는데 메시지가 필요하면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연관이 빠졌거나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 순간에만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일시적 연결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장바구니 담기 시퀀스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장바구니에 담는다(상품, 수량)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펼친다.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장바구니 항목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판매가는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참조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상품 조회는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상태를 바꾸지 않아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그리지 않는다.</a:t>
            </a:r>
          </a:p>
        </p:txBody>
      </p:sp>
      <p:pic>
        <p:nvPicPr>
          <p:cNvPr id="9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2588846" y="3555208"/>
            <a:ext cx="3966308" cy="172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주문 생성 시퀀스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배송지를 지정한다(주소)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장바구니로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만들어진다.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사실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주문이 성립할 때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현재 판매가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단가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확정된다(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현재 값과 확정 값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).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예로 둔 배치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누가 만들고 확정하는지는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책임 배치의 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대기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시작한다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(「33. 주문 상태 기계」)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pic>
        <p:nvPicPr>
          <p:cNvPr id="9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2028092" y="3662865"/>
            <a:ext cx="5087815" cy="2598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결제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결제한다(결제 수단)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펼친다. 정제된 SSD에서 주문 시스템이 외부에 보낸 요청을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어느 도메인 객체가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보내는지가 드러난다.</a:t>
            </a:r>
          </a:p>
        </p:txBody>
      </p:sp>
      <p:pic>
        <p:nvPicPr>
          <p:cNvPr id="9" name="plantuml Diagram 7"/>
          <p:cNvPicPr>
            <a:picLocks noChangeAspect="1"/>
          </p:cNvPicPr>
          <p:nvPr/>
        </p:nvPicPr>
        <p:blipFill>
          <a:blip r:embed="plantumlImage7"/>
          <a:stretch>
            <a:fillRect/>
          </a:stretch>
        </p:blipFill>
        <p:spPr>
          <a:xfrm>
            <a:off x="663819" y="2440881"/>
            <a:ext cx="7816362" cy="3310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결제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승인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뒤에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재고 차감을 요청한다. 차감이 실패하면 이미 승인된 결제를 되돌려야 한다 → 재고를 결제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전에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확보해야 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요청은 비동기다. 주문은 배송 시작을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나중에 통보로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안다 → 상태 기계의 전이 사건이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요청의 주체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결제가 입금·영수증을, 배송이 배송 시스템을 맡는다. 어떤 요청이 필요한지는 분석이 확인하고, 누가 요청하는지는 배치 예로 두어 설계에서 다시 정한다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("07. 책임·협력·계약")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주문 취소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(1/3)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주문을 취소한다(주문)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펼친다.</a:t>
            </a:r>
          </a:p>
        </p:txBody>
      </p:sp>
      <p:pic>
        <p:nvPicPr>
          <p:cNvPr id="9" name="plantuml Diagram 8"/>
          <p:cNvPicPr>
            <a:picLocks noChangeAspect="1"/>
          </p:cNvPicPr>
          <p:nvPr/>
        </p:nvPicPr>
        <p:blipFill>
          <a:blip r:embed="plantumlImage8"/>
          <a:stretch>
            <a:fillRect/>
          </a:stretch>
        </p:blipFill>
        <p:spPr>
          <a:xfrm>
            <a:off x="742462" y="2598898"/>
            <a:ext cx="7659077" cy="299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주문 취소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(2/3)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 중단을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확인하고 환불한다. 이미 출고되었다면 환불하면 안 되기 때문이다. 이 순서도 업무 규칙이다.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출고 중단은 배송 시스템이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거절할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→ 취소의 새 예외다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(「27. 시퀀스 다이어그램 조각」)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환불은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완료 통보가 올 때까지 취소가 끝나지 않는다 →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상태가 필요하다.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주문 취소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(3/3)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445954"/>
            <a:ext cx="4114800" cy="134112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배송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boolean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출고중단을요청한다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return 배송시스템.출고중단을요청한다(배송번호);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환불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금액 환불금액;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17851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시퀀스와 코드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받는 객체의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메서드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되고,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생성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new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비동기 메시지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완료를 기다리지 않는 요청이 된다. 결과는 나중에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통보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온다.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4445954"/>
            <a:ext cx="4114800" cy="1828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환불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(금액 환불금액) { this.환불금액 = 환불금액;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요청한다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(결제시스템 결제시스템)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결제시스템.환불을요청한다(환불금액);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결제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환불을요청한다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새환불 = new 환불(결제금액);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환불 = Optional.of(새환불);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새환불.요청한다(결제시스템);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pic>
        <p:nvPicPr>
          <p:cNvPr id="34" name="plantuml Diagram 9"/>
          <p:cNvPicPr>
            <a:picLocks noChangeAspect="1"/>
          </p:cNvPicPr>
          <p:nvPr/>
        </p:nvPicPr>
        <p:blipFill>
          <a:blip r:embed="plantumlImage9"/>
          <a:stretch>
            <a:fillRect/>
          </a:stretch>
        </p:blipFill>
        <p:spPr>
          <a:xfrm>
            <a:off x="1891323" y="2240238"/>
            <a:ext cx="5361354" cy="2095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754313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254159"/>
                <a:gridCol w="2437831"/>
                <a:gridCol w="272481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 쓰는 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loop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 동안 반복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[상품마다]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메시지가 여러 번 오갈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alt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서로 배타적인 대안 중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칸마다 [조건], 마지막은 [그 밖]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조건에 따라 다른 상호작용이 일어날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opt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참일 때만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[쿠폰이 있으면]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선택적으로 일어나는 상호작용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 없이 함께 일어날 수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칸마다 병행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순서가 업무 의미를 갖지 않을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break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참이면 나머지를 중단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[결제 거절]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예외로 상호작용이 끝날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 조각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(Combined Fragment)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메시지의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조건·반복·병행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표현한다.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프레임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(왼쪽 위에 이름표가 달린 사각형)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그리고, 이름표에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연산자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칸 안에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조건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(가드)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쓴다. 메시지를 보기 좋게 묶는 상자가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프레임을 쓰지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같은 조건·반복을 메시지 번호의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[조건]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*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(「28. 커뮤니케이션 다이어그램」)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 상호작용에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alt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쓴 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 중단의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상호작용이 갈린다. 출고 후의 거절은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pic>
        <p:nvPicPr>
          <p:cNvPr id="9" name="plantuml Diagram 10"/>
          <p:cNvPicPr>
            <a:picLocks noChangeAspect="1"/>
          </p:cNvPicPr>
          <p:nvPr/>
        </p:nvPicPr>
        <p:blipFill>
          <a:blip r:embed="plantumlImage10"/>
          <a:stretch>
            <a:fillRect/>
          </a:stretch>
        </p:blipFill>
        <p:spPr>
          <a:xfrm>
            <a:off x="2115038" y="2491436"/>
            <a:ext cx="4913923" cy="320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28. 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177216"/>
          <a:ext cx="8305800" cy="3873500"/>
        </p:xfrm>
        <a:graphic>
          <a:graphicData uri="http://schemas.openxmlformats.org/drawingml/2006/table">
            <a:tbl>
              <a:tblPr/>
              <a:tblGrid>
                <a:gridCol w="1897380"/>
                <a:gridCol w="3204210"/>
                <a:gridCol w="320421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—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상호작용의 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:주문처럼 도메인 개념의 인스턴스 이름을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— 실선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두 객체가 메시지를 주고받을 수 있는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반복해서 필요한 링크는 연관의 후보다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번호 붙은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위의 메시지와 그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1:부터 쓰고 화살표로 보내는 방향을 표시한다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중첩 번호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앞 메시지를 처리하는 도중의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1.1, 1.2처럼 쓴다. 같은 수준은 끝자리를 올린다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조건·반복 — [조건], *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참일 때만, 또는 반복해서 보내는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1.2 [출고 중단됨]: 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(Communication Diagram)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같은 상호작용을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객체 사이의 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번호 붙은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97098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번호가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처리하는 도중에 보내는 메시지다. 화살표는 메시지의 방향이다.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표기와 사용법</a:t>
            </a:r>
          </a:p>
        </p:txBody>
      </p:sp>
      <p:pic>
        <p:nvPicPr>
          <p:cNvPr id="15" name="svg Diagram 4" descr="커뮤니케이션 다이어그램 표기: 객체, 링크, 번호 붙은 메시지, 중첩 번호"/>
          <p:cNvPicPr>
            <a:picLocks noChangeAspect="1"/>
          </p:cNvPicPr>
          <p:nvPr/>
        </p:nvPicPr>
        <p:blipFill>
          <a:blip r:embed="svgImage4"/>
          <a:stretch>
            <a:fillRect/>
          </a:stretch>
        </p:blipFill>
        <p:spPr>
          <a:xfrm>
            <a:off x="2183956" y="1842998"/>
            <a:ext cx="47625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29. 시퀀스와 커뮤니케이션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두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다른 방식으로 강조한다. 「26. 주문 취소 시퀀스」의 앞부분을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번호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그렸다. 시퀀스는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시간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커뮤니케이션은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누구와 연결되는지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잘 보인다.</a:t>
            </a:r>
          </a:p>
        </p:txBody>
      </p:sp>
      <p:pic>
        <p:nvPicPr>
          <p:cNvPr id="9" name="svg Diagram 5" descr="주문 취소 앞부분을 같은 번호로 그린 시퀀스 다이어그램과 커뮤니케이션 다이어그램"/>
          <p:cNvPicPr>
            <a:picLocks noChangeAspect="1"/>
          </p:cNvPicPr>
          <p:nvPr/>
        </p:nvPicPr>
        <p:blipFill>
          <a:blip r:embed="svgImage5"/>
          <a:stretch>
            <a:fillRect/>
          </a:stretch>
        </p:blipFill>
        <p:spPr>
          <a:xfrm>
            <a:off x="1774031" y="2761421"/>
            <a:ext cx="5595938" cy="2976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링크와 연관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1796" y="2100036"/>
          <a:ext cx="630682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1450340"/>
                <a:gridCol w="27635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연관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결제, 결제 —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—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일시적 연결 — 연관으로 두지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— 배송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시스템과의 연결. 정적 모델 밖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두 객체가 메시지를 주고받으려면 서로를 알아야 한다는 뜻이다. 링크가 곧 연관은 아니지만,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반복해서 필요한 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정적 모델의 연관 후보다.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링크와 연관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492966"/>
            <a:ext cx="411480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결제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final 금액 결제금액;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final 결제시스템 결제시스템;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Optional&lt;환불&gt; 환불 = Optional.empty();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17851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링크와 코드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링크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참조 필드다. 번호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1.1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1.2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취소한다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안의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호출,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1.2.1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환불을요청한다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안의 호출이다.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3492966"/>
            <a:ext cx="4114800" cy="21463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결제 결제;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배송 배송;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주문상태 상태 = 주문상태.결제대기;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결제되었다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(결제 결제, 배송 배송)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전이(주문상태.결제대기, 주문상태.결제완료);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this.결제 = 결제;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this.배송 = 배송;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pic>
        <p:nvPicPr>
          <p:cNvPr id="34" name="plantuml Diagram 11"/>
          <p:cNvPicPr>
            <a:picLocks noChangeAspect="1"/>
          </p:cNvPicPr>
          <p:nvPr/>
        </p:nvPicPr>
        <p:blipFill>
          <a:blip r:embed="plantumlImage11"/>
          <a:stretch>
            <a:fillRect/>
          </a:stretch>
        </p:blipFill>
        <p:spPr>
          <a:xfrm>
            <a:off x="693615" y="2240238"/>
            <a:ext cx="7756769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31. 상태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(State)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어떤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조건이 성립하는 상황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사건이 일어나면 한 상태에서 다른 상태로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"상태는 어떤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(대개 암묵적인)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조건이 성립하는 상황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모델링한다"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State models a situation during which some (usually implicit) invariant condition holds."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예: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상태에서는 "환불 금액 = 결제 금액"이 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정적 모델의 속성이고, 상태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동적 모델이다("03. 정적 모델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개념과 관계"의 「06. 상태 값과 상태 전이」).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32. 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522938"/>
          <a:ext cx="8305800" cy="3873500"/>
        </p:xfrm>
        <a:graphic>
          <a:graphicData uri="http://schemas.openxmlformats.org/drawingml/2006/table">
            <a:tbl>
              <a:tblPr/>
              <a:tblGrid>
                <a:gridCol w="2567940"/>
                <a:gridCol w="2092960"/>
                <a:gridCol w="36449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초기 상태 —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생애의 시작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하나만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— 둥근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조건이 성립하는 상황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상황의 이름(결제 완료). 화면·처리 단계가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 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사건에 따른 상태 변화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[가드] / 효과 — 가드가 참이면 전이한다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 — [조건]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전이가 일어나는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필요할 때만 쓴다. 같은 사건의 가드는 겹치지 않게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효과 — /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전이할 때 일어나는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상태 — 테두리 안의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생애의 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더 이상 사건에 반응하지 않는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사건에 따라 어떤 상태를 거치는지 보여준다.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9709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표기와 사용법</a:t>
            </a:r>
          </a:p>
        </p:txBody>
      </p:sp>
      <p:pic>
        <p:nvPicPr>
          <p:cNvPr id="15" name="svg Diagram 6" descr="상태 기계 다이어그램 표기: 초기 상태, 상태, 전이, 종료 상태"/>
          <p:cNvPicPr>
            <a:picLocks noChangeAspect="1"/>
          </p:cNvPicPr>
          <p:nvPr/>
        </p:nvPicPr>
        <p:blipFill>
          <a:blip r:embed="svgImage6"/>
          <a:stretch>
            <a:fillRect/>
          </a:stretch>
        </p:blipFill>
        <p:spPr>
          <a:xfrm>
            <a:off x="2183956" y="1842998"/>
            <a:ext cx="47625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주문 상태 기계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주문의 생애를 상태 기계로 그린다. 주문은 외부 시스템의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전이한다. 상태 목록은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 준비 중·출고됨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배송 시스템의 상태라 주문에 두지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중·배송 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배송 시스템의 통보로,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환불 완료 통보로 전이한다. 그 전까지는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(「26. 주문 취소 시퀀스」)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pic>
        <p:nvPicPr>
          <p:cNvPr id="9" name="plantuml Diagram 12"/>
          <p:cNvPicPr>
            <a:picLocks noChangeAspect="1"/>
          </p:cNvPicPr>
          <p:nvPr/>
        </p:nvPicPr>
        <p:blipFill>
          <a:blip r:embed="plantumlImage12"/>
          <a:stretch>
            <a:fillRect/>
          </a:stretch>
        </p:blipFill>
        <p:spPr>
          <a:xfrm>
            <a:off x="688731" y="4162952"/>
            <a:ext cx="776653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주문 상태 기계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473427"/>
            <a:ext cx="8412480" cy="2641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enum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주문상태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 결제대기, 결제완료, 배송중, 배송완료, 취소처리중, 취소됨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... 배송·환불·결제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배송시작통보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전이(주문상태.결제완료, 주문상태.배송중);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배송완료통보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전이(주문상태.배송중, 주문상태.배송완료);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환불완료통보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전이(주문상태.취소처리중, 주문상태.취소됨);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취소한다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전이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(주문상태 출발, 주문상태 도착)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(상태 != 출발)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IllegalStateException(상태 + "에서는 " + 도착 + "이 될 수 없다");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상태 = 도착;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17851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기계와 코드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enum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값,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전이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상태를 바꾸는 메서드,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전이 전의 검사가 된다.</a:t>
            </a:r>
          </a:p>
        </p:txBody>
      </p:sp>
      <p:pic>
        <p:nvPicPr>
          <p:cNvPr id="33" name="plantuml Diagram 13"/>
          <p:cNvPicPr>
            <a:picLocks noChangeAspect="1"/>
          </p:cNvPicPr>
          <p:nvPr/>
        </p:nvPicPr>
        <p:blipFill>
          <a:blip r:embed="plantumlImage13"/>
          <a:stretch>
            <a:fillRect/>
          </a:stretch>
        </p:blipFill>
        <p:spPr>
          <a:xfrm>
            <a:off x="688731" y="2240238"/>
            <a:ext cx="776653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34. 출고와 배송 시작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5" y="3011351"/>
          <a:ext cx="66700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170940"/>
                <a:gridCol w="4411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판단하는가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— 주문 시스템이 변경을 요청하고 결과를 받는다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시스템(주문 상태)과 배송 시스템(출고 중단 결과)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49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"출고 전"과 "배송 시작 전"은 판단하는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시스템이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여기서는 출고를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물류센터 반출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배송 시작을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운송 개시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구분하는 업무를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이 가정 아래 두 경계의 차이가 새로운 요구 질문을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발견한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출고는 됐지만 배송 시작 전인 주문의 취소를 허용하는가? 규칙대로라면 허용되지만, 가정대로라면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물건은 이미 물류센터를 떠났다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모델이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요구의 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이므로 업무 담당자에게 되묻는다.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가드와 금지된 전이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전이가 일어나는 조건이다. 전이가 없는 이유는 둘 중 하나다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확인된 규칙이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금지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했거나, 요구가 아직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둘을 구분해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주문 취소 [출고 중단됨]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처럼 사건이 같아도 조건에 따라 전이가 갈린다.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금지된 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중·배송 완료에서 나가는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주문 취소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전이가 없다. "배송 시작 이후에는 취소할 수 없다"는 규칙이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전이의 부재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표현된다.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미정인 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대기의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주문 취소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확정된 요구가 아니다. 화살표가 없는 것은 금지가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 질문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무시되는 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해당 상태에서 받은 사건이 전이를 일으키지 않으면, 시스템이 그 사건에 어떻게 응답할지는 요구로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가드와 금지된 전이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730465"/>
            <a:ext cx="4114800" cy="195072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주문생애테스트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public static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main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(String[] args)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요청 = new ArrayList&lt;String&gt;();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결제시스템 결제시스템 = 금액 -&gt; 요청.add("환불 " + 금액.원());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배송시스템 출고전 = 번호 -&gt; 요청.add("출고 중단");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주문 = new 주문();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주문.결제되었다(new 결제(new 금액(2000), 결제시스템),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    new 배송("배송-1", 출고전));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주문.취소한다();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확인(주문.상태 == 주문상태.취소처리중);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확인(요청.equals(List.of("출고 중단", "환불 2000")));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주문.환불완료통보();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확인(주문.상태 == 주문상태.취소됨);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435556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금지된 전이에서 테스트로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금지된 전이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거절되어야 한다. 배송 중의 취소가 거절되고, 취소는 출고 중단 → 환불 순서로 요청한다.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미정인 전이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테스트 기대값으로 정하지 않는다.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3730465"/>
            <a:ext cx="4114800" cy="1219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배송중 = new 주문();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배송중.결제되었다(new 결제(new 금액(1000), 결제시스템),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    new 배송("배송-2", 출고전));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배송중.배송시작통보();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거절(배송중::취소한다);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System.out.println("주문 생애 확인");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확인·거절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pic>
        <p:nvPicPr>
          <p:cNvPr id="34" name="plantuml Diagram 14"/>
          <p:cNvPicPr>
            <a:picLocks noChangeAspect="1"/>
          </p:cNvPicPr>
          <p:nvPr/>
        </p:nvPicPr>
        <p:blipFill>
          <a:blip r:embed="plantumlImage14"/>
          <a:stretch>
            <a:fillRect/>
          </a:stretch>
        </p:blipFill>
        <p:spPr>
          <a:xfrm>
            <a:off x="688731" y="2497276"/>
            <a:ext cx="776653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36. 시간 이벤트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시간이 지나는 것 자체도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시간 이벤트는 상태 기계와 유스케이스를 시작하는 정상적인 사건이다.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시간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"예정일 2일 전이 된다"(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)는 아무도 요청하지 않아도 일어난다.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결제 승인됨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바로 가는 전이는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승인 성공을 축약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했다. 결제 요청과 승인은 따로 일어난다.</a:t>
            </a:r>
          </a:p>
        </p:txBody>
      </p:sp>
      <p:pic>
        <p:nvPicPr>
          <p:cNvPr id="9" name="plantuml Diagram 15"/>
          <p:cNvPicPr>
            <a:picLocks noChangeAspect="1"/>
          </p:cNvPicPr>
          <p:nvPr/>
        </p:nvPicPr>
        <p:blipFill>
          <a:blip r:embed="plantumlImage15"/>
          <a:stretch>
            <a:fillRect/>
          </a:stretch>
        </p:blipFill>
        <p:spPr>
          <a:xfrm>
            <a:off x="2557096" y="3837929"/>
            <a:ext cx="4029808" cy="208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37. 상태 폭증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상태 조합을 평평하게 그리면 상태 기계는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감당할 수 없이 커진다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판단이 필요한 개념과 상태에만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"복잡한 시스템은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기하급수적으로 늘어나는 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때문에 이런 단순한 방식으로는 유익하게 기술할 수 없다"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complex system cannot be beneficially described in this naive fashion, because of the unmanageable, exponentially growing multitude of states"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David Harel, 1987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대상을 고른다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생애와 규칙이 중요한 개념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(주문·배송 회차)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만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축을 나눈다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상태와 배송 상태를 한 상태 이름에 곱해 넣지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묶는다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전이를 공유하는 상태는 상위 상태로 묶을 수 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(예: 배송 시작 전)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38. 상태와 불변 조건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67676" y="2100036"/>
          <a:ext cx="6195060" cy="3873500"/>
        </p:xfrm>
        <a:graphic>
          <a:graphicData uri="http://schemas.openxmlformats.org/drawingml/2006/table">
            <a:tbl>
              <a:tblPr/>
              <a:tblGrid>
                <a:gridCol w="1170940"/>
                <a:gridCol w="2316480"/>
                <a:gridCol w="27076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하나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주문–결제 0..1 → 이 상태에서는 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있고 완료 통보 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연관, 환불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=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제약 환불 금액 ≤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하나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주문–배송 0..1 → 이 상태에서는 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각 상태의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정적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대응한다. 상태 기계와 제약을 맞대면 모순을 찾을 수 있고, 상태에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다중성이 달라지는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연관은 규칙으로 남긴다.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- 50 -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39. 교차검토 절차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서로의 질문으로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검토한다. 한 번에 끝나지 않고 반복한다.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SSD의 시스템 오퍼레이션마다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계약의 사후조건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정적 모델 요소로 설명한다.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상호작용의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참여자와 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정적 모델의 개념·연관에 있는지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상태 기계의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 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정적 모델의 속성 값과 같은지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상태의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정적 모델의 제약과 모순되지 않는지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5. 발견한 누락·모순을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모델과 요구로 되돌린다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40. 계약과 정적 모델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52793"/>
                <a:gridCol w="2452793"/>
                <a:gridCol w="2452793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사후조건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설명하는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승인되어 주문과 연결되었다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개념, 주문–결제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차감·입금·영수증을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시스템의 결과 — 정적 모델 밖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요청만 보장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개념, 주문–배송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받아들였다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상태?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출고 중단을 기억할 값이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생겼다, 금액 =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연관, 제약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상태가 취소 처리 중이다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값?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「10. 계약의 정제」의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사후조건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정적 모델 요소나 외부 요청으로 설명할 수 있는지 대조한다.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41. 상태와 정적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00036"/>
          <a:ext cx="8305800" cy="3873500"/>
        </p:xfrm>
        <a:graphic>
          <a:graphicData uri="http://schemas.openxmlformats.org/drawingml/2006/table">
            <a:tbl>
              <a:tblPr/>
              <a:tblGrid>
                <a:gridCol w="3385820"/>
                <a:gridCol w="1534160"/>
                <a:gridCol w="3385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대기, 결제 완료, 배송 중, 배송 완료,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값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 추가 또는 환불 상태로 분리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배송의 배송 상태 값으로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준비 중, 출고됨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시스템의 상태. 주문 시스템에 두지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기계의 상태 값과 정적 모델의 주문 상태 값을 대조한다. 판단 질문은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 상태가 주문의 것인가, 배송·환불의 것인가, 다른 시스템의 것인가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한 개념에 모든 상태를 모으면 상태 폭증이 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42. 상호작용과 정적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99325" y="1585960"/>
          <a:ext cx="7731760" cy="3873500"/>
        </p:xfrm>
        <a:graphic>
          <a:graphicData uri="http://schemas.openxmlformats.org/drawingml/2006/table">
            <a:tbl>
              <a:tblPr/>
              <a:tblGrid>
                <a:gridCol w="4076700"/>
                <a:gridCol w="1534160"/>
                <a:gridCol w="21209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상호작용에서 본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 — 장바구니·주문·주문 항목·상품·결제·환불·배송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 — 결제·상품·배송·회계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지원 액터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정적 모델에 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— 장바구니–주문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연관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일시적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— 출고 중단의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상태 값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— 환불을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0..1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전체 취소 전제에서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참여자·링크·메시지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정적 모델과 대조한다.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- 54 -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43. 누락과 모순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66406" y="4343274"/>
          <a:ext cx="6197600" cy="3873500"/>
        </p:xfrm>
        <a:graphic>
          <a:graphicData uri="http://schemas.openxmlformats.org/drawingml/2006/table">
            <a:tbl>
              <a:tblPr/>
              <a:tblGrid>
                <a:gridCol w="3126740"/>
                <a:gridCol w="3070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 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규칙, 정제된 SSD의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시작·완료, 환불 완료는 통보로 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 목록, 정제된 SSD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중단이 거절될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예외 흐름, 취소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취소가 즉시 끝나지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결과, 계약, 정적 모델의 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3281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교차검토로 발견한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모델을 고칠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요구에 되물을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모델에 반영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(또는 환불 상태)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배송 상태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출고 중단됨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요구에 되물음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재고가 모자라면? 출고됐지만 배송 시작 전인 주문의 취소는? 환불 실패 시 주문은 취소 처리 중에 머무는가?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 밖으로 남김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실패, 부분 취소, 배송 실패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되돌릴 곳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발견은 별도 문서가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 산출물과 정적 모델을 고쳐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반영한다.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44. 적정 동적 모델링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57566" y="2801048"/>
          <a:ext cx="5415280" cy="3873500"/>
        </p:xfrm>
        <a:graphic>
          <a:graphicData uri="http://schemas.openxmlformats.org/drawingml/2006/table">
            <a:tbl>
              <a:tblPr/>
              <a:tblGrid>
                <a:gridCol w="295910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그릴 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그리지 않을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규칙·예외가 많은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단순 조회·자명한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개념·외부 시스템이 얽힌 상호작용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 안에서 끝나는 처리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생애와 전이 규칙이 중요한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상태가 없거나 두세 개뿐인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누락이 의심될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판단이 나오지 않을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질문에 답할 만큼만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그린다. 모든 흐름과 모든 개념에 모든 다이어그램을 그리지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"모델과 문서는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당면한 작업에 충분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해야 한다. 애자일 실무자들의 말로는 '겨우 충분할 만큼'이다"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"agile models and agile documents are sufficient for the task at hand, or as agilists like to say they are just barely good enough"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Scott W. Ambler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45. 잘못된 관행 — 설계 객체 혼입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40675" y="1842998"/>
          <a:ext cx="6449060" cy="3873500"/>
        </p:xfrm>
        <a:graphic>
          <a:graphicData uri="http://schemas.openxmlformats.org/drawingml/2006/table">
            <a:tbl>
              <a:tblPr/>
              <a:tblGrid>
                <a:gridCol w="371348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참여자: 주문 컨트롤러, 주문 서비스, 주문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참여자: 주문, 결제, 환불,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cancel(orderId): boolean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DB 저장, 트랜잭션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결과: 주문이 취소됨이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시퀀스를 설계에 그대로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 배치는 설계에서 다시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분석의 상호작용에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넣으면 도메인 객체 사이의 의미가 기술 구조에 가려진다.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46. 잘못된 관행 — 정적 모델만 있는 분석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29476" y="1842998"/>
          <a:ext cx="7871460" cy="3873500"/>
        </p:xfrm>
        <a:graphic>
          <a:graphicData uri="http://schemas.openxmlformats.org/drawingml/2006/table">
            <a:tbl>
              <a:tblPr/>
              <a:tblGrid>
                <a:gridCol w="2456180"/>
                <a:gridCol w="2763520"/>
                <a:gridCol w="26517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드러나지 않는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모델만 그리고 분석 종료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환불·배송 같은 누락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주요 흐름을 상호작용으로 따라간다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상태를 값 목록으로만 정의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금지된 전이, 중간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기계로 전이를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연관을 추측으로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실제로 쓰이지 않는 연관, 빠진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링크와 대조한다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클래스 다이어그램만 그리고 분석을 끝내면, 개념·연관·속성·상태가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사건으로 검증되지 않은 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설계로 넘어간다.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47. 잘못된 관행 — 모든 흐름 그리기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77456" y="1842998"/>
          <a:ext cx="7175500" cy="3873500"/>
        </p:xfrm>
        <a:graphic>
          <a:graphicData uri="http://schemas.openxmlformats.org/drawingml/2006/table">
            <a:tbl>
              <a:tblPr/>
              <a:tblGrid>
                <a:gridCol w="407670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조회·등록 같은 단순 흐름마다 시퀀스를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규칙·예외가 많은 흐름만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요청에 응답 화살표를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 있는 응답만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방어 코드 수준의 예외를 모두 조각으로 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목표 달성 경로가 달라지는 경우만 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상호작용을 시퀀스와 커뮤니케이션으로 모두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질문에 맞는 하나를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시나리오·조회·예외마다 다이어그램을 그리면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핵심 흐름이 묻힌다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48. 잘못된 관행 — 순서도가 된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01686" y="1842998"/>
          <a:ext cx="5527040" cy="3873500"/>
        </p:xfrm>
        <a:graphic>
          <a:graphicData uri="http://schemas.openxmlformats.org/drawingml/2006/table">
            <a:tbl>
              <a:tblPr/>
              <a:tblGrid>
                <a:gridCol w="3350260"/>
                <a:gridCol w="2176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버튼 클릭·화면 이동을 행동으로 나열한다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의미의 행동을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반복문·변수 대입 같은 코드 흐름을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흐름만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수영 레인 없이 누가 하는지 알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레인으로 책임자를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결정(마름모)과 병행(굵은 막대)을 섞어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분기는 마름모, 병행은 막대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화면 조작 순서나 코드 제어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순서도로 쓰면 업무 흐름과 책임이 보이지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- 60 -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49. 잘못된 관행 — 상태 기계 오용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91425" y="1842998"/>
          <a:ext cx="7147560" cy="3873500"/>
        </p:xfrm>
        <a:graphic>
          <a:graphicData uri="http://schemas.openxmlformats.org/drawingml/2006/table">
            <a:tbl>
              <a:tblPr/>
              <a:tblGrid>
                <a:gridCol w="404876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 중·저장 중 같은 화면·처리 단계를 상태로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업무적으로 의미 있는 상황만 상태로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결제됨·출고됨·취소됨을 참·거짓 플래그 여러 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하나의 상태 값과 전이로 표현한다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상태를 곱해 모든 조합을 상태로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축을 나누거나 상위 상태로 묶는다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이름 없는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전이에 사건, 필요하면 가드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상태가 아닌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넣거나 상태를 흩어 두면 규칙이 사라진다.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50. 잘못된 관행 — 모델 간 불일치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3335" y="1585960"/>
          <a:ext cx="7063740" cy="3873500"/>
        </p:xfrm>
        <a:graphic>
          <a:graphicData uri="http://schemas.openxmlformats.org/drawingml/2006/table">
            <a:tbl>
              <a:tblPr/>
              <a:tblGrid>
                <a:gridCol w="410464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모델은 "배송 중", 상태 기계는 "배송 진행"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이름을 모든 모델에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상호작용의 참여자가 정적 모델에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개념을 추가하거나 참여자를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 모델에서 찾은 상태를 정적 모델에 반영하지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 즉시 정적 모델과 용어집을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계약의 사후조건이 모델에 없는 말을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모델의 요소로 사후조건을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모델마다 이름과 값이 다르면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서로를 검증할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275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모든 모델의 이름을 정한다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분석은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한글 용어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설계는 같은 용어의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영문명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51. 동적 모델에서 코드로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32396" y="1842998"/>
          <a:ext cx="6865620" cy="3873500"/>
        </p:xfrm>
        <a:graphic>
          <a:graphicData uri="http://schemas.openxmlformats.org/drawingml/2006/table">
            <a:tbl>
              <a:tblPr/>
              <a:tblGrid>
                <a:gridCol w="1143000"/>
                <a:gridCol w="2148840"/>
                <a:gridCol w="3573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·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메서드 호출 · if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분기·합류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순서에 의존하지 않는 호출 · 모두 끝난 뒤 진행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· 생성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받는 객체의 메서드 · new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비동기 메시지 · alt·loop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완료를 기다리지 않는 요청 · if·for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· 번호 1.1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 필드 · 호출 안의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·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enum 값 · 상태를 바꾸는 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 · 금지된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 전 검사 ·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요구의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허용·거절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 동적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행위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다른 면에서 본다. 주문 취소를 코드로 옮기면 각 다이어그램의 요소가 코드의 서로 다른 곳에 나타난다.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51. 동적 모델에서 코드로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비동기의 기준은 반환값이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완료를 기다리는가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예제는 전달 방식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(큐·이벤트)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생략하고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요청의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순서만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보장하는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코드에 없는 전이는 일어나지 않고, 취소는 출고 중단 뒤에 환불을 요청한다.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보장하지 않는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결제 대기 취소의 정책, 출고 중단 거절·환불 실패의 정책, 통보가 오지 않을 때의 처리. 요구 질문으로 남긴 것이다.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52. 동적 모델의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분석의 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보여줄 뿐,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구조로 실현할지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정하지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취소를 어느 객체가 조정하는가? → "07. 책임·협력·계약"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주문과 배송은 같은 경계 안에 있는가? → "05. 구조적 경계와 의존성"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실패와 동시성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출고와 취소가 동시에 일어나면? 환불이 실패하면? → 요구 확인과 설계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이벤트를 어떤 방식으로 전달하는가? → "10. 기술 제약과 도메인 의미 보존"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53. 실습 — 동적 모델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「정기배송을 신청한다」의 기본 흐름과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정기배송의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만들고, 점검 항목으로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실습 2의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유스케이스 명세서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실습 3의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도메인 모델 상세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실제로는 여러분의 결과물을 이어 씁니다.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① "위 기본 흐름을 도메인 모델의 객체로 PlantUML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그려줘. 화면·컨트롤러 같은 설계 객체는 넣지 마."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② "정기배송의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PlantUML로 그려줘. 전이마다 사건, 가드, 동작을 표시해줘."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참여 객체와 이름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도메인 모델의 개념만 참여하고, 메시지·상태의 이름이 용어집과 같은가?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연관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메시지가 도메인 모델의 연관을 따라 흐르는가?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반복·외부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담기의 반복과 결제·배송 요청이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정기배송의 상태가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으로 바뀌는가?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가드·시간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요청 결과의 가드와 만료 같은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시간 이벤트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교차 검토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도메인 모델에 없는 속성·연관이 필요하면 되돌렸는가?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시퀀스와 상태 기계 다이어그램. 실습 5의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54. 시퀀스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기본 흐름을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펼쳤다. 장바구니가 정기배송을 만들고, 정기배송이 결제·확정·배송 요청을 이끈다.</a:t>
            </a:r>
          </a:p>
        </p:txBody>
      </p:sp>
      <p:pic>
        <p:nvPicPr>
          <p:cNvPr id="9" name="plantuml Diagram 16"/>
          <p:cNvPicPr>
            <a:picLocks noChangeAspect="1"/>
          </p:cNvPicPr>
          <p:nvPr/>
        </p:nvPicPr>
        <p:blipFill>
          <a:blip r:embed="plantumlImage16"/>
          <a:stretch>
            <a:fillRect/>
          </a:stretch>
        </p:blipFill>
        <p:spPr>
          <a:xfrm>
            <a:off x="465015" y="1957815"/>
            <a:ext cx="8213969" cy="406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55. 커뮤니케이션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같은 상호작용을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링크와 메시지 번호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로 보였다. 링크는 도메인 모델의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연관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일치해야 한다.</a:t>
            </a:r>
          </a:p>
        </p:txBody>
      </p:sp>
      <p:pic>
        <p:nvPicPr>
          <p:cNvPr id="9" name="plantuml Diagram 17"/>
          <p:cNvPicPr>
            <a:picLocks noChangeAspect="1"/>
          </p:cNvPicPr>
          <p:nvPr/>
        </p:nvPicPr>
        <p:blipFill>
          <a:blip r:embed="plantumlImage17"/>
          <a:stretch>
            <a:fillRect/>
          </a:stretch>
        </p:blipFill>
        <p:spPr>
          <a:xfrm>
            <a:off x="1162538" y="2523804"/>
            <a:ext cx="6818923" cy="2686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56. 상태 기계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정기배송은 결제와 배송 요청의 결과에 따라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확정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되거나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신청 실패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가 되고, 해지나 만료로 끝난다.</a:t>
            </a:r>
          </a:p>
        </p:txBody>
      </p:sp>
      <p:pic>
        <p:nvPicPr>
          <p:cNvPr id="9" name="plantuml Diagram 18"/>
          <p:cNvPicPr>
            <a:picLocks noChangeAspect="1"/>
          </p:cNvPicPr>
          <p:nvPr/>
        </p:nvPicPr>
        <p:blipFill>
          <a:blip r:embed="plantumlImage18"/>
          <a:stretch>
            <a:fillRect/>
          </a:stretch>
        </p:blipFill>
        <p:spPr>
          <a:xfrm>
            <a:off x="1146663" y="1688535"/>
            <a:ext cx="6850673" cy="4357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57. 동적 모델 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정기배송에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정기배송 상태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더한다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(결제 대기·확정·신청 실패·해지됨·만료됨)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"정기배송은 상태를 갖지 않는다"를 고친다.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회차별 취소·배송은 배송 회차가 갖는다. 해지는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정기배송 상태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판단한다.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생성 책임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장바구니가 정기배송을, 정기배송이 배송 회차와 결제를 만든다.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유스케이스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7a 배송 요청 실패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"결제 승인 후 미확정" 상태가 있음을 밝힌다.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동적 모델을 만들며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SubscriptionStatus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: 결제 대기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PENDING_PAYMENT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확정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CONFIRMED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신청 실패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FAILED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해지됨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TERMINATED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만료됨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EXPIRED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 상태와 그 용어, 생성 책임. 실습 5의 패키지·코드의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유스케이스 명세서의 7a 설명.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58.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사건에 따른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상호작용과 상태 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동적 모델로 확인하고, 정적 모델과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모델의 핵심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정적·동적 모델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존재와 사건. 서로의 질문으로 검증한다.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분석과 설계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분석은 도메인 객체, 설계는 설계 객체의 상호작용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다이어그램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활동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(유스케이스)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·SSD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(시나리오)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에서 출발해 시퀀스 중심, 커뮤니케이션·상태 기계로 보완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모델과 코드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결정은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if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메시지는 받는 객체의 메서드, 링크는 필드, 상태는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enum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금지된 전이는 거절 테스트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교차검토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계약·상호작용·상태를 정적 모델에 대어 누락과 모순을 찾는다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적정 모델링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질문에 답할 만큼만 그린다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05. 구조적 경계와 의존성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 결과를 바탕으로 책임이 놓일 경계와 의존성 방향을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71</Slides>
  <Notes>58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71</vt:i4>
      </vt:variant>
    </vt:vector>
  </HeadingPairs>
  <TitlesOfParts>
    <vt:vector size="75" baseType="lpstr">
      <vt:lpstr>맑은 고딕</vt:lpstr>
      <vt:lpstr>Arial</vt:lpstr>
      <vt:lpstr>Wingdings</vt:lpstr>
      <vt:lpstr>4_Office 테마</vt:lpstr>
      <vt:lpstr>04. 동적 모델 목차 (1/2)</vt:lpstr>
      <vt:lpstr>04. 동적 모델 목차 (2/2)</vt:lpstr>
      <vt:lpstr>01. 세션 목표</vt:lpstr>
      <vt:lpstr>02. 정적 모델에서 동적 모델로</vt:lpstr>
      <vt:lpstr>03. 동적 모델</vt:lpstr>
      <vt:lpstr>04. 정적·동적 모델의 상호 검증</vt:lpstr>
      <vt:lpstr>05. 사건과 반응</vt:lpstr>
      <vt:lpstr>06. 동적 모델의 종류</vt:lpstr>
      <vt:lpstr>07. 분석과 설계의 상호작용</vt:lpstr>
      <vt:lpstr>08. 프로세스와 동적 분석</vt:lpstr>
      <vt:lpstr>09. 정제된 SSD</vt:lpstr>
      <vt:lpstr>10. 계약의 정제</vt:lpstr>
      <vt:lpstr>11. 상호작용 (1/2)</vt:lpstr>
      <vt:lpstr>11. 상호작용 (2/2)</vt:lpstr>
      <vt:lpstr>12. 상호작용 모델의 용도 시퀀스·커뮤니케이션 다이어그램</vt:lpstr>
      <vt:lpstr>13. 상호작용에서 발견하는 것 시퀀스·커뮤니케이션 다이어그램</vt:lpstr>
      <vt:lpstr>14. 활동 다이어그램</vt:lpstr>
      <vt:lpstr>15. 유스케이스와 활동 (1/2)</vt:lpstr>
      <vt:lpstr>15. 유스케이스와 활동 (2/2)</vt:lpstr>
      <vt:lpstr>16. 업무 흐름 (1/2) 활동 다이어그램</vt:lpstr>
      <vt:lpstr>16. 업무 흐름 (2/2) 활동 다이어그램</vt:lpstr>
      <vt:lpstr>17. 이벤트와 활동</vt:lpstr>
      <vt:lpstr>18. 활동과 SSD</vt:lpstr>
      <vt:lpstr>19. 시퀀스 다이어그램</vt:lpstr>
      <vt:lpstr>20. 오퍼레이션에서 상호작용으로 시퀀스 다이어그램</vt:lpstr>
      <vt:lpstr>21. 참여 객체와 도메인 모델 시퀀스 다이어그램</vt:lpstr>
      <vt:lpstr>22. 연관을 따라 흐르는 메시지 시퀀스 다이어그램</vt:lpstr>
      <vt:lpstr>23. 장바구니 담기 시퀀스</vt:lpstr>
      <vt:lpstr>24. 주문 생성 시퀀스</vt:lpstr>
      <vt:lpstr>25. 결제 시퀀스 (1/2)</vt:lpstr>
      <vt:lpstr>25. 결제 시퀀스 (2/2)</vt:lpstr>
      <vt:lpstr>26. 주문 취소 시퀀스 (1/3)</vt:lpstr>
      <vt:lpstr>26. 주문 취소 시퀀스 (2/3)</vt:lpstr>
      <vt:lpstr>26. 주문 취소 시퀀스 (3/3)</vt:lpstr>
      <vt:lpstr>27. 시퀀스 다이어그램 조각 (1/2)</vt:lpstr>
      <vt:lpstr>27. 시퀀스 다이어그램 조각 (2/2)</vt:lpstr>
      <vt:lpstr>28. 커뮤니케이션 다이어그램</vt:lpstr>
      <vt:lpstr>29. 시퀀스와 커뮤니케이션</vt:lpstr>
      <vt:lpstr>30. 링크와 연관 (1/2) 커뮤니케이션 다이어그램</vt:lpstr>
      <vt:lpstr>30. 링크와 연관 (2/2) 커뮤니케이션 다이어그램</vt:lpstr>
      <vt:lpstr>31. 상태 상태 기계 다이어그램</vt:lpstr>
      <vt:lpstr>32. 상태 기계 다이어그램</vt:lpstr>
      <vt:lpstr>33. 주문 상태 기계 (1/2)</vt:lpstr>
      <vt:lpstr>33. 주문 상태 기계 (2/2)</vt:lpstr>
      <vt:lpstr>34. 출고와 배송 시작 상태 기계 다이어그램</vt:lpstr>
      <vt:lpstr>35. 가드와 금지된 전이 (1/2) 상태 기계 다이어그램</vt:lpstr>
      <vt:lpstr>35. 가드와 금지된 전이 (2/2) 상태 기계 다이어그램</vt:lpstr>
      <vt:lpstr>36. 시간 이벤트 상태 기계 다이어그램</vt:lpstr>
      <vt:lpstr>37. 상태 폭증 상태 기계 다이어그램</vt:lpstr>
      <vt:lpstr>38. 상태와 불변 조건 상태 기계 다이어그램</vt:lpstr>
      <vt:lpstr>39. 교차검토 절차</vt:lpstr>
      <vt:lpstr>40. 계약과 정적 모델</vt:lpstr>
      <vt:lpstr>41. 상태와 정적 모델 상태 기계 다이어그램</vt:lpstr>
      <vt:lpstr>42. 상호작용과 정적 모델 시퀀스·커뮤니케이션 다이어그램</vt:lpstr>
      <vt:lpstr>43. 누락과 모순</vt:lpstr>
      <vt:lpstr>44. 적정 동적 모델링</vt:lpstr>
      <vt:lpstr>45. 잘못된 관행 — 설계 객체 혼입 시퀀스 다이어그램</vt:lpstr>
      <vt:lpstr>46. 잘못된 관행 — 정적 모델만 있는 분석</vt:lpstr>
      <vt:lpstr>47. 잘못된 관행 — 모든 흐름 그리기 시퀀스·커뮤니케이션 다이어그램</vt:lpstr>
      <vt:lpstr>48. 잘못된 관행 — 순서도가 된 활동</vt:lpstr>
      <vt:lpstr>49. 잘못된 관행 — 상태 기계 오용</vt:lpstr>
      <vt:lpstr>50. 잘못된 관행 — 모델 간 불일치</vt:lpstr>
      <vt:lpstr>51. 동적 모델에서 코드로 (1/2)</vt:lpstr>
      <vt:lpstr>51. 동적 모델에서 코드로 (2/2)</vt:lpstr>
      <vt:lpstr>52. 동적 모델의 한계</vt:lpstr>
      <vt:lpstr>53. 실습 — 동적 모델</vt:lpstr>
      <vt:lpstr>54. 시퀀스 다이어그램 (안)</vt:lpstr>
      <vt:lpstr>55. 커뮤니케이션 다이어그램 (안)</vt:lpstr>
      <vt:lpstr>56. 상태 기계 다이어그램 (안)</vt:lpstr>
      <vt:lpstr>57. 동적 모델 보완 (안)</vt:lpstr>
      <vt:lpstr>58.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04. 동적 모델 — 상호작용과 상태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