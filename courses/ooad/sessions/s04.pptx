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무엇이 존재하는지를 다뤘다. 동적 모델은 무엇이 일어나는지를 다룬다. 설계 객체의 상호작용은 "세션 06. 분석 모델에서 설계 모델로"와 "세션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"세션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"세션 02. 요구 분석과 유스케이스"에서 요구의 공통 단위로 본 이벤트가 동적 모델의 출발점이다.</a:t>
            </a:r>
          </a:p>
          <a:p>
            <a:pPr lvl="0"/>
            <a:r>
              <a:rPr lang="ko-KR" sz="1200"/>
              <a:t>표는 사건별 상호작용과 상태 변화를 대응시킨다. 취소 처리 중은 주문 취소 계약을 동적으로 검토하면서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정한다("세션 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다이어그램과 정적 모델의 관계는 "세션 03. 정적 모델 — 도메인 개념과 관계"의 「03. 정적 모델과 동적 모델」에서 소개했다. 모델은 답하려는 질문에 따라 고른다.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"세션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"세션 02. 요구 분석과 유스케이스"의 「45. 시스템 오퍼레이션과 계약」에 있다.</a:t>
            </a:r>
          </a:p>
          <a:p>
            <a:pPr lvl="0"/>
            <a:r>
              <a:rPr lang="ko-KR" sz="1200"/>
              <a:t>출고 중단·환불 요청은 사후조건이 아니라 시퀀스에 나타나는 시스템 사이의 이벤트다.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"세션 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"세션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조건은 판단하는 시스템과 사건이 다르다.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"세션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DFD로 컴퓨터 시스템 안의 데이터 흐름을 보고, 같은 흐름을 활동 다이어그램으로 옮겨 비교한다.</a:t>
            </a:r>
          </a:p>
          <a:p>
            <a:pPr lvl="0"/>
            <a:r>
              <a:rPr lang="ko-KR" sz="1200"/>
              <a:t>표기는 Yourdon·DeMarco 표기(프로세스는 원)다. Gane·Sarson 표기는 프로세스를 둥근 사각형으로 그린다. 정보공학의 데이터 모델(ERD)은 "세션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"세션 02. 요구 분석과 유스케이스"는 SSD에 필요한 표기만 소개했다. 분석 시퀀스는 객체·생성·프레임을 포함한 표기를 사용한다.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받는다("세션 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"세션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"세션 02. 요구 분석과 유스케이스"의 명세서 규칙과 정제된 SSD의 순서를 고친다.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"세션 02. 요구 분석과 유스케이스"의 명세서(대안 흐름 1a)와 정제된 SSD에 되돌린다(「09. 교차검토」).</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뒤의 「시퀀스와 커뮤니케이션」에서 같은 장면을 한 장에 놓고 비교한다.</a:t>
            </a:r>
          </a:p>
          <a:p>
            <a:pPr lvl="0"/>
            <a:r>
              <a:rPr lang="ko-KR" sz="1200"/>
              <a:t>시퀀스의 자기 호출은 읽기 쉽도록 생략할 수 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판단한다("세션 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거절되면 환불 요청을 보내지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"세션 03. 정적 모델 — 도메인 개념과 관계"의 「03. 정적 모델과 동적 모델」의 「상태 값과 상태 전이」에서 다뤘다.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하다("세션 02. 요구 분석과 유스케이스"). 주문 사례에는 시간 이벤트가 없다. 실습의 정기배송에서 만료로 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동적 분석에서 발견한 취소 처리 중을 더한 것이다(진화). 이 값은 교차검토를 거쳐 정적 모델에 반영한다.</a:t>
            </a:r>
          </a:p>
          <a:p>
            <a:pPr lvl="0"/>
            <a:r>
              <a:rPr lang="ko-KR" sz="1200"/>
              <a:t>새 상태 취소 처리 중은 용어집에도 더한다("세션 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정한다("세션 05. 구조적 경계와 의존성").</a:t>
            </a:r>
          </a:p>
          <a:p>
            <a:pPr lvl="0"/>
            <a:r>
              <a:rPr lang="ko-KR" sz="1200"/>
              <a:t>결제의 배송 요청은 주문 상태를 바꾸지 않는다.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두 표현이 같은지와 출고를 누가 아는지를 질문으로 남겼다. 판단 주체가 다르다는 것은 공통 전제이고, 두 경계의 선후는 이 topic의 교육용 가정이다. 답이 정해지면 "세션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"세션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"세션 07. 책임·협력·계약"에서 정한다.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"세션 02. 요구 분석과 유스케이스"의 「09. 반복적 접근」처럼 요구·정적 모델·동적 모델을 함께 고친다.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"세션 11. 통합 설계와 적정 모델링"에서 다룬다.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정상이다("세션 06. 분석 모델에서 설계 모델로"). 문제는 분석 단계에 섞이는 것이다.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유스케이스"에서 정의하고 "세션 03. 정적 모델 — 도메인 개념과 관계"의 「13. 용어 정렬」의 「용어집 정제」에서 정제한 용어집이 모든 모델의 기준이다.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"세션 01. OOAD 개요"의 다섯 다이어그램 코드, "세션 02. 요구 분석과 유스케이스"의 SSD·계약 코드, "세션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항목의 생성은 읽기 쉽도록 생략했다. 화살표의 보낸 쪽을 설계 책임으로 확정하지 않는다.</a:t>
            </a:r>
          </a:p>
          <a:p>
            <a:pPr lvl="0"/>
            <a:r>
              <a:rPr lang="ko-KR" sz="1200"/>
              <a:t>배송 요청은 비동기다. 배송 시스템이 회차마다 배송한다.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시나리오를 동적 모델로 실행해 보고, 정적 모델의 개념·연관·상태가 사건을 설명하는지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정적 모델 —</a:t>
            </a:r>
            <a:r>
              <a:rPr sz="1600" b="0">
                <a:solidFill>
                  <a:srgbClr val="000000"/>
                </a:solidFill>
                <a:latin typeface="맑은 고딕"/>
                <a:ea typeface="맑은 고딕"/>
              </a:rPr>
              <a:t> 도메인 개념과 관계"의 정적 모델을 완성된 결과가 아니라 </a:t>
            </a:r>
            <a:r>
              <a:rPr sz="1600" b="1">
                <a:solidFill>
                  <a:srgbClr val="000000"/>
                </a:solidFill>
                <a:latin typeface="맑은 고딕"/>
                <a:ea typeface="맑은 고딕"/>
              </a:rPr>
              <a:t>검증할 가설</a:t>
            </a:r>
            <a:r>
              <a:rPr sz="1600" b="0">
                <a:solidFill>
                  <a:srgbClr val="000000"/>
                </a:solidFill>
                <a:latin typeface="맑은 고딕"/>
                <a:ea typeface="맑은 고딕"/>
              </a:rPr>
              <a:t>로 보고,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시나리오에서 찾은 개념과 관계에 대한 </a:t>
            </a:r>
            <a:r>
              <a:rPr sz="1800" b="1">
                <a:solidFill>
                  <a:srgbClr val="000000"/>
                </a:solidFill>
                <a:latin typeface="맑은 고딕"/>
                <a:ea typeface="맑은 고딕"/>
              </a:rPr>
              <a:t>가설</a:t>
            </a:r>
            <a:r>
              <a:rPr sz="1800" b="0">
                <a:solidFill>
                  <a:srgbClr val="000000"/>
                </a:solidFill>
                <a:latin typeface="맑은 고딕"/>
                <a:ea typeface="맑은 고딕"/>
              </a:rPr>
              <a:t>이다. 어떤 순서로 무엇이 바뀌는지 실행해 보아야 그 가설의 누락과 모순을 찾을 수 있다. "세션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3815" y="4349496"/>
            <a:ext cx="5636369" cy="6659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249468"/>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10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250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6912"/>
            <a:ext cx="8412480" cy="201168"/>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3724656"/>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12010"/>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객체 수준의 동적 모델은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392115" y="2749296"/>
            <a:ext cx="6359769" cy="27793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23145"/>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주문 취소 계약</a:t>
            </a:r>
            <a:r>
              <a:rPr sz="1800" b="0">
                <a:solidFill>
                  <a:srgbClr val="000000"/>
                </a:solidFill>
                <a:latin typeface="맑은 고딕"/>
                <a:ea typeface="맑은 고딕"/>
              </a:rPr>
              <a:t>은 대안 흐름 1a에서 정의되어 있다. 계약을 작성하다 보면 도메인 모델에 </a:t>
            </a:r>
            <a:r>
              <a:rPr sz="1800" b="1">
                <a:solidFill>
                  <a:srgbClr val="000000"/>
                </a:solidFill>
                <a:latin typeface="맑은 고딕"/>
                <a:ea typeface="맑은 고딕"/>
              </a:rPr>
              <a:t>없는 것</a:t>
            </a:r>
            <a:r>
              <a:rPr sz="1800" b="0">
                <a:solidFill>
                  <a:srgbClr val="000000"/>
                </a:solidFill>
                <a:latin typeface="맑은 고딕"/>
                <a:ea typeface="맑은 고딕"/>
              </a:rPr>
              <a:t>(</a:t>
            </a:r>
            <a:r>
              <a:rPr sz="18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상호작용이고, 분석 시퀀스는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사이를 보여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1729740"/>
                <a:gridCol w="240030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지원 액터와의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상호작용의 요소마다 발견할 수 있는 문제가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35748"/>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3073492"/>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79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67515" y="2124456"/>
            <a:ext cx="4408971" cy="42520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462686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48615" y="2153894"/>
            <a:ext cx="4261154" cy="362248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490382" y="2124456"/>
            <a:ext cx="6163235" cy="42022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86330"/>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"세션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88054"/>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8960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239877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1244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36206"/>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37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9280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2911394"/>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3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2623820"/>
                <a:gridCol w="231648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변경을 받아들이면 주소를 바꿈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분석에서는 첫 메시지를 사건의 중심 개념에 놓아 상호작용을 검토하고, 최종 책임은 설계에서 다시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첫 수신자는 분석을 위한 </a:t>
            </a:r>
            <a:r>
              <a:rPr sz="1800" b="1">
                <a:solidFill>
                  <a:srgbClr val="000000"/>
                </a:solidFill>
                <a:latin typeface="맑은 고딕"/>
                <a:ea typeface="맑은 고딕"/>
              </a:rPr>
              <a:t>배치 가설</a:t>
            </a:r>
            <a:r>
              <a:rPr sz="1800" b="0">
                <a:solidFill>
                  <a:srgbClr val="000000"/>
                </a:solidFill>
                <a:latin typeface="맑은 고딕"/>
                <a:ea typeface="맑은 고딕"/>
              </a:rPr>
              <a:t>이다. 설계 객체와 최종 책임은 "세션 06. 분석 모델에서 설계 모델로"와 "세션 07. 책임·협력·계약"에서 결정한다.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3374136"/>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386330"/>
          <a:ext cx="5748020" cy="3873500"/>
        </p:xfrm>
        <a:graphic>
          <a:graphicData uri="http://schemas.openxmlformats.org/drawingml/2006/table">
            <a:tbl>
              <a:tblPr/>
              <a:tblGrid>
                <a:gridCol w="2819400"/>
                <a:gridCol w="170180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보내는 요청은 정적 모델의 연관이 아니라 </a:t>
            </a:r>
            <a:r>
              <a:rPr sz="1800" b="1">
                <a:solidFill>
                  <a:srgbClr val="000000"/>
                </a:solidFill>
                <a:latin typeface="맑은 고딕"/>
                <a:ea typeface="맑은 고딕"/>
              </a:rPr>
              <a:t>지원 액터와의 연결</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5"/>
          <p:cNvPicPr>
            <a:picLocks noChangeAspect="1"/>
          </p:cNvPicPr>
          <p:nvPr/>
        </p:nvPicPr>
        <p:blipFill>
          <a:blip r:embed="plantumlImage5"/>
          <a:stretch>
            <a:fillRect/>
          </a:stretch>
        </p:blipFill>
        <p:spPr>
          <a:xfrm>
            <a:off x="663819" y="2124456"/>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6"/>
          <p:cNvPicPr>
            <a:picLocks noChangeAspect="1"/>
          </p:cNvPicPr>
          <p:nvPr/>
        </p:nvPicPr>
        <p:blipFill>
          <a:blip r:embed="plantumlImage6"/>
          <a:stretch>
            <a:fillRect/>
          </a:stretch>
        </p:blipFill>
        <p:spPr>
          <a:xfrm>
            <a:off x="742462" y="2124456"/>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6876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68765"/>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7"/>
          <p:cNvPicPr>
            <a:picLocks noChangeAspect="1"/>
          </p:cNvPicPr>
          <p:nvPr/>
        </p:nvPicPr>
        <p:blipFill>
          <a:blip r:embed="plantumlImage7"/>
          <a:stretch>
            <a:fillRect/>
          </a:stretch>
        </p:blipFill>
        <p:spPr>
          <a:xfrm>
            <a:off x="1508369" y="2153894"/>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35366"/>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919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 예</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loop</a:t>
            </a:r>
            <a:r>
              <a:rPr sz="1600" b="0">
                <a:solidFill>
                  <a:srgbClr val="000000"/>
                </a:solidFill>
                <a:latin typeface="맑은 고딕"/>
                <a:ea typeface="맑은 고딕"/>
              </a:rPr>
              <a:t>는 「정제된 SSD」와 「결제 시퀀스」에서 상품마다 반복하는 재고 차감에 썼다.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2115038" y="3099816"/>
            <a:ext cx="4913923" cy="3209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3347812"/>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취소의 앞부분으로 번호를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주문은 취소를 처리하면서 배송에 출고 중단을 요청하고, 배송은 외부 배송 시스템에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끝나고 환불을 요청하면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9"/>
          <p:cNvPicPr>
            <a:picLocks noChangeAspect="1"/>
          </p:cNvPicPr>
          <p:nvPr/>
        </p:nvPicPr>
        <p:blipFill>
          <a:blip r:embed="plantumlImage9"/>
          <a:stretch>
            <a:fillRect/>
          </a:stretch>
        </p:blipFill>
        <p:spPr>
          <a:xfrm>
            <a:off x="693615" y="3099816"/>
            <a:ext cx="7756769"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173268"/>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이며 더 형식적으로는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5386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0"/>
          <p:cNvPicPr>
            <a:picLocks noChangeAspect="1"/>
          </p:cNvPicPr>
          <p:nvPr/>
        </p:nvPicPr>
        <p:blipFill>
          <a:blip r:embed="plantumlImage10"/>
          <a:stretch>
            <a:fillRect/>
          </a:stretch>
        </p:blipFill>
        <p:spPr>
          <a:xfrm>
            <a:off x="751742" y="3099816"/>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1"/>
          <p:cNvPicPr>
            <a:picLocks noChangeAspect="1"/>
          </p:cNvPicPr>
          <p:nvPr/>
        </p:nvPicPr>
        <p:blipFill>
          <a:blip r:embed="plantumlImage11"/>
          <a:stretch>
            <a:fillRect/>
          </a:stretch>
        </p:blipFill>
        <p:spPr>
          <a:xfrm>
            <a:off x="639885" y="3176016"/>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04234"/>
          <a:ext cx="6390640" cy="3873500"/>
        </p:xfrm>
        <a:graphic>
          <a:graphicData uri="http://schemas.openxmlformats.org/drawingml/2006/table">
            <a:tbl>
              <a:tblPr/>
              <a:tblGrid>
                <a:gridCol w="1673860"/>
                <a:gridCol w="217678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*[주문 항목마다]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057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7283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2"/>
          <p:cNvPicPr>
            <a:picLocks noChangeAspect="1"/>
          </p:cNvPicPr>
          <p:nvPr/>
        </p:nvPicPr>
        <p:blipFill>
          <a:blip r:embed="plantumlImage12"/>
          <a:stretch>
            <a:fillRect/>
          </a:stretch>
        </p:blipFill>
        <p:spPr>
          <a:xfrm>
            <a:off x="686821" y="2124456"/>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16350"/>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516350"/>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89125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3"/>
          <p:cNvPicPr>
            <a:picLocks noChangeAspect="1"/>
          </p:cNvPicPr>
          <p:nvPr/>
        </p:nvPicPr>
        <p:blipFill>
          <a:blip r:embed="plantumlImage13"/>
          <a:stretch>
            <a:fillRect/>
          </a:stretch>
        </p:blipFill>
        <p:spPr>
          <a:xfrm>
            <a:off x="693615" y="2153894"/>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124456"/>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와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13734"/>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152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2445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4"/>
          <p:cNvPicPr>
            <a:picLocks noChangeAspect="1"/>
          </p:cNvPicPr>
          <p:nvPr/>
        </p:nvPicPr>
        <p:blipFill>
          <a:blip r:embed="plantumlImage14"/>
          <a:stretch>
            <a:fillRect/>
          </a:stretch>
        </p:blipFill>
        <p:spPr>
          <a:xfrm>
            <a:off x="688731" y="3099816"/>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96811"/>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5"/>
          <p:cNvPicPr>
            <a:picLocks noChangeAspect="1"/>
          </p:cNvPicPr>
          <p:nvPr/>
        </p:nvPicPr>
        <p:blipFill>
          <a:blip r:embed="plantumlImage15"/>
          <a:stretch>
            <a:fillRect/>
          </a:stretch>
        </p:blipFill>
        <p:spPr>
          <a:xfrm>
            <a:off x="688731" y="2153894"/>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86330"/>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교육용 가정은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구분한다.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78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53849"/>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53849"/>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7318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6"/>
          <p:cNvPicPr>
            <a:picLocks noChangeAspect="1"/>
          </p:cNvPicPr>
          <p:nvPr/>
        </p:nvPicPr>
        <p:blipFill>
          <a:blip r:embed="plantumlImage16"/>
          <a:stretch>
            <a:fillRect/>
          </a:stretch>
        </p:blipFill>
        <p:spPr>
          <a:xfrm>
            <a:off x="688731" y="2410932"/>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386330"/>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참이어야 하는 </a:t>
            </a:r>
            <a:r>
              <a:rPr sz="1800" b="1">
                <a:solidFill>
                  <a:srgbClr val="000000"/>
                </a:solidFill>
                <a:latin typeface="맑은 고딕"/>
                <a:ea typeface="맑은 고딕"/>
              </a:rPr>
              <a:t>조건</a:t>
            </a:r>
            <a:r>
              <a:rPr sz="1800" b="0">
                <a:solidFill>
                  <a:srgbClr val="000000"/>
                </a:solidFill>
                <a:latin typeface="맑은 고딕"/>
                <a:ea typeface="맑은 고딕"/>
              </a:rPr>
              <a:t>은 정적 모델의 제약과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5" y="2112010"/>
          <a:ext cx="6388100" cy="3873500"/>
        </p:xfrm>
        <a:graphic>
          <a:graphicData uri="http://schemas.openxmlformats.org/drawingml/2006/table">
            <a:tbl>
              <a:tblPr/>
              <a:tblGrid>
                <a:gridCol w="889000"/>
                <a:gridCol w="94742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검토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사후조건의 생성·연관·속성 변화가 정적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값이 속성으로 정의되고,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참여자·링크가 개념·연관에 있고 실제 메시지에서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상태에서 참인 조건이 정적 모델의 제약과 모순되지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5</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발견한 누락·모순을 어느 모델과 요구에 반영할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a:t>
            </a:r>
            <a:r>
              <a:rPr sz="1800" b="1">
                <a:solidFill>
                  <a:srgbClr val="000000"/>
                </a:solidFill>
                <a:latin typeface="맑은 고딕"/>
                <a:ea typeface="맑은 고딕"/>
              </a:rPr>
              <a:t>서로 다른 질문</a:t>
            </a:r>
            <a:r>
              <a:rPr sz="1800" b="0">
                <a:solidFill>
                  <a:srgbClr val="000000"/>
                </a:solidFill>
                <a:latin typeface="맑은 고딕"/>
                <a:ea typeface="맑은 고딕"/>
              </a:rPr>
              <a:t>에 답한다. 서로의 질문으로 검토해야 누락과 모순이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교차검토의 순서와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86330"/>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84734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주문·결제·환불·배송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437890"/>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898948"/>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411566"/>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7"/>
          <p:cNvPicPr>
            <a:picLocks noChangeAspect="1"/>
          </p:cNvPicPr>
          <p:nvPr/>
        </p:nvPicPr>
        <p:blipFill>
          <a:blip r:embed="plantumlImage17"/>
          <a:stretch>
            <a:fillRect/>
          </a:stretch>
        </p:blipFill>
        <p:spPr>
          <a:xfrm>
            <a:off x="2168769" y="2749296"/>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12010"/>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2112010"/>
          <a:ext cx="7063740" cy="3873500"/>
        </p:xfrm>
        <a:graphic>
          <a:graphicData uri="http://schemas.openxmlformats.org/drawingml/2006/table">
            <a:tbl>
              <a:tblPr/>
              <a:tblGrid>
                <a:gridCol w="3601720"/>
                <a:gridCol w="3462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 없이 같은 상호작용을 두 형식으로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학습용 비교 뒤에는 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12010"/>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12010"/>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3769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2112010"/>
          <a:ext cx="5636260" cy="3873500"/>
        </p:xfrm>
        <a:graphic>
          <a:graphicData uri="http://schemas.openxmlformats.org/drawingml/2006/table">
            <a:tbl>
              <a:tblPr/>
              <a:tblGrid>
                <a:gridCol w="131064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행동·결정·병행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호출·if·독립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메시지·생성·비동기·프레임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메서드·new·요청·if·for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링크·메시지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기계와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상태·전이·가드·금지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enum·상태 변경·검사·테스트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비동기</a:t>
            </a:r>
            <a:r>
              <a:rPr sz="1800" b="0">
                <a:solidFill>
                  <a:srgbClr val="000000"/>
                </a:solidFill>
                <a:latin typeface="맑은 고딕"/>
                <a:ea typeface="맑은 고딕"/>
              </a:rPr>
              <a:t> —</a:t>
            </a:r>
            <a:r>
              <a:rPr sz="1600" b="0">
                <a:solidFill>
                  <a:srgbClr val="000000"/>
                </a:solidFill>
                <a:latin typeface="맑은 고딕"/>
                <a:ea typeface="맑은 고딕"/>
              </a:rPr>
              <a:t> 반환값이 아니라 완료를 기다리는지로 구분한다. 예제는 요청 기록으로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코드가 보장</a:t>
            </a:r>
            <a:r>
              <a:rPr sz="1800" b="0">
                <a:solidFill>
                  <a:srgbClr val="000000"/>
                </a:solidFill>
                <a:latin typeface="맑은 고딕"/>
                <a:ea typeface="맑은 고딕"/>
              </a:rPr>
              <a:t> —</a:t>
            </a:r>
            <a:r>
              <a:rPr sz="1600" b="0">
                <a:solidFill>
                  <a:srgbClr val="000000"/>
                </a:solidFill>
                <a:latin typeface="맑은 고딕"/>
                <a:ea typeface="맑은 고딕"/>
              </a:rPr>
              <a:t> 정의하지 않은 전이는 거절하고,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요구로 남김</a:t>
            </a:r>
            <a:r>
              <a:rPr sz="1800" b="0">
                <a:solidFill>
                  <a:srgbClr val="000000"/>
                </a:solidFill>
                <a:latin typeface="맑은 고딕"/>
                <a:ea typeface="맑은 고딕"/>
              </a:rPr>
              <a:t> —</a:t>
            </a:r>
            <a:r>
              <a:rPr sz="1600" b="0">
                <a:solidFill>
                  <a:srgbClr val="000000"/>
                </a:solidFill>
                <a:latin typeface="맑은 고딕"/>
                <a:ea typeface="맑은 고딕"/>
              </a:rPr>
              <a:t> 결제 대기 취소, 출고 중단 거절, 환불 실패, 통보가 오지 않을 때의 정책</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"세션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"세션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"세션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회차 생성의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분석 시퀀스는 도메인 객체 수준, 설계 시퀀스는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흐름을 객체 노드로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프레임으로, 연결 구조는 링크로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신청·결제·확정 구간을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정기배송·배송 회차·결제·영수증이 생기는 순서와 외부 요청을 확인한다. 메시지를 보내는 객체는 분석 단계의 가설이며 최종 책임은 설계에서 정한다.</a:t>
            </a:r>
          </a:p>
        </p:txBody>
      </p:sp>
      <p:pic>
        <p:nvPicPr>
          <p:cNvPr id="9" name="plantuml Diagram 18"/>
          <p:cNvPicPr>
            <a:picLocks noChangeAspect="1"/>
          </p:cNvPicPr>
          <p:nvPr/>
        </p:nvPicPr>
        <p:blipFill>
          <a:blip r:embed="plantumlImage18"/>
          <a:stretch>
            <a:fillRect/>
          </a:stretch>
        </p:blipFill>
        <p:spPr>
          <a:xfrm>
            <a:off x="606669" y="1620462"/>
            <a:ext cx="7930662" cy="35213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19"/>
          <p:cNvPicPr>
            <a:picLocks noChangeAspect="1"/>
          </p:cNvPicPr>
          <p:nvPr/>
        </p:nvPicPr>
        <p:blipFill>
          <a:blip r:embed="plantumlImage19"/>
          <a:stretch>
            <a:fillRect/>
          </a:stretch>
        </p:blipFill>
        <p:spPr>
          <a:xfrm>
            <a:off x="1146663" y="1539240"/>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506220"/>
                <a:gridCol w="3098800"/>
                <a:gridCol w="3700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이전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정기배송은 사건에 따라 다르게 반응한다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취소·배송은 회차 단위로 일어난다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주인은 배송 회차. 값·전이는 다음 배송 취소에서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정기배송·배송 회차·결제·영수증이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연관을 확인한다. 생성 책임은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7a는 결제 승인 뒤 배송 요청이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후에도 정기배송이 확정되지 않음을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상태가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모델에서 발견한 것 가운데 </a:t>
            </a:r>
            <a:r>
              <a:rPr sz="1800" b="1">
                <a:solidFill>
                  <a:srgbClr val="000000"/>
                </a:solidFill>
                <a:latin typeface="맑은 고딕"/>
                <a:ea typeface="맑은 고딕"/>
              </a:rPr>
              <a:t>후속 작업에 필요한 내용</a:t>
            </a:r>
            <a:r>
              <a:rPr sz="1800" b="0">
                <a:solidFill>
                  <a:srgbClr val="000000"/>
                </a:solidFill>
                <a:latin typeface="맑은 고딕"/>
                <a:ea typeface="맑은 고딕"/>
              </a:rPr>
              <a:t>을 이전 산출물에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이전 산출물 보완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반영</a:t>
            </a:r>
            <a:r>
              <a:rPr sz="1800" b="0">
                <a:solidFill>
                  <a:srgbClr val="000000"/>
                </a:solidFill>
                <a:latin typeface="맑은 고딕"/>
                <a:ea typeface="맑은 고딕"/>
              </a:rPr>
              <a:t> —</a:t>
            </a:r>
            <a:r>
              <a:rPr sz="1600" b="0">
                <a:solidFill>
                  <a:srgbClr val="000000"/>
                </a:solidFill>
                <a:latin typeface="맑은 고딕"/>
                <a:ea typeface="맑은 고딕"/>
              </a:rPr>
              <a:t> 정기배송 상태·용어와 기본 흐름에서 생기는 개념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기록만</a:t>
            </a:r>
            <a:r>
              <a:rPr sz="1800" b="0">
                <a:solidFill>
                  <a:srgbClr val="000000"/>
                </a:solidFill>
                <a:latin typeface="맑은 고딕"/>
                <a:ea typeface="맑은 고딕"/>
              </a:rPr>
              <a:t> —</a:t>
            </a:r>
            <a:r>
              <a:rPr sz="1600" b="0">
                <a:solidFill>
                  <a:srgbClr val="000000"/>
                </a:solidFill>
                <a:latin typeface="맑은 고딕"/>
                <a:ea typeface="맑은 고딕"/>
              </a:rPr>
              <a:t> 7a의 설명과 회차 상태 값. 필요한 유스케이스를 분석할 때 확정한다.</a:t>
            </a:r>
          </a:p>
        </p:txBody>
      </p:sp>
    </p:spTree>
    <p:extLst>
      <p:ext uri="{BB962C8B-B14F-4D97-AF65-F5344CB8AC3E}">
        <p14:creationId xmlns:p14="http://schemas.microsoft.com/office/powerpoint/2010/main" val="2789569477"/>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72</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72</vt:i4>
      </vt:variant>
    </vt:vector>
  </HeadingPairs>
  <TitlesOfParts>
    <vt:vector size="76"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동적 모델에서 코드로</vt:lpstr>
      <vt:lpstr>동적 모델의 한계 12. 동적 모델에서 코드로</vt:lpstr>
      <vt:lpstr>13. 실습 — 동적 모델</vt:lpstr>
      <vt:lpstr>14. 요약</vt:lpstr>
      <vt:lpstr>시퀀스 다이어그램 (안) 별첨. 실습 답</vt:lpstr>
      <vt:lpstr>상태 기계 다이어그램 (안) 별첨. 실습 답</vt:lpstr>
      <vt:lpstr>동적 모델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