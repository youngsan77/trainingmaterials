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설계는 첫 책임 배치까지다. 책임의 정제와 객체 계약·SOLID는 "07. 책임·협력·계약", 변경 압력에 따른 변이는 "08. 변화 대응과 변이 설계", 저장 기술은 "10. 기술 제약과 도메인 의미 보존"에서 다룬다.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입력의 출처 — "03. 정적 모델 — 도메인 개념과 관계"의 「45. 도메인 모델 — 상세화」, "04. 동적 모델 — 상호작용과 상태"의 「26. 주문 취소 시퀀스」·「33. 주문 상태 기계」, "05. 구조적 경계와 의존성"의 「14. 주문 시스템 패키지 — 상세화」·「18. 구조적 제약」.</a:t>
            </a:r>
          </a:p>
          <a:p>
            <a:pPr lvl="0"/>
            <a:r>
              <a:rPr lang="ko-KR" sz="1200"/>
              <a:t>점선은 설계에서 발견한 것을 분석 산출물에 되돌리는 흐름이다(「19. 분석 모델 되돌림」). 설계는 분석의 끝이 아니라 분석을 다시 검증하는 자리다.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§17.1 "UML versus Design Principles" 원문 확인.</a:t>
            </a:r>
          </a:p>
          <a:p>
            <a:pPr lvl="0"/>
            <a:r>
              <a:rPr lang="ko-KR" sz="1200"/>
              <a:t>도구가 모델을 코드로 바꿔 줄 수는 있어도, 무엇을 어디에 둘지는 정해 주지 않는다. 그 판단이 이 세션의 대상이다.</a:t>
            </a:r>
          </a:p>
          <a:p>
            <a:pPr lvl="0"/>
            <a:r>
              <a:rPr lang="ko-KR" sz="1200"/>
              <a:t>분석의 질문에 대한 답(의미)은 설계에서 바뀌지 않는다. 바뀌는 것은 설계의 질문에 대한 답(형태)이다.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도메인 모델에 오퍼레이션을 두지 않는 것은 "03. 정적 모델 — 도메인 개념과 관계"의 원칙이다. 설계 모델에서 처음으로 메서드가 나타난다.</a:t>
            </a:r>
          </a:p>
          <a:p>
            <a:pPr lvl="0"/>
            <a:r>
              <a:rPr lang="ko-KR" sz="1200"/>
              <a:t>설계 모델은 분석 모델을 대체하지 않는다. 두 모델은 다른 질문에 답하며, 대응 관계로 서로를 확인한다.</a:t>
            </a:r>
          </a:p>
          <a:p>
            <a:pPr lvl="0"/>
            <a:r>
              <a:rPr lang="ko-KR" sz="1200"/>
              <a:t>설계 클래스 다이어그램(Design Class Diagram, DCD)의 표기는 「25. 설계 클래스 다이어그램」에서 다룬다.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§9.3 "Motivation: Why Create a Domain Model?"의 "Motivation: Lower Representational Gap with OO Modeling" 원문 확인.</a:t>
            </a:r>
          </a:p>
          <a:p>
            <a:pPr lvl="0"/>
            <a:r>
              <a:rPr lang="ko-KR" sz="1200"/>
              <a:t>첫 인용의 "도메인 계층(domain layer)"에 주목한다. 도메인 모델에서 이름을 얻는 것은 도메인 계층의 클래스다. 주문 서비스·주문 저장소처럼 도메인 모델에 없는 설계 요소도 있다.</a:t>
            </a:r>
          </a:p>
          <a:p>
            <a:pPr lvl="0"/>
            <a:r>
              <a:rPr lang="ko-KR" sz="1200"/>
              <a:t>두 인용은 짝이다. 이름은 도메인에서 가져오되, 클래스를 나누고 합치는 기준은 변경과 책임이다.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Eric Evans, [Domain-Driven Design Reference](https://www.domainlanguage.com/wp-content/uploads/2016/05/DDD_Reference_2015-03.pdf), 2015, "Model-Driven Design" 원문 확인.</a:t>
            </a:r>
          </a:p>
          <a:p>
            <a:pPr lvl="0"/>
            <a:r>
              <a:rPr lang="ko-KR" sz="1200"/>
              <a:t>같은 단락은 복잡한 대응도 유지할 수 없다고 경고한다 — 분석과 설계 사이에 "치명적인 간극(deadly divide)"이 생겨 한쪽의 통찰이 다른 쪽으로 가지 않는다.</a:t>
            </a:r>
          </a:p>
          <a:p>
            <a:pPr lvl="0"/>
            <a:r>
              <a:rPr lang="ko-KR" sz="1200"/>
              <a:t>「05. 표현 간극」과 짝을 이룬다. 그대로 옮기지 않지만, 끊지도 않는다. 두 잘못된 관행은 「28. 잘못된 관행 — 기계적 변환」·「30. 잘못된 관행 — 분석과 단절」에서 다룬다.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예는 이 세션의 주문 사례에서 내린 설계 판단이다. 보편 규칙이 아니며, 다른 요구에서는 다른 유형이 될 수 있다.</a:t>
            </a:r>
          </a:p>
          <a:p>
            <a:pPr lvl="0"/>
            <a:r>
              <a:rPr lang="ko-KR" sz="1200"/>
              <a:t>"설계에만"인 요소는 분석 모델에 역수입하지 않는다. 주문 서비스는 업무 개념이 아니다.</a:t>
            </a:r>
          </a:p>
          <a:p>
            <a:pPr lvl="0"/>
            <a:r>
              <a:rPr lang="ko-KR" sz="1200"/>
              <a:t>반대로 분석에만 있고 설계에 클래스가 없는 요소도 있다. 예를 들어 파생 속성 주문 총액은 필드가 아니라 계산 메서드가 된다(「09. 속성에서 타입으로」).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주문 서비스(OrderService)와 주문 저장소(OrderRepository)는 새 설계 용어다. 용어집과 과정의 공통 전제에 더한다. 설계 도식과 코드는 "05. 구조적 경계와 의존성"의 「06. 설계의 이름」대로 용어집의 영문명을 쓴다.</a:t>
            </a:r>
          </a:p>
          <a:p>
            <a:pPr lvl="0"/>
            <a:r>
              <a:rPr lang="ko-KR" sz="1200"/>
              <a:t>저장소는 인터페이스(약속)로만 둔다. 데이터베이스·ORM 같은 저장 기술은 "10. 기술 제약과 도메인 의미 보존"에서 다룬다.</a:t>
            </a:r>
          </a:p>
          <a:p>
            <a:pPr lvl="0"/>
            <a:r>
              <a:rPr lang="ko-KR" sz="1200"/>
              <a:t>나누는 이유는 「05. 표현 간극」의 "변경과 확장"이다. 저장 방식이 바뀌어도 취소 규칙은 바뀌지 않아야 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분석 모델의 / 주문 총액(파생 속성)은 필드가 아니라 계산 메서드 totalAmount()가 됐다. 저장하면 항목과 총액이 어긋날 수 있다. 저장이 필요해지면(조회 성능 등) 그때 두 값을 맞추는 책임을 함께 설계한다.</a:t>
            </a:r>
          </a:p>
          <a:p>
            <a:pPr lvl="0"/>
            <a:r>
              <a:rPr lang="ko-KR" sz="1200"/>
              <a:t>이름은 용어집의 대응이다 — 금액 Money, 수량 Quantity, 주소 Address, 단가 unitPrice, 주문 총액 totalAmount.</a:t>
            </a:r>
          </a:p>
          <a:p>
            <a:pPr lvl="0"/>
            <a:r>
              <a:rPr lang="ko-KR" sz="1200"/>
              <a:t>Money는 "05. 구조적 경계와 의존성"의 결정대로 payment 패키지에 있다. 이 세션은 규칙(0 이상)과 계산을 더했다. Quantity·Address는 order 패키지의 값 타입이다.</a:t>
            </a:r>
          </a:p>
          <a:p>
            <a:pPr lvl="0"/>
            <a:r>
              <a:rPr lang="ko-KR" sz="1200"/>
              <a:t>코드는 code/s06/payment/Money.java와 code/s06/order/Order.java의 발췌다.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방향의 근거 — 취소 시퀀스에서 메시지는 주문 → 배송, 주문 → 결제로 흐른다. 패키지 의존(주문 → 결제·배송)도 같은 방향이다("05. 구조적 경계와 의존성"의 「12. 의존 방향」).</a:t>
            </a:r>
          </a:p>
          <a:p>
            <a:pPr lvl="0"/>
            <a:r>
              <a:rPr lang="ko-KR" sz="1200"/>
              <a:t>고객–주문 연관(1 : 0..*)은 이 세션의 코드에서 생략했다. 설계한다면 주문 → 고객 한 방향으로, 경계가 다르므로 고객 번호로 잇는다(「11. 경계를 넘는 연관」과 같은 판단).</a:t>
            </a:r>
          </a:p>
          <a:p>
            <a:pPr lvl="0"/>
            <a:r>
              <a:rPr lang="ko-KR" sz="1200"/>
              <a:t>합성의 코드 — 주문은 받은 목록을 복사해 갖는다(List.copyOf). 호출자가 목록을 바꿔도 주문의 항목은 바뀌지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분석 모델의 연관 "가리킨다"는 그대로다. 바뀐 것은 연관을 코드로 나타내는 방식이다. 상품 번호는 설계 결정이므로 도메인 모델에 역수입하지 않는다.</a:t>
            </a:r>
          </a:p>
          <a:p>
            <a:pPr lvl="0"/>
            <a:r>
              <a:rPr lang="ko-KR" sz="1200"/>
              <a:t>단가와 판매가의 구분은 "03. 정적 모델 — 도메인 개념과 관계"의 「35. 현재 값과 확정 값」이다. 상품 객체를 참조하면 누군가 product.salePrice()로 금액을 계산하는 순간 이 의미가 조용히 바뀐다(「17. 조용한 의미 변경」). 용어집이 단가 unitPrice와 판매가 salePrice를 다른 이름으로 정한 이유다.</a:t>
            </a:r>
          </a:p>
          <a:p>
            <a:pPr lvl="0"/>
            <a:r>
              <a:rPr lang="ko-KR" sz="1200"/>
              <a:t>상품 이름을 주문 내역에 보여야 한다면 상품 이름도 확정 값으로 옮겨 적을지 판단한다. 현재 요구에는 없다.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분석의 상태 기계이므로 한글이다. 취소와 관련된 전이만 보였다(배송 완료 생략). 전체 상태 기계는 "04. 동적 모델 — 상호작용과 상태"의 「33. 주문 상태 기계」다.</a:t>
            </a:r>
          </a:p>
          <a:p>
            <a:pPr lvl="0"/>
            <a:r>
              <a:rPr lang="ko-KR" sz="1200"/>
              <a:t>OrderStatus의 값은 앞 세션의 주문상태와 용어집으로 대응한다(결제대기 PENDING_PAYMENT ~ 취소됨 CANCELLED). Production이 용어집으로 두 enum을 대조한다.</a:t>
            </a:r>
          </a:p>
          <a:p>
            <a:pPr lvl="0"/>
            <a:r>
              <a:rPr lang="ko-KR" sz="1200"/>
              <a:t>모든 전이가 transition 메서드를 거치므로, 금지된 전이는 한 곳에서 거절된다. 상태를 바꾸는 setter를 두지 않는 것도 설계 판단이다.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계약의 원천은 "02. 요구 분석과 유스케이스"의 「44. 시스템 오퍼레이션과 계약」과 "04. 동적 모델 — 상호작용과 상태"의 「10. 계약의 정제」다.</a:t>
            </a:r>
          </a:p>
          <a:p>
            <a:pPr lvl="0"/>
            <a:r>
              <a:rPr lang="ko-KR" sz="1200"/>
              <a:t>시스템 오퍼레이션의 입력 "주문"은 설계에서 주문 번호가 된다. 시스템 경계를 넘는 것은 객체가 아니라 식별자다. 찾는 일은 주문 서비스가 맡는다.</a:t>
            </a:r>
          </a:p>
          <a:p>
            <a:pPr lvl="0"/>
            <a:r>
              <a:rPr lang="ko-KR" sz="1200"/>
              <a:t>객체 하나의 사전·사후조건·불변 조건(객체 계약)은 "07. 책임·협력·계약"에서 정한다. 이 세션은 시스템 계약을 어느 객체들이 나누어 지키는지까지만 정한다.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"05. 구조적 경계와 의존성"의 「24. 통보 변환 코드」는 연동이 주문 객체를 직접 받았다. 설계에서는 외부가 아는 것은 주문 번호뿐이므로, 주문을 찾는 책임이 주문 서비스에 생긴다. 구조적 제약("연동은 통보를 전할 뿐")은 그대로다.</a:t>
            </a:r>
          </a:p>
          <a:p>
            <a:pPr lvl="0"/>
            <a:r>
              <a:rPr lang="ko-KR" sz="1200"/>
              <a:t>상태 코드와 통보에 주문 번호가 실린다는 것은 교육용 가정이다. 전달 기술(메시지 큐·웹훅)은 "10. 기술 제약과 도메인 의미 보존"에서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대응표는 설계 리뷰의 입력이다. "이 분석 요소는 어디로 갔는가?"와 "이 설계 요소는 어디서 왔는가?"에 모두 답할 수 있어야 한다.</a:t>
            </a:r>
          </a:p>
          <a:p>
            <a:pPr lvl="0"/>
            <a:r>
              <a:rPr lang="ko-KR" sz="1200"/>
              <a:t>설계 요소의 이름은 모두 용어집의 영문명이다. 대응표의 왼쪽(한글 용어)과 오른쪽(영문명)을 잇는 것이 용어집이다.</a:t>
            </a:r>
          </a:p>
          <a:p>
            <a:pPr lvl="0"/>
            <a:r>
              <a:rPr lang="ko-KR" sz="1200"/>
              <a:t>추적성은 "02. 요구 분석과 유스케이스"의 「55. 요구사항 추적」과 같은 생각이다. 판단에 필요한 관계만 추적하며, 모든 필드를 표로 옮기지 않는다.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기준의 출처 — 용어·값은 용어집("02. 요구 분석과 유스케이스"의 「18. 용어집」)과 과정의 공통 전제, 규칙·다중성은 도메인 모델, 계약은 요구 산출물, 사건의 순서는 동적 모델이다.</a:t>
            </a:r>
          </a:p>
          <a:p>
            <a:pPr lvl="0"/>
            <a:r>
              <a:rPr lang="ko-KR" sz="1200"/>
              <a:t>영문으로 바꾸는 순간이 용어가 흔들리기 가장 쉬운 때다. 개발자마다 다른 영어를 지으면 한 용어가 여러 이름이 되고, 비슷한 두 용어(단가·판매가)가 한 이름이 된다.</a:t>
            </a:r>
          </a:p>
          <a:p>
            <a:pPr lvl="0"/>
            <a:r>
              <a:rPr lang="ko-KR" sz="1200"/>
              <a:t>여섯 기준은 이 과정의 정리다. 한 문헌의 분류가 아니다. 「06. 끊어진 모델」에서 본 "대응"을 검사할 수 있는 질문으로 바꾼 것이다.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일곱 예는 모두 이 과정의 주문 사례에서 앞 세션이 확인한 의미를 어긴다 — 단가와 판매가("02. 요구 분석과 유스케이스"의 용어집, "03. 정적 모델 — 도메인 개념과 관계"), 취소 처리 중과 출고·배송 시작("04. 동적 모델 — 상호작용과 상태"), 외부 형식("05. 구조적 경계와 의존성").</a:t>
            </a:r>
          </a:p>
          <a:p>
            <a:pPr lvl="0"/>
            <a:r>
              <a:rPr lang="ko-KR" sz="1200"/>
              <a:t>price 예는 영문으로 옮기며 생기는 의미 변경이다. 용어집의 영문명(unitPrice·salePrice)을 쓰면 막을 수 있다.</a:t>
            </a:r>
          </a:p>
          <a:p>
            <a:pPr lvl="0"/>
            <a:r>
              <a:rPr lang="ko-KR" sz="1200"/>
              <a:t>코드 리뷰에서 가장 발견하기 어려운 결함이다. 컴파일도 테스트도 통과할 수 있다. 의미를 지키는 테스트가 따로 있어야 하는 이유다(「18. 보존의 검증」).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결과를 먼저 예측하게 한다: 판매가를 1,500원으로 바꾼 뒤 주문 총액은 얼마인가? 주문 항목이 상품 객체를 참조해 판매가로 계산했다면 어떻게 되는가?</a:t>
            </a:r>
          </a:p>
          <a:p>
            <a:pPr lvl="0"/>
            <a:r>
              <a:rPr lang="ko-KR" sz="1200"/>
              <a:t>이 테스트는 "03. 정적 모델 — 도메인 개념과 관계"의 규칙 테스트와 같은 기대값이다. 설계가 바뀌어도 기대값이 같다는 것이 의미 보존의 증거다.</a:t>
            </a:r>
          </a:p>
          <a:p>
            <a:pPr lvl="0"/>
            <a:r>
              <a:rPr lang="ko-KR" sz="1200"/>
              <a:t>금지된 전이와 사건의 순서는 「26. 설계에서 코드로」의 테스트가 확인한다.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Evans는 같은 단락에서 모델이 소프트웨어로 더 자연스럽게 구현되도록 모델을 다시 보고 고치라고 권한다(DDD Reference, 2015, "Model-Driven Design"). 설계가 분석의 검증자가 되는 이유다.</a:t>
            </a:r>
          </a:p>
          <a:p>
            <a:pPr lvl="0"/>
            <a:r>
              <a:rPr lang="ko-KR" sz="1200"/>
              <a:t>되돌림은 "02. 요구 분석과 유스케이스"의 정제된 SSD·명세서, "03. 정적 모델 — 도메인 개념과 관계"의 도메인 모델에 한다. 보완을 위한 새 산출물은 만들지 않는다.</a:t>
            </a:r>
          </a:p>
          <a:p>
            <a:pPr lvl="0"/>
            <a:r>
              <a:rPr lang="ko-KR" sz="1200"/>
              <a:t>되돌린 결과는 과정의 공통 전제에도 반영한다. 설계 요소는 도메인 모델에는 넣지 않지만 용어집에는 넣는다 — 이름이 여러 개로 갈라지는 것을 막는 곳은 용어집 하나다.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Eric Evans, [DDD Reference](https://www.domainlanguage.com/wp-content/uploads/2016/05/DDD_Reference_2015-03.pdf), 2015, "Model-Driven Design" 원문 확인.</a:t>
            </a:r>
          </a:p>
          <a:p>
            <a:pPr lvl="0"/>
            <a:r>
              <a:rPr lang="ko-KR" sz="1200"/>
              <a:t>"기본적인" 배정만 가져온다. 책임 후보를 비교하고 정제하는 일은 "07. 책임·협력·계약"에서 한다.</a:t>
            </a:r>
          </a:p>
          <a:p>
            <a:pPr lvl="0"/>
            <a:r>
              <a:rPr lang="ko-KR" sz="1200"/>
              <a:t>네 단계는 이 세션의 수업용 절차다. 고정 순서가 아니며, 코드에서 발견한 것이 앞 단계를 다시 연다.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주문 서비스라는 이름은 "01. OOAD 개요"의 「23. 분석 모델에서 설계 모델로」 미리보기와 같다. 시스템 오퍼레이션 "주문을 취소한다"는 용어집대로 cancelOrder다.</a:t>
            </a:r>
          </a:p>
          <a:p>
            <a:pPr lvl="0"/>
            <a:r>
              <a:rPr lang="ko-KR" sz="1200"/>
              <a:t>시스템 이벤트를 받는 객체를 정하는 원칙은 GRASP의 컨트롤러(Controller)다. GRASP는 "07. 책임·협력·계약"의 「07. GRASP」에서 소개한다. 여기서는 판단 근거(규칙과 조정의 분리)만 본다.</a:t>
            </a:r>
          </a:p>
          <a:p>
            <a:pPr lvl="0"/>
            <a:r>
              <a:rPr lang="ko-KR" sz="1200"/>
              <a:t>주문 서비스가 규칙을 가지기 시작하면 「29. 잘못된 관행 — 데이터만 옮기기」가 된다.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"04. 동적 모델 — 상호작용과 상태"의 「26. 주문 취소 시퀀스」 그대로다. 분석 시퀀스라 한글이며 설계 객체가 없다. 메시지는 용어집을 거쳐 설계 메서드의 이름이 된다.</a:t>
            </a:r>
          </a:p>
          <a:p>
            <a:pPr lvl="0"/>
            <a:r>
              <a:rPr lang="ko-KR" sz="1200"/>
              <a:t>책임은 하는 것(doing)과 아는 것(knowing)으로 나눈다. 이 구분과 책임 배치의 원칙은 "07. 책임·협력·계약"에서 다룬다.</a:t>
            </a:r>
          </a:p>
          <a:p>
            <a:pPr lvl="0"/>
            <a:r>
              <a:rPr lang="ko-KR" sz="1200"/>
              <a:t>분석의 메시지가 설계에서 모두 메서드가 되는 것은 아니다. "취소 처리 중이 된다"는 주문 안의 전이가 된다.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제약의 원천은 "05. 구조적 경계와 의존성"의 「18. 구조적 제약」이다. 주문 서비스·주문 저장소는 주문 경계 안에 둔다 — 주문과 함께 바뀌기 때문이다.</a:t>
            </a:r>
          </a:p>
          <a:p>
            <a:pPr lvl="0"/>
            <a:r>
              <a:rPr lang="ko-KR" sz="1200"/>
              <a:t>연동 → 주문 의존은 "05. 구조적 경계와 의존성"과 같다. 설계에서 바뀐 것은 연동이 부르는 대상이 주문에서 주문 서비스로 옮겨 간 것뿐이다.</a:t>
            </a:r>
          </a:p>
          <a:p>
            <a:pPr lvl="0"/>
            <a:r>
              <a:rPr lang="ko-KR" sz="1200"/>
              <a:t>상품 패키지(Product·ProductNumber)는 읽기 쉽도록 생략했다.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Payment는 안에서 Refund를 만들어 환불 규칙(환불 금액 ≤ 결제 금액)을 검사한 뒤 요청한다. 도식에서는 Refund 생명선을 생략했다(코드 code/s06/payment/).</a:t>
            </a:r>
          </a:p>
          <a:p>
            <a:pPr lvl="0"/>
            <a:r>
              <a:rPr lang="ko-KR" sz="1200"/>
              <a:t>분석 시퀀스(「22. 메시지에서 책임으로」)와 나란히 놓고 메시지를 용어집으로 짝지어 읽게 한다 — 취소한다 cancel(), 출고 중단을 요청한다 requestDispatchStop(), 환불을 요청한다 requestRefund().</a:t>
            </a:r>
          </a:p>
          <a:p>
            <a:pPr lvl="0"/>
            <a:r>
              <a:rPr lang="ko-KR" sz="1200"/>
              <a:t>DeliveryGateway·PaymentGateway은 여기서 외부 시스템이 아니라 업무 경계의 인터페이스다. 실제 호출은 연동이 실현한다(「23. 경계가 정하는 위치」).</a:t>
            </a:r>
          </a:p>
          <a:p>
            <a:pPr lvl="0"/>
            <a:r>
              <a:rPr lang="ko-KR" sz="1200"/>
              <a:t>설계 시퀀스는 성공 경로만 그렸다. 출고 중단이 거절되면 주문은 예외로 거절하고 상태를 바꾸지 않는다 — 코드와 테스트가 보인다(「26. 설계에서 코드로」).</a:t>
            </a:r>
          </a:p>
          <a:p>
            <a:pPr lvl="0"/>
            <a:r>
              <a:rPr lang="ko-KR" sz="1200"/>
              <a:t>비교 표의 "그대로인 것"이 의미 보존 기준의 사건의 순서다.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도메인 모델(「02. 분석에서 설계로」의 입력)과 나란히 놓고 대응표(「15. 주문 사례 대응표」)로 읽게 한다.</a:t>
            </a:r>
          </a:p>
          <a:p>
            <a:pPr lvl="0"/>
            <a:r>
              <a:rPr lang="ko-KR" sz="1200"/>
              <a:t>클래스·필드·메서드의 이름은 모두 용어집의 영문명이다. 타입 PascalCase, 필드·메서드 camelCase, 통보는 on으로 시작한다("05. 구조적 경계와 의존성"의 「06. 설계의 이름」).</a:t>
            </a:r>
          </a:p>
          <a:p>
            <a:pPr lvl="0"/>
            <a:r>
              <a:rPr lang="ko-KR" sz="1200"/>
              <a:t>환불·주문 상태 enum·값 타입의 세부와 연동의 실현(..|&gt;)은 읽기 쉽도록 생략했다. 실현은 "05. 구조적 경계와 의존성"의 「22. 패키지와 코드」가 보였다.</a:t>
            </a:r>
          </a:p>
          <a:p>
            <a:pPr lvl="0"/>
            <a:r>
              <a:rPr lang="ko-KR" sz="1200"/>
              <a:t>고객은 코드에서 생략했다(「10. 연관에서 참조로」). 배송지 변경은 같은 방법으로 설계하며 이 세션에서는 다루지 않는다.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모두 code/s06/의 패키지별 원본에서 발췌했으며, 컴파일·실행해 확인한다. 실행: javac -encoding UTF-8 -d out $(find . -name "*.java") &amp;&amp; java -cp out test.DesignTest.</a:t>
            </a:r>
          </a:p>
          <a:p>
            <a:pPr lvl="0"/>
            <a:r>
              <a:rPr lang="ko-KR" sz="1200"/>
              <a:t>결과를 먼저 예측하게 한다: 주문 서비스를 거쳐도 요청의 순서는 "04. 동적 모델 — 상호작용과 상태"의 테스트와 같은가?</a:t>
            </a:r>
          </a:p>
          <a:p>
            <a:pPr lvl="0"/>
            <a:r>
              <a:rPr lang="ko-KR" sz="1200"/>
              <a:t>코드가 보장하는 것 — 사건의 순서, 금지된 전이의 거절, 상태 값. 보장하지 않는 것 — 저장의 원자성, 동시에 두 번 취소하는 경우, 요청 실패 뒤의 복구. 이것들은 설계 결정이 더 필요하며 이 예제는 정하지 않는다.</a:t>
            </a:r>
          </a:p>
          <a:p>
            <a:pPr lvl="0"/>
            <a:r>
              <a:rPr lang="ko-KR" sz="1200"/>
              <a:t>주문 서비스·저장소 같은 설계 요소를 분석 모델에 역수입하지 않는다.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초기 설계를 완성된 설계로 취급하면, 뒤의 판단이 "이미 정해진 것"을 뒤집는 비용이 커진다. 초기 설계는 코드와 테스트로 빨리 확인하는 것이 목적이다.</a:t>
            </a:r>
          </a:p>
          <a:p>
            <a:pPr lvl="0"/>
            <a:r>
              <a:rPr lang="ko-KR" sz="1200"/>
              <a:t>부분 취소는 교육용 변경 요청이다. 현재 요구에는 없다.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§9.5 "Method 3: Finding Conceptual Classes with Noun Phrase Identification" 원문 확인. "03. 정적 모델 — 도메인 개념과 관계"의 「44. 도메인 모델 — 초안」 앞의 개념 찾기와 같은 절의 다른 문장이다.</a:t>
            </a:r>
          </a:p>
          <a:p>
            <a:pPr lvl="0"/>
            <a:r>
              <a:rPr lang="ko-KR" sz="1200"/>
              <a:t>개념 클래스를 찾을 때조차 기계적 대응이 안 된다면, 설계 클래스로 옮길 때는 더더욱 그렇다.</a:t>
            </a:r>
          </a:p>
          <a:p>
            <a:pPr lvl="0"/>
            <a:r>
              <a:rPr lang="ko-KR" sz="1200"/>
              <a:t>코드 생성 도구와 LLM은 도메인 모델을 받으면 기계적 변환을 하기 쉽다. 실습의 점검 항목이 이를 확인한다(「33. 실습 — 분석에서 설계로」).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관행에는 "빈약한 도메인 모델(Anemic Domain Model)"이라는 이름이 있다. 원인과 책임 배치로 푸는 방법은 "07. 책임·협력·계약"에서 다룬다.</a:t>
            </a:r>
          </a:p>
          <a:p>
            <a:pPr lvl="0"/>
            <a:r>
              <a:rPr lang="ko-KR" sz="1200"/>
              <a:t>데이터 모델에서 출발하는 것 자체는 잘못이 아니다. 문제는 데이터만 옮기고 규칙을 옮기지 않은 것이다.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「06. 끊어진 모델」의 Evans 인용이 경고하는 "치명적인 간극"이다. 분석 팀과 설계 팀이 나뉘어 있을 때 흔하다.</a:t>
            </a:r>
          </a:p>
          <a:p>
            <a:pPr lvl="0"/>
            <a:r>
              <a:rPr lang="ko-KR" sz="1200"/>
              <a:t>설계를 영어로 쓰는 것이 잘못은 아니다. 문제는 도메인 용어와의 대응을 잃는 것이다. 이 과정은 용어집에 한글 용어와 영문명을 함께 두어 대응을 지킨다.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흔한 프레임워크 사용 방식에서 생기는 압력의 예다. 특정 프레임워크의 요구 사항으로 일반화하지 않는다.</a:t>
            </a:r>
          </a:p>
          <a:p>
            <a:pPr lvl="0"/>
            <a:r>
              <a:rPr lang="ko-KR" sz="1200"/>
              <a:t>기술 제약에 적응하면서 의미를 지키는 방법(도메인 모델과 영속 모델의 분리, 매핑의 의미 손실 검토)은 "10. 기술 제약과 도메인 의미 보존"에서 다룬다.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애자일에서는 분석과 설계를 통합해 이 세 질문을 코드와 테스트로 바로 답하기도 한다. 이 경우에도 판단은 같다 — 대응과 의미 보존을 확인한다.</a:t>
            </a:r>
          </a:p>
          <a:p>
            <a:pPr lvl="0"/>
            <a:r>
              <a:rPr lang="ko-KR" sz="1200"/>
              <a:t>KISS·DRY·YAGNI는 과정의 기본 원칙이다. 설계에서 이 원칙을 가장 자주 어기는 곳이 "미리 만든 추상화"다. 변이 설계의 판단은 "08. 변화 대응과 변이 설계"에서 다룬다.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LLM은 도메인 모델의 클래스마다 getter·setter를 붙이거나, 파생 속성(만료일·회차 금액)을 필드로 저장하거나, 정기배송 항목이 상품 객체를 참조해 판매가로 계산하기 쉽다.</a:t>
            </a:r>
          </a:p>
          <a:p>
            <a:pPr lvl="0"/>
            <a:r>
              <a:rPr lang="ko-KR" sz="1200"/>
              <a:t>결제 거절·배송 요청 실패는 설계 시퀀스에 그리지 않아도 된다. 다만 상태 기계의 가드와 어긋나지 않는지 묻는다.</a:t>
            </a:r>
          </a:p>
          <a:p>
            <a:pPr lvl="0"/>
            <a:r>
              <a:rPr lang="ko-KR" sz="1200"/>
              <a:t>LLM은 용어집에 없는 영어를 지어내기 쉽다(해지를 cancel, 회차 금액을 price로). 새 설계 용어(정기배송 서비스 등)는 용어집에 먼저 더하게 한다.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장바구니는 신청 전의 담기만 맡는다. 결제한다 이후에는 정기배송이 모든 규칙을 갖는다.</a:t>
            </a:r>
          </a:p>
          <a:p>
            <a:pPr lvl="0"/>
            <a:r>
              <a:rPr lang="ko-KR" sz="1200"/>
              <a:t>수강생의 표가 이와 달라도 판단 근거가 있고 의미 보존 기준을 지키면 맞다. 영문명은 실습 2의 용어집(보완 포함)과 같아야 한다.</a:t>
            </a:r>
          </a:p>
          <a:p>
            <a:pPr lvl="0"/>
            <a:r>
              <a:rPr lang="ko-KR" sz="1200"/>
              <a:t>일수 Days·개월 수 Months는 속성 도메인의 값 타입 이름이다. 날짜는 자바의 LocalDate를 쓴다.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경계를 넘는 상품·고객은 번호로 잇는다(ProductNumber·CustomerNumber).</a:t>
            </a:r>
          </a:p>
          <a:p>
            <a:pPr lvl="0"/>
            <a:r>
              <a:rPr lang="ko-KR" sz="1200"/>
              <a:t>이름은 실습 2의 용어집과 그 보완이 원천이다. 이 실습에서 새로 생긴 설계 용어(SubscriptionService 등)는 설계 보완 (안)에서 용어집에 더한다.</a:t>
            </a:r>
          </a:p>
          <a:p>
            <a:pPr lvl="0"/>
            <a:r>
              <a:rPr lang="ko-KR" sz="1200"/>
              <a:t>만료일과 회차 금액은 필드가 아니라 계산 메서드다 — 만료일 = 첫 배송일 + 기간 − 1일, 회차 금액 = Σ(단가 × 수량).</a:t>
            </a:r>
          </a:p>
          <a:p>
            <a:pPr lvl="0"/>
            <a:r>
              <a:rPr lang="ko-KR" sz="1200"/>
              <a:t>정기배송의 첫 배송일 firstDeliveryDate·기간 term·배송 주기 deliveryCycle·배송지 shippingAddress와 영수증·enum·값 타입·연동은 읽기 쉽도록 생략했다. 결제 시스템·배송 시스템 인터페이스는 각각 결제·정기배송 패키지에 있다(실습 5).</a:t>
            </a:r>
          </a:p>
          <a:p>
            <a:pPr lvl="0"/>
            <a:r>
              <a:rPr lang="ko-KR" sz="1200"/>
              <a:t>requestPayment·requestDelivery는 모두 접수 결과(boolean)를 돌려주는 동기 요청이다. 도식에서는 반환형을 생략했다.</a:t>
            </a:r>
          </a:p>
          <a:p>
            <a:pPr lvl="0"/>
            <a:r>
              <a:rPr lang="ko-KR" sz="1200"/>
              <a:t>결제가 1..*인 이유는 월별 청구다(R6). 월별 청구의 실행 주체는 결제 시스템이므로 이 설계는 청구 요청까지만 다룬다.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시스템 이벤트 "결제한다"는 pay이고, 정기배송 번호(SubscriptionNumber)가 더해졌다. 신청 중인 정기배송을 찾기 위한 설계의 입력이다.</a:t>
            </a:r>
          </a:p>
          <a:p>
            <a:pPr lvl="0"/>
            <a:r>
              <a:rPr lang="ko-KR" sz="1200"/>
              <a:t>확정은 배송 요청이 접수된 뒤다. 상태 기계의 가드 [배송 요청 성공]을 판단하려면 접수 결과를 기다려야 한다 — 배송 요청의 접수는 동기, 회차별 배송은 비동기다. 이 발견은 보완 (안)에 적는다.</a:t>
            </a:r>
          </a:p>
          <a:p>
            <a:pPr lvl="0"/>
            <a:r>
              <a:rPr lang="ko-KR" sz="1200"/>
              <a:t>결제 거절·배송 요청 실패(6a·7a)는 정기배송이 상태를 바꾸지 않거나 신청 실패로 전이한다. 그리지 않았다.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상품 번호·고객 번호로 잇는 것은 설계 결정이다. 도메인 모델(실습 3)에는 되돌리지 않는다. 설계 용어는 도메인 모델이 아니라 용어집에 더한다.</a:t>
            </a:r>
          </a:p>
          <a:p>
            <a:pPr lvl="0"/>
            <a:r>
              <a:rPr lang="ko-KR" sz="1200"/>
              <a:t>설계가 동적 모델의 동기·비동기 판단을 다시 연 사례다. 분석이 틀린 것이 아니라, 설계가 가드를 판단할 정보가 필요하다는 것을 드러낸 것이다.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초기 설계(「25. 설계 클래스 다이어그램」)와 남긴 질문(「27. 초기 설계의 한계」)이 다음 세션의 입력이다.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8" Type="http://schemas.openxmlformats.org/officeDocument/2006/relationships/image" Target="../media/plantuml-8.png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9" Type="http://schemas.openxmlformats.org/officeDocument/2006/relationships/image" Target="../media/plantuml-9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0" Type="http://schemas.openxmlformats.org/officeDocument/2006/relationships/image" Target="../media/plantuml-10.png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1" Type="http://schemas.openxmlformats.org/officeDocument/2006/relationships/image" Target="../media/plantuml-11.png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2" Type="http://schemas.openxmlformats.org/officeDocument/2006/relationships/image" Target="../media/plantuml-12.png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3" Type="http://schemas.openxmlformats.org/officeDocument/2006/relationships/image" Target="../media/plantuml-13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6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4" Type="http://schemas.openxmlformats.org/officeDocument/2006/relationships/image" Target="../media/plantuml-14.png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5" Type="http://schemas.openxmlformats.org/officeDocument/2006/relationships/image" Target="../media/plantuml-15.png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분석 모델에서 설계 모델로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분석에서 설계로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전환은 판단이다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분석 모델과 설계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표현 간극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끊어진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대응의 유형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개념에서 클래스로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속성에서 타입으로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연관에서 참조로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경계를 넘는 연관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상태에서 전이로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계약에서 메서드로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통보에서 사건으로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주문 사례 대응표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의미 보존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조용한 의미 변경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보존의 검증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분석 모델 되돌림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초기 설계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시스템 이벤트를 받는 객체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메시지에서 책임으로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경계가 정하는 위치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주문 취소 설계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설계 클래스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설계에서 코드로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초기 설계의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기계적 변환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데이터만 옮기기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분석과 단절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분석 모델에서 설계 모델로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기술 먼저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적정 전환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분석에서 설계로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대응표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설계 클래스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36. 설계 시퀀스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37. 설계 보완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38.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분석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의미를 보존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하면서 책임·경계·협력으로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모델과 설계 모델이 답하는 질문이 다르며, 전환이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변환이 아닌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임을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개념·속성·연관·상태·계약·통보가 설계 요소로 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대응의 유형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 보존 기준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(용어집의 영한 대응 포함)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설계가 도메인 의미를 조용히 바꾸지 않았는지 검사한다.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시퀀스의 메시지와 구조적 제약에서 출발해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(설계 시퀀스·설계 클래스 다이어그램)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모델을 자바 코드로 옮기고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테스트로 의미 보존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기계적 변환·데이터만 옮기기·분석과의 단절·기술 먼저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분석에서 설계로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설계는 빈 종이에서 시작하지 않는다. 앞 세션의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산출물과 구조적 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입력이고, 이 세션의 출력은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모델 상세, 주문 취소 시퀀스와 주문 상태 기계, 패키지 상세와 구조적 제약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대응표, 설계 시퀀스, 설계 클래스 다이어그램, 의미 보존을 확인하는 코드와 테스트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907381" y="3628196"/>
            <a:ext cx="5329238" cy="250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전환은 판단이다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52766" y="2801048"/>
          <a:ext cx="60248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953260"/>
                <a:gridCol w="31826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분석이 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설계가 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존재하는가?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어느 클래스가 무엇을 알고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일어나는가?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메시지를 받고 누구에게 맡기는가?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참이어야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규칙을 어디서 검사하고 누가 지키는가?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함께 바뀌는가?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어느 패키지·인터페이스에 두는가?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보존하고, 설계 요소의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책임·경계·협력으로 다시 결정한다. 전환은 판단이지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"소프트웨어 개발의 핵심 설계 도구는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원칙을 잘 익힌 사고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UML이나 다른 어떤 기술도 아니다"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critical design tool for software development is a mind well educated in design principles. It is not the UML or any other technology."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분석 모델과 설계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67676" y="2100036"/>
          <a:ext cx="61950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1981200"/>
                <a:gridCol w="3266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모델(도메인 모델)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개념(주문, 결제)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소프트웨어 클래스(Order, OrderService)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한글 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영문명과 명명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속성과 속성 도메인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필드와 타입(값 타입 포함)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방향 없는 연관과 다중성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참조의 방향, 컬렉션, 식별자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오퍼레이션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메서드(책임)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추가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응용 서비스, 저장소, 인터페이스,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클래스 다이어그램이라도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문제영역의 개념을,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소프트웨어 객체를 그린다. 설계에서는 분석에 없던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타입·방향·오퍼레이션·설계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더해진다.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17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전문가와 검토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설계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테스트로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표현 간극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클래스의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모델에서 가져온다. 그러나 클래스의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정하는 것은 이름이 아니라 변경과 책임이다.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"도메인 계층의 소프트웨어 클래스 이름은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모델의 이름에서 영감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얻고, 객체는 도메인에 익숙한 정보와 책임을 갖게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 software class names in the domain layer inspired from names in the domain model, with objects having domain-familiar information and responsibilities."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"표현 간극을 줄이는 것은 유용하지만,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변경과 확장을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하고 복잡성을 관리·은닉하는 객체의 장점에 비하면 부차적이다"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lowered representational gap is useful, but arguably secondary to the advantage objects have in supporting ease of change and extension, and managing and hiding complexity."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표현 간극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(representational gap)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업무를 이해하는 방식과 소프트웨어의 표현 사이의 거리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이름이 같으면 코드를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읽기 쉽다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형태까지 같게 만들면 변경이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번지기 쉽다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끊어진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13446" y="2801048"/>
          <a:ext cx="530352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4216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기계적 변환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클래스마다 설계 클래스 — 책임·경계가 없는 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분석을 버리고 새로 설계 — 규칙·상태가 조용히 바뀐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의미는 대응으로 추적하고, 형태는 책임·경계로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그대로 옮기지 않는다고 해서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끊어도 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것은 아니다. 설계가 분석 모델과 대응하지 않으면 모델도 코드도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믿을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"설계나 그 핵심이 도메인 모델에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대응하지 않으면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모델은 가치가 거의 없고, 소프트웨어의 정확성도 의심스럽다"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"If the design, or some central part of it, does not map to the domain model, that model is of little value, and the correctness of the software is suspect."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대응의 유형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55205" y="1842998"/>
          <a:ext cx="762000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679700"/>
                <a:gridCol w="3853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1:1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 하나가 클래스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→ 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1:N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 하나가 여러 설계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→ Order, OrderService, OrderRepository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N:1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분석 요소가 한 설계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 속성과 주소 도메인 → 값 타입 Address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요소의 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요소가 다른 종류의 설계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항목–상품 연관 → 필드 productNumber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모델에 없는 설계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PaymentGateway, 연동,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요소와 설계 요소의 대응은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1:1이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하나가 여럿으로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나뉘고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여럿이 하나로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합쳐지며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설계에만 있는 요소가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어떤 유형인지는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책임·경계·변경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 이름이나 표기가 정하지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개념에서 클래스로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3691443"/>
          <a:ext cx="6139180" cy="3873500"/>
        </p:xfrm>
        <a:graphic>
          <a:graphicData uri="http://schemas.openxmlformats.org/drawingml/2006/table">
            <a:tbl>
              <a:tblPr/>
              <a:tblGrid>
                <a:gridCol w="1562100"/>
                <a:gridCol w="3406140"/>
                <a:gridCol w="1170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맡지 않는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상태·전이·취소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저장·찾기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이벤트 수신, 찾기·맡기기·저장의 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찾고 저장하는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개념 주문은 설계에서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책임에 따라 나뉜다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규칙과 상태는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가, 시스템 이벤트의 조정은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OrderService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가, 찾고 저장하는 약속은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OrderRepository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맡는다.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pic>
        <p:nvPicPr>
          <p:cNvPr id="14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302282" y="2100036"/>
            <a:ext cx="6525846" cy="1489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속성에서 타입으로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004264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record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Money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(int won)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(won &lt; 0) throw new IllegalArgumentException("금액은 0 이상");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plus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(Money other) { return new Money(won + other.won);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times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(int multiplier) { return new Money(won * multiplier);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속성 도메인은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 타입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되고, 규칙은 값이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만들어질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검사한다. 파생 속성은 저장하지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5434792"/>
            <a:ext cx="8412480" cy="82296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totalAmount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Money total = new Money(0);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for (OrderItem item : items) total = total.plus(item.amount());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return total;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pic>
        <p:nvPicPr>
          <p:cNvPr id="34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1499577" y="1842998"/>
            <a:ext cx="6144846" cy="2051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연관에서 참조로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3461271"/>
          <a:ext cx="6139180" cy="3873500"/>
        </p:xfrm>
        <a:graphic>
          <a:graphicData uri="http://schemas.openxmlformats.org/drawingml/2006/table">
            <a:tbl>
              <a:tblPr/>
              <a:tblGrid>
                <a:gridCol w="1143000"/>
                <a:gridCol w="2092960"/>
                <a:gridCol w="29032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다중성 1..*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주문을 만들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생성자에서 빈 목록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합성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항목의 생애를 소유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밖에서 항목 목록을 바꿀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0..1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전에는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onPaid에서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→ 결제·배송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결제·배송은 주문을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연관은 설계에서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방향을 가진 참조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방향은 누가 누구에게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메시지를 보내는가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구조적 제약이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pic>
        <p:nvPicPr>
          <p:cNvPr id="14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3278109" y="1842998"/>
            <a:ext cx="2574192" cy="1516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경계를 넘는 연관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398572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주문 시점의 판매가를 단가로 옮겨 적는다.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static OrderItem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confirm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(Product product, Quantity quantity)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new OrderItem(product.number(), quantity, product.salePrice());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항목–상품 연관은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패키지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넘는다. 설계는 상품 객체를 참조하지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상품 번호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주문 시점의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확정 단가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갖는다.</a:t>
            </a:r>
          </a:p>
        </p:txBody>
      </p:sp>
      <p:graphicFrame>
        <p:nvGraphicFramePr>
          <p:cNvPr id="33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81646" y="4325672"/>
          <a:ext cx="6167120" cy="3873500"/>
        </p:xfrm>
        <a:graphic>
          <a:graphicData uri="http://schemas.openxmlformats.org/drawingml/2006/table">
            <a:tbl>
              <a:tblPr/>
              <a:tblGrid>
                <a:gridCol w="1841500"/>
                <a:gridCol w="223266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객체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상품의 변경에 묶인다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단가를 판매가로 읽을 위험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번호 + 확정 단가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주문은 영향이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의미와 경계를 함께 지킨다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34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1465385" y="1842998"/>
            <a:ext cx="6213231" cy="1445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상태에서 전이로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076187"/>
            <a:ext cx="8412480" cy="330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enum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OrderStatus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 PENDING_PAYMENT, PAID, IN_DELIVERY, DELIVERED, CANCELLING, CANCELLED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enum 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전이는 상태를 바꾸는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메서드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가드는 전이 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전이는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한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에서만 일어난다.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516115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transition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(OrderStatus from, OrderStatus to)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(status != from)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IllegalStateException(status + "에서는 " + to + "이 될 수 없다");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status = to;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08315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값의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개수와 뜻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분석과 같다. 이름은 용어집의 영문명이다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취소 처리 중은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CANCELLING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pic>
        <p:nvPicPr>
          <p:cNvPr id="35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688731" y="1842998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계약에서 메서드로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03516" y="1842998"/>
          <a:ext cx="67233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73558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취소한다(주문)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설계에서 지키는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OrderService가 OrderNumber로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완료·배송 시작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Order의 상태 검사와 출고 중단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취소 처리 중이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Order의 전이(CANCELLING)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시스템에 출고 중단을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 → 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시스템에 환불을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 → PaymentGateway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오퍼레이션 계약은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전체의 보장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설계는 그 보장을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받아 어느 객체들이 나누어 지키는가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계약의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"요청했다"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설계에서도 요청이다. 환불이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되었다고 설계하지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통보에서 사건으로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223815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배송 시스템의 통보를 주문의 사건으로 옮긴다. 주문은 주문 서비스가 찾는다.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receiveNotice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statusCode, String orderNumber)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(statusCode.equals("IN_TRANSIT")) orderService.onDeliveryStarted(new OrderNumber(orderNumber));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외부 통보는 연동이 받아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서비스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알리고, 주문 서비스가 주문을 찾아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주문의 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맡긴다. 외부의 상태 코드는 연동 밖으로 나가지 않는다.</a:t>
            </a:r>
          </a:p>
        </p:txBody>
      </p:sp>
      <p:pic>
        <p:nvPicPr>
          <p:cNvPr id="33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365760" y="2100036"/>
            <a:ext cx="8412480" cy="2014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주문 사례 대응표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644900"/>
                <a:gridCol w="3210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 근거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Order, OrderService, OrderRepository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규칙과 조정·저장의 변경 이유가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OrderItem(productNumber, quantity, unitPrice)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단가는 확정 값, 상품은 다른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총액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totalAmount()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파생 속성은 저장하지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배송지·수량·금액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 타입 Address·Quantity·Money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 도메인의 규칙을 생성 때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OrderStatus와 전이 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값 보존, 전이는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Payment, Refund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≤ 결제 금액은 결제 경계의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요청의 주인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PaymentGateway·DeliveryGateway,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약속은 업무 경계, 형식은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→ OrderService →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외부는 주문 번호만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사례의 분석 요소가 어떤 설계 요소가 되었는지와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 근거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한 표로 모은다. 대응표는 설계가 분석과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끊어지지 않았다는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의미 보존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85355" y="1842998"/>
          <a:ext cx="775970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59100"/>
                <a:gridCol w="3713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이름이 용어집의 영문명과 같은가?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OrderStatus, unitPrice ≠ salePrice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상태·코드 값이 용어집으로 대응하는가?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PENDING_PAYMENT ~ 취소됨 CANCELLED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 도메인과 불변 조건을 지키는가?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수량 ≥ 1, 금액 ≥ 0, 환불 ≤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다중성·생애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최소·최대 개수와 소유가 같은가?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1개 이상, 주문이 소유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계약의 보장이 같은가?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요청했다는 요청으로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순서를 지키는가?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→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설계가 분석 모델의 의미를 지켰는지는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여섯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검사한다. 형태는 바뀌어도 이 여섯은 바뀌지 않아야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조용한 의미 변경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9326" y="1842998"/>
          <a:ext cx="7731760" cy="3873500"/>
        </p:xfrm>
        <a:graphic>
          <a:graphicData uri="http://schemas.openxmlformats.org/drawingml/2006/table">
            <a:tbl>
              <a:tblPr/>
              <a:tblGrid>
                <a:gridCol w="2176780"/>
                <a:gridCol w="3853180"/>
                <a:gridCol w="1701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편의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조용히 바뀐 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어긴 기준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객체 참조로 금액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바뀌면 지난 주문 금액도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용어(단가 ≠ 판매가)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용어집에 없는 영어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단가·판매가를 모두 price로 불러 한 뜻이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리스트로 초기화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 없는 주문이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다중성 1..*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여부 boolean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중이 사라져 환불 전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여부 한 플래그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전과 배송 시작 전이 한 조건이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상태 코드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PICKING 같은 배송 시스템 상태가 주문 상태가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값·경계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뒤 출고 중단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이미 출고된 주문을 환불한다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의미 변경은 대개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편의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온다. 코드는 잘 돌아가지만 업무 규칙이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아무도 모르게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바뀐다.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48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이런 변경이 필요하다면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모델을 먼저 고치고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합의한다. 설계가 혼자 바꾸지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보존의 검증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59360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1. 의미 보존 — 단가는 주문 시점의 판매가, 주문 총액은 항목 금액의 합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var pen = new Product(new ProductNumber("P-1"), new Money(1000));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var order = new Order(new OrderNumber("O-1"),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List.of(OrderItem.confirm(pen, new Quantity(2))), new Address("서울"));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pen.changeSalePrice(new Money(1500));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check(order.totalAmount().equals(new Money(2000)));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2. 의미 보존 — 주문 항목은 1개 이상, 수량은 1 이상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rejects(() -&gt; new Order(new OrderNumber("O-0"), List.of(), new Address("서울")));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rejects(() -&gt; new Quantity(0));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의미 보존은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확인한다. 기준마다 "지켜지면 통과, 바뀌면 실패"하는 예를 하나씩 둔다.</a:t>
            </a:r>
          </a:p>
        </p:txBody>
      </p:sp>
      <p:pic>
        <p:nvPicPr>
          <p:cNvPr id="33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1626577" y="1842998"/>
            <a:ext cx="5890846" cy="1306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분석 모델 되돌림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69176" y="1842998"/>
          <a:ext cx="7592060" cy="3873500"/>
        </p:xfrm>
        <a:graphic>
          <a:graphicData uri="http://schemas.openxmlformats.org/drawingml/2006/table">
            <a:tbl>
              <a:tblPr/>
              <a:tblGrid>
                <a:gridCol w="2875280"/>
                <a:gridCol w="172974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설계에서 발견한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처리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통보에 주문 번호가 실려야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시스템과의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정제된 SSD의 통보에 반영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중단이 거절되면 취소도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이미 명세서 예외 흐름에 있음 — 확인만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서비스·주문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설계에만 둔다. 이름은 용어집에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번호로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모델에 역수입하지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설계는 분석의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빈틈을 드러낸다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발견한 것 중 업무 의미에 속하는 것은 분석 산출물에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설계 결정은 설계에 남긴다.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되돌릴지는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의미인가, 설계 결정인가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가른다.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초기 설계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(initial design)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분석 모델 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책임 배치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하는 일이다. 모델에서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용어와 기본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가져오고, 정제는 뒤로 미룬다.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"설계에 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기본적인 책임 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모델에서 가져온다"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"Draw from the model the terminology used in the design and the basic assignment of responsibilities."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누가 받는가?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분석 시퀀스의 메시지를 누가 책임지는가?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구조적 제약 안에서 어디에 두는가?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설계 시퀀스와 설계 클래스 다이어그램, 코드와 테스트로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시스템 이벤트를 받는 객체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64906" y="4101751"/>
          <a:ext cx="4800600" cy="3873500"/>
        </p:xfrm>
        <a:graphic>
          <a:graphicData uri="http://schemas.openxmlformats.org/drawingml/2006/table">
            <a:tbl>
              <a:tblPr/>
              <a:tblGrid>
                <a:gridCol w="1422400"/>
                <a:gridCol w="33782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받는 객체 후보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화면·API 처리기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기술 계층에 섞인다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자신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자신을 찾고 저장하는 일까지 주문이 떠안는다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조정만 하고 규칙은 주문에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서비스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OrderService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(응용 서비스, Application Service)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받는다. 주문 서비스는 찾고, 맡기고, 저장하며,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갖는다.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  <p:pic>
        <p:nvPicPr>
          <p:cNvPr id="14" name="plantuml Diagram 8"/>
          <p:cNvPicPr>
            <a:picLocks noChangeAspect="1"/>
          </p:cNvPicPr>
          <p:nvPr/>
        </p:nvPicPr>
        <p:blipFill>
          <a:blip r:embed="plantumlImage8"/>
          <a:stretch>
            <a:fillRect/>
          </a:stretch>
        </p:blipFill>
        <p:spPr>
          <a:xfrm>
            <a:off x="1810282" y="2100036"/>
            <a:ext cx="5509846" cy="1900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메시지에서 책임으로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77786" y="4938867"/>
          <a:ext cx="6974840" cy="3873500"/>
        </p:xfrm>
        <a:graphic>
          <a:graphicData uri="http://schemas.openxmlformats.org/drawingml/2006/table">
            <a:tbl>
              <a:tblPr/>
              <a:tblGrid>
                <a:gridCol w="1729740"/>
                <a:gridCol w="947420"/>
                <a:gridCol w="2819400"/>
                <a:gridCol w="1478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받는 객체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메서드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상태, 결제,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Delivery.requestDispatchStop()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번호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Payment.requestRefund()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시퀀스의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받는 객체의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 후보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메시지를 받는 객체는 그 일을 하는 데 필요한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알고 있어야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pic>
        <p:nvPicPr>
          <p:cNvPr id="14" name="plantuml Diagram 9"/>
          <p:cNvPicPr>
            <a:picLocks noChangeAspect="1"/>
          </p:cNvPicPr>
          <p:nvPr/>
        </p:nvPicPr>
        <p:blipFill>
          <a:blip r:embed="plantumlImage9"/>
          <a:stretch>
            <a:fillRect/>
          </a:stretch>
        </p:blipFill>
        <p:spPr>
          <a:xfrm>
            <a:off x="735667" y="1842998"/>
            <a:ext cx="7659077" cy="299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경계가 정하는 위치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책임을 어디에 둘지는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구조적 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먼저 제한한다. 약속은 업무 경계에, 외부 형식은 연동에, 상태 변경은 주문에 둔다.</a:t>
            </a:r>
          </a:p>
        </p:txBody>
      </p:sp>
      <p:pic>
        <p:nvPicPr>
          <p:cNvPr id="9" name="plantuml Diagram 10"/>
          <p:cNvPicPr>
            <a:picLocks noChangeAspect="1"/>
          </p:cNvPicPr>
          <p:nvPr/>
        </p:nvPicPr>
        <p:blipFill>
          <a:blip r:embed="plantumlImage10"/>
          <a:stretch>
            <a:fillRect/>
          </a:stretch>
        </p:blipFill>
        <p:spPr>
          <a:xfrm>
            <a:off x="2606919" y="1924333"/>
            <a:ext cx="3930162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경계가 정하는 위치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03895" y="2191766"/>
          <a:ext cx="572262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46355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구조적 제약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order·payment·delivery는 연동을 import하지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결제·배송은 주문을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약속의 소유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PaymentGateway·DeliveryGateway은 업무 경계에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REFUND·STOP·IN_TRANSIT은 연동 안에만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상태의 소유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상태는 Order만 바꾼다. 연동은 OrderService에 알릴 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1033239" y="6355080"/>
            <a:ext cx="65285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000000"/>
                </a:solidFill>
                <a:latin typeface="맑은 고딕"/>
                <a:ea typeface="맑은 고딕"/>
              </a:rPr>
              <a:t>책임을 어디에 둘지는 구조적 제약이 먼저 제한한다. 약속은 업무 경계에, 외부 형식은 연동에, 상태 변경은 주문에 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주문 취소 설계 시퀀스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64195" y="5145593"/>
          <a:ext cx="600202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4411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시퀀스와 비교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시퀀스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더해진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OrderService, OrderRepository, 찾기·저장,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그대로인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취소한다 → 출고 중단 → 환불 → 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시퀀스에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OrderService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OrderRepository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DeliveryGateway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PaymentGateway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)가 더해진다. 도메인 객체 사이의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메시지와 순서는 그대로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이름은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용어집의 영문명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  <p:pic>
        <p:nvPicPr>
          <p:cNvPr id="14" name="plantuml Diagram 11"/>
          <p:cNvPicPr>
            <a:picLocks noChangeAspect="1"/>
          </p:cNvPicPr>
          <p:nvPr/>
        </p:nvPicPr>
        <p:blipFill>
          <a:blip r:embed="plantumlImage11"/>
          <a:stretch>
            <a:fillRect/>
          </a:stretch>
        </p:blipFill>
        <p:spPr>
          <a:xfrm>
            <a:off x="968175" y="2100036"/>
            <a:ext cx="7194062" cy="2943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설계 클래스 다이어그램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클래스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(Design Class Diagram, DCD)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필드의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참조의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방향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책임인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메서드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인터페이스와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보인다.</a:t>
            </a:r>
          </a:p>
        </p:txBody>
      </p:sp>
      <p:pic>
        <p:nvPicPr>
          <p:cNvPr id="9" name="plantuml Diagram 12"/>
          <p:cNvPicPr>
            <a:picLocks noChangeAspect="1"/>
          </p:cNvPicPr>
          <p:nvPr/>
        </p:nvPicPr>
        <p:blipFill>
          <a:blip r:embed="plantumlImage12"/>
          <a:stretch>
            <a:fillRect/>
          </a:stretch>
        </p:blipFill>
        <p:spPr>
          <a:xfrm>
            <a:off x="729639" y="2430012"/>
            <a:ext cx="7684721" cy="3332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설계 클래스 다이어그램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08086" y="2191766"/>
          <a:ext cx="471424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108712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화살표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참조의 방향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메시지를 보내는 쪽 → 받는 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객체의 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시퀀스의 메시지에서 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«interface»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경계가 소유, 연동이 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점선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필드 없이 쓰기만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1033239" y="6355080"/>
            <a:ext cx="65285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000000"/>
                </a:solidFill>
                <a:latin typeface="맑은 고딕"/>
                <a:ea typeface="맑은 고딕"/>
              </a:rPr>
              <a:t>설계 클래스 다이어그램(Design Class Diagram, DCD)은 필드의 타입, 참조의 방향, 책임인 메서드, 인터페이스와 그 실현을 보인다.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설계에서 코드로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852841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cancelOrder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(OrderNumber 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 order = repository.findBy(number);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order.cancel();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repository.save(order);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시퀀스의 메시지는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메서드 호출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된다. 테스트는 가짜 저장소와 가짜 약속으로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순서와 금지된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953169"/>
            <a:ext cx="8412480" cy="1219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service.cancelOrder(new OrderNumber("O-1"));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check(repository.findBy(new OrderNumber("O-1")).status() == OrderStatus.CANCELLING);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check(requests.equals(List.of("출고 중단", "환불 2000")));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// ... 환불 완료 통보 확인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// 4. 금지된 전이 — 배송 중인 주문은 취소할 수 없고 상태가 그대로다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// ... 배송 시작 통보까지 준비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rejects(() -&gt; service.cancelOrder(new OrderNumber("O-2")));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check(shipped.status() == OrderStatus.IN_DELIVERY);</a:t>
            </a:r>
          </a:p>
        </p:txBody>
      </p:sp>
      <p:pic>
        <p:nvPicPr>
          <p:cNvPr id="34" name="plantuml Diagram 13"/>
          <p:cNvPicPr>
            <a:picLocks noChangeAspect="1"/>
          </p:cNvPicPr>
          <p:nvPr/>
        </p:nvPicPr>
        <p:blipFill>
          <a:blip r:embed="plantumlImage13"/>
          <a:stretch>
            <a:fillRect/>
          </a:stretch>
        </p:blipFill>
        <p:spPr>
          <a:xfrm>
            <a:off x="1817077" y="1842998"/>
            <a:ext cx="5509846" cy="1900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초기 설계의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56856" y="1842998"/>
          <a:ext cx="6616700" cy="3873500"/>
        </p:xfrm>
        <a:graphic>
          <a:graphicData uri="http://schemas.openxmlformats.org/drawingml/2006/table">
            <a:tbl>
              <a:tblPr/>
              <a:tblGrid>
                <a:gridCol w="379730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 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다루는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 배치의 근거 — 다른 배치와 비교하면?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"07. 책임·협력·계약"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계약 — 주문의 사전·사후조건·불변 조건은?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"07. 책임·협력·계약"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압력 — 부분 취소가 생기면 어디가 바뀌는가?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"08. 변화 대응과 변이 설계"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 평가 — 주문 서비스가 없는 설계는 더 나쁜가?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"09. 설계 대안 평가"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 — 저장소를 무엇으로 실현하는가?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"10. 기술 제약과 도메인 의미 보존"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초기 설계는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출발점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책임은 한 번 배치했을 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비교하고 정제하지 않았다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잘못된 관행 — 기계적 변환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26706" y="2801048"/>
          <a:ext cx="6477000" cy="3873500"/>
        </p:xfrm>
        <a:graphic>
          <a:graphicData uri="http://schemas.openxmlformats.org/drawingml/2006/table">
            <a:tbl>
              <a:tblPr/>
              <a:tblGrid>
                <a:gridCol w="337820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기계적 변환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판단한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모델의 클래스마다 같은 필드의 클래스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책임에 따라 나누고 합친다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연관을 양방향 객체 참조로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방향으로, 경계를 넘으면 식별자로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파생 속성을 필드로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계산할지 저장할지 판단한다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객체 없이 도메인 객체가 저장까지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조정·저장은 설계 객체에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명사마다 클래스, 분석 클래스마다 설계 클래스를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기계적으로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책임·경계가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단어가 설계를 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"이 방법은 주의해서 써야 한다. 명사를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기계적으로 클래스에 대응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시킬 수는 없고, 자연어의 단어는 모호하다"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"Care must be applied with this method; a mechanical noun-to-class mapping isn’t possible, and words in natural languages are ambiguous."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잘못된 관행 — 데이터만 옮기기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47306" y="1842998"/>
          <a:ext cx="7035800" cy="3873500"/>
        </p:xfrm>
        <a:graphic>
          <a:graphicData uri="http://schemas.openxmlformats.org/drawingml/2006/table">
            <a:tbl>
              <a:tblPr/>
              <a:tblGrid>
                <a:gridCol w="4020820"/>
                <a:gridCol w="3014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데이터만 옮긴 설계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규칙이 데이터와 함께인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order.setStatus(CANCELLED) — 누구나 아무 상태로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 — 전이는 주문 안에서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서비스가 상태·출고·환불 순서를 모두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서비스는 찾고 맡기고 저장만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서비스마다 같은 검사를 복사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규칙은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개념을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getter·setter만 있는 클래스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옮기고, 규칙은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서비스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둔다. 데이터와 그 데이터의 규칙이 떨어진다.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965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규칙이 서비스로 흩어지면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 보존을 검사할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흩어진다.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잘못된 관행 — 분석과 단절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모델을 문서로 남기고, 설계는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이름과 새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처음부터 만든다. 분석에서 합의한 의미가 설계로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전해지지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용어집의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OrderItem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두고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OrderLine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Item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Detail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섞어 부른다. 용어 정렬이 무너진다.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상태를 여러 플래그로 나눈다. 상태 기계와 코드가 대응하지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설계자가 편한 대로 정한다. 확인하지 않은 규칙이 코드에 들어간다.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되돌림 없음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설계에서 발견한 것이 분석에 돌아가지 않는다. 분석 모델이 낡는다.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잘못된 관행 — 기술 먼저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12735" y="1842998"/>
          <a:ext cx="6504940" cy="3873500"/>
        </p:xfrm>
        <a:graphic>
          <a:graphicData uri="http://schemas.openxmlformats.org/drawingml/2006/table">
            <a:tbl>
              <a:tblPr/>
              <a:tblGrid>
                <a:gridCol w="2651760"/>
                <a:gridCol w="3853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기술이 정한 형태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사라진 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기본 생성자와 setter 필수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수량 ≥ 1, 항목 1개 이상을 생성 때 검사할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엔티티 간 양방향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경계와 의존 방향이 사라진다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API 응답 객체를 그대로 사용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형식이 주문 안으로 들어온다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화면 폼과 같은 클래스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화면이 바뀌면 도메인이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프레임워크·ORM의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설계의 형태를 정한다. 도메인 개념보다 테이블·어노테이션·화면이 먼저다.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데이터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출발하는 것은 잘못이 아니다. 잘못은 저장 기술의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의미를 정하는 것이다.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적정 전환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초기 설계는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답하면 멈추고 코드로 확인한다. 모든 분석 요소를 설계 다이어그램으로 옮기지 않는다.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받는가?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시스템 이벤트마다 받는 객체가 있다.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규칙은 어디 있는가?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규칙과 상태 변경이 도메인 객체 한 곳에 있다.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경계를 지키는가?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구조적 제약을 어기지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KISS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복잡한 협력만 설계 시퀀스로 그린다. 조회처럼 단순한 것은 코드로 바로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YAGNI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부분 취소·다른 저장 기술처럼 오지 않은 변경을 미리 추상화하지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DRY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규칙은 한 곳에. 대응표와 설계 다이어그램에 같은 내용을 반복하지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실습 — 분석에서 설계로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분석 모델과 패키지 다이어그램을 LLM에 제공하여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대응표와 설계 클래스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설계 시퀀스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만들고, 점검 항목으로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도메인 모델 상세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4의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시퀀스·상태 기계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5의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 상세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보완,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실제로는 여러분의 결과물을 이어 씁니다.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① "위 분석 모델을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바꿔줘. 분석 요소마다 설계 요소와 판단 근거를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대응표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쓰고, PlantUML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클래스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그려줘. 패키지의 의존 방향을 지키고, 이름은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용어집의 영문명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으로 써줘."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② "시스템 이벤트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의 PlantUML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시퀀스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그려줘. 시스템 이벤트를 받는 객체와 외부 시스템 인터페이스를 보여줘."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기계적 변환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분석 클래스를 1:1로 옮기지 않고 책임으로 나누고 합쳤는가?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의미와 이름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단가·만료일·회차 금액·상태 값의 의미가 분석과 같고, 이름이 용어집의 영문명인가?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받는 객체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시스템 이벤트를 받는 객체가 규칙 없이 조정만 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규칙의 위치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상태 전이와 규칙이 도메인 객체 한 곳에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경계와 방향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경계를 넘는 연관은 식별자로, 업무 클래스는 연동을 모르는가?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결제·배송 요청·확정·영수증의 순서가 상태 기계의 가드와 맞는가?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대응표, 설계 클래스 다이어그램, 설계 시퀀스 다이어그램. 책임·협력·계약 설계의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대응표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59626" y="1842998"/>
          <a:ext cx="8011160" cy="3873500"/>
        </p:xfrm>
        <a:graphic>
          <a:graphicData uri="http://schemas.openxmlformats.org/drawingml/2006/table">
            <a:tbl>
              <a:tblPr/>
              <a:tblGrid>
                <a:gridCol w="2037080"/>
                <a:gridCol w="3266440"/>
                <a:gridCol w="2707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 근거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상태와 규칙을 갖는다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이벤트의 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찾기·저장의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SubscriptionItem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단가는 신청 때 확정(R4)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productNumber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상품은 다른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만료일·회차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expiryDate(), roundAmount()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파생 속성은 저장하지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주기·기간·첫 배송일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 타입 Days·Months·LocalDate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 규칙(R1~R3)을 생성 때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값 보존, 전이는 정기배송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RoundStatus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단위의 취소·배송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고객–정기배송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 → CustomerNumber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방향은 실습 5 보완, 경계가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방법·청구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PaymentMethod·BillingMethod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 목록(R5·R6)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PaymentGateway·DeliveryGateway,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약속은 업무 경계, 형식은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정기배송 분석 모델의 요소를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책임과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나누고 합쳐 설계 요소로 옮겼다. 판매가·만료일·상태 값의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의미는 그대로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설계 클래스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정기배송이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상태와 규칙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을, 정기배송 서비스가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조정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맡는다.</a:t>
            </a:r>
          </a:p>
        </p:txBody>
      </p:sp>
      <p:pic>
        <p:nvPicPr>
          <p:cNvPr id="9" name="plantuml Diagram 14"/>
          <p:cNvPicPr>
            <a:picLocks noChangeAspect="1"/>
          </p:cNvPicPr>
          <p:nvPr/>
        </p:nvPicPr>
        <p:blipFill>
          <a:blip r:embed="plantumlImage14"/>
          <a:stretch>
            <a:fillRect/>
          </a:stretch>
        </p:blipFill>
        <p:spPr>
          <a:xfrm>
            <a:off x="800588" y="1847163"/>
            <a:ext cx="7542823" cy="4039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36. 설계 시퀀스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정기배송 서비스가 받아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정기배송에 맡긴다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 확정은 상태 기계의 가드대로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배송 요청이 접수된 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pic>
        <p:nvPicPr>
          <p:cNvPr id="9" name="plantuml Diagram 15"/>
          <p:cNvPicPr>
            <a:picLocks noChangeAspect="1"/>
          </p:cNvPicPr>
          <p:nvPr/>
        </p:nvPicPr>
        <p:blipFill>
          <a:blip r:embed="plantumlImage15"/>
          <a:stretch>
            <a:fillRect/>
          </a:stretch>
        </p:blipFill>
        <p:spPr>
          <a:xfrm>
            <a:off x="506535" y="2468014"/>
            <a:ext cx="8130931" cy="3039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37. 설계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4)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요청의 접수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요청은 접수 결과를 기다린다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(동기)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회차별 배송은 비동기 통보로 온다. 가드 [배송 요청 성공]의 근거다.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확정은 배송 요청 접수 뒤, 영수증 발행은 확정 뒤다.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유스케이스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7단계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"배송을 요청하고, 접수되면 정기배송을 확정한다"로 순서를 밝힌다.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5)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요소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 서비스·저장소는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패키지에 둔다.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설계하며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용어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 서비스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SubscriptionService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정기배송 저장소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SubscriptionRepository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정기배송 번호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SubscriptionNumber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동작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결제한다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승인을 요청한다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requestApproval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배송을 요청한다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requestDelivery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영수증을 발행한다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issueReceipt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요청의 접수, 확정의 순서, 용어집의 새 용어. 책임·계약 설계의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명세서 7단계의 문구, 패키지 다이어그램의 설계 요소.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38.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분석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의미를 보존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하면서 책임·경계·협력으로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만들었다.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분석에서 설계로의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의미는 보존하고 형태는 책임·경계·협력으로 다시 결정한다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1:1이 아니다. 나뉘고, 합쳐지고, 설계에만 있는 요소가 생긴다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 보존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용어·값·규칙·다중성·계약·사건의 순서를 테스트로 확인한다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설계의 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분석은 한글 용어, 설계는 용어집의 영문명. 새 설계 용어는 용어집에 먼저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시스템 이벤트를 받는 객체, 메시지에서 책임, 구조적 제약 안의 위치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의미는 분석 산출물로, 설계 결정은 설계에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기계적 변환, 데이터만 옮기기, 분석과 단절, 기술 먼저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07. 책임·협력·계약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객체의 책임과 협력을 정제하고 계약으로 행위의 조건과 보장을 검증한다.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42</Slides>
  <Notes>38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46" baseType="lpstr">
      <vt:lpstr>맑은 고딕</vt:lpstr>
      <vt:lpstr>Arial</vt:lpstr>
      <vt:lpstr>Wingdings</vt:lpstr>
      <vt:lpstr>4_Office 테마</vt:lpstr>
      <vt:lpstr>06. 분석 모델에서 설계 모델로 목차 (1/2)</vt:lpstr>
      <vt:lpstr>06. 분석 모델에서 설계 모델로 목차 (2/2)</vt:lpstr>
      <vt:lpstr>01. 세션 목표</vt:lpstr>
      <vt:lpstr>02. 분석에서 설계로</vt:lpstr>
      <vt:lpstr>03. 전환은 판단이다</vt:lpstr>
      <vt:lpstr>04. 분석 모델과 설계 모델</vt:lpstr>
      <vt:lpstr>05. 표현 간극</vt:lpstr>
      <vt:lpstr>06. 끊어진 모델</vt:lpstr>
      <vt:lpstr>07. 대응의 유형</vt:lpstr>
      <vt:lpstr>08. 개념에서 클래스로 클래스 다이어그램</vt:lpstr>
      <vt:lpstr>09. 속성에서 타입으로 클래스 다이어그램</vt:lpstr>
      <vt:lpstr>10. 연관에서 참조로 클래스 다이어그램</vt:lpstr>
      <vt:lpstr>11. 경계를 넘는 연관 클래스 다이어그램</vt:lpstr>
      <vt:lpstr>12. 상태에서 전이로 상태 기계 다이어그램</vt:lpstr>
      <vt:lpstr>13. 계약에서 메서드로</vt:lpstr>
      <vt:lpstr>14. 통보에서 사건으로 시퀀스 다이어그램</vt:lpstr>
      <vt:lpstr>15. 주문 사례 대응표</vt:lpstr>
      <vt:lpstr>16. 의미 보존 기준</vt:lpstr>
      <vt:lpstr>17. 조용한 의미 변경</vt:lpstr>
      <vt:lpstr>18. 보존의 검증 클래스 다이어그램</vt:lpstr>
      <vt:lpstr>19. 분석 모델 되돌림</vt:lpstr>
      <vt:lpstr>20. 초기 설계</vt:lpstr>
      <vt:lpstr>21. 시스템 이벤트를 받는 객체 시퀀스 다이어그램</vt:lpstr>
      <vt:lpstr>22. 메시지에서 책임으로 시퀀스 다이어그램</vt:lpstr>
      <vt:lpstr>23. 경계가 정하는 위치 (1/2) 패키지 다이어그램</vt:lpstr>
      <vt:lpstr>23. 경계가 정하는 위치 (2/2) 패키지 다이어그램</vt:lpstr>
      <vt:lpstr>24. 주문 취소 설계 시퀀스 시퀀스 다이어그램</vt:lpstr>
      <vt:lpstr>25. 설계 클래스 다이어그램 (1/2)</vt:lpstr>
      <vt:lpstr>25. 설계 클래스 다이어그램 (2/2)</vt:lpstr>
      <vt:lpstr>26. 설계에서 코드로 시퀀스 다이어그램</vt:lpstr>
      <vt:lpstr>27. 초기 설계의 한계</vt:lpstr>
      <vt:lpstr>28. 잘못된 관행 — 기계적 변환</vt:lpstr>
      <vt:lpstr>29. 잘못된 관행 — 데이터만 옮기기</vt:lpstr>
      <vt:lpstr>30. 잘못된 관행 — 분석과 단절</vt:lpstr>
      <vt:lpstr>31. 잘못된 관행 — 기술 먼저</vt:lpstr>
      <vt:lpstr>32. 적정 전환</vt:lpstr>
      <vt:lpstr>33. 실습 — 분석에서 설계로</vt:lpstr>
      <vt:lpstr>34. 대응표 (안)</vt:lpstr>
      <vt:lpstr>35. 설계 클래스 다이어그램 (안)</vt:lpstr>
      <vt:lpstr>36. 설계 시퀀스 다이어그램 (안)</vt:lpstr>
      <vt:lpstr>37. 설계 보완 (안)</vt:lpstr>
      <vt:lpstr>38.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06. 분석 모델에서 설계 모델로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