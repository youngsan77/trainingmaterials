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  <p:sldId id="280" r:id="javaLecture25"/>
    <p:sldId id="281" r:id="javaLecture26"/>
    <p:sldId id="282" r:id="javaLecture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Relationship Id="javaLecture25" Type="http://schemas.openxmlformats.org/officeDocument/2006/relationships/slide" Target="slides/slide25.xml"/><Relationship Id="javaLecture26" Type="http://schemas.openxmlformats.org/officeDocument/2006/relationships/slide" Target="slides/slide26.xml"/><Relationship Id="javaLecture27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입력은 "세션 02. 요구 분석과 유스케이스"부터 "세션 10. 기술 제약과 도메인 의미 보존"까지의 산출물 전체다. 새 모델 기법은 없다. 이미 만든 모델을 잇고 평가한다.</a:t>
            </a:r>
          </a:p>
          <a:p>
            <a:pPr lvl="0"/>
            <a:r>
              <a:rPr lang="ko-KR" sz="1200"/>
              <a:t>세션 전체가 같은 예를 쓴다 — 주문 O-1(펜 2개, 단가 1,000원, 배송지 서울, 결제 완료, 당일 배송 대행사, 배송 번호 D-1)의 취소. 코드의 테스트(code/s11/test/IntegrationTest.java)도 같은 주문이다.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George Fairbanks, *Just Enough Software Architecture: A Risk-Driven Approach*(Marshall &amp; Brainerd, 2010). 저자의 책 소개 페이지 [georgefairbanks.com/book](https://www.georgefairbanks.com/book/)에서 원문 확인. 책 본문은 직접 확인하지 못해 www로 표시한다.</a:t>
            </a:r>
          </a:p>
          <a:p>
            <a:pPr lvl="0"/>
            <a:r>
              <a:rPr lang="ko-KR" sz="1200"/>
              <a:t>Fairbanks의 책은 아키텍처를 다루지만 판단의 틀 — 위험에 비례한 설계 노력 — 은 이 과정의 모든 모델에 그대로 적용된다.</a:t>
            </a:r>
          </a:p>
          <a:p>
            <a:pPr lvl="0"/>
            <a:r>
              <a:rPr lang="ko-KR" sz="1200"/>
              <a:t>"세션 03. 정적 모델 — 도메인 개념과 관계"와 "세션 04. 동적 모델 — 상호작용과 상태"에서 "충분한 만큼"을 물었다. 이 세션이 그 기준을 정리한다.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Craig Larman, *Applying UML and Patterns*, 3rd ed.(2004), §2.7 "What is Agile Modeling?" 원문 확인. 같은 곳은 모델링 행위 자체가 문제를 이해하는 더 나은 방법을 이끌어야 한다고 말한다.</a:t>
            </a:r>
          </a:p>
          <a:p>
            <a:pPr lvl="0"/>
            <a:r>
              <a:rPr lang="ko-KR" sz="1200"/>
              <a:t>이 표는 추적표다. 요구 → 설계 → 코드의 추적은 문서를 위한 것이 아니라, 요구가 바뀔 때 어디를 다시 열지 찾기 위한 것이다("세션 12. 구현·검증·DevOps와 SW공학 피드백"의 역추적과 연결).</a:t>
            </a:r>
          </a:p>
          <a:p>
            <a:pPr lvl="0"/>
            <a:r>
              <a:rPr lang="ko-KR" sz="1200"/>
              <a:t>흐름 번호 1a와 시스템 이벤트 이름은 과정의 공통 전제 그대로다.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동적 모델의 질문이 취소 처리 중을 발견했다("세션 04. 동적 모델 — 상호작용과 상태"). 모델이 새 상태를 찾아낸 것 — 모델의 가치가 가장 분명한 예다.</a:t>
            </a:r>
          </a:p>
          <a:p>
            <a:pPr lvl="0"/>
            <a:r>
              <a:rPr lang="ko-KR" sz="1200"/>
              <a:t>evidence의 종류는 "세션 01. OOAD 개요"의 결정과 검증을 따른다. 각 모델이 결정을 만들고, 그 결정은 다음 모델이나 테스트가 검증한다.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업무 경계 order·payment·delivery는 어느 것도 연동과 persistence를 모른다. 연동은 외부 형식을, persistence는 저장 형식을 안쪽의 말로 옮긴다.</a:t>
            </a:r>
          </a:p>
          <a:p>
            <a:pPr lvl="0"/>
            <a:r>
              <a:rPr lang="ko-KR" sz="1200"/>
              <a:t>정기 배송 연동(deliveryadapter)은 당일 배송 연동과 같은 자리라 도식에서 뺐다.</a:t>
            </a:r>
          </a:p>
          <a:p>
            <a:pPr lvl="0"/>
            <a:r>
              <a:rPr lang="ko-KR" sz="1200"/>
              <a:t>화살표가 모두 안쪽을 향한다는 것이 "세션 05. 구조적 경계와 의존성"의 의존 규칙이 통합 뒤에도 지켜졌다는 evidence다. 패키지 사이의 순환이 없는지는 테스트로도 확인할 수 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계약("세션 07. 책임·협력·계약") — 사전조건은 O-1이 결제 완료이고 출고 중단이 수락되는 것, 사후조건은 O-1이 취소 처리 중이고 출고 중단과 환불을 이 순서로 요청한 것이다.</a:t>
            </a:r>
          </a:p>
          <a:p>
            <a:pPr lvl="0"/>
            <a:r>
              <a:rPr lang="ko-KR" sz="1200"/>
              <a:t>이 시퀀스는 "세션 06. 분석 모델에서 설계 모델로"의 설계 시퀀스에 저장소가 실제로 끼어든 것이다. 앞 세션에서는 저장소가 메모리에 주문을 들고 있었다.</a:t>
            </a:r>
          </a:p>
          <a:p>
            <a:pPr lvl="0"/>
            <a:r>
              <a:rPr lang="ko-KR" sz="1200"/>
              <a:t>환불 완료 통보(REFUNDED)가 오면 결제 연동이 onRefundCompleted로 알리고 O-1은 취소됨이 된다. 도식에서는 뺐다.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10. 기술 제약과 도메인 의미 보존"은 결제·배송의 연결을 교육용 범위에서 뺐다고 적었다. 범위를 좁힌 결정 자체는 틀리지 않았다. 그 결정이 다른 판단에 미치는 영향을 통합에서 확인하지 않으면 빈틈이 된다.</a:t>
            </a:r>
          </a:p>
          <a:p>
            <a:pPr lvl="0"/>
            <a:r>
              <a:rPr lang="ko-KR" sz="1200"/>
              <a:t>결과를 먼저 예측하게 한다: 연결 없이 복원한 O-1에 cancel()을 시키면? — 출고 중단을 요청할 배송이 없어 실패한다.</a:t>
            </a:r>
          </a:p>
          <a:p>
            <a:pPr lvl="0"/>
            <a:r>
              <a:rPr lang="ko-KR" sz="1200"/>
              <a:t>이런 빈틈은 흔히 통합 테스트나 운영에서 처음 보인다. 발견 위치와 원인 수준이 다르다는 것은 "세션 12. 구현·검증·DevOps와 SW공학 피드백"의 주제다.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09. 설계 대안 평가"의 결정 기록은 "배송마다 대행사를 고른다"였다. 고른 결과를 언제까지 유지하는가는 묻지 않았다. 보완은 결정 기록에 한 줄을 더한다 — "고른 대행사는 배송의 사실로 저장하고, 규칙이 바뀌어도 다시 고르지 않는다".</a:t>
            </a:r>
          </a:p>
          <a:p>
            <a:pPr lvl="0"/>
            <a:r>
              <a:rPr lang="ko-KR" sz="1200"/>
              <a:t>요구·도메인 모델은 다시 열지 않는다. 결제·배송이 주문에 연결된다는 의미는 이미 있었고, 빠진 것은 그 의미의 저장이었다.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코드는 code/s11/persistence/의 발췌이며, 컴파일·실행해 확인한다. 실행: javac -encoding UTF-8 -d out $(find . -name "*.java") &amp;&amp; java -cp out test.IntegrationTest.</a:t>
            </a:r>
          </a:p>
          <a:p>
            <a:pPr lvl="0"/>
            <a:r>
              <a:rPr lang="ko-KR" sz="1200"/>
              <a:t>결제 금액은 확정 값이다. 주문 총액으로 다시 계산하지 않는다 — 결제된 금액이 환불 금액의 기준이다("세션 10. 기술 제약과 도메인 의미 보존"의 확정 값 규칙).</a:t>
            </a:r>
          </a:p>
          <a:p>
            <a:pPr lvl="0"/>
            <a:r>
              <a:rPr lang="ko-KR" sz="1200"/>
              <a:t>대행사 칼럼의 값 REGULAR·SAME_DAY는 교육용 저장 코드다.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매퍼는 이름 → 배송 시스템의 표(Map)를 조립 때 받는다. 도메인은 여전히 어느 대행사가 있는지 모른다.</a:t>
            </a:r>
          </a:p>
          <a:p>
            <a:pPr lvl="0"/>
            <a:r>
              <a:rPr lang="ko-KR" sz="1200"/>
              <a:t>선택은 판매가 → 단가의 확정과 같은 모양이다. 그때 정한 것은 저장하고, 지금 계산할 것은 저장하지 않는다.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요청 순서(출고 중단 → 환불)는 "세션 07. 책임·협력·계약"의 사후조건이다. 통합 테스트가 계약을 조립된 상태에서 다시 확인한다.</a:t>
            </a:r>
          </a:p>
          <a:p>
            <a:pPr lvl="0"/>
            <a:r>
              <a:rPr lang="ko-KR" sz="1200"/>
              <a:t>테스트는 이어서 환불 완료 통보로 O-1이 CANCELLED로 저장되는지, 저장된 대행사가 SAME_DAY인지 확인한다.</a:t>
            </a:r>
          </a:p>
          <a:p>
            <a:pPr lvl="0"/>
            <a:r>
              <a:rPr lang="ko-KR" sz="1200"/>
              <a:t>가짜 외부 시스템은 테스트 더블이다. 실제 외부와의 계약 확인은 "세션 12. 구현·검증·DevOps와 SW공학 피드백"에서 다룬다.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Fairbanks(2010)의 책 소개 페이지 원문 확인(「02. 모델의 가치」와 같다). 위험 주도 모델(risk-driven model)의 세 단계다.</a:t>
            </a:r>
          </a:p>
          <a:p>
            <a:pPr lvl="0"/>
            <a:r>
              <a:rPr lang="ko-KR" sz="1200"/>
              <a:t>평가 단계가 핵심이다. 모델을 만든 것이 아니라 위험이 줄었는지를 묻는다. 줄지 않은 모델은 다시 고르고, 줄었으면 더 다듬지 않는다.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과정의 순서(요구 → 정적 → 동적 → …)는 가르치는 순서다. 실제 프로젝트에서는 위험이 큰 곳부터 모델링하고, 위험이 작은 곳은 가볍게 지난다.</a:t>
            </a:r>
          </a:p>
          <a:p>
            <a:pPr lvl="0"/>
            <a:r>
              <a:rPr lang="ko-KR" sz="1200"/>
              <a:t>상품 조회는 규칙이 적고 상태가 없다. 유스케이스 한 줄과 용어집 항목이면 충분하다.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§14.3 "How Much Time Spent Drawing UML Before Coding?" 원문 확인. 원문은 3주 반복이면 반복 초에 몇 시간, 길어야 하루 그린 뒤 멈추고 코딩으로 넘어가라는 지침의 일부다.</a:t>
            </a:r>
          </a:p>
          <a:p>
            <a:pPr lvl="0"/>
            <a:r>
              <a:rPr lang="ko-KR" sz="1200"/>
              <a:t>멈춘다는 것은 버린다는 뜻이 아니다. 코딩 중 새 위험이 보이면 다시 그린다 — 「07. 통합이 드러낸 빈틈」의 빈틈이 그런 경우다.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Scott W. Ambler, Agile Modeling의 원칙 "Travel Light", [agilemodeling.com/principles.htm](https://agilemodeling.com/principles.htm) 원문 확인. 원칙은 *Agile Modeling*(Wiley, 2002)에서 처음 정리됐고 책은 직접 확인하지 못해 www로 표시한다.</a:t>
            </a:r>
          </a:p>
          <a:p>
            <a:pPr lvl="0"/>
            <a:r>
              <a:rPr lang="ko-KR" sz="1200"/>
              <a:t>남기는 기준은 코드에 없는 정보인가다. 결정 기록의 "포기한 대안"은 코드에 없다. 분석 시퀀스의 흐름은 코드와 테스트가 대신한다.</a:t>
            </a:r>
          </a:p>
          <a:p>
            <a:pPr lvl="0"/>
            <a:r>
              <a:rPr lang="ko-KR" sz="1200"/>
              <a:t>남긴 모델도 테스트로 확인되면(상태 기계 → 상태 전이 테스트) 틀린 문서가 되기 어렵다.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09. 설계 대안 평가"의 추상화 비용과 같은 판단이다. 이 표는 그 판단을 통합된 설계 전체에 적용한다.</a:t>
            </a:r>
          </a:p>
          <a:p>
            <a:pPr lvl="0"/>
            <a:r>
              <a:rPr lang="ko-KR" sz="1200"/>
              <a:t>추상화의 비용은 코드 줄 수보다 읽는 사람이 거치는 단계다. 새 개발자가 O-1의 취소를 따라가며 몇 개의 파일을 열어야 하는가로 설명하면 잘 전달된다.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점검은 실습에서 정기배송에 그대로 쓴다.</a:t>
            </a:r>
          </a:p>
          <a:p>
            <a:pPr lvl="0"/>
            <a:r>
              <a:rPr lang="ko-KR" sz="1200"/>
              <a:t>셋째 질문이 가장 자주 놓친다. 모델을 그렸는데 이미 정한 답을 옮겨 적기만 했다면 판단을 개선하지 못한 것이다.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Larman, 3rd ed.(2004), §9.1 Guideline 원문 확인. 같은 장은 도메인 모델링에 쓰는 시간을 초기 반복의 몇 시간으로 제한하라고 이어 말한다.</a:t>
            </a:r>
          </a:p>
          <a:p>
            <a:pPr lvl="0"/>
            <a:r>
              <a:rPr lang="ko-KR" sz="1200"/>
              <a:t>"작게 끝까지"(guides/sw-engineering-principles.md)가 이 관행의 반대다. 「07. 통합이 드러낸 빈틈」의 빈틈도 끝까지 조립했기 때문에 보였다.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문서를 위한 모델의 신호: 누가 이 모델로 무엇을 결정했는지 답하지 못한다.</a:t>
            </a:r>
          </a:p>
          <a:p>
            <a:pPr lvl="0"/>
            <a:r>
              <a:rPr lang="ko-KR" sz="1200"/>
              <a:t>이해를 위해 그린 모델(화이트보드, CRC)은 버려도 된다. 버린다고 가치가 없던 것이 아니다 — 가치는 그리는 동안의 판단에 있었다.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"애자일이니까 모델은 안 그린다"는 오해다. 애자일 모델링도 목적 있는 모델을 권한다. 그리지 않는 것이 아니라 필요한 만큼만 그린다.</a:t>
            </a:r>
          </a:p>
          <a:p>
            <a:pPr lvl="0"/>
            <a:r>
              <a:rPr lang="ko-KR" sz="1200"/>
              <a:t>LLM으로 코드를 빠르게 만들 수 있을수록 이 관행이 늘기 쉽다. 코드가 빨리 나와도 상태 경계의 판단은 사람이 확인해야 한다("세션 14. AI-native SW공학"과 연결).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과정도 세션별로 모델을 만들었다. 통합을 이 세션까지 미룬 것은 가르치는 순서 때문이다. 실제 프로젝트는 반복마다 얇게 끝까지 조립한다.</a:t>
            </a:r>
          </a:p>
          <a:p>
            <a:pPr lvl="0"/>
            <a:r>
              <a:rPr lang="ko-KR" sz="1200"/>
              <a:t>통합 테스트를 CI에 두는 방법은 "세션 12. 구현·검증·DevOps와 SW공학 피드백"에서 다룬다.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LLM은 모든 모델에 "보완 필요"를 붙여 더 그리라고 하기 쉽다. 점검 항목 4·5로 되돌린다.</a:t>
            </a:r>
          </a:p>
          <a:p>
            <a:pPr lvl="0"/>
            <a:r>
              <a:rPr lang="ko-KR" sz="1200"/>
              <a:t>빈틈은 수강생마다 다를 수 있다. 다시 열 산출물과 이유가 있으면 맞다.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세션의 빈틈은 실현에서 보였고 원인은 범위 결정이었다. 다음 세션은 이런 역추적을 코드·CI·운영의 evidence 전반으로 넓힌다.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빈틈은 객체 설계의 계약을 쓰다 보이지만, 원인은 요구다 — 유스케이스 명세에 청구 후 취소의 흐름이 없다. 발견 위치와 원인 수준이 다르다.</a:t>
            </a:r>
          </a:p>
          <a:p>
            <a:pPr lvl="0"/>
            <a:r>
              <a:rPr lang="ko-KR" sz="1200"/>
              <a:t>동적 모델은 정기배송 단위의 상태 기계만 그렸다(실습 4). 회차 상태는 실습 3에서 발견했지만 값과 전이는 정하지 않았다 — 위험이 작다고 본 판단이 청구 후 취소에서 다시 열린다.</a:t>
            </a:r>
          </a:p>
          <a:p>
            <a:pPr lvl="0"/>
            <a:r>
              <a:rPr lang="ko-KR" sz="1200"/>
              <a:t>일시불(LUMP_SUM)이면 모든 회차가 청구된 상태라 빈틈이 더 크다.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더 모델링할 곳은 하나다. 「17. 적정 수준의 점검」의 네 질문에 모두 "예"인 곳이 회차 상태 — 청구 후 취소 — 뿐이다. 앞서 그리지 않은 판단이 틀린 것은 아니다. 새 질문이 생겨 위험이 바뀌었다.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회차 상태 RoundStatus의 영문 값 — SCHEDULED, BILLED, DELIVERED, REFUND_PENDING, CANCELLED.</a:t>
            </a:r>
          </a:p>
          <a:p>
            <a:pPr lvl="0"/>
            <a:r>
              <a:rPr lang="ko-KR" sz="1200"/>
              <a:t>요구를 다시 열면 뒤 모델도 따라 바뀐다. 이 순서 — 원인 수준에서 고치고 아래로 내려온다 — 가 다음 세션의 역추적이다.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2" Type="http://schemas.openxmlformats.org/officeDocument/2006/relationships/image" Target="../media/plantuml-2.png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3" Type="http://schemas.openxmlformats.org/officeDocument/2006/relationships/image" Target="../media/plantuml-3.png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4" Type="http://schemas.openxmlformats.org/officeDocument/2006/relationships/image" Target="../media/plantuml-4.png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5" Type="http://schemas.openxmlformats.org/officeDocument/2006/relationships/image" Target="../media/plantuml-5.png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5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6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통합 설계와 적정 모델링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모델의 가치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하나의 사례로 통합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모델별 질문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통합 구조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통합 시퀀스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통합이 드러낸 빈틈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다시 여는 판단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매핑 보완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저장된 선택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통합 테스트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위험 주도 모델링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주문 사례의 위험과 모델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14. 멈추는 기준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15. 유지 비용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16. 추상화의 비용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17. 적정 수준의 점검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18.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분석 마비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19.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문서를 위한 모델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20.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위험 앞의 생략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21.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조립 없는 완료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22. 실습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통합 설계와 적정 모델링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23. 요약</a:t>
            </a:r>
          </a:p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요구부터 기술 실현까지의 판단을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하나의 사례로 통합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하고, 추가 모델링의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가치와 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판단한다.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주문 O-1의 취소 한 건을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요구·정적·동적·경계·객체·변화·실현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모델로 끝까지 추적한다.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각 모델이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어떤 질문에 답했고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무엇이 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evidence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인지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모델을 따로 확인할 때 보이지 않던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통합의 빈틈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찾고, 다시 열 판단 수준을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모델링·추상화를 더할지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 감소와 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판단하고, 멈출 곳을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분석 마비·문서를 위한 모델·위험 앞의 생략 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식별한다.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02. 모델의 가치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질문에 답하고 위험을 줄일 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가치가 있다. 위험이 작으면 모델을 줄이고, 위험이 크면 모델을 생략하지 않는다. 이 세션의 두 부분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통합과 적정 모델링 — 은 이 한 문장에서 나온다.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"위험이 작을 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꼼꼼한 설계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필요 없고, 위험이 성공을 위협할 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엉성한 설계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변명할 수 없다"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"There is no need for meticulous designs when risks are small, nor any excuse for sloppy designs when risks threaten your success."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[Fairbanks 2010, 재인용]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모델들이 이어져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실제로 동작하는가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하나의 사례로 확인한다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(「03. 하나의 사례로 통합」~「11. 통합 테스트」)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적정 모델링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다음 모델이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판단을 개선하는가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더할지 멈출지 정한다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(「12. 위험 주도 모델링」~「17. 적정 수준의 점검」)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하나의 사례로 통합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82916" y="2600498"/>
          <a:ext cx="61645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3601720"/>
                <a:gridCol w="16738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O-1의 취소에서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산출물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대안 흐름 1a, 시스템 이벤트 "주문을 취소한다"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유스케이스·계약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주문·결제·배송, 주문 상태의 값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모델·용어집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동적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완료 → 취소 처리 중 → 취소됨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시퀀스·상태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order가 약속, 연동이 실현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패키지 다이어그램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객체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Order.cancel()의 사전·사후조건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 클래스·계약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대행사가 둘, CarrierSelector가 고른다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변이 설계·결정 기록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OrderRow로 저장, 매퍼로 복원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매핑 표·테스트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앞 세션들은 모델을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만들었다. 아래 표는 주문 O-1의 취소 한 건이 각 모델에서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무엇으로 나타나는지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세션 순서로 보인다. 위에서 아래로 읽으면 요구가 코드와 저장까지 이어진다.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"모델링의 목적은 주로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이해하는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이지 문서화가 아니다"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"The purpose of modeling (sketching UML, …) is primarily to understand, not to document."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513309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표의 한 행은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세션의 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이 세션은 행 사이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판단이 다음 판단의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입력으로 맞는지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 를 본다.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모델별 질문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96886" y="1813560"/>
          <a:ext cx="613664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343408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O-1에 대해 답한 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evidence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언제 취소할 수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이해관계자의 확인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취소된 주문에 무엇이 남는가?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용어집·다중성 검토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동적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환불이 늦으면 O-1은 어느 상태인가?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기계의 전이 검토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시스템이 바뀌면 어디가 바뀌는가?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순환 없는 의존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객체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취소 규칙을 아는가?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당일 배송 O-1은 누구에게 중단을 요청하는가?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선택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저장했다가 읽은 O-1의 상태가 같은가?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라운드트립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모델마다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답한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다르고, 답이 맞았다는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evidence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다르다. 그 모델이 없었다면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답하지 못했을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그 모델을 그린 이유다.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46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앞의 넷은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가, 뒤의 셋은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evidence다. 검토로 확인한 판단도 뒤에서 코드로 다시 확인된다.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통합 구조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패키지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통합하면 앞 세션의 패키지가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한 그림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모인다. 가운데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그 약속을 쓰는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payment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·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delivery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업무 경계이고, 바깥의 연동 둘과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persistence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모두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안쪽을 향해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의존한다.</a:t>
            </a:r>
          </a:p>
        </p:txBody>
      </p:sp>
      <p:pic>
        <p:nvPicPr>
          <p:cNvPr id="9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2609606" y="2087880"/>
            <a:ext cx="3924788" cy="201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통합 시퀀스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시퀀스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514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고객이 O-1의 취소를 요청하면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OrderService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저장소에서 O-1을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다시 읽어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취소를 시킨다. 도식의 위에서 아래로, 읽기 → 출고 중단 → 환불 요청 → 저장의 순서다.</a:t>
            </a:r>
          </a:p>
        </p:txBody>
      </p:sp>
      <p:pic>
        <p:nvPicPr>
          <p:cNvPr id="9" name="plantuml Diagram 2"/>
          <p:cNvPicPr>
            <a:picLocks noChangeAspect="1"/>
          </p:cNvPicPr>
          <p:nvPr/>
        </p:nvPicPr>
        <p:blipFill>
          <a:blip r:embed="plantumlImage2"/>
          <a:stretch>
            <a:fillRect/>
          </a:stretch>
        </p:blipFill>
        <p:spPr>
          <a:xfrm>
            <a:off x="529981" y="2087880"/>
            <a:ext cx="8084038" cy="26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07. 통합이 드러낸 빈틈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34046" y="2087880"/>
          <a:ext cx="5862320" cy="3873500"/>
        </p:xfrm>
        <a:graphic>
          <a:graphicData uri="http://schemas.openxmlformats.org/drawingml/2006/table">
            <a:tbl>
              <a:tblPr/>
              <a:tblGrid>
                <a:gridCol w="2987040"/>
                <a:gridCol w="28752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세션에서 확인한 것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조립하니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객체 — 메모리의 O-1은 취소된다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저장소를 거친 O-1은 취소되지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실현 — 저장·복원해도 상태·단가가 같다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결제·배송의 연결은 저장하지 않았다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변화 — 서울 O-1은 당일 배송 대행사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다시 읽은 O-1의 대행사를 알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앞 시퀀스를 실제로 조립해 실행하면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취소가 실패한다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저장소에서 다시 읽은 O-1에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결제와 배송이 없기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때문이다. 표의 왼쪽은 세션마다 확인한 것, 오른쪽은 조립해서야 드러난 것이다.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68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모델이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자기 질문에는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맞게 답했다. "저장했다가 읽은 주문도 취소되는가"는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어느 모델의 질문도 아니었다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다시 여는 판단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14716" y="1813560"/>
          <a:ext cx="5300980" cy="3873500"/>
        </p:xfrm>
        <a:graphic>
          <a:graphicData uri="http://schemas.openxmlformats.org/drawingml/2006/table">
            <a:tbl>
              <a:tblPr/>
              <a:tblGrid>
                <a:gridCol w="1813560"/>
                <a:gridCol w="1450340"/>
                <a:gridCol w="20370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발견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다시 여는 산출물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결제·배송 연결이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매핑 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 금액·배송 번호 칼럼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대행사를 알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 기록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고른 대행사를 저장한다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빈틈은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보였지만 다시 여는 판단은 둘이다. 표는 발견한 것마다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어느 산출물을 다시 열고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무엇을 더하는지 정한다.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290616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둘째는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설계 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저장하지 않으면 다시 읽을 때 선택 규칙을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다시 적용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해야 하고, 그 사이 규칙이 바뀌면 이미 당일 배송으로 보낸 O-1이 정기 배송으로 바뀐다.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매핑 보완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535937"/>
            <a:ext cx="8412480" cy="825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// 물리 모델: orders 테이블의 한 행과 그 항목들. 상태는 이름으로 저장한다.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// 결제 금액·배송 번호·배송 대행사는 결제 뒤에만 값이 있다(결제 전에는 null).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public record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OrderRow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(String orderNumber, String status, String shippingAddress, List&lt;ItemRow&gt; items,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       Integer paymentAmountWon, String deliveryNumber, String carrier) {}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보완한 물리 모델은 주문 행에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세 칼럼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더한다. 결제한 O-1의 행은 결제 금액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2000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배송 번호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D-1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대행사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SAME_DAY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갖고, 결제 전 주문은 세 칼럼이 비어 있다.</a:t>
            </a:r>
          </a:p>
        </p:txBody>
      </p:sp>
      <p:pic>
        <p:nvPicPr>
          <p:cNvPr id="33" name="plantuml Diagram 3"/>
          <p:cNvPicPr>
            <a:picLocks noChangeAspect="1"/>
          </p:cNvPicPr>
          <p:nvPr/>
        </p:nvPicPr>
        <p:blipFill>
          <a:blip r:embed="plantumlImage3"/>
          <a:stretch>
            <a:fillRect/>
          </a:stretch>
        </p:blipFill>
        <p:spPr>
          <a:xfrm>
            <a:off x="3534019" y="2100036"/>
            <a:ext cx="2075962" cy="13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저장된 선택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235533"/>
            <a:ext cx="8412480" cy="6604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배송 대행사는 저장된 이름으로 고른다. 선택 규칙을 다시 적용하지 않는다.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Delivery delivery = row.deliveryNumber() == null ? null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: new Delivery(row.deliveryNumber(), row.carrier(), carriers.get(row.carrier()));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매퍼는 저장된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대행사 이름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배송 시스템을 찾아 배송을 복원한다. 코드의 주석처럼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CarrierSelector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규칙을 다시 적용하지 않는다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고른 것은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사실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이지 다시 계산할 값이 아니다.</a:t>
            </a:r>
          </a:p>
        </p:txBody>
      </p:sp>
      <p:pic>
        <p:nvPicPr>
          <p:cNvPr id="33" name="plantuml Diagram 4"/>
          <p:cNvPicPr>
            <a:picLocks noChangeAspect="1"/>
          </p:cNvPicPr>
          <p:nvPr/>
        </p:nvPicPr>
        <p:blipFill>
          <a:blip r:embed="plantumlImage4"/>
          <a:stretch>
            <a:fillRect/>
          </a:stretch>
        </p:blipFill>
        <p:spPr>
          <a:xfrm>
            <a:off x="1514231" y="2100036"/>
            <a:ext cx="6115538" cy="102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통합 테스트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시퀀스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953571"/>
            <a:ext cx="8412480" cy="825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시스템 오퍼레이션 — 저장소에서 다시 읽은 O-1을 취소한다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service.cancelOrder(new OrderNumber("O-1"));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check(external.equals(List.of("cancelPickup D-1", "REFUND 2000")));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check(repository.rowOf(new OrderNumber("O-1")).status().equals("CANCELLING"));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통합 테스트는 모든 부품을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실제로 조립해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O-1의 취소를 끝까지 실행한다. 외부 시스템만 요청을 기록하는 가짜다. 코드는 저장한 O-1을 서비스가 다시 읽어 취소하고, 외부에 간 요청의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순서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확인한다.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5007671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보완 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같은 테스트가 실패한다. 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실패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가 evidence가 되어 「07. 통합이 드러낸 빈틈」을 보였다.</a:t>
            </a:r>
          </a:p>
        </p:txBody>
      </p:sp>
      <p:pic>
        <p:nvPicPr>
          <p:cNvPr id="34" name="plantuml Diagram 5"/>
          <p:cNvPicPr>
            <a:picLocks noChangeAspect="1"/>
          </p:cNvPicPr>
          <p:nvPr/>
        </p:nvPicPr>
        <p:blipFill>
          <a:blip r:embed="plantumlImage5"/>
          <a:stretch>
            <a:fillRect/>
          </a:stretch>
        </p:blipFill>
        <p:spPr>
          <a:xfrm>
            <a:off x="2647462" y="2100036"/>
            <a:ext cx="3849077" cy="17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위험 주도 모델링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403666" y="2874818"/>
          <a:ext cx="43230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34340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O-1의 취소에서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환불이 늦게 오면 주문 상태가 틀린다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기계와 시퀀스로 환불 전후를 그린다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평가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처리 중을 발견 → 위험이 줄었다, 멈춘다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4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어디까지 모델링할지는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정한다. 위험을 찾고, 그 위험을 줄이는 기법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(모델)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고르고,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줄었는지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평가한다. 줄었으면 멈추고, 아니면 다음 기법을 고른다.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(1)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위험을 찾아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우선순위를 정하고, 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(2)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기법을 골라 적용하고, 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(3)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위험이 줄었는지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평가한다"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"(1) identify and prioritize risks, (2) select and apply a set of techniques, and (3) evaluate risk reduction."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[Fairbanks 2010, 재인용]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주문 사례의 위험과 모델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98536" y="2087880"/>
          <a:ext cx="5133340" cy="3873500"/>
        </p:xfrm>
        <a:graphic>
          <a:graphicData uri="http://schemas.openxmlformats.org/drawingml/2006/table">
            <a:tbl>
              <a:tblPr/>
              <a:tblGrid>
                <a:gridCol w="1729740"/>
                <a:gridCol w="1590040"/>
                <a:gridCol w="18135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줄인 모델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줄었나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조건이 모호하다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유스케이스·계약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시작 전으로 확정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환불이 늦다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처리 중 발견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외부가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경계·연동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바뀌는 곳이 연동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대행사가 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변이 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 추가만으로 대응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저장이 뜻을 바꾼다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매핑 표·라운드트립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상태·단가 보존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조립이 깨진다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통합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연결 저장 보완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주문 사례의 모델들을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위험의 순서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다시 읽는다. 표의 한 행은 위험 하나와 그 위험을 줄인 모델이며, 마지막 행이 이 세션에서 찾은 위험이다.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332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위험이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곳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예를 들어 상품 조회 — 에는 상세 모델을 만들지 않았다. 그것도 적정 모델링의 결정이다.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14. 멈추는 기준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02016" y="2438400"/>
          <a:ext cx="53263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344420"/>
                <a:gridCol w="20929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O-1에서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그렸다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그리지 않았다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기계, 설계 시퀀스, 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항목별 수량 검사의 시퀀스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대안 A·B·C의 비교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대행사별 요청 형식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매핑 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칼럼 타입·인덱스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43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모델링은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모델이 판단을 바꾸지 못할 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멈춘다. 설계에서는 어렵고 창의적인 부분만 그리고, 나머지는 코드에서 결정한다.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"상세 객체 설계의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어렵고 창의적인 부분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만 UML로 그린다.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그리고 멈춘다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"drawing UML for the hard, creative parts of the detailed object design. Then stop"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81900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오른쪽 열은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코드나 기술 선택이 바로 정하는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것이다. 그려도 판단이 달라지지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15. 유지 비용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55686" y="2600498"/>
          <a:ext cx="5019040" cy="3873500"/>
        </p:xfrm>
        <a:graphic>
          <a:graphicData uri="http://schemas.openxmlformats.org/drawingml/2006/table">
            <a:tbl>
              <a:tblPr/>
              <a:tblGrid>
                <a:gridCol w="1590040"/>
                <a:gridCol w="889000"/>
                <a:gridCol w="254000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사례의 산출물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남긴다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이름의 원천, 코드가 따른다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규칙의 기준, 테스트가 확인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 기록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선택의 근거, 코드에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 시퀀스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아니오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설계·코드로 옮겨졌다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CRC 카드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아니오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 배정 뒤 역할이 끝났다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58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남기는 모델은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유지 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낳는다. 코드가 바뀔 때 함께 고치지 않으면 모델은 틀린 문서가 된다. 그래서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이해를 위해 그린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남겨서 유지할 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나눈다.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"만들고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남기기로 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산출물은 모두 계속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해야 한다"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"Every artifact that you create, and then decide to keep, will need to be maintained over time."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[Ambler]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16. 추상화의 비용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10856" y="2087880"/>
          <a:ext cx="6108700" cy="3873500"/>
        </p:xfrm>
        <a:graphic>
          <a:graphicData uri="http://schemas.openxmlformats.org/drawingml/2006/table">
            <a:tbl>
              <a:tblPr/>
              <a:tblGrid>
                <a:gridCol w="1562100"/>
                <a:gridCol w="1729740"/>
                <a:gridCol w="1366520"/>
                <a:gridCol w="14503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추상화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줄인 위험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없어도 되는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OrderNotice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연동이 서비스에 묶임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인터페이스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연동이 하나뿐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CarrierSelector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선택 규칙의 분산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클래스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대행사가 하나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연동(Adapter)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변경의 전파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변환 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외부가 안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OrderMapper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저장이 뜻을 바꿈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이중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단순 CRUD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추상화도 모델처럼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있다. 표는 주문 사례가 더한 추상화마다 줄인 위험과 치른 비용을 짝짓는다. 오른쪽 열이 "없으면"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추상화를 빼도 될 조건이다.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주문 사례는 네 조건이 모두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그래서 넷 모두 남긴다. 조건이 다른 시스템에서는 같은 추상화가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과잉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17. 적정 수준의 점검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97266" y="1813560"/>
          <a:ext cx="5135880" cy="3873500"/>
        </p:xfrm>
        <a:graphic>
          <a:graphicData uri="http://schemas.openxmlformats.org/drawingml/2006/table">
            <a:tbl>
              <a:tblPr/>
              <a:tblGrid>
                <a:gridCol w="1673860"/>
                <a:gridCol w="34620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O-1의 대행사 선택에서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답할 질문이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당일 배송 주문은 누구에게 중단을 요청하는가?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위험이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대행사가 더 늘 수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판단이 바뀌는가?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대안 비교로 CarrierSelector를 골랐다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유지할 수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 기록 한 장, 테스트가 확인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모델이나 추상화를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더하기 전에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네 질문을 한다. 하나라도 "아니오"면 더하지 않거나 가볍게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82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넷 모두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"예"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라서 대안 비교까지 모델링했다. 상품 조회였다면 첫 질문에서 멈춘다.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18. 잘못된 관행 — 분석 마비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완전하고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올바른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모델을 먼저 만들려는 노력은 끝나지 않는다. 모델은 완전해지지 않고, 그동안 코드와 테스트가 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evidence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받지 못한다.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"철저하거나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올바른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도메인 모델을 만들려는 폭포수식 대형 모델링을 피하라 — 어느 쪽도 되지 않고, 과잉 모델링은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분석 마비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이어진다"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"Avoid a waterfall-mindset big-modeling effort to make a thorough or “correct” domain model—it won't ever be either, and such over-modeling efforts lead to analysis paralysis, with little or no return on the investment."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주문 사례에서 반품·교환·부분 환불까지 도메인 모델을 먼저 완성하려 한다. 결제 완료 취소의 코드는 몇 주 뒤에야 나온다.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취소 한 건을 끝까지 만들고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(「11. 통합 테스트」)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부분 취소는 변경 요청으로 받는다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("세션 08. 변화 대응과 변이 설계")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19. 잘못된 관행 — 문서를 위한 모델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제출물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만들면 질문 없이 그리고, 그린 뒤에는 고치지 않는다. 코드와 다른 모델은 없는 것보다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해롭다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읽는 사람을 틀린 쪽으로 이끈다.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주문 상태 기계에 취소 처리 중이 없다. 코드는 이미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CANCELLING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쓰는데 신입 개발자가 상태 기계를 믿고 환불 전 취소됨을 가정한다.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남길 모델만 남기고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(「15. 유지 비용」)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남긴 모델은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테스트로 확인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되게 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20. 잘못된 관행 — 위험 앞의 생략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반대 방향의 잘못도 있다. 모델이 비싸다는 이유로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위험이 큰 곳까지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건너뛴다. 「02. 모델의 가치」의 인용처럼, 위험이 성공을 위협할 때 엉성한 설계는 변명할 수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환불이 비동기라는 것을 알면서 상태 기계를 그리지 않았다. 환불 대기 중인 주문이 취소됨으로 보여 고객에게 "환불 완료"가 안내된다.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상태·외부 연동·돈처럼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되돌리기 어려운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곳은 모델로 먼저 확인한다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(「13. 주문 사례의 위험과 모델」)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21. 잘못된 관행 — 조립 없는 완료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모델마다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따로 완료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하고 조립은 마지막으로 미룬다. 각 모델은 맞는데 이어 붙이면 깨지고, 그때는 어느 판단을 다시 열어야 하는지 찾기 어렵다.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「07. 통합이 드러낸 빈틈」의 빈틈을 출시 직전 통합에서 발견한다. 매핑·결정 기록·테이블 모두를 한꺼번에 다시 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사례를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처음부터 끝까지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조립하는 통합 테스트를 일찍 두고, 모델을 더할 때마다 돌린다.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22. 실습 — 통합 설계와 적정 모델링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622792" cy="535234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정기배송의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다음 배송 취소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 건을 요구부터 매핑까지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추적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하고, 모델마다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적정 수준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판단해 점검 항목으로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피드백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하여 완성하십시오.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투입물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실습 2~10의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산출물 전체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(유스케이스, 용어집, 도메인 모델, 동적 모델, 패키지, 설계, 결정 기록, 매핑 표)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프롬프트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① "정기배송 S-1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(월별 청구)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의 다음 배송 취소를 위 산출물에서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추적표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(모델, 이 취소에서 나타나는 것, 산출물)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로 써주고, 모델 사이에서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이어지지 않는 곳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찾아줘."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② "각 모델이 줄인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위험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 유지 비용을 표로 쓰고, 더 모델링할 곳과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멈출 곳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근거와 함께 써줘."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추적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요구의 흐름에서 매핑까지 같은 이름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(용어집)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으로 이어지는가?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빈틈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모델 사이의 빈틈을 하나 이상 찾았고, 다시 열 산출물을 정했는가?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evidence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모델마다 답이 맞았다는 확인 방법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(검토·테스트)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이 있는가?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위험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모델을 더하는 근거가 "빠짐없이"가 아니라 위험인가?</a:t>
            </a:r>
          </a:p>
          <a:p>
            <a:pPr lvl="3" marL="947420" indent="-22352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멈춤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그리지 않을 것과 남기지 않을 것을 정했는가?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추적표와 적정 모델링 판단표. 구현·검증과 피드백의 입력이 됩니다.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23.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모델들을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하나의 사례로 통합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하고, 추가 모델링의 가치와 비용을 판단했다.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통합 설계와 적정 모델링의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원칙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모델의 가치는 답한 질문과 줄인 위험이다. 판단이 나아지지 않으면 멈춘다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통합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주문 O-1의 취소를 요구부터 저장까지 추적하고 실제로 조립한다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빈틈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모델마다 맞아도 조립하면 깨질 수 있다. 결제·배송 연결과 고른 대행사를 저장해 보완했다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 주도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위험을 찾고, 기법을 고르고, 줄었는지 평가한다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비용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남긴 모델은 유지해야 한다. 코드에 없는 정보만 남긴다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분석 마비, 문서를 위한 모델, 위험 앞의 생략, 조립 없는 완료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12. 구현·검증·DevOps와 SW공학 피드백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구현·배포의 evidence로 다시 열 상위 판단을 진단한다.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통합 추적표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64526" y="1813560"/>
          <a:ext cx="580136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959100"/>
                <a:gridCol w="19532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다음 배송 취소에서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이어지는가?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 "다음 배송을 취소한다"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DeliveryRound의 회차 상태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동적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정기배송은 확정 그대로, 회차만 바뀐다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회차 상태 기계가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subscription이 배송 약속을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객체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회차 취소의 사전·사후조건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청구 여부를 묻지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delivery_rounds.status 저장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정기배송 S-1의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배송 취소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모델마다 추적했다. 위에서 아래로 읽으며, 마지막 열이 이어지지 않는 곳이다.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5816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빈틈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월별 청구로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이미 청구된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회차를 취소하면 환불하는가? 해지 흐름 1c는 남은 회차의 환불을 말하지만, 다음 배송 취소는 어느 모델도 답하지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적정 모델링 판단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138235" y="1813560"/>
          <a:ext cx="4853940" cy="3873500"/>
        </p:xfrm>
        <a:graphic>
          <a:graphicData uri="http://schemas.openxmlformats.org/drawingml/2006/table">
            <a:tbl>
              <a:tblPr/>
              <a:tblGrid>
                <a:gridCol w="1590040"/>
                <a:gridCol w="2037080"/>
                <a:gridCol w="12268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줄인 위험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해지·취소의 혼동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정기배송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해지·만료의 어긋남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주기 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매일·매월의 혼동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영수증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거의 없음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그리지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회차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청구 후 취소의 환불 누락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새로 그린다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정기배송의 모델마다 줄인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적고, 위험이 큰 곳에는 모델을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더하고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작은 곳에서는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멈춘다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7016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멈춘다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영수증은 회계 시스템 형식을 따라 모델이 판단을 바꾸지 못한다.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통합 보완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(안)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11. 통합 설계와 적정 모델링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1414318"/>
            <a:ext cx="4338828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유스케이스 명세서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2)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새 흐름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청구된 회차의 취소 → 회차 금액 환불 요청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동적 모델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4)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새 모델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상태 기계: 예정 → 청구됨 → 배송됨, 예정 → 취소됨, 청구됨 → 환불 대기 → 취소됨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8778240" cy="45419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통합에서 발견한 것은 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후속 작업에 영향을 미치는 경우에만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이전 산출물에 반영한다.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414318"/>
            <a:ext cx="4439412" cy="4898147"/>
          </a:xfrm>
        </p:spPr>
        <p:txBody>
          <a:bodyPr>
            <a:normAutofit/>
          </a:bodyPr>
          <a:lstStyle/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용어집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(실습 2)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새 용어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회차 상태의 다섯 값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(예정·청구됨·배송됨·환불 대기·취소됨)</a:t>
            </a:r>
          </a:p>
          <a:p>
            <a:pPr lvl="2" marL="2286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※ 현행화 기준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유스케이스, 상태 기계, 용어집. 구현·검증의 입력이 된다.</a:t>
            </a:r>
          </a:p>
          <a:p>
            <a:pPr lvl="3" marL="457200" indent="-18288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기록만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영수증을 그리지 않은 이유.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4_Office 테마</vt:lpstr>
      <vt:lpstr>11. 통합 설계와 적정 모델링 목차</vt:lpstr>
      <vt:lpstr>01. 세션 목표</vt:lpstr>
      <vt:lpstr>02. 모델의 가치</vt:lpstr>
      <vt:lpstr>03. 하나의 사례로 통합</vt:lpstr>
      <vt:lpstr>04. 모델별 질문</vt:lpstr>
      <vt:lpstr>05. 통합 구조 패키지 다이어그램</vt:lpstr>
      <vt:lpstr>06. 통합 시퀀스 시퀀스 다이어그램</vt:lpstr>
      <vt:lpstr>07. 통합이 드러낸 빈틈</vt:lpstr>
      <vt:lpstr>08. 다시 여는 판단</vt:lpstr>
      <vt:lpstr>09. 매핑 보완 클래스 다이어그램</vt:lpstr>
      <vt:lpstr>10. 저장된 선택 클래스 다이어그램</vt:lpstr>
      <vt:lpstr>11. 통합 테스트 시퀀스 다이어그램</vt:lpstr>
      <vt:lpstr>12. 위험 주도 모델링</vt:lpstr>
      <vt:lpstr>13. 주문 사례의 위험과 모델</vt:lpstr>
      <vt:lpstr>14. 멈추는 기준</vt:lpstr>
      <vt:lpstr>15. 유지 비용</vt:lpstr>
      <vt:lpstr>16. 추상화의 비용</vt:lpstr>
      <vt:lpstr>17. 적정 수준의 점검</vt:lpstr>
      <vt:lpstr>18. 잘못된 관행 — 분석 마비</vt:lpstr>
      <vt:lpstr>19. 잘못된 관행 — 문서를 위한 모델</vt:lpstr>
      <vt:lpstr>20. 잘못된 관행 — 위험 앞의 생략</vt:lpstr>
      <vt:lpstr>21. 잘못된 관행 — 조립 없는 완료</vt:lpstr>
      <vt:lpstr>22. 실습 — 통합 설계와 적정 모델링</vt:lpstr>
      <vt:lpstr>23. 요약</vt:lpstr>
      <vt:lpstr>통합 추적표 (안) 별첨. 실습 답</vt:lpstr>
      <vt:lpstr>적정 모델링 판단 (안) 별첨. 실습 답</vt:lpstr>
      <vt:lpstr>통합 보완 (안) 별첨. 실습 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11. 통합 설계와 적정 모델링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