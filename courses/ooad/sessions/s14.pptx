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javaLecture1"/>
    <p:sldId id="257" r:id="javaLecture2"/>
    <p:sldId id="258" r:id="javaLecture3"/>
    <p:sldId id="259" r:id="javaLecture4"/>
    <p:sldId id="260" r:id="javaLecture5"/>
    <p:sldId id="261" r:id="javaLecture6"/>
    <p:sldId id="262" r:id="javaLecture7"/>
    <p:sldId id="263" r:id="javaLecture8"/>
    <p:sldId id="264" r:id="javaLecture9"/>
    <p:sldId id="265" r:id="javaLecture10"/>
    <p:sldId id="266" r:id="javaLecture11"/>
    <p:sldId id="267" r:id="javaLecture12"/>
    <p:sldId id="268" r:id="javaLecture13"/>
    <p:sldId id="269" r:id="javaLecture14"/>
    <p:sldId id="270" r:id="javaLecture15"/>
    <p:sldId id="271" r:id="javaLecture16"/>
    <p:sldId id="272" r:id="javaLecture17"/>
    <p:sldId id="273" r:id="javaLecture18"/>
    <p:sldId id="274" r:id="javaLecture19"/>
    <p:sldId id="275" r:id="javaLecture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89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41C14D-A5A2-2B4D-B033-1B776E74D04A}" v="40" dt="2026-09-12T11:52:04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2"/>
    <p:restoredTop sz="92496"/>
  </p:normalViewPr>
  <p:slideViewPr>
    <p:cSldViewPr snapToGrid="0">
      <p:cViewPr varScale="1">
        <p:scale>
          <a:sx n="106" d="100"/>
          <a:sy n="106" d="100"/>
        </p:scale>
        <p:origin x="1984" y="184"/>
      </p:cViewPr>
      <p:guideLst>
        <p:guide orient="horz" pos="89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8" d="100"/>
        <a:sy n="118" d="100"/>
      </p:scale>
      <p:origin x="0" y="0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javaLecture1" Type="http://schemas.openxmlformats.org/officeDocument/2006/relationships/slide" Target="slides/slide1.xml"/><Relationship Id="javaLecture2" Type="http://schemas.openxmlformats.org/officeDocument/2006/relationships/slide" Target="slides/slide2.xml"/><Relationship Id="javaLecture3" Type="http://schemas.openxmlformats.org/officeDocument/2006/relationships/slide" Target="slides/slide3.xml"/><Relationship Id="javaLecture4" Type="http://schemas.openxmlformats.org/officeDocument/2006/relationships/slide" Target="slides/slide4.xml"/><Relationship Id="javaLecture5" Type="http://schemas.openxmlformats.org/officeDocument/2006/relationships/slide" Target="slides/slide5.xml"/><Relationship Id="javaLecture6" Type="http://schemas.openxmlformats.org/officeDocument/2006/relationships/slide" Target="slides/slide6.xml"/><Relationship Id="javaLecture7" Type="http://schemas.openxmlformats.org/officeDocument/2006/relationships/slide" Target="slides/slide7.xml"/><Relationship Id="javaLecture8" Type="http://schemas.openxmlformats.org/officeDocument/2006/relationships/slide" Target="slides/slide8.xml"/><Relationship Id="javaLecture9" Type="http://schemas.openxmlformats.org/officeDocument/2006/relationships/slide" Target="slides/slide9.xml"/><Relationship Id="javaLecture10" Type="http://schemas.openxmlformats.org/officeDocument/2006/relationships/slide" Target="slides/slide10.xml"/><Relationship Id="javaLecture11" Type="http://schemas.openxmlformats.org/officeDocument/2006/relationships/slide" Target="slides/slide11.xml"/><Relationship Id="javaLecture12" Type="http://schemas.openxmlformats.org/officeDocument/2006/relationships/slide" Target="slides/slide12.xml"/><Relationship Id="javaLecture13" Type="http://schemas.openxmlformats.org/officeDocument/2006/relationships/slide" Target="slides/slide13.xml"/><Relationship Id="javaLecture14" Type="http://schemas.openxmlformats.org/officeDocument/2006/relationships/slide" Target="slides/slide14.xml"/><Relationship Id="javaLecture15" Type="http://schemas.openxmlformats.org/officeDocument/2006/relationships/slide" Target="slides/slide15.xml"/><Relationship Id="javaLecture16" Type="http://schemas.openxmlformats.org/officeDocument/2006/relationships/slide" Target="slides/slide16.xml"/><Relationship Id="javaLecture17" Type="http://schemas.openxmlformats.org/officeDocument/2006/relationships/slide" Target="slides/slide17.xml"/><Relationship Id="javaLecture18" Type="http://schemas.openxmlformats.org/officeDocument/2006/relationships/slide" Target="slides/slide18.xml"/><Relationship Id="javaLecture19" Type="http://schemas.openxmlformats.org/officeDocument/2006/relationships/slide" Target="slides/slide19.xml"/><Relationship Id="javaLecture20" Type="http://schemas.openxmlformats.org/officeDocument/2006/relationships/slide" Target="slides/slide2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CE4FF0-A6B5-46CD-9CD3-2CF2AFF3AE5A}" type="datetimeFigureOut">
              <a:rPr lang="ko-KR" altLang="en-US" smtClean="0"/>
              <a:t>2026. 9. 22.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25E7E4-F626-4F14-BF5E-991C69F9D1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661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01. OOAD 개요"의 「AI-native SW공학」에서 예고한 구분 — 사람이 최종 책임지는 판단, 사람과 AI의 협업, AI가 주도할 수 있는 실행 — 을 실제 과제에 적용한다.</a:t>
            </a:r>
          </a:p>
          <a:p>
            <a:pPr lvl="0"/>
            <a:r>
              <a:rPr lang="ko-KR" sz="1200"/>
              <a:t>세션 전체가 같은 예를 쓴다 — "세션 12. 구현·검증·DevOps와 SW공학 피드백"에서 남긴 질문, 배송 시작 통보도 중복될 수 있다를 에이전트에게 맡긴다. 코드의 테스트(code/s14/test/AgentTaskTest.java)도 같은 과제다.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세션의 앵커다 — 자동화의 품질은 문제·모델·경계·책임에 대한 판단 품질을 넘어서기 어렵다.</a:t>
            </a:r>
          </a:p>
          <a:p>
            <a:pPr lvl="0"/>
            <a:r>
              <a:rPr lang="ko-KR" sz="1200"/>
              <a:t>"세션 01. OOAD 개요"의 원칙("AI 시대에도 본질은 그대로")이 여기서 구체가 된다. 바뀐 것은 판단을 실행하는 속도다.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요구와 상태 기계를 사람이 정하는 이유는 "세션 12. 구현·검증·DevOps와 SW공학 피드백"의 역추적과 같다 — 원인 수준에서 판단하고 아래로 내려온다. 에이전트에게는 판단이 끝난 뒤의 실행을 맡긴다.</a:t>
            </a:r>
          </a:p>
          <a:p>
            <a:pPr lvl="0"/>
            <a:r>
              <a:rPr lang="ko-KR" sz="1200"/>
              <a:t>과제의 크기는 테스트 하나와 수정 하나다. 처음 맡기는 과제는 작게 한다.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["Effective context engineering for AI agents"](https://www.anthropic.com/engineering/effective-context-engineering-for-ai-agents)(2025-09-29) 원문 확인. 같은 글은 맥락을 한계 효용이 줄어드는 유한한 자원으로 다뤄야 한다고 말한다.</a:t>
            </a:r>
          </a:p>
          <a:p>
            <a:pPr lvl="0"/>
            <a:r>
              <a:rPr lang="ko-KR" sz="1200"/>
              <a:t>"세션 11. 통합 설계와 적정 모델링"의 판단과 같은 모양이다 — 모델이 판단을 개선할 때만 더하듯, 맥락도 결과를 바꿀 때만 더한다.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02. 요구 분석과 유스케이스"부터 식별자·흐름 번호·용어집을 고정한 이유가 여기서도 드러난다. 사람 사이의 공통 언어가 에이전트와의 공통 언어가 된다.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온톨로지의 정의(Gruber, 1993)는 "세션 01. OOAD 개요"에서 인용했다 — 개념화의 명시적 명세.</a:t>
            </a:r>
          </a:p>
          <a:p>
            <a:pPr lvl="0"/>
            <a:r>
              <a:rPr lang="ko-KR" sz="1200"/>
              <a:t>온톨로지는 맥락의 의미를 명시하는 한 수단이며 모든 작업의 필수 기술은 아니다. 수단의 선택도 적정 모델링의 판단이다.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각 줄의 출처: 용어집("세션 02. 요구 분석과 유스케이스"), 책임 배치("세션 07. 책임·협력·계약"), 의존 규칙("세션 05. 구조적 경계와 의존성"), 상태 기계("세션 04. 동적 모델 — 상호작용과 상태"), 기대값("세션 12. 구현·검증·DevOps와 SW공학 피드백").</a:t>
            </a:r>
          </a:p>
          <a:p>
            <a:pPr lvl="0"/>
            <a:r>
              <a:rPr lang="ko-KR" sz="1200"/>
              <a:t>이 교재 저장소의 AGENTS.md도 같은 역할이다 — 교재를 만드는 에이전트의 맥락 파일이다. 수강생에게 실제 예로 보여 줄 수 있다.</a:t>
            </a:r>
          </a:p>
          <a:p>
            <a:pPr lvl="0"/>
            <a:r>
              <a:rPr lang="ko-KR" sz="1200"/>
              <a:t>맥락 파일은 짧게 유지한다. 모든 줄은 "이 줄이 없으면 에이전트가 틀리는가"로 걸러 낸다.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["Building effective agents"](https://www.anthropic.com/engineering/building-effective-agents)(2024-12-19) 원문 확인. 같은 글은 워크플로(정해진 코드 경로)와 에이전트(스스로 과정과 도구를 정함)를 구분하고, 가장 단순한 해법에서 시작해 필요할 때만 복잡도를 더하라고 권한다.</a:t>
            </a:r>
          </a:p>
          <a:p>
            <a:pPr lvl="0"/>
            <a:r>
              <a:rPr lang="ko-KR" sz="1200"/>
              <a:t>"세션 01. OOAD 개요"의 세 영역과 대응한다 — 요구·상태 기계는 사람이 최종 책임지는 판단, 계획은 협업, 코드·테스트 실행은 AI가 주도할 수 있는 실행이다.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Anthropic, [Claude Code 문서 "Best practices for Claude Code"](https://code.claude.com/docs/en/best-practices)의 "Give Claude a way to verify its work" 원문 확인. 문서에 날짜가 없어 확인 시점의 연도와 www로 표시한다. 같은 곳은 성공을 주장하는 대신 테스트 출력 같은 evidence를 보이게 하라고 권한다.</a:t>
            </a:r>
          </a:p>
          <a:p>
            <a:pPr lvl="0"/>
            <a:r>
              <a:rPr lang="ko-KR" sz="1200"/>
              <a:t>확인 지점이 많으면 에이전트의 속도를 잃고, 적으면 틀린 것이 멀리 간다. 위험이 큰 곳에만 둔다("세션 11. 통합 설계와 적정 모델링"의 위험 주도).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Birgitta Böckeler, ["Harness engineering for coding agent users"](https://martinfowler.com/articles/exploring-gen-ai/harness-engineering.html)(martinfowler.com, 2026-04-02) 원문 확인. 같은 글은 하네스가 사람 개발자의 경험이 주던 암묵적 하네스를 밖으로 꺼내 명시하려는 시도라고 말한다.</a:t>
            </a:r>
          </a:p>
          <a:p>
            <a:pPr lvl="0"/>
            <a:r>
              <a:rPr lang="ko-KR" sz="1200"/>
              <a:t>용어의 범위가 다르다. Böckeler의 하네스는 모델 밖의 모든 것(가드레일 포함)이고, 이 과정은 "세션 01. OOAD 개요"의 구분대로 가드레일(맥락·제약)과 하네스(실행·검증 환경)를 나눠 부른다.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Böckeler(2026) 같은 글 원문 확인. 같은 글은 가이드를 에이전트가 행동하기 전에 이끄는 feedforward, 센서를 행동 뒤에 스스로 고치게 돕는 feedback으로 정의한다.</a:t>
            </a:r>
          </a:p>
          <a:p>
            <a:pPr lvl="0"/>
            <a:r>
              <a:rPr lang="ko-KR" sz="1200"/>
              <a:t>오른쪽 열은 모두 "세션 12. 구현·검증·DevOps와 SW공학 피드백"에서 만든 것이다. 사람을 위한 feedback 층이 그대로 에이전트의 센서가 된다.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코드는 code/s14/test/AgentTaskTest.java의 발췌이며, 컴파일·실행해 확인한다. 실행: javac -encoding UTF-8 -d out $(find . -name "*.java") &amp;&amp; java -cp out test.AgentTaskTest.</a:t>
            </a:r>
          </a:p>
          <a:p>
            <a:pPr lvl="0"/>
            <a:r>
              <a:rPr lang="ko-KR" sz="1200"/>
              <a:t>실제 프로젝트에서는 ArchUnit 같은 도구로 같은 검사를 쓴다. 도구보다 규칙이 코드로 확인된다는 것이 핵심이다.</a:t>
            </a:r>
          </a:p>
          <a:p>
            <a:pPr lvl="0"/>
            <a:r>
              <a:rPr lang="ko-KR" sz="1200"/>
              <a:t>같은 테스트의 센서 1은 앞 세션의 테스트 전체를 다시 돌린다 — 회귀다.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테스트는 에이전트가 수정하기 전에 실패해야 한다(빨강). 확인 지점 「09. 확인 지점」의 둘째 행이다.</a:t>
            </a:r>
          </a:p>
          <a:p>
            <a:pPr lvl="0"/>
            <a:r>
              <a:rPr lang="ko-KR" sz="1200"/>
              <a:t>이 사례의 O-1은 배송지가 부산이라 정기 배송 대행사로 간다 — 배송 시작 통보(IN_TRANSIT)를 정기 배송 연동이 받게 하기 위한 교육용 설정이다.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에이전트는 맥락으로 받은 선례(onRefundCompleted)와 같은 모양으로 고쳤다. 선례를 맥락에 넣은 이유다(「04. 맥락은 유한하다」).</a:t>
            </a:r>
          </a:p>
          <a:p>
            <a:pPr lvl="0"/>
            <a:r>
              <a:rPr lang="ko-KR" sz="1200"/>
              <a:t>사람이 확인할 질문: 배송 완료 뒤에 배송 시작 통보가 오면? 이 수정은 예외를 던진다. 그것이 맞는지는 상태 기계의 판단이고, 에이전트가 정할 일이 아니다.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"세션 12. 구현·검증·DevOps와 SW공학 피드백"의 「14. CI 실패가 가리키는 곳」과 같은 표다. 사람의 역추적 규칙이 에이전트의 멈춤 규칙이 된다.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인용 근거: Kent Beck, ["Augmented Coding: Beyond the Vibes"](https://newsletter.kentbeck.com/p/augmented-coding-beyond-the-vibes)(2025-06-25) 원문 확인. 같은 글은 바이브 코딩은 시스템의 동작만 신경 쓰고, 증강 코딩(augmented coding)은 코드·복잡도·테스트와 그 범위를 신경 쓴다고 대비한다.</a:t>
            </a:r>
          </a:p>
          <a:p>
            <a:pPr lvl="0"/>
            <a:r>
              <a:rPr lang="ko-KR" sz="1200"/>
              <a:t>"세션 12. 구현·검증·DevOps와 SW공학 피드백"의 테스트를 코드에 맞추기가 에이전트에서 더 빠르게 일어난다.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적정 모델링("세션 11. 통합 설계와 적정 모델링")의 반대 관행 — 분석 마비 — 이 맥락에서 되풀이되는 모습이다.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이 세션의 앵커가 여기서 닫힌다. 판단을 맡기면 자동화의 품질은 에이전트의 추측의 품질이 된다.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"/>
          <p:cNvSpPr/>
          <p:nvPr>
            <p:ph type="sldImg" idx="2"/>
          </p:nvPr>
        </p:nvSpPr>
        <p:spPr/>
        <p:txBody>
          <a:bodyPr/>
          <a:lstStyle/>
          <a:p/>
        </p:txBody>
      </p:sp>
      <p:sp>
        <p:nvSpPr>
          <p:cNvPr id="3" name="슬라이드 노트 개체 틀"/>
          <p:cNvSpPr/>
          <p:nvPr>
            <p:ph type="body" idx="3"/>
          </p:nvPr>
        </p:nvSpPr>
        <p:spPr/>
        <p:txBody>
          <a:bodyPr/>
          <a:lstStyle/>
          <a:p>
            <a:pPr lvl="0"/>
            <a:r>
              <a:rPr lang="ko-KR" sz="1200"/>
              <a:t>과정의 마무리: OOAD의 판단은 사라지지 않는다. 사람이 직접 쓰던 판단이 에이전트의 맥락과 센서로 옮겨 갈 뿐이다.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FF0E9F20-7865-40BF-831C-21A3A6DE669A}"/>
              </a:ext>
            </a:extLst>
          </p:cNvPr>
          <p:cNvCxnSpPr/>
          <p:nvPr userDrawn="1"/>
        </p:nvCxnSpPr>
        <p:spPr>
          <a:xfrm>
            <a:off x="370822" y="692696"/>
            <a:ext cx="8424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제목 1">
            <a:extLst>
              <a:ext uri="{FF2B5EF4-FFF2-40B4-BE49-F238E27FC236}">
                <a16:creationId xmlns:a16="http://schemas.microsoft.com/office/drawing/2014/main" id="{2094DC8E-CD32-4D9A-9DFC-F86395231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89" y="-38114"/>
            <a:ext cx="6300034" cy="720080"/>
          </a:xfrm>
          <a:prstGeom prst="rect">
            <a:avLst/>
          </a:prstGeom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8BCF7E4-4941-4537-9EC8-57C44E02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  <a:prstGeom prst="rect">
            <a:avLst/>
          </a:prstGeom>
        </p:spPr>
        <p:txBody>
          <a:bodyPr/>
          <a:lstStyle>
            <a:lvl1pPr algn="ctr">
              <a:defRPr sz="8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>
              <a:defRPr/>
            </a:pPr>
            <a:r>
              <a:rPr lang="en-US" altLang="ko-KR" dirty="0">
                <a:solidFill>
                  <a:prstClr val="black"/>
                </a:solidFill>
              </a:rPr>
              <a:t>- </a:t>
            </a:r>
            <a:fld id="{A18F303B-5FF2-4BD3-899C-BAED341F6249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en-US" altLang="ko-KR" dirty="0">
                <a:solidFill>
                  <a:prstClr val="black"/>
                </a:solidFill>
              </a:rPr>
              <a:t>-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7FC7E0F-889C-4F19-8056-F2D1D6357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9" y="980728"/>
            <a:ext cx="8424000" cy="55308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"/>
              <a:defRPr sz="2000" b="1"/>
            </a:lvl1pPr>
            <a:lvl2pPr marL="723900" indent="-368300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"/>
              <a:defRPr sz="1800" b="0"/>
            </a:lvl2pPr>
            <a:lvl3pPr marL="1077913" indent="-354013">
              <a:spcBef>
                <a:spcPts val="300"/>
              </a:spcBef>
              <a:spcAft>
                <a:spcPts val="300"/>
              </a:spcAft>
              <a:buSzPct val="90000"/>
              <a:buFont typeface="Wingdings" pitchFamily="2" charset="2"/>
              <a:buChar char=""/>
              <a:defRPr sz="1600" b="0"/>
            </a:lvl3pPr>
            <a:lvl4pPr marL="1433513" indent="-355600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l"/>
              <a:defRPr sz="1400" b="0"/>
            </a:lvl4pPr>
            <a:lvl5pPr marL="1787525" indent="-354013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§"/>
              <a:defRPr sz="1400" b="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535D420B-3C82-4BF6-9CCA-F8DA0A133F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6056" y="367445"/>
            <a:ext cx="3699901" cy="26473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spcBef>
                <a:spcPts val="0"/>
              </a:spcBef>
              <a:buFont typeface="Arial" panose="020B0604020202020204" pitchFamily="34" charset="0"/>
              <a:buNone/>
              <a:defRPr sz="18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2pPr>
            <a:lvl3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3pPr>
            <a:lvl4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4pPr>
            <a:lvl5pPr marL="0" indent="0">
              <a:spcBef>
                <a:spcPts val="0"/>
              </a:spcBef>
              <a:buNone/>
              <a:defRPr sz="1300" b="1">
                <a:latin typeface="+mn-ea"/>
                <a:ea typeface="+mn-ea"/>
              </a:defRPr>
            </a:lvl5pPr>
          </a:lstStyle>
          <a:p>
            <a:pPr lvl="0"/>
            <a:r>
              <a:rPr lang="en-US" altLang="ko-KR"/>
              <a:t>Level #1</a:t>
            </a:r>
          </a:p>
        </p:txBody>
      </p:sp>
      <p:sp>
        <p:nvSpPr>
          <p:cNvPr id="11" name="텍스트 개체 틀 9">
            <a:extLst>
              <a:ext uri="{FF2B5EF4-FFF2-40B4-BE49-F238E27FC236}">
                <a16:creationId xmlns:a16="http://schemas.microsoft.com/office/drawing/2014/main" id="{2A28188B-9A75-4416-A436-43EDEDA96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60420" y="710786"/>
            <a:ext cx="2915537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None/>
              <a:defRPr lang="en-US" altLang="ko-KR" sz="1400" b="1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Level #2</a:t>
            </a:r>
          </a:p>
        </p:txBody>
      </p:sp>
      <p:sp>
        <p:nvSpPr>
          <p:cNvPr id="2" name="텍스트 개체 틀 9">
            <a:extLst>
              <a:ext uri="{FF2B5EF4-FFF2-40B4-BE49-F238E27FC236}">
                <a16:creationId xmlns:a16="http://schemas.microsoft.com/office/drawing/2014/main" id="{B690A1C8-68B5-5F79-8C0D-DCD7EE5EA9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4367" y="6485290"/>
            <a:ext cx="6244438" cy="23827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buNone/>
              <a:defRPr lang="en-US" altLang="ko-KR" sz="600" b="0" i="0" kern="1200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Level #3</a:t>
            </a:r>
          </a:p>
        </p:txBody>
      </p:sp>
    </p:spTree>
    <p:extLst>
      <p:ext uri="{BB962C8B-B14F-4D97-AF65-F5344CB8AC3E}">
        <p14:creationId xmlns:p14="http://schemas.microsoft.com/office/powerpoint/2010/main" val="689385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05AE4B-11F0-DD96-DBC0-88B2F9E857D9}"/>
              </a:ext>
            </a:extLst>
          </p:cNvPr>
          <p:cNvSpPr txBox="1"/>
          <p:nvPr userDrawn="1"/>
        </p:nvSpPr>
        <p:spPr>
          <a:xfrm>
            <a:off x="1519279" y="6647902"/>
            <a:ext cx="612116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600" dirty="0"/>
              <a:t>© 2026 </a:t>
            </a:r>
            <a:r>
              <a:rPr lang="ko-KR" altLang="ko-KR" sz="600" dirty="0" err="1"/>
              <a:t>Young</a:t>
            </a:r>
            <a:r>
              <a:rPr lang="ko-KR" altLang="ko-KR" sz="600" dirty="0"/>
              <a:t> </a:t>
            </a:r>
            <a:r>
              <a:rPr lang="ko-KR" altLang="ko-KR" sz="600" dirty="0" err="1"/>
              <a:t>On</a:t>
            </a:r>
            <a:r>
              <a:rPr lang="ko-KR" altLang="ko-KR" sz="600" dirty="0"/>
              <a:t> Kim. LLM-</a:t>
            </a:r>
            <a:r>
              <a:rPr lang="ko-KR" altLang="ko-KR" sz="600" dirty="0" err="1"/>
              <a:t>generated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content</a:t>
            </a:r>
            <a:r>
              <a:rPr lang="ko-KR" altLang="ko-KR" sz="600" dirty="0"/>
              <a:t>, </a:t>
            </a:r>
            <a:r>
              <a:rPr lang="ko-KR" altLang="ko-KR" sz="600" dirty="0" err="1"/>
              <a:t>directed</a:t>
            </a:r>
            <a:r>
              <a:rPr lang="ko-KR" altLang="ko-KR" sz="600" dirty="0"/>
              <a:t>, </a:t>
            </a:r>
            <a:r>
              <a:rPr lang="ko-KR" altLang="ko-KR" sz="600" dirty="0" err="1"/>
              <a:t>reviewed</a:t>
            </a:r>
            <a:r>
              <a:rPr lang="ko-KR" altLang="ko-KR" sz="600" dirty="0"/>
              <a:t> and </a:t>
            </a:r>
            <a:r>
              <a:rPr lang="ko-KR" altLang="ko-KR" sz="600" dirty="0" err="1"/>
              <a:t>validated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the</a:t>
            </a:r>
            <a:r>
              <a:rPr lang="ko-KR" altLang="ko-KR" sz="600" dirty="0"/>
              <a:t> </a:t>
            </a:r>
            <a:r>
              <a:rPr lang="ko-KR" altLang="ko-KR" sz="600" dirty="0" err="1"/>
              <a:t>author</a:t>
            </a:r>
            <a:r>
              <a:rPr lang="ko-KR" altLang="ko-KR" sz="600" dirty="0"/>
              <a:t>; </a:t>
            </a:r>
            <a:r>
              <a:rPr lang="ko-KR" altLang="ko-KR" sz="600" dirty="0" err="1"/>
              <a:t>rendered</a:t>
            </a:r>
            <a:r>
              <a:rPr lang="ko-KR" altLang="ko-KR" sz="600" dirty="0"/>
              <a:t> </a:t>
            </a:r>
            <a:r>
              <a:rPr lang="ko-KR" altLang="ko-KR" sz="600" dirty="0" err="1"/>
              <a:t>by</a:t>
            </a:r>
            <a:r>
              <a:rPr lang="ko-KR" altLang="ko-KR" sz="600" dirty="0"/>
              <a:t> </a:t>
            </a:r>
            <a:r>
              <a:rPr lang="ko-KR" altLang="ko-KR" sz="600" dirty="0" err="1"/>
              <a:t>TrainingMaterials</a:t>
            </a:r>
            <a:r>
              <a:rPr lang="ko-KR" altLang="ko-KR" sz="600" dirty="0"/>
              <a:t>.</a:t>
            </a:r>
            <a:endParaRPr lang="ko-KR" altLang="en-US" sz="5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377657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rtl="0" eaLnBrk="0" fontAlgn="base" latinLnBrk="0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0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u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0" hangingPunct="0">
        <a:spcBef>
          <a:spcPct val="20000"/>
        </a:spcBef>
        <a:spcAft>
          <a:spcPct val="0"/>
        </a:spcAft>
        <a:buFont typeface="Wingdings" pitchFamily="2" charset="2"/>
        <a:buChar char="l"/>
        <a:defRPr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6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rtl="0" eaLnBrk="0" fontAlgn="base" latinLnBrk="0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4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5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8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9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0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plantumlImage1" Type="http://schemas.openxmlformats.org/officeDocument/2006/relationships/image" Target="../media/plantuml-1.png"/><Relationship Id="speakerNotes15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7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8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19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speakerNotes2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BBD6A-BEC8-8565-421F-EBAC1ED42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14CAC-1EBE-1F63-E3BA-E3EE686B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14. AI-native SW공학 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9EEDA23-0B0A-564A-4691-C5337C3EB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- 1 -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8822" y="949064"/>
            <a:ext cx="4580822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02. 판단이 상한이다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03. 에이전트에게 맡길 과제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04. 맥락은 유한하다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05. 판단을 맥락으로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06. 도메인 모델과 온톨로지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07. 맥락 파일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08. 사람과 에이전트의 역할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09. 확인 지점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10. 가드레일·에이전트·하네스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11. 가이드와 센서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12. 의존 규칙 센서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13. 과제 테스트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14. 에이전트의 결과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15. 센서가 가리키는 판단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16.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테스트를 끄는 에이전트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17.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맥락 쏟아붓기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61A0BF-30A1-CFBA-B6DC-C8AB25F4C72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E4E919F-9032-122E-A91D-6BEFC90E25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336ED9B1-5AD1-2C46-246C-15655B3852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4" name="TOC 열 4">
            <a:extLst>
              <a:ext uri="{FF2B5EF4-FFF2-40B4-BE49-F238E27FC236}">
                <a16:creationId xmlns:a16="http://schemas.microsoft.com/office/drawing/2014/main" id="{F02C014B-77F1-D298-AF5D-A7FD2F69A4BB}"/>
              </a:ext>
            </a:extLst>
          </p:cNvPr>
          <p:cNvSpPr>
            <a:spLocks noGrp="1"/>
          </p:cNvSpPr>
          <p:nvPr/>
        </p:nvSpPr>
        <p:spPr>
          <a:xfrm>
            <a:off x="4426820" y="949064"/>
            <a:ext cx="4195811" cy="5530862"/>
          </a:xfrm>
        </p:spPr>
        <p:txBody>
          <a:bodyPr>
            <a:normAutofit/>
          </a:bodyPr>
          <a:lstStyle/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18. 잘못된 관행 —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 판단까지 맡기기</a:t>
            </a:r>
          </a:p>
          <a:p>
            <a:pPr lvl="1" marL="355600" indent="0">
              <a:spcBef>
                <a:spcPts val="300"/>
              </a:spcBef>
              <a:spcAft>
                <a:spcPts val="300"/>
              </a:spcAft>
              <a:buNone/>
            </a:pP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19. 요약</a:t>
            </a:r>
          </a:p>
        </p:txBody>
      </p:sp>
    </p:spTree>
    <p:extLst>
      <p:ext uri="{BB962C8B-B14F-4D97-AF65-F5344CB8AC3E}">
        <p14:creationId xmlns:p14="http://schemas.microsoft.com/office/powerpoint/2010/main" val="1198101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01. 세션 목표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세션은 OOAD의 판단을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사람과 에이전트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어떻게 나누고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검증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하는지 AI-native 개발 관점에서 연결한다.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문제·모델·경계·책임의 판단이 에이전트 작업의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품질 상한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임을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용어집·도메인 모델·상태 기계·계약을 에이전트의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고르고 전달한다.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과제마다 사람과 에이전트의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역할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 확인 지점을 정한다.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가드레일·에이전트·하네스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역할과, 가이드와 센서의 feedback을 설명한다.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테스트를 끄는 에이전트·맥락 쏟아붓기 같은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잘못된 관행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식별한다.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02. 판단이 상한이다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762316" y="2087880"/>
          <a:ext cx="560578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2484120"/>
                <a:gridCol w="22326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과정의 산출물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 작업에서 정하는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유스케이스, 외부 시스템 약속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무엇을 만드는가?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용어집, 도메인 모델, 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어떤 이름과 규칙을 쓰는가?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패키지, 의존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어디를 고쳐도 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책임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계약, 결정 기록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 무엇을 보장하는가?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에이전트가 코드를 빠르게 만들어도, 무엇을 만들지와 무엇이 맞는지는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앞의 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정한다. 판단이 틀리면 에이전트는 틀린 것을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빠르게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만든다. 표는 이 과정의 네 판단이 에이전트 작업에서 무엇을 정하는지다.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- 3 -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56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네 판단이 없으면 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그럴듯한 추측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으로 빈칸을 채운다. 추측이 맞는지 확인할 기준도 없다.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03. 에이전트에게 맡길 과제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1942656" y="2087880"/>
          <a:ext cx="524510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3070860"/>
                <a:gridCol w="10871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과제의 부분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내용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정하는 쪽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시작 통보는 두 번 이상 올 수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배송 중에서 배송 시작 통보 → 그대로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사전조건에 이미 배송 중을 더한다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승인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코드·테스트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onDeliveryStarted와 재현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과제는 "세션 12. 구현·검증·DevOps와 SW공학 피드백"에서 남긴 질문이다. 환불 완료 통보처럼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배송 시작 통보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도 다시 올 수 있다. 표의 왼쪽이 과제의 부분, 오른쪽이 그 부분을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누가 정하는지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- 4 -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56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위의 두 행은 에이전트에게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주는 맥락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이고, 아래 두 행이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맡기는 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04. 맥락은 유한하다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150936" y="3036916"/>
          <a:ext cx="4828540" cy="3873500"/>
        </p:xfrm>
        <a:graphic>
          <a:graphicData uri="http://schemas.openxmlformats.org/drawingml/2006/table">
            <a:tbl>
              <a:tblPr/>
              <a:tblGrid>
                <a:gridCol w="2232660"/>
                <a:gridCol w="259588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줄 것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이유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어떤 전이를 더하는지 정한다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용어집의 주문 상태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IN_DELIVERY 같은 이름을 정한다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onRefundCompleted의 선례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같은 모양의 수정이 이미 있다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order만 고치게 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996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에이전트의 맥락은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유한한 자원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많이 줄수록 좋은 것이 아니라, 결과를 정하는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고신호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만 골라 준다. 표는 이 과제에 줄 것과 주지 않을 것이다.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"좋은 맥락 엔지니어링은 원하는 결과의 가능성을 최대로 높이는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가장 작은 고신호 토큰 집합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찾는 것이다"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"Good context engineering means finding the smallest possible set of high-signal tokens that maximize the likelihood of some desired outcome."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2025]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- 5 -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705516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주지 않을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모든 세션의 도식, 저장·연동 코드 전체. 이 과제의 판단을 바꾸지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05. 판단을 맥락으로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09356" y="2087880"/>
          <a:ext cx="471170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1869440"/>
                <a:gridCol w="19532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판단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맥락의 형태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해석의 여지를 줄이는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문제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유스케이스의 흐름 번호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조건 → 행위 → 결과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 표, 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영문명, 전이 목록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 한 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검사 가능한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책임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계약의 사전·사후조건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테스트의 기대값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과정의 산출물은 그대로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맥락의 재료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 된다. 표는 네 판단이 맥락에서 어떤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형태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가질 때 에이전트가 가장 잘 쓰는지다. 오른쪽 열의 형태일수록 해석의 여지가 적다.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56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공통점은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형식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이다. "주문은 적절히 처리한다" 같은 자연어보다 전이 목록과 기대값이 에이전트의 추측을 줄인다.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06. 도메인 모델과 온톨로지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138235" y="2087880"/>
          <a:ext cx="4853940" cy="3873500"/>
        </p:xfrm>
        <a:graphic>
          <a:graphicData uri="http://schemas.openxmlformats.org/drawingml/2006/table">
            <a:tbl>
              <a:tblPr/>
              <a:tblGrid>
                <a:gridCol w="1087120"/>
                <a:gridCol w="2679700"/>
                <a:gridCol w="10871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수단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사례에서 명시하는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형식의 정도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상태의 뜻과 영문명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도메인 모델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주문–항목–결제의 관계와 다중성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주문 상태의 전이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도식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온톨로지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개념·관계를 기계가 추론할 수 있게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형식 언어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의미를 명시하는 수단은 여럿이다. 표는 주문 사례에서 각 수단이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무엇을 명시하는지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 온톨로지는 그중 가장 형식적인 수단이며, 모든 과제에 필요하지는 않다.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- 7 -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56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과제에는 용어집과 상태 기계로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충분하다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여러 시스템이 같은 개념을 공유해야 할 때 온톨로지의 가치가 커진다.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07. 맥락 파일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100036"/>
            <a:ext cx="8412480" cy="13208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# 주문 시스템 — 에이전트 규칙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이름은 용어집(docs/glossary.md)의 영문명을 쓴다. 용어집에 없는 업무 용어를 만들지 않는다.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업무 규칙은 order 패키지의 Order에 둔다. OrderService는 찾고·맡기고·저장만 한다.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order는 persistence와 어떤 adapter도 import하지 않는다.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상태 전이를 더하거나 바꾸려면 먼저 상태 기계(docs/order-states.md)의 변경을 제안하고 멈춘다.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테스트의 기대값을 바꾸지 않는다. 바꿔야 하면 이유를 쓰고 멈춘다.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- 완료 전에 전체 테스트를 실행하고 출력을 보인다.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 파일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모든 작업에 공통인 맥락을 저장소에 둔 것이다. 에이전트가 작업마다 읽는다. 아래는 주문 시스템의 맥락 파일 예시이며, 각 줄이 앞 세션의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 하나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08. 사람과 에이전트의 역할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265236" y="2874818"/>
          <a:ext cx="4599940" cy="3873500"/>
        </p:xfrm>
        <a:graphic>
          <a:graphicData uri="http://schemas.openxmlformats.org/drawingml/2006/table">
            <a:tbl>
              <a:tblPr/>
              <a:tblGrid>
                <a:gridCol w="1841500"/>
                <a:gridCol w="889000"/>
                <a:gridCol w="186944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단계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주도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책임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요구·상태 기계 결정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계획(고칠 곳, 테스트)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승인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재현 테스트·수정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센서로 확인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결과 검토·병합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84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에이전트는 스스로 도구를 쓰며 일하지만,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확인 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멈추고 사람의 판단을 받는다. 표는 이 과제의 단계마다 누가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하고 누가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책임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지는지다.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확인 지점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이나 막히는 곳에서 멈추고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사람의 피드백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받을 수 있다"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"Agents can then pause for human feedback at checkpoints or when encountering blockers."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 2024]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- 9 -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43418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주도와 책임은 다를 수 있다. 에이전트가 주도한 단계도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최종 책임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사람에게 있다.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09. 확인 지점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067115" y="2874818"/>
          <a:ext cx="4996180" cy="3873500"/>
        </p:xfrm>
        <a:graphic>
          <a:graphicData uri="http://schemas.openxmlformats.org/drawingml/2006/table">
            <a:tbl>
              <a:tblPr/>
              <a:tblGrid>
                <a:gridCol w="947420"/>
                <a:gridCol w="40487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확인 지점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사람이 보는 것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계획 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고칠 곳이 order 안인가, 테스트가 과제를 재현하는가?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빨강 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테스트가 실제로 실패했는가(재현의 evidence)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초록 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기대값이 바뀌지 않았는가, 계약이 상태 기계와 같은가?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병합 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전체 테스트의 출력, 바뀐 파일 목록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84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확인 지점은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되돌리기 어려운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의 앞에 둔다. 그리고 에이전트의 "다 됐다"가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실행한 검사의 결과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본다. 표는 이 과제의 확인 지점과, 사람이 그때 보는 것이다.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"Claude는 작업이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 된 것처럼 보이면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멈춘다. 실행할 검사가 없으면 '다 된 것 같다'가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유일한 신호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"Claude stops when the work looks done. Without a check it can run, “looks done” is the only signal available"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[Anthropic]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- 10 -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543418"/>
            <a:ext cx="8412480" cy="524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모든 확인 지점에서 사람은 에이전트의 말이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evidence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본다.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10. 가드레일·에이전트·하네스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041716" y="2874818"/>
          <a:ext cx="5046980" cy="3873500"/>
        </p:xfrm>
        <a:graphic>
          <a:graphicData uri="http://schemas.openxmlformats.org/drawingml/2006/table">
            <a:tbl>
              <a:tblPr/>
              <a:tblGrid>
                <a:gridCol w="889000"/>
                <a:gridCol w="1813560"/>
                <a:gridCol w="23444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구성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역할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이 과제에서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가드레일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행동 전의 맥락과 제약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맥락 파일, 용어집, 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모델과 도구로 작업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 작성, 코드 수정, 실행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하네스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실행과 검증의 환경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테스트, 의존 규칙 검사, CI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84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모델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만이 아니다. 모델을 둘러싼 맥락·제약·실행·검증의 구조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하네스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— 가 결과의 품질을 정한다. 이 과정은 그 구조를 셋으로 나눠 부른다.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"하네스는 AI 에이전트에서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모델을 뺀 모든 것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이다 — 에이전트 = 모델 + 하네스"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"everything in an AI agent except the model itself - Agent = Model + Harness."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[Böckeler 2026]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- 11 -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11. 가이드와 센서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3100896" y="3149138"/>
          <a:ext cx="2928620" cy="3873500"/>
        </p:xfrm>
        <a:graphic>
          <a:graphicData uri="http://schemas.openxmlformats.org/drawingml/2006/table">
            <a:tbl>
              <a:tblPr/>
              <a:tblGrid>
                <a:gridCol w="1394460"/>
                <a:gridCol w="153416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가이드(행동 전)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센서(행동 뒤)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용어집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컴파일, 이름 검사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상태 전이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 검사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계약·통합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210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가드레일은 행동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전에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이끄는 가이드, 하네스의 테스트는 행동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뒤에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알리는 센서다. 하나만으로는 부족하다. 표는 가이드와 짝이 되는 센서다.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"따로 두면, 같은 실수를 되풀이하는 에이전트(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feedback만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)나, 규칙을 담았지만 그것이 통했는지 모르는 에이전트(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feedforward만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)를 얻는다"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"Separately, you get either an agent that keeps repeating the same mistakes (feedback-only) or an agent that encodes rules but never finds out whether they worked (feed-forward-only)."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[Böckeler 2026]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- 12 -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4817738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왼쪽만 있으면 규칙이 지켜졌는지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모르고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, 오른쪽만 있으면 같은 실수를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되풀이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한다.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12. 의존 규칙 센서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- 13 -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100036"/>
            <a:ext cx="8412480" cy="11557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센서 2. 의존 규칙 — 도메인(order)은 저장·연동 패키지를 모른다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try (var files = Files.list(Path.of("order")))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for (Path file : files.toList())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for (String line : Files.readAllLines(file))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            check(!line.matches("import (persistence|\\w*adapter)\\..*"));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맥락 파일의 "order는 persistence와 adapter를 모른다"는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가이드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다. 코드는 같은 규칙을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센서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로 만든 것이다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패키지의 모든 파일에서 금지된 import를 찾는다.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484336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에이전트가 편의상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order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에서 저장소 구현을 import하면 이 검사가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즉시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실패한다. 사람이 리뷰에서 찾기 전에.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13. 과제 테스트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- 14 -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2100036"/>
            <a:ext cx="8412480" cy="8255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// 과제 — 배송 시스템이 배송 시작을 두 번 보내도 O-1은 한 번만 배송 중이 된다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regular.receiveNotice("IN_TRANSIT", "O-1");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regular.receiveNotice("IN_TRANSIT", "O-1");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check(repository.rowOf(new OrderNumber("O-1")).status().equals("IN_DELIVERY"));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완료의 기준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은 에이전트의 판단이 아니라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실행할 수 있는 검사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다</a:t>
            </a:r>
            <a:r>
              <a:rPr sz="1400" b="0">
                <a:solidFill>
                  <a:srgbClr val="000000"/>
                </a:solidFill>
                <a:latin typeface="맑은 고딕"/>
                <a:ea typeface="맑은 고딕"/>
              </a:rPr>
              <a:t>(「09. 확인 지점」)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과제 테스트는 배송 시스템이 배송 시작을 두 번 보내도 O-1이 배송 중인지 확인한다. 기대값은 사람이 정한 상태 기계에서 왔다.</a:t>
            </a:r>
          </a:p>
        </p:txBody>
      </p:sp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8D352-71B8-E3E1-FEC2-7A4B3A634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67C48-2A31-3C59-F9AC-29CD4F06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14. 에이전트의 결과</a:t>
            </a:r>
          </a:p>
          <a:p>
            <a:r>
              <a:rPr sz="1100" b="1">
                <a:solidFill>
                  <a:srgbClr val="000000"/>
                </a:solidFill>
                <a:latin typeface="맑은 고딕"/>
                <a:ea typeface="맑은 고딕"/>
              </a:rPr>
              <a:t>클래스 다이어그램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A43EF7-1D4A-ECB9-A1FF-518C60DE99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- 15 -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22E744E-3182-EA63-E315-5167A8F7E1A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6C32D74B-A4F7-BB0E-1C8C-BE9287C820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CF57505-7D66-BE60-56CA-086F6E9798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31" name="Integrated content 31">
            <a:extLst>
              <a:ext uri="{FF2B5EF4-FFF2-40B4-BE49-F238E27FC236}">
                <a16:creationId xmlns:a16="http://schemas.microsoft.com/office/drawing/2014/main" id="{8E264927-DE01-A85F-AD3D-A49DD8EAC71A}"/>
              </a:ext>
            </a:extLst>
          </p:cNvPr>
          <p:cNvSpPr txBox="1"/>
          <p:nvPr/>
        </p:nvSpPr>
        <p:spPr>
          <a:xfrm>
            <a:off x="365760" y="3235533"/>
            <a:ext cx="8412480" cy="1155700"/>
          </a:xfrm>
          <a:prstGeom prst="rect">
            <a:avLst/>
          </a:prstGeom>
          <a:noFill/>
        </p:spPr>
        <p:txBody>
          <a:bodyPr wrap="square" lIns="91440" tIns="0" rIns="91440" bIns="0" anchor="t">
            <a:noAutofit/>
          </a:bodyPr>
          <a:lstStyle/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사전조건: 결제 완료이거나 이미 배송 중(배송 시스템은 같은 통보를 다시 보낼 수 있다).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// 사후조건: 배송 중. 이미 배송 중이면 아무것도 바꾸지 않는다.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public void </a:t>
            </a:r>
            <a:r>
              <a:rPr sz="1000" b="1">
                <a:solidFill>
                  <a:srgbClr val="000000"/>
                </a:solidFill>
                <a:latin typeface="Consolas"/>
                <a:ea typeface="맑은 고딕"/>
              </a:rPr>
              <a:t>onDeliveryStarted</a:t>
            </a: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() {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if (status == OrderStatus.IN_DELIVERY) return;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    transition(OrderStatus.PAID, OrderStatus.IN_DELIVERY);</a:t>
            </a:r>
          </a:p>
          <a:p>
            <a:pPr marL="0" indent="0"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000000"/>
                </a:solidFill>
                <a:latin typeface="Consolas"/>
                <a:ea typeface="맑은 고딕"/>
              </a:rPr>
              <a:t>    }</a:t>
            </a:r>
          </a:p>
        </p:txBody>
      </p:sp>
      <p:sp>
        <p:nvSpPr>
          <p:cNvPr id="32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960120"/>
            <a:ext cx="8412480" cy="1038316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에이전트의 수정은 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Order.onDeliveryStarted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한 곳이다. 사람은 코드보다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주석의 계약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을 먼저 본다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사전조건의 "이미 배송 중"이 사람이 정한 상태 기계의 전이와 같은지.</a:t>
            </a:r>
          </a:p>
        </p:txBody>
      </p:sp>
      <p:pic>
        <p:nvPicPr>
          <p:cNvPr id="33" name="plantuml Diagram 1"/>
          <p:cNvPicPr>
            <a:picLocks noChangeAspect="1"/>
          </p:cNvPicPr>
          <p:nvPr/>
        </p:nvPicPr>
        <p:blipFill>
          <a:blip r:embed="plantumlImage1"/>
          <a:stretch>
            <a:fillRect/>
          </a:stretch>
        </p:blipFill>
        <p:spPr>
          <a:xfrm>
            <a:off x="3783135" y="2100036"/>
            <a:ext cx="1577731" cy="102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51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87152-D004-1569-E429-90A42420A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2AB02-3ADE-69B8-887E-7981AD15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15. 센서가 가리키는 판단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895985-68EF-30BA-2165-4B3D90ECD4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D985C1FD-84C4-10F9-372D-6A84E1680E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26A8878-48FF-5E3A-5D05-0F900C2201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ko-KR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93753AB9-526C-CE2D-446D-7615D9B6D6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827855"/>
              </p:ext>
            </p:extLst>
          </p:nvPr>
        </p:nvGraphicFramePr>
        <p:xfrm>
          <a:off x="2431606" y="2087880"/>
          <a:ext cx="4267200" cy="3873500"/>
        </p:xfrm>
        <a:graphic>
          <a:graphicData uri="http://schemas.openxmlformats.org/drawingml/2006/table">
            <a:tbl>
              <a:tblPr/>
              <a:tblGrid>
                <a:gridCol w="1450340"/>
                <a:gridCol w="1310640"/>
                <a:gridCol w="1506220"/>
              </a:tblGrid>
              <a:tr h="28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실패한 센서</a:t>
                      </a:r>
                    </a:p>
                  </a:txBody>
                  <a:tcPr marL="6750" marR="6750" marT="6750" marB="0" anchor="ctr">
                    <a:lnL>
                      <a:noFill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가리키는 판단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누가</a:t>
                      </a:r>
                    </a:p>
                  </a:txBody>
                  <a:tcPr marL="6750" marR="6750" marT="67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컴파일·이름 검사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고친다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과제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코드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에이전트가 고친다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앞 세션의 테스트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계약·상태 기계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멈추고 사람에게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의존 규칙 검사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경계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맑은 고딕"/>
                        </a:rPr>
                        <a:t>멈추고 사람에게</a:t>
                      </a:r>
                    </a:p>
                  </a:txBody>
                  <a:tcPr marL="81005" marR="6750" marT="675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960120"/>
            <a:ext cx="8412480" cy="1038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센서가 실패하면 에이전트는 코드를 고치려 한다. 그러나 앞 세션의 테스트나 의존 규칙이 깨진 것은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판단이 어긋났다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는 뜻이고, 그때는 멈추고 사람에게 돌려야 한다.</a:t>
            </a: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741B75C6-7ED3-AA4C-41B6-F69C599EA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8472" y="6449625"/>
            <a:ext cx="2133600" cy="238277"/>
          </a:xfrm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34" charset="-127"/>
                <a:ea typeface="맑은 고딕" panose="020B0503020000020004" pitchFamily="34" charset="-127"/>
                <a:cs typeface="+mn-cs"/>
              </a:rPr>
              <a:t>- 16 -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654EDDB4-901F-3D48-A715-17D163E8A7AC}"/>
              </a:ext>
            </a:extLst>
          </p:cNvPr>
          <p:cNvSpPr txBox="1"/>
          <p:nvPr/>
        </p:nvSpPr>
        <p:spPr>
          <a:xfrm>
            <a:off x="365760" y="3756480"/>
            <a:ext cx="8412480" cy="781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아래 두 행에서 에이전트가 코드를 "고치면" 판단이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조용히 바뀐다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맥락 파일의 "멈춘다"가 이것을 막는다.</a:t>
            </a:r>
          </a:p>
        </p:txBody>
      </p:sp>
    </p:spTree>
    <p:extLst>
      <p:ext uri="{BB962C8B-B14F-4D97-AF65-F5344CB8AC3E}">
        <p14:creationId xmlns:p14="http://schemas.microsoft.com/office/powerpoint/2010/main" val="2789569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16. 잘못된 관행 — 테스트를 끄는 에이전트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- 17 -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에이전트가 초록을 만들려고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테스트를 끄거나 기대값을 바꾼다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. 막대는 초록이지만 아무 판단도 확인하지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"지니가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속이고 있다는 징후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 예를 들어 테스트를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끄거나 지우는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것"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"Any indication that the genie was cheating, for example by disabling or deleting tests"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, </a:t>
            </a:r>
            <a:r>
              <a:rPr sz="1000" b="0">
                <a:solidFill>
                  <a:srgbClr val="000000"/>
                </a:solidFill>
                <a:latin typeface="맑은 고딕"/>
                <a:ea typeface="맑은 고딕"/>
              </a:rPr>
              <a:t>[Beck 2025]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앞 세션의 통합 테스트가 실패하자, 에이전트가 외부 요청 순서의 기대값을 바꿔 초록을 만든다.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바른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기대값 변경을 맥락 파일에서 금지하고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(「07. 맥락 파일」)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확인 지점에서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테스트 파일의 변경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을 먼저 본다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(「09. 확인 지점」)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17. 잘못된 관행 — 맥락 쏟아붓기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- 18 -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많이 주면 잘할 것이라 여겨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모든 문서와 코드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를 맥락에 넣는다. 중요한 규칙이 소음에 묻히고, 에이전트는 관계없는 곳을 고친다.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14개 세션의 산출물 전체를 넣고 "배송 시작 중복을 처리해"라고 한다. 에이전트가 저장 매퍼까지 고친다.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바른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과제의 판단을 바꾸는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고신호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만 고른다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(「04. 맥락은 유한하다」)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 공통 규칙은 짧은 맥락 파일에, 과제별 맥락은 과제에 둔다.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18. 잘못된 관행 — 판단까지 맡기기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- 19 -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"배송 시작이 중복되면 알아서 처리해"라고 맡긴다. 에이전트는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상태 기계의 판단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까지 스스로 내리고, 그 판단은 아무도 검토하지 않는다.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예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에이전트가 배송 완료 뒤의 배송 시작 통보도 조용히 무시하게 만든다. 배송 시스템의 오류를 알리는 신호가 사라진다.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바른 방법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요구·상태 기계는 사람이 정하고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(「03. 에이전트에게 맡길 과제」)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, 상태 전이의 변경은 </a:t>
            </a:r>
            <a:r>
              <a:rPr sz="1600" b="1">
                <a:solidFill>
                  <a:srgbClr val="000000"/>
                </a:solidFill>
                <a:latin typeface="맑은 고딕"/>
                <a:ea typeface="맑은 고딕"/>
              </a:rPr>
              <a:t>제안하고 멈추게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한다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(「07. 맥락 파일」)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1F13-426B-086B-7D8C-9A58A0F87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26A92D-924E-0575-9551-F8FD7BFD3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19. 요약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2CF30EE-4DFD-8063-56B8-B8689E76D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- 20 -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6274C8-E16F-5AEB-614B-D8D32DA3E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ko-KR" sz="1400" dirty="0" err="1"/>
              <a:t>14. AI-native SW공학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24E58E1-194B-A320-AEEE-24D08685BB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219F420-613B-6234-45F6-0955A9A450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en-US" altLang="ko-KR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BA2C4A-B0BF-F2E4-EA6E-614C99CB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이 세션은 OOAD의 판단을 사람과 에이전트가 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나누고 검증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하는 방법을 다뤘다.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AI-native SW공학의 핵심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원칙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자동화의 품질은 문제·모델·경계·책임의 판단 품질을 넘어서기 어렵다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맥락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판단을 형식 있는 고신호로 고르고, 공통 규칙은 짧은 맥락 파일에 둔다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역할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사람은 판단과 최종 책임, 에이전트는 실행. 확인 지점은 evidence를 본다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구성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가드레일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(가이드)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과 하네스</a:t>
            </a:r>
            <a:r>
              <a:rPr sz="1200" b="0">
                <a:solidFill>
                  <a:srgbClr val="000000"/>
                </a:solidFill>
                <a:latin typeface="맑은 고딕"/>
                <a:ea typeface="맑은 고딕"/>
              </a:rPr>
              <a:t>(센서)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를 짝으로 둔다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잘못된 관행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테스트를 끄는 에이전트, 맥락 쏟아붓기, 판단까지 맡기기</a:t>
            </a:r>
          </a:p>
          <a:p>
            <a:pPr marL="342900" indent="0"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다음 세션</a:t>
            </a:r>
          </a:p>
          <a:p>
            <a:pPr lvl="2" marL="723900" indent="-368300">
              <a:spcBef>
                <a:spcPts val="600"/>
              </a:spcBef>
              <a:spcAft>
                <a:spcPts val="600"/>
              </a:spcAft>
              <a:buSzPct val="90000"/>
              <a:buFont typeface="Wingdings" pitchFamily="2" charset="2"/>
              <a:buChar char=""/>
            </a:pP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</a:t>
            </a:r>
            <a:r>
              <a:rPr sz="1800" b="1">
                <a:solidFill>
                  <a:srgbClr val="000000"/>
                </a:solidFill>
                <a:latin typeface="맑은 고딕"/>
                <a:ea typeface="맑은 고딕"/>
              </a:rPr>
              <a:t>AI-native SW 공학</a:t>
            </a:r>
            <a:r>
              <a:rPr sz="1800" b="0">
                <a:solidFill>
                  <a:srgbClr val="000000"/>
                </a:solidFill>
                <a:latin typeface="맑은 고딕"/>
                <a:ea typeface="맑은 고딕"/>
              </a:rPr>
              <a:t>" 과정 —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 개발 작업을 에이전트에게 맡길 때의 명세·맥락·위임 경계·가드레일·하네스·평가를 설계하고 운영한다.</a:t>
            </a:r>
          </a:p>
        </p:txBody>
      </p:sp>
    </p:spTree>
    <p:extLst>
      <p:ext uri="{BB962C8B-B14F-4D97-AF65-F5344CB8AC3E}">
        <p14:creationId xmlns:p14="http://schemas.microsoft.com/office/powerpoint/2010/main" val="3555436673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태양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rIns="0" rtlCol="0" anchor="ctr"/>
      <a:lstStyle>
        <a:defPPr algn="ctr">
          <a:defRPr sz="1200" b="1" dirty="0" smtClean="0">
            <a:solidFill>
              <a:schemeClr val="bg1"/>
            </a:solidFill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Macintosh PowerPoint</Application>
  <PresentationFormat>화면 슬라이드 쇼(4:3)</PresentationFormat>
  <Paragraphs>0</Paragraphs>
  <Slides>20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Wingdings</vt:lpstr>
      <vt:lpstr>4_Office 테마</vt:lpstr>
      <vt:lpstr>14. AI-native SW공학 목차</vt:lpstr>
      <vt:lpstr>01. 세션 목표</vt:lpstr>
      <vt:lpstr>02. 판단이 상한이다</vt:lpstr>
      <vt:lpstr>03. 에이전트에게 맡길 과제</vt:lpstr>
      <vt:lpstr>04. 맥락은 유한하다</vt:lpstr>
      <vt:lpstr>05. 판단을 맥락으로</vt:lpstr>
      <vt:lpstr>06. 도메인 모델과 온톨로지</vt:lpstr>
      <vt:lpstr>07. 맥락 파일</vt:lpstr>
      <vt:lpstr>08. 사람과 에이전트의 역할</vt:lpstr>
      <vt:lpstr>09. 확인 지점</vt:lpstr>
      <vt:lpstr>10. 가드레일·에이전트·하네스</vt:lpstr>
      <vt:lpstr>11. 가이드와 센서</vt:lpstr>
      <vt:lpstr>12. 의존 규칙 센서</vt:lpstr>
      <vt:lpstr>13. 과제 테스트</vt:lpstr>
      <vt:lpstr>14. 에이전트의 결과 클래스 다이어그램</vt:lpstr>
      <vt:lpstr>15. 센서가 가리키는 판단</vt:lpstr>
      <vt:lpstr>16. 잘못된 관행 — 테스트를 끄는 에이전트</vt:lpstr>
      <vt:lpstr>17. 잘못된 관행 — 맥락 쏟아붓기</vt:lpstr>
      <vt:lpstr>18. 잘못된 관행 — 판단까지 맡기기</vt:lpstr>
      <vt:lpstr>19. 요약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14. AI-native SW공학</dc:title>
  <dc:creator>Kim YoungSan</dc:creator>
  <cp:lastModifiedBy>Youngon Kim</cp:lastModifiedBy>
  <cp:revision>42</cp:revision>
  <dcterms:created xsi:type="dcterms:W3CDTF">2021-02-25T22:04:20Z</dcterms:created>
  <dcterms:modified xsi:type="dcterms:W3CDTF">2026-09-21T23:10:41Z</dcterms:modified>
</cp:coreProperties>
</file>