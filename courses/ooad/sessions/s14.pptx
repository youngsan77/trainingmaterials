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OOAD 개요"의 「32. AI 기반 소프트웨어공학」에서 예고한 구분 — 사람이 최종 책임지는 판단, 사람과 AI의 협업, AI가 주도할 수 있는 실행 — 을 실제 과제에 적용한다.</a:t>
            </a:r>
          </a:p>
          <a:p>
            <a:pPr lvl="0"/>
            <a:r>
              <a:rPr lang="ko-KR" sz="1200"/>
              <a:t>세션 전체가 같은 예를 쓴다 — "12. 구현·검증·DevOps와 SW공학 피드백"에서 남긴 질문, 배송 시작 통보도 중복될 수 있다를 에이전트에게 맡긴다. 코드의 테스트(code/s14/test/AgentTaskTest.java)도 같은 과제다.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앵커다 — 자동화의 품질은 문제·모델·경계·책임에 대한 판단 품질을 넘어서기 어렵다.</a:t>
            </a:r>
          </a:p>
          <a:p>
            <a:pPr lvl="0"/>
            <a:r>
              <a:rPr lang="ko-KR" sz="1200"/>
              <a:t>"01. OOAD 개요"의 원칙("AI 시대에도 본질은 그대로")이 여기서 구체가 된다. 바뀐 것은 판단을 실행하는 속도다.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상태 기계를 사람이 정하는 이유는 "12. 구현·검증·DevOps와 SW공학 피드백"의 역추적과 같다 — 원인 수준에서 판단하고 아래로 내려온다. 에이전트에게는 판단이 끝난 뒤의 실행을 맡긴다.</a:t>
            </a:r>
          </a:p>
          <a:p>
            <a:pPr lvl="0"/>
            <a:r>
              <a:rPr lang="ko-KR" sz="1200"/>
              <a:t>과제의 크기는 테스트 하나와 수정 하나다. 처음 맡기는 과제는 작게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["Effective context engineering for AI agents"](https://www.anthropic.com/engineering/effective-context-engineering-for-ai-agents)(2025-09-29) 원문 확인. 같은 글은 맥락을 한계 효용이 줄어드는 유한한 자원으로 다뤄야 한다고 말한다.</a:t>
            </a:r>
          </a:p>
          <a:p>
            <a:pPr lvl="0"/>
            <a:r>
              <a:rPr lang="ko-KR" sz="1200"/>
              <a:t>"11. 통합 설계와 적정 모델링"의 판단과 같은 모양이다 — 모델이 판단을 개선할 때만 더하듯, 맥락도 결과를 바꿀 때만 더한다.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유스케이스"부터 식별자·흐름 번호·용어집을 고정한 이유가 여기서도 드러난다. 사람 사이의 공통 언어가 에이전트와의 공통 언어가 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온톨로지의 정의(Gruber, 1993)는 "01. OOAD 개요"에서 인용했다 — 개념화의 명시적 명세.</a:t>
            </a:r>
          </a:p>
          <a:p>
            <a:pPr lvl="0"/>
            <a:r>
              <a:rPr lang="ko-KR" sz="1200"/>
              <a:t>온톨로지는 맥락의 의미를 명시하는 한 수단이며 모든 작업의 필수 기술은 아니다. 수단의 선택도 적정 모델링의 판단이다.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줄의 출처: 용어집("02. 요구 분석과 유스케이스"), 책임 배치("07. 책임·협력·계약"), 의존 규칙("05. 구조적 경계와 의존성"), 상태 기계("04. 동적 모델 — 상호작용과 상태"), 기대값("12. 구현·검증·DevOps와 SW공학 피드백").</a:t>
            </a:r>
          </a:p>
          <a:p>
            <a:pPr lvl="0"/>
            <a:r>
              <a:rPr lang="ko-KR" sz="1200"/>
              <a:t>이 교재 저장소의 AGENTS.md도 같은 역할이다 — 교재를 만드는 에이전트의 맥락 파일이다. 수강생에게 실제 예로 보여 줄 수 있다.</a:t>
            </a:r>
          </a:p>
          <a:p>
            <a:pPr lvl="0"/>
            <a:r>
              <a:rPr lang="ko-KR" sz="1200"/>
              <a:t>맥락 파일은 짧게 유지한다. 모든 줄은 "이 줄이 없으면 에이전트가 틀리는가"로 걸러 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["Building effective agents"](https://www.anthropic.com/engineering/building-effective-agents)(2024-12-19) 원문 확인. 같은 글은 워크플로(정해진 코드 경로)와 에이전트(스스로 과정과 도구를 정함)를 구분하고, 가장 단순한 해법에서 시작해 필요할 때만 복잡도를 더하라고 권한다.</a:t>
            </a:r>
          </a:p>
          <a:p>
            <a:pPr lvl="0"/>
            <a:r>
              <a:rPr lang="ko-KR" sz="1200"/>
              <a:t>"01. OOAD 개요"의 세 영역과 대응한다 — 요구·상태 기계는 사람이 최종 책임지는 판단, 계획은 협업, 코드·테스트 실행은 AI가 주도할 수 있는 실행이다.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[Claude Code 문서 "Best practices for Claude Code"](https://code.claude.com/docs/en/best-practices)의 "Give Claude a way to verify its work" 원문 확인. 문서에 날짜가 없어 확인 시점의 연도와 www로 표시한다. 같은 곳은 성공을 주장하는 대신 테스트 출력 같은 evidence를 보이게 하라고 권한다.</a:t>
            </a:r>
          </a:p>
          <a:p>
            <a:pPr lvl="0"/>
            <a:r>
              <a:rPr lang="ko-KR" sz="1200"/>
              <a:t>확인 지점이 많으면 에이전트의 속도를 잃고, 적으면 틀린 것이 멀리 간다. 위험이 큰 곳에만 둔다("11. 통합 설계와 적정 모델링"의 위험 주도).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["Harness engineering for coding agent users"](https://martinfowler.com/articles/exploring-gen-ai/harness-engineering.html)(martinfowler.com, 2026-04-02) 원문 확인. 같은 글은 하네스가 사람 개발자의 경험이 주던 암묵적 하네스를 밖으로 꺼내 명시하려는 시도라고 말한다.</a:t>
            </a:r>
          </a:p>
          <a:p>
            <a:pPr lvl="0"/>
            <a:r>
              <a:rPr lang="ko-KR" sz="1200"/>
              <a:t>용어의 범위가 다르다. Böckeler의 하네스는 모델 밖의 모든 것(가드레일 포함)이고, 이 과정은 "01. OOAD 개요"의 구분대로 가드레일(맥락·제약)과 하네스(실행·검증 환경)를 나눠 부른다.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Böckeler(2026) 같은 글 원문 확인. 같은 글은 가이드를 에이전트가 행동하기 전에 이끄는 feedforward, 센서를 행동 뒤에 스스로 고치게 돕는 feedback으로 정의한다.</a:t>
            </a:r>
          </a:p>
          <a:p>
            <a:pPr lvl="0"/>
            <a:r>
              <a:rPr lang="ko-KR" sz="1200"/>
              <a:t>오른쪽 열은 모두 "12. 구현·검증·DevOps와 SW공학 피드백"에서 만든 것이다. 사람을 위한 feedback 층이 그대로 에이전트의 센서가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code/s14/test/AgentTaskTest.java의 발췌이며, 컴파일·실행해 확인한다. 실행: javac -encoding UTF-8 -d out $(find . -name "*.java") &amp;&amp; java -cp out test.AgentTaskTest.</a:t>
            </a:r>
          </a:p>
          <a:p>
            <a:pPr lvl="0"/>
            <a:r>
              <a:rPr lang="ko-KR" sz="1200"/>
              <a:t>실제 프로젝트에서는 ArchUnit 같은 도구로 같은 검사를 쓴다. 도구보다 규칙이 코드로 확인된다는 것이 핵심이다.</a:t>
            </a:r>
          </a:p>
          <a:p>
            <a:pPr lvl="0"/>
            <a:r>
              <a:rPr lang="ko-KR" sz="1200"/>
              <a:t>같은 테스트의 센서 1은 앞 세션의 테스트 전체를 다시 돌린다 — 회귀다.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테스트는 에이전트가 수정하기 전에 실패해야 한다(빨강). 확인 지점 「09」의 둘째 행이다.</a:t>
            </a:r>
          </a:p>
          <a:p>
            <a:pPr lvl="0"/>
            <a:r>
              <a:rPr lang="ko-KR" sz="1200"/>
              <a:t>이 사례의 O-1은 배송지가 부산이라 정기 배송 대행사로 간다 — 배송 시작 통보(IN_TRANSIT)를 정기 배송 연동이 받게 하기 위한 교육용 설정이다.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에이전트는 맥락으로 받은 선례(onRefundCompleted)와 같은 모양으로 고쳤다. 선례를 맥락에 넣은 이유다(「04」).</a:t>
            </a:r>
          </a:p>
          <a:p>
            <a:pPr lvl="0"/>
            <a:r>
              <a:rPr lang="ko-KR" sz="1200"/>
              <a:t>사람이 확인할 질문: 배송 완료 뒤에 배송 시작 통보가 오면? 이 수정은 예외를 던진다. 그것이 맞는지는 상태 기계의 판단이고, 에이전트가 정할 일이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피드백"의 「14. CI 실패가 가리키는 곳」과 같은 표다. 사람의 역추적 규칙이 에이전트의 멈춤 규칙이 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["Augmented Coding: Beyond the Vibes"](https://newsletter.kentbeck.com/p/augmented-coding-beyond-the-vibes)(2025-06-25) 원문 확인. 같은 글은 바이브 코딩은 시스템의 동작만 신경 쓰고, 증강 코딩(augmented coding)은 코드·복잡도·테스트와 그 범위를 신경 쓴다고 대비한다.</a:t>
            </a:r>
          </a:p>
          <a:p>
            <a:pPr lvl="0"/>
            <a:r>
              <a:rPr lang="ko-KR" sz="1200"/>
              <a:t>"12. 구현·검증·DevOps와 SW공학 피드백"의 테스트를 코드에 맞추기가 에이전트에서 더 빠르게 일어난다.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적정 모델링("11. 통합 설계와 적정 모델링")의 반대 관행 — 분석 마비 — 이 맥락에서 되풀이되는 모습이다.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앵커가 여기서 닫힌다. 판단을 맡기면 자동화의 품질은 에이전트의 추측의 품질이 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맥락 패키지에 모든 산출물을 넣거나, 상태 기계의 결정을 에이전트에게 맡기는 계획을 쓰기 쉽다. 점검 항목 1·2로 되돌린다.</a:t>
            </a:r>
          </a:p>
          <a:p>
            <a:pPr lvl="0"/>
            <a:r>
              <a:rPr lang="ko-KR" sz="1200"/>
              <a:t>실습의 결과물을 실제 코딩 에이전트에게 주고 결과를 확인하게 할 수도 있다. 시간이 없으면 계획까지로 충분하다.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일괄 처리(24시간 전)의 코드도 선례로 줄 수 있다. 배송 요청됨으로 바뀌는 곳이 그 코드이기 때문이다.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 실습의 feedback 배치 (안)과 같은 테스트다. 사람을 위해 만든 센서가 에이전트의 센서가 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산출물이 문서로 끝나지 않고 에이전트의 맥락과 센서로 이어진다는 것이 이 과정의 마지막 메시지다.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마무리: OOAD의 판단은 사라지지 않는다. 사람이 직접 쓰던 판단이 에이전트의 맥락과 센서로 옮겨 갈 뿐이다.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AI-native SW공학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쏟아붓기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판단까지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어떻게 나누고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하는지 AI-native 개발 관점에서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문제·모델·경계·책임의 판단이 에이전트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모델·상태 기계·계약을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고르고 전달한다.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과제마다 사람과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확인 지점을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가드레일·에이전트·하네스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역할과, 가이드와 센서의 feedback을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에이전트·맥락 쏟아붓기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2316" y="2100036"/>
          <a:ext cx="5605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84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과정의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작업에서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유스케이스, 외부 시스템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만드는가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도메인 모델,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이름과 규칙을 쓰는가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고쳐도 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보장하는가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코드를 빠르게 만들어도, 무엇을 만들지와 무엇이 맞는지는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판단이 틀리면 에이전트는 틀린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표는 이 과정의 네 판단이 에이전트 작업에서 무엇을 정하는지다.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판단이 없으면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빈칸을 채운다. 추측이 맞는지 확인할 기준도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2100036"/>
          <a:ext cx="52451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07086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통보는 두 번 이상 올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배송 시작 통보 → 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사전조건에 이미 배송 중을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onDeliveryStarted와 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"12. 구현·검증·DevOps와 SW공학 피드백"에서 남긴 질문이다. 환불 완료 통보처럼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다시 올 수 있다. 표의 왼쪽이 과제의 부분, 오른쪽이 그 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위의 두 행은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아래 두 행이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50936" y="3058085"/>
          <a:ext cx="482854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전이를 더하는지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IN_DELIVERY 같은 이름을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onRefundCompleted의 선례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모양의 수정이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order만 고치게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많이 줄수록 좋은 것이 아니라, 결과를 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골라 준다. 표는 이 과제에 줄 것과 주지 않을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"좋은 맥락 엔지니어링은 원하는 결과의 가능성을 최대로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Anthropic, 2025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세션의 도식, 저장·연동 코드 전체.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9356" y="2100036"/>
          <a:ext cx="4711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694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형태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해석의 여지를 줄이는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유스케이스의 흐름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→ 행위 →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 표,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영문명, 전이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가능한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과정의 산출물은 그대로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표는 네 판단이 맥락에서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가질 때 에이전트가 가장 잘 쓰는지다. 오른쪽 열의 형태일수록 해석의 여지가 적다.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공통점은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"주문은 적절히 처리한다" 같은 자연어보다 전이 목록과 기대값이 에이전트의 추측을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2100036"/>
          <a:ext cx="4853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형식의 정도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뜻과 영문명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주문–항목–결제의 관계와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개념·관계를 기계가 추론할 수 있게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언어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의미를 명시하는 수단은 여럿이다. 표는 주문 사례에서 각 수단이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온톨로지는 그중 가장 형식적인 수단이며, 모든 과제에 필요하지는 않다.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과제에는 용어집과 상태 기계로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여러 시스템이 같은 개념을 공유해야 할 때 온톨로지의 가치가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# 주문 시스템 — 에이전트 규칙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이름은 용어집(docs/glossary.md)의 영문명을 쓴다. 용어집에 없는 업무 용어를 만들지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업무 규칙은 order 패키지의 Order에 둔다. OrderService는 찾고·맡기고·저장만 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order는 persistence와 어떤 adapter도 import하지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상태 전이를 더하거나 바꾸려면 먼저 상태 기계(docs/order-states.md)의 변경을 제안하고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테스트의 기대값을 바꾸지 않는다. 바꿔야 하면 이유를 쓰고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완료 전에 전체 테스트를 실행하고 출력을 보인다.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모든 작업에 공통인 맥락을 저장소에 둔 것이다. 에이전트가 작업마다 읽는다. 아래는 주문 시스템의 맥락 파일 예시이며, 각 줄이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5236" y="2906199"/>
          <a:ext cx="459994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8890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요구·상태 기계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계획(고칠 곳, 테스트)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테스트·수정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센서로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검토·병합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스스로 도구를 쓰며 일하지만,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멈추고 사람의 판단을 받는다. 표는 이 과제의 단계마다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이나 막히는 곳에서 멈추고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받을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Anthropic, 2024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7799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주도와 책임은 다를 수 있다. 에이전트가 주도한 단계도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최종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09025" y="3058085"/>
          <a:ext cx="49123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964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곳이 order 안인가, 테스트가 과제를 재현하는가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빨강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실제로 실패했는가(재현의 evidence)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초록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바뀌지 않았는가, 계약이 상태 기계와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병합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테스트의 출력, 바뀐 파일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앞에 둔다. 그리고 에이전트의 "다 됐다"가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 검사의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표는 이 과제의 확인 지점과, 사람이 그때 보는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"Claude는 작업이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 된 것처럼 보이면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실행할 검사가 없으면 '다 된 것 같다'가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 stops when the work looks done. Without a check it can run, “looks done” is the only signal available"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Anthropic, 2026,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확인 지점에서 사람은 에이전트의 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1716" y="2906199"/>
          <a:ext cx="50469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13560"/>
                <a:gridCol w="2344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전의 맥락과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파일, 용어집,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도구로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작성, 코드 수정,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실행과 검증의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테스트, 의존 규칙 검사, 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만이 아니다. 모델을 둘러싼 맥락·제약·실행·검증의 구조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가 결과의 품질을 정한다. 이 과정은 그 구조를 셋으로 나눠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Birgitta Böckeler, 2026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3100896" y="3315123"/>
          <a:ext cx="2928620" cy="3873500"/>
        </p:xfrm>
        <a:graphic>
          <a:graphicData uri="http://schemas.openxmlformats.org/drawingml/2006/table">
            <a:tbl>
              <a:tblPr/>
              <a:tblGrid>
                <a:gridCol w="1394460"/>
                <a:gridCol w="1534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가이드(행동 전)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센서(행동 뒤)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컴파일, 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53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이끄는 가이드, 하네스의 테스트는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알리는 센서다. 하나만으로는 부족하다. 표는 가이드와 짝이 되는 센서다.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"따로 두면, 같은 실수를 되풀이하는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feedback만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)나, 규칙을 담았지만 그것이 통했는지 모르는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feedforward만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)를 얻는다"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Birgitta Böckeler, 2026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56723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왼쪽만 있으면 규칙이 지켜졌는지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오른쪽만 있으면 같은 실수를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센서 2. 의존 규칙 — 도메인(order)은 저장·연동 패키지를 모른다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try (var files = Files.list(Path.of("order")))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for (Path file : files.toList())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for (String line : Files.readAllLines(file))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check(!line.matches("import (persistence|\\w*adapter)\\..*"));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파일의 "order는 persistence와 adapter를 모른다"는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코드는 같은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만든 것이다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모든 파일에서 금지된 import를 찾는다.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73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편의상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저장소 구현을 import하면 이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즉시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실패한다. 사람이 리뷰에서 찾기 전에.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과제 — 배송 시스템이 배송 시작을 두 번 보내도 O-1은 한 번만 배송 중이 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OrderNumber("O-1")).status().equals("IN_DELIVERY"));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에이전트의 판단이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실행할 수 있는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과제 테스트는 배송 시스템이 배송 시작을 두 번 보내도 O-1이 배송 중인지 확인한다. 기대값은 사람이 정한 상태 기계에서 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완료이거나 이미 배송 중(배송 시스템은 같은 통보를 다시 보낼 수 있다).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배송 중. 이미 배송 중이면 아무것도 바꾸지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onDeliveryStarted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OrderStatus.IN_DELIVERY)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transition(OrderStatus.PAID, OrderStatus.IN_DELIVERY);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수정은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Order.onDeliveryStarted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 곳이다. 사람은 코드보다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주석의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사전조건의 "이미 배송 중"이 사람이 정한 상태 기계의 전이와 같은지.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783135" y="2100036"/>
            <a:ext cx="15777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31606" y="2100036"/>
          <a:ext cx="42672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1064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가리키는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세션의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실패하면 에이전트는 코드를 고치려 한다. 그러나 어떤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가리키고, 그때는 에이전트가 멈추고 사람에게 돌려야 한다. 표의 오른쪽 열이 그 구분이다.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두 행에서 에이전트가 코드를 "고치면" 판단이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조용히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맥락 파일의 "멈춘다"가 이것을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잘못된 관행 — 테스트를 끄는 에이전트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초록을 만들려고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기대값을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막대는 초록이지만 아무 판단도 확인하지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"지니가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속이고 있다는 징후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예를 들어 테스트를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끄거나 지우는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Kent Beck, 2025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 세션의 통합 테스트가 실패하자, 에이전트가 외부 요청 순서의 기대값을 바꿔 초록을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변경을 맥락 파일에서 금지하고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확인 지점에서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 파일의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먼저 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(「09」)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잘못된 관행 — 맥락 쏟아붓기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주면 잘할 것이라 여겨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문서와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맥락에 넣는다. 중요한 규칙이 소음에 묻히고, 에이전트는 관계없는 곳을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14개 세션의 산출물 전체를 넣고 "배송 시작 중복을 처리해"라고 한다. 에이전트가 저장 매퍼까지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고른다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공통 규칙은 짧은 맥락 파일에, 과제별 맥락은 과제에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판단까지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 시작이 중복되면 알아서 처리해"라고 맡긴다.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스스로 내리고, 그 판단은 아무도 검토하지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배송 완료 뒤의 배송 시작 통보도 조용히 무시하게 만든다. 배송 시스템의 오류를 알리는 신호가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요구·상태 기계는 사람이 정하고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상태 전이의 변경은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제안하고 멈추게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실습 — 에이전트에게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12에서 정한 회차 상태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요청됨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구현을 에이전트에게 맡기기 위한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검증 계획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LLM과 함께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실습 12의 보완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"배송 요청됨 구현 과제에 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(맥락 파일의 규칙, 줄 산출물, 주지 않을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"이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(테스트·검사)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표로 써줘. 각 센서가 실패하면 에이전트가 고칠지 멈출지도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사람이 먼저 정할 것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(상태 기계·해지 계약)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을 맥락에서 확정했는가?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맥락이 과제의 판단을 바꾸는 것만 담았는가?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가이드마다 짝이 되는 센서가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기대값·상태 전이·의존 규칙의 변경에서 멈추게 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완료를 테스트 출력으로 보이게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 패키지와 검증 계획. 후속 AI-native SW공학 과정의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파일의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영문명(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RoundStatus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DELIVERY_REQUESTED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)을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규칙은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DeliveryRound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전이·테스트 기대값을 바꿔야 하면 제안하고 멈춘다.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과제의 판단을 바꾸는 것만 담았다. 맥락 파일의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과제에 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나눴다.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→ 배송 요청됨 → 배송됨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(실습 12 보완)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해지 계약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회차는 취소, 배송 요청된 회차는 그대로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선례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취소 코드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결제·회계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1842998"/>
          <a:ext cx="57759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81940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 뒤에도 배송 요청된 회차는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예정 → 배송 요청됨 → 배송됨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실습의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해지·청구의 기존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연동을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실패하면 어떻게 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위 둘은 에이전트가 고치고, 아래 둘은 멈추고 사람에게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계획 뒤, 빨강 뒤, 병합 전. 병합 전에는 전체 테스트 출력과 바뀐 파일 목록을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 파일로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용어집을 저장소의 문서로 두고 맥락 파일이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4·11·12)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검사 가능하게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전이 목록을 테스트의 기대값으로 옮긴다.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과정 전체의 산출물을 에이전트와 일하는 관점에서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후속 작업에 영향을 미치는 것만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기록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9·13)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에이전트가 읽을 수 있게 저장소에 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용어집·상태 기계·결정 기록의 위치와 형식.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패키지의 초안.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나누고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방법을 다뤘다.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 SW공학의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자동화의 품질은 문제·모델·경계·책임의 판단 품질을 넘어서기 어렵다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판단을 형식 있는 고신호로 고르고, 공통 규칙은 짧은 맥락 파일에 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사람은 판단과 최종 책임, 에이전트는 실행. 확인 지점은 evidence를 본다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(가이드)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하네스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(센서)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짝으로 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에이전트, 맥락 쏟아붓기, 판단까지 맡기기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후속 AI-native SW공학 과정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 과정의 판단과 산출물을 에이전트의 맥락·가드레일·하네스로 설계하고 운영한다.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14. AI-native SW공학 목차</vt:lpstr>
      <vt:lpstr>01. 세션 목표</vt:lpstr>
      <vt:lpstr>02. 판단이 상한이다</vt:lpstr>
      <vt:lpstr>03. 에이전트에게 맡길 과제</vt:lpstr>
      <vt:lpstr>04. 맥락은 유한하다</vt:lpstr>
      <vt:lpstr>05. 판단을 맥락으로</vt:lpstr>
      <vt:lpstr>06. 도메인 모델과 온톨로지</vt:lpstr>
      <vt:lpstr>07. 맥락 파일</vt:lpstr>
      <vt:lpstr>08. 사람과 에이전트의 역할</vt:lpstr>
      <vt:lpstr>09. 확인 지점</vt:lpstr>
      <vt:lpstr>10. 가드레일·에이전트·하네스</vt:lpstr>
      <vt:lpstr>11. 가이드와 센서</vt:lpstr>
      <vt:lpstr>12. 의존 규칙 센서</vt:lpstr>
      <vt:lpstr>13. 과제 테스트</vt:lpstr>
      <vt:lpstr>14. 에이전트의 결과 클래스 다이어그램</vt:lpstr>
      <vt:lpstr>15. 센서가 가리키는 판단</vt:lpstr>
      <vt:lpstr>16. 잘못된 관행 — 테스트를 끄는 에이전트</vt:lpstr>
      <vt:lpstr>17. 잘못된 관행 — 맥락 쏟아붓기</vt:lpstr>
      <vt:lpstr>18. 잘못된 관행 — 판단까지 맡기기</vt:lpstr>
      <vt:lpstr>19. 실습 — 에이전트에게 맡기기</vt:lpstr>
      <vt:lpstr>20. 맥락 패키지 (안)</vt:lpstr>
      <vt:lpstr>21. 검증 계획 (안)</vt:lpstr>
      <vt:lpstr>22. 과정 보완 (안)</vt:lpstr>
      <vt:lpstr>23.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14. AI-native SW공학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