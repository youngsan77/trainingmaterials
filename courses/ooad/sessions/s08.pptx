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javaLecture1"/>
    <p:sldId id="257" r:id="javaLecture2"/>
    <p:sldId id="258" r:id="javaLecture3"/>
    <p:sldId id="259" r:id="javaLecture4"/>
    <p:sldId id="260" r:id="javaLecture5"/>
    <p:sldId id="261" r:id="javaLecture6"/>
    <p:sldId id="262" r:id="javaLecture7"/>
    <p:sldId id="263" r:id="javaLecture8"/>
    <p:sldId id="264" r:id="javaLecture9"/>
    <p:sldId id="265" r:id="javaLecture10"/>
    <p:sldId id="266" r:id="javaLecture11"/>
    <p:sldId id="267" r:id="javaLecture12"/>
    <p:sldId id="268" r:id="javaLecture13"/>
    <p:sldId id="269" r:id="javaLecture14"/>
    <p:sldId id="270" r:id="javaLecture15"/>
    <p:sldId id="271" r:id="javaLecture16"/>
    <p:sldId id="272" r:id="javaLecture17"/>
    <p:sldId id="273" r:id="javaLecture18"/>
    <p:sldId id="274" r:id="javaLecture19"/>
    <p:sldId id="275" r:id="javaLecture20"/>
    <p:sldId id="276" r:id="javaLecture21"/>
    <p:sldId id="277" r:id="javaLecture22"/>
    <p:sldId id="278" r:id="javaLecture23"/>
    <p:sldId id="279" r:id="javaLecture24"/>
    <p:sldId id="280" r:id="javaLecture25"/>
    <p:sldId id="281" r:id="javaLecture26"/>
    <p:sldId id="282" r:id="javaLecture27"/>
    <p:sldId id="283" r:id="javaLecture28"/>
    <p:sldId id="284" r:id="javaLecture29"/>
    <p:sldId id="285" r:id="javaLecture30"/>
    <p:sldId id="286" r:id="javaLecture31"/>
    <p:sldId id="287" r:id="javaLecture32"/>
    <p:sldId id="288" r:id="javaLecture33"/>
    <p:sldId id="289" r:id="javaLecture34"/>
    <p:sldId id="290" r:id="javaLecture35"/>
    <p:sldId id="291" r:id="javaLecture36"/>
    <p:sldId id="292" r:id="javaLecture37"/>
    <p:sldId id="293" r:id="javaLecture38"/>
    <p:sldId id="294" r:id="javaLecture39"/>
    <p:sldId id="295" r:id="javaLecture40"/>
    <p:sldId id="296" r:id="javaLecture41"/>
    <p:sldId id="297" r:id="javaLecture42"/>
    <p:sldId id="298" r:id="javaLecture43"/>
    <p:sldId id="299" r:id="javaLecture44"/>
    <p:sldId id="300" r:id="javaLecture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javaLecture1" Type="http://schemas.openxmlformats.org/officeDocument/2006/relationships/slide" Target="slides/slide1.xml"/><Relationship Id="javaLecture2" Type="http://schemas.openxmlformats.org/officeDocument/2006/relationships/slide" Target="slides/slide2.xml"/><Relationship Id="javaLecture3" Type="http://schemas.openxmlformats.org/officeDocument/2006/relationships/slide" Target="slides/slide3.xml"/><Relationship Id="javaLecture4" Type="http://schemas.openxmlformats.org/officeDocument/2006/relationships/slide" Target="slides/slide4.xml"/><Relationship Id="javaLecture5" Type="http://schemas.openxmlformats.org/officeDocument/2006/relationships/slide" Target="slides/slide5.xml"/><Relationship Id="javaLecture6" Type="http://schemas.openxmlformats.org/officeDocument/2006/relationships/slide" Target="slides/slide6.xml"/><Relationship Id="javaLecture7" Type="http://schemas.openxmlformats.org/officeDocument/2006/relationships/slide" Target="slides/slide7.xml"/><Relationship Id="javaLecture8" Type="http://schemas.openxmlformats.org/officeDocument/2006/relationships/slide" Target="slides/slide8.xml"/><Relationship Id="javaLecture9" Type="http://schemas.openxmlformats.org/officeDocument/2006/relationships/slide" Target="slides/slide9.xml"/><Relationship Id="javaLecture10" Type="http://schemas.openxmlformats.org/officeDocument/2006/relationships/slide" Target="slides/slide10.xml"/><Relationship Id="javaLecture11" Type="http://schemas.openxmlformats.org/officeDocument/2006/relationships/slide" Target="slides/slide11.xml"/><Relationship Id="javaLecture12" Type="http://schemas.openxmlformats.org/officeDocument/2006/relationships/slide" Target="slides/slide12.xml"/><Relationship Id="javaLecture13" Type="http://schemas.openxmlformats.org/officeDocument/2006/relationships/slide" Target="slides/slide13.xml"/><Relationship Id="javaLecture14" Type="http://schemas.openxmlformats.org/officeDocument/2006/relationships/slide" Target="slides/slide14.xml"/><Relationship Id="javaLecture15" Type="http://schemas.openxmlformats.org/officeDocument/2006/relationships/slide" Target="slides/slide15.xml"/><Relationship Id="javaLecture16" Type="http://schemas.openxmlformats.org/officeDocument/2006/relationships/slide" Target="slides/slide16.xml"/><Relationship Id="javaLecture17" Type="http://schemas.openxmlformats.org/officeDocument/2006/relationships/slide" Target="slides/slide17.xml"/><Relationship Id="javaLecture18" Type="http://schemas.openxmlformats.org/officeDocument/2006/relationships/slide" Target="slides/slide18.xml"/><Relationship Id="javaLecture19" Type="http://schemas.openxmlformats.org/officeDocument/2006/relationships/slide" Target="slides/slide19.xml"/><Relationship Id="javaLecture20" Type="http://schemas.openxmlformats.org/officeDocument/2006/relationships/slide" Target="slides/slide20.xml"/><Relationship Id="javaLecture21" Type="http://schemas.openxmlformats.org/officeDocument/2006/relationships/slide" Target="slides/slide21.xml"/><Relationship Id="javaLecture22" Type="http://schemas.openxmlformats.org/officeDocument/2006/relationships/slide" Target="slides/slide22.xml"/><Relationship Id="javaLecture23" Type="http://schemas.openxmlformats.org/officeDocument/2006/relationships/slide" Target="slides/slide23.xml"/><Relationship Id="javaLecture24" Type="http://schemas.openxmlformats.org/officeDocument/2006/relationships/slide" Target="slides/slide24.xml"/><Relationship Id="javaLecture25" Type="http://schemas.openxmlformats.org/officeDocument/2006/relationships/slide" Target="slides/slide25.xml"/><Relationship Id="javaLecture26" Type="http://schemas.openxmlformats.org/officeDocument/2006/relationships/slide" Target="slides/slide26.xml"/><Relationship Id="javaLecture27" Type="http://schemas.openxmlformats.org/officeDocument/2006/relationships/slide" Target="slides/slide27.xml"/><Relationship Id="javaLecture28" Type="http://schemas.openxmlformats.org/officeDocument/2006/relationships/slide" Target="slides/slide28.xml"/><Relationship Id="javaLecture29" Type="http://schemas.openxmlformats.org/officeDocument/2006/relationships/slide" Target="slides/slide29.xml"/><Relationship Id="javaLecture30" Type="http://schemas.openxmlformats.org/officeDocument/2006/relationships/slide" Target="slides/slide30.xml"/><Relationship Id="javaLecture31" Type="http://schemas.openxmlformats.org/officeDocument/2006/relationships/slide" Target="slides/slide31.xml"/><Relationship Id="javaLecture32" Type="http://schemas.openxmlformats.org/officeDocument/2006/relationships/slide" Target="slides/slide32.xml"/><Relationship Id="javaLecture33" Type="http://schemas.openxmlformats.org/officeDocument/2006/relationships/slide" Target="slides/slide33.xml"/><Relationship Id="javaLecture34" Type="http://schemas.openxmlformats.org/officeDocument/2006/relationships/slide" Target="slides/slide34.xml"/><Relationship Id="javaLecture35" Type="http://schemas.openxmlformats.org/officeDocument/2006/relationships/slide" Target="slides/slide35.xml"/><Relationship Id="javaLecture36" Type="http://schemas.openxmlformats.org/officeDocument/2006/relationships/slide" Target="slides/slide36.xml"/><Relationship Id="javaLecture37" Type="http://schemas.openxmlformats.org/officeDocument/2006/relationships/slide" Target="slides/slide37.xml"/><Relationship Id="javaLecture38" Type="http://schemas.openxmlformats.org/officeDocument/2006/relationships/slide" Target="slides/slide38.xml"/><Relationship Id="javaLecture39" Type="http://schemas.openxmlformats.org/officeDocument/2006/relationships/slide" Target="slides/slide39.xml"/><Relationship Id="javaLecture40" Type="http://schemas.openxmlformats.org/officeDocument/2006/relationships/slide" Target="slides/slide40.xml"/><Relationship Id="javaLecture41" Type="http://schemas.openxmlformats.org/officeDocument/2006/relationships/slide" Target="slides/slide41.xml"/><Relationship Id="javaLecture42" Type="http://schemas.openxmlformats.org/officeDocument/2006/relationships/slide" Target="slides/slide42.xml"/><Relationship Id="javaLecture43" Type="http://schemas.openxmlformats.org/officeDocument/2006/relationships/slide" Target="slides/slide43.xml"/><Relationship Id="javaLecture44" Type="http://schemas.openxmlformats.org/officeDocument/2006/relationships/slide" Target="slides/slide44.xml"/><Relationship Id="javaLecture45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"1.0" encoding="UTF-8"?>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"1.0" encoding="UTF-8"?>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"1.0" encoding="UTF-8"?>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"1.0" encoding="UTF-8"?>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"1.0" encoding="UTF-8"?>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"1.0" encoding="UTF-8"?>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"1.0" encoding="UTF-8"?>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"1.0" encoding="UTF-8"?>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입력은 "세션 07. 책임·협력·계약"의 정제된 설계와 계약이다. 대안의 체계적 평가(비용·trade-off)는 "세션 09. 설계 대안 평가"에서 한다.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변경 요청 셋은 과정 공통 전제의 교육용 변경 요청이다. 앞 두 개는 이 세션의 코드에 반영하고, 부분 취소는 분석까지만 한다.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Craig Larman, *Applying UML and Patterns*, 3rd ed.(2004), §25.4 "Protected Variations" 원문 확인. 바로 앞 문장은 초보는 깨지기 쉬운 설계로, 중급은 쓰이지 않는 지나치게 일반화된 설계로 기운다고 말한다.</a:t>
            </a:r>
          </a:p>
          <a:p>
            <a:pPr lvl="0"/>
            <a:r>
              <a:rPr lang="ko-KR" sz="1200"/>
              <a:t>목표는 "변경에 강한 설계"라는 막연한 이상이 아니라, 이번 변경 요청을 싸게 받아들이고 다음 변경을 관찰하는 것이다.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변경 이력(같은 곳이 반복해서 바뀜)은 강한 압력이다. 버전 관리 이력에서 자주 함께 바뀌는 파일을 찾는 것도 방법이다 — "세션 12. 구현·검증·DevOps와 SW공학 피드백".</a:t>
            </a:r>
          </a:p>
          <a:p>
            <a:pPr lvl="0"/>
            <a:r>
              <a:rPr lang="ko-KR" sz="1200"/>
              <a:t>과정의 기본 원칙("작게 끝까지", YAGNI)과 같은 판단이다.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결제 전 취소는 "세션 04. 동적 모델 — 상호작용과 상태"의 「08. 상태 기계 다이어그램」의 「가드와 금지된 전이」와 "세션 05. 구조적 경계와 의존성"의 「15. 변경 파급」에서 미정으로 남겼다. 이 세션은 "결제 대기 → 취소됨, 외부 요청 없음"으로 정해졌다고 가정한다.</a:t>
            </a:r>
          </a:p>
          <a:p>
            <a:pPr lvl="0"/>
            <a:r>
              <a:rPr lang="ko-KR" sz="1200"/>
              <a:t>확정된 규칙은 분석 산출물(상태 기계, 명세서의 대안 흐름)에 되돌린다(「21. 규칙의 국소화」).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Robert C. Martin, ["Design Principles and Design Patterns"](https://staff.cs.utu.fi/~jounsmed/doos_06/material/DesignPrinciplesAndPatterns.pdf)(2000), "Symptoms of Rotting Design — Rigidity" 원문 확인. 같은 절은 경직성·취약성·부동성·점착성을 설계가 썩는 네 증상으로 든다.</a:t>
            </a:r>
          </a:p>
          <a:p>
            <a:pPr lvl="0"/>
            <a:r>
              <a:rPr lang="ko-KR" sz="1200"/>
              <a:t>"세션 05. 구조적 경계와 의존성"의 「15. 변경 파급」은 패키지 수준이었다. 이 세션은 클래스·계약 수준이다.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07. 책임·협력·계약"의 「12. 묻기와 시키기」에서 서비스가 상태를 물어 판단했다면, 이 규칙 변경은 판단을 복사한 모든 서비스로 번졌을 것이다.</a:t>
            </a:r>
          </a:p>
          <a:p>
            <a:pPr lvl="0"/>
            <a:r>
              <a:rPr lang="ko-KR" sz="1200"/>
              <a:t>계약은 바뀐다 — 사전조건이 넓어지고(결제 대기도 허용), 사후조건에 경우가 하나 는다. 계약의 변경은 테스트의 변경이다(「32. 변경 테스트」).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05. 구조적 경계와 의존성"에서 약속을 업무 경계가 소유하게 한 결정(의존 역전)이 이 변경 요청에서 회수된다.</a:t>
            </a:r>
          </a:p>
          <a:p>
            <a:pPr lvl="0"/>
            <a:r>
              <a:rPr lang="ko-KR" sz="1200"/>
              <a:t>배송마다 어느 대행사를 쓸지 정하는 조립 책임은 남는다. 이 세션의 코드는 테스트에서 조립한다. 대행사 선택 규칙이 생기면 그 책임의 위치를 정한다.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부분 취소는 과정 공통 전제의 교육용 가정이며, 이 세션은 구현하지 않는다. 판단은 「23. 계약을 바꾸는 변경」·「24. 변경을 쉽게」에서 한다.</a:t>
            </a:r>
          </a:p>
          <a:p>
            <a:pPr lvl="0"/>
            <a:r>
              <a:rPr lang="ko-KR" sz="1200"/>
              <a:t>모든 변경을 국소화할 수는 없다. 요구의 의미가 바뀌면 모델·계약·코드가 함께 바뀌는 것이 정상이다.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Larman, 3rd ed.(2004), §25.4 "Caution: Speculative PV and Picking Your Battles" 원문 확인. 같은 곳은 보호된 변이를 두 지점 모두에 적용하되, 진화 지점의 추측성 보호는 비용을 따져 보라고 경고한다.</a:t>
            </a:r>
          </a:p>
          <a:p>
            <a:pPr lvl="0"/>
            <a:r>
              <a:rPr lang="ko-KR" sz="1200"/>
              <a:t>결제 쪽 PaymentGateway은 이미 있는 약속이다(연동·가짜 구현). 결제 대행사가 늘어난다는 추측만으로 대행사 선택 구조까지 만들지는 않는다.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안정된 책임은 "세션 07. 책임·협력·계약"의 계약과 불변 조건에서 나온다. 계약이 분명할수록 무엇이 안정적인지 분명하다.</a:t>
            </a:r>
          </a:p>
          <a:p>
            <a:pPr lvl="0"/>
            <a:r>
              <a:rPr lang="ko-KR" sz="1200"/>
              <a:t>"세션 05. 구조적 경계와 의존성"의 안정된 의존 원칙(SDP)과 같은 생각을 클래스 수준에서 본 것이다.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근거: Craig Larman, *Applying UML and Patterns*, 3rd ed.(2004), Chapter 25 "GRASP: More Objects with Responsibilities"(§25.1 Polymorphism, §25.2 Pure Fabrication, §25.3 Indirection, §25.4 Protected Variations) 원문 확인. 해법 열은 각 원칙의 Solution을 줄여 옮긴 것이다(요약).</a:t>
            </a:r>
          </a:p>
          <a:p>
            <a:pPr lvl="0"/>
            <a:r>
              <a:rPr lang="ko-KR" sz="1200"/>
              <a:t>순수 가공의 해법 — 도메인 개념을 나타내지 않는 인위적인 클래스에 응집도 높은 책임 묶음을 두어 높은 응집·낮은 결합·재사용을 얻는다. 이 과정의 연동·서비스·저장소가 모두 순수 가공이다. Larman은 GoF의 어댑터·전략 등 대부분의 설계 패턴이 순수 가공이라고 말한다.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Martin, "Design Principles and Design Patterns"(2000), The Open Closed Principle 원문 확인. 같은 절은 이 원칙이 Bertrand Meyer의 연구에서 나왔고, "abstraction is the key to the OCP"라고 말한다.</a:t>
            </a:r>
          </a:p>
          <a:p>
            <a:pPr lvl="0"/>
            <a:r>
              <a:rPr lang="ko-KR" sz="1200"/>
              <a:t>모든 모듈을 모든 변경에 닫을 수는 없다. 어떤 변경에 닫을지 고르는 것이 설계다 — 「14. OCP와 보호된 변이」.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Larman, 3rd ed.(2004), §25.4 "Open-Closed Principle" 원문 확인. 같은 곳은 OCP가 보호된 변이·정보 은닉과 본질적으로 같다고 말하고, "닫혀 있다"는 클라이언트가 영향을 받지 않는다는 뜻이라고 설명한다.</a:t>
            </a:r>
          </a:p>
          <a:p>
            <a:pPr lvl="0"/>
            <a:r>
              <a:rPr lang="ko-KR" sz="1200"/>
              <a:t>정보 은닉은 "세션 07. 책임·협력·계약"의 「13. 정보 은닉」, 변경 이유에 따른 경계 판단은 "세션 05. 구조적 경계와 의존성"의 「07. 경계 후보」에서 다뤘다.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Larman, 3rd ed.(2004), §25.4 "Protected Variations" 원문 확인. 같은 곳은 "인터페이스"를 자바 인터페이스만이 아니라 넓은 뜻의 접근 창구(access view)로 쓴다고 주석을 단다. 계약이 분명한 메서드도 안정된 인터페이스다.</a:t>
            </a:r>
          </a:p>
          <a:p>
            <a:pPr lvl="0"/>
            <a:r>
              <a:rPr lang="ko-KR" sz="1200"/>
              <a:t>보호된 변이는 GRASP의 변화 대응 원칙 중 중심이다(「12. GRASP 변화 대응」). 이어지는 다형성·간접화는 보호된 변이를 이루는 수단이다.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Bill Venners, ["Design Principles from Design Patterns — A Conversation with Erich Gamma, Part III"](https://www.artima.com/articles/design-principles-from-design-patterns)(Artima, 2005-06-06) 원문 확인. GoF 책의 원칙 "구현이 아니라 인터페이스에 맞춰 프로그래밍하라"를 저자가 설명한 대목이다.</a:t>
            </a:r>
          </a:p>
          <a:p>
            <a:pPr lvl="0"/>
            <a:r>
              <a:rPr lang="ko-KR" sz="1200"/>
              <a:t>DIP("세션 07. 책임·협력·계약")가 의존의 방향을 말한다면, 여기서는 인터페이스가 변이를 허용하는 쪽을 본다.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Larman, 3rd ed.(2004), §25.1 "Polymorphism" 원문 확인. 같은 곳의 따름정리는 "객체의 타입을 검사해 조건문으로 대안을 고르지 말라"다 — 「35. 잘못된 관행 — 타입 검사 분기」.</a:t>
            </a:r>
          </a:p>
          <a:p>
            <a:pPr lvl="0"/>
            <a:r>
              <a:rPr lang="ko-KR" sz="1200"/>
              <a:t>같은 곳은 추측만으로 인터페이스와 다형성을 만드는 것을 금기 사항(contraindication)으로 든다. 변이가 즉각적이거나 매우 그럴듯할 때만 합리적이다.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Larman, 3rd ed.(2004), §25.3 "Indirection" 원문 확인. 같은 곳은 간접화가 낮은 결합을 지원하고, 많은 GoF 패턴(어댑터·퍼사드·옵서버 등)이 간접화의 예라고 한다.</a:t>
            </a:r>
          </a:p>
          <a:p>
            <a:pPr lvl="0"/>
            <a:r>
              <a:rPr lang="ko-KR" sz="1200"/>
              <a:t>간접화는 층을 늘린다. 층이 결합을 줄이지 못하면 비용만 는다 — 「36. 잘못된 관행 — 패턴 과잉」.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Venners, 2005, 같은 인터뷰 원문 확인. GoF의 원칙 "클래스 상속보다 객체 합성을 선호하라"의 설명이다. 같은 곳에서 Gamma는 상속이 하위 클래스가 문맥을 가정하기 쉬워 깨지기 쉽다고 말한다.</a:t>
            </a:r>
          </a:p>
          <a:p>
            <a:pPr lvl="0"/>
            <a:r>
              <a:rPr lang="ko-KR" sz="1200"/>
              <a:t>이 세션의 Delivery는 연동을 생성자로 받아 합성한다. 대행사를 바꾸려고 Delivery를 상속하지 않았다.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근거: Larman, 3rd ed.(2004), §25.4 "Structure-Hiding Designs" 원문 확인. "낯선 객체에게 말하지 말라"(디미터 법칙)는 보호된 변이의 특수한 경우이며, 구조 변경이라는 흔한 불안정으로부터 보호한다.</a:t>
            </a:r>
          </a:p>
          <a:p>
            <a:pPr lvl="0"/>
            <a:r>
              <a:rPr lang="ko-KR" sz="1200"/>
              <a:t>"세션 07. 책임·협력·계약"의 「40. 잘못된 관행 — 묻고 또 묻기」와 같은 판단을 변화 대응 관점에서 본 것이다.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도식은 분석의 상태 기계라 한글이다("세션 04. 동적 모델 — 상호작용과 상태"의 「08. 상태 기계 다이어그램」의 「주문 상태 기계」에 전이 하나를 더했다). 배송 완료는 생략했다.</a:t>
            </a:r>
          </a:p>
          <a:p>
            <a:pPr lvl="0"/>
            <a:r>
              <a:rPr lang="ko-KR" sz="1200"/>
              <a:t>규칙이 바뀌면 규칙의 주인을 고친다. OCP를 지키려고 규칙을 전략 객체로 빼는 것은 이 압력에 비해 과하다(「36. 잘못된 관행 — 패턴 과잉」).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외부 시스템마다 연동 경계를 하나 둔다는 "세션 05. 구조적 경계와 의존성"의 결정대로 새 패키지를 만들었다. 이름은 용어집에 더했다(당일 배송 연동 SameDayDeliveryAdapter).</a:t>
            </a:r>
          </a:p>
          <a:p>
            <a:pPr lvl="0"/>
            <a:r>
              <a:rPr lang="ko-KR" sz="1200"/>
              <a:t>당일 배송 대행사의 형식(cancelPickup, OUT_FOR_DELIVERY)은 교육용 가정이다.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요구를 확인하지 않고 설계에서 부분 취소를 "예상해" 일반화하는 것이 「33. 잘못된 관행 — 추측성 일반화」다.</a:t>
            </a:r>
          </a:p>
          <a:p>
            <a:pPr lvl="0"/>
            <a:r>
              <a:rPr lang="ko-KR" sz="1200"/>
              <a:t>분석으로 되돌아가는 것은 실패가 아니다. "세션 06. 분석 모델에서 설계 모델로"의 되돌림과 같은 흐름이다.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원출처는 Kent Beck의 트윗(2012-09-25)이다. 트윗 본문은 직접 확인하지 못했다(www). 재인용처: Martin Fowler, ["An example of preparatory refactoring"](https://martinfowler.com/articles/preparatory-refactoring-example.html)(2015-01-05)에서 이 문구를 확인했다.</a:t>
            </a:r>
          </a:p>
          <a:p>
            <a:pPr lvl="0"/>
            <a:r>
              <a:rPr lang="ko-KR" sz="1200"/>
              <a:t>①은 리팩터링이다 — 동작을 바꾸지 않으므로 기존 테스트가 안전망이다. 리팩터링의 실천은 "세션 12. 구현·검증·DevOps와 SW공학 피드백"에서 다룬다.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Martin Fowler, ["Yagni"](https://martinfowler.com/bliki/Yagni.html), 2015-05-26 원문 확인. YAGNI는 익스트림 프로그래밍(XP)에서 나온 말이다.</a:t>
            </a:r>
          </a:p>
          <a:p>
            <a:pPr lvl="0"/>
            <a:r>
              <a:rPr lang="ko-KR" sz="1200"/>
              <a:t>좋은 책임 배치·계약·테스트는 추정한 기능이 아니다. 그것은 모든 변경을 싸게 만드는 투자다.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*Design Patterns*(Gamma·Helm·Johnson·Vlissides, 1994)의 본문은 확인하지 못했다(www). 재인용처: Ray Toal, ["Design Patterns"](https://cs.lmu.edu/~ray/notes/designpatterns/)(LMU 강의 노트)에서 정의의 문구를 확인했다.</a:t>
            </a:r>
          </a:p>
          <a:p>
            <a:pPr lvl="0"/>
            <a:r>
              <a:rPr lang="ko-KR" sz="1200"/>
              <a:t>OrderNotice는 옵서버의 구독 목록 없이 받는 쪽 하나에 알리는 단순한 형태다. 패턴 이름은 구조의 닮음을 말하는 어휘이지 구현 규격이 아니다.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어댑터는 간접화·다형성·보호된 변이를 한 구조로 묶은 것이다(「29. 패턴과 원칙」).</a:t>
            </a:r>
          </a:p>
          <a:p>
            <a:pPr lvl="0"/>
            <a:r>
              <a:rPr lang="ko-KR" sz="1200"/>
              <a:t>역할 이름(클라이언트·목표·어댑터·적응 대상)은 GoF의 구성 요소 이름을 풀어 쓴 것이다.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도식은 후보 설계다(코드에 없음). RefundPolicy·FullRefund·PartialRefund는 부분 취소가 확정될 때 용어집에 더할 이름이다.</a:t>
            </a:r>
          </a:p>
          <a:p>
            <a:pPr lvl="0"/>
            <a:r>
              <a:rPr lang="ko-KR" sz="1200"/>
              <a:t>정책이 하나일 때 전략을 만들면 「36. 잘못된 관행 — 패턴 과잉」이다. 정책이 둘이 되는 순간이 「24. 변경을 쉽게」의 첫 단계다.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Larman은 보호된 변이를 여러 패턴과 원칙의 밑바탕이 되는 원리로 설명한다(3rd ed., §25.4). 패턴의 이름보다 그것이 무엇을 보호하는지를 먼저 묻는다.</a:t>
            </a:r>
          </a:p>
          <a:p>
            <a:pPr lvl="0"/>
            <a:r>
              <a:rPr lang="ko-KR" sz="1200"/>
              <a:t>GoF 카탈로그를 완주하는 것은 이 과정의 범위가 아니다(과정 설계의 Non-scope).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도식은 설계의 상태 전이(enum 값과 메서드)라 영문이다. 분석의 상태 기계는 「21. 규칙의 국소화」에 있다.</a:t>
            </a:r>
          </a:p>
          <a:p>
            <a:pPr lvl="0"/>
            <a:r>
              <a:rPr lang="ko-KR" sz="1200"/>
              <a:t>코드는 code/s08/의 원본에서 발췌했으며, 컴파일·실행해 확인한다. 결제 완료의 취소 부분은 "세션 07. 책임·협력·계약"과 같다.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두 연동은 같은 약속을 실현하지만 외부 형식은 전혀 다르다(STOP·IN_TRANSIT vs cancelPickup·OUT_FOR_DELIVERY). 다름은 연동 안에 갇힌다.</a:t>
            </a:r>
          </a:p>
          <a:p>
            <a:pPr lvl="0"/>
            <a:r>
              <a:rPr lang="ko-KR" sz="1200"/>
              <a:t>새 연동도 "세션 07. 책임·협력·계약"의 LSP를 지켜야 한다 — 출고 중단을 요청할 수 있으면 참, 아니면 거짓. 다른 조건을 덧붙이지 않는다.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실행: javac -encoding UTF-8 -d out $(find . -name "*.java") &amp;&amp; java -cp out test.ChangeTest. 테스트는 업무 패키지가 어떤 연동도 import하지 않는지도 확인한다.</a:t>
            </a:r>
          </a:p>
          <a:p>
            <a:pPr lvl="0"/>
            <a:r>
              <a:rPr lang="ko-KR" sz="1200"/>
              <a:t>결과를 먼저 예측하게 한다: 당일 배송 주문을 취소하면 요청은 어떤 순서로 기록되는가? 환불은 누가 요청하는가?</a:t>
            </a:r>
          </a:p>
          <a:p>
            <a:pPr lvl="0"/>
            <a:r>
              <a:rPr lang="ko-KR" sz="1200"/>
              <a:t>코드가 보장하지 않는 것 — 배송마다 대행사를 고르는 규칙, 부분 취소. 이 둘은 이 세션의 범위 밖이다.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Larman, 3rd ed.(2004), §25.4 "Caution: Speculative PV and Picking Your Battles" 원문 확인. 같은 곳에서 Larman은 진화 지점의 유연성을 위해 스크립트 언어를 넣었다가 복잡하고 비효율적이라 결국 걷어낸 사례를 든다.</a:t>
            </a:r>
          </a:p>
          <a:p>
            <a:pPr lvl="0"/>
            <a:r>
              <a:rPr lang="ko-KR" sz="1200"/>
              <a:t>추측성 일반화는 "세션 07. 책임·협력·계약"의 원칙 과잉과 짝이다. 원칙 과잉은 구조를, 추측성 일반화는 기능을 미리 만든다.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흩어진 변경은 "산탄총 수술(Shotgun Surgery)"로도 불린다. 원인은 대개 책임 배치("세션 07. 책임·협력·계약")나 경계("세션 05. 구조적 경계와 의존성")에 있다.</a:t>
            </a:r>
          </a:p>
          <a:p>
            <a:pPr lvl="0"/>
            <a:r>
              <a:rPr lang="ko-KR" sz="1200"/>
              <a:t>파급 분석 표(「07. 결제 전 취소의 파급」·「08. 당일 배송의 파급」)에서 "바뀐다"가 여러 줄이면 이 관행을 의심한다.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Larman의 다형성 따름정리("타입을 검사해 조건문으로 대안을 고르지 말라", 3rd ed., §25.1)가 근거다.</a:t>
            </a:r>
          </a:p>
          <a:p>
            <a:pPr lvl="0"/>
            <a:r>
              <a:rPr lang="ko-KR" sz="1200"/>
              <a:t>상태 값에 따른 분기(if (status == PAID))는 규칙이 한 곳(Order)에 있으면 괜찮다. 문제는 같은 분기가 여러 곳에 반복되는 것이다.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패턴은 변경 압력의 답이다. 압력이 없는데 패턴을 쓰면 읽는 사람은 "무엇이 바뀌길래?"를 찾다 헤맨다.</a:t>
            </a:r>
          </a:p>
          <a:p>
            <a:pPr lvl="0"/>
            <a:r>
              <a:rPr lang="ko-KR" sz="1200"/>
              <a:t>상태 패턴은 상태마다 행위가 크게 다르고 상태가 자주 늘 때 후보다. 이 과정의 주문 상태는 그렇지 않다.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여러 대안을 비용·품질·trade-off로 비교해 고르는 일은 "세션 09. 설계 대안 평가"에서 한다.</a:t>
            </a:r>
          </a:p>
          <a:p>
            <a:pPr lvl="0"/>
            <a:r>
              <a:rPr lang="ko-KR" sz="1200"/>
              <a:t>과정의 기본 원칙 KISS·YAGNI와 같은 판단이다. 단, 바꾸기 쉬운 구조를 유지하는 노력은 YAGNI가 아니다(「25. YAGNI의 범위」).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LLM은 두 요청을 모두 추상화하거나(결제 수단마다 클래스), 반대로 요청 B를 if (주기 종류 == 매월)로 처리하기 쉽다.</a:t>
            </a:r>
          </a:p>
          <a:p>
            <a:pPr lvl="0"/>
            <a:r>
              <a:rPr lang="ko-KR" sz="1200"/>
              <a:t>요청 A는 "포인트도 결제 시스템이 처리한다"는 전제 때문에 새 연동이 필요 없다. 전제가 다르면(별도 포인트 시스템) 판단도 달라진다 — 그 차이를 토론하게 한다.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세션의 판단(부분 취소를 지금 일반화하지 않는다, 결제 수단마다 클래스를 만들지 않는다)은 다음 세션에서 대안을 비교해 정당화한다.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요청 A에서 결제 수단마다 클래스를 만들지 않은 것이 점검 항목 5의 답이다. 결제의 행위는 결제 수단에 따라 달라지지 않고, 요청의 형식만 연동에서 달라진다.</a:t>
            </a:r>
          </a:p>
          <a:p>
            <a:pPr lvl="0"/>
            <a:r>
              <a:rPr lang="ko-KR" sz="1200"/>
              <a:t>수강생의 표가 달라도 바뀌는 곳이 좁고 그 이유를 설명하면 맞다.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매월 ○일을 1~28일로 제한한 것은 기존 R1의 교육용 가정을 따른 것이다(29~31일이 없는 달의 처리를 피한다).</a:t>
            </a:r>
          </a:p>
          <a:p>
            <a:pPr lvl="0"/>
            <a:r>
              <a:rPr lang="ko-KR" sz="1200"/>
              <a:t>DeliveryCycle은 값처럼 쓰이는 작은 객체다. 주기 규칙(1~28)은 각 구현의 생성자에서 검사한다.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DeliveryCycle은 변이 지점(두 종류가 실제로 있다)이라 인터페이스로 두었고, PaymentMethod는 값이 하나 늘었을 뿐이라 enum 그대로다.</a:t>
            </a:r>
          </a:p>
          <a:p>
            <a:pPr lvl="0"/>
            <a:r>
              <a:rPr lang="ko-KR" sz="1200"/>
              <a:t>결제·배송 요청의 약속과 서비스·저장소는 바뀌지 않아 생략했다(실습 7의 설계 클래스 다이어그램 (안)).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변경 요청은 설계만 바꾸지 않는다. 요구(R1)와 속성 도메인이 먼저 바뀌고, 설계는 그 의미를 따른다 — 「23. 계약을 바꾸는 변경」과 같은 순서다.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1" Type="http://schemas.openxmlformats.org/officeDocument/2006/relationships/image" Target="../media/mermaid-1.png"/><Relationship Id="speakerNotes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7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8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9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0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1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5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6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7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8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9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0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1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1" Type="http://schemas.openxmlformats.org/officeDocument/2006/relationships/image" Target="../media/plantuml-1.png"/><Relationship Id="speakerNotes2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2" Type="http://schemas.openxmlformats.org/officeDocument/2006/relationships/image" Target="../media/plantuml-2.png"/><Relationship Id="speakerNotes24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5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6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7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8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3" Type="http://schemas.openxmlformats.org/officeDocument/2006/relationships/image" Target="../media/plantuml-3.png"/><Relationship Id="speakerNotes29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4" Type="http://schemas.openxmlformats.org/officeDocument/2006/relationships/image" Target="../media/plantuml-4.png"/><Relationship Id="speakerNotes30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1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5" Type="http://schemas.openxmlformats.org/officeDocument/2006/relationships/image" Target="../media/plantuml-5.png"/><Relationship Id="speakerNotes3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6" Type="http://schemas.openxmlformats.org/officeDocument/2006/relationships/image" Target="../media/plantuml-6.png"/><Relationship Id="speakerNotes33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7" Type="http://schemas.openxmlformats.org/officeDocument/2006/relationships/image" Target="../media/plantuml-7.png"/><Relationship Id="speakerNotes34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5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6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7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8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9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0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1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2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3" Type="http://schemas.openxmlformats.org/officeDocument/2006/relationships/notesSlide" Target="../notesSlides/notesSlide4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8" Type="http://schemas.openxmlformats.org/officeDocument/2006/relationships/image" Target="../media/plantuml-8.png"/><Relationship Id="speakerNotes44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5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BD6A-BEC8-8565-421F-EBAC1ED4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4CAC-1EBE-1F63-E3BA-E3EE686B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08. 변화 대응과 변이 설계 목차 </a:t>
            </a: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(1/2)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EEDA23-0B0A-564A-4691-C5337C3E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22" y="949064"/>
            <a:ext cx="4580822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02. 설계에서 변경으로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03. 변화 대응은 판단이다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04. 변경 압력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05. 변경 요청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06. 변경 파급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07. 결제 전 취소의 파급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08. 당일 배송의 파급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09. 부분 취소의 파급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10. 변이 지점과 진화 지점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11. 안정된 책임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12. GRASP 변화 대응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13. OCP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14. OCP와 보호된 변이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15. 보호된 변이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16. 인터페이스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17. 다형성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A0BF-30A1-CFBA-B6DC-C8AB25F4C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E919F-9032-122E-A91D-6BEFC90E2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36ED9B1-5AD1-2C46-246C-15655B385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TOC 열 4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/>
        </p:nvSpPr>
        <p:spPr>
          <a:xfrm>
            <a:off x="4426820" y="949064"/>
            <a:ext cx="4195811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18. 간접화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19. 합성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20. 구조 숨기기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21. 규칙의 국소화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22. 새 연동의 추가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23. 계약을 바꾸는 변경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24. 변경을 쉽게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25. YAGNI의 범위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26. 패턴 어휘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27. 어댑터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28. 전략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29. 패턴과 원칙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30. 규칙 변경 코드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31. 새 연동 코드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32. 변경 테스트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33. 잘못된 관행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추측성 일반화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34. 잘못된 관행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흩어진 변경</a:t>
            </a:r>
          </a:p>
        </p:txBody>
      </p:sp>
    </p:spTree>
    <p:extLst>
      <p:ext uri="{BB962C8B-B14F-4D97-AF65-F5344CB8AC3E}">
        <p14:creationId xmlns:p14="http://schemas.microsoft.com/office/powerpoint/2010/main" val="119810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BD6A-BEC8-8565-421F-EBAC1ED4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4CAC-1EBE-1F63-E3BA-E3EE686B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08. 변화 대응과 변이 설계 목차 </a:t>
            </a: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(2/2)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EEDA23-0B0A-564A-4691-C5337C3E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22" y="949064"/>
            <a:ext cx="4580822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35. 잘못된 관행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타입 검사 분기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36. 잘못된 관행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패턴 과잉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37. 적정 변화 대응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38. 실습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변화 대응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39. 요약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A0BF-30A1-CFBA-B6DC-C8AB25F4C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E919F-9032-122E-A91D-6BEFC90E2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36ED9B1-5AD1-2C46-246C-15655B385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TOC 열 4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/>
        </p:nvSpPr>
        <p:spPr>
          <a:xfrm>
            <a:off x="4426820" y="949064"/>
            <a:ext cx="4195811" cy="5530862"/>
          </a:xfrm>
        </p:spPr>
        <p:txBody>
          <a:bodyPr>
            <a:norm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19810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세션은 실제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변경 요청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설계가 흔들리는 곳을 관찰하고, 변화를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국소화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하는 설계를 만든다.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변경 요청을 적용해 책임·계약·협력으로 번지는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변경 파급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관찰한다.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변이 지점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진화 지점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구분하고, 흔들리지 않을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안정된 책임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식별한다.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OCP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보호된 변이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변이 국소화의 목표를 정의한다.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GRASP의 변화 대응 원칙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(다형성·간접화·순수 가공)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과 합성·인터페이스를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실제 압력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 선택적으로 적용한다.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설계 문제와 해결 구조를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패턴 어휘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(어댑터·전략)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와 연결한다.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추측성 일반화·흩어진 변경·타입 검사 분기·패턴 과잉 같은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잘못된 관행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식별한다.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02. 설계에서 변경으로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78892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설계의 품질은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변경이 올 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드러난다. 앞 세션의 책임·계약·약속이 변경 요청을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어디까지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가두는지 관찰한다.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입력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"세션 07. 책임·협력·계약"의 계약과 약속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(배송·결제 시스템, 통보)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출력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변경 요청별 파급 분석, 국소화한 설계와 코드, 변경 테스트</a:t>
            </a:r>
          </a:p>
        </p:txBody>
      </p:sp>
      <p:pic>
        <p:nvPicPr>
          <p:cNvPr id="9" name="mermaid Diagram 1"/>
          <p:cNvPicPr>
            <a:picLocks noChangeAspect="1"/>
          </p:cNvPicPr>
          <p:nvPr/>
        </p:nvPicPr>
        <p:blipFill>
          <a:blip r:embed="mermaidImage1"/>
          <a:stretch>
            <a:fillRect/>
          </a:stretch>
        </p:blipFill>
        <p:spPr>
          <a:xfrm>
            <a:off x="1280160" y="2514600"/>
            <a:ext cx="6583680" cy="84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03. 변화 대응은 판단이다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변화 대응은 예상 가능한 모든 변이를 추상화하는 것이 아니라,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실제 변경 압력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(change pressure)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국소화하는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판단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전문 설계자는 통찰로 고른다. 변경 비용과 그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가능성을 저울질해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단순하고 깨지기 쉬운 설계를 택하기도 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"Expert designers choose with insight; perhaps a simple and brittle design whose cost of change is balanced against its likelihood."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추상화는 비용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코드를 늘리고 읽기를 어렵게 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보호는 투자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 변경이 실제로 오는 곳에서만 회수된다.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04. 변경 압력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742506" y="1813560"/>
          <a:ext cx="764540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3573780"/>
                <a:gridCol w="31826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변경 압력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추측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근거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확정된 요구, 이미 있는 변형, 반복된 변경 이력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"나중에 필요할 것 같다"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두 번째 배송 대행사 계약이 체결됐다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언젠가 결제 대행사가 열 개가 될지 모른다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지금 국소화한다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단순하게 두고 관찰한다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변경 압력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설계를 바꾸라고 요구하는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실제 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추측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(언젠가 바뀔지 모른다)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과 구분한다.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- 6 -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19416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압력의 출처는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요구·외부 시스템·규칙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기술 유행은 압력이 아니다.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05. 변경 요청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327976" y="1813560"/>
          <a:ext cx="6474460" cy="3873500"/>
        </p:xfrm>
        <a:graphic>
          <a:graphicData uri="http://schemas.openxmlformats.org/drawingml/2006/table">
            <a:tbl>
              <a:tblPr/>
              <a:tblGrid>
                <a:gridCol w="1338580"/>
                <a:gridCol w="3545840"/>
                <a:gridCol w="15900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변경 요청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내용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성격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① 결제 전 취소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대기 주문도 취소할 수 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규칙의 변경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② 당일 배송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당일 배송 대행사를 추가한다(배송 시스템이 둘)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 시스템의 변이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③ 부분 취소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항목 일부만 취소한다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계약의 변경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세션은 주문 사례에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세 변경 요청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적용한다. 성격이 서로 다르다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규칙의 변경, 외부의 변이, 계약의 변경.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- 7 -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19416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세 요청은 모두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교육용 가정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결제 전 취소는 앞 세션들이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미정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남긴 규칙이 확정된 경우다.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06. 변경 파급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- 8 -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변경 파급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한 변경이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다른 곳을 바꾸게 만드는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연쇄다. 변경 요청마다 바뀌는 곳과 그대로인 곳을 적어 설계의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경직성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드러낸다.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경직성은 단순한 변경조차 어려운 성질이다.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모든 변경이 의존하는 모듈로 연쇄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일으킨다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"Rigidity is the tendency for software to be difficult to change, even in simple ways. Every change causes a cascade of subsequent changes in dependent modules."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[Martin 2000]</a:t>
            </a:r>
          </a:p>
          <a:p>
            <a:pPr lvl="2" marL="607060" indent="-25146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1.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적용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변경 요청을 한 문장의 요구로 쓴다.</a:t>
            </a:r>
          </a:p>
          <a:p>
            <a:pPr lvl="2" marL="607060" indent="-25146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2.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추적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바뀌어야 할 클래스·계약·테스트를 찾는다.</a:t>
            </a:r>
          </a:p>
          <a:p>
            <a:pPr lvl="2" marL="607060" indent="-25146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3.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구분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바뀌는 곳과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그대로인 곳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표로 적는다.</a:t>
            </a:r>
          </a:p>
          <a:p>
            <a:pPr lvl="2" marL="607060" indent="-25146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판단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파급이 넓으면 그 원인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(책임의 위치, 의존)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찾는다.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07. 결제 전 취소의 파급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040446" y="1813560"/>
          <a:ext cx="5049520" cy="3873500"/>
        </p:xfrm>
        <a:graphic>
          <a:graphicData uri="http://schemas.openxmlformats.org/drawingml/2006/table">
            <a:tbl>
              <a:tblPr/>
              <a:tblGrid>
                <a:gridCol w="1645920"/>
                <a:gridCol w="947420"/>
                <a:gridCol w="24561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요소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바뀌는가?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이유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Order.cancel()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 규칙의 주인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OrderStatus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결제대기·취소됨 값이 이미 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OrderService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규칙을 모른다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Delivery·Payment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전에는 요청하지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 요청이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변경 요청 ①은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Order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 한 곳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 끝난다. 취소 규칙과 상태 전이를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Order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갖고 있기 때문이다.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- 9 -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7016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좋은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책임 배치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이미 변경을 가두었다. 이 변경에는 새 추상화가 필요 없다.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08. 당일 배송의 파급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523556" y="1813560"/>
          <a:ext cx="6083300" cy="3873500"/>
        </p:xfrm>
        <a:graphic>
          <a:graphicData uri="http://schemas.openxmlformats.org/drawingml/2006/table">
            <a:tbl>
              <a:tblPr/>
              <a:tblGrid>
                <a:gridCol w="2400300"/>
                <a:gridCol w="1087120"/>
                <a:gridCol w="25958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요소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바뀌는가?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이유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SameDayDeliveryAdapter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새로 생긴다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당일 배송 대행사의 형식을 옮긴다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DeliveryGateway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약속은 대행사와 무관하다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Delivery·Order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약속에만 의존한다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DeliveryAdapter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기존 대행사의 형식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조립(누가 어느 연동을 쓰는가)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배송마다 대행사를 고른다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변경 요청 ②는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새 연동 하나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더하는 것으로 끝난다. 배송 경계가 약속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DeliveryGateway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소유하고 있기 때문이다.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- 10 -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7016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외부의 변이를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약속 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 가두었다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이것이 보호된 변이다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(「15. 보호된 변이」)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09. 부분 취소의 파급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202246" y="1813560"/>
          <a:ext cx="6725920" cy="3873500"/>
        </p:xfrm>
        <a:graphic>
          <a:graphicData uri="http://schemas.openxmlformats.org/drawingml/2006/table">
            <a:tbl>
              <a:tblPr/>
              <a:tblGrid>
                <a:gridCol w="1562100"/>
                <a:gridCol w="947420"/>
                <a:gridCol w="42164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요소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바뀌는가?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이유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Order.cancel()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항목을 받아야 한다, 상태가 "일부 취소"를 표현해야 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OrderStatus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부분 취소 상태가 필요하다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Refund·Payment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환불 금액이 결제 금액보다 작다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DeliveryGateway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일부 항목만 출고를 중단한다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시스템 계약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"주문을 취소한다"의 입력과 결과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변경 요청 ③은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계약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바꾼다. 취소의 대상·결과가 달라져 여러 객체와 외부 약속까지 번진다.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- 11 -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7016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파급이 넓은 것은 설계가 나빠서가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요구의 의미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바뀌었기 때문이다. 이런 변경은 분석부터 다시 연다.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10. 변이 지점과 진화 지점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579436" y="3113116"/>
          <a:ext cx="597154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2428240"/>
                <a:gridCol w="25958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지점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사례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판단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변이 지점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대행사가 둘(변경 요청 ②)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지금 보호한다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진화 지점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대행사가 늘어날지 모른다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약속만 두고 더 일반화하지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2136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변경이 올 수 있는 곳은 둘로 나뉜다.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이미 있는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변이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(변이 지점)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추측한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변이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(진화 지점)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변이 지점 — 기존 시스템이나 요구에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이미 있는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변이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"variation point—Variations in the existing, current system or requirements"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진화 지점 — 앞으로 생길 수 있지만 현재 요구에는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없는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추측성 변이 지점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"evolution point—Speculative points of variation that may arise in the future, but which are not present in the existing requirements."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- 12 -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11. 안정된 책임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537526" y="1813560"/>
          <a:ext cx="6055360" cy="3873500"/>
        </p:xfrm>
        <a:graphic>
          <a:graphicData uri="http://schemas.openxmlformats.org/drawingml/2006/table">
            <a:tbl>
              <a:tblPr/>
              <a:tblGrid>
                <a:gridCol w="2679700"/>
                <a:gridCol w="1562100"/>
                <a:gridCol w="18135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안정된 책임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변경 요청 ①·②에서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출고 중단 → 환불의 순서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출고 중단을 요청할 수 있다는 약속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DeliveryGateway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그대로(구현만 늘었다)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환불 금액 ≤ 결제 금액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Refund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상태는 주문만 바꾼다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변이 지점을 찾으면 그 둘레의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안정된 책임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도 보인다. 안정된 책임은 변경 요청이 와도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바뀌지 않아야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하는 의미다.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- 13 -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8216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안정된 책임을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약속과 계약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드러내면, 변이는 그 뒤에서 자유롭게 늘어난다.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12. GRASP 변화 대응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063816" y="1813560"/>
          <a:ext cx="700278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1981200"/>
                <a:gridCol w="2372360"/>
                <a:gridCol w="15621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원칙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원문 이름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해법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사례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보호된 변이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Protected Variations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변이 둘레에 안정된 인터페이스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DeliveryGateway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다형성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Polymorphism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다른 행위를 그 타입들에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연동 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간접화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Indirection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사이에 중재 객체를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순수 가공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Pure Fabrication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도메인 밖 가공 클래스에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서비스, 저장소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변화 대응에는 GRASP의 나머지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네 원칙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쓴다. 모두 변이가 다른 요소로 번지지 않게 하는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보호된 변이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이룬다.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8216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앞 세션의 다섯 원칙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(정보 전문가·생성자·컨트롤러·높은 응집도·낮은 결합도)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책임의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자리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정했다면, 이 넷은 그 자리를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변경으로부터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지킨다.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13. OCP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개방·폐쇄 원칙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(Open-Closed Principle, OCP)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모듈이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확장에는 열려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있고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변경에는 닫혀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있어야 한다는 원칙이다. 새 동작을 더할 때 기존 코드를 고치지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모듈은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확장에는 열려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있고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변경에는 닫혀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있어야 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 module should be open for extension but closed for modification."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[Martin 2000]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변경 요청 ②는 OCP를 지켰다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새 연동을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더했을 뿐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Order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·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Delivery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는 고치지 않았다.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변경 요청 ①은 OCP의 대상이 아니다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규칙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자체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가 바뀌었으니 규칙의 주인을 고친다.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14. OCP와 보호된 변이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936816" y="2762596"/>
          <a:ext cx="725678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2819400"/>
                <a:gridCol w="33502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묻는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사례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OCP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 변경에 이 모듈이 닫혀 있는가?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Order는 대행사 추가에 닫혀 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보호된 변이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어디가 흔들리고, 무엇으로 감싸는가?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대행사를 DeliveryGateway으로 감싼다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정보 은닉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바뀌기 쉬운 결정을 어디에 감추는가?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대행사의 형식을 연동 안에 감춘다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739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OCP와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보호된 변이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같은 원칙의 두 표현이다. OCP는 "닫힌다"는 결과를, 보호된 변이는 "어디를 보호할지"를 강조한다.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OCP와 보호된 변이는 본질적으로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같은 원칙의 두 표현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이며 강조점만 다르다 — 변이 지점과 진화 지점에서의 보호다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"OCP and PV are essentially two expressions of the same principle, with different emphasis: protection at variation and evolution points."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- 16 -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15. 보호된 변이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208086" y="2600498"/>
          <a:ext cx="4714240" cy="3873500"/>
        </p:xfrm>
        <a:graphic>
          <a:graphicData uri="http://schemas.openxmlformats.org/drawingml/2006/table">
            <a:tbl>
              <a:tblPr/>
              <a:tblGrid>
                <a:gridCol w="1590040"/>
                <a:gridCol w="1562100"/>
                <a:gridCol w="15621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불안정한 것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안정된 인터페이스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보호받는 쪽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대행사의 형식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DeliveryGateway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Delivery, Order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대행사의 형식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PaymentGateway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Payment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통보를 받는 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OrderNotice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 기술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OrderRepository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OrderService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58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보호된 변이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(Protected Variations, PV)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변이나 불안정이 예측되는 지점을 찾고, 그 둘레에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안정된 인터페이스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두는 책임 배정 원칙이다.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예측된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변이나 불안정의 지점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찾고 그 둘레에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안정된 인터페이스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만드는 책임을 배정한다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"Identify points of predicted variation or instability; assign responsibilities to create a stable interface around them."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- 17 -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16. 인터페이스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- 18 -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인터페이스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 의존하면 구현이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바뀔 수 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보호된 변이의 가장 흔한 수단이다.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인터페이스에만 의존하면 구현에서 분리된다 — 구현은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바뀔 수 있고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그것이 건강한 의존 관계다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"Once you depend on interfaces only, you're decoupled from the implementation. That means the implementation can vary, and that's a healthy dependency relationship."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[Gamma 2005]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인터페이스는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쓰는 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 필요로 만들고, 쓰는 쪽이 소유한다(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DeliveryGateway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delivery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에).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구현이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실제로 둘 이상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이거나 곧 둘이 될 때 만든다. 테스트의 가짜 구현도 구현이다.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17. 다형성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586295" y="2762596"/>
          <a:ext cx="7957820" cy="3873500"/>
        </p:xfrm>
        <a:graphic>
          <a:graphicData uri="http://schemas.openxmlformats.org/drawingml/2006/table">
            <a:tbl>
              <a:tblPr/>
              <a:tblGrid>
                <a:gridCol w="4384040"/>
                <a:gridCol w="35737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조건문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다형성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if (대행사 == 기존) ... else if (대행사 == 당일) ...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deliverySystem.requestDispatchStop(...)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대행사가 늘 때마다 모든 분기를 고친다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구현 하나를 더한다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739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다형성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(Polymorphism)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타입에 따라 달라지는 행위를, 조건문이 아니라 그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타입들의 같은 이름 오퍼레이션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 맡기는 원칙이다.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관련된 대안이나 행위가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타입에 따라 달라지면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다형적 오퍼레이션으로 그 행위의 책임을 행위가 달라지는 타입에 배정한다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"When related alternatives or behaviors vary by type (class), assign responsibility for the behavior—using polymorphic operations—to the types for which the behavior varies."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- 19 -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18. 간접화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062546" y="2600498"/>
          <a:ext cx="7005320" cy="3873500"/>
        </p:xfrm>
        <a:graphic>
          <a:graphicData uri="http://schemas.openxmlformats.org/drawingml/2006/table">
            <a:tbl>
              <a:tblPr/>
              <a:tblGrid>
                <a:gridCol w="2148840"/>
                <a:gridCol w="2372360"/>
                <a:gridCol w="24841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중재자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사이에 둔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없었다면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SameDayDeliveryAdapter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 ↔ 당일 배송 대행사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Delivery가 대행사 형식을 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OrderService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연동·화면 ↔ Order와 저장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연동이 저장소를 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58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간접화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(Indirection)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두 요소가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직접 결합하지 않도록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그 사이에 중재자를 두는 원칙이다. 연동이 대표적인 중재자다.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다른 구성 요소들이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직접 결합하지 않도록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그 사이를 중재하는 중간 객체에 책임을 배정한다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"Assign the responsibility to an intermediate object to mediate between other components or services so that they are not directly coupled."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- 20 -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19. 합성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978725" y="2600498"/>
          <a:ext cx="717296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2987040"/>
                <a:gridCol w="30988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상속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합성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바꾸는 방법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하위 클래스를 만든다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다른 객체를 끼운다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상위 클래스의 내부에 묶인다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약속에만 묶인다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사례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SameDayDelivery extends Delivery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new Delivery(번호, sameDayAdapter)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58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합성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작은 객체를 큰 객체에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끼워 넣어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행위를 바꾸는 방법이다. 상속보다 결합이 약하고, 실행 중에도 바꿀 수 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합성은 더 좋은 성질이 있다. 큰 것에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작은 것을 끼워 넣는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것만으로 결합이 줄어든다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"Composition has a nicer property. The coupling is reduced by just having some smaller things you plug into something bigger."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[Gamma 2005]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- 21 -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20. 구조 숨기기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412306" y="1813560"/>
          <a:ext cx="8305800" cy="3873500"/>
        </p:xfrm>
        <a:graphic>
          <a:graphicData uri="http://schemas.openxmlformats.org/drawingml/2006/table">
            <a:tbl>
              <a:tblPr/>
              <a:tblGrid>
                <a:gridCol w="3909060"/>
                <a:gridCol w="43967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구조를 드러낸 호출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구조를 숨긴 호출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order.getDelivery().getNumber()로 대행사 호출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order.cancel() 안에서 delivery.requestDispatchStop()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배송의 구조가 바뀌면 호출자가 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Delivery만 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객체의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내부 구조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도 변이다. 먼 객체의 구조를 따라가며 메시지를 보내면, 구조가 바뀔 때 호출자가 함께 바뀐다.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- 22 -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90616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가까운 협력자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에게만 메시지를 보낸다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자기 자신, 매개변수, 자기 속성, 메서드에서 만든 객체.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21. 규칙의 국소화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상태 기계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5146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변경 요청 ①은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추상화 없이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규칙의 주인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Order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고친다. 분석의 상태 기계에도 확정된 전이를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되돌린다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새 전이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결제 대기 → 취소됨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더해졌다. 외부 요청은 없다.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되돌릴 곳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상태 기계, 명세서의 대안 흐름 1a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(취소)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, 시스템 오퍼레이션 계약</a:t>
            </a:r>
          </a:p>
        </p:txBody>
      </p:sp>
      <p:pic>
        <p:nvPicPr>
          <p:cNvPr id="9" name="plantuml Diagram 1"/>
          <p:cNvPicPr>
            <a:picLocks noChangeAspect="1"/>
          </p:cNvPicPr>
          <p:nvPr/>
        </p:nvPicPr>
        <p:blipFill>
          <a:blip r:embed="plantumlImage1"/>
          <a:stretch>
            <a:fillRect/>
          </a:stretch>
        </p:blipFill>
        <p:spPr>
          <a:xfrm>
            <a:off x="688731" y="2788920"/>
            <a:ext cx="7766538" cy="143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22. 새 연동의 추가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클래스 다이어그램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410525" y="4662756"/>
          <a:ext cx="6309360" cy="3873500"/>
        </p:xfrm>
        <a:graphic>
          <a:graphicData uri="http://schemas.openxmlformats.org/drawingml/2006/table">
            <a:tbl>
              <a:tblPr/>
              <a:tblGrid>
                <a:gridCol w="2148840"/>
                <a:gridCol w="41605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패키지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변경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samedaydeliveryadapter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새 패키지 — 연동과 대행사 형식(SameDayDeliveryApi)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delivery, order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없음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조립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배송마다 연동을 골라 Delivery에 끼운다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변경 요청 ②는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약속을 실현하는 연동 하나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더한다. 배송 경계와 주문은 그대로다.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- 24 -</a:t>
            </a:r>
          </a:p>
        </p:txBody>
      </p:sp>
      <p:pic>
        <p:nvPicPr>
          <p:cNvPr id="14" name="plantuml Diagram 2"/>
          <p:cNvPicPr>
            <a:picLocks noChangeAspect="1"/>
          </p:cNvPicPr>
          <p:nvPr/>
        </p:nvPicPr>
        <p:blipFill>
          <a:blip r:embed="plantumlImage2"/>
          <a:stretch>
            <a:fillRect/>
          </a:stretch>
        </p:blipFill>
        <p:spPr>
          <a:xfrm>
            <a:off x="1777311" y="1813560"/>
            <a:ext cx="5575788" cy="262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23. 계약을 바꾸는 변경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변경 요청 ③은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계약과 요구의 의미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바꾼다. 이런 변경은 설계 기법으로 가두려 하지 않고, 분석부터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다시 연다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607060" indent="-25146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1.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요구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부분 취소의 규칙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(배송 시작 뒤에도 가능한가? 환불 금액은?)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확인한다.</a:t>
            </a:r>
          </a:p>
          <a:p>
            <a:pPr lvl="2" marL="607060" indent="-25146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2.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상태 기계에 부분 취소 상태를, 도메인 모델에 취소 항목을 더할지 정한다.</a:t>
            </a:r>
          </a:p>
          <a:p>
            <a:pPr lvl="2" marL="607060" indent="-25146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3.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계약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시스템 계약과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Order.cancel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의 계약을 새로 쓴다.</a:t>
            </a:r>
          </a:p>
          <a:p>
            <a:pPr lvl="2" marL="607060" indent="-25146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설계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변경을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쉽게 만든 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변경한다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(「24. 변경을 쉽게」)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부분 취소의 환불 금액 계산이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여러 정책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갈라진다면, 그때 전략 패턴이 후보가 된다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(「28. 전략」)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24. 변경을 쉽게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922845" y="2326178"/>
          <a:ext cx="7284720" cy="3873500"/>
        </p:xfrm>
        <a:graphic>
          <a:graphicData uri="http://schemas.openxmlformats.org/drawingml/2006/table">
            <a:tbl>
              <a:tblPr/>
              <a:tblGrid>
                <a:gridCol w="1254760"/>
                <a:gridCol w="3937000"/>
                <a:gridCol w="20929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부분 취소의 예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확인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① 변경을 쉽게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환불 금액 계산을 Refund로 모은다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기존 테스트가 그대로 통과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/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 대상을 항목 목록으로 받는다(전체 = 모든 항목)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기존 테스트가 그대로 통과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② 쉬운 변경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일부 항목만 받는 경우를 더한다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새 계약의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330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큰 변경은 두 단계로 한다. 먼저 동작을 바꾸지 않고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구조를 정리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해 변경을 쉽게 만들고, 그다음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쉬운 변경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변경을 쉽게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만들고, 그다음 쉬운 변경을 하라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"make the change easy, then make the easy change"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[Beck 2012, 재인용]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- 26 -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25. YAGNI의 범위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955356" y="2762596"/>
          <a:ext cx="5219700" cy="3873500"/>
        </p:xfrm>
        <a:graphic>
          <a:graphicData uri="http://schemas.openxmlformats.org/drawingml/2006/table">
            <a:tbl>
              <a:tblPr/>
              <a:tblGrid>
                <a:gridCol w="2679700"/>
                <a:gridCol w="25400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하지 않는다(YAGNI)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한다(바꾸기 쉽게)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요구에 없는 부분 취소를 미리 구현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 규칙을 Order 한 곳에 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대행사 열 개를 위한 선택 구조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 형식을 연동 안에 감춘다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모든 클래스에 인터페이스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테스트로 변경을 안전하게 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739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YAGNI는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추정한 기능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미리 만들지 말라는 것이지, 코드를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바꾸기 쉽게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유지하지 말라는 것이 아니다.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YAGNI는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추정한 기능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위해 넣는 능력에만 적용되며 소프트웨어를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바꾸기 쉽게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만드는 노력에는 적용되지 않는다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"Yagni only applies to capabilities built into the software to support a presumptive feature, it does not apply to effort to make the software easier to modify."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[Fowler 2015a]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- 27 -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26. 패턴 어휘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699325" y="2600498"/>
          <a:ext cx="7731760" cy="3873500"/>
        </p:xfrm>
        <a:graphic>
          <a:graphicData uri="http://schemas.openxmlformats.org/drawingml/2006/table">
            <a:tbl>
              <a:tblPr/>
              <a:tblGrid>
                <a:gridCol w="2595880"/>
                <a:gridCol w="1562100"/>
                <a:gridCol w="35737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 문제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패턴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사례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외부의 형식이 우리 약속과 다르다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어댑터(Adapter)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DeliveryAdapter, SameDayDeliveryAdapter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알고리즘을 바꿔 끼우고 싶다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전략(Strategy)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부분 취소의 환불 금액 정책(후보)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사건을 알려 받고 싶다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옵서버(Observer)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OrderNotice(통보 약속)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58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패턴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반복되는 설계 문제와 그 해결 구조에 붙인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이름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이름이 있으면 설계를 짧고 정확하게 말할 수 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특정한 맥락의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일반적인 설계 문제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풀도록 맞춘, 소통하는 객체와 클래스의 기술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"descriptions of communicating objects and classes that are customized to solve a general design problem in a particular context."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[Gamma 외 1994, 재인용]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- 28 -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27. 어댑터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클래스 다이어그램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290635" y="3798179"/>
          <a:ext cx="4549140" cy="3873500"/>
        </p:xfrm>
        <a:graphic>
          <a:graphicData uri="http://schemas.openxmlformats.org/drawingml/2006/table">
            <a:tbl>
              <a:tblPr/>
              <a:tblGrid>
                <a:gridCol w="1003300"/>
                <a:gridCol w="35458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역할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사례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클라이언트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목표 약속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DeliveryGateway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어댑터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SameDayDeliveryAdapter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적응 대상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당일 배송 대행사의 형식 SameDayDeliveryApi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어댑터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우리가 원하는 약속과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다른 형식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 외부를, 약속에 맞게 옮기는 패턴이다. 이 과정의 연동이 어댑터다.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- 29 -</a:t>
            </a:r>
          </a:p>
        </p:txBody>
      </p:sp>
      <p:pic>
        <p:nvPicPr>
          <p:cNvPr id="14" name="plantuml Diagram 3"/>
          <p:cNvPicPr>
            <a:picLocks noChangeAspect="1"/>
          </p:cNvPicPr>
          <p:nvPr/>
        </p:nvPicPr>
        <p:blipFill>
          <a:blip r:embed="plantumlImage3"/>
          <a:stretch>
            <a:fillRect/>
          </a:stretch>
        </p:blipFill>
        <p:spPr>
          <a:xfrm>
            <a:off x="1879888" y="1813560"/>
            <a:ext cx="5370635" cy="175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28. 전략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클래스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5146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전략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바꿔 끼울 수 있는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알고리즘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객체로 빼고, 쓰는 쪽은 약속에만 의존하게 하는 패턴이다. 알고리즘이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실제로 여럿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일 때 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지금은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전액 환불 하나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뿐이다. 전략은 부분 취소가 요구로 확정되고 환불 정책이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둘 이상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될 때의 후보다.</a:t>
            </a:r>
          </a:p>
        </p:txBody>
      </p:sp>
      <p:pic>
        <p:nvPicPr>
          <p:cNvPr id="9" name="plantuml Diagram 4"/>
          <p:cNvPicPr>
            <a:picLocks noChangeAspect="1"/>
          </p:cNvPicPr>
          <p:nvPr/>
        </p:nvPicPr>
        <p:blipFill>
          <a:blip r:embed="plantumlImage4"/>
          <a:stretch>
            <a:fillRect/>
          </a:stretch>
        </p:blipFill>
        <p:spPr>
          <a:xfrm>
            <a:off x="2491154" y="2438400"/>
            <a:ext cx="4161692" cy="262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29. 패턴과 원칙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335086" y="1813560"/>
          <a:ext cx="446024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2260600"/>
                <a:gridCol w="13106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패턴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실현하는 원칙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보호하는 변이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어댑터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간접화, 다형성, 보호된 변이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 형식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전략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다형성, OCP, 합성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알고리즘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옵서버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간접화, DIP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알림을 받는 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패턴은 원칙을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구체적인 구조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옮긴 것이다. 원칙을 모르고 패턴을 쓰면 문제가 없는 곳에 구조만 늘어난다.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- 31 -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19416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패턴을 고르는 순서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변경 압력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→ 변이 지점 → 원칙 → 패턴. 패턴에서 출발하지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30. 규칙 변경 코드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상태 기계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3076187"/>
            <a:ext cx="8412480" cy="18161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// 사전조건: 결제 대기이거나, 결제 완료이고 출고 중단이 수락된다.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// 사후조건: 결제 대기였으면 취소됨(외부 요청 없음).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//          결제 완료였으면 취소 처리 중이 되고, 출고 중단과 환불을 이 순서로 요청했다.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public void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cancel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if (status == OrderStatus.PENDING_PAYMENT)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transition(OrderStatus.PENDING_PAYMENT, OrderStatus.CANCELLED);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return;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// ... 결제 완료의 취소는 그대로 생략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78127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규칙의 변경은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규칙의 주인 한 곳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 끝난다. 결제 대기의 취소는 외부에 아무것도 요청하지 않는다.</a:t>
            </a:r>
          </a:p>
        </p:txBody>
      </p:sp>
      <p:pic>
        <p:nvPicPr>
          <p:cNvPr id="33" name="plantuml Diagram 5"/>
          <p:cNvPicPr>
            <a:picLocks noChangeAspect="1"/>
          </p:cNvPicPr>
          <p:nvPr/>
        </p:nvPicPr>
        <p:blipFill>
          <a:blip r:embed="plantumlImage5"/>
          <a:stretch>
            <a:fillRect/>
          </a:stretch>
        </p:blipFill>
        <p:spPr>
          <a:xfrm>
            <a:off x="1287096" y="1842998"/>
            <a:ext cx="6569808" cy="112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31. 새 연동 코드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클래스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4145918"/>
            <a:ext cx="8412480" cy="16510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@Override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public boolean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requestDispatchStop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(String deliveryNumber)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return api.cancelPickup(deliveryNumber);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// 당일 배송 대행사의 이벤트를 주문의 사건으로 옮긴다.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public void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receiveEvent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(String eventName, String orderNumber)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if (eventName.equals("OUT_FOR_DELIVERY")) orderNotice.onDeliveryStarted(new OrderNumber(orderNumber));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78127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새 연동은 약속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DeliveryGateway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실현하고, 대행사의 형식을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연동 안에서만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다룬다.</a:t>
            </a:r>
          </a:p>
        </p:txBody>
      </p:sp>
      <p:pic>
        <p:nvPicPr>
          <p:cNvPr id="33" name="plantuml Diagram 6"/>
          <p:cNvPicPr>
            <a:picLocks noChangeAspect="1"/>
          </p:cNvPicPr>
          <p:nvPr/>
        </p:nvPicPr>
        <p:blipFill>
          <a:blip r:embed="plantumlImage6"/>
          <a:stretch>
            <a:fillRect/>
          </a:stretch>
        </p:blipFill>
        <p:spPr>
          <a:xfrm>
            <a:off x="2740269" y="1842998"/>
            <a:ext cx="3663462" cy="21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32. 변경 테스트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시퀀스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3696534"/>
            <a:ext cx="8412480" cy="219456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// 변경 요청 1 — 결제 전 취소: 취소됨이 되고 외부에 아무것도 요청하지 않는다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var pending = newOrder("O-1");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pending.cancel();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check(pending.status() == OrderStatus.CANCELLED &amp;&amp; requests.isEmpty());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// ... 결제 완료의 취소 계약 확인 생략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// 변경 요청 2 — 당일 배송 대행사: 새 연동만 더하고 주문·배송은 그대로 쓴다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requests.clear();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// ... 가짜 통보 약속 준비 생략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var sameDay = new SameDayDeliveryAdapter(id -&gt; { requests.add("픽업 취소 " + id); return true; }, fakeNotice);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var fast = newOrder("O-3");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fast.onPaid(new Payment(new Money(2000), fakePayment), new Delivery("S-3", sameDay));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fast.cancel();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check(fast.status() == OrderStatus.CANCELLING);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check(requests.equals(List.of("픽업 취소 S-3", "환불 2000")));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78127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변경 테스트는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바뀐 계약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바뀌지 않아야 할 계약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함께 확인한다. 기존 테스트가 통과하는 것이 국소화의 증거다.</a:t>
            </a:r>
          </a:p>
        </p:txBody>
      </p:sp>
      <p:pic>
        <p:nvPicPr>
          <p:cNvPr id="33" name="plantuml Diagram 7"/>
          <p:cNvPicPr>
            <a:picLocks noChangeAspect="1"/>
          </p:cNvPicPr>
          <p:nvPr/>
        </p:nvPicPr>
        <p:blipFill>
          <a:blip r:embed="plantumlImage7"/>
          <a:stretch>
            <a:fillRect/>
          </a:stretch>
        </p:blipFill>
        <p:spPr>
          <a:xfrm>
            <a:off x="561731" y="1842998"/>
            <a:ext cx="8020538" cy="174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33. 잘못된 관행 — 추측성 일반화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675956" y="2600498"/>
          <a:ext cx="5778500" cy="3873500"/>
        </p:xfrm>
        <a:graphic>
          <a:graphicData uri="http://schemas.openxmlformats.org/drawingml/2006/table">
            <a:tbl>
              <a:tblPr/>
              <a:tblGrid>
                <a:gridCol w="3322320"/>
                <a:gridCol w="24561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추측성 일반화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실제 압력에 맞춘 설계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대행사 선택 프레임워크(대행사는 하나)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PaymentGateway 약속 하나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모든 규칙을 설정 파일로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규칙은 Order에, 바뀌면 고친다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부분 취소를 미리 구현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요구가 확정되면 분석부터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58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올지 모르는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변경을 위해 지금 추상화·설정·확장 구조를 만든다. 비용은 지금 들고, 변경은 오지 않거나 다른 모양으로 온다.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진화 지점에 보호를 설계하는 비용이 단순한 설계를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다시 고치는 비용보다 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수 있다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"the cost of engineering protection at evolution points can be higher than reworking a simple design."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- 35 -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34. 잘못된 관행 — 흩어진 변경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606106" y="1813560"/>
          <a:ext cx="5918200" cy="3873500"/>
        </p:xfrm>
        <a:graphic>
          <a:graphicData uri="http://schemas.openxmlformats.org/drawingml/2006/table">
            <a:tbl>
              <a:tblPr/>
              <a:tblGrid>
                <a:gridCol w="3964940"/>
                <a:gridCol w="19532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흩어진 변경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모은 설계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전 취소를 허용하려고 서비스 셋과 화면을 고친다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Order.cancel() 한 곳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대행사를 더하려고 Delivery·Order에 if를 더한다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 하나를 더한다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 상태 코드를 쓰는 곳을 모두 찾는다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코드는 연동 안에만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변경 하나가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여러 클래스를 조금씩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고치게 만든다. 규칙이나 외부 형식이 여러 곳에 흩어져 있다는 신호다.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- 36 -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35. 잘못된 관행 — 타입 검사 분기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412306" y="1813560"/>
          <a:ext cx="8305800" cy="3873500"/>
        </p:xfrm>
        <a:graphic>
          <a:graphicData uri="http://schemas.openxmlformats.org/drawingml/2006/table">
            <a:tbl>
              <a:tblPr/>
              <a:tblGrid>
                <a:gridCol w="4732020"/>
                <a:gridCol w="35737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타입 검사 분기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다형성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if (delivery.carrier() == SAME_DAY) sameDayApi.cancelPickup(...)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deliverySystem.requestDispatchStop(...)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switch (결제 수단) { ... }이 여러 클래스에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수단마다 구현 하나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새 종류 = 모든 switch 수정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새 종류 = 구현 하나 추가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객체의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종류를 검사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해 조건문으로 행위를 고른다. 종류가 늘 때마다 모든 분기를 찾아 고쳐야 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- 37 -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36. 잘못된 관행 — 패턴 과잉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396555" y="1813560"/>
          <a:ext cx="6337300" cy="3873500"/>
        </p:xfrm>
        <a:graphic>
          <a:graphicData uri="http://schemas.openxmlformats.org/drawingml/2006/table">
            <a:tbl>
              <a:tblPr/>
              <a:tblGrid>
                <a:gridCol w="3406140"/>
                <a:gridCol w="29311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패턴 과잉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적정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여섯 개를 상태 패턴의 클래스 여섯 개로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enum과 transition 한 곳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환불 정책 하나에 전략 인터페이스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Refund 하나(정책이 둘이 될 때 전략)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 하나에 팩토리·레지스트리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생성자로 끼운다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문제보다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패턴이 먼저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온다. 변이가 없는 곳에 전략·팩토리·상태 패턴을 넣어 층만 늘어난다.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- 38 -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37. 적정 변화 대응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- 39 -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변화 대응은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네 질문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 답하면 충분하다. 모든 변이를 미리 막으려 하지 않는다.</a:t>
            </a:r>
          </a:p>
          <a:p>
            <a:pPr lvl="2" marL="607060" indent="-25146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1.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압력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이 변경은 확정된 요구·이미 있는 변형인가, 추측인가?</a:t>
            </a:r>
          </a:p>
          <a:p>
            <a:pPr lvl="2" marL="607060" indent="-25146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2.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파급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바뀌는 곳이 한 곳인가, 흩어지는가?</a:t>
            </a:r>
          </a:p>
          <a:p>
            <a:pPr lvl="2" marL="607060" indent="-25146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3.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보호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변이 지점이면 안정된 약속 뒤에 두었는가?</a:t>
            </a:r>
          </a:p>
          <a:p>
            <a:pPr lvl="2" marL="607060" indent="-25146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확인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바뀌지 않아야 할 계약이 테스트로 지켜지는가?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파급이 넓으면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변경 전에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구조를 정리한다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(「24. 변경을 쉽게」)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38. 실습 — 변화 대응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- 40 -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5257800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실습 7의 설계에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두 변경 요청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을 적용해 파급을 분석하고, 변이를 국소화하는 설계를 LLM과 만든 뒤 점검 항목으로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피드백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하여 완성하십시오.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투입물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실습 7의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CRC·계약·정제된 설계 클래스 다이어그램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용어집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변경 요청 A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결제 방법에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포인트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를 추가한다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(포인트도 결제 시스템이 처리한다)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변경 요청 B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배송 주기에 </a:t>
            </a: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매월 ○일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을 추가한다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(기존: 1~28일 간격)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프롬프트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① "위 설계에 변경 요청 A·B를 적용하면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바뀌는 클래스와 그대로인 클래스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를 표로 써줘. 변이 지점인지 진화 지점인지도 판단해줘."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② "파급을 가장 좁히는 설계를 PlantUML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설계 클래스 다이어그램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으로 그려줘. 필요한 곳에만 추상화하고, 이름은 용어집을 따라줘."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점검 항목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1.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압력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두 요청을 실제 압력으로 보고, 요청에 없는 변이는 추측으로 남겼는가?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2.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국소화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요청 A가 값 추가와 연동 형식에서 끝나는가?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3.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다형성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요청 B에서 주기 종류를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if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가 아니라 다형성으로 다루는가?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안정된 책임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회차 금액·만료일·확정 판단의 계약이 그대로인가?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5.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과잉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변이가 없는 곳에 인터페이스·패턴을 더하지 않았는가?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6.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이름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새 타입·값의 이름을 용어집에 먼저 더했는가?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결과물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변경 영향 분석, 변이 설계, 설계 클래스 다이어그램. 설계 대안 평가의 입력이 됩니다.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39. 요약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- 41 -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세션은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실제 변경 요청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설계의 파급을 관찰하고, 변화를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국소화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하는 설계를 만들었다.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변화 대응과 변이 설계의 핵심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판단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모든 변이가 아니라 실제 변경 압력을 국소화한다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파급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바뀌는 곳과 그대로인 곳을 적어 경직성을 드러낸다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지점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변이 지점은 지금 보호하고, 진화 지점은 추측으로 남긴다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원칙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OCP·보호된 변이·다형성·간접화·합성·구조 숨기기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패턴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어댑터·전략은 원칙을 구조로 옮긴 어휘. 압력에서 출발한다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잘못된 관행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추측성 일반화, 흩어진 변경, 타입 검사 분기, 패턴 과잉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세션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09. 설계 대안 평가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동일한 문제에 대한 여러 설계 대안을 change impact·품질·비용·trade-off 관점에서 비교하고 선택한다.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변경 영향 분석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691196" y="1813560"/>
          <a:ext cx="5748020" cy="3873500"/>
        </p:xfrm>
        <a:graphic>
          <a:graphicData uri="http://schemas.openxmlformats.org/drawingml/2006/table">
            <a:tbl>
              <a:tblPr/>
              <a:tblGrid>
                <a:gridCol w="1478280"/>
                <a:gridCol w="1813560"/>
                <a:gridCol w="24561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요소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요청 A 포인트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요청 B 매월 ○일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PaymentMethod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값 POINT 추가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PaymentAdapter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포인트 요청 형식 추가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Subscription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회차 날짜 계산을 주기에 맡긴다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주기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일 간격과 매월 ○일 두 종류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Payment·계약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추측 없음(값 하나)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변이 지점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요청 A는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값과 연동 형식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에서, 요청 B는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배송 주기의 계산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 끝나게 할 수 있다. B는 주기의 종류가 둘이 되는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변이 지점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- 42 -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변이 설계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- 43 -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1414318"/>
            <a:ext cx="4338828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배송 주기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DeliveryCycle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약속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다음 배송일을 계산한다: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nextDate(from)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일 간격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DailyCycle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1~28일마다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(기존 R1)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매월 ○일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MonthlyCycle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매월 1~28일 중 하루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(요청 B)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8778240" cy="45419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배송 주기를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다형성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으로 바꾼다. 정기배송은 주기에게 "다음 배송일"을 묻지 않고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맡긴다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414318"/>
            <a:ext cx="4439412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정기배송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Subscription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회차 생성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첫 배송일부터 만료일까지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nextDate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로 회차를 만든다.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그대로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회차 금액, 만료일, 결제·확정의 계약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결제 방법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값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PaymentMethod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에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POINT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를 더한다.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연동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PaymentAdapter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가 포인트 요청 형식을 옮긴다.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설계 클래스 다이어그램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- 44 -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514600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주기의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종류만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약속 뒤로 보내고, 나머지는 그대로 두었다.</a:t>
            </a:r>
          </a:p>
        </p:txBody>
      </p:sp>
      <p:pic>
        <p:nvPicPr>
          <p:cNvPr id="9" name="plantuml Diagram 8"/>
          <p:cNvPicPr>
            <a:picLocks noChangeAspect="1"/>
          </p:cNvPicPr>
          <p:nvPr/>
        </p:nvPicPr>
        <p:blipFill>
          <a:blip r:embed="plantumlImage8"/>
          <a:stretch>
            <a:fillRect/>
          </a:stretch>
        </p:blipFill>
        <p:spPr>
          <a:xfrm>
            <a:off x="2715846" y="1539240"/>
            <a:ext cx="3712308" cy="437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변화 대응 보완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- 45 -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08. 변화 대응과 변이 설계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1414318"/>
            <a:ext cx="4338828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요구사항 정의서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(실습 1)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R1 배송 주기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"1~28일 간격 또는 매월 1~28일 중 하루"로 고친다.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R5 결제 방법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포인트를 더한다.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용어집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(실습 2)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새 용어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배송 주기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DeliveryCycle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(타입)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일 간격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DailyCycle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매월 ○일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MonthlyCycle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포인트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POINT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8778240" cy="45419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변경을 설계하며 발견한 것은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후속 작업에 영향을 미치는 경우에만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이전 산출물에 반영한다.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414318"/>
            <a:ext cx="4439412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도메인 모델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(실습 3)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배송 주기의 속성 도메인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일수에서 "일 간격 또는 매월 ○일"로 바꾼다.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※ 현행화 기준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반영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R1·R5, 용어집, 속성 도메인. 설계 대안 평가의 입력이 된다.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기록만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유스케이스 명세서의 예외 흐름 3a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(범위 벗어남)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의 문구.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화면 슬라이드 쇼(4:3)</PresentationFormat>
  <Paragraphs>0</Paragraphs>
  <Slides>45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49" baseType="lpstr">
      <vt:lpstr>맑은 고딕</vt:lpstr>
      <vt:lpstr>Arial</vt:lpstr>
      <vt:lpstr>Wingdings</vt:lpstr>
      <vt:lpstr>4_Office 테마</vt:lpstr>
      <vt:lpstr>08. 변화 대응과 변이 설계 목차 (1/2)</vt:lpstr>
      <vt:lpstr>08. 변화 대응과 변이 설계 목차 (2/2)</vt:lpstr>
      <vt:lpstr>01. 세션 목표</vt:lpstr>
      <vt:lpstr>02. 설계에서 변경으로</vt:lpstr>
      <vt:lpstr>03. 변화 대응은 판단이다</vt:lpstr>
      <vt:lpstr>04. 변경 압력</vt:lpstr>
      <vt:lpstr>05. 변경 요청</vt:lpstr>
      <vt:lpstr>06. 변경 파급</vt:lpstr>
      <vt:lpstr>07. 결제 전 취소의 파급</vt:lpstr>
      <vt:lpstr>08. 당일 배송의 파급</vt:lpstr>
      <vt:lpstr>09. 부분 취소의 파급</vt:lpstr>
      <vt:lpstr>10. 변이 지점과 진화 지점</vt:lpstr>
      <vt:lpstr>11. 안정된 책임</vt:lpstr>
      <vt:lpstr>12. GRASP 변화 대응</vt:lpstr>
      <vt:lpstr>13. OCP</vt:lpstr>
      <vt:lpstr>14. OCP와 보호된 변이</vt:lpstr>
      <vt:lpstr>15. 보호된 변이</vt:lpstr>
      <vt:lpstr>16. 인터페이스</vt:lpstr>
      <vt:lpstr>17. 다형성</vt:lpstr>
      <vt:lpstr>18. 간접화</vt:lpstr>
      <vt:lpstr>19. 합성</vt:lpstr>
      <vt:lpstr>20. 구조 숨기기</vt:lpstr>
      <vt:lpstr>21. 규칙의 국소화 상태 기계 다이어그램</vt:lpstr>
      <vt:lpstr>22. 새 연동의 추가 클래스 다이어그램</vt:lpstr>
      <vt:lpstr>23. 계약을 바꾸는 변경</vt:lpstr>
      <vt:lpstr>24. 변경을 쉽게</vt:lpstr>
      <vt:lpstr>25. YAGNI의 범위</vt:lpstr>
      <vt:lpstr>26. 패턴 어휘</vt:lpstr>
      <vt:lpstr>27. 어댑터 클래스 다이어그램</vt:lpstr>
      <vt:lpstr>28. 전략 클래스 다이어그램</vt:lpstr>
      <vt:lpstr>29. 패턴과 원칙</vt:lpstr>
      <vt:lpstr>30. 규칙 변경 코드 상태 기계 다이어그램</vt:lpstr>
      <vt:lpstr>31. 새 연동 코드 클래스 다이어그램</vt:lpstr>
      <vt:lpstr>32. 변경 테스트 시퀀스 다이어그램</vt:lpstr>
      <vt:lpstr>33. 잘못된 관행 — 추측성 일반화</vt:lpstr>
      <vt:lpstr>34. 잘못된 관행 — 흩어진 변경</vt:lpstr>
      <vt:lpstr>35. 잘못된 관행 — 타입 검사 분기</vt:lpstr>
      <vt:lpstr>36. 잘못된 관행 — 패턴 과잉</vt:lpstr>
      <vt:lpstr>37. 적정 변화 대응</vt:lpstr>
      <vt:lpstr>38. 실습 — 변화 대응</vt:lpstr>
      <vt:lpstr>39. 요약</vt:lpstr>
      <vt:lpstr>변경 영향 분석 (안) 별첨. 실습 답</vt:lpstr>
      <vt:lpstr>변이 설계 (안) 별첨. 실습 답</vt:lpstr>
      <vt:lpstr>설계 클래스 다이어그램 (안) 별첨. 실습 답</vt:lpstr>
      <vt:lpstr>변화 대응 보완 (안) 별첨. 실습 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08. 변화 대응과 변이 설계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