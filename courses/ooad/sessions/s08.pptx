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"07. 책임·협력·계약"의 정제된 설계와 계약이다. 대안의 체계적 평가(비용·trade-off)는 "09. 설계 대안 평가"에서 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 셋은 과정 공통 전제의 교육용 변경 요청이다. 앞 두 개는 이 세션의 코드에 반영하고, 부분 취소는 분석까지만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§25.4 "Protected Variations" 원문 확인. 바로 앞 문장은 초보는 깨지기 쉬운 설계로, 중급은 쓰이지 않는 지나치게 일반화된 설계로 기운다고 말한다.</a:t>
            </a:r>
          </a:p>
          <a:p>
            <a:pPr lvl="0"/>
            <a:r>
              <a:rPr lang="ko-KR" sz="1200"/>
              <a:t>목표는 "변경에 강한 설계"라는 막연한 이상이 아니라, 이번 변경 요청을 싸게 받아들이고 다음 변경을 관찰하는 것이다.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이력(같은 곳이 반복해서 바뀜)은 강한 압력이다. 버전 관리 이력에서 자주 함께 바뀌는 파일을 찾는 것도 방법이다 — "12. 구현·검증·DevOps와 SW공학 피드백".</a:t>
            </a:r>
          </a:p>
          <a:p>
            <a:pPr lvl="0"/>
            <a:r>
              <a:rPr lang="ko-KR" sz="1200"/>
              <a:t>과정의 기본 원칙("작게 끝까지", YAGNI)과 같은 판단이다.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전 취소는 "04. 동적 모델 — 상호작용과 상태"의 「08. 상태 기계 다이어그램」의 「가드와 금지된 전이」와 "05. 구조적 경계와 의존성"의 「15. 변경 파급」에서 미정으로 남겼다. 이 세션은 "결제 대기 → 취소됨, 외부 요청 없음"으로 정해졌다고 가정한다.</a:t>
            </a:r>
          </a:p>
          <a:p>
            <a:pPr lvl="0"/>
            <a:r>
              <a:rPr lang="ko-KR" sz="1200"/>
              <a:t>확정된 규칙은 분석 산출물(상태 기계, 명세서의 대안 흐름)에 되돌린다(「21. 규칙의 국소화」).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Robert C. Martin, ["Design Principles and Design Patterns"](https://staff.cs.utu.fi/~jounsmed/doos_06/material/DesignPrinciplesAndPatterns.pdf)(2000), "Symptoms of Rotting Design — Rigidity" 원문 확인. 같은 절은 경직성·취약성·부동성·점착성을 설계가 썩는 네 증상으로 든다.</a:t>
            </a:r>
          </a:p>
          <a:p>
            <a:pPr lvl="0"/>
            <a:r>
              <a:rPr lang="ko-KR" sz="1200"/>
              <a:t>"05. 구조적 경계와 의존성"의 「15. 변경 파급」은 패키지 수준이었다. 이 세션은 클래스·계약 수준이다.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"07. 책임·협력·계약"의 「12. 묻기와 시키기」에서 서비스가 상태를 물어 판단했다면, 이 규칙 변경은 판단을 복사한 모든 서비스로 번졌을 것이다.</a:t>
            </a:r>
          </a:p>
          <a:p>
            <a:pPr lvl="0"/>
            <a:r>
              <a:rPr lang="ko-KR" sz="1200"/>
              <a:t>계약은 바뀐다 — 사전조건이 넓어지고(결제 대기도 허용), 사후조건에 경우가 하나 는다. 계약의 변경은 테스트의 변경이다(「32. 변경 테스트」).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"05. 구조적 경계와 의존성"에서 약속을 업무 경계가 소유하게 한 결정(의존 역전)이 이 변경 요청에서 회수된다.</a:t>
            </a:r>
          </a:p>
          <a:p>
            <a:pPr lvl="0"/>
            <a:r>
              <a:rPr lang="ko-KR" sz="1200"/>
              <a:t>배송마다 어느 대행사를 쓸지 정하는 조립 책임은 남는다. 이 세션의 코드는 테스트에서 조립한다. 대행사 선택 규칙이 생기면 그 책임의 위치를 정한다.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부분 취소는 과정 공통 전제의 교육용 가정이며, 이 세션은 구현하지 않는다. 판단은 「23. 계약을 바꾸는 변경」·「24. 변경을 쉽게」에서 한다.</a:t>
            </a:r>
          </a:p>
          <a:p>
            <a:pPr lvl="0"/>
            <a:r>
              <a:rPr lang="ko-KR" sz="1200"/>
              <a:t>모든 변경을 국소화할 수는 없다. 요구의 의미가 바뀌면 모델·계약·코드가 함께 바뀌는 것이 정상이다.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곳은 보호된 변이를 두 지점 모두에 적용하되, 진화 지점의 추측성 보호는 비용을 따져 보라고 경고한다.</a:t>
            </a:r>
          </a:p>
          <a:p>
            <a:pPr lvl="0"/>
            <a:r>
              <a:rPr lang="ko-KR" sz="1200"/>
              <a:t>결제 쪽 PaymentGateway은 이미 있는 약속이다(연동·가짜 구현). 결제 대행사가 늘어난다는 추측만으로 대행사 선택 구조까지 만들지는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안정된 책임은 "07. 책임·협력·계약"의 계약과 불변 조건에서 나온다. 계약이 분명할수록 무엇이 안정적인지 분명하다.</a:t>
            </a:r>
          </a:p>
          <a:p>
            <a:pPr lvl="0"/>
            <a:r>
              <a:rPr lang="ko-KR" sz="1200"/>
              <a:t>"05. 구조적 경계와 의존성"의 안정된 의존 원칙(SDP)과 같은 생각을 클래스 수준에서 본 것이다.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Craig Larman, *Applying UML and Patterns*, 3rd ed.(2004), Chapter 25 "GRASP: More Objects with Responsibilities"(§25.1 Polymorphism, §25.2 Pure Fabrication, §25.3 Indirection, §25.4 Protected Variations) 원문 확인. 해법 열은 각 원칙의 Solution을 줄여 옮긴 것이다(요약).</a:t>
            </a:r>
          </a:p>
          <a:p>
            <a:pPr lvl="0"/>
            <a:r>
              <a:rPr lang="ko-KR" sz="1200"/>
              <a:t>순수 가공의 해법 — 도메인 개념을 나타내지 않는 인위적인 클래스에 응집도 높은 책임 묶음을 두어 높은 응집·낮은 결합·재사용을 얻는다. 이 과정의 연동·서비스·저장소가 모두 순수 가공이다. Larman은 GoF의 어댑터·전략 등 대부분의 설계 패턴이 순수 가공이라고 말한다.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Martin, "Design Principles and Design Patterns"(2000), The Open Closed Principle 원문 확인. 같은 절은 이 원칙이 Bertrand Meyer의 연구에서 나왔고, "abstraction is the key to the OCP"라고 말한다.</a:t>
            </a:r>
          </a:p>
          <a:p>
            <a:pPr lvl="0"/>
            <a:r>
              <a:rPr lang="ko-KR" sz="1200"/>
              <a:t>모든 모듈을 모든 변경에 닫을 수는 없다. 어떤 변경에 닫을지 고르는 것이 설계다 — 「14. OCP와 보호된 변이」.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"Open-Closed Principle" 원문 확인. 같은 곳은 OCP가 보호된 변이·정보 은닉과 본질적으로 같다고 말하고, "닫혀 있다"는 클라이언트가 영향을 받지 않는다는 뜻이라고 설명한다.</a:t>
            </a:r>
          </a:p>
          <a:p>
            <a:pPr lvl="0"/>
            <a:r>
              <a:rPr lang="ko-KR" sz="1200"/>
              <a:t>정보 은닉은 "07. 책임·협력·계약"의 「13. 정보 은닉」, 변경 이유에 따른 경계 판단은 "05. 구조적 경계와 의존성"의 「07. 경계 후보」에서 다뤘다.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"Protected Variations" 원문 확인. 같은 곳은 "인터페이스"를 자바 인터페이스만이 아니라 넓은 뜻의 접근 창구(access view)로 쓴다고 주석을 단다. 계약이 분명한 메서드도 안정된 인터페이스다.</a:t>
            </a:r>
          </a:p>
          <a:p>
            <a:pPr lvl="0"/>
            <a:r>
              <a:rPr lang="ko-KR" sz="1200"/>
              <a:t>보호된 변이는 GRASP의 변화 대응 원칙 중 중심이다(「12. GRASP 변화 대응」). 이어지는 다형성·간접화는 보호된 변이를 이루는 수단이다.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Venners, ["Design Principles from Design Patterns — A Conversation with Erich Gamma, Part III"](https://www.artima.com/articles/design-principles-from-design-patterns)(Artima, 2005-06-06) 원문 확인. GoF 책의 원칙 "구현이 아니라 인터페이스에 맞춰 프로그래밍하라"를 저자가 설명한 대목이다.</a:t>
            </a:r>
          </a:p>
          <a:p>
            <a:pPr lvl="0"/>
            <a:r>
              <a:rPr lang="ko-KR" sz="1200"/>
              <a:t>DIP("07. 책임·협력·계약")가 의존의 방향을 말한다면, 여기서는 인터페이스가 변이를 허용하는 쪽을 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§25.1 "Polymorphism" 원문 확인. 같은 곳의 따름정리는 "객체의 타입을 검사해 조건문으로 대안을 고르지 말라"다 — 「35. 잘못된 관행 — 타입 검사 분기」.</a:t>
            </a:r>
          </a:p>
          <a:p>
            <a:pPr lvl="0"/>
            <a:r>
              <a:rPr lang="ko-KR" sz="1200"/>
              <a:t>같은 곳은 추측만으로 인터페이스와 다형성을 만드는 것을 금기 사항(contraindication)으로 든다. 변이가 즉각적이거나 매우 그럴듯할 때만 합리적이다.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§25.3 "Indirection" 원문 확인. 같은 곳은 간접화가 낮은 결합을 지원하고, 많은 GoF 패턴(어댑터·퍼사드·옵서버 등)이 간접화의 예라고 한다.</a:t>
            </a:r>
          </a:p>
          <a:p>
            <a:pPr lvl="0"/>
            <a:r>
              <a:rPr lang="ko-KR" sz="1200"/>
              <a:t>간접화는 층을 늘린다. 층이 결합을 줄이지 못하면 비용만 는다 — 「36. 잘못된 관행 — 패턴 과잉」.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Venners, 2005, 같은 인터뷰 원문 확인. GoF의 원칙 "클래스 상속보다 객체 합성을 선호하라"의 설명이다. 같은 곳에서 Gamma는 상속이 하위 클래스가 문맥을 가정하기 쉬워 깨지기 쉽다고 말한다.</a:t>
            </a:r>
          </a:p>
          <a:p>
            <a:pPr lvl="0"/>
            <a:r>
              <a:rPr lang="ko-KR" sz="1200"/>
              <a:t>이 세션의 Delivery는 연동을 생성자로 받아 합성한다. 대행사를 바꾸려고 Delivery를 상속하지 않았다.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Larman, 3rd ed.(2004), §25.4 "Structure-Hiding Designs" 원문 확인. "낯선 객체에게 말하지 말라"(디미터 법칙)는 보호된 변이의 특수한 경우이며, 구조 변경이라는 흔한 불안정으로부터 보호한다.</a:t>
            </a:r>
          </a:p>
          <a:p>
            <a:pPr lvl="0"/>
            <a:r>
              <a:rPr lang="ko-KR" sz="1200"/>
              <a:t>"07. 책임·협력·계약"의 「40. 잘못된 관행 — 묻고 또 묻기」와 같은 판단을 변화 대응 관점에서 본 것이다.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기계라 한글이다("04. 동적 모델 — 상호작용과 상태"의 「08. 상태 기계 다이어그램」의 「주문 상태 기계」에 전이 하나를 더했다). 배송 완료는 생략했다.</a:t>
            </a:r>
          </a:p>
          <a:p>
            <a:pPr lvl="0"/>
            <a:r>
              <a:rPr lang="ko-KR" sz="1200"/>
              <a:t>규칙이 바뀌면 규칙의 주인을 고친다. OCP를 지키려고 규칙을 전략 객체로 빼는 것은 이 압력에 비해 과하다(「36. 잘못된 관행 — 패턴 과잉」).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시스템마다 연동 경계를 하나 둔다는 "05. 구조적 경계와 의존성"의 결정대로 새 패키지를 만들었다. 이름은 용어집에 더했다(당일 배송 연동 SameDayDeliveryAdapter).</a:t>
            </a:r>
          </a:p>
          <a:p>
            <a:pPr lvl="0"/>
            <a:r>
              <a:rPr lang="ko-KR" sz="1200"/>
              <a:t>당일 배송 대행사의 형식(cancelPickup, OUT_FOR_DELIVERY)은 교육용 가정이다.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요구를 확인하지 않고 설계에서 부분 취소를 "예상해" 일반화하는 것이 「33. 잘못된 관행 — 추측성 일반화」다.</a:t>
            </a:r>
          </a:p>
          <a:p>
            <a:pPr lvl="0"/>
            <a:r>
              <a:rPr lang="ko-KR" sz="1200"/>
              <a:t>분석으로 되돌아가는 것은 실패가 아니다. "06. 분석 모델에서 설계 모델로"의 되돌림과 같은 흐름이다.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원출처는 Kent Beck의 트윗(2012-09-25)이다. 트윗 본문은 직접 확인하지 못했다(www). 재인용처: Martin Fowler, ["An example of preparatory refactoring"](https://martinfowler.com/articles/preparatory-refactoring-example.html)(2015-01-05)에서 이 문구를 확인했다.</a:t>
            </a:r>
          </a:p>
          <a:p>
            <a:pPr lvl="0"/>
            <a:r>
              <a:rPr lang="ko-KR" sz="1200"/>
              <a:t>①은 리팩터링이다 — 동작을 바꾸지 않으므로 기존 테스트가 안전망이다. 리팩터링의 실천은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 Fowler, ["Yagni"](https://martinfowler.com/bliki/Yagni.html), 2015-05-26 원문 확인. YAGNI는 익스트림 프로그래밍(XP)에서 나온 말이다.</a:t>
            </a:r>
          </a:p>
          <a:p>
            <a:pPr lvl="0"/>
            <a:r>
              <a:rPr lang="ko-KR" sz="1200"/>
              <a:t>좋은 책임 배치·계약·테스트는 추정한 기능이 아니다. 그것은 모든 변경을 싸게 만드는 투자다.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*Design Patterns*(Gamma·Helm·Johnson·Vlissides, 1994)의 본문은 확인하지 못했다(www). 재인용처: Ray Toal, ["Design Patterns"](https://cs.lmu.edu/~ray/notes/designpatterns/)(LMU 강의 노트)에서 정의의 문구를 확인했다.</a:t>
            </a:r>
          </a:p>
          <a:p>
            <a:pPr lvl="0"/>
            <a:r>
              <a:rPr lang="ko-KR" sz="1200"/>
              <a:t>OrderNotice는 옵서버의 구독 목록 없이 받는 쪽 하나에 알리는 단순한 형태다. 패턴 이름은 구조의 닮음을 말하는 어휘이지 구현 규격이 아니다.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어댑터는 간접화·다형성·보호된 변이를 한 구조로 묶은 것이다(「29. 패턴과 원칙」).</a:t>
            </a:r>
          </a:p>
          <a:p>
            <a:pPr lvl="0"/>
            <a:r>
              <a:rPr lang="ko-KR" sz="1200"/>
              <a:t>역할 이름(클라이언트·목표·어댑터·적응 대상)은 GoF의 구성 요소 이름을 풀어 쓴 것이다.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후보 설계다(코드에 없음). RefundPolicy·FullRefund·PartialRefund는 부분 취소가 확정될 때 용어집에 더할 이름이다.</a:t>
            </a:r>
          </a:p>
          <a:p>
            <a:pPr lvl="0"/>
            <a:r>
              <a:rPr lang="ko-KR" sz="1200"/>
              <a:t>정책이 하나일 때 전략을 만들면 「36. 잘못된 관행 — 패턴 과잉」이다. 정책이 둘이 되는 순간이 「24. 변경을 쉽게」의 첫 단계다.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Larman은 보호된 변이를 여러 패턴과 원칙의 밑바탕이 되는 원리로 설명한다(3rd ed., §25.4). 패턴의 이름보다 그것이 무엇을 보호하는지를 먼저 묻는다.</a:t>
            </a:r>
          </a:p>
          <a:p>
            <a:pPr lvl="0"/>
            <a:r>
              <a:rPr lang="ko-KR" sz="1200"/>
              <a:t>GoF 카탈로그를 완주하는 것은 이 과정의 범위가 아니다(과정 설계의 Non-scope).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설계의 상태 전이(enum 값과 메서드)라 영문이다. 분석의 상태 기계는 「21. 규칙의 국소화」에 있다.</a:t>
            </a:r>
          </a:p>
          <a:p>
            <a:pPr lvl="0"/>
            <a:r>
              <a:rPr lang="ko-KR" sz="1200"/>
              <a:t>코드는 code/s08/의 원본에서 발췌했으며, 컴파일·실행해 확인한다. 결제 완료의 취소 부분은 "07. 책임·협력·계약"과 같다.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연동은 같은 약속을 실현하지만 외부 형식은 전혀 다르다(STOP·IN_TRANSIT vs cancelPickup·OUT_FOR_DELIVERY). 다름은 연동 안에 갇힌다.</a:t>
            </a:r>
          </a:p>
          <a:p>
            <a:pPr lvl="0"/>
            <a:r>
              <a:rPr lang="ko-KR" sz="1200"/>
              <a:t>새 연동도 "07. 책임·협력·계약"의 LSP를 지켜야 한다 — 출고 중단을 요청할 수 있으면 참, 아니면 거짓. 다른 조건을 덧붙이지 않는다.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실행: javac -encoding UTF-8 -d out $(find . -name "*.java") &amp;&amp; java -cp out test.ChangeTest. 테스트는 업무 패키지가 어떤 연동도 import하지 않는지도 확인한다.</a:t>
            </a:r>
          </a:p>
          <a:p>
            <a:pPr lvl="0"/>
            <a:r>
              <a:rPr lang="ko-KR" sz="1200"/>
              <a:t>결과를 먼저 예측하게 한다: 당일 배송 주문을 취소하면 요청은 어떤 순서로 기록되는가? 환불은 누가 요청하는가?</a:t>
            </a:r>
          </a:p>
          <a:p>
            <a:pPr lvl="0"/>
            <a:r>
              <a:rPr lang="ko-KR" sz="1200"/>
              <a:t>코드가 보장하지 않는 것 — 배송마다 대행사를 고르는 규칙, 부분 취소. 이 둘은 이 세션의 범위 밖이다.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곳에서 Larman은 진화 지점의 유연성을 위해 스크립트 언어를 넣었다가 복잡하고 비효율적이라 결국 걷어낸 사례를 든다.</a:t>
            </a:r>
          </a:p>
          <a:p>
            <a:pPr lvl="0"/>
            <a:r>
              <a:rPr lang="ko-KR" sz="1200"/>
              <a:t>추측성 일반화는 "07. 책임·협력·계약"의 원칙 과잉과 짝이다. 원칙 과잉은 구조를, 추측성 일반화는 기능을 미리 만든다.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흩어진 변경은 "산탄총 수술(Shotgun Surgery)"로도 불린다. 원인은 대개 책임 배치("07. 책임·협력·계약")나 경계("05. 구조적 경계와 의존성")에 있다.</a:t>
            </a:r>
          </a:p>
          <a:p>
            <a:pPr lvl="0"/>
            <a:r>
              <a:rPr lang="ko-KR" sz="1200"/>
              <a:t>파급 분석 표(「07. 결제 전 취소의 파급」·「08. 당일 배송의 파급」)에서 "바뀐다"가 여러 줄이면 이 관행을 의심한다.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Larman의 다형성 따름정리("타입을 검사해 조건문으로 대안을 고르지 말라", 3rd ed., §25.1)가 근거다.</a:t>
            </a:r>
          </a:p>
          <a:p>
            <a:pPr lvl="0"/>
            <a:r>
              <a:rPr lang="ko-KR" sz="1200"/>
              <a:t>상태 값에 따른 분기(if (status == PAID))는 규칙이 한 곳(Order)에 있으면 괜찮다. 문제는 같은 분기가 여러 곳에 반복되는 것이다.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패턴은 변경 압력의 답이다. 압력이 없는데 패턴을 쓰면 읽는 사람은 "무엇이 바뀌길래?"를 찾다 헤맨다.</a:t>
            </a:r>
          </a:p>
          <a:p>
            <a:pPr lvl="0"/>
            <a:r>
              <a:rPr lang="ko-KR" sz="1200"/>
              <a:t>상태 패턴은 상태마다 행위가 크게 다르고 상태가 자주 늘 때 후보다. 이 과정의 주문 상태는 그렇지 않다.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여러 대안을 비용·품질·trade-off로 비교해 고르는 일은 "09. 설계 대안 평가"에서 한다.</a:t>
            </a:r>
          </a:p>
          <a:p>
            <a:pPr lvl="0"/>
            <a:r>
              <a:rPr lang="ko-KR" sz="1200"/>
              <a:t>과정의 기본 원칙 KISS·YAGNI와 같은 판단이다. 단, 바꾸기 쉬운 구조를 유지하는 노력은 YAGNI가 아니다(「25. YAGNI의 범위」).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두 요청을 모두 추상화하거나(결제 수단마다 클래스), 반대로 요청 B를 if (주기 종류 == 매월)로 처리하기 쉽다.</a:t>
            </a:r>
          </a:p>
          <a:p>
            <a:pPr lvl="0"/>
            <a:r>
              <a:rPr lang="ko-KR" sz="1200"/>
              <a:t>요청 A는 "포인트도 결제 시스템이 처리한다"는 전제 때문에 새 연동이 필요 없다. 전제가 다르면(별도 포인트 시스템) 판단도 달라진다 — 그 차이를 토론하게 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판단(부분 취소를 지금 일반화하지 않는다, 결제 수단마다 클래스를 만들지 않는다)은 다음 세션에서 대안을 비교해 정당화한다.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A에서 결제 수단마다 클래스를 만들지 않은 것이 점검 항목 5의 답이다. 결제의 행위는 결제 수단에 따라 달라지지 않고, 요청의 형식만 연동에서 달라진다.</a:t>
            </a:r>
          </a:p>
          <a:p>
            <a:pPr lvl="0"/>
            <a:r>
              <a:rPr lang="ko-KR" sz="1200"/>
              <a:t>수강생의 표가 달라도 바뀌는 곳이 좁고 그 이유를 설명하면 맞다.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매월 ○일을 1~28일로 제한한 것은 기존 R1의 교육용 가정을 따른 것이다(29~31일이 없는 달의 처리를 피한다).</a:t>
            </a:r>
          </a:p>
          <a:p>
            <a:pPr lvl="0"/>
            <a:r>
              <a:rPr lang="ko-KR" sz="1200"/>
              <a:t>DeliveryCycle은 값처럼 쓰이는 작은 객체다. 주기 규칙(1~28)은 각 구현의 생성자에서 검사한다.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DeliveryCycle은 변이 지점(두 종류가 실제로 있다)이라 인터페이스로 두었고, PaymentMethod는 값이 하나 늘었을 뿐이라 enum 그대로다.</a:t>
            </a:r>
          </a:p>
          <a:p>
            <a:pPr lvl="0"/>
            <a:r>
              <a:rPr lang="ko-KR" sz="1200"/>
              <a:t>결제·배송 요청의 약속과 서비스·저장소는 바뀌지 않아 생략했다(실습 7의 설계 클래스 다이어그램 (안)).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요청은 설계만 바꾸지 않는다. 요구(R1)와 속성 도메인이 먼저 바뀌고, 설계는 그 의미를 따른다 — 「23. 계약을 바꾸는 변경」과 같은 순서다.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44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추측성 일반화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흩어진 변경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타입 검사 분기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패턴 과잉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실제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흔들리는 곳을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요청을 적용해 책임·계약·협력으로 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진화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구분하고, 흔들리지 않을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변이 국소화의 목표를 정의한다.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GRASP의 변화 대응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(다형성·간접화·순수 가공)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합성·인터페이스를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선택적으로 적용한다.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문제와 해결 구조를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 어휘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(어댑터·전략)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추측성 일반화·흩어진 변경·타입 검사 분기·패턴 과잉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설계의 품질은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변경이 올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드러난다. 앞 세션의 책임·계약·약속이 변경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가두는지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"07. 책임·협력·계약"의 계약과 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(배송·결제 시스템, 통보)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요청별 파급 분석, 국소화한 설계와 코드, 변경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3828008"/>
            <a:ext cx="6223000" cy="80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예상 가능한 모든 변이를 추상화하는 것이 아니라,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압력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(change pressure)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국소화하는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"전문 설계자는 통찰로 고른다. 변경 비용과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가능성을 저울질해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단순하고 깨지기 쉬운 설계를 택하기도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"Expert designers choose with insight; perhaps a simple and brittle design whose cost of change is balanced against its likelihood."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추상화는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코드를 늘리고 읽기를 어렵게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보호는 투자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변경이 실제로 오는 곳에서만 회수된다.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42506" y="1842998"/>
          <a:ext cx="76454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57378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확정된 요구, 이미 있는 변형, 반복된 변경 이력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"나중에 필요할 것 같다"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배송 대행사 계약이 체결됐다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언젠가 결제 대행사가 열 개가 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국소화한다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단순하게 두고 관찰한다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설계를 바꾸라고 요구하는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추측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(언젠가 바뀔지 모른다)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구분한다.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압력의 출처는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요구·외부 시스템·규칙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기술 유행은 압력이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7976" y="1842998"/>
          <a:ext cx="6474460" cy="3873500"/>
        </p:xfrm>
        <a:graphic>
          <a:graphicData uri="http://schemas.openxmlformats.org/drawingml/2006/table">
            <a:tbl>
              <a:tblPr/>
              <a:tblGrid>
                <a:gridCol w="1338580"/>
                <a:gridCol w="354584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 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 주문도 취소할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당일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대행사를 추가한다(배송 시스템이 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부분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일부만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주문 사례에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적용한다. 성격이 서로 다르다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규칙의 변경, 외부의 변이, 계약의 변경.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요청은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결제 전 취소는 앞 세션들이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 규칙이 확정된 경우다.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한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곳을 바꾸게 만드는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연쇄다. 변경 요청마다 바뀌는 곳과 그대로인 곳을 적어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"경직성은 단순한 변경조차 어려운 성질이다.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변경이 의존하는 모듈로 연쇄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일으킨다"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"Rigidity is the tendency for software to be difficult to change, even in simple ways. Every change causes a cascade of subsequent changes in dependent modules."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요청을 한 문장의 요구로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바뀌어야 할 클래스·계약·테스트를 찾는다.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그대로인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표로 적는다.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파급이 넓으면 그 원인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(책임의 위치, 의존)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0446" y="1842998"/>
          <a:ext cx="5049520" cy="3873500"/>
        </p:xfrm>
        <a:graphic>
          <a:graphicData uri="http://schemas.openxmlformats.org/drawingml/2006/table">
            <a:tbl>
              <a:tblPr/>
              <a:tblGrid>
                <a:gridCol w="1645920"/>
                <a:gridCol w="94742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결제대기·취소됨 값이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요청하지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요청이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취소 규칙과 상태 전이를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이미 변경을 가두었다. 이 변경에는 새 추상화가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1842998"/>
          <a:ext cx="608330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10871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형식을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대행사와 무관하다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의존한다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조립(누가 어느 연동을 쓰는가)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대행사를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더하는 것으로 끝난다. 배송 경계가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소유하고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외부의 변이를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 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가두었다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이것이 보호된 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(「15. 보호된 변이」)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2246" y="1842998"/>
          <a:ext cx="672592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94742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항목을 받아야 한다, 상태가 "일부 취소"를 표현해야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 상태가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금액이 결제 금액보다 작다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출고를 중단한다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"주문을 취소한다"의 입력과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바꾼다. 취소의 대상·결과가 달라져 여러 객체와 외부 약속까지 번진다.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넓은 것은 설계가 나빠서가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바뀌었기 때문이다. 이런 변경은 분석부터 다시 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3350174"/>
          <a:ext cx="59715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282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대행사가 둘(변경 요청 ②)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보호한다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진화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대행사가 늘어날지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약속만 두고 더 일반화하지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88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변경이 올 수 있는 곳은 둘로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(변이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(진화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"변이 지점 — 기존 시스템이나 요구에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"variation point—Variations in the existing, current system or requirements"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"진화 지점 — 앞으로 생길 수 있지만 현재 요구에는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추측성 변이 지점"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"evolution point—Speculative points of variation that may arise in the future, but which are not present in the existing requirements."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7526" y="1842998"/>
          <a:ext cx="605536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156210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책임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 ①·②에서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요청할 수 있다는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그대로(구현만 늘었다)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주문만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변이 지점을 찾으면 그 둘레의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보인다. 안정된 책임은 변경 요청이 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하는 의미다.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안정된 책임을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약속과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드러내면, 변이는 그 뒤에서 자유롭게 늘어난다.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1842998"/>
          <a:ext cx="70027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981200"/>
                <a:gridCol w="237236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Protected Variations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둘레에 안정된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Polymorphism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행위를 그 타입들에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연동 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Indirection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중재 객체를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순수 가공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Pure Fabrication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밖 가공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대응에는 GRASP의 나머지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모두 변이가 다른 요소로 번지지 않게 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이룬다.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세션의 다섯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(정보 전문가·생성자·컨트롤러·높은 응집도·낮은 결합도)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책임의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정했다면, 이 넷은 그 자리를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변경으로부터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개방·폐쇄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(Open-Closed Principle, OCP)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한다는 원칙이다. 새 동작을 더할 때 기존 코드를 고치지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module should be open for extension but closed for modification."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OCP를 지켰다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연동을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더했을 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고치지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OCP의 대상이 아니다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바뀌었으니 규칙의 주인을 고친다.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36816" y="2801048"/>
          <a:ext cx="72567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3350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OCP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변경에 이 모듈이 닫혀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Order는 대행사 추가에 닫혀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어디가 흔들리고, 무엇으로 감싸는가?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대행사를 DeliveryGateway으로 감싼다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은닉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바뀌기 쉬운 결정을 어디에 감추는가?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대행사의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OCP와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같은 원칙의 두 표현이다. OCP는 "닫힌다"는 결과를, 보호된 변이는 "어디를 보호할지"를 강조한다.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"OCP와 보호된 변이는 본질적으로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원칙의 두 표현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강조점이 다를 뿐이다 — 변이 지점과 진화 지점에서의 보호"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"OCP and PV are essentially two expressions of the same principle, with different emphasis: protection at variation and evolution points."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2801048"/>
          <a:ext cx="47142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56210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불안정한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인터페이스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통보를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(Protected Variations, PV)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변이나 불안정이 예측되는 지점을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두는 책임 배정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"예측된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변이나 불안정의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만드는 책임을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"Identify points of predicted variation or instability; assign responsibilities to create a stable interface around them."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의존하면 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보호된 변이의 가장 흔한 수단이다.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"인터페이스에만 의존하면 구현에서 분리된다. 구현은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그것이 건강한 의존 관계다"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"Once you depend on interfaces only, you're decoupled from the implementation. That means the implementation can vary, and that's a healthy dependency relationship."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2005]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인터페이스는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쓰는 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필요로 만들고, 쓰는 쪽이 소유한다(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에).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이거나 곧 둘이 될 때 만든다. 테스트의 가짜 구현도 구현이다.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6295" y="2801048"/>
          <a:ext cx="7957820" cy="3873500"/>
        </p:xfrm>
        <a:graphic>
          <a:graphicData uri="http://schemas.openxmlformats.org/drawingml/2006/table">
            <a:tbl>
              <a:tblPr/>
              <a:tblGrid>
                <a:gridCol w="43840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(대행사 == 기존) ... else if (대행사 == 당일) ...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늘 때마다 모든 분기를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(Polymorphism)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타입에 따라 달라지는 행위를, 조건문이 아니라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타입들의 같은 이름 오퍼레이션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맡기는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"관련된 대안이나 행위가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타입에 따라 달라지면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다형적 오퍼레이션으로 그 행위의 책임을 행위가 달라지는 타입에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related alternatives or behaviors vary by type (class), assign responsibility for the behavior—using polymorphic operations—to the types for which the behavior varies."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801048"/>
          <a:ext cx="700532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2372360"/>
                <a:gridCol w="2484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중재자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없었다면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↔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Delivery가 대행사 형식을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연동·화면 ↔ Order와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저장소를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간접화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(Indirection)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사이에 중재자를 두는 원칙이다. 연동이 대표적인 중재자다.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"다른 구성 요소들이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사이를 중재하는 중간 객체에 책임을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"Assign the responsibility to an intermediate object to mediate between other components or services so that they are not directly coupled."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5" y="2801048"/>
          <a:ext cx="7172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870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상속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바꾸는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클래스를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객체를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상위 클래스의 내부에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 extends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new Delivery(번호, sameDayAdapter)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작은 객체를 큰 객체에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끼워 넣어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행위를 바꾸는 방법이다. 상속보다 결합이 약하고, 실행 중에도 바꿀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"합성은 더 좋은 성질이 있다. 큰 것에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것을 끼워 넣는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것만으로 결합이 줄어든다"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"Composition has a nicer property. The coupling is reduced by just having some smaller things you plug into something bigger."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2005]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3909060"/>
                <a:gridCol w="4396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드러낸 호출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숨긴 호출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order.getDelivery().getNumber()로 대행사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안에서 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배송의 구조가 바뀌면 호출자가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내부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변이다. 먼 객체의 구조를 따라가며 메시지를 보내면, 구조가 바뀔 때 호출자가 함께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0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가까운 협력자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에게만 메시지를 보낸다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자기 자신, 매개변수, 자기 속성, 메서드에서 만든 객체.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규칙의 주인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고친다. 분석의 상태 기계에도 확정된 전이를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 → 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더해졌다. 외부 요청은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기계, 명세서의 대안 흐름 1a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(취소)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시스템 오퍼레이션 계약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688731" y="4006644"/>
            <a:ext cx="7766538" cy="1436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0525" y="4565194"/>
          <a:ext cx="630936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4160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패키지 — 연동과 대행사 형식(SameDayDeliveryApi)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연동을 골라 Delivery에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약속을 실현하는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더한다. 배송 경계와 주문은 그대로다.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777311" y="1842998"/>
            <a:ext cx="5575788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계약과 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바꾼다. 이런 변경은 설계 기법으로 가두려 하지 않고, 분석부터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취소의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 시작 뒤에도 가능한가? 환불 금액은?)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기계에 부분 취소 상태를, 도메인 모델에 취소 항목을 더할지 정한다.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계약과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Order.cancel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계약을 새로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쉽게 만든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부분 취소의 환불 금액 계산이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갈라진다면, 그때 전략 패턴이 후보가 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전략」)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2845" y="2392124"/>
          <a:ext cx="7284720" cy="3873500"/>
        </p:xfrm>
        <a:graphic>
          <a:graphicData uri="http://schemas.openxmlformats.org/drawingml/2006/table">
            <a:tbl>
              <a:tblPr/>
              <a:tblGrid>
                <a:gridCol w="1254760"/>
                <a:gridCol w="39370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변경을 쉽게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계산을 Refund로 모은다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대상을 항목 목록으로 받는다(전체 = 모든 항목)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쉬운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받는 경우를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계약의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변경은 두 단계로 한다. 먼저 동작을 바꾸지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구조를 정리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변경을 쉽게 만들고, 그다음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쉬운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만들고, 그다음 쉬운 변경을 하라"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"make the change easy, then make the easy change"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2012,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5356" y="2801048"/>
          <a:ext cx="521970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않는다(YAGNI)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한다(바꾸기 쉽게)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없는 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규칙을 Order 한 곳에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 열 개를 위한 선택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클래스에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변경을 안전하게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만들지 말라는 것이지,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유지하지 말라는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위해 넣는 능력에만 적용되며, 소프트웨어를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노력에는 적용되지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"Yagni only applies to capabilities built into the software to support a presumptive feature, it does not apply to effort to make the software easier to modify."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[Fowler 2015a]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2801048"/>
          <a:ext cx="773176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56210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문제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형식이 우리 약속과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DeliveryAdapter, 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알고리즘을 바꿔 끼우고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전략(Strategy)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환불 금액 정책(후보)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알려 받고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옵서버(Observer)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OrderNotice(통보 약속)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반복되는 설계 문제와 그 해결 구조에 붙인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이름이 있으면 설계를 짧고 정확하게 말할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"특정한 맥락의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일반적인 설계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풀도록 맞춘, 소통하는 객체와 클래스의 기술"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"descriptions of communicating objects and classes that are customized to solve a general design problem in a particular context."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외 1994,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90635" y="3700617"/>
          <a:ext cx="4549140" cy="3873500"/>
        </p:xfrm>
        <a:graphic>
          <a:graphicData uri="http://schemas.openxmlformats.org/drawingml/2006/table">
            <a:tbl>
              <a:tblPr/>
              <a:tblGrid>
                <a:gridCol w="1003300"/>
                <a:gridCol w="3545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클라이언트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적응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 SameDayDeliveryApi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어댑터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우리가 원하는 약속과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외부를, 약속에 맞게 옮기는 패턴이다. 이 과정의 연동이 어댑터다.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1879888" y="1842998"/>
            <a:ext cx="5370635" cy="1756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바꿔 끼울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알고리즘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객체로 빼고, 쓰는 쪽은 약속에만 의존하게 하는 패턴이다. 알고리즘이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여럿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전액 환불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뿐이다. 전략은 부분 취소가 요구로 확정되고 환불 정책이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될 때의 후보다.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2491154" y="3176894"/>
            <a:ext cx="4161692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35086" y="1842998"/>
          <a:ext cx="44602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60600"/>
                <a:gridCol w="1310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실현하는 원칙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보호하는 변이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다형성, 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다형성, OCP, 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DIP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알림을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패턴은 원칙을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 것이다. 원칙을 모르고 패턴을 쓰면 문제가 없는 곳에 구조만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패턴을 고르는 순서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→ 변이 지점 → 원칙 → 패턴. 패턴에서 출발하지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대기이거나, 결제 완료이고 출고 중단이 수락된다.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결제 대기였으면 취소됨(외부 요청 없음).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         결제 완료였으면 취소 처리 중이 되고, 출고 중단과 환불을 이 순서로 요청했다.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OrderStatus.PENDING_PAYMENT)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transition(OrderStatus.PENDING_PAYMENT, OrderStatus.CANCELLED);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취소는 그대로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규칙의 변경은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규칙의 주인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결제 대기의 취소는 외부에 아무것도 요청하지 않는다.</a:t>
            </a:r>
          </a:p>
        </p:txBody>
      </p:sp>
      <p:pic>
        <p:nvPicPr>
          <p:cNvPr id="33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287096" y="1842998"/>
            <a:ext cx="656980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45918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@Override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boolean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requestDispatchStop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deliveryNumber)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api.cancelPickup(deliveryNumber);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당일 배송 대행사의 이벤트를 주문의 사건으로 옮긴다.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receiveEvent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eventName,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(eventName.equals("OUT_FOR_DELIVERY")) orderNotice.onDeliveryStarted(new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연동은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실현하고, 대행사의 형식을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안에서만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다룬다.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740269" y="1842998"/>
            <a:ext cx="3663462" cy="219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696534"/>
            <a:ext cx="8412480" cy="21945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1 — 결제 전 취소: 취소됨이 되고 외부에 아무것도 요청하지 않는다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pending = newOrder("O-1");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pending.cancel();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check(pending.status() == OrderStatus.CANCELLED &amp;&amp; requests.isEmpty());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 계약 확인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2 — 당일 배송 대행사: 새 연동만 더하고 주문·배송은 그대로 쓴다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requests.clear();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가짜 통보 약속 준비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sameDay = new SameDayDeliveryAdapter(id -&gt; { requests.add("픽업 취소 " + id); return true; }, fakeNotice);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fast = newOrder("O-3");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fast.onPaid(new Payment(new Money(2000), fakePayment), new Delivery("S-3", sameDay));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check(fast.status() == OrderStatus.CANCELLING);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check(requests.equals(List.of("픽업 취소 S-3", "환불 2000")));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바뀐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확인한다. 기존 테스트가 통과하는 것이 국소화의 증거다.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561731" y="1842998"/>
            <a:ext cx="8020538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잘못된 관행 — 추측성 일반화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5956" y="2801048"/>
          <a:ext cx="5778500" cy="3873500"/>
        </p:xfrm>
        <a:graphic>
          <a:graphicData uri="http://schemas.openxmlformats.org/drawingml/2006/table">
            <a:tbl>
              <a:tblPr/>
              <a:tblGrid>
                <a:gridCol w="332232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추측성 일반화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압력에 맞춘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 선택 프레임워크(대행사는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 약속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규칙을 설정 파일로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Order에, 바뀌면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확정되면 분석부터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올지 모르는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변경을 위해 지금 추상화·설정·확장 구조를 만든다. 비용은 지금 들고, 변경은 오지 않거나 다른 모양으로 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"진화 지점에 보호를 설계하는 비용이 단순한 설계를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고치는 비용보다 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cost of engineering protection at evolution points can be higher than reworking a simple design."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잘못된 관행 — 흩어진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6106" y="1842998"/>
          <a:ext cx="5918200" cy="3873500"/>
        </p:xfrm>
        <a:graphic>
          <a:graphicData uri="http://schemas.openxmlformats.org/drawingml/2006/table">
            <a:tbl>
              <a:tblPr/>
              <a:tblGrid>
                <a:gridCol w="39649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흩어진 변경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모은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 취소를 허용하려고 서비스 셋과 화면을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더하려고 Delivery·Order에 if를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코드를 쓰는 곳을 모두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코드는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하나가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클래스를 조금씩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고치게 만든다. 규칙이나 외부 형식이 여러 곳에 흩어져 있다는 신호다.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잘못된 관행 — 타입 검사 분기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473202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타입 검사 분기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(delivery.carrier() == SAME_DAY) sameDayApi.cancelPickup(...)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switch (결제 수단) { ... }이 여러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수단마다 구현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모든 switch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구현 하나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종류를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조건문으로 행위를 고른다. 종류가 늘 때마다 모든 분기를 찾아 고쳐야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잘못된 관행 — 패턴 과잉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96555" y="1842998"/>
          <a:ext cx="6337300" cy="3873500"/>
        </p:xfrm>
        <a:graphic>
          <a:graphicData uri="http://schemas.openxmlformats.org/drawingml/2006/table">
            <a:tbl>
              <a:tblPr/>
              <a:tblGrid>
                <a:gridCol w="3406140"/>
                <a:gridCol w="2931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 과잉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여섯 개를 상태 패턴의 클래스 여섯 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enum과 transition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정책 하나에 전략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 하나(정책이 둘이 될 때 전략)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하나에 팩토리·레지스트리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생성자로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패턴이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온다. 변이가 없는 곳에 전략·팩토리·상태 패턴을 넣어 층만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충분하다. 모든 변이를 미리 막으려 하지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변경은 확정된 요구·이미 있는 변형인가, 추측인가?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곳이 한 곳인가, 흩어지는가?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지점이면 안정된 약속 뒤에 두었는가?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바뀌지 않아야 할 계약이 테스트로 지켜지는가?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변경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구조를 정리한다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실습 —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7의 설계에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변경 요청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적용해 파급을 분석하고, 변이를 국소화하는 설계를 LLM과 만든 뒤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CRC·계약·정제된 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방법에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포인트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(포인트도 결제 시스템이 처리한다)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B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매월 ○일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(기존: 1~28일 간격)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설계에 변경 요청 A·B를 적용하면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바뀌는 클래스와 그대로인 클래스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써줘. 변이 지점인지 진화 지점인지도 판단해줘."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"파급을 가장 좁히는 설계를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그려줘. 필요한 곳에만 추상화하고, 이름은 용어집을 따라줘."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두 요청을 실제 압력으로 보고, 요청에 없는 변이는 추측으로 남겼는가?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A가 값 추가와 연동 형식에서 끝나는가?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B에서 주기 종류를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아니라 다형성으로 다루는가?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금액·만료일·확정 판단의 계약이 그대로인가?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변이가 없는 곳에 인터페이스·패턴을 더하지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새 타입·값의 이름을 용어집에 먼저 더했는가?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변경 영향 분석, 변이 설계, 설계 클래스 다이어그램. 설계 대안 평가의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설계의 파급을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만들었다.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변화 대응과 변이 설계의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변이가 아니라 실제 변경 압력을 국소화한다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그대로인 곳을 적어 경직성을 드러낸다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지점은 지금 보호하고, 진화 지점은 추측으로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OCP·보호된 변이·다형성·간접화·합성·구조 숨기기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어댑터·전략은 원칙을 구조로 옮긴 어휘. 압력에서 출발한다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추측성 일반화, 흩어진 변경, 타입 검사 분기, 패턴 과잉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09. 설계 대안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동일한 문제에 대한 여러 설계 대안을 change impact·품질·비용·trade-off 관점에서 비교하고 선택한다.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 영향 분석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91196" y="1842998"/>
          <a:ext cx="5748020" cy="3873500"/>
        </p:xfrm>
        <a:graphic>
          <a:graphicData uri="http://schemas.openxmlformats.org/drawingml/2006/table">
            <a:tbl>
              <a:tblPr/>
              <a:tblGrid>
                <a:gridCol w="1478280"/>
                <a:gridCol w="181356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A 포인트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B 매월 ○일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POINT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포인트 요청 형식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날짜 계산을 주기에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 간격과 매월 ○일 두 종류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 없음(값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A는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값과 연동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에서, 요청 B는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주기의 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끝나게 할 수 있다. B는 주기의 종류가 둘이 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변이 설계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주기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다음 배송일을 계산한다: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nextDate(from)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 간격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1~28일마다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 R1)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매월 ○일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매월 1~28일 중 하루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(요청 B)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배송 주기를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바꾼다. 정기배송은 주기에게 "다음 배송일"을 묻지 않고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생성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만료일까지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금액, 만료일, 결제·확정의 계약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방법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PaymentMethod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더한다.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PaymentAdapter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포인트 요청 형식을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주기의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종류만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약속 뒤로 보내고, 나머지는 그대로 두었다.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2715846" y="1681697"/>
            <a:ext cx="3712308" cy="437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변화 대응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 배송 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"1~28일 간격 또는 매월 1~28일 중 하루"로 고친다.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R5 결제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포인트를 더한다.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(타입)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일 간격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매월 ○일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포인트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변경을 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주기의 속성 도메인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일수에서 "일 간격 또는 매월 ○일"로 바꾼다.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R1·R5, 용어집, 속성 도메인. 설계 대안 평가의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 명세서의 예외 흐름 3a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(범위 벗어남)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문구.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45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49" baseType="lpstr">
      <vt:lpstr>맑은 고딕</vt:lpstr>
      <vt:lpstr>Arial</vt:lpstr>
      <vt:lpstr>Wingdings</vt:lpstr>
      <vt:lpstr>4_Office 테마</vt:lpstr>
      <vt:lpstr>08. 변화 대응과 변이 설계 목차 (1/2)</vt:lpstr>
      <vt:lpstr>08. 변화 대응과 변이 설계 목차 (2/2)</vt:lpstr>
      <vt:lpstr>01. 세션 목표</vt:lpstr>
      <vt:lpstr>02. 설계에서 변경으로</vt:lpstr>
      <vt:lpstr>03. 변화 대응은 판단이다</vt:lpstr>
      <vt:lpstr>04. 변경 압력</vt:lpstr>
      <vt:lpstr>05. 변경 요청</vt:lpstr>
      <vt:lpstr>06. 변경 파급</vt:lpstr>
      <vt:lpstr>07. 결제 전 취소의 파급</vt:lpstr>
      <vt:lpstr>08. 당일 배송의 파급</vt:lpstr>
      <vt:lpstr>09. 부분 취소의 파급</vt:lpstr>
      <vt:lpstr>10. 변이 지점과 진화 지점</vt:lpstr>
      <vt:lpstr>11. 안정된 책임</vt:lpstr>
      <vt:lpstr>12. GRASP 변화 대응</vt:lpstr>
      <vt:lpstr>13. OCP</vt:lpstr>
      <vt:lpstr>14. OCP와 보호된 변이</vt:lpstr>
      <vt:lpstr>15. 보호된 변이</vt:lpstr>
      <vt:lpstr>16. 인터페이스</vt:lpstr>
      <vt:lpstr>17. 다형성</vt:lpstr>
      <vt:lpstr>18. 간접화</vt:lpstr>
      <vt:lpstr>19. 합성</vt:lpstr>
      <vt:lpstr>20. 구조 숨기기</vt:lpstr>
      <vt:lpstr>21. 규칙의 국소화 상태 기계 다이어그램</vt:lpstr>
      <vt:lpstr>22. 새 연동의 추가 클래스 다이어그램</vt:lpstr>
      <vt:lpstr>23. 계약을 바꾸는 변경</vt:lpstr>
      <vt:lpstr>24. 변경을 쉽게</vt:lpstr>
      <vt:lpstr>25. YAGNI의 범위</vt:lpstr>
      <vt:lpstr>26. 패턴 어휘</vt:lpstr>
      <vt:lpstr>27. 어댑터 클래스 다이어그램</vt:lpstr>
      <vt:lpstr>28. 전략 클래스 다이어그램</vt:lpstr>
      <vt:lpstr>29. 패턴과 원칙</vt:lpstr>
      <vt:lpstr>30. 규칙 변경 코드 상태 기계 다이어그램</vt:lpstr>
      <vt:lpstr>31. 새 연동 코드 클래스 다이어그램</vt:lpstr>
      <vt:lpstr>32. 변경 테스트 시퀀스 다이어그램</vt:lpstr>
      <vt:lpstr>33. 잘못된 관행 — 추측성 일반화</vt:lpstr>
      <vt:lpstr>34. 잘못된 관행 — 흩어진 변경</vt:lpstr>
      <vt:lpstr>35. 잘못된 관행 — 타입 검사 분기</vt:lpstr>
      <vt:lpstr>36. 잘못된 관행 — 패턴 과잉</vt:lpstr>
      <vt:lpstr>37. 적정 변화 대응</vt:lpstr>
      <vt:lpstr>38. 실습 — 변화 대응</vt:lpstr>
      <vt:lpstr>39. 요약</vt:lpstr>
      <vt:lpstr>변경 영향 분석 (안) 별첨. 실습 답</vt:lpstr>
      <vt:lpstr>변이 설계 (안) 별첨. 실습 답</vt:lpstr>
      <vt:lpstr>설계 클래스 다이어그램 (안) 별첨. 실습 답</vt:lpstr>
      <vt:lpstr>변화 대응 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변화 대응과 변이 설계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