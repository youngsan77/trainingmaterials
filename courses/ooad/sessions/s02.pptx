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「53. 요구사항 검증」에서 검토와 사용 증거의 역할을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ISO/IEC/IEEE 29148:2018, 3.1.19 "requirement" — 표준 공식 미리보기(용어 절) 원문 확인(iTeh Standards 공개 미리보기). 원문의 용어 참조 번호 (3.1.7)·(3.1.6)은 생략했다.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시스템이 알리는 사건도 이벤트다(「22.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「32. AI 기반 소프트웨어공학」과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Requirements](https://www.craiglarman.com/wiki/downloads/applying_uml/larman-ch5-applying-evolutionary-requirements.pdf)를 근거로 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영역별 경우는 교육용 가정이다. 실제 프로젝트에서는 영역마다 누가 무엇을 아는지 먼저 확인한다.</a:t>
            </a:r>
          </a:p>
          <a:p>
            <a:pPr lvl="0"/>
            <a:r>
              <a:rPr lang="ko-KR" sz="1200"/>
              <a:t>정기배송 건너뛰기는 이 세션 실습(「57. 실습 — 모델로 바꾸기」)의 사례다.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서로 다른 분류의 추상화 수준을 억지로 일대일 대응시키지 않는다.</a:t>
            </a:r>
          </a:p>
          <a:p>
            <a:pPr lvl="0"/>
            <a:r>
              <a:rPr lang="ko-KR" sz="1200"/>
              <a:t>앞의 수준 목록은 사업·임무에서 시스템과 소프트웨어로 요구를 구체화하는 수업용 연결이다. ISO의 완전한 유형 목록으로 제시하지 않는다. 수준 간 요구 도출은 NASA [Systems Engineering Handbook, §4](https://www.nasa.gov/reference/4-0-system-design-processes/)의 이해관계자 기대→기술 요구 및 하위 수준 전개를 참조한다. IIBA의 네 유형과 해결책 요구의 하위 분류는 [The Business Analysis Standard, 4.4.2](https://www.iiba.org/knowledgehub/the-business-analysis-standard/4-implementing-business-analysis/4-4-understanding-requirements-and-designs/)에서 확인한다. 두 관점은 목적이 달라 일대일 대응시키지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ISO/IEC/IEEE 29148:2018, §5.2(개별 요구사항 및 요구사항 집합의 특성).</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OMG 정의 근거: OMG Unified Modeling Language 2.5.1(2017-12), §18.2.5.1 UseCase Description 원문 확인.</a:t>
            </a:r>
          </a:p>
          <a:p>
            <a:pPr lvl="0"/>
            <a:r>
              <a:rPr lang="ko-KR" sz="1200"/>
              <a:t>위 1992년 책의 문구는 Biddle 등의 논문에 재수록된 부분을 확인했다. 원서 페이지를 직접 확인하지 않았으므로 페이지 번호를 추정하지 않는다.</a:t>
            </a:r>
          </a:p>
          <a:p>
            <a:pPr lvl="0"/>
            <a:r>
              <a:rPr lang="ko-KR" sz="1200"/>
              <a:t>Jacobson은 [Use Cases — Yesterday, Today, and Tomorrow](https://web.archive.org/web/20221229212011id_/http://download.boulder.ibm.com/ibmdl/pub/software/dw/rationaledge/mar03/UseCases_TheRationalEdge_Mar2003.pdf), The Rational Edge, 2003-03, “How Many Use Cases Is Enough?”에서 특정 액터에게 측정 가능한 가치를 제공한다는 기준을 1994년에 추가했다고 직접 설명한다. 첨부 검토서의 1995년 책 문장 전체와 정확한 귀속은 이번 확인 자료로 확정하지 않았다.</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자료·기능 중심 분해가 쓸모없다는 뜻이 아니다. 자료 구조는 "03. 정적 모델 — 도메인 개념과 관계"에서 다루고, 유스케이스는 목표와 가치를 묻는 관점이다.</a:t>
            </a:r>
          </a:p>
          <a:p>
            <a:pPr lvl="0"/>
            <a:r>
              <a:rPr lang="ko-KR" sz="1200"/>
              <a:t>대안 흐름과 시스템 오퍼레이션은 「32. 유스케이스 상세화」와 「42. 시스템 이벤트와 오퍼레이션」에서 상세화한다.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Alistair Cockburn, *Writing Effective Use Cases*, pre-publication draft #3(2000-02-21, Addison-Wesley 2001 출간), Chapter 1. 같은 곳에서 유스케이스는 성능 요구·비즈니스 규칙·화면 설계·데이터 설명·상태 기계 행위·우선순위를 담지 않으며, 이들을 연결하는 허브 역할을 한다고 설명한다.</a:t>
            </a:r>
          </a:p>
          <a:p>
            <a:pPr lvl="0"/>
            <a:r>
              <a:rPr lang="ko-KR" sz="1200"/>
              <a:t>기능 분해도·DFD·CRUD 매트릭스 자체가 틀린 도구라는 뜻이 아니다. 각자의 질문에 쓰되 유스케이스의 단위로 옮기지 않는다.</a:t>
            </a:r>
          </a:p>
          <a:p>
            <a:pPr lvl="0"/>
            <a:r>
              <a:rPr lang="ko-KR" sz="1200"/>
              <a:t>DFD는 사건에 반응해 자료를 생성·변경(C·U)하는 처리가 중심이다. 모든 자료 접근을 CRUD로 채우는 것은 상세 설계의 점검 작업이며 요구의 출발점이 아니다.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절대적인 순차 절차가 아니다. 실제 분석에서는 필요한 만큼 앞뒤로 반복한다.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시스템은 장바구니, 주문의 성립과 상태, 배송지 변경, 취소, 그리고 외부 시스템과의 조정을 책임진다.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a:p>
            <a:pPr lvl="0"/>
            <a:r>
              <a:rPr lang="ko-KR" sz="1200"/>
              <a:t>시스템 안의 요소를 액터로 만드는 잘못은 「37. 잘못된 관행 — 시스템 관점·액터」에서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§18.1.3.1; Craig Larman, [Applying UML and Patterns, Chapter 6](https://www.craiglarman.com/wiki/downloads/applying_uml/larman-ch6-applying-evolutionary-use-cases.pdf), §6.6.</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질문에 모두 "예"여야 후보다. 하나라도 "아니요"면 기능 조각이거나 다른 시스템의 목표다.</a:t>
            </a:r>
          </a:p>
          <a:p>
            <a:pPr lvl="0"/>
            <a:r>
              <a:rPr lang="ko-KR" sz="1200"/>
              <a:t>경계 밖 후보는 「27. 유스케이스 다이어그램 — 초안」에서 그 시스템의 경계 안에 따로 그린다.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Alistair Cockburn, *Writing Effective Use Cases*, pre-publication draft #3(2000), Chapter 5 "Three Named Goal Levels". 사용자 목표는 업무 공학의 "기본 업무 프로세스"에 대응하며, 한 사람이 한 번 앉은 자리에서(몇 분) 마치는지를 보는 기준을 함께 제시한다.</a:t>
            </a:r>
          </a:p>
          <a:p>
            <a:pPr lvl="0"/>
            <a:r>
              <a:rPr lang="ko-KR" sz="1200"/>
              <a:t>「28. 유스케이스 명세서 템플릿」의 "수준" 항목은 이 구분을 적는다.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 경계 밖은 액터의 자리다.</a:t>
            </a:r>
          </a:p>
          <a:p>
            <a:pPr lvl="0"/>
            <a:r>
              <a:rPr lang="ko-KR" sz="1200"/>
              <a:t>유스케이스는 글로 쓰는 명세이고, 다이어그램과 관계는 유스케이스 작업에서 부수적이다. 액터–목표 목록으로 다이어그램을 간단히 그리고 시간은 명세서에 쓴다(요약: Craig Larman, [Applying UML and Patterns, Chapter 6](https://www.craiglarman.com/wiki/downloads/applying_uml/larman-ch6-applying-evolutionary-use-cases.pdf)).</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유스케이스에 모든 항목을 기계적으로 채우지 않는다.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남는다(「33. 유스케이스 다이어그램 — 상세화」의 포함 관계).</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방어 코딩 수준의 모든 예외를 유스케이스에 기록하지 않는다.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「44. 시스템 오퍼레이션과 계약」의 계약으로 상세화한다. 배송 완료 후의 반품은 이 유스케이스의 대안 흐름이 아니라 별도 유스케이스다(「35. 잘못된 관행 — CRUD 분할」).</a:t>
            </a:r>
          </a:p>
          <a:p>
            <a:pPr lvl="0"/>
            <a:r>
              <a:rPr lang="ko-KR" sz="1200"/>
              <a:t>번호·분기 표기는 Cockburn의 확장(extension) 표기 방식을 따른 수업용 형식이다.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Chapter 19 "Mistakes Fixed". 세 가지 실수는 이어지는 잘못된 관행 topic들의 출발점이다.</a:t>
            </a:r>
          </a:p>
          <a:p>
            <a:pPr lvl="0"/>
            <a:r>
              <a:rPr lang="ko-KR" sz="1200"/>
              <a:t>판단 질문은 「26. 유스케이스 수준」의 사용자 목표 기준이다.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「32.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정보공학의 DFD도 사건에 반응해 자료를 생성·변경(C·U)하는 처리가 중심이다. 모든 자료 접근을 CRUD로 채우는 일은 상세 설계의 점검 작업이지 요구의 출발점이 아니다.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"Reminders"의 단계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「33. 유스케이스 다이어그램 — 상세화」를 참조한다.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여기서는 SSD에 필요한 표기만 소개하고, 시퀀스 다이어그램의 정의와 전체 표기는 "04. 동적 모델 — 상호작용과 상태"에서 다룬다.</a:t>
            </a:r>
          </a:p>
          <a:p>
            <a:pPr lvl="0"/>
            <a:r>
              <a:rPr lang="ko-KR" sz="1200"/>
              <a:t>SSD는 Craig Larman의 *Applying UML and Patterns*에서 유스케이스와 오퍼레이션 계약을 잇는 산출물로 소개된 개념이다. 저장소 기준은 references/sw-engineering/larman/ssd.md를 따른다.</a:t>
            </a:r>
          </a:p>
          <a:p>
            <a:pPr lvl="0"/>
            <a:r>
              <a:rPr lang="ko-KR" sz="1200"/>
              <a:t>생명선 이름 :주문 시스템의 콜론은 "주문 시스템의 한 인스턴스"를 뜻한다.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「29. 기본 이벤트 흐름」·「32. 유스케이스 상세화」와 같다.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않았다(「29.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비동기 전달의 실제 방식(메시지 등)은 설계에서 정한다.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사전조건이 참인 호출의 정상 완료에서 사후조건이 성립한다는 계약 의미는 OMG [UML 2.5.1](https://www.omg.org/spec/UML/2.5.1/PDF), §9.6.3.1에 근거한다. 위 표는 수업용 시스템 수준 예시이며 표준 템플릿이 아니다.</a:t>
            </a:r>
          </a:p>
          <a:p>
            <a:pPr lvl="0"/>
            <a:r>
              <a:rPr lang="ko-KR" sz="1200"/>
              <a:t>유스케이스와 오퍼레이션 계약의 연결은 Craig Larman, [Applying UML and Patterns, Chapter 6](https://www.craiglarman.com/wiki/downloads/applying_uml/larman-ch6-applying-evolutionary-use-cases.pdf), Figure 6.1을 참조한다.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"04. 동적 모델 — 상호작용과 상태"의 「10. 계약의 정제」에서 작성한다.</a:t>
            </a:r>
          </a:p>
          <a:p>
            <a:pPr lvl="0"/>
            <a:r>
              <a:rPr lang="ko-KR" sz="1200"/>
              <a:t>결제 계약의 사후조건은 「43. 정제된 SSD」의 요청이 결제 이후 참인 상태로 바뀐 것이다.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예외 흐름에 먼저 쓰고 테스트를 더한다.</a:t>
            </a:r>
          </a:p>
          <a:p>
            <a:pPr lvl="0"/>
            <a:r>
              <a:rPr lang="ko-KR" sz="1200"/>
              <a:t>가짜 외부 시스템으로 확인하는 것은 "요청했다"까지다. 주문시스템구현은 설계 객체의 한 예이며 분석 모델로 역수입하지 않는다. 내부 책임은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"13. OOAD에서 전문영역으로 — Architecture · DDD · MSA"에서 다룬다.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문형보다 대화가 핵심이다. 카드는 대화를 시작하는 메모이고, 확인은 인수 조건이다(「50. 행위 주도 개발」).</a:t>
            </a:r>
          </a:p>
          <a:p>
            <a:pPr lvl="0"/>
            <a:r>
              <a:rPr lang="ko-KR" sz="1200"/>
              <a:t>예의 스토리는 「주문을 관리한다」의 대안 흐름 3a(배송지 변경)를 스토리 형식으로 쓴 것이다.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본다(「52. 유스케이스·사용자 스토리·BDD」).</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합의한 예는 그대로 실행되는 테스트가 된다. 결제 계약을 테스트로 옮긴 예는 「44. 시스템 오퍼레이션과 계약」에 있다.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쓴다(「50. 행위 주도 개발」의 배송지 변경 예).</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이 과정은 유스케이스로 목표와 경계를, 스토리로 반복의 단위를, BDD로 검증을 잇는다.</a:t>
            </a:r>
          </a:p>
          <a:p>
            <a:pPr lvl="0"/>
            <a:r>
              <a:rPr lang="ko-KR" sz="1200"/>
              <a:t>결제 계약을 테스트로 옮긴 「44. 시스템 오퍼레이션과 계약」이 BDD의 확인과 같은 역할을 한다.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변경이다("03. 정적 모델 — 도메인 개념과 관계"의 「55. 누락과 모순」).</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나온다(「44. 시스템 오퍼레이션과 계약」).</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장에서 이 세션의 전체 메시지를 닫는다. 이후 구현·검증·DevOps 단계에서도 이 피드백은 계속 이어진다.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시간 배분은 전체 SA 완성 후 정한다.</a:t>
            </a:r>
          </a:p>
          <a:p>
            <a:pPr lvl="0"/>
            <a:r>
              <a:rPr lang="ko-KR" sz="1200"/>
              <a:t>세부 검토 기준(충족한 결과 / 보완할 결과):</a:t>
            </a:r>
          </a:p>
          <a:p>
            <a:pPr lvl="1"/>
            <a:r>
              <a:rPr lang="ko-KR" sz="1200"/>
              <a:t>사실과 가정 — 주어진 네 조건과 추정한 고객 문제를 구분한다 / 버튼 요청만으로 불편 원인을 단정한다</a:t>
            </a:r>
          </a:p>
          <a:p>
            <a:pPr lvl="1"/>
            <a:r>
              <a:rPr lang="ko-KR" sz="1200"/>
              <a:t>목표와 해결책 — 건너뛰기를 정기배송 관리의 대안 흐름으로 두거나, 나눈다면 목표·시작 조건·성공 결과가 독립인 이유를 설명하고 버튼은 해결책 후보로 둔다 / 버튼이나 자료 조작 이름만으로 유스케이스를 나눈다</a:t>
            </a:r>
          </a:p>
          <a:p>
            <a:pPr lvl="1"/>
            <a:r>
              <a:rPr lang="ko-KR" sz="1200"/>
              <a:t>흐름과 규칙 — 성공 흐름에 의도·결과를 쓰고 48시간·연속 횟수는 규칙으로 분리한다 / 내부 조회·저장 순서를 흐름으로 쓴다</a:t>
            </a:r>
          </a:p>
          <a:p>
            <a:pPr lvl="1"/>
            <a:r>
              <a:rPr lang="ko-KR" sz="1200"/>
              <a:t>시스템 책임 — 건너뛰기 반영과 다음 배송일 확인을 외부 결과로 명시한다 / 책임 범위 없이 함수명·클래스부터 정한다</a:t>
            </a:r>
          </a:p>
          <a:p>
            <a:pPr lvl="1"/>
            <a:r>
              <a:rPr lang="ko-KR" sz="1200"/>
              <a:t>미확인 정책 — 승인된 결제 처리, 기준 시각·경계, 연속 횟수 계산을 질문으로 남긴다 / 환불·수수료·횟수 초기화 정책을 근거 없이 만든다</a:t>
            </a:r>
          </a:p>
          <a:p>
            <a:pPr lvl="1"/>
            <a:r>
              <a:rPr lang="ko-KR" sz="1200"/>
              <a:t>품질과 검증 — 통지 지연·권한·중복 요청 등 검토 질문과 확인 방법을 제시한다 / 근거 없이 성능 수치를 확정하거나 기능만 검사한다</a:t>
            </a:r>
          </a:p>
          <a:p>
            <a:pPr lvl="1"/>
            <a:r>
              <a:rPr lang="ko-KR" sz="1200"/>
              <a:t>가치 확인 — 일정 조절에 도움이 되는지 사용 증거로 확인한다 / 버튼을 구현했으므로 가치가 입증됐다고 본다</a:t>
            </a:r>
          </a:p>
          <a:p>
            <a:pPr lvl="0"/>
            <a:r>
              <a:rPr lang="ko-KR" sz="1200"/>
              <a:t>검토 예는 유일한 정답이 아니다. 다음 예는 결제 전·마감 전·연속 제한에 걸리지 않는 고객 본인의 배송 건이라는 전제를 둔다.</a:t>
            </a:r>
          </a:p>
          <a:p>
            <a:pPr lvl="0"/>
            <a:r>
              <a:rPr lang="ko-KR" sz="1200"/>
              <a:t>문제 가설: 고객이 특정 회차의 배송을 원하지 않지만 스스로 조절하기 어렵다. 현재 가능한 경로와 실제 불편을 확인한다.</a:t>
            </a:r>
          </a:p>
          <a:p>
            <a:pPr lvl="0"/>
            <a:r>
              <a:rPr lang="ko-KR" sz="1200"/>
              <a:t>유스케이스·주 액터: 정기배송을 관리한다 — 정기배송 고객. 다음 배송 건너뛰기는 이 유스케이스의 대안 흐름이다.</a:t>
            </a:r>
          </a:p>
          <a:p>
            <a:pPr lvl="0"/>
            <a:r>
              <a:rPr lang="ko-KR" sz="1200"/>
              <a:t>업무 배경도·유스케이스 다이어그램: 정기배송 고객이 정기배송 시스템에 건너뛰기·조회를 요청하고, 정기배송 시스템은 배송 시스템에 해당 회차의 배송 제외를, 결제 시스템에 승인된 결제의 처리를 요청한다. 배송·결제 시스템은 지원 액터다. 결제 처리의 내용은 확인 질문이다.</a:t>
            </a:r>
          </a:p>
          <a:p>
            <a:pPr lvl="0"/>
            <a:r>
              <a:rPr lang="ko-KR" sz="1200"/>
              <a:t>대안 흐름(다음 배송 건너뛰기): 고객이 다음 배송을 건너뛴다 → 고객이 건너뛰기 결과와 다음 예정 배송일을 확인한다. SSD에서는 첫 단계가 시스템 이벤트 다음 배송을 건너뛴다(회차)가 되고, 둘째 단계는 응답이다.</a:t>
            </a:r>
          </a:p>
          <a:p>
            <a:pPr lvl="0"/>
            <a:r>
              <a:rPr lang="ko-KR" sz="1200"/>
              <a:t>시스템 오퍼레이션·성공 결과: 다음 배송 건너뛰기; 대상 회차가 배송 대상에서 제외되고 다음 예정 배송일을 확인할 수 있다. 일정 산정 규칙은 추가 확인 대상이다.</a:t>
            </a:r>
          </a:p>
          <a:p>
            <a:pPr lvl="0"/>
            <a:r>
              <a:rPr lang="ko-KR" sz="1200"/>
              <a:t>확인 질문: 정확히 48시간인 시점도 허용하는가? 어떤 시각·시간대를 기준으로 하는가? 이미 승인된 결제는 취소·환불·이월 중 무엇을 해야 하는가? 연속 횟수는 언제 초기화되는가?</a:t>
            </a:r>
          </a:p>
          <a:p>
            <a:pPr lvl="0"/>
            <a:r>
              <a:rPr lang="ko-KR" sz="1200"/>
              <a:t>아직 정해지지 않은 정책을 열어 두었다는 이유로 감점하지 않는다. 성공 예의 범위와 미확인 사항이 연결되어 있는지 평가한다.</a:t>
            </a:r>
          </a:p>
          <a:p>
            <a:pPr lvl="0"/>
            <a:r>
              <a:rPr lang="ko-KR" sz="1200"/>
              <a:t>다음 두 질문을 중심으로 토론한다.</a:t>
            </a:r>
          </a:p>
          <a:p>
            <a:pPr lvl="0"/>
            <a:r>
              <a:rPr lang="ko-KR" sz="1200"/>
              <a:t>왜 그렇게 판단했는가?</a:t>
            </a:r>
          </a:p>
          <a:p>
            <a:pPr lvl="0"/>
            <a:r>
              <a:rPr lang="ko-KR" sz="1200"/>
              <a:t>아직 무엇을 모르는가?</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vgImage13" Type="http://schemas.openxmlformats.org/officeDocument/2006/relationships/image" Target="../media/svg-13.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a:p>
            <a:pPr lvl="1" marL="355600" indent="0">
              <a:spcBef>
                <a:spcPts val="300"/>
              </a:spcBef>
              <a:spcAft>
                <a:spcPts val="300"/>
              </a:spcAft>
              <a:buNone/>
            </a:pPr>
            <a:r>
              <a:rPr sz="1600" b="0">
                <a:solidFill>
                  <a:srgbClr val="000000"/>
                </a:solidFill>
                <a:latin typeface="맑은 고딕"/>
                <a:ea typeface="맑은 고딕"/>
              </a:rPr>
              <a:t>18. 유스케이스란 무엇인가?</a:t>
            </a:r>
          </a:p>
          <a:p>
            <a:pPr lvl="1" marL="355600" indent="0">
              <a:spcBef>
                <a:spcPts val="300"/>
              </a:spcBef>
              <a:spcAft>
                <a:spcPts val="300"/>
              </a:spcAft>
              <a:buNone/>
            </a:pPr>
            <a:r>
              <a:rPr sz="1600" b="0">
                <a:solidFill>
                  <a:srgbClr val="000000"/>
                </a:solidFill>
                <a:latin typeface="맑은 고딕"/>
                <a:ea typeface="맑은 고딕"/>
              </a:rPr>
              <a:t>19. 왜 유스케이스가 필요한가?</a:t>
            </a:r>
          </a:p>
          <a:p>
            <a:pPr lvl="1" marL="355600" indent="0">
              <a:spcBef>
                <a:spcPts val="300"/>
              </a:spcBef>
              <a:spcAft>
                <a:spcPts val="300"/>
              </a:spcAft>
              <a:buNone/>
            </a:pPr>
            <a:r>
              <a:rPr sz="1600" b="0">
                <a:solidFill>
                  <a:srgbClr val="000000"/>
                </a:solidFill>
                <a:latin typeface="맑은 고딕"/>
                <a:ea typeface="맑은 고딕"/>
              </a:rPr>
              <a:t>20. 유스케이스의 위치</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명세서 템플릿</a:t>
            </a:r>
          </a:p>
          <a:p>
            <a:pPr lvl="1" marL="355600" indent="0">
              <a:spcBef>
                <a:spcPts val="300"/>
              </a:spcBef>
              <a:spcAft>
                <a:spcPts val="300"/>
              </a:spcAft>
              <a:buNone/>
            </a:pPr>
            <a:r>
              <a:rPr sz="1600" b="0">
                <a:solidFill>
                  <a:srgbClr val="000000"/>
                </a:solidFill>
                <a:latin typeface="맑은 고딕"/>
                <a:ea typeface="맑은 고딕"/>
              </a:rPr>
              <a:t>29. 기본 이벤트 흐름</a:t>
            </a:r>
          </a:p>
          <a:p>
            <a:pPr lvl="1" marL="355600" indent="0">
              <a:spcBef>
                <a:spcPts val="300"/>
              </a:spcBef>
              <a:spcAft>
                <a:spcPts val="300"/>
              </a:spcAft>
              <a:buNone/>
            </a:pPr>
            <a:r>
              <a:rPr sz="1600" b="0">
                <a:solidFill>
                  <a:srgbClr val="000000"/>
                </a:solidFill>
                <a:latin typeface="맑은 고딕"/>
                <a:ea typeface="맑은 고딕"/>
              </a:rPr>
              <a:t>30. 규칙·제약·예외 정책</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32. 유스케이스 상세화</a:t>
            </a:r>
          </a:p>
          <a:p>
            <a:pPr lvl="1" marL="355600" indent="0">
              <a:spcBef>
                <a:spcPts val="300"/>
              </a:spcBef>
              <a:spcAft>
                <a:spcPts val="300"/>
              </a:spcAft>
              <a:buNone/>
            </a:pPr>
            <a:r>
              <a:rPr sz="1600" b="0">
                <a:solidFill>
                  <a:srgbClr val="000000"/>
                </a:solidFill>
                <a:latin typeface="맑은 고딕"/>
                <a:ea typeface="맑은 고딕"/>
              </a:rPr>
              <a:t>33. 유스케이스 다이어그램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34.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39.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40. 시스템 시퀀스 다이어그램</a:t>
            </a:r>
          </a:p>
          <a:p>
            <a:pPr lvl="1" marL="355600" indent="0">
              <a:spcBef>
                <a:spcPts val="300"/>
              </a:spcBef>
              <a:spcAft>
                <a:spcPts val="300"/>
              </a:spcAft>
              <a:buNone/>
            </a:pPr>
            <a:r>
              <a:rPr sz="1600" b="0">
                <a:solidFill>
                  <a:srgbClr val="000000"/>
                </a:solidFill>
                <a:latin typeface="맑은 고딕"/>
                <a:ea typeface="맑은 고딕"/>
              </a:rPr>
              <a:t>41. SSD 초안</a:t>
            </a:r>
          </a:p>
          <a:p>
            <a:pPr lvl="1" marL="355600" indent="0">
              <a:spcBef>
                <a:spcPts val="300"/>
              </a:spcBef>
              <a:spcAft>
                <a:spcPts val="300"/>
              </a:spcAft>
              <a:buNone/>
            </a:pPr>
            <a:r>
              <a:rPr sz="1600" b="0">
                <a:solidFill>
                  <a:srgbClr val="000000"/>
                </a:solidFill>
                <a:latin typeface="맑은 고딕"/>
                <a:ea typeface="맑은 고딕"/>
              </a:rPr>
              <a:t>42. 시스템 이벤트와 오퍼레이션</a:t>
            </a:r>
          </a:p>
          <a:p>
            <a:pPr lvl="1" marL="355600" indent="0">
              <a:spcBef>
                <a:spcPts val="300"/>
              </a:spcBef>
              <a:spcAft>
                <a:spcPts val="300"/>
              </a:spcAft>
              <a:buNone/>
            </a:pPr>
            <a:r>
              <a:rPr sz="1600" b="0">
                <a:solidFill>
                  <a:srgbClr val="000000"/>
                </a:solidFill>
                <a:latin typeface="맑은 고딕"/>
                <a:ea typeface="맑은 고딕"/>
              </a:rPr>
              <a:t>43. 정제된 SSD</a:t>
            </a:r>
          </a:p>
          <a:p>
            <a:pPr lvl="1" marL="355600" indent="0">
              <a:spcBef>
                <a:spcPts val="300"/>
              </a:spcBef>
              <a:spcAft>
                <a:spcPts val="300"/>
              </a:spcAft>
              <a:buNone/>
            </a:pPr>
            <a:r>
              <a:rPr sz="1600" b="0">
                <a:solidFill>
                  <a:srgbClr val="000000"/>
                </a:solidFill>
                <a:latin typeface="맑은 고딕"/>
                <a:ea typeface="맑은 고딕"/>
              </a:rPr>
              <a:t>44. 시스템 오퍼레이션과 계약</a:t>
            </a:r>
          </a:p>
          <a:p>
            <a:pPr lvl="1" marL="355600" indent="0">
              <a:spcBef>
                <a:spcPts val="300"/>
              </a:spcBef>
              <a:spcAft>
                <a:spcPts val="300"/>
              </a:spcAft>
              <a:buNone/>
            </a:pPr>
            <a:r>
              <a:rPr sz="1600" b="0">
                <a:solidFill>
                  <a:srgbClr val="000000"/>
                </a:solidFill>
                <a:latin typeface="맑은 고딕"/>
                <a:ea typeface="맑은 고딕"/>
              </a:rPr>
              <a:t>45. 정적·동적 모델을 통한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유스케이스와 품질속성</a:t>
            </a:r>
          </a:p>
          <a:p>
            <a:pPr lvl="1" marL="355600" indent="0">
              <a:spcBef>
                <a:spcPts val="300"/>
              </a:spcBef>
              <a:spcAft>
                <a:spcPts val="300"/>
              </a:spcAft>
              <a:buNone/>
            </a:pPr>
            <a:r>
              <a:rPr sz="1600" b="0">
                <a:solidFill>
                  <a:srgbClr val="000000"/>
                </a:solidFill>
                <a:latin typeface="맑은 고딕"/>
                <a:ea typeface="맑은 고딕"/>
              </a:rPr>
              <a:t>47. 프로토타입·와이어프레임</a:t>
            </a:r>
          </a:p>
          <a:p>
            <a:pPr lvl="1" marL="355600" indent="0">
              <a:spcBef>
                <a:spcPts val="300"/>
              </a:spcBef>
              <a:spcAft>
                <a:spcPts val="300"/>
              </a:spcAft>
              <a:buNone/>
            </a:pPr>
            <a:r>
              <a:rPr sz="1600" b="0">
                <a:solidFill>
                  <a:srgbClr val="000000"/>
                </a:solidFill>
                <a:latin typeface="맑은 고딕"/>
                <a:ea typeface="맑은 고딕"/>
              </a:rPr>
              <a:t>48. 사용자 스토리</a:t>
            </a:r>
          </a:p>
          <a:p>
            <a:pPr lvl="1" marL="355600" indent="0">
              <a:spcBef>
                <a:spcPts val="300"/>
              </a:spcBef>
              <a:spcAft>
                <a:spcPts val="300"/>
              </a:spcAft>
              <a:buNone/>
            </a:pPr>
            <a:r>
              <a:rPr sz="1600" b="0">
                <a:solidFill>
                  <a:srgbClr val="000000"/>
                </a:solidFill>
                <a:latin typeface="맑은 고딕"/>
                <a:ea typeface="맑은 고딕"/>
              </a:rPr>
              <a:t>49. 사용자 스토리의 강점과 한계</a:t>
            </a:r>
          </a:p>
          <a:p>
            <a:pPr lvl="1" marL="355600" indent="0">
              <a:spcBef>
                <a:spcPts val="300"/>
              </a:spcBef>
              <a:spcAft>
                <a:spcPts val="300"/>
              </a:spcAft>
              <a:buNone/>
            </a:pPr>
            <a:r>
              <a:rPr sz="1600" b="0">
                <a:solidFill>
                  <a:srgbClr val="000000"/>
                </a:solidFill>
                <a:latin typeface="맑은 고딕"/>
                <a:ea typeface="맑은 고딕"/>
              </a:rPr>
              <a:t>50. 행위 주도 개발</a:t>
            </a:r>
          </a:p>
          <a:p>
            <a:pPr lvl="1" marL="355600" indent="0">
              <a:spcBef>
                <a:spcPts val="300"/>
              </a:spcBef>
              <a:spcAft>
                <a:spcPts val="300"/>
              </a:spcAft>
              <a:buNone/>
            </a:pPr>
            <a:r>
              <a:rPr sz="1600" b="0">
                <a:solidFill>
                  <a:srgbClr val="000000"/>
                </a:solidFill>
                <a:latin typeface="맑은 고딕"/>
                <a:ea typeface="맑은 고딕"/>
              </a:rPr>
              <a:t>51. 행위 주도 개발의 강점과 한계</a:t>
            </a:r>
          </a:p>
          <a:p>
            <a:pPr lvl="1" marL="355600" indent="0">
              <a:spcBef>
                <a:spcPts val="300"/>
              </a:spcBef>
              <a:spcAft>
                <a:spcPts val="300"/>
              </a:spcAft>
              <a:buNone/>
            </a:pPr>
            <a:r>
              <a:rPr sz="1600" b="0">
                <a:solidFill>
                  <a:srgbClr val="000000"/>
                </a:solidFill>
                <a:latin typeface="맑은 고딕"/>
                <a:ea typeface="맑은 고딕"/>
              </a:rPr>
              <a:t>52. 유스케이스·사용자 스토리·BDD</a:t>
            </a:r>
          </a:p>
          <a:p>
            <a:pPr lvl="1" marL="355600" indent="0">
              <a:spcBef>
                <a:spcPts val="300"/>
              </a:spcBef>
              <a:spcAft>
                <a:spcPts val="300"/>
              </a:spcAft>
              <a:buNone/>
            </a:pPr>
            <a:r>
              <a:rPr sz="1600" b="0">
                <a:solidFill>
                  <a:srgbClr val="000000"/>
                </a:solidFill>
                <a:latin typeface="맑은 고딕"/>
                <a:ea typeface="맑은 고딕"/>
              </a:rPr>
              <a:t>53. 요구사항 검증</a:t>
            </a:r>
          </a:p>
          <a:p>
            <a:pPr lvl="1" marL="355600" indent="0">
              <a:spcBef>
                <a:spcPts val="300"/>
              </a:spcBef>
              <a:spcAft>
                <a:spcPts val="300"/>
              </a:spcAft>
              <a:buNone/>
            </a:pPr>
            <a:r>
              <a:rPr sz="1600" b="0">
                <a:solidFill>
                  <a:srgbClr val="000000"/>
                </a:solidFill>
                <a:latin typeface="맑은 고딕"/>
                <a:ea typeface="맑은 고딕"/>
              </a:rPr>
              <a:t>54. 요구사항 관리</a:t>
            </a:r>
          </a:p>
          <a:p>
            <a:pPr lvl="1" marL="355600" indent="0">
              <a:spcBef>
                <a:spcPts val="300"/>
              </a:spcBef>
              <a:spcAft>
                <a:spcPts val="300"/>
              </a:spcAft>
              <a:buNone/>
            </a:pPr>
            <a:r>
              <a:rPr sz="1600" b="0">
                <a:solidFill>
                  <a:srgbClr val="000000"/>
                </a:solidFill>
                <a:latin typeface="맑은 고딕"/>
                <a:ea typeface="맑은 고딕"/>
              </a:rPr>
              <a:t>55. 요구사항 추적</a:t>
            </a:r>
          </a:p>
          <a:p>
            <a:pPr lvl="1" marL="355600" indent="0">
              <a:spcBef>
                <a:spcPts val="300"/>
              </a:spcBef>
              <a:spcAft>
                <a:spcPts val="300"/>
              </a:spcAft>
              <a:buNone/>
            </a:pPr>
            <a:r>
              <a:rPr sz="1600" b="0">
                <a:solidFill>
                  <a:srgbClr val="000000"/>
                </a:solidFill>
                <a:latin typeface="맑은 고딕"/>
                <a:ea typeface="맑은 고딕"/>
              </a:rPr>
              <a:t>56. 요구사항에서 학습으로</a:t>
            </a:r>
          </a:p>
          <a:p>
            <a:pPr lvl="1" marL="355600" indent="0">
              <a:spcBef>
                <a:spcPts val="300"/>
              </a:spcBef>
              <a:spcAft>
                <a:spcPts val="300"/>
              </a:spcAft>
              <a:buNone/>
            </a:pPr>
            <a:r>
              <a:rPr sz="1600" b="0">
                <a:solidFill>
                  <a:srgbClr val="000000"/>
                </a:solidFill>
                <a:latin typeface="맑은 고딕"/>
                <a:ea typeface="맑은 고딕"/>
              </a:rPr>
              <a:t>57. 실습 —</a:t>
            </a:r>
            <a:r>
              <a:rPr sz="1400" b="0">
                <a:solidFill>
                  <a:srgbClr val="000000"/>
                </a:solidFill>
                <a:latin typeface="맑은 고딕"/>
                <a:ea typeface="맑은 고딕"/>
              </a:rPr>
              <a:t> 모델로 바꾸기</a:t>
            </a:r>
          </a:p>
          <a:p>
            <a:pPr lvl="1" marL="355600" indent="0">
              <a:spcBef>
                <a:spcPts val="300"/>
              </a:spcBef>
              <a:spcAft>
                <a:spcPts val="300"/>
              </a:spcAft>
              <a:buNone/>
            </a:pPr>
            <a:r>
              <a:rPr sz="1600" b="0">
                <a:solidFill>
                  <a:srgbClr val="000000"/>
                </a:solidFill>
                <a:latin typeface="맑은 고딕"/>
                <a:ea typeface="맑은 고딕"/>
              </a:rPr>
              <a:t>58.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품질속성·프로토타입·사용자 스토리·행위 주도 개발</a:t>
            </a:r>
            <a:r>
              <a:rPr sz="1800" b="0">
                <a:solidFill>
                  <a:srgbClr val="000000"/>
                </a:solidFill>
                <a:latin typeface="맑은 고딕"/>
                <a:ea typeface="맑은 고딕"/>
              </a:rPr>
              <a:t>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그대로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무엇을 만들어야 하는지 구체화하며 </a:t>
            </a:r>
            <a:r>
              <a:rPr sz="1800" b="1">
                <a:solidFill>
                  <a:srgbClr val="000000"/>
                </a:solidFill>
                <a:latin typeface="맑은 고딕"/>
                <a:ea typeface="맑은 고딕"/>
              </a:rPr>
              <a:t>증거를 통해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Jeff Bezos, 2016</a:t>
            </a:r>
          </a:p>
        </p:txBody>
      </p:sp>
      <p:pic>
        <p:nvPicPr>
          <p:cNvPr id="9" name="mermaid Diagram 1"/>
          <p:cNvPicPr>
            <a:picLocks noChangeAspect="1"/>
          </p:cNvPicPr>
          <p:nvPr/>
        </p:nvPicPr>
        <p:blipFill>
          <a:blip r:embed="mermaidImage1"/>
          <a:stretch>
            <a:fillRect/>
          </a:stretch>
        </p:blipFill>
        <p:spPr>
          <a:xfrm>
            <a:off x="1460500" y="4071579"/>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50785" y="3502059"/>
          <a:ext cx="7228840" cy="3873500"/>
        </p:xfrm>
        <a:graphic>
          <a:graphicData uri="http://schemas.openxmlformats.org/drawingml/2006/table">
            <a:tbl>
              <a:tblPr/>
              <a:tblGrid>
                <a:gridCol w="1087120"/>
                <a:gridCol w="28194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잘못되었거나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요구(Need)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원하거나 필요로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지켜야 하는 조건은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방식으로 충족할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웹, 앱,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4033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필요와 그에 관련된 제약·조건</a:t>
            </a:r>
            <a:r>
              <a:rPr sz="1800" b="0">
                <a:solidFill>
                  <a:srgbClr val="000000"/>
                </a:solidFill>
                <a:latin typeface="맑은 고딕"/>
                <a:ea typeface="맑은 고딕"/>
              </a:rPr>
              <a:t>을 변환하거나 표현한 진술"</a:t>
            </a:r>
            <a:r>
              <a:rPr sz="1000" b="0">
                <a:solidFill>
                  <a:srgbClr val="000000"/>
                </a:solidFill>
                <a:latin typeface="맑은 고딕"/>
                <a:ea typeface="맑은 고딕"/>
              </a:rPr>
              <a:t>, </a:t>
            </a:r>
            <a:r>
              <a:rPr sz="1000" b="0">
                <a:solidFill>
                  <a:srgbClr val="000000"/>
                </a:solidFill>
                <a:latin typeface="맑은 고딕"/>
                <a:ea typeface="맑은 고딕"/>
              </a:rPr>
              <a:t>"statement which translates or expresses a need and its associated constraints and conditions"</a:t>
            </a:r>
            <a:r>
              <a:rPr sz="1000" b="0">
                <a:solidFill>
                  <a:srgbClr val="000000"/>
                </a:solidFill>
                <a:latin typeface="맑은 고딕"/>
                <a:ea typeface="맑은 고딕"/>
              </a:rPr>
              <a:t>, </a:t>
            </a:r>
            <a:r>
              <a:rPr sz="1000" b="0">
                <a:solidFill>
                  <a:srgbClr val="000000"/>
                </a:solidFill>
                <a:latin typeface="맑은 고딕"/>
                <a:ea typeface="맑은 고딕"/>
              </a:rPr>
              <a:t>ISO/IEC/IEEE 29148:2018</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a:t>
            </a:r>
            <a:r>
              <a:rPr sz="1800" b="1">
                <a:solidFill>
                  <a:srgbClr val="000000"/>
                </a:solidFill>
                <a:latin typeface="맑은 고딕"/>
                <a:ea typeface="맑은 고딕"/>
              </a:rPr>
              <a:t>필요</a:t>
            </a:r>
            <a:r>
              <a:rPr sz="1800" b="0">
                <a:solidFill>
                  <a:srgbClr val="000000"/>
                </a:solidFill>
                <a:latin typeface="맑은 고딕"/>
                <a:ea typeface="맑은 고딕"/>
              </a:rPr>
              <a:t>를 사용할 수 있게 표현한 것이며 설계는 </a:t>
            </a:r>
            <a:r>
              <a:rPr sz="1800" b="1">
                <a:solidFill>
                  <a:srgbClr val="000000"/>
                </a:solidFill>
                <a:latin typeface="맑은 고딕"/>
                <a:ea typeface="맑은 고딕"/>
              </a:rPr>
              <a:t>해결책</a:t>
            </a:r>
            <a:r>
              <a:rPr sz="1800" b="0">
                <a:solidFill>
                  <a:srgbClr val="000000"/>
                </a:solidFill>
                <a:latin typeface="맑은 고딕"/>
                <a:ea typeface="맑은 고딕"/>
              </a:rPr>
              <a:t>을 사용할 수 있게 표현한 것이다"</a:t>
            </a:r>
            <a:r>
              <a:rPr sz="1000" b="0">
                <a:solidFill>
                  <a:srgbClr val="000000"/>
                </a:solidFill>
                <a:latin typeface="맑은 고딕"/>
                <a:ea typeface="맑은 고딕"/>
              </a:rPr>
              <a:t>, </a:t>
            </a:r>
            <a:r>
              <a:rPr sz="1000" b="0">
                <a:solidFill>
                  <a:srgbClr val="000000"/>
                </a:solidFill>
                <a:latin typeface="맑은 고딕"/>
                <a:ea typeface="맑은 고딕"/>
              </a:rPr>
              <a:t>"A requirement is a usable representation of a need... a design is a usable representation of a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5331659"/>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예는 한 요청에 대한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8725" y="2380440"/>
          <a:ext cx="4632960" cy="3873500"/>
        </p:xfrm>
        <a:graphic>
          <a:graphicData uri="http://schemas.openxmlformats.org/drawingml/2006/table">
            <a:tbl>
              <a:tblPr/>
              <a:tblGrid>
                <a:gridCol w="122682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요청된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수정할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변경하고 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이후 일반 변경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후보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버튼, 편집 화면, 챗봇,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9804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구분은 요청 한 문장에 대한 </a:t>
            </a:r>
            <a:r>
              <a:rPr sz="1800" b="1">
                <a:solidFill>
                  <a:srgbClr val="000000"/>
                </a:solidFill>
                <a:latin typeface="맑은 고딕"/>
                <a:ea typeface="맑은 고딕"/>
              </a:rPr>
              <a:t>교육용 해석</a:t>
            </a:r>
            <a:r>
              <a:rPr sz="1800" b="0">
                <a:solidFill>
                  <a:srgbClr val="000000"/>
                </a:solidFill>
                <a:latin typeface="맑은 고딕"/>
                <a:ea typeface="맑은 고딕"/>
              </a:rPr>
              <a:t>이다. 실제 문제와 출고 조건은 </a:t>
            </a:r>
            <a:r>
              <a:rPr sz="1800" b="1">
                <a:solidFill>
                  <a:srgbClr val="000000"/>
                </a:solidFill>
                <a:latin typeface="맑은 고딕"/>
                <a:ea typeface="맑은 고딕"/>
              </a:rPr>
              <a:t>고객에게 확인</a:t>
            </a:r>
            <a:r>
              <a:rPr sz="1800" b="0">
                <a:solidFill>
                  <a:srgbClr val="000000"/>
                </a:solidFill>
                <a:latin typeface="맑은 고딕"/>
                <a:ea typeface="맑은 고딕"/>
              </a:rPr>
              <a:t>해 정한다.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필요한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개발자가 </a:t>
            </a:r>
            <a:r>
              <a:rPr sz="1600" b="1">
                <a:solidFill>
                  <a:srgbClr val="000000"/>
                </a:solidFill>
                <a:latin typeface="맑은 고딕"/>
                <a:ea typeface="맑은 고딕"/>
              </a:rPr>
              <a:t>같은 뜻으로 말할 수 있는 작은 단위</a:t>
            </a:r>
            <a:r>
              <a:rPr sz="1600" b="0">
                <a:solidFill>
                  <a:srgbClr val="000000"/>
                </a:solidFill>
                <a:latin typeface="맑은 고딕"/>
                <a:ea typeface="맑은 고딕"/>
              </a:rPr>
              <a:t>로 합의한다.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작게 만들어 보여주고 증거로 배우는</a:t>
            </a:r>
            <a:r>
              <a:rPr sz="16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455325"/>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 "무엇이 일어나면 시스템은 무엇을 해야 하는가?"는 고객과 개발자가 비교적 혼선 없이 말하고 합의할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Edward 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49162"/>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구조적 분석부터 도메인 주도 설계까지, 요구를 다루는 주요 기법은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관점에서 어떤 이벤트를 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1842998"/>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48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문서의 승인과 요구의 타당성은 다르다. 승인된 요구사항도 실제 사용에서 </a:t>
            </a:r>
            <a:r>
              <a:rPr sz="1800" b="1">
                <a:solidFill>
                  <a:srgbClr val="000000"/>
                </a:solidFill>
                <a:latin typeface="맑은 고딕"/>
                <a:ea typeface="맑은 고딕"/>
              </a:rPr>
              <a:t>올바른 요구였는지 다시 검증</a:t>
            </a:r>
            <a:r>
              <a:rPr sz="1800" b="0">
                <a:solidFill>
                  <a:srgbClr val="000000"/>
                </a:solidFill>
                <a:latin typeface="맑은 고딕"/>
                <a:ea typeface="맑은 고딕"/>
              </a:rPr>
              <a:t>해야 한다.</a:t>
            </a:r>
          </a:p>
        </p:txBody>
      </p:sp>
      <p:pic>
        <p:nvPicPr>
          <p:cNvPr id="15" name="mermaid Diagram 2"/>
          <p:cNvPicPr>
            <a:picLocks noChangeAspect="1"/>
          </p:cNvPicPr>
          <p:nvPr/>
        </p:nvPicPr>
        <p:blipFill>
          <a:blip r:embed="mermaidImage2"/>
          <a:stretch>
            <a:fillRect/>
          </a:stretch>
        </p:blipFill>
        <p:spPr>
          <a:xfrm>
            <a:off x="1783112" y="5227782"/>
            <a:ext cx="5564188" cy="102393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497276"/>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가지 활동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수집:</a:t>
            </a:r>
            <a:r>
              <a:rPr sz="1600" b="0">
                <a:solidFill>
                  <a:srgbClr val="000000"/>
                </a:solidFill>
                <a:latin typeface="맑은 고딕"/>
                <a:ea typeface="맑은 고딕"/>
              </a:rPr>
              <a:t> 이해관계자의 문제·목표·필요를 찾아낸다.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분석:</a:t>
            </a:r>
            <a:r>
              <a:rPr sz="1600" b="0">
                <a:solidFill>
                  <a:srgbClr val="000000"/>
                </a:solidFill>
                <a:latin typeface="맑은 고딕"/>
                <a:ea typeface="맑은 고딕"/>
              </a:rPr>
              <a:t> 요구를 정제하고 관계·충돌·우선순위를 분석한다.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명세:</a:t>
            </a:r>
            <a:r>
              <a:rPr sz="1600" b="0">
                <a:solidFill>
                  <a:srgbClr val="000000"/>
                </a:solidFill>
                <a:latin typeface="맑은 고딕"/>
                <a:ea typeface="맑은 고딕"/>
              </a:rPr>
              <a:t> 합의하고 검토할 수 있는 형태로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검증:</a:t>
            </a:r>
            <a:r>
              <a:rPr sz="1600" b="0">
                <a:solidFill>
                  <a:srgbClr val="000000"/>
                </a:solidFill>
                <a:latin typeface="맑은 고딕"/>
                <a:ea typeface="맑은 고딕"/>
              </a:rPr>
              <a:t> 잘 작성되었는지, 실제 필요한 것인지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관리:</a:t>
            </a:r>
            <a:r>
              <a:rPr sz="16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1842998"/>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6766" y="1842998"/>
          <a:ext cx="8056880" cy="3873500"/>
        </p:xfrm>
        <a:graphic>
          <a:graphicData uri="http://schemas.openxmlformats.org/drawingml/2006/table">
            <a:tbl>
              <a:tblPr/>
              <a:tblGrid>
                <a:gridCol w="1087120"/>
                <a:gridCol w="889000"/>
                <a:gridCol w="889000"/>
                <a:gridCol w="20929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100036"/>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00036"/>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 영역별 경우는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이해관계자 요구사항에만 머물지 않는다. </a:t>
            </a:r>
            <a:r>
              <a:rPr sz="1800" b="1">
                <a:solidFill>
                  <a:srgbClr val="000000"/>
                </a:solidFill>
                <a:latin typeface="맑은 고딕"/>
                <a:ea typeface="맑은 고딕"/>
              </a:rPr>
              <a:t>사업 목적에서 해결책, 전환까지 연결</a:t>
            </a:r>
            <a:r>
              <a:rPr sz="1800" b="0">
                <a:solidFill>
                  <a:srgbClr val="000000"/>
                </a:solidFill>
                <a:latin typeface="맑은 고딕"/>
                <a:ea typeface="맑은 고딕"/>
              </a:rPr>
              <a:t>해서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개발 대상과 수준을 따라 요구를 구체화하기 </a:t>
            </a:r>
            <a:r>
              <a:rPr sz="1400" b="0">
                <a:solidFill>
                  <a:srgbClr val="000000"/>
                </a:solidFill>
                <a:latin typeface="맑은 고딕"/>
                <a:ea typeface="맑은 고딕"/>
              </a:rPr>
              <a:t>(ISO 29148)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사업·임무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 요구사항</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IIBA의 요구사항 분류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해결책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전환 요구사항</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87005" y="2497276"/>
          <a:ext cx="6756400" cy="3873500"/>
        </p:xfrm>
        <a:graphic>
          <a:graphicData uri="http://schemas.openxmlformats.org/drawingml/2006/table">
            <a:tbl>
              <a:tblPr/>
              <a:tblGrid>
                <a:gridCol w="1087120"/>
                <a:gridCol w="5669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ISO/IEC/IEEE 29148:2018은 </a:t>
            </a:r>
            <a:r>
              <a:rPr sz="1800" b="1">
                <a:solidFill>
                  <a:srgbClr val="000000"/>
                </a:solidFill>
                <a:latin typeface="맑은 고딕"/>
                <a:ea typeface="맑은 고딕"/>
              </a:rPr>
              <a:t>개별 요구사항의 특성</a:t>
            </a:r>
            <a:r>
              <a:rPr sz="1800" b="0">
                <a:solidFill>
                  <a:srgbClr val="000000"/>
                </a:solidFill>
                <a:latin typeface="맑은 고딕"/>
                <a:ea typeface="맑은 고딕"/>
              </a:rPr>
              <a:t>과 </a:t>
            </a:r>
            <a:r>
              <a:rPr sz="1800" b="1">
                <a:solidFill>
                  <a:srgbClr val="000000"/>
                </a:solidFill>
                <a:latin typeface="맑은 고딕"/>
                <a:ea typeface="맑은 고딕"/>
              </a:rPr>
              <a:t>요구사항 집합의 특성</a:t>
            </a:r>
            <a:r>
              <a:rPr sz="1800" b="0">
                <a:solidFill>
                  <a:srgbClr val="000000"/>
                </a:solidFill>
                <a:latin typeface="맑은 고딕"/>
                <a:ea typeface="맑은 고딕"/>
              </a:rPr>
              <a:t>을 구분해 정의한다. 문장 하나의 품질과 집합 전체의 품질은 서로 다른 기준으로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개별 요구사항의 특성</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집합의 특성</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완전함</a:t>
            </a:r>
            <a:r>
              <a:rPr sz="1600" b="0">
                <a:solidFill>
                  <a:srgbClr val="000000"/>
                </a:solidFill>
                <a:latin typeface="맑은 고딕"/>
                <a:ea typeface="맑은 고딕"/>
              </a:rPr>
              <a:t> —</a:t>
            </a:r>
            <a:r>
              <a:rPr sz="1400" b="0">
                <a:solidFill>
                  <a:srgbClr val="000000"/>
                </a:solidFill>
                <a:latin typeface="맑은 고딕"/>
                <a:ea typeface="맑은 고딕"/>
              </a:rPr>
              <a:t> 해결책에 필요한 요구를 모두 포함하는가?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일관됨</a:t>
            </a:r>
            <a:r>
              <a:rPr sz="1600" b="0">
                <a:solidFill>
                  <a:srgbClr val="000000"/>
                </a:solidFill>
                <a:latin typeface="맑은 고딕"/>
                <a:ea typeface="맑은 고딕"/>
              </a:rPr>
              <a:t> —</a:t>
            </a:r>
            <a:r>
              <a:rPr sz="1400" b="0">
                <a:solidFill>
                  <a:srgbClr val="000000"/>
                </a:solidFill>
                <a:latin typeface="맑은 고딕"/>
                <a:ea typeface="맑은 고딕"/>
              </a:rPr>
              <a:t> 요구 사이에 충돌이 없고 용어가 일관되는가?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실현 가능함</a:t>
            </a:r>
            <a:r>
              <a:rPr sz="1600" b="0">
                <a:solidFill>
                  <a:srgbClr val="000000"/>
                </a:solidFill>
                <a:latin typeface="맑은 고딕"/>
                <a:ea typeface="맑은 고딕"/>
              </a:rPr>
              <a:t> —</a:t>
            </a:r>
            <a:r>
              <a:rPr sz="1400" b="0">
                <a:solidFill>
                  <a:srgbClr val="000000"/>
                </a:solidFill>
                <a:latin typeface="맑은 고딕"/>
                <a:ea typeface="맑은 고딕"/>
              </a:rPr>
              <a:t> 전체를 함께 고려해도 제약 안에서 실현할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이해 가능함</a:t>
            </a:r>
            <a:r>
              <a:rPr sz="1600" b="0">
                <a:solidFill>
                  <a:srgbClr val="000000"/>
                </a:solidFill>
                <a:latin typeface="맑은 고딕"/>
                <a:ea typeface="맑은 고딕"/>
              </a:rPr>
              <a:t> —</a:t>
            </a:r>
            <a:r>
              <a:rPr sz="1400" b="0">
                <a:solidFill>
                  <a:srgbClr val="000000"/>
                </a:solidFill>
                <a:latin typeface="맑은 고딕"/>
                <a:ea typeface="맑은 고딕"/>
              </a:rPr>
              <a:t> 관련 이해관계자가 이해할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타당성 확인 가능함</a:t>
            </a:r>
            <a:r>
              <a:rPr sz="1600" b="0">
                <a:solidFill>
                  <a:srgbClr val="000000"/>
                </a:solidFill>
                <a:latin typeface="맑은 고딕"/>
                <a:ea typeface="맑은 고딕"/>
              </a:rPr>
              <a:t> —</a:t>
            </a:r>
            <a:r>
              <a:rPr sz="1400" b="0">
                <a:solidFill>
                  <a:srgbClr val="000000"/>
                </a:solidFill>
                <a:latin typeface="맑은 고딕"/>
                <a:ea typeface="맑은 고딕"/>
              </a:rPr>
              <a:t> 실제 이해관계자 의도와 맞는지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비교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위반 사례: </a:t>
            </a:r>
            <a:r>
              <a:rPr sz="1600" b="0">
                <a:solidFill>
                  <a:srgbClr val="000000"/>
                </a:solidFill>
                <a:latin typeface="맑은 고딕"/>
                <a:ea typeface="맑은 고딕"/>
              </a:rPr>
              <a:t>배송지를 신속하게 변경한다.</a:t>
            </a:r>
            <a:r>
              <a:rPr sz="1600" b="0">
                <a:solidFill>
                  <a:srgbClr val="000000"/>
                </a:solidFill>
                <a:latin typeface="맑은 고딕"/>
                <a:ea typeface="맑은 고딕"/>
              </a:rPr>
              <a:t> —</a:t>
            </a:r>
            <a:r>
              <a:rPr sz="1400" b="0">
                <a:solidFill>
                  <a:srgbClr val="000000"/>
                </a:solidFill>
                <a:latin typeface="맑은 고딕"/>
                <a:ea typeface="맑은 고딕"/>
              </a:rPr>
              <a:t> </a:t>
            </a:r>
            <a:r>
              <a:rPr sz="1400" b="1">
                <a:solidFill>
                  <a:srgbClr val="000000"/>
                </a:solidFill>
                <a:latin typeface="맑은 고딕"/>
                <a:ea typeface="맑은 고딕"/>
              </a:rPr>
              <a:t>명확함·검증 가능함</a:t>
            </a:r>
            <a:r>
              <a:rPr sz="1400" b="0">
                <a:solidFill>
                  <a:srgbClr val="000000"/>
                </a:solidFill>
                <a:latin typeface="맑은 고딕"/>
                <a:ea typeface="맑은 고딕"/>
              </a:rPr>
              <a:t> 위반이다. </a:t>
            </a:r>
            <a:r>
              <a:rPr sz="1400" b="0">
                <a:solidFill>
                  <a:srgbClr val="000000"/>
                </a:solidFill>
                <a:latin typeface="맑은 고딕"/>
                <a:ea typeface="맑은 고딕"/>
              </a:rPr>
              <a:t>신속하게</a:t>
            </a:r>
            <a:r>
              <a:rPr sz="1400" b="0">
                <a:solidFill>
                  <a:srgbClr val="000000"/>
                </a:solidFill>
                <a:latin typeface="맑은 고딕"/>
                <a:ea typeface="맑은 고딕"/>
              </a:rPr>
              <a:t>가 측정 조건 없이 해석에 따라 달라진다.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개선 방향</a:t>
            </a:r>
            <a:r>
              <a:rPr sz="1600" b="0">
                <a:solidFill>
                  <a:srgbClr val="000000"/>
                </a:solidFill>
                <a:latin typeface="맑은 고딕"/>
                <a:ea typeface="맑은 고딕"/>
              </a:rPr>
              <a:t>: 변경 가능한 주문 상태, 변경 결과를 확인할 주체, 결과 통지 조건을 명시한다. 응답 시간 목표는 </a:t>
            </a:r>
            <a:r>
              <a:rPr sz="1600" b="1">
                <a:solidFill>
                  <a:srgbClr val="000000"/>
                </a:solidFill>
                <a:latin typeface="맑은 고딕"/>
                <a:ea typeface="맑은 고딕"/>
              </a:rPr>
              <a:t>측정 조건</a:t>
            </a:r>
            <a:r>
              <a:rPr sz="1600" b="0">
                <a:solidFill>
                  <a:srgbClr val="000000"/>
                </a:solidFill>
                <a:latin typeface="맑은 고딕"/>
                <a:ea typeface="맑은 고딕"/>
              </a:rPr>
              <a:t>과 함께 합의해 검증 가능하게 만든다.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달성해 </a:t>
            </a:r>
            <a:r>
              <a:rPr sz="1800" b="1">
                <a:solidFill>
                  <a:srgbClr val="000000"/>
                </a:solidFill>
                <a:latin typeface="맑은 고딕"/>
                <a:ea typeface="맑은 고딕"/>
              </a:rPr>
              <a:t>가치 있는 결과를 얻는 시스템 사용 단위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"시스템과의 대화에서 이루어지는, </a:t>
            </a:r>
            <a:r>
              <a:rPr sz="1800" b="1">
                <a:solidFill>
                  <a:srgbClr val="000000"/>
                </a:solidFill>
                <a:latin typeface="맑은 고딕"/>
                <a:ea typeface="맑은 고딕"/>
              </a:rPr>
              <a:t>행위적으로 연관된 일련의 트랜잭션</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behaviorally related sequence of transactions in a dialogue with the system"</a:t>
            </a:r>
            <a:r>
              <a:rPr sz="1000" b="0">
                <a:solidFill>
                  <a:srgbClr val="000000"/>
                </a:solidFill>
                <a:latin typeface="맑은 고딕"/>
                <a:ea typeface="맑은 고딕"/>
              </a:rPr>
              <a:t>, </a:t>
            </a:r>
            <a:r>
              <a:rPr sz="1000" b="0">
                <a:solidFill>
                  <a:srgbClr val="000000"/>
                </a:solidFill>
                <a:latin typeface="맑은 고딕"/>
                <a:ea typeface="맑은 고딕"/>
              </a:rPr>
              <a:t>Ivar Jacobson, 1992(Biddle·Noble·Tempero, 2001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대상 시스템이 수행하는 일련의 행위를 명세하며, 하나 이상의 액터 또는 이해관계자에게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a:t>
            </a:r>
            <a:r>
              <a:rPr sz="1000" b="0">
                <a:solidFill>
                  <a:srgbClr val="000000"/>
                </a:solidFill>
                <a:latin typeface="맑은 고딕"/>
                <a:ea typeface="맑은 고딕"/>
              </a:rPr>
              <a:t>, </a:t>
            </a:r>
            <a:r>
              <a:rPr sz="1000" b="0">
                <a:solidFill>
                  <a:srgbClr val="000000"/>
                </a:solidFill>
                <a:latin typeface="맑은 고딕"/>
                <a:ea typeface="맑은 고딕"/>
              </a:rPr>
              <a:t>"A UseCase specifies a set of actions performed by its subjects, which yields an observable result that is of value for one or more Actors or other stakeholders of each subject."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a:t>
            </a:r>
          </a:p>
        </p:txBody>
      </p:sp>
      <p:pic>
        <p:nvPicPr>
          <p:cNvPr id="9" name="svg Diagram 1" descr="유스케이스 표기: 타원 안의 주문을 관리한다"/>
          <p:cNvPicPr>
            <a:picLocks noChangeAspect="1"/>
          </p:cNvPicPr>
          <p:nvPr/>
        </p:nvPicPr>
        <p:blipFill>
          <a:blip r:embed="svgImage1"/>
          <a:stretch>
            <a:fillRect/>
          </a:stretch>
        </p:blipFill>
        <p:spPr>
          <a:xfrm>
            <a:off x="3619500" y="4633023"/>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왜 유스케이스가 필요한가?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시스템을 기능 목록으로 분해하기보다,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를 중심으로 시스템이 제공해야 할 책임을 파악하는 데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자료·기능 중심</a:t>
            </a:r>
            <a:r>
              <a:rPr sz="1800" b="0">
                <a:solidFill>
                  <a:srgbClr val="000000"/>
                </a:solidFill>
                <a:latin typeface="맑은 고딕"/>
                <a:ea typeface="맑은 고딕"/>
              </a:rPr>
              <a:t> —</a:t>
            </a:r>
            <a:r>
              <a:rPr sz="1600" b="0">
                <a:solidFill>
                  <a:srgbClr val="000000"/>
                </a:solidFill>
                <a:latin typeface="맑은 고딕"/>
                <a:ea typeface="맑은 고딕"/>
              </a:rPr>
              <a:t> 주문 등록, 주문 조회, 주문 수정, 주문 삭제처럼 자료 조작별로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 중심</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배송을 처리한다, 상품 정보를 관리한다처럼 액터가 무엇을 위해 쓰는가로 묶는다.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a:t>
            </a:r>
            <a:r>
              <a:rPr sz="1800" b="1">
                <a:solidFill>
                  <a:srgbClr val="000000"/>
                </a:solidFill>
                <a:latin typeface="맑은 고딕"/>
                <a:ea typeface="맑은 고딕"/>
              </a:rPr>
              <a:t>대안 흐름과 시스템 오퍼레이션</a:t>
            </a:r>
            <a:r>
              <a:rPr sz="1800" b="0">
                <a:solidFill>
                  <a:srgbClr val="000000"/>
                </a:solidFill>
                <a:latin typeface="맑은 고딕"/>
                <a:ea typeface="맑은 고딕"/>
              </a:rPr>
              <a:t>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목록만으로는 </a:t>
            </a:r>
            <a:r>
              <a:rPr sz="1800" b="1">
                <a:solidFill>
                  <a:srgbClr val="000000"/>
                </a:solidFill>
                <a:latin typeface="맑은 고딕"/>
                <a:ea typeface="맑은 고딕"/>
              </a:rPr>
              <a:t>누가·왜·어떤 목표로 사용하는지, 어떤 결과가 가치 있는지, 시스템 책임은 어디까지인지</a:t>
            </a:r>
            <a:r>
              <a:rPr sz="1800" b="0">
                <a:solidFill>
                  <a:srgbClr val="000000"/>
                </a:solidFill>
                <a:latin typeface="맑은 고딕"/>
                <a:ea typeface="맑은 고딕"/>
              </a:rPr>
              <a:t> 알기 어렵다.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유스케이스의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544010"/>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8229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목록·자료 흐름·화면 명세가 아니다. </a:t>
            </a:r>
            <a:r>
              <a:rPr sz="1800" b="1">
                <a:solidFill>
                  <a:srgbClr val="000000"/>
                </a:solidFill>
                <a:latin typeface="맑은 고딕"/>
                <a:ea typeface="맑은 고딕"/>
              </a:rPr>
              <a:t>행위 요구</a:t>
            </a:r>
            <a:r>
              <a:rPr sz="1800" b="0">
                <a:solidFill>
                  <a:srgbClr val="000000"/>
                </a:solidFill>
                <a:latin typeface="맑은 고딕"/>
                <a:ea typeface="맑은 고딕"/>
              </a:rPr>
              <a:t>를 액터의 목표로 표현하고, 다른 요구를 연결하는 중심이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요구사항 문서의 '3장', 즉 </a:t>
            </a:r>
            <a:r>
              <a:rPr sz="1800" b="1">
                <a:solidFill>
                  <a:srgbClr val="000000"/>
                </a:solidFill>
                <a:latin typeface="맑은 고딕"/>
                <a:ea typeface="맑은 고딕"/>
              </a:rPr>
              <a:t>행위 요구</a:t>
            </a:r>
            <a:r>
              <a:rPr sz="1800" b="0">
                <a:solidFill>
                  <a:srgbClr val="000000"/>
                </a:solidFill>
                <a:latin typeface="맑은 고딕"/>
                <a:ea typeface="맑은 고딕"/>
              </a:rPr>
              <a:t>일 뿐이다"</a:t>
            </a:r>
            <a:r>
              <a:rPr sz="1000" b="0">
                <a:solidFill>
                  <a:srgbClr val="000000"/>
                </a:solidFill>
                <a:latin typeface="맑은 고딕"/>
                <a:ea typeface="맑은 고딕"/>
              </a:rPr>
              <a:t>, </a:t>
            </a:r>
            <a:r>
              <a:rPr sz="1000" b="0">
                <a:solidFill>
                  <a:srgbClr val="000000"/>
                </a:solidFill>
                <a:latin typeface="맑은 고딕"/>
                <a:ea typeface="맑은 고딕"/>
              </a:rPr>
              <a:t>"Use cases are only “chapter three” of the requirements document, the behavioral requirements."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시스템의 범위와 사용자 목표를 식별한 다음 이벤트 흐름과 규칙을 상세화</a:t>
            </a:r>
            <a:r>
              <a:rPr sz="1800" b="0">
                <a:solidFill>
                  <a:srgbClr val="000000"/>
                </a:solidFill>
                <a:latin typeface="맑은 고딕"/>
                <a:ea typeface="맑은 고딕"/>
              </a:rPr>
              <a:t>한다. 필요하면 앞 단계로 되돌아간다.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대상 시스템과 경계</a:t>
            </a:r>
            <a:r>
              <a:rPr sz="1800" b="0">
                <a:solidFill>
                  <a:srgbClr val="000000"/>
                </a:solidFill>
                <a:latin typeface="맑은 고딕"/>
                <a:ea typeface="맑은 고딕"/>
              </a:rPr>
              <a:t>를 정의한다. 외부 시스템은 지원 액터로 둔다.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목표</a:t>
            </a:r>
            <a:r>
              <a:rPr sz="1800" b="0">
                <a:solidFill>
                  <a:srgbClr val="000000"/>
                </a:solidFill>
                <a:latin typeface="맑은 고딕"/>
                <a:ea typeface="맑은 고딕"/>
              </a:rPr>
              <a:t>와 그 목표를 가진 </a:t>
            </a:r>
            <a:r>
              <a:rPr sz="1800" b="1">
                <a:solidFill>
                  <a:srgbClr val="000000"/>
                </a:solidFill>
                <a:latin typeface="맑은 고딕"/>
                <a:ea typeface="맑은 고딕"/>
              </a:rPr>
              <a:t>액터</a:t>
            </a:r>
            <a:r>
              <a:rPr sz="1800" b="0">
                <a:solidFill>
                  <a:srgbClr val="000000"/>
                </a:solidFill>
                <a:latin typeface="맑은 고딕"/>
                <a:ea typeface="맑은 고딕"/>
              </a:rPr>
              <a:t>를 함께 식별한다.</a:t>
            </a:r>
          </a:p>
          <a:p>
            <a:pPr lvl="2" marL="607060" indent="-251460">
              <a:spcBef>
                <a:spcPts val="600"/>
              </a:spcBef>
              <a:spcAft>
                <a:spcPts val="600"/>
              </a:spcAft>
              <a:buNone/>
            </a:pPr>
            <a:r>
              <a:rPr sz="1800" b="0">
                <a:solidFill>
                  <a:srgbClr val="000000"/>
                </a:solidFill>
                <a:latin typeface="맑은 고딕"/>
                <a:ea typeface="맑은 고딕"/>
              </a:rPr>
              <a:t>3. 목표 수준의 </a:t>
            </a:r>
            <a:r>
              <a:rPr sz="1800" b="1">
                <a:solidFill>
                  <a:srgbClr val="000000"/>
                </a:solidFill>
                <a:latin typeface="맑은 고딕"/>
                <a:ea typeface="맑은 고딕"/>
              </a:rPr>
              <a:t>유스케이스 후보</a:t>
            </a:r>
            <a:r>
              <a:rPr sz="1800" b="0">
                <a:solidFill>
                  <a:srgbClr val="000000"/>
                </a:solidFill>
                <a:latin typeface="맑은 고딕"/>
                <a:ea typeface="맑은 고딕"/>
              </a:rPr>
              <a:t>를 식별한다.</a:t>
            </a:r>
          </a:p>
          <a:p>
            <a:pPr lvl="2" marL="607060" indent="-251460">
              <a:spcBef>
                <a:spcPts val="600"/>
              </a:spcBef>
              <a:spcAft>
                <a:spcPts val="600"/>
              </a:spcAft>
              <a:buNone/>
            </a:pPr>
            <a:r>
              <a:rPr sz="1800" b="0">
                <a:solidFill>
                  <a:srgbClr val="000000"/>
                </a:solidFill>
                <a:latin typeface="맑은 고딕"/>
                <a:ea typeface="맑은 고딕"/>
              </a:rPr>
              <a:t>4. 액터와 유스케이스로 </a:t>
            </a:r>
            <a:r>
              <a:rPr sz="1800" b="1">
                <a:solidFill>
                  <a:srgbClr val="000000"/>
                </a:solidFill>
                <a:latin typeface="맑은 고딕"/>
                <a:ea typeface="맑은 고딕"/>
              </a:rPr>
              <a:t>초안 유스케이스 다이어그램</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5. 유스케이스의 </a:t>
            </a:r>
            <a:r>
              <a:rPr sz="1800" b="1">
                <a:solidFill>
                  <a:srgbClr val="000000"/>
                </a:solidFill>
                <a:latin typeface="맑은 고딕"/>
                <a:ea typeface="맑은 고딕"/>
              </a:rPr>
              <a:t>기본 이벤트 흐름</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6. 필요한 </a:t>
            </a:r>
            <a:r>
              <a:rPr sz="1800" b="1">
                <a:solidFill>
                  <a:srgbClr val="000000"/>
                </a:solidFill>
                <a:latin typeface="맑은 고딕"/>
                <a:ea typeface="맑은 고딕"/>
              </a:rPr>
              <a:t>규칙·제약·예외 정책</a:t>
            </a:r>
            <a:r>
              <a:rPr sz="1800" b="0">
                <a:solidFill>
                  <a:srgbClr val="000000"/>
                </a:solidFill>
                <a:latin typeface="맑은 고딕"/>
                <a:ea typeface="맑은 고딕"/>
              </a:rPr>
              <a:t>을 별도로 식별한다.</a:t>
            </a:r>
          </a:p>
          <a:p>
            <a:pPr lvl="2" marL="607060" indent="-251460">
              <a:spcBef>
                <a:spcPts val="600"/>
              </a:spcBef>
              <a:spcAft>
                <a:spcPts val="600"/>
              </a:spcAft>
              <a:buNone/>
            </a:pPr>
            <a:r>
              <a:rPr sz="1800" b="0">
                <a:solidFill>
                  <a:srgbClr val="000000"/>
                </a:solidFill>
                <a:latin typeface="맑은 고딕"/>
                <a:ea typeface="맑은 고딕"/>
              </a:rPr>
              <a:t>7. </a:t>
            </a:r>
            <a:r>
              <a:rPr sz="1800" b="1">
                <a:solidFill>
                  <a:srgbClr val="000000"/>
                </a:solidFill>
                <a:latin typeface="맑은 고딕"/>
                <a:ea typeface="맑은 고딕"/>
              </a:rPr>
              <a:t>사전조건·사후조건·비즈니스 규칙</a:t>
            </a:r>
            <a:r>
              <a:rPr sz="1800" b="0">
                <a:solidFill>
                  <a:srgbClr val="000000"/>
                </a:solidFill>
                <a:latin typeface="맑은 고딕"/>
                <a:ea typeface="맑은 고딕"/>
              </a:rPr>
              <a:t> 등 필요한 내용을 상세화한다.</a:t>
            </a:r>
          </a:p>
          <a:p>
            <a:pPr lvl="2" marL="607060" indent="-251460">
              <a:spcBef>
                <a:spcPts val="600"/>
              </a:spcBef>
              <a:spcAft>
                <a:spcPts val="600"/>
              </a:spcAft>
              <a:buNone/>
            </a:pPr>
            <a:r>
              <a:rPr sz="1800" b="0">
                <a:solidFill>
                  <a:srgbClr val="000000"/>
                </a:solidFill>
                <a:latin typeface="맑은 고딕"/>
                <a:ea typeface="맑은 고딕"/>
              </a:rPr>
              <a:t>8. 상세화 결과를 반영해 유스케이스 다이어그램을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9. </a:t>
            </a:r>
            <a:r>
              <a:rPr sz="1800" b="1">
                <a:solidFill>
                  <a:srgbClr val="000000"/>
                </a:solidFill>
                <a:latin typeface="맑은 고딕"/>
                <a:ea typeface="맑은 고딕"/>
              </a:rPr>
              <a:t>SSD 초안</a:t>
            </a:r>
            <a:r>
              <a:rPr sz="1800" b="0">
                <a:solidFill>
                  <a:srgbClr val="000000"/>
                </a:solidFill>
                <a:latin typeface="맑은 고딕"/>
                <a:ea typeface="맑은 고딕"/>
              </a:rPr>
              <a:t>으로 시스템 이벤트와 시스템 오퍼레이션을 식별하고, 외부 시스템까지 SSD를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732790" indent="-377190">
              <a:spcBef>
                <a:spcPts val="600"/>
              </a:spcBef>
              <a:spcAft>
                <a:spcPts val="600"/>
              </a:spcAft>
              <a:buNone/>
            </a:pPr>
            <a:r>
              <a:rPr sz="1800" b="0">
                <a:solidFill>
                  <a:srgbClr val="000000"/>
                </a:solidFill>
                <a:latin typeface="맑은 고딕"/>
                <a:ea typeface="맑은 고딕"/>
              </a:rPr>
              <a:t>10. 필요하면 중요하고 복잡한 시스템 오퍼레이션의 </a:t>
            </a:r>
            <a:r>
              <a:rPr sz="1800" b="1">
                <a:solidFill>
                  <a:srgbClr val="000000"/>
                </a:solidFill>
                <a:latin typeface="맑은 고딕"/>
                <a:ea typeface="맑은 고딕"/>
              </a:rPr>
              <a:t>계약</a:t>
            </a:r>
            <a:r>
              <a:rPr sz="1800" b="0">
                <a:solidFill>
                  <a:srgbClr val="000000"/>
                </a:solidFill>
                <a:latin typeface="맑은 고딕"/>
                <a:ea typeface="맑은 고딕"/>
              </a:rPr>
              <a:t>을 작성한다.</a:t>
            </a:r>
          </a:p>
          <a:p>
            <a:pPr lvl="2" marL="732790" indent="-377190">
              <a:spcBef>
                <a:spcPts val="600"/>
              </a:spcBef>
              <a:spcAft>
                <a:spcPts val="600"/>
              </a:spcAft>
              <a:buNone/>
            </a:pPr>
            <a:r>
              <a:rPr sz="1800" b="0">
                <a:solidFill>
                  <a:srgbClr val="000000"/>
                </a:solidFill>
                <a:latin typeface="맑은 고딕"/>
                <a:ea typeface="맑은 고딕"/>
              </a:rPr>
              <a:t>11. 전체 요구와 유스케이스를 </a:t>
            </a:r>
            <a:r>
              <a:rPr sz="1800" b="1">
                <a:solidFill>
                  <a:srgbClr val="000000"/>
                </a:solidFill>
                <a:latin typeface="맑은 고딕"/>
                <a:ea typeface="맑은 고딕"/>
              </a:rPr>
              <a:t>검토</a:t>
            </a:r>
            <a:r>
              <a:rPr sz="1800" b="0">
                <a:solidFill>
                  <a:srgbClr val="000000"/>
                </a:solidFill>
                <a:latin typeface="맑은 고딕"/>
                <a:ea typeface="맑은 고딕"/>
              </a:rPr>
              <a:t>하고 정제한다.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a:t>
            </a:r>
          </a:p>
          <a:p>
            <a:r>
              <a:rPr sz="1100" b="1">
                <a:solidFill>
                  <a:srgbClr val="000000"/>
                </a:solidFill>
                <a:latin typeface="맑은 고딕"/>
                <a:ea typeface="맑은 고딕"/>
              </a:rPr>
              <a:t>업무 배경도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업무 배경도</a:t>
            </a:r>
            <a:r>
              <a:rPr sz="1400" b="0">
                <a:solidFill>
                  <a:srgbClr val="000000"/>
                </a:solidFill>
                <a:latin typeface="맑은 고딕"/>
                <a:ea typeface="맑은 고딕"/>
              </a:rPr>
              <a:t>(시스템 컨텍스트 다이어그램)</a:t>
            </a:r>
            <a:r>
              <a:rPr sz="1800" b="0">
                <a:solidFill>
                  <a:srgbClr val="000000"/>
                </a:solidFill>
                <a:latin typeface="맑은 고딕"/>
                <a:ea typeface="맑은 고딕"/>
              </a:rPr>
              <a:t>는 대상 시스템과 외부 사이에 </a:t>
            </a:r>
            <a:r>
              <a:rPr sz="1800" b="1">
                <a:solidFill>
                  <a:srgbClr val="000000"/>
                </a:solidFill>
                <a:latin typeface="맑은 고딕"/>
                <a:ea typeface="맑은 고딕"/>
              </a:rPr>
              <a:t>무엇이 오가는지</a:t>
            </a:r>
            <a:r>
              <a:rPr sz="1800" b="0">
                <a:solidFill>
                  <a:srgbClr val="000000"/>
                </a:solidFill>
                <a:latin typeface="맑은 고딕"/>
                <a:ea typeface="맑은 고딕"/>
              </a:rPr>
              <a:t> 보여준다. 경계를 정해야 무엇을 시스템이 책임지고 무엇을 외부 액터가 담당하는지 구분할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결제·상품·회계·배송 시스템은 </a:t>
            </a:r>
            <a:r>
              <a:rPr sz="1800" b="1">
                <a:solidFill>
                  <a:srgbClr val="000000"/>
                </a:solidFill>
                <a:latin typeface="맑은 고딕"/>
                <a:ea typeface="맑은 고딕"/>
              </a:rPr>
              <a:t>지원 액터</a:t>
            </a:r>
            <a:r>
              <a:rPr sz="1800" b="0">
                <a:solidFill>
                  <a:srgbClr val="000000"/>
                </a:solidFill>
                <a:latin typeface="맑은 고딕"/>
                <a:ea typeface="맑은 고딕"/>
              </a:rPr>
              <a:t>다. 요청의 동기·비동기는 「43. 정제된 SSD」에서 구분한다.</a:t>
            </a:r>
          </a:p>
        </p:txBody>
      </p:sp>
      <p:pic>
        <p:nvPicPr>
          <p:cNvPr id="9" name="svg Diagram 2" descr="업무 배경도: 주문 시스템과 고객·상품·결제·배송·회계 시스템 사이에 오가는 요청과 통보"/>
          <p:cNvPicPr>
            <a:picLocks noChangeAspect="1"/>
          </p:cNvPicPr>
          <p:nvPr/>
        </p:nvPicPr>
        <p:blipFill>
          <a:blip r:embed="svgImage2"/>
          <a:stretch>
            <a:fillRect/>
          </a:stretch>
        </p:blipFill>
        <p:spPr>
          <a:xfrm>
            <a:off x="1774031" y="315258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방향의 잘못</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판단 질문 —</a:t>
            </a:r>
            <a:r>
              <a:rPr sz="1400" b="0">
                <a:solidFill>
                  <a:srgbClr val="000000"/>
                </a:solidFill>
                <a:latin typeface="맑은 고딕"/>
                <a:ea typeface="맑은 고딕"/>
              </a:rPr>
              <a:t> </a:t>
            </a:r>
            <a:r>
              <a:rPr sz="1400" b="1">
                <a:solidFill>
                  <a:srgbClr val="000000"/>
                </a:solidFill>
                <a:latin typeface="맑은 고딕"/>
                <a:ea typeface="맑은 고딕"/>
              </a:rPr>
              <a:t>이 책임의 데이터와 규칙을 누가 소유하는가?</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11967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3151553"/>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액터는 시스템과 상호작용하는 외부 </a:t>
            </a:r>
            <a:r>
              <a:rPr sz="1800" b="1">
                <a:solidFill>
                  <a:srgbClr val="000000"/>
                </a:solidFill>
                <a:latin typeface="맑은 고딕"/>
                <a:ea typeface="맑은 고딕"/>
              </a:rPr>
              <a:t>역할</a:t>
            </a:r>
            <a:r>
              <a:rPr sz="1800" b="0">
                <a:solidFill>
                  <a:srgbClr val="000000"/>
                </a:solidFill>
                <a:latin typeface="맑은 고딕"/>
                <a:ea typeface="맑은 고딕"/>
              </a:rPr>
              <a:t>이다. 주 액터는 목표 달성에 시스템을 쓰고, 지원 액터는 필요한 외부 서비스를 제공한다.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9315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a:t>
            </a:r>
            <a:r>
              <a:rPr sz="1800" b="1">
                <a:solidFill>
                  <a:srgbClr val="000000"/>
                </a:solidFill>
                <a:latin typeface="맑은 고딕"/>
                <a:ea typeface="맑은 고딕"/>
              </a:rPr>
              <a:t>액터–목표 목록</a:t>
            </a:r>
            <a:r>
              <a:rPr sz="1800" b="0">
                <a:solidFill>
                  <a:srgbClr val="000000"/>
                </a:solidFill>
                <a:latin typeface="맑은 고딕"/>
                <a:ea typeface="맑은 고딕"/>
              </a:rPr>
              <a:t>으로 유스케이스 다이어그램을 그린다(「27. 유스케이스 다이어그램 —</a:t>
            </a:r>
            <a:r>
              <a:rPr sz="1600" b="0">
                <a:solidFill>
                  <a:srgbClr val="000000"/>
                </a:solidFill>
                <a:latin typeface="맑은 고딕"/>
                <a:ea typeface="맑은 고딕"/>
              </a:rPr>
              <a:t> 초안」).</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목표와 외부에서 확인할 수 있는 가치</a:t>
            </a:r>
            <a:r>
              <a:rPr sz="1800" b="0">
                <a:solidFill>
                  <a:srgbClr val="000000"/>
                </a:solidFill>
                <a:latin typeface="맑은 고딕"/>
                <a:ea typeface="맑은 고딕"/>
              </a:rPr>
              <a:t>를 기준으로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액터에게 </a:t>
            </a:r>
            <a:r>
              <a:rPr sz="1800" b="1">
                <a:solidFill>
                  <a:srgbClr val="000000"/>
                </a:solidFill>
                <a:latin typeface="맑은 고딕"/>
                <a:ea typeface="맑은 고딕"/>
              </a:rPr>
              <a:t>의미 있는 결과</a:t>
            </a:r>
            <a:r>
              <a:rPr sz="18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a:t>
            </a:r>
            <a:r>
              <a:rPr sz="1800" b="1">
                <a:solidFill>
                  <a:srgbClr val="000000"/>
                </a:solidFill>
                <a:latin typeface="맑은 고딕"/>
                <a:ea typeface="맑은 고딕"/>
              </a:rPr>
              <a:t>목표</a:t>
            </a:r>
            <a:r>
              <a:rPr sz="1800" b="0">
                <a:solidFill>
                  <a:srgbClr val="000000"/>
                </a:solidFill>
                <a:latin typeface="맑은 고딕"/>
                <a:ea typeface="맑은 고딕"/>
              </a:rPr>
              <a:t>를 표현하는가?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결과의 </a:t>
            </a:r>
            <a:r>
              <a:rPr sz="1800" b="1">
                <a:solidFill>
                  <a:srgbClr val="000000"/>
                </a:solidFill>
                <a:latin typeface="맑은 고딕"/>
                <a:ea typeface="맑은 고딕"/>
              </a:rPr>
              <a:t>가치</a:t>
            </a:r>
            <a:r>
              <a:rPr sz="1800" b="0">
                <a:solidFill>
                  <a:srgbClr val="000000"/>
                </a:solidFill>
                <a:latin typeface="맑은 고딕"/>
                <a:ea typeface="맑은 고딕"/>
              </a:rPr>
              <a:t>를 외부에서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시스템</a:t>
            </a:r>
            <a:r>
              <a:rPr sz="1600" b="0">
                <a:solidFill>
                  <a:srgbClr val="000000"/>
                </a:solidFill>
                <a:latin typeface="맑은 고딕"/>
                <a:ea typeface="맑은 고딕"/>
              </a:rPr>
              <a:t> —</a:t>
            </a:r>
            <a:r>
              <a:rPr sz="1400" b="0">
                <a:solidFill>
                  <a:srgbClr val="000000"/>
                </a:solidFill>
                <a:latin typeface="맑은 고딕"/>
                <a:ea typeface="맑은 고딕"/>
              </a:rPr>
              <a:t> 주문을 관리한다, 배송 현황을 조회한다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경계 밖</a:t>
            </a:r>
            <a:r>
              <a:rPr sz="1600" b="0">
                <a:solidFill>
                  <a:srgbClr val="000000"/>
                </a:solidFill>
                <a:latin typeface="맑은 고딕"/>
                <a:ea typeface="맑은 고딕"/>
              </a:rPr>
              <a:t> —</a:t>
            </a:r>
            <a:r>
              <a:rPr sz="1400" b="0">
                <a:solidFill>
                  <a:srgbClr val="000000"/>
                </a:solidFill>
                <a:latin typeface="맑은 고딕"/>
                <a:ea typeface="맑은 고딕"/>
              </a:rPr>
              <a:t> 배송을 처리한다</a:t>
            </a:r>
            <a:r>
              <a:rPr sz="1000" b="0">
                <a:solidFill>
                  <a:srgbClr val="000000"/>
                </a:solidFill>
                <a:latin typeface="맑은 고딕"/>
                <a:ea typeface="맑은 고딕"/>
              </a:rPr>
              <a:t>(배송 시스템)</a:t>
            </a:r>
            <a:r>
              <a:rPr sz="1400" b="0">
                <a:solidFill>
                  <a:srgbClr val="000000"/>
                </a:solidFill>
                <a:latin typeface="맑은 고딕"/>
                <a:ea typeface="맑은 고딕"/>
              </a:rPr>
              <a:t>, 상품 정보를 관리한다</a:t>
            </a:r>
            <a:r>
              <a:rPr sz="1000" b="0">
                <a:solidFill>
                  <a:srgbClr val="000000"/>
                </a:solidFill>
                <a:latin typeface="맑은 고딕"/>
                <a:ea typeface="맑은 고딕"/>
              </a:rPr>
              <a:t>(상품 시스템)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기계적인 기능 분해의 잘못된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회원 등록, 회원 조회, 회원 수정, 회원 삭제 —</a:t>
            </a:r>
            <a:r>
              <a:rPr sz="1400" b="0">
                <a:solidFill>
                  <a:srgbClr val="000000"/>
                </a:solidFill>
                <a:latin typeface="맑은 고딕"/>
                <a:ea typeface="맑은 고딕"/>
              </a:rPr>
              <a:t> </a:t>
            </a:r>
            <a:r>
              <a:rPr sz="1400" b="1">
                <a:solidFill>
                  <a:srgbClr val="000000"/>
                </a:solidFill>
                <a:latin typeface="맑은 고딕"/>
                <a:ea typeface="맑은 고딕"/>
              </a:rPr>
              <a:t>CRUD 목록</a:t>
            </a:r>
            <a:r>
              <a:rPr sz="1400" b="0">
                <a:solidFill>
                  <a:srgbClr val="000000"/>
                </a:solidFill>
                <a:latin typeface="맑은 고딕"/>
                <a:ea typeface="맑은 고딕"/>
              </a:rPr>
              <a:t>을 그대로 유스케이스 4개로 만든 </a:t>
            </a:r>
            <a:r>
              <a:rPr sz="1400" b="1">
                <a:solidFill>
                  <a:srgbClr val="000000"/>
                </a:solidFill>
                <a:latin typeface="맑은 고딕"/>
                <a:ea typeface="맑은 고딕"/>
              </a:rPr>
              <a:t>잘못된 예</a:t>
            </a:r>
            <a:r>
              <a:rPr sz="14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자료 유지는 </a:t>
            </a:r>
            <a:r>
              <a:rPr sz="1600" b="1">
                <a:solidFill>
                  <a:srgbClr val="000000"/>
                </a:solidFill>
                <a:latin typeface="맑은 고딕"/>
                <a:ea typeface="맑은 고딕"/>
              </a:rPr>
              <a:t>회원 정보를 관리한다</a:t>
            </a:r>
            <a:r>
              <a:rPr sz="1600" b="0">
                <a:solidFill>
                  <a:srgbClr val="000000"/>
                </a:solidFill>
                <a:latin typeface="맑은 고딕"/>
                <a:ea typeface="맑은 고딕"/>
              </a:rPr>
              <a:t> 하나로 다루고, 조회·수정·탈퇴는 필요하면 대안 흐름으로 정의한다(「35. 잘못된 관행 —</a:t>
            </a:r>
            <a:r>
              <a:rPr sz="1400" b="0">
                <a:solidFill>
                  <a:srgbClr val="000000"/>
                </a:solidFill>
                <a:latin typeface="맑은 고딕"/>
                <a:ea typeface="맑은 고딕"/>
              </a:rPr>
              <a:t> CRUD 분할」).</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5" y="3058085"/>
          <a:ext cx="7592060" cy="3873500"/>
        </p:xfrm>
        <a:graphic>
          <a:graphicData uri="http://schemas.openxmlformats.org/drawingml/2006/table">
            <a:tbl>
              <a:tblPr/>
              <a:tblGrid>
                <a:gridCol w="1087120"/>
                <a:gridCol w="35458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번의 사용·여러 날에 걸친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이용한다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사람이 한 번에 마치고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이고, 하위 기능은 반복되는 의미 있는 행위일 때만 분리한다</a:t>
            </a:r>
            <a:r>
              <a:rPr sz="1400" b="0">
                <a:solidFill>
                  <a:srgbClr val="000000"/>
                </a:solidFill>
                <a:latin typeface="맑은 고딕"/>
                <a:ea typeface="맑은 고딕"/>
              </a:rPr>
              <a:t>(포함)</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목표는 '주 액터가 이것을 마치고 </a:t>
            </a:r>
            <a:r>
              <a:rPr sz="1800" b="1">
                <a:solidFill>
                  <a:srgbClr val="000000"/>
                </a:solidFill>
                <a:latin typeface="맑은 고딕"/>
                <a:ea typeface="맑은 고딕"/>
              </a:rPr>
              <a:t>만족해서 떠날 수 있는가</a:t>
            </a:r>
            <a:r>
              <a:rPr sz="1800" b="0">
                <a:solidFill>
                  <a:srgbClr val="000000"/>
                </a:solidFill>
                <a:latin typeface="맑은 고딕"/>
                <a:ea typeface="맑은 고딕"/>
              </a:rPr>
              <a:t>?'라는 질문에 답한다"</a:t>
            </a:r>
            <a:r>
              <a:rPr sz="1000" b="0">
                <a:solidFill>
                  <a:srgbClr val="000000"/>
                </a:solidFill>
                <a:latin typeface="맑은 고딕"/>
                <a:ea typeface="맑은 고딕"/>
              </a:rPr>
              <a:t>, </a:t>
            </a:r>
            <a:r>
              <a:rPr sz="1000" b="0">
                <a:solidFill>
                  <a:srgbClr val="000000"/>
                </a:solidFill>
                <a:latin typeface="맑은 고딕"/>
                <a:ea typeface="맑은 고딕"/>
              </a:rPr>
              <a:t>"A user goal addresses the question, “Can the primary actor go away happy after having done this?”"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4724903"/>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a:t>
            </a:r>
            <a:r>
              <a:rPr sz="1800" b="1">
                <a:solidFill>
                  <a:srgbClr val="000000"/>
                </a:solidFill>
                <a:latin typeface="맑은 고딕"/>
                <a:ea typeface="맑은 고딕"/>
              </a:rPr>
              <a:t>업무 배경도</a:t>
            </a:r>
            <a:r>
              <a:rPr sz="1800" b="0">
                <a:solidFill>
                  <a:srgbClr val="000000"/>
                </a:solidFill>
                <a:latin typeface="맑은 고딕"/>
                <a:ea typeface="맑은 고딕"/>
              </a:rPr>
              <a:t>처럼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만 둔다. 지원 액터와 포함·확장은 「33. 유스케이스 다이어그램 —</a:t>
            </a:r>
            <a:r>
              <a:rPr sz="1600" b="0">
                <a:solidFill>
                  <a:srgbClr val="000000"/>
                </a:solidFill>
                <a:latin typeface="맑은 고딕"/>
                <a:ea typeface="맑은 고딕"/>
              </a:rPr>
              <a:t> 상세화」에서 더한다.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99063"/>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3" descr="유스케이스 다이어그램 초안: 주 액터 고객과 주문 시스템의 두 유스케이스"/>
          <p:cNvPicPr>
            <a:picLocks noChangeAspect="1"/>
          </p:cNvPicPr>
          <p:nvPr/>
        </p:nvPicPr>
        <p:blipFill>
          <a:blip r:embed="svgImage3"/>
          <a:stretch>
            <a:fillRect/>
          </a:stretch>
        </p:blipFill>
        <p:spPr>
          <a:xfrm>
            <a:off x="3231706" y="2497276"/>
            <a:ext cx="2667000" cy="150018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 밖의 유스케이스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다른 시스템의 유스케이스는 </a:t>
            </a:r>
            <a:r>
              <a:rPr sz="1600" b="1">
                <a:solidFill>
                  <a:srgbClr val="000000"/>
                </a:solidFill>
                <a:latin typeface="맑은 고딕"/>
                <a:ea typeface="맑은 고딕"/>
              </a:rPr>
              <a:t>그 시스템의 경계 안</a:t>
            </a:r>
            <a:r>
              <a:rPr sz="1600" b="0">
                <a:solidFill>
                  <a:srgbClr val="000000"/>
                </a:solidFill>
                <a:latin typeface="맑은 고딕"/>
                <a:ea typeface="맑은 고딕"/>
              </a:rPr>
              <a:t>에 따로 그린다. 주문 시스템의 범위가 아님을 분명히 한다.</a:t>
            </a:r>
          </a:p>
        </p:txBody>
      </p:sp>
      <p:pic>
        <p:nvPicPr>
          <p:cNvPr id="9" name="svg Diagram 4" descr="경계 밖 유스케이스: 관리자와 상품 시스템, 배송 담당자와 배송 시스템"/>
          <p:cNvPicPr>
            <a:picLocks noChangeAspect="1"/>
          </p:cNvPicPr>
          <p:nvPr/>
        </p:nvPicPr>
        <p:blipFill>
          <a:blip r:embed="svgImage4"/>
          <a:stretch>
            <a:fillRect/>
          </a:stretch>
        </p:blipFill>
        <p:spPr>
          <a:xfrm>
            <a:off x="1774031" y="3631054"/>
            <a:ext cx="5595938" cy="1404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5" y="1842998"/>
          <a:ext cx="5331460" cy="3873500"/>
        </p:xfrm>
        <a:graphic>
          <a:graphicData uri="http://schemas.openxmlformats.org/drawingml/2006/table">
            <a:tbl>
              <a:tblPr/>
              <a:tblGrid>
                <a:gridCol w="16459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달성하려는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달성의 주체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수준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결과에 영향을 받는 이해관계자와 기대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시작 전에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성공했을 때 참이어야 하는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정상적으로 목표를 달성하는 본질적인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흐름과 별도로 적용되는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정말 필요한 경우 별도로 정의하는 예외 처리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 등 별도의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명세는 서식을 채우기 위한 문서가 아니라, </a:t>
            </a:r>
            <a:r>
              <a:rPr sz="1800" b="1">
                <a:solidFill>
                  <a:srgbClr val="000000"/>
                </a:solidFill>
                <a:latin typeface="맑은 고딕"/>
                <a:ea typeface="맑은 고딕"/>
              </a:rPr>
              <a:t>목표·조건·행위·결과를 명확히 해 검토와 합의를 가능하게 하는 수단</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주문을 관리한다 —</a:t>
            </a:r>
            <a:r>
              <a:rPr sz="1600" b="0">
                <a:solidFill>
                  <a:srgbClr val="000000"/>
                </a:solidFill>
                <a:latin typeface="맑은 고딕"/>
                <a:ea typeface="맑은 고딕"/>
              </a:rPr>
              <a:t> 기본 흐름</a:t>
            </a:r>
          </a:p>
          <a:p>
            <a:pPr lvl="3" marL="947420" indent="-223520">
              <a:spcBef>
                <a:spcPts val="600"/>
              </a:spcBef>
              <a:spcAft>
                <a:spcPts val="600"/>
              </a:spcAft>
              <a:buNone/>
            </a:pPr>
            <a:r>
              <a:rPr sz="1600" b="0">
                <a:solidFill>
                  <a:srgbClr val="000000"/>
                </a:solidFill>
                <a:latin typeface="맑은 고딕"/>
                <a:ea typeface="맑은 고딕"/>
              </a:rPr>
              <a:t>1. 고객이 상품을 조회한다.</a:t>
            </a:r>
          </a:p>
          <a:p>
            <a:pPr lvl="3" marL="947420" indent="-223520">
              <a:spcBef>
                <a:spcPts val="600"/>
              </a:spcBef>
              <a:spcAft>
                <a:spcPts val="600"/>
              </a:spcAft>
              <a:buNone/>
            </a:pPr>
            <a:r>
              <a:rPr sz="1600" b="0">
                <a:solidFill>
                  <a:srgbClr val="000000"/>
                </a:solidFill>
                <a:latin typeface="맑은 고딕"/>
                <a:ea typeface="맑은 고딕"/>
              </a:rPr>
              <a:t>2. 고객이 상품과 수량을 장바구니에 담는다.</a:t>
            </a:r>
          </a:p>
          <a:p>
            <a:pPr lvl="3" marL="947420" indent="-223520">
              <a:spcBef>
                <a:spcPts val="600"/>
              </a:spcBef>
              <a:spcAft>
                <a:spcPts val="600"/>
              </a:spcAft>
              <a:buNone/>
            </a:pPr>
            <a:r>
              <a:rPr sz="1600" b="0">
                <a:solidFill>
                  <a:srgbClr val="000000"/>
                </a:solidFill>
                <a:latin typeface="맑은 고딕"/>
                <a:ea typeface="맑은 고딕"/>
              </a:rPr>
              <a:t>3. 고객이 배송지를 지정한다.</a:t>
            </a:r>
          </a:p>
          <a:p>
            <a:pPr lvl="3" marL="947420" indent="-223520">
              <a:spcBef>
                <a:spcPts val="600"/>
              </a:spcBef>
              <a:spcAft>
                <a:spcPts val="600"/>
              </a:spcAft>
              <a:buNone/>
            </a:pPr>
            <a:r>
              <a:rPr sz="1600" b="0">
                <a:solidFill>
                  <a:srgbClr val="000000"/>
                </a:solidFill>
                <a:latin typeface="맑은 고딕"/>
                <a:ea typeface="맑은 고딕"/>
              </a:rPr>
              <a:t>4. 고객이 결제한다.</a:t>
            </a:r>
          </a:p>
          <a:p>
            <a:pPr lvl="3" marL="947420" indent="-223520">
              <a:spcBef>
                <a:spcPts val="600"/>
              </a:spcBef>
              <a:spcAft>
                <a:spcPts val="600"/>
              </a:spcAft>
              <a:buNone/>
            </a:pPr>
            <a:r>
              <a:rPr sz="1600" b="0">
                <a:solidFill>
                  <a:srgbClr val="000000"/>
                </a:solidFill>
                <a:latin typeface="맑은 고딕"/>
                <a:ea typeface="맑은 고딕"/>
              </a:rPr>
              <a:t>5. 고객은 주문 결과를 확인한다.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주문할 상품마다 </a:t>
            </a:r>
            <a:r>
              <a:rPr sz="1600" b="1">
                <a:solidFill>
                  <a:srgbClr val="000000"/>
                </a:solidFill>
                <a:latin typeface="맑은 고딕"/>
                <a:ea typeface="맑은 고딕"/>
              </a:rPr>
              <a:t>1~2단계를 반복</a:t>
            </a:r>
            <a:r>
              <a:rPr sz="1600" b="0">
                <a:solidFill>
                  <a:srgbClr val="000000"/>
                </a:solidFill>
                <a:latin typeface="맑은 고딕"/>
                <a:ea typeface="맑은 고딕"/>
              </a:rPr>
              <a:t>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취소·배송지 변경·주문 내역 확인은 이 유스케이스의 </a:t>
            </a:r>
            <a:r>
              <a:rPr sz="1600" b="1">
                <a:solidFill>
                  <a:srgbClr val="000000"/>
                </a:solidFill>
                <a:latin typeface="맑은 고딕"/>
                <a:ea typeface="맑은 고딕"/>
              </a:rPr>
              <a:t>대안 흐름</a:t>
            </a:r>
            <a:r>
              <a:rPr sz="1600" b="0">
                <a:solidFill>
                  <a:srgbClr val="000000"/>
                </a:solidFill>
                <a:latin typeface="맑은 고딕"/>
                <a:ea typeface="맑은 고딕"/>
              </a:rPr>
              <a:t>이다. 대안 흐름의 번호는 갈라져 나오는 </a:t>
            </a:r>
            <a:r>
              <a:rPr sz="1600" b="1">
                <a:solidFill>
                  <a:srgbClr val="000000"/>
                </a:solidFill>
                <a:latin typeface="맑은 고딕"/>
                <a:ea typeface="맑은 고딕"/>
              </a:rPr>
              <a:t>기본 흐름의 단계</a:t>
            </a:r>
            <a:r>
              <a:rPr sz="1600" b="0">
                <a:solidFill>
                  <a:srgbClr val="000000"/>
                </a:solidFill>
                <a:latin typeface="맑은 고딕"/>
                <a:ea typeface="맑은 고딕"/>
              </a:rPr>
              <a:t>를 따른다</a:t>
            </a:r>
            <a:r>
              <a:rPr sz="1200" b="0">
                <a:solidFill>
                  <a:srgbClr val="000000"/>
                </a:solidFill>
                <a:latin typeface="맑은 고딕"/>
                <a:ea typeface="맑은 고딕"/>
              </a:rPr>
              <a:t>(「32. 유스케이스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작성 원칙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액터의 </a:t>
            </a:r>
            <a:r>
              <a:rPr sz="1600" b="1">
                <a:solidFill>
                  <a:srgbClr val="000000"/>
                </a:solidFill>
                <a:latin typeface="맑은 고딕"/>
                <a:ea typeface="맑은 고딕"/>
              </a:rPr>
              <a:t>목표와 의도</a:t>
            </a:r>
            <a:r>
              <a:rPr sz="1600" b="0">
                <a:solidFill>
                  <a:srgbClr val="000000"/>
                </a:solidFill>
                <a:latin typeface="맑은 고딕"/>
                <a:ea typeface="맑은 고딕"/>
              </a:rPr>
              <a:t>를 중심으로 </a:t>
            </a:r>
            <a:r>
              <a:rPr sz="1600" b="1">
                <a:solidFill>
                  <a:srgbClr val="000000"/>
                </a:solidFill>
                <a:latin typeface="맑은 고딕"/>
                <a:ea typeface="맑은 고딕"/>
              </a:rPr>
              <a:t>본질적인 행위만</a:t>
            </a:r>
            <a:r>
              <a:rPr sz="1600" b="0">
                <a:solidFill>
                  <a:srgbClr val="000000"/>
                </a:solidFill>
                <a:latin typeface="맑은 고딕"/>
                <a:ea typeface="맑은 고딕"/>
              </a:rPr>
              <a:t>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동일한 의미·결과의 </a:t>
            </a:r>
            <a:r>
              <a:rPr sz="1600" b="1">
                <a:solidFill>
                  <a:srgbClr val="000000"/>
                </a:solidFill>
                <a:latin typeface="맑은 고딕"/>
                <a:ea typeface="맑은 고딕"/>
              </a:rPr>
              <a:t>반복</a:t>
            </a:r>
            <a:r>
              <a:rPr sz="1600" b="0">
                <a:solidFill>
                  <a:srgbClr val="000000"/>
                </a:solidFill>
                <a:latin typeface="맑은 고딕"/>
                <a:ea typeface="맑은 고딕"/>
              </a:rPr>
              <a:t>이나 </a:t>
            </a:r>
            <a:r>
              <a:rPr sz="1600" b="1">
                <a:solidFill>
                  <a:srgbClr val="000000"/>
                </a:solidFill>
                <a:latin typeface="맑은 고딕"/>
                <a:ea typeface="맑은 고딕"/>
              </a:rPr>
              <a:t>화면 클릭 순서</a:t>
            </a:r>
            <a:r>
              <a:rPr sz="1600" b="0">
                <a:solidFill>
                  <a:srgbClr val="000000"/>
                </a:solidFill>
                <a:latin typeface="맑은 고딕"/>
                <a:ea typeface="맑은 고딕"/>
              </a:rPr>
              <a:t>를 쓰지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 없는 </a:t>
            </a:r>
            <a:r>
              <a:rPr sz="1600" b="0">
                <a:solidFill>
                  <a:srgbClr val="000000"/>
                </a:solidFill>
                <a:latin typeface="맑은 고딕"/>
                <a:ea typeface="맑은 고딕"/>
              </a:rPr>
              <a:t>요청→처리</a:t>
            </a:r>
            <a:r>
              <a:rPr sz="1600" b="0">
                <a:solidFill>
                  <a:srgbClr val="000000"/>
                </a:solidFill>
                <a:latin typeface="맑은 고딕"/>
                <a:ea typeface="맑은 고딕"/>
              </a:rPr>
              <a:t> 반복은 피하되 필요한 </a:t>
            </a:r>
            <a:r>
              <a:rPr sz="1600" b="1">
                <a:solidFill>
                  <a:srgbClr val="000000"/>
                </a:solidFill>
                <a:latin typeface="맑은 고딕"/>
                <a:ea typeface="맑은 고딕"/>
              </a:rPr>
              <a:t>의도·응답</a:t>
            </a:r>
            <a:r>
              <a:rPr sz="1600" b="0">
                <a:solidFill>
                  <a:srgbClr val="000000"/>
                </a:solidFill>
                <a:latin typeface="맑은 고딕"/>
                <a:ea typeface="맑은 고딕"/>
              </a:rPr>
              <a:t>은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내부 구현</a:t>
            </a:r>
            <a:r>
              <a:rPr sz="1600" b="0">
                <a:solidFill>
                  <a:srgbClr val="000000"/>
                </a:solidFill>
                <a:latin typeface="맑은 고딕"/>
                <a:ea typeface="맑은 고딕"/>
              </a:rPr>
              <a:t>의 확인·계산·저장·호출은 나열하지 않되, 경로를 바꾸는 </a:t>
            </a:r>
            <a:r>
              <a:rPr sz="1600" b="1">
                <a:solidFill>
                  <a:srgbClr val="000000"/>
                </a:solidFill>
                <a:latin typeface="맑은 고딕"/>
                <a:ea typeface="맑은 고딕"/>
              </a:rPr>
              <a:t>판단</a:t>
            </a:r>
            <a:r>
              <a:rPr sz="1600" b="0">
                <a:solidFill>
                  <a:srgbClr val="000000"/>
                </a:solidFill>
                <a:latin typeface="맑은 고딕"/>
                <a:ea typeface="맑은 고딕"/>
              </a:rPr>
              <a:t>은 외부 행위로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설계 내용</a:t>
            </a:r>
            <a:r>
              <a:rPr sz="1200" b="0">
                <a:solidFill>
                  <a:srgbClr val="000000"/>
                </a:solidFill>
                <a:latin typeface="맑은 고딕"/>
                <a:ea typeface="맑은 고딕"/>
              </a:rPr>
              <a:t>(클래스·객체·메서드)</a:t>
            </a:r>
            <a:r>
              <a:rPr sz="1600" b="0">
                <a:solidFill>
                  <a:srgbClr val="000000"/>
                </a:solidFill>
                <a:latin typeface="맑은 고딕"/>
                <a:ea typeface="맑은 고딕"/>
              </a:rPr>
              <a:t>이나 가능한 </a:t>
            </a:r>
            <a:r>
              <a:rPr sz="1600" b="1">
                <a:solidFill>
                  <a:srgbClr val="000000"/>
                </a:solidFill>
                <a:latin typeface="맑은 고딕"/>
                <a:ea typeface="맑은 고딕"/>
              </a:rPr>
              <a:t>모든 경우</a:t>
            </a:r>
            <a:r>
              <a:rPr sz="1600" b="0">
                <a:solidFill>
                  <a:srgbClr val="000000"/>
                </a:solidFill>
                <a:latin typeface="맑은 고딕"/>
                <a:ea typeface="맑은 고딕"/>
              </a:rPr>
              <a:t>를 넣지 않는다.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규칙·제약·예외 정책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이벤트 흐름에 가능한 모든 조건과 실패를 나열하지 않는다. </a:t>
            </a:r>
            <a:r>
              <a:rPr sz="1800" b="1">
                <a:solidFill>
                  <a:srgbClr val="000000"/>
                </a:solidFill>
                <a:latin typeface="맑은 고딕"/>
                <a:ea typeface="맑은 고딕"/>
              </a:rPr>
              <a:t>규칙·제약·예외 정책은 필요할 때 별도로 분리해 기술</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비즈니스 규칙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특정 상품</a:t>
            </a:r>
            <a:r>
              <a:rPr sz="1600" b="0">
                <a:solidFill>
                  <a:srgbClr val="000000"/>
                </a:solidFill>
                <a:latin typeface="맑은 고딕"/>
                <a:ea typeface="맑은 고딕"/>
              </a:rPr>
              <a:t>은 취소가 제한될 수 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부분 취소</a:t>
            </a:r>
            <a:r>
              <a:rPr sz="1600" b="0">
                <a:solidFill>
                  <a:srgbClr val="000000"/>
                </a:solidFill>
                <a:latin typeface="맑은 고딕"/>
                <a:ea typeface="맑은 고딕"/>
              </a:rPr>
              <a:t>의 허용 조건을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완료 이후 취소는 </a:t>
            </a:r>
            <a:r>
              <a:rPr sz="1600" b="1">
                <a:solidFill>
                  <a:srgbClr val="000000"/>
                </a:solidFill>
                <a:latin typeface="맑은 고딕"/>
                <a:ea typeface="맑은 고딕"/>
              </a:rPr>
              <a:t>환불 처리</a:t>
            </a:r>
            <a:r>
              <a:rPr sz="1600" b="0">
                <a:solidFill>
                  <a:srgbClr val="000000"/>
                </a:solidFill>
                <a:latin typeface="맑은 고딕"/>
                <a:ea typeface="맑은 고딕"/>
              </a:rPr>
              <a:t>와 연결되어야 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법률·계약·정책상</a:t>
            </a:r>
            <a:r>
              <a:rPr sz="1600" b="0">
                <a:solidFill>
                  <a:srgbClr val="000000"/>
                </a:solidFill>
                <a:latin typeface="맑은 고딕"/>
                <a:ea typeface="맑은 고딕"/>
              </a:rPr>
              <a:t> 취소 제한이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정책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정말 중요한 경우</a:t>
            </a:r>
            <a:r>
              <a:rPr sz="1600" b="0">
                <a:solidFill>
                  <a:srgbClr val="000000"/>
                </a:solidFill>
                <a:latin typeface="맑은 고딕"/>
                <a:ea typeface="맑은 고딕"/>
              </a:rPr>
              <a:t>에만 별도로 정의한다.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예를 들어 환불 실패가 핵심 업무 위험이라면 </a:t>
            </a:r>
            <a:r>
              <a:rPr sz="1600" b="1">
                <a:solidFill>
                  <a:srgbClr val="000000"/>
                </a:solidFill>
                <a:latin typeface="맑은 고딕"/>
                <a:ea typeface="맑은 고딕"/>
              </a:rPr>
              <a:t>환불 실패 정책</a:t>
            </a:r>
            <a:r>
              <a:rPr sz="1600" b="0">
                <a:solidFill>
                  <a:srgbClr val="000000"/>
                </a:solidFill>
                <a:latin typeface="맑은 고딕"/>
                <a:ea typeface="맑은 고딕"/>
              </a:rPr>
              <a:t>으로 별도 정의할 수 있다.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754313"/>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「32. 유스케이스 상세화」의 주문 취소 대안 흐름을 </a:t>
            </a:r>
            <a:r>
              <a:rPr sz="1800" b="1">
                <a:solidFill>
                  <a:srgbClr val="000000"/>
                </a:solidFill>
                <a:latin typeface="맑은 고딕"/>
                <a:ea typeface="맑은 고딕"/>
              </a:rPr>
              <a:t>출발점</a:t>
            </a:r>
            <a:r>
              <a:rPr sz="1800" b="0">
                <a:solidFill>
                  <a:srgbClr val="000000"/>
                </a:solidFill>
                <a:latin typeface="맑은 고딕"/>
                <a:ea typeface="맑은 고딕"/>
              </a:rPr>
              <a:t>으로 적용 범위를 넓혀 보며 질문한다. 예시의 전제가 실제 요구 전체를 대표한다고 가정하지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유스케이스 상세화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2240238"/>
          <a:ext cx="7790180" cy="3873500"/>
        </p:xfrm>
        <a:graphic>
          <a:graphicData uri="http://schemas.openxmlformats.org/drawingml/2006/table">
            <a:tbl>
              <a:tblPr/>
              <a:tblGrid>
                <a:gridCol w="1534160"/>
                <a:gridCol w="6256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상품 시스템, 회계 시스템,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 → 장바구니 담기(반복) → 배송지 지정 → 결제 → 주문 결과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 주문 취소(결제 완료·배송 시작 전), 3a 배송지 변경(출고 전), 5a 주문 내역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 결과 통지 시간, 권한 확인 기준, 결과 확인 방식에 대한 요구를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상세화는 문서량을 늘리는 작업이 아니라, </a:t>
            </a:r>
            <a:r>
              <a:rPr sz="1800" b="1">
                <a:solidFill>
                  <a:srgbClr val="000000"/>
                </a:solidFill>
                <a:latin typeface="맑은 고딕"/>
                <a:ea typeface="맑은 고딕"/>
              </a:rPr>
              <a:t>조건·규칙·결과의 의미를 필요한 수준까지 명확히 하는 작업</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유스케이스 상세화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 1a —</a:t>
            </a:r>
            <a:r>
              <a:rPr sz="1600" b="0">
                <a:solidFill>
                  <a:srgbClr val="000000"/>
                </a:solidFill>
                <a:latin typeface="맑은 고딕"/>
                <a:ea typeface="맑은 고딕"/>
              </a:rPr>
              <a:t> 주문 취소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조건</a:t>
            </a:r>
            <a:r>
              <a:rPr sz="1600" b="0">
                <a:solidFill>
                  <a:srgbClr val="000000"/>
                </a:solidFill>
                <a:latin typeface="맑은 고딕"/>
                <a:ea typeface="맑은 고딕"/>
              </a:rPr>
              <a:t> —</a:t>
            </a:r>
            <a:r>
              <a:rPr sz="1400" b="0">
                <a:solidFill>
                  <a:srgbClr val="000000"/>
                </a:solidFill>
                <a:latin typeface="맑은 고딕"/>
                <a:ea typeface="맑은 고딕"/>
              </a:rPr>
              <a:t> 고객 소유의 결제 완료 주문이며 배송 시작 전이다.</a:t>
            </a:r>
          </a:p>
          <a:p>
            <a:pPr lvl="3" marL="947420" indent="-223520">
              <a:spcBef>
                <a:spcPts val="600"/>
              </a:spcBef>
              <a:spcAft>
                <a:spcPts val="600"/>
              </a:spcAft>
              <a:buNone/>
            </a:pPr>
            <a:r>
              <a:rPr sz="1600" b="0">
                <a:solidFill>
                  <a:srgbClr val="000000"/>
                </a:solidFill>
                <a:latin typeface="맑은 고딕"/>
                <a:ea typeface="맑은 고딕"/>
              </a:rPr>
              <a:t>1. 고객이 주문을 취소한다.</a:t>
            </a:r>
          </a:p>
          <a:p>
            <a:pPr lvl="3" marL="947420" indent="-223520">
              <a:spcBef>
                <a:spcPts val="600"/>
              </a:spcBef>
              <a:spcAft>
                <a:spcPts val="600"/>
              </a:spcAft>
              <a:buNone/>
            </a:pPr>
            <a:r>
              <a:rPr sz="1600" b="0">
                <a:solidFill>
                  <a:srgbClr val="000000"/>
                </a:solidFill>
                <a:latin typeface="맑은 고딕"/>
                <a:ea typeface="맑은 고딕"/>
              </a:rPr>
              <a:t>2. 환불이 처리된다.</a:t>
            </a:r>
          </a:p>
          <a:p>
            <a:pPr lvl="3" marL="947420" indent="-223520">
              <a:spcBef>
                <a:spcPts val="600"/>
              </a:spcBef>
              <a:spcAft>
                <a:spcPts val="600"/>
              </a:spcAft>
              <a:buNone/>
            </a:pPr>
            <a:r>
              <a:rPr sz="1600" b="0">
                <a:solidFill>
                  <a:srgbClr val="000000"/>
                </a:solidFill>
                <a:latin typeface="맑은 고딕"/>
                <a:ea typeface="맑은 고딕"/>
              </a:rPr>
              <a:t>3. 고객은 주문 취소 결과를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결과</a:t>
            </a:r>
            <a:r>
              <a:rPr sz="1600" b="0">
                <a:solidFill>
                  <a:srgbClr val="000000"/>
                </a:solidFill>
                <a:latin typeface="맑은 고딕"/>
                <a:ea typeface="맑은 고딕"/>
              </a:rPr>
              <a:t> —</a:t>
            </a:r>
            <a:r>
              <a:rPr sz="1400" b="0">
                <a:solidFill>
                  <a:srgbClr val="000000"/>
                </a:solidFill>
                <a:latin typeface="맑은 고딕"/>
                <a:ea typeface="맑은 고딕"/>
              </a:rPr>
              <a:t> 주문이 취소 상태이고, 결제 금액 전액의 환불이 완료된다.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흐름 1a2a —</a:t>
            </a:r>
            <a:r>
              <a:rPr sz="1600" b="0">
                <a:solidFill>
                  <a:srgbClr val="000000"/>
                </a:solidFill>
                <a:latin typeface="맑은 고딕"/>
                <a:ea typeface="맑은 고딕"/>
              </a:rPr>
              <a:t> 환불이 완료되지 않는다</a:t>
            </a:r>
            <a:r>
              <a:rPr sz="1200" b="0">
                <a:solidFill>
                  <a:srgbClr val="000000"/>
                </a:solidFill>
                <a:latin typeface="맑은 고딕"/>
                <a:ea typeface="맑은 고딕"/>
              </a:rPr>
              <a:t>(교육용 가정)</a:t>
            </a:r>
          </a:p>
          <a:p>
            <a:pPr lvl="3" marL="947420" indent="-223520">
              <a:spcBef>
                <a:spcPts val="600"/>
              </a:spcBef>
              <a:spcAft>
                <a:spcPts val="600"/>
              </a:spcAft>
              <a:buNone/>
            </a:pPr>
            <a:r>
              <a:rPr sz="1600" b="0">
                <a:solidFill>
                  <a:srgbClr val="000000"/>
                </a:solidFill>
                <a:latin typeface="맑은 고딕"/>
                <a:ea typeface="맑은 고딕"/>
              </a:rPr>
              <a:t>1. 고객은 취소·환불이 완료되지 않았음과 후속 문의 방법을 안내받는다.</a:t>
            </a:r>
          </a:p>
          <a:p>
            <a:pPr lvl="3" marL="947420" indent="-223520">
              <a:spcBef>
                <a:spcPts val="600"/>
              </a:spcBef>
              <a:spcAft>
                <a:spcPts val="600"/>
              </a:spcAft>
              <a:buNone/>
            </a:pPr>
            <a:r>
              <a:rPr sz="1600" b="0">
                <a:solidFill>
                  <a:srgbClr val="000000"/>
                </a:solidFill>
                <a:latin typeface="맑은 고딕"/>
                <a:ea typeface="맑은 고딕"/>
              </a:rPr>
              <a:t>2. 취소 흐름은 성공 결과를 충족하지 않은 채 끝난다.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번호는 </a:t>
            </a:r>
            <a:r>
              <a:rPr sz="1600" b="1">
                <a:solidFill>
                  <a:srgbClr val="000000"/>
                </a:solidFill>
                <a:latin typeface="맑은 고딕"/>
                <a:ea typeface="맑은 고딕"/>
              </a:rPr>
              <a:t>기본 흐름에서 파생</a:t>
            </a:r>
            <a:r>
              <a:rPr sz="1600" b="0">
                <a:solidFill>
                  <a:srgbClr val="000000"/>
                </a:solidFill>
                <a:latin typeface="맑은 고딕"/>
                <a:ea typeface="맑은 고딕"/>
              </a:rPr>
              <a:t>한다. </a:t>
            </a:r>
            <a:r>
              <a:rPr sz="1600" b="0">
                <a:solidFill>
                  <a:srgbClr val="000000"/>
                </a:solidFill>
                <a:latin typeface="맑은 고딕"/>
                <a:ea typeface="맑은 고딕"/>
              </a:rPr>
              <a:t>1a</a:t>
            </a:r>
            <a:r>
              <a:rPr sz="1600" b="0">
                <a:solidFill>
                  <a:srgbClr val="000000"/>
                </a:solidFill>
                <a:latin typeface="맑은 고딕"/>
                <a:ea typeface="맑은 고딕"/>
              </a:rPr>
              <a:t> —</a:t>
            </a:r>
            <a:r>
              <a:rPr sz="1400" b="0">
                <a:solidFill>
                  <a:srgbClr val="000000"/>
                </a:solidFill>
                <a:latin typeface="맑은 고딕"/>
                <a:ea typeface="맑은 고딕"/>
              </a:rPr>
              <a:t> 기본 흐름 1단계에서 갈라지는 첫 번째 대안 흐름, </a:t>
            </a:r>
            <a:r>
              <a:rPr sz="1400" b="0">
                <a:solidFill>
                  <a:srgbClr val="000000"/>
                </a:solidFill>
                <a:latin typeface="맑은 고딕"/>
                <a:ea typeface="맑은 고딕"/>
              </a:rPr>
              <a:t>1a2a</a:t>
            </a:r>
            <a:r>
              <a:rPr sz="1400" b="0">
                <a:solidFill>
                  <a:srgbClr val="000000"/>
                </a:solidFill>
                <a:latin typeface="맑은 고딕"/>
                <a:ea typeface="맑은 고딕"/>
              </a:rPr>
              <a:t> — 그 대안 흐름의 2단계에서 갈라지는 첫 번째 예외 흐름이다. 대안·예외 흐름 모두 </a:t>
            </a:r>
            <a:r>
              <a:rPr sz="1400" b="1">
                <a:solidFill>
                  <a:srgbClr val="000000"/>
                </a:solidFill>
                <a:latin typeface="맑은 고딕"/>
                <a:ea typeface="맑은 고딕"/>
              </a:rPr>
              <a:t>조건 → 달라지는 행위 → 복귀 또는 종료</a:t>
            </a:r>
            <a:r>
              <a:rPr sz="1400" b="0">
                <a:solidFill>
                  <a:srgbClr val="000000"/>
                </a:solidFill>
                <a:latin typeface="맑은 고딕"/>
                <a:ea typeface="맑은 고딕"/>
              </a:rPr>
              <a:t>로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예외 정책</a:t>
            </a:r>
            <a:r>
              <a:rPr sz="1600" b="0">
                <a:solidFill>
                  <a:srgbClr val="000000"/>
                </a:solidFill>
                <a:latin typeface="맑은 고딕"/>
                <a:ea typeface="맑은 고딕"/>
              </a:rPr>
              <a:t>은 실패 시 지킬 원칙이고, </a:t>
            </a:r>
            <a:r>
              <a:rPr sz="1600" b="1">
                <a:solidFill>
                  <a:srgbClr val="000000"/>
                </a:solidFill>
                <a:latin typeface="맑은 고딕"/>
                <a:ea typeface="맑은 고딕"/>
              </a:rPr>
              <a:t>예외 흐름</a:t>
            </a:r>
            <a:r>
              <a:rPr sz="1600" b="0">
                <a:solidFill>
                  <a:srgbClr val="000000"/>
                </a:solidFill>
                <a:latin typeface="맑은 고딕"/>
                <a:ea typeface="맑은 고딕"/>
              </a:rPr>
              <a:t>은 그때 달라지는 외부 행위·결과다.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 일반 취소 불가</a:t>
            </a:r>
            <a:r>
              <a:rPr sz="1600" b="0">
                <a:solidFill>
                  <a:srgbClr val="000000"/>
                </a:solidFill>
                <a:latin typeface="맑은 고딕"/>
                <a:ea typeface="맑은 고딕"/>
              </a:rPr>
              <a:t>는 </a:t>
            </a:r>
            <a:r>
              <a:rPr sz="1600" b="1">
                <a:solidFill>
                  <a:srgbClr val="000000"/>
                </a:solidFill>
                <a:latin typeface="맑은 고딕"/>
                <a:ea typeface="맑은 고딕"/>
              </a:rPr>
              <a:t>흐름</a:t>
            </a:r>
            <a:r>
              <a:rPr sz="1600" b="0">
                <a:solidFill>
                  <a:srgbClr val="000000"/>
                </a:solidFill>
                <a:latin typeface="맑은 고딕"/>
                <a:ea typeface="맑은 고딕"/>
              </a:rPr>
              <a:t>이 아니라 </a:t>
            </a:r>
            <a:r>
              <a:rPr sz="1600" b="1">
                <a:solidFill>
                  <a:srgbClr val="000000"/>
                </a:solidFill>
                <a:latin typeface="맑은 고딕"/>
                <a:ea typeface="맑은 고딕"/>
              </a:rPr>
              <a:t>규칙</a:t>
            </a:r>
            <a:r>
              <a:rPr sz="1600" b="0">
                <a:solidFill>
                  <a:srgbClr val="000000"/>
                </a:solidFill>
                <a:latin typeface="맑은 고딕"/>
                <a:ea typeface="맑은 고딕"/>
              </a:rPr>
              <a:t>으로 기록한다.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1842998"/>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결제를 확인한다</a:t>
            </a:r>
            <a:r>
              <a:rPr sz="1600" b="0">
                <a:solidFill>
                  <a:srgbClr val="000000"/>
                </a:solidFill>
                <a:latin typeface="맑은 고딕"/>
                <a:ea typeface="맑은 고딕"/>
              </a:rPr>
              <a:t>가 포함으로 분리되는 이유는 내부 함수가 아니라 </a:t>
            </a:r>
            <a:r>
              <a:rPr sz="1600" b="1">
                <a:solidFill>
                  <a:srgbClr val="000000"/>
                </a:solidFill>
                <a:latin typeface="맑은 고딕"/>
                <a:ea typeface="맑은 고딕"/>
              </a:rPr>
              <a:t>외부 결제 시스템과의 상호작용</a:t>
            </a:r>
            <a:r>
              <a:rPr sz="1600" b="0">
                <a:solidFill>
                  <a:srgbClr val="000000"/>
                </a:solidFill>
                <a:latin typeface="맑은 고딕"/>
                <a:ea typeface="맑은 고딕"/>
              </a:rPr>
              <a:t>이기 때문이다.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결제 확인 행위를 포함해야 완료된다. 초안(「27. 유스케이스 다이어그램 —</a:t>
            </a:r>
            <a:r>
              <a:rPr sz="1400" b="0">
                <a:solidFill>
                  <a:srgbClr val="000000"/>
                </a:solidFill>
                <a:latin typeface="맑은 고딕"/>
                <a:ea typeface="맑은 고딕"/>
              </a:rPr>
              <a:t> 초안」)에 </a:t>
            </a:r>
            <a:r>
              <a:rPr sz="1400" b="1">
                <a:solidFill>
                  <a:srgbClr val="000000"/>
                </a:solidFill>
                <a:latin typeface="맑은 고딕"/>
                <a:ea typeface="맑은 고딕"/>
              </a:rPr>
              <a:t>지원 액터</a:t>
            </a:r>
            <a:r>
              <a:rPr sz="1400" b="0">
                <a:solidFill>
                  <a:srgbClr val="000000"/>
                </a:solidFill>
                <a:latin typeface="맑은 고딕"/>
                <a:ea typeface="맑은 고딕"/>
              </a:rPr>
              <a:t>(오른쪽 </a:t>
            </a:r>
            <a:r>
              <a:rPr sz="1400" b="0">
                <a:solidFill>
                  <a:srgbClr val="000000"/>
                </a:solidFill>
                <a:latin typeface="맑은 고딕"/>
                <a:ea typeface="맑은 고딕"/>
              </a:rPr>
              <a:t>«actor»</a:t>
            </a:r>
            <a:r>
              <a:rPr sz="14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svg Diagram 5" descr="상세화한 유스케이스 다이어그램: 주문을 관리한다가 결제를 확인한다를 포함하고 결제 시스템은 결제를 확인한다와 연결"/>
          <p:cNvPicPr>
            <a:picLocks noChangeAspect="1"/>
          </p:cNvPicPr>
          <p:nvPr/>
        </p:nvPicPr>
        <p:blipFill>
          <a:blip r:embed="svgImage5"/>
          <a:stretch>
            <a:fillRect/>
          </a:stretch>
        </p:blipFill>
        <p:spPr>
          <a:xfrm>
            <a:off x="1774031" y="221659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확장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다음은 표기 설명을 위한 </a:t>
            </a:r>
            <a:r>
              <a:rPr sz="1600" b="1">
                <a:solidFill>
                  <a:srgbClr val="000000"/>
                </a:solidFill>
                <a:latin typeface="맑은 고딕"/>
                <a:ea typeface="맑은 고딕"/>
              </a:rPr>
              <a:t>교육용 가정</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a:t>
            </a:r>
            <a:r>
              <a:rPr sz="1600" b="1">
                <a:solidFill>
                  <a:srgbClr val="000000"/>
                </a:solidFill>
                <a:latin typeface="맑은 고딕"/>
                <a:ea typeface="맑은 고딕"/>
              </a:rPr>
              <a:t>쿠폰 없이도 완료</a:t>
            </a:r>
            <a:r>
              <a:rPr sz="1600" b="0">
                <a:solidFill>
                  <a:srgbClr val="000000"/>
                </a:solidFill>
                <a:latin typeface="맑은 고딕"/>
                <a:ea typeface="맑은 고딕"/>
              </a:rPr>
              <a:t>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유효한 쿠폰 요청이 있으면 </a:t>
            </a:r>
            <a:r>
              <a:rPr sz="1400" b="0">
                <a:solidFill>
                  <a:srgbClr val="000000"/>
                </a:solidFill>
                <a:latin typeface="맑은 고딕"/>
                <a:ea typeface="맑은 고딕"/>
              </a:rPr>
              <a:t>최종 금액 확정 전</a:t>
            </a:r>
            <a:r>
              <a:rPr sz="1400" b="0">
                <a:solidFill>
                  <a:srgbClr val="000000"/>
                </a:solidFill>
                <a:latin typeface="맑은 고딕"/>
                <a:ea typeface="맑은 고딕"/>
              </a:rPr>
              <a:t>에 쿠폰을 </a:t>
            </a:r>
            <a:r>
              <a:rPr sz="1400" b="1">
                <a:solidFill>
                  <a:srgbClr val="000000"/>
                </a:solidFill>
                <a:latin typeface="맑은 고딕"/>
                <a:ea typeface="맑은 고딕"/>
              </a:rPr>
              <a:t>적용</a:t>
            </a:r>
            <a:r>
              <a:rPr sz="1400" b="0">
                <a:solidFill>
                  <a:srgbClr val="000000"/>
                </a:solidFill>
                <a:latin typeface="맑은 고딕"/>
                <a:ea typeface="맑은 고딕"/>
              </a:rPr>
              <a:t>한다.</a:t>
            </a:r>
          </a:p>
        </p:txBody>
      </p:sp>
      <p:pic>
        <p:nvPicPr>
          <p:cNvPr id="9" name="svg Diagram 6" descr="확장 관계: 쿠폰을 적용한다가 확장 조건에 따라 주문을 관리한다를 확장"/>
          <p:cNvPicPr>
            <a:picLocks noChangeAspect="1"/>
          </p:cNvPicPr>
          <p:nvPr/>
        </p:nvPicPr>
        <p:blipFill>
          <a:blip r:embed="svgImage6"/>
          <a:stretch>
            <a:fillRect/>
          </a:stretch>
        </p:blipFill>
        <p:spPr>
          <a:xfrm>
            <a:off x="2250281" y="3577317"/>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일반화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의미·행위를 </a:t>
            </a:r>
            <a:r>
              <a:rPr sz="1600" b="1">
                <a:solidFill>
                  <a:srgbClr val="000000"/>
                </a:solidFill>
                <a:latin typeface="맑은 고딕"/>
                <a:ea typeface="맑은 고딕"/>
              </a:rPr>
              <a:t>모두 이어받을 때만</a:t>
            </a:r>
            <a:r>
              <a:rPr sz="1600" b="0">
                <a:solidFill>
                  <a:srgbClr val="000000"/>
                </a:solidFill>
                <a:latin typeface="맑은 고딕"/>
                <a:ea typeface="맑은 고딕"/>
              </a:rPr>
              <a:t> 일반화를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기업 고객·VIP 고객이 </a:t>
            </a:r>
            <a:r>
              <a:rPr sz="1600" b="0">
                <a:solidFill>
                  <a:srgbClr val="000000"/>
                </a:solidFill>
                <a:latin typeface="맑은 고딕"/>
                <a:ea typeface="맑은 고딕"/>
              </a:rPr>
              <a:t>주문을 관리한다</a:t>
            </a:r>
            <a:r>
              <a:rPr sz="1600" b="0">
                <a:solidFill>
                  <a:srgbClr val="000000"/>
                </a:solidFill>
                <a:latin typeface="맑은 고딕"/>
                <a:ea typeface="맑은 고딕"/>
              </a:rPr>
              <a:t>를 </a:t>
            </a:r>
            <a:r>
              <a:rPr sz="1600" b="1">
                <a:solidFill>
                  <a:srgbClr val="000000"/>
                </a:solidFill>
                <a:latin typeface="맑은 고딕"/>
                <a:ea typeface="맑은 고딕"/>
              </a:rPr>
              <a:t>모두 이어받는다</a:t>
            </a:r>
            <a:r>
              <a:rPr sz="1600" b="0">
                <a:solidFill>
                  <a:srgbClr val="000000"/>
                </a:solidFill>
                <a:latin typeface="맑은 고딕"/>
                <a:ea typeface="맑은 고딕"/>
              </a:rPr>
              <a:t>고 가정한다.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이후 </a:t>
            </a:r>
            <a:r>
              <a:rPr sz="1400" b="1">
                <a:solidFill>
                  <a:srgbClr val="000000"/>
                </a:solidFill>
                <a:latin typeface="맑은 고딕"/>
                <a:ea typeface="맑은 고딕"/>
              </a:rPr>
              <a:t>한도·혜택</a:t>
            </a:r>
            <a:r>
              <a:rPr sz="1400" b="0">
                <a:solidFill>
                  <a:srgbClr val="000000"/>
                </a:solidFill>
                <a:latin typeface="맑은 고딕"/>
                <a:ea typeface="맑은 고딕"/>
              </a:rPr>
              <a:t> 등 요건이 붙을 수 있다.</a:t>
            </a:r>
          </a:p>
        </p:txBody>
      </p:sp>
      <p:pic>
        <p:nvPicPr>
          <p:cNvPr id="9" name="svg Diagram 7" descr="액터 일반화: 기업 고객과 VIP 고객이 고객을 특수화하고 고객은 주문을 관리한다에 참여"/>
          <p:cNvPicPr>
            <a:picLocks noChangeAspect="1"/>
          </p:cNvPicPr>
          <p:nvPr/>
        </p:nvPicPr>
        <p:blipFill>
          <a:blip r:embed="svgImage7"/>
          <a:stretch>
            <a:fillRect/>
          </a:stretch>
        </p:blipFill>
        <p:spPr>
          <a:xfrm>
            <a:off x="2637234" y="3940457"/>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3058085"/>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 분해도처럼 유스케이스를 잘게 쪼개면 </a:t>
            </a:r>
            <a:r>
              <a:rPr sz="1800" b="1">
                <a:solidFill>
                  <a:srgbClr val="000000"/>
                </a:solidFill>
                <a:latin typeface="맑은 고딕"/>
                <a:ea typeface="맑은 고딕"/>
              </a:rPr>
              <a:t>액터의 목표가 사라지고</a:t>
            </a:r>
            <a:r>
              <a:rPr sz="1800" b="0">
                <a:solidFill>
                  <a:srgbClr val="000000"/>
                </a:solidFill>
                <a:latin typeface="맑은 고딕"/>
                <a:ea typeface="맑은 고딕"/>
              </a:rPr>
              <a:t> 유스케이스 수만 늘어난다. 판단 질문은 하나다. </a:t>
            </a:r>
            <a:r>
              <a:rPr sz="1800" b="1">
                <a:solidFill>
                  <a:srgbClr val="000000"/>
                </a:solidFill>
                <a:latin typeface="맑은 고딕"/>
                <a:ea typeface="맑은 고딕"/>
              </a:rPr>
              <a:t>이것만 마치고 액터가 만족해서 떠날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"글쓰기에서 가장 흔한 실수는 문장의 주어를 빼는 것, </a:t>
            </a:r>
            <a:r>
              <a:rPr sz="1800" b="1">
                <a:solidFill>
                  <a:srgbClr val="000000"/>
                </a:solidFill>
                <a:latin typeface="맑은 고딕"/>
                <a:ea typeface="맑은 고딕"/>
              </a:rPr>
              <a:t>화면 설계를 가정</a:t>
            </a:r>
            <a:r>
              <a:rPr sz="1800" b="0">
                <a:solidFill>
                  <a:srgbClr val="000000"/>
                </a:solidFill>
                <a:latin typeface="맑은 고딕"/>
                <a:ea typeface="맑은 고딕"/>
              </a:rPr>
              <a:t>하는 것, </a:t>
            </a:r>
            <a:r>
              <a:rPr sz="1800" b="1">
                <a:solidFill>
                  <a:srgbClr val="000000"/>
                </a:solidFill>
                <a:latin typeface="맑은 고딕"/>
                <a:ea typeface="맑은 고딕"/>
              </a:rPr>
              <a:t>너무 낮은 목표 수준</a:t>
            </a:r>
            <a:r>
              <a:rPr sz="1800" b="0">
                <a:solidFill>
                  <a:srgbClr val="000000"/>
                </a:solidFill>
                <a:latin typeface="맑은 고딕"/>
                <a:ea typeface="맑은 고딕"/>
              </a:rPr>
              <a:t>을 쓰는 것이다"</a:t>
            </a:r>
            <a:r>
              <a:rPr sz="1000" b="0">
                <a:solidFill>
                  <a:srgbClr val="000000"/>
                </a:solidFill>
                <a:latin typeface="맑은 고딕"/>
                <a:ea typeface="맑은 고딕"/>
              </a:rPr>
              <a:t>, </a:t>
            </a:r>
            <a:r>
              <a:rPr sz="1000" b="0">
                <a:solidFill>
                  <a:srgbClr val="000000"/>
                </a:solidFill>
                <a:latin typeface="맑은 고딕"/>
                <a:ea typeface="맑은 고딕"/>
              </a:rPr>
              <a:t>"The most common mistakes in writing are leaving out the subjects of sentences, making assumptions about the user interface design, and using goal levels that are too low."</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2754313"/>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매트릭스를 요구 목록으로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CRUD 전체 점검은 상세 설계에서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자료를 유지하는 요구를 생성·조회·수정·삭제별 유스케이스로 나누지 않는다.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다루고, 조회·수정·삭제는 필요하면 </a:t>
            </a:r>
            <a:r>
              <a:rPr sz="1800" b="1">
                <a:solidFill>
                  <a:srgbClr val="000000"/>
                </a:solidFill>
                <a:latin typeface="맑은 고딕"/>
                <a:ea typeface="맑은 고딕"/>
              </a:rPr>
              <a:t>대안 흐름</a:t>
            </a:r>
            <a:r>
              <a:rPr sz="1800" b="0">
                <a:solidFill>
                  <a:srgbClr val="000000"/>
                </a:solidFill>
                <a:latin typeface="맑은 고딕"/>
                <a:ea typeface="맑은 고딕"/>
              </a:rPr>
              <a:t>으로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묶는 기준은 </a:t>
            </a:r>
            <a:r>
              <a:rPr sz="1800" b="1">
                <a:solidFill>
                  <a:srgbClr val="000000"/>
                </a:solidFill>
                <a:latin typeface="맑은 고딕"/>
                <a:ea typeface="맑은 고딕"/>
              </a:rPr>
              <a:t>같은 자료의 유지</a:t>
            </a:r>
            <a:r>
              <a:rPr sz="1800" b="0">
                <a:solidFill>
                  <a:srgbClr val="000000"/>
                </a:solidFill>
                <a:latin typeface="맑은 고딕"/>
                <a:ea typeface="맑은 고딕"/>
              </a:rPr>
              <a:t>다. 같은 주문을 다뤄도 </a:t>
            </a:r>
            <a:r>
              <a:rPr sz="1800" b="1">
                <a:solidFill>
                  <a:srgbClr val="000000"/>
                </a:solidFill>
                <a:latin typeface="맑은 고딕"/>
                <a:ea typeface="맑은 고딕"/>
              </a:rPr>
              <a:t>시작 조건·목표·결과</a:t>
            </a:r>
            <a:r>
              <a:rPr sz="1800" b="0">
                <a:solidFill>
                  <a:srgbClr val="000000"/>
                </a:solidFill>
                <a:latin typeface="맑은 고딕"/>
                <a:ea typeface="맑은 고딕"/>
              </a:rPr>
              <a:t>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2392124"/>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세부가 아니라 </a:t>
            </a:r>
            <a:r>
              <a:rPr sz="1800" b="1">
                <a:solidFill>
                  <a:srgbClr val="000000"/>
                </a:solidFill>
                <a:latin typeface="맑은 고딕"/>
                <a:ea typeface="맑은 고딕"/>
              </a:rPr>
              <a:t>액터의 의도</a:t>
            </a:r>
            <a:r>
              <a:rPr sz="1800" b="0">
                <a:solidFill>
                  <a:srgbClr val="000000"/>
                </a:solidFill>
                <a:latin typeface="맑은 고딕"/>
                <a:ea typeface="맑은 고딕"/>
              </a:rPr>
              <a:t>를 드러낸다"</a:t>
            </a:r>
            <a:r>
              <a:rPr sz="1000" b="0">
                <a:solidFill>
                  <a:srgbClr val="000000"/>
                </a:solidFill>
                <a:latin typeface="맑은 고딕"/>
                <a:ea typeface="맑은 고딕"/>
              </a:rPr>
              <a:t>, </a:t>
            </a:r>
            <a:r>
              <a:rPr sz="1000" b="0">
                <a:solidFill>
                  <a:srgbClr val="000000"/>
                </a:solidFill>
                <a:latin typeface="맑은 고딕"/>
                <a:ea typeface="맑은 고딕"/>
              </a:rPr>
              <a:t>"Highlight the actor's intention, not the user interface details."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1842998"/>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1585960"/>
          <a:ext cx="7790180" cy="3873500"/>
        </p:xfrm>
        <a:graphic>
          <a:graphicData uri="http://schemas.openxmlformats.org/drawingml/2006/table">
            <a:tbl>
              <a:tblPr/>
              <a:tblGrid>
                <a:gridCol w="346202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대안·예외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규칙·제약·예외 정책으로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CRUD를 포함 관계로 분해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바른 모습은 </a:t>
            </a:r>
            <a:r>
              <a:rPr sz="1600" b="1">
                <a:solidFill>
                  <a:srgbClr val="000000"/>
                </a:solidFill>
                <a:latin typeface="맑은 고딕"/>
                <a:ea typeface="맑은 고딕"/>
              </a:rPr>
              <a:t>상품 정보를 관리한다</a:t>
            </a:r>
            <a:r>
              <a:rPr sz="1600" b="0">
                <a:solidFill>
                  <a:srgbClr val="000000"/>
                </a:solidFill>
                <a:latin typeface="맑은 고딕"/>
                <a:ea typeface="맑은 고딕"/>
              </a:rPr>
              <a:t> 하나와 대안 흐름이다(「35. 잘못된 관행 —</a:t>
            </a:r>
            <a:r>
              <a:rPr sz="1400" b="0">
                <a:solidFill>
                  <a:srgbClr val="000000"/>
                </a:solidFill>
                <a:latin typeface="맑은 고딕"/>
                <a:ea typeface="맑은 고딕"/>
              </a:rPr>
              <a:t> CRUD 분할」).</a:t>
            </a:r>
          </a:p>
        </p:txBody>
      </p:sp>
      <p:pic>
        <p:nvPicPr>
          <p:cNvPr id="9" name="svg Diagram 8" descr="잘못된 예: 상품 관리를 등록·조회·수정·삭제 포함 관계로 분해"/>
          <p:cNvPicPr>
            <a:picLocks noChangeAspect="1"/>
          </p:cNvPicPr>
          <p:nvPr/>
        </p:nvPicPr>
        <p:blipFill>
          <a:blip r:embed="svgImage8"/>
          <a:stretch>
            <a:fillRect/>
          </a:stretch>
        </p:blipFill>
        <p:spPr>
          <a:xfrm>
            <a:off x="1893094" y="3468573"/>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유스케이스로 그린 업무 순서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경계가 없고, 유스케이스 사이의 일반 화살표가 </a:t>
            </a:r>
            <a:r>
              <a:rPr sz="1600" b="1">
                <a:solidFill>
                  <a:srgbClr val="000000"/>
                </a:solidFill>
                <a:latin typeface="맑은 고딕"/>
                <a:ea typeface="맑은 고딕"/>
              </a:rPr>
              <a:t>실행 순서</a:t>
            </a:r>
            <a:r>
              <a:rPr sz="1600" b="0">
                <a:solidFill>
                  <a:srgbClr val="000000"/>
                </a:solidFill>
                <a:latin typeface="맑은 고딕"/>
                <a:ea typeface="맑은 고딕"/>
              </a:rPr>
              <a:t>를 나타낸다.</a:t>
            </a:r>
          </a:p>
        </p:txBody>
      </p:sp>
      <p:pic>
        <p:nvPicPr>
          <p:cNvPr id="9" name="svg Diagram 9" descr="잘못된 예: 시스템 경계 없이 유스케이스 사이 화살표로 실행 순서를 표현"/>
          <p:cNvPicPr>
            <a:picLocks noChangeAspect="1"/>
          </p:cNvPicPr>
          <p:nvPr/>
        </p:nvPicPr>
        <p:blipFill>
          <a:blip r:embed="svgImage9"/>
          <a:stretch>
            <a:fillRect/>
          </a:stretch>
        </p:blipFill>
        <p:spPr>
          <a:xfrm>
            <a:off x="1744266" y="3738210"/>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피해야 할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시스템 경계 없이</a:t>
            </a:r>
            <a:r>
              <a:rPr sz="1600" b="0">
                <a:solidFill>
                  <a:srgbClr val="000000"/>
                </a:solidFill>
                <a:latin typeface="맑은 고딕"/>
                <a:ea typeface="맑은 고딕"/>
              </a:rPr>
              <a:t> 유스케이스만 나열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 사이의 일반 화살표로 </a:t>
            </a:r>
            <a:r>
              <a:rPr sz="1600" b="1">
                <a:solidFill>
                  <a:srgbClr val="000000"/>
                </a:solidFill>
                <a:latin typeface="맑은 고딕"/>
                <a:ea typeface="맑은 고딕"/>
              </a:rPr>
              <a:t>실행 순서</a:t>
            </a:r>
            <a:r>
              <a:rPr sz="1600" b="0">
                <a:solidFill>
                  <a:srgbClr val="000000"/>
                </a:solidFill>
                <a:latin typeface="맑은 고딕"/>
                <a:ea typeface="맑은 고딕"/>
              </a:rPr>
              <a:t>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화면 메뉴 구조</a:t>
            </a:r>
            <a:r>
              <a:rPr sz="1600" b="0">
                <a:solidFill>
                  <a:srgbClr val="000000"/>
                </a:solidFill>
                <a:latin typeface="맑은 고딕"/>
                <a:ea typeface="맑은 고딕"/>
              </a:rPr>
              <a:t>를 그대로 유스케이스로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CRUD·내부 기능</a:t>
            </a:r>
            <a:r>
              <a:rPr sz="1600" b="0">
                <a:solidFill>
                  <a:srgbClr val="000000"/>
                </a:solidFill>
                <a:latin typeface="맑은 고딕"/>
                <a:ea typeface="맑은 고딕"/>
              </a:rPr>
              <a:t>을 포함 관계로 분해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공통 코드</a:t>
            </a:r>
            <a:r>
              <a:rPr sz="1600" b="0">
                <a:solidFill>
                  <a:srgbClr val="000000"/>
                </a:solidFill>
                <a:latin typeface="맑은 고딕"/>
                <a:ea typeface="맑은 고딕"/>
              </a:rPr>
              <a:t>라는 이유만으로 </a:t>
            </a:r>
            <a:r>
              <a:rPr sz="1600" b="0">
                <a:solidFill>
                  <a:srgbClr val="000000"/>
                </a:solidFill>
                <a:latin typeface="맑은 고딕"/>
                <a:ea typeface="맑은 고딕"/>
              </a:rPr>
              <a:t>&lt;&lt;include&gt;&gt;</a:t>
            </a:r>
            <a:r>
              <a:rPr sz="1600" b="0">
                <a:solidFill>
                  <a:srgbClr val="000000"/>
                </a:solidFill>
                <a:latin typeface="맑은 고딕"/>
                <a:ea typeface="맑은 고딕"/>
              </a:rPr>
              <a:t>, </a:t>
            </a:r>
            <a:r>
              <a:rPr sz="1600" b="1">
                <a:solidFill>
                  <a:srgbClr val="000000"/>
                </a:solidFill>
                <a:latin typeface="맑은 고딕"/>
                <a:ea typeface="맑은 고딕"/>
              </a:rPr>
              <a:t>선택 기능</a:t>
            </a:r>
            <a:r>
              <a:rPr sz="1600" b="0">
                <a:solidFill>
                  <a:srgbClr val="000000"/>
                </a:solidFill>
                <a:latin typeface="맑은 고딕"/>
                <a:ea typeface="맑은 고딕"/>
              </a:rPr>
              <a:t>이라는 이유만으로 </a:t>
            </a:r>
            <a:r>
              <a:rPr sz="1600" b="0">
                <a:solidFill>
                  <a:srgbClr val="000000"/>
                </a:solidFill>
                <a:latin typeface="맑은 고딕"/>
                <a:ea typeface="맑은 고딕"/>
              </a:rPr>
              <a:t>&lt;&lt;extend&gt;&gt;</a:t>
            </a:r>
            <a:r>
              <a:rPr sz="1600" b="0">
                <a:solidFill>
                  <a:srgbClr val="000000"/>
                </a:solidFill>
                <a:latin typeface="맑은 고딕"/>
                <a:ea typeface="맑은 고딕"/>
              </a:rPr>
              <a:t> 사용</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액터를 모든 유스케이스에 연결한 </a:t>
            </a:r>
            <a:r>
              <a:rPr sz="1600" b="1">
                <a:solidFill>
                  <a:srgbClr val="000000"/>
                </a:solidFill>
                <a:latin typeface="맑은 고딕"/>
                <a:ea typeface="맑은 고딕"/>
              </a:rPr>
              <a:t>거미줄</a:t>
            </a:r>
          </a:p>
        </p:txBody>
      </p:sp>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시스템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852660"/>
          <a:ext cx="8305800" cy="3873500"/>
        </p:xfrm>
        <a:graphic>
          <a:graphicData uri="http://schemas.openxmlformats.org/drawingml/2006/table">
            <a:tbl>
              <a:tblPr/>
              <a:tblGrid>
                <a:gridCol w="2260600"/>
                <a:gridCol w="267970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조각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시퀀스 다이어그램</a:t>
            </a:r>
            <a:r>
              <a:rPr sz="1400" b="0">
                <a:solidFill>
                  <a:srgbClr val="000000"/>
                </a:solidFill>
                <a:latin typeface="맑은 고딕"/>
                <a:ea typeface="맑은 고딕"/>
              </a:rPr>
              <a:t>(System Sequence Diagram, SSD)</a:t>
            </a:r>
            <a:r>
              <a:rPr sz="1800" b="0">
                <a:solidFill>
                  <a:srgbClr val="000000"/>
                </a:solidFill>
                <a:latin typeface="맑은 고딕"/>
                <a:ea typeface="맑은 고딕"/>
              </a:rPr>
              <a:t>은 유스케이스 </a:t>
            </a:r>
            <a:r>
              <a:rPr sz="1800" b="1">
                <a:solidFill>
                  <a:srgbClr val="000000"/>
                </a:solidFill>
                <a:latin typeface="맑은 고딕"/>
                <a:ea typeface="맑은 고딕"/>
              </a:rPr>
              <a:t>시나리오 하나</a:t>
            </a:r>
            <a:r>
              <a:rPr sz="1800" b="0">
                <a:solidFill>
                  <a:srgbClr val="000000"/>
                </a:solidFill>
                <a:latin typeface="맑은 고딕"/>
                <a:ea typeface="맑은 고딕"/>
              </a:rPr>
              <a:t>에서 </a:t>
            </a:r>
            <a:r>
              <a:rPr sz="1800" b="1">
                <a:solidFill>
                  <a:srgbClr val="000000"/>
                </a:solidFill>
                <a:latin typeface="맑은 고딕"/>
                <a:ea typeface="맑은 고딕"/>
              </a:rPr>
              <a:t>주 액터</a:t>
            </a:r>
            <a:r>
              <a:rPr sz="1800" b="0">
                <a:solidFill>
                  <a:srgbClr val="000000"/>
                </a:solidFill>
                <a:latin typeface="맑은 고딕"/>
                <a:ea typeface="맑은 고딕"/>
              </a:rPr>
              <a:t>가 시스템에 보내는 </a:t>
            </a:r>
            <a:r>
              <a:rPr sz="1800" b="1">
                <a:solidFill>
                  <a:srgbClr val="000000"/>
                </a:solidFill>
                <a:latin typeface="맑은 고딕"/>
                <a:ea typeface="맑은 고딕"/>
              </a:rPr>
              <a:t>시스템 이벤트</a:t>
            </a:r>
            <a:r>
              <a:rPr sz="1800" b="0">
                <a:solidFill>
                  <a:srgbClr val="000000"/>
                </a:solidFill>
                <a:latin typeface="맑은 고딕"/>
                <a:ea typeface="맑은 고딕"/>
              </a:rPr>
              <a:t>와 그 순서를 보여준다. 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요구 분석에서는 SSD로 시스템 이벤트를 찾고, 시스템 오퍼레이션과 계약으로 이어 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32340"/>
            <a:ext cx="8412480" cy="1318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「43.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단계의 이벤트는 모두 </a:t>
            </a:r>
            <a:r>
              <a:rPr sz="1800" b="1">
                <a:solidFill>
                  <a:srgbClr val="000000"/>
                </a:solidFill>
                <a:latin typeface="맑은 고딕"/>
                <a:ea typeface="맑은 고딕"/>
              </a:rPr>
              <a:t>동기 호출</a:t>
            </a:r>
            <a:r>
              <a:rPr sz="1800" b="0">
                <a:solidFill>
                  <a:srgbClr val="000000"/>
                </a:solidFill>
                <a:latin typeface="맑은 고딕"/>
                <a:ea typeface="맑은 고딕"/>
              </a:rPr>
              <a:t>이다. 응답은 그리지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10" descr="시스템 시퀀스 다이어그램 표기: 액터, 대상 시스템과 생명선, 시스템 이벤트, 반복 조각"/>
          <p:cNvPicPr>
            <a:picLocks noChangeAspect="1"/>
          </p:cNvPicPr>
          <p:nvPr/>
        </p:nvPicPr>
        <p:blipFill>
          <a:blip r:embed="svgImage10"/>
          <a:stretch>
            <a:fillRect/>
          </a:stretch>
        </p:blipFill>
        <p:spPr>
          <a:xfrm>
            <a:off x="2448539" y="2357073"/>
            <a:ext cx="4233333" cy="97366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 </a:t>
            </a:r>
            <a:r>
              <a:rPr sz="1800" b="1">
                <a:solidFill>
                  <a:srgbClr val="000000"/>
                </a:solidFill>
                <a:latin typeface="맑은 고딕"/>
                <a:ea typeface="맑은 고딕"/>
              </a:rPr>
              <a:t>한 시나리오</a:t>
            </a:r>
            <a:r>
              <a:rPr sz="1800" b="0">
                <a:solidFill>
                  <a:srgbClr val="000000"/>
                </a:solidFill>
                <a:latin typeface="맑은 고딕"/>
                <a:ea typeface="맑은 고딕"/>
              </a:rPr>
              <a:t>의 시스템 이벤트를 시각화한다.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나온다. 반복되는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이벤트가 아니다.</a:t>
            </a:r>
          </a:p>
        </p:txBody>
      </p:sp>
      <p:pic>
        <p:nvPicPr>
          <p:cNvPr id="9" name="svg Diagram 11" descr="유스케이스 기본 흐름의 각 단계와 SSD 초안의 시스템 이벤트 대응"/>
          <p:cNvPicPr>
            <a:picLocks noChangeAspect="1"/>
          </p:cNvPicPr>
          <p:nvPr/>
        </p:nvPicPr>
        <p:blipFill>
          <a:blip r:embed="svgImage11"/>
          <a:stretch>
            <a:fillRect/>
          </a:stretch>
        </p:blipFill>
        <p:spPr>
          <a:xfrm>
            <a:off x="1684734" y="2850718"/>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41.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SSD와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이벤트는 </a:t>
            </a:r>
            <a:r>
              <a:rPr sz="1600" b="1">
                <a:solidFill>
                  <a:srgbClr val="000000"/>
                </a:solidFill>
                <a:latin typeface="맑은 고딕"/>
                <a:ea typeface="맑은 고딕"/>
              </a:rPr>
              <a:t>시스템 경계의 오퍼레이션</a:t>
            </a:r>
            <a:r>
              <a:rPr sz="1600" b="0">
                <a:solidFill>
                  <a:srgbClr val="000000"/>
                </a:solidFill>
                <a:latin typeface="맑은 고딕"/>
                <a:ea typeface="맑은 고딕"/>
              </a:rPr>
              <a:t>이 된다. 사용자 목표 하나를 이벤트 하나로 줄이면 </a:t>
            </a:r>
            <a:r>
              <a:rPr sz="1600" b="1">
                <a:solidFill>
                  <a:srgbClr val="000000"/>
                </a:solidFill>
                <a:latin typeface="맑은 고딕"/>
                <a:ea typeface="맑은 고딕"/>
              </a:rPr>
              <a:t>이벤트 흐름이 사라진다</a:t>
            </a:r>
            <a:r>
              <a:rPr sz="1600" b="0">
                <a:solidFill>
                  <a:srgbClr val="000000"/>
                </a:solidFill>
                <a:latin typeface="맑은 고딕"/>
                <a:ea typeface="맑은 고딕"/>
              </a:rPr>
              <a:t>.</a:t>
            </a:r>
          </a:p>
        </p:txBody>
      </p:sp>
      <p:pic>
        <p:nvPicPr>
          <p:cNvPr id="33" name="plantuml Diagram 1"/>
          <p:cNvPicPr>
            <a:picLocks noChangeAspect="1"/>
          </p:cNvPicPr>
          <p:nvPr/>
        </p:nvPicPr>
        <p:blipFill>
          <a:blip r:embed="plantumlImage1"/>
          <a:stretch>
            <a:fillRect/>
          </a:stretch>
        </p:blipFill>
        <p:spPr>
          <a:xfrm>
            <a:off x="365760" y="2240238"/>
            <a:ext cx="2627923" cy="22127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2234477"/>
                <a:gridCol w="2283100"/>
                <a:gridCol w="1310628"/>
                <a:gridCol w="247759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네 외부 시스템을 조정한다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상태·출고 중단·환불이 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여부를 외부가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액터가 보내는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이고,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 유스케이스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0091"/>
          <a:ext cx="8305800" cy="3873500"/>
        </p:xfrm>
        <a:graphic>
          <a:graphicData uri="http://schemas.openxmlformats.org/drawingml/2006/table">
            <a:tbl>
              <a:tblPr/>
              <a:tblGrid>
                <a:gridCol w="1900615"/>
                <a:gridCol w="2852060"/>
                <a:gridCol w="355312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요청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받아야 흐름을 이어갈 수 있는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승인처럼 결과가 다음 단계를 결정할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요청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 요청·통보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요청처럼 결과가 나중에 따로 올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9973"/>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응답은 그리지 않는다. 비동기의 결과는 나중에 오는 </a:t>
            </a:r>
            <a:r>
              <a:rPr sz="1600" b="1">
                <a:solidFill>
                  <a:srgbClr val="000000"/>
                </a:solidFill>
                <a:latin typeface="맑은 고딕"/>
                <a:ea typeface="맑은 고딕"/>
              </a:rPr>
              <a:t>별도의 이벤트</a:t>
            </a:r>
            <a:r>
              <a:rPr sz="1600" b="0">
                <a:solidFill>
                  <a:srgbClr val="000000"/>
                </a:solidFill>
                <a:latin typeface="맑은 고딕"/>
                <a:ea typeface="맑은 고딕"/>
              </a:rPr>
              <a:t>다</a:t>
            </a:r>
            <a:r>
              <a:rPr sz="1200" b="0">
                <a:solidFill>
                  <a:srgbClr val="000000"/>
                </a:solidFill>
                <a:latin typeface="맑은 고딕"/>
                <a:ea typeface="맑은 고딕"/>
              </a:rPr>
              <a:t>(배송 시작 통보)</a:t>
            </a:r>
            <a:r>
              <a:rPr sz="1600" b="0">
                <a:solidFill>
                  <a:srgbClr val="000000"/>
                </a:solidFill>
                <a:latin typeface="맑은 고딕"/>
                <a:ea typeface="맑은 고딕"/>
              </a:rPr>
              <a:t>.</a:t>
            </a:r>
          </a:p>
        </p:txBody>
      </p:sp>
      <p:pic>
        <p:nvPicPr>
          <p:cNvPr id="15" name="svg Diagram 12" descr="정제된 SSD 표기: 외부 시스템 생명선, 동기 요청, 비동기 요청"/>
          <p:cNvPicPr>
            <a:picLocks noChangeAspect="1"/>
          </p:cNvPicPr>
          <p:nvPr/>
        </p:nvPicPr>
        <p:blipFill>
          <a:blip r:embed="svgImage12"/>
          <a:stretch>
            <a:fillRect/>
          </a:stretch>
        </p:blipFill>
        <p:spPr>
          <a:xfrm>
            <a:off x="2183956" y="1842998"/>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 주문 시나리오의 </a:t>
            </a:r>
            <a:r>
              <a:rPr sz="1600" b="1">
                <a:solidFill>
                  <a:srgbClr val="000000"/>
                </a:solidFill>
                <a:latin typeface="맑은 고딕"/>
                <a:ea typeface="맑은 고딕"/>
              </a:rPr>
              <a:t>정제된 SSD</a:t>
            </a:r>
            <a:r>
              <a:rPr sz="1600" b="0">
                <a:solidFill>
                  <a:srgbClr val="000000"/>
                </a:solidFill>
                <a:latin typeface="맑은 고딕"/>
                <a:ea typeface="맑은 고딕"/>
              </a:rPr>
              <a:t>다.</a:t>
            </a:r>
          </a:p>
        </p:txBody>
      </p:sp>
      <p:pic>
        <p:nvPicPr>
          <p:cNvPr id="9" name="plantuml Diagram 2"/>
          <p:cNvPicPr>
            <a:picLocks noChangeAspect="1"/>
          </p:cNvPicPr>
          <p:nvPr/>
        </p:nvPicPr>
        <p:blipFill>
          <a:blip r:embed="plantumlImage2"/>
          <a:stretch>
            <a:fillRect/>
          </a:stretch>
        </p:blipFill>
        <p:spPr>
          <a:xfrm>
            <a:off x="1059962" y="1824882"/>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2497276"/>
          <a:ext cx="7256780" cy="3873500"/>
        </p:xfrm>
        <a:graphic>
          <a:graphicData uri="http://schemas.openxmlformats.org/drawingml/2006/table">
            <a:tbl>
              <a:tblPr/>
              <a:tblGrid>
                <a:gridCol w="293116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재고 차감, 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있어야 다음으로 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비동기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재고·입금·영수증·출고는 주문 시스템이 </a:t>
            </a:r>
            <a:r>
              <a:rPr sz="1600" b="1">
                <a:solidFill>
                  <a:srgbClr val="000000"/>
                </a:solidFill>
                <a:latin typeface="맑은 고딕"/>
                <a:ea typeface="맑은 고딕"/>
              </a:rPr>
              <a:t>하지 않고 요청한다</a:t>
            </a:r>
            <a:r>
              <a:rPr sz="1600" b="0">
                <a:solidFill>
                  <a:srgbClr val="000000"/>
                </a:solidFill>
                <a:latin typeface="맑은 고딕"/>
                <a:ea typeface="맑은 고딕"/>
              </a:rPr>
              <a:t>. 그래서 계약도 "요청했다"로 쓴다</a:t>
            </a:r>
            <a:r>
              <a:rPr sz="1200" b="0">
                <a:solidFill>
                  <a:srgbClr val="000000"/>
                </a:solidFill>
                <a:latin typeface="맑은 고딕"/>
                <a:ea typeface="맑은 고딕"/>
              </a:rPr>
              <a:t>(「44. 시스템 오퍼레이션과 계약」)</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시스템의 </a:t>
            </a:r>
            <a:r>
              <a:rPr sz="1600" b="1">
                <a:solidFill>
                  <a:srgbClr val="000000"/>
                </a:solidFill>
                <a:latin typeface="맑은 고딕"/>
                <a:ea typeface="맑은 고딕"/>
              </a:rPr>
              <a:t>배송 시작·완료 통보</a:t>
            </a:r>
            <a:r>
              <a:rPr sz="1600" b="0">
                <a:solidFill>
                  <a:srgbClr val="000000"/>
                </a:solidFill>
                <a:latin typeface="맑은 고딕"/>
                <a:ea typeface="맑은 고딕"/>
              </a:rPr>
              <a:t>는 주문 시스템이 반응할 외부 이벤트다</a:t>
            </a:r>
            <a:r>
              <a:rPr sz="1200" b="0">
                <a:solidFill>
                  <a:srgbClr val="000000"/>
                </a:solidFill>
                <a:latin typeface="맑은 고딕"/>
                <a:ea typeface="맑은 고딕"/>
              </a:rPr>
              <a:t>(「07. 이벤트 중심 요구」)</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97544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시스템은 주문 시스템이 </a:t>
            </a:r>
            <a:r>
              <a:rPr sz="1600" b="1">
                <a:solidFill>
                  <a:srgbClr val="000000"/>
                </a:solidFill>
                <a:latin typeface="맑은 고딕"/>
                <a:ea typeface="맑은 고딕"/>
              </a:rPr>
              <a:t>호출하는 인터페이스</a:t>
            </a:r>
            <a:r>
              <a:rPr sz="1600" b="0">
                <a:solidFill>
                  <a:srgbClr val="000000"/>
                </a:solidFill>
                <a:latin typeface="맑은 고딕"/>
                <a:ea typeface="맑은 고딕"/>
              </a:rPr>
              <a:t>가 된다. 동기 요청은 결과를 반환값으로 받고, 비동기 요청은 결과를 기다리지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97544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3"/>
          <p:cNvPicPr>
            <a:picLocks noChangeAspect="1"/>
          </p:cNvPicPr>
          <p:nvPr/>
        </p:nvPicPr>
        <p:blipFill>
          <a:blip r:embed="plantumlImage3"/>
          <a:stretch>
            <a:fillRect/>
          </a:stretch>
        </p:blipFill>
        <p:spPr>
          <a:xfrm>
            <a:off x="1818298" y="2240238"/>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(1/5)</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SSD의 시스템 이벤트처럼 시스템 경계를 넘어 들어오는 </a:t>
            </a:r>
            <a:r>
              <a:rPr sz="1800" b="1">
                <a:solidFill>
                  <a:srgbClr val="000000"/>
                </a:solidFill>
                <a:latin typeface="맑은 고딕"/>
                <a:ea typeface="맑은 고딕"/>
              </a:rPr>
              <a:t>의미 있는 이벤트에 응답하는 시스템의 책임</a:t>
            </a:r>
            <a:r>
              <a:rPr sz="1800" b="0">
                <a:solidFill>
                  <a:srgbClr val="000000"/>
                </a:solidFill>
                <a:latin typeface="맑은 고딕"/>
                <a:ea typeface="맑은 고딕"/>
              </a:rPr>
              <a:t>이다. 내부 객체의 메서드나 API를 먼저 정하는 것이 아니며, 유스케이스 하나에는 여러 오퍼레이션이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식별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경계를 넘는 </a:t>
            </a:r>
            <a:r>
              <a:rPr sz="1600" b="1">
                <a:solidFill>
                  <a:srgbClr val="000000"/>
                </a:solidFill>
                <a:latin typeface="맑은 고딕"/>
                <a:ea typeface="맑은 고딕"/>
              </a:rPr>
              <a:t>업무 의미의 이벤트</a:t>
            </a:r>
            <a:r>
              <a:rPr sz="1600" b="0">
                <a:solidFill>
                  <a:srgbClr val="000000"/>
                </a:solidFill>
                <a:latin typeface="맑은 고딕"/>
                <a:ea typeface="맑은 고딕"/>
              </a:rPr>
              <a:t>를 찾는다.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배송지 변경</a:t>
            </a:r>
            <a:r>
              <a:rPr sz="1600" b="0">
                <a:solidFill>
                  <a:srgbClr val="000000"/>
                </a:solidFill>
                <a:latin typeface="맑은 고딕"/>
                <a:ea typeface="맑은 고딕"/>
              </a:rPr>
              <a:t>처럼 </a:t>
            </a:r>
            <a:r>
              <a:rPr sz="1600" b="1">
                <a:solidFill>
                  <a:srgbClr val="000000"/>
                </a:solidFill>
                <a:latin typeface="맑은 고딕"/>
                <a:ea typeface="맑은 고딕"/>
              </a:rPr>
              <a:t>의미와 결과</a:t>
            </a:r>
            <a:r>
              <a:rPr sz="1600" b="0">
                <a:solidFill>
                  <a:srgbClr val="000000"/>
                </a:solidFill>
                <a:latin typeface="맑은 고딕"/>
                <a:ea typeface="맑은 고딕"/>
              </a:rPr>
              <a:t>를 표현하며, 화면 조작·내부 함수 호출과 구분한다.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a:t>
            </a:r>
            <a:r>
              <a:rPr sz="1600" b="1">
                <a:solidFill>
                  <a:srgbClr val="000000"/>
                </a:solidFill>
                <a:latin typeface="맑은 고딕"/>
                <a:ea typeface="맑은 고딕"/>
              </a:rPr>
              <a:t>주문을 관리한다</a:t>
            </a:r>
            <a:r>
              <a:rPr sz="1600" b="0">
                <a:solidFill>
                  <a:srgbClr val="000000"/>
                </a:solidFill>
                <a:latin typeface="맑은 고딕"/>
                <a:ea typeface="맑은 고딕"/>
              </a:rPr>
              <a:t> 하나에 </a:t>
            </a:r>
            <a:r>
              <a:rPr sz="1600" b="0">
                <a:solidFill>
                  <a:srgbClr val="000000"/>
                </a:solidFill>
                <a:latin typeface="맑은 고딕"/>
                <a:ea typeface="맑은 고딕"/>
              </a:rPr>
              <a:t>상품 조회</a:t>
            </a:r>
            <a:r>
              <a:rPr sz="1600" b="0">
                <a:solidFill>
                  <a:srgbClr val="000000"/>
                </a:solidFill>
                <a:latin typeface="맑은 고딕"/>
                <a:ea typeface="맑은 고딕"/>
              </a:rPr>
              <a:t>, </a:t>
            </a:r>
            <a:r>
              <a:rPr sz="1600" b="0">
                <a:solidFill>
                  <a:srgbClr val="000000"/>
                </a:solidFill>
                <a:latin typeface="맑은 고딕"/>
                <a:ea typeface="맑은 고딕"/>
              </a:rPr>
              <a:t>장바구니 담기</a:t>
            </a:r>
            <a:r>
              <a:rPr sz="1600" b="0">
                <a:solidFill>
                  <a:srgbClr val="000000"/>
                </a:solidFill>
                <a:latin typeface="맑은 고딕"/>
                <a:ea typeface="맑은 고딕"/>
              </a:rPr>
              <a:t>, </a:t>
            </a:r>
            <a:r>
              <a:rPr sz="1600" b="0">
                <a:solidFill>
                  <a:srgbClr val="000000"/>
                </a:solidFill>
                <a:latin typeface="맑은 고딕"/>
                <a:ea typeface="맑은 고딕"/>
              </a:rPr>
              <a:t>배송지 지정</a:t>
            </a:r>
            <a:r>
              <a:rPr sz="1600" b="0">
                <a:solidFill>
                  <a:srgbClr val="000000"/>
                </a:solidFill>
                <a:latin typeface="맑은 고딕"/>
                <a:ea typeface="맑은 고딕"/>
              </a:rPr>
              <a:t>, </a:t>
            </a:r>
            <a:r>
              <a:rPr sz="1600" b="0">
                <a:solidFill>
                  <a:srgbClr val="000000"/>
                </a:solidFill>
                <a:latin typeface="맑은 고딕"/>
                <a:ea typeface="맑은 고딕"/>
              </a:rPr>
              <a:t>결제</a:t>
            </a:r>
            <a:r>
              <a:rPr sz="1600" b="0">
                <a:solidFill>
                  <a:srgbClr val="000000"/>
                </a:solidFill>
                <a:latin typeface="맑은 고딕"/>
                <a:ea typeface="맑은 고딕"/>
              </a:rPr>
              <a:t>, </a:t>
            </a:r>
            <a:r>
              <a:rPr sz="1600" b="0">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주문 취소</a:t>
            </a:r>
            <a:r>
              <a:rPr sz="1600" b="0">
                <a:solidFill>
                  <a:srgbClr val="000000"/>
                </a:solidFill>
                <a:latin typeface="맑은 고딕"/>
                <a:ea typeface="맑은 고딕"/>
              </a:rPr>
              <a:t> 오퍼레이션이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시스템이 소유한 결과는 "했다"가 아니라 "</a:t>
            </a:r>
            <a:r>
              <a:rPr sz="1600" b="1">
                <a:solidFill>
                  <a:srgbClr val="000000"/>
                </a:solidFill>
                <a:latin typeface="맑은 고딕"/>
                <a:ea typeface="맑은 고딕"/>
              </a:rPr>
              <a:t>요청했다</a:t>
            </a:r>
            <a:r>
              <a:rPr sz="1600" b="0">
                <a:solidFill>
                  <a:srgbClr val="000000"/>
                </a:solidFill>
                <a:latin typeface="맑은 고딕"/>
                <a:ea typeface="맑은 고딕"/>
              </a:rPr>
              <a:t>"로 쓴다. 대상 시스템이 보장할 수 있는 것만 계약한다.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계약은 이벤트 흐름 중 </a:t>
            </a:r>
            <a:r>
              <a:rPr sz="1600" b="1">
                <a:solidFill>
                  <a:srgbClr val="000000"/>
                </a:solidFill>
                <a:latin typeface="맑은 고딕"/>
                <a:ea typeface="맑은 고딕"/>
              </a:rPr>
              <a:t>어렵고 복잡한 이벤트</a:t>
            </a:r>
            <a:r>
              <a:rPr sz="1600" b="0">
                <a:solidFill>
                  <a:srgbClr val="000000"/>
                </a:solidFill>
                <a:latin typeface="맑은 고딕"/>
                <a:ea typeface="맑은 고딕"/>
              </a:rPr>
              <a:t>에만 쓴다 —</a:t>
            </a:r>
            <a:r>
              <a:rPr sz="1400" b="0">
                <a:solidFill>
                  <a:srgbClr val="000000"/>
                </a:solidFill>
                <a:latin typeface="맑은 고딕"/>
                <a:ea typeface="맑은 고딕"/>
              </a:rPr>
              <a:t> 여러 외부 시스템을 조정하거나, 조건을 외부가 판단하거나, 상태와 결과가 얽힌 이벤트다. 조회·단순 입력은 흐름으로 충분하다</a:t>
            </a:r>
            <a:r>
              <a:rPr sz="1000" b="0">
                <a:solidFill>
                  <a:srgbClr val="000000"/>
                </a:solidFill>
                <a:latin typeface="맑은 고딕"/>
                <a:ea typeface="맑은 고딕"/>
              </a:rPr>
              <a:t>(「42. 시스템 이벤트와 오퍼레이션」)</a:t>
            </a:r>
            <a:r>
              <a:rPr sz="14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(2/5)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5956" y="1585960"/>
          <a:ext cx="5778500" cy="3873500"/>
        </p:xfrm>
        <a:graphic>
          <a:graphicData uri="http://schemas.openxmlformats.org/drawingml/2006/table">
            <a:tbl>
              <a:tblPr/>
              <a:tblGrid>
                <a:gridCol w="145034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시스템에 재고 차감을, 배송 시스템에 배송을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시스템에 입금 처리·영수증 발행을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상태가 결제 완료다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결과를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결제</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(3/5)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38471"/>
            <a:ext cx="841248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주문시스템구현</a:t>
            </a:r>
            <a:r>
              <a:rPr sz="800" b="0">
                <a:solidFill>
                  <a:srgbClr val="000000"/>
                </a:solidFill>
                <a:latin typeface="Consolas"/>
                <a:ea typeface="맑은 고딕"/>
              </a:rPr>
              <a:t> implements 주문시스템 {</a:t>
            </a:r>
          </a:p>
          <a:p>
            <a:pPr marL="0" indent="0" algn="l">
              <a:lnSpc>
                <a:spcPts val="960"/>
              </a:lnSpc>
              <a:spcBef>
                <a:spcPts val="0"/>
              </a:spcBef>
              <a:spcAft>
                <a:spcPts val="0"/>
              </a:spcAft>
              <a:buNone/>
            </a:pPr>
            <a:r>
              <a:rPr sz="800" b="0">
                <a:solidFill>
                  <a:srgbClr val="000000"/>
                </a:solidFill>
                <a:latin typeface="Consolas"/>
                <a:ea typeface="맑은 고딕"/>
              </a:rPr>
              <a:t>    // ... 필드·생성자, 상품을조회한다·장바구니에담는다·배송지를지정한다 생략</a:t>
            </a:r>
          </a:p>
          <a:p>
            <a:pPr marL="0" indent="0" algn="l">
              <a:lnSpc>
                <a:spcPts val="960"/>
              </a:lnSpc>
              <a:spcBef>
                <a:spcPts val="0"/>
              </a:spcBef>
              <a:spcAft>
                <a:spcPts val="0"/>
              </a:spcAft>
              <a:buNone/>
            </a:pPr>
            <a:r>
              <a:rPr sz="800" b="0">
                <a:solidFill>
                  <a:srgbClr val="000000"/>
                </a:solidFill>
                <a:latin typeface="Consolas"/>
                <a:ea typeface="맑은 고딕"/>
              </a:rPr>
              <a:t>    public void </a:t>
            </a:r>
            <a:r>
              <a:rPr sz="800" b="1">
                <a:solidFill>
                  <a:srgbClr val="000000"/>
                </a:solidFill>
                <a:latin typeface="Consolas"/>
                <a:ea typeface="맑은 고딕"/>
              </a:rPr>
              <a:t>결제한다</a:t>
            </a:r>
            <a:r>
              <a:rPr sz="800" b="0">
                <a:solidFill>
                  <a:srgbClr val="000000"/>
                </a:solidFill>
                <a:latin typeface="Consolas"/>
                <a:ea typeface="맑은 고딕"/>
              </a:rPr>
              <a:t>(String 결제수단) {</a:t>
            </a:r>
          </a:p>
          <a:p>
            <a:pPr marL="0" indent="0" algn="l">
              <a:lnSpc>
                <a:spcPts val="960"/>
              </a:lnSpc>
              <a:spcBef>
                <a:spcPts val="0"/>
              </a:spcBef>
              <a:spcAft>
                <a:spcPts val="0"/>
              </a:spcAft>
              <a:buNone/>
            </a:pPr>
            <a:r>
              <a:rPr sz="800" b="0">
                <a:solidFill>
                  <a:srgbClr val="000000"/>
                </a:solidFill>
                <a:latin typeface="Consolas"/>
                <a:ea typeface="맑은 고딕"/>
              </a:rPr>
              <a:t>        if (!상태.equals("결제 대기") || 배송지 == null) throw new IllegalStateException("사전조건 위반");</a:t>
            </a:r>
          </a:p>
          <a:p>
            <a:pPr marL="0" indent="0" algn="l">
              <a:lnSpc>
                <a:spcPts val="960"/>
              </a:lnSpc>
              <a:spcBef>
                <a:spcPts val="0"/>
              </a:spcBef>
              <a:spcAft>
                <a:spcPts val="0"/>
              </a:spcAft>
              <a:buNone/>
            </a:pPr>
            <a:r>
              <a:rPr sz="800" b="0">
                <a:solidFill>
                  <a:srgbClr val="000000"/>
                </a:solidFill>
                <a:latin typeface="Consolas"/>
                <a:ea typeface="맑은 고딕"/>
              </a:rPr>
              <a:t>        int 금액 = 0;</a:t>
            </a:r>
          </a:p>
          <a:p>
            <a:pPr marL="0" indent="0" algn="l">
              <a:lnSpc>
                <a:spcPts val="960"/>
              </a:lnSpc>
              <a:spcBef>
                <a:spcPts val="0"/>
              </a:spcBef>
              <a:spcAft>
                <a:spcPts val="0"/>
              </a:spcAft>
              <a:buNone/>
            </a:pPr>
            <a:r>
              <a:rPr sz="800" b="0">
                <a:solidFill>
                  <a:srgbClr val="000000"/>
                </a:solidFill>
                <a:latin typeface="Consolas"/>
                <a:ea typeface="맑은 고딕"/>
              </a:rPr>
              <a:t>        for (var 항목 : 장바구니.entrySet()) 금액 += 항목.getKey().판매가() * 항목.getValue();</a:t>
            </a:r>
          </a:p>
          <a:p>
            <a:pPr marL="0" indent="0" algn="l">
              <a:lnSpc>
                <a:spcPts val="960"/>
              </a:lnSpc>
              <a:spcBef>
                <a:spcPts val="0"/>
              </a:spcBef>
              <a:spcAft>
                <a:spcPts val="0"/>
              </a:spcAft>
              <a:buNone/>
            </a:pPr>
            <a:r>
              <a:rPr sz="800" b="0">
                <a:solidFill>
                  <a:srgbClr val="000000"/>
                </a:solidFill>
                <a:latin typeface="Consolas"/>
                <a:ea typeface="맑은 고딕"/>
              </a:rPr>
              <a:t>        승인번호 = 외부.결제().결제승인을요청한다(금액, 결제수단);</a:t>
            </a:r>
          </a:p>
          <a:p>
            <a:pPr marL="0" indent="0" algn="l">
              <a:lnSpc>
                <a:spcPts val="960"/>
              </a:lnSpc>
              <a:spcBef>
                <a:spcPts val="0"/>
              </a:spcBef>
              <a:spcAft>
                <a:spcPts val="0"/>
              </a:spcAft>
              <a:buNone/>
            </a:pPr>
            <a:r>
              <a:rPr sz="800" b="0">
                <a:solidFill>
                  <a:srgbClr val="000000"/>
                </a:solidFill>
                <a:latin typeface="Consolas"/>
                <a:ea typeface="맑은 고딕"/>
              </a:rPr>
              <a:t>        if (승인번호 == null) throw new IllegalStateException("승인 거절 — 정책 미확정");</a:t>
            </a:r>
          </a:p>
          <a:p>
            <a:pPr marL="0" indent="0" algn="l">
              <a:lnSpc>
                <a:spcPts val="960"/>
              </a:lnSpc>
              <a:spcBef>
                <a:spcPts val="0"/>
              </a:spcBef>
              <a:spcAft>
                <a:spcPts val="0"/>
              </a:spcAft>
              <a:buNone/>
            </a:pPr>
            <a:r>
              <a:rPr sz="800" b="0">
                <a:solidFill>
                  <a:srgbClr val="000000"/>
                </a:solidFill>
                <a:latin typeface="Consolas"/>
                <a:ea typeface="맑은 고딕"/>
              </a:rPr>
              <a:t>        장바구니.forEach((상품, 수량) -&gt; {</a:t>
            </a:r>
          </a:p>
          <a:p>
            <a:pPr marL="0" indent="0" algn="l">
              <a:lnSpc>
                <a:spcPts val="960"/>
              </a:lnSpc>
              <a:spcBef>
                <a:spcPts val="0"/>
              </a:spcBef>
              <a:spcAft>
                <a:spcPts val="0"/>
              </a:spcAft>
              <a:buNone/>
            </a:pPr>
            <a:r>
              <a:rPr sz="800" b="0">
                <a:solidFill>
                  <a:srgbClr val="000000"/>
                </a:solidFill>
                <a:latin typeface="Consolas"/>
                <a:ea typeface="맑은 고딕"/>
              </a:rPr>
              <a:t>            if (!외부.상품().재고차감을요청한다(상품, 수량)) throw new IllegalStateException("재고 부족 — 정책 미확정");</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외부.배송().배송을요청한다(주문번호, 배송지);</a:t>
            </a:r>
          </a:p>
          <a:p>
            <a:pPr marL="0" indent="0" algn="l">
              <a:lnSpc>
                <a:spcPts val="960"/>
              </a:lnSpc>
              <a:spcBef>
                <a:spcPts val="0"/>
              </a:spcBef>
              <a:spcAft>
                <a:spcPts val="0"/>
              </a:spcAft>
              <a:buNone/>
            </a:pPr>
            <a:r>
              <a:rPr sz="800" b="0">
                <a:solidFill>
                  <a:srgbClr val="000000"/>
                </a:solidFill>
                <a:latin typeface="Consolas"/>
                <a:ea typeface="맑은 고딕"/>
              </a:rPr>
              <a:t>        외부.회계().입금처리를요청한다(승인번호);</a:t>
            </a:r>
          </a:p>
          <a:p>
            <a:pPr marL="0" indent="0" algn="l">
              <a:lnSpc>
                <a:spcPts val="960"/>
              </a:lnSpc>
              <a:spcBef>
                <a:spcPts val="0"/>
              </a:spcBef>
              <a:spcAft>
                <a:spcPts val="0"/>
              </a:spcAft>
              <a:buNone/>
            </a:pPr>
            <a:r>
              <a:rPr sz="800" b="0">
                <a:solidFill>
                  <a:srgbClr val="000000"/>
                </a:solidFill>
                <a:latin typeface="Consolas"/>
                <a:ea typeface="맑은 고딕"/>
              </a:rPr>
              <a:t>        외부.회계().영수증발행을요청한다(주문번호, 승인번호);</a:t>
            </a:r>
          </a:p>
          <a:p>
            <a:pPr marL="0" indent="0" algn="l">
              <a:lnSpc>
                <a:spcPts val="960"/>
              </a:lnSpc>
              <a:spcBef>
                <a:spcPts val="0"/>
              </a:spcBef>
              <a:spcAft>
                <a:spcPts val="0"/>
              </a:spcAft>
              <a:buNone/>
            </a:pPr>
            <a:r>
              <a:rPr sz="800" b="0">
                <a:solidFill>
                  <a:srgbClr val="000000"/>
                </a:solidFill>
                <a:latin typeface="Consolas"/>
                <a:ea typeface="맑은 고딕"/>
              </a:rPr>
              <a:t>        상태 = "결제 완료";</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계약에서 코드로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사전조건</a:t>
            </a:r>
            <a:r>
              <a:rPr sz="1600" b="0">
                <a:solidFill>
                  <a:srgbClr val="000000"/>
                </a:solidFill>
                <a:latin typeface="맑은 고딕"/>
                <a:ea typeface="맑은 고딕"/>
              </a:rPr>
              <a:t>은 먼저 확인하고, </a:t>
            </a:r>
            <a:r>
              <a:rPr sz="1600" b="1">
                <a:solidFill>
                  <a:srgbClr val="000000"/>
                </a:solidFill>
                <a:latin typeface="맑은 고딕"/>
                <a:ea typeface="맑은 고딕"/>
              </a:rPr>
              <a:t>사후조건</a:t>
            </a:r>
            <a:r>
              <a:rPr sz="1600" b="0">
                <a:solidFill>
                  <a:srgbClr val="000000"/>
                </a:solidFill>
                <a:latin typeface="맑은 고딕"/>
                <a:ea typeface="맑은 고딕"/>
              </a:rPr>
              <a:t>은 결제 후의 상태와 </a:t>
            </a:r>
            <a:r>
              <a:rPr sz="1600" b="1">
                <a:solidFill>
                  <a:srgbClr val="000000"/>
                </a:solidFill>
                <a:latin typeface="맑은 고딕"/>
                <a:ea typeface="맑은 고딕"/>
              </a:rPr>
              <a:t>요청</a:t>
            </a:r>
            <a:r>
              <a:rPr sz="1600" b="0">
                <a:solidFill>
                  <a:srgbClr val="000000"/>
                </a:solidFill>
                <a:latin typeface="맑은 고딕"/>
                <a:ea typeface="맑은 고딕"/>
              </a:rPr>
              <a:t>이다.</a:t>
            </a:r>
          </a:p>
        </p:txBody>
      </p:sp>
      <p:pic>
        <p:nvPicPr>
          <p:cNvPr id="33" name="plantuml Diagram 4"/>
          <p:cNvPicPr>
            <a:picLocks noChangeAspect="1"/>
          </p:cNvPicPr>
          <p:nvPr/>
        </p:nvPicPr>
        <p:blipFill>
          <a:blip r:embed="plantumlImage4"/>
          <a:stretch>
            <a:fillRect/>
          </a:stretch>
        </p:blipFill>
        <p:spPr>
          <a:xfrm>
            <a:off x="2346081" y="1983200"/>
            <a:ext cx="4451838" cy="194554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(4/5)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513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계약에서 테스트로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계약의 예가 곧 </a:t>
            </a:r>
            <a:r>
              <a:rPr sz="1600" b="1">
                <a:solidFill>
                  <a:srgbClr val="000000"/>
                </a:solidFill>
                <a:latin typeface="맑은 고딕"/>
                <a:ea typeface="맑은 고딕"/>
              </a:rPr>
              <a:t>테스트</a:t>
            </a:r>
            <a:r>
              <a:rPr sz="1600" b="0">
                <a:solidFill>
                  <a:srgbClr val="000000"/>
                </a:solidFill>
                <a:latin typeface="맑은 고딕"/>
                <a:ea typeface="맑은 고딕"/>
              </a:rPr>
              <a:t>다.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513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5"/>
          <p:cNvPicPr>
            <a:picLocks noChangeAspect="1"/>
          </p:cNvPicPr>
          <p:nvPr/>
        </p:nvPicPr>
        <p:blipFill>
          <a:blip r:embed="plantumlImage5"/>
          <a:stretch>
            <a:fillRect/>
          </a:stretch>
        </p:blipFill>
        <p:spPr>
          <a:xfrm>
            <a:off x="1710104" y="2240238"/>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(5/5)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7266" y="2754313"/>
          <a:ext cx="5135880" cy="3873500"/>
        </p:xfrm>
        <a:graphic>
          <a:graphicData uri="http://schemas.openxmlformats.org/drawingml/2006/table">
            <a:tbl>
              <a:tblPr/>
              <a:tblGrid>
                <a:gridCol w="145034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변경할 주문과 새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배송지 변경을 받아들였다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주문의 배송지가 지정한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식별 정보·상품·결제 금액은 변경 전과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변경된 배송지를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배송지 변경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 소유의 출고 전 주문으로 범위를 한정한다. 새 주소는 유효하며 배송비·결제 금액에 영향을 주지 않는다고 가정한다. 아래 </a:t>
            </a:r>
            <a:r>
              <a:rPr sz="1600" b="1">
                <a:solidFill>
                  <a:srgbClr val="000000"/>
                </a:solidFill>
                <a:latin typeface="맑은 고딕"/>
                <a:ea typeface="맑은 고딕"/>
              </a:rPr>
              <a:t>성공 사후조건</a:t>
            </a:r>
            <a:r>
              <a:rPr sz="1600" b="0">
                <a:solidFill>
                  <a:srgbClr val="000000"/>
                </a:solidFill>
                <a:latin typeface="맑은 고딕"/>
                <a:ea typeface="맑은 고딕"/>
              </a:rPr>
              <a:t>은 </a:t>
            </a:r>
            <a:r>
              <a:rPr sz="1600" b="0">
                <a:solidFill>
                  <a:srgbClr val="000000"/>
                </a:solidFill>
                <a:latin typeface="맑은 고딕"/>
                <a:ea typeface="맑은 고딕"/>
              </a:rPr>
              <a:t>주소 검증 → DB 저장 → 응답</a:t>
            </a:r>
            <a:r>
              <a:rPr sz="1600" b="0">
                <a:solidFill>
                  <a:srgbClr val="000000"/>
                </a:solidFill>
                <a:latin typeface="맑은 고딕"/>
                <a:ea typeface="맑은 고딕"/>
              </a:rPr>
              <a:t> 같은 처리 순서가 아니라 성공 후 참이어야 하는 상태이며, 이 표는 성공 계약만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산출물인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분석에서 발견한 누락과 모순은 이 산출물로 </a:t>
            </a:r>
            <a:r>
              <a:rPr sz="1800" b="1">
                <a:solidFill>
                  <a:srgbClr val="000000"/>
                </a:solidFill>
                <a:latin typeface="맑은 고딕"/>
                <a:ea typeface="맑은 고딕"/>
              </a:rPr>
              <a:t>되돌아와</a:t>
            </a:r>
            <a:r>
              <a:rPr sz="1800" b="0">
                <a:solidFill>
                  <a:srgbClr val="000000"/>
                </a:solidFill>
                <a:latin typeface="맑은 고딕"/>
                <a:ea typeface="맑은 고딕"/>
              </a:rPr>
              <a:t> 보완된다.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모델이 답하려는 질문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모델</a:t>
            </a:r>
            <a:r>
              <a:rPr sz="1600" b="0">
                <a:solidFill>
                  <a:srgbClr val="000000"/>
                </a:solidFill>
                <a:latin typeface="맑은 고딕"/>
                <a:ea typeface="맑은 고딕"/>
              </a:rPr>
              <a:t>은 문제영역의 의미·관계·제약을, </a:t>
            </a:r>
            <a:r>
              <a:rPr sz="1600" b="1">
                <a:solidFill>
                  <a:srgbClr val="000000"/>
                </a:solidFill>
                <a:latin typeface="맑은 고딕"/>
                <a:ea typeface="맑은 고딕"/>
              </a:rPr>
              <a:t>동적 모델</a:t>
            </a:r>
            <a:r>
              <a:rPr sz="1600" b="0">
                <a:solidFill>
                  <a:srgbClr val="000000"/>
                </a:solidFill>
                <a:latin typeface="맑은 고딕"/>
                <a:ea typeface="맑은 고딕"/>
              </a:rPr>
              <a:t>은 상호작용과 상태 변화의 사건·규칙을 다룬다.</a:t>
            </a:r>
          </a:p>
        </p:txBody>
      </p:sp>
      <p:pic>
        <p:nvPicPr>
          <p:cNvPr id="9" name="mermaid Diagram 3"/>
          <p:cNvPicPr>
            <a:picLocks noChangeAspect="1"/>
          </p:cNvPicPr>
          <p:nvPr/>
        </p:nvPicPr>
        <p:blipFill>
          <a:blip r:embed="mermaidImage3"/>
          <a:stretch>
            <a:fillRect/>
          </a:stretch>
        </p:blipFill>
        <p:spPr>
          <a:xfrm>
            <a:off x="1460500" y="3902811"/>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455325"/>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표는 검토 질문을 만드는 </a:t>
            </a:r>
            <a:r>
              <a:rPr sz="1800" b="1">
                <a:solidFill>
                  <a:srgbClr val="000000"/>
                </a:solidFill>
                <a:latin typeface="맑은 고딕"/>
                <a:ea typeface="맑은 고딕"/>
              </a:rPr>
              <a:t>교육 예시</a:t>
            </a:r>
            <a:r>
              <a:rPr sz="1800" b="0">
                <a:solidFill>
                  <a:srgbClr val="000000"/>
                </a:solidFill>
                <a:latin typeface="맑은 고딕"/>
                <a:ea typeface="맑은 고딕"/>
              </a:rPr>
              <a:t>다. 근거 없이 측정 수치나 서비스 수준을 확정하지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와이어프레임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「44. 시스템 오퍼레이션과 계약」의 성공 계약을 검토하기 위한 </a:t>
            </a:r>
            <a:r>
              <a:rPr sz="1600" b="1">
                <a:solidFill>
                  <a:srgbClr val="000000"/>
                </a:solidFill>
                <a:latin typeface="맑은 고딕"/>
                <a:ea typeface="맑은 고딕"/>
              </a:rPr>
              <a:t>화면 초안</a:t>
            </a:r>
            <a:r>
              <a:rPr sz="1600" b="0">
                <a:solidFill>
                  <a:srgbClr val="000000"/>
                </a:solidFill>
                <a:latin typeface="맑은 고딕"/>
                <a:ea typeface="맑은 고딕"/>
              </a:rPr>
              <a:t>이다. 교육용 주소 A·B는 실제 주소가 아니다. 버튼·화면 구성은 </a:t>
            </a:r>
            <a:r>
              <a:rPr sz="1600" b="1">
                <a:solidFill>
                  <a:srgbClr val="000000"/>
                </a:solidFill>
                <a:latin typeface="맑은 고딕"/>
                <a:ea typeface="맑은 고딕"/>
              </a:rPr>
              <a:t>해결책 후보</a:t>
            </a:r>
            <a:r>
              <a:rPr sz="1600" b="0">
                <a:solidFill>
                  <a:srgbClr val="000000"/>
                </a:solidFill>
                <a:latin typeface="맑은 고딕"/>
                <a:ea typeface="맑은 고딕"/>
              </a:rPr>
              <a:t>이며 확정된 요구사항이 아니다.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와이어프레임</a:t>
            </a:r>
            <a:r>
              <a:rPr sz="1600" b="0">
                <a:solidFill>
                  <a:srgbClr val="000000"/>
                </a:solidFill>
                <a:latin typeface="맑은 고딕"/>
                <a:ea typeface="맑은 고딕"/>
              </a:rPr>
              <a:t>만으로 실제 처리나 성공을 검증할 수는 없다. 사용자에게 과업을 설명하게 하거나 조작 가능한 프로토타입으로 </a:t>
            </a:r>
            <a:r>
              <a:rPr sz="1600" b="1">
                <a:solidFill>
                  <a:srgbClr val="000000"/>
                </a:solidFill>
                <a:latin typeface="맑은 고딕"/>
                <a:ea typeface="맑은 고딕"/>
              </a:rPr>
              <a:t>관찰</a:t>
            </a:r>
            <a:r>
              <a:rPr sz="1600" b="0">
                <a:solidFill>
                  <a:srgbClr val="000000"/>
                </a:solidFill>
                <a:latin typeface="맑은 고딕"/>
                <a:ea typeface="맑은 고딕"/>
              </a:rPr>
              <a:t>한다.</a:t>
            </a:r>
          </a:p>
        </p:txBody>
      </p:sp>
      <p:pic>
        <p:nvPicPr>
          <p:cNvPr id="9" name="svg Diagram 13" descr="주문 상세와 배송지 변경 와이어프레임"/>
          <p:cNvPicPr>
            <a:picLocks noChangeAspect="1"/>
          </p:cNvPicPr>
          <p:nvPr/>
        </p:nvPicPr>
        <p:blipFill>
          <a:blip r:embed="svgImage13"/>
          <a:stretch>
            <a:fillRect/>
          </a:stretch>
        </p:blipFill>
        <p:spPr>
          <a:xfrm>
            <a:off x="2428875" y="3934754"/>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확인할 질문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직전</a:t>
            </a:r>
            <a:r>
              <a:rPr sz="1600" b="0">
                <a:solidFill>
                  <a:srgbClr val="000000"/>
                </a:solidFill>
                <a:latin typeface="맑은 고딕"/>
                <a:ea typeface="맑은 고딕"/>
              </a:rPr>
              <a:t> 변경 가능 여부와 </a:t>
            </a:r>
            <a:r>
              <a:rPr sz="1600" b="1">
                <a:solidFill>
                  <a:srgbClr val="000000"/>
                </a:solidFill>
                <a:latin typeface="맑은 고딕"/>
                <a:ea typeface="맑은 고딕"/>
              </a:rPr>
              <a:t>유효 주소</a:t>
            </a:r>
            <a:r>
              <a:rPr sz="1600" b="0">
                <a:solidFill>
                  <a:srgbClr val="000000"/>
                </a:solidFill>
                <a:latin typeface="맑은 고딕"/>
                <a:ea typeface="맑은 고딕"/>
              </a:rPr>
              <a:t> 기준·오류 안내는 무엇인가?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배송비 변동</a:t>
            </a:r>
            <a:r>
              <a:rPr sz="1600" b="0">
                <a:solidFill>
                  <a:srgbClr val="000000"/>
                </a:solidFill>
                <a:latin typeface="맑은 고딕"/>
                <a:ea typeface="맑은 고딕"/>
              </a:rPr>
              <a:t>이나 이미 외부 배송 시스템에 전달된 경우는 어떻게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실패 시</a:t>
            </a:r>
            <a:r>
              <a:rPr sz="1600" b="0">
                <a:solidFill>
                  <a:srgbClr val="000000"/>
                </a:solidFill>
                <a:latin typeface="맑은 고딕"/>
                <a:ea typeface="맑은 고딕"/>
              </a:rPr>
              <a:t> 기존 주소 유지 여부와 변경 완료 확인 방법은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관찰한 혼란·누락을 </a:t>
            </a:r>
            <a:r>
              <a:rPr sz="1600" b="1">
                <a:solidFill>
                  <a:srgbClr val="000000"/>
                </a:solidFill>
                <a:latin typeface="맑은 고딕"/>
                <a:ea typeface="맑은 고딕"/>
              </a:rPr>
              <a:t>요구사항과 계약</a:t>
            </a:r>
            <a:r>
              <a:rPr sz="1600" b="0">
                <a:solidFill>
                  <a:srgbClr val="000000"/>
                </a:solidFill>
                <a:latin typeface="맑은 고딕"/>
                <a:ea typeface="맑은 고딕"/>
              </a:rPr>
              <a:t>에 반영한다. 새 주소·배송비·실패 정책을 화면만 보고 </a:t>
            </a:r>
            <a:r>
              <a:rPr sz="1600" b="1">
                <a:solidFill>
                  <a:srgbClr val="000000"/>
                </a:solidFill>
                <a:latin typeface="맑은 고딕"/>
                <a:ea typeface="맑은 고딕"/>
              </a:rPr>
              <a:t>임의로 결정하지 않는다</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사용자로서 나는 </a:t>
            </a:r>
            <a:r>
              <a:rPr sz="1600" b="0">
                <a:solidFill>
                  <a:srgbClr val="000000"/>
                </a:solidFill>
                <a:latin typeface="맑은 고딕"/>
                <a:ea typeface="맑은 고딕"/>
              </a:rPr>
              <a:t>&lt;목표&gt;</a:t>
            </a:r>
            <a:r>
              <a:rPr sz="1600" b="0">
                <a:solidFill>
                  <a:srgbClr val="000000"/>
                </a:solidFill>
                <a:latin typeface="맑은 고딕"/>
                <a:ea typeface="맑은 고딕"/>
              </a:rPr>
              <a:t>를 원한다. 왜냐하면 </a:t>
            </a:r>
            <a:r>
              <a:rPr sz="1600" b="0">
                <a:solidFill>
                  <a:srgbClr val="000000"/>
                </a:solidFill>
                <a:latin typeface="맑은 고딕"/>
                <a:ea typeface="맑은 고딕"/>
              </a:rPr>
              <a:t>&lt;가치&gt;</a:t>
            </a:r>
            <a:r>
              <a:rPr sz="1600" b="0">
                <a:solidFill>
                  <a:srgbClr val="000000"/>
                </a:solidFill>
                <a:latin typeface="맑은 고딕"/>
                <a:ea typeface="맑은 고딕"/>
              </a:rPr>
              <a:t>를 얻고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고객으로서 출고 전 배송지를 변경하고 싶다. 올바른 장소에서 상품을 받고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세부 내용은 </a:t>
            </a:r>
            <a:r>
              <a:rPr sz="1600" b="1">
                <a:solidFill>
                  <a:srgbClr val="000000"/>
                </a:solidFill>
                <a:latin typeface="맑은 고딕"/>
                <a:ea typeface="맑은 고딕"/>
              </a:rPr>
              <a:t>대화와 인수 조건</a:t>
            </a:r>
            <a:r>
              <a:rPr sz="1600" b="0">
                <a:solidFill>
                  <a:srgbClr val="000000"/>
                </a:solidFill>
                <a:latin typeface="맑은 고딕"/>
                <a:ea typeface="맑은 고딕"/>
              </a:rPr>
              <a:t>으로 구체화한다.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반복적인 개발</a:t>
            </a:r>
            <a:r>
              <a:rPr sz="1600" b="0">
                <a:solidFill>
                  <a:srgbClr val="000000"/>
                </a:solidFill>
                <a:latin typeface="맑은 고딕"/>
                <a:ea typeface="맑은 고딕"/>
              </a:rPr>
              <a:t>과 </a:t>
            </a:r>
            <a:r>
              <a:rPr sz="1600" b="1">
                <a:solidFill>
                  <a:srgbClr val="000000"/>
                </a:solidFill>
                <a:latin typeface="맑은 고딕"/>
                <a:ea typeface="맑은 고딕"/>
              </a:rPr>
              <a:t>우선순위 관리</a:t>
            </a:r>
            <a:r>
              <a:rPr sz="1600" b="0">
                <a:solidFill>
                  <a:srgbClr val="000000"/>
                </a:solidFill>
                <a:latin typeface="맑은 고딕"/>
                <a:ea typeface="맑은 고딕"/>
              </a:rPr>
              <a:t>에 적합하다.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형식 문장 자체보다 </a:t>
            </a:r>
            <a:r>
              <a:rPr sz="1600" b="1">
                <a:solidFill>
                  <a:srgbClr val="000000"/>
                </a:solidFill>
                <a:latin typeface="맑은 고딕"/>
                <a:ea typeface="맑은 고딕"/>
              </a:rPr>
              <a:t>카드·대화·확인</a:t>
            </a:r>
            <a:r>
              <a:rPr sz="1600" b="0">
                <a:solidFill>
                  <a:srgbClr val="000000"/>
                </a:solidFill>
                <a:latin typeface="맑은 고딕"/>
                <a:ea typeface="맑은 고딕"/>
              </a:rPr>
              <a:t>이 중요하다. 위 문형은 표현 예이며 필수 표준 양식이 아니다.</a:t>
            </a:r>
          </a:p>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Ron Jeffries, 2001</a:t>
            </a:r>
          </a:p>
        </p:txBody>
      </p:sp>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49.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1842998"/>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- 69 -</a:t>
            </a:r>
          </a:p>
        </p:txBody>
      </p:sp>
    </p:spTree>
    <p:extLst>
      <p:ext uri="{BB962C8B-B14F-4D97-AF65-F5344CB8AC3E}">
        <p14:creationId xmlns:p14="http://schemas.microsoft.com/office/powerpoint/2010/main" val="27895694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829198"/>
          <a:ext cx="4996180" cy="3873500"/>
        </p:xfrm>
        <a:graphic>
          <a:graphicData uri="http://schemas.openxmlformats.org/drawingml/2006/table">
            <a:tbl>
              <a:tblPr/>
              <a:tblGrid>
                <a:gridCol w="1226820"/>
                <a:gridCol w="3769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합의하고 검증과 연결하는 협업 방식</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 템플릿</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Given</a:t>
            </a:r>
            <a:r>
              <a:rPr sz="1600" b="0">
                <a:solidFill>
                  <a:srgbClr val="000000"/>
                </a:solidFill>
                <a:latin typeface="맑은 고딕"/>
                <a:ea typeface="맑은 고딕"/>
              </a:rPr>
              <a:t> —</a:t>
            </a:r>
            <a:r>
              <a:rPr sz="1400" b="0">
                <a:solidFill>
                  <a:srgbClr val="000000"/>
                </a:solidFill>
                <a:latin typeface="맑은 고딕"/>
                <a:ea typeface="맑은 고딕"/>
              </a:rPr>
              <a:t> 시작 조건: 어떤 상태·전제에서 시작하는가?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When</a:t>
            </a:r>
            <a:r>
              <a:rPr sz="1600" b="0">
                <a:solidFill>
                  <a:srgbClr val="000000"/>
                </a:solidFill>
                <a:latin typeface="맑은 고딕"/>
                <a:ea typeface="맑은 고딕"/>
              </a:rPr>
              <a:t> —</a:t>
            </a:r>
            <a:r>
              <a:rPr sz="1400" b="0">
                <a:solidFill>
                  <a:srgbClr val="000000"/>
                </a:solidFill>
                <a:latin typeface="맑은 고딕"/>
                <a:ea typeface="맑은 고딕"/>
              </a:rPr>
              <a:t> 행위: 액터가 무엇을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Then</a:t>
            </a:r>
            <a:r>
              <a:rPr sz="1600" b="0">
                <a:solidFill>
                  <a:srgbClr val="000000"/>
                </a:solidFill>
                <a:latin typeface="맑은 고딕"/>
                <a:ea typeface="맑은 고딕"/>
              </a:rPr>
              <a:t> —</a:t>
            </a:r>
            <a:r>
              <a:rPr sz="1400" b="0">
                <a:solidFill>
                  <a:srgbClr val="000000"/>
                </a:solidFill>
                <a:latin typeface="맑은 고딕"/>
                <a:ea typeface="맑은 고딕"/>
              </a:rPr>
              <a:t> 결과: 어떤 관찰 가능한 결과가 성립해야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문법만으로 완성되지 않는다. 규칙을 </a:t>
            </a:r>
            <a:r>
              <a:rPr sz="1600" b="1">
                <a:solidFill>
                  <a:srgbClr val="000000"/>
                </a:solidFill>
                <a:latin typeface="맑은 고딕"/>
                <a:ea typeface="맑은 고딕"/>
              </a:rPr>
              <a:t>함께 발견</a:t>
            </a:r>
            <a:r>
              <a:rPr sz="1600" b="0">
                <a:solidFill>
                  <a:srgbClr val="000000"/>
                </a:solidFill>
                <a:latin typeface="맑은 고딕"/>
                <a:ea typeface="맑은 고딕"/>
              </a:rPr>
              <a:t>하고 구현에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변경의 성공 예 </a:t>
            </a:r>
            <a:r>
              <a:rPr sz="1400" b="0">
                <a:solidFill>
                  <a:srgbClr val="000000"/>
                </a:solidFill>
                <a:latin typeface="맑은 고딕"/>
                <a:ea typeface="맑은 고딕"/>
              </a:rPr>
              <a:t>(Given-When-Then)</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「44. 시스템 오퍼레이션과 계약」의 </a:t>
            </a:r>
            <a:r>
              <a:rPr sz="1600" b="1">
                <a:solidFill>
                  <a:srgbClr val="000000"/>
                </a:solidFill>
                <a:latin typeface="맑은 고딕"/>
                <a:ea typeface="맑은 고딕"/>
              </a:rPr>
              <a:t>전제</a:t>
            </a:r>
            <a:r>
              <a:rPr sz="1200" b="0">
                <a:solidFill>
                  <a:srgbClr val="000000"/>
                </a:solidFill>
                <a:latin typeface="맑은 고딕"/>
                <a:ea typeface="맑은 고딕"/>
              </a:rPr>
              <a:t>(출고 전)</a:t>
            </a:r>
            <a:r>
              <a:rPr sz="1600" b="0">
                <a:solidFill>
                  <a:srgbClr val="000000"/>
                </a:solidFill>
                <a:latin typeface="맑은 고딕"/>
                <a:ea typeface="맑은 고딕"/>
              </a:rPr>
              <a:t>를 사용한다.</a:t>
            </a:r>
          </a:p>
          <a:p>
            <a:pPr lvl="3" marL="1077913" indent="-354013">
              <a:spcBef>
                <a:spcPts val="600"/>
              </a:spcBef>
              <a:spcAft>
                <a:spcPts val="600"/>
              </a:spcAft>
              <a:buNone/>
            </a:pPr>
            <a:r>
              <a:rPr sz="1600" b="1">
                <a:solidFill>
                  <a:srgbClr val="000000"/>
                </a:solidFill>
                <a:latin typeface="맑은 고딕"/>
                <a:ea typeface="맑은 고딕"/>
              </a:rPr>
              <a:t>Given</a:t>
            </a:r>
            <a:r>
              <a:rPr sz="1600" b="0">
                <a:solidFill>
                  <a:srgbClr val="000000"/>
                </a:solidFill>
                <a:latin typeface="맑은 고딕"/>
                <a:ea typeface="맑은 고딕"/>
              </a:rPr>
              <a:t> 고객 소유의 주문 A가 출고 전이고 배송지는 주소 A, 새 주소 B는 유효하다.</a:t>
            </a:r>
          </a:p>
          <a:p>
            <a:pPr lvl="3" marL="1077913" indent="-354013">
              <a:spcBef>
                <a:spcPts val="600"/>
              </a:spcBef>
              <a:spcAft>
                <a:spcPts val="600"/>
              </a:spcAft>
              <a:buNone/>
            </a:pPr>
            <a:r>
              <a:rPr sz="1600" b="1">
                <a:solidFill>
                  <a:srgbClr val="000000"/>
                </a:solidFill>
                <a:latin typeface="맑은 고딕"/>
                <a:ea typeface="맑은 고딕"/>
              </a:rPr>
              <a:t>When</a:t>
            </a:r>
            <a:r>
              <a:rPr sz="1600" b="0">
                <a:solidFill>
                  <a:srgbClr val="000000"/>
                </a:solidFill>
                <a:latin typeface="맑은 고딕"/>
                <a:ea typeface="맑은 고딕"/>
              </a:rPr>
              <a:t> 고객이 주문 A의 배송지를 주소 B로 변경한다.</a:t>
            </a:r>
          </a:p>
          <a:p>
            <a:pPr lvl="3" marL="1077913" indent="-354013">
              <a:spcBef>
                <a:spcPts val="600"/>
              </a:spcBef>
              <a:spcAft>
                <a:spcPts val="600"/>
              </a:spcAft>
              <a:buNone/>
            </a:pPr>
            <a:r>
              <a:rPr sz="1600" b="1">
                <a:solidFill>
                  <a:srgbClr val="000000"/>
                </a:solidFill>
                <a:latin typeface="맑은 고딕"/>
                <a:ea typeface="맑은 고딕"/>
              </a:rPr>
              <a:t>Then</a:t>
            </a:r>
            <a:r>
              <a:rPr sz="1600" b="0">
                <a:solidFill>
                  <a:srgbClr val="000000"/>
                </a:solidFill>
                <a:latin typeface="맑은 고딕"/>
                <a:ea typeface="맑은 고딕"/>
              </a:rPr>
              <a:t> 주문 A의 배송지는 주소 B이고, 주문 식별 정보·상품·결제 금액은 변경 전과 같다.</a:t>
            </a:r>
          </a:p>
        </p:txBody>
      </p:sp>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1842998"/>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357073"/>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유스케이스·사용자 스토리·행위 주도 개발을 반드시 순서대로 도입할 필요는 없다. 일부 목적이 겹치지만 강조점이 다르다. </a:t>
            </a:r>
            <a:r>
              <a:rPr sz="1800" b="1">
                <a:solidFill>
                  <a:srgbClr val="000000"/>
                </a:solidFill>
                <a:latin typeface="맑은 고딕"/>
                <a:ea typeface="맑은 고딕"/>
              </a:rPr>
              <a:t>사용자 목표·작은 가치 단위·구체적인 행위와 검증</a:t>
            </a:r>
            <a:r>
              <a:rPr sz="1800" b="0">
                <a:solidFill>
                  <a:srgbClr val="000000"/>
                </a:solidFill>
                <a:latin typeface="맑은 고딕"/>
                <a:ea typeface="맑은 고딕"/>
              </a:rPr>
              <a:t> 중 필요한 관점에 맞춰 선택하거나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pic>
        <p:nvPicPr>
          <p:cNvPr id="14" name="mermaid Diagram 4"/>
          <p:cNvPicPr>
            <a:picLocks noChangeAspect="1"/>
          </p:cNvPicPr>
          <p:nvPr/>
        </p:nvPicPr>
        <p:blipFill>
          <a:blip r:embed="mermaidImage4"/>
          <a:stretch>
            <a:fillRect/>
          </a:stretch>
        </p:blipFill>
        <p:spPr>
          <a:xfrm>
            <a:off x="2608612" y="3876036"/>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53.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수준에서 확인할 수 있는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구현·검증 가능한가?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명확·완전·일관적</a:t>
            </a:r>
            <a:r>
              <a:rPr sz="16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확인해야 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실제로 사용하며 </a:t>
            </a:r>
            <a:r>
              <a:rPr sz="1600" b="1">
                <a:solidFill>
                  <a:srgbClr val="000000"/>
                </a:solidFill>
                <a:latin typeface="맑은 고딕"/>
                <a:ea typeface="맑은 고딕"/>
              </a:rPr>
              <a:t>문제를 해결</a:t>
            </a:r>
            <a:r>
              <a:rPr sz="1600" b="0">
                <a:solidFill>
                  <a:srgbClr val="000000"/>
                </a:solidFill>
                <a:latin typeface="맑은 고딕"/>
                <a:ea typeface="맑은 고딕"/>
              </a:rPr>
              <a:t>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기대한 가치</a:t>
            </a:r>
            <a:r>
              <a:rPr sz="1600" b="0">
                <a:solidFill>
                  <a:srgbClr val="000000"/>
                </a:solidFill>
                <a:latin typeface="맑은 고딕"/>
                <a:ea typeface="맑은 고딕"/>
              </a:rPr>
              <a:t>와 </a:t>
            </a:r>
            <a:r>
              <a:rPr sz="1600" b="1">
                <a:solidFill>
                  <a:srgbClr val="000000"/>
                </a:solidFill>
                <a:latin typeface="맑은 고딕"/>
                <a:ea typeface="맑은 고딕"/>
              </a:rPr>
              <a:t>예상 못한 문제</a:t>
            </a:r>
            <a:r>
              <a:rPr sz="1600" b="0">
                <a:solidFill>
                  <a:srgbClr val="000000"/>
                </a:solidFill>
                <a:latin typeface="맑은 고딕"/>
                <a:ea typeface="맑은 고딕"/>
              </a:rPr>
              <a:t>가 있는가?</a:t>
            </a:r>
          </a:p>
        </p:txBody>
      </p:sp>
      <p:pic>
        <p:nvPicPr>
          <p:cNvPr id="9" name="mermaid Diagram 5"/>
          <p:cNvPicPr>
            <a:picLocks noChangeAspect="1"/>
          </p:cNvPicPr>
          <p:nvPr/>
        </p:nvPicPr>
        <p:blipFill>
          <a:blip r:embed="mermaidImage5"/>
          <a:stretch>
            <a:fillRect/>
          </a:stretch>
        </p:blipFill>
        <p:spPr>
          <a:xfrm>
            <a:off x="1460500" y="4214480"/>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 대상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기준선, 변경, 우선순위,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버전, 의존성, 영향분석, 추적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무엇이 </a:t>
            </a:r>
            <a:r>
              <a:rPr sz="1600" b="1">
                <a:solidFill>
                  <a:srgbClr val="000000"/>
                </a:solidFill>
                <a:latin typeface="맑은 고딕"/>
                <a:ea typeface="맑은 고딕"/>
              </a:rPr>
              <a:t>언제·왜</a:t>
            </a:r>
            <a:r>
              <a:rPr sz="1600" b="0">
                <a:solidFill>
                  <a:srgbClr val="000000"/>
                </a:solidFill>
                <a:latin typeface="맑은 고딕"/>
                <a:ea typeface="맑은 고딕"/>
              </a:rPr>
              <a:t> 바뀌었고 무엇에 </a:t>
            </a:r>
            <a:r>
              <a:rPr sz="1600" b="1">
                <a:solidFill>
                  <a:srgbClr val="000000"/>
                </a:solidFill>
                <a:latin typeface="맑은 고딕"/>
                <a:ea typeface="맑은 고딕"/>
              </a:rPr>
              <a:t>영향</a:t>
            </a:r>
            <a:r>
              <a:rPr sz="1600" b="0">
                <a:solidFill>
                  <a:srgbClr val="000000"/>
                </a:solidFill>
                <a:latin typeface="맑은 고딕"/>
                <a:ea typeface="맑은 고딕"/>
              </a:rPr>
              <a:t>을 주는가?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누가 결정했는가?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관련 </a:t>
            </a:r>
            <a:r>
              <a:rPr sz="1600" b="1">
                <a:solidFill>
                  <a:srgbClr val="000000"/>
                </a:solidFill>
                <a:latin typeface="맑은 고딕"/>
                <a:ea typeface="맑은 고딕"/>
              </a:rPr>
              <a:t>요구·설계·코드·테스트</a:t>
            </a:r>
            <a:r>
              <a:rPr sz="16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요구와 코드를 </a:t>
            </a:r>
            <a:r>
              <a:rPr sz="1800" b="1">
                <a:solidFill>
                  <a:srgbClr val="000000"/>
                </a:solidFill>
                <a:latin typeface="맑은 고딕"/>
                <a:ea typeface="맑은 고딕"/>
              </a:rPr>
              <a:t>일대일 대응</a:t>
            </a:r>
            <a:r>
              <a:rPr sz="1800" b="0">
                <a:solidFill>
                  <a:srgbClr val="000000"/>
                </a:solidFill>
                <a:latin typeface="맑은 고딕"/>
                <a:ea typeface="맑은 고딕"/>
              </a:rPr>
              <a:t>시키지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근거·영향</a:t>
            </a:r>
            <a:r>
              <a:rPr sz="1800" b="0">
                <a:solidFill>
                  <a:srgbClr val="000000"/>
                </a:solidFill>
                <a:latin typeface="맑은 고딕"/>
                <a:ea typeface="맑은 고딕"/>
              </a:rPr>
              <a:t>을 기록하고 필요하면 </a:t>
            </a:r>
            <a:r>
              <a:rPr sz="1800" b="1">
                <a:solidFill>
                  <a:srgbClr val="000000"/>
                </a:solidFill>
                <a:latin typeface="맑은 고딕"/>
                <a:ea typeface="맑은 고딕"/>
              </a:rPr>
              <a:t>기준선</a:t>
            </a:r>
            <a:r>
              <a:rPr sz="1800" b="0">
                <a:solidFill>
                  <a:srgbClr val="000000"/>
                </a:solidFill>
                <a:latin typeface="맑은 고딕"/>
                <a:ea typeface="맑은 고딕"/>
              </a:rPr>
              <a:t>을 갱신한다.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pic>
        <p:nvPicPr>
          <p:cNvPr id="9" name="mermaid Diagram 6"/>
          <p:cNvPicPr>
            <a:picLocks noChangeAspect="1"/>
          </p:cNvPicPr>
          <p:nvPr/>
        </p:nvPicPr>
        <p:blipFill>
          <a:blip r:embed="mermaidImage6"/>
          <a:stretch>
            <a:fillRect/>
          </a:stretch>
        </p:blipFill>
        <p:spPr>
          <a:xfrm>
            <a:off x="1460500" y="4612666"/>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pic>
        <p:nvPicPr>
          <p:cNvPr id="9" name="mermaid Diagram 7"/>
          <p:cNvPicPr>
            <a:picLocks noChangeAspect="1"/>
          </p:cNvPicPr>
          <p:nvPr/>
        </p:nvPicPr>
        <p:blipFill>
          <a:blip r:embed="mermaidImage7"/>
          <a:stretch>
            <a:fillRect/>
          </a:stretch>
        </p:blipFill>
        <p:spPr>
          <a:xfrm>
            <a:off x="1460500" y="347716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모델로 바꾸기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요청된 버튼을 그대로 유스케이스로 삼지 않고, </a:t>
            </a:r>
            <a:r>
              <a:rPr sz="1800" b="1">
                <a:solidFill>
                  <a:srgbClr val="000000"/>
                </a:solidFill>
                <a:latin typeface="맑은 고딕"/>
                <a:ea typeface="맑은 고딕"/>
              </a:rPr>
              <a:t>문제·요구·제약·목표·시스템 책임</a:t>
            </a:r>
            <a:r>
              <a:rPr sz="1800" b="0">
                <a:solidFill>
                  <a:srgbClr val="000000"/>
                </a:solidFill>
                <a:latin typeface="맑은 고딕"/>
                <a:ea typeface="맑은 고딕"/>
              </a:rPr>
              <a:t>을 구분해 요구 모델을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08380" indent="-284480">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문제·요구·요구사항·제약·해결책</a:t>
            </a:r>
          </a:p>
          <a:p>
            <a:pPr lvl="3" marL="1008380" indent="-284480">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업무 배경도와 유스케이스 다이어그램 —</a:t>
            </a:r>
            <a:r>
              <a:rPr sz="1400" b="0">
                <a:solidFill>
                  <a:srgbClr val="000000"/>
                </a:solidFill>
                <a:latin typeface="맑은 고딕"/>
                <a:ea typeface="맑은 고딕"/>
              </a:rPr>
              <a:t> 목표·주 액터·지원 액터·유스케이스</a:t>
            </a:r>
          </a:p>
          <a:p>
            <a:pPr lvl="3" marL="1008380" indent="-284480">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기본·대안 흐름과 SSD의 대응, 규칙, 시스템 오퍼레이션</a:t>
            </a:r>
          </a:p>
          <a:p>
            <a:pPr lvl="3" marL="1008380" indent="-284480">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품질 요구사항</a:t>
            </a:r>
          </a:p>
          <a:p>
            <a:pPr lvl="3" marL="1008380" indent="-284480">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아직 모르는 것과 검증 방법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사실·가정·질문을 구분한 검토표 공유.</a:t>
            </a:r>
          </a:p>
        </p:txBody>
      </p:sp>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모델로 바꾸기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사실과 가정 구분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목표·해결책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흐름과 규칙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경계와 외부 시스템이 드러나는 다이어그램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흐름의 액터 단계와 SSD 이벤트의 대응</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결과 중심 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근거 없는 정책 확정 여부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품질 질문의 구체성</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가치의 사용 증거 확인</a:t>
            </a:r>
          </a:p>
        </p:txBody>
      </p:sp>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분석과 유스케이스의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문제·요구·이벤트</a:t>
            </a:r>
            <a:r>
              <a:rPr sz="1600" b="0">
                <a:solidFill>
                  <a:srgbClr val="000000"/>
                </a:solidFill>
                <a:latin typeface="맑은 고딕"/>
                <a:ea typeface="맑은 고딕"/>
              </a:rPr>
              <a:t> —</a:t>
            </a:r>
            <a:r>
              <a:rPr sz="1400" b="0">
                <a:solidFill>
                  <a:srgbClr val="000000"/>
                </a:solidFill>
                <a:latin typeface="맑은 고딕"/>
                <a:ea typeface="맑은 고딕"/>
              </a:rPr>
              <a:t> 요청에 섞인 수준을 구분하고, 이벤트로 합의하며 작은 반복으로 검증한다.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경우별 접근</a:t>
            </a:r>
            <a:r>
              <a:rPr sz="1600" b="0">
                <a:solidFill>
                  <a:srgbClr val="000000"/>
                </a:solidFill>
                <a:latin typeface="맑은 고딕"/>
                <a:ea typeface="맑은 고딕"/>
              </a:rPr>
              <a:t> —</a:t>
            </a:r>
            <a:r>
              <a:rPr sz="1400" b="0">
                <a:solidFill>
                  <a:srgbClr val="000000"/>
                </a:solidFill>
                <a:latin typeface="맑은 고딕"/>
                <a:ea typeface="맑은 고딕"/>
              </a:rPr>
              <a:t> 업무 지식과 업무·기술 불확실성에 따라 요구 기법을 고른다.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유스케이스와 경계</a:t>
            </a:r>
            <a:r>
              <a:rPr sz="1600" b="0">
                <a:solidFill>
                  <a:srgbClr val="000000"/>
                </a:solidFill>
                <a:latin typeface="맑은 고딕"/>
                <a:ea typeface="맑은 고딕"/>
              </a:rPr>
              <a:t> —</a:t>
            </a:r>
            <a:r>
              <a:rPr sz="1400" b="0">
                <a:solidFill>
                  <a:srgbClr val="000000"/>
                </a:solidFill>
                <a:latin typeface="맑은 고딕"/>
                <a:ea typeface="맑은 고딕"/>
              </a:rPr>
              <a:t> 기능 분해·CRUD·화면이 아니라 사용자 목표와 가치 있는 결과로 식별하고, 소유로 시스템 경계를 정한다.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SSD·계약·검증</a:t>
            </a:r>
            <a:r>
              <a:rPr sz="1600" b="0">
                <a:solidFill>
                  <a:srgbClr val="000000"/>
                </a:solidFill>
                <a:latin typeface="맑은 고딕"/>
                <a:ea typeface="맑은 고딕"/>
              </a:rPr>
              <a:t> —</a:t>
            </a:r>
            <a:r>
              <a:rPr sz="1400" b="0">
                <a:solidFill>
                  <a:srgbClr val="000000"/>
                </a:solidFill>
                <a:latin typeface="맑은 고딕"/>
                <a:ea typeface="맑은 고딕"/>
              </a:rPr>
              <a:t> SSD 초안을 외부 시스템까지 정제하고, 외부 결과로 계약해 코드·테스트로 잇고, 스토리·BDD·추적으로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03. 정적 모델 —</a:t>
            </a:r>
            <a:r>
              <a:rPr sz="1400" b="1">
                <a:solidFill>
                  <a:srgbClr val="000000"/>
                </a:solidFill>
                <a:latin typeface="맑은 고딕"/>
                <a:ea typeface="맑은 고딕"/>
              </a:rPr>
              <a:t> 도메인 개념과 관계</a:t>
            </a:r>
            <a:r>
              <a:rPr sz="14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80</Slides>
  <Notes>58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80</vt:i4>
      </vt:variant>
    </vt:vector>
  </HeadingPairs>
  <TitlesOfParts>
    <vt:vector size="84"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 (1/2)</vt:lpstr>
      <vt:lpstr>17. 좋은 요구사항의 자격요건 (2/2)</vt:lpstr>
      <vt:lpstr>18. 유스케이스란 무엇인가?</vt:lpstr>
      <vt:lpstr>19. 왜 유스케이스가 필요한가?</vt:lpstr>
      <vt:lpstr>20. 유스케이스의 위치</vt:lpstr>
      <vt:lpstr>21. 유스케이스 작성 절차</vt:lpstr>
      <vt:lpstr>22. 대상 시스템과 경계 업무 배경도</vt:lpstr>
      <vt:lpstr>23. 경계 판단</vt:lpstr>
      <vt:lpstr>24. 목표와 액터</vt:lpstr>
      <vt:lpstr>25. 유스케이스 후보 식별</vt:lpstr>
      <vt:lpstr>26. 유스케이스 수준</vt:lpstr>
      <vt:lpstr>27. 유스케이스 다이어그램 — 초안 (1/2)</vt:lpstr>
      <vt:lpstr>27. 유스케이스 다이어그램 — 초안 (2/2)</vt:lpstr>
      <vt:lpstr>28. 유스케이스 명세서 템플릿</vt:lpstr>
      <vt:lpstr>29. 기본 이벤트 흐름 (1/2)</vt:lpstr>
      <vt:lpstr>29. 기본 이벤트 흐름 (2/2)</vt:lpstr>
      <vt:lpstr>30. 규칙·제약·예외 정책</vt:lpstr>
      <vt:lpstr>31. 이벤트 흐름을 이용한 요구 분석</vt:lpstr>
      <vt:lpstr>32. 유스케이스 상세화 (1/2)</vt:lpstr>
      <vt:lpstr>32. 유스케이스 상세화 (2/2)</vt:lpstr>
      <vt:lpstr>33. 유스케이스 다이어그램 — 상세화 (1/4)</vt:lpstr>
      <vt:lpstr>33. 유스케이스 다이어그램 — 상세화 (2/4)</vt:lpstr>
      <vt:lpstr>33. 유스케이스 다이어그램 — 상세화 (3/4)</vt:lpstr>
      <vt:lpstr>33. 유스케이스 다이어그램 — 상세화 (4/4)</vt:lpstr>
      <vt:lpstr>34. 잘못된 관행 — 기능 분할</vt:lpstr>
      <vt:lpstr>35. 잘못된 관행 — CRUD 분할</vt:lpstr>
      <vt:lpstr>36. 잘못된 관행 — 화면·기술 요소</vt:lpstr>
      <vt:lpstr>37. 잘못된 관행 — 시스템 관점·액터</vt:lpstr>
      <vt:lpstr>38. 잘못된 관행 — 명세 과잉·방치</vt:lpstr>
      <vt:lpstr>39. 잘못된 유스케이스 다이어그램 (1/3)</vt:lpstr>
      <vt:lpstr>39. 잘못된 유스케이스 다이어그램 (2/3)</vt:lpstr>
      <vt:lpstr>39. 잘못된 유스케이스 다이어그램 (3/3)</vt:lpstr>
      <vt:lpstr>40. 시스템 시퀀스 다이어그램</vt:lpstr>
      <vt:lpstr>41. SSD 초안 (1/2)</vt:lpstr>
      <vt:lpstr>41. SSD 초안 (2/2)</vt:lpstr>
      <vt:lpstr>42. 시스템 이벤트와 오퍼레이션</vt:lpstr>
      <vt:lpstr>43. 정제된 SSD (1/4)</vt:lpstr>
      <vt:lpstr>43. 정제된 SSD (2/4)</vt:lpstr>
      <vt:lpstr>43. 정제된 SSD (3/4)</vt:lpstr>
      <vt:lpstr>43. 정제된 SSD (4/4)</vt:lpstr>
      <vt:lpstr>44. 시스템 오퍼레이션과 계약 (1/5)</vt:lpstr>
      <vt:lpstr>44. 시스템 오퍼레이션과 계약 (2/5)</vt:lpstr>
      <vt:lpstr>44. 시스템 오퍼레이션과 계약 (3/5)</vt:lpstr>
      <vt:lpstr>44. 시스템 오퍼레이션과 계약 (4/5)</vt:lpstr>
      <vt:lpstr>44. 시스템 오퍼레이션과 계약 (5/5)</vt:lpstr>
      <vt:lpstr>45. 정적·동적 모델을 통한 상세화</vt:lpstr>
      <vt:lpstr>46. 유스케이스와 품질속성</vt:lpstr>
      <vt:lpstr>47. 프로토타입·와이어프레임 (1/2)</vt:lpstr>
      <vt:lpstr>47. 프로토타입·와이어프레임 (2/2)</vt:lpstr>
      <vt:lpstr>48. 사용자 스토리</vt:lpstr>
      <vt:lpstr>49. 사용자 스토리의 강점과 한계</vt:lpstr>
      <vt:lpstr>50. 행위 주도 개발 (1/2)</vt:lpstr>
      <vt:lpstr>50. 행위 주도 개발 (2/2)</vt:lpstr>
      <vt:lpstr>51. 행위 주도 개발의 강점과 한계</vt:lpstr>
      <vt:lpstr>52. 유스케이스·사용자 스토리·BDD</vt:lpstr>
      <vt:lpstr>53. 요구사항 검증</vt:lpstr>
      <vt:lpstr>54. 요구사항 관리</vt:lpstr>
      <vt:lpstr>55. 요구사항 추적</vt:lpstr>
      <vt:lpstr>56. 요구사항에서 학습으로</vt:lpstr>
      <vt:lpstr>57. 실습 — 모델로 바꾸기 (1/2)</vt:lpstr>
      <vt:lpstr>57. 실습 — 모델로 바꾸기 (2/2)</vt:lpstr>
      <vt:lpstr>58.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