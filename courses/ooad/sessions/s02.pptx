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Override PartName="/ppt/notesSlides/notesSlide88.xml" ContentType="application/vnd.openxmlformats-officedocument.presentationml.notesSlide+xml"/>
  <Override PartName="/ppt/slides/slide88.xml" ContentType="application/vnd.openxmlformats-officedocument.presentationml.slide+xml"/>
  <Override PartName="/ppt/notesSlides/notesSlide89.xml" ContentType="application/vnd.openxmlformats-officedocument.presentationml.notesSlide+xml"/>
  <Override PartName="/ppt/slides/slide89.xml" ContentType="application/vnd.openxmlformats-officedocument.presentationml.slide+xml"/>
  <Override PartName="/ppt/notesSlides/notesSlide90.xml" ContentType="application/vnd.openxmlformats-officedocument.presentationml.notesSlide+xml"/>
  <Override PartName="/ppt/slides/slide90.xml" ContentType="application/vnd.openxmlformats-officedocument.presentationml.slide+xml"/>
  <Override PartName="/ppt/notesSlides/notesSlide91.xml" ContentType="application/vnd.openxmlformats-officedocument.presentationml.notesSlide+xml"/>
  <Override PartName="/ppt/slides/slide91.xml" ContentType="application/vnd.openxmlformats-officedocument.presentationml.slide+xml"/>
  <Override PartName="/ppt/notesSlides/notesSlide92.xml" ContentType="application/vnd.openxmlformats-officedocument.presentationml.notesSlide+xml"/>
  <Override PartName="/ppt/slides/slide9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 id="343" r:id="javaLecture88"/>
    <p:sldId id="344" r:id="javaLecture89"/>
    <p:sldId id="345" r:id="javaLecture90"/>
    <p:sldId id="346" r:id="javaLecture91"/>
    <p:sldId id="347" r:id="javaLecture9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 Id="javaLecture88" Type="http://schemas.openxmlformats.org/officeDocument/2006/relationships/slide" Target="slides/slide88.xml"/><Relationship Id="javaLecture89" Type="http://schemas.openxmlformats.org/officeDocument/2006/relationships/slide" Target="slides/slide89.xml"/><Relationship Id="javaLecture90" Type="http://schemas.openxmlformats.org/officeDocument/2006/relationships/slide" Target="slides/slide90.xml"/><Relationship Id="javaLecture91" Type="http://schemas.openxmlformats.org/officeDocument/2006/relationships/slide" Target="slides/slide91.xml"/><Relationship Id="javaLecture92"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「62.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"세션 03. 정적 모델 — 도메인 개념과 관계"·"세션 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유저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유스케이스·유저 스토리는 이 세션 뒤에서, 도메인 이벤트와 이벤트 기반 아키텍처는 "세션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"세션 01. OOAD 개요"의 「AI-native SW공학」과 연결한다. Human·Agent 역할과 가드레일·하네스의 구성은 "세션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사례다(「66.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"세션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"세션 03. 정적 모델 — 도메인 개념과 관계"에서 도메인 모델과 함께 정제하고, 설계 이름으로의 전환은 "세션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"세션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쓴다("세션 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"세션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"세션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"세션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"세션 04. 동적 모델 — 상호작용과 상태"에서 다시 본다.</a:t>
            </a:r>
          </a:p>
          <a:p>
            <a:pPr lvl="0"/>
            <a:r>
              <a:rPr lang="ko-KR" sz="1200"/>
              <a:t>정제된 SSD와 계약, 유스케이스 명세서는 "세션 03. 정적 모델 — 도메인 개념과 관계"와 "세션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"세션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"세션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"세션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"세션 03. 정적 모델 — 도메인 개념과 관계"와 "세션 04. 동적 모델 — 상호작용과 상태"에서 각각 본격적으로 다룬다.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"세션 13. OOAD에서 전문영역으로 — Architecture · DDD · MSA"에서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세 요소의 설명은 원문의 Card·Conversation·Confirmation 절을 요약한 것이다.</a:t>
            </a:r>
          </a:p>
          <a:p>
            <a:pPr lvl="0"/>
            <a:r>
              <a:rPr lang="ko-KR" sz="1200"/>
              <a:t>Wake(2003)도 Jeffries를 들어 스토리를 카드·대화·확인으로 소개한다(「51. 좋은 유저 스토리 — INVEST」).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원문은 가치가 없는 스토리가 "so that I just do, ok?"처럼 끝난다고 적는다.</a:t>
            </a:r>
          </a:p>
          <a:p>
            <a:pPr lvl="0"/>
            <a:r>
              <a:rPr lang="ko-KR" sz="1200"/>
              <a:t>문형은 필수 양식이 아니다. 누가·무엇을·왜가 드러나면 된다.</a:t>
            </a:r>
          </a:p>
          <a:p>
            <a:pPr lvl="0"/>
            <a:r>
              <a:rPr lang="ko-KR" sz="1200"/>
              <a:t>예의 스토리는 「주문을 관리한다」의 대안 흐름 3a(배송지 변경)와 1a(주문 취소)를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Bill Wake, "INVEST in Good Stories, and SMART Tasks"(2003) 원문 확인. 표의 "뜻"은 원문의 각 절을 요약했다.</a:t>
            </a:r>
          </a:p>
          <a:p>
            <a:pPr lvl="0"/>
            <a:r>
              <a:rPr lang="ko-KR" sz="1200"/>
              <a:t>원문은 테스트 가능을 이렇게 설명한다: 스토리 카드를 쓰는 것은 "테스트를 쓸 수 있을 만큼 원하는 것을 안다"는 약속이다. 고객이 테스트 방법을 모르면 스토리가 아직 분명하지 않다는 신호다.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개발자가 한 번에 한 층만 "제대로" 만들고 싶어 하지만, 화면이 없는 데이터베이스 층은 고객에게 가치가 적다고 적는다.</a:t>
            </a:r>
          </a:p>
          <a:p>
            <a:pPr lvl="0"/>
            <a:r>
              <a:rPr lang="ko-KR" sz="1200"/>
              <a:t>층으로 나눈 조각은 「35. 잘못된 관행 — 기능 분할」과 같은 문제다.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인용은 Böckeler가 SDD 도구(Kiro)로 작은 버그를 고치려 했을 때 요구 문서에 생긴 스토리 가운데 하나다. LLM에게 스토리를 쓰게 하면 이런 스토리가 섞이기 쉽다.</a:t>
            </a:r>
          </a:p>
          <a:p>
            <a:pPr lvl="0"/>
            <a:r>
              <a:rPr lang="ko-KR" sz="1200"/>
              <a:t>CRUD 스토리는 「36. 잘못된 관행 — CRUD 분할」과 같은 문제다. 표의 예는 주문 시스템에 맞춘 교육용 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본다(「59. 유스케이스·유저 스토리·BDD」).</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 같은 문서가 세 실천을 Discovery, Formulation, Automation이라 부른다.</a:t>
            </a:r>
          </a:p>
          <a:p>
            <a:pPr lvl="0"/>
            <a:r>
              <a:rPr lang="ko-KR" sz="1200"/>
              <a:t>North(2006)는 TDD의 "테스트" 대신 "행위"라는 말을 쓰다가, 동료(Chris Matts)와 함께 이 생각을 요구 정의에 적용했다고 적는다.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원문의 형식은 "Given some initial context (the givens), When an event occurs, Then ensure some outcomes."다.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"Example Mapping" 원문 확인. 원문은 스토리를 노란 카드, 규칙을 파란 카드, 예를 초록 카드, 답하지 못한 질문을 빨간 카드에 쓴다고 설명한다.</a:t>
            </a:r>
          </a:p>
          <a:p>
            <a:pPr lvl="0"/>
            <a:r>
              <a:rPr lang="ko-KR" sz="1200"/>
              <a:t>"출고는 누가 판단하는가?"는 "세션 11. 통합 설계와 적정 모델링"에서 드러나는 빈틈과 같은 질문이다. 출고는 배송 시스템이 판단한다.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쓴다(「56. Given-When-Then」의 배송지 변경 예).</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"Understanding Spec-Driven-Development: Kiro, spec-kit, and Tessl", martinfowler.com, 2025 원문 확인. 3가지 수준(spec-first, spec-anchored, spec-as-source)도 같은 글이 정리한 것이다.</a:t>
            </a:r>
          </a:p>
          <a:p>
            <a:pPr lvl="0"/>
            <a:r>
              <a:rPr lang="ko-KR" sz="1200"/>
              <a:t>원문은 Kiro의 요구 문서가 "As a…" 형식의 스토리와 "GIVEN… WHEN… THEN…" 형식의 인수 조건으로 되어 있다고 적는다.</a:t>
            </a:r>
          </a:p>
          <a:p>
            <a:pPr lvl="0"/>
            <a:r>
              <a:rPr lang="ko-KR" sz="1200"/>
              <a:t>SDD의 상세는 "AI-native SW 공학" 과정의 '03. 요구의 구체화와 명세'가 다룬다.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Böckeler(2025) 원문 확인. 원문은 이 모든 문서가 있어도 에이전트가 지시를 다 따르지 않는 것을 자주 보았고, 통제하는 가장 좋은 방법은 작고 반복적인 단계였다고 적는다.</a:t>
            </a:r>
          </a:p>
          <a:p>
            <a:pPr lvl="0"/>
            <a:r>
              <a:rPr lang="ko-KR" sz="1200"/>
              <a:t>원문의 저자는 MDD를 많이 쓴 프로젝트를 경험했다고 밝힌다.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변경이다("세션 03. 정적 모델 — 도메인 개념과 관계"의 「17. 모델의 검토」의 「누락과 모순」).</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펼친다("세션 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"세션 01. OOAD 개요"의 「피드백」.</a:t>
            </a:r>
          </a:p>
          <a:p>
            <a:pPr lvl="0"/>
            <a:r>
              <a:rPr lang="ko-KR" sz="1200"/>
              <a:t>모든 산출물을 늘 최신으로 유지하는 것은 적정 수준을 넘는 비용이다 — "세션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speakerNotes89"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speakerNotes90"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91"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speakerNotes92"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유저 스토리</a:t>
            </a:r>
          </a:p>
          <a:p>
            <a:pPr lvl="1" marL="355600" indent="0">
              <a:spcBef>
                <a:spcPts val="300"/>
              </a:spcBef>
              <a:spcAft>
                <a:spcPts val="300"/>
              </a:spcAft>
              <a:buNone/>
            </a:pPr>
            <a:r>
              <a:rPr sz="1600" b="0">
                <a:solidFill>
                  <a:srgbClr val="000000"/>
                </a:solidFill>
                <a:latin typeface="맑은 고딕"/>
                <a:ea typeface="맑은 고딕"/>
              </a:rPr>
              <a:t>50. 스토리의 문형과 가치</a:t>
            </a:r>
          </a:p>
          <a:p>
            <a:pPr lvl="1" marL="355600" indent="0">
              <a:spcBef>
                <a:spcPts val="300"/>
              </a:spcBef>
              <a:spcAft>
                <a:spcPts val="300"/>
              </a:spcAft>
              <a:buNone/>
            </a:pPr>
            <a:r>
              <a:rPr sz="1600" b="0">
                <a:solidFill>
                  <a:srgbClr val="000000"/>
                </a:solidFill>
                <a:latin typeface="맑은 고딕"/>
                <a:ea typeface="맑은 고딕"/>
              </a:rPr>
              <a:t>51. 좋은 유저 스토리 —</a:t>
            </a:r>
            <a:r>
              <a:rPr sz="1400" b="0">
                <a:solidFill>
                  <a:srgbClr val="000000"/>
                </a:solidFill>
                <a:latin typeface="맑은 고딕"/>
                <a:ea typeface="맑은 고딕"/>
              </a:rPr>
              <a:t> INVEST</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스토리 나누기</a:t>
            </a:r>
          </a:p>
          <a:p>
            <a:pPr lvl="1" marL="355600" indent="0">
              <a:spcBef>
                <a:spcPts val="300"/>
              </a:spcBef>
              <a:spcAft>
                <a:spcPts val="300"/>
              </a:spcAft>
              <a:buNone/>
            </a:pPr>
            <a:r>
              <a:rPr sz="1600" b="0">
                <a:solidFill>
                  <a:srgbClr val="000000"/>
                </a:solidFill>
                <a:latin typeface="맑은 고딕"/>
                <a:ea typeface="맑은 고딕"/>
              </a:rPr>
              <a:t>53. 잘못된 유저 스토리</a:t>
            </a:r>
          </a:p>
          <a:p>
            <a:pPr lvl="1" marL="355600" indent="0">
              <a:spcBef>
                <a:spcPts val="300"/>
              </a:spcBef>
              <a:spcAft>
                <a:spcPts val="300"/>
              </a:spcAft>
              <a:buNone/>
            </a:pPr>
            <a:r>
              <a:rPr sz="1600" b="0">
                <a:solidFill>
                  <a:srgbClr val="000000"/>
                </a:solidFill>
                <a:latin typeface="맑은 고딕"/>
                <a:ea typeface="맑은 고딕"/>
              </a:rPr>
              <a:t>54. 유저 스토리의 강점과 한계</a:t>
            </a:r>
          </a:p>
          <a:p>
            <a:pPr lvl="1" marL="355600" indent="0">
              <a:spcBef>
                <a:spcPts val="300"/>
              </a:spcBef>
              <a:spcAft>
                <a:spcPts val="300"/>
              </a:spcAft>
              <a:buNone/>
            </a:pPr>
            <a:r>
              <a:rPr sz="1600" b="0">
                <a:solidFill>
                  <a:srgbClr val="000000"/>
                </a:solidFill>
                <a:latin typeface="맑은 고딕"/>
                <a:ea typeface="맑은 고딕"/>
              </a:rPr>
              <a:t>55. 행위 주도 개발</a:t>
            </a:r>
          </a:p>
          <a:p>
            <a:pPr lvl="1" marL="355600" indent="0">
              <a:spcBef>
                <a:spcPts val="300"/>
              </a:spcBef>
              <a:spcAft>
                <a:spcPts val="300"/>
              </a:spcAft>
              <a:buNone/>
            </a:pPr>
            <a:r>
              <a:rPr sz="1600" b="0">
                <a:solidFill>
                  <a:srgbClr val="000000"/>
                </a:solidFill>
                <a:latin typeface="맑은 고딕"/>
                <a:ea typeface="맑은 고딕"/>
              </a:rPr>
              <a:t>56. Given-When-Then</a:t>
            </a:r>
          </a:p>
          <a:p>
            <a:pPr lvl="1" marL="355600" indent="0">
              <a:spcBef>
                <a:spcPts val="300"/>
              </a:spcBef>
              <a:spcAft>
                <a:spcPts val="300"/>
              </a:spcAft>
              <a:buNone/>
            </a:pPr>
            <a:r>
              <a:rPr sz="1600" b="0">
                <a:solidFill>
                  <a:srgbClr val="000000"/>
                </a:solidFill>
                <a:latin typeface="맑은 고딕"/>
                <a:ea typeface="맑은 고딕"/>
              </a:rPr>
              <a:t>57. Example Mapping</a:t>
            </a:r>
          </a:p>
          <a:p>
            <a:pPr lvl="1" marL="355600" indent="0">
              <a:spcBef>
                <a:spcPts val="300"/>
              </a:spcBef>
              <a:spcAft>
                <a:spcPts val="300"/>
              </a:spcAft>
              <a:buNone/>
            </a:pPr>
            <a:r>
              <a:rPr sz="1600" b="0">
                <a:solidFill>
                  <a:srgbClr val="000000"/>
                </a:solidFill>
                <a:latin typeface="맑은 고딕"/>
                <a:ea typeface="맑은 고딕"/>
              </a:rPr>
              <a:t>58. 행위 주도 개발의 강점과 한계</a:t>
            </a:r>
          </a:p>
          <a:p>
            <a:pPr lvl="1" marL="355600" indent="0">
              <a:spcBef>
                <a:spcPts val="300"/>
              </a:spcBef>
              <a:spcAft>
                <a:spcPts val="300"/>
              </a:spcAft>
              <a:buNone/>
            </a:pPr>
            <a:r>
              <a:rPr sz="1600" b="0">
                <a:solidFill>
                  <a:srgbClr val="000000"/>
                </a:solidFill>
                <a:latin typeface="맑은 고딕"/>
                <a:ea typeface="맑은 고딕"/>
              </a:rPr>
              <a:t>59. 유스케이스·유저 스토리·BDD</a:t>
            </a:r>
          </a:p>
          <a:p>
            <a:pPr lvl="1" marL="355600" indent="0">
              <a:spcBef>
                <a:spcPts val="300"/>
              </a:spcBef>
              <a:spcAft>
                <a:spcPts val="300"/>
              </a:spcAft>
              <a:buNone/>
            </a:pPr>
            <a:r>
              <a:rPr sz="1600" b="0">
                <a:solidFill>
                  <a:srgbClr val="000000"/>
                </a:solidFill>
                <a:latin typeface="맑은 고딕"/>
                <a:ea typeface="맑은 고딕"/>
              </a:rPr>
              <a:t>60. 명세 주도 개발</a:t>
            </a:r>
          </a:p>
          <a:p>
            <a:pPr lvl="1" marL="355600" indent="0">
              <a:spcBef>
                <a:spcPts val="300"/>
              </a:spcBef>
              <a:spcAft>
                <a:spcPts val="300"/>
              </a:spcAft>
              <a:buNone/>
            </a:pPr>
            <a:r>
              <a:rPr sz="1600" b="0">
                <a:solidFill>
                  <a:srgbClr val="000000"/>
                </a:solidFill>
                <a:latin typeface="맑은 고딕"/>
                <a:ea typeface="맑은 고딕"/>
              </a:rPr>
              <a:t>61. 명세 주도 개발의 한계</a:t>
            </a:r>
          </a:p>
          <a:p>
            <a:pPr lvl="1" marL="355600" indent="0">
              <a:spcBef>
                <a:spcPts val="300"/>
              </a:spcBef>
              <a:spcAft>
                <a:spcPts val="300"/>
              </a:spcAft>
              <a:buNone/>
            </a:pPr>
            <a:r>
              <a:rPr sz="1600" b="0">
                <a:solidFill>
                  <a:srgbClr val="000000"/>
                </a:solidFill>
                <a:latin typeface="맑은 고딕"/>
                <a:ea typeface="맑은 고딕"/>
              </a:rPr>
              <a:t>62. 요구사항 검증</a:t>
            </a:r>
          </a:p>
          <a:p>
            <a:pPr lvl="1" marL="355600" indent="0">
              <a:spcBef>
                <a:spcPts val="300"/>
              </a:spcBef>
              <a:spcAft>
                <a:spcPts val="300"/>
              </a:spcAft>
              <a:buNone/>
            </a:pPr>
            <a:r>
              <a:rPr sz="1600" b="0">
                <a:solidFill>
                  <a:srgbClr val="000000"/>
                </a:solidFill>
                <a:latin typeface="맑은 고딕"/>
                <a:ea typeface="맑은 고딕"/>
              </a:rPr>
              <a:t>63. 요구사항 관리</a:t>
            </a:r>
          </a:p>
          <a:p>
            <a:pPr lvl="1" marL="355600" indent="0">
              <a:spcBef>
                <a:spcPts val="300"/>
              </a:spcBef>
              <a:spcAft>
                <a:spcPts val="300"/>
              </a:spcAft>
              <a:buNone/>
            </a:pPr>
            <a:r>
              <a:rPr sz="1600" b="0">
                <a:solidFill>
                  <a:srgbClr val="000000"/>
                </a:solidFill>
                <a:latin typeface="맑은 고딕"/>
                <a:ea typeface="맑은 고딕"/>
              </a:rPr>
              <a:t>64. 요구사항 추적</a:t>
            </a:r>
          </a:p>
          <a:p>
            <a:pPr lvl="1" marL="355600" indent="0">
              <a:spcBef>
                <a:spcPts val="300"/>
              </a:spcBef>
              <a:spcAft>
                <a:spcPts val="300"/>
              </a:spcAft>
              <a:buNone/>
            </a:pPr>
            <a:r>
              <a:rPr sz="1600" b="0">
                <a:solidFill>
                  <a:srgbClr val="000000"/>
                </a:solidFill>
                <a:latin typeface="맑은 고딕"/>
                <a:ea typeface="맑은 고딕"/>
              </a:rPr>
              <a:t>65. 요구사항에서 학습으로</a:t>
            </a:r>
          </a:p>
          <a:p>
            <a:pPr lvl="1" marL="355600" indent="0">
              <a:spcBef>
                <a:spcPts val="300"/>
              </a:spcBef>
              <a:spcAft>
                <a:spcPts val="300"/>
              </a:spcAft>
              <a:buNone/>
            </a:pPr>
            <a:r>
              <a:rPr sz="1600" b="0">
                <a:solidFill>
                  <a:srgbClr val="000000"/>
                </a:solidFill>
                <a:latin typeface="맑은 고딕"/>
                <a:ea typeface="맑은 고딕"/>
              </a:rPr>
              <a:t>66.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67.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유저 스토리</a:t>
            </a:r>
            <a:r>
              <a:rPr sz="1400" b="0">
                <a:solidFill>
                  <a:srgbClr val="000000"/>
                </a:solidFill>
                <a:latin typeface="맑은 고딕"/>
                <a:ea typeface="맑은 고딕"/>
              </a:rPr>
              <a:t>(INVEST)</a:t>
            </a:r>
            <a:r>
              <a:rPr sz="1800" b="0">
                <a:solidFill>
                  <a:srgbClr val="000000"/>
                </a:solidFill>
                <a:latin typeface="맑은 고딕"/>
                <a:ea typeface="맑은 고딕"/>
              </a:rPr>
              <a:t>를 흐름으로 나누고, </a:t>
            </a:r>
            <a:r>
              <a:rPr sz="1800" b="1">
                <a:solidFill>
                  <a:srgbClr val="000000"/>
                </a:solidFill>
                <a:latin typeface="맑은 고딕"/>
                <a:ea typeface="맑은 고딕"/>
              </a:rPr>
              <a:t>행위 주도 개발</a:t>
            </a:r>
            <a:r>
              <a:rPr sz="1800" b="0">
                <a:solidFill>
                  <a:srgbClr val="000000"/>
                </a:solidFill>
                <a:latin typeface="맑은 고딕"/>
                <a:ea typeface="맑은 고딕"/>
              </a:rPr>
              <a:t>의 예</a:t>
            </a:r>
            <a:r>
              <a:rPr sz="1400" b="0">
                <a:solidFill>
                  <a:srgbClr val="000000"/>
                </a:solidFill>
                <a:latin typeface="맑은 고딕"/>
                <a:ea typeface="맑은 고딕"/>
              </a:rPr>
              <a:t>(Given-When-Then)</a:t>
            </a:r>
            <a:r>
              <a:rPr sz="1800" b="0">
                <a:solidFill>
                  <a:srgbClr val="000000"/>
                </a:solidFill>
                <a:latin typeface="맑은 고딕"/>
                <a:ea typeface="맑은 고딕"/>
              </a:rPr>
              <a:t>로 확인하며, </a:t>
            </a:r>
            <a:r>
              <a:rPr sz="1800" b="1">
                <a:solidFill>
                  <a:srgbClr val="000000"/>
                </a:solidFill>
                <a:latin typeface="맑은 고딕"/>
                <a:ea typeface="맑은 고딕"/>
              </a:rPr>
              <a:t>명세 주도 개발</a:t>
            </a:r>
            <a:r>
              <a:rPr sz="1800" b="0">
                <a:solidFill>
                  <a:srgbClr val="000000"/>
                </a:solidFill>
                <a:latin typeface="맑은 고딕"/>
                <a:ea typeface="맑은 고딕"/>
              </a:rPr>
              <a:t>에서 그 쓰임과 한계를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8626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3424012"/>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53873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59998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8192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015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24628"/>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12010"/>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36850"/>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12010"/>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86330"/>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12010"/>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9135" y="1837690"/>
          <a:ext cx="8232140" cy="3873500"/>
        </p:xfrm>
        <a:graphic>
          <a:graphicData uri="http://schemas.openxmlformats.org/drawingml/2006/table">
            <a:tbl>
              <a:tblPr/>
              <a:tblGrid>
                <a:gridCol w="889000"/>
                <a:gridCol w="1590040"/>
                <a:gridCol w="5753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12010"/>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3769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4597492"/>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44839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2334078" y="4948012"/>
            <a:ext cx="4475843" cy="14284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2225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2070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611370"/>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29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12010"/>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173268"/>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65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023616"/>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5806" y="2112010"/>
          <a:ext cx="5638800" cy="3873500"/>
        </p:xfrm>
        <a:graphic>
          <a:graphicData uri="http://schemas.openxmlformats.org/drawingml/2006/table">
            <a:tbl>
              <a:tblPr/>
              <a:tblGrid>
                <a:gridCol w="181356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12010"/>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12010"/>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185013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13432"/>
            <a:ext cx="8412480" cy="201168"/>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2551176"/>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3952"/>
            <a:ext cx="8412480" cy="201168"/>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2901696"/>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12010"/>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523788"/>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89894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12010"/>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3769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2749296"/>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2749296"/>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108"/>
            <a:ext cx="8412480" cy="201168"/>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048852"/>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2749296"/>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2627923"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50376" y="2551134"/>
            <a:ext cx="2258691" cy="19018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00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5815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115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24456"/>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50136"/>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11170"/>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127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51134"/>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4993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51134"/>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81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71016"/>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51134"/>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462530"/>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3099816"/>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289894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3998976"/>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유저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a:t>
            </a:r>
            <a:r>
              <a:rPr sz="1800" b="1">
                <a:solidFill>
                  <a:srgbClr val="000000"/>
                </a:solidFill>
                <a:latin typeface="맑은 고딕"/>
                <a:ea typeface="맑은 고딕"/>
              </a:rPr>
              <a:t>대화를 시작하는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"유저 스토리에는 결정적인 세 가지 면이 있다. 이를 </a:t>
            </a:r>
            <a:r>
              <a:rPr sz="1800" b="1">
                <a:solidFill>
                  <a:srgbClr val="000000"/>
                </a:solidFill>
                <a:latin typeface="맑은 고딕"/>
                <a:ea typeface="맑은 고딕"/>
              </a:rPr>
              <a:t>카드, 대화, 확인</a:t>
            </a:r>
            <a:r>
              <a:rPr sz="1800" b="0">
                <a:solidFill>
                  <a:srgbClr val="000000"/>
                </a:solidFill>
                <a:latin typeface="맑은 고딕"/>
                <a:ea typeface="맑은 고딕"/>
              </a:rPr>
              <a:t>이라 부를 수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 —</a:t>
            </a:r>
            <a:r>
              <a:rPr sz="1400" b="0">
                <a:solidFill>
                  <a:srgbClr val="000000"/>
                </a:solidFill>
                <a:latin typeface="맑은 고딕"/>
                <a:ea typeface="맑은 고딕"/>
              </a:rPr>
              <a:t> 스토리를 짧게 적어 둔 것. 요구사항 전체가 아니라 대화를 시작하는 메모다.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 —</a:t>
            </a:r>
            <a:r>
              <a:rPr sz="1400" b="0">
                <a:solidFill>
                  <a:srgbClr val="000000"/>
                </a:solidFill>
                <a:latin typeface="맑은 고딕"/>
                <a:ea typeface="맑은 고딕"/>
              </a:rPr>
              <a:t> 세부는 고객과 개발자가 대화로 채운다. 업무 규칙이 여기서 나온다.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 —</a:t>
            </a:r>
            <a:r>
              <a:rPr sz="1400" b="0">
                <a:solidFill>
                  <a:srgbClr val="000000"/>
                </a:solidFill>
                <a:latin typeface="맑은 고딕"/>
                <a:ea typeface="맑은 고딕"/>
              </a:rPr>
              <a:t> 스토리가 끝났는지 인수 조건</a:t>
            </a:r>
            <a:r>
              <a:rPr sz="1000" b="0">
                <a:solidFill>
                  <a:srgbClr val="000000"/>
                </a:solidFill>
                <a:latin typeface="맑은 고딕"/>
                <a:ea typeface="맑은 고딕"/>
              </a:rPr>
              <a:t>(테스트)</a:t>
            </a:r>
            <a:r>
              <a:rPr sz="1400" b="0">
                <a:solidFill>
                  <a:srgbClr val="000000"/>
                </a:solidFill>
                <a:latin typeface="맑은 고딕"/>
                <a:ea typeface="맑은 고딕"/>
              </a:rPr>
              <a:t>으로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문형보다 대화</a:t>
            </a:r>
            <a:r>
              <a:rPr sz="1800" b="0">
                <a:solidFill>
                  <a:srgbClr val="000000"/>
                </a:solidFill>
                <a:latin typeface="맑은 고딕"/>
                <a:ea typeface="맑은 고딕"/>
              </a:rPr>
              <a:t> —</a:t>
            </a:r>
            <a:r>
              <a:rPr sz="1600" b="0">
                <a:solidFill>
                  <a:srgbClr val="000000"/>
                </a:solidFill>
                <a:latin typeface="맑은 고딕"/>
                <a:ea typeface="맑은 고딕"/>
              </a:rPr>
              <a:t> 카드에 모든 것을 쓰지 않는다. 빠진 것은 대화로 채우고, 합의한 결과는 인수 조건으로 남긴다</a:t>
            </a:r>
            <a:r>
              <a:rPr sz="1200" b="0">
                <a:solidFill>
                  <a:srgbClr val="000000"/>
                </a:solidFill>
                <a:latin typeface="맑은 고딕"/>
                <a:ea typeface="맑은 고딕"/>
              </a:rPr>
              <a:t>(「56. Given-When-Then」)</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반복과 우선순위</a:t>
            </a:r>
            <a:r>
              <a:rPr sz="1800" b="0">
                <a:solidFill>
                  <a:srgbClr val="000000"/>
                </a:solidFill>
                <a:latin typeface="맑은 고딕"/>
                <a:ea typeface="맑은 고딕"/>
              </a:rPr>
              <a:t> —</a:t>
            </a:r>
            <a:r>
              <a:rPr sz="1600" b="0">
                <a:solidFill>
                  <a:srgbClr val="000000"/>
                </a:solidFill>
                <a:latin typeface="맑은 고딕"/>
                <a:ea typeface="맑은 고딕"/>
              </a:rPr>
              <a:t> 작은 가치 단위라서 반복마다 고르고 순서를 바꾸기 쉽다.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스토리의 문형과 가치</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As a    고객 (누가)</a:t>
            </a:r>
          </a:p>
          <a:p>
            <a:pPr marL="0" indent="0" algn="l">
              <a:lnSpc>
                <a:spcPts val="1150"/>
              </a:lnSpc>
              <a:spcBef>
                <a:spcPts val="0"/>
              </a:spcBef>
              <a:spcAft>
                <a:spcPts val="0"/>
              </a:spcAft>
              <a:buNone/>
            </a:pPr>
            <a:r>
              <a:rPr sz="1000" b="0">
                <a:solidFill>
                  <a:srgbClr val="000000"/>
                </a:solidFill>
                <a:latin typeface="Consolas"/>
                <a:ea typeface="맑은 고딕"/>
              </a:rPr>
              <a:t>I want  출고 전 배송지를 변경한다 (무엇을)</a:t>
            </a:r>
          </a:p>
          <a:p>
            <a:pPr marL="0" indent="0" algn="l">
              <a:lnSpc>
                <a:spcPts val="1150"/>
              </a:lnSpc>
              <a:spcBef>
                <a:spcPts val="0"/>
              </a:spcBef>
              <a:spcAft>
                <a:spcPts val="0"/>
              </a:spcAft>
              <a:buNone/>
            </a:pPr>
            <a:r>
              <a:rPr sz="1000" b="0">
                <a:solidFill>
                  <a:srgbClr val="000000"/>
                </a:solidFill>
                <a:latin typeface="Consolas"/>
                <a:ea typeface="맑은 고딕"/>
              </a:rPr>
              <a:t>so that 올바른 장소에서 상품을 받는다 (왜)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스토리는 </a:t>
            </a:r>
            <a:r>
              <a:rPr sz="1800" b="1">
                <a:solidFill>
                  <a:srgbClr val="000000"/>
                </a:solidFill>
                <a:latin typeface="맑은 고딕"/>
                <a:ea typeface="맑은 고딕"/>
              </a:rPr>
              <a:t>누가, 무엇을, 왜</a:t>
            </a:r>
            <a:r>
              <a:rPr sz="1800" b="0">
                <a:solidFill>
                  <a:srgbClr val="000000"/>
                </a:solidFill>
                <a:latin typeface="맑은 고딕"/>
                <a:ea typeface="맑은 고딕"/>
              </a:rPr>
              <a:t> 원하는지를 한 문장으로 쓴다. "왜"가 스토리의 </a:t>
            </a:r>
            <a:r>
              <a:rPr sz="1800" b="1">
                <a:solidFill>
                  <a:srgbClr val="000000"/>
                </a:solidFill>
                <a:latin typeface="맑은 고딕"/>
                <a:ea typeface="맑은 고딕"/>
              </a:rPr>
              <a:t>가치</a:t>
            </a:r>
            <a:r>
              <a:rPr sz="1800" b="0">
                <a:solidFill>
                  <a:srgbClr val="000000"/>
                </a:solidFill>
                <a:latin typeface="맑은 고딕"/>
                <a:ea typeface="맑은 고딕"/>
              </a:rPr>
              <a:t>를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84682"/>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문형의 강점은 스토리를 처음 정의할 때 </a:t>
            </a:r>
            <a:r>
              <a:rPr sz="1800" b="1">
                <a:solidFill>
                  <a:srgbClr val="000000"/>
                </a:solidFill>
                <a:latin typeface="맑은 고딕"/>
                <a:ea typeface="맑은 고딕"/>
              </a:rPr>
              <a:t>그 스토리를 전달하는 가치</a:t>
            </a:r>
            <a:r>
              <a:rPr sz="1800" b="0">
                <a:solidFill>
                  <a:srgbClr val="000000"/>
                </a:solidFill>
                <a:latin typeface="맑은 고딕"/>
                <a:ea typeface="맑은 고딕"/>
              </a:rPr>
              <a:t>를 밝히게 한다는 것이다</a:t>
            </a:r>
            <a:r>
              <a:rPr sz="1000" b="0">
                <a:solidFill>
                  <a:srgbClr val="000000"/>
                </a:solidFill>
                <a:latin typeface="맑은 고딕"/>
                <a:ea typeface="맑은 고딕"/>
              </a:rPr>
              <a:t>, </a:t>
            </a:r>
            <a:r>
              <a:rPr sz="1000" b="0">
                <a:solidFill>
                  <a:srgbClr val="000000"/>
                </a:solidFill>
                <a:latin typeface="맑은 고딕"/>
                <a:ea typeface="맑은 고딕"/>
              </a:rPr>
              <a:t>"Its strength is that it forces you to identify the value of delivering a story when you first define it.",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a:t>
            </a:r>
            <a:r>
              <a:rPr sz="1600" b="0">
                <a:solidFill>
                  <a:srgbClr val="000000"/>
                </a:solidFill>
                <a:latin typeface="맑은 고딕"/>
                <a:ea typeface="맑은 고딕"/>
              </a:rPr>
              <a:t> 고객으로서 배송이 시작되기 전에 주문을 취소하고 싶다. 필요 없어진 상품의 대금을 돌려받고 싶기 때문이다.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"왜"가 없으면</a:t>
            </a:r>
            <a:r>
              <a:rPr sz="1800" b="0">
                <a:solidFill>
                  <a:srgbClr val="000000"/>
                </a:solidFill>
                <a:latin typeface="맑은 고딕"/>
                <a:ea typeface="맑은 고딕"/>
              </a:rPr>
              <a:t> —</a:t>
            </a:r>
            <a:r>
              <a:rPr sz="1600" b="0">
                <a:solidFill>
                  <a:srgbClr val="000000"/>
                </a:solidFill>
                <a:latin typeface="맑은 고딕"/>
                <a:ea typeface="맑은 고딕"/>
              </a:rPr>
              <a:t> 가치를 말하지 못하는 스토리는 범위에서 뺄 후보다.</a:t>
            </a:r>
          </a:p>
        </p:txBody>
      </p:sp>
    </p:spTree>
    <p:extLst>
      <p:ext uri="{BB962C8B-B14F-4D97-AF65-F5344CB8AC3E}">
        <p14:creationId xmlns:p14="http://schemas.microsoft.com/office/powerpoint/2010/main" val="37733515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좋은 유저 스토리 — INVEST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98948"/>
          <a:ext cx="8305800" cy="3873500"/>
        </p:xfrm>
        <a:graphic>
          <a:graphicData uri="http://schemas.openxmlformats.org/drawingml/2006/table">
            <a:tbl>
              <a:tblPr/>
              <a:tblGrid>
                <a:gridCol w="1953260"/>
                <a:gridCol w="325374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시스템에서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독립적(Independent)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 겹치지 않고 순서를 바꿀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변경과 주문 취소를 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협상 가능(Negotiable)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세부는 대화로 함께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전"의 뜻은 대화로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고객에게 가치가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모듈이 아니라 고객이 얻는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추정 가능(Estimable)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우선순위를 정할 만큼 크기를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취소처럼 규칙을 모르면 먼저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작음(Small)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길어야 몇 주, 짧게는 며칠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하나 안에 끝낼 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가능(Testable)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테스트를 쓸 수 있을 만큼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Given-When-Then의 예로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유저 스토리의 조건은 </a:t>
            </a:r>
            <a:r>
              <a:rPr sz="1800" b="1">
                <a:solidFill>
                  <a:srgbClr val="000000"/>
                </a:solidFill>
                <a:latin typeface="맑은 고딕"/>
                <a:ea typeface="맑은 고딕"/>
              </a:rPr>
              <a:t>INVEST</a:t>
            </a:r>
            <a:r>
              <a:rPr sz="1800" b="0">
                <a:solidFill>
                  <a:srgbClr val="000000"/>
                </a:solidFill>
                <a:latin typeface="맑은 고딕"/>
                <a:ea typeface="맑은 고딕"/>
              </a:rPr>
              <a:t> 6가지다. 조건을 채우지 못하면 스토리를 나누거나 대화로 더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스토리는 </a:t>
            </a:r>
            <a:r>
              <a:rPr sz="1800" b="1">
                <a:solidFill>
                  <a:srgbClr val="000000"/>
                </a:solidFill>
                <a:latin typeface="맑은 고딕"/>
                <a:ea typeface="맑은 고딕"/>
              </a:rPr>
              <a:t>독립적·협상 가능·가치·추정 가능·작음·테스트 가능</a:t>
            </a:r>
            <a:r>
              <a:rPr sz="1800" b="0">
                <a:solidFill>
                  <a:srgbClr val="000000"/>
                </a:solidFill>
                <a:latin typeface="맑은 고딕"/>
                <a:ea typeface="맑은 고딕"/>
              </a:rPr>
              <a:t>의 6가지 조건을 갖춘다</a:t>
            </a:r>
            <a:r>
              <a:rPr sz="1000" b="0">
                <a:solidFill>
                  <a:srgbClr val="000000"/>
                </a:solidFill>
                <a:latin typeface="맑은 고딕"/>
                <a:ea typeface="맑은 고딕"/>
              </a:rPr>
              <a:t>, </a:t>
            </a:r>
            <a:r>
              <a:rPr sz="1000" b="0">
                <a:solidFill>
                  <a:srgbClr val="000000"/>
                </a:solidFill>
                <a:latin typeface="맑은 고딕"/>
                <a:ea typeface="맑은 고딕"/>
              </a:rPr>
              <a:t>"good stories are: I – Independent N – Negotiable V – Valuable E – Estimable S – Small T – Testable",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INVEST와 주문 시스템</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스토리 나누기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2898948"/>
          <a:ext cx="7731760" cy="3873500"/>
        </p:xfrm>
        <a:graphic>
          <a:graphicData uri="http://schemas.openxmlformats.org/drawingml/2006/table">
            <a:tbl>
              <a:tblPr/>
              <a:tblGrid>
                <a:gridCol w="1310640"/>
                <a:gridCol w="34620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나누는 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층으로(가로)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배송 연동 모듈, 주문 화면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조각만으로는 고객이 얻는 것이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흐름으로(세로)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 주문을 취소한다,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조각마다 고객이 결과를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스토리는 </a:t>
            </a:r>
            <a:r>
              <a:rPr sz="1800" b="1">
                <a:solidFill>
                  <a:srgbClr val="000000"/>
                </a:solidFill>
                <a:latin typeface="맑은 고딕"/>
                <a:ea typeface="맑은 고딕"/>
              </a:rPr>
              <a:t>층이 아니라 기능을 세로로</a:t>
            </a:r>
            <a:r>
              <a:rPr sz="1800" b="0">
                <a:solidFill>
                  <a:srgbClr val="000000"/>
                </a:solidFill>
                <a:latin typeface="맑은 고딕"/>
                <a:ea typeface="맑은 고딕"/>
              </a:rPr>
              <a:t> 나눈다. 한 조각만으로도 고객에게 가치가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케이크 전체의 본질을 주는 가장 좋은 방법은 </a:t>
            </a:r>
            <a:r>
              <a:rPr sz="1800" b="1">
                <a:solidFill>
                  <a:srgbClr val="000000"/>
                </a:solidFill>
                <a:latin typeface="맑은 고딕"/>
                <a:ea typeface="맑은 고딕"/>
              </a:rPr>
              <a:t>층을 세로로 자르는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"We want to give the customer the essence of the whole cake, and the best way is to slice vertically through the layers.",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주문을 관리한다를 나누는 두 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915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유스케이스의 흐름이 나누는 기준</a:t>
            </a:r>
            <a:r>
              <a:rPr sz="1800" b="0">
                <a:solidFill>
                  <a:srgbClr val="000000"/>
                </a:solidFill>
                <a:latin typeface="맑은 고딕"/>
                <a:ea typeface="맑은 고딕"/>
              </a:rPr>
              <a:t> —</a:t>
            </a:r>
            <a:r>
              <a:rPr sz="1600" b="0">
                <a:solidFill>
                  <a:srgbClr val="000000"/>
                </a:solidFill>
                <a:latin typeface="맑은 고딕"/>
                <a:ea typeface="맑은 고딕"/>
              </a:rPr>
              <a:t> 「주문을 관리한다」의 기본 흐름과 대안 흐름 1a</a:t>
            </a:r>
            <a:r>
              <a:rPr sz="1200" b="0">
                <a:solidFill>
                  <a:srgbClr val="000000"/>
                </a:solidFill>
                <a:latin typeface="맑은 고딕"/>
                <a:ea typeface="맑은 고딕"/>
              </a:rPr>
              <a:t>(주문 취소)</a:t>
            </a:r>
            <a:r>
              <a:rPr sz="1600" b="0">
                <a:solidFill>
                  <a:srgbClr val="000000"/>
                </a:solidFill>
                <a:latin typeface="맑은 고딕"/>
                <a:ea typeface="맑은 고딕"/>
              </a:rPr>
              <a:t>·3a</a:t>
            </a:r>
            <a:r>
              <a:rPr sz="1200" b="0">
                <a:solidFill>
                  <a:srgbClr val="000000"/>
                </a:solidFill>
                <a:latin typeface="맑은 고딕"/>
                <a:ea typeface="맑은 고딕"/>
              </a:rPr>
              <a:t>(배송지 변경)</a:t>
            </a:r>
            <a:r>
              <a:rPr sz="1600" b="0">
                <a:solidFill>
                  <a:srgbClr val="000000"/>
                </a:solidFill>
                <a:latin typeface="맑은 고딕"/>
                <a:ea typeface="맑은 고딕"/>
              </a:rPr>
              <a:t>가 각각 스토리가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스토리</a:t>
            </a:r>
            <a:r>
              <a:rPr sz="1800" b="0">
                <a:solidFill>
                  <a:srgbClr val="000000"/>
                </a:solidFill>
                <a:latin typeface="맑은 고딕"/>
                <a:ea typeface="맑은 고딕"/>
              </a:rPr>
              <a:t> —</a:t>
            </a:r>
            <a:r>
              <a:rPr sz="1600" b="0">
                <a:solidFill>
                  <a:srgbClr val="000000"/>
                </a:solidFill>
                <a:latin typeface="맑은 고딕"/>
                <a:ea typeface="맑은 고딕"/>
              </a:rPr>
              <a:t> 유스케이스는 </a:t>
            </a:r>
            <a:r>
              <a:rPr sz="1600" b="1">
                <a:solidFill>
                  <a:srgbClr val="000000"/>
                </a:solidFill>
                <a:latin typeface="맑은 고딕"/>
                <a:ea typeface="맑은 고딕"/>
              </a:rPr>
              <a:t>전체 목표</a:t>
            </a:r>
            <a:r>
              <a:rPr sz="1600" b="0">
                <a:solidFill>
                  <a:srgbClr val="000000"/>
                </a:solidFill>
                <a:latin typeface="맑은 고딕"/>
                <a:ea typeface="맑은 고딕"/>
              </a:rPr>
              <a:t>를 보이고, 스토리는 </a:t>
            </a:r>
            <a:r>
              <a:rPr sz="1600" b="1">
                <a:solidFill>
                  <a:srgbClr val="000000"/>
                </a:solidFill>
                <a:latin typeface="맑은 고딕"/>
                <a:ea typeface="맑은 고딕"/>
              </a:rPr>
              <a:t>반복의 단위</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유저 스토리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3061046"/>
          <a:ext cx="7340600" cy="3873500"/>
        </p:xfrm>
        <a:graphic>
          <a:graphicData uri="http://schemas.openxmlformats.org/drawingml/2006/table">
            <a:tbl>
              <a:tblPr/>
              <a:tblGrid>
                <a:gridCol w="1310640"/>
                <a:gridCol w="32943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바로잡기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개발자가 주어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개발자로서 주문 클래스가 견고하기를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얻는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모듈을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흐름으로 세로로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관리자로서 주문을 등록·수정·삭제하고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목표로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고객으로서 취소 버튼을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가치를 말하지 못하면 범위에서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변경이 편리하면 좋겠다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확인할 수 있는 예를 붙인다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스토리에도 유스케이스와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이 있다. 주어가 사용자가 아니거나, 기능·기술 작업으로 나눈 스토리다.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도구가 작은 버그를 고치며 쓴 스토리 — </a:t>
            </a:r>
            <a:r>
              <a:rPr sz="1800" b="1">
                <a:solidFill>
                  <a:srgbClr val="000000"/>
                </a:solidFill>
                <a:latin typeface="맑은 고딕"/>
                <a:ea typeface="맑은 고딕"/>
              </a:rPr>
              <a:t>개발자로서</a:t>
            </a:r>
            <a:r>
              <a:rPr sz="1800" b="0">
                <a:solidFill>
                  <a:srgbClr val="000000"/>
                </a:solidFill>
                <a:latin typeface="맑은 고딕"/>
                <a:ea typeface="맑은 고딕"/>
              </a:rPr>
              <a:t> 변환 함수가 경계 사례를 우아하게 처리하기를 원한다</a:t>
            </a:r>
            <a:r>
              <a:rPr sz="1000" b="0">
                <a:solidFill>
                  <a:srgbClr val="000000"/>
                </a:solidFill>
                <a:latin typeface="맑은 고딕"/>
                <a:ea typeface="맑은 고딕"/>
              </a:rPr>
              <a:t>, </a:t>
            </a:r>
            <a:r>
              <a:rPr sz="1000" b="0">
                <a:solidFill>
                  <a:srgbClr val="000000"/>
                </a:solidFill>
                <a:latin typeface="맑은 고딕"/>
                <a:ea typeface="맑은 고딕"/>
              </a:rPr>
              <a:t>"User story: As a developer, I want the transformation function to handle edge cases gracefully, so that the system remains robust when new category formats are introduced.",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유저 스토리</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유저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12010"/>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유저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행위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335366"/>
          <a:ext cx="6642100" cy="3873500"/>
        </p:xfrm>
        <a:graphic>
          <a:graphicData uri="http://schemas.openxmlformats.org/drawingml/2006/table">
            <a:tbl>
              <a:tblPr/>
              <a:tblGrid>
                <a:gridCol w="1813560"/>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발견(Discovery)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대화하며 규칙과 예를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정형화(Formulation)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Given-When-Then으로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같은 뜻으로 읽는가?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자동화(Automation)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실행되는 테스트로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예대로 동작하는가?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 TDD에서 출발해 요구 분석으로 넓어졌다.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3가지 실천</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56. Given-When-Then</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스토리의 행위는 </a:t>
            </a:r>
            <a:r>
              <a:rPr sz="1800" b="1">
                <a:solidFill>
                  <a:srgbClr val="000000"/>
                </a:solidFill>
                <a:latin typeface="맑은 고딕"/>
                <a:ea typeface="맑은 고딕"/>
              </a:rPr>
              <a:t>인수 조건</a:t>
            </a:r>
            <a:r>
              <a:rPr sz="1800" b="0">
                <a:solidFill>
                  <a:srgbClr val="000000"/>
                </a:solidFill>
                <a:latin typeface="맑은 고딕"/>
                <a:ea typeface="맑은 고딕"/>
              </a:rPr>
              <a:t>이고, 인수 조건은 </a:t>
            </a:r>
            <a:r>
              <a:rPr sz="1800" b="1">
                <a:solidFill>
                  <a:srgbClr val="000000"/>
                </a:solidFill>
                <a:latin typeface="맑은 고딕"/>
                <a:ea typeface="맑은 고딕"/>
              </a:rPr>
              <a:t>Given-When-Then</a:t>
            </a:r>
            <a:r>
              <a:rPr sz="1800" b="0">
                <a:solidFill>
                  <a:srgbClr val="000000"/>
                </a:solidFill>
                <a:latin typeface="맑은 고딕"/>
                <a:ea typeface="맑은 고딕"/>
              </a:rPr>
              <a:t>의 시나리오로 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265064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행위는 곧 </a:t>
            </a:r>
            <a:r>
              <a:rPr sz="1800" b="1">
                <a:solidFill>
                  <a:srgbClr val="000000"/>
                </a:solidFill>
                <a:latin typeface="맑은 고딕"/>
                <a:ea typeface="맑은 고딕"/>
              </a:rPr>
              <a:t>인수 조건</a:t>
            </a:r>
            <a:r>
              <a:rPr sz="1800" b="0">
                <a:solidFill>
                  <a:srgbClr val="000000"/>
                </a:solidFill>
                <a:latin typeface="맑은 고딕"/>
                <a:ea typeface="맑은 고딕"/>
              </a:rPr>
              <a:t>이다 — 시스템이 인수 조건을 모두 채우면 바르게 동작하고 채우지 못하면 아니다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위의 예는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 규칙마다 그 규칙을 가장 잘 보이는 </a:t>
            </a:r>
            <a:r>
              <a:rPr sz="1800" b="1">
                <a:solidFill>
                  <a:srgbClr val="000000"/>
                </a:solidFill>
                <a:latin typeface="맑은 고딕"/>
                <a:ea typeface="맑은 고딕"/>
              </a:rPr>
              <a:t>대표 예</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37733515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Example Mapping</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Example Mapping</a:t>
            </a:r>
            <a:r>
              <a:rPr sz="1800" b="0">
                <a:solidFill>
                  <a:srgbClr val="000000"/>
                </a:solidFill>
                <a:latin typeface="맑은 고딕"/>
                <a:ea typeface="맑은 고딕"/>
              </a:rPr>
              <a:t>은 스토리 하나를 놓고 </a:t>
            </a:r>
            <a:r>
              <a:rPr sz="1800" b="1">
                <a:solidFill>
                  <a:srgbClr val="000000"/>
                </a:solidFill>
                <a:latin typeface="맑은 고딕"/>
                <a:ea typeface="맑은 고딕"/>
              </a:rPr>
              <a:t>규칙·예·질문</a:t>
            </a:r>
            <a:r>
              <a:rPr sz="1800" b="0">
                <a:solidFill>
                  <a:srgbClr val="000000"/>
                </a:solidFill>
                <a:latin typeface="맑은 고딕"/>
                <a:ea typeface="맑은 고딕"/>
              </a:rPr>
              <a:t>을 카드로 나눠 대화하는 방법이다. 규칙은 업무 규칙, 예는 인수 조건, 답하지 못한 질문은 확인할 목록이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Example Mapping은 인수 조건을 밝히는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만드는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 [Cucumber: Example Mapping]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47970"/>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변경의 Example Mapping</a:t>
            </a:r>
          </a:p>
        </p:txBody>
      </p:sp>
      <p:pic>
        <p:nvPicPr>
          <p:cNvPr id="10" name="mermaid Diagram 3"/>
          <p:cNvPicPr>
            <a:picLocks noChangeAspect="1"/>
          </p:cNvPicPr>
          <p:nvPr/>
        </p:nvPicPr>
        <p:blipFill>
          <a:blip r:embed="mermaidImage3"/>
          <a:stretch>
            <a:fillRect/>
          </a:stretch>
        </p:blipFill>
        <p:spPr>
          <a:xfrm>
            <a:off x="2082800" y="3185714"/>
            <a:ext cx="4978400" cy="26606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12010"/>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59. 유스케이스·유저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12010"/>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65762"/>
            <a:ext cx="8412480" cy="201168"/>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4"/>
          <p:cNvPicPr>
            <a:picLocks noChangeAspect="1"/>
          </p:cNvPicPr>
          <p:nvPr/>
        </p:nvPicPr>
        <p:blipFill>
          <a:blip r:embed="mermaidImage4"/>
          <a:stretch>
            <a:fillRect/>
          </a:stretch>
        </p:blipFill>
        <p:spPr>
          <a:xfrm>
            <a:off x="2608612" y="380350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2956" y="3335366"/>
          <a:ext cx="5524500" cy="3873500"/>
        </p:xfrm>
        <a:graphic>
          <a:graphicData uri="http://schemas.openxmlformats.org/drawingml/2006/table">
            <a:tbl>
              <a:tblPr/>
              <a:tblGrid>
                <a:gridCol w="1087120"/>
                <a:gridCol w="28473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명세는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고치는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먼저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작업에 쓰고 나면 할 일을 다 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기능의 발전과 유지보수에 계속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명세와 코드를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명세가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지나도 주된 원천 파일이다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코딩 에이전트가 쓰이면서 </a:t>
            </a:r>
            <a:r>
              <a:rPr sz="1800" b="1">
                <a:solidFill>
                  <a:srgbClr val="000000"/>
                </a:solidFill>
                <a:latin typeface="맑은 고딕"/>
                <a:ea typeface="맑은 고딕"/>
              </a:rPr>
              <a:t>명세 주도 개발</a:t>
            </a:r>
            <a:r>
              <a:rPr sz="1400" b="1">
                <a:solidFill>
                  <a:srgbClr val="000000"/>
                </a:solidFill>
                <a:latin typeface="맑은 고딕"/>
                <a:ea typeface="맑은 고딕"/>
              </a:rPr>
              <a:t>(SDD)</a:t>
            </a:r>
            <a:r>
              <a:rPr sz="1800" b="0">
                <a:solidFill>
                  <a:srgbClr val="000000"/>
                </a:solidFill>
                <a:latin typeface="맑은 고딕"/>
                <a:ea typeface="맑은 고딕"/>
              </a:rPr>
              <a:t>이 주목받는다. 코드를 쓰기 전에 명세를 먼저 쓰고, 그 명세를 사람과 AI의 기준으로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먼저 쓰는 것</a:t>
            </a:r>
            <a:r>
              <a:rPr sz="1800" b="0">
                <a:solidFill>
                  <a:srgbClr val="000000"/>
                </a:solidFill>
                <a:latin typeface="맑은 고딕"/>
                <a:ea typeface="맑은 고딕"/>
              </a:rPr>
              <a:t>이고 그 명세가 </a:t>
            </a:r>
            <a:r>
              <a:rPr sz="1800" b="1">
                <a:solidFill>
                  <a:srgbClr val="000000"/>
                </a:solidFill>
                <a:latin typeface="맑은 고딕"/>
                <a:ea typeface="맑은 고딕"/>
              </a:rPr>
              <a:t>사람과 AI의 기준</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SDD의 3가지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15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내용은 요구 분석의 산출물</a:t>
            </a:r>
            <a:r>
              <a:rPr sz="1800" b="0">
                <a:solidFill>
                  <a:srgbClr val="000000"/>
                </a:solidFill>
                <a:latin typeface="맑은 고딕"/>
                <a:ea typeface="맑은 고딕"/>
              </a:rPr>
              <a:t> —</a:t>
            </a:r>
            <a:r>
              <a:rPr sz="1600" b="0">
                <a:solidFill>
                  <a:srgbClr val="000000"/>
                </a:solidFill>
                <a:latin typeface="맑은 고딕"/>
                <a:ea typeface="맑은 고딕"/>
              </a:rPr>
              <a:t> SDD 도구가 만드는 요구 문서도 유저 스토리와 Given-When-Then 인수 조건의 목록이다.</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명세 주도 개발의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명세가 많다고 좋은 것이 아니다. </a:t>
            </a:r>
            <a:r>
              <a:rPr sz="1800" b="1">
                <a:solidFill>
                  <a:srgbClr val="000000"/>
                </a:solidFill>
                <a:latin typeface="맑은 고딕"/>
                <a:ea typeface="맑은 고딕"/>
              </a:rPr>
              <a:t>작업 크기에 맞는 명세</a:t>
            </a:r>
            <a:r>
              <a:rPr sz="1800" b="0">
                <a:solidFill>
                  <a:srgbClr val="000000"/>
                </a:solidFill>
                <a:latin typeface="맑은 고딕"/>
                <a:ea typeface="맑은 고딕"/>
              </a:rPr>
              <a:t>와 </a:t>
            </a:r>
            <a:r>
              <a:rPr sz="1800" b="1">
                <a:solidFill>
                  <a:srgbClr val="000000"/>
                </a:solidFill>
                <a:latin typeface="맑은 고딕"/>
                <a:ea typeface="맑은 고딕"/>
              </a:rPr>
              <a:t>작은 반복</a:t>
            </a:r>
            <a:r>
              <a:rPr sz="1800" b="0">
                <a:solidFill>
                  <a:srgbClr val="000000"/>
                </a:solidFill>
                <a:latin typeface="맑은 고딕"/>
                <a:ea typeface="맑은 고딕"/>
              </a:rPr>
              <a:t>이 여전히 핵심이다.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a:t>
            </a:r>
            <a:r>
              <a:rPr sz="1800" b="1">
                <a:solidFill>
                  <a:srgbClr val="000000"/>
                </a:solidFill>
                <a:latin typeface="맑은 고딕"/>
                <a:ea typeface="맑은 고딕"/>
              </a:rPr>
              <a:t>작은 버그</a:t>
            </a:r>
            <a:r>
              <a:rPr sz="1800" b="0">
                <a:solidFill>
                  <a:srgbClr val="000000"/>
                </a:solidFill>
                <a:latin typeface="맑은 고딕"/>
                <a:ea typeface="맑은 고딕"/>
              </a:rPr>
              <a:t>를 </a:t>
            </a:r>
            <a:r>
              <a:rPr sz="1800" b="1">
                <a:solidFill>
                  <a:srgbClr val="000000"/>
                </a:solidFill>
                <a:latin typeface="맑은 고딕"/>
                <a:ea typeface="맑은 고딕"/>
              </a:rPr>
              <a:t>유저 스토리 4개와 인수 조건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 [Böckeler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명세가 원천인 방식과 명세 고정까지도 </a:t>
            </a:r>
            <a:r>
              <a:rPr sz="1800" b="1">
                <a:solidFill>
                  <a:srgbClr val="000000"/>
                </a:solidFill>
                <a:latin typeface="맑은 고딕"/>
                <a:ea typeface="맑은 고딕"/>
              </a:rPr>
              <a:t>MDD와 LLM의 단점을 함께</a:t>
            </a:r>
            <a:r>
              <a:rPr sz="1800" b="0">
                <a:solidFill>
                  <a:srgbClr val="000000"/>
                </a:solidFill>
                <a:latin typeface="맑은 고딕"/>
                <a:ea typeface="맑은 고딕"/>
              </a:rPr>
              <a:t> 떠안을 수 있다 — </a:t>
            </a:r>
            <a:r>
              <a:rPr sz="1800" b="1">
                <a:solidFill>
                  <a:srgbClr val="000000"/>
                </a:solidFill>
                <a:latin typeface="맑은 고딕"/>
                <a:ea typeface="맑은 고딕"/>
              </a:rPr>
              <a:t>경직성과 비결정성</a:t>
            </a:r>
            <a:r>
              <a:rPr sz="1000" b="0">
                <a:solidFill>
                  <a:srgbClr val="000000"/>
                </a:solidFill>
                <a:latin typeface="맑은 고딕"/>
                <a:ea typeface="맑은 고딕"/>
              </a:rPr>
              <a:t>, </a:t>
            </a:r>
            <a:r>
              <a:rPr sz="1000" b="0">
                <a:solidFill>
                  <a:srgbClr val="000000"/>
                </a:solidFill>
                <a:latin typeface="맑은 고딕"/>
                <a:ea typeface="맑은 고딕"/>
              </a:rPr>
              <a:t>"I wonder if spec-as-source, and even spec-anchoring, might end up with the downsides of both MDD and LLMs: Inflexibility and non-determinism.", [Böckeler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 과잉</a:t>
            </a:r>
            <a:r>
              <a:rPr sz="1800" b="0">
                <a:solidFill>
                  <a:srgbClr val="000000"/>
                </a:solidFill>
                <a:latin typeface="맑은 고딕"/>
                <a:ea typeface="맑은 고딕"/>
              </a:rPr>
              <a:t> —</a:t>
            </a:r>
            <a:r>
              <a:rPr sz="1600" b="0">
                <a:solidFill>
                  <a:srgbClr val="000000"/>
                </a:solidFill>
                <a:latin typeface="맑은 고딕"/>
                <a:ea typeface="맑은 고딕"/>
              </a:rPr>
              <a:t> 작은 수정에도 문서가 불어나면 리뷰할 문서가 코드보다 많아진다</a:t>
            </a:r>
            <a:r>
              <a:rPr sz="1200" b="0">
                <a:solidFill>
                  <a:srgbClr val="000000"/>
                </a:solidFill>
                <a:latin typeface="맑은 고딕"/>
                <a:ea typeface="맑은 고딕"/>
              </a:rPr>
              <a:t>(「39. 잘못된 관행 — 명세 과잉·방치」)</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주도 개발</a:t>
            </a:r>
            <a:r>
              <a:rPr sz="1400" b="1">
                <a:solidFill>
                  <a:srgbClr val="000000"/>
                </a:solidFill>
                <a:latin typeface="맑은 고딕"/>
                <a:ea typeface="맑은 고딕"/>
              </a:rPr>
              <a:t>(MDD)</a:t>
            </a:r>
            <a:r>
              <a:rPr sz="1800" b="1">
                <a:solidFill>
                  <a:srgbClr val="000000"/>
                </a:solidFill>
                <a:latin typeface="맑은 고딕"/>
                <a:ea typeface="맑은 고딕"/>
              </a:rPr>
              <a:t>의 교훈</a:t>
            </a:r>
            <a:r>
              <a:rPr sz="1800" b="0">
                <a:solidFill>
                  <a:srgbClr val="000000"/>
                </a:solidFill>
                <a:latin typeface="맑은 고딕"/>
                <a:ea typeface="맑은 고딕"/>
              </a:rPr>
              <a:t> —</a:t>
            </a:r>
            <a:r>
              <a:rPr sz="1600" b="0">
                <a:solidFill>
                  <a:srgbClr val="000000"/>
                </a:solidFill>
                <a:latin typeface="맑은 고딕"/>
                <a:ea typeface="맑은 고딕"/>
              </a:rPr>
              <a:t> 모델에서 코드를 생성하려던 MDD는 업무 애플리케이션에 자리잡지 못했다. 모델과 명세는 코드를 생성하려고 쓰는 것이 아니라 </a:t>
            </a:r>
            <a:r>
              <a:rPr sz="1600" b="1">
                <a:solidFill>
                  <a:srgbClr val="000000"/>
                </a:solidFill>
                <a:latin typeface="맑은 고딕"/>
                <a:ea typeface="맑은 고딕"/>
              </a:rPr>
              <a:t>의미를 밝히려고</a:t>
            </a:r>
            <a:r>
              <a:rPr sz="16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반복</a:t>
            </a:r>
            <a:r>
              <a:rPr sz="1800" b="0">
                <a:solidFill>
                  <a:srgbClr val="000000"/>
                </a:solidFill>
                <a:latin typeface="맑은 고딕"/>
                <a:ea typeface="맑은 고딕"/>
              </a:rPr>
              <a:t> —</a:t>
            </a:r>
            <a:r>
              <a:rPr sz="1600" b="0">
                <a:solidFill>
                  <a:srgbClr val="000000"/>
                </a:solidFill>
                <a:latin typeface="맑은 고딕"/>
                <a:ea typeface="맑은 고딕"/>
              </a:rPr>
              <a:t> 통제는 문서의 양이 아니라 작은 단계와 검증에서 나온다</a:t>
            </a:r>
            <a:r>
              <a:rPr sz="1200" b="0">
                <a:solidFill>
                  <a:srgbClr val="000000"/>
                </a:solidFill>
                <a:latin typeface="맑은 고딕"/>
                <a:ea typeface="맑은 고딕"/>
              </a:rPr>
              <a:t>(「09. 반복적 접근」)</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55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5"/>
          <p:cNvPicPr>
            <a:picLocks noChangeAspect="1"/>
          </p:cNvPicPr>
          <p:nvPr/>
        </p:nvPicPr>
        <p:blipFill>
          <a:blip r:embed="mermaidImage5"/>
          <a:stretch>
            <a:fillRect/>
          </a:stretch>
        </p:blipFill>
        <p:spPr>
          <a:xfrm>
            <a:off x="1460500" y="3953256"/>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6"/>
          <p:cNvPicPr>
            <a:picLocks noChangeAspect="1"/>
          </p:cNvPicPr>
          <p:nvPr/>
        </p:nvPicPr>
        <p:blipFill>
          <a:blip r:embed="mermaidImage6"/>
          <a:stretch>
            <a:fillRect/>
          </a:stretch>
        </p:blipFill>
        <p:spPr>
          <a:xfrm>
            <a:off x="1460500" y="377453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65.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7"/>
          <p:cNvPicPr>
            <a:picLocks noChangeAspect="1"/>
          </p:cNvPicPr>
          <p:nvPr/>
        </p:nvPicPr>
        <p:blipFill>
          <a:blip r:embed="mermaidImage7"/>
          <a:stretch>
            <a:fillRect/>
          </a:stretch>
        </p:blipFill>
        <p:spPr>
          <a:xfrm>
            <a:off x="1460500" y="2124456"/>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66.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정의서를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정의서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정의서를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정의서로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a:t>
            </a:r>
            <a:r>
              <a:rPr sz="1200" b="0">
                <a:solidFill>
                  <a:srgbClr val="000000"/>
                </a:solidFill>
                <a:latin typeface="맑은 고딕"/>
                <a:ea typeface="맑은 고딕"/>
              </a:rPr>
              <a:t>(Given-When-Then)</a:t>
            </a:r>
            <a:r>
              <a:rPr sz="1600" b="0">
                <a:solidFill>
                  <a:srgbClr val="000000"/>
                </a:solidFill>
                <a:latin typeface="맑은 고딕"/>
                <a:ea typeface="맑은 고딕"/>
              </a:rPr>
              <a:t>·추적으로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268323"/>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13560"/>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- 90 -</a:t>
            </a:r>
          </a:p>
        </p:txBody>
      </p:sp>
    </p:spTree>
    <p:extLst>
      <p:ext uri="{BB962C8B-B14F-4D97-AF65-F5344CB8AC3E}">
        <p14:creationId xmlns:p14="http://schemas.microsoft.com/office/powerpoint/2010/main" val="27895694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1539240"/>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92</Slides>
  <Notes>72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92</vt:i4>
      </vt:variant>
    </vt:vector>
  </HeadingPairs>
  <TitlesOfParts>
    <vt:vector size="96"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유저 스토리</vt:lpstr>
      <vt:lpstr>50. 스토리의 문형과 가치</vt:lpstr>
      <vt:lpstr>51. 좋은 유저 스토리 — INVEST</vt:lpstr>
      <vt:lpstr>52. 스토리 나누기</vt:lpstr>
      <vt:lpstr>53. 잘못된 유저 스토리</vt:lpstr>
      <vt:lpstr>54. 유저 스토리의 강점과 한계</vt:lpstr>
      <vt:lpstr>55. 행위 주도 개발</vt:lpstr>
      <vt:lpstr>56. Given-When-Then</vt:lpstr>
      <vt:lpstr>57. Example Mapping</vt:lpstr>
      <vt:lpstr>58. 행위 주도 개발의 강점과 한계</vt:lpstr>
      <vt:lpstr>59. 유스케이스·유저 스토리·BDD</vt:lpstr>
      <vt:lpstr>60. 명세 주도 개발</vt:lpstr>
      <vt:lpstr>61. 명세 주도 개발의 한계</vt:lpstr>
      <vt:lpstr>62. 요구사항 검증</vt:lpstr>
      <vt:lpstr>63. 요구사항 관리</vt:lpstr>
      <vt:lpstr>64. 요구사항 추적</vt:lpstr>
      <vt:lpstr>65. 요구사항에서 학습으로</vt:lpstr>
      <vt:lpstr>66. 실습 — 유스케이스</vt:lpstr>
      <vt:lpstr>67.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정의서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