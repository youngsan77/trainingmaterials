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Default Extension="png" ContentType="image/png"/>
  <Override PartName="/ppt/slides/slide1.xml" ContentType="application/vnd.openxmlformats-officedocument.presentationml.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slides/slide21.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notesSlides/notesSlide23.xml" ContentType="application/vnd.openxmlformats-officedocument.presentationml.notes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Override PartName="/ppt/notesSlides/notesSlide25.xml" ContentType="application/vnd.openxmlformats-officedocument.presentationml.notesSlide+xml"/>
  <Override PartName="/ppt/slides/slide25.xml" ContentType="application/vnd.openxmlformats-officedocument.presentationml.slide+xml"/>
  <Override PartName="/ppt/notesSlides/notesSlide26.xml" ContentType="application/vnd.openxmlformats-officedocument.presentationml.notesSlide+xml"/>
  <Override PartName="/ppt/slides/slide26.xml" ContentType="application/vnd.openxmlformats-officedocument.presentationml.slide+xml"/>
  <Override PartName="/ppt/notesSlides/notesSlide27.xml" ContentType="application/vnd.openxmlformats-officedocument.presentationml.notesSlide+xml"/>
  <Override PartName="/ppt/slides/slide27.xml" ContentType="application/vnd.openxmlformats-officedocument.presentationml.slide+xml"/>
  <Override PartName="/ppt/notesSlides/notesSlide28.xml" ContentType="application/vnd.openxmlformats-officedocument.presentationml.notesSlide+xml"/>
  <Override PartName="/ppt/slides/slide28.xml" ContentType="application/vnd.openxmlformats-officedocument.presentationml.slide+xml"/>
  <Override PartName="/ppt/notesSlides/notesSlide29.xml" ContentType="application/vnd.openxmlformats-officedocument.presentationml.notesSlide+xml"/>
  <Override PartName="/ppt/slides/slide29.xml" ContentType="application/vnd.openxmlformats-officedocument.presentationml.slide+xml"/>
  <Override PartName="/ppt/notesSlides/notesSlide30.xml" ContentType="application/vnd.openxmlformats-officedocument.presentationml.notesSlide+xml"/>
  <Override PartName="/ppt/slides/slide30.xml" ContentType="application/vnd.openxmlformats-officedocument.presentationml.slide+xml"/>
  <Override PartName="/ppt/slides/slide31.xml" ContentType="application/vnd.openxmlformats-officedocument.presentationml.slide+xml"/>
  <Override PartName="/ppt/notesSlides/notesSlide32.xml" ContentType="application/vnd.openxmlformats-officedocument.presentationml.notesSlide+xml"/>
  <Override PartName="/ppt/slides/slide32.xml" ContentType="application/vnd.openxmlformats-officedocument.presentationml.slide+xml"/>
  <Override PartName="/ppt/notesSlides/notesSlide33.xml" ContentType="application/vnd.openxmlformats-officedocument.presentationml.notesSlide+xml"/>
  <Override PartName="/ppt/slides/slide33.xml" ContentType="application/vnd.openxmlformats-officedocument.presentationml.slide+xml"/>
  <Override PartName="/ppt/notesSlides/notesSlide34.xml" ContentType="application/vnd.openxmlformats-officedocument.presentationml.notesSlide+xml"/>
  <Override PartName="/ppt/slides/slide34.xml" ContentType="application/vnd.openxmlformats-officedocument.presentationml.slide+xml"/>
  <Override PartName="/ppt/slides/slide35.xml" ContentType="application/vnd.openxmlformats-officedocument.presentationml.slide+xml"/>
  <Override PartName="/ppt/notesSlides/notesSlide36.xml" ContentType="application/vnd.openxmlformats-officedocument.presentationml.notesSlide+xml"/>
  <Override PartName="/ppt/slides/slide36.xml" ContentType="application/vnd.openxmlformats-officedocument.presentationml.slide+xml"/>
  <Override PartName="/ppt/notesSlides/notesSlide37.xml" ContentType="application/vnd.openxmlformats-officedocument.presentationml.notesSlide+xml"/>
  <Override PartName="/ppt/slides/slide37.xml" ContentType="application/vnd.openxmlformats-officedocument.presentationml.slide+xml"/>
  <Override PartName="/ppt/notesSlides/notesSlide38.xml" ContentType="application/vnd.openxmlformats-officedocument.presentationml.notesSlide+xml"/>
  <Override PartName="/ppt/slides/slide38.xml" ContentType="application/vnd.openxmlformats-officedocument.presentationml.slide+xml"/>
  <Override PartName="/ppt/notesSlides/notesSlide39.xml" ContentType="application/vnd.openxmlformats-officedocument.presentationml.notes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Slides/notesSlide43.xml" ContentType="application/vnd.openxmlformats-officedocument.presentationml.notesSlide+xml"/>
  <Override PartName="/ppt/slides/slide43.xml" ContentType="application/vnd.openxmlformats-officedocument.presentationml.slide+xml"/>
  <Override PartName="/ppt/notesSlides/notesSlide44.xml" ContentType="application/vnd.openxmlformats-officedocument.presentationml.notesSlide+xml"/>
  <Override PartName="/ppt/slides/slide44.xml" ContentType="application/vnd.openxmlformats-officedocument.presentationml.slide+xml"/>
  <Override PartName="/ppt/notesSlides/notesSlide45.xml" ContentType="application/vnd.openxmlformats-officedocument.presentationml.notesSlide+xml"/>
  <Override PartName="/ppt/slides/slide45.xml" ContentType="application/vnd.openxmlformats-officedocument.presentationml.slide+xml"/>
  <Override PartName="/ppt/notesSlides/notesSlide46.xml" ContentType="application/vnd.openxmlformats-officedocument.presentationml.notesSlide+xml"/>
  <Override PartName="/ppt/slides/slide46.xml" ContentType="application/vnd.openxmlformats-officedocument.presentationml.slide+xml"/>
  <Override PartName="/ppt/notesSlides/notesSlide47.xml" ContentType="application/vnd.openxmlformats-officedocument.presentationml.notesSlide+xml"/>
  <Override PartName="/ppt/slides/slide47.xml" ContentType="application/vnd.openxmlformats-officedocument.presentationml.slide+xml"/>
  <Override PartName="/ppt/notesSlides/notesSlide48.xml" ContentType="application/vnd.openxmlformats-officedocument.presentationml.notesSlide+xml"/>
  <Override PartName="/ppt/slides/slide48.xml" ContentType="application/vnd.openxmlformats-officedocument.presentationml.slide+xml"/>
  <Override PartName="/ppt/slides/slide49.xml" ContentType="application/vnd.openxmlformats-officedocument.presentationml.slide+xml"/>
  <Override PartName="/ppt/notesSlides/notesSlide50.xml" ContentType="application/vnd.openxmlformats-officedocument.presentationml.notesSlide+xml"/>
  <Override PartName="/ppt/slides/slide50.xml" ContentType="application/vnd.openxmlformats-officedocument.presentationml.slide+xml"/>
  <Override PartName="/ppt/slides/slide51.xml" ContentType="application/vnd.openxmlformats-officedocument.presentationml.slide+xml"/>
  <Override PartName="/ppt/notesSlides/notesSlide52.xml" ContentType="application/vnd.openxmlformats-officedocument.presentationml.notesSlide+xml"/>
  <Override PartName="/ppt/slides/slide52.xml" ContentType="application/vnd.openxmlformats-officedocument.presentationml.slide+xml"/>
  <Override PartName="/ppt/slides/slide53.xml" ContentType="application/vnd.openxmlformats-officedocument.presentationml.slide+xml"/>
  <Override PartName="/ppt/notesSlides/notesSlide54.xml" ContentType="application/vnd.openxmlformats-officedocument.presentationml.notesSlide+xml"/>
  <Override PartName="/ppt/slides/slide54.xml" ContentType="application/vnd.openxmlformats-officedocument.presentationml.slide+xml"/>
  <Override PartName="/ppt/notesSlides/notesSlide55.xml" ContentType="application/vnd.openxmlformats-officedocument.presentationml.notes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Slides/notesSlide59.xml" ContentType="application/vnd.openxmlformats-officedocument.presentationml.notes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Slides/notesSlide65.xml" ContentType="application/vnd.openxmlformats-officedocument.presentationml.notesSlide+xml"/>
  <Override PartName="/ppt/slides/slide65.xml" ContentType="application/vnd.openxmlformats-officedocument.presentationml.slide+xml"/>
  <Override PartName="/ppt/slides/slide66.xml" ContentType="application/vnd.openxmlformats-officedocument.presentationml.slide+xml"/>
  <Override PartName="/ppt/notesSlides/notesSlide67.xml" ContentType="application/vnd.openxmlformats-officedocument.presentationml.notesSlide+xml"/>
  <Override PartName="/ppt/slides/slide67.xml" ContentType="application/vnd.openxmlformats-officedocument.presentationml.slide+xml"/>
  <Override PartName="/ppt/notesSlides/notesSlide68.xml" ContentType="application/vnd.openxmlformats-officedocument.presentationml.notesSlide+xml"/>
  <Override PartName="/ppt/slides/slide68.xml" ContentType="application/vnd.openxmlformats-officedocument.presentationml.slide+xml"/>
  <Override PartName="/ppt/slides/slide69.xml" ContentType="application/vnd.openxmlformats-officedocument.presentationml.slide+xml"/>
  <Override PartName="/ppt/notesSlides/notesSlide70.xml" ContentType="application/vnd.openxmlformats-officedocument.presentationml.notesSlide+xml"/>
  <Override PartName="/ppt/slides/slide70.xml" ContentType="application/vnd.openxmlformats-officedocument.presentationml.slide+xml"/>
  <Override PartName="/ppt/notesSlides/notesSlide71.xml" ContentType="application/vnd.openxmlformats-officedocument.presentationml.notesSlide+xml"/>
  <Override PartName="/ppt/slides/slide71.xml" ContentType="application/vnd.openxmlformats-officedocument.presentationml.slide+xml"/>
  <Override PartName="/ppt/notesSlides/notesSlide72.xml" ContentType="application/vnd.openxmlformats-officedocument.presentationml.notesSlide+xml"/>
  <Override PartName="/ppt/slides/slide72.xml" ContentType="application/vnd.openxmlformats-officedocument.presentationml.slide+xml"/>
  <Override PartName="/ppt/notesSlides/notesSlide73.xml" ContentType="application/vnd.openxmlformats-officedocument.presentationml.notesSlide+xml"/>
  <Override PartName="/ppt/slides/slide73.xml" ContentType="application/vnd.openxmlformats-officedocument.presentationml.slide+xml"/>
  <Override PartName="/ppt/notesSlides/notesSlide74.xml" ContentType="application/vnd.openxmlformats-officedocument.presentationml.notesSlide+xml"/>
  <Override PartName="/ppt/slides/slide74.xml" ContentType="application/vnd.openxmlformats-officedocument.presentationml.slide+xml"/>
  <Override PartName="/ppt/notesSlides/notesSlide75.xml" ContentType="application/vnd.openxmlformats-officedocument.presentationml.notesSlide+xml"/>
  <Override PartName="/ppt/slides/slide75.xml" ContentType="application/vnd.openxmlformats-officedocument.presentationml.slide+xml"/>
  <Override PartName="/ppt/notesSlides/notesSlide76.xml" ContentType="application/vnd.openxmlformats-officedocument.presentationml.notesSlide+xml"/>
  <Override PartName="/ppt/slides/slide76.xml" ContentType="application/vnd.openxmlformats-officedocument.presentationml.slide+xml"/>
  <Override PartName="/ppt/notesSlides/notesSlide77.xml" ContentType="application/vnd.openxmlformats-officedocument.presentationml.notesSlide+xml"/>
  <Override PartName="/ppt/slides/slide77.xml" ContentType="application/vnd.openxmlformats-officedocument.presentationml.slide+xml"/>
  <Override PartName="/ppt/notesSlides/notesSlide78.xml" ContentType="application/vnd.openxmlformats-officedocument.presentationml.notesSlide+xml"/>
  <Override PartName="/ppt/slides/slide78.xml" ContentType="application/vnd.openxmlformats-officedocument.presentationml.slide+xml"/>
  <Override PartName="/ppt/notesSlides/notesSlide79.xml" ContentType="application/vnd.openxmlformats-officedocument.presentationml.notesSlide+xml"/>
  <Override PartName="/ppt/slides/slide79.xml" ContentType="application/vnd.openxmlformats-officedocument.presentationml.slide+xml"/>
  <Override PartName="/ppt/notesSlides/notesSlide80.xml" ContentType="application/vnd.openxmlformats-officedocument.presentationml.notesSlide+xml"/>
  <Override PartName="/ppt/slides/slide80.xml" ContentType="application/vnd.openxmlformats-officedocument.presentationml.slide+xml"/>
  <Override PartName="/ppt/notesSlides/notesSlide81.xml" ContentType="application/vnd.openxmlformats-officedocument.presentationml.notesSlide+xml"/>
  <Override PartName="/ppt/slides/slide81.xml" ContentType="application/vnd.openxmlformats-officedocument.presentationml.slide+xml"/>
  <Override PartName="/ppt/notesSlides/notesSlide82.xml" ContentType="application/vnd.openxmlformats-officedocument.presentationml.notesSlide+xml"/>
  <Override PartName="/ppt/slides/slide82.xml" ContentType="application/vnd.openxmlformats-officedocument.presentationml.slide+xml"/>
  <Override PartName="/ppt/notesSlides/notesSlide83.xml" ContentType="application/vnd.openxmlformats-officedocument.presentationml.notesSlide+xml"/>
  <Override PartName="/ppt/slides/slide83.xml" ContentType="application/vnd.openxmlformats-officedocument.presentationml.slide+xml"/>
  <Override PartName="/ppt/notesSlides/notesSlide84.xml" ContentType="application/vnd.openxmlformats-officedocument.presentationml.notesSlide+xml"/>
  <Override PartName="/ppt/slides/slide84.xml" ContentType="application/vnd.openxmlformats-officedocument.presentationml.slide+xml"/>
  <Override PartName="/ppt/notesSlides/notesSlide85.xml" ContentType="application/vnd.openxmlformats-officedocument.presentationml.notesSlide+xml"/>
  <Override PartName="/ppt/slides/slide85.xml" ContentType="application/vnd.openxmlformats-officedocument.presentationml.slide+xml"/>
  <Override PartName="/ppt/notesSlides/notesSlide86.xml" ContentType="application/vnd.openxmlformats-officedocument.presentationml.notesSlide+xml"/>
  <Override PartName="/ppt/slides/slide86.xml" ContentType="application/vnd.openxmlformats-officedocument.presentationml.slide+xml"/>
  <Override PartName="/ppt/notesSlides/notesSlide87.xml" ContentType="application/vnd.openxmlformats-officedocument.presentationml.notesSlide+xml"/>
  <Override PartName="/ppt/slides/slide87.xml" ContentType="application/vnd.openxmlformats-officedocument.presentationml.slide+xml"/>
  <Override PartName="/ppt/notesSlides/notesSlide88.xml" ContentType="application/vnd.openxmlformats-officedocument.presentationml.notesSlide+xml"/>
  <Override PartName="/ppt/slides/slide88.xml" ContentType="application/vnd.openxmlformats-officedocument.presentationml.slide+xml"/>
  <Override PartName="/ppt/notesSlides/notesSlide89.xml" ContentType="application/vnd.openxmlformats-officedocument.presentationml.notesSlide+xml"/>
  <Override PartName="/ppt/slides/slide89.xml" ContentType="application/vnd.openxmlformats-officedocument.presentationml.slide+xml"/>
  <Override PartName="/ppt/notesSlides/notesSlide90.xml" ContentType="application/vnd.openxmlformats-officedocument.presentationml.notesSlide+xml"/>
  <Override PartName="/ppt/slides/slide90.xml" ContentType="application/vnd.openxmlformats-officedocument.presentationml.slide+xml"/>
  <Override PartName="/ppt/notesSlides/notesSlide91.xml" ContentType="application/vnd.openxmlformats-officedocument.presentationml.notesSlide+xml"/>
  <Override PartName="/ppt/slides/slide91.xml" ContentType="application/vnd.openxmlformats-officedocument.presentationml.slide+xml"/>
  <Override PartName="/ppt/notesSlides/notesSlide92.xml" ContentType="application/vnd.openxmlformats-officedocument.presentationml.notesSlide+xml"/>
  <Override PartName="/ppt/slides/slide92.xml" ContentType="application/vnd.openxmlformats-officedocument.presentationml.slide+xml"/>
  <Override PartName="/ppt/notesSlides/notesSlide93.xml" ContentType="application/vnd.openxmlformats-officedocument.presentationml.notesSlide+xml"/>
  <Override PartName="/ppt/slides/slide9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5"/>
  </p:notesMasterIdLst>
  <p:sldIdLst>
    <p:sldId id="256" r:id="javaLecture1"/>
    <p:sldId id="257" r:id="javaLecture2"/>
    <p:sldId id="258" r:id="javaLecture3"/>
    <p:sldId id="259" r:id="javaLecture4"/>
    <p:sldId id="260" r:id="javaLecture5"/>
    <p:sldId id="261" r:id="javaLecture6"/>
    <p:sldId id="262" r:id="javaLecture7"/>
    <p:sldId id="263" r:id="javaLecture8"/>
    <p:sldId id="264" r:id="javaLecture9"/>
    <p:sldId id="265" r:id="javaLecture10"/>
    <p:sldId id="266" r:id="javaLecture11"/>
    <p:sldId id="267" r:id="javaLecture12"/>
    <p:sldId id="268" r:id="javaLecture13"/>
    <p:sldId id="269" r:id="javaLecture14"/>
    <p:sldId id="270" r:id="javaLecture15"/>
    <p:sldId id="271" r:id="javaLecture16"/>
    <p:sldId id="272" r:id="javaLecture17"/>
    <p:sldId id="273" r:id="javaLecture18"/>
    <p:sldId id="274" r:id="javaLecture19"/>
    <p:sldId id="275" r:id="javaLecture20"/>
    <p:sldId id="276" r:id="javaLecture21"/>
    <p:sldId id="277" r:id="javaLecture22"/>
    <p:sldId id="278" r:id="javaLecture23"/>
    <p:sldId id="279" r:id="javaLecture24"/>
    <p:sldId id="280" r:id="javaLecture25"/>
    <p:sldId id="281" r:id="javaLecture26"/>
    <p:sldId id="282" r:id="javaLecture27"/>
    <p:sldId id="283" r:id="javaLecture28"/>
    <p:sldId id="284" r:id="javaLecture29"/>
    <p:sldId id="285" r:id="javaLecture30"/>
    <p:sldId id="286" r:id="javaLecture31"/>
    <p:sldId id="287" r:id="javaLecture32"/>
    <p:sldId id="288" r:id="javaLecture33"/>
    <p:sldId id="289" r:id="javaLecture34"/>
    <p:sldId id="290" r:id="javaLecture35"/>
    <p:sldId id="291" r:id="javaLecture36"/>
    <p:sldId id="292" r:id="javaLecture37"/>
    <p:sldId id="293" r:id="javaLecture38"/>
    <p:sldId id="294" r:id="javaLecture39"/>
    <p:sldId id="295" r:id="javaLecture40"/>
    <p:sldId id="296" r:id="javaLecture41"/>
    <p:sldId id="297" r:id="javaLecture42"/>
    <p:sldId id="298" r:id="javaLecture43"/>
    <p:sldId id="299" r:id="javaLecture44"/>
    <p:sldId id="300" r:id="javaLecture45"/>
    <p:sldId id="301" r:id="javaLecture46"/>
    <p:sldId id="302" r:id="javaLecture47"/>
    <p:sldId id="303" r:id="javaLecture48"/>
    <p:sldId id="304" r:id="javaLecture49"/>
    <p:sldId id="305" r:id="javaLecture50"/>
    <p:sldId id="306" r:id="javaLecture51"/>
    <p:sldId id="307" r:id="javaLecture52"/>
    <p:sldId id="308" r:id="javaLecture53"/>
    <p:sldId id="309" r:id="javaLecture54"/>
    <p:sldId id="310" r:id="javaLecture55"/>
    <p:sldId id="311" r:id="javaLecture56"/>
    <p:sldId id="312" r:id="javaLecture57"/>
    <p:sldId id="313" r:id="javaLecture58"/>
    <p:sldId id="314" r:id="javaLecture59"/>
    <p:sldId id="315" r:id="javaLecture60"/>
    <p:sldId id="316" r:id="javaLecture61"/>
    <p:sldId id="317" r:id="javaLecture62"/>
    <p:sldId id="318" r:id="javaLecture63"/>
    <p:sldId id="319" r:id="javaLecture64"/>
    <p:sldId id="320" r:id="javaLecture65"/>
    <p:sldId id="321" r:id="javaLecture66"/>
    <p:sldId id="322" r:id="javaLecture67"/>
    <p:sldId id="323" r:id="javaLecture68"/>
    <p:sldId id="324" r:id="javaLecture69"/>
    <p:sldId id="325" r:id="javaLecture70"/>
    <p:sldId id="326" r:id="javaLecture71"/>
    <p:sldId id="327" r:id="javaLecture72"/>
    <p:sldId id="328" r:id="javaLecture73"/>
    <p:sldId id="329" r:id="javaLecture74"/>
    <p:sldId id="330" r:id="javaLecture75"/>
    <p:sldId id="331" r:id="javaLecture76"/>
    <p:sldId id="332" r:id="javaLecture77"/>
    <p:sldId id="333" r:id="javaLecture78"/>
    <p:sldId id="334" r:id="javaLecture79"/>
    <p:sldId id="335" r:id="javaLecture80"/>
    <p:sldId id="336" r:id="javaLecture81"/>
    <p:sldId id="337" r:id="javaLecture82"/>
    <p:sldId id="338" r:id="javaLecture83"/>
    <p:sldId id="339" r:id="javaLecture84"/>
    <p:sldId id="340" r:id="javaLecture85"/>
    <p:sldId id="341" r:id="javaLecture86"/>
    <p:sldId id="342" r:id="javaLecture87"/>
    <p:sldId id="343" r:id="javaLecture88"/>
    <p:sldId id="344" r:id="javaLecture89"/>
    <p:sldId id="345" r:id="javaLecture90"/>
    <p:sldId id="346" r:id="javaLecture91"/>
    <p:sldId id="347" r:id="javaLecture92"/>
    <p:sldId id="348" r:id="javaLecture9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890" userDrawn="1">
          <p15:clr>
            <a:srgbClr val="A4A3A4"/>
          </p15:clr>
        </p15:guide>
        <p15:guide id="5"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41C14D-A5A2-2B4D-B033-1B776E74D04A}" v="40" dt="2026-09-12T11:52:04.699"/>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62"/>
    <p:restoredTop sz="92496"/>
  </p:normalViewPr>
  <p:slideViewPr>
    <p:cSldViewPr snapToGrid="0">
      <p:cViewPr varScale="1">
        <p:scale>
          <a:sx n="106" d="100"/>
          <a:sy n="106" d="100"/>
        </p:scale>
        <p:origin x="1984" y="184"/>
      </p:cViewPr>
      <p:guideLst>
        <p:guide orient="horz" pos="89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18" d="100"/>
        <a:sy n="118" d="100"/>
      </p:scale>
      <p:origin x="0" y="0"/>
    </p:cViewPr>
  </p:sorterViewPr>
  <p:gridSpacing cx="76200" cy="76200"/>
</p:viewPr>
</file>

<file path=ppt/_rels/presentation.xml.rels><?xml version="1.0" encoding="UTF-8" standalone="yes"?>
<Relationships xmlns="http://schemas.openxmlformats.org/package/2006/relationships"><Relationship Id="rId18" Type="http://schemas.openxmlformats.org/officeDocument/2006/relationships/theme" Target="theme/theme1.xml"/><Relationship Id="rId17" Type="http://schemas.openxmlformats.org/officeDocument/2006/relationships/viewProps" Target="viewProps.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15" Type="http://schemas.openxmlformats.org/officeDocument/2006/relationships/notesMaster" Target="notesMasters/notesMaster1.xml"/><Relationship Id="rId19" Type="http://schemas.openxmlformats.org/officeDocument/2006/relationships/tableStyles" Target="tableStyles.xml"/><Relationship Id="javaLecture1" Type="http://schemas.openxmlformats.org/officeDocument/2006/relationships/slide" Target="slides/slide1.xml"/><Relationship Id="javaLecture2" Type="http://schemas.openxmlformats.org/officeDocument/2006/relationships/slide" Target="slides/slide2.xml"/><Relationship Id="javaLecture3" Type="http://schemas.openxmlformats.org/officeDocument/2006/relationships/slide" Target="slides/slide3.xml"/><Relationship Id="javaLecture4" Type="http://schemas.openxmlformats.org/officeDocument/2006/relationships/slide" Target="slides/slide4.xml"/><Relationship Id="javaLecture5" Type="http://schemas.openxmlformats.org/officeDocument/2006/relationships/slide" Target="slides/slide5.xml"/><Relationship Id="javaLecture6" Type="http://schemas.openxmlformats.org/officeDocument/2006/relationships/slide" Target="slides/slide6.xml"/><Relationship Id="javaLecture7" Type="http://schemas.openxmlformats.org/officeDocument/2006/relationships/slide" Target="slides/slide7.xml"/><Relationship Id="javaLecture8" Type="http://schemas.openxmlformats.org/officeDocument/2006/relationships/slide" Target="slides/slide8.xml"/><Relationship Id="javaLecture9" Type="http://schemas.openxmlformats.org/officeDocument/2006/relationships/slide" Target="slides/slide9.xml"/><Relationship Id="javaLecture10" Type="http://schemas.openxmlformats.org/officeDocument/2006/relationships/slide" Target="slides/slide10.xml"/><Relationship Id="javaLecture11" Type="http://schemas.openxmlformats.org/officeDocument/2006/relationships/slide" Target="slides/slide11.xml"/><Relationship Id="javaLecture12" Type="http://schemas.openxmlformats.org/officeDocument/2006/relationships/slide" Target="slides/slide12.xml"/><Relationship Id="javaLecture13" Type="http://schemas.openxmlformats.org/officeDocument/2006/relationships/slide" Target="slides/slide13.xml"/><Relationship Id="javaLecture14" Type="http://schemas.openxmlformats.org/officeDocument/2006/relationships/slide" Target="slides/slide14.xml"/><Relationship Id="javaLecture15" Type="http://schemas.openxmlformats.org/officeDocument/2006/relationships/slide" Target="slides/slide15.xml"/><Relationship Id="javaLecture16" Type="http://schemas.openxmlformats.org/officeDocument/2006/relationships/slide" Target="slides/slide16.xml"/><Relationship Id="javaLecture17" Type="http://schemas.openxmlformats.org/officeDocument/2006/relationships/slide" Target="slides/slide17.xml"/><Relationship Id="javaLecture18" Type="http://schemas.openxmlformats.org/officeDocument/2006/relationships/slide" Target="slides/slide18.xml"/><Relationship Id="javaLecture19" Type="http://schemas.openxmlformats.org/officeDocument/2006/relationships/slide" Target="slides/slide19.xml"/><Relationship Id="javaLecture20" Type="http://schemas.openxmlformats.org/officeDocument/2006/relationships/slide" Target="slides/slide20.xml"/><Relationship Id="javaLecture21" Type="http://schemas.openxmlformats.org/officeDocument/2006/relationships/slide" Target="slides/slide21.xml"/><Relationship Id="javaLecture22" Type="http://schemas.openxmlformats.org/officeDocument/2006/relationships/slide" Target="slides/slide22.xml"/><Relationship Id="javaLecture23" Type="http://schemas.openxmlformats.org/officeDocument/2006/relationships/slide" Target="slides/slide23.xml"/><Relationship Id="javaLecture24" Type="http://schemas.openxmlformats.org/officeDocument/2006/relationships/slide" Target="slides/slide24.xml"/><Relationship Id="javaLecture25" Type="http://schemas.openxmlformats.org/officeDocument/2006/relationships/slide" Target="slides/slide25.xml"/><Relationship Id="javaLecture26" Type="http://schemas.openxmlformats.org/officeDocument/2006/relationships/slide" Target="slides/slide26.xml"/><Relationship Id="javaLecture27" Type="http://schemas.openxmlformats.org/officeDocument/2006/relationships/slide" Target="slides/slide27.xml"/><Relationship Id="javaLecture28" Type="http://schemas.openxmlformats.org/officeDocument/2006/relationships/slide" Target="slides/slide28.xml"/><Relationship Id="javaLecture29" Type="http://schemas.openxmlformats.org/officeDocument/2006/relationships/slide" Target="slides/slide29.xml"/><Relationship Id="javaLecture30" Type="http://schemas.openxmlformats.org/officeDocument/2006/relationships/slide" Target="slides/slide30.xml"/><Relationship Id="javaLecture31" Type="http://schemas.openxmlformats.org/officeDocument/2006/relationships/slide" Target="slides/slide31.xml"/><Relationship Id="javaLecture32" Type="http://schemas.openxmlformats.org/officeDocument/2006/relationships/slide" Target="slides/slide32.xml"/><Relationship Id="javaLecture33" Type="http://schemas.openxmlformats.org/officeDocument/2006/relationships/slide" Target="slides/slide33.xml"/><Relationship Id="javaLecture34" Type="http://schemas.openxmlformats.org/officeDocument/2006/relationships/slide" Target="slides/slide34.xml"/><Relationship Id="javaLecture35" Type="http://schemas.openxmlformats.org/officeDocument/2006/relationships/slide" Target="slides/slide35.xml"/><Relationship Id="javaLecture36" Type="http://schemas.openxmlformats.org/officeDocument/2006/relationships/slide" Target="slides/slide36.xml"/><Relationship Id="javaLecture37" Type="http://schemas.openxmlformats.org/officeDocument/2006/relationships/slide" Target="slides/slide37.xml"/><Relationship Id="javaLecture38" Type="http://schemas.openxmlformats.org/officeDocument/2006/relationships/slide" Target="slides/slide38.xml"/><Relationship Id="javaLecture39" Type="http://schemas.openxmlformats.org/officeDocument/2006/relationships/slide" Target="slides/slide39.xml"/><Relationship Id="javaLecture40" Type="http://schemas.openxmlformats.org/officeDocument/2006/relationships/slide" Target="slides/slide40.xml"/><Relationship Id="javaLecture41" Type="http://schemas.openxmlformats.org/officeDocument/2006/relationships/slide" Target="slides/slide41.xml"/><Relationship Id="javaLecture42" Type="http://schemas.openxmlformats.org/officeDocument/2006/relationships/slide" Target="slides/slide42.xml"/><Relationship Id="javaLecture43" Type="http://schemas.openxmlformats.org/officeDocument/2006/relationships/slide" Target="slides/slide43.xml"/><Relationship Id="javaLecture44" Type="http://schemas.openxmlformats.org/officeDocument/2006/relationships/slide" Target="slides/slide44.xml"/><Relationship Id="javaLecture45" Type="http://schemas.openxmlformats.org/officeDocument/2006/relationships/slide" Target="slides/slide45.xml"/><Relationship Id="javaLecture46" Type="http://schemas.openxmlformats.org/officeDocument/2006/relationships/slide" Target="slides/slide46.xml"/><Relationship Id="javaLecture47" Type="http://schemas.openxmlformats.org/officeDocument/2006/relationships/slide" Target="slides/slide47.xml"/><Relationship Id="javaLecture48" Type="http://schemas.openxmlformats.org/officeDocument/2006/relationships/slide" Target="slides/slide48.xml"/><Relationship Id="javaLecture49" Type="http://schemas.openxmlformats.org/officeDocument/2006/relationships/slide" Target="slides/slide49.xml"/><Relationship Id="javaLecture50" Type="http://schemas.openxmlformats.org/officeDocument/2006/relationships/slide" Target="slides/slide50.xml"/><Relationship Id="javaLecture51" Type="http://schemas.openxmlformats.org/officeDocument/2006/relationships/slide" Target="slides/slide51.xml"/><Relationship Id="javaLecture52" Type="http://schemas.openxmlformats.org/officeDocument/2006/relationships/slide" Target="slides/slide52.xml"/><Relationship Id="javaLecture53" Type="http://schemas.openxmlformats.org/officeDocument/2006/relationships/slide" Target="slides/slide53.xml"/><Relationship Id="javaLecture54" Type="http://schemas.openxmlformats.org/officeDocument/2006/relationships/slide" Target="slides/slide54.xml"/><Relationship Id="javaLecture55" Type="http://schemas.openxmlformats.org/officeDocument/2006/relationships/slide" Target="slides/slide55.xml"/><Relationship Id="javaLecture56" Type="http://schemas.openxmlformats.org/officeDocument/2006/relationships/slide" Target="slides/slide56.xml"/><Relationship Id="javaLecture57" Type="http://schemas.openxmlformats.org/officeDocument/2006/relationships/slide" Target="slides/slide57.xml"/><Relationship Id="javaLecture58" Type="http://schemas.openxmlformats.org/officeDocument/2006/relationships/slide" Target="slides/slide58.xml"/><Relationship Id="javaLecture59" Type="http://schemas.openxmlformats.org/officeDocument/2006/relationships/slide" Target="slides/slide59.xml"/><Relationship Id="javaLecture60" Type="http://schemas.openxmlformats.org/officeDocument/2006/relationships/slide" Target="slides/slide60.xml"/><Relationship Id="javaLecture61" Type="http://schemas.openxmlformats.org/officeDocument/2006/relationships/slide" Target="slides/slide61.xml"/><Relationship Id="javaLecture62" Type="http://schemas.openxmlformats.org/officeDocument/2006/relationships/slide" Target="slides/slide62.xml"/><Relationship Id="javaLecture63" Type="http://schemas.openxmlformats.org/officeDocument/2006/relationships/slide" Target="slides/slide63.xml"/><Relationship Id="javaLecture64" Type="http://schemas.openxmlformats.org/officeDocument/2006/relationships/slide" Target="slides/slide64.xml"/><Relationship Id="javaLecture65" Type="http://schemas.openxmlformats.org/officeDocument/2006/relationships/slide" Target="slides/slide65.xml"/><Relationship Id="javaLecture66" Type="http://schemas.openxmlformats.org/officeDocument/2006/relationships/slide" Target="slides/slide66.xml"/><Relationship Id="javaLecture67" Type="http://schemas.openxmlformats.org/officeDocument/2006/relationships/slide" Target="slides/slide67.xml"/><Relationship Id="javaLecture68" Type="http://schemas.openxmlformats.org/officeDocument/2006/relationships/slide" Target="slides/slide68.xml"/><Relationship Id="javaLecture69" Type="http://schemas.openxmlformats.org/officeDocument/2006/relationships/slide" Target="slides/slide69.xml"/><Relationship Id="javaLecture70" Type="http://schemas.openxmlformats.org/officeDocument/2006/relationships/slide" Target="slides/slide70.xml"/><Relationship Id="javaLecture71" Type="http://schemas.openxmlformats.org/officeDocument/2006/relationships/slide" Target="slides/slide71.xml"/><Relationship Id="javaLecture72" Type="http://schemas.openxmlformats.org/officeDocument/2006/relationships/slide" Target="slides/slide72.xml"/><Relationship Id="javaLecture73" Type="http://schemas.openxmlformats.org/officeDocument/2006/relationships/slide" Target="slides/slide73.xml"/><Relationship Id="javaLecture74" Type="http://schemas.openxmlformats.org/officeDocument/2006/relationships/slide" Target="slides/slide74.xml"/><Relationship Id="javaLecture75" Type="http://schemas.openxmlformats.org/officeDocument/2006/relationships/slide" Target="slides/slide75.xml"/><Relationship Id="javaLecture76" Type="http://schemas.openxmlformats.org/officeDocument/2006/relationships/slide" Target="slides/slide76.xml"/><Relationship Id="javaLecture77" Type="http://schemas.openxmlformats.org/officeDocument/2006/relationships/slide" Target="slides/slide77.xml"/><Relationship Id="javaLecture78" Type="http://schemas.openxmlformats.org/officeDocument/2006/relationships/slide" Target="slides/slide78.xml"/><Relationship Id="javaLecture79" Type="http://schemas.openxmlformats.org/officeDocument/2006/relationships/slide" Target="slides/slide79.xml"/><Relationship Id="javaLecture80" Type="http://schemas.openxmlformats.org/officeDocument/2006/relationships/slide" Target="slides/slide80.xml"/><Relationship Id="javaLecture81" Type="http://schemas.openxmlformats.org/officeDocument/2006/relationships/slide" Target="slides/slide81.xml"/><Relationship Id="javaLecture82" Type="http://schemas.openxmlformats.org/officeDocument/2006/relationships/slide" Target="slides/slide82.xml"/><Relationship Id="javaLecture83" Type="http://schemas.openxmlformats.org/officeDocument/2006/relationships/slide" Target="slides/slide83.xml"/><Relationship Id="javaLecture84" Type="http://schemas.openxmlformats.org/officeDocument/2006/relationships/slide" Target="slides/slide84.xml"/><Relationship Id="javaLecture85" Type="http://schemas.openxmlformats.org/officeDocument/2006/relationships/slide" Target="slides/slide85.xml"/><Relationship Id="javaLecture86" Type="http://schemas.openxmlformats.org/officeDocument/2006/relationships/slide" Target="slides/slide86.xml"/><Relationship Id="javaLecture87" Type="http://schemas.openxmlformats.org/officeDocument/2006/relationships/slide" Target="slides/slide87.xml"/><Relationship Id="javaLecture88" Type="http://schemas.openxmlformats.org/officeDocument/2006/relationships/slide" Target="slides/slide88.xml"/><Relationship Id="javaLecture89" Type="http://schemas.openxmlformats.org/officeDocument/2006/relationships/slide" Target="slides/slide89.xml"/><Relationship Id="javaLecture90" Type="http://schemas.openxmlformats.org/officeDocument/2006/relationships/slide" Target="slides/slide90.xml"/><Relationship Id="javaLecture91" Type="http://schemas.openxmlformats.org/officeDocument/2006/relationships/slide" Target="slides/slide91.xml"/><Relationship Id="javaLecture92" Type="http://schemas.openxmlformats.org/officeDocument/2006/relationships/slide" Target="slides/slide92.xml"/><Relationship Id="javaLecture93" Type="http://schemas.openxmlformats.org/officeDocument/2006/relationships/slide" Target="slides/slide9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CE4FF0-A6B5-46CD-9CD3-2CF2AFF3AE5A}" type="datetimeFigureOut">
              <a:rPr lang="ko-KR" altLang="en-US" smtClean="0"/>
              <a:t>2026. 9. 22.</a:t>
            </a:fld>
            <a:endParaRPr lang="ko-KR" altLang="en-US"/>
          </a:p>
        </p:txBody>
      </p:sp>
      <p:sp>
        <p:nvSpPr>
          <p:cNvPr id="4" name="슬라이드 이미지 개체 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25E7E4-F626-4F14-BF5E-991C69F9D18A}" type="slidenum">
              <a:rPr lang="ko-KR" altLang="en-US" smtClean="0"/>
              <a:t>‹#›</a:t>
            </a:fld>
            <a:endParaRPr lang="ko-KR" altLang="en-US"/>
          </a:p>
        </p:txBody>
      </p:sp>
    </p:spTree>
    <p:extLst>
      <p:ext uri="{BB962C8B-B14F-4D97-AF65-F5344CB8AC3E}">
        <p14:creationId xmlns:p14="http://schemas.microsoft.com/office/powerpoint/2010/main" val="1496618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2.xml.rels><?xml version="1.0" encoding="UTF-8"?><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6.xml.rels><?xml version="1.0" encoding="UTF-8"?><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3.xml.rels><?xml version="1.0" encoding="UTF-8"?><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44.xml.rels><?xml version="1.0" encoding="UTF-8"?><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45.xml.rels><?xml version="1.0" encoding="UTF-8"?><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46.xml.rels><?xml version="1.0" encoding="UTF-8"?><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47.xml.rels><?xml version="1.0" encoding="UTF-8"?><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48.xml.rels><?xml version="1.0" encoding="UTF-8"?><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50.xml.rels><?xml version="1.0" encoding="UTF-8"?><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_rels/notesSlide52.xml.rels><?xml version="1.0" encoding="UTF-8"?><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Relationships>
</file>

<file path=ppt/notesSlides/_rels/notesSlide54.xml.rels><?xml version="1.0" encoding="UTF-8"?><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Relationships>
</file>

<file path=ppt/notesSlides/_rels/notesSlide55.xml.rels><?xml version="1.0" encoding="UTF-8"?><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Relationships>
</file>

<file path=ppt/notesSlides/_rels/notesSlide59.xml.rels><?xml version="1.0" encoding="UTF-8"?><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Relationships>
</file>

<file path=ppt/notesSlides/_rels/notesSlide65.xml.rels><?xml version="1.0" encoding="UTF-8"?><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Relationships>
</file>

<file path=ppt/notesSlides/_rels/notesSlide67.xml.rels><?xml version="1.0" encoding="UTF-8"?><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Relationships>
</file>

<file path=ppt/notesSlides/_rels/notesSlide68.xml.rels><?xml version="1.0" encoding="UTF-8"?><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Relationships>
</file>

<file path=ppt/notesSlides/_rels/notesSlide70.xml.rels><?xml version="1.0" encoding="UTF-8"?><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Relationships>
</file>

<file path=ppt/notesSlides/_rels/notesSlide71.xml.rels><?xml version="1.0" encoding="UTF-8"?><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Relationships>
</file>

<file path=ppt/notesSlides/_rels/notesSlide72.xml.rels><?xml version="1.0" encoding="UTF-8"?><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Relationships>
</file>

<file path=ppt/notesSlides/_rels/notesSlide73.xml.rels><?xml version="1.0" encoding="UTF-8"?><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Relationships>
</file>

<file path=ppt/notesSlides/_rels/notesSlide74.xml.rels><?xml version="1.0" encoding="UTF-8"?><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Relationships>
</file>

<file path=ppt/notesSlides/_rels/notesSlide75.xml.rels><?xml version="1.0" encoding="UTF-8"?><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Relationships>
</file>

<file path=ppt/notesSlides/_rels/notesSlide76.xml.rels><?xml version="1.0" encoding="UTF-8"?><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Relationships>
</file>

<file path=ppt/notesSlides/_rels/notesSlide77.xml.rels><?xml version="1.0" encoding="UTF-8"?><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Relationships>
</file>

<file path=ppt/notesSlides/_rels/notesSlide78.xml.rels><?xml version="1.0" encoding="UTF-8"?><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Relationships>
</file>

<file path=ppt/notesSlides/_rels/notesSlide79.xml.rels><?xml version="1.0" encoding="UTF-8"?><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Relationships>
</file>

<file path=ppt/notesSlides/_rels/notesSlide80.xml.rels><?xml version="1.0" encoding="UTF-8"?><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Relationships>
</file>

<file path=ppt/notesSlides/_rels/notesSlide81.xml.rels><?xml version="1.0" encoding="UTF-8"?><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Relationships>
</file>

<file path=ppt/notesSlides/_rels/notesSlide82.xml.rels><?xml version="1.0" encoding="UTF-8"?><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Relationships>
</file>

<file path=ppt/notesSlides/_rels/notesSlide83.xml.rels><?xml version="1.0" encoding="UTF-8"?><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Relationships>
</file>

<file path=ppt/notesSlides/_rels/notesSlide84.xml.rels><?xml version="1.0" encoding="UTF-8"?><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Relationships>
</file>

<file path=ppt/notesSlides/_rels/notesSlide85.xml.rels><?xml version="1.0" encoding="UTF-8"?><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Relationships>
</file>

<file path=ppt/notesSlides/_rels/notesSlide86.xml.rels><?xml version="1.0" encoding="UTF-8"?><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Relationships>
</file>

<file path=ppt/notesSlides/_rels/notesSlide87.xml.rels><?xml version="1.0" encoding="UTF-8"?><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Relationships>
</file>

<file path=ppt/notesSlides/_rels/notesSlide88.xml.rels><?xml version="1.0" encoding="UTF-8"?><Relationships xmlns="http://schemas.openxmlformats.org/package/2006/relationships"><Relationship Id="rId1" Type="http://schemas.openxmlformats.org/officeDocument/2006/relationships/slide" Target="../slides/slide88.xml"/><Relationship Id="rId2" Type="http://schemas.openxmlformats.org/officeDocument/2006/relationships/notesMaster" Target="../notesMasters/notesMaster1.xml"/></Relationships>
</file>

<file path=ppt/notesSlides/_rels/notesSlide89.xml.rels><?xml version="1.0" encoding="UTF-8"?><Relationships xmlns="http://schemas.openxmlformats.org/package/2006/relationships"><Relationship Id="rId1" Type="http://schemas.openxmlformats.org/officeDocument/2006/relationships/slide" Target="../slides/slide89.xml"/><Relationship Id="rId2" Type="http://schemas.openxmlformats.org/officeDocument/2006/relationships/notesMaster" Target="../notesMasters/notesMaster1.xml"/></Relationships>
</file>

<file path=ppt/notesSlides/_rels/notesSlide90.xml.rels><?xml version="1.0" encoding="UTF-8"?><Relationships xmlns="http://schemas.openxmlformats.org/package/2006/relationships"><Relationship Id="rId1" Type="http://schemas.openxmlformats.org/officeDocument/2006/relationships/slide" Target="../slides/slide90.xml"/><Relationship Id="rId2" Type="http://schemas.openxmlformats.org/officeDocument/2006/relationships/notesMaster" Target="../notesMasters/notesMaster1.xml"/></Relationships>
</file>

<file path=ppt/notesSlides/_rels/notesSlide91.xml.rels><?xml version="1.0" encoding="UTF-8"?><Relationships xmlns="http://schemas.openxmlformats.org/package/2006/relationships"><Relationship Id="rId1" Type="http://schemas.openxmlformats.org/officeDocument/2006/relationships/slide" Target="../slides/slide91.xml"/><Relationship Id="rId2" Type="http://schemas.openxmlformats.org/officeDocument/2006/relationships/notesMaster" Target="../notesMasters/notesMaster1.xml"/></Relationships>
</file>

<file path=ppt/notesSlides/_rels/notesSlide92.xml.rels><?xml version="1.0" encoding="UTF-8"?><Relationships xmlns="http://schemas.openxmlformats.org/package/2006/relationships"><Relationship Id="rId1" Type="http://schemas.openxmlformats.org/officeDocument/2006/relationships/slide" Target="../slides/slide92.xml"/><Relationship Id="rId2" Type="http://schemas.openxmlformats.org/officeDocument/2006/relationships/notesMaster" Target="../notesMasters/notesMaster1.xml"/></Relationships>
</file>

<file path=ppt/notesSlides/_rels/notesSlide93.xml.rels><?xml version="1.0" encoding="UTF-8"?><Relationships xmlns="http://schemas.openxmlformats.org/package/2006/relationships"><Relationship Id="rId1" Type="http://schemas.openxmlformats.org/officeDocument/2006/relationships/slide" Target="../slides/slide93.xml"/><Relationship Id="rId2" Type="http://schemas.openxmlformats.org/officeDocument/2006/relationships/notesMaster" Target="../notesMasters/notesMaster1.xml"/></Relationship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세션의 목적은 요구사항 문서 작성법을 익히는 데 있지 않다. 무엇을 만들어야 하는지 발견하고, 그것이 실제로 필요한지 검증하는 사고 과정을 이해하는 데 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Brooks 인용 근거: "No Silver Bullet — Essence and Accidents of Software Engineering", UNC Technical Report TR86-020(1986), §5.2 "Requirements Refinement and Rapid Prototyping" 원문 확인.</a:t>
            </a:r>
          </a:p>
          <a:p>
            <a:pPr lvl="0"/>
            <a:r>
              <a:rPr lang="ko-KR" sz="1200"/>
              <a:t>Bezos 인용 근거: Jeff Bezos, ["2016 Letter to Shareholders"](https://www.aboutamazon.com/news/company-news/2016-letter-to-shareholders)(2017-04 공개), "True Customer Obsession" 원문 확인. 원문 문장은 "…and your desire to delight customers will drive you to invent on their behalf."로 이어지며 앞 절만 옮겼다.</a:t>
            </a:r>
          </a:p>
          <a:p>
            <a:pPr lvl="0"/>
            <a:r>
              <a:rPr lang="ko-KR" sz="1200"/>
              <a:t>고객의 능력을 비판하는 의미가 아니다.</a:t>
            </a:r>
          </a:p>
          <a:p>
            <a:pPr lvl="0"/>
            <a:r>
              <a:rPr lang="ko-KR" sz="1200"/>
              <a:t>실제 사용 맥락, 숨어 있는 요구, 미래 상황을 처음부터 완전하게 표현하기 어렵다는 의미다.</a:t>
            </a:r>
          </a:p>
          <a:p>
            <a:pPr lvl="0"/>
            <a:r>
              <a:rPr lang="ko-KR" sz="1200"/>
              <a:t>초기에 표현된 요구를 가설로 보고 실제 사용과 피드백으로 정제해야 한다는 점을 설명한다.</a:t>
            </a:r>
          </a:p>
          <a:p>
            <a:pPr lvl="0"/>
            <a:r>
              <a:rPr lang="ko-KR" sz="1200"/>
              <a:t>명세의 품질과 실제 필요·가치의 타당성을 구분한다. 「62. 요구사항 검증」에서 검토와 사용 증거의 역할을 연결한다.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세 원칙(구분·필요한 만큼·증거)은 이 세션 전체의 판단 기준이다. 뒤의 topic마다 어느 원칙을 적용하는지 짚는다.</a:t>
            </a:r>
          </a:p>
          <a:p>
            <a:pPr lvl="0"/>
            <a:r>
              <a:rPr lang="ko-KR" sz="1200"/>
              <a:t>마지막 질문은 답을 정하지 않고 열어 둔다. 「05. 요청에는 무엇이 섞여 있는가?」에서 같은 요청을 나눠 본다.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요구사항 정의 근거: Larman 2004 원문 확인(verify-quote). 생략한 부분은 "and more broadly, the project"다 — 요구사항은 시스템뿐 아니라 프로젝트가 따라야 할 조건도 포함한다.</a:t>
            </a:r>
          </a:p>
          <a:p>
            <a:pPr lvl="0"/>
            <a:r>
              <a:rPr lang="ko-KR" sz="1200"/>
              <a:t>요구사항과 설계(해결책)를 구분하는 관점은 IIBA, *The Business Analysis Standard*(2022)도 같은 취지로 설명한다. 기준 원전이 아니므로 본문에 인용하지 않는다.</a:t>
            </a:r>
          </a:p>
          <a:p>
            <a:pPr lvl="0"/>
            <a:r>
              <a:rPr lang="ko-KR" sz="1200"/>
              <a:t>표의 "문제" 행은 교육용 가정이다. 실제 문제와 원인은 항상 요청자에게 직접 확인한다.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표의 구분은 요청 한 문장에 대한 교육용 해석이다. 실제 문제와 출고 조건은 고객에게 확인해 정한다.</a:t>
            </a:r>
          </a:p>
          <a:p>
            <a:pPr lvl="0"/>
            <a:r>
              <a:rPr lang="ko-KR" sz="1200"/>
              <a:t>확인은 「03. 분석 원칙」의 증거로 검토한다.</a:t>
            </a:r>
          </a:p>
          <a:p>
            <a:pPr lvl="0"/>
            <a:r>
              <a:rPr lang="ko-KR" sz="1200"/>
              <a:t>후보 해결책을 여럿 적게 해 요청된 버튼이 유일한 답이 아님을 보인다.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명세를 포기하자는 뜻이 아니다. 완전한 명세를 전제로 한 계획이 깨지는 이유를 설명하고, 다음 두 topic(이벤트, 반복)으로 연결한다.</a:t>
            </a:r>
          </a:p>
          <a:p>
            <a:pPr lvl="0"/>
            <a:r>
              <a:rPr lang="ko-KR" sz="1200"/>
              <a:t>「02. 요구공학의 본질」의 Brooks·Bezos 인용과 같은 문제의식이다.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Edward Yourdon, [Just Enough Structured Analysis, Chapter 18](https://web.archive.org/web/20070214052310/http://yourdon.com/strucanalysis/wiki/index.php?title=Chapter_18), "The Event List"(1989년 *Modern Structured Analysis*의 온라인판). 온라인판의 발행 연도를 직접 확인하지 못해 연도를 적지 않았다. Yourdon은 이벤트를 자료 흐름·시간·제어 이벤트로 구분한다.</a:t>
            </a:r>
          </a:p>
          <a:p>
            <a:pPr lvl="0"/>
            <a:r>
              <a:rPr lang="ko-KR" sz="1200"/>
              <a:t>"요구 정의 기법의 공통 단위는 이벤트"라는 판단은 여러 기법을 비교한 이 과정의 관점이다. 한 문헌이 이렇게 선언한 것은 아니다. 다음 topic에서 기법별 근거를 보인다.</a:t>
            </a:r>
          </a:p>
          <a:p>
            <a:pPr lvl="0"/>
            <a:r>
              <a:rPr lang="ko-KR" sz="1200"/>
              <a:t>복잡하면 이벤트 목록도 한계가 있다. 이벤트 사이의 규칙과 상태는 정적·동적 모델로 보완한다.</a:t>
            </a:r>
          </a:p>
          <a:p>
            <a:pPr lvl="0"/>
            <a:r>
              <a:rPr lang="ko-KR" sz="1200"/>
              <a:t>세 번째 행처럼 외부 시스템(지원 액터)이 알리는 사건도 이벤트다(「22. 대상 시스템과 경계」). 교육용 예다. 배송 시작과 출고의 관계는 "세션 03. 정적 모델 — 도메인 개념과 관계"·"세션 04. 동적 모델 — 상호작용과 상태"에서 확인한다.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 본질 위에서 이벤트 기반 아키텍처를 논한다. 요구 이벤트의 합의 없이 기술로서의 이벤트만 도입하면 복잡성만 늘어난다.</a:t>
            </a:r>
          </a:p>
          <a:p>
            <a:pPr lvl="0"/>
            <a:r>
              <a:rPr lang="ko-KR" sz="1200"/>
              <a:t>기법별 표현: 이벤트–반응 목록은 이벤트와 반응, 유스케이스는 이벤트 흐름과 시스템 오퍼레이션, 유저 스토리는 카드·대화·확인, 도메인 이벤트는 과거형 이벤트와 타임라인으로 표현한다.</a:t>
            </a:r>
          </a:p>
          <a:p>
            <a:pPr lvl="0"/>
            <a:r>
              <a:rPr lang="ko-KR" sz="1200"/>
              <a:t>이벤트 스토밍: "이벤트 스토밍은 복잡한 업무 영역을 함께 탐색하는 유연한 워크숍 형식이다(EventStorming is a flexible workshop format for collaborative exploration of complex business domains.)" — Alberto Brandolini, [EventStorming](https://www.eventstorming.com/) 공식 사이트(게시 연도 미표기).</a:t>
            </a:r>
          </a:p>
          <a:p>
            <a:pPr lvl="0"/>
            <a:r>
              <a:rPr lang="ko-KR" sz="1200"/>
              <a:t>인용 근거: Eric Evans, [Domain-Driven Design Reference](https://www.domainlanguage.com/wp-content/uploads/2016/05/DDD_Reference_2015-03.pdf), 2015, "Domain Events".</a:t>
            </a:r>
          </a:p>
          <a:p>
            <a:pPr lvl="0"/>
            <a:r>
              <a:rPr lang="ko-KR" sz="1200"/>
              <a:t>표는 기법의 전체 정의가 아니라 "어떤 이벤트를 보는가"만 비교한 교육용 정리다. 유스케이스·유저 스토리는 이 세션 뒤에서, 도메인 이벤트와 이벤트 기반 아키텍처는 "세션 13. OOAD에서 전문영역으로 — Architecture · DDD · MSA"에서 다룬다.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표는 각 접근 전체의 정의가 아니라 요구의 불확실성을 다루는 방식을 비교한 교육용 정리다. 시대별 우열을 주장하지 않는다.</a:t>
            </a:r>
          </a:p>
          <a:p>
            <a:pPr lvl="0"/>
            <a:r>
              <a:rPr lang="ko-KR" sz="1200"/>
              <a:t>참고: Craig Larman·Victor R. Basili, "Iterative and Incremental Development: A Brief History", IEEE Computer, 2003; Barry Boehm, "A Spiral Model of Software Development and Enhancement", IEEE Computer, 1988; Eric Ries, *The Lean Startup*, 2011.</a:t>
            </a:r>
          </a:p>
          <a:p>
            <a:pPr lvl="0"/>
            <a:r>
              <a:rPr lang="ko-KR" sz="1200"/>
              <a:t>디자인 씽킹의 사람·기술·사업 관점과 반복적 검토: IDEO, [Design Thinking](https://designthinking.ideo.com/).</a:t>
            </a:r>
          </a:p>
          <a:p>
            <a:pPr lvl="0"/>
            <a:r>
              <a:rPr lang="ko-KR" sz="1200"/>
              <a:t>고객 가치·낭비·실험: Lean Enterprise Institute, [What is Lean?](https://www.lean.org/explore-lean/what-is-lean/).</a:t>
            </a:r>
          </a:p>
          <a:p>
            <a:pPr lvl="0"/>
            <a:r>
              <a:rPr lang="ko-KR" sz="1200"/>
              <a:t>가설·실험·학습의 구성: Jeff Gothelf·Josh Seiden, [Lean UX, 3rd Edition](https://www.oreilly.com/library/view/lean-ux-3rd/9781098116293/ch01.html), 2021, 출판사 공개 목차의 Chapters 10–12·15. 책 본문 전체를 인용하는 것이 아니다.</a:t>
            </a:r>
          </a:p>
          <a:p>
            <a:pPr lvl="0"/>
            <a:r>
              <a:rPr lang="ko-KR" sz="1200"/>
              <a:t>작동하는 소프트웨어의 잦은 전달·변화 수용·회고: [애자일 선언의 원칙](https://agilemanifesto.org/principles.html).</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사람은 문제·이벤트·규칙을 정하고 결과가 맞는지 판단한다. AI에는 명세가 분명하고 검증할 수 있는 부분부터 넘긴다.</a:t>
            </a:r>
          </a:p>
          <a:p>
            <a:pPr lvl="0"/>
            <a:r>
              <a:rPr lang="ko-KR" sz="1200"/>
              <a:t>표의 대응은 교육용 비유다. 각 용어의 정의를 일대일로 같다고 주장하지 않는다.</a:t>
            </a:r>
          </a:p>
          <a:p>
            <a:pPr lvl="0"/>
            <a:r>
              <a:rPr lang="ko-KR" sz="1200"/>
              <a:t>"세션 01. OOAD 개요"의 「AI-native SW공학」과 연결한다. Human·Agent 역할과 가드레일·하네스의 구성은 "세션 14. AI-native SW공학"에서 다룬다.</a:t>
            </a:r>
          </a:p>
          <a:p>
            <a:pPr lvl="0"/>
            <a:r>
              <a:rPr lang="ko-KR" sz="1200"/>
              <a:t>요구가 불명확한 부분을 AI에 넘기면 추측이 코드가 된다. 앞의 이벤트 합의와 반복적 검증이 AI 시대에도 그대로 필요한 이유다.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요구공학의 수집·분석·명세·검증·관리 활동을 연결한다.</a:t>
            </a:r>
          </a:p>
          <a:p>
            <a:pPr lvl="0"/>
            <a:r>
              <a:rPr lang="ko-KR" sz="1200"/>
              <a:t>이 다섯 활동은 수업의 설명 구조이며 표준의 절·분류를 그대로 옮긴 것이 아니다. 요구공학 표준의 범위는 [ISO/IEC/IEEE 29148:2018 공식 설명](https://www.iso.org/standard/72089.html), 반복적 요구 탐색은 Craig Larman의 [Evolutionary Requirements](https://www.craiglarman.com/wiki/downloads/applying_uml/larman-ch5-applying-evolutionary-requirements.pdf)(*Applying UML and Patterns*, 3rd ed., Chapter 5)를 근거로 한다.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표의 방법은 서로를 보완한다. 한 방법으로 얻은 결과를 다른 방법으로 교차검증하게 한다.</a:t>
            </a:r>
          </a:p>
          <a:p>
            <a:pPr lvl="0"/>
            <a:r>
              <a:rPr lang="ko-KR" sz="1200"/>
              <a:t>로그·데이터와 프로토타입은 「09. 반복적 접근」의 사용 증거와 이어진다.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"개발자만 앎"은 업계 표준·패키지·규제 지식을 개발 측이 더 많이 가진 경우다. 이때도 결정은 고객의 몫이다.</a:t>
            </a:r>
          </a:p>
          <a:p>
            <a:pPr lvl="0"/>
            <a:r>
              <a:rPr lang="ko-KR" sz="1200"/>
              <a:t>한 프로젝트 안에서도 영역마다 경우가 다르다. 「15. 경우별 접근법」에서 주문 시스템 영역별로 적용한다.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두 축의 구분은 이 과정의 판단 틀이다. 같은 축을 쓰는 다른 도구가 있지만 특정 도구의 정의를 옮긴 것이 아니다.</a:t>
            </a:r>
          </a:p>
          <a:p>
            <a:pPr lvl="0"/>
            <a:r>
              <a:rPr lang="ko-KR" sz="1200"/>
              <a:t>기술 불확실성을 줄이는 스파이크·개념 증명은 요구 분석의 산출물이 아니다. 결과가 요구에 영향을 주면 요구로 되돌린다.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영역별 경우는 교육용 가정이다.</a:t>
            </a:r>
          </a:p>
          <a:p>
            <a:pPr lvl="0"/>
            <a:r>
              <a:rPr lang="ko-KR" sz="1200"/>
              <a:t>표의 영역별 경우는 교육용 가정이다. 실제 프로젝트에서는 영역마다 누가 무엇을 아는지 먼저 확인한다.</a:t>
            </a:r>
          </a:p>
          <a:p>
            <a:pPr lvl="0"/>
            <a:r>
              <a:rPr lang="ko-KR" sz="1200"/>
              <a:t>정기배송은 이 과정 실습의 관통 사례다(「66. 실습 — 유스케이스」).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근거: Larman 2004 원문 확인(verify-quote) — FURPS+의 각 유형과 "+"의 부가 요소, 보조 명세서("everything not in the use cases"). 표의 "주문 사례" 열은 교육용 예다.</a:t>
            </a:r>
          </a:p>
          <a:p>
            <a:pPr lvl="0"/>
            <a:r>
              <a:rPr lang="ko-KR" sz="1200"/>
              <a:t>품질 요구를 검증 가능하게 만드는 질문은 「47. 유스케이스와 품질속성」에서 다룬다.</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위반 사례 — 배송지를 신속하게 변경한다.는 명확함·검증 가능함 위반이다. 신속하게가 측정 조건 없이 해석에 따라 달라진다.</a:t>
            </a:r>
          </a:p>
          <a:p>
            <a:pPr lvl="0"/>
            <a:r>
              <a:rPr lang="ko-KR" sz="1200"/>
              <a:t>근거: ISO/IEC/IEEE 29148:2018, §5.2.5(개별 요구사항의 특성)·§5.2.6(요구사항 집합의 특성). 공식 미리보기의 목차로 절의 구분만 확인했고, 절 본문은 확인하지 못했다.</a:t>
            </a:r>
          </a:p>
          <a:p>
            <a:pPr lvl="0"/>
            <a:r>
              <a:rPr lang="ko-KR" sz="1200"/>
              <a:t>9가지·5가지를 매번 기계적으로 전부 채점하지 않는다. 문제가 되는 특성을 짚어 설명하는 도구로 쓴다.</a:t>
            </a:r>
          </a:p>
          <a:p>
            <a:pPr lvl="0"/>
            <a:r>
              <a:rPr lang="ko-KR" sz="1200"/>
              <a:t>근거 없이 응답 시간 숫자를 넣는 것으로 검증 가능성을 가장하지 않는다.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「17. 좋은 요구사항의 자격요건」의 집합 특성 "일관됨(용어가 일관되는가?)"을 지키는 도구가 용어집이다. 명세서·SSD·계약이 같은 용어를 같은 뜻으로 쓰는지 용어집으로 확인한다.</a:t>
            </a:r>
          </a:p>
          <a:p>
            <a:pPr lvl="0"/>
            <a:r>
              <a:rPr lang="ko-KR" sz="1200"/>
              <a:t>표는 세 용어만 보였다. 과정의 용어집에는 주문 Order, 주문 항목 OrderItem, 판매가 salePrice, 출고 dispatch, 배송 시작 deliveryStarted 등이 함께 있다.</a:t>
            </a:r>
          </a:p>
          <a:p>
            <a:pPr lvl="0"/>
            <a:r>
              <a:rPr lang="ko-KR" sz="1200"/>
              <a:t>용어 수준의 업무 규칙은 한 값만 보고 판단할 수 있는 규칙이다(수량 ≥ 1, 금액 ≥ 0, 상태 값 목록). 여러 용어가 얽힌 규칙(배송 시작 전에만 취소)은 명세서의 업무 규칙에 둔다. 용어 규칙은 "세션 03. 정적 모델 — 도메인 개념과 관계"의 「속성 도메인」·「속성 수준 업무 규칙」에서 데이터 모델의 도메인·값 객체로 이어지고, 코드에서는 값이 만들어질 때 검사한다.</a:t>
            </a:r>
          </a:p>
          <a:p>
            <a:pPr lvl="0"/>
            <a:r>
              <a:rPr lang="ko-KR" sz="1200"/>
              <a:t>판매가와 단가, 출고와 배송 시작처럼 비슷하지만 다른 용어가 가장 위험하다. 이 과정의 뒤 세션들이 이 구분을 모델과 코드로 확인한다.</a:t>
            </a:r>
          </a:p>
          <a:p>
            <a:pPr lvl="0"/>
            <a:r>
              <a:rPr lang="ko-KR" sz="1200"/>
              <a:t>영문명을 요구 단계에서 정하는 이유 — 설계·코드에서 개발자마다 다른 영어로 옮기면 한 용어가 여러 이름이 된다. 과정의 전체 용어집과 명명 규칙은 과정 설계의 "영한 용어집과 명명 규칙"이 원천이다.</a:t>
            </a:r>
          </a:p>
          <a:p>
            <a:pPr lvl="0"/>
            <a:r>
              <a:rPr lang="ko-KR" sz="1200"/>
              <a:t>용어집은 "세션 03. 정적 모델 — 도메인 개념과 관계"에서 도메인 모델과 함께 정제하고, 설계 이름으로의 전환은 "세션 05. 구조적 경계와 의존성"에서 보인다.</a:t>
            </a:r>
          </a:p>
          <a:p>
            <a:pPr lvl="0"/>
            <a:r>
              <a:rPr lang="ko-KR" sz="1200"/>
              <a:t>자료 사전(Data Dictionary, DD)과의 관계 — 구조적 분석의 자료 사전은 시스템에 관련된 자료 요소를 정밀하게 정의한 목록으로, 사용자와 분석가가 입력·출력·저장소·계산에 공통 이해를 갖게 한다. 별칭이 생기면 사용자들이 하나의 이름에 합의하게 하라고도 권한다. 근거: Edward Yourdon, *Just Enough Structured Analysis*, Chapter 10 "Data Dictionary"(yourdon.com, 2006) 원문 확인. 용어집이 업무 용어의 뜻을 고정한다면 자료 사전은 자료의 구성과 값을 정의한다. 데이터 모델링의 표준 용어·도메인 사전이 이 전통을 잇는다.</a:t>
            </a:r>
          </a:p>
          <a:p>
            <a:pPr lvl="0"/>
            <a:r>
              <a:rPr lang="ko-KR" sz="1200"/>
              <a:t>애자일의 메타포와의 관계 — XP(익스트림 프로그래밍)의 실천 "메타포"는 시스템 전체를 이해하는 구체적인 비유를 팀이 공유해 설계와 이름을 이끄는 방식이다. Evans는 그런 비유가 쓸모 있으면 설계를 그 비유로 조직하고 공통 언어에 흡수하되, 비유는 부정확하므로 계속 다시 보라고 권한다. 근거: Eric Evans, [DDD Reference](https://www.domainlanguage.com/wp-content/uploads/2016/05/DDD_Reference_2015-03.pdf), 2015, "System Metaphor" 원문 확인. 메타포는 전체의 그림, 용어집은 낱말의 뜻이다.</a:t>
            </a:r>
          </a:p>
          <a:p>
            <a:pPr lvl="0"/>
            <a:r>
              <a:rPr lang="ko-KR" sz="1200"/>
              <a:t>공통 언어(Ubiquitous Language, UL)와의 관계 — DDD는 모델을 언어의 뼈대로 삼아 팀의 대화·문서·도식과 코드에서 같은 언어를 쓰고, 언어가 바뀌면 모델이 바뀐 것으로 보며, 코드의 클래스·메서드·모듈 이름도 새 모델에 맞춰 바꾸라고 한다. 근거: 같은 문서, "Ubiquitous Language" 원문 확인. 용어집은 공통 언어를 글로 고정한 한 형태이고, 공통 언어는 경계(Bounded Context) 안에서 쓰는 살아 있는 언어다 — 본격 논의는 "세션 13. OOAD에서 전문영역으로 — Architecture · DDD · MSA".</a:t>
            </a:r>
          </a:p>
          <a:p>
            <a:pPr lvl="0"/>
            <a:r>
              <a:rPr lang="ko-KR" sz="1200"/>
              <a:t>명명 규칙과의 관계 — 용어집은 무엇을 뜻하는가를, 명명 규칙은 그 뜻을 설계·코드의 이름으로 옮기는 형식(대소문자, 동사, 약어)을 정한다. 데이터 모델링의 표준 용어가 한글명(논리명)과 영문명(물리명)을 함께 두는 것과 같은 구조다. 이 과정은 분석을 한글 용어로, 설계를 영문명과 명명 규칙으로 쓴다("세션 05. 구조적 경계와 의존성"의 「05. 설계의 이름」).</a:t>
            </a:r>
          </a:p>
          <a:p>
            <a:pPr lvl="0"/>
            <a:r>
              <a:rPr lang="ko-KR" sz="1200"/>
              <a:t>네 가지는 모두 한 뜻, 한 이름을 지키는 장치다 — 자료 사전은 자료, 메타포는 전체 구조의 비유, 공통 언어는 대화에서 코드까지, 명명 규칙은 이름의 형식을 맡는다. 이 과정은 용어집(영문명 포함)과 명명 규칙으로 이를 실천한다.</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정의 근거: Larman 2004 원문 확인(verify-quote). 원문은 "Informally then, a use case is …"로 시작한다.</a:t>
            </a:r>
          </a:p>
          <a:p>
            <a:pPr lvl="0"/>
            <a:r>
              <a:rPr lang="ko-KR" sz="1200"/>
              <a:t>OMG 정의 근거: OMG Unified Modeling Language 2.5.1(2017-12), UseCase Description 원문 확인(verify-quote) — "A UseCase specifies a set of actions performed by its subjects, which yields an observable result that is of value for one or more Actors or other stakeholders of each subject."</a:t>
            </a:r>
          </a:p>
          <a:p>
            <a:pPr lvl="0"/>
            <a:r>
              <a:rPr lang="ko-KR" sz="1200"/>
              <a:t>대화는 액터와 시스템의 외부 상호작용을 뜻한다. 의미 없는 요청·처리 반복을 피한다는 작성 원칙을 상호작용 자체의 금지로 확대하지 않는다.</a:t>
            </a:r>
          </a:p>
          <a:p>
            <a:pPr lvl="0"/>
            <a:r>
              <a:rPr lang="ko-KR" sz="1200"/>
              <a:t>액터·시스템 경계·연관은 이후 주제에서 단계적으로 설명한다.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유스케이스는 행위 요구를 표현하고 다른 요구를 연결하는 중심이 된다. Cockburn은 유스케이스를 요구사항 문서의 "3장"(행위 요구)이라 부른다(Alistair Cockburn, *Writing Effective Use Cases*, 2000).</a:t>
            </a:r>
          </a:p>
          <a:p>
            <a:pPr lvl="0"/>
            <a:r>
              <a:rPr lang="ko-KR" sz="1200"/>
              <a:t>자료·기능 중심 분해가 쓸모없다는 뜻이 아니다. 자료 구조는 "세션 03. 정적 모델 — 도메인 개념과 관계"에서 다루고, 유스케이스는 목표와 가치를 묻는 관점이다.</a:t>
            </a:r>
          </a:p>
          <a:p>
            <a:pPr lvl="0"/>
            <a:r>
              <a:rPr lang="ko-KR" sz="1200"/>
              <a:t>대안 흐름과 시스템 오퍼레이션은 「33. 유스케이스 상세화」와 「43. 시스템 이벤트와 오퍼레이션」에서 상세화한다.</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근거: Larman 2004 원문 확인(verify-quote) — "1. Choose the system boundary." "2. Identify the primary actors…" "4. Define use cases that satisfy user goals; name them according to their goal." 원문은 2·3단계를 엄격하게 순서 짓는 것이 인위적이라고 덧붙인다.</a:t>
            </a:r>
          </a:p>
          <a:p>
            <a:pPr lvl="0"/>
            <a:r>
              <a:rPr lang="ko-KR" sz="1200"/>
              <a:t>절대적인 순차 절차가 아니다. 실제 분석에서는 필요한 만큼 앞뒤로 반복한다.</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확인(verify-quote). 경계를 고르는 질문은 같은 책의 유스케이스 작성 절차 1단계("Choose the system boundary.")의 요약이다.</a:t>
            </a:r>
          </a:p>
          <a:p>
            <a:pPr lvl="0"/>
            <a:r>
              <a:rPr lang="ko-KR" sz="1200"/>
              <a:t>경계는 이 그림에서 정하고, 경계 안의 유스케이스는 「25. 유스케이스 후보 식별」에서 찾아 「27. 유스케이스 다이어그램 — 초안」에서 채운다. 외부 시스템과 오가는 요청은 「44. 정제된 SSD」에서 보인다.</a:t>
            </a:r>
          </a:p>
          <a:p>
            <a:pPr lvl="0"/>
            <a:r>
              <a:rPr lang="ko-KR" sz="1200"/>
              <a:t>이 요구분석 경계를 최종 배포·아키텍처 경계와 동일시하지 않는다.</a:t>
            </a:r>
          </a:p>
          <a:p>
            <a:pPr lvl="0"/>
            <a:r>
              <a:rPr lang="ko-KR" sz="1200"/>
              <a:t>관리자와 배송 담당자는 주문 시스템의 액터가 아니라 그림에 없다. 각자 상품 시스템과 배송 시스템을 쓴다(「27. 유스케이스 다이어그램 — 초안」의 경계 밖 유스케이스).</a:t>
            </a:r>
          </a:p>
          <a:p>
            <a:pPr lvl="0"/>
            <a:r>
              <a:rPr lang="ko-KR" sz="1200"/>
              <a:t>결제 시스템은 결제 대행(PG)이다. 배송 시스템을 외부 배송 대행사가 운영하는지는 운영 형태의 문제이며 경계 판단은 같다.</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 사례에서 재고는 상품 시스템, 입금·영수증은 회계 시스템, 출고·배송은 배송 시스템이 소유한다고 전제한다. 모든 쇼핑몰이 이렇게 나뉜다는 뜻이 아니다. 새로 만드는 작은 쇼핑몰이라면 한 시스템에 둘 수 있다.</a:t>
            </a:r>
          </a:p>
          <a:p>
            <a:pPr lvl="0"/>
            <a:r>
              <a:rPr lang="ko-KR" sz="1200"/>
              <a:t>주문 시스템 내부의 구조적 경계와 외부 시스템에 대한 의존 방향은 "세션 05. 구조적 경계와 의존성"에서 다룬다.</a:t>
            </a:r>
          </a:p>
          <a:p>
            <a:pPr lvl="0"/>
            <a:r>
              <a:rPr lang="ko-KR" sz="1200"/>
              <a:t>시스템 안의 요소를 액터로 만드는 잘못은 「38. 잘못된 관행 — 시스템 관점·액터」에서 다룬다.</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 액터–목표 목록으로 유스케이스 다이어그램을 그린다(「27. 유스케이스 다이어그램 — 초안」).</a:t>
            </a:r>
          </a:p>
          <a:p>
            <a:pPr lvl="0"/>
            <a:r>
              <a:rPr lang="ko-KR" sz="1200"/>
              <a:t>주 액터의 목표를 출발점으로 삼되 지원 액터를 빠뜨리지 않는다. 아래 두 목표는 다른 시스템의 것이다. 주문 시스템의 범위에 넣지 않는다(「23. 경계 판단」). 근거: OMG [UML 2.5.1](https://www.omg.org/spec/UML/2.5.1/PDF); Larman 2004.</a:t>
            </a:r>
          </a:p>
          <a:p>
            <a:pPr lvl="0"/>
            <a:r>
              <a:rPr lang="ko-KR" sz="1200"/>
              <a:t>액터 정의와 세 종류는 Larman 2004 원문 확인(verify-quote) — "an actor is something with behavior, such as a person (identified by role), computer system, or organization", "Supporting actor provides a service (for example, information) to the SuD.", "Offstage actor has an interest in the behavior of the use case, but is not primary or supporting". 무대 밖 액터의 예(쇼핑몰 운영사)는 교육용 예이며 명세서의 이해관계자와 관심사로 이어진다.</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근거: Larman 2004 원문 확인(verify-quote) — "The Boss Test The EBP Test The Size Test", 상사 시험의 "Is your boss happy?", 크기 시험의 "in the fully dressed format will often require 3–10 pages of text". 표의 "묻는 것"은 원문의 요약이다.</a:t>
            </a:r>
          </a:p>
          <a:p>
            <a:pPr lvl="0"/>
            <a:r>
              <a:rPr lang="ko-KR" sz="1200"/>
              <a:t>세 시험에 떨어지면 기능 조각이거나 다른 시스템의 목표다. 다른 시스템의 목표(배송을 처리한다, 상품 정보를 관리한다)는 분석 대상이 아니라 그리지 않는다.</a:t>
            </a:r>
          </a:p>
          <a:p>
            <a:pPr lvl="0"/>
            <a:r>
              <a:rPr lang="ko-KR" sz="1200"/>
              <a:t>CRUD 목록을 유스케이스로 만드는 잘못된 예는 「36. 잘못된 관행 — CRUD 분할」에서 다룬다.</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근거: Larman 2004 원문 확인(verify-quote) — EBP의 정의와 "use cases are classified as at the user-goal level or the subfunction level, among others". EBP는 업무 프로세스 공학에서 온 용어이며, 원문의 정의는 예시로 이어진다.</a:t>
            </a:r>
          </a:p>
          <a:p>
            <a:pPr lvl="0"/>
            <a:r>
              <a:rPr lang="ko-KR" sz="1200"/>
              <a:t>「29. 유스케이스 명세서 템플릿」의 "수준" 항목은 이 구분을 적는다.</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액터 이름은 사람·부서가 아니라 역할이다. 유스케이스 이름은 목표 동사구(주문을 관리한다)다.</a:t>
            </a:r>
          </a:p>
          <a:p>
            <a:pPr lvl="0"/>
            <a:r>
              <a:rPr lang="ko-KR" sz="1200"/>
              <a:t>유스케이스는 글로 쓰는 명세이고, 다이어그램과 관계는 유스케이스 작업에서 부수적이다. 액터–목표 목록으로 다이어그램을 간단히 그리고 시간은 명세서에 쓴다(Larman 2004의 요약).</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확인(verify-quote) — 세 형식의 정의와 "언제" 쓰는가. 표의 한글은 원문의 요약이다.</a:t>
            </a:r>
          </a:p>
          <a:p>
            <a:pPr lvl="0"/>
            <a:r>
              <a:rPr lang="ko-KR" sz="1200"/>
              <a:t>Larman도 같은 장에서 짧은 예를 간략·약식 형식으로, 대표 유스케이스 하나를 정식 형식으로 보인다.</a:t>
            </a:r>
          </a:p>
          <a:p>
            <a:pPr lvl="0"/>
            <a:r>
              <a:rPr lang="ko-KR" sz="1200"/>
              <a:t>형식은 문서의 등급이 아니라 지금 필요한 깊이다. 간략 형식으로 시작한 유스케이스도 반복하며 정식으로 키울 수 있다(「09. 반복적 접근」).</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근거: Larman 2004 원문 확인(verify-quote) — 정식 형식 템플릿의 항목과 설명("Start with a verb.", "Calls on the system to deliver its services.", "Alternate scenarios of success or failure." 등). 설명은 원문의 번역·요약이다.</a:t>
            </a:r>
          </a:p>
          <a:p>
            <a:pPr lvl="0"/>
            <a:r>
              <a:rPr lang="ko-KR" sz="1200"/>
              <a:t>원문의 Extensions는 이 과정에서 대안 흐름이라 부른다(원문도 "Extensions (or Alternate Flows)"로 쓴다). 성공·실패를 모두 대안 흐름으로 쓰고 예외 흐름을 따로 두지 않는다.</a:t>
            </a:r>
          </a:p>
          <a:p>
            <a:pPr lvl="0"/>
            <a:r>
              <a:rPr lang="ko-KR" sz="1200"/>
              <a:t>모든 항목을 기계적으로 채우지 않는다.</a:t>
            </a:r>
          </a:p>
          <a:p>
            <a:pPr lvl="0"/>
            <a:r>
              <a:rPr lang="ko-KR" sz="1200"/>
              <a:t>유스케이스 수준의 업무 규칙을 명세서에 두는 것은 과정의 결정이다(course-design.md의 「원전 적용 결정」). 여러 유스케이스에 공통인 규칙은 별도 업무 규칙 목록에 둔다(「31. 규칙과 특별 요구사항」).</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시스템이 재고를 조회한다, 시스템이 결제 모듈을 호출한다와 같은 내부 처리 단계는 넣지 않는다. 결제 확인은 외부 결제 시스템과의 상호작용이라 흐름에 남는다(「34. 유스케이스 다이어그램 — 상세화」의 포함 관계).</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업무 규칙 목록(Business Rules, Domain Rules)은 Larman 2004의 요구 산출물 중 하나다(원문 확인 — "Business Rules (Domain Rules)"). 유스케이스 수준의 규칙은 명세서에, 공통 규칙은 이 목록에 둔다는 구분은 과정의 결정이다(course-design.md의 「원전 적용 결정」).</a:t>
            </a:r>
          </a:p>
          <a:p>
            <a:pPr lvl="0"/>
            <a:r>
              <a:rPr lang="ko-KR" sz="1200"/>
              <a:t>부분 취소처럼 허용 조건이 정해지지 않은 것은 규칙으로 쓰지 않고 확인할 질문으로 남긴다.</a:t>
            </a:r>
          </a:p>
          <a:p>
            <a:pPr lvl="0"/>
            <a:r>
              <a:rPr lang="ko-KR" sz="1200"/>
              <a:t>방어 코딩 수준의 모든 예외를 유스케이스에 기록하지 않는다.</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「33. 유스케이스 상세화」의 주문 취소 대안 흐름을 출발점으로 적용 범위를 넓혀 보며 질문한다. 예시의 전제가 실제 요구 전체를 대표한다고 가정하지 않는다.</a:t>
            </a:r>
          </a:p>
          <a:p>
            <a:pPr lvl="0"/>
            <a:r>
              <a:rPr lang="ko-KR" sz="1200"/>
              <a:t>표의 오른쪽 두 열은 질문이 요구로 바뀌는 모습을 보이는 교육용 예다. 확정된 정책이 아니다.</a:t>
            </a:r>
          </a:p>
          <a:p>
            <a:pPr lvl="0"/>
            <a:r>
              <a:rPr lang="ko-KR" sz="1200"/>
              <a:t>흐름 → 질문 → 누락된 요구·규칙 발견 → 요구사항·유스케이스 정제의 순서로 설명한다.</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주문 취소 대안 흐름은 결제 완료·배송 시작 전 주문의 전체 취소 성공 경로다. 1a2a는 실패 결과의 예이며 이 예외 설명에만 추가한 교육용 가정이고, 확정 업무 정책으로 승격하지 않는다. 남길 주문 상태, 재시도·보상·문의 담당자는 추가 확인 대상이다.</a:t>
            </a:r>
          </a:p>
          <a:p>
            <a:pPr lvl="0"/>
            <a:r>
              <a:rPr lang="ko-KR" sz="1200"/>
              <a:t>결제 전 주문의 취소가 요구로 확인되면 취소 흐름의 조건을 "배송 시작 전 주문"으로 넓히고 1a1a. 결제 전 주문이다 → 환불 없이 취소된다 같은 분기를 추가한다. 지금은 확정된 요구가 아니다.</a:t>
            </a:r>
          </a:p>
          <a:p>
            <a:pPr lvl="0"/>
            <a:r>
              <a:rPr lang="ko-KR" sz="1200"/>
              <a:t>주문을 관리한다는 고객이 자기 주문을 만들고 유지하는 목표다. 주문 취소는 새로 주문할 상품을 고르는 대신(1단계) 이미 한 주문을 되돌리는 경로라 1a, 배송지 변경은 배송지 지정(3단계)의 대안이라 3a, 주문 내역 확인은 결과 확인(5단계)의 대안이라 5a다. 3a·5a의 단계도 같은 방식으로 쓴다. 배송지 변경의 결과는 「45. 시스템 오퍼레이션과 계약」의 계약으로 상세화한다. 배송 완료 후의 반품은 이 유스케이스의 대안 흐름이 아니라 별도 유스케이스다(「36. 잘못된 관행 — CRUD 분할」).</a:t>
            </a:r>
          </a:p>
          <a:p>
            <a:pPr lvl="0"/>
            <a:r>
              <a:rPr lang="ko-KR" sz="1200"/>
              <a:t>번호는 기본 흐름에서 파생한다 — 1a는 기본 흐름 1단계에서 갈라지는 첫 번째 대안 흐름, 1a2a는 그 대안 흐름 2단계에서 다시 갈라지는 대안 흐름이다. 대안 흐름은 조건 → 달라지는 행위 → 복귀 또는 종료로 쓴다.</a:t>
            </a:r>
          </a:p>
          <a:p>
            <a:pPr lvl="0"/>
            <a:r>
              <a:rPr lang="ko-KR" sz="1200"/>
              <a:t>배송 시작 이후 일반 취소 불가는 흐름이 아니라 업무 규칙으로 기록한다.</a:t>
            </a:r>
          </a:p>
          <a:p>
            <a:pPr lvl="0"/>
            <a:r>
              <a:rPr lang="ko-KR" sz="1200"/>
              <a:t>번호 표기(3a 등)는 Larman 2004의 정식 형식 예를 따른다(원문 확인 — "3a. Invalid item ID").</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확장·일반화 예는 표기 설명을 위한 교육용 가정이다.</a:t>
            </a:r>
          </a:p>
          <a:p>
            <a:pPr lvl="0"/>
            <a:r>
              <a:rPr lang="ko-KR" sz="1200"/>
              <a:t>컴퓨터 시스템 액터를 «actor» 상자로 그리는 것은 사람 모양 액터의 대안 표기다. 사람과 외부 시스템을 한눈에 구분하려고 쓴다.</a:t>
            </a:r>
          </a:p>
          <a:p>
            <a:pPr lvl="0"/>
            <a:r>
              <a:rPr lang="ko-KR" sz="1200"/>
              <a:t>포함·확장은 코드 재사용이나 함수 호출을 나타내지 않는다. 확장은 조건을 생략할 수도 있으므로 UML 자체를 “항상 조건부 실행”으로 정의하지 않는다.</a:t>
            </a:r>
          </a:p>
          <a:p>
            <a:pPr lvl="0"/>
            <a:r>
              <a:rPr lang="ko-KR" sz="1200"/>
              <a:t>관계 의미와 표기 근거: OMG [UML 2.5.1](https://www.omg.org/spec/UML/2.5.1/PDF), §18.1.3.2–18.1.3.3, §18.1.4, §9 Classifiers.</a:t>
            </a:r>
          </a:p>
          <a:p>
            <a:pPr lvl="0"/>
            <a:r>
              <a:rPr lang="ko-KR" sz="1200"/>
              <a:t>학습자는 화살표 방향뿐 아니라 위 전제가 없다면 관계를 그리지 않아야 한다는 점까지 설명한다.</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판단 기준은 「25. 유스케이스 후보 식별」의 세 시험이다. 조각은 상사 시험과 크기 시험에 떨어진다.</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상품 정보 관리와 관리자 액터는 CRUD 처리를 보이기 위한 교육용 예다. 주문 사례의 명세는 「33. 유스케이스 상세화」를 참조한다.</a:t>
            </a:r>
          </a:p>
          <a:p>
            <a:pPr lvl="0"/>
            <a:r>
              <a:rPr lang="ko-KR" sz="1200"/>
              <a:t>주문 취소는 배송 시작 전 주문 자체를 되돌리는 주문 자료의 유지라 주문 관리에 묶는다. 반품은 배송 완료 후 받은 상품을 돌려보내는 다른 목표다 — 시작 조건(배송 완료·반품 기간), 참여자(회수·검수), 결과(검수 후 환불 여부)가 따로 있다.</a:t>
            </a:r>
          </a:p>
          <a:p>
            <a:pPr lvl="0"/>
            <a:r>
              <a:rPr lang="ko-KR" sz="1200"/>
              <a:t>반품은 판단 기준을 보이기 위한 교육용 예이며, 이 과정의 관통 사례에서 상세화하지 않는다.</a:t>
            </a:r>
          </a:p>
          <a:p>
            <a:pPr lvl="0"/>
            <a:r>
              <a:rPr lang="ko-KR" sz="1200"/>
              <a:t>배송 현황 조회는 주문이 아니라 배송 자료를 보는 것이므로 독립 유스케이스(배송 현황을 조회한다)다. 주문 시스템의 범위에 넣을지는 확인 대상이다.</a:t>
            </a:r>
          </a:p>
          <a:p>
            <a:pPr lvl="0"/>
            <a:r>
              <a:rPr lang="ko-KR" sz="1200"/>
              <a:t>기본 흐름은 자료를 만드는 생성(C)이다. 조회·수정·삭제는 규칙이나 결과가 의미 있게 다를 때만 대안 흐름으로 쓴다. "삭제"는 업무에서 판매 중지·해지처럼 기록이 남는 사건인 경우가 많다.</a:t>
            </a:r>
          </a:p>
          <a:p>
            <a:pPr lvl="0"/>
            <a:r>
              <a:rPr lang="ko-KR" sz="1200"/>
              <a:t>인용 근거: Larman 2004 원문 확인(verify-quote). 원문은 이것을 "목표마다 유스케이스 하나"의 예외로 설명한다. 주문을 관리한다가 이 Manage &lt;X&gt;다(course-design.md의 「원전 적용 결정」).</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2004 원문 확인(verify-quote) — 유스케이스 작성 지침.</a:t>
            </a:r>
          </a:p>
          <a:p>
            <a:pPr lvl="0"/>
            <a:r>
              <a:rPr lang="ko-KR" sz="1200"/>
              <a:t>화면 흐름 자체가 요구인 경우(예: 규제로 정해진 화면)는 제약으로 명시한다.</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Cockburn의 "Mistakes Fixed" 장은 대상 시스템이 없거나 주 액터가 없는 유스케이스를 대표적인 오류 예로 다룬다.</a:t>
            </a:r>
          </a:p>
          <a:p>
            <a:pPr lvl="0"/>
            <a:r>
              <a:rPr lang="ko-KR" sz="1200"/>
              <a:t>시간 이벤트는 정상적인 시작 사건이다. 예를 들어 "정기배송 예정일이 된다"는 유스케이스를 시작하는 이벤트이고, 목표는 그 이벤트가 시작하는 유스케이스의 목표다. Yourdon도 이벤트를 자료 흐름·시간·제어 이벤트로 구분한다.</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명세의 양이 아니라 합의와 검증이 기준이다. 「06. 명세의 한계」와 「09. 반복적 접근」의 판단을 유스케이스 작성에 적용한 것이다.</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바른 다이어그램은 「27. 유스케이스 다이어그램 — 초안」과 「34. 유스케이스 다이어그램 — 상세화」를 참조한다.</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SSD는 시퀀스 다이어그램을 시스템 관점으로 제한해 쓴 것이다. SSD에는 필요한 표기만 사용하며, 시퀀스 다이어그램의 정의와 전체 표기는 "세션 04. 동적 모델 — 상호작용과 상태"에서 다룬다.</a:t>
            </a:r>
          </a:p>
          <a:p>
            <a:pPr lvl="0"/>
            <a:r>
              <a:rPr lang="ko-KR" sz="1200"/>
              <a:t>인용 근거: Larman 2004 원문 확인(verify-quote). 이름 짓기는 같은 장의 "System events should be expressed at the abstract level of intention rather than in terms of the physical input device."에 근거한다. 정의의 "시스템 사이의 이벤트"는 「44. 정제된 SSD」에서 그린다.</a:t>
            </a:r>
          </a:p>
          <a:p>
            <a:pPr lvl="0"/>
            <a:r>
              <a:rPr lang="ko-KR" sz="1200"/>
              <a:t>생명선 이름 :주문 시스템의 콜론은 "주문 시스템의 한 인스턴스"를 뜻한다.</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마지막 단계(5단계 "고객은 주문 결과를 확인한다")는 시스템의 응답이라 이벤트로 그리지 않았다. 응답을 그리지 않는 것은 이 단계의 모든 호출이 동기라서다. 조회의 결과는 반환값으로 드러난다.</a:t>
            </a:r>
          </a:p>
          <a:p>
            <a:pPr lvl="0"/>
            <a:r>
              <a:rPr lang="ko-KR" sz="1200"/>
              <a:t>흐름과 SSD를 나란히 놓으면 누락이 보인다. 흐름에 없는 이벤트가 SSD에 생기면 명세서로 되돌려 흐름을 고친다.</a:t>
            </a:r>
          </a:p>
          <a:p>
            <a:pPr lvl="0"/>
            <a:r>
              <a:rPr lang="ko-KR" sz="1200"/>
              <a:t>시스템은 블랙박스라 인터페이스만 옮긴다. 시스템 안의 객체는 이 단계에서 정하지 않는다.</a:t>
            </a:r>
          </a:p>
          <a:p>
            <a:pPr lvl="0"/>
            <a:r>
              <a:rPr lang="ko-KR" sz="1200"/>
              <a:t>코드는 다이어그램의 한 관점만 옮긴 예시다. 이 세션의 코드는 모두 code/s02/주문시스템.java에서 발췌했으며, 그 파일을 컴파일·실행해 확인한다.</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이벤트와 오퍼레이션은 같은 상호작용을 요청과 행위의 관점에서 본 것이다. 유스케이스 흐름은 「30. 기본 이벤트 흐름」·「33. 유스케이스 상세화」와 같다.</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유스케이스 흐름에는 외부 시스템과의 요청을 쓰지 않았다(「30. 기본 이벤트 흐름」). 정제된 SSD는 흐름의 이벤트마다 대상 시스템이 외부와 주고받는 것을 드러내는 요구 산출물이다. 내부 처리 순서가 아니다.</a:t>
            </a:r>
          </a:p>
          <a:p>
            <a:pPr lvl="0"/>
            <a:r>
              <a:rPr lang="ko-KR" sz="1200"/>
              <a:t>코드에서 주문과 결제는 식별 번호(주문번호·승인번호)로 전달한다. 인터페이스가 외부 시스템의 내부를 정하지 않는다. 요청의 전달 방식(호출을 기다릴지, 메시지로 보낼지)은 설계에서 정한다.</a:t>
            </a:r>
          </a:p>
          <a:p>
            <a:pPr lvl="0"/>
            <a:r>
              <a:rPr lang="ko-KR" sz="1200"/>
              <a:t>요청의 순서(승인 뒤 재고 차감)도 업무 규칙이다. 재고가 모자라면 이미 승인된 결제를 어떻게 하는가? 요구 질문으로 남기고 "세션 04. 동적 모델 — 상호작용과 상태"에서 다시 본다.</a:t>
            </a:r>
          </a:p>
          <a:p>
            <a:pPr lvl="0"/>
            <a:r>
              <a:rPr lang="ko-KR" sz="1200"/>
              <a:t>정제된 SSD와 계약, 유스케이스 명세서는 "세션 03. 정적 모델 — 도메인 개념과 관계"와 "세션 04. 동적 모델 — 상호작용과 상태"의 입력이다. 분석에서 발견한 것은 이 산출물에 되돌려 보완한다.</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배송지 변경 계약의 교육용 가정 — 새 주소는 유효하고 배송비·세금·결제 금액·배송 방식에 영향을 주지 않는 지역이다(과정 설계 공통 전제). 사후조건은 주소 검증 → DB 저장 → 응답 같은 처리 순서가 아니다.</a:t>
            </a:r>
          </a:p>
          <a:p>
            <a:pPr lvl="0"/>
            <a:r>
              <a:rPr lang="ko-KR" sz="1200"/>
              <a:t>계약의 항목(오퍼레이션, 관련 유스케이스, 사전조건, 사후조건)과 사후조건의 세 종류는 Larman 2004를 따른다(원문 확인 — "Cross References", 사후조건 정의). 원문은 사후조건이 오퍼레이션 중에 할 행동이 아니라 끝난 뒤 참인 관찰이라고 강조한다.</a:t>
            </a:r>
          </a:p>
          <a:p>
            <a:pPr lvl="0"/>
            <a:r>
              <a:rPr lang="ko-KR" sz="1200"/>
              <a:t>사후조건의 결제·주문은 용어집의 개념이다. 도메인 모델은 "세션 03. 정적 모델 — 도메인 개념과 관계"에서 그리며, 계약의 개념은 그 모델과 맞춘다.</a:t>
            </a:r>
          </a:p>
          <a:p>
            <a:pPr lvl="0"/>
            <a:r>
              <a:rPr lang="ko-KR" sz="1200"/>
              <a:t>배송 시스템에 배송지 변경을 요청하는 것은 「44. 정제된 SSD」의 이벤트다.</a:t>
            </a:r>
          </a:p>
          <a:p>
            <a:pPr lvl="0"/>
            <a:r>
              <a:rPr lang="ko-KR" sz="1200"/>
              <a:t>주문 취소·환불처럼 여러 결과가 걸린 계약은 성공의 범위와 시점을 먼저 정한다. 일부 상태 변화만 적고 전체 성공 계약으로 취급하지 않는다.</a:t>
            </a:r>
          </a:p>
          <a:p>
            <a:pPr lvl="0"/>
            <a:r>
              <a:rPr lang="ko-KR" sz="1200"/>
              <a:t>주문 취소는 계약 대상이지만 끝 상태(환불이 끝나기 전의 상태)를 정하려면 상호작용 분석이 필요하다. 그래서 "세션 04. 동적 모델 — 상호작용과 상태"의 「03. 요구 산출물에서 출발」의 「계약의 정제」에서 작성한다.</a:t>
            </a:r>
          </a:p>
          <a:p>
            <a:pPr lvl="0"/>
            <a:r>
              <a:rPr lang="ko-KR" sz="1200"/>
              <a:t>재고 차감·배송·입금 처리·영수증 발행의 요청은 「44. 정제된 SSD」에 있다. 재고가 실제로 줄었는지는 상품 시스템의 책임이다.</a:t>
            </a:r>
          </a:p>
          <a:p>
            <a:pPr lvl="0"/>
            <a:r>
              <a:rPr lang="ko-KR" sz="1200"/>
              <a:t>두 표는 성공 계약이다. 실패·인증 등 관련 유스케이스의 나머지 행위를 완전히 명세한 것은 아니다.</a:t>
            </a:r>
          </a:p>
          <a:p>
            <a:pPr lvl="0"/>
            <a:r>
              <a:rPr lang="ko-KR" sz="1200"/>
              <a:t>사전조건 위반을 거절하는 것은 코드의 선택이다. 계약은 사전조건이 거짓일 때의 결과를 보장하지 않는다.</a:t>
            </a:r>
          </a:p>
          <a:p>
            <a:pPr lvl="0"/>
            <a:r>
              <a:rPr lang="ko-KR" sz="1200"/>
              <a:t>승인 거절·재고 부족의 예외는 정책이 아니다. 정책이 정해질 때까지 드러내기만 한다. 정해지면 계약과 유스케이스의 대안 흐름에 먼저 쓰고 테스트를 더한다.</a:t>
            </a:r>
          </a:p>
          <a:p>
            <a:pPr lvl="0"/>
            <a:r>
              <a:rPr lang="ko-KR" sz="1200"/>
              <a:t>가짜 외부 시스템으로 확인하는 것은 SSD의 요청까지다. 주문시스템구현은 설계 객체의 한 예이며 분석 모델로 역수입하지 않는다. 내부 책임은 "세션 07. 책임·협력·계약"에서 다룬다.</a:t>
            </a:r>
          </a:p>
          <a:p>
            <a:pPr lvl="0"/>
            <a:r>
              <a:rPr lang="ko-KR" sz="1200"/>
              <a:t>학습자가 테스트 결과(요청 목록과 순서)를 먼저 예측한 뒤 실행해 대조하게 한다.</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명사 → 클래스 식으로 기계적으로 변환한다는 의미가 아니다. 피드백은 별도 산출물을 만드는 것이 아니라 원래 산출물을 고치는 것이다. "세션 03. 정적 모델 — 도메인 개념과 관계"와 "세션 04. 동적 모델 — 상호작용과 상태"에서 각각 본격적으로 다룬다.</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표는 검토 질문을 만드는 교육 예시다. 근거 없이 측정 수치나 서비스 수준을 확정하지 않는다.</a:t>
            </a:r>
          </a:p>
          <a:p>
            <a:pPr lvl="0"/>
            <a:r>
              <a:rPr lang="ko-KR" sz="1200"/>
              <a:t>인용 근거: ISO/IEC 25010:2023의 공식 초록(IEC Webstore 제품 페이지). 표준 본문이 아니라 초록 범위만 확인했다.</a:t>
            </a:r>
          </a:p>
          <a:p>
            <a:pPr lvl="0"/>
            <a:r>
              <a:rPr lang="ko-KR" sz="1200"/>
              <a:t>표의 요구 후보와 질문은 교육 예시다. 응답 시간 같은 수치는 측정 조건과 함께 이해관계자와 합의한다.</a:t>
            </a:r>
          </a:p>
          <a:p>
            <a:pPr lvl="0"/>
            <a:r>
              <a:rPr lang="ko-KR" sz="1200"/>
              <a:t>품질 관점의 이름은 인용한 품질 모델의 특성을 이 과정의 말로 옮긴 것이다. 품질 요구가 구조의 판단으로 이어지는 방식은 "세션 13. OOAD에서 전문영역으로 — Architecture · DDD · MSA"에서 다룬다.</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교육용 주소 A·B는 실제 주소가 아니다. 버튼·화면 구성은 해결책 후보이며 확정된 요구사항이 아니다. 관찰한 혼란·누락은 요구사항과 계약에 반영하고, 새 주소·배송비·실패 정책을 화면만 보고 임의로 결정하지 않는다.</a:t>
            </a:r>
          </a:p>
          <a:p>
            <a:pPr lvl="0"/>
            <a:r>
              <a:rPr lang="ko-KR" sz="1200"/>
              <a:t>와이어프레임은 본문에 내장한 SVG 원본으로 제공한다. Production은 이를 실제 visual로 렌더한다. 현재 원고 검토에서는 화면에 담긴 의미와 검증 질문을 확인한다.</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Ron Jeffries, "Essential XP: Card, Conversation, Confirmation"(2001-08-30) 원문 확인. 세 요소의 설명은 원문의 Card·Conversation·Confirmation 절을 요약한 것이다.</a:t>
            </a:r>
          </a:p>
          <a:p>
            <a:pPr lvl="0"/>
            <a:r>
              <a:rPr lang="ko-KR" sz="1200"/>
              <a:t>Wake(2003)도 Jeffries를 들어 스토리를 카드·대화·확인으로 소개한다(「51. 좋은 유저 스토리 — INVEST」).</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Dan North, "Introducing BDD"(2006) 원문 확인. 원문은 가치가 없는 스토리가 "so that I just do, ok?"처럼 끝난다고 적는다.</a:t>
            </a:r>
          </a:p>
          <a:p>
            <a:pPr lvl="0"/>
            <a:r>
              <a:rPr lang="ko-KR" sz="1200"/>
              <a:t>문형은 필수 양식이 아니다. 누가·무엇을·왜가 드러나면 된다.</a:t>
            </a:r>
          </a:p>
          <a:p>
            <a:pPr lvl="0"/>
            <a:r>
              <a:rPr lang="ko-KR" sz="1200"/>
              <a:t>예의 스토리는 「주문을 관리한다」의 대안 흐름 3a(배송지 변경)와 1a(주문 취소)를 스토리 형식으로 쓴 것이다.</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Bill Wake, "INVEST in Good Stories, and SMART Tasks"(2003) 원문 확인. 표의 "뜻"은 원문의 각 절을 요약했다.</a:t>
            </a:r>
          </a:p>
          <a:p>
            <a:pPr lvl="0"/>
            <a:r>
              <a:rPr lang="ko-KR" sz="1200"/>
              <a:t>원문은 테스트 가능을 이렇게 설명한다: 스토리 카드를 쓰는 것은 "테스트를 쓸 수 있을 만큼 원하는 것을 안다"는 약속이다. 고객이 테스트 방법을 모르면 스토리가 아직 분명하지 않다는 신호다.</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원문은 개발자가 한 번에 한 층만 "제대로" 만들고 싶어 하지만, 화면이 없는 데이터베이스 층은 고객에게 가치가 적다고 적는다.</a:t>
            </a:r>
          </a:p>
          <a:p>
            <a:pPr lvl="0"/>
            <a:r>
              <a:rPr lang="ko-KR" sz="1200"/>
              <a:t>층으로 나눈 조각은 「35. 잘못된 관행 — 기능 분할」과 같은 문제다.</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인용은 Böckeler가 SDD 도구(Kiro)로 작은 버그를 고치려 했을 때 요구 문서에 생긴 스토리 가운데 하나다. LLM에게 스토리를 쓰게 하면 이런 스토리가 섞이기 쉽다.</a:t>
            </a:r>
          </a:p>
          <a:p>
            <a:pPr lvl="0"/>
            <a:r>
              <a:rPr lang="ko-KR" sz="1200"/>
              <a:t>CRUD 스토리는 「36. 잘못된 관행 — CRUD 분할」과 같은 문제다. 표의 예는 주문 시스템에 맞춘 교육용 예다.</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한계는 스토리를 쓰지 말라는 뜻이 아니다. 전체 목표는 유스케이스로 함께 본다(「59. 유스케이스·유저 스토리·BDD」).</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Cucumber 공식 문서 "Behaviour-Driven Development" 원문 확인. 원문은 세 방식의 목록이며 첫 항목만 옮겼다. 같은 문서가 세 실천을 Discovery, Formulation, Automation이라 부른다.</a:t>
            </a:r>
          </a:p>
          <a:p>
            <a:pPr lvl="0"/>
            <a:r>
              <a:rPr lang="ko-KR" sz="1200"/>
              <a:t>North(2006)는 TDD의 "테스트" 대신 "행위"라는 말을 쓰다가, 동료(Chris Matts)와 함께 이 생각을 요구 정의에 적용했다고 적는다.</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Dan North, "Introducing BDD"(2006) 원문 확인. 원문의 형식은 "Given some initial context (the givens), When an event occurs, Then ensure some outcomes."다.</a:t>
            </a:r>
          </a:p>
          <a:p>
            <a:pPr lvl="0"/>
            <a:r>
              <a:rPr lang="ko-KR" sz="1200"/>
              <a:t>합의한 예는 그대로 실행되는 테스트가 된다. 결제 계약을 테스트로 옮긴 예는 「45. 시스템 오퍼레이션과 계약」에 있다.</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Cucumber 공식 문서 "Example Mapping" 원문 확인. 원문은 스토리를 노란 카드, 규칙을 파란 카드, 예를 초록 카드, 답하지 못한 질문을 빨간 카드에 쓴다고 설명한다.</a:t>
            </a:r>
          </a:p>
          <a:p>
            <a:pPr lvl="0"/>
            <a:r>
              <a:rPr lang="ko-KR" sz="1200"/>
              <a:t>"출고는 누가 판단하는가?"는 "세션 11. 통합 설계와 적정 모델링"에서 드러나는 빈틈과 같은 질문이다. 출고는 배송 시스템이 판단한다.</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예가 많아지면 규칙을 대표하는 예만 남긴다. 화면 조작이 아니라 업무 행위로 쓴다(「56. Given-When-Then」의 배송지 변경 예).</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세 기법은 경쟁하지 않는다. 유스케이스로 목표와 경계를, 스토리로 반복의 단위를, BDD로 검증을 잇는다.</a:t>
            </a:r>
          </a:p>
          <a:p>
            <a:pPr lvl="0"/>
            <a:r>
              <a:rPr lang="ko-KR" sz="1200"/>
              <a:t>결제 계약을 테스트로 옮긴 「45. 시스템 오퍼레이션과 계약」이 BDD의 확인과 같은 역할을 한다.</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Birgitta Böckeler, "Understanding Spec-Driven-Development: Kiro, spec-kit, and Tessl", martinfowler.com, 2025 원문 확인. 3가지 수준(spec-first, spec-anchored, spec-as-source)도 같은 글이 정리한 것이다.</a:t>
            </a:r>
          </a:p>
          <a:p>
            <a:pPr lvl="0"/>
            <a:r>
              <a:rPr lang="ko-KR" sz="1200"/>
              <a:t>원문은 Kiro의 요구 문서가 "As a…" 형식의 스토리와 "GIVEN… WHEN… THEN…" 형식의 인수 조건으로 되어 있다고 적는다.</a:t>
            </a:r>
          </a:p>
          <a:p>
            <a:pPr lvl="0"/>
            <a:r>
              <a:rPr lang="ko-KR" sz="1200"/>
              <a:t>SDD의 상세는 "AI-native SW 공학" 과정의 '03. 요구의 구체화와 명세'가 다룬다.</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Böckeler(2025) 원문 확인. 원문은 이 모든 문서가 있어도 에이전트가 지시를 다 따르지 않는 것을 자주 보았고, 통제하는 가장 좋은 방법은 작고 반복적인 단계였다고 적는다.</a:t>
            </a:r>
          </a:p>
          <a:p>
            <a:pPr lvl="0"/>
            <a:r>
              <a:rPr lang="ko-KR" sz="1200"/>
              <a:t>원문의 저자는 MDD를 많이 쓴 프로젝트를 경험했다고 밝힌다.</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이해관계자 검토·모델·프로토타입으로 개발 전에도 필요와 적합성을 확인할 수 있고, 배포 후에는 실제 사용과 결과로 가정을 다시 평가한다. 명세 자체의 품질 검증과 실제 가치의 타당성 확인을 구분하되, 타당성 확인을 배포 이후로만 미루지 않는다. NASA [Systems Engineering Handbook, Appendix C](https://www.nasa.gov/reference/appendix-c-how-to-write-a-good-requirement/), C.3–C.4의 요구 검토 질문을 참조한다.</a:t>
            </a: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기준선은 합의된 요구의 한 시점이다. 변경은 막지 않고 이유·결정자·영향을 기록한다.</a:t>
            </a:r>
          </a:p>
          <a:p>
            <a:pPr lvl="0"/>
            <a:r>
              <a:rPr lang="ko-KR" sz="1200"/>
              <a:t>뒤의 분석에서 발견한 것을 요구 산출물로 되돌리는 것도 요구 관리의 변경이다("세션 03. 정적 모델 — 도메인 개념과 관계"의 「17. 모델의 검토」의 「누락과 모순」).</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기능 요구와 코드를 일대일 대응시키지 않는다. 근거·영향을 기록하고 필요하면 기준선을 갱신한다.</a:t>
            </a:r>
          </a:p>
          <a:p>
            <a:pPr lvl="0"/>
            <a:r>
              <a:rPr lang="ko-KR" sz="1200"/>
              <a:t>인용 근거: IIBA, [*The Business Analysis Standard*](https://www.iiba.org/knowledgehub/the-business-analysis-standard/4-implementing-business-analysis/4-4-understanding-requirements-and-designs/)(2022), 4.4.3 원문 확인. 원문은 "Traceability is the ability for tracking…"이며 주어를 생략했다. 같은 절은 추적성이 변경 통제를 돕는다고 설명한다 — 변경의 출처와 영향받는 요구·설계를 알 수 있다.</a:t>
            </a:r>
          </a:p>
          <a:p>
            <a:pPr lvl="0"/>
            <a:r>
              <a:rPr lang="ko-KR" sz="1200"/>
              <a:t>일대일 대응을 강제하면 추적표가 목적이 된다. 판단에 필요한 관계만 추적한다.</a:t>
            </a:r>
          </a:p>
          <a:p>
            <a:pPr lvl="0"/>
            <a:r>
              <a:rPr lang="ko-KR" sz="1200"/>
              <a:t>이 세션의 코드는 명세서·SSD·계약에 근거하고, 테스트는 계약의 예에서 나온다(「45. 시스템 오퍼레이션과 계약」).</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구현·검증·DevOps 단계에서도 사용 증거를 요구로 되돌리는 피드백은 계속 이어진다.</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명세서 하나만 쓰는 이유 — 모든 유스케이스를 명세하는 것보다 하나를 끝까지 쓰는 편이 흐름·규칙·예외를 배우기에 좋다.</a:t>
            </a:r>
          </a:p>
          <a:p>
            <a:pPr lvl="0"/>
            <a:r>
              <a:rPr lang="ko-KR" sz="1200"/>
              <a:t>LLM은 조회·수정·삭제를 별도 유스케이스로 나누거나, 결제 시스템이 할 월별 청구를 이 시스템의 유스케이스로 만들기 쉽다.</a:t>
            </a:r>
          </a:p>
          <a:p>
            <a:pPr lvl="0"/>
            <a:r>
              <a:rPr lang="ko-KR" sz="1200"/>
              <a:t>용어집은 명세서에 실제로 쓴 용어에서 시작한다. 모든 명사를 넣지 않고, 뜻이 헷갈릴 수 있는 용어를 먼저 넣는다.</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이 세션에서는 요구를 행위 관점으로 구조화했다. 다음 세션에서는 문제영역의 정적 의미 구조를 본격적으로 분석한다.</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관리자 유스케이스는 규칙에서 나온다 — 청구 실패로 정지된 정기배송(R7)은 누군가 재개·해지해야 하고, 불량·오배송 반품(R9)은 사람이 판단한다.</a:t>
            </a:r>
          </a:p>
          <a:p>
            <a:pPr lvl="0"/>
            <a:r>
              <a:rPr lang="ko-KR" sz="1200"/>
              <a:t>"정책을 관리한다"(주기 범위·반품 배송비 변경)는 요구가 없어 넣지 않았다(YAGNI).</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CRUD를 하나의 유스케이스로 — 조회(R)·변경(U)·해지(D)는 "정기배송을 신청한다"의 대안 흐름이다. 별도 유스케이스로 나누면 기능 분할의 잘못된 관행이 된다.</a:t>
            </a:r>
          </a:p>
          <a:p>
            <a:pPr lvl="0"/>
            <a:r>
              <a:rPr lang="ko-KR" sz="1200"/>
              <a:t>월별 청구는 결제 시스템의 일이므로 흐름은 "결제를 요청한다"에서 멈춘다.</a:t>
            </a:r>
          </a:p>
          <a:p>
            <a:pPr lvl="0"/>
            <a:r>
              <a:rPr lang="ko-KR" sz="1200"/>
              <a:t>흐름에는 액터가 겪는 사건만 쓴다. 상품 정보를 어디서 받는지 같은 시스템 내부의 협력은 SSD·시퀀스에서 다룬다.</a:t>
            </a:r>
          </a:p>
          <a:p>
            <a:pPr lvl="0"/>
            <a:r>
              <a:rPr lang="ko-KR" sz="1200"/>
              <a:t>흐름 번호는 기본 흐름에서 파생한다 — 1a는 1단계에서 갈라지는 대안 흐름, 1b1a는 1b에서 다시 갈라지는 대안 흐름이다. 성공·실패를 모두 대안 흐름으로 쓴다(정식 형식).</a:t>
            </a: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값의 영문명 — 청구 방식 LUMP_SUM(일시불)·MONTHLY(월별 청구), 결제 방법 CARD·BANK_TRANSFER·EASY_PAY.</a:t>
            </a:r>
          </a:p>
          <a:p>
            <a:pPr lvl="0"/>
            <a:r>
              <a:rPr lang="ko-KR" sz="1200"/>
              <a:t>주문 사례와 같은 용어(고객, 장바구니, 상품, 결제, 결제·배송·상품 시스템, 연동)는 과정 용어집의 영문명을 그대로 쓴다.</a:t>
            </a:r>
          </a:p>
          <a:p>
            <a:pPr lvl="0"/>
            <a:r>
              <a:rPr lang="ko-KR" sz="1200"/>
              <a:t>이 용어집이 정기배송 실습 사례의 영문명의 원천이다. 뒤 실습에서 발견하는 용어(정기배송 항목, 배송 회차, 정기배송 상태)는 각 실습의 보완 (안)에서 더한다.</a:t>
            </a:r>
          </a:p>
          <a:p>
            <a:pPr lvl="0"/>
            <a:r>
              <a:rPr lang="ko-KR" sz="1200"/>
              <a:t>LLM은 "가격"을 판매가와 신청 때의 가격으로 섞거나, 같은 용어를 명세서와 용어집에서 다른 영어로 옮기기 쉽다(예: 해지를 cancel로 쓰면 다음 배송 취소와 섞인다).</a:t>
            </a: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설명용이다. 실습 과제에는 넣지 않는다.</a:t>
            </a:r>
          </a:p>
          <a:p>
            <a:pPr lvl="0"/>
            <a:r>
              <a:rPr lang="ko-KR" sz="1200"/>
              <a:t>시스템 이벤트 — 상품을 조회한다, 장바구니에 담는다, 배송 조건을 입력한다, 결제한다. 동적 모델에서 각 이벤트를 도메인 객체의 상호작용으로 펼친다("세션 04. 동적 모델 — 상호작용과 상태"의 「13. 실습 — 동적 모델」의 「시퀀스 다이어그램 (안)」).</a:t>
            </a:r>
          </a:p>
          <a:p>
            <a:pPr lvl="0"/>
            <a:r>
              <a:rPr lang="ko-KR" sz="1200"/>
              <a:t>응답은 그리지 않는다(「44. 정제된 SSD」). 유스케이스 흐름에 쓰지 않은 상품 조회가 여기서 외부 시스템에 보내는 요청으로 드러난다.</a:t>
            </a: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명세서는 한 번에 완성되지 않는다. 다음 산출물을 만들며 빈틈이 드러난다 — "세션 01. OOAD 개요"의 「피드백」.</a:t>
            </a:r>
          </a:p>
          <a:p>
            <a:pPr lvl="0"/>
            <a:r>
              <a:rPr lang="ko-KR" sz="1200"/>
              <a:t>모든 산출물을 늘 최신으로 유지하는 것은 적정 수준을 넘는 비용이다 — "세션 01. OOAD 개요"의 「모델링의 적정 수준」.</a:t>
            </a:r>
          </a:p>
          <a:p>
            <a:pPr lvl="0"/>
            <a:r>
              <a:rPr lang="ko-KR" sz="1200"/>
              <a:t>판단 기준 — 다음 단계의 입력이 되는가, 누군가 그 문서를 근거로 결정하는가. 둘 다 아니면 발견 기록만 남긴다.</a:t>
            </a:r>
          </a:p>
          <a:p>
            <a:pPr lvl="0"/>
            <a:r>
              <a:rPr lang="ko-KR" sz="1200"/>
              <a:t>수강생에게 자기 명세서에서 무엇을 반영하고 무엇을 남겼는지, 그 이유를 적게 한다.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5_사용자 지정 레이아웃">
    <p:spTree>
      <p:nvGrpSpPr>
        <p:cNvPr id="1" name=""/>
        <p:cNvGrpSpPr/>
        <p:nvPr/>
      </p:nvGrpSpPr>
      <p:grpSpPr>
        <a:xfrm>
          <a:off x="0" y="0"/>
          <a:ext cx="0" cy="0"/>
          <a:chOff x="0" y="0"/>
          <a:chExt cx="0" cy="0"/>
        </a:xfrm>
      </p:grpSpPr>
      <p:cxnSp>
        <p:nvCxnSpPr>
          <p:cNvPr id="3" name="Straight Connector 8">
            <a:extLst>
              <a:ext uri="{FF2B5EF4-FFF2-40B4-BE49-F238E27FC236}">
                <a16:creationId xmlns:a16="http://schemas.microsoft.com/office/drawing/2014/main" id="{FF0E9F20-7865-40BF-831C-21A3A6DE669A}"/>
              </a:ext>
            </a:extLst>
          </p:cNvPr>
          <p:cNvCxnSpPr/>
          <p:nvPr userDrawn="1"/>
        </p:nvCxnSpPr>
        <p:spPr>
          <a:xfrm>
            <a:off x="370822" y="692696"/>
            <a:ext cx="8424000" cy="0"/>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4" name="제목 1">
            <a:extLst>
              <a:ext uri="{FF2B5EF4-FFF2-40B4-BE49-F238E27FC236}">
                <a16:creationId xmlns:a16="http://schemas.microsoft.com/office/drawing/2014/main" id="{2094DC8E-CD32-4D9A-9DFC-F86395231236}"/>
              </a:ext>
            </a:extLst>
          </p:cNvPr>
          <p:cNvSpPr>
            <a:spLocks noGrp="1"/>
          </p:cNvSpPr>
          <p:nvPr>
            <p:ph type="title"/>
          </p:nvPr>
        </p:nvSpPr>
        <p:spPr>
          <a:xfrm>
            <a:off x="376189" y="-38114"/>
            <a:ext cx="6300034" cy="720080"/>
          </a:xfrm>
          <a:prstGeom prst="rect">
            <a:avLst/>
          </a:prstGeom>
        </p:spPr>
        <p:txBody>
          <a:bodyPr anchor="ctr" anchorCtr="0"/>
          <a:lstStyle>
            <a:lvl1pPr>
              <a:defRPr sz="2800" b="1">
                <a:solidFill>
                  <a:schemeClr val="tx1"/>
                </a:solidFill>
                <a:effectLst>
                  <a:outerShdw blurRad="38100" dist="38100" dir="2700000" algn="tl">
                    <a:srgbClr val="000000">
                      <a:alpha val="43137"/>
                    </a:srgbClr>
                  </a:outerShdw>
                </a:effectLst>
              </a:defRPr>
            </a:lvl1pPr>
          </a:lstStyle>
          <a:p>
            <a:r>
              <a:rPr lang="ko-KR" altLang="en-US"/>
              <a:t>마스터 제목 스타일 편집</a:t>
            </a:r>
          </a:p>
        </p:txBody>
      </p:sp>
      <p:sp>
        <p:nvSpPr>
          <p:cNvPr id="5" name="슬라이드 번호 개체 틀 5">
            <a:extLst>
              <a:ext uri="{FF2B5EF4-FFF2-40B4-BE49-F238E27FC236}">
                <a16:creationId xmlns:a16="http://schemas.microsoft.com/office/drawing/2014/main" id="{48BCF7E4-4941-4537-9EC8-57C44E02DBE7}"/>
              </a:ext>
            </a:extLst>
          </p:cNvPr>
          <p:cNvSpPr>
            <a:spLocks noGrp="1"/>
          </p:cNvSpPr>
          <p:nvPr>
            <p:ph type="sldNum" sz="quarter" idx="10"/>
          </p:nvPr>
        </p:nvSpPr>
        <p:spPr>
          <a:xfrm>
            <a:off x="3508472" y="6449625"/>
            <a:ext cx="2133600" cy="238277"/>
          </a:xfrm>
          <a:prstGeom prst="rect">
            <a:avLst/>
          </a:prstGeom>
        </p:spPr>
        <p:txBody>
          <a:bodyPr/>
          <a:lstStyle>
            <a:lvl1pPr algn="ctr">
              <a:defRPr sz="800">
                <a:solidFill>
                  <a:schemeClr val="tx1"/>
                </a:solidFill>
                <a:latin typeface="+mn-ea"/>
                <a:ea typeface="+mn-ea"/>
              </a:defRPr>
            </a:lvl1pPr>
          </a:lstStyle>
          <a:p>
            <a:pPr>
              <a:defRPr/>
            </a:pPr>
            <a:r>
              <a:rPr lang="en-US" altLang="ko-KR" dirty="0">
                <a:solidFill>
                  <a:prstClr val="black"/>
                </a:solidFill>
              </a:rPr>
              <a:t>- </a:t>
            </a:r>
            <a:fld id="{A18F303B-5FF2-4BD3-899C-BAED341F6249}" type="slidenum">
              <a:rPr lang="ko-KR" altLang="en-US" smtClean="0">
                <a:solidFill>
                  <a:prstClr val="black"/>
                </a:solidFill>
              </a:rPr>
              <a:pPr>
                <a:defRPr/>
              </a:pPr>
              <a:t>‹#›</a:t>
            </a:fld>
            <a:r>
              <a:rPr lang="ko-KR" altLang="en-US" dirty="0">
                <a:solidFill>
                  <a:prstClr val="black"/>
                </a:solidFill>
              </a:rPr>
              <a:t> </a:t>
            </a:r>
            <a:r>
              <a:rPr lang="en-US" altLang="ko-KR" dirty="0">
                <a:solidFill>
                  <a:prstClr val="black"/>
                </a:solidFill>
              </a:rPr>
              <a:t>-</a:t>
            </a:r>
            <a:endParaRPr lang="ko-KR" altLang="en-US" dirty="0">
              <a:solidFill>
                <a:prstClr val="black"/>
              </a:solidFill>
            </a:endParaRPr>
          </a:p>
        </p:txBody>
      </p:sp>
      <p:sp>
        <p:nvSpPr>
          <p:cNvPr id="6" name="내용 개체 틀 2">
            <a:extLst>
              <a:ext uri="{FF2B5EF4-FFF2-40B4-BE49-F238E27FC236}">
                <a16:creationId xmlns:a16="http://schemas.microsoft.com/office/drawing/2014/main" id="{F7FC7E0F-889C-4F19-8056-F2D1D6357992}"/>
              </a:ext>
            </a:extLst>
          </p:cNvPr>
          <p:cNvSpPr>
            <a:spLocks noGrp="1"/>
          </p:cNvSpPr>
          <p:nvPr>
            <p:ph idx="1"/>
          </p:nvPr>
        </p:nvSpPr>
        <p:spPr>
          <a:xfrm>
            <a:off x="376189" y="980728"/>
            <a:ext cx="8424000" cy="5530862"/>
          </a:xfrm>
          <a:prstGeom prst="rect">
            <a:avLst/>
          </a:prstGeom>
        </p:spPr>
        <p:txBody>
          <a:bodyPr>
            <a:normAutofit/>
          </a:bodyPr>
          <a:lstStyle>
            <a:lvl1pPr marL="342900" indent="-342900">
              <a:spcBef>
                <a:spcPts val="300"/>
              </a:spcBef>
              <a:spcAft>
                <a:spcPts val="300"/>
              </a:spcAft>
              <a:buSzPct val="90000"/>
              <a:buFont typeface="Wingdings" pitchFamily="2" charset="2"/>
              <a:buChar char=""/>
              <a:defRPr sz="2000" b="1"/>
            </a:lvl1pPr>
            <a:lvl2pPr marL="723900" indent="-368300">
              <a:spcBef>
                <a:spcPts val="300"/>
              </a:spcBef>
              <a:spcAft>
                <a:spcPts val="300"/>
              </a:spcAft>
              <a:buSzPct val="90000"/>
              <a:buFont typeface="Wingdings" pitchFamily="2" charset="2"/>
              <a:buChar char=""/>
              <a:defRPr sz="1800" b="0"/>
            </a:lvl2pPr>
            <a:lvl3pPr marL="1077913" indent="-354013">
              <a:spcBef>
                <a:spcPts val="300"/>
              </a:spcBef>
              <a:spcAft>
                <a:spcPts val="300"/>
              </a:spcAft>
              <a:buSzPct val="90000"/>
              <a:buFont typeface="Wingdings" pitchFamily="2" charset="2"/>
              <a:buChar char=""/>
              <a:defRPr sz="1600" b="0"/>
            </a:lvl3pPr>
            <a:lvl4pPr marL="1433513" indent="-355600">
              <a:spcBef>
                <a:spcPts val="300"/>
              </a:spcBef>
              <a:spcAft>
                <a:spcPts val="300"/>
              </a:spcAft>
              <a:buFont typeface="Wingdings" pitchFamily="2" charset="2"/>
              <a:buChar char="l"/>
              <a:defRPr sz="1400" b="0"/>
            </a:lvl4pPr>
            <a:lvl5pPr marL="1787525" indent="-354013">
              <a:spcBef>
                <a:spcPts val="300"/>
              </a:spcBef>
              <a:spcAft>
                <a:spcPts val="300"/>
              </a:spcAft>
              <a:buFont typeface="Wingdings" pitchFamily="2" charset="2"/>
              <a:buChar char="§"/>
              <a:defRPr sz="1400" b="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8" name="텍스트 개체 틀 2">
            <a:extLst>
              <a:ext uri="{FF2B5EF4-FFF2-40B4-BE49-F238E27FC236}">
                <a16:creationId xmlns:a16="http://schemas.microsoft.com/office/drawing/2014/main" id="{535D420B-3C82-4BF6-9CCA-F8DA0A133FB0}"/>
              </a:ext>
            </a:extLst>
          </p:cNvPr>
          <p:cNvSpPr>
            <a:spLocks noGrp="1"/>
          </p:cNvSpPr>
          <p:nvPr>
            <p:ph type="body" sz="quarter" idx="11" hasCustomPrompt="1"/>
          </p:nvPr>
        </p:nvSpPr>
        <p:spPr>
          <a:xfrm>
            <a:off x="5076056" y="367445"/>
            <a:ext cx="3699901" cy="264734"/>
          </a:xfrm>
          <a:prstGeom prst="rect">
            <a:avLst/>
          </a:prstGeom>
        </p:spPr>
        <p:txBody>
          <a:bodyPr lIns="0" tIns="0" rIns="0" bIns="0" anchor="ctr"/>
          <a:lstStyle>
            <a:lvl1pPr marL="0" indent="0" algn="r">
              <a:spcBef>
                <a:spcPts val="0"/>
              </a:spcBef>
              <a:buFont typeface="Arial" panose="020B0604020202020204" pitchFamily="34" charset="0"/>
              <a:buNone/>
              <a:defRPr sz="1800" b="1">
                <a:latin typeface="맑은 고딕" panose="020B0503020000020004" pitchFamily="50" charset="-127"/>
                <a:ea typeface="맑은 고딕" panose="020B0503020000020004" pitchFamily="50" charset="-127"/>
              </a:defRPr>
            </a:lvl1pPr>
            <a:lvl2pPr marL="0" indent="0">
              <a:spcBef>
                <a:spcPts val="0"/>
              </a:spcBef>
              <a:buNone/>
              <a:defRPr sz="1300" b="1">
                <a:latin typeface="+mn-ea"/>
                <a:ea typeface="+mn-ea"/>
              </a:defRPr>
            </a:lvl2pPr>
            <a:lvl3pPr marL="0" indent="0">
              <a:spcBef>
                <a:spcPts val="0"/>
              </a:spcBef>
              <a:buNone/>
              <a:defRPr sz="1300" b="1">
                <a:latin typeface="+mn-ea"/>
                <a:ea typeface="+mn-ea"/>
              </a:defRPr>
            </a:lvl3pPr>
            <a:lvl4pPr marL="0" indent="0">
              <a:spcBef>
                <a:spcPts val="0"/>
              </a:spcBef>
              <a:buNone/>
              <a:defRPr sz="1300" b="1">
                <a:latin typeface="+mn-ea"/>
                <a:ea typeface="+mn-ea"/>
              </a:defRPr>
            </a:lvl4pPr>
            <a:lvl5pPr marL="0" indent="0">
              <a:spcBef>
                <a:spcPts val="0"/>
              </a:spcBef>
              <a:buNone/>
              <a:defRPr sz="1300" b="1">
                <a:latin typeface="+mn-ea"/>
                <a:ea typeface="+mn-ea"/>
              </a:defRPr>
            </a:lvl5pPr>
          </a:lstStyle>
          <a:p>
            <a:pPr lvl="0"/>
            <a:r>
              <a:rPr lang="en-US" altLang="ko-KR"/>
              <a:t>Level #1</a:t>
            </a:r>
          </a:p>
        </p:txBody>
      </p:sp>
      <p:sp>
        <p:nvSpPr>
          <p:cNvPr id="11" name="텍스트 개체 틀 9">
            <a:extLst>
              <a:ext uri="{FF2B5EF4-FFF2-40B4-BE49-F238E27FC236}">
                <a16:creationId xmlns:a16="http://schemas.microsoft.com/office/drawing/2014/main" id="{2A28188B-9A75-4416-A436-43EDEDA9605A}"/>
              </a:ext>
            </a:extLst>
          </p:cNvPr>
          <p:cNvSpPr>
            <a:spLocks noGrp="1"/>
          </p:cNvSpPr>
          <p:nvPr>
            <p:ph type="body" sz="quarter" idx="12" hasCustomPrompt="1"/>
          </p:nvPr>
        </p:nvSpPr>
        <p:spPr>
          <a:xfrm>
            <a:off x="5860420" y="710786"/>
            <a:ext cx="2915537" cy="238278"/>
          </a:xfrm>
          <a:prstGeom prst="rect">
            <a:avLst/>
          </a:prstGeom>
        </p:spPr>
        <p:txBody>
          <a:bodyPr lIns="0" tIns="0" rIns="0" bIns="0" anchor="ctr"/>
          <a:lstStyle>
            <a:lvl1pPr marL="0" indent="0" algn="r">
              <a:buNone/>
              <a:defRPr lang="en-US" altLang="ko-KR" sz="1400" b="1"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a:t>Level #2</a:t>
            </a:r>
          </a:p>
        </p:txBody>
      </p:sp>
      <p:sp>
        <p:nvSpPr>
          <p:cNvPr id="2" name="텍스트 개체 틀 9">
            <a:extLst>
              <a:ext uri="{FF2B5EF4-FFF2-40B4-BE49-F238E27FC236}">
                <a16:creationId xmlns:a16="http://schemas.microsoft.com/office/drawing/2014/main" id="{B690A1C8-68B5-5F79-8C0D-DCD7EE5EA955}"/>
              </a:ext>
            </a:extLst>
          </p:cNvPr>
          <p:cNvSpPr>
            <a:spLocks noGrp="1"/>
          </p:cNvSpPr>
          <p:nvPr>
            <p:ph type="body" sz="quarter" idx="13" hasCustomPrompt="1"/>
          </p:nvPr>
        </p:nvSpPr>
        <p:spPr>
          <a:xfrm>
            <a:off x="414367" y="6485290"/>
            <a:ext cx="6244438" cy="238278"/>
          </a:xfrm>
          <a:prstGeom prst="rect">
            <a:avLst/>
          </a:prstGeom>
        </p:spPr>
        <p:txBody>
          <a:bodyPr lIns="0" tIns="0" rIns="0" bIns="0" anchor="ctr"/>
          <a:lstStyle>
            <a:lvl1pPr marL="0" indent="0" algn="l">
              <a:buNone/>
              <a:defRPr lang="en-US" altLang="ko-KR" sz="600" b="0"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dirty="0"/>
              <a:t>Level #3</a:t>
            </a:r>
          </a:p>
        </p:txBody>
      </p:sp>
    </p:spTree>
    <p:extLst>
      <p:ext uri="{BB962C8B-B14F-4D97-AF65-F5344CB8AC3E}">
        <p14:creationId xmlns:p14="http://schemas.microsoft.com/office/powerpoint/2010/main" val="68938529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5AE4B-11F0-DD96-DBC0-88B2F9E857D9}"/>
              </a:ext>
            </a:extLst>
          </p:cNvPr>
          <p:cNvSpPr txBox="1"/>
          <p:nvPr userDrawn="1"/>
        </p:nvSpPr>
        <p:spPr>
          <a:xfrm>
            <a:off x="1519279" y="6647902"/>
            <a:ext cx="6121163" cy="184666"/>
          </a:xfrm>
          <a:prstGeom prst="rect">
            <a:avLst/>
          </a:prstGeom>
          <a:noFill/>
        </p:spPr>
        <p:txBody>
          <a:bodyPr wrap="square" rtlCol="0">
            <a:spAutoFit/>
          </a:bodyPr>
          <a:lstStyle/>
          <a:p>
            <a:pPr algn="ctr">
              <a:lnSpc>
                <a:spcPct val="100000"/>
              </a:lnSpc>
            </a:pPr>
            <a:r>
              <a:rPr lang="ko-KR" altLang="ko-KR" sz="600" dirty="0"/>
              <a:t>© 2026 </a:t>
            </a:r>
            <a:r>
              <a:rPr lang="ko-KR" altLang="ko-KR" sz="600" dirty="0" err="1"/>
              <a:t>Young</a:t>
            </a:r>
            <a:r>
              <a:rPr lang="ko-KR" altLang="ko-KR" sz="600" dirty="0"/>
              <a:t> </a:t>
            </a:r>
            <a:r>
              <a:rPr lang="ko-KR" altLang="ko-KR" sz="600" dirty="0" err="1"/>
              <a:t>On</a:t>
            </a:r>
            <a:r>
              <a:rPr lang="ko-KR" altLang="ko-KR" sz="600" dirty="0"/>
              <a:t> Kim. LLM-</a:t>
            </a:r>
            <a:r>
              <a:rPr lang="ko-KR" altLang="ko-KR" sz="600" dirty="0" err="1"/>
              <a:t>generated</a:t>
            </a:r>
            <a:r>
              <a:rPr lang="ko-KR" altLang="ko-KR" sz="600" dirty="0"/>
              <a:t> </a:t>
            </a:r>
            <a:r>
              <a:rPr lang="ko-KR" altLang="ko-KR" sz="600" dirty="0" err="1"/>
              <a:t>content</a:t>
            </a:r>
            <a:r>
              <a:rPr lang="ko-KR" altLang="ko-KR" sz="600" dirty="0"/>
              <a:t>, </a:t>
            </a:r>
            <a:r>
              <a:rPr lang="ko-KR" altLang="ko-KR" sz="600" dirty="0" err="1"/>
              <a:t>directed</a:t>
            </a:r>
            <a:r>
              <a:rPr lang="ko-KR" altLang="ko-KR" sz="600" dirty="0"/>
              <a:t>, </a:t>
            </a:r>
            <a:r>
              <a:rPr lang="ko-KR" altLang="ko-KR" sz="600" dirty="0" err="1"/>
              <a:t>reviewed</a:t>
            </a:r>
            <a:r>
              <a:rPr lang="ko-KR" altLang="ko-KR" sz="600" dirty="0"/>
              <a:t> and </a:t>
            </a:r>
            <a:r>
              <a:rPr lang="ko-KR" altLang="ko-KR" sz="600" dirty="0" err="1"/>
              <a:t>validated</a:t>
            </a:r>
            <a:r>
              <a:rPr lang="ko-KR" altLang="ko-KR" sz="600" dirty="0"/>
              <a:t> </a:t>
            </a:r>
            <a:r>
              <a:rPr lang="ko-KR" altLang="ko-KR" sz="600" dirty="0" err="1"/>
              <a:t>by</a:t>
            </a:r>
            <a:r>
              <a:rPr lang="ko-KR" altLang="ko-KR" sz="600" dirty="0"/>
              <a:t> </a:t>
            </a:r>
            <a:r>
              <a:rPr lang="ko-KR" altLang="ko-KR" sz="600" dirty="0" err="1"/>
              <a:t>the</a:t>
            </a:r>
            <a:r>
              <a:rPr lang="ko-KR" altLang="ko-KR" sz="600" dirty="0"/>
              <a:t> </a:t>
            </a:r>
            <a:r>
              <a:rPr lang="ko-KR" altLang="ko-KR" sz="600" dirty="0" err="1"/>
              <a:t>author</a:t>
            </a:r>
            <a:r>
              <a:rPr lang="ko-KR" altLang="ko-KR" sz="600" dirty="0"/>
              <a:t>; </a:t>
            </a:r>
            <a:r>
              <a:rPr lang="ko-KR" altLang="ko-KR" sz="600" dirty="0" err="1"/>
              <a:t>rendered</a:t>
            </a:r>
            <a:r>
              <a:rPr lang="ko-KR" altLang="ko-KR" sz="600" dirty="0"/>
              <a:t> </a:t>
            </a:r>
            <a:r>
              <a:rPr lang="ko-KR" altLang="ko-KR" sz="600" dirty="0" err="1"/>
              <a:t>by</a:t>
            </a:r>
            <a:r>
              <a:rPr lang="ko-KR" altLang="ko-KR" sz="600" dirty="0"/>
              <a:t> </a:t>
            </a:r>
            <a:r>
              <a:rPr lang="ko-KR" altLang="ko-KR" sz="600" dirty="0" err="1"/>
              <a:t>TrainingMaterials</a:t>
            </a:r>
            <a:r>
              <a:rPr lang="ko-KR" altLang="ko-KR" sz="600" dirty="0"/>
              <a:t>.</a:t>
            </a:r>
            <a:endParaRPr lang="ko-KR" altLang="en-US" sz="500" dirty="0">
              <a:solidFill>
                <a:prstClr val="black"/>
              </a:solidFill>
              <a:latin typeface="맑은 고딕"/>
              <a:ea typeface="맑은 고딕"/>
            </a:endParaRPr>
          </a:p>
        </p:txBody>
      </p:sp>
    </p:spTree>
    <p:extLst>
      <p:ext uri="{BB962C8B-B14F-4D97-AF65-F5344CB8AC3E}">
        <p14:creationId xmlns:p14="http://schemas.microsoft.com/office/powerpoint/2010/main" val="3377657160"/>
      </p:ext>
    </p:extLst>
  </p:cSld>
  <p:clrMap bg1="lt1" tx1="dk1" bg2="lt2" tx2="dk2" accent1="accent1" accent2="accent2" accent3="accent3" accent4="accent4" accent5="accent5" accent6="accent6" hlink="hlink" folHlink="folHlink"/>
  <p:sldLayoutIdLst>
    <p:sldLayoutId id="2147483721" r:id="rId1"/>
  </p:sldLayoutIdLst>
  <p:hf hdr="0" ftr="0" dt="0"/>
  <p:txStyles>
    <p:titleStyle>
      <a:lvl1pPr algn="l" rtl="0" eaLnBrk="0" fontAlgn="base" latinLnBrk="0" hangingPunct="0">
        <a:spcBef>
          <a:spcPct val="0"/>
        </a:spcBef>
        <a:spcAft>
          <a:spcPct val="0"/>
        </a:spcAft>
        <a:defRPr sz="3200" kern="1200">
          <a:solidFill>
            <a:schemeClr val="tx1"/>
          </a:solidFill>
          <a:latin typeface="맑은 고딕" pitchFamily="50" charset="-127"/>
          <a:ea typeface="맑은 고딕" pitchFamily="50" charset="-127"/>
          <a:cs typeface="+mj-cs"/>
        </a:defRPr>
      </a:lvl1pPr>
      <a:lvl2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2pPr>
      <a:lvl3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3pPr>
      <a:lvl4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4pPr>
      <a:lvl5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5pPr>
      <a:lvl6pPr marL="457200" algn="ctr" rtl="0" fontAlgn="base" latinLnBrk="0">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0">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0">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0">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0" hangingPunct="0">
        <a:spcBef>
          <a:spcPct val="20000"/>
        </a:spcBef>
        <a:spcAft>
          <a:spcPct val="0"/>
        </a:spcAft>
        <a:buFont typeface="Wingdings" pitchFamily="2" charset="2"/>
        <a:buChar char="u"/>
        <a:defRPr sz="2000" kern="1200">
          <a:solidFill>
            <a:schemeClr val="tx1"/>
          </a:solidFill>
          <a:latin typeface="맑은 고딕" pitchFamily="50" charset="-127"/>
          <a:ea typeface="맑은 고딕" pitchFamily="50" charset="-127"/>
          <a:cs typeface="+mn-cs"/>
        </a:defRPr>
      </a:lvl1pPr>
      <a:lvl2pPr marL="742950" indent="-285750" algn="l" rtl="0" eaLnBrk="0" fontAlgn="base" latinLnBrk="0" hangingPunct="0">
        <a:spcBef>
          <a:spcPct val="20000"/>
        </a:spcBef>
        <a:spcAft>
          <a:spcPct val="0"/>
        </a:spcAft>
        <a:buFont typeface="Wingdings" pitchFamily="2" charset="2"/>
        <a:buChar char="l"/>
        <a:defRPr kern="1200">
          <a:solidFill>
            <a:schemeClr val="tx1"/>
          </a:solidFill>
          <a:latin typeface="맑은 고딕" pitchFamily="50" charset="-127"/>
          <a:ea typeface="맑은 고딕" pitchFamily="50" charset="-127"/>
          <a:cs typeface="+mn-cs"/>
        </a:defRPr>
      </a:lvl2pPr>
      <a:lvl3pPr marL="1143000" indent="-228600" algn="l" rtl="0" eaLnBrk="0" fontAlgn="base" latinLnBrk="0" hangingPunct="0">
        <a:spcBef>
          <a:spcPct val="20000"/>
        </a:spcBef>
        <a:spcAft>
          <a:spcPct val="0"/>
        </a:spcAft>
        <a:buFont typeface="Arial" pitchFamily="34" charset="0"/>
        <a:buChar char="•"/>
        <a:defRPr sz="1600" kern="1200">
          <a:solidFill>
            <a:schemeClr val="tx1"/>
          </a:solidFill>
          <a:latin typeface="맑은 고딕" pitchFamily="50" charset="-127"/>
          <a:ea typeface="맑은 고딕" pitchFamily="50" charset="-127"/>
          <a:cs typeface="+mn-cs"/>
        </a:defRPr>
      </a:lvl3pPr>
      <a:lvl4pPr marL="16002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4pPr>
      <a:lvl5pPr marL="20574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speakerNotes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mermaidImage1" Type="http://schemas.openxmlformats.org/officeDocument/2006/relationships/image" Target="../media/mermaid-1.png"/><Relationship Id="speakerNotes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speakerNotes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speakerNotes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speakerNotes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speakerNotes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speakerNotes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speakerNotes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speakerNotes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speakerNotes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speakerNotes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speakerNotes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speakerNotes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speakerNotes1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speakerNotes1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speakerNotes1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speakerNotes1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speakerNotes2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svgImage1" Type="http://schemas.openxmlformats.org/officeDocument/2006/relationships/image" Target="../media/svg-1.png"/><Relationship Id="speakerNotes2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speakerNotes2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speakerNotes2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svgImage2" Type="http://schemas.openxmlformats.org/officeDocument/2006/relationships/image" Target="../media/svg-2.png"/><Relationship Id="speakerNotes2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speakerNotes2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speakerNotes2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speakerNotes2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speakerNotes2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svgImage3" Type="http://schemas.openxmlformats.org/officeDocument/2006/relationships/image" Target="../media/svg-3.png"/><Relationship Id="speakerNotes30"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speakerNotes3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speakerNotes3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speakerNotes3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speakerNotes3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speakerNotes3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speakerNotes3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speakerNotes3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svgImage4" Type="http://schemas.openxmlformats.org/officeDocument/2006/relationships/image" Target="../media/svg-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svgImage5" Type="http://schemas.openxmlformats.org/officeDocument/2006/relationships/image" Target="../media/svg-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svgImage6" Type="http://schemas.openxmlformats.org/officeDocument/2006/relationships/image" Target="../media/svg-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speakerNotes4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speakerNotes4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speakerNotes4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speakerNotes4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speakerNotes4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svgImage7" Type="http://schemas.openxmlformats.org/officeDocument/2006/relationships/image" Target="../media/svg-7.png"/><Relationship Id="speakerNotes48"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svgImage8" Type="http://schemas.openxmlformats.org/officeDocument/2006/relationships/image" Target="../media/svg-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svgImage9" Type="http://schemas.openxmlformats.org/officeDocument/2006/relationships/image" Target="../media/svg-9.png"/><Relationship Id="speakerNotes50"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svgImage10" Type="http://schemas.openxmlformats.org/officeDocument/2006/relationships/image" Target="../media/svg-10.png"/><Relationship Id="speakerNotes5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plantumlImage1" Type="http://schemas.openxmlformats.org/officeDocument/2006/relationships/image" Target="../media/plantuml-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speakerNotes5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svgImage11" Type="http://schemas.openxmlformats.org/officeDocument/2006/relationships/image" Target="../media/svg-11.png"/><Relationship Id="speakerNotes55"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plantumlImage2" Type="http://schemas.openxmlformats.org/officeDocument/2006/relationships/image" Target="../media/plantuml-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plantumlImage3" Type="http://schemas.openxmlformats.org/officeDocument/2006/relationships/image" Target="../media/plantuml-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speakerNotes59"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plantumlImage4" Type="http://schemas.openxmlformats.org/officeDocument/2006/relationships/image" Target="../media/plantuml-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plantumlImage5" Type="http://schemas.openxmlformats.org/officeDocument/2006/relationships/image" Target="../media/plantuml-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plantumlImage6" Type="http://schemas.openxmlformats.org/officeDocument/2006/relationships/image" Target="../media/plantuml-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speakerNotes65"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mermaidImage2" Type="http://schemas.openxmlformats.org/officeDocument/2006/relationships/image" Target="../media/mermaid-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speakerNotes67"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svgImage12" Type="http://schemas.openxmlformats.org/officeDocument/2006/relationships/image" Target="../media/svg-12.png"/><Relationship Id="speakerNotes68"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speakerNotes70"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speakerNotes71"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speakerNotes7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speakerNotes7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speakerNotes7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speakerNotes75"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speakerNotes76"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speakerNotes77"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mermaidImage3" Type="http://schemas.openxmlformats.org/officeDocument/2006/relationships/image" Target="../media/mermaid-3.png"/><Relationship Id="speakerNotes78"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speakerNotes79"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mermaidImage4" Type="http://schemas.openxmlformats.org/officeDocument/2006/relationships/image" Target="../media/mermaid-4.png"/><Relationship Id="speakerNotes80"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speakerNotes81"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speakerNotes8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mermaidImage5" Type="http://schemas.openxmlformats.org/officeDocument/2006/relationships/image" Target="../media/mermaid-5.png"/><Relationship Id="speakerNotes8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speakerNotes84"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mermaidImage6" Type="http://schemas.openxmlformats.org/officeDocument/2006/relationships/image" Target="../media/mermaid-6.png"/><Relationship Id="speakerNotes85"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mermaidImage7" Type="http://schemas.openxmlformats.org/officeDocument/2006/relationships/image" Target="../media/mermaid-7.png"/><Relationship Id="speakerNotes86"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speakerNotes87"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speakerNotes88"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plantumlImage7" Type="http://schemas.openxmlformats.org/officeDocument/2006/relationships/image" Target="../media/plantuml-7.png"/><Relationship Id="speakerNotes89"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speakerNotes90"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speakerNotes91"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plantumlImage8" Type="http://schemas.openxmlformats.org/officeDocument/2006/relationships/image" Target="../media/plantuml-8.png"/><Relationship Id="speakerNotes9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speakerNotes93" Type="http://schemas.openxmlformats.org/officeDocument/2006/relationships/notesSlide" Target="../notesSlides/notesSlide9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BBD6A-BEC8-8565-421F-EBAC1ED42CE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5A14CAC-1EBE-1F63-E3BA-E3EE686B2C73}"/>
              </a:ext>
            </a:extLst>
          </p:cNvPr>
          <p:cNvSpPr>
            <a:spLocks noGrp="1"/>
          </p:cNvSpPr>
          <p:nvPr>
            <p:ph type="title"/>
          </p:nvPr>
        </p:nvSpPr>
        <p:spPr/>
        <p:txBody>
          <a:bodyPr/>
          <a:lstStyle/>
          <a:p>
            <a:r>
              <a:rPr sz="2400" b="1">
                <a:solidFill>
                  <a:srgbClr val="000000"/>
                </a:solidFill>
                <a:latin typeface="맑은 고딕"/>
                <a:ea typeface="맑은 고딕"/>
              </a:rPr>
              <a:t>02. 요구 분석과 유스케이스 목차 </a:t>
            </a:r>
            <a:r>
              <a:rPr sz="2000" b="1">
                <a:solidFill>
                  <a:srgbClr val="000000"/>
                </a:solidFill>
                <a:latin typeface="맑은 고딕"/>
                <a:ea typeface="맑은 고딕"/>
              </a:rPr>
              <a:t>(1/2)</a:t>
            </a:r>
          </a:p>
        </p:txBody>
      </p:sp>
      <p:sp>
        <p:nvSpPr>
          <p:cNvPr id="3" name="슬라이드 번호 개체 틀 2">
            <a:extLst>
              <a:ext uri="{FF2B5EF4-FFF2-40B4-BE49-F238E27FC236}">
                <a16:creationId xmlns:a16="http://schemas.microsoft.com/office/drawing/2014/main" id="{B9EEDA23-0B0A-564A-4691-C5337C3EB287}"/>
              </a:ext>
            </a:extLst>
          </p:cNvPr>
          <p:cNvSpPr>
            <a:spLocks noGrp="1"/>
          </p:cNvSpPr>
          <p:nvPr>
            <p:ph type="sldNum" sz="quarter" idx="10"/>
          </p:nvPr>
        </p:nvSpPr>
        <p:spPr/>
        <p:txBody>
          <a:bodyPr/>
          <a:lstStyle/>
          <a:p>
            <a:pPr>
              <a:defRPr/>
            </a:pPr>
            <a:r>
              <a:rPr lang="en-US" altLang="ko-KR">
                <a:solidFill>
                  <a:prstClr val="black"/>
                </a:solidFill>
              </a:rPr>
              <a:t>- 1 -</a:t>
            </a:r>
          </a:p>
        </p:txBody>
      </p:sp>
      <p:sp>
        <p:nvSpPr>
          <p:cNvPr id="10" name="내용 개체 틀 9">
            <a:extLst>
              <a:ext uri="{FF2B5EF4-FFF2-40B4-BE49-F238E27FC236}">
                <a16:creationId xmlns:a16="http://schemas.microsoft.com/office/drawing/2014/main" id="{F02C014B-77F1-D298-AF5D-A7FD2F69A4BB}"/>
              </a:ext>
            </a:extLst>
          </p:cNvPr>
          <p:cNvSpPr>
            <a:spLocks noGrp="1"/>
          </p:cNvSpPr>
          <p:nvPr>
            <p:ph idx="1"/>
          </p:nvPr>
        </p:nvSpPr>
        <p:spPr>
          <a:xfrm>
            <a:off x="-8822" y="949064"/>
            <a:ext cx="4580822"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01. 세션 목표</a:t>
            </a:r>
          </a:p>
          <a:p>
            <a:pPr lvl="1" marL="355600" indent="0">
              <a:spcBef>
                <a:spcPts val="300"/>
              </a:spcBef>
              <a:spcAft>
                <a:spcPts val="300"/>
              </a:spcAft>
              <a:buNone/>
            </a:pPr>
            <a:r>
              <a:rPr sz="1600" b="0">
                <a:solidFill>
                  <a:srgbClr val="000000"/>
                </a:solidFill>
                <a:latin typeface="맑은 고딕"/>
                <a:ea typeface="맑은 고딕"/>
              </a:rPr>
              <a:t>02. 요구공학의 본질</a:t>
            </a:r>
          </a:p>
          <a:p>
            <a:pPr lvl="1" marL="355600" indent="0">
              <a:spcBef>
                <a:spcPts val="300"/>
              </a:spcBef>
              <a:spcAft>
                <a:spcPts val="300"/>
              </a:spcAft>
              <a:buNone/>
            </a:pPr>
            <a:r>
              <a:rPr sz="1600" b="0">
                <a:solidFill>
                  <a:srgbClr val="000000"/>
                </a:solidFill>
                <a:latin typeface="맑은 고딕"/>
                <a:ea typeface="맑은 고딕"/>
              </a:rPr>
              <a:t>03. 분석 원칙</a:t>
            </a:r>
          </a:p>
          <a:p>
            <a:pPr lvl="1" marL="355600" indent="0">
              <a:spcBef>
                <a:spcPts val="300"/>
              </a:spcBef>
              <a:spcAft>
                <a:spcPts val="300"/>
              </a:spcAft>
              <a:buNone/>
            </a:pPr>
            <a:r>
              <a:rPr sz="1600" b="0">
                <a:solidFill>
                  <a:srgbClr val="000000"/>
                </a:solidFill>
                <a:latin typeface="맑은 고딕"/>
                <a:ea typeface="맑은 고딕"/>
              </a:rPr>
              <a:t>04. 문제·요구·요구사항·해결책</a:t>
            </a:r>
          </a:p>
          <a:p>
            <a:pPr lvl="1" marL="355600" indent="0">
              <a:spcBef>
                <a:spcPts val="300"/>
              </a:spcBef>
              <a:spcAft>
                <a:spcPts val="300"/>
              </a:spcAft>
              <a:buNone/>
            </a:pPr>
            <a:r>
              <a:rPr sz="1600" b="0">
                <a:solidFill>
                  <a:srgbClr val="000000"/>
                </a:solidFill>
                <a:latin typeface="맑은 고딕"/>
                <a:ea typeface="맑은 고딕"/>
              </a:rPr>
              <a:t>05. 요청에는 무엇이 섞여 있는가?</a:t>
            </a:r>
          </a:p>
          <a:p>
            <a:pPr lvl="1" marL="355600" indent="0">
              <a:spcBef>
                <a:spcPts val="300"/>
              </a:spcBef>
              <a:spcAft>
                <a:spcPts val="300"/>
              </a:spcAft>
              <a:buNone/>
            </a:pPr>
            <a:r>
              <a:rPr sz="1600" b="0">
                <a:solidFill>
                  <a:srgbClr val="000000"/>
                </a:solidFill>
                <a:latin typeface="맑은 고딕"/>
                <a:ea typeface="맑은 고딕"/>
              </a:rPr>
              <a:t>06. 명세의 한계</a:t>
            </a:r>
          </a:p>
          <a:p>
            <a:pPr lvl="1" marL="355600" indent="0">
              <a:spcBef>
                <a:spcPts val="300"/>
              </a:spcBef>
              <a:spcAft>
                <a:spcPts val="300"/>
              </a:spcAft>
              <a:buNone/>
            </a:pPr>
            <a:r>
              <a:rPr sz="1600" b="0">
                <a:solidFill>
                  <a:srgbClr val="000000"/>
                </a:solidFill>
                <a:latin typeface="맑은 고딕"/>
                <a:ea typeface="맑은 고딕"/>
              </a:rPr>
              <a:t>07. 이벤트 중심 요구</a:t>
            </a:r>
          </a:p>
          <a:p>
            <a:pPr lvl="1" marL="355600" indent="0">
              <a:spcBef>
                <a:spcPts val="300"/>
              </a:spcBef>
              <a:spcAft>
                <a:spcPts val="300"/>
              </a:spcAft>
              <a:buNone/>
            </a:pPr>
            <a:r>
              <a:rPr sz="1600" b="0">
                <a:solidFill>
                  <a:srgbClr val="000000"/>
                </a:solidFill>
                <a:latin typeface="맑은 고딕"/>
                <a:ea typeface="맑은 고딕"/>
              </a:rPr>
              <a:t>08. 이벤트 중심 기법</a:t>
            </a:r>
          </a:p>
          <a:p>
            <a:pPr lvl="1" marL="355600" indent="0">
              <a:spcBef>
                <a:spcPts val="300"/>
              </a:spcBef>
              <a:spcAft>
                <a:spcPts val="300"/>
              </a:spcAft>
              <a:buNone/>
            </a:pPr>
            <a:r>
              <a:rPr sz="1600" b="0">
                <a:solidFill>
                  <a:srgbClr val="000000"/>
                </a:solidFill>
                <a:latin typeface="맑은 고딕"/>
                <a:ea typeface="맑은 고딕"/>
              </a:rPr>
              <a:t>09. 반복적 접근</a:t>
            </a:r>
          </a:p>
          <a:p>
            <a:pPr lvl="1" marL="355600" indent="0">
              <a:spcBef>
                <a:spcPts val="300"/>
              </a:spcBef>
              <a:spcAft>
                <a:spcPts val="300"/>
              </a:spcAft>
              <a:buNone/>
            </a:pPr>
            <a:r>
              <a:rPr sz="1600" b="0">
                <a:solidFill>
                  <a:srgbClr val="000000"/>
                </a:solidFill>
                <a:latin typeface="맑은 고딕"/>
                <a:ea typeface="맑은 고딕"/>
              </a:rPr>
              <a:t>10. AI 시대의 요구</a:t>
            </a:r>
          </a:p>
          <a:p>
            <a:pPr lvl="1" marL="355600" indent="0">
              <a:spcBef>
                <a:spcPts val="300"/>
              </a:spcBef>
              <a:spcAft>
                <a:spcPts val="300"/>
              </a:spcAft>
              <a:buNone/>
            </a:pPr>
            <a:r>
              <a:rPr sz="1600" b="0">
                <a:solidFill>
                  <a:srgbClr val="000000"/>
                </a:solidFill>
                <a:latin typeface="맑은 고딕"/>
                <a:ea typeface="맑은 고딕"/>
              </a:rPr>
              <a:t>11. 요구공학의 주요 활동</a:t>
            </a:r>
          </a:p>
          <a:p>
            <a:pPr lvl="1" marL="355600" indent="0">
              <a:spcBef>
                <a:spcPts val="300"/>
              </a:spcBef>
              <a:spcAft>
                <a:spcPts val="300"/>
              </a:spcAft>
              <a:buNone/>
            </a:pPr>
            <a:r>
              <a:rPr sz="1600" b="0">
                <a:solidFill>
                  <a:srgbClr val="000000"/>
                </a:solidFill>
                <a:latin typeface="맑은 고딕"/>
                <a:ea typeface="맑은 고딕"/>
              </a:rPr>
              <a:t>12. 요구사항 수집과 발견</a:t>
            </a:r>
          </a:p>
          <a:p>
            <a:pPr lvl="1" marL="355600" indent="0">
              <a:spcBef>
                <a:spcPts val="300"/>
              </a:spcBef>
              <a:spcAft>
                <a:spcPts val="300"/>
              </a:spcAft>
              <a:buNone/>
            </a:pPr>
            <a:r>
              <a:rPr sz="1600" b="0">
                <a:solidFill>
                  <a:srgbClr val="000000"/>
                </a:solidFill>
                <a:latin typeface="맑은 고딕"/>
                <a:ea typeface="맑은 고딕"/>
              </a:rPr>
              <a:t>13. 누가 요구를 아는가?</a:t>
            </a:r>
          </a:p>
          <a:p>
            <a:pPr lvl="1" marL="355600" indent="0">
              <a:spcBef>
                <a:spcPts val="300"/>
              </a:spcBef>
              <a:spcAft>
                <a:spcPts val="300"/>
              </a:spcAft>
              <a:buNone/>
            </a:pPr>
            <a:r>
              <a:rPr sz="1600" b="0">
                <a:solidFill>
                  <a:srgbClr val="000000"/>
                </a:solidFill>
                <a:latin typeface="맑은 고딕"/>
                <a:ea typeface="맑은 고딕"/>
              </a:rPr>
              <a:t>14. 업무·기술 불확실성</a:t>
            </a:r>
          </a:p>
          <a:p>
            <a:pPr lvl="1" marL="355600" indent="0">
              <a:spcBef>
                <a:spcPts val="300"/>
              </a:spcBef>
              <a:spcAft>
                <a:spcPts val="300"/>
              </a:spcAft>
              <a:buNone/>
            </a:pPr>
            <a:r>
              <a:rPr sz="1600" b="0">
                <a:solidFill>
                  <a:srgbClr val="000000"/>
                </a:solidFill>
                <a:latin typeface="맑은 고딕"/>
                <a:ea typeface="맑은 고딕"/>
              </a:rPr>
              <a:t>15. 경우별 접근법</a:t>
            </a:r>
          </a:p>
          <a:p>
            <a:pPr lvl="1" marL="355600" indent="0">
              <a:spcBef>
                <a:spcPts val="300"/>
              </a:spcBef>
              <a:spcAft>
                <a:spcPts val="300"/>
              </a:spcAft>
              <a:buNone/>
            </a:pPr>
            <a:r>
              <a:rPr sz="1600" b="0">
                <a:solidFill>
                  <a:srgbClr val="000000"/>
                </a:solidFill>
                <a:latin typeface="맑은 고딕"/>
                <a:ea typeface="맑은 고딕"/>
              </a:rPr>
              <a:t>16. 요구사항 유형</a:t>
            </a:r>
          </a:p>
          <a:p>
            <a:pPr lvl="1" marL="355600" indent="0">
              <a:spcBef>
                <a:spcPts val="300"/>
              </a:spcBef>
              <a:spcAft>
                <a:spcPts val="300"/>
              </a:spcAft>
              <a:buNone/>
            </a:pPr>
            <a:r>
              <a:rPr sz="1600" b="0">
                <a:solidFill>
                  <a:srgbClr val="000000"/>
                </a:solidFill>
                <a:latin typeface="맑은 고딕"/>
                <a:ea typeface="맑은 고딕"/>
              </a:rPr>
              <a:t>17. 좋은 요구사항의 자격요건</a:t>
            </a:r>
          </a:p>
        </p:txBody>
      </p:sp>
      <p:sp>
        <p:nvSpPr>
          <p:cNvPr id="5" name="텍스트 개체 틀 4">
            <a:extLst>
              <a:ext uri="{FF2B5EF4-FFF2-40B4-BE49-F238E27FC236}">
                <a16:creationId xmlns:a16="http://schemas.microsoft.com/office/drawing/2014/main" id="{BD61A0BF-30A1-CFBA-B6DC-C8AB25F4C726}"/>
              </a:ext>
            </a:extLst>
          </p:cNvPr>
          <p:cNvSpPr>
            <a:spLocks noGrp="1"/>
          </p:cNvSpPr>
          <p:nvPr>
            <p:ph type="body" sz="quarter" idx="11"/>
          </p:nvPr>
        </p:nvSpPr>
        <p:spPr/>
        <p:txBody>
          <a:bodyPr/>
          <a:lstStyle/>
          <a:p>
            <a:r>
              <a:t/>
            </a:r>
          </a:p>
        </p:txBody>
      </p:sp>
      <p:sp>
        <p:nvSpPr>
          <p:cNvPr id="6" name="텍스트 개체 틀 5">
            <a:extLst>
              <a:ext uri="{FF2B5EF4-FFF2-40B4-BE49-F238E27FC236}">
                <a16:creationId xmlns:a16="http://schemas.microsoft.com/office/drawing/2014/main" id="{DE4E919F-9032-122E-A91D-6BEFC90E2569}"/>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336ED9B1-5AD1-2C46-246C-15655B385229}"/>
              </a:ext>
            </a:extLst>
          </p:cNvPr>
          <p:cNvSpPr>
            <a:spLocks noGrp="1"/>
          </p:cNvSpPr>
          <p:nvPr>
            <p:ph type="body" sz="quarter" idx="13"/>
          </p:nvPr>
        </p:nvSpPr>
        <p:spPr/>
        <p:txBody>
          <a:bodyPr/>
          <a:lstStyle/>
          <a:p>
            <a:endParaRPr kumimoji="1" lang="en-US" altLang="ko-KR" dirty="0"/>
          </a:p>
        </p:txBody>
      </p:sp>
      <p:sp>
        <p:nvSpPr>
          <p:cNvPr id="4" name="TOC 열 4">
            <a:extLst>
              <a:ext uri="{FF2B5EF4-FFF2-40B4-BE49-F238E27FC236}">
                <a16:creationId xmlns:a16="http://schemas.microsoft.com/office/drawing/2014/main" id="{F02C014B-77F1-D298-AF5D-A7FD2F69A4BB}"/>
              </a:ext>
            </a:extLst>
          </p:cNvPr>
          <p:cNvSpPr>
            <a:spLocks noGrp="1"/>
          </p:cNvSpPr>
          <p:nvPr/>
        </p:nvSpPr>
        <p:spPr>
          <a:xfrm>
            <a:off x="4426820" y="949064"/>
            <a:ext cx="4195811"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18. 용어집</a:t>
            </a:r>
          </a:p>
          <a:p>
            <a:pPr lvl="1" marL="355600" indent="0">
              <a:spcBef>
                <a:spcPts val="300"/>
              </a:spcBef>
              <a:spcAft>
                <a:spcPts val="300"/>
              </a:spcAft>
              <a:buNone/>
            </a:pPr>
            <a:r>
              <a:rPr sz="1600" b="0">
                <a:solidFill>
                  <a:srgbClr val="000000"/>
                </a:solidFill>
                <a:latin typeface="맑은 고딕"/>
                <a:ea typeface="맑은 고딕"/>
              </a:rPr>
              <a:t>19. 유스케이스란 무엇인가?</a:t>
            </a:r>
          </a:p>
          <a:p>
            <a:pPr lvl="1" marL="355600" indent="0">
              <a:spcBef>
                <a:spcPts val="300"/>
              </a:spcBef>
              <a:spcAft>
                <a:spcPts val="300"/>
              </a:spcAft>
              <a:buNone/>
            </a:pPr>
            <a:r>
              <a:rPr sz="1600" b="0">
                <a:solidFill>
                  <a:srgbClr val="000000"/>
                </a:solidFill>
                <a:latin typeface="맑은 고딕"/>
                <a:ea typeface="맑은 고딕"/>
              </a:rPr>
              <a:t>20. 왜 유스케이스가 필요한가?</a:t>
            </a:r>
          </a:p>
          <a:p>
            <a:pPr lvl="1" marL="355600" indent="0">
              <a:spcBef>
                <a:spcPts val="300"/>
              </a:spcBef>
              <a:spcAft>
                <a:spcPts val="300"/>
              </a:spcAft>
              <a:buNone/>
            </a:pPr>
            <a:r>
              <a:rPr sz="1600" b="0">
                <a:solidFill>
                  <a:srgbClr val="000000"/>
                </a:solidFill>
                <a:latin typeface="맑은 고딕"/>
                <a:ea typeface="맑은 고딕"/>
              </a:rPr>
              <a:t>21. 유스케이스 작성 절차</a:t>
            </a:r>
          </a:p>
          <a:p>
            <a:pPr lvl="1" marL="355600" indent="0">
              <a:spcBef>
                <a:spcPts val="300"/>
              </a:spcBef>
              <a:spcAft>
                <a:spcPts val="300"/>
              </a:spcAft>
              <a:buNone/>
            </a:pPr>
            <a:r>
              <a:rPr sz="1600" b="0">
                <a:solidFill>
                  <a:srgbClr val="000000"/>
                </a:solidFill>
                <a:latin typeface="맑은 고딕"/>
                <a:ea typeface="맑은 고딕"/>
              </a:rPr>
              <a:t>22. 대상 시스템과 경계</a:t>
            </a:r>
          </a:p>
          <a:p>
            <a:pPr lvl="1" marL="355600" indent="0">
              <a:spcBef>
                <a:spcPts val="300"/>
              </a:spcBef>
              <a:spcAft>
                <a:spcPts val="300"/>
              </a:spcAft>
              <a:buNone/>
            </a:pPr>
            <a:r>
              <a:rPr sz="1600" b="0">
                <a:solidFill>
                  <a:srgbClr val="000000"/>
                </a:solidFill>
                <a:latin typeface="맑은 고딕"/>
                <a:ea typeface="맑은 고딕"/>
              </a:rPr>
              <a:t>23. 경계 판단</a:t>
            </a:r>
          </a:p>
          <a:p>
            <a:pPr lvl="1" marL="355600" indent="0">
              <a:spcBef>
                <a:spcPts val="300"/>
              </a:spcBef>
              <a:spcAft>
                <a:spcPts val="300"/>
              </a:spcAft>
              <a:buNone/>
            </a:pPr>
            <a:r>
              <a:rPr sz="1600" b="0">
                <a:solidFill>
                  <a:srgbClr val="000000"/>
                </a:solidFill>
                <a:latin typeface="맑은 고딕"/>
                <a:ea typeface="맑은 고딕"/>
              </a:rPr>
              <a:t>24. 목표와 액터</a:t>
            </a:r>
          </a:p>
          <a:p>
            <a:pPr lvl="1" marL="355600" indent="0">
              <a:spcBef>
                <a:spcPts val="300"/>
              </a:spcBef>
              <a:spcAft>
                <a:spcPts val="300"/>
              </a:spcAft>
              <a:buNone/>
            </a:pPr>
            <a:r>
              <a:rPr sz="1600" b="0">
                <a:solidFill>
                  <a:srgbClr val="000000"/>
                </a:solidFill>
                <a:latin typeface="맑은 고딕"/>
                <a:ea typeface="맑은 고딕"/>
              </a:rPr>
              <a:t>25. 유스케이스 후보 식별</a:t>
            </a:r>
          </a:p>
          <a:p>
            <a:pPr lvl="1" marL="355600" indent="0">
              <a:spcBef>
                <a:spcPts val="300"/>
              </a:spcBef>
              <a:spcAft>
                <a:spcPts val="300"/>
              </a:spcAft>
              <a:buNone/>
            </a:pPr>
            <a:r>
              <a:rPr sz="1600" b="0">
                <a:solidFill>
                  <a:srgbClr val="000000"/>
                </a:solidFill>
                <a:latin typeface="맑은 고딕"/>
                <a:ea typeface="맑은 고딕"/>
              </a:rPr>
              <a:t>26. 유스케이스 수준</a:t>
            </a:r>
          </a:p>
          <a:p>
            <a:pPr lvl="1" marL="355600" indent="0">
              <a:spcBef>
                <a:spcPts val="300"/>
              </a:spcBef>
              <a:spcAft>
                <a:spcPts val="300"/>
              </a:spcAft>
              <a:buNone/>
            </a:pPr>
            <a:r>
              <a:rPr sz="1600" b="0">
                <a:solidFill>
                  <a:srgbClr val="000000"/>
                </a:solidFill>
                <a:latin typeface="맑은 고딕"/>
                <a:ea typeface="맑은 고딕"/>
              </a:rPr>
              <a:t>27. 유스케이스 다이어그램 —</a:t>
            </a:r>
            <a:r>
              <a:rPr sz="1400" b="0">
                <a:solidFill>
                  <a:srgbClr val="000000"/>
                </a:solidFill>
                <a:latin typeface="맑은 고딕"/>
                <a:ea typeface="맑은 고딕"/>
              </a:rPr>
              <a:t> 초안</a:t>
            </a:r>
          </a:p>
          <a:p>
            <a:pPr lvl="1" marL="355600" indent="0">
              <a:spcBef>
                <a:spcPts val="300"/>
              </a:spcBef>
              <a:spcAft>
                <a:spcPts val="300"/>
              </a:spcAft>
              <a:buNone/>
            </a:pPr>
            <a:r>
              <a:rPr sz="1600" b="0">
                <a:solidFill>
                  <a:srgbClr val="000000"/>
                </a:solidFill>
                <a:latin typeface="맑은 고딕"/>
                <a:ea typeface="맑은 고딕"/>
              </a:rPr>
              <a:t>28. 유스케이스 명세 형식</a:t>
            </a:r>
          </a:p>
          <a:p>
            <a:pPr lvl="1" marL="355600" indent="0">
              <a:spcBef>
                <a:spcPts val="300"/>
              </a:spcBef>
              <a:spcAft>
                <a:spcPts val="300"/>
              </a:spcAft>
              <a:buNone/>
            </a:pPr>
            <a:r>
              <a:rPr sz="1600" b="0">
                <a:solidFill>
                  <a:srgbClr val="000000"/>
                </a:solidFill>
                <a:latin typeface="맑은 고딕"/>
                <a:ea typeface="맑은 고딕"/>
              </a:rPr>
              <a:t>29. 유스케이스 명세서 템플릿</a:t>
            </a:r>
          </a:p>
          <a:p>
            <a:pPr lvl="1" marL="355600" indent="0">
              <a:spcBef>
                <a:spcPts val="300"/>
              </a:spcBef>
              <a:spcAft>
                <a:spcPts val="300"/>
              </a:spcAft>
              <a:buNone/>
            </a:pPr>
            <a:r>
              <a:rPr sz="1600" b="0">
                <a:solidFill>
                  <a:srgbClr val="000000"/>
                </a:solidFill>
                <a:latin typeface="맑은 고딕"/>
                <a:ea typeface="맑은 고딕"/>
              </a:rPr>
              <a:t>30. 기본 이벤트 흐름</a:t>
            </a:r>
          </a:p>
          <a:p>
            <a:pPr lvl="1" marL="355600" indent="0">
              <a:spcBef>
                <a:spcPts val="300"/>
              </a:spcBef>
              <a:spcAft>
                <a:spcPts val="300"/>
              </a:spcAft>
              <a:buNone/>
            </a:pPr>
            <a:r>
              <a:rPr sz="1600" b="0">
                <a:solidFill>
                  <a:srgbClr val="000000"/>
                </a:solidFill>
                <a:latin typeface="맑은 고딕"/>
                <a:ea typeface="맑은 고딕"/>
              </a:rPr>
              <a:t>31. 규칙과 특별 요구사항</a:t>
            </a:r>
          </a:p>
          <a:p>
            <a:pPr lvl="1" marL="355600" indent="0">
              <a:spcBef>
                <a:spcPts val="300"/>
              </a:spcBef>
              <a:spcAft>
                <a:spcPts val="300"/>
              </a:spcAft>
              <a:buNone/>
            </a:pPr>
            <a:r>
              <a:rPr sz="1600" b="0">
                <a:solidFill>
                  <a:srgbClr val="000000"/>
                </a:solidFill>
                <a:latin typeface="맑은 고딕"/>
                <a:ea typeface="맑은 고딕"/>
              </a:rPr>
              <a:t>32. 이벤트 흐름을 이용한 요구 분석</a:t>
            </a:r>
          </a:p>
          <a:p>
            <a:pPr lvl="1" marL="355600" indent="0">
              <a:spcBef>
                <a:spcPts val="300"/>
              </a:spcBef>
              <a:spcAft>
                <a:spcPts val="300"/>
              </a:spcAft>
              <a:buNone/>
            </a:pPr>
            <a:r>
              <a:rPr sz="1600" b="0">
                <a:solidFill>
                  <a:srgbClr val="000000"/>
                </a:solidFill>
                <a:latin typeface="맑은 고딕"/>
                <a:ea typeface="맑은 고딕"/>
              </a:rPr>
              <a:t>33. 유스케이스 상세화</a:t>
            </a:r>
          </a:p>
          <a:p>
            <a:pPr lvl="1" marL="355600" indent="0">
              <a:spcBef>
                <a:spcPts val="300"/>
              </a:spcBef>
              <a:spcAft>
                <a:spcPts val="300"/>
              </a:spcAft>
              <a:buNone/>
            </a:pPr>
            <a:r>
              <a:rPr sz="1600" b="0">
                <a:solidFill>
                  <a:srgbClr val="000000"/>
                </a:solidFill>
                <a:latin typeface="맑은 고딕"/>
                <a:ea typeface="맑은 고딕"/>
              </a:rPr>
              <a:t>34. 유스케이스 다이어그램 —</a:t>
            </a:r>
            <a:r>
              <a:rPr sz="1400" b="0">
                <a:solidFill>
                  <a:srgbClr val="000000"/>
                </a:solidFill>
                <a:latin typeface="맑은 고딕"/>
                <a:ea typeface="맑은 고딕"/>
              </a:rPr>
              <a:t> 상세화</a:t>
            </a:r>
          </a:p>
        </p:txBody>
      </p:sp>
    </p:spTree>
    <p:extLst>
      <p:ext uri="{BB962C8B-B14F-4D97-AF65-F5344CB8AC3E}">
        <p14:creationId xmlns:p14="http://schemas.microsoft.com/office/powerpoint/2010/main" val="1198101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BBD6A-BEC8-8565-421F-EBAC1ED42CE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5A14CAC-1EBE-1F63-E3BA-E3EE686B2C73}"/>
              </a:ext>
            </a:extLst>
          </p:cNvPr>
          <p:cNvSpPr>
            <a:spLocks noGrp="1"/>
          </p:cNvSpPr>
          <p:nvPr>
            <p:ph type="title"/>
          </p:nvPr>
        </p:nvSpPr>
        <p:spPr/>
        <p:txBody>
          <a:bodyPr/>
          <a:lstStyle/>
          <a:p>
            <a:r>
              <a:rPr sz="2400" b="1">
                <a:solidFill>
                  <a:srgbClr val="000000"/>
                </a:solidFill>
                <a:latin typeface="맑은 고딕"/>
                <a:ea typeface="맑은 고딕"/>
              </a:rPr>
              <a:t>02. 요구 분석과 유스케이스 목차 </a:t>
            </a:r>
            <a:r>
              <a:rPr sz="2000" b="1">
                <a:solidFill>
                  <a:srgbClr val="000000"/>
                </a:solidFill>
                <a:latin typeface="맑은 고딕"/>
                <a:ea typeface="맑은 고딕"/>
              </a:rPr>
              <a:t>(2/2)</a:t>
            </a:r>
          </a:p>
        </p:txBody>
      </p:sp>
      <p:sp>
        <p:nvSpPr>
          <p:cNvPr id="3" name="슬라이드 번호 개체 틀 2">
            <a:extLst>
              <a:ext uri="{FF2B5EF4-FFF2-40B4-BE49-F238E27FC236}">
                <a16:creationId xmlns:a16="http://schemas.microsoft.com/office/drawing/2014/main" id="{B9EEDA23-0B0A-564A-4691-C5337C3EB287}"/>
              </a:ext>
            </a:extLst>
          </p:cNvPr>
          <p:cNvSpPr>
            <a:spLocks noGrp="1"/>
          </p:cNvSpPr>
          <p:nvPr>
            <p:ph type="sldNum" sz="quarter" idx="10"/>
          </p:nvPr>
        </p:nvSpPr>
        <p:spPr/>
        <p:txBody>
          <a:bodyPr/>
          <a:lstStyle/>
          <a:p>
            <a:pPr>
              <a:defRPr/>
            </a:pPr>
            <a:r>
              <a:rPr lang="en-US" altLang="ko-KR">
                <a:solidFill>
                  <a:prstClr val="black"/>
                </a:solidFill>
              </a:rPr>
              <a:t>- 2 -</a:t>
            </a:r>
          </a:p>
        </p:txBody>
      </p:sp>
      <p:sp>
        <p:nvSpPr>
          <p:cNvPr id="10" name="내용 개체 틀 9">
            <a:extLst>
              <a:ext uri="{FF2B5EF4-FFF2-40B4-BE49-F238E27FC236}">
                <a16:creationId xmlns:a16="http://schemas.microsoft.com/office/drawing/2014/main" id="{F02C014B-77F1-D298-AF5D-A7FD2F69A4BB}"/>
              </a:ext>
            </a:extLst>
          </p:cNvPr>
          <p:cNvSpPr>
            <a:spLocks noGrp="1"/>
          </p:cNvSpPr>
          <p:nvPr>
            <p:ph idx="1"/>
          </p:nvPr>
        </p:nvSpPr>
        <p:spPr>
          <a:xfrm>
            <a:off x="-8822" y="949064"/>
            <a:ext cx="4580822"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35. 잘못된 관행 —</a:t>
            </a:r>
            <a:r>
              <a:rPr sz="1400" b="0">
                <a:solidFill>
                  <a:srgbClr val="000000"/>
                </a:solidFill>
                <a:latin typeface="맑은 고딕"/>
                <a:ea typeface="맑은 고딕"/>
              </a:rPr>
              <a:t> 기능 분할</a:t>
            </a:r>
          </a:p>
          <a:p>
            <a:pPr lvl="1" marL="355600" indent="0">
              <a:spcBef>
                <a:spcPts val="300"/>
              </a:spcBef>
              <a:spcAft>
                <a:spcPts val="300"/>
              </a:spcAft>
              <a:buNone/>
            </a:pPr>
            <a:r>
              <a:rPr sz="1600" b="0">
                <a:solidFill>
                  <a:srgbClr val="000000"/>
                </a:solidFill>
                <a:latin typeface="맑은 고딕"/>
                <a:ea typeface="맑은 고딕"/>
              </a:rPr>
              <a:t>36. 잘못된 관행 —</a:t>
            </a:r>
            <a:r>
              <a:rPr sz="1400" b="0">
                <a:solidFill>
                  <a:srgbClr val="000000"/>
                </a:solidFill>
                <a:latin typeface="맑은 고딕"/>
                <a:ea typeface="맑은 고딕"/>
              </a:rPr>
              <a:t> CRUD 분할</a:t>
            </a:r>
          </a:p>
          <a:p>
            <a:pPr lvl="1" marL="355600" indent="0">
              <a:spcBef>
                <a:spcPts val="300"/>
              </a:spcBef>
              <a:spcAft>
                <a:spcPts val="300"/>
              </a:spcAft>
              <a:buNone/>
            </a:pPr>
            <a:r>
              <a:rPr sz="1600" b="0">
                <a:solidFill>
                  <a:srgbClr val="000000"/>
                </a:solidFill>
                <a:latin typeface="맑은 고딕"/>
                <a:ea typeface="맑은 고딕"/>
              </a:rPr>
              <a:t>37. 잘못된 관행 —</a:t>
            </a:r>
            <a:r>
              <a:rPr sz="1400" b="0">
                <a:solidFill>
                  <a:srgbClr val="000000"/>
                </a:solidFill>
                <a:latin typeface="맑은 고딕"/>
                <a:ea typeface="맑은 고딕"/>
              </a:rPr>
              <a:t> 화면·기술 요소</a:t>
            </a:r>
          </a:p>
          <a:p>
            <a:pPr lvl="1" marL="355600" indent="0">
              <a:spcBef>
                <a:spcPts val="300"/>
              </a:spcBef>
              <a:spcAft>
                <a:spcPts val="300"/>
              </a:spcAft>
              <a:buNone/>
            </a:pPr>
            <a:r>
              <a:rPr sz="1600" b="0">
                <a:solidFill>
                  <a:srgbClr val="000000"/>
                </a:solidFill>
                <a:latin typeface="맑은 고딕"/>
                <a:ea typeface="맑은 고딕"/>
              </a:rPr>
              <a:t>38. 잘못된 관행 —</a:t>
            </a:r>
            <a:r>
              <a:rPr sz="1400" b="0">
                <a:solidFill>
                  <a:srgbClr val="000000"/>
                </a:solidFill>
                <a:latin typeface="맑은 고딕"/>
                <a:ea typeface="맑은 고딕"/>
              </a:rPr>
              <a:t> 시스템 관점·액터</a:t>
            </a:r>
          </a:p>
          <a:p>
            <a:pPr lvl="1" marL="355600" indent="0">
              <a:spcBef>
                <a:spcPts val="300"/>
              </a:spcBef>
              <a:spcAft>
                <a:spcPts val="300"/>
              </a:spcAft>
              <a:buNone/>
            </a:pPr>
            <a:r>
              <a:rPr sz="1600" b="0">
                <a:solidFill>
                  <a:srgbClr val="000000"/>
                </a:solidFill>
                <a:latin typeface="맑은 고딕"/>
                <a:ea typeface="맑은 고딕"/>
              </a:rPr>
              <a:t>39. 잘못된 관행 —</a:t>
            </a:r>
            <a:r>
              <a:rPr sz="1400" b="0">
                <a:solidFill>
                  <a:srgbClr val="000000"/>
                </a:solidFill>
                <a:latin typeface="맑은 고딕"/>
                <a:ea typeface="맑은 고딕"/>
              </a:rPr>
              <a:t> 명세 과잉·방치</a:t>
            </a:r>
          </a:p>
          <a:p>
            <a:pPr lvl="1" marL="355600" indent="0">
              <a:spcBef>
                <a:spcPts val="300"/>
              </a:spcBef>
              <a:spcAft>
                <a:spcPts val="300"/>
              </a:spcAft>
              <a:buNone/>
            </a:pPr>
            <a:r>
              <a:rPr sz="1600" b="0">
                <a:solidFill>
                  <a:srgbClr val="000000"/>
                </a:solidFill>
                <a:latin typeface="맑은 고딕"/>
                <a:ea typeface="맑은 고딕"/>
              </a:rPr>
              <a:t>40. 잘못된 유스케이스 다이어그램</a:t>
            </a:r>
          </a:p>
          <a:p>
            <a:pPr lvl="1" marL="355600" indent="0">
              <a:spcBef>
                <a:spcPts val="300"/>
              </a:spcBef>
              <a:spcAft>
                <a:spcPts val="300"/>
              </a:spcAft>
              <a:buNone/>
            </a:pPr>
            <a:r>
              <a:rPr sz="1600" b="0">
                <a:solidFill>
                  <a:srgbClr val="000000"/>
                </a:solidFill>
                <a:latin typeface="맑은 고딕"/>
                <a:ea typeface="맑은 고딕"/>
              </a:rPr>
              <a:t>41. 시스템 시퀀스 다이어그램</a:t>
            </a:r>
          </a:p>
          <a:p>
            <a:pPr lvl="1" marL="355600" indent="0">
              <a:spcBef>
                <a:spcPts val="300"/>
              </a:spcBef>
              <a:spcAft>
                <a:spcPts val="300"/>
              </a:spcAft>
              <a:buNone/>
            </a:pPr>
            <a:r>
              <a:rPr sz="1600" b="0">
                <a:solidFill>
                  <a:srgbClr val="000000"/>
                </a:solidFill>
                <a:latin typeface="맑은 고딕"/>
                <a:ea typeface="맑은 고딕"/>
              </a:rPr>
              <a:t>42. SSD 초안</a:t>
            </a:r>
          </a:p>
          <a:p>
            <a:pPr lvl="1" marL="355600" indent="0">
              <a:spcBef>
                <a:spcPts val="300"/>
              </a:spcBef>
              <a:spcAft>
                <a:spcPts val="300"/>
              </a:spcAft>
              <a:buNone/>
            </a:pPr>
            <a:r>
              <a:rPr sz="1600" b="0">
                <a:solidFill>
                  <a:srgbClr val="000000"/>
                </a:solidFill>
                <a:latin typeface="맑은 고딕"/>
                <a:ea typeface="맑은 고딕"/>
              </a:rPr>
              <a:t>43. 시스템 이벤트와 오퍼레이션</a:t>
            </a:r>
          </a:p>
          <a:p>
            <a:pPr lvl="1" marL="355600" indent="0">
              <a:spcBef>
                <a:spcPts val="300"/>
              </a:spcBef>
              <a:spcAft>
                <a:spcPts val="300"/>
              </a:spcAft>
              <a:buNone/>
            </a:pPr>
            <a:r>
              <a:rPr sz="1600" b="0">
                <a:solidFill>
                  <a:srgbClr val="000000"/>
                </a:solidFill>
                <a:latin typeface="맑은 고딕"/>
                <a:ea typeface="맑은 고딕"/>
              </a:rPr>
              <a:t>44. 정제된 SSD</a:t>
            </a:r>
          </a:p>
          <a:p>
            <a:pPr lvl="1" marL="355600" indent="0">
              <a:spcBef>
                <a:spcPts val="300"/>
              </a:spcBef>
              <a:spcAft>
                <a:spcPts val="300"/>
              </a:spcAft>
              <a:buNone/>
            </a:pPr>
            <a:r>
              <a:rPr sz="1600" b="0">
                <a:solidFill>
                  <a:srgbClr val="000000"/>
                </a:solidFill>
                <a:latin typeface="맑은 고딕"/>
                <a:ea typeface="맑은 고딕"/>
              </a:rPr>
              <a:t>45. 시스템 오퍼레이션과 계약</a:t>
            </a:r>
          </a:p>
          <a:p>
            <a:pPr lvl="1" marL="355600" indent="0">
              <a:spcBef>
                <a:spcPts val="300"/>
              </a:spcBef>
              <a:spcAft>
                <a:spcPts val="300"/>
              </a:spcAft>
              <a:buNone/>
            </a:pPr>
            <a:r>
              <a:rPr sz="1600" b="0">
                <a:solidFill>
                  <a:srgbClr val="000000"/>
                </a:solidFill>
                <a:latin typeface="맑은 고딕"/>
                <a:ea typeface="맑은 고딕"/>
              </a:rPr>
              <a:t>46. 정적·동적 모델을 통한 상세화</a:t>
            </a:r>
          </a:p>
          <a:p>
            <a:pPr lvl="1" marL="355600" indent="0">
              <a:spcBef>
                <a:spcPts val="300"/>
              </a:spcBef>
              <a:spcAft>
                <a:spcPts val="300"/>
              </a:spcAft>
              <a:buNone/>
            </a:pPr>
            <a:r>
              <a:rPr sz="1600" b="0">
                <a:solidFill>
                  <a:srgbClr val="000000"/>
                </a:solidFill>
                <a:latin typeface="맑은 고딕"/>
                <a:ea typeface="맑은 고딕"/>
              </a:rPr>
              <a:t>47. 유스케이스와 품질속성</a:t>
            </a:r>
          </a:p>
          <a:p>
            <a:pPr lvl="1" marL="355600" indent="0">
              <a:spcBef>
                <a:spcPts val="300"/>
              </a:spcBef>
              <a:spcAft>
                <a:spcPts val="300"/>
              </a:spcAft>
              <a:buNone/>
            </a:pPr>
            <a:r>
              <a:rPr sz="1600" b="0">
                <a:solidFill>
                  <a:srgbClr val="000000"/>
                </a:solidFill>
                <a:latin typeface="맑은 고딕"/>
                <a:ea typeface="맑은 고딕"/>
              </a:rPr>
              <a:t>48. 프로토타입·와이어프레임</a:t>
            </a:r>
          </a:p>
          <a:p>
            <a:pPr lvl="1" marL="355600" indent="0">
              <a:spcBef>
                <a:spcPts val="300"/>
              </a:spcBef>
              <a:spcAft>
                <a:spcPts val="300"/>
              </a:spcAft>
              <a:buNone/>
            </a:pPr>
            <a:r>
              <a:rPr sz="1600" b="0">
                <a:solidFill>
                  <a:srgbClr val="000000"/>
                </a:solidFill>
                <a:latin typeface="맑은 고딕"/>
                <a:ea typeface="맑은 고딕"/>
              </a:rPr>
              <a:t>49. 유저 스토리</a:t>
            </a:r>
          </a:p>
          <a:p>
            <a:pPr lvl="1" marL="355600" indent="0">
              <a:spcBef>
                <a:spcPts val="300"/>
              </a:spcBef>
              <a:spcAft>
                <a:spcPts val="300"/>
              </a:spcAft>
              <a:buNone/>
            </a:pPr>
            <a:r>
              <a:rPr sz="1600" b="0">
                <a:solidFill>
                  <a:srgbClr val="000000"/>
                </a:solidFill>
                <a:latin typeface="맑은 고딕"/>
                <a:ea typeface="맑은 고딕"/>
              </a:rPr>
              <a:t>50. 스토리의 문형과 가치</a:t>
            </a:r>
          </a:p>
          <a:p>
            <a:pPr lvl="1" marL="355600" indent="0">
              <a:spcBef>
                <a:spcPts val="300"/>
              </a:spcBef>
              <a:spcAft>
                <a:spcPts val="300"/>
              </a:spcAft>
              <a:buNone/>
            </a:pPr>
            <a:r>
              <a:rPr sz="1600" b="0">
                <a:solidFill>
                  <a:srgbClr val="000000"/>
                </a:solidFill>
                <a:latin typeface="맑은 고딕"/>
                <a:ea typeface="맑은 고딕"/>
              </a:rPr>
              <a:t>51. 좋은 유저 스토리 —</a:t>
            </a:r>
            <a:r>
              <a:rPr sz="1400" b="0">
                <a:solidFill>
                  <a:srgbClr val="000000"/>
                </a:solidFill>
                <a:latin typeface="맑은 고딕"/>
                <a:ea typeface="맑은 고딕"/>
              </a:rPr>
              <a:t> INVEST</a:t>
            </a:r>
          </a:p>
        </p:txBody>
      </p:sp>
      <p:sp>
        <p:nvSpPr>
          <p:cNvPr id="5" name="텍스트 개체 틀 4">
            <a:extLst>
              <a:ext uri="{FF2B5EF4-FFF2-40B4-BE49-F238E27FC236}">
                <a16:creationId xmlns:a16="http://schemas.microsoft.com/office/drawing/2014/main" id="{BD61A0BF-30A1-CFBA-B6DC-C8AB25F4C726}"/>
              </a:ext>
            </a:extLst>
          </p:cNvPr>
          <p:cNvSpPr>
            <a:spLocks noGrp="1"/>
          </p:cNvSpPr>
          <p:nvPr>
            <p:ph type="body" sz="quarter" idx="11"/>
          </p:nvPr>
        </p:nvSpPr>
        <p:spPr/>
        <p:txBody>
          <a:bodyPr/>
          <a:lstStyle/>
          <a:p>
            <a:r>
              <a:t/>
            </a:r>
          </a:p>
        </p:txBody>
      </p:sp>
      <p:sp>
        <p:nvSpPr>
          <p:cNvPr id="6" name="텍스트 개체 틀 5">
            <a:extLst>
              <a:ext uri="{FF2B5EF4-FFF2-40B4-BE49-F238E27FC236}">
                <a16:creationId xmlns:a16="http://schemas.microsoft.com/office/drawing/2014/main" id="{DE4E919F-9032-122E-A91D-6BEFC90E2569}"/>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336ED9B1-5AD1-2C46-246C-15655B385229}"/>
              </a:ext>
            </a:extLst>
          </p:cNvPr>
          <p:cNvSpPr>
            <a:spLocks noGrp="1"/>
          </p:cNvSpPr>
          <p:nvPr>
            <p:ph type="body" sz="quarter" idx="13"/>
          </p:nvPr>
        </p:nvSpPr>
        <p:spPr/>
        <p:txBody>
          <a:bodyPr/>
          <a:lstStyle/>
          <a:p>
            <a:endParaRPr kumimoji="1" lang="en-US" altLang="ko-KR" dirty="0"/>
          </a:p>
        </p:txBody>
      </p:sp>
      <p:sp>
        <p:nvSpPr>
          <p:cNvPr id="4" name="TOC 열 4">
            <a:extLst>
              <a:ext uri="{FF2B5EF4-FFF2-40B4-BE49-F238E27FC236}">
                <a16:creationId xmlns:a16="http://schemas.microsoft.com/office/drawing/2014/main" id="{F02C014B-77F1-D298-AF5D-A7FD2F69A4BB}"/>
              </a:ext>
            </a:extLst>
          </p:cNvPr>
          <p:cNvSpPr>
            <a:spLocks noGrp="1"/>
          </p:cNvSpPr>
          <p:nvPr/>
        </p:nvSpPr>
        <p:spPr>
          <a:xfrm>
            <a:off x="4426820" y="949064"/>
            <a:ext cx="4195811"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52. 스토리 나누기</a:t>
            </a:r>
          </a:p>
          <a:p>
            <a:pPr lvl="1" marL="355600" indent="0">
              <a:spcBef>
                <a:spcPts val="300"/>
              </a:spcBef>
              <a:spcAft>
                <a:spcPts val="300"/>
              </a:spcAft>
              <a:buNone/>
            </a:pPr>
            <a:r>
              <a:rPr sz="1600" b="0">
                <a:solidFill>
                  <a:srgbClr val="000000"/>
                </a:solidFill>
                <a:latin typeface="맑은 고딕"/>
                <a:ea typeface="맑은 고딕"/>
              </a:rPr>
              <a:t>53. 잘못된 유저 스토리</a:t>
            </a:r>
          </a:p>
          <a:p>
            <a:pPr lvl="1" marL="355600" indent="0">
              <a:spcBef>
                <a:spcPts val="300"/>
              </a:spcBef>
              <a:spcAft>
                <a:spcPts val="300"/>
              </a:spcAft>
              <a:buNone/>
            </a:pPr>
            <a:r>
              <a:rPr sz="1600" b="0">
                <a:solidFill>
                  <a:srgbClr val="000000"/>
                </a:solidFill>
                <a:latin typeface="맑은 고딕"/>
                <a:ea typeface="맑은 고딕"/>
              </a:rPr>
              <a:t>54. 유저 스토리의 강점과 한계</a:t>
            </a:r>
          </a:p>
          <a:p>
            <a:pPr lvl="1" marL="355600" indent="0">
              <a:spcBef>
                <a:spcPts val="300"/>
              </a:spcBef>
              <a:spcAft>
                <a:spcPts val="300"/>
              </a:spcAft>
              <a:buNone/>
            </a:pPr>
            <a:r>
              <a:rPr sz="1600" b="0">
                <a:solidFill>
                  <a:srgbClr val="000000"/>
                </a:solidFill>
                <a:latin typeface="맑은 고딕"/>
                <a:ea typeface="맑은 고딕"/>
              </a:rPr>
              <a:t>55. 행위 주도 개발</a:t>
            </a:r>
          </a:p>
          <a:p>
            <a:pPr lvl="1" marL="355600" indent="0">
              <a:spcBef>
                <a:spcPts val="300"/>
              </a:spcBef>
              <a:spcAft>
                <a:spcPts val="300"/>
              </a:spcAft>
              <a:buNone/>
            </a:pPr>
            <a:r>
              <a:rPr sz="1600" b="0">
                <a:solidFill>
                  <a:srgbClr val="000000"/>
                </a:solidFill>
                <a:latin typeface="맑은 고딕"/>
                <a:ea typeface="맑은 고딕"/>
              </a:rPr>
              <a:t>56. Given-When-Then</a:t>
            </a:r>
          </a:p>
          <a:p>
            <a:pPr lvl="1" marL="355600" indent="0">
              <a:spcBef>
                <a:spcPts val="300"/>
              </a:spcBef>
              <a:spcAft>
                <a:spcPts val="300"/>
              </a:spcAft>
              <a:buNone/>
            </a:pPr>
            <a:r>
              <a:rPr sz="1600" b="0">
                <a:solidFill>
                  <a:srgbClr val="000000"/>
                </a:solidFill>
                <a:latin typeface="맑은 고딕"/>
                <a:ea typeface="맑은 고딕"/>
              </a:rPr>
              <a:t>57. Example Mapping</a:t>
            </a:r>
          </a:p>
          <a:p>
            <a:pPr lvl="1" marL="355600" indent="0">
              <a:spcBef>
                <a:spcPts val="300"/>
              </a:spcBef>
              <a:spcAft>
                <a:spcPts val="300"/>
              </a:spcAft>
              <a:buNone/>
            </a:pPr>
            <a:r>
              <a:rPr sz="1600" b="0">
                <a:solidFill>
                  <a:srgbClr val="000000"/>
                </a:solidFill>
                <a:latin typeface="맑은 고딕"/>
                <a:ea typeface="맑은 고딕"/>
              </a:rPr>
              <a:t>58. 행위 주도 개발의 강점과 한계</a:t>
            </a:r>
          </a:p>
          <a:p>
            <a:pPr lvl="1" marL="355600" indent="0">
              <a:spcBef>
                <a:spcPts val="300"/>
              </a:spcBef>
              <a:spcAft>
                <a:spcPts val="300"/>
              </a:spcAft>
              <a:buNone/>
            </a:pPr>
            <a:r>
              <a:rPr sz="1600" b="0">
                <a:solidFill>
                  <a:srgbClr val="000000"/>
                </a:solidFill>
                <a:latin typeface="맑은 고딕"/>
                <a:ea typeface="맑은 고딕"/>
              </a:rPr>
              <a:t>59. 유스케이스·유저 스토리·BDD</a:t>
            </a:r>
          </a:p>
          <a:p>
            <a:pPr lvl="1" marL="355600" indent="0">
              <a:spcBef>
                <a:spcPts val="300"/>
              </a:spcBef>
              <a:spcAft>
                <a:spcPts val="300"/>
              </a:spcAft>
              <a:buNone/>
            </a:pPr>
            <a:r>
              <a:rPr sz="1600" b="0">
                <a:solidFill>
                  <a:srgbClr val="000000"/>
                </a:solidFill>
                <a:latin typeface="맑은 고딕"/>
                <a:ea typeface="맑은 고딕"/>
              </a:rPr>
              <a:t>60. 명세 주도 개발</a:t>
            </a:r>
          </a:p>
          <a:p>
            <a:pPr lvl="1" marL="355600" indent="0">
              <a:spcBef>
                <a:spcPts val="300"/>
              </a:spcBef>
              <a:spcAft>
                <a:spcPts val="300"/>
              </a:spcAft>
              <a:buNone/>
            </a:pPr>
            <a:r>
              <a:rPr sz="1600" b="0">
                <a:solidFill>
                  <a:srgbClr val="000000"/>
                </a:solidFill>
                <a:latin typeface="맑은 고딕"/>
                <a:ea typeface="맑은 고딕"/>
              </a:rPr>
              <a:t>61. 명세 주도 개발의 한계</a:t>
            </a:r>
          </a:p>
          <a:p>
            <a:pPr lvl="1" marL="355600" indent="0">
              <a:spcBef>
                <a:spcPts val="300"/>
              </a:spcBef>
              <a:spcAft>
                <a:spcPts val="300"/>
              </a:spcAft>
              <a:buNone/>
            </a:pPr>
            <a:r>
              <a:rPr sz="1600" b="0">
                <a:solidFill>
                  <a:srgbClr val="000000"/>
                </a:solidFill>
                <a:latin typeface="맑은 고딕"/>
                <a:ea typeface="맑은 고딕"/>
              </a:rPr>
              <a:t>62. 요구사항 검증</a:t>
            </a:r>
          </a:p>
          <a:p>
            <a:pPr lvl="1" marL="355600" indent="0">
              <a:spcBef>
                <a:spcPts val="300"/>
              </a:spcBef>
              <a:spcAft>
                <a:spcPts val="300"/>
              </a:spcAft>
              <a:buNone/>
            </a:pPr>
            <a:r>
              <a:rPr sz="1600" b="0">
                <a:solidFill>
                  <a:srgbClr val="000000"/>
                </a:solidFill>
                <a:latin typeface="맑은 고딕"/>
                <a:ea typeface="맑은 고딕"/>
              </a:rPr>
              <a:t>63. 요구사항 관리</a:t>
            </a:r>
          </a:p>
          <a:p>
            <a:pPr lvl="1" marL="355600" indent="0">
              <a:spcBef>
                <a:spcPts val="300"/>
              </a:spcBef>
              <a:spcAft>
                <a:spcPts val="300"/>
              </a:spcAft>
              <a:buNone/>
            </a:pPr>
            <a:r>
              <a:rPr sz="1600" b="0">
                <a:solidFill>
                  <a:srgbClr val="000000"/>
                </a:solidFill>
                <a:latin typeface="맑은 고딕"/>
                <a:ea typeface="맑은 고딕"/>
              </a:rPr>
              <a:t>64. 요구사항 추적</a:t>
            </a:r>
          </a:p>
          <a:p>
            <a:pPr lvl="1" marL="355600" indent="0">
              <a:spcBef>
                <a:spcPts val="300"/>
              </a:spcBef>
              <a:spcAft>
                <a:spcPts val="300"/>
              </a:spcAft>
              <a:buNone/>
            </a:pPr>
            <a:r>
              <a:rPr sz="1600" b="0">
                <a:solidFill>
                  <a:srgbClr val="000000"/>
                </a:solidFill>
                <a:latin typeface="맑은 고딕"/>
                <a:ea typeface="맑은 고딕"/>
              </a:rPr>
              <a:t>65. 요구사항에서 학습으로</a:t>
            </a:r>
          </a:p>
          <a:p>
            <a:pPr lvl="1" marL="355600" indent="0">
              <a:spcBef>
                <a:spcPts val="300"/>
              </a:spcBef>
              <a:spcAft>
                <a:spcPts val="300"/>
              </a:spcAft>
              <a:buNone/>
            </a:pPr>
            <a:r>
              <a:rPr sz="1600" b="0">
                <a:solidFill>
                  <a:srgbClr val="000000"/>
                </a:solidFill>
                <a:latin typeface="맑은 고딕"/>
                <a:ea typeface="맑은 고딕"/>
              </a:rPr>
              <a:t>66. 실습 —</a:t>
            </a:r>
            <a:r>
              <a:rPr sz="1400" b="0">
                <a:solidFill>
                  <a:srgbClr val="000000"/>
                </a:solidFill>
                <a:latin typeface="맑은 고딕"/>
                <a:ea typeface="맑은 고딕"/>
              </a:rPr>
              <a:t> 유스케이스</a:t>
            </a:r>
          </a:p>
          <a:p>
            <a:pPr lvl="1" marL="355600" indent="0">
              <a:spcBef>
                <a:spcPts val="300"/>
              </a:spcBef>
              <a:spcAft>
                <a:spcPts val="300"/>
              </a:spcAft>
              <a:buNone/>
            </a:pPr>
            <a:r>
              <a:rPr sz="1600" b="0">
                <a:solidFill>
                  <a:srgbClr val="000000"/>
                </a:solidFill>
                <a:latin typeface="맑은 고딕"/>
                <a:ea typeface="맑은 고딕"/>
              </a:rPr>
              <a:t>67. 요약</a:t>
            </a:r>
          </a:p>
        </p:txBody>
      </p:sp>
    </p:spTree>
    <p:extLst>
      <p:ext uri="{BB962C8B-B14F-4D97-AF65-F5344CB8AC3E}">
        <p14:creationId xmlns:p14="http://schemas.microsoft.com/office/powerpoint/2010/main" val="1198101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01. 세션 목표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요구 분석은 </a:t>
            </a:r>
            <a:r>
              <a:rPr sz="1800" b="1">
                <a:solidFill>
                  <a:srgbClr val="000000"/>
                </a:solidFill>
                <a:latin typeface="맑은 고딕"/>
                <a:ea typeface="맑은 고딕"/>
              </a:rPr>
              <a:t>문제를 발견해 요구사항을 정제하고, 유스케이스로 목표와 시스템 책임을 표현·검증하는 활동</a:t>
            </a:r>
            <a:r>
              <a:rPr sz="1800" b="0">
                <a:solidFill>
                  <a:srgbClr val="000000"/>
                </a:solidFill>
                <a:latin typeface="맑은 고딕"/>
                <a:ea typeface="맑은 고딕"/>
              </a:rPr>
              <a:t>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문제·요구·요구사항·해결책</a:t>
            </a:r>
            <a:r>
              <a:rPr sz="1800" b="0">
                <a:solidFill>
                  <a:srgbClr val="000000"/>
                </a:solidFill>
                <a:latin typeface="맑은 고딕"/>
                <a:ea typeface="맑은 고딕"/>
              </a:rPr>
              <a:t>을 구분하고, 요구공학의 주요 활동과 요구사항 유형을 설명하며, </a:t>
            </a:r>
            <a:r>
              <a:rPr sz="1800" b="1">
                <a:solidFill>
                  <a:srgbClr val="000000"/>
                </a:solidFill>
                <a:latin typeface="맑은 고딕"/>
                <a:ea typeface="맑은 고딕"/>
              </a:rPr>
              <a:t>용어집</a:t>
            </a:r>
            <a:r>
              <a:rPr sz="1800" b="0">
                <a:solidFill>
                  <a:srgbClr val="000000"/>
                </a:solidFill>
                <a:latin typeface="맑은 고딕"/>
                <a:ea typeface="맑은 고딕"/>
              </a:rPr>
              <a:t>으로 용어의 뜻과 이름을 고정한다.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명세의 한계를 이해하고 </a:t>
            </a:r>
            <a:r>
              <a:rPr sz="1800" b="1">
                <a:solidFill>
                  <a:srgbClr val="000000"/>
                </a:solidFill>
                <a:latin typeface="맑은 고딕"/>
                <a:ea typeface="맑은 고딕"/>
              </a:rPr>
              <a:t>이벤트</a:t>
            </a:r>
            <a:r>
              <a:rPr sz="1800" b="0">
                <a:solidFill>
                  <a:srgbClr val="000000"/>
                </a:solidFill>
                <a:latin typeface="맑은 고딕"/>
                <a:ea typeface="맑은 고딕"/>
              </a:rPr>
              <a:t>를 요구 합의의 공통 단위로 사용하며, 불확실성에 따라 </a:t>
            </a:r>
            <a:r>
              <a:rPr sz="1800" b="1">
                <a:solidFill>
                  <a:srgbClr val="000000"/>
                </a:solidFill>
                <a:latin typeface="맑은 고딕"/>
                <a:ea typeface="맑은 고딕"/>
              </a:rPr>
              <a:t>요구 접근법</a:t>
            </a:r>
            <a:r>
              <a:rPr sz="1800" b="0">
                <a:solidFill>
                  <a:srgbClr val="000000"/>
                </a:solidFill>
                <a:latin typeface="맑은 고딕"/>
                <a:ea typeface="맑은 고딕"/>
              </a:rPr>
              <a:t>을 달리한다.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유스케이스를 </a:t>
            </a:r>
            <a:r>
              <a:rPr sz="1800" b="1">
                <a:solidFill>
                  <a:srgbClr val="000000"/>
                </a:solidFill>
                <a:latin typeface="맑은 고딕"/>
                <a:ea typeface="맑은 고딕"/>
              </a:rPr>
              <a:t>목표 중심</a:t>
            </a:r>
            <a:r>
              <a:rPr sz="1800" b="0">
                <a:solidFill>
                  <a:srgbClr val="000000"/>
                </a:solidFill>
                <a:latin typeface="맑은 고딕"/>
                <a:ea typeface="맑은 고딕"/>
              </a:rPr>
              <a:t>으로 식별·상세화하고, 기능 분해·CRUD·화면 명세 같은 </a:t>
            </a:r>
            <a:r>
              <a:rPr sz="1800" b="1">
                <a:solidFill>
                  <a:srgbClr val="000000"/>
                </a:solidFill>
                <a:latin typeface="맑은 고딕"/>
                <a:ea typeface="맑은 고딕"/>
              </a:rPr>
              <a:t>잘못된 관행</a:t>
            </a:r>
            <a:r>
              <a:rPr sz="1800" b="0">
                <a:solidFill>
                  <a:srgbClr val="000000"/>
                </a:solidFill>
                <a:latin typeface="맑은 고딕"/>
                <a:ea typeface="맑은 고딕"/>
              </a:rPr>
              <a:t>을 피한다.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시스템 경계</a:t>
            </a:r>
            <a:r>
              <a:rPr sz="1800" b="0">
                <a:solidFill>
                  <a:srgbClr val="000000"/>
                </a:solidFill>
                <a:latin typeface="맑은 고딕"/>
                <a:ea typeface="맑은 고딕"/>
              </a:rPr>
              <a:t>를 소유로 정하고 외부 시스템을 지원 액터로 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SSD 초안으로 시스템 이벤트를 찾고, </a:t>
            </a:r>
            <a:r>
              <a:rPr sz="1800" b="1">
                <a:solidFill>
                  <a:srgbClr val="000000"/>
                </a:solidFill>
                <a:latin typeface="맑은 고딕"/>
                <a:ea typeface="맑은 고딕"/>
              </a:rPr>
              <a:t>정제된 SSD</a:t>
            </a:r>
            <a:r>
              <a:rPr sz="1800" b="0">
                <a:solidFill>
                  <a:srgbClr val="000000"/>
                </a:solidFill>
                <a:latin typeface="맑은 고딕"/>
                <a:ea typeface="맑은 고딕"/>
              </a:rPr>
              <a:t>와 </a:t>
            </a:r>
            <a:r>
              <a:rPr sz="1800" b="1">
                <a:solidFill>
                  <a:srgbClr val="000000"/>
                </a:solidFill>
                <a:latin typeface="맑은 고딕"/>
                <a:ea typeface="맑은 고딕"/>
              </a:rPr>
              <a:t>시스템 오퍼레이션 계약</a:t>
            </a:r>
            <a:r>
              <a:rPr sz="1800" b="0">
                <a:solidFill>
                  <a:srgbClr val="000000"/>
                </a:solidFill>
                <a:latin typeface="맑은 고딕"/>
                <a:ea typeface="맑은 고딕"/>
              </a:rPr>
              <a:t>으로 상세화해 분석 모델로 넘긴다.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좋은 </a:t>
            </a:r>
            <a:r>
              <a:rPr sz="1800" b="1">
                <a:solidFill>
                  <a:srgbClr val="000000"/>
                </a:solidFill>
                <a:latin typeface="맑은 고딕"/>
                <a:ea typeface="맑은 고딕"/>
              </a:rPr>
              <a:t>유저 스토리</a:t>
            </a:r>
            <a:r>
              <a:rPr sz="1400" b="0">
                <a:solidFill>
                  <a:srgbClr val="000000"/>
                </a:solidFill>
                <a:latin typeface="맑은 고딕"/>
                <a:ea typeface="맑은 고딕"/>
              </a:rPr>
              <a:t>(INVEST)</a:t>
            </a:r>
            <a:r>
              <a:rPr sz="1800" b="0">
                <a:solidFill>
                  <a:srgbClr val="000000"/>
                </a:solidFill>
                <a:latin typeface="맑은 고딕"/>
                <a:ea typeface="맑은 고딕"/>
              </a:rPr>
              <a:t>를 흐름으로 나누고, </a:t>
            </a:r>
            <a:r>
              <a:rPr sz="1800" b="1">
                <a:solidFill>
                  <a:srgbClr val="000000"/>
                </a:solidFill>
                <a:latin typeface="맑은 고딕"/>
                <a:ea typeface="맑은 고딕"/>
              </a:rPr>
              <a:t>행위 주도 개발</a:t>
            </a:r>
            <a:r>
              <a:rPr sz="1800" b="0">
                <a:solidFill>
                  <a:srgbClr val="000000"/>
                </a:solidFill>
                <a:latin typeface="맑은 고딕"/>
                <a:ea typeface="맑은 고딕"/>
              </a:rPr>
              <a:t>의 예</a:t>
            </a:r>
            <a:r>
              <a:rPr sz="1400" b="0">
                <a:solidFill>
                  <a:srgbClr val="000000"/>
                </a:solidFill>
                <a:latin typeface="맑은 고딕"/>
                <a:ea typeface="맑은 고딕"/>
              </a:rPr>
              <a:t>(Given-When-Then)</a:t>
            </a:r>
            <a:r>
              <a:rPr sz="1800" b="0">
                <a:solidFill>
                  <a:srgbClr val="000000"/>
                </a:solidFill>
                <a:latin typeface="맑은 고딕"/>
                <a:ea typeface="맑은 고딕"/>
              </a:rPr>
              <a:t>로 확인하며, </a:t>
            </a:r>
            <a:r>
              <a:rPr sz="1800" b="1">
                <a:solidFill>
                  <a:srgbClr val="000000"/>
                </a:solidFill>
                <a:latin typeface="맑은 고딕"/>
                <a:ea typeface="맑은 고딕"/>
              </a:rPr>
              <a:t>명세 주도 개발</a:t>
            </a:r>
            <a:r>
              <a:rPr sz="1800" b="0">
                <a:solidFill>
                  <a:srgbClr val="000000"/>
                </a:solidFill>
                <a:latin typeface="맑은 고딕"/>
                <a:ea typeface="맑은 고딕"/>
              </a:rPr>
              <a:t>에서 그 쓰임과 한계를 설명한다.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관리·추적과 실제 사용의 </a:t>
            </a:r>
            <a:r>
              <a:rPr sz="1800" b="1">
                <a:solidFill>
                  <a:srgbClr val="000000"/>
                </a:solidFill>
                <a:latin typeface="맑은 고딕"/>
                <a:ea typeface="맑은 고딕"/>
              </a:rPr>
              <a:t>증거</a:t>
            </a:r>
            <a:r>
              <a:rPr sz="1800" b="0">
                <a:solidFill>
                  <a:srgbClr val="000000"/>
                </a:solidFill>
                <a:latin typeface="맑은 고딕"/>
                <a:ea typeface="맑은 고딕"/>
              </a:rPr>
              <a:t>로 요구를 계속 검증한다.</a:t>
            </a:r>
          </a:p>
        </p:txBody>
      </p:sp>
    </p:spTree>
    <p:extLst>
      <p:ext uri="{BB962C8B-B14F-4D97-AF65-F5344CB8AC3E}">
        <p14:creationId xmlns:p14="http://schemas.microsoft.com/office/powerpoint/2010/main" val="3555436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02. 요구공학의 본질</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요구공학은 고객의 말을 옮기는 일이 아니라 </a:t>
            </a:r>
            <a:r>
              <a:rPr sz="1800" b="1">
                <a:solidFill>
                  <a:srgbClr val="000000"/>
                </a:solidFill>
                <a:latin typeface="맑은 고딕"/>
                <a:ea typeface="맑은 고딕"/>
              </a:rPr>
              <a:t>문제와 요구를 발견</a:t>
            </a:r>
            <a:r>
              <a:rPr sz="1800" b="0">
                <a:solidFill>
                  <a:srgbClr val="000000"/>
                </a:solidFill>
                <a:latin typeface="맑은 고딕"/>
                <a:ea typeface="맑은 고딕"/>
              </a:rPr>
              <a:t>하고 </a:t>
            </a:r>
            <a:r>
              <a:rPr sz="1800" b="1">
                <a:solidFill>
                  <a:srgbClr val="000000"/>
                </a:solidFill>
                <a:latin typeface="맑은 고딕"/>
                <a:ea typeface="맑은 고딕"/>
              </a:rPr>
              <a:t>증거로 계속 검토하는</a:t>
            </a:r>
            <a:r>
              <a:rPr sz="1800" b="0">
                <a:solidFill>
                  <a:srgbClr val="000000"/>
                </a:solidFill>
                <a:latin typeface="맑은 고딕"/>
                <a:ea typeface="맑은 고딕"/>
              </a:rPr>
              <a:t> 공학 활동이다.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소프트웨어 시스템을 만드는 일에서 가장 어려운 부분은 </a:t>
            </a:r>
            <a:r>
              <a:rPr sz="1800" b="1">
                <a:solidFill>
                  <a:srgbClr val="000000"/>
                </a:solidFill>
                <a:latin typeface="맑은 고딕"/>
                <a:ea typeface="맑은 고딕"/>
              </a:rPr>
              <a:t>정확히 무엇을 만들지 결정하는 것</a:t>
            </a:r>
            <a:r>
              <a:rPr sz="1800" b="0">
                <a:solidFill>
                  <a:srgbClr val="000000"/>
                </a:solidFill>
                <a:latin typeface="맑은 고딕"/>
                <a:ea typeface="맑은 고딕"/>
              </a:rPr>
              <a:t>이다</a:t>
            </a:r>
            <a:r>
              <a:rPr sz="1000" b="0">
                <a:solidFill>
                  <a:srgbClr val="000000"/>
                </a:solidFill>
                <a:latin typeface="맑은 고딕"/>
                <a:ea typeface="맑은 고딕"/>
              </a:rPr>
              <a:t>, </a:t>
            </a:r>
            <a:r>
              <a:rPr sz="1000" b="0">
                <a:solidFill>
                  <a:srgbClr val="000000"/>
                </a:solidFill>
                <a:latin typeface="맑은 고딕"/>
                <a:ea typeface="맑은 고딕"/>
              </a:rPr>
              <a:t>"The hardest single part of building a software system is deciding precisely what to build.", [Brooks 1986]</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고객은 스스로 아직 모를 때도 </a:t>
            </a:r>
            <a:r>
              <a:rPr sz="1800" b="1">
                <a:solidFill>
                  <a:srgbClr val="000000"/>
                </a:solidFill>
                <a:latin typeface="맑은 고딕"/>
                <a:ea typeface="맑은 고딕"/>
              </a:rPr>
              <a:t>더 나은 것을 원한다</a:t>
            </a:r>
            <a:r>
              <a:rPr sz="1000" b="0">
                <a:solidFill>
                  <a:srgbClr val="000000"/>
                </a:solidFill>
                <a:latin typeface="맑은 고딕"/>
                <a:ea typeface="맑은 고딕"/>
              </a:rPr>
              <a:t>, </a:t>
            </a:r>
            <a:r>
              <a:rPr sz="1000" b="0">
                <a:solidFill>
                  <a:srgbClr val="000000"/>
                </a:solidFill>
                <a:latin typeface="맑은 고딕"/>
                <a:ea typeface="맑은 고딕"/>
              </a:rPr>
              <a:t>"Even when they don't yet know it, customers want something better.", [Bezos 2017]</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186268"/>
            <a:ext cx="8412480" cy="201168"/>
          </a:xfrm>
          <a:prstGeom prst="rect">
            <a:avLst/>
          </a:prstGeom>
          <a:noFill/>
        </p:spPr>
        <p:txBody>
          <a:bodyPr wrap="square">
            <a:spAutoFit/>
          </a:bodyPr>
          <a:lstStyle/>
          <a:p>
            <a:pPr algn="ctr"/>
            <a:r>
              <a:rPr sz="1400" b="1">
                <a:solidFill>
                  <a:srgbClr val="000000"/>
                </a:solidFill>
                <a:latin typeface="맑은 고딕"/>
                <a:ea typeface="맑은 고딕"/>
              </a:rPr>
              <a:t>요구공학의 반복</a:t>
            </a:r>
          </a:p>
        </p:txBody>
      </p:sp>
      <p:pic>
        <p:nvPicPr>
          <p:cNvPr id="10" name="mermaid Diagram 1"/>
          <p:cNvPicPr>
            <a:picLocks noChangeAspect="1"/>
          </p:cNvPicPr>
          <p:nvPr/>
        </p:nvPicPr>
        <p:blipFill>
          <a:blip r:embed="mermaidImage1"/>
          <a:stretch>
            <a:fillRect/>
          </a:stretch>
        </p:blipFill>
        <p:spPr>
          <a:xfrm>
            <a:off x="1432719" y="3424012"/>
            <a:ext cx="6278563" cy="1025071"/>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03. 분석 원칙</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요구사항을 </a:t>
            </a:r>
            <a:r>
              <a:rPr sz="1800" b="1">
                <a:solidFill>
                  <a:srgbClr val="000000"/>
                </a:solidFill>
                <a:latin typeface="맑은 고딕"/>
                <a:ea typeface="맑은 고딕"/>
              </a:rPr>
              <a:t>구분하고, 필요한 만큼 명세하고, 증거로 검토한다</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구분한다</a:t>
            </a:r>
            <a:r>
              <a:rPr sz="1800" b="0">
                <a:solidFill>
                  <a:srgbClr val="000000"/>
                </a:solidFill>
                <a:latin typeface="맑은 고딕"/>
                <a:ea typeface="맑은 고딕"/>
              </a:rPr>
              <a:t> —</a:t>
            </a:r>
            <a:r>
              <a:rPr sz="1600" b="0">
                <a:solidFill>
                  <a:srgbClr val="000000"/>
                </a:solidFill>
                <a:latin typeface="맑은 고딕"/>
                <a:ea typeface="맑은 고딕"/>
              </a:rPr>
              <a:t> 문제·요구·요구사항·해결책을 구분하고 표기보다 문제 이해를 먼저 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필요한 만큼 명시한다</a:t>
            </a:r>
            <a:r>
              <a:rPr sz="1800" b="0">
                <a:solidFill>
                  <a:srgbClr val="000000"/>
                </a:solidFill>
                <a:latin typeface="맑은 고딕"/>
                <a:ea typeface="맑은 고딕"/>
              </a:rPr>
              <a:t> —</a:t>
            </a:r>
            <a:r>
              <a:rPr sz="1600" b="0">
                <a:solidFill>
                  <a:srgbClr val="000000"/>
                </a:solidFill>
                <a:latin typeface="맑은 고딕"/>
                <a:ea typeface="맑은 고딕"/>
              </a:rPr>
              <a:t> 액터의 목표와 본질적인 이벤트 흐름을 쓰고, 규칙·제약·중요한 예외를 연결한다. 문서량이나 기능 분해를 목표로 하지 않는다.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증거로 검토한다</a:t>
            </a:r>
            <a:r>
              <a:rPr sz="1800" b="0">
                <a:solidFill>
                  <a:srgbClr val="000000"/>
                </a:solidFill>
                <a:latin typeface="맑은 고딕"/>
                <a:ea typeface="맑은 고딕"/>
              </a:rPr>
              <a:t> —</a:t>
            </a:r>
            <a:r>
              <a:rPr sz="1600" b="0">
                <a:solidFill>
                  <a:srgbClr val="000000"/>
                </a:solidFill>
                <a:latin typeface="맑은 고딕"/>
                <a:ea typeface="맑은 고딕"/>
              </a:rPr>
              <a:t> 문서 승인을 타당성의 보증으로 보지 않고 구현·사용에서 얻은 증거로 판단을 수정한다.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“배송지 변경 버튼을 만들어 달라”는 요청을 어떻게 </a:t>
            </a:r>
            <a:r>
              <a:rPr sz="1800" b="1">
                <a:solidFill>
                  <a:srgbClr val="000000"/>
                </a:solidFill>
                <a:latin typeface="맑은 고딕"/>
                <a:ea typeface="맑은 고딕"/>
              </a:rPr>
              <a:t>분석</a:t>
            </a:r>
            <a:r>
              <a:rPr sz="1800" b="0">
                <a:solidFill>
                  <a:srgbClr val="000000"/>
                </a:solidFill>
                <a:latin typeface="맑은 고딕"/>
                <a:ea typeface="맑은 고딕"/>
              </a:rPr>
              <a:t>하고, 어떤 </a:t>
            </a:r>
            <a:r>
              <a:rPr sz="1800" b="1">
                <a:solidFill>
                  <a:srgbClr val="000000"/>
                </a:solidFill>
                <a:latin typeface="맑은 고딕"/>
                <a:ea typeface="맑은 고딕"/>
              </a:rPr>
              <a:t>정보</a:t>
            </a:r>
            <a:r>
              <a:rPr sz="1800" b="0">
                <a:solidFill>
                  <a:srgbClr val="000000"/>
                </a:solidFill>
                <a:latin typeface="맑은 고딕"/>
                <a:ea typeface="맑은 고딕"/>
              </a:rPr>
              <a:t>를 더 묻고, 무엇으로 </a:t>
            </a:r>
            <a:r>
              <a:rPr sz="1800" b="1">
                <a:solidFill>
                  <a:srgbClr val="000000"/>
                </a:solidFill>
                <a:latin typeface="맑은 고딕"/>
                <a:ea typeface="맑은 고딕"/>
              </a:rPr>
              <a:t>필요성</a:t>
            </a:r>
            <a:r>
              <a:rPr sz="1800" b="0">
                <a:solidFill>
                  <a:srgbClr val="000000"/>
                </a:solidFill>
                <a:latin typeface="맑은 고딕"/>
                <a:ea typeface="맑은 고딕"/>
              </a:rPr>
              <a:t>을 확인할 것인가?</a:t>
            </a:r>
          </a:p>
        </p:txBody>
      </p:sp>
    </p:spTree>
    <p:extLst>
      <p:ext uri="{BB962C8B-B14F-4D97-AF65-F5344CB8AC3E}">
        <p14:creationId xmlns:p14="http://schemas.microsoft.com/office/powerpoint/2010/main" val="3555436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04. 문제·요구·요구사항·해결책</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1">
                <a:solidFill>
                  <a:srgbClr val="000000"/>
                </a:solidFill>
                <a:latin typeface="맑은 고딕"/>
                <a:ea typeface="맑은 고딕"/>
              </a:rPr>
              <a:t>요구</a:t>
            </a:r>
            <a:r>
              <a:rPr sz="1800" b="0">
                <a:solidFill>
                  <a:srgbClr val="000000"/>
                </a:solidFill>
                <a:latin typeface="맑은 고딕"/>
                <a:ea typeface="맑은 고딕"/>
              </a:rPr>
              <a:t>는 희망이나 필요일 수 있지만, </a:t>
            </a:r>
            <a:r>
              <a:rPr sz="1800" b="1">
                <a:solidFill>
                  <a:srgbClr val="000000"/>
                </a:solidFill>
                <a:latin typeface="맑은 고딕"/>
                <a:ea typeface="맑은 고딕"/>
              </a:rPr>
              <a:t>요구사항</a:t>
            </a:r>
            <a:r>
              <a:rPr sz="1800" b="0">
                <a:solidFill>
                  <a:srgbClr val="000000"/>
                </a:solidFill>
                <a:latin typeface="맑은 고딕"/>
                <a:ea typeface="맑은 고딕"/>
              </a:rPr>
              <a:t>은 이를 분석·구현·검증할 수 있는 형태로 구체화한 것이다.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요구사항은 시스템이 따라야 할 </a:t>
            </a:r>
            <a:r>
              <a:rPr sz="1800" b="1">
                <a:solidFill>
                  <a:srgbClr val="000000"/>
                </a:solidFill>
                <a:latin typeface="맑은 고딕"/>
                <a:ea typeface="맑은 고딕"/>
              </a:rPr>
              <a:t>능력과 조건</a:t>
            </a:r>
            <a:r>
              <a:rPr sz="1800" b="0">
                <a:solidFill>
                  <a:srgbClr val="000000"/>
                </a:solidFill>
                <a:latin typeface="맑은 고딕"/>
                <a:ea typeface="맑은 고딕"/>
              </a:rPr>
              <a:t>이다</a:t>
            </a:r>
            <a:r>
              <a:rPr sz="1000" b="0">
                <a:solidFill>
                  <a:srgbClr val="000000"/>
                </a:solidFill>
                <a:latin typeface="맑은 고딕"/>
                <a:ea typeface="맑은 고딕"/>
              </a:rPr>
              <a:t>, </a:t>
            </a:r>
            <a:r>
              <a:rPr sz="1000" b="0">
                <a:solidFill>
                  <a:srgbClr val="000000"/>
                </a:solidFill>
                <a:latin typeface="맑은 고딕"/>
                <a:ea typeface="맑은 고딕"/>
              </a:rPr>
              <a:t>"Requirements are capabilities and conditions to which the system … must conform", [Larman 2004]</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요구사항은 필요를 표현한 것이고, 그 필요를 채우는 </a:t>
            </a:r>
            <a:r>
              <a:rPr sz="1800" b="1">
                <a:solidFill>
                  <a:srgbClr val="000000"/>
                </a:solidFill>
                <a:latin typeface="맑은 고딕"/>
                <a:ea typeface="맑은 고딕"/>
              </a:rPr>
              <a:t>해결책</a:t>
            </a:r>
            <a:r>
              <a:rPr sz="1400" b="0">
                <a:solidFill>
                  <a:srgbClr val="000000"/>
                </a:solidFill>
                <a:latin typeface="맑은 고딕"/>
                <a:ea typeface="맑은 고딕"/>
              </a:rPr>
              <a:t>(설계)</a:t>
            </a:r>
            <a:r>
              <a:rPr sz="1800" b="0">
                <a:solidFill>
                  <a:srgbClr val="000000"/>
                </a:solidFill>
                <a:latin typeface="맑은 고딕"/>
                <a:ea typeface="맑은 고딕"/>
              </a:rPr>
              <a:t>은 따로 판단한다.</a:t>
            </a:r>
          </a:p>
        </p:txBody>
      </p:sp>
    </p:spTree>
    <p:extLst>
      <p:ext uri="{BB962C8B-B14F-4D97-AF65-F5344CB8AC3E}">
        <p14:creationId xmlns:p14="http://schemas.microsoft.com/office/powerpoint/2010/main" val="3555436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05. 요청에는 무엇이 섞여 있는가?</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966026" y="2538730"/>
          <a:ext cx="7198360" cy="3873500"/>
        </p:xfrm>
        <a:graphic>
          <a:graphicData uri="http://schemas.openxmlformats.org/drawingml/2006/table">
            <a:tbl>
              <a:tblPr/>
              <a:tblGrid>
                <a:gridCol w="889000"/>
                <a:gridCol w="2595880"/>
                <a:gridCol w="37134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구분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핵심 질문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이 요청에서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문제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무엇이 부족한가?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출고 전 배송지를 고객이 직접 바꿀 수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요구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무엇을 원하는가?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고객이 직접 배송지를 바꾸고 싶다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요구사항</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시스템이 무엇을 충족해야 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출고 전 주문의 배송지 변경을 지원한다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제약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반드시 지킬 조건은?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출고 후에는 일반 변경을 허용하지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해결책</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어떻게 충족하는가?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요청된 버튼, 그 밖에 편집 화면·챗봇·상담 자동화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318720"/>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요청에 섞인 </a:t>
            </a:r>
            <a:r>
              <a:rPr sz="1800" b="1">
                <a:solidFill>
                  <a:srgbClr val="000000"/>
                </a:solidFill>
                <a:latin typeface="맑은 고딕"/>
                <a:ea typeface="맑은 고딕"/>
              </a:rPr>
              <a:t>문제·요구·요구사항·해결책</a:t>
            </a:r>
            <a:r>
              <a:rPr sz="1800" b="0">
                <a:solidFill>
                  <a:srgbClr val="000000"/>
                </a:solidFill>
                <a:latin typeface="맑은 고딕"/>
                <a:ea typeface="맑은 고딕"/>
              </a:rPr>
              <a:t>을 구분해 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“주문 상세 화면에 배송지 변경 버튼을 만들어 주세요.”</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"고객이 직접 배송지를 바꿀 수 없다"에서 </a:t>
            </a:r>
            <a:r>
              <a:rPr sz="1800" b="1">
                <a:solidFill>
                  <a:srgbClr val="000000"/>
                </a:solidFill>
                <a:latin typeface="맑은 고딕"/>
                <a:ea typeface="맑은 고딕"/>
              </a:rPr>
              <a:t>무엇을 모르는가?</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24028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요청에 섞인 것</a:t>
            </a:r>
          </a:p>
        </p:txBody>
      </p:sp>
    </p:spTree>
    <p:extLst>
      <p:ext uri="{BB962C8B-B14F-4D97-AF65-F5344CB8AC3E}">
        <p14:creationId xmlns:p14="http://schemas.microsoft.com/office/powerpoint/2010/main" val="2789569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06. 명세의 한계</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복잡한 요구는 처음부터 완전하게 명세할 수 없다. 명세가 불완전한 것은 작성자의 성실성 문제가 아니라 </a:t>
            </a:r>
            <a:r>
              <a:rPr sz="1800" b="1">
                <a:solidFill>
                  <a:srgbClr val="000000"/>
                </a:solidFill>
                <a:latin typeface="맑은 고딕"/>
                <a:ea typeface="맑은 고딕"/>
              </a:rPr>
              <a:t>문제의 성질</a:t>
            </a:r>
            <a:r>
              <a:rPr sz="1800" b="0">
                <a:solidFill>
                  <a:srgbClr val="000000"/>
                </a:solidFill>
                <a:latin typeface="맑은 고딕"/>
                <a:ea typeface="맑은 고딕"/>
              </a:rPr>
              <a:t>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고객</a:t>
            </a:r>
            <a:r>
              <a:rPr sz="1800" b="0">
                <a:solidFill>
                  <a:srgbClr val="000000"/>
                </a:solidFill>
                <a:latin typeface="맑은 고딕"/>
                <a:ea typeface="맑은 고딕"/>
              </a:rPr>
              <a:t> —</a:t>
            </a:r>
            <a:r>
              <a:rPr sz="1600" b="0">
                <a:solidFill>
                  <a:srgbClr val="000000"/>
                </a:solidFill>
                <a:latin typeface="맑은 고딕"/>
                <a:ea typeface="맑은 고딕"/>
              </a:rPr>
              <a:t> 아직 경험하지 않은 해결책의 필요를 정확히 말하기 어렵다.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개발자</a:t>
            </a:r>
            <a:r>
              <a:rPr sz="1800" b="0">
                <a:solidFill>
                  <a:srgbClr val="000000"/>
                </a:solidFill>
                <a:latin typeface="맑은 고딕"/>
                <a:ea typeface="맑은 고딕"/>
              </a:rPr>
              <a:t> —</a:t>
            </a:r>
            <a:r>
              <a:rPr sz="1600" b="0">
                <a:solidFill>
                  <a:srgbClr val="000000"/>
                </a:solidFill>
                <a:latin typeface="맑은 고딕"/>
                <a:ea typeface="맑은 고딕"/>
              </a:rPr>
              <a:t> 업무의 맥락·예외·암묵적 규칙을 모른다.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규칙</a:t>
            </a:r>
            <a:r>
              <a:rPr sz="1800" b="0">
                <a:solidFill>
                  <a:srgbClr val="000000"/>
                </a:solidFill>
                <a:latin typeface="맑은 고딕"/>
                <a:ea typeface="맑은 고딕"/>
              </a:rPr>
              <a:t> —</a:t>
            </a:r>
            <a:r>
              <a:rPr sz="1600" b="0">
                <a:solidFill>
                  <a:srgbClr val="000000"/>
                </a:solidFill>
                <a:latin typeface="맑은 고딕"/>
                <a:ea typeface="맑은 고딕"/>
              </a:rPr>
              <a:t> 서로 얽혀 있고 시간이 지나며 바뀐다.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문서</a:t>
            </a:r>
            <a:r>
              <a:rPr sz="1800" b="0">
                <a:solidFill>
                  <a:srgbClr val="000000"/>
                </a:solidFill>
                <a:latin typeface="맑은 고딕"/>
                <a:ea typeface="맑은 고딕"/>
              </a:rPr>
              <a:t> —</a:t>
            </a:r>
            <a:r>
              <a:rPr sz="1600" b="0">
                <a:solidFill>
                  <a:srgbClr val="000000"/>
                </a:solidFill>
                <a:latin typeface="맑은 고딕"/>
                <a:ea typeface="맑은 고딕"/>
              </a:rPr>
              <a:t> 길어질수록 읽히지 않고 해석이 갈려 합의가 약해진다.</a:t>
            </a:r>
          </a:p>
          <a:p>
            <a:pPr marL="342900" indent="0">
              <a:spcBef>
                <a:spcPts val="600"/>
              </a:spcBef>
              <a:spcAft>
                <a:spcPts val="600"/>
              </a:spcAft>
              <a:buNone/>
            </a:pPr>
            <a:r>
              <a:rPr sz="1800" b="1">
                <a:solidFill>
                  <a:srgbClr val="000000"/>
                </a:solidFill>
                <a:latin typeface="맑은 고딕"/>
                <a:ea typeface="맑은 고딕"/>
              </a:rPr>
              <a:t>그래서 필요한 것</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고객과 개발자가 </a:t>
            </a:r>
            <a:r>
              <a:rPr sz="1800" b="1">
                <a:solidFill>
                  <a:srgbClr val="000000"/>
                </a:solidFill>
                <a:latin typeface="맑은 고딕"/>
                <a:ea typeface="맑은 고딕"/>
              </a:rPr>
              <a:t>같은 뜻으로 말할 수 있는 작은 단위</a:t>
            </a:r>
            <a:r>
              <a:rPr sz="1800" b="0">
                <a:solidFill>
                  <a:srgbClr val="000000"/>
                </a:solidFill>
                <a:latin typeface="맑은 고딕"/>
                <a:ea typeface="맑은 고딕"/>
              </a:rPr>
              <a:t>로 합의한다.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작게 만들어 보여주고 증거로 배우는</a:t>
            </a:r>
            <a:r>
              <a:rPr sz="1800" b="0">
                <a:solidFill>
                  <a:srgbClr val="000000"/>
                </a:solidFill>
                <a:latin typeface="맑은 고딕"/>
                <a:ea typeface="맑은 고딕"/>
              </a:rPr>
              <a:t> 반복으로 명세의 빈틈을 메운다.</a:t>
            </a:r>
          </a:p>
        </p:txBody>
      </p:sp>
    </p:spTree>
    <p:extLst>
      <p:ext uri="{BB962C8B-B14F-4D97-AF65-F5344CB8AC3E}">
        <p14:creationId xmlns:p14="http://schemas.microsoft.com/office/powerpoint/2010/main" val="3555436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07. 이벤트 중심 요구</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150936" y="3599988"/>
          <a:ext cx="4828540" cy="3873500"/>
        </p:xfrm>
        <a:graphic>
          <a:graphicData uri="http://schemas.openxmlformats.org/drawingml/2006/table">
            <a:tbl>
              <a:tblPr/>
              <a:tblGrid>
                <a:gridCol w="2595880"/>
                <a:gridCol w="22326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이벤트</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시스템의 반응</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고객이 주문을 취소한다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환불하고 취소 결과를 알린다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고객이 배송지를 변경한다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출고 전이면 배송지를 바꾼다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 시스템이 배송 시작을 알린다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주문을 배송 중으로 기록한다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238192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요구를 정의하는 가장 안정된 단위는 </a:t>
            </a:r>
            <a:r>
              <a:rPr sz="1800" b="1">
                <a:solidFill>
                  <a:srgbClr val="000000"/>
                </a:solidFill>
                <a:latin typeface="맑은 고딕"/>
                <a:ea typeface="맑은 고딕"/>
              </a:rPr>
              <a:t>이벤트</a:t>
            </a:r>
            <a:r>
              <a:rPr sz="1800" b="0">
                <a:solidFill>
                  <a:srgbClr val="000000"/>
                </a:solidFill>
                <a:latin typeface="맑은 고딕"/>
                <a:ea typeface="맑은 고딕"/>
              </a:rPr>
              <a:t>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"이벤트 목록은 시스템이 반응해야 하는, </a:t>
            </a:r>
            <a:r>
              <a:rPr sz="1800" b="1">
                <a:solidFill>
                  <a:srgbClr val="000000"/>
                </a:solidFill>
                <a:latin typeface="맑은 고딕"/>
                <a:ea typeface="맑은 고딕"/>
              </a:rPr>
              <a:t>외부 세계에서 일어나는 자극</a:t>
            </a:r>
            <a:r>
              <a:rPr sz="1800" b="0">
                <a:solidFill>
                  <a:srgbClr val="000000"/>
                </a:solidFill>
                <a:latin typeface="맑은 고딕"/>
                <a:ea typeface="맑은 고딕"/>
              </a:rPr>
              <a:t>을 서술한 목록이다"</a:t>
            </a:r>
            <a:r>
              <a:rPr sz="1000" b="0">
                <a:solidFill>
                  <a:srgbClr val="000000"/>
                </a:solidFill>
                <a:latin typeface="맑은 고딕"/>
                <a:ea typeface="맑은 고딕"/>
              </a:rPr>
              <a:t>, </a:t>
            </a:r>
            <a:r>
              <a:rPr sz="1000" b="0">
                <a:solidFill>
                  <a:srgbClr val="000000"/>
                </a:solidFill>
                <a:latin typeface="맑은 고딕"/>
                <a:ea typeface="맑은 고딕"/>
              </a:rPr>
              <a:t>"The event list is a narrative list of the “stimuli” that occur in the outside world and to which our system must respond."</a:t>
            </a:r>
            <a:r>
              <a:rPr sz="1000" b="0">
                <a:solidFill>
                  <a:srgbClr val="000000"/>
                </a:solidFill>
                <a:latin typeface="맑은 고딕"/>
                <a:ea typeface="맑은 고딕"/>
              </a:rPr>
              <a:t>, </a:t>
            </a:r>
            <a:r>
              <a:rPr sz="1000" b="0">
                <a:solidFill>
                  <a:srgbClr val="000000"/>
                </a:solidFill>
                <a:latin typeface="맑은 고딕"/>
                <a:ea typeface="맑은 고딕"/>
              </a:rPr>
              <a:t>[Yourdon]</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"무엇이 일어나면 시스템은 무엇을 해야 하는가?"는 고객과 개발자가 </a:t>
            </a:r>
            <a:r>
              <a:rPr sz="1800" b="1">
                <a:solidFill>
                  <a:srgbClr val="000000"/>
                </a:solidFill>
                <a:latin typeface="맑은 고딕"/>
                <a:ea typeface="맑은 고딕"/>
              </a:rPr>
              <a:t>혼선 없이 합의</a:t>
            </a:r>
            <a:r>
              <a:rPr sz="1800" b="0">
                <a:solidFill>
                  <a:srgbClr val="000000"/>
                </a:solidFill>
                <a:latin typeface="맑은 고딕"/>
                <a:ea typeface="맑은 고딕"/>
              </a:rPr>
              <a:t>할 수 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이벤트는 </a:t>
            </a:r>
            <a:r>
              <a:rPr sz="1800" b="1">
                <a:solidFill>
                  <a:srgbClr val="000000"/>
                </a:solidFill>
                <a:latin typeface="맑은 고딕"/>
                <a:ea typeface="맑은 고딕"/>
              </a:rPr>
              <a:t>업무에서 일어나는 사건</a:t>
            </a:r>
            <a:r>
              <a:rPr sz="1800" b="0">
                <a:solidFill>
                  <a:srgbClr val="000000"/>
                </a:solidFill>
                <a:latin typeface="맑은 고딕"/>
                <a:ea typeface="맑은 고딕"/>
              </a:rPr>
              <a:t>이다. 화면·버튼·기능 이름이 아니다.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- 9 -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30153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이벤트와 시스템의 반응</a:t>
            </a:r>
          </a:p>
        </p:txBody>
      </p:sp>
    </p:spTree>
    <p:extLst>
      <p:ext uri="{BB962C8B-B14F-4D97-AF65-F5344CB8AC3E}">
        <p14:creationId xmlns:p14="http://schemas.microsoft.com/office/powerpoint/2010/main" val="2789569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08. 이벤트 중심 기법</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689926" y="2624628"/>
          <a:ext cx="5750560" cy="3873500"/>
        </p:xfrm>
        <a:graphic>
          <a:graphicData uri="http://schemas.openxmlformats.org/drawingml/2006/table">
            <a:tbl>
              <a:tblPr/>
              <a:tblGrid>
                <a:gridCol w="2232660"/>
                <a:gridCol w="35179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기법</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보는 이벤트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이벤트–반응 목록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외부에서 일어나 시스템이 반응해야 하는 자극</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유스케이스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액터가 목표를 위해 시스템과 주고받는 상호작용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유저 스토리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사용자가 원하는 작은 가치의 행위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도메인 이벤트·이벤트 스토밍</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전문가가 관심을 두는, 이미 일어난 사건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330404"/>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요구를 다루는 주요 기법은 모두 </a:t>
            </a:r>
            <a:r>
              <a:rPr sz="1800" b="1">
                <a:solidFill>
                  <a:srgbClr val="000000"/>
                </a:solidFill>
                <a:latin typeface="맑은 고딕"/>
                <a:ea typeface="맑은 고딕"/>
              </a:rPr>
              <a:t>이벤트를 출발점</a:t>
            </a:r>
            <a:r>
              <a:rPr sz="1800" b="0">
                <a:solidFill>
                  <a:srgbClr val="000000"/>
                </a:solidFill>
                <a:latin typeface="맑은 고딕"/>
                <a:ea typeface="맑은 고딕"/>
              </a:rPr>
              <a:t>으로 삼는다. 달라지는 것은 </a:t>
            </a:r>
            <a:r>
              <a:rPr sz="1800" b="1">
                <a:solidFill>
                  <a:srgbClr val="000000"/>
                </a:solidFill>
                <a:latin typeface="맑은 고딕"/>
                <a:ea typeface="맑은 고딕"/>
              </a:rPr>
              <a:t>누구의 관점</a:t>
            </a:r>
            <a:r>
              <a:rPr sz="1800" b="0">
                <a:solidFill>
                  <a:srgbClr val="000000"/>
                </a:solidFill>
                <a:latin typeface="맑은 고딕"/>
                <a:ea typeface="맑은 고딕"/>
              </a:rPr>
              <a:t>에서 보는가다.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도메인 이벤트는 도메인 전문가가 관심을 두는 </a:t>
            </a:r>
            <a:r>
              <a:rPr sz="1800" b="1">
                <a:solidFill>
                  <a:srgbClr val="000000"/>
                </a:solidFill>
                <a:latin typeface="맑은 고딕"/>
                <a:ea typeface="맑은 고딕"/>
              </a:rPr>
              <a:t>무언가가 일어난 것</a:t>
            </a:r>
            <a:r>
              <a:rPr sz="1800" b="0">
                <a:solidFill>
                  <a:srgbClr val="000000"/>
                </a:solidFill>
                <a:latin typeface="맑은 고딕"/>
                <a:ea typeface="맑은 고딕"/>
              </a:rPr>
              <a:t>이다</a:t>
            </a:r>
            <a:r>
              <a:rPr sz="1000" b="0">
                <a:solidFill>
                  <a:srgbClr val="000000"/>
                </a:solidFill>
                <a:latin typeface="맑은 고딕"/>
                <a:ea typeface="맑은 고딕"/>
              </a:rPr>
              <a:t>, </a:t>
            </a:r>
            <a:r>
              <a:rPr sz="1000" b="0">
                <a:solidFill>
                  <a:srgbClr val="000000"/>
                </a:solidFill>
                <a:latin typeface="맑은 고딕"/>
                <a:ea typeface="맑은 고딕"/>
              </a:rPr>
              <a:t>"Something happened that domain experts care about.", [Evans 2015]</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- 10 -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32617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기법별로 보는 이벤트</a:t>
            </a:r>
          </a:p>
        </p:txBody>
      </p:sp>
    </p:spTree>
    <p:extLst>
      <p:ext uri="{BB962C8B-B14F-4D97-AF65-F5344CB8AC3E}">
        <p14:creationId xmlns:p14="http://schemas.microsoft.com/office/powerpoint/2010/main" val="2789569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09. 반복적 접근</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355916" y="2112010"/>
          <a:ext cx="6418580" cy="3873500"/>
        </p:xfrm>
        <a:graphic>
          <a:graphicData uri="http://schemas.openxmlformats.org/drawingml/2006/table">
            <a:tbl>
              <a:tblPr/>
              <a:tblGrid>
                <a:gridCol w="1422400"/>
                <a:gridCol w="3042920"/>
                <a:gridCol w="19532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접근</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핵심 질문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반복의 단위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반복·점진(I&amp;I)</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작게 나눠 만들며 무엇을 배우는가?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반복 주기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나선형 모델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가장 큰 위험을 무엇으로 먼저 줄이는가?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위험 검토 주기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프로토타이핑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사용자가 보고 무엇을 새로 말하는가?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시제품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애자일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작동하는 소프트웨어로 무엇을 배우는가?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짧은 반복·릴리스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디자인 씽킹(DT)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실제로 풀어야 할 문제는 무엇인가?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공감·정의·시제품·테스트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Lean Startup</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 사업 가설이 맞는가?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만들기–측정–학습</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Lean UX</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 해결책 가설이 맞는가?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가설과 실험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명세의 한계를 다루는 방법은 시기마다 다른 이름으로 주목받았지만 본질은 같다. </a:t>
            </a:r>
            <a:r>
              <a:rPr sz="1800" b="1">
                <a:solidFill>
                  <a:srgbClr val="000000"/>
                </a:solidFill>
                <a:latin typeface="맑은 고딕"/>
                <a:ea typeface="맑은 고딕"/>
              </a:rPr>
              <a:t>작게 만들고, 보여주고, 증거로 배운다.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- 11 -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접근별 반복의 단위</a:t>
            </a:r>
          </a:p>
        </p:txBody>
      </p:sp>
    </p:spTree>
    <p:extLst>
      <p:ext uri="{BB962C8B-B14F-4D97-AF65-F5344CB8AC3E}">
        <p14:creationId xmlns:p14="http://schemas.microsoft.com/office/powerpoint/2010/main" val="2789569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10. AI 시대의 요구</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585276" y="2736850"/>
          <a:ext cx="3959860" cy="3873500"/>
        </p:xfrm>
        <a:graphic>
          <a:graphicData uri="http://schemas.openxmlformats.org/drawingml/2006/table">
            <a:tbl>
              <a:tblPr/>
              <a:tblGrid>
                <a:gridCol w="889000"/>
                <a:gridCol w="30708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AI 용어</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요구공학에서 대응하는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프롬프트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요청과 요구 진술 — 무엇을 원하는가?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컨텍스트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문제영역 지식, 이벤트·유스케이스, 모델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온톨로지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개념과 관계의 의미 — 정적 모델, 용어집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가드레일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규칙·제약·품질 요구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하네스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검증 환경 — 인수 조건, 예,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43555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AI 시대에도 요구의 본질은 변하지 않는다. 새 용어들은 요구를 </a:t>
            </a:r>
            <a:r>
              <a:rPr sz="1800" b="1">
                <a:solidFill>
                  <a:srgbClr val="000000"/>
                </a:solidFill>
                <a:latin typeface="맑은 고딕"/>
                <a:ea typeface="맑은 고딕"/>
              </a:rPr>
              <a:t>AI가 실행할 수 있게 전달하고 검증하는 수단</a:t>
            </a:r>
            <a:r>
              <a:rPr sz="1800" b="0">
                <a:solidFill>
                  <a:srgbClr val="000000"/>
                </a:solidFill>
                <a:latin typeface="맑은 고딕"/>
                <a:ea typeface="맑은 고딕"/>
              </a:rPr>
              <a:t>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사고와 검증은 사람이</a:t>
            </a:r>
            <a:r>
              <a:rPr sz="1800" b="0">
                <a:solidFill>
                  <a:srgbClr val="000000"/>
                </a:solidFill>
                <a:latin typeface="맑은 고딕"/>
                <a:ea typeface="맑은 고딕"/>
              </a:rPr>
              <a:t> 한다. </a:t>
            </a:r>
            <a:r>
              <a:rPr sz="1800" b="1">
                <a:solidFill>
                  <a:srgbClr val="000000"/>
                </a:solidFill>
                <a:latin typeface="맑은 고딕"/>
                <a:ea typeface="맑은 고딕"/>
              </a:rPr>
              <a:t>확실해진 작업은 AI가 점진적으로 대체</a:t>
            </a:r>
            <a:r>
              <a:rPr sz="1800" b="0">
                <a:solidFill>
                  <a:srgbClr val="000000"/>
                </a:solidFill>
                <a:latin typeface="맑은 고딕"/>
                <a:ea typeface="맑은 고딕"/>
              </a:rPr>
              <a:t>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- 12 -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43840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AI 용어와 요구공학</a:t>
            </a:r>
          </a:p>
        </p:txBody>
      </p:sp>
    </p:spTree>
    <p:extLst>
      <p:ext uri="{BB962C8B-B14F-4D97-AF65-F5344CB8AC3E}">
        <p14:creationId xmlns:p14="http://schemas.microsoft.com/office/powerpoint/2010/main" val="2789569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11. 요구공학의 주요 활동</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요구공학</a:t>
            </a:r>
            <a:r>
              <a:rPr sz="1400" b="0">
                <a:solidFill>
                  <a:srgbClr val="000000"/>
                </a:solidFill>
                <a:latin typeface="맑은 고딕"/>
                <a:ea typeface="맑은 고딕"/>
              </a:rPr>
              <a:t>(Requirements Engineering)</a:t>
            </a:r>
            <a:r>
              <a:rPr sz="1800" b="0">
                <a:solidFill>
                  <a:srgbClr val="000000"/>
                </a:solidFill>
                <a:latin typeface="맑은 고딕"/>
                <a:ea typeface="맑은 고딕"/>
              </a:rPr>
              <a:t>은 이해관계자의 요구를 </a:t>
            </a:r>
            <a:r>
              <a:rPr sz="1800" b="1">
                <a:solidFill>
                  <a:srgbClr val="000000"/>
                </a:solidFill>
                <a:latin typeface="맑은 고딕"/>
                <a:ea typeface="맑은 고딕"/>
              </a:rPr>
              <a:t>수집·분석·명세·검증하고 변경을 관리하는 공학 활동</a:t>
            </a:r>
            <a:r>
              <a:rPr sz="1800" b="0">
                <a:solidFill>
                  <a:srgbClr val="000000"/>
                </a:solidFill>
                <a:latin typeface="맑은 고딕"/>
                <a:ea typeface="맑은 고딕"/>
              </a:rPr>
              <a:t>이다.</a:t>
            </a:r>
          </a:p>
          <a:p>
            <a:pPr marL="342900" indent="0">
              <a:spcBef>
                <a:spcPts val="600"/>
              </a:spcBef>
              <a:spcAft>
                <a:spcPts val="600"/>
              </a:spcAft>
              <a:buNone/>
            </a:pPr>
            <a:r>
              <a:rPr sz="1800" b="1">
                <a:solidFill>
                  <a:srgbClr val="000000"/>
                </a:solidFill>
                <a:latin typeface="맑은 고딕"/>
                <a:ea typeface="맑은 고딕"/>
              </a:rPr>
              <a:t>다섯 가지 활동</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요구 수집:</a:t>
            </a:r>
            <a:r>
              <a:rPr sz="1800" b="0">
                <a:solidFill>
                  <a:srgbClr val="000000"/>
                </a:solidFill>
                <a:latin typeface="맑은 고딕"/>
                <a:ea typeface="맑은 고딕"/>
              </a:rPr>
              <a:t> 이해관계자의 문제·목표·필요를 찾아낸다.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요구 분석:</a:t>
            </a:r>
            <a:r>
              <a:rPr sz="1800" b="0">
                <a:solidFill>
                  <a:srgbClr val="000000"/>
                </a:solidFill>
                <a:latin typeface="맑은 고딕"/>
                <a:ea typeface="맑은 고딕"/>
              </a:rPr>
              <a:t> 요구를 정제하고 관계·충돌·우선순위를 분석한다.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요구 명세:</a:t>
            </a:r>
            <a:r>
              <a:rPr sz="1800" b="0">
                <a:solidFill>
                  <a:srgbClr val="000000"/>
                </a:solidFill>
                <a:latin typeface="맑은 고딕"/>
                <a:ea typeface="맑은 고딕"/>
              </a:rPr>
              <a:t> 합의하고 검토할 수 있는 형태로 표현한다.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요구 검증:</a:t>
            </a:r>
            <a:r>
              <a:rPr sz="1800" b="0">
                <a:solidFill>
                  <a:srgbClr val="000000"/>
                </a:solidFill>
                <a:latin typeface="맑은 고딕"/>
                <a:ea typeface="맑은 고딕"/>
              </a:rPr>
              <a:t> 잘 작성되었는지, 실제 필요한 것인지 확인한다.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요구 관리:</a:t>
            </a:r>
            <a:r>
              <a:rPr sz="1800" b="0">
                <a:solidFill>
                  <a:srgbClr val="000000"/>
                </a:solidFill>
                <a:latin typeface="맑은 고딕"/>
                <a:ea typeface="맑은 고딕"/>
              </a:rPr>
              <a:t> 기준선·변경·추적·영향을 관리한다.</a:t>
            </a:r>
          </a:p>
        </p:txBody>
      </p:sp>
    </p:spTree>
    <p:extLst>
      <p:ext uri="{BB962C8B-B14F-4D97-AF65-F5344CB8AC3E}">
        <p14:creationId xmlns:p14="http://schemas.microsoft.com/office/powerpoint/2010/main" val="3555436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12. 요구사항 수집과 발견</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411796" y="2112010"/>
          <a:ext cx="6306820" cy="3873500"/>
        </p:xfrm>
        <a:graphic>
          <a:graphicData uri="http://schemas.openxmlformats.org/drawingml/2006/table">
            <a:tbl>
              <a:tblPr/>
              <a:tblGrid>
                <a:gridCol w="1450340"/>
                <a:gridCol w="2037080"/>
                <a:gridCol w="28194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방법</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발견에 유용한 정보</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한계·주의</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인터뷰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경험·목표·문제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말로 표현 가능한 것에 편향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워크숍</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관점 차이·충돌·합의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참여자 구성의 영향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관찰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실제 업무·암묵지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시간·접근 비용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설문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넓은 집단의 경향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깊이 부족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문서 분석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규정·정책</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실제 업무와 다를 수 있음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기존 시스템 분석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현재 동작·제약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기존 해결책에 사고가 고정될 수 있음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로그·데이터 분석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실제 행동의 증거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행동의 이유는 직접 설명하지 못함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프로토타입</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숨어 있는 요구·사용 반응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해결책을 너무 일찍 고정할 위험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요구는 한 사람의 말이나 한 종류의 자료만으로 확정하지 않는다. 여러 출처에서 얻은 </a:t>
            </a:r>
            <a:r>
              <a:rPr sz="1800" b="1">
                <a:solidFill>
                  <a:srgbClr val="000000"/>
                </a:solidFill>
                <a:latin typeface="맑은 고딕"/>
                <a:ea typeface="맑은 고딕"/>
              </a:rPr>
              <a:t>증거를 교차검증</a:t>
            </a:r>
            <a:r>
              <a:rPr sz="1800" b="0">
                <a:solidFill>
                  <a:srgbClr val="000000"/>
                </a:solidFill>
                <a:latin typeface="맑은 고딕"/>
                <a:ea typeface="맑은 고딕"/>
              </a:rPr>
              <a:t>하며 발견하고 정제한다.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요구 발견 방법</a:t>
            </a:r>
          </a:p>
        </p:txBody>
      </p:sp>
    </p:spTree>
    <p:extLst>
      <p:ext uri="{BB962C8B-B14F-4D97-AF65-F5344CB8AC3E}">
        <p14:creationId xmlns:p14="http://schemas.microsoft.com/office/powerpoint/2010/main" val="2789569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13. 누가 요구를 아는가?</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2112010"/>
          <a:ext cx="8305800" cy="3873500"/>
        </p:xfrm>
        <a:graphic>
          <a:graphicData uri="http://schemas.openxmlformats.org/drawingml/2006/table">
            <a:tbl>
              <a:tblPr/>
              <a:tblGrid>
                <a:gridCol w="1087120"/>
                <a:gridCol w="889000"/>
                <a:gridCol w="889000"/>
                <a:gridCol w="2092960"/>
                <a:gridCol w="33477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경우</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고객</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개발자</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주요 위험</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접근</a:t>
                      </a:r>
                    </a:p>
                  </a:txBody>
                  <a:tcPr marL="6750" marR="6750" marT="6750" marB="0" anchor="ctr">
                    <a:lnL w="9525"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모두 앎</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앎</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앎</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당연한 가정의 누락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이벤트 목록·명세로 합의하고 예외를 검토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고객만 앎</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앎</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암묵지 전달 실패·오해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관찰·전문가 참여·용어집·구체적 예·프로토타입</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개발자만 앎</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앎</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개발자가 요구를 대신 결정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err="1">
                          <a:solidFill>
                            <a:srgbClr val="000000"/>
                          </a:solidFill>
                          <a:effectLst/>
                          <a:latin typeface="맑은 고딕" panose="020B0503020000020004" pitchFamily="34" charset="-127"/>
                          <a:ea typeface="맑은 고딕" panose="020B0503020000020004" pitchFamily="34" charset="-127"/>
                          <a:cs typeface="맑은 고딕"/>
                        </a:rPr>
                        <a:t>선택지·프로토타입을 보이고 고객이 결정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모두 모름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추측을 사실로 확정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가설·작은 실험·사용 증거로 학습</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요구를 정의하는 방법은 </a:t>
            </a:r>
            <a:r>
              <a:rPr sz="1800" b="1">
                <a:solidFill>
                  <a:srgbClr val="000000"/>
                </a:solidFill>
                <a:latin typeface="맑은 고딕"/>
                <a:ea typeface="맑은 고딕"/>
              </a:rPr>
              <a:t>누가 업무를 알고 있는가</a:t>
            </a:r>
            <a:r>
              <a:rPr sz="1800" b="0">
                <a:solidFill>
                  <a:srgbClr val="000000"/>
                </a:solidFill>
                <a:latin typeface="맑은 고딕"/>
                <a:ea typeface="맑은 고딕"/>
              </a:rPr>
              <a:t>에 따라 달라야 한다. 고객과 개발자의 업무 지식을 조합하면 네 가지 경우가 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누가 요구를 아는가</a:t>
            </a:r>
          </a:p>
        </p:txBody>
      </p:sp>
    </p:spTree>
    <p:extLst>
      <p:ext uri="{BB962C8B-B14F-4D97-AF65-F5344CB8AC3E}">
        <p14:creationId xmlns:p14="http://schemas.microsoft.com/office/powerpoint/2010/main" val="2789569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14. 업무·기술 불확실성</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884745" y="2386330"/>
          <a:ext cx="7360920" cy="3873500"/>
        </p:xfrm>
        <a:graphic>
          <a:graphicData uri="http://schemas.openxmlformats.org/drawingml/2006/table">
            <a:tbl>
              <a:tblPr/>
              <a:tblGrid>
                <a:gridCol w="1087120"/>
                <a:gridCol w="889000"/>
                <a:gridCol w="889000"/>
                <a:gridCol w="44958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경우</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업무</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기술</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접근</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명확·확실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명확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확실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명세 중심으로 계획하고 구현한다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업무 불명확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불명확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확실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요구 탐색 중심 — 프로토타입, 이벤트 워크숍, 짧은 반복</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기술 불확실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명확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불확실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기술 검증 중심 — 스파이크·개념 증명으로 위험을 먼저 줄인다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모두 불확실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불명확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불확실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가설 검증 중심 — 가장 작은 실험, 위험 순서의 반복</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업무</a:t>
            </a:r>
            <a:r>
              <a:rPr sz="1400" b="0">
                <a:solidFill>
                  <a:srgbClr val="000000"/>
                </a:solidFill>
                <a:latin typeface="맑은 고딕"/>
                <a:ea typeface="맑은 고딕"/>
              </a:rPr>
              <a:t>(무엇을 할 것인가)</a:t>
            </a:r>
            <a:r>
              <a:rPr sz="1800" b="0">
                <a:solidFill>
                  <a:srgbClr val="000000"/>
                </a:solidFill>
                <a:latin typeface="맑은 고딕"/>
                <a:ea typeface="맑은 고딕"/>
              </a:rPr>
              <a:t>와 </a:t>
            </a:r>
            <a:r>
              <a:rPr sz="1800" b="1">
                <a:solidFill>
                  <a:srgbClr val="000000"/>
                </a:solidFill>
                <a:latin typeface="맑은 고딕"/>
                <a:ea typeface="맑은 고딕"/>
              </a:rPr>
              <a:t>기술</a:t>
            </a:r>
            <a:r>
              <a:rPr sz="1400" b="0">
                <a:solidFill>
                  <a:srgbClr val="000000"/>
                </a:solidFill>
                <a:latin typeface="맑은 고딕"/>
                <a:ea typeface="맑은 고딕"/>
              </a:rPr>
              <a:t>(어떻게 실현할 것인가)</a:t>
            </a:r>
            <a:r>
              <a:rPr sz="1800" b="0">
                <a:solidFill>
                  <a:srgbClr val="000000"/>
                </a:solidFill>
                <a:latin typeface="맑은 고딕"/>
                <a:ea typeface="맑은 고딕"/>
              </a:rPr>
              <a:t>의 불확실성을 따로 본다. 둘을 섞으면 기술 검증을 요구 분석으로, 요구 탐색을 기술 과제로 착각한다.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- 16 -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08788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업무·기술 불확실성에 따른 접근</a:t>
            </a:r>
          </a:p>
        </p:txBody>
      </p:sp>
    </p:spTree>
    <p:extLst>
      <p:ext uri="{BB962C8B-B14F-4D97-AF65-F5344CB8AC3E}">
        <p14:creationId xmlns:p14="http://schemas.microsoft.com/office/powerpoint/2010/main" val="2789569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15. 경우별 접근법</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825056" y="2112010"/>
          <a:ext cx="7480300" cy="3873500"/>
        </p:xfrm>
        <a:graphic>
          <a:graphicData uri="http://schemas.openxmlformats.org/drawingml/2006/table">
            <a:tbl>
              <a:tblPr/>
              <a:tblGrid>
                <a:gridCol w="1673860"/>
                <a:gridCol w="2120900"/>
                <a:gridCol w="36855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주문 시스템의 영역</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경우</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요구 기법</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배송지 변경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모두 앎 · 명확·확실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이벤트 목록, 시스템 오퍼레이션 계약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취소·환불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고객만 앎 · 업무 명확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관찰·인터뷰, 유스케이스 명세, 구체적인 예(BDD)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 대행 연동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개발자만 앎 · 기술 불확실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스파이크로 검증, 선택지를 보여주고 고객이 결정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정기배송 건너뛰기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모두 모름 · 업무 불명확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프로토타입, 작은 출시, 사용 데이터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앞의 두 표를 겹치면 </a:t>
            </a:r>
            <a:r>
              <a:rPr sz="1800" b="1">
                <a:solidFill>
                  <a:srgbClr val="000000"/>
                </a:solidFill>
                <a:latin typeface="맑은 고딕"/>
                <a:ea typeface="맑은 고딕"/>
              </a:rPr>
              <a:t>영역마다 요구 기법이 달라진다</a:t>
            </a:r>
            <a:r>
              <a:rPr sz="1800" b="0">
                <a:solidFill>
                  <a:srgbClr val="000000"/>
                </a:solidFill>
                <a:latin typeface="맑은 고딕"/>
                <a:ea typeface="맑은 고딕"/>
              </a:rPr>
              <a:t>. 하나의 방법을 프로젝트 전체에 일괄 적용하지 않는다.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주문 시스템 영역별 요구 기법</a:t>
            </a:r>
          </a:p>
        </p:txBody>
      </p:sp>
    </p:spTree>
    <p:extLst>
      <p:ext uri="{BB962C8B-B14F-4D97-AF65-F5344CB8AC3E}">
        <p14:creationId xmlns:p14="http://schemas.microsoft.com/office/powerpoint/2010/main" val="2789569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16. 요구사항 유형</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2112010"/>
          <a:ext cx="8305800" cy="3873500"/>
        </p:xfrm>
        <a:graphic>
          <a:graphicData uri="http://schemas.openxmlformats.org/drawingml/2006/table">
            <a:tbl>
              <a:tblPr/>
              <a:tblGrid>
                <a:gridCol w="1801658"/>
                <a:gridCol w="3215506"/>
                <a:gridCol w="3288636"/>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유형</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내용</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주문 사례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기능(Functional)</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기능, 능력, 보안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배송지를 변경한다, 다른 고객의 주문은 볼 수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사용성(Usability)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인적 요소, 도움말, 문서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모바일에서도 배송지를 변경할 수 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신뢰성(Reliability)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장애 빈도, 복구 가능성, 예측 가능성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장애에도 주문이 유실되지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성능(Performance)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응답 시간, 처리량, 정확도, 가용성, 자원 사용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조회의 응답 시간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지원성(Supportability)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적응성, 유지보수성, 국제화, 설정 가능성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정책을 바꿔도 영향이 작다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구현·인터페이스·운영·패키징·법률 같은 부가 요소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대행(PG)과의 인터페이스 제약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요구는 </a:t>
            </a:r>
            <a:r>
              <a:rPr sz="1800" b="1">
                <a:solidFill>
                  <a:srgbClr val="000000"/>
                </a:solidFill>
                <a:latin typeface="맑은 고딕"/>
                <a:ea typeface="맑은 고딕"/>
              </a:rPr>
              <a:t>FURPS+</a:t>
            </a:r>
            <a:r>
              <a:rPr sz="1800" b="0">
                <a:solidFill>
                  <a:srgbClr val="000000"/>
                </a:solidFill>
                <a:latin typeface="맑은 고딕"/>
                <a:ea typeface="맑은 고딕"/>
              </a:rPr>
              <a:t>로 나눠 빠뜨린 종류가 없는지 확인한다. 기능만이 요구가 아니다.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- 18 -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FURPS+ (Larman, 2004)</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356610"/>
            <a:ext cx="8412480" cy="143555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기능 요구는 </a:t>
            </a:r>
            <a:r>
              <a:rPr sz="1800" b="1">
                <a:solidFill>
                  <a:srgbClr val="000000"/>
                </a:solidFill>
                <a:latin typeface="맑은 고딕"/>
                <a:ea typeface="맑은 고딕"/>
              </a:rPr>
              <a:t>유스케이스</a:t>
            </a:r>
            <a:r>
              <a:rPr sz="1800" b="0">
                <a:solidFill>
                  <a:srgbClr val="000000"/>
                </a:solidFill>
                <a:latin typeface="맑은 고딕"/>
                <a:ea typeface="맑은 고딕"/>
              </a:rPr>
              <a:t>에 쓴다. 나머지는 주로 </a:t>
            </a:r>
            <a:r>
              <a:rPr sz="1800" b="1">
                <a:solidFill>
                  <a:srgbClr val="000000"/>
                </a:solidFill>
                <a:latin typeface="맑은 고딕"/>
                <a:ea typeface="맑은 고딕"/>
              </a:rPr>
              <a:t>보조 명세서</a:t>
            </a:r>
            <a:r>
              <a:rPr sz="1400" b="0">
                <a:solidFill>
                  <a:srgbClr val="000000"/>
                </a:solidFill>
                <a:latin typeface="맑은 고딕"/>
                <a:ea typeface="맑은 고딕"/>
              </a:rPr>
              <a:t>(Supplementary Specification)</a:t>
            </a:r>
            <a:r>
              <a:rPr sz="1800" b="0">
                <a:solidFill>
                  <a:srgbClr val="000000"/>
                </a:solidFill>
                <a:latin typeface="맑은 고딕"/>
                <a:ea typeface="맑은 고딕"/>
              </a:rPr>
              <a:t> —</a:t>
            </a:r>
            <a:r>
              <a:rPr sz="1600" b="0">
                <a:solidFill>
                  <a:srgbClr val="000000"/>
                </a:solidFill>
                <a:latin typeface="맑은 고딕"/>
                <a:ea typeface="맑은 고딕"/>
              </a:rPr>
              <a:t> 유스케이스에 없는 모든 요구 — 에 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용어는 </a:t>
            </a:r>
            <a:r>
              <a:rPr sz="1800" b="1">
                <a:solidFill>
                  <a:srgbClr val="000000"/>
                </a:solidFill>
                <a:latin typeface="맑은 고딕"/>
                <a:ea typeface="맑은 고딕"/>
              </a:rPr>
              <a:t>용어집</a:t>
            </a:r>
            <a:r>
              <a:rPr sz="1800" b="0">
                <a:solidFill>
                  <a:srgbClr val="000000"/>
                </a:solidFill>
                <a:latin typeface="맑은 고딕"/>
                <a:ea typeface="맑은 고딕"/>
              </a:rPr>
              <a:t>에, 여러 유스케이스에 공통인 규칙은 </a:t>
            </a:r>
            <a:r>
              <a:rPr sz="1800" b="1">
                <a:solidFill>
                  <a:srgbClr val="000000"/>
                </a:solidFill>
                <a:latin typeface="맑은 고딕"/>
                <a:ea typeface="맑은 고딕"/>
              </a:rPr>
              <a:t>업무 규칙</a:t>
            </a:r>
            <a:r>
              <a:rPr sz="1400" b="0">
                <a:solidFill>
                  <a:srgbClr val="000000"/>
                </a:solidFill>
                <a:latin typeface="맑은 고딕"/>
                <a:ea typeface="맑은 고딕"/>
              </a:rPr>
              <a:t>(Business Rules)</a:t>
            </a:r>
            <a:r>
              <a:rPr sz="1800" b="0">
                <a:solidFill>
                  <a:srgbClr val="000000"/>
                </a:solidFill>
                <a:latin typeface="맑은 고딕"/>
                <a:ea typeface="맑은 고딕"/>
              </a:rPr>
              <a:t>에 둔다.</a:t>
            </a:r>
          </a:p>
        </p:txBody>
      </p:sp>
    </p:spTree>
    <p:extLst>
      <p:ext uri="{BB962C8B-B14F-4D97-AF65-F5344CB8AC3E}">
        <p14:creationId xmlns:p14="http://schemas.microsoft.com/office/powerpoint/2010/main" val="2789569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17. 좋은 요구사항의 자격요건</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49135" y="1837690"/>
          <a:ext cx="8232140" cy="3873500"/>
        </p:xfrm>
        <a:graphic>
          <a:graphicData uri="http://schemas.openxmlformats.org/drawingml/2006/table">
            <a:tbl>
              <a:tblPr/>
              <a:tblGrid>
                <a:gridCol w="889000"/>
                <a:gridCol w="1590040"/>
                <a:gridCol w="57531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범위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특성</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의미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개별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필요함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없으면 결함이 되는, 반드시 있어야 하는 능력·특성을 기술하는가?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적절함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이해관계자에 맞는 추상화 수준이며 불필요한 제약·구현 세부사항을 넣지 않는가?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명확함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하나로만 해석되도록 명확하게 서술했는가?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완전함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이해에 필요한 정보를 그 서술 안에 모두 담았는가?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단일함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하나의 능력·특성만 기술하는가?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실현 가능함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주어진 제약 안에서 수용 가능한 위험으로 실현할 수 있는가?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검증 가능함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충족 여부를 증명·측정할 수 있게 서술했는가?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정확함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실제 필요를 정확히 반영하는가?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형식 준수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합의된 서식·표현 규칙을 따르는가?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집합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완전함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해결책에 필요한 요구를 모두 포함하는가?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일관됨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요구 사이에 충돌이 없고 용어가 일관되는가?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실현 가능함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전체를 함께 고려해도 제약 안에서 실현할 수 있는가?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이해 가능함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관련 이해관계자가 이해할 수 있는가?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타당성 확인 가능함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실제 이해관계자 의도와 맞는지 확인할 수 있는가?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524240"/>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좋은 요구사항은 </a:t>
            </a:r>
            <a:r>
              <a:rPr sz="1800" b="1">
                <a:solidFill>
                  <a:srgbClr val="000000"/>
                </a:solidFill>
                <a:latin typeface="맑은 고딕"/>
                <a:ea typeface="맑은 고딕"/>
              </a:rPr>
              <a:t>개별 문장</a:t>
            </a:r>
            <a:r>
              <a:rPr sz="1800" b="0">
                <a:solidFill>
                  <a:srgbClr val="000000"/>
                </a:solidFill>
                <a:latin typeface="맑은 고딕"/>
                <a:ea typeface="맑은 고딕"/>
              </a:rPr>
              <a:t>과 </a:t>
            </a:r>
            <a:r>
              <a:rPr sz="1800" b="1">
                <a:solidFill>
                  <a:srgbClr val="000000"/>
                </a:solidFill>
                <a:latin typeface="맑은 고딕"/>
                <a:ea typeface="맑은 고딕"/>
              </a:rPr>
              <a:t>요구사항 집합</a:t>
            </a:r>
            <a:r>
              <a:rPr sz="1800" b="0">
                <a:solidFill>
                  <a:srgbClr val="000000"/>
                </a:solidFill>
                <a:latin typeface="맑은 고딕"/>
                <a:ea typeface="맑은 고딕"/>
              </a:rPr>
              <a:t>을 따로 검토한다.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- 19 -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53924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ISO/IEC/IEEE 29148:2018의 요구사항 특성</a:t>
            </a:r>
          </a:p>
        </p:txBody>
      </p:sp>
    </p:spTree>
    <p:extLst>
      <p:ext uri="{BB962C8B-B14F-4D97-AF65-F5344CB8AC3E}">
        <p14:creationId xmlns:p14="http://schemas.microsoft.com/office/powerpoint/2010/main" val="2789569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18. 용어집 </a:t>
            </a:r>
            <a:r>
              <a:rPr sz="2000" b="1">
                <a:solidFill>
                  <a:srgbClr val="000000"/>
                </a:solidFill>
                <a:latin typeface="맑은 고딕"/>
                <a:ea typeface="맑은 고딕"/>
              </a:rPr>
              <a:t>(1/2)</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826326" y="2112010"/>
          <a:ext cx="7477760" cy="3873500"/>
        </p:xfrm>
        <a:graphic>
          <a:graphicData uri="http://schemas.openxmlformats.org/drawingml/2006/table">
            <a:tbl>
              <a:tblPr/>
              <a:tblGrid>
                <a:gridCol w="947420"/>
                <a:gridCol w="2540000"/>
                <a:gridCol w="2763520"/>
                <a:gridCol w="12268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용어</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정의</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용어 수준의 업무 규칙</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영문명</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단가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시점에 확정한 한 개의 가격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0원 이상, 판매가가 바뀌어도 그대로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unitPrice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수량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한 상품을 몇 개 사는가?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1 이상의 정수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Quantity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상태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주문이 지금 어느 단계인가?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대기 ~ 취소됨 중 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OrderStatus</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용어집</a:t>
            </a:r>
            <a:r>
              <a:rPr sz="1400" b="0">
                <a:solidFill>
                  <a:srgbClr val="000000"/>
                </a:solidFill>
                <a:latin typeface="맑은 고딕"/>
                <a:ea typeface="맑은 고딕"/>
              </a:rPr>
              <a:t>(Glossary)</a:t>
            </a:r>
            <a:r>
              <a:rPr sz="1800" b="0">
                <a:solidFill>
                  <a:srgbClr val="000000"/>
                </a:solidFill>
                <a:latin typeface="맑은 고딕"/>
                <a:ea typeface="맑은 고딕"/>
              </a:rPr>
              <a:t>은 요구에 쓰는 용어의 </a:t>
            </a:r>
            <a:r>
              <a:rPr sz="1800" b="1">
                <a:solidFill>
                  <a:srgbClr val="000000"/>
                </a:solidFill>
                <a:latin typeface="맑은 고딕"/>
                <a:ea typeface="맑은 고딕"/>
              </a:rPr>
              <a:t>뜻과 규칙</a:t>
            </a:r>
            <a:r>
              <a:rPr sz="1800" b="0">
                <a:solidFill>
                  <a:srgbClr val="000000"/>
                </a:solidFill>
                <a:latin typeface="맑은 고딕"/>
                <a:ea typeface="맑은 고딕"/>
              </a:rPr>
              <a:t>을 한 곳에 고정한다. 이 과정에서는 요구부터 코드까지 모든 모델이 쓰는 </a:t>
            </a:r>
            <a:r>
              <a:rPr sz="1800" b="1">
                <a:solidFill>
                  <a:srgbClr val="000000"/>
                </a:solidFill>
                <a:latin typeface="맑은 고딕"/>
                <a:ea typeface="맑은 고딕"/>
              </a:rPr>
              <a:t>이름의 원천</a:t>
            </a:r>
            <a:r>
              <a:rPr sz="1800" b="0">
                <a:solidFill>
                  <a:srgbClr val="000000"/>
                </a:solidFill>
                <a:latin typeface="맑은 고딕"/>
                <a:ea typeface="맑은 고딕"/>
              </a:rPr>
              <a:t>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- 20 -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주문 시스템 용어집</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492610"/>
            <a:ext cx="8412480" cy="2089833"/>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한 용어, 한 뜻</a:t>
            </a:r>
            <a:r>
              <a:rPr sz="1800" b="0">
                <a:solidFill>
                  <a:srgbClr val="000000"/>
                </a:solidFill>
                <a:latin typeface="맑은 고딕"/>
                <a:ea typeface="맑은 고딕"/>
              </a:rPr>
              <a:t> —</a:t>
            </a:r>
            <a:r>
              <a:rPr sz="1600" b="0">
                <a:solidFill>
                  <a:srgbClr val="000000"/>
                </a:solidFill>
                <a:latin typeface="맑은 고딕"/>
                <a:ea typeface="맑은 고딕"/>
              </a:rPr>
              <a:t> 동의어</a:t>
            </a:r>
            <a:r>
              <a:rPr sz="1200" b="0">
                <a:solidFill>
                  <a:srgbClr val="000000"/>
                </a:solidFill>
                <a:latin typeface="맑은 고딕"/>
                <a:ea typeface="맑은 고딕"/>
              </a:rPr>
              <a:t>(주문 상품·주문 항목)</a:t>
            </a:r>
            <a:r>
              <a:rPr sz="1600" b="0">
                <a:solidFill>
                  <a:srgbClr val="000000"/>
                </a:solidFill>
                <a:latin typeface="맑은 고딕"/>
                <a:ea typeface="맑은 고딕"/>
              </a:rPr>
              <a:t>는 하나로 정하고, 동음이의어</a:t>
            </a:r>
            <a:r>
              <a:rPr sz="1200" b="0">
                <a:solidFill>
                  <a:srgbClr val="000000"/>
                </a:solidFill>
                <a:latin typeface="맑은 고딕"/>
                <a:ea typeface="맑은 고딕"/>
              </a:rPr>
              <a:t>(주문 취소·결제 취소)</a:t>
            </a:r>
            <a:r>
              <a:rPr sz="1600" b="0">
                <a:solidFill>
                  <a:srgbClr val="000000"/>
                </a:solidFill>
                <a:latin typeface="맑은 고딕"/>
                <a:ea typeface="맑은 고딕"/>
              </a:rPr>
              <a:t>는 나눈다.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업무 규칙</a:t>
            </a:r>
            <a:r>
              <a:rPr sz="1800" b="0">
                <a:solidFill>
                  <a:srgbClr val="000000"/>
                </a:solidFill>
                <a:latin typeface="맑은 고딕"/>
                <a:ea typeface="맑은 고딕"/>
              </a:rPr>
              <a:t> —</a:t>
            </a:r>
            <a:r>
              <a:rPr sz="1600" b="0">
                <a:solidFill>
                  <a:srgbClr val="000000"/>
                </a:solidFill>
                <a:latin typeface="맑은 고딕"/>
                <a:ea typeface="맑은 고딕"/>
              </a:rPr>
              <a:t> 값의 범위·형식·단위는 용어에 붙는다. 데이터 모델의 </a:t>
            </a:r>
            <a:r>
              <a:rPr sz="1600" b="1">
                <a:solidFill>
                  <a:srgbClr val="000000"/>
                </a:solidFill>
                <a:latin typeface="맑은 고딕"/>
                <a:ea typeface="맑은 고딕"/>
              </a:rPr>
              <a:t>도메인</a:t>
            </a:r>
            <a:r>
              <a:rPr sz="1600" b="0">
                <a:solidFill>
                  <a:srgbClr val="000000"/>
                </a:solidFill>
                <a:latin typeface="맑은 고딕"/>
                <a:ea typeface="맑은 고딕"/>
              </a:rPr>
              <a:t>, DDD </a:t>
            </a:r>
            <a:r>
              <a:rPr sz="1600" b="1">
                <a:solidFill>
                  <a:srgbClr val="000000"/>
                </a:solidFill>
                <a:latin typeface="맑은 고딕"/>
                <a:ea typeface="맑은 고딕"/>
              </a:rPr>
              <a:t>값 객체</a:t>
            </a:r>
            <a:r>
              <a:rPr sz="1600" b="0">
                <a:solidFill>
                  <a:srgbClr val="000000"/>
                </a:solidFill>
                <a:latin typeface="맑은 고딕"/>
                <a:ea typeface="맑은 고딕"/>
              </a:rPr>
              <a:t>의 출발점이다.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영문명</a:t>
            </a:r>
            <a:r>
              <a:rPr sz="1800" b="0">
                <a:solidFill>
                  <a:srgbClr val="000000"/>
                </a:solidFill>
                <a:latin typeface="맑은 고딕"/>
                <a:ea typeface="맑은 고딕"/>
              </a:rPr>
              <a:t> —</a:t>
            </a:r>
            <a:r>
              <a:rPr sz="1600" b="0">
                <a:solidFill>
                  <a:srgbClr val="000000"/>
                </a:solidFill>
                <a:latin typeface="맑은 고딕"/>
                <a:ea typeface="맑은 고딕"/>
              </a:rPr>
              <a:t> 분석은 </a:t>
            </a:r>
            <a:r>
              <a:rPr sz="1600" b="1">
                <a:solidFill>
                  <a:srgbClr val="000000"/>
                </a:solidFill>
                <a:latin typeface="맑은 고딕"/>
                <a:ea typeface="맑은 고딕"/>
              </a:rPr>
              <a:t>한글 용어</a:t>
            </a:r>
            <a:r>
              <a:rPr sz="1600" b="0">
                <a:solidFill>
                  <a:srgbClr val="000000"/>
                </a:solidFill>
                <a:latin typeface="맑은 고딕"/>
                <a:ea typeface="맑은 고딕"/>
              </a:rPr>
              <a:t>, 설계·코드는 영문명과 </a:t>
            </a:r>
            <a:r>
              <a:rPr sz="1600" b="1">
                <a:solidFill>
                  <a:srgbClr val="000000"/>
                </a:solidFill>
                <a:latin typeface="맑은 고딕"/>
                <a:ea typeface="맑은 고딕"/>
              </a:rPr>
              <a:t>명명 규칙</a:t>
            </a:r>
            <a:r>
              <a:rPr sz="1600" b="0">
                <a:solidFill>
                  <a:srgbClr val="000000"/>
                </a:solidFill>
                <a:latin typeface="맑은 고딕"/>
                <a:ea typeface="맑은 고딕"/>
              </a:rPr>
              <a:t>으로 쓴다.</a:t>
            </a:r>
          </a:p>
        </p:txBody>
      </p:sp>
    </p:spTree>
    <p:extLst>
      <p:ext uri="{BB962C8B-B14F-4D97-AF65-F5344CB8AC3E}">
        <p14:creationId xmlns:p14="http://schemas.microsoft.com/office/powerpoint/2010/main" val="2789569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18. 용어집 </a:t>
            </a:r>
            <a:r>
              <a:rPr sz="2000" b="1">
                <a:solidFill>
                  <a:srgbClr val="000000"/>
                </a:solidFill>
                <a:latin typeface="맑은 고딕"/>
                <a:ea typeface="맑은 고딕"/>
              </a:rPr>
              <a:t>(2/2)</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467676" y="1837690"/>
          <a:ext cx="6195060" cy="3873500"/>
        </p:xfrm>
        <a:graphic>
          <a:graphicData uri="http://schemas.openxmlformats.org/drawingml/2006/table">
            <a:tbl>
              <a:tblPr/>
              <a:tblGrid>
                <a:gridCol w="1282700"/>
                <a:gridCol w="2037080"/>
                <a:gridCol w="28752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장치</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고정하는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용어집과의 관계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자료 사전(DD)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자료의 구성과 값</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용어집은 업무 용어의 뜻을 고정한다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XP 메타포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시스템 전체의 비유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쓸모 있으면 공통 언어에 흡수한다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공통 언어(UL)</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대화·문서·코드의 같은 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용어집은 그것을 글로 고정한 형태다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명명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이름의 형식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용어집의 영문명을 코드 이름으로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524240"/>
          </a:xfrm>
          <a:prstGeom prst="rect">
            <a:avLst/>
          </a:prstGeom>
          <a:noFill/>
        </p:spPr>
        <p:txBody>
          <a:bodyPr wrap="square">
            <a:spAutoFit/>
          </a:bodyPr>
          <a:lstStyle/>
          <a:p>
            <a:pPr marL="342900" indent="0">
              <a:spcBef>
                <a:spcPts val="600"/>
              </a:spcBef>
              <a:spcAft>
                <a:spcPts val="600"/>
              </a:spcAft>
              <a:buNone/>
            </a:pPr>
            <a:r>
              <a:rPr sz="1800" b="1">
                <a:solidFill>
                  <a:srgbClr val="000000"/>
                </a:solidFill>
                <a:latin typeface="맑은 고딕"/>
                <a:ea typeface="맑은 고딕"/>
              </a:rPr>
              <a:t>같은 목적의 장치</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- 21 -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53924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한 뜻, 한 이름을 지키는 장치</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50629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규칙 → 도메인 → 값 객체</a:t>
            </a:r>
            <a:r>
              <a:rPr sz="1800" b="0">
                <a:solidFill>
                  <a:srgbClr val="000000"/>
                </a:solidFill>
                <a:latin typeface="맑은 고딕"/>
                <a:ea typeface="맑은 고딕"/>
              </a:rPr>
              <a:t> —</a:t>
            </a:r>
            <a:r>
              <a:rPr sz="1600" b="0">
                <a:solidFill>
                  <a:srgbClr val="000000"/>
                </a:solidFill>
                <a:latin typeface="맑은 고딕"/>
                <a:ea typeface="맑은 고딕"/>
              </a:rPr>
              <a:t> 용어의 규칙</a:t>
            </a:r>
            <a:r>
              <a:rPr sz="1200" b="0">
                <a:solidFill>
                  <a:srgbClr val="000000"/>
                </a:solidFill>
                <a:latin typeface="맑은 고딕"/>
                <a:ea typeface="맑은 고딕"/>
              </a:rPr>
              <a:t>(수량은 1 이상)</a:t>
            </a:r>
            <a:r>
              <a:rPr sz="1600" b="0">
                <a:solidFill>
                  <a:srgbClr val="000000"/>
                </a:solidFill>
                <a:latin typeface="맑은 고딕"/>
                <a:ea typeface="맑은 고딕"/>
              </a:rPr>
              <a:t>은 데이터 모델의 </a:t>
            </a:r>
            <a:r>
              <a:rPr sz="1600" b="1">
                <a:solidFill>
                  <a:srgbClr val="000000"/>
                </a:solidFill>
                <a:latin typeface="맑은 고딕"/>
                <a:ea typeface="맑은 고딕"/>
              </a:rPr>
              <a:t>도메인</a:t>
            </a:r>
            <a:r>
              <a:rPr sz="1600" b="0">
                <a:solidFill>
                  <a:srgbClr val="000000"/>
                </a:solidFill>
                <a:latin typeface="맑은 고딕"/>
                <a:ea typeface="맑은 고딕"/>
              </a:rPr>
              <a:t>, 코드의 </a:t>
            </a:r>
            <a:r>
              <a:rPr sz="1600" b="1">
                <a:solidFill>
                  <a:srgbClr val="000000"/>
                </a:solidFill>
                <a:latin typeface="맑은 고딕"/>
                <a:ea typeface="맑은 고딕"/>
              </a:rPr>
              <a:t>값 객체</a:t>
            </a:r>
            <a:r>
              <a:rPr sz="1600" b="0">
                <a:solidFill>
                  <a:srgbClr val="000000"/>
                </a:solidFill>
                <a:latin typeface="맑은 고딕"/>
                <a:ea typeface="맑은 고딕"/>
              </a:rPr>
              <a:t> </a:t>
            </a:r>
            <a:r>
              <a:rPr sz="1600" b="0">
                <a:solidFill>
                  <a:srgbClr val="000000"/>
                </a:solidFill>
                <a:latin typeface="맑은 고딕"/>
                <a:ea typeface="맑은 고딕"/>
              </a:rPr>
              <a:t>Quantity</a:t>
            </a:r>
            <a:r>
              <a:rPr sz="1600" b="0">
                <a:solidFill>
                  <a:srgbClr val="000000"/>
                </a:solidFill>
                <a:latin typeface="맑은 고딕"/>
                <a:ea typeface="맑은 고딕"/>
              </a:rPr>
              <a:t>가 된다.</a:t>
            </a:r>
          </a:p>
        </p:txBody>
      </p:sp>
    </p:spTree>
    <p:extLst>
      <p:ext uri="{BB962C8B-B14F-4D97-AF65-F5344CB8AC3E}">
        <p14:creationId xmlns:p14="http://schemas.microsoft.com/office/powerpoint/2010/main" val="27895694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19. 유스케이스란 무엇인가?</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유스케이스는 액터가 목표를 이루려고 시스템을 쓰는 서로 관련된 </a:t>
            </a:r>
            <a:r>
              <a:rPr sz="1800" b="1">
                <a:solidFill>
                  <a:srgbClr val="000000"/>
                </a:solidFill>
                <a:latin typeface="맑은 고딕"/>
                <a:ea typeface="맑은 고딕"/>
              </a:rPr>
              <a:t>성공·실패 시나리오의 묶음</a:t>
            </a:r>
            <a:r>
              <a:rPr sz="1800" b="0">
                <a:solidFill>
                  <a:srgbClr val="000000"/>
                </a:solidFill>
                <a:latin typeface="맑은 고딕"/>
                <a:ea typeface="맑은 고딕"/>
              </a:rPr>
              <a:t>이다</a:t>
            </a:r>
            <a:r>
              <a:rPr sz="1000" b="0">
                <a:solidFill>
                  <a:srgbClr val="000000"/>
                </a:solidFill>
                <a:latin typeface="맑은 고딕"/>
                <a:ea typeface="맑은 고딕"/>
              </a:rPr>
              <a:t>, </a:t>
            </a:r>
            <a:r>
              <a:rPr sz="1000" b="0">
                <a:solidFill>
                  <a:srgbClr val="000000"/>
                </a:solidFill>
                <a:latin typeface="맑은 고딕"/>
                <a:ea typeface="맑은 고딕"/>
              </a:rPr>
              <a:t>"A use case is a collection of related success and failure scenarios that describe an actor using a system to support a goal.", [Larman 2004]</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유스케이스는 다이어그램이 아니라 </a:t>
            </a:r>
            <a:r>
              <a:rPr sz="1600" b="1">
                <a:solidFill>
                  <a:srgbClr val="000000"/>
                </a:solidFill>
                <a:latin typeface="맑은 고딕"/>
                <a:ea typeface="맑은 고딕"/>
              </a:rPr>
              <a:t>글</a:t>
            </a:r>
            <a:r>
              <a:rPr sz="1600" b="0">
                <a:solidFill>
                  <a:srgbClr val="000000"/>
                </a:solidFill>
                <a:latin typeface="맑은 고딕"/>
                <a:ea typeface="맑은 고딕"/>
              </a:rPr>
              <a:t>이며 유스케이스 모델링은 주로 </a:t>
            </a:r>
            <a:r>
              <a:rPr sz="1600" b="1">
                <a:solidFill>
                  <a:srgbClr val="000000"/>
                </a:solidFill>
                <a:latin typeface="맑은 고딕"/>
                <a:ea typeface="맑은 고딕"/>
              </a:rPr>
              <a:t>글을 쓰는 일</a:t>
            </a:r>
            <a:r>
              <a:rPr sz="1600" b="0">
                <a:solidFill>
                  <a:srgbClr val="000000"/>
                </a:solidFill>
                <a:latin typeface="맑은 고딕"/>
                <a:ea typeface="맑은 고딕"/>
              </a:rPr>
              <a:t>이다</a:t>
            </a:r>
            <a:r>
              <a:rPr sz="1000" b="0">
                <a:solidFill>
                  <a:srgbClr val="000000"/>
                </a:solidFill>
                <a:latin typeface="맑은 고딕"/>
                <a:ea typeface="맑은 고딕"/>
              </a:rPr>
              <a:t>, </a:t>
            </a:r>
            <a:r>
              <a:rPr sz="1000" b="0">
                <a:solidFill>
                  <a:srgbClr val="000000"/>
                </a:solidFill>
                <a:latin typeface="맑은 고딕"/>
                <a:ea typeface="맑은 고딕"/>
              </a:rPr>
              <a:t>"Use cases are text documents, not diagrams, and use-case modeling is primarily an act of writing text, not drawing diagrams."</a:t>
            </a:r>
            <a:r>
              <a:rPr sz="1000" b="0">
                <a:solidFill>
                  <a:srgbClr val="000000"/>
                </a:solidFill>
                <a:latin typeface="맑은 고딕"/>
                <a:ea typeface="맑은 고딕"/>
              </a:rPr>
              <a:t>, </a:t>
            </a:r>
            <a:r>
              <a:rPr sz="1000" b="0">
                <a:solidFill>
                  <a:srgbClr val="000000"/>
                </a:solidFill>
                <a:latin typeface="맑은 고딕"/>
                <a:ea typeface="맑은 고딕"/>
              </a:rPr>
              <a:t>[Larman 2004]</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유스케이스</a:t>
            </a:r>
            <a:r>
              <a:rPr sz="1400" b="0">
                <a:solidFill>
                  <a:srgbClr val="000000"/>
                </a:solidFill>
                <a:latin typeface="맑은 고딕"/>
                <a:ea typeface="맑은 고딕"/>
              </a:rPr>
              <a:t>(Use Case)</a:t>
            </a:r>
            <a:r>
              <a:rPr sz="1800" b="0">
                <a:solidFill>
                  <a:srgbClr val="000000"/>
                </a:solidFill>
                <a:latin typeface="맑은 고딕"/>
                <a:ea typeface="맑은 고딕"/>
              </a:rPr>
              <a:t>는 기능을 나열하는 단위가 아니라, 액터</a:t>
            </a:r>
            <a:r>
              <a:rPr sz="1400" b="0">
                <a:solidFill>
                  <a:srgbClr val="000000"/>
                </a:solidFill>
                <a:latin typeface="맑은 고딕"/>
                <a:ea typeface="맑은 고딕"/>
              </a:rPr>
              <a:t>(Actor)</a:t>
            </a:r>
            <a:r>
              <a:rPr sz="1800" b="0">
                <a:solidFill>
                  <a:srgbClr val="000000"/>
                </a:solidFill>
                <a:latin typeface="맑은 고딕"/>
                <a:ea typeface="맑은 고딕"/>
              </a:rPr>
              <a:t>가 목표를 이루는 </a:t>
            </a:r>
            <a:r>
              <a:rPr sz="1800" b="1">
                <a:solidFill>
                  <a:srgbClr val="000000"/>
                </a:solidFill>
                <a:latin typeface="맑은 고딕"/>
                <a:ea typeface="맑은 고딕"/>
              </a:rPr>
              <a:t>시스템 사용의 이야기</a:t>
            </a:r>
            <a:r>
              <a:rPr sz="1800" b="0">
                <a:solidFill>
                  <a:srgbClr val="000000"/>
                </a:solidFill>
                <a:latin typeface="맑은 고딕"/>
                <a:ea typeface="맑은 고딕"/>
              </a:rPr>
              <a:t>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통합 모델링 언어</a:t>
            </a:r>
            <a:r>
              <a:rPr sz="1400" b="0">
                <a:solidFill>
                  <a:srgbClr val="000000"/>
                </a:solidFill>
                <a:latin typeface="맑은 고딕"/>
                <a:ea typeface="맑은 고딕"/>
              </a:rPr>
              <a:t>(UML)</a:t>
            </a:r>
            <a:r>
              <a:rPr sz="1800" b="0">
                <a:solidFill>
                  <a:srgbClr val="000000"/>
                </a:solidFill>
                <a:latin typeface="맑은 고딕"/>
                <a:ea typeface="맑은 고딕"/>
              </a:rPr>
              <a:t>에서 유스케이스는 </a:t>
            </a:r>
            <a:r>
              <a:rPr sz="1800" b="1">
                <a:solidFill>
                  <a:srgbClr val="000000"/>
                </a:solidFill>
                <a:latin typeface="맑은 고딕"/>
                <a:ea typeface="맑은 고딕"/>
              </a:rPr>
              <a:t>타원</a:t>
            </a:r>
            <a:r>
              <a:rPr sz="1800" b="0">
                <a:solidFill>
                  <a:srgbClr val="000000"/>
                </a:solidFill>
                <a:latin typeface="맑은 고딕"/>
                <a:ea typeface="맑은 고딕"/>
              </a:rPr>
              <a:t>으로 표시한다. UML은 유스케이스가 액터에게 </a:t>
            </a:r>
            <a:r>
              <a:rPr sz="1800" b="1">
                <a:solidFill>
                  <a:srgbClr val="000000"/>
                </a:solidFill>
                <a:latin typeface="맑은 고딕"/>
                <a:ea typeface="맑은 고딕"/>
              </a:rPr>
              <a:t>가치 있는 관찰 가능한 결과</a:t>
            </a:r>
            <a:r>
              <a:rPr sz="1800" b="0">
                <a:solidFill>
                  <a:srgbClr val="000000"/>
                </a:solidFill>
                <a:latin typeface="맑은 고딕"/>
                <a:ea typeface="맑은 고딕"/>
              </a:rPr>
              <a:t>를 만든다고 정의한다[OMG 2017].</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4359748"/>
            <a:ext cx="8412480" cy="201168"/>
          </a:xfrm>
          <a:prstGeom prst="rect">
            <a:avLst/>
          </a:prstGeom>
          <a:noFill/>
        </p:spPr>
        <p:txBody>
          <a:bodyPr wrap="square">
            <a:spAutoFit/>
          </a:bodyPr>
          <a:lstStyle/>
          <a:p>
            <a:pPr algn="ctr"/>
            <a:r>
              <a:rPr sz="1400" b="1">
                <a:solidFill>
                  <a:srgbClr val="000000"/>
                </a:solidFill>
                <a:latin typeface="맑은 고딕"/>
                <a:ea typeface="맑은 고딕"/>
              </a:rPr>
              <a:t>유스케이스 표기</a:t>
            </a:r>
          </a:p>
        </p:txBody>
      </p:sp>
      <p:pic>
        <p:nvPicPr>
          <p:cNvPr id="10" name="svg Diagram 1" descr="유스케이스 표기: 타원 안의 주문을 관리한다"/>
          <p:cNvPicPr>
            <a:picLocks noChangeAspect="1"/>
          </p:cNvPicPr>
          <p:nvPr/>
        </p:nvPicPr>
        <p:blipFill>
          <a:blip r:embed="svgImage1"/>
          <a:stretch>
            <a:fillRect/>
          </a:stretch>
        </p:blipFill>
        <p:spPr>
          <a:xfrm>
            <a:off x="3619500" y="4597492"/>
            <a:ext cx="1905000" cy="47625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20. 왜 유스케이스가 필요한가?</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2112010"/>
          <a:ext cx="8305800" cy="3873500"/>
        </p:xfrm>
        <a:graphic>
          <a:graphicData uri="http://schemas.openxmlformats.org/drawingml/2006/table">
            <a:tbl>
              <a:tblPr/>
              <a:tblGrid>
                <a:gridCol w="1326155"/>
                <a:gridCol w="2064150"/>
                <a:gridCol w="2752946"/>
                <a:gridCol w="2162549"/>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표현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단위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답하는 질문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유스케이스로 옮길 때의 위험</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기능 분해도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기능·하위 기능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무엇을 처리하는가?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목표 없는 기능 조각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자료 흐름도(DFD)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자료를 생성·변경하는 처리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사건마다 어떤 자료가 생기고 바뀌는가?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처리 단계가 유스케이스가 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CRUD 매트릭스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엔티티 × 생성·조회·수정·삭제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누가 어떤 자료에 접근하는가?(상세 설계)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자료 접근 목록이 요구를 대신함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화면 명세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화면·버튼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어떻게 보이고 조작하는가?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해결책이 요구를 대신함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유스케이스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액터의 목표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누가 무엇을 위해 무엇을 얻는가?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유스케이스는 기능 목록이 아니라 액터의 </a:t>
            </a:r>
            <a:r>
              <a:rPr sz="1800" b="1">
                <a:solidFill>
                  <a:srgbClr val="000000"/>
                </a:solidFill>
                <a:latin typeface="맑은 고딕"/>
                <a:ea typeface="맑은 고딕"/>
              </a:rPr>
              <a:t>목표와 가치</a:t>
            </a:r>
            <a:r>
              <a:rPr sz="1800" b="0">
                <a:solidFill>
                  <a:srgbClr val="000000"/>
                </a:solidFill>
                <a:latin typeface="맑은 고딕"/>
                <a:ea typeface="맑은 고딕"/>
              </a:rPr>
              <a:t>로 시스템이 제공할 책임을 찾는다.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- 23 -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표현별 단위와 질문</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06861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주문 취소·배송지 변경처럼 </a:t>
            </a:r>
            <a:r>
              <a:rPr sz="1800" b="1">
                <a:solidFill>
                  <a:srgbClr val="000000"/>
                </a:solidFill>
                <a:latin typeface="맑은 고딕"/>
                <a:ea typeface="맑은 고딕"/>
              </a:rPr>
              <a:t>같은 주문을 유지하는</a:t>
            </a:r>
            <a:r>
              <a:rPr sz="1800" b="0">
                <a:solidFill>
                  <a:srgbClr val="000000"/>
                </a:solidFill>
                <a:latin typeface="맑은 고딕"/>
                <a:ea typeface="맑은 고딕"/>
              </a:rPr>
              <a:t> 조작은 유스케이스를 나누지 않고 대안 흐름과 시스템 오퍼레이션으로 상세화한다.</a:t>
            </a:r>
          </a:p>
        </p:txBody>
      </p:sp>
    </p:spTree>
    <p:extLst>
      <p:ext uri="{BB962C8B-B14F-4D97-AF65-F5344CB8AC3E}">
        <p14:creationId xmlns:p14="http://schemas.microsoft.com/office/powerpoint/2010/main" val="2789569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21. 유스케이스 작성 절차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유스케이스는 </a:t>
            </a:r>
            <a:r>
              <a:rPr sz="1800" b="1">
                <a:solidFill>
                  <a:srgbClr val="000000"/>
                </a:solidFill>
                <a:latin typeface="맑은 고딕"/>
                <a:ea typeface="맑은 고딕"/>
              </a:rPr>
              <a:t>경계 → 주 액터 → 목표 → 유스케이스</a:t>
            </a:r>
            <a:r>
              <a:rPr sz="1800" b="0">
                <a:solidFill>
                  <a:srgbClr val="000000"/>
                </a:solidFill>
                <a:latin typeface="맑은 고딕"/>
                <a:ea typeface="맑은 고딕"/>
              </a:rPr>
              <a:t> 순서로 찾고</a:t>
            </a:r>
            <a:r>
              <a:rPr sz="1400" b="0">
                <a:solidFill>
                  <a:srgbClr val="000000"/>
                </a:solidFill>
                <a:latin typeface="맑은 고딕"/>
                <a:ea typeface="맑은 고딕"/>
              </a:rPr>
              <a:t>(Larman, 2004)</a:t>
            </a:r>
            <a:r>
              <a:rPr sz="1800" b="0">
                <a:solidFill>
                  <a:srgbClr val="000000"/>
                </a:solidFill>
                <a:latin typeface="맑은 고딕"/>
                <a:ea typeface="맑은 고딕"/>
              </a:rPr>
              <a:t>, 찾은 유스케이스를 필요한 깊이까지 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1단계</a:t>
            </a:r>
            <a:r>
              <a:rPr sz="1800" b="0">
                <a:solidFill>
                  <a:srgbClr val="000000"/>
                </a:solidFill>
                <a:latin typeface="맑은 고딕"/>
                <a:ea typeface="맑은 고딕"/>
              </a:rPr>
              <a:t> —</a:t>
            </a:r>
            <a:r>
              <a:rPr sz="1600" b="0">
                <a:solidFill>
                  <a:srgbClr val="000000"/>
                </a:solidFill>
                <a:latin typeface="맑은 고딕"/>
                <a:ea typeface="맑은 고딕"/>
              </a:rPr>
              <a:t> 경계는 「22. 대상 시스템과 경계」, </a:t>
            </a:r>
            <a:r>
              <a:rPr sz="1600" b="1">
                <a:solidFill>
                  <a:srgbClr val="000000"/>
                </a:solidFill>
                <a:latin typeface="맑은 고딕"/>
                <a:ea typeface="맑은 고딕"/>
              </a:rPr>
              <a:t>2·3단계</a:t>
            </a:r>
            <a:r>
              <a:rPr sz="1600" b="0">
                <a:solidFill>
                  <a:srgbClr val="000000"/>
                </a:solidFill>
                <a:latin typeface="맑은 고딕"/>
                <a:ea typeface="맑은 고딕"/>
              </a:rPr>
              <a:t> — 액터와 목표는 「24. 목표와 액터」에서 정한다. 둘은 함께 찾는다.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4단계</a:t>
            </a:r>
            <a:r>
              <a:rPr sz="1800" b="0">
                <a:solidFill>
                  <a:srgbClr val="000000"/>
                </a:solidFill>
                <a:latin typeface="맑은 고딕"/>
                <a:ea typeface="맑은 고딕"/>
              </a:rPr>
              <a:t> —</a:t>
            </a:r>
            <a:r>
              <a:rPr sz="1600" b="0">
                <a:solidFill>
                  <a:srgbClr val="000000"/>
                </a:solidFill>
                <a:latin typeface="맑은 고딕"/>
                <a:ea typeface="맑은 고딕"/>
              </a:rPr>
              <a:t> 유스케이스 이름은 </a:t>
            </a:r>
            <a:r>
              <a:rPr sz="1600" b="1">
                <a:solidFill>
                  <a:srgbClr val="000000"/>
                </a:solidFill>
                <a:latin typeface="맑은 고딕"/>
                <a:ea typeface="맑은 고딕"/>
              </a:rPr>
              <a:t>목표</a:t>
            </a:r>
            <a:r>
              <a:rPr sz="1600" b="0">
                <a:solidFill>
                  <a:srgbClr val="000000"/>
                </a:solidFill>
                <a:latin typeface="맑은 고딕"/>
                <a:ea typeface="맑은 고딕"/>
              </a:rPr>
              <a:t>로 짓는다: </a:t>
            </a:r>
            <a:r>
              <a:rPr sz="1600" b="0">
                <a:solidFill>
                  <a:srgbClr val="000000"/>
                </a:solidFill>
                <a:latin typeface="맑은 고딕"/>
                <a:ea typeface="맑은 고딕"/>
              </a:rPr>
              <a:t>주문을 관리한다</a:t>
            </a:r>
            <a:r>
              <a:rPr sz="1200" b="0">
                <a:solidFill>
                  <a:srgbClr val="000000"/>
                </a:solidFill>
                <a:latin typeface="맑은 고딕"/>
                <a:ea typeface="맑은 고딕"/>
              </a:rPr>
              <a:t>(「25. 유스케이스 후보 식별」)</a:t>
            </a:r>
            <a:r>
              <a:rPr sz="16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찾은 유스케이스는 모두 </a:t>
            </a:r>
            <a:r>
              <a:rPr sz="1800" b="1">
                <a:solidFill>
                  <a:srgbClr val="000000"/>
                </a:solidFill>
                <a:latin typeface="맑은 고딕"/>
                <a:ea typeface="맑은 고딕"/>
              </a:rPr>
              <a:t>같은 깊이</a:t>
            </a:r>
            <a:r>
              <a:rPr sz="1800" b="0">
                <a:solidFill>
                  <a:srgbClr val="000000"/>
                </a:solidFill>
                <a:latin typeface="맑은 고딕"/>
                <a:ea typeface="맑은 고딕"/>
              </a:rPr>
              <a:t>로 쓰지 않는다</a:t>
            </a:r>
            <a:r>
              <a:rPr sz="1400" b="0">
                <a:solidFill>
                  <a:srgbClr val="000000"/>
                </a:solidFill>
                <a:latin typeface="맑은 고딕"/>
                <a:ea typeface="맑은 고딕"/>
              </a:rPr>
              <a:t>(「28. 유스케이스 명세 형식」)</a:t>
            </a:r>
            <a:r>
              <a:rPr sz="1800" b="0">
                <a:solidFill>
                  <a:srgbClr val="000000"/>
                </a:solidFill>
                <a:latin typeface="맑은 고딕"/>
                <a:ea typeface="맑은 고딕"/>
              </a:rPr>
              <a:t>. 정식으로 쓴 명세서가 SSD와 계약의 입력이 된다.</a:t>
            </a:r>
          </a:p>
        </p:txBody>
      </p:sp>
    </p:spTree>
    <p:extLst>
      <p:ext uri="{BB962C8B-B14F-4D97-AF65-F5344CB8AC3E}">
        <p14:creationId xmlns:p14="http://schemas.microsoft.com/office/powerpoint/2010/main" val="3555436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22. 대상 시스템과 경계</a:t>
            </a:r>
          </a:p>
          <a:p>
            <a:r>
              <a:rPr sz="1100" b="1">
                <a:solidFill>
                  <a:srgbClr val="000000"/>
                </a:solidFill>
                <a:latin typeface="맑은 고딕"/>
                <a:ea typeface="맑은 고딕"/>
              </a:rPr>
              <a:t>유스케이스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3448396"/>
          </a:xfrm>
        </p:spPr>
        <p:txBody>
          <a:bodyPr>
            <a:normAutofit/>
          </a:bodyPr>
          <a:lstStyle/>
          <a:p>
            <a:pPr marL="0" indent="0">
              <a:spcBef>
                <a:spcPts val="600"/>
              </a:spcBef>
              <a:spcAft>
                <a:spcPts val="600"/>
              </a:spcAft>
              <a:buNone/>
            </a:pPr>
            <a:r>
              <a:rPr sz="1800" b="0">
                <a:solidFill>
                  <a:srgbClr val="000000"/>
                </a:solidFill>
                <a:latin typeface="맑은 고딕"/>
                <a:ea typeface="맑은 고딕"/>
              </a:rPr>
              <a:t>유스케이스 작업은 </a:t>
            </a:r>
            <a:r>
              <a:rPr sz="1800" b="1">
                <a:solidFill>
                  <a:srgbClr val="000000"/>
                </a:solidFill>
                <a:latin typeface="맑은 고딕"/>
                <a:ea typeface="맑은 고딕"/>
              </a:rPr>
              <a:t>시스템 경계를 고르는 것</a:t>
            </a:r>
            <a:r>
              <a:rPr sz="1800" b="0">
                <a:solidFill>
                  <a:srgbClr val="000000"/>
                </a:solidFill>
                <a:latin typeface="맑은 고딕"/>
                <a:ea typeface="맑은 고딕"/>
              </a:rPr>
              <a:t>에서 시작한다. 경계 안은 대상 시스템의 책임이고, 밖은 액터다.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유스케이스 다이어그램은 시스템의 </a:t>
            </a:r>
            <a:r>
              <a:rPr sz="1800" b="1">
                <a:solidFill>
                  <a:srgbClr val="000000"/>
                </a:solidFill>
                <a:latin typeface="맑은 고딕"/>
                <a:ea typeface="맑은 고딕"/>
              </a:rPr>
              <a:t>경계와 바깥에 있는 것</a:t>
            </a:r>
            <a:r>
              <a:rPr sz="1800" b="0">
                <a:solidFill>
                  <a:srgbClr val="000000"/>
                </a:solidFill>
                <a:latin typeface="맑은 고딕"/>
                <a:ea typeface="맑은 고딕"/>
              </a:rPr>
              <a:t>과 </a:t>
            </a:r>
            <a:r>
              <a:rPr sz="1800" b="1">
                <a:solidFill>
                  <a:srgbClr val="000000"/>
                </a:solidFill>
                <a:latin typeface="맑은 고딕"/>
                <a:ea typeface="맑은 고딕"/>
              </a:rPr>
              <a:t>시스템이 쓰이는 방식</a:t>
            </a:r>
            <a:r>
              <a:rPr sz="1800" b="0">
                <a:solidFill>
                  <a:srgbClr val="000000"/>
                </a:solidFill>
                <a:latin typeface="맑은 고딕"/>
                <a:ea typeface="맑은 고딕"/>
              </a:rPr>
              <a:t>을 보여 주는 좋은 컨텍스트 다이어그램이다</a:t>
            </a:r>
            <a:r>
              <a:rPr sz="1000" b="0">
                <a:solidFill>
                  <a:srgbClr val="000000"/>
                </a:solidFill>
                <a:latin typeface="맑은 고딕"/>
                <a:ea typeface="맑은 고딕"/>
              </a:rPr>
              <a:t>, </a:t>
            </a:r>
            <a:r>
              <a:rPr sz="1000" b="0">
                <a:solidFill>
                  <a:srgbClr val="000000"/>
                </a:solidFill>
                <a:latin typeface="맑은 고딕"/>
                <a:ea typeface="맑은 고딕"/>
              </a:rPr>
              <a:t>"A use case diagram is an excellent picture of the system context; it makes a good context diagram, that is, showing the boundary of a system, what lies outside of it, and how it gets used.", [Larman 2004]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경계 안</a:t>
            </a:r>
            <a:r>
              <a:rPr sz="1800" b="0">
                <a:solidFill>
                  <a:srgbClr val="000000"/>
                </a:solidFill>
                <a:latin typeface="맑은 고딕"/>
                <a:ea typeface="맑은 고딕"/>
              </a:rPr>
              <a:t> —</a:t>
            </a:r>
            <a:r>
              <a:rPr sz="1600" b="0">
                <a:solidFill>
                  <a:srgbClr val="000000"/>
                </a:solidFill>
                <a:latin typeface="맑은 고딕"/>
                <a:ea typeface="맑은 고딕"/>
              </a:rPr>
              <a:t> 주문 시스템은 장바구니, 주문의 성립과 상태, 배송지 변경, 취소, 그리고 외부 시스템과의 </a:t>
            </a:r>
            <a:r>
              <a:rPr sz="1600" b="1">
                <a:solidFill>
                  <a:srgbClr val="000000"/>
                </a:solidFill>
                <a:latin typeface="맑은 고딕"/>
                <a:ea typeface="맑은 고딕"/>
              </a:rPr>
              <a:t>조정</a:t>
            </a:r>
            <a:r>
              <a:rPr sz="1600" b="0">
                <a:solidFill>
                  <a:srgbClr val="000000"/>
                </a:solidFill>
                <a:latin typeface="맑은 고딕"/>
                <a:ea typeface="맑은 고딕"/>
              </a:rPr>
              <a:t>을 책임진다.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경계 밖</a:t>
            </a:r>
            <a:r>
              <a:rPr sz="1800" b="0">
                <a:solidFill>
                  <a:srgbClr val="000000"/>
                </a:solidFill>
                <a:latin typeface="맑은 고딕"/>
                <a:ea typeface="맑은 고딕"/>
              </a:rPr>
              <a:t> —</a:t>
            </a:r>
            <a:r>
              <a:rPr sz="1600" b="0">
                <a:solidFill>
                  <a:srgbClr val="000000"/>
                </a:solidFill>
                <a:latin typeface="맑은 고딕"/>
                <a:ea typeface="맑은 고딕"/>
              </a:rPr>
              <a:t> 목표를 이루려고 시스템을 쓰는 </a:t>
            </a:r>
            <a:r>
              <a:rPr sz="1600" b="1">
                <a:solidFill>
                  <a:srgbClr val="000000"/>
                </a:solidFill>
                <a:latin typeface="맑은 고딕"/>
                <a:ea typeface="맑은 고딕"/>
              </a:rPr>
              <a:t>주 액터</a:t>
            </a:r>
            <a:r>
              <a:rPr sz="1200" b="0">
                <a:solidFill>
                  <a:srgbClr val="000000"/>
                </a:solidFill>
                <a:latin typeface="맑은 고딕"/>
                <a:ea typeface="맑은 고딕"/>
              </a:rPr>
              <a:t>(고객)</a:t>
            </a:r>
            <a:r>
              <a:rPr sz="1600" b="0">
                <a:solidFill>
                  <a:srgbClr val="000000"/>
                </a:solidFill>
                <a:latin typeface="맑은 고딕"/>
                <a:ea typeface="맑은 고딕"/>
              </a:rPr>
              <a:t>와, 시스템에 서비스를 제공하는 </a:t>
            </a:r>
            <a:r>
              <a:rPr sz="1600" b="1">
                <a:solidFill>
                  <a:srgbClr val="000000"/>
                </a:solidFill>
                <a:latin typeface="맑은 고딕"/>
                <a:ea typeface="맑은 고딕"/>
              </a:rPr>
              <a:t>지원 액터</a:t>
            </a:r>
            <a:r>
              <a:rPr sz="1200" b="0">
                <a:solidFill>
                  <a:srgbClr val="000000"/>
                </a:solidFill>
                <a:latin typeface="맑은 고딕"/>
                <a:ea typeface="맑은 고딕"/>
              </a:rPr>
              <a:t>(상품·회계·결제·배송 시스템)</a:t>
            </a:r>
            <a:r>
              <a:rPr sz="1600" b="0">
                <a:solidFill>
                  <a:srgbClr val="000000"/>
                </a:solidFill>
                <a:latin typeface="맑은 고딕"/>
                <a:ea typeface="맑은 고딕"/>
              </a:rPr>
              <a:t>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경계를 고르는 질문</a:t>
            </a:r>
            <a:r>
              <a:rPr sz="1800" b="0">
                <a:solidFill>
                  <a:srgbClr val="000000"/>
                </a:solidFill>
                <a:latin typeface="맑은 고딕"/>
                <a:ea typeface="맑은 고딕"/>
              </a:rPr>
              <a:t> —</a:t>
            </a:r>
            <a:r>
              <a:rPr sz="1600" b="0">
                <a:solidFill>
                  <a:srgbClr val="000000"/>
                </a:solidFill>
                <a:latin typeface="맑은 고딕"/>
                <a:ea typeface="맑은 고딕"/>
              </a:rPr>
              <a:t> 소프트웨어만인가, 하드웨어와 함께인가, 쓰는 사람까지인가, 조직 전체인가? [Larman 2004]</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4710268"/>
            <a:ext cx="8412480" cy="201168"/>
          </a:xfrm>
          <a:prstGeom prst="rect">
            <a:avLst/>
          </a:prstGeom>
          <a:noFill/>
        </p:spPr>
        <p:txBody>
          <a:bodyPr wrap="square">
            <a:spAutoFit/>
          </a:bodyPr>
          <a:lstStyle/>
          <a:p>
            <a:pPr algn="ctr"/>
            <a:r>
              <a:rPr sz="1400" b="1">
                <a:solidFill>
                  <a:srgbClr val="000000"/>
                </a:solidFill>
                <a:latin typeface="맑은 고딕"/>
                <a:ea typeface="맑은 고딕"/>
              </a:rPr>
              <a:t>주문 시스템의 경계</a:t>
            </a:r>
          </a:p>
        </p:txBody>
      </p:sp>
      <p:pic>
        <p:nvPicPr>
          <p:cNvPr id="10" name="svg Diagram 2" descr="주문 시스템의 경계: 왼쪽에 주 액터 고객, 오른쪽에 지원 액터 상품·회계·결제·배송 시스템, 경계 안은 아직 비어 있음"/>
          <p:cNvPicPr>
            <a:picLocks noChangeAspect="1"/>
          </p:cNvPicPr>
          <p:nvPr/>
        </p:nvPicPr>
        <p:blipFill>
          <a:blip r:embed="svgImage2"/>
          <a:stretch>
            <a:fillRect/>
          </a:stretch>
        </p:blipFill>
        <p:spPr>
          <a:xfrm>
            <a:off x="2334078" y="4948012"/>
            <a:ext cx="4475843" cy="1428461"/>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23. 경계 판단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2112010"/>
          <a:ext cx="8305800" cy="3873500"/>
        </p:xfrm>
        <a:graphic>
          <a:graphicData uri="http://schemas.openxmlformats.org/drawingml/2006/table">
            <a:tbl>
              <a:tblPr/>
              <a:tblGrid>
                <a:gridCol w="4152900"/>
                <a:gridCol w="41529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외부 시스템으로 둔다</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대상 시스템 안에 둔다</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다른 조직·팀이 그 책임과 데이터를 소유한다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대상 시스템이 그 데이터의 원천이다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이미 운영 중인 시스템이 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새로 만들 책임이며 따로 운영할 이유가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생애·변경 주기가 다르다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대상 시스템의 목표와 함께 바뀐다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어떤 책임을 대상 시스템 안에 둘지, 외부 시스템</a:t>
            </a:r>
            <a:r>
              <a:rPr sz="1400" b="0">
                <a:solidFill>
                  <a:srgbClr val="000000"/>
                </a:solidFill>
                <a:latin typeface="맑은 고딕"/>
                <a:ea typeface="맑은 고딕"/>
              </a:rPr>
              <a:t>(지원 액터)</a:t>
            </a:r>
            <a:r>
              <a:rPr sz="1800" b="0">
                <a:solidFill>
                  <a:srgbClr val="000000"/>
                </a:solidFill>
                <a:latin typeface="맑은 고딕"/>
                <a:ea typeface="맑은 고딕"/>
              </a:rPr>
              <a:t>으로 둘지는 </a:t>
            </a:r>
            <a:r>
              <a:rPr sz="1800" b="1">
                <a:solidFill>
                  <a:srgbClr val="000000"/>
                </a:solidFill>
                <a:latin typeface="맑은 고딕"/>
                <a:ea typeface="맑은 고딕"/>
              </a:rPr>
              <a:t>소유</a:t>
            </a:r>
            <a:r>
              <a:rPr sz="1800" b="0">
                <a:solidFill>
                  <a:srgbClr val="000000"/>
                </a:solidFill>
                <a:latin typeface="맑은 고딕"/>
                <a:ea typeface="맑은 고딕"/>
              </a:rPr>
              <a:t>로 판단한다.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- 26 -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소유에 따른 경계 판단</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492610"/>
            <a:ext cx="8412480" cy="921480"/>
          </a:xfrm>
          <a:prstGeom prst="rect">
            <a:avLst/>
          </a:prstGeom>
          <a:noFill/>
        </p:spPr>
        <p:txBody>
          <a:bodyPr wrap="square">
            <a:spAutoFit/>
          </a:bodyPr>
          <a:lstStyle/>
          <a:p>
            <a:pPr marL="342900" indent="0">
              <a:spcBef>
                <a:spcPts val="600"/>
              </a:spcBef>
              <a:spcAft>
                <a:spcPts val="600"/>
              </a:spcAft>
              <a:buNone/>
            </a:pPr>
            <a:r>
              <a:rPr sz="1800" b="1">
                <a:solidFill>
                  <a:srgbClr val="000000"/>
                </a:solidFill>
                <a:latin typeface="맑은 고딕"/>
                <a:ea typeface="맑은 고딕"/>
              </a:rPr>
              <a:t>두 방향의 잘못</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판단 질문 —</a:t>
            </a:r>
            <a:r>
              <a:rPr sz="1600" b="0">
                <a:solidFill>
                  <a:srgbClr val="000000"/>
                </a:solidFill>
                <a:latin typeface="맑은 고딕"/>
                <a:ea typeface="맑은 고딕"/>
              </a:rPr>
              <a:t> </a:t>
            </a:r>
            <a:r>
              <a:rPr sz="1600" b="1">
                <a:solidFill>
                  <a:srgbClr val="000000"/>
                </a:solidFill>
                <a:latin typeface="맑은 고딕"/>
                <a:ea typeface="맑은 고딕"/>
              </a:rPr>
              <a:t>이 책임의 데이터와 규칙을 누가 소유하는가?</a:t>
            </a:r>
          </a:p>
        </p:txBody>
      </p:sp>
      <p:sp>
        <p:nvSpPr>
          <p:cNvPr id="16" name="TextBox 12">
            <a:extLst>
              <a:ext uri="{FF2B5EF4-FFF2-40B4-BE49-F238E27FC236}">
                <a16:creationId xmlns:a16="http://schemas.microsoft.com/office/drawing/2014/main" id="{654EDDB4-901F-3D48-A715-17D163E8A7AC}"/>
              </a:ext>
            </a:extLst>
          </p:cNvPr>
          <p:cNvSpPr txBox="1"/>
          <p:nvPr/>
        </p:nvSpPr>
        <p:spPr>
          <a:xfrm>
            <a:off x="365760" y="442225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경계를 잘못 둔 예</a:t>
            </a:r>
          </a:p>
        </p:txBody>
      </p:sp>
      <p:graphicFrame>
        <p:nvGraphicFramePr>
          <p:cNvPr id="17"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4720700"/>
          <a:ext cx="8305800" cy="3873500"/>
        </p:xfrm>
        <a:graphic>
          <a:graphicData uri="http://schemas.openxmlformats.org/drawingml/2006/table">
            <a:tbl>
              <a:tblPr/>
              <a:tblGrid>
                <a:gridCol w="4152900"/>
                <a:gridCol w="41529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잘못된 예</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결과</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시스템이 재고·입금·영수증·출고를 모두 처리한다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경계가 비대해지고, 회계·물류 규칙이 주문의 요구에 섞인다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기능마다 별도 시스템으로 떼어 액터로 둔다(주문 DB, 결제 모듈)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시스템 안의 요소를 액터로 만든다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27895694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24. 목표와 액터</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644716" y="4611370"/>
          <a:ext cx="7840980" cy="3873500"/>
        </p:xfrm>
        <a:graphic>
          <a:graphicData uri="http://schemas.openxmlformats.org/drawingml/2006/table">
            <a:tbl>
              <a:tblPr/>
              <a:tblGrid>
                <a:gridCol w="3489960"/>
                <a:gridCol w="1087120"/>
                <a:gridCol w="2176780"/>
                <a:gridCol w="10871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목표</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주 액터</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지원 액터</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시스템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주문을 관리한다 — 주문·확인·배송지 변경·취소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결제·상품·회계·배송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 현황을 조회한다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배송을 처리한다 — 출고·배송 시작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담당자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상품 정보를 관리한다 — 등록·수정·판매 중지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관리자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상품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3398389"/>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액터를 먼저 나열하기보다, 먼저 </a:t>
            </a:r>
            <a:r>
              <a:rPr sz="1800" b="1">
                <a:solidFill>
                  <a:srgbClr val="000000"/>
                </a:solidFill>
                <a:latin typeface="맑은 고딕"/>
                <a:ea typeface="맑은 고딕"/>
              </a:rPr>
              <a:t>달성해야 할 목표</a:t>
            </a:r>
            <a:r>
              <a:rPr sz="1800" b="0">
                <a:solidFill>
                  <a:srgbClr val="000000"/>
                </a:solidFill>
                <a:latin typeface="맑은 고딕"/>
                <a:ea typeface="맑은 고딕"/>
              </a:rPr>
              <a:t>를 식별하고 그 목표를 가진 역할을 액터로 찾는다.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어떤 가치 있는 목표를 달성해야 하는가? 그 목표를 원하는 역할은 누구인가?</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액터</a:t>
            </a:r>
            <a:r>
              <a:rPr sz="1800" b="0">
                <a:solidFill>
                  <a:srgbClr val="000000"/>
                </a:solidFill>
                <a:latin typeface="맑은 고딕"/>
                <a:ea typeface="맑은 고딕"/>
              </a:rPr>
              <a:t>는 행위를 하는 외부의 무엇이다 —</a:t>
            </a:r>
            <a:r>
              <a:rPr sz="1600" b="0">
                <a:solidFill>
                  <a:srgbClr val="000000"/>
                </a:solidFill>
                <a:latin typeface="맑은 고딕"/>
                <a:ea typeface="맑은 고딕"/>
              </a:rPr>
              <a:t> 사람</a:t>
            </a:r>
            <a:r>
              <a:rPr sz="1200" b="0">
                <a:solidFill>
                  <a:srgbClr val="000000"/>
                </a:solidFill>
                <a:latin typeface="맑은 고딕"/>
                <a:ea typeface="맑은 고딕"/>
              </a:rPr>
              <a:t>(역할)</a:t>
            </a:r>
            <a:r>
              <a:rPr sz="1600" b="0">
                <a:solidFill>
                  <a:srgbClr val="000000"/>
                </a:solidFill>
                <a:latin typeface="맑은 고딕"/>
                <a:ea typeface="맑은 고딕"/>
              </a:rPr>
              <a:t>, 컴퓨터 시스템, 조직[Larman 2004].</a:t>
            </a:r>
          </a:p>
          <a:p>
            <a:pPr lvl="3" marL="1077913" indent="-354013">
              <a:spcBef>
                <a:spcPts val="600"/>
              </a:spcBef>
              <a:spcAft>
                <a:spcPts val="600"/>
              </a:spcAft>
              <a:buSzPct val="90000"/>
              <a:buFont typeface="Wingdings" pitchFamily="2" charset="2"/>
              <a:buChar char=""/>
            </a:pPr>
            <a:r>
              <a:rPr sz="1600" b="1">
                <a:solidFill>
                  <a:srgbClr val="000000"/>
                </a:solidFill>
                <a:latin typeface="맑은 고딕"/>
                <a:ea typeface="맑은 고딕"/>
              </a:rPr>
              <a:t>주 액터</a:t>
            </a:r>
            <a:r>
              <a:rPr sz="1600" b="0">
                <a:solidFill>
                  <a:srgbClr val="000000"/>
                </a:solidFill>
                <a:latin typeface="맑은 고딕"/>
                <a:ea typeface="맑은 고딕"/>
              </a:rPr>
              <a:t>는 목표를 이루려고 시스템을 쓰고, </a:t>
            </a:r>
            <a:r>
              <a:rPr sz="1600" b="1">
                <a:solidFill>
                  <a:srgbClr val="000000"/>
                </a:solidFill>
                <a:latin typeface="맑은 고딕"/>
                <a:ea typeface="맑은 고딕"/>
              </a:rPr>
              <a:t>지원 액터</a:t>
            </a:r>
            <a:r>
              <a:rPr sz="1600" b="0">
                <a:solidFill>
                  <a:srgbClr val="000000"/>
                </a:solidFill>
                <a:latin typeface="맑은 고딕"/>
                <a:ea typeface="맑은 고딕"/>
              </a:rPr>
              <a:t>는 시스템에 서비스를 제공한다.</a:t>
            </a:r>
          </a:p>
          <a:p>
            <a:pPr lvl="3" marL="1077913" indent="-354013">
              <a:spcBef>
                <a:spcPts val="600"/>
              </a:spcBef>
              <a:spcAft>
                <a:spcPts val="600"/>
              </a:spcAft>
              <a:buSzPct val="90000"/>
              <a:buFont typeface="Wingdings" pitchFamily="2" charset="2"/>
              <a:buChar char=""/>
            </a:pPr>
            <a:r>
              <a:rPr sz="1600" b="1">
                <a:solidFill>
                  <a:srgbClr val="000000"/>
                </a:solidFill>
                <a:latin typeface="맑은 고딕"/>
                <a:ea typeface="맑은 고딕"/>
              </a:rPr>
              <a:t>무대 밖 액터</a:t>
            </a:r>
            <a:r>
              <a:rPr sz="1200" b="0">
                <a:solidFill>
                  <a:srgbClr val="000000"/>
                </a:solidFill>
                <a:latin typeface="맑은 고딕"/>
                <a:ea typeface="맑은 고딕"/>
              </a:rPr>
              <a:t>(offstage)</a:t>
            </a:r>
            <a:r>
              <a:rPr sz="1600" b="0">
                <a:solidFill>
                  <a:srgbClr val="000000"/>
                </a:solidFill>
                <a:latin typeface="맑은 고딕"/>
                <a:ea typeface="맑은 고딕"/>
              </a:rPr>
              <a:t>는 유스케이스의 결과에 관심이 있지만 주 액터도 지원 액터도 아니다 —</a:t>
            </a:r>
            <a:r>
              <a:rPr sz="1400" b="0">
                <a:solidFill>
                  <a:srgbClr val="000000"/>
                </a:solidFill>
                <a:latin typeface="맑은 고딕"/>
                <a:ea typeface="맑은 고딕"/>
              </a:rPr>
              <a:t> 예: 매출 기록을 보는 쇼핑몰 운영사.</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431292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액터–목표 목록</a:t>
            </a:r>
          </a:p>
        </p:txBody>
      </p:sp>
    </p:spTree>
    <p:extLst>
      <p:ext uri="{BB962C8B-B14F-4D97-AF65-F5344CB8AC3E}">
        <p14:creationId xmlns:p14="http://schemas.microsoft.com/office/powerpoint/2010/main" val="27895694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25. 유스케이스 후보 식별</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216216" y="2112010"/>
          <a:ext cx="6697980" cy="3873500"/>
        </p:xfrm>
        <a:graphic>
          <a:graphicData uri="http://schemas.openxmlformats.org/drawingml/2006/table">
            <a:tbl>
              <a:tblPr/>
              <a:tblGrid>
                <a:gridCol w="1869440"/>
                <a:gridCol w="2176780"/>
                <a:gridCol w="26517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시험</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묻는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주문 사례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상사 시험(Boss Test)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 일로 상사가 만족하는가?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주문을 관리했다 ○ · 로그인했다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EBP 시험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기본 업무 프로세스인가?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주문을 관리한다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크기 시험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여러 단계로 이루어지는가?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주소를 검색한다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유스케이스 후보는 기능 메뉴가 아니라 </a:t>
            </a:r>
            <a:r>
              <a:rPr sz="1800" b="1">
                <a:solidFill>
                  <a:srgbClr val="000000"/>
                </a:solidFill>
                <a:latin typeface="맑은 고딕"/>
                <a:ea typeface="맑은 고딕"/>
              </a:rPr>
              <a:t>액터의 목표</a:t>
            </a:r>
            <a:r>
              <a:rPr sz="1800" b="0">
                <a:solidFill>
                  <a:srgbClr val="000000"/>
                </a:solidFill>
                <a:latin typeface="맑은 고딕"/>
                <a:ea typeface="맑은 고딕"/>
              </a:rPr>
              <a:t>로 찾고, 세 가지 시험으로 크기를 확인한다.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- 28 -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유스케이스 후보를 거르는 시험 (Larman, 2004)</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492610"/>
            <a:ext cx="8412480" cy="143555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상사 시험</a:t>
            </a:r>
            <a:r>
              <a:rPr sz="1800" b="0">
                <a:solidFill>
                  <a:srgbClr val="000000"/>
                </a:solidFill>
                <a:latin typeface="맑은 고딕"/>
                <a:ea typeface="맑은 고딕"/>
              </a:rPr>
              <a:t>은 "하루 종일 무엇을 했나?"에 그 이름으로 답해 보는 것이다. EBP는 「26. 유스케이스 수준」에서 정의한다.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주문 시스템의 유스케이스</a:t>
            </a:r>
            <a:r>
              <a:rPr sz="1800" b="0">
                <a:solidFill>
                  <a:srgbClr val="000000"/>
                </a:solidFill>
                <a:latin typeface="맑은 고딕"/>
                <a:ea typeface="맑은 고딕"/>
              </a:rPr>
              <a:t> —</a:t>
            </a:r>
            <a:r>
              <a:rPr sz="1600" b="0">
                <a:solidFill>
                  <a:srgbClr val="000000"/>
                </a:solidFill>
                <a:latin typeface="맑은 고딕"/>
                <a:ea typeface="맑은 고딕"/>
              </a:rPr>
              <a:t> 주문을 관리한다, 배송 현황을 조회한다. 배송·결제는 이 유스케이스 안에서 외부 시스템</a:t>
            </a:r>
            <a:r>
              <a:rPr sz="1200" b="0">
                <a:solidFill>
                  <a:srgbClr val="000000"/>
                </a:solidFill>
                <a:latin typeface="맑은 고딕"/>
                <a:ea typeface="맑은 고딕"/>
              </a:rPr>
              <a:t>(지원 액터)</a:t>
            </a:r>
            <a:r>
              <a:rPr sz="1600" b="0">
                <a:solidFill>
                  <a:srgbClr val="000000"/>
                </a:solidFill>
                <a:latin typeface="맑은 고딕"/>
                <a:ea typeface="맑은 고딕"/>
              </a:rPr>
              <a:t>에 </a:t>
            </a:r>
            <a:r>
              <a:rPr sz="1600" b="1">
                <a:solidFill>
                  <a:srgbClr val="000000"/>
                </a:solidFill>
                <a:latin typeface="맑은 고딕"/>
                <a:ea typeface="맑은 고딕"/>
              </a:rPr>
              <a:t>요청</a:t>
            </a:r>
            <a:r>
              <a:rPr sz="1600" b="0">
                <a:solidFill>
                  <a:srgbClr val="000000"/>
                </a:solidFill>
                <a:latin typeface="맑은 고딕"/>
                <a:ea typeface="맑은 고딕"/>
              </a:rPr>
              <a:t>한다.</a:t>
            </a:r>
          </a:p>
        </p:txBody>
      </p:sp>
    </p:spTree>
    <p:extLst>
      <p:ext uri="{BB962C8B-B14F-4D97-AF65-F5344CB8AC3E}">
        <p14:creationId xmlns:p14="http://schemas.microsoft.com/office/powerpoint/2010/main" val="27895694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26. 유스케이스 수준</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587566" y="3173268"/>
          <a:ext cx="7955280" cy="3873500"/>
        </p:xfrm>
        <a:graphic>
          <a:graphicData uri="http://schemas.openxmlformats.org/drawingml/2006/table">
            <a:tbl>
              <a:tblPr/>
              <a:tblGrid>
                <a:gridCol w="1087120"/>
                <a:gridCol w="3909060"/>
                <a:gridCol w="29591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수준</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기준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사용자 목표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EBP — 한 사람이 한 번에 마치고 업무 가치를 얻는다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주문을 관리한다, 상품 정보를 관리한다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하위 기능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사용자 목표의 한 단계, 단독으로는 가치가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로그인한다, 주소를 검색한다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844479"/>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유스케이스는 목표의 </a:t>
            </a:r>
            <a:r>
              <a:rPr sz="1800" b="1">
                <a:solidFill>
                  <a:srgbClr val="000000"/>
                </a:solidFill>
                <a:latin typeface="맑은 고딕"/>
                <a:ea typeface="맑은 고딕"/>
              </a:rPr>
              <a:t>수준</a:t>
            </a:r>
            <a:r>
              <a:rPr sz="1800" b="0">
                <a:solidFill>
                  <a:srgbClr val="000000"/>
                </a:solidFill>
                <a:latin typeface="맑은 고딕"/>
                <a:ea typeface="맑은 고딕"/>
              </a:rPr>
              <a:t>을 정해야 크기가 일정해진다. 기본 단위는 </a:t>
            </a:r>
            <a:r>
              <a:rPr sz="1800" b="1">
                <a:solidFill>
                  <a:srgbClr val="000000"/>
                </a:solidFill>
                <a:latin typeface="맑은 고딕"/>
                <a:ea typeface="맑은 고딕"/>
              </a:rPr>
              <a:t>사용자 목표 수준</a:t>
            </a:r>
            <a:r>
              <a:rPr sz="1800" b="0">
                <a:solidFill>
                  <a:srgbClr val="000000"/>
                </a:solidFill>
                <a:latin typeface="맑은 고딕"/>
                <a:ea typeface="맑은 고딕"/>
              </a:rPr>
              <a:t> —</a:t>
            </a:r>
            <a:r>
              <a:rPr sz="1600" b="0">
                <a:solidFill>
                  <a:srgbClr val="000000"/>
                </a:solidFill>
                <a:latin typeface="맑은 고딕"/>
                <a:ea typeface="맑은 고딕"/>
              </a:rPr>
              <a:t> 기본 업무 프로세스</a:t>
            </a:r>
            <a:r>
              <a:rPr sz="1200" b="0">
                <a:solidFill>
                  <a:srgbClr val="000000"/>
                </a:solidFill>
                <a:latin typeface="맑은 고딕"/>
                <a:ea typeface="맑은 고딕"/>
              </a:rPr>
              <a:t>(EBP)</a:t>
            </a:r>
            <a:r>
              <a:rPr sz="1600" b="0">
                <a:solidFill>
                  <a:srgbClr val="000000"/>
                </a:solidFill>
                <a:latin typeface="맑은 고딕"/>
                <a:ea typeface="맑은 고딕"/>
              </a:rPr>
              <a:t>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EBP는 업무 사건에 반응해 </a:t>
            </a:r>
            <a:r>
              <a:rPr sz="1800" b="1">
                <a:solidFill>
                  <a:srgbClr val="000000"/>
                </a:solidFill>
                <a:latin typeface="맑은 고딕"/>
                <a:ea typeface="맑은 고딕"/>
              </a:rPr>
              <a:t>한 사람이 한 장소에서 한 번에</a:t>
            </a:r>
            <a:r>
              <a:rPr sz="1800" b="0">
                <a:solidFill>
                  <a:srgbClr val="000000"/>
                </a:solidFill>
                <a:latin typeface="맑은 고딕"/>
                <a:ea typeface="맑은 고딕"/>
              </a:rPr>
              <a:t> 수행하고 측정 가능한 업무 가치를 더하며 데이터를 일관된 상태로 남기는 작업이다</a:t>
            </a:r>
            <a:r>
              <a:rPr sz="1000" b="0">
                <a:solidFill>
                  <a:srgbClr val="000000"/>
                </a:solidFill>
                <a:latin typeface="맑은 고딕"/>
                <a:ea typeface="맑은 고딕"/>
              </a:rPr>
              <a:t>, </a:t>
            </a:r>
            <a:r>
              <a:rPr sz="1000" b="0">
                <a:solidFill>
                  <a:srgbClr val="000000"/>
                </a:solidFill>
                <a:latin typeface="맑은 고딕"/>
                <a:ea typeface="맑은 고딕"/>
              </a:rPr>
              <a:t>"A task performed by one person in one place at one time, in response to a business event, which adds measurable business value and leaves the data in a consistent state", [Larman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- 29 -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87481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유스케이스 수준</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265868"/>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하위 기능</a:t>
            </a:r>
            <a:r>
              <a:rPr sz="1800" b="0">
                <a:solidFill>
                  <a:srgbClr val="000000"/>
                </a:solidFill>
                <a:latin typeface="맑은 고딕"/>
                <a:ea typeface="맑은 고딕"/>
              </a:rPr>
              <a:t>은 여러 유스케이스가 반복해 쓰는 의미 있는 행위일 때만 분리한다</a:t>
            </a:r>
            <a:r>
              <a:rPr sz="1400" b="0">
                <a:solidFill>
                  <a:srgbClr val="000000"/>
                </a:solidFill>
                <a:latin typeface="맑은 고딕"/>
                <a:ea typeface="맑은 고딕"/>
              </a:rPr>
              <a:t>(포함, 「34. 유스케이스 다이어그램 —</a:t>
            </a:r>
            <a:r>
              <a:rPr sz="1200" b="0">
                <a:solidFill>
                  <a:srgbClr val="000000"/>
                </a:solidFill>
                <a:latin typeface="맑은 고딕"/>
                <a:ea typeface="맑은 고딕"/>
              </a:rPr>
              <a:t> 상세화」)</a:t>
            </a:r>
            <a:r>
              <a:rPr sz="1600" b="0">
                <a:solidFill>
                  <a:srgbClr val="000000"/>
                </a:solidFill>
                <a:latin typeface="맑은 고딕"/>
                <a:ea typeface="맑은 고딕"/>
              </a:rPr>
              <a:t>.</a:t>
            </a:r>
          </a:p>
        </p:txBody>
      </p:sp>
    </p:spTree>
    <p:extLst>
      <p:ext uri="{BB962C8B-B14F-4D97-AF65-F5344CB8AC3E}">
        <p14:creationId xmlns:p14="http://schemas.microsoft.com/office/powerpoint/2010/main" val="27895694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27. 유스케이스 다이어그램 — 초안 </a:t>
            </a:r>
            <a:r>
              <a:rPr sz="2000" b="1">
                <a:solidFill>
                  <a:srgbClr val="000000"/>
                </a:solidFill>
                <a:latin typeface="맑은 고딕"/>
                <a:ea typeface="맑은 고딕"/>
              </a:rPr>
              <a:t>(1/2)</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초안은 「22. 대상 시스템과 경계」의 경계 안에 유스케이스를 채우고 </a:t>
            </a:r>
            <a:r>
              <a:rPr sz="1800" b="1">
                <a:solidFill>
                  <a:srgbClr val="000000"/>
                </a:solidFill>
                <a:latin typeface="맑은 고딕"/>
                <a:ea typeface="맑은 고딕"/>
              </a:rPr>
              <a:t>액터·유스케이스·시스템 경계·연관</a:t>
            </a:r>
            <a:r>
              <a:rPr sz="1800" b="0">
                <a:solidFill>
                  <a:srgbClr val="000000"/>
                </a:solidFill>
                <a:latin typeface="맑은 고딕"/>
                <a:ea typeface="맑은 고딕"/>
              </a:rPr>
              <a:t>만으로 시스템의 사용 구조를 파악한다.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초안에는 목표를 가진 </a:t>
            </a:r>
            <a:r>
              <a:rPr sz="1800" b="1">
                <a:solidFill>
                  <a:srgbClr val="000000"/>
                </a:solidFill>
                <a:latin typeface="맑은 고딕"/>
                <a:ea typeface="맑은 고딕"/>
              </a:rPr>
              <a:t>주 액터</a:t>
            </a:r>
            <a:r>
              <a:rPr sz="1800" b="0">
                <a:solidFill>
                  <a:srgbClr val="000000"/>
                </a:solidFill>
                <a:latin typeface="맑은 고딕"/>
                <a:ea typeface="맑은 고딕"/>
              </a:rPr>
              <a:t>의 연관만 둔다. 지원 액터의 연관과 포함·확장은 「34. 유스케이스 다이어그램 —</a:t>
            </a:r>
            <a:r>
              <a:rPr sz="1600" b="0">
                <a:solidFill>
                  <a:srgbClr val="000000"/>
                </a:solidFill>
                <a:latin typeface="맑은 고딕"/>
                <a:ea typeface="맑은 고딕"/>
              </a:rPr>
              <a:t> 상세화」에서 더한다.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785872"/>
            <a:ext cx="8412480" cy="201168"/>
          </a:xfrm>
          <a:prstGeom prst="rect">
            <a:avLst/>
          </a:prstGeom>
          <a:noFill/>
        </p:spPr>
        <p:txBody>
          <a:bodyPr wrap="square">
            <a:spAutoFit/>
          </a:bodyPr>
          <a:lstStyle/>
          <a:p>
            <a:pPr algn="ctr"/>
            <a:r>
              <a:rPr sz="1400" b="1">
                <a:solidFill>
                  <a:srgbClr val="000000"/>
                </a:solidFill>
                <a:latin typeface="맑은 고딕"/>
                <a:ea typeface="맑은 고딕"/>
              </a:rPr>
              <a:t>유스케이스 다이어그램(초안)</a:t>
            </a:r>
          </a:p>
        </p:txBody>
      </p:sp>
      <p:pic>
        <p:nvPicPr>
          <p:cNvPr id="10" name="svg Diagram 3" descr="유스케이스 다이어그램 초안: 주 액터 고객과 주문 시스템의 두 유스케이스"/>
          <p:cNvPicPr>
            <a:picLocks noChangeAspect="1"/>
          </p:cNvPicPr>
          <p:nvPr/>
        </p:nvPicPr>
        <p:blipFill>
          <a:blip r:embed="svgImage3"/>
          <a:stretch>
            <a:fillRect/>
          </a:stretch>
        </p:blipFill>
        <p:spPr>
          <a:xfrm>
            <a:off x="2667000" y="3023616"/>
            <a:ext cx="3810000" cy="2143125"/>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27. 유스케이스 다이어그램 — 초안 </a:t>
            </a:r>
            <a:r>
              <a:rPr sz="2000" b="1">
                <a:solidFill>
                  <a:srgbClr val="000000"/>
                </a:solidFill>
                <a:latin typeface="맑은 고딕"/>
                <a:ea typeface="맑은 고딕"/>
              </a:rPr>
              <a:t>(2/2)</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755206" y="1258570"/>
          <a:ext cx="7620000" cy="3873500"/>
        </p:xfrm>
        <a:graphic>
          <a:graphicData uri="http://schemas.openxmlformats.org/drawingml/2006/table">
            <a:tbl>
              <a:tblPr/>
              <a:tblGrid>
                <a:gridCol w="1757680"/>
                <a:gridCol w="2959100"/>
                <a:gridCol w="29032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표기</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의미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이렇게 쓴다</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액터 — 사람 모양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시스템 밖에서 시스템을 쓰는 역할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역할 이름을 쓰고 경계 밖에 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유스케이스 — 타원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액터가 목표를 이루는 시스템 사용 단위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목표를 동사구로 쓰고 경계 안에 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시스템 경계 — 사각형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대상 시스템의 범위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위쪽에 이름, 안은 시스템의 책임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연관 — 실선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액터가 그 유스케이스에 참여한다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방향 없음, 순서·데이터 흐름이 아니다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1033239" y="5678424"/>
            <a:ext cx="6528540" cy="795528"/>
          </a:xfrm>
          <a:prstGeom prst="rect">
            <a:avLst/>
          </a:prstGeom>
          <a:noFill/>
        </p:spPr>
        <p:txBody>
          <a:bodyPr wrap="square">
            <a:spAutoFit/>
          </a:bodyPr>
          <a:lstStyle/>
          <a:p>
            <a:endParaRP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- 31 -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96012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표기와 사용법</a:t>
            </a:r>
          </a:p>
        </p:txBody>
      </p:sp>
    </p:spTree>
    <p:extLst>
      <p:ext uri="{BB962C8B-B14F-4D97-AF65-F5344CB8AC3E}">
        <p14:creationId xmlns:p14="http://schemas.microsoft.com/office/powerpoint/2010/main" val="27895694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28. 유스케이스 명세 형식</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104456" y="2112010"/>
          <a:ext cx="6921500" cy="3873500"/>
        </p:xfrm>
        <a:graphic>
          <a:graphicData uri="http://schemas.openxmlformats.org/drawingml/2006/table">
            <a:tbl>
              <a:tblPr/>
              <a:tblGrid>
                <a:gridCol w="1841500"/>
                <a:gridCol w="2595880"/>
                <a:gridCol w="24841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형식</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내용</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언제 쓰는가?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간략(brief)</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기본 성공 시나리오를 한 문단으로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초기에 범위를 파악할 때(몇 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약식(casual)</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여러 시나리오를 여러 문단으로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간략 형식과 같다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정식(fully dressed)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모든 단계·변형과 보조 항목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가치가 큰 일부(약 10%)</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유스케이스를 모두 같은 깊이로 쓰지 않는다. </a:t>
            </a:r>
            <a:r>
              <a:rPr sz="1800" b="1">
                <a:solidFill>
                  <a:srgbClr val="000000"/>
                </a:solidFill>
                <a:latin typeface="맑은 고딕"/>
                <a:ea typeface="맑은 고딕"/>
              </a:rPr>
              <a:t>간략 → 약식 → 정식</a:t>
            </a:r>
            <a:r>
              <a:rPr sz="1800" b="0">
                <a:solidFill>
                  <a:srgbClr val="000000"/>
                </a:solidFill>
                <a:latin typeface="맑은 고딕"/>
                <a:ea typeface="맑은 고딕"/>
              </a:rPr>
              <a:t> 형식 가운데 필요한 만큼만 쓰고, 가치와 위험이 큰 것만 정식으로 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- 32 -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유스케이스 형식 (Larman, 2004)</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492610"/>
            <a:ext cx="8412480" cy="2089833"/>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정식 형식</a:t>
            </a:r>
            <a:r>
              <a:rPr sz="1800" b="0">
                <a:solidFill>
                  <a:srgbClr val="000000"/>
                </a:solidFill>
                <a:latin typeface="맑은 고딕"/>
                <a:ea typeface="맑은 고딕"/>
              </a:rPr>
              <a:t>은 사전조건·성공 보장 같은 보조 항목을 둔다. 간략 형식으로 많이 찾은 뒤, 아키텍처상 중요하고 가치가 큰 것만 정식으로 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간략 형식의 예</a:t>
            </a:r>
            <a:r>
              <a:rPr sz="1800" b="0">
                <a:solidFill>
                  <a:srgbClr val="000000"/>
                </a:solidFill>
                <a:latin typeface="맑은 고딕"/>
                <a:ea typeface="맑은 고딕"/>
              </a:rPr>
              <a:t> —</a:t>
            </a:r>
            <a:r>
              <a:rPr sz="1600" b="0">
                <a:solidFill>
                  <a:srgbClr val="000000"/>
                </a:solidFill>
                <a:latin typeface="맑은 고딕"/>
                <a:ea typeface="맑은 고딕"/>
              </a:rPr>
              <a:t> 배송 현황을 조회한다: 고객이 자기 주문을 골라 배송 현황을 조회하고, 배송 시스템이 알린 배송 상태를 확인한다.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주문 사례에서는 </a:t>
            </a:r>
            <a:r>
              <a:rPr sz="1800" b="1">
                <a:solidFill>
                  <a:srgbClr val="000000"/>
                </a:solidFill>
                <a:latin typeface="맑은 고딕"/>
                <a:ea typeface="맑은 고딕"/>
              </a:rPr>
              <a:t>주문을 관리한다</a:t>
            </a:r>
            <a:r>
              <a:rPr sz="1800" b="0">
                <a:solidFill>
                  <a:srgbClr val="000000"/>
                </a:solidFill>
                <a:latin typeface="맑은 고딕"/>
                <a:ea typeface="맑은 고딕"/>
              </a:rPr>
              <a:t>만 정식으로 쓴다 —</a:t>
            </a:r>
            <a:r>
              <a:rPr sz="1600" b="0">
                <a:solidFill>
                  <a:srgbClr val="000000"/>
                </a:solidFill>
                <a:latin typeface="맑은 고딕"/>
                <a:ea typeface="맑은 고딕"/>
              </a:rPr>
              <a:t> 결제·취소·배송지 변경이 외부 시스템과 얽혀 가치와 위험이 가장 크다.</a:t>
            </a:r>
          </a:p>
        </p:txBody>
      </p:sp>
    </p:spTree>
    <p:extLst>
      <p:ext uri="{BB962C8B-B14F-4D97-AF65-F5344CB8AC3E}">
        <p14:creationId xmlns:p14="http://schemas.microsoft.com/office/powerpoint/2010/main" val="27895694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29. 유스케이스 명세서 템플릿</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745806" y="2112010"/>
          <a:ext cx="5638800" cy="3873500"/>
        </p:xfrm>
        <a:graphic>
          <a:graphicData uri="http://schemas.openxmlformats.org/drawingml/2006/table">
            <a:tbl>
              <a:tblPr/>
              <a:tblGrid>
                <a:gridCol w="1813560"/>
                <a:gridCol w="38252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항목</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설명</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유스케이스명</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동사로 시작하는 목표 이름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범위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설계 대상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수준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사용자 목표 또는 하위 기능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 액터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시스템에 서비스를 요청하는 액터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이해관계자와 관심사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누가 이 유스케이스에 관심을 두고 무엇을 원하는가?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사전조건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시작할 때 참이어야 하고 알릴 가치가 있는 것</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성공 보장(사후조건)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성공적으로 끝났을 때 참이어야 하는 것</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기본 성공 시나리오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전형적인 무조건 성공 경로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대안 흐름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성공 또는 실패의 다른 시나리오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특별 요구사항</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관련된 비기능 요구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기술·데이터 변형 목록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입출력 방법과 데이터 형식의 변형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발생 빈도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조사·테스트·구현 시점에 영향을 준다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미결 사항 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정식 형식의 명세서는 </a:t>
            </a:r>
            <a:r>
              <a:rPr sz="1800" b="1">
                <a:solidFill>
                  <a:srgbClr val="000000"/>
                </a:solidFill>
                <a:latin typeface="맑은 고딕"/>
                <a:ea typeface="맑은 고딕"/>
              </a:rPr>
              <a:t>검토와 합의의 수단</a:t>
            </a:r>
            <a:r>
              <a:rPr sz="1800" b="0">
                <a:solidFill>
                  <a:srgbClr val="000000"/>
                </a:solidFill>
                <a:latin typeface="맑은 고딕"/>
                <a:ea typeface="맑은 고딕"/>
              </a:rPr>
              <a:t>이다. 아래 항목에 더해 이 유스케이스에만 적용되는 </a:t>
            </a:r>
            <a:r>
              <a:rPr sz="1800" b="1">
                <a:solidFill>
                  <a:srgbClr val="000000"/>
                </a:solidFill>
                <a:latin typeface="맑은 고딕"/>
                <a:ea typeface="맑은 고딕"/>
              </a:rPr>
              <a:t>업무 규칙</a:t>
            </a:r>
            <a:r>
              <a:rPr sz="1800" b="0">
                <a:solidFill>
                  <a:srgbClr val="000000"/>
                </a:solidFill>
                <a:latin typeface="맑은 고딕"/>
                <a:ea typeface="맑은 고딕"/>
              </a:rPr>
              <a:t>도 둔다.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- 33 -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정식 형식의 항목 (Larman, 2004)</a:t>
            </a:r>
          </a:p>
        </p:txBody>
      </p:sp>
    </p:spTree>
    <p:extLst>
      <p:ext uri="{BB962C8B-B14F-4D97-AF65-F5344CB8AC3E}">
        <p14:creationId xmlns:p14="http://schemas.microsoft.com/office/powerpoint/2010/main" val="27895694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30. 기본 이벤트 흐름 </a:t>
            </a:r>
            <a:r>
              <a:rPr sz="2000" b="1">
                <a:solidFill>
                  <a:srgbClr val="000000"/>
                </a:solidFill>
                <a:latin typeface="맑은 고딕"/>
                <a:ea typeface="맑은 고딕"/>
              </a:rPr>
              <a:t>(1/2)</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기본 이벤트 흐름에는 목표를 이루는 </a:t>
            </a:r>
            <a:r>
              <a:rPr sz="1800" b="1">
                <a:solidFill>
                  <a:srgbClr val="000000"/>
                </a:solidFill>
                <a:latin typeface="맑은 고딕"/>
                <a:ea typeface="맑은 고딕"/>
              </a:rPr>
              <a:t>본질적인 행위만</a:t>
            </a:r>
            <a:r>
              <a:rPr sz="1800" b="0">
                <a:solidFill>
                  <a:srgbClr val="000000"/>
                </a:solidFill>
                <a:latin typeface="맑은 고딕"/>
                <a:ea typeface="맑은 고딕"/>
              </a:rPr>
              <a:t> 쓴다.</a:t>
            </a:r>
          </a:p>
          <a:p>
            <a:pPr marL="342900" indent="0">
              <a:spcBef>
                <a:spcPts val="600"/>
              </a:spcBef>
              <a:spcAft>
                <a:spcPts val="600"/>
              </a:spcAft>
              <a:buNone/>
            </a:pPr>
            <a:r>
              <a:rPr sz="1800" b="1">
                <a:solidFill>
                  <a:srgbClr val="000000"/>
                </a:solidFill>
                <a:latin typeface="맑은 고딕"/>
                <a:ea typeface="맑은 고딕"/>
              </a:rPr>
              <a:t>유스케이스: 주문을 관리한다 —</a:t>
            </a:r>
            <a:r>
              <a:rPr sz="1600" b="1">
                <a:solidFill>
                  <a:srgbClr val="000000"/>
                </a:solidFill>
                <a:latin typeface="맑은 고딕"/>
                <a:ea typeface="맑은 고딕"/>
              </a:rPr>
              <a:t> 기본 흐름</a:t>
            </a:r>
          </a:p>
          <a:p>
            <a:pPr lvl="2" marL="607060" indent="-251460">
              <a:spcBef>
                <a:spcPts val="600"/>
              </a:spcBef>
              <a:spcAft>
                <a:spcPts val="600"/>
              </a:spcAft>
              <a:buNone/>
            </a:pPr>
            <a:r>
              <a:rPr sz="1800" b="0">
                <a:solidFill>
                  <a:srgbClr val="000000"/>
                </a:solidFill>
                <a:latin typeface="맑은 고딕"/>
                <a:ea typeface="맑은 고딕"/>
              </a:rPr>
              <a:t>1. 고객이 상품을 조회한다.</a:t>
            </a:r>
          </a:p>
          <a:p>
            <a:pPr lvl="2" marL="607060" indent="-251460">
              <a:spcBef>
                <a:spcPts val="600"/>
              </a:spcBef>
              <a:spcAft>
                <a:spcPts val="600"/>
              </a:spcAft>
              <a:buNone/>
            </a:pPr>
            <a:r>
              <a:rPr sz="1800" b="0">
                <a:solidFill>
                  <a:srgbClr val="000000"/>
                </a:solidFill>
                <a:latin typeface="맑은 고딕"/>
                <a:ea typeface="맑은 고딕"/>
              </a:rPr>
              <a:t>2. 고객이 상품과 수량을 장바구니에 담는다.</a:t>
            </a:r>
          </a:p>
          <a:p>
            <a:pPr lvl="2" marL="723900" indent="-368300">
              <a:spcBef>
                <a:spcPts val="600"/>
              </a:spcBef>
              <a:spcAft>
                <a:spcPts val="600"/>
              </a:spcAft>
              <a:buNone/>
            </a:pPr>
            <a:r>
              <a:rPr sz="1800" b="0">
                <a:solidFill>
                  <a:srgbClr val="000000"/>
                </a:solidFill>
                <a:latin typeface="맑은 고딕"/>
                <a:ea typeface="맑은 고딕"/>
              </a:rPr>
              <a:t>고객은 주문할 상품마다 </a:t>
            </a:r>
            <a:r>
              <a:rPr sz="1800" b="1">
                <a:solidFill>
                  <a:srgbClr val="000000"/>
                </a:solidFill>
                <a:latin typeface="맑은 고딕"/>
                <a:ea typeface="맑은 고딕"/>
              </a:rPr>
              <a:t>1~2단계를 반복</a:t>
            </a:r>
            <a:r>
              <a:rPr sz="1800" b="0">
                <a:solidFill>
                  <a:srgbClr val="000000"/>
                </a:solidFill>
                <a:latin typeface="맑은 고딕"/>
                <a:ea typeface="맑은 고딕"/>
              </a:rPr>
              <a:t>한다.</a:t>
            </a:r>
          </a:p>
          <a:p>
            <a:pPr lvl="2" marL="607060" indent="-251460">
              <a:spcBef>
                <a:spcPts val="600"/>
              </a:spcBef>
              <a:spcAft>
                <a:spcPts val="600"/>
              </a:spcAft>
              <a:buNone/>
            </a:pPr>
            <a:r>
              <a:rPr sz="1800" b="0">
                <a:solidFill>
                  <a:srgbClr val="000000"/>
                </a:solidFill>
                <a:latin typeface="맑은 고딕"/>
                <a:ea typeface="맑은 고딕"/>
              </a:rPr>
              <a:t>3. 고객이 배송지를 지정한다.</a:t>
            </a:r>
          </a:p>
          <a:p>
            <a:pPr lvl="2" marL="607060" indent="-251460">
              <a:spcBef>
                <a:spcPts val="600"/>
              </a:spcBef>
              <a:spcAft>
                <a:spcPts val="600"/>
              </a:spcAft>
              <a:buNone/>
            </a:pPr>
            <a:r>
              <a:rPr sz="1800" b="0">
                <a:solidFill>
                  <a:srgbClr val="000000"/>
                </a:solidFill>
                <a:latin typeface="맑은 고딕"/>
                <a:ea typeface="맑은 고딕"/>
              </a:rPr>
              <a:t>4. 고객이 결제한다.</a:t>
            </a:r>
          </a:p>
          <a:p>
            <a:pPr lvl="2" marL="607060" indent="-251460">
              <a:spcBef>
                <a:spcPts val="600"/>
              </a:spcBef>
              <a:spcAft>
                <a:spcPts val="600"/>
              </a:spcAft>
              <a:buNone/>
            </a:pPr>
            <a:r>
              <a:rPr sz="1800" b="0">
                <a:solidFill>
                  <a:srgbClr val="000000"/>
                </a:solidFill>
                <a:latin typeface="맑은 고딕"/>
                <a:ea typeface="맑은 고딕"/>
              </a:rPr>
              <a:t>5. 고객은 주문 결과를 확인한다.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성공이든 실패든 기본 흐름이 아닌 경로는 모두 </a:t>
            </a:r>
            <a:r>
              <a:rPr sz="1800" b="1">
                <a:solidFill>
                  <a:srgbClr val="000000"/>
                </a:solidFill>
                <a:latin typeface="맑은 고딕"/>
                <a:ea typeface="맑은 고딕"/>
              </a:rPr>
              <a:t>대안 흐름</a:t>
            </a:r>
            <a:r>
              <a:rPr sz="1800" b="0">
                <a:solidFill>
                  <a:srgbClr val="000000"/>
                </a:solidFill>
                <a:latin typeface="맑은 고딕"/>
                <a:ea typeface="맑은 고딕"/>
              </a:rPr>
              <a:t>이다. 번호는 갈라져 나오는 기본 흐름 단계 번호 뒤에 붙인다.</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3단계의 첫째·둘째 </a:t>
            </a:r>
            <a:r>
              <a:rPr sz="1600" b="1">
                <a:solidFill>
                  <a:srgbClr val="000000"/>
                </a:solidFill>
                <a:latin typeface="맑은 고딕"/>
                <a:ea typeface="맑은 고딕"/>
              </a:rPr>
              <a:t>대안 흐름</a:t>
            </a:r>
            <a:r>
              <a:rPr sz="1600" b="0">
                <a:solidFill>
                  <a:srgbClr val="000000"/>
                </a:solidFill>
                <a:latin typeface="맑은 고딕"/>
                <a:ea typeface="맑은 고딕"/>
              </a:rPr>
              <a:t>은 </a:t>
            </a:r>
            <a:r>
              <a:rPr sz="1600" b="0">
                <a:solidFill>
                  <a:srgbClr val="000000"/>
                </a:solidFill>
                <a:latin typeface="맑은 고딕"/>
                <a:ea typeface="맑은 고딕"/>
              </a:rPr>
              <a:t>3a</a:t>
            </a:r>
            <a:r>
              <a:rPr sz="1600" b="0">
                <a:solidFill>
                  <a:srgbClr val="000000"/>
                </a:solidFill>
                <a:latin typeface="맑은 고딕"/>
                <a:ea typeface="맑은 고딕"/>
              </a:rPr>
              <a:t>·</a:t>
            </a:r>
            <a:r>
              <a:rPr sz="1600" b="0">
                <a:solidFill>
                  <a:srgbClr val="000000"/>
                </a:solidFill>
                <a:latin typeface="맑은 고딕"/>
                <a:ea typeface="맑은 고딕"/>
              </a:rPr>
              <a:t>3b</a:t>
            </a:r>
            <a:r>
              <a:rPr sz="1600" b="0">
                <a:solidFill>
                  <a:srgbClr val="000000"/>
                </a:solidFill>
                <a:latin typeface="맑은 고딕"/>
                <a:ea typeface="맑은 고딕"/>
              </a:rPr>
              <a:t>, </a:t>
            </a:r>
            <a:r>
              <a:rPr sz="1600" b="0">
                <a:solidFill>
                  <a:srgbClr val="000000"/>
                </a:solidFill>
                <a:latin typeface="맑은 고딕"/>
                <a:ea typeface="맑은 고딕"/>
              </a:rPr>
              <a:t>3a</a:t>
            </a:r>
            <a:r>
              <a:rPr sz="1600" b="0">
                <a:solidFill>
                  <a:srgbClr val="000000"/>
                </a:solidFill>
                <a:latin typeface="맑은 고딕"/>
                <a:ea typeface="맑은 고딕"/>
              </a:rPr>
              <a:t>의 2단계에서 다시 갈라지는 대안 흐름은 </a:t>
            </a:r>
            <a:r>
              <a:rPr sz="1600" b="0">
                <a:solidFill>
                  <a:srgbClr val="000000"/>
                </a:solidFill>
                <a:latin typeface="맑은 고딕"/>
                <a:ea typeface="맑은 고딕"/>
              </a:rPr>
              <a:t>3a2a</a:t>
            </a:r>
            <a:r>
              <a:rPr sz="1600" b="0">
                <a:solidFill>
                  <a:srgbClr val="000000"/>
                </a:solidFill>
                <a:latin typeface="맑은 고딕"/>
                <a:ea typeface="맑은 고딕"/>
              </a:rPr>
              <a:t>다.</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이 유스케이스는 </a:t>
            </a:r>
            <a:r>
              <a:rPr sz="1600" b="1">
                <a:solidFill>
                  <a:srgbClr val="000000"/>
                </a:solidFill>
                <a:latin typeface="맑은 고딕"/>
                <a:ea typeface="맑은 고딕"/>
              </a:rPr>
              <a:t>주문 취소</a:t>
            </a:r>
            <a:r>
              <a:rPr sz="1600" b="0">
                <a:solidFill>
                  <a:srgbClr val="000000"/>
                </a:solidFill>
                <a:latin typeface="맑은 고딕"/>
                <a:ea typeface="맑은 고딕"/>
              </a:rPr>
              <a:t> </a:t>
            </a:r>
            <a:r>
              <a:rPr sz="1600" b="0">
                <a:solidFill>
                  <a:srgbClr val="000000"/>
                </a:solidFill>
                <a:latin typeface="맑은 고딕"/>
                <a:ea typeface="맑은 고딕"/>
              </a:rPr>
              <a:t>1a</a:t>
            </a:r>
            <a:r>
              <a:rPr sz="1600" b="0">
                <a:solidFill>
                  <a:srgbClr val="000000"/>
                </a:solidFill>
                <a:latin typeface="맑은 고딕"/>
                <a:ea typeface="맑은 고딕"/>
              </a:rPr>
              <a:t>, </a:t>
            </a:r>
            <a:r>
              <a:rPr sz="1600" b="1">
                <a:solidFill>
                  <a:srgbClr val="000000"/>
                </a:solidFill>
                <a:latin typeface="맑은 고딕"/>
                <a:ea typeface="맑은 고딕"/>
              </a:rPr>
              <a:t>배송지 변경</a:t>
            </a:r>
            <a:r>
              <a:rPr sz="1600" b="0">
                <a:solidFill>
                  <a:srgbClr val="000000"/>
                </a:solidFill>
                <a:latin typeface="맑은 고딕"/>
                <a:ea typeface="맑은 고딕"/>
              </a:rPr>
              <a:t> </a:t>
            </a:r>
            <a:r>
              <a:rPr sz="1600" b="0">
                <a:solidFill>
                  <a:srgbClr val="000000"/>
                </a:solidFill>
                <a:latin typeface="맑은 고딕"/>
                <a:ea typeface="맑은 고딕"/>
              </a:rPr>
              <a:t>3a</a:t>
            </a:r>
            <a:r>
              <a:rPr sz="1600" b="0">
                <a:solidFill>
                  <a:srgbClr val="000000"/>
                </a:solidFill>
                <a:latin typeface="맑은 고딕"/>
                <a:ea typeface="맑은 고딕"/>
              </a:rPr>
              <a:t>, </a:t>
            </a:r>
            <a:r>
              <a:rPr sz="1600" b="1">
                <a:solidFill>
                  <a:srgbClr val="000000"/>
                </a:solidFill>
                <a:latin typeface="맑은 고딕"/>
                <a:ea typeface="맑은 고딕"/>
              </a:rPr>
              <a:t>주문 내역 확인</a:t>
            </a:r>
            <a:r>
              <a:rPr sz="1600" b="0">
                <a:solidFill>
                  <a:srgbClr val="000000"/>
                </a:solidFill>
                <a:latin typeface="맑은 고딕"/>
                <a:ea typeface="맑은 고딕"/>
              </a:rPr>
              <a:t> </a:t>
            </a:r>
            <a:r>
              <a:rPr sz="1600" b="0">
                <a:solidFill>
                  <a:srgbClr val="000000"/>
                </a:solidFill>
                <a:latin typeface="맑은 고딕"/>
                <a:ea typeface="맑은 고딕"/>
              </a:rPr>
              <a:t>5a</a:t>
            </a:r>
            <a:r>
              <a:rPr sz="1600" b="0">
                <a:solidFill>
                  <a:srgbClr val="000000"/>
                </a:solidFill>
                <a:latin typeface="맑은 고딕"/>
                <a:ea typeface="맑은 고딕"/>
              </a:rPr>
              <a:t>를 대안 흐름으로 둔다.</a:t>
            </a:r>
          </a:p>
        </p:txBody>
      </p:sp>
    </p:spTree>
    <p:extLst>
      <p:ext uri="{BB962C8B-B14F-4D97-AF65-F5344CB8AC3E}">
        <p14:creationId xmlns:p14="http://schemas.microsoft.com/office/powerpoint/2010/main" val="35554366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30. 기본 이벤트 흐름 </a:t>
            </a:r>
            <a:r>
              <a:rPr sz="2000" b="1">
                <a:solidFill>
                  <a:srgbClr val="000000"/>
                </a:solidFill>
                <a:latin typeface="맑은 고딕"/>
                <a:ea typeface="맑은 고딕"/>
              </a:rPr>
              <a:t>(2/2)</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342900" indent="0">
              <a:spcBef>
                <a:spcPts val="600"/>
              </a:spcBef>
              <a:spcAft>
                <a:spcPts val="600"/>
              </a:spcAft>
              <a:buNone/>
            </a:pPr>
            <a:r>
              <a:rPr sz="1800" b="1">
                <a:solidFill>
                  <a:srgbClr val="000000"/>
                </a:solidFill>
                <a:latin typeface="맑은 고딕"/>
                <a:ea typeface="맑은 고딕"/>
              </a:rPr>
              <a:t>작성 원칙</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액터의 의도</a:t>
            </a:r>
            <a:r>
              <a:rPr sz="1800" b="0">
                <a:solidFill>
                  <a:srgbClr val="000000"/>
                </a:solidFill>
                <a:latin typeface="맑은 고딕"/>
                <a:ea typeface="맑은 고딕"/>
              </a:rPr>
              <a:t>와 외부에서 의미 있는 </a:t>
            </a:r>
            <a:r>
              <a:rPr sz="1800" b="1">
                <a:solidFill>
                  <a:srgbClr val="000000"/>
                </a:solidFill>
                <a:latin typeface="맑은 고딕"/>
                <a:ea typeface="맑은 고딕"/>
              </a:rPr>
              <a:t>결과</a:t>
            </a:r>
            <a:r>
              <a:rPr sz="1800" b="0">
                <a:solidFill>
                  <a:srgbClr val="000000"/>
                </a:solidFill>
                <a:latin typeface="맑은 고딕"/>
                <a:ea typeface="맑은 고딕"/>
              </a:rPr>
              <a:t>만 쓴다 —</a:t>
            </a:r>
            <a:r>
              <a:rPr sz="1600" b="0">
                <a:solidFill>
                  <a:srgbClr val="000000"/>
                </a:solidFill>
                <a:latin typeface="맑은 고딕"/>
                <a:ea typeface="맑은 고딕"/>
              </a:rPr>
              <a:t> 화면 클릭 순서, 내부의 확인·계산·저장·호출, 설계 내용은 쓰지 않는다.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액터 단계 하나가 시스템 이벤트 하나</a:t>
            </a:r>
            <a:r>
              <a:rPr sz="1800" b="0">
                <a:solidFill>
                  <a:srgbClr val="000000"/>
                </a:solidFill>
                <a:latin typeface="맑은 고딕"/>
                <a:ea typeface="맑은 고딕"/>
              </a:rPr>
              <a:t>에 대응한다. 한 단계에 이벤트가 둘 숨어 있으면 단계를 나눈다.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반복은 "1~2단계를 반복한다"처럼 적는다.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대안 흐름은 목표 달성 경로가 </a:t>
            </a:r>
            <a:r>
              <a:rPr sz="1800" b="1">
                <a:solidFill>
                  <a:srgbClr val="000000"/>
                </a:solidFill>
                <a:latin typeface="맑은 고딕"/>
                <a:ea typeface="맑은 고딕"/>
              </a:rPr>
              <a:t>의미 있게 달라질 때만</a:t>
            </a:r>
            <a:r>
              <a:rPr sz="1800" b="0">
                <a:solidFill>
                  <a:srgbClr val="000000"/>
                </a:solidFill>
                <a:latin typeface="맑은 고딕"/>
                <a:ea typeface="맑은 고딕"/>
              </a:rPr>
              <a:t> 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업무 규칙·특별 요구사항은 흐름에 섞지 않고 </a:t>
            </a:r>
            <a:r>
              <a:rPr sz="1800" b="1">
                <a:solidFill>
                  <a:srgbClr val="000000"/>
                </a:solidFill>
                <a:latin typeface="맑은 고딕"/>
                <a:ea typeface="맑은 고딕"/>
              </a:rPr>
              <a:t>따로</a:t>
            </a:r>
            <a:r>
              <a:rPr sz="1800" b="0">
                <a:solidFill>
                  <a:srgbClr val="000000"/>
                </a:solidFill>
                <a:latin typeface="맑은 고딕"/>
                <a:ea typeface="맑은 고딕"/>
              </a:rPr>
              <a:t> 쓴다</a:t>
            </a:r>
            <a:r>
              <a:rPr sz="1400" b="0">
                <a:solidFill>
                  <a:srgbClr val="000000"/>
                </a:solidFill>
                <a:latin typeface="맑은 고딕"/>
                <a:ea typeface="맑은 고딕"/>
              </a:rPr>
              <a:t>(「31. 규칙과 특별 요구사항」)</a:t>
            </a:r>
            <a:r>
              <a:rPr sz="1800" b="0">
                <a:solidFill>
                  <a:srgbClr val="000000"/>
                </a:solidFill>
                <a:latin typeface="맑은 고딕"/>
                <a:ea typeface="맑은 고딕"/>
              </a:rPr>
              <a:t>.</a:t>
            </a:r>
          </a:p>
        </p:txBody>
      </p:sp>
    </p:spTree>
    <p:extLst>
      <p:ext uri="{BB962C8B-B14F-4D97-AF65-F5344CB8AC3E}">
        <p14:creationId xmlns:p14="http://schemas.microsoft.com/office/powerpoint/2010/main" val="35554366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31. 규칙과 특별 요구사항</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흐름에 모든 조건을 넣지 않는다. 명세서의 </a:t>
            </a:r>
            <a:r>
              <a:rPr sz="1800" b="1">
                <a:solidFill>
                  <a:srgbClr val="000000"/>
                </a:solidFill>
                <a:latin typeface="맑은 고딕"/>
                <a:ea typeface="맑은 고딕"/>
              </a:rPr>
              <a:t>업무 규칙</a:t>
            </a:r>
            <a:r>
              <a:rPr sz="1800" b="0">
                <a:solidFill>
                  <a:srgbClr val="000000"/>
                </a:solidFill>
                <a:latin typeface="맑은 고딕"/>
                <a:ea typeface="맑은 고딕"/>
              </a:rPr>
              <a:t>과 </a:t>
            </a:r>
            <a:r>
              <a:rPr sz="1800" b="1">
                <a:solidFill>
                  <a:srgbClr val="000000"/>
                </a:solidFill>
                <a:latin typeface="맑은 고딕"/>
                <a:ea typeface="맑은 고딕"/>
              </a:rPr>
              <a:t>특별 요구사항</a:t>
            </a:r>
            <a:r>
              <a:rPr sz="1800" b="0">
                <a:solidFill>
                  <a:srgbClr val="000000"/>
                </a:solidFill>
                <a:latin typeface="맑은 고딕"/>
                <a:ea typeface="맑은 고딕"/>
              </a:rPr>
              <a:t>에 따로 쓰고, 실패한 경로는 </a:t>
            </a:r>
            <a:r>
              <a:rPr sz="1800" b="1">
                <a:solidFill>
                  <a:srgbClr val="000000"/>
                </a:solidFill>
                <a:latin typeface="맑은 고딕"/>
                <a:ea typeface="맑은 고딕"/>
              </a:rPr>
              <a:t>대안 흐름</a:t>
            </a:r>
            <a:r>
              <a:rPr sz="1800" b="0">
                <a:solidFill>
                  <a:srgbClr val="000000"/>
                </a:solidFill>
                <a:latin typeface="맑은 고딕"/>
                <a:ea typeface="맑은 고딕"/>
              </a:rPr>
              <a:t>으로 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업무 규칙</a:t>
            </a:r>
            <a:r>
              <a:rPr sz="1800" b="0">
                <a:solidFill>
                  <a:srgbClr val="000000"/>
                </a:solidFill>
                <a:latin typeface="맑은 고딕"/>
                <a:ea typeface="맑은 고딕"/>
              </a:rPr>
              <a:t> —</a:t>
            </a:r>
            <a:r>
              <a:rPr sz="1600" b="0">
                <a:solidFill>
                  <a:srgbClr val="000000"/>
                </a:solidFill>
                <a:latin typeface="맑은 고딕"/>
                <a:ea typeface="맑은 고딕"/>
              </a:rPr>
              <a:t> 이 유스케이스에서 늘 지켜야 하는 규칙과 조건이다.</a:t>
            </a:r>
          </a:p>
          <a:p>
            <a:pPr lvl="3" marL="1077913" indent="-354013">
              <a:spcBef>
                <a:spcPts val="600"/>
              </a:spcBef>
              <a:spcAft>
                <a:spcPts val="600"/>
              </a:spcAft>
              <a:buSzPct val="90000"/>
              <a:buFont typeface="Wingdings" pitchFamily="2" charset="2"/>
              <a:buChar char=""/>
            </a:pPr>
            <a:r>
              <a:rPr sz="1600" b="1">
                <a:solidFill>
                  <a:srgbClr val="000000"/>
                </a:solidFill>
                <a:latin typeface="맑은 고딕"/>
                <a:ea typeface="맑은 고딕"/>
              </a:rPr>
              <a:t>배송 시작 이후</a:t>
            </a:r>
            <a:r>
              <a:rPr sz="1600" b="0">
                <a:solidFill>
                  <a:srgbClr val="000000"/>
                </a:solidFill>
                <a:latin typeface="맑은 고딕"/>
                <a:ea typeface="맑은 고딕"/>
              </a:rPr>
              <a:t>에는 일반 취소를 허용하지 않는다.</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법률·계약상 취소가 제한되는 상품이 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여러 유스케이스에 공통인 </a:t>
            </a:r>
            <a:r>
              <a:rPr sz="1800" b="1">
                <a:solidFill>
                  <a:srgbClr val="000000"/>
                </a:solidFill>
                <a:latin typeface="맑은 고딕"/>
                <a:ea typeface="맑은 고딕"/>
              </a:rPr>
              <a:t>도메인 규칙</a:t>
            </a:r>
            <a:r>
              <a:rPr sz="1800" b="0">
                <a:solidFill>
                  <a:srgbClr val="000000"/>
                </a:solidFill>
                <a:latin typeface="맑은 고딕"/>
                <a:ea typeface="맑은 고딕"/>
              </a:rPr>
              <a:t>은 명세서 밖의 </a:t>
            </a:r>
            <a:r>
              <a:rPr sz="1800" b="1">
                <a:solidFill>
                  <a:srgbClr val="000000"/>
                </a:solidFill>
                <a:latin typeface="맑은 고딕"/>
                <a:ea typeface="맑은 고딕"/>
              </a:rPr>
              <a:t>업무 규칙 목록</a:t>
            </a:r>
            <a:r>
              <a:rPr sz="1800" b="0">
                <a:solidFill>
                  <a:srgbClr val="000000"/>
                </a:solidFill>
                <a:latin typeface="맑은 고딕"/>
                <a:ea typeface="맑은 고딕"/>
              </a:rPr>
              <a:t>에 두고, 명세서는 그 규칙을 가리킨다.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특별 요구사항</a:t>
            </a:r>
            <a:r>
              <a:rPr sz="1800" b="0">
                <a:solidFill>
                  <a:srgbClr val="000000"/>
                </a:solidFill>
                <a:latin typeface="맑은 고딕"/>
                <a:ea typeface="맑은 고딕"/>
              </a:rPr>
              <a:t> —</a:t>
            </a:r>
            <a:r>
              <a:rPr sz="1600" b="0">
                <a:solidFill>
                  <a:srgbClr val="000000"/>
                </a:solidFill>
                <a:latin typeface="맑은 고딕"/>
                <a:ea typeface="맑은 고딕"/>
              </a:rPr>
              <a:t> 품질속성처럼 흐름 밖에서 결과의 수준을 정하는 요구다.</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취소 결과를 고객에게 알리는 </a:t>
            </a:r>
            <a:r>
              <a:rPr sz="1600" b="1">
                <a:solidFill>
                  <a:srgbClr val="000000"/>
                </a:solidFill>
                <a:latin typeface="맑은 고딕"/>
                <a:ea typeface="맑은 고딕"/>
              </a:rPr>
              <a:t>시간</a:t>
            </a:r>
            <a:r>
              <a:rPr sz="1200" b="0">
                <a:solidFill>
                  <a:srgbClr val="000000"/>
                </a:solidFill>
                <a:latin typeface="맑은 고딕"/>
                <a:ea typeface="맑은 고딕"/>
              </a:rPr>
              <a:t>(미정 —</a:t>
            </a:r>
            <a:r>
              <a:rPr sz="1000" b="0">
                <a:solidFill>
                  <a:srgbClr val="000000"/>
                </a:solidFill>
                <a:latin typeface="맑은 고딕"/>
                <a:ea typeface="맑은 고딕"/>
              </a:rPr>
              <a:t> 이해관계자와 정한다)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실패한 경로</a:t>
            </a:r>
            <a:r>
              <a:rPr sz="1800" b="0">
                <a:solidFill>
                  <a:srgbClr val="000000"/>
                </a:solidFill>
                <a:latin typeface="맑은 고딕"/>
                <a:ea typeface="맑은 고딕"/>
              </a:rPr>
              <a:t> —</a:t>
            </a:r>
            <a:r>
              <a:rPr sz="1600" b="0">
                <a:solidFill>
                  <a:srgbClr val="000000"/>
                </a:solidFill>
                <a:latin typeface="맑은 고딕"/>
                <a:ea typeface="맑은 고딕"/>
              </a:rPr>
              <a:t> 환불이 완료되지 않은 경우처럼 결과가 달라지면 대안 흐름으로 쓴다</a:t>
            </a:r>
            <a:r>
              <a:rPr sz="1200" b="0">
                <a:solidFill>
                  <a:srgbClr val="000000"/>
                </a:solidFill>
                <a:latin typeface="맑은 고딕"/>
                <a:ea typeface="맑은 고딕"/>
              </a:rPr>
              <a:t>(「33. 유스케이스 상세화」의 1a2a)</a:t>
            </a:r>
            <a:r>
              <a:rPr sz="1600" b="0">
                <a:solidFill>
                  <a:srgbClr val="000000"/>
                </a:solidFill>
                <a:latin typeface="맑은 고딕"/>
                <a:ea typeface="맑은 고딕"/>
              </a:rPr>
              <a:t>.</a:t>
            </a:r>
          </a:p>
        </p:txBody>
      </p:sp>
    </p:spTree>
    <p:extLst>
      <p:ext uri="{BB962C8B-B14F-4D97-AF65-F5344CB8AC3E}">
        <p14:creationId xmlns:p14="http://schemas.microsoft.com/office/powerpoint/2010/main" val="35554366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32. 이벤트 흐름을 이용한 요구 분석</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741236" y="2112010"/>
          <a:ext cx="7647940" cy="3873500"/>
        </p:xfrm>
        <a:graphic>
          <a:graphicData uri="http://schemas.openxmlformats.org/drawingml/2006/table">
            <a:tbl>
              <a:tblPr/>
              <a:tblGrid>
                <a:gridCol w="1953260"/>
                <a:gridCol w="3601720"/>
                <a:gridCol w="20929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질문</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발견한 요구·규칙 (확인 대상)</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기록할 곳</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취소할 수 있는 범위는?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시작 이후에는 일반 취소를 허용하지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비즈니스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환불은 항상 필요한가?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전 주문은 환불 없이 취소된다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대안 흐름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부분 취소가 필요한가?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허용 조건이 정해지지 않았다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확인 질문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어떤 결과를 제공하는가?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고객이 취소·환불 결과를 확인한다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사후조건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다른 업무에 영향은?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준비를 중단해야 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관련 유스케이스·외부 액터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좋은 이벤트 흐름은 내부 처리 단계를 늘리는 것이 아니라, 목표 달성 과정에서 추가로 확인해야 할 </a:t>
            </a:r>
            <a:r>
              <a:rPr sz="1800" b="1">
                <a:solidFill>
                  <a:srgbClr val="000000"/>
                </a:solidFill>
                <a:latin typeface="맑은 고딕"/>
                <a:ea typeface="맑은 고딕"/>
              </a:rPr>
              <a:t>중요한 질문</a:t>
            </a:r>
            <a:r>
              <a:rPr sz="1800" b="0">
                <a:solidFill>
                  <a:srgbClr val="000000"/>
                </a:solidFill>
                <a:latin typeface="맑은 고딕"/>
                <a:ea typeface="맑은 고딕"/>
              </a:rPr>
              <a:t>을 드러낸다.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이벤트 흐름에서 발견한 요구</a:t>
            </a:r>
          </a:p>
        </p:txBody>
      </p:sp>
    </p:spTree>
    <p:extLst>
      <p:ext uri="{BB962C8B-B14F-4D97-AF65-F5344CB8AC3E}">
        <p14:creationId xmlns:p14="http://schemas.microsoft.com/office/powerpoint/2010/main" val="27895694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33. 유스케이스 상세화</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1616364"/>
            <a:ext cx="4338828" cy="4696101"/>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유스케이스명</a:t>
            </a:r>
            <a:r>
              <a:rPr sz="1400" b="0">
                <a:solidFill>
                  <a:srgbClr val="000000"/>
                </a:solidFill>
                <a:latin typeface="맑은 고딕"/>
                <a:ea typeface="맑은 고딕"/>
              </a:rPr>
              <a:t> —</a:t>
            </a:r>
            <a:r>
              <a:rPr sz="1200" b="0">
                <a:solidFill>
                  <a:srgbClr val="000000"/>
                </a:solidFill>
                <a:latin typeface="맑은 고딕"/>
                <a:ea typeface="맑은 고딕"/>
              </a:rPr>
              <a:t> 주문을 관리한다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액터</a:t>
            </a:r>
            <a:r>
              <a:rPr sz="1400" b="0">
                <a:solidFill>
                  <a:srgbClr val="000000"/>
                </a:solidFill>
                <a:latin typeface="맑은 고딕"/>
                <a:ea typeface="맑은 고딕"/>
              </a:rPr>
              <a:t> —</a:t>
            </a:r>
            <a:r>
              <a:rPr sz="1200" b="0">
                <a:solidFill>
                  <a:srgbClr val="000000"/>
                </a:solidFill>
                <a:latin typeface="맑은 고딕"/>
                <a:ea typeface="맑은 고딕"/>
              </a:rPr>
              <a:t> 주 액터: 고객 / 지원 액터: 결제·상품·회계·배송 시스템</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범위·수준</a:t>
            </a:r>
            <a:r>
              <a:rPr sz="1400" b="0">
                <a:solidFill>
                  <a:srgbClr val="000000"/>
                </a:solidFill>
                <a:latin typeface="맑은 고딕"/>
                <a:ea typeface="맑은 고딕"/>
              </a:rPr>
              <a:t> —</a:t>
            </a:r>
            <a:r>
              <a:rPr sz="1200" b="0">
                <a:solidFill>
                  <a:srgbClr val="000000"/>
                </a:solidFill>
                <a:latin typeface="맑은 고딕"/>
                <a:ea typeface="맑은 고딕"/>
              </a:rPr>
              <a:t> 주문 시스템, 사용자 목표</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기본 흐름</a:t>
            </a:r>
          </a:p>
          <a:p>
            <a:pPr lvl="3" marL="457200" indent="0">
              <a:spcBef>
                <a:spcPts val="300"/>
              </a:spcBef>
              <a:spcAft>
                <a:spcPts val="300"/>
              </a:spcAft>
              <a:buNone/>
            </a:pPr>
            <a:r>
              <a:rPr sz="1200" b="0">
                <a:solidFill>
                  <a:srgbClr val="000000"/>
                </a:solidFill>
                <a:latin typeface="맑은 고딕"/>
                <a:ea typeface="맑은 고딕"/>
              </a:rPr>
              <a:t>1. 고객이 상품을 조회한다.</a:t>
            </a:r>
          </a:p>
          <a:p>
            <a:pPr lvl="3" marL="457200" indent="0">
              <a:spcBef>
                <a:spcPts val="300"/>
              </a:spcBef>
              <a:spcAft>
                <a:spcPts val="300"/>
              </a:spcAft>
              <a:buNone/>
            </a:pPr>
            <a:r>
              <a:rPr sz="1200" b="0">
                <a:solidFill>
                  <a:srgbClr val="000000"/>
                </a:solidFill>
                <a:latin typeface="맑은 고딕"/>
                <a:ea typeface="맑은 고딕"/>
              </a:rPr>
              <a:t>2. 고객이 상품과 수량을 장바구니에 담는다.</a:t>
            </a:r>
          </a:p>
          <a:p>
            <a:pPr lvl="3" marL="457200" indent="0">
              <a:spcBef>
                <a:spcPts val="300"/>
              </a:spcBef>
              <a:spcAft>
                <a:spcPts val="300"/>
              </a:spcAft>
              <a:buNone/>
            </a:pPr>
            <a:r>
              <a:rPr sz="1200" b="0">
                <a:solidFill>
                  <a:srgbClr val="000000"/>
                </a:solidFill>
                <a:latin typeface="맑은 고딕"/>
                <a:ea typeface="맑은 고딕"/>
              </a:rPr>
              <a:t>고객은 주문할 상품마다 </a:t>
            </a:r>
            <a:r>
              <a:rPr sz="1200" b="1">
                <a:solidFill>
                  <a:srgbClr val="000000"/>
                </a:solidFill>
                <a:latin typeface="맑은 고딕"/>
                <a:ea typeface="맑은 고딕"/>
              </a:rPr>
              <a:t>1~2단계를 반복</a:t>
            </a:r>
            <a:r>
              <a:rPr sz="1200" b="0">
                <a:solidFill>
                  <a:srgbClr val="000000"/>
                </a:solidFill>
                <a:latin typeface="맑은 고딕"/>
                <a:ea typeface="맑은 고딕"/>
              </a:rPr>
              <a:t>한다.</a:t>
            </a:r>
          </a:p>
          <a:p>
            <a:pPr lvl="3" marL="457200" indent="0">
              <a:spcBef>
                <a:spcPts val="300"/>
              </a:spcBef>
              <a:spcAft>
                <a:spcPts val="300"/>
              </a:spcAft>
              <a:buNone/>
            </a:pPr>
            <a:r>
              <a:rPr sz="1200" b="0">
                <a:solidFill>
                  <a:srgbClr val="000000"/>
                </a:solidFill>
                <a:latin typeface="맑은 고딕"/>
                <a:ea typeface="맑은 고딕"/>
              </a:rPr>
              <a:t>3. 고객이 배송지를 지정한다.</a:t>
            </a:r>
          </a:p>
          <a:p>
            <a:pPr lvl="3" marL="457200" indent="0">
              <a:spcBef>
                <a:spcPts val="300"/>
              </a:spcBef>
              <a:spcAft>
                <a:spcPts val="300"/>
              </a:spcAft>
              <a:buNone/>
            </a:pPr>
            <a:r>
              <a:rPr sz="1200" b="0">
                <a:solidFill>
                  <a:srgbClr val="000000"/>
                </a:solidFill>
                <a:latin typeface="맑은 고딕"/>
                <a:ea typeface="맑은 고딕"/>
              </a:rPr>
              <a:t>4. 고객이 결제한다.</a:t>
            </a:r>
          </a:p>
          <a:p>
            <a:pPr lvl="3" marL="457200" indent="0">
              <a:spcBef>
                <a:spcPts val="300"/>
              </a:spcBef>
              <a:spcAft>
                <a:spcPts val="300"/>
              </a:spcAft>
              <a:buNone/>
            </a:pPr>
            <a:r>
              <a:rPr sz="1200" b="0">
                <a:solidFill>
                  <a:srgbClr val="000000"/>
                </a:solidFill>
                <a:latin typeface="맑은 고딕"/>
                <a:ea typeface="맑은 고딕"/>
              </a:rPr>
              <a:t>5. 고객은 주문 결과를 확인한다.</a:t>
            </a:r>
          </a:p>
        </p:txBody>
      </p:sp>
      <p:sp>
        <p:nvSpPr>
          <p:cNvPr id="9"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960120"/>
            <a:ext cx="8778240" cy="656244"/>
          </a:xfrm>
        </p:spPr>
        <p:txBody>
          <a:bodyPr>
            <a:normAutofit/>
          </a:bodyPr>
          <a:lstStyle/>
          <a:p>
            <a:pPr marL="0" indent="0">
              <a:spcBef>
                <a:spcPts val="300"/>
              </a:spcBef>
              <a:spcAft>
                <a:spcPts val="300"/>
              </a:spcAft>
              <a:buNone/>
            </a:pPr>
            <a:r>
              <a:rPr sz="1400" b="1">
                <a:solidFill>
                  <a:srgbClr val="000000"/>
                </a:solidFill>
                <a:latin typeface="맑은 고딕"/>
                <a:ea typeface="맑은 고딕"/>
              </a:rPr>
              <a:t>「주문을 관리한다」 명세서</a:t>
            </a:r>
            <a:r>
              <a:rPr sz="1000" b="1">
                <a:solidFill>
                  <a:srgbClr val="000000"/>
                </a:solidFill>
                <a:latin typeface="맑은 고딕"/>
                <a:ea typeface="맑은 고딕"/>
              </a:rPr>
              <a:t>(정식 형식의 일부 항목)</a:t>
            </a:r>
            <a:r>
              <a:rPr sz="1400" b="0">
                <a:solidFill>
                  <a:srgbClr val="000000"/>
                </a:solidFill>
                <a:latin typeface="맑은 고딕"/>
                <a:ea typeface="맑은 고딕"/>
              </a:rPr>
              <a:t> —</a:t>
            </a:r>
            <a:r>
              <a:rPr sz="1200" b="0">
                <a:solidFill>
                  <a:srgbClr val="000000"/>
                </a:solidFill>
                <a:latin typeface="맑은 고딕"/>
                <a:ea typeface="맑은 고딕"/>
              </a:rPr>
              <a:t> 상세화는 문서량을 늘리는 일이 아니라 조건·규칙·결과의 </a:t>
            </a:r>
            <a:r>
              <a:rPr sz="1200" b="1">
                <a:solidFill>
                  <a:srgbClr val="000000"/>
                </a:solidFill>
                <a:latin typeface="맑은 고딕"/>
                <a:ea typeface="맑은 고딕"/>
              </a:rPr>
              <a:t>의미를 필요한 만큼</a:t>
            </a:r>
            <a:r>
              <a:rPr sz="1200" b="0">
                <a:solidFill>
                  <a:srgbClr val="000000"/>
                </a:solidFill>
                <a:latin typeface="맑은 고딕"/>
                <a:ea typeface="맑은 고딕"/>
              </a:rPr>
              <a:t> 명확히 하는 일이다.</a:t>
            </a:r>
          </a:p>
        </p:txBody>
      </p:sp>
      <p:sp>
        <p:nvSpPr>
          <p:cNvPr id="10" name="내용 개체 틀 7">
            <a:extLst>
              <a:ext uri="{FF2B5EF4-FFF2-40B4-BE49-F238E27FC236}">
                <a16:creationId xmlns:a16="http://schemas.microsoft.com/office/drawing/2014/main" id="{BEBA2C4A-B0BF-F2E4-EA6E-614C99CBA184}"/>
              </a:ext>
            </a:extLst>
          </p:cNvPr>
          <p:cNvSpPr>
            <a:spLocks noGrp="1"/>
          </p:cNvSpPr>
          <p:nvPr>
            <p:ph idx="1"/>
          </p:nvPr>
        </p:nvSpPr>
        <p:spPr>
          <a:xfrm>
            <a:off x="4572000" y="1616364"/>
            <a:ext cx="4439412" cy="4696101"/>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대안 흐름 1a 주문 취소</a:t>
            </a:r>
            <a:r>
              <a:rPr sz="1400" b="0">
                <a:solidFill>
                  <a:srgbClr val="000000"/>
                </a:solidFill>
                <a:latin typeface="맑은 고딕"/>
                <a:ea typeface="맑은 고딕"/>
              </a:rPr>
              <a:t> —</a:t>
            </a:r>
            <a:r>
              <a:rPr sz="1200" b="0">
                <a:solidFill>
                  <a:srgbClr val="000000"/>
                </a:solidFill>
                <a:latin typeface="맑은 고딕"/>
                <a:ea typeface="맑은 고딕"/>
              </a:rPr>
              <a:t> 조건: 고객 소유의 결제 완료 주문, 배송 시작 전</a:t>
            </a:r>
          </a:p>
          <a:p>
            <a:pPr lvl="3" marL="457200" indent="0">
              <a:spcBef>
                <a:spcPts val="300"/>
              </a:spcBef>
              <a:spcAft>
                <a:spcPts val="300"/>
              </a:spcAft>
              <a:buNone/>
            </a:pPr>
            <a:r>
              <a:rPr sz="1200" b="0">
                <a:solidFill>
                  <a:srgbClr val="000000"/>
                </a:solidFill>
                <a:latin typeface="맑은 고딕"/>
                <a:ea typeface="맑은 고딕"/>
              </a:rPr>
              <a:t>1. 고객이 주문을 취소한다.</a:t>
            </a:r>
          </a:p>
          <a:p>
            <a:pPr lvl="3" marL="457200" indent="0">
              <a:spcBef>
                <a:spcPts val="300"/>
              </a:spcBef>
              <a:spcAft>
                <a:spcPts val="300"/>
              </a:spcAft>
              <a:buNone/>
            </a:pPr>
            <a:r>
              <a:rPr sz="1200" b="0">
                <a:solidFill>
                  <a:srgbClr val="000000"/>
                </a:solidFill>
                <a:latin typeface="맑은 고딕"/>
                <a:ea typeface="맑은 고딕"/>
              </a:rPr>
              <a:t>2. 환불이 처리된다.</a:t>
            </a:r>
          </a:p>
          <a:p>
            <a:pPr lvl="3" marL="457200" indent="0">
              <a:spcBef>
                <a:spcPts val="300"/>
              </a:spcBef>
              <a:spcAft>
                <a:spcPts val="300"/>
              </a:spcAft>
              <a:buNone/>
            </a:pPr>
            <a:r>
              <a:rPr sz="1200" b="0">
                <a:solidFill>
                  <a:srgbClr val="000000"/>
                </a:solidFill>
                <a:latin typeface="맑은 고딕"/>
                <a:ea typeface="맑은 고딕"/>
              </a:rPr>
              <a:t>3. 고객은 주문 취소 결과를 확인한다.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결과</a:t>
            </a:r>
            <a:r>
              <a:rPr sz="1200" b="0">
                <a:solidFill>
                  <a:srgbClr val="000000"/>
                </a:solidFill>
                <a:latin typeface="맑은 고딕"/>
                <a:ea typeface="맑은 고딕"/>
              </a:rPr>
              <a:t> —</a:t>
            </a:r>
            <a:r>
              <a:rPr sz="1000" b="0">
                <a:solidFill>
                  <a:srgbClr val="000000"/>
                </a:solidFill>
                <a:latin typeface="맑은 고딕"/>
                <a:ea typeface="맑은 고딕"/>
              </a:rPr>
              <a:t> 주문이 취소 상태이고 결제 금액 전액의 환불이 완료된다.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대안 흐름 3a 배송지 변경</a:t>
            </a:r>
            <a:r>
              <a:rPr sz="1000" b="0">
                <a:solidFill>
                  <a:srgbClr val="000000"/>
                </a:solidFill>
                <a:latin typeface="맑은 고딕"/>
                <a:ea typeface="맑은 고딕"/>
              </a:rPr>
              <a:t>(출고 전)</a:t>
            </a:r>
            <a:r>
              <a:rPr sz="1400" b="0">
                <a:solidFill>
                  <a:srgbClr val="000000"/>
                </a:solidFill>
                <a:latin typeface="맑은 고딕"/>
                <a:ea typeface="맑은 고딕"/>
              </a:rPr>
              <a:t>, </a:t>
            </a:r>
            <a:r>
              <a:rPr sz="1400" b="1">
                <a:solidFill>
                  <a:srgbClr val="000000"/>
                </a:solidFill>
                <a:latin typeface="맑은 고딕"/>
                <a:ea typeface="맑은 고딕"/>
              </a:rPr>
              <a:t>5a 주문 내역 확인</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대안 흐름 1a2a 환불 미완료</a:t>
            </a:r>
            <a:r>
              <a:rPr sz="1000" b="0">
                <a:solidFill>
                  <a:srgbClr val="000000"/>
                </a:solidFill>
                <a:latin typeface="맑은 고딕"/>
                <a:ea typeface="맑은 고딕"/>
              </a:rPr>
              <a:t>(교육용 가정)</a:t>
            </a:r>
          </a:p>
          <a:p>
            <a:pPr lvl="3" marL="457200" indent="0">
              <a:spcBef>
                <a:spcPts val="300"/>
              </a:spcBef>
              <a:spcAft>
                <a:spcPts val="300"/>
              </a:spcAft>
              <a:buNone/>
            </a:pPr>
            <a:r>
              <a:rPr sz="1200" b="0">
                <a:solidFill>
                  <a:srgbClr val="000000"/>
                </a:solidFill>
                <a:latin typeface="맑은 고딕"/>
                <a:ea typeface="맑은 고딕"/>
              </a:rPr>
              <a:t>1. 고객은 미완료와 후속 문의 방법을 안내받는다.</a:t>
            </a:r>
          </a:p>
          <a:p>
            <a:pPr lvl="3" marL="457200" indent="0">
              <a:spcBef>
                <a:spcPts val="300"/>
              </a:spcBef>
              <a:spcAft>
                <a:spcPts val="300"/>
              </a:spcAft>
              <a:buNone/>
            </a:pPr>
            <a:r>
              <a:rPr sz="1200" b="0">
                <a:solidFill>
                  <a:srgbClr val="000000"/>
                </a:solidFill>
                <a:latin typeface="맑은 고딕"/>
                <a:ea typeface="맑은 고딕"/>
              </a:rPr>
              <a:t>2. 취소 흐름은 성공 결과 없이 끝난다.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업무 규칙</a:t>
            </a:r>
            <a:r>
              <a:rPr sz="1400" b="0">
                <a:solidFill>
                  <a:srgbClr val="000000"/>
                </a:solidFill>
                <a:latin typeface="맑은 고딕"/>
                <a:ea typeface="맑은 고딕"/>
              </a:rPr>
              <a:t> —</a:t>
            </a:r>
            <a:r>
              <a:rPr sz="1200" b="0">
                <a:solidFill>
                  <a:srgbClr val="000000"/>
                </a:solidFill>
                <a:latin typeface="맑은 고딕"/>
                <a:ea typeface="맑은 고딕"/>
              </a:rPr>
              <a:t> 배송 시작 이후에는 일반 취소를 허용하지 않는다.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특별 요구사항</a:t>
            </a:r>
            <a:r>
              <a:rPr sz="1400" b="0">
                <a:solidFill>
                  <a:srgbClr val="000000"/>
                </a:solidFill>
                <a:latin typeface="맑은 고딕"/>
                <a:ea typeface="맑은 고딕"/>
              </a:rPr>
              <a:t> —</a:t>
            </a:r>
            <a:r>
              <a:rPr sz="1200" b="0">
                <a:solidFill>
                  <a:srgbClr val="000000"/>
                </a:solidFill>
                <a:latin typeface="맑은 고딕"/>
                <a:ea typeface="맑은 고딕"/>
              </a:rPr>
              <a:t> 미정: 결과 통지 시간, 권한 확인 기준, 결과 확인 방식</a:t>
            </a:r>
          </a:p>
        </p:txBody>
      </p:sp>
    </p:spTree>
    <p:extLst>
      <p:ext uri="{BB962C8B-B14F-4D97-AF65-F5344CB8AC3E}">
        <p14:creationId xmlns:p14="http://schemas.microsoft.com/office/powerpoint/2010/main" val="35554366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34. 유스케이스 다이어그램 — 상세화 </a:t>
            </a:r>
            <a:r>
              <a:rPr sz="2000" b="1">
                <a:solidFill>
                  <a:srgbClr val="000000"/>
                </a:solidFill>
                <a:latin typeface="맑은 고딕"/>
                <a:ea typeface="맑은 고딕"/>
              </a:rPr>
              <a:t>(1/4)</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798385" y="2112010"/>
          <a:ext cx="7533640" cy="3873500"/>
        </p:xfrm>
        <a:graphic>
          <a:graphicData uri="http://schemas.openxmlformats.org/drawingml/2006/table">
            <a:tbl>
              <a:tblPr/>
              <a:tblGrid>
                <a:gridCol w="889000"/>
                <a:gridCol w="3881120"/>
                <a:gridCol w="27635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관계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의미와 성립 조건</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표기 방향</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포함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포함 지점에 별도 유스케이스의 행위를 넣는다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기본 → 포함 대상, 점선 «include»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확장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독립된 기본 유스케이스의 확장 지점에 행위를 넣는다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확장 → 기본, 점선 «extend»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일반화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특수 요소가 일반 요소의 의미·행위를 이어받는다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특수 → 일반, 실선 빈 삼각형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포함·확장·일반화는 상세화로 확인된 </a:t>
            </a:r>
            <a:r>
              <a:rPr sz="1800" b="1">
                <a:solidFill>
                  <a:srgbClr val="000000"/>
                </a:solidFill>
                <a:latin typeface="맑은 고딕"/>
                <a:ea typeface="맑은 고딕"/>
              </a:rPr>
              <a:t>행위의 결합 또는 분류 관계</a:t>
            </a:r>
            <a:r>
              <a:rPr sz="1800" b="0">
                <a:solidFill>
                  <a:srgbClr val="000000"/>
                </a:solidFill>
                <a:latin typeface="맑은 고딕"/>
                <a:ea typeface="맑은 고딕"/>
              </a:rPr>
              <a:t>를 표현한다. 실행 순서를 그리는 화살표가 아니다.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- 39 -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유스케이스 관계</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492610"/>
            <a:ext cx="8412480" cy="2089833"/>
          </a:xfrm>
          <a:prstGeom prst="rect">
            <a:avLst/>
          </a:prstGeom>
          <a:noFill/>
        </p:spPr>
        <p:txBody>
          <a:bodyPr wrap="square">
            <a:spAutoFit/>
          </a:bodyPr>
          <a:lstStyle/>
          <a:p>
            <a:pPr marL="342900" indent="0">
              <a:spcBef>
                <a:spcPts val="600"/>
              </a:spcBef>
              <a:spcAft>
                <a:spcPts val="600"/>
              </a:spcAft>
              <a:buNone/>
            </a:pPr>
            <a:r>
              <a:rPr sz="1800" b="1">
                <a:solidFill>
                  <a:srgbClr val="000000"/>
                </a:solidFill>
                <a:latin typeface="맑은 고딕"/>
                <a:ea typeface="맑은 고딕"/>
              </a:rPr>
              <a:t>포함 관계 예</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결제를 확인한다</a:t>
            </a:r>
            <a:r>
              <a:rPr sz="1800" b="0">
                <a:solidFill>
                  <a:srgbClr val="000000"/>
                </a:solidFill>
                <a:latin typeface="맑은 고딕"/>
                <a:ea typeface="맑은 고딕"/>
              </a:rPr>
              <a:t>가 포함으로 분리되는 이유는 내부 함수가 아니라 </a:t>
            </a:r>
            <a:r>
              <a:rPr sz="1800" b="1">
                <a:solidFill>
                  <a:srgbClr val="000000"/>
                </a:solidFill>
                <a:latin typeface="맑은 고딕"/>
                <a:ea typeface="맑은 고딕"/>
              </a:rPr>
              <a:t>외부 결제 시스템과의 상호작용</a:t>
            </a:r>
            <a:r>
              <a:rPr sz="1800" b="0">
                <a:solidFill>
                  <a:srgbClr val="000000"/>
                </a:solidFill>
                <a:latin typeface="맑은 고딕"/>
                <a:ea typeface="맑은 고딕"/>
              </a:rPr>
              <a:t>이기 때문이다.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주문을 관리한다</a:t>
            </a:r>
            <a:r>
              <a:rPr sz="1800" b="0">
                <a:solidFill>
                  <a:srgbClr val="000000"/>
                </a:solidFill>
                <a:latin typeface="맑은 고딕"/>
                <a:ea typeface="맑은 고딕"/>
              </a:rPr>
              <a:t>의 주문 흐름은 결제 확인 행위를 포함해야 완료된다. 초안</a:t>
            </a:r>
            <a:r>
              <a:rPr sz="1400" b="0">
                <a:solidFill>
                  <a:srgbClr val="000000"/>
                </a:solidFill>
                <a:latin typeface="맑은 고딕"/>
                <a:ea typeface="맑은 고딕"/>
              </a:rPr>
              <a:t>(「27. 유스케이스 다이어그램 —</a:t>
            </a:r>
            <a:r>
              <a:rPr sz="1200" b="0">
                <a:solidFill>
                  <a:srgbClr val="000000"/>
                </a:solidFill>
                <a:latin typeface="맑은 고딕"/>
                <a:ea typeface="맑은 고딕"/>
              </a:rPr>
              <a:t> 초안」)</a:t>
            </a:r>
            <a:r>
              <a:rPr sz="1600" b="0">
                <a:solidFill>
                  <a:srgbClr val="000000"/>
                </a:solidFill>
                <a:latin typeface="맑은 고딕"/>
                <a:ea typeface="맑은 고딕"/>
              </a:rPr>
              <a:t>에 </a:t>
            </a:r>
            <a:r>
              <a:rPr sz="1600" b="1">
                <a:solidFill>
                  <a:srgbClr val="000000"/>
                </a:solidFill>
                <a:latin typeface="맑은 고딕"/>
                <a:ea typeface="맑은 고딕"/>
              </a:rPr>
              <a:t>지원 액터</a:t>
            </a:r>
            <a:r>
              <a:rPr sz="1600" b="0">
                <a:solidFill>
                  <a:srgbClr val="000000"/>
                </a:solidFill>
                <a:latin typeface="맑은 고딕"/>
                <a:ea typeface="맑은 고딕"/>
              </a:rPr>
              <a:t>(오른쪽 </a:t>
            </a:r>
            <a:r>
              <a:rPr sz="1600" b="0">
                <a:solidFill>
                  <a:srgbClr val="000000"/>
                </a:solidFill>
                <a:latin typeface="맑은 고딕"/>
                <a:ea typeface="맑은 고딕"/>
              </a:rPr>
              <a:t>«actor»</a:t>
            </a:r>
            <a:r>
              <a:rPr sz="1600" b="0">
                <a:solidFill>
                  <a:srgbClr val="000000"/>
                </a:solidFill>
                <a:latin typeface="맑은 고딕"/>
                <a:ea typeface="맑은 고딕"/>
              </a:rPr>
              <a:t> 상자)와 포함 관계를 더한 상세화다.</a:t>
            </a:r>
          </a:p>
        </p:txBody>
      </p:sp>
    </p:spTree>
    <p:extLst>
      <p:ext uri="{BB962C8B-B14F-4D97-AF65-F5344CB8AC3E}">
        <p14:creationId xmlns:p14="http://schemas.microsoft.com/office/powerpoint/2010/main" val="27895694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34. 유스케이스 다이어그램 — 상세화 </a:t>
            </a:r>
            <a:r>
              <a:rPr sz="2000" b="1">
                <a:solidFill>
                  <a:srgbClr val="000000"/>
                </a:solidFill>
                <a:latin typeface="맑은 고딕"/>
                <a:ea typeface="맑은 고딕"/>
              </a:rPr>
              <a:t>(2/4)</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1612392"/>
            <a:ext cx="8412480" cy="201168"/>
          </a:xfrm>
          <a:prstGeom prst="rect">
            <a:avLst/>
          </a:prstGeom>
          <a:noFill/>
        </p:spPr>
        <p:txBody>
          <a:bodyPr wrap="square">
            <a:spAutoFit/>
          </a:bodyPr>
          <a:lstStyle/>
          <a:p>
            <a:pPr algn="ctr"/>
            <a:r>
              <a:rPr sz="1400" b="1">
                <a:solidFill>
                  <a:srgbClr val="000000"/>
                </a:solidFill>
                <a:latin typeface="맑은 고딕"/>
                <a:ea typeface="맑은 고딕"/>
              </a:rPr>
              <a:t>포함 관계</a:t>
            </a:r>
          </a:p>
        </p:txBody>
      </p:sp>
      <p:pic>
        <p:nvPicPr>
          <p:cNvPr id="10" name="svg Diagram 4" descr="상세화한 유스케이스 다이어그램: 주문을 관리한다가 결제를 확인한다를 포함하고 결제 시스템은 결제를 확인한다와 연결"/>
          <p:cNvPicPr>
            <a:picLocks noChangeAspect="1"/>
          </p:cNvPicPr>
          <p:nvPr/>
        </p:nvPicPr>
        <p:blipFill>
          <a:blip r:embed="svgImage4"/>
          <a:stretch>
            <a:fillRect/>
          </a:stretch>
        </p:blipFill>
        <p:spPr>
          <a:xfrm>
            <a:off x="1774031" y="1850136"/>
            <a:ext cx="5595938" cy="2976563"/>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34. 유스케이스 다이어그램 — 상세화 </a:t>
            </a:r>
            <a:r>
              <a:rPr sz="2000" b="1">
                <a:solidFill>
                  <a:srgbClr val="000000"/>
                </a:solidFill>
                <a:latin typeface="맑은 고딕"/>
                <a:ea typeface="맑은 고딕"/>
              </a:rPr>
              <a:t>(3/4)</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- 41 -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342900" indent="0">
              <a:spcBef>
                <a:spcPts val="600"/>
              </a:spcBef>
              <a:spcAft>
                <a:spcPts val="600"/>
              </a:spcAft>
              <a:buNone/>
            </a:pPr>
            <a:r>
              <a:rPr sz="1800" b="1">
                <a:solidFill>
                  <a:srgbClr val="000000"/>
                </a:solidFill>
                <a:latin typeface="맑은 고딕"/>
                <a:ea typeface="맑은 고딕"/>
              </a:rPr>
              <a:t>확장 관계 예</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주문을 관리한다</a:t>
            </a:r>
            <a:r>
              <a:rPr sz="1800" b="0">
                <a:solidFill>
                  <a:srgbClr val="000000"/>
                </a:solidFill>
                <a:latin typeface="맑은 고딕"/>
                <a:ea typeface="맑은 고딕"/>
              </a:rPr>
              <a:t>의 주문 흐름은 </a:t>
            </a:r>
            <a:r>
              <a:rPr sz="1800" b="1">
                <a:solidFill>
                  <a:srgbClr val="000000"/>
                </a:solidFill>
                <a:latin typeface="맑은 고딕"/>
                <a:ea typeface="맑은 고딕"/>
              </a:rPr>
              <a:t>쿠폰 없이도 완료</a:t>
            </a:r>
            <a:r>
              <a:rPr sz="1800" b="0">
                <a:solidFill>
                  <a:srgbClr val="000000"/>
                </a:solidFill>
                <a:latin typeface="맑은 고딕"/>
                <a:ea typeface="맑은 고딕"/>
              </a:rPr>
              <a:t>된다.</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예: 유효한 쿠폰 요청이 있으면 </a:t>
            </a:r>
            <a:r>
              <a:rPr sz="1600" b="0">
                <a:solidFill>
                  <a:srgbClr val="000000"/>
                </a:solidFill>
                <a:latin typeface="맑은 고딕"/>
                <a:ea typeface="맑은 고딕"/>
              </a:rPr>
              <a:t>최종 금액 확정 전</a:t>
            </a:r>
            <a:r>
              <a:rPr sz="1600" b="0">
                <a:solidFill>
                  <a:srgbClr val="000000"/>
                </a:solidFill>
                <a:latin typeface="맑은 고딕"/>
                <a:ea typeface="맑은 고딕"/>
              </a:rPr>
              <a:t>에 쿠폰을 </a:t>
            </a:r>
            <a:r>
              <a:rPr sz="1600" b="1">
                <a:solidFill>
                  <a:srgbClr val="000000"/>
                </a:solidFill>
                <a:latin typeface="맑은 고딕"/>
                <a:ea typeface="맑은 고딕"/>
              </a:rPr>
              <a:t>적용</a:t>
            </a:r>
            <a:r>
              <a:rPr sz="1600" b="0">
                <a:solidFill>
                  <a:srgbClr val="000000"/>
                </a:solidFill>
                <a:latin typeface="맑은 고딕"/>
                <a:ea typeface="맑은 고딕"/>
              </a:rPr>
              <a:t>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313432"/>
            <a:ext cx="8412480" cy="201168"/>
          </a:xfrm>
          <a:prstGeom prst="rect">
            <a:avLst/>
          </a:prstGeom>
          <a:noFill/>
        </p:spPr>
        <p:txBody>
          <a:bodyPr wrap="square">
            <a:spAutoFit/>
          </a:bodyPr>
          <a:lstStyle/>
          <a:p>
            <a:pPr algn="ctr"/>
            <a:r>
              <a:rPr sz="1400" b="1">
                <a:solidFill>
                  <a:srgbClr val="000000"/>
                </a:solidFill>
                <a:latin typeface="맑은 고딕"/>
                <a:ea typeface="맑은 고딕"/>
              </a:rPr>
              <a:t>확장 관계</a:t>
            </a:r>
          </a:p>
        </p:txBody>
      </p:sp>
      <p:pic>
        <p:nvPicPr>
          <p:cNvPr id="10" name="svg Diagram 5" descr="확장 관계: 쿠폰을 적용한다가 확장 조건에 따라 주문을 관리한다를 확장"/>
          <p:cNvPicPr>
            <a:picLocks noChangeAspect="1"/>
          </p:cNvPicPr>
          <p:nvPr/>
        </p:nvPicPr>
        <p:blipFill>
          <a:blip r:embed="svgImage5"/>
          <a:stretch>
            <a:fillRect/>
          </a:stretch>
        </p:blipFill>
        <p:spPr>
          <a:xfrm>
            <a:off x="2250281" y="2551176"/>
            <a:ext cx="4643438" cy="2155031"/>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34. 유스케이스 다이어그램 — 상세화 </a:t>
            </a:r>
            <a:r>
              <a:rPr sz="2000" b="1">
                <a:solidFill>
                  <a:srgbClr val="000000"/>
                </a:solidFill>
                <a:latin typeface="맑은 고딕"/>
                <a:ea typeface="맑은 고딕"/>
              </a:rPr>
              <a:t>(4/4)</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342900" indent="0">
              <a:spcBef>
                <a:spcPts val="600"/>
              </a:spcBef>
              <a:spcAft>
                <a:spcPts val="600"/>
              </a:spcAft>
              <a:buNone/>
            </a:pPr>
            <a:r>
              <a:rPr sz="1800" b="1">
                <a:solidFill>
                  <a:srgbClr val="000000"/>
                </a:solidFill>
                <a:latin typeface="맑은 고딕"/>
                <a:ea typeface="맑은 고딕"/>
              </a:rPr>
              <a:t>일반화 예</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의미·행위를 </a:t>
            </a:r>
            <a:r>
              <a:rPr sz="1800" b="1">
                <a:solidFill>
                  <a:srgbClr val="000000"/>
                </a:solidFill>
                <a:latin typeface="맑은 고딕"/>
                <a:ea typeface="맑은 고딕"/>
              </a:rPr>
              <a:t>모두 이어받을 때만</a:t>
            </a:r>
            <a:r>
              <a:rPr sz="1800" b="0">
                <a:solidFill>
                  <a:srgbClr val="000000"/>
                </a:solidFill>
                <a:latin typeface="맑은 고딕"/>
                <a:ea typeface="맑은 고딕"/>
              </a:rPr>
              <a:t> 일반화를 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기업 고객·VIP 고객이 </a:t>
            </a:r>
            <a:r>
              <a:rPr sz="1800" b="0">
                <a:solidFill>
                  <a:srgbClr val="000000"/>
                </a:solidFill>
                <a:latin typeface="맑은 고딕"/>
                <a:ea typeface="맑은 고딕"/>
              </a:rPr>
              <a:t>주문을 관리한다</a:t>
            </a:r>
            <a:r>
              <a:rPr sz="1800" b="0">
                <a:solidFill>
                  <a:srgbClr val="000000"/>
                </a:solidFill>
                <a:latin typeface="맑은 고딕"/>
                <a:ea typeface="맑은 고딕"/>
              </a:rPr>
              <a:t>를 </a:t>
            </a:r>
            <a:r>
              <a:rPr sz="1800" b="1">
                <a:solidFill>
                  <a:srgbClr val="000000"/>
                </a:solidFill>
                <a:latin typeface="맑은 고딕"/>
                <a:ea typeface="맑은 고딕"/>
              </a:rPr>
              <a:t>모두 이어받는다</a:t>
            </a:r>
            <a:r>
              <a:rPr sz="1800" b="0">
                <a:solidFill>
                  <a:srgbClr val="000000"/>
                </a:solidFill>
                <a:latin typeface="맑은 고딕"/>
                <a:ea typeface="맑은 고딕"/>
              </a:rPr>
              <a:t>고 가정한다.</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예: 이후 </a:t>
            </a:r>
            <a:r>
              <a:rPr sz="1600" b="1">
                <a:solidFill>
                  <a:srgbClr val="000000"/>
                </a:solidFill>
                <a:latin typeface="맑은 고딕"/>
                <a:ea typeface="맑은 고딕"/>
              </a:rPr>
              <a:t>한도·혜택</a:t>
            </a:r>
            <a:r>
              <a:rPr sz="1600" b="0">
                <a:solidFill>
                  <a:srgbClr val="000000"/>
                </a:solidFill>
                <a:latin typeface="맑은 고딕"/>
                <a:ea typeface="맑은 고딕"/>
              </a:rPr>
              <a:t> 등 요건이 붙을 수 있다.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663952"/>
            <a:ext cx="8412480" cy="201168"/>
          </a:xfrm>
          <a:prstGeom prst="rect">
            <a:avLst/>
          </a:prstGeom>
          <a:noFill/>
        </p:spPr>
        <p:txBody>
          <a:bodyPr wrap="square">
            <a:spAutoFit/>
          </a:bodyPr>
          <a:lstStyle/>
          <a:p>
            <a:pPr algn="ctr"/>
            <a:r>
              <a:rPr sz="1400" b="1">
                <a:solidFill>
                  <a:srgbClr val="000000"/>
                </a:solidFill>
                <a:latin typeface="맑은 고딕"/>
                <a:ea typeface="맑은 고딕"/>
              </a:rPr>
              <a:t>일반화 관계</a:t>
            </a:r>
          </a:p>
        </p:txBody>
      </p:sp>
      <p:pic>
        <p:nvPicPr>
          <p:cNvPr id="10" name="svg Diagram 6" descr="액터 일반화: 기업 고객과 VIP 고객이 고객을 특수화하고 고객은 주문을 관리한다에 참여"/>
          <p:cNvPicPr>
            <a:picLocks noChangeAspect="1"/>
          </p:cNvPicPr>
          <p:nvPr/>
        </p:nvPicPr>
        <p:blipFill>
          <a:blip r:embed="svgImage6"/>
          <a:stretch>
            <a:fillRect/>
          </a:stretch>
        </p:blipFill>
        <p:spPr>
          <a:xfrm>
            <a:off x="2637234" y="2901696"/>
            <a:ext cx="3869531" cy="142875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35. 잘못된 관행 — 기능 분할</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642176" y="2112010"/>
          <a:ext cx="7846060" cy="3873500"/>
        </p:xfrm>
        <a:graphic>
          <a:graphicData uri="http://schemas.openxmlformats.org/drawingml/2006/table">
            <a:tbl>
              <a:tblPr/>
              <a:tblGrid>
                <a:gridCol w="4188460"/>
                <a:gridCol w="36576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잘못된 예</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바른 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상품 선택·수량·쿠폰·결제 요청을 각각 유스케이스로 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주문을 관리한다의 흐름 하나에 단계로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흐름이 네 조각을 포함 관계로 부른다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여러 유스케이스가 공유하는 행위만 포함으로 뺀다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유스케이스를 잘게 쪼개면 </a:t>
            </a:r>
            <a:r>
              <a:rPr sz="1800" b="1">
                <a:solidFill>
                  <a:srgbClr val="000000"/>
                </a:solidFill>
                <a:latin typeface="맑은 고딕"/>
                <a:ea typeface="맑은 고딕"/>
              </a:rPr>
              <a:t>액터의 목표가 사라진다</a:t>
            </a:r>
            <a:r>
              <a:rPr sz="1800" b="0">
                <a:solidFill>
                  <a:srgbClr val="000000"/>
                </a:solidFill>
                <a:latin typeface="맑은 고딕"/>
                <a:ea typeface="맑은 고딕"/>
              </a:rPr>
              <a:t>. 판단 질문은 </a:t>
            </a:r>
            <a:r>
              <a:rPr sz="1800" b="1">
                <a:solidFill>
                  <a:srgbClr val="000000"/>
                </a:solidFill>
                <a:latin typeface="맑은 고딕"/>
                <a:ea typeface="맑은 고딕"/>
              </a:rPr>
              <a:t>이것만 마치고 액터가 만족해서 떠날 수 있는가?</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- 43 -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잘못된 예와 바른 예</a:t>
            </a:r>
          </a:p>
        </p:txBody>
      </p:sp>
    </p:spTree>
    <p:extLst>
      <p:ext uri="{BB962C8B-B14F-4D97-AF65-F5344CB8AC3E}">
        <p14:creationId xmlns:p14="http://schemas.microsoft.com/office/powerpoint/2010/main" val="27895694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36. 잘못된 관행 — CRUD 분할</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32625" y="3523788"/>
          <a:ext cx="8265160" cy="3873500"/>
        </p:xfrm>
        <a:graphic>
          <a:graphicData uri="http://schemas.openxmlformats.org/drawingml/2006/table">
            <a:tbl>
              <a:tblPr/>
              <a:tblGrid>
                <a:gridCol w="3797300"/>
                <a:gridCol w="44678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잘못된 예</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바른 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상품 등록·조회·수정·삭제 — 유스케이스 4개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상품 정보를 관리한다 — 기본: 등록, 대안: 수정·판매 중지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주문·내역 확인·배송지 변경·취소 — 유스케이스 4개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주문을 관리한다 — 기본: 주문, 대안: 확인·배송지 변경·취소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반품을 주문 관리의 대안 흐름으로 넣는다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주문을 반품한다 — 별도 유스케이스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2241719"/>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자료 유지는 생성·조회·수정·삭제로 나누지 않고 </a:t>
            </a:r>
            <a:r>
              <a:rPr sz="1800" b="1">
                <a:solidFill>
                  <a:srgbClr val="000000"/>
                </a:solidFill>
                <a:latin typeface="맑은 고딕"/>
                <a:ea typeface="맑은 고딕"/>
              </a:rPr>
              <a:t>하나의 유스케이스</a:t>
            </a:r>
            <a:r>
              <a:rPr sz="1800" b="0">
                <a:solidFill>
                  <a:srgbClr val="000000"/>
                </a:solidFill>
                <a:latin typeface="맑은 고딕"/>
                <a:ea typeface="맑은 고딕"/>
              </a:rPr>
              <a:t>로 다룬다. 조회·수정·삭제는 </a:t>
            </a:r>
            <a:r>
              <a:rPr sz="1800" b="1">
                <a:solidFill>
                  <a:srgbClr val="000000"/>
                </a:solidFill>
                <a:latin typeface="맑은 고딕"/>
                <a:ea typeface="맑은 고딕"/>
              </a:rPr>
              <a:t>대안 흐름</a:t>
            </a:r>
            <a:r>
              <a:rPr sz="1800" b="0">
                <a:solidFill>
                  <a:srgbClr val="000000"/>
                </a:solidFill>
                <a:latin typeface="맑은 고딕"/>
                <a:ea typeface="맑은 고딕"/>
              </a:rPr>
              <a:t>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따로인 생성·조회·수정·삭제 목표를 </a:t>
            </a:r>
            <a:r>
              <a:rPr sz="1800" b="1">
                <a:solidFill>
                  <a:srgbClr val="000000"/>
                </a:solidFill>
                <a:latin typeface="맑은 고딕"/>
                <a:ea typeface="맑은 고딕"/>
              </a:rPr>
              <a:t>하나의 CRUD 유스케이스</a:t>
            </a:r>
            <a:r>
              <a:rPr sz="1800" b="0">
                <a:solidFill>
                  <a:srgbClr val="000000"/>
                </a:solidFill>
                <a:latin typeface="맑은 고딕"/>
                <a:ea typeface="맑은 고딕"/>
              </a:rPr>
              <a:t>로 묶어 관용적으로 </a:t>
            </a:r>
            <a:r>
              <a:rPr sz="1800" b="0">
                <a:solidFill>
                  <a:srgbClr val="000000"/>
                </a:solidFill>
                <a:latin typeface="맑은 고딕"/>
                <a:ea typeface="맑은 고딕"/>
              </a:rPr>
              <a:t>Manage &lt;X&gt;</a:t>
            </a:r>
            <a:r>
              <a:rPr sz="1800" b="0">
                <a:solidFill>
                  <a:srgbClr val="000000"/>
                </a:solidFill>
                <a:latin typeface="맑은 고딕"/>
                <a:ea typeface="맑은 고딕"/>
              </a:rPr>
              <a:t>라 부른다</a:t>
            </a:r>
            <a:r>
              <a:rPr sz="1000" b="0">
                <a:solidFill>
                  <a:srgbClr val="000000"/>
                </a:solidFill>
                <a:latin typeface="맑은 고딕"/>
                <a:ea typeface="맑은 고딕"/>
              </a:rPr>
              <a:t>, </a:t>
            </a:r>
            <a:r>
              <a:rPr sz="1000" b="0">
                <a:solidFill>
                  <a:srgbClr val="000000"/>
                </a:solidFill>
                <a:latin typeface="맑은 고딕"/>
                <a:ea typeface="맑은 고딕"/>
              </a:rPr>
              <a:t>"…to collapse CRUD (create, retrieve, update, delete) separate goals into one CRUD use case, idiomatically called Manage &lt;X&gt;.", [Larman 2004]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하나로 다루는 기준</a:t>
            </a:r>
            <a:r>
              <a:rPr sz="1800" b="0">
                <a:solidFill>
                  <a:srgbClr val="000000"/>
                </a:solidFill>
                <a:latin typeface="맑은 고딕"/>
                <a:ea typeface="맑은 고딕"/>
              </a:rPr>
              <a:t>은 같은 자료의 유지다. 시작 조건·목표·결과가 독립인 업무는 </a:t>
            </a:r>
            <a:r>
              <a:rPr sz="1800" b="1">
                <a:solidFill>
                  <a:srgbClr val="000000"/>
                </a:solidFill>
                <a:latin typeface="맑은 고딕"/>
                <a:ea typeface="맑은 고딕"/>
              </a:rPr>
              <a:t>별도 유스케이스</a:t>
            </a:r>
            <a:r>
              <a:rPr sz="1800" b="0">
                <a:solidFill>
                  <a:srgbClr val="000000"/>
                </a:solidFill>
                <a:latin typeface="맑은 고딕"/>
                <a:ea typeface="맑은 고딕"/>
              </a:rPr>
              <a:t>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22533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잘못된 예와 바른 예</a:t>
            </a:r>
          </a:p>
        </p:txBody>
      </p:sp>
    </p:spTree>
    <p:extLst>
      <p:ext uri="{BB962C8B-B14F-4D97-AF65-F5344CB8AC3E}">
        <p14:creationId xmlns:p14="http://schemas.microsoft.com/office/powerpoint/2010/main" val="27895694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37. 잘못된 관행 — 화면·기술 요소</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717866" y="2898948"/>
          <a:ext cx="5694680" cy="3873500"/>
        </p:xfrm>
        <a:graphic>
          <a:graphicData uri="http://schemas.openxmlformats.org/drawingml/2006/table">
            <a:tbl>
              <a:tblPr/>
              <a:tblGrid>
                <a:gridCol w="3462020"/>
                <a:gridCol w="22326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잘못된 예</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바른 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고객이 주문 목록 화면에서 취소 버튼을 누른다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고객이 주문을 취소한다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시스템이 주문 테이블의 상태 코드를 바꾼다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주문이 취소된다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시스템이 결제 대행사의 환불 API를 호출한다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환불이 처리된다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배치가 5분마다 결과 알림을 보낸다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고객은 취소 결과를 확인한다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이벤트 흐름에 화면·버튼·DB·API를 쓰면 </a:t>
            </a:r>
            <a:r>
              <a:rPr sz="1800" b="1">
                <a:solidFill>
                  <a:srgbClr val="000000"/>
                </a:solidFill>
                <a:latin typeface="맑은 고딕"/>
                <a:ea typeface="맑은 고딕"/>
              </a:rPr>
              <a:t>해결책이 요구를 대신</a:t>
            </a:r>
            <a:r>
              <a:rPr sz="1800" b="0">
                <a:solidFill>
                  <a:srgbClr val="000000"/>
                </a:solidFill>
                <a:latin typeface="맑은 고딕"/>
                <a:ea typeface="맑은 고딕"/>
              </a:rPr>
              <a:t>한다. 이들은 설계 결정이며, 요구라면 특별 요구사항·제약으로 분리한다.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유스케이스는 </a:t>
            </a:r>
            <a:r>
              <a:rPr sz="1800" b="1">
                <a:solidFill>
                  <a:srgbClr val="000000"/>
                </a:solidFill>
                <a:latin typeface="맑은 고딕"/>
                <a:ea typeface="맑은 고딕"/>
              </a:rPr>
              <a:t>본질 스타일</a:t>
            </a:r>
            <a:r>
              <a:rPr sz="1800" b="0">
                <a:solidFill>
                  <a:srgbClr val="000000"/>
                </a:solidFill>
                <a:latin typeface="맑은 고딕"/>
                <a:ea typeface="맑은 고딕"/>
              </a:rPr>
              <a:t>로 쓴다 — 사용자 인터페이스를 빼고 </a:t>
            </a:r>
            <a:r>
              <a:rPr sz="1800" b="1">
                <a:solidFill>
                  <a:srgbClr val="000000"/>
                </a:solidFill>
                <a:latin typeface="맑은 고딕"/>
                <a:ea typeface="맑은 고딕"/>
              </a:rPr>
              <a:t>액터의 의도</a:t>
            </a:r>
            <a:r>
              <a:rPr sz="1800" b="0">
                <a:solidFill>
                  <a:srgbClr val="000000"/>
                </a:solidFill>
                <a:latin typeface="맑은 고딕"/>
                <a:ea typeface="맑은 고딕"/>
              </a:rPr>
              <a:t>에 집중한다</a:t>
            </a:r>
            <a:r>
              <a:rPr sz="1000" b="0">
                <a:solidFill>
                  <a:srgbClr val="000000"/>
                </a:solidFill>
                <a:latin typeface="맑은 고딕"/>
                <a:ea typeface="맑은 고딕"/>
              </a:rPr>
              <a:t>, </a:t>
            </a:r>
            <a:r>
              <a:rPr sz="1000" b="0">
                <a:solidFill>
                  <a:srgbClr val="000000"/>
                </a:solidFill>
                <a:latin typeface="맑은 고딕"/>
                <a:ea typeface="맑은 고딕"/>
              </a:rPr>
              <a:t>"Write use cases in an essential style; keep the user interface out and focus on actor intent.", [Larman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60049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잘못된 예와 바른 예</a:t>
            </a:r>
          </a:p>
        </p:txBody>
      </p:sp>
    </p:spTree>
    <p:extLst>
      <p:ext uri="{BB962C8B-B14F-4D97-AF65-F5344CB8AC3E}">
        <p14:creationId xmlns:p14="http://schemas.microsoft.com/office/powerpoint/2010/main" val="27895694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38. 잘못된 관행 — 시스템 관점·액터</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516445" y="2112010"/>
          <a:ext cx="8097520" cy="3873500"/>
        </p:xfrm>
        <a:graphic>
          <a:graphicData uri="http://schemas.openxmlformats.org/drawingml/2006/table">
            <a:tbl>
              <a:tblPr/>
              <a:tblGrid>
                <a:gridCol w="2372360"/>
                <a:gridCol w="57251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잘못된 예</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바른 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시스템이 주문 목록을 조회한다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고객이 주문 내역을 확인한다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액터: 물류팀 김과장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액터: 배송 담당자 — 사람이 아니라 역할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액터: 주문 DB, 결제 모듈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시스템 안의 요소는 액터가 아니다. 외부 시스템(결제·상품·회계·배송)만 액터다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액터: 주문 시스템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대상 시스템은 경계이지 액터가 아니다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유스케이스는 </a:t>
            </a:r>
            <a:r>
              <a:rPr sz="1800" b="1">
                <a:solidFill>
                  <a:srgbClr val="000000"/>
                </a:solidFill>
                <a:latin typeface="맑은 고딕"/>
                <a:ea typeface="맑은 고딕"/>
              </a:rPr>
              <a:t>액터의 목표</a:t>
            </a:r>
            <a:r>
              <a:rPr sz="1800" b="0">
                <a:solidFill>
                  <a:srgbClr val="000000"/>
                </a:solidFill>
                <a:latin typeface="맑은 고딕"/>
                <a:ea typeface="맑은 고딕"/>
              </a:rPr>
              <a:t>에서 출발한다. 시스템이 하는 일의 목록이나 조직도가 아니다.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- 46 -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잘못된 예와 바른 예</a:t>
            </a:r>
          </a:p>
        </p:txBody>
      </p:sp>
    </p:spTree>
    <p:extLst>
      <p:ext uri="{BB962C8B-B14F-4D97-AF65-F5344CB8AC3E}">
        <p14:creationId xmlns:p14="http://schemas.microsoft.com/office/powerpoint/2010/main" val="27895694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39. 잘못된 관행 — 명세 과잉·방치</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851725" y="1837690"/>
          <a:ext cx="7426960" cy="3873500"/>
        </p:xfrm>
        <a:graphic>
          <a:graphicData uri="http://schemas.openxmlformats.org/drawingml/2006/table">
            <a:tbl>
              <a:tblPr/>
              <a:tblGrid>
                <a:gridCol w="3462020"/>
                <a:gridCol w="39649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잘못된 예</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바른 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방어 코드 수준의 오류를 모두 흐름에 나열한다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목표 달성 경로가 달라지는 경우만 대안 흐름으로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템플릿의 모든 칸을 형식적으로 채운다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판단에 필요한 항목만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규칙을 흐름 단계에 섞는다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규칙·특별 요구사항으로 분리한다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합의 없이 문서만 늘린다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이벤트·목표로 먼저 합의하고 반복한다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한 번 쓰고 구현·변경을 반영하지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추적하며 계속 갱신한다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524240"/>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명세를 </a:t>
            </a:r>
            <a:r>
              <a:rPr sz="1800" b="1">
                <a:solidFill>
                  <a:srgbClr val="000000"/>
                </a:solidFill>
                <a:latin typeface="맑은 고딕"/>
                <a:ea typeface="맑은 고딕"/>
              </a:rPr>
              <a:t>많이 쓰는 것</a:t>
            </a:r>
            <a:r>
              <a:rPr sz="1800" b="0">
                <a:solidFill>
                  <a:srgbClr val="000000"/>
                </a:solidFill>
                <a:latin typeface="맑은 고딕"/>
                <a:ea typeface="맑은 고딕"/>
              </a:rPr>
              <a:t>과 요구를 </a:t>
            </a:r>
            <a:r>
              <a:rPr sz="1800" b="1">
                <a:solidFill>
                  <a:srgbClr val="000000"/>
                </a:solidFill>
                <a:latin typeface="맑은 고딕"/>
                <a:ea typeface="맑은 고딕"/>
              </a:rPr>
              <a:t>잘 정의하는 것</a:t>
            </a:r>
            <a:r>
              <a:rPr sz="1800" b="0">
                <a:solidFill>
                  <a:srgbClr val="000000"/>
                </a:solidFill>
                <a:latin typeface="맑은 고딕"/>
                <a:ea typeface="맑은 고딕"/>
              </a:rPr>
              <a:t>은 다르다.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- 47 -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53924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잘못된 예와 바른 예</a:t>
            </a:r>
          </a:p>
        </p:txBody>
      </p:sp>
    </p:spTree>
    <p:extLst>
      <p:ext uri="{BB962C8B-B14F-4D97-AF65-F5344CB8AC3E}">
        <p14:creationId xmlns:p14="http://schemas.microsoft.com/office/powerpoint/2010/main" val="27895694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40. 잘못된 유스케이스 다이어그램 </a:t>
            </a:r>
            <a:r>
              <a:rPr sz="2000" b="1">
                <a:solidFill>
                  <a:srgbClr val="000000"/>
                </a:solidFill>
                <a:latin typeface="맑은 고딕"/>
                <a:ea typeface="맑은 고딕"/>
              </a:rPr>
              <a:t>(1/2)</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유스케이스 다이어그램은 </a:t>
            </a:r>
            <a:r>
              <a:rPr sz="1800" b="1">
                <a:solidFill>
                  <a:srgbClr val="000000"/>
                </a:solidFill>
                <a:latin typeface="맑은 고딕"/>
                <a:ea typeface="맑은 고딕"/>
              </a:rPr>
              <a:t>기능 분해도·업무 순서도·프로그램 호출 그래프</a:t>
            </a:r>
            <a:r>
              <a:rPr sz="1800" b="0">
                <a:solidFill>
                  <a:srgbClr val="000000"/>
                </a:solidFill>
                <a:latin typeface="맑은 고딕"/>
                <a:ea typeface="맑은 고딕"/>
              </a:rPr>
              <a:t>를 대신하는 표기법이 아니다.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바른 모습은 </a:t>
            </a:r>
            <a:r>
              <a:rPr sz="1800" b="1">
                <a:solidFill>
                  <a:srgbClr val="000000"/>
                </a:solidFill>
                <a:latin typeface="맑은 고딕"/>
                <a:ea typeface="맑은 고딕"/>
              </a:rPr>
              <a:t>상품 정보를 관리한다</a:t>
            </a:r>
            <a:r>
              <a:rPr sz="1800" b="0">
                <a:solidFill>
                  <a:srgbClr val="000000"/>
                </a:solidFill>
                <a:latin typeface="맑은 고딕"/>
                <a:ea typeface="맑은 고딕"/>
              </a:rPr>
              <a:t> 하나와 대안 흐름이다</a:t>
            </a:r>
            <a:r>
              <a:rPr sz="1400" b="0">
                <a:solidFill>
                  <a:srgbClr val="000000"/>
                </a:solidFill>
                <a:latin typeface="맑은 고딕"/>
                <a:ea typeface="맑은 고딕"/>
              </a:rPr>
              <a:t>(「36. 잘못된 관행 —</a:t>
            </a:r>
            <a:r>
              <a:rPr sz="1200" b="0">
                <a:solidFill>
                  <a:srgbClr val="000000"/>
                </a:solidFill>
                <a:latin typeface="맑은 고딕"/>
                <a:ea typeface="맑은 고딕"/>
              </a:rPr>
              <a:t> CRUD 분할」)</a:t>
            </a:r>
            <a:r>
              <a:rPr sz="1600" b="0">
                <a:solidFill>
                  <a:srgbClr val="000000"/>
                </a:solidFill>
                <a:latin typeface="맑은 고딕"/>
                <a:ea typeface="맑은 고딕"/>
              </a:rPr>
              <a:t>.</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511552"/>
            <a:ext cx="8412480" cy="201168"/>
          </a:xfrm>
          <a:prstGeom prst="rect">
            <a:avLst/>
          </a:prstGeom>
          <a:noFill/>
        </p:spPr>
        <p:txBody>
          <a:bodyPr wrap="square">
            <a:spAutoFit/>
          </a:bodyPr>
          <a:lstStyle/>
          <a:p>
            <a:pPr algn="ctr"/>
            <a:r>
              <a:rPr sz="1400" b="1">
                <a:solidFill>
                  <a:srgbClr val="000000"/>
                </a:solidFill>
                <a:latin typeface="맑은 고딕"/>
                <a:ea typeface="맑은 고딕"/>
              </a:rPr>
              <a:t>CRUD를 포함 관계로 분해한 예</a:t>
            </a:r>
          </a:p>
        </p:txBody>
      </p:sp>
      <p:pic>
        <p:nvPicPr>
          <p:cNvPr id="10" name="svg Diagram 7" descr="잘못된 예: 상품 관리를 등록·조회·수정·삭제 포함 관계로 분해"/>
          <p:cNvPicPr>
            <a:picLocks noChangeAspect="1"/>
          </p:cNvPicPr>
          <p:nvPr/>
        </p:nvPicPr>
        <p:blipFill>
          <a:blip r:embed="svgImage7"/>
          <a:stretch>
            <a:fillRect/>
          </a:stretch>
        </p:blipFill>
        <p:spPr>
          <a:xfrm>
            <a:off x="1893094" y="2749296"/>
            <a:ext cx="5357813" cy="2512219"/>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40. 잘못된 유스케이스 다이어그램 </a:t>
            </a:r>
            <a:r>
              <a:rPr sz="2000" b="1">
                <a:solidFill>
                  <a:srgbClr val="000000"/>
                </a:solidFill>
                <a:latin typeface="맑은 고딕"/>
                <a:ea typeface="맑은 고딕"/>
              </a:rPr>
              <a:t>(2/2)</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시스템 경계가 없고, 유스케이스 사이의 일반 화살표가 </a:t>
            </a:r>
            <a:r>
              <a:rPr sz="1800" b="1">
                <a:solidFill>
                  <a:srgbClr val="000000"/>
                </a:solidFill>
                <a:latin typeface="맑은 고딕"/>
                <a:ea typeface="맑은 고딕"/>
              </a:rPr>
              <a:t>실행 순서</a:t>
            </a:r>
            <a:r>
              <a:rPr sz="1800" b="0">
                <a:solidFill>
                  <a:srgbClr val="000000"/>
                </a:solidFill>
                <a:latin typeface="맑은 고딕"/>
                <a:ea typeface="맑은 고딕"/>
              </a:rPr>
              <a:t>를 나타낸다.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화면 메뉴 구조를 그대로 옮기거나, 모든 액터를 모든 유스케이스에 잇는 </a:t>
            </a:r>
            <a:r>
              <a:rPr sz="1800" b="1">
                <a:solidFill>
                  <a:srgbClr val="000000"/>
                </a:solidFill>
                <a:latin typeface="맑은 고딕"/>
                <a:ea typeface="맑은 고딕"/>
              </a:rPr>
              <a:t>거미줄</a:t>
            </a:r>
            <a:r>
              <a:rPr sz="1800" b="0">
                <a:solidFill>
                  <a:srgbClr val="000000"/>
                </a:solidFill>
                <a:latin typeface="맑은 고딕"/>
                <a:ea typeface="맑은 고딕"/>
              </a:rPr>
              <a:t>도 피한다.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511552"/>
            <a:ext cx="8412480" cy="201168"/>
          </a:xfrm>
          <a:prstGeom prst="rect">
            <a:avLst/>
          </a:prstGeom>
          <a:noFill/>
        </p:spPr>
        <p:txBody>
          <a:bodyPr wrap="square">
            <a:spAutoFit/>
          </a:bodyPr>
          <a:lstStyle/>
          <a:p>
            <a:pPr algn="ctr"/>
            <a:r>
              <a:rPr sz="1400" b="1">
                <a:solidFill>
                  <a:srgbClr val="000000"/>
                </a:solidFill>
                <a:latin typeface="맑은 고딕"/>
                <a:ea typeface="맑은 고딕"/>
              </a:rPr>
              <a:t>업무 순서로 그린 예</a:t>
            </a:r>
          </a:p>
        </p:txBody>
      </p:sp>
      <p:pic>
        <p:nvPicPr>
          <p:cNvPr id="10" name="svg Diagram 8" descr="잘못된 예: 시스템 경계 없이 유스케이스 사이 화살표로 실행 순서를 표현"/>
          <p:cNvPicPr>
            <a:picLocks noChangeAspect="1"/>
          </p:cNvPicPr>
          <p:nvPr/>
        </p:nvPicPr>
        <p:blipFill>
          <a:blip r:embed="svgImage8"/>
          <a:stretch>
            <a:fillRect/>
          </a:stretch>
        </p:blipFill>
        <p:spPr>
          <a:xfrm>
            <a:off x="1744266" y="2749296"/>
            <a:ext cx="5655469" cy="1190625"/>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41. 시스템 시퀀스 다이어그램 </a:t>
            </a:r>
            <a:r>
              <a:rPr sz="2000" b="1">
                <a:solidFill>
                  <a:srgbClr val="000000"/>
                </a:solidFill>
                <a:latin typeface="맑은 고딕"/>
                <a:ea typeface="맑은 고딕"/>
              </a:rPr>
              <a:t>(1/2)</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- 50 -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SSD는 유스케이스의 시나리오 하나에서 </a:t>
            </a:r>
            <a:r>
              <a:rPr sz="1800" b="1">
                <a:solidFill>
                  <a:srgbClr val="000000"/>
                </a:solidFill>
                <a:latin typeface="맑은 고딕"/>
                <a:ea typeface="맑은 고딕"/>
              </a:rPr>
              <a:t>외부 액터가 만드는 이벤트와 그 순서</a:t>
            </a:r>
            <a:r>
              <a:rPr sz="1800" b="0">
                <a:solidFill>
                  <a:srgbClr val="000000"/>
                </a:solidFill>
                <a:latin typeface="맑은 고딕"/>
                <a:ea typeface="맑은 고딕"/>
              </a:rPr>
              <a:t>와 </a:t>
            </a:r>
            <a:r>
              <a:rPr sz="1800" b="1">
                <a:solidFill>
                  <a:srgbClr val="000000"/>
                </a:solidFill>
                <a:latin typeface="맑은 고딕"/>
                <a:ea typeface="맑은 고딕"/>
              </a:rPr>
              <a:t>시스템 사이의 이벤트</a:t>
            </a:r>
            <a:r>
              <a:rPr sz="1800" b="0">
                <a:solidFill>
                  <a:srgbClr val="000000"/>
                </a:solidFill>
                <a:latin typeface="맑은 고딕"/>
                <a:ea typeface="맑은 고딕"/>
              </a:rPr>
              <a:t>를 보이는 그림이다</a:t>
            </a:r>
            <a:r>
              <a:rPr sz="1000" b="0">
                <a:solidFill>
                  <a:srgbClr val="000000"/>
                </a:solidFill>
                <a:latin typeface="맑은 고딕"/>
                <a:ea typeface="맑은 고딕"/>
              </a:rPr>
              <a:t>, </a:t>
            </a:r>
            <a:r>
              <a:rPr sz="1000" b="0">
                <a:solidFill>
                  <a:srgbClr val="000000"/>
                </a:solidFill>
                <a:latin typeface="맑은 고딕"/>
                <a:ea typeface="맑은 고딕"/>
              </a:rPr>
              <a:t>"A system sequence diagram is a picture that shows, for one particular scenario of a use case, the events that external actors generate, their order, and inter-system events.", [Larman 2004]</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시스템은 </a:t>
            </a:r>
            <a:r>
              <a:rPr sz="1800" b="1">
                <a:solidFill>
                  <a:srgbClr val="000000"/>
                </a:solidFill>
                <a:latin typeface="맑은 고딕"/>
                <a:ea typeface="맑은 고딕"/>
              </a:rPr>
              <a:t>블랙박스</a:t>
            </a:r>
            <a:r>
              <a:rPr sz="1800" b="0">
                <a:solidFill>
                  <a:srgbClr val="000000"/>
                </a:solidFill>
                <a:latin typeface="맑은 고딕"/>
                <a:ea typeface="맑은 고딕"/>
              </a:rPr>
              <a:t>다. SSD로 시스템 이벤트를 찾고, 시스템 오퍼레이션과 계약으로 잇는다.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SSD 초안</a:t>
            </a:r>
            <a:r>
              <a:rPr sz="1800" b="0">
                <a:solidFill>
                  <a:srgbClr val="000000"/>
                </a:solidFill>
                <a:latin typeface="맑은 고딕"/>
                <a:ea typeface="맑은 고딕"/>
              </a:rPr>
              <a:t>은 </a:t>
            </a:r>
            <a:r>
              <a:rPr sz="1800" b="1">
                <a:solidFill>
                  <a:srgbClr val="000000"/>
                </a:solidFill>
                <a:latin typeface="맑은 고딕"/>
                <a:ea typeface="맑은 고딕"/>
              </a:rPr>
              <a:t>주 액터와 대상 시스템만</a:t>
            </a:r>
            <a:r>
              <a:rPr sz="1800" b="0">
                <a:solidFill>
                  <a:srgbClr val="000000"/>
                </a:solidFill>
                <a:latin typeface="맑은 고딕"/>
                <a:ea typeface="맑은 고딕"/>
              </a:rPr>
              <a:t> 그린다</a:t>
            </a:r>
            <a:r>
              <a:rPr sz="1400" b="0">
                <a:solidFill>
                  <a:srgbClr val="000000"/>
                </a:solidFill>
                <a:latin typeface="맑은 고딕"/>
                <a:ea typeface="맑은 고딕"/>
              </a:rPr>
              <a:t>(정제는 「44. 정제된 SSD」)</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이벤트 이름은 입력 장치가 아니라 </a:t>
            </a:r>
            <a:r>
              <a:rPr sz="1800" b="1">
                <a:solidFill>
                  <a:srgbClr val="000000"/>
                </a:solidFill>
                <a:latin typeface="맑은 고딕"/>
                <a:ea typeface="맑은 고딕"/>
              </a:rPr>
              <a:t>의도</a:t>
            </a:r>
            <a:r>
              <a:rPr sz="1800" b="0">
                <a:solidFill>
                  <a:srgbClr val="000000"/>
                </a:solidFill>
                <a:latin typeface="맑은 고딕"/>
                <a:ea typeface="맑은 고딕"/>
              </a:rPr>
              <a:t>로 짓는다 —</a:t>
            </a:r>
            <a:r>
              <a:rPr sz="1600" b="0">
                <a:solidFill>
                  <a:srgbClr val="000000"/>
                </a:solidFill>
                <a:latin typeface="맑은 고딕"/>
                <a:ea typeface="맑은 고딕"/>
              </a:rPr>
              <a:t> </a:t>
            </a:r>
            <a:r>
              <a:rPr sz="1600" b="0">
                <a:solidFill>
                  <a:srgbClr val="000000"/>
                </a:solidFill>
                <a:latin typeface="맑은 고딕"/>
                <a:ea typeface="맑은 고딕"/>
              </a:rPr>
              <a:t>버튼을 누른다</a:t>
            </a:r>
            <a:r>
              <a:rPr sz="1600" b="0">
                <a:solidFill>
                  <a:srgbClr val="000000"/>
                </a:solidFill>
                <a:latin typeface="맑은 고딕"/>
                <a:ea typeface="맑은 고딕"/>
              </a:rPr>
              <a:t>가 아니라 </a:t>
            </a:r>
            <a:r>
              <a:rPr sz="1600" b="0">
                <a:solidFill>
                  <a:srgbClr val="000000"/>
                </a:solidFill>
                <a:latin typeface="맑은 고딕"/>
                <a:ea typeface="맑은 고딕"/>
              </a:rPr>
              <a:t>결제한다</a:t>
            </a:r>
            <a:r>
              <a:rPr sz="1600" b="0">
                <a:solidFill>
                  <a:srgbClr val="000000"/>
                </a:solidFill>
                <a:latin typeface="맑은 고딕"/>
                <a:ea typeface="맑은 고딕"/>
              </a:rPr>
              <a:t>.</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811108"/>
            <a:ext cx="8412480" cy="201168"/>
          </a:xfrm>
          <a:prstGeom prst="rect">
            <a:avLst/>
          </a:prstGeom>
          <a:noFill/>
        </p:spPr>
        <p:txBody>
          <a:bodyPr wrap="square">
            <a:spAutoFit/>
          </a:bodyPr>
          <a:lstStyle/>
          <a:p>
            <a:pPr algn="ctr"/>
            <a:r>
              <a:rPr sz="1400" b="1">
                <a:solidFill>
                  <a:srgbClr val="000000"/>
                </a:solidFill>
                <a:latin typeface="맑은 고딕"/>
                <a:ea typeface="맑은 고딕"/>
              </a:rPr>
              <a:t>SSD 표기</a:t>
            </a:r>
          </a:p>
        </p:txBody>
      </p:sp>
      <p:pic>
        <p:nvPicPr>
          <p:cNvPr id="10" name="svg Diagram 9" descr="시스템 시퀀스 다이어그램 표기: 액터, 대상 시스템과 생명선, 시스템 이벤트, 반복 프레임"/>
          <p:cNvPicPr>
            <a:picLocks noChangeAspect="1"/>
          </p:cNvPicPr>
          <p:nvPr/>
        </p:nvPicPr>
        <p:blipFill>
          <a:blip r:embed="svgImage9"/>
          <a:stretch>
            <a:fillRect/>
          </a:stretch>
        </p:blipFill>
        <p:spPr>
          <a:xfrm>
            <a:off x="1926167" y="4048852"/>
            <a:ext cx="5291667" cy="1217083"/>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41. 시스템 시퀀스 다이어그램 </a:t>
            </a:r>
            <a:r>
              <a:rPr sz="2000" b="1">
                <a:solidFill>
                  <a:srgbClr val="000000"/>
                </a:solidFill>
                <a:latin typeface="맑은 고딕"/>
                <a:ea typeface="맑은 고딕"/>
              </a:rPr>
              <a:t>(2/2)</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1258570"/>
          <a:ext cx="8305800" cy="3873500"/>
        </p:xfrm>
        <a:graphic>
          <a:graphicData uri="http://schemas.openxmlformats.org/drawingml/2006/table">
            <a:tbl>
              <a:tblPr/>
              <a:tblGrid>
                <a:gridCol w="2529874"/>
                <a:gridCol w="2453141"/>
                <a:gridCol w="3322785"/>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표기</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의미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이렇게 쓴다</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액터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시스템에 이벤트를 보내는 주 액터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 액터를 왼쪽에 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대상 시스템·생명선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블랙박스 시스템 하나, 점선은 시간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시스템처럼 쓴다. 안의 객체는 넣지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시스템 이벤트 — 실선 화살표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액터가 시스템에 보내는 요청</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액터 단계마다 하나, 업무 동사(필요한 정보)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반복 프레임(frame) — loop 사각형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안의 이벤트가 조건 동안 반복된다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같은 이벤트의 반복, 조건은 [상품마다]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1033239" y="5678424"/>
            <a:ext cx="6528540" cy="795528"/>
          </a:xfrm>
          <a:prstGeom prst="rect">
            <a:avLst/>
          </a:prstGeom>
          <a:noFill/>
        </p:spPr>
        <p:txBody>
          <a:bodyPr wrap="square">
            <a:spAutoFit/>
          </a:bodyPr>
          <a:lstStyle/>
          <a:p>
            <a:endParaRP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- 51 -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96012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표기와 사용법</a:t>
            </a:r>
          </a:p>
        </p:txBody>
      </p:sp>
    </p:spTree>
    <p:extLst>
      <p:ext uri="{BB962C8B-B14F-4D97-AF65-F5344CB8AC3E}">
        <p14:creationId xmlns:p14="http://schemas.microsoft.com/office/powerpoint/2010/main" val="27895694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42. SSD 초안 </a:t>
            </a:r>
            <a:r>
              <a:rPr sz="2000" b="1">
                <a:solidFill>
                  <a:srgbClr val="000000"/>
                </a:solidFill>
                <a:latin typeface="맑은 고딕"/>
                <a:ea typeface="맑은 고딕"/>
              </a:rPr>
              <a:t>(1/2)</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- 52 -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0">
                <a:solidFill>
                  <a:srgbClr val="000000"/>
                </a:solidFill>
                <a:latin typeface="맑은 고딕"/>
                <a:ea typeface="맑은 고딕"/>
              </a:rPr>
              <a:t>SSD는 명세서 기본 흐름의 </a:t>
            </a:r>
            <a:r>
              <a:rPr sz="1800" b="1">
                <a:solidFill>
                  <a:srgbClr val="000000"/>
                </a:solidFill>
                <a:latin typeface="맑은 고딕"/>
                <a:ea typeface="맑은 고딕"/>
              </a:rPr>
              <a:t>액터 단계마다</a:t>
            </a:r>
            <a:r>
              <a:rPr sz="1800" b="0">
                <a:solidFill>
                  <a:srgbClr val="000000"/>
                </a:solidFill>
                <a:latin typeface="맑은 고딕"/>
                <a:ea typeface="맑은 고딕"/>
              </a:rPr>
              <a:t> 시스템 이벤트를 하나씩 보인다.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반복 단계</a:t>
            </a:r>
            <a:r>
              <a:rPr sz="1400" b="0">
                <a:solidFill>
                  <a:srgbClr val="000000"/>
                </a:solidFill>
                <a:latin typeface="맑은 고딕"/>
                <a:ea typeface="맑은 고딕"/>
              </a:rPr>
              <a:t>(1~2단계)</a:t>
            </a:r>
            <a:r>
              <a:rPr sz="1800" b="0">
                <a:solidFill>
                  <a:srgbClr val="000000"/>
                </a:solidFill>
                <a:latin typeface="맑은 고딕"/>
                <a:ea typeface="맑은 고딕"/>
              </a:rPr>
              <a:t>는 </a:t>
            </a:r>
            <a:r>
              <a:rPr sz="1800" b="0">
                <a:solidFill>
                  <a:srgbClr val="000000"/>
                </a:solidFill>
                <a:latin typeface="맑은 고딕"/>
                <a:ea typeface="맑은 고딕"/>
              </a:rPr>
              <a:t>loop</a:t>
            </a:r>
            <a:r>
              <a:rPr sz="1800" b="0">
                <a:solidFill>
                  <a:srgbClr val="000000"/>
                </a:solidFill>
                <a:latin typeface="맑은 고딕"/>
                <a:ea typeface="맑은 고딕"/>
              </a:rPr>
              <a:t>로 묶고, 시스템의 응답</a:t>
            </a:r>
            <a:r>
              <a:rPr sz="1400" b="0">
                <a:solidFill>
                  <a:srgbClr val="000000"/>
                </a:solidFill>
                <a:latin typeface="맑은 고딕"/>
                <a:ea typeface="맑은 고딕"/>
              </a:rPr>
              <a:t>(5단계)</a:t>
            </a:r>
            <a:r>
              <a:rPr sz="1800" b="0">
                <a:solidFill>
                  <a:srgbClr val="000000"/>
                </a:solidFill>
                <a:latin typeface="맑은 고딕"/>
                <a:ea typeface="맑은 고딕"/>
              </a:rPr>
              <a:t>은 </a:t>
            </a:r>
            <a:r>
              <a:rPr sz="1800" b="1">
                <a:solidFill>
                  <a:srgbClr val="000000"/>
                </a:solidFill>
                <a:latin typeface="맑은 고딕"/>
                <a:ea typeface="맑은 고딕"/>
              </a:rPr>
              <a:t>이벤트가 아니다</a:t>
            </a:r>
            <a:r>
              <a:rPr sz="1800" b="0">
                <a:solidFill>
                  <a:srgbClr val="000000"/>
                </a:solidFill>
                <a:latin typeface="맑은 고딕"/>
                <a:ea typeface="맑은 고딕"/>
              </a:rPr>
              <a:t>.</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511552"/>
            <a:ext cx="8412480" cy="201168"/>
          </a:xfrm>
          <a:prstGeom prst="rect">
            <a:avLst/>
          </a:prstGeom>
          <a:noFill/>
        </p:spPr>
        <p:txBody>
          <a:bodyPr wrap="square">
            <a:spAutoFit/>
          </a:bodyPr>
          <a:lstStyle/>
          <a:p>
            <a:pPr algn="ctr"/>
            <a:r>
              <a:rPr sz="1400" b="1">
                <a:solidFill>
                  <a:srgbClr val="000000"/>
                </a:solidFill>
                <a:latin typeface="맑은 고딕"/>
                <a:ea typeface="맑은 고딕"/>
              </a:rPr>
              <a:t>주문 시나리오의 SSD 초안</a:t>
            </a:r>
          </a:p>
        </p:txBody>
      </p:sp>
      <p:pic>
        <p:nvPicPr>
          <p:cNvPr id="10" name="svg Diagram 10" descr="유스케이스 기본 흐름의 각 단계와 SSD 초안의 시스템 이벤트 대응"/>
          <p:cNvPicPr>
            <a:picLocks noChangeAspect="1"/>
          </p:cNvPicPr>
          <p:nvPr/>
        </p:nvPicPr>
        <p:blipFill>
          <a:blip r:embed="svgImage10"/>
          <a:stretch>
            <a:fillRect/>
          </a:stretch>
        </p:blipFill>
        <p:spPr>
          <a:xfrm>
            <a:off x="1684734" y="2749296"/>
            <a:ext cx="5774531" cy="2797969"/>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42. SSD 초안 </a:t>
            </a:r>
            <a:r>
              <a:rPr sz="2000" b="1">
                <a:solidFill>
                  <a:srgbClr val="000000"/>
                </a:solidFill>
                <a:latin typeface="맑은 고딕"/>
                <a:ea typeface="맑은 고딕"/>
              </a:rPr>
              <a:t>(2/2)</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- 53 -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103411" y="2240238"/>
            <a:ext cx="5674829" cy="2057400"/>
          </a:xfrm>
          <a:prstGeom prst="rect">
            <a:avLst/>
          </a:prstGeom>
          <a:noFill/>
        </p:spPr>
        <p:txBody>
          <a:bodyPr wrap="square" lIns="91440" tIns="0" rIns="91440" bIns="0" anchor="t">
            <a:noAutofit/>
          </a:bodyPr>
          <a:lstStyle/>
          <a:p>
            <a:pPr marL="0" indent="0" algn="l">
              <a:lnSpc>
                <a:spcPts val="1080"/>
              </a:lnSpc>
              <a:spcBef>
                <a:spcPts val="0"/>
              </a:spcBef>
              <a:spcAft>
                <a:spcPts val="0"/>
              </a:spcAft>
              <a:buNone/>
            </a:pPr>
            <a:r>
              <a:rPr sz="900" b="0">
                <a:solidFill>
                  <a:srgbClr val="000000"/>
                </a:solidFill>
                <a:latin typeface="Consolas"/>
                <a:ea typeface="맑은 고딕"/>
              </a:rPr>
              <a:t>final class </a:t>
            </a:r>
            <a:r>
              <a:rPr sz="900" b="1">
                <a:solidFill>
                  <a:srgbClr val="000000"/>
                </a:solidFill>
                <a:latin typeface="Consolas"/>
                <a:ea typeface="맑은 고딕"/>
              </a:rPr>
              <a:t>상품</a:t>
            </a:r>
            <a:r>
              <a:rPr sz="900" b="0">
                <a:solidFill>
                  <a:srgbClr val="000000"/>
                </a:solidFill>
                <a:latin typeface="Consolas"/>
                <a:ea typeface="맑은 고딕"/>
              </a:rPr>
              <a:t> {</a:t>
            </a:r>
          </a:p>
          <a:p>
            <a:pPr marL="0" indent="0" algn="l">
              <a:lnSpc>
                <a:spcPts val="1080"/>
              </a:lnSpc>
              <a:spcBef>
                <a:spcPts val="0"/>
              </a:spcBef>
              <a:spcAft>
                <a:spcPts val="0"/>
              </a:spcAft>
              <a:buNone/>
            </a:pPr>
            <a:r>
              <a:rPr sz="900" b="0">
                <a:solidFill>
                  <a:srgbClr val="000000"/>
                </a:solidFill>
                <a:latin typeface="Consolas"/>
                <a:ea typeface="맑은 고딕"/>
              </a:rPr>
              <a:t>    private final String 상품명;</a:t>
            </a:r>
          </a:p>
          <a:p>
            <a:pPr marL="0" indent="0" algn="l">
              <a:lnSpc>
                <a:spcPts val="1080"/>
              </a:lnSpc>
              <a:spcBef>
                <a:spcPts val="0"/>
              </a:spcBef>
              <a:spcAft>
                <a:spcPts val="0"/>
              </a:spcAft>
              <a:buNone/>
            </a:pPr>
            <a:r>
              <a:rPr sz="900" b="0">
                <a:solidFill>
                  <a:srgbClr val="000000"/>
                </a:solidFill>
                <a:latin typeface="Consolas"/>
                <a:ea typeface="맑은 고딕"/>
              </a:rPr>
              <a:t>    private final int 판매가;</a:t>
            </a:r>
          </a:p>
          <a:p>
            <a:pPr marL="0" indent="0" algn="l">
              <a:lnSpc>
                <a:spcPts val="1080"/>
              </a:lnSpc>
              <a:spcBef>
                <a:spcPts val="0"/>
              </a:spcBef>
              <a:spcAft>
                <a:spcPts val="0"/>
              </a:spcAft>
              <a:buNone/>
            </a:pPr>
          </a:p>
          <a:p>
            <a:pPr marL="0" indent="0" algn="l">
              <a:lnSpc>
                <a:spcPts val="1080"/>
              </a:lnSpc>
              <a:spcBef>
                <a:spcPts val="0"/>
              </a:spcBef>
              <a:spcAft>
                <a:spcPts val="0"/>
              </a:spcAft>
              <a:buNone/>
            </a:pPr>
            <a:r>
              <a:rPr sz="900" b="0">
                <a:solidFill>
                  <a:srgbClr val="000000"/>
                </a:solidFill>
                <a:latin typeface="Consolas"/>
                <a:ea typeface="맑은 고딕"/>
              </a:rPr>
              <a:t>    </a:t>
            </a:r>
            <a:r>
              <a:rPr sz="900" b="1">
                <a:solidFill>
                  <a:srgbClr val="000000"/>
                </a:solidFill>
                <a:latin typeface="Consolas"/>
                <a:ea typeface="맑은 고딕"/>
              </a:rPr>
              <a:t>상품</a:t>
            </a:r>
            <a:r>
              <a:rPr sz="900" b="0">
                <a:solidFill>
                  <a:srgbClr val="000000"/>
                </a:solidFill>
                <a:latin typeface="Consolas"/>
                <a:ea typeface="맑은 고딕"/>
              </a:rPr>
              <a:t>(String 상품명, int 판매가) { this.상품명 = 상품명; this.판매가 = 판매가; }</a:t>
            </a:r>
          </a:p>
          <a:p>
            <a:pPr marL="0" indent="0" algn="l">
              <a:lnSpc>
                <a:spcPts val="1080"/>
              </a:lnSpc>
              <a:spcBef>
                <a:spcPts val="0"/>
              </a:spcBef>
              <a:spcAft>
                <a:spcPts val="0"/>
              </a:spcAft>
              <a:buNone/>
            </a:pPr>
            <a:r>
              <a:rPr sz="900" b="0">
                <a:solidFill>
                  <a:srgbClr val="000000"/>
                </a:solidFill>
                <a:latin typeface="Consolas"/>
                <a:ea typeface="맑은 고딕"/>
              </a:rPr>
              <a:t>    int </a:t>
            </a:r>
            <a:r>
              <a:rPr sz="900" b="1">
                <a:solidFill>
                  <a:srgbClr val="000000"/>
                </a:solidFill>
                <a:latin typeface="Consolas"/>
                <a:ea typeface="맑은 고딕"/>
              </a:rPr>
              <a:t>판매가</a:t>
            </a:r>
            <a:r>
              <a:rPr sz="900" b="0">
                <a:solidFill>
                  <a:srgbClr val="000000"/>
                </a:solidFill>
                <a:latin typeface="Consolas"/>
                <a:ea typeface="맑은 고딕"/>
              </a:rPr>
              <a:t>() { return 판매가; }</a:t>
            </a:r>
          </a:p>
          <a:p>
            <a:pPr marL="0" indent="0" algn="l">
              <a:lnSpc>
                <a:spcPts val="1080"/>
              </a:lnSpc>
              <a:spcBef>
                <a:spcPts val="0"/>
              </a:spcBef>
              <a:spcAft>
                <a:spcPts val="0"/>
              </a:spcAft>
              <a:buNone/>
            </a:pPr>
            <a:r>
              <a:rPr sz="900" b="0">
                <a:solidFill>
                  <a:srgbClr val="000000"/>
                </a:solidFill>
                <a:latin typeface="Consolas"/>
                <a:ea typeface="맑은 고딕"/>
              </a:rPr>
              <a:t>}</a:t>
            </a:r>
          </a:p>
          <a:p>
            <a:pPr marL="0" indent="0" algn="l">
              <a:lnSpc>
                <a:spcPts val="1080"/>
              </a:lnSpc>
              <a:spcBef>
                <a:spcPts val="0"/>
              </a:spcBef>
              <a:spcAft>
                <a:spcPts val="0"/>
              </a:spcAft>
              <a:buNone/>
            </a:pPr>
          </a:p>
          <a:p>
            <a:pPr marL="0" indent="0" algn="l">
              <a:lnSpc>
                <a:spcPts val="1080"/>
              </a:lnSpc>
              <a:spcBef>
                <a:spcPts val="0"/>
              </a:spcBef>
              <a:spcAft>
                <a:spcPts val="0"/>
              </a:spcAft>
              <a:buNone/>
            </a:pPr>
            <a:r>
              <a:rPr sz="900" b="0">
                <a:solidFill>
                  <a:srgbClr val="000000"/>
                </a:solidFill>
                <a:latin typeface="Consolas"/>
                <a:ea typeface="맑은 고딕"/>
              </a:rPr>
              <a:t>interface </a:t>
            </a:r>
            <a:r>
              <a:rPr sz="900" b="1">
                <a:solidFill>
                  <a:srgbClr val="000000"/>
                </a:solidFill>
                <a:latin typeface="Consolas"/>
                <a:ea typeface="맑은 고딕"/>
              </a:rPr>
              <a:t>주문시스템</a:t>
            </a:r>
            <a:r>
              <a:rPr sz="900" b="0">
                <a:solidFill>
                  <a:srgbClr val="000000"/>
                </a:solidFill>
                <a:latin typeface="Consolas"/>
                <a:ea typeface="맑은 고딕"/>
              </a:rPr>
              <a:t> {</a:t>
            </a:r>
          </a:p>
          <a:p>
            <a:pPr marL="0" indent="0" algn="l">
              <a:lnSpc>
                <a:spcPts val="1080"/>
              </a:lnSpc>
              <a:spcBef>
                <a:spcPts val="0"/>
              </a:spcBef>
              <a:spcAft>
                <a:spcPts val="0"/>
              </a:spcAft>
              <a:buNone/>
            </a:pPr>
            <a:r>
              <a:rPr sz="900" b="0">
                <a:solidFill>
                  <a:srgbClr val="000000"/>
                </a:solidFill>
                <a:latin typeface="Consolas"/>
                <a:ea typeface="맑은 고딕"/>
              </a:rPr>
              <a:t>    List&lt;상품&gt; </a:t>
            </a:r>
            <a:r>
              <a:rPr sz="900" b="1">
                <a:solidFill>
                  <a:srgbClr val="000000"/>
                </a:solidFill>
                <a:latin typeface="Consolas"/>
                <a:ea typeface="맑은 고딕"/>
              </a:rPr>
              <a:t>상품을조회한다</a:t>
            </a:r>
            <a:r>
              <a:rPr sz="900" b="0">
                <a:solidFill>
                  <a:srgbClr val="000000"/>
                </a:solidFill>
                <a:latin typeface="Consolas"/>
                <a:ea typeface="맑은 고딕"/>
              </a:rPr>
              <a:t>(String 검색조건);</a:t>
            </a:r>
          </a:p>
          <a:p>
            <a:pPr marL="0" indent="0" algn="l">
              <a:lnSpc>
                <a:spcPts val="1080"/>
              </a:lnSpc>
              <a:spcBef>
                <a:spcPts val="0"/>
              </a:spcBef>
              <a:spcAft>
                <a:spcPts val="0"/>
              </a:spcAft>
              <a:buNone/>
            </a:pPr>
            <a:r>
              <a:rPr sz="900" b="0">
                <a:solidFill>
                  <a:srgbClr val="000000"/>
                </a:solidFill>
                <a:latin typeface="Consolas"/>
                <a:ea typeface="맑은 고딕"/>
              </a:rPr>
              <a:t>    void </a:t>
            </a:r>
            <a:r>
              <a:rPr sz="900" b="1">
                <a:solidFill>
                  <a:srgbClr val="000000"/>
                </a:solidFill>
                <a:latin typeface="Consolas"/>
                <a:ea typeface="맑은 고딕"/>
              </a:rPr>
              <a:t>장바구니에담는다</a:t>
            </a:r>
            <a:r>
              <a:rPr sz="900" b="0">
                <a:solidFill>
                  <a:srgbClr val="000000"/>
                </a:solidFill>
                <a:latin typeface="Consolas"/>
                <a:ea typeface="맑은 고딕"/>
              </a:rPr>
              <a:t>(상품 상품, int 수량);</a:t>
            </a:r>
          </a:p>
          <a:p>
            <a:pPr marL="0" indent="0" algn="l">
              <a:lnSpc>
                <a:spcPts val="1080"/>
              </a:lnSpc>
              <a:spcBef>
                <a:spcPts val="0"/>
              </a:spcBef>
              <a:spcAft>
                <a:spcPts val="0"/>
              </a:spcAft>
              <a:buNone/>
            </a:pPr>
            <a:r>
              <a:rPr sz="900" b="0">
                <a:solidFill>
                  <a:srgbClr val="000000"/>
                </a:solidFill>
                <a:latin typeface="Consolas"/>
                <a:ea typeface="맑은 고딕"/>
              </a:rPr>
              <a:t>    void </a:t>
            </a:r>
            <a:r>
              <a:rPr sz="900" b="1">
                <a:solidFill>
                  <a:srgbClr val="000000"/>
                </a:solidFill>
                <a:latin typeface="Consolas"/>
                <a:ea typeface="맑은 고딕"/>
              </a:rPr>
              <a:t>배송지를지정한다</a:t>
            </a:r>
            <a:r>
              <a:rPr sz="900" b="0">
                <a:solidFill>
                  <a:srgbClr val="000000"/>
                </a:solidFill>
                <a:latin typeface="Consolas"/>
                <a:ea typeface="맑은 고딕"/>
              </a:rPr>
              <a:t>(String 주소);</a:t>
            </a:r>
          </a:p>
          <a:p>
            <a:pPr marL="0" indent="0" algn="l">
              <a:lnSpc>
                <a:spcPts val="1080"/>
              </a:lnSpc>
              <a:spcBef>
                <a:spcPts val="0"/>
              </a:spcBef>
              <a:spcAft>
                <a:spcPts val="0"/>
              </a:spcAft>
              <a:buNone/>
            </a:pPr>
            <a:r>
              <a:rPr sz="900" b="0">
                <a:solidFill>
                  <a:srgbClr val="000000"/>
                </a:solidFill>
                <a:latin typeface="Consolas"/>
                <a:ea typeface="맑은 고딕"/>
              </a:rPr>
              <a:t>    void </a:t>
            </a:r>
            <a:r>
              <a:rPr sz="900" b="1">
                <a:solidFill>
                  <a:srgbClr val="000000"/>
                </a:solidFill>
                <a:latin typeface="Consolas"/>
                <a:ea typeface="맑은 고딕"/>
              </a:rPr>
              <a:t>결제한다</a:t>
            </a:r>
            <a:r>
              <a:rPr sz="900" b="0">
                <a:solidFill>
                  <a:srgbClr val="000000"/>
                </a:solidFill>
                <a:latin typeface="Consolas"/>
                <a:ea typeface="맑은 고딕"/>
              </a:rPr>
              <a:t>(String 결제수단);</a:t>
            </a:r>
          </a:p>
          <a:p>
            <a:pPr marL="0" indent="0" algn="l">
              <a:lnSpc>
                <a:spcPts val="1080"/>
              </a:lnSpc>
              <a:spcBef>
                <a:spcPts val="0"/>
              </a:spcBef>
              <a:spcAft>
                <a:spcPts val="0"/>
              </a:spcAft>
              <a:buNone/>
            </a:pPr>
            <a:r>
              <a:rPr sz="900" b="0">
                <a:solidFill>
                  <a:srgbClr val="000000"/>
                </a:solidFill>
                <a:latin typeface="Consolas"/>
                <a:ea typeface="맑은 고딕"/>
              </a:rPr>
              <a:t>}</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1178518"/>
          </a:xfrm>
        </p:spPr>
        <p:txBody>
          <a:bodyPr>
            <a:normAutofit/>
          </a:bodyPr>
          <a:lstStyle/>
          <a:p>
            <a:pPr marL="342900" indent="0">
              <a:spcBef>
                <a:spcPts val="600"/>
              </a:spcBef>
              <a:spcAft>
                <a:spcPts val="600"/>
              </a:spcAft>
              <a:buNone/>
            </a:pPr>
            <a:r>
              <a:rPr sz="1800" b="1">
                <a:solidFill>
                  <a:srgbClr val="000000"/>
                </a:solidFill>
                <a:latin typeface="맑은 고딕"/>
                <a:ea typeface="맑은 고딕"/>
              </a:rPr>
              <a:t>SSD와 코드</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시스템 이벤트는 </a:t>
            </a:r>
            <a:r>
              <a:rPr sz="1800" b="1">
                <a:solidFill>
                  <a:srgbClr val="000000"/>
                </a:solidFill>
                <a:latin typeface="맑은 고딕"/>
                <a:ea typeface="맑은 고딕"/>
              </a:rPr>
              <a:t>시스템 경계의 오퍼레이션</a:t>
            </a:r>
            <a:r>
              <a:rPr sz="1800" b="0">
                <a:solidFill>
                  <a:srgbClr val="000000"/>
                </a:solidFill>
                <a:latin typeface="맑은 고딕"/>
                <a:ea typeface="맑은 고딕"/>
              </a:rPr>
              <a:t>이 된다. 사용자 목표 하나를 이벤트 하나로 줄이면 </a:t>
            </a:r>
            <a:r>
              <a:rPr sz="1800" b="1">
                <a:solidFill>
                  <a:srgbClr val="000000"/>
                </a:solidFill>
                <a:latin typeface="맑은 고딕"/>
                <a:ea typeface="맑은 고딕"/>
              </a:rPr>
              <a:t>이벤트 흐름이 사라진다</a:t>
            </a:r>
            <a:r>
              <a:rPr sz="1800" b="0">
                <a:solidFill>
                  <a:srgbClr val="000000"/>
                </a:solidFill>
                <a:latin typeface="맑은 고딕"/>
                <a:ea typeface="맑은 고딕"/>
              </a:rPr>
              <a:t>.</a:t>
            </a:r>
          </a:p>
        </p:txBody>
      </p:sp>
      <p:sp>
        <p:nvSpPr>
          <p:cNvPr id="33" name="TextBox 12">
            <a:extLst>
              <a:ext uri="{FF2B5EF4-FFF2-40B4-BE49-F238E27FC236}">
                <a16:creationId xmlns:a16="http://schemas.microsoft.com/office/drawing/2014/main" id="{654EDDB4-901F-3D48-A715-17D163E8A7AC}"/>
              </a:ext>
            </a:extLst>
          </p:cNvPr>
          <p:cNvSpPr txBox="1"/>
          <p:nvPr/>
        </p:nvSpPr>
        <p:spPr>
          <a:xfrm>
            <a:off x="365760" y="2313390"/>
            <a:ext cx="2627923"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시스템 이벤트와 코드</a:t>
            </a:r>
          </a:p>
        </p:txBody>
      </p:sp>
      <p:pic>
        <p:nvPicPr>
          <p:cNvPr id="34" name="plantuml Diagram 1"/>
          <p:cNvPicPr>
            <a:picLocks noChangeAspect="1"/>
          </p:cNvPicPr>
          <p:nvPr/>
        </p:nvPicPr>
        <p:blipFill>
          <a:blip r:embed="plantumlImage1"/>
          <a:stretch>
            <a:fillRect/>
          </a:stretch>
        </p:blipFill>
        <p:spPr>
          <a:xfrm>
            <a:off x="550376" y="2551134"/>
            <a:ext cx="2258691" cy="1901835"/>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43. 시스템 이벤트와 오퍼레이션</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2112010"/>
          <a:ext cx="8305800" cy="3873500"/>
        </p:xfrm>
        <a:graphic>
          <a:graphicData uri="http://schemas.openxmlformats.org/drawingml/2006/table">
            <a:tbl>
              <a:tblPr/>
              <a:tblGrid>
                <a:gridCol w="2567940"/>
                <a:gridCol w="2529840"/>
                <a:gridCol w="1506220"/>
                <a:gridCol w="17018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유스케이스 흐름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시스템 이벤트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시스템 오퍼레이션</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계약</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기본 흐름 1 — 상품을 조회한다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상품을 조회한다(검색 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상품 조회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기본 흐름 2 — 장바구니에 담는다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장바구니에 담는다(상품, 수량)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장바구니 담기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기본 흐름 3 — 배송지를 지정한다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배송지를 지정한다(주소)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배송지 지정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기본 흐름 4 — 결제한다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결제한다(결제 수단)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작성 — 결제 생성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대안 흐름 1a — 주문 취소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주문을 취소한다(주문)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취소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작성 — 상태·환불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대안 흐름 3a — 배송지 변경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배송지를 변경한다(주문, 새 주소)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배송지 변경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작성 — 출고 전 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액터의 요청이 </a:t>
            </a:r>
            <a:r>
              <a:rPr sz="1800" b="1">
                <a:solidFill>
                  <a:srgbClr val="000000"/>
                </a:solidFill>
                <a:latin typeface="맑은 고딕"/>
                <a:ea typeface="맑은 고딕"/>
              </a:rPr>
              <a:t>시스템 이벤트</a:t>
            </a:r>
            <a:r>
              <a:rPr sz="1800" b="0">
                <a:solidFill>
                  <a:srgbClr val="000000"/>
                </a:solidFill>
                <a:latin typeface="맑은 고딕"/>
                <a:ea typeface="맑은 고딕"/>
              </a:rPr>
              <a:t>, 이에 응답하는 시스템의 행위가 </a:t>
            </a:r>
            <a:r>
              <a:rPr sz="1800" b="1">
                <a:solidFill>
                  <a:srgbClr val="000000"/>
                </a:solidFill>
                <a:latin typeface="맑은 고딕"/>
                <a:ea typeface="맑은 고딕"/>
              </a:rPr>
              <a:t>시스템 오퍼레이션</a:t>
            </a:r>
            <a:r>
              <a:rPr sz="1800" b="0">
                <a:solidFill>
                  <a:srgbClr val="000000"/>
                </a:solidFill>
                <a:latin typeface="맑은 고딕"/>
                <a:ea typeface="맑은 고딕"/>
              </a:rPr>
              <a:t>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- 54 -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흐름·이벤트·오퍼레이션·계약</a:t>
            </a:r>
          </a:p>
        </p:txBody>
      </p:sp>
    </p:spTree>
    <p:extLst>
      <p:ext uri="{BB962C8B-B14F-4D97-AF65-F5344CB8AC3E}">
        <p14:creationId xmlns:p14="http://schemas.microsoft.com/office/powerpoint/2010/main" val="27895694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44. 정제된 SSD </a:t>
            </a:r>
            <a:r>
              <a:rPr sz="2000" b="1">
                <a:solidFill>
                  <a:srgbClr val="000000"/>
                </a:solidFill>
                <a:latin typeface="맑은 고딕"/>
                <a:ea typeface="맑은 고딕"/>
              </a:rPr>
              <a:t>(1/4)</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4710049"/>
          <a:ext cx="8305800" cy="3873500"/>
        </p:xfrm>
        <a:graphic>
          <a:graphicData uri="http://schemas.openxmlformats.org/drawingml/2006/table">
            <a:tbl>
              <a:tblPr/>
              <a:tblGrid>
                <a:gridCol w="1617980"/>
                <a:gridCol w="2959100"/>
                <a:gridCol w="37287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표기</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의미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이렇게 쓴다</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외부 시스템·생명선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대상 시스템이 요청을 보내는 지원 액터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대상 시스템 오른쪽에 둔다. 외부 시스템도 블랙박스다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요청 — 실선 화살표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대상 시스템이 외부 시스템에 맡기는 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동사(필요한 정보), 시스템 이벤트마다 필요한 요청만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SSD 초안에 </a:t>
            </a:r>
            <a:r>
              <a:rPr sz="1800" b="1">
                <a:solidFill>
                  <a:srgbClr val="000000"/>
                </a:solidFill>
                <a:latin typeface="맑은 고딕"/>
                <a:ea typeface="맑은 고딕"/>
              </a:rPr>
              <a:t>외부 시스템</a:t>
            </a:r>
            <a:r>
              <a:rPr sz="1400" b="1">
                <a:solidFill>
                  <a:srgbClr val="000000"/>
                </a:solidFill>
                <a:latin typeface="맑은 고딕"/>
                <a:ea typeface="맑은 고딕"/>
              </a:rPr>
              <a:t>(지원 액터)</a:t>
            </a:r>
            <a:r>
              <a:rPr sz="1800" b="0">
                <a:solidFill>
                  <a:srgbClr val="000000"/>
                </a:solidFill>
                <a:latin typeface="맑은 고딕"/>
                <a:ea typeface="맑은 고딕"/>
              </a:rPr>
              <a:t>을 더해 정제한다. 시스템 이벤트마다 대상 시스템이 외부 시스템에 </a:t>
            </a:r>
            <a:r>
              <a:rPr sz="1800" b="1">
                <a:solidFill>
                  <a:srgbClr val="000000"/>
                </a:solidFill>
                <a:latin typeface="맑은 고딕"/>
                <a:ea typeface="맑은 고딕"/>
              </a:rPr>
              <a:t>무엇을 요청하는지</a:t>
            </a:r>
            <a:r>
              <a:rPr sz="1800" b="0">
                <a:solidFill>
                  <a:srgbClr val="000000"/>
                </a:solidFill>
                <a:latin typeface="맑은 고딕"/>
                <a:ea typeface="맑은 고딕"/>
              </a:rPr>
              <a:t>가 드러난다.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- 55 -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558159"/>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응답</a:t>
            </a:r>
            <a:r>
              <a:rPr sz="1800" b="0">
                <a:solidFill>
                  <a:srgbClr val="000000"/>
                </a:solidFill>
                <a:latin typeface="맑은 고딕"/>
                <a:ea typeface="맑은 고딕"/>
              </a:rPr>
              <a:t>은 그리지 않는다. 외부 시스템이 나중에 알리는 결과는 </a:t>
            </a:r>
            <a:r>
              <a:rPr sz="1800" b="1">
                <a:solidFill>
                  <a:srgbClr val="000000"/>
                </a:solidFill>
                <a:latin typeface="맑은 고딕"/>
                <a:ea typeface="맑은 고딕"/>
              </a:rPr>
              <a:t>별도의 이벤트</a:t>
            </a:r>
            <a:r>
              <a:rPr sz="1800" b="0">
                <a:solidFill>
                  <a:srgbClr val="000000"/>
                </a:solidFill>
                <a:latin typeface="맑은 고딕"/>
                <a:ea typeface="맑은 고딕"/>
              </a:rPr>
              <a:t>다</a:t>
            </a:r>
            <a:r>
              <a:rPr sz="1400" b="0">
                <a:solidFill>
                  <a:srgbClr val="000000"/>
                </a:solidFill>
                <a:latin typeface="맑은 고딕"/>
                <a:ea typeface="맑은 고딕"/>
              </a:rPr>
              <a:t>(배송 시작 통보)</a:t>
            </a:r>
            <a:r>
              <a:rPr sz="1800" b="0">
                <a:solidFill>
                  <a:srgbClr val="000000"/>
                </a:solidFill>
                <a:latin typeface="맑은 고딕"/>
                <a:ea typeface="맑은 고딕"/>
              </a:rPr>
              <a:t>.</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411599"/>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표기와 사용법</a:t>
            </a:r>
          </a:p>
        </p:txBody>
      </p:sp>
      <p:sp>
        <p:nvSpPr>
          <p:cNvPr id="16" name="TextBox 12">
            <a:extLst>
              <a:ext uri="{FF2B5EF4-FFF2-40B4-BE49-F238E27FC236}">
                <a16:creationId xmlns:a16="http://schemas.microsoft.com/office/drawing/2014/main" id="{654EDDB4-901F-3D48-A715-17D163E8A7AC}"/>
              </a:ext>
            </a:extLst>
          </p:cNvPr>
          <p:cNvSpPr txBox="1"/>
          <p:nvPr/>
        </p:nvSpPr>
        <p:spPr>
          <a:xfrm>
            <a:off x="365760" y="1886712"/>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정제된 SSD 표기</a:t>
            </a:r>
          </a:p>
        </p:txBody>
      </p:sp>
      <p:pic>
        <p:nvPicPr>
          <p:cNvPr id="17" name="svg Diagram 11" descr="정제된 SSD 표기: 외부 시스템 생명선, 외부 시스템에 보내는 요청"/>
          <p:cNvPicPr>
            <a:picLocks noChangeAspect="1"/>
          </p:cNvPicPr>
          <p:nvPr/>
        </p:nvPicPr>
        <p:blipFill>
          <a:blip r:embed="svgImage11"/>
          <a:stretch>
            <a:fillRect/>
          </a:stretch>
        </p:blipFill>
        <p:spPr>
          <a:xfrm>
            <a:off x="2183956" y="2124456"/>
            <a:ext cx="4762500" cy="1095375"/>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44. 정제된 SSD </a:t>
            </a:r>
            <a:r>
              <a:rPr sz="2000" b="1">
                <a:solidFill>
                  <a:srgbClr val="000000"/>
                </a:solidFill>
                <a:latin typeface="맑은 고딕"/>
                <a:ea typeface="맑은 고딕"/>
              </a:rPr>
              <a:t>(2/4)</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- 56 -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1612392"/>
            <a:ext cx="8412480" cy="201168"/>
          </a:xfrm>
          <a:prstGeom prst="rect">
            <a:avLst/>
          </a:prstGeom>
          <a:noFill/>
        </p:spPr>
        <p:txBody>
          <a:bodyPr wrap="square">
            <a:spAutoFit/>
          </a:bodyPr>
          <a:lstStyle/>
          <a:p>
            <a:pPr algn="ctr"/>
            <a:r>
              <a:rPr sz="1400" b="1">
                <a:solidFill>
                  <a:srgbClr val="000000"/>
                </a:solidFill>
                <a:latin typeface="맑은 고딕"/>
                <a:ea typeface="맑은 고딕"/>
              </a:rPr>
              <a:t>주문 시나리오의 정제된 SSD</a:t>
            </a:r>
          </a:p>
        </p:txBody>
      </p:sp>
      <p:pic>
        <p:nvPicPr>
          <p:cNvPr id="10" name="plantuml Diagram 2"/>
          <p:cNvPicPr>
            <a:picLocks noChangeAspect="1"/>
          </p:cNvPicPr>
          <p:nvPr/>
        </p:nvPicPr>
        <p:blipFill>
          <a:blip r:embed="plantumlImage2"/>
          <a:stretch>
            <a:fillRect/>
          </a:stretch>
        </p:blipFill>
        <p:spPr>
          <a:xfrm>
            <a:off x="1059962" y="1850136"/>
            <a:ext cx="7024077" cy="4234962"/>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44. 정제된 SSD </a:t>
            </a:r>
            <a:r>
              <a:rPr sz="2000" b="1">
                <a:solidFill>
                  <a:srgbClr val="000000"/>
                </a:solidFill>
                <a:latin typeface="맑은 고딕"/>
                <a:ea typeface="맑은 고딕"/>
              </a:rPr>
              <a:t>(3/4)</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062546" y="3011170"/>
          <a:ext cx="7005320" cy="3873500"/>
        </p:xfrm>
        <a:graphic>
          <a:graphicData uri="http://schemas.openxmlformats.org/drawingml/2006/table">
            <a:tbl>
              <a:tblPr/>
              <a:tblGrid>
                <a:gridCol w="2931160"/>
                <a:gridCol w="1757680"/>
                <a:gridCol w="23164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메시지</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종류</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의미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상품을 조회한다, 장바구니에 담는다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시스템 이벤트 — 반복</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기본 흐름 1·2</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배송지를 지정한다, 결제한다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시스템 이벤트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기본 흐름 3·4</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상품 정보 조회, 결제 승인, 재고 차감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외부 시스템에 요청</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결제한다의 처리에 필요하다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 요청, 입금 처리, 영수증 발행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외부 시스템에 요청</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뒤 다른 시스템에 맡긴다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692593"/>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재고·입금·영수증·출고는 주문 시스템이 </a:t>
            </a:r>
            <a:r>
              <a:rPr sz="1800" b="1">
                <a:solidFill>
                  <a:srgbClr val="000000"/>
                </a:solidFill>
                <a:latin typeface="맑은 고딕"/>
                <a:ea typeface="맑은 고딕"/>
              </a:rPr>
              <a:t>하지 않고 요청한다</a:t>
            </a:r>
            <a:r>
              <a:rPr sz="1800" b="0">
                <a:solidFill>
                  <a:srgbClr val="000000"/>
                </a:solidFill>
                <a:latin typeface="맑은 고딕"/>
                <a:ea typeface="맑은 고딕"/>
              </a:rPr>
              <a:t>. 이 요청은 계약의 사후조건이 아니라 이 SSD의 시스템 사이 이벤트다</a:t>
            </a:r>
            <a:r>
              <a:rPr sz="1400" b="0">
                <a:solidFill>
                  <a:srgbClr val="000000"/>
                </a:solidFill>
                <a:latin typeface="맑은 고딕"/>
                <a:ea typeface="맑은 고딕"/>
              </a:rPr>
              <a:t>(「45. 시스템 오퍼레이션과 계약」)</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배송 시스템의 </a:t>
            </a:r>
            <a:r>
              <a:rPr sz="1800" b="1">
                <a:solidFill>
                  <a:srgbClr val="000000"/>
                </a:solidFill>
                <a:latin typeface="맑은 고딕"/>
                <a:ea typeface="맑은 고딕"/>
              </a:rPr>
              <a:t>배송 시작·완료 통보</a:t>
            </a:r>
            <a:r>
              <a:rPr sz="1800" b="0">
                <a:solidFill>
                  <a:srgbClr val="000000"/>
                </a:solidFill>
                <a:latin typeface="맑은 고딕"/>
                <a:ea typeface="맑은 고딕"/>
              </a:rPr>
              <a:t>는 주문 시스템이 반응할 외부 이벤트다</a:t>
            </a:r>
            <a:r>
              <a:rPr sz="1400" b="0">
                <a:solidFill>
                  <a:srgbClr val="000000"/>
                </a:solidFill>
                <a:latin typeface="맑은 고딕"/>
                <a:ea typeface="맑은 고딕"/>
              </a:rPr>
              <a:t>(「07. 이벤트 중심 요구」)</a:t>
            </a:r>
            <a:r>
              <a:rPr sz="1800" b="0">
                <a:solidFill>
                  <a:srgbClr val="000000"/>
                </a:solidFill>
                <a:latin typeface="맑은 고딕"/>
                <a:ea typeface="맑은 고딕"/>
              </a:rPr>
              <a:t>.</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- 57 -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71272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메시지의 종류</a:t>
            </a:r>
          </a:p>
        </p:txBody>
      </p:sp>
    </p:spTree>
    <p:extLst>
      <p:ext uri="{BB962C8B-B14F-4D97-AF65-F5344CB8AC3E}">
        <p14:creationId xmlns:p14="http://schemas.microsoft.com/office/powerpoint/2010/main" val="27895694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44. 정제된 SSD </a:t>
            </a:r>
            <a:r>
              <a:rPr sz="2000" b="1">
                <a:solidFill>
                  <a:srgbClr val="000000"/>
                </a:solidFill>
                <a:latin typeface="맑은 고딕"/>
                <a:ea typeface="맑은 고딕"/>
              </a:rPr>
              <a:t>(4/4)</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- 58 -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5396071"/>
            <a:ext cx="4114800" cy="1097280"/>
          </a:xfrm>
          <a:prstGeom prst="rect">
            <a:avLst/>
          </a:prstGeom>
          <a:noFill/>
        </p:spPr>
        <p:txBody>
          <a:bodyPr wrap="square" lIns="91440" tIns="0" rIns="91440" bIns="0" anchor="t">
            <a:noAutofit/>
          </a:bodyPr>
          <a:lstStyle/>
          <a:p>
            <a:pPr marL="0" indent="0" algn="l">
              <a:lnSpc>
                <a:spcPts val="1080"/>
              </a:lnSpc>
              <a:spcBef>
                <a:spcPts val="0"/>
              </a:spcBef>
              <a:spcAft>
                <a:spcPts val="0"/>
              </a:spcAft>
              <a:buNone/>
            </a:pPr>
            <a:r>
              <a:rPr sz="900" b="0">
                <a:solidFill>
                  <a:srgbClr val="000000"/>
                </a:solidFill>
                <a:latin typeface="Consolas"/>
                <a:ea typeface="맑은 고딕"/>
              </a:rPr>
              <a:t>interface </a:t>
            </a:r>
            <a:r>
              <a:rPr sz="900" b="1">
                <a:solidFill>
                  <a:srgbClr val="000000"/>
                </a:solidFill>
                <a:latin typeface="Consolas"/>
                <a:ea typeface="맑은 고딕"/>
              </a:rPr>
              <a:t>상품시스템</a:t>
            </a:r>
            <a:r>
              <a:rPr sz="900" b="0">
                <a:solidFill>
                  <a:srgbClr val="000000"/>
                </a:solidFill>
                <a:latin typeface="Consolas"/>
                <a:ea typeface="맑은 고딕"/>
              </a:rPr>
              <a:t> {</a:t>
            </a:r>
          </a:p>
          <a:p>
            <a:pPr marL="0" indent="0" algn="l">
              <a:lnSpc>
                <a:spcPts val="1080"/>
              </a:lnSpc>
              <a:spcBef>
                <a:spcPts val="0"/>
              </a:spcBef>
              <a:spcAft>
                <a:spcPts val="0"/>
              </a:spcAft>
              <a:buNone/>
            </a:pPr>
            <a:r>
              <a:rPr sz="900" b="0">
                <a:solidFill>
                  <a:srgbClr val="000000"/>
                </a:solidFill>
                <a:latin typeface="Consolas"/>
                <a:ea typeface="맑은 고딕"/>
              </a:rPr>
              <a:t>    List&lt;상품&gt; </a:t>
            </a:r>
            <a:r>
              <a:rPr sz="900" b="1">
                <a:solidFill>
                  <a:srgbClr val="000000"/>
                </a:solidFill>
                <a:latin typeface="Consolas"/>
                <a:ea typeface="맑은 고딕"/>
              </a:rPr>
              <a:t>상품정보를조회한다</a:t>
            </a:r>
            <a:r>
              <a:rPr sz="900" b="0">
                <a:solidFill>
                  <a:srgbClr val="000000"/>
                </a:solidFill>
                <a:latin typeface="Consolas"/>
                <a:ea typeface="맑은 고딕"/>
              </a:rPr>
              <a:t>(String 검색조건);</a:t>
            </a:r>
          </a:p>
          <a:p>
            <a:pPr marL="0" indent="0" algn="l">
              <a:lnSpc>
                <a:spcPts val="1080"/>
              </a:lnSpc>
              <a:spcBef>
                <a:spcPts val="0"/>
              </a:spcBef>
              <a:spcAft>
                <a:spcPts val="0"/>
              </a:spcAft>
              <a:buNone/>
            </a:pPr>
            <a:r>
              <a:rPr sz="900" b="0">
                <a:solidFill>
                  <a:srgbClr val="000000"/>
                </a:solidFill>
                <a:latin typeface="Consolas"/>
                <a:ea typeface="맑은 고딕"/>
              </a:rPr>
              <a:t>    boolean </a:t>
            </a:r>
            <a:r>
              <a:rPr sz="900" b="1">
                <a:solidFill>
                  <a:srgbClr val="000000"/>
                </a:solidFill>
                <a:latin typeface="Consolas"/>
                <a:ea typeface="맑은 고딕"/>
              </a:rPr>
              <a:t>재고차감을요청한다</a:t>
            </a:r>
            <a:r>
              <a:rPr sz="900" b="0">
                <a:solidFill>
                  <a:srgbClr val="000000"/>
                </a:solidFill>
                <a:latin typeface="Consolas"/>
                <a:ea typeface="맑은 고딕"/>
              </a:rPr>
              <a:t>(상품 상품, int 수량);</a:t>
            </a:r>
          </a:p>
          <a:p>
            <a:pPr marL="0" indent="0" algn="l">
              <a:lnSpc>
                <a:spcPts val="1080"/>
              </a:lnSpc>
              <a:spcBef>
                <a:spcPts val="0"/>
              </a:spcBef>
              <a:spcAft>
                <a:spcPts val="0"/>
              </a:spcAft>
              <a:buNone/>
            </a:pPr>
            <a:r>
              <a:rPr sz="900" b="0">
                <a:solidFill>
                  <a:srgbClr val="000000"/>
                </a:solidFill>
                <a:latin typeface="Consolas"/>
                <a:ea typeface="맑은 고딕"/>
              </a:rPr>
              <a:t>}</a:t>
            </a:r>
          </a:p>
          <a:p>
            <a:pPr marL="0" indent="0" algn="l">
              <a:lnSpc>
                <a:spcPts val="1080"/>
              </a:lnSpc>
              <a:spcBef>
                <a:spcPts val="0"/>
              </a:spcBef>
              <a:spcAft>
                <a:spcPts val="0"/>
              </a:spcAft>
              <a:buNone/>
            </a:pPr>
            <a:r>
              <a:rPr sz="900" b="0">
                <a:solidFill>
                  <a:srgbClr val="000000"/>
                </a:solidFill>
                <a:latin typeface="Consolas"/>
                <a:ea typeface="맑은 고딕"/>
              </a:rPr>
              <a:t>interface </a:t>
            </a:r>
            <a:r>
              <a:rPr sz="900" b="1">
                <a:solidFill>
                  <a:srgbClr val="000000"/>
                </a:solidFill>
                <a:latin typeface="Consolas"/>
                <a:ea typeface="맑은 고딕"/>
              </a:rPr>
              <a:t>결제시스템</a:t>
            </a:r>
            <a:r>
              <a:rPr sz="900" b="0">
                <a:solidFill>
                  <a:srgbClr val="000000"/>
                </a:solidFill>
                <a:latin typeface="Consolas"/>
                <a:ea typeface="맑은 고딕"/>
              </a:rPr>
              <a:t> {</a:t>
            </a:r>
          </a:p>
          <a:p>
            <a:pPr marL="0" indent="0" algn="l">
              <a:lnSpc>
                <a:spcPts val="1080"/>
              </a:lnSpc>
              <a:spcBef>
                <a:spcPts val="0"/>
              </a:spcBef>
              <a:spcAft>
                <a:spcPts val="0"/>
              </a:spcAft>
              <a:buNone/>
            </a:pPr>
            <a:r>
              <a:rPr sz="900" b="0">
                <a:solidFill>
                  <a:srgbClr val="000000"/>
                </a:solidFill>
                <a:latin typeface="Consolas"/>
                <a:ea typeface="맑은 고딕"/>
              </a:rPr>
              <a:t>    String </a:t>
            </a:r>
            <a:r>
              <a:rPr sz="900" b="1">
                <a:solidFill>
                  <a:srgbClr val="000000"/>
                </a:solidFill>
                <a:latin typeface="Consolas"/>
                <a:ea typeface="맑은 고딕"/>
              </a:rPr>
              <a:t>결제승인을요청한다</a:t>
            </a:r>
            <a:r>
              <a:rPr sz="900" b="0">
                <a:solidFill>
                  <a:srgbClr val="000000"/>
                </a:solidFill>
                <a:latin typeface="Consolas"/>
                <a:ea typeface="맑은 고딕"/>
              </a:rPr>
              <a:t>(int 금액, String 결제수단);</a:t>
            </a:r>
          </a:p>
          <a:p>
            <a:pPr marL="0" indent="0" algn="l">
              <a:lnSpc>
                <a:spcPts val="1080"/>
              </a:lnSpc>
              <a:spcBef>
                <a:spcPts val="0"/>
              </a:spcBef>
              <a:spcAft>
                <a:spcPts val="0"/>
              </a:spcAft>
              <a:buNone/>
            </a:pPr>
            <a:r>
              <a:rPr sz="900" b="0">
                <a:solidFill>
                  <a:srgbClr val="000000"/>
                </a:solidFill>
                <a:latin typeface="Consolas"/>
                <a:ea typeface="맑은 고딕"/>
              </a:rPr>
              <a:t>}</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1178518"/>
          </a:xfrm>
        </p:spPr>
        <p:txBody>
          <a:bodyPr>
            <a:normAutofit/>
          </a:bodyPr>
          <a:lstStyle/>
          <a:p>
            <a:pPr marL="342900" indent="0">
              <a:spcBef>
                <a:spcPts val="600"/>
              </a:spcBef>
              <a:spcAft>
                <a:spcPts val="600"/>
              </a:spcAft>
              <a:buNone/>
            </a:pPr>
            <a:r>
              <a:rPr sz="1800" b="1">
                <a:solidFill>
                  <a:srgbClr val="000000"/>
                </a:solidFill>
                <a:latin typeface="맑은 고딕"/>
                <a:ea typeface="맑은 고딕"/>
              </a:rPr>
              <a:t>외부 시스템과 코드</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외부 시스템은 주문 시스템이 </a:t>
            </a:r>
            <a:r>
              <a:rPr sz="1800" b="1">
                <a:solidFill>
                  <a:srgbClr val="000000"/>
                </a:solidFill>
                <a:latin typeface="맑은 고딕"/>
                <a:ea typeface="맑은 고딕"/>
              </a:rPr>
              <a:t>호출하는 인터페이스</a:t>
            </a:r>
            <a:r>
              <a:rPr sz="1800" b="0">
                <a:solidFill>
                  <a:srgbClr val="000000"/>
                </a:solidFill>
                <a:latin typeface="맑은 고딕"/>
                <a:ea typeface="맑은 고딕"/>
              </a:rPr>
              <a:t>가 된다. SSD의 </a:t>
            </a:r>
            <a:r>
              <a:rPr sz="1800" b="1">
                <a:solidFill>
                  <a:srgbClr val="000000"/>
                </a:solidFill>
                <a:latin typeface="맑은 고딕"/>
                <a:ea typeface="맑은 고딕"/>
              </a:rPr>
              <a:t>요청</a:t>
            </a:r>
            <a:r>
              <a:rPr sz="1800" b="0">
                <a:solidFill>
                  <a:srgbClr val="000000"/>
                </a:solidFill>
                <a:latin typeface="맑은 고딕"/>
                <a:ea typeface="맑은 고딕"/>
              </a:rPr>
              <a:t> 하나가 메서드 하나다.</a:t>
            </a:r>
          </a:p>
        </p:txBody>
      </p:sp>
      <p:sp>
        <p:nvSpPr>
          <p:cNvPr id="33" name="Integrated content 31">
            <a:extLst>
              <a:ext uri="{FF2B5EF4-FFF2-40B4-BE49-F238E27FC236}">
                <a16:creationId xmlns:a16="http://schemas.microsoft.com/office/drawing/2014/main" id="{8E264927-DE01-A85F-AD3D-A49DD8EAC71A}"/>
              </a:ext>
            </a:extLst>
          </p:cNvPr>
          <p:cNvSpPr txBox="1"/>
          <p:nvPr/>
        </p:nvSpPr>
        <p:spPr>
          <a:xfrm>
            <a:off x="4663440" y="5396071"/>
            <a:ext cx="4114800" cy="1097280"/>
          </a:xfrm>
          <a:prstGeom prst="rect">
            <a:avLst/>
          </a:prstGeom>
          <a:noFill/>
        </p:spPr>
        <p:txBody>
          <a:bodyPr wrap="square" lIns="91440" tIns="0" rIns="91440" bIns="0" anchor="t">
            <a:noAutofit/>
          </a:bodyPr>
          <a:lstStyle/>
          <a:p>
            <a:pPr marL="0" indent="0" algn="l">
              <a:lnSpc>
                <a:spcPts val="1080"/>
              </a:lnSpc>
              <a:spcBef>
                <a:spcPts val="0"/>
              </a:spcBef>
              <a:spcAft>
                <a:spcPts val="0"/>
              </a:spcAft>
              <a:buNone/>
            </a:pPr>
            <a:r>
              <a:rPr sz="900" b="0">
                <a:solidFill>
                  <a:srgbClr val="000000"/>
                </a:solidFill>
                <a:latin typeface="Consolas"/>
                <a:ea typeface="맑은 고딕"/>
              </a:rPr>
              <a:t>interface </a:t>
            </a:r>
            <a:r>
              <a:rPr sz="900" b="1">
                <a:solidFill>
                  <a:srgbClr val="000000"/>
                </a:solidFill>
                <a:latin typeface="Consolas"/>
                <a:ea typeface="맑은 고딕"/>
              </a:rPr>
              <a:t>배송시스템</a:t>
            </a:r>
            <a:r>
              <a:rPr sz="900" b="0">
                <a:solidFill>
                  <a:srgbClr val="000000"/>
                </a:solidFill>
                <a:latin typeface="Consolas"/>
                <a:ea typeface="맑은 고딕"/>
              </a:rPr>
              <a:t> {</a:t>
            </a:r>
          </a:p>
          <a:p>
            <a:pPr marL="0" indent="0" algn="l">
              <a:lnSpc>
                <a:spcPts val="1080"/>
              </a:lnSpc>
              <a:spcBef>
                <a:spcPts val="0"/>
              </a:spcBef>
              <a:spcAft>
                <a:spcPts val="0"/>
              </a:spcAft>
              <a:buNone/>
            </a:pPr>
            <a:r>
              <a:rPr sz="900" b="0">
                <a:solidFill>
                  <a:srgbClr val="000000"/>
                </a:solidFill>
                <a:latin typeface="Consolas"/>
                <a:ea typeface="맑은 고딕"/>
              </a:rPr>
              <a:t>    void </a:t>
            </a:r>
            <a:r>
              <a:rPr sz="900" b="1">
                <a:solidFill>
                  <a:srgbClr val="000000"/>
                </a:solidFill>
                <a:latin typeface="Consolas"/>
                <a:ea typeface="맑은 고딕"/>
              </a:rPr>
              <a:t>배송을요청한다</a:t>
            </a:r>
            <a:r>
              <a:rPr sz="900" b="0">
                <a:solidFill>
                  <a:srgbClr val="000000"/>
                </a:solidFill>
                <a:latin typeface="Consolas"/>
                <a:ea typeface="맑은 고딕"/>
              </a:rPr>
              <a:t>(String 주문번호, String 배송지);</a:t>
            </a:r>
          </a:p>
          <a:p>
            <a:pPr marL="0" indent="0" algn="l">
              <a:lnSpc>
                <a:spcPts val="1080"/>
              </a:lnSpc>
              <a:spcBef>
                <a:spcPts val="0"/>
              </a:spcBef>
              <a:spcAft>
                <a:spcPts val="0"/>
              </a:spcAft>
              <a:buNone/>
            </a:pPr>
            <a:r>
              <a:rPr sz="900" b="0">
                <a:solidFill>
                  <a:srgbClr val="000000"/>
                </a:solidFill>
                <a:latin typeface="Consolas"/>
                <a:ea typeface="맑은 고딕"/>
              </a:rPr>
              <a:t>}</a:t>
            </a:r>
          </a:p>
          <a:p>
            <a:pPr marL="0" indent="0" algn="l">
              <a:lnSpc>
                <a:spcPts val="1080"/>
              </a:lnSpc>
              <a:spcBef>
                <a:spcPts val="0"/>
              </a:spcBef>
              <a:spcAft>
                <a:spcPts val="0"/>
              </a:spcAft>
              <a:buNone/>
            </a:pPr>
            <a:r>
              <a:rPr sz="900" b="0">
                <a:solidFill>
                  <a:srgbClr val="000000"/>
                </a:solidFill>
                <a:latin typeface="Consolas"/>
                <a:ea typeface="맑은 고딕"/>
              </a:rPr>
              <a:t>interface </a:t>
            </a:r>
            <a:r>
              <a:rPr sz="900" b="1">
                <a:solidFill>
                  <a:srgbClr val="000000"/>
                </a:solidFill>
                <a:latin typeface="Consolas"/>
                <a:ea typeface="맑은 고딕"/>
              </a:rPr>
              <a:t>회계시스템</a:t>
            </a:r>
            <a:r>
              <a:rPr sz="900" b="0">
                <a:solidFill>
                  <a:srgbClr val="000000"/>
                </a:solidFill>
                <a:latin typeface="Consolas"/>
                <a:ea typeface="맑은 고딕"/>
              </a:rPr>
              <a:t> {</a:t>
            </a:r>
          </a:p>
          <a:p>
            <a:pPr marL="0" indent="0" algn="l">
              <a:lnSpc>
                <a:spcPts val="1080"/>
              </a:lnSpc>
              <a:spcBef>
                <a:spcPts val="0"/>
              </a:spcBef>
              <a:spcAft>
                <a:spcPts val="0"/>
              </a:spcAft>
              <a:buNone/>
            </a:pPr>
            <a:r>
              <a:rPr sz="900" b="0">
                <a:solidFill>
                  <a:srgbClr val="000000"/>
                </a:solidFill>
                <a:latin typeface="Consolas"/>
                <a:ea typeface="맑은 고딕"/>
              </a:rPr>
              <a:t>    void </a:t>
            </a:r>
            <a:r>
              <a:rPr sz="900" b="1">
                <a:solidFill>
                  <a:srgbClr val="000000"/>
                </a:solidFill>
                <a:latin typeface="Consolas"/>
                <a:ea typeface="맑은 고딕"/>
              </a:rPr>
              <a:t>입금처리를요청한다</a:t>
            </a:r>
            <a:r>
              <a:rPr sz="900" b="0">
                <a:solidFill>
                  <a:srgbClr val="000000"/>
                </a:solidFill>
                <a:latin typeface="Consolas"/>
                <a:ea typeface="맑은 고딕"/>
              </a:rPr>
              <a:t>(String 승인번호);</a:t>
            </a:r>
          </a:p>
          <a:p>
            <a:pPr marL="0" indent="0" algn="l">
              <a:lnSpc>
                <a:spcPts val="1080"/>
              </a:lnSpc>
              <a:spcBef>
                <a:spcPts val="0"/>
              </a:spcBef>
              <a:spcAft>
                <a:spcPts val="0"/>
              </a:spcAft>
              <a:buNone/>
            </a:pPr>
            <a:r>
              <a:rPr sz="900" b="0">
                <a:solidFill>
                  <a:srgbClr val="000000"/>
                </a:solidFill>
                <a:latin typeface="Consolas"/>
                <a:ea typeface="맑은 고딕"/>
              </a:rPr>
              <a:t>    void </a:t>
            </a:r>
            <a:r>
              <a:rPr sz="900" b="1">
                <a:solidFill>
                  <a:srgbClr val="000000"/>
                </a:solidFill>
                <a:latin typeface="Consolas"/>
                <a:ea typeface="맑은 고딕"/>
              </a:rPr>
              <a:t>영수증발행을요청한다</a:t>
            </a:r>
            <a:r>
              <a:rPr sz="900" b="0">
                <a:solidFill>
                  <a:srgbClr val="000000"/>
                </a:solidFill>
                <a:latin typeface="Consolas"/>
                <a:ea typeface="맑은 고딕"/>
              </a:rPr>
              <a:t>(String 주문번호, String 승인번호);</a:t>
            </a:r>
          </a:p>
          <a:p>
            <a:pPr marL="0" indent="0" algn="l">
              <a:lnSpc>
                <a:spcPts val="1080"/>
              </a:lnSpc>
              <a:spcBef>
                <a:spcPts val="0"/>
              </a:spcBef>
              <a:spcAft>
                <a:spcPts val="0"/>
              </a:spcAft>
              <a:buNone/>
            </a:pPr>
            <a:r>
              <a:rPr sz="900" b="0">
                <a:solidFill>
                  <a:srgbClr val="000000"/>
                </a:solidFill>
                <a:latin typeface="Consolas"/>
                <a:ea typeface="맑은 고딕"/>
              </a:rPr>
              <a:t>}</a:t>
            </a:r>
          </a:p>
        </p:txBody>
      </p:sp>
      <p:sp>
        <p:nvSpPr>
          <p:cNvPr id="34" name="TextBox 12">
            <a:extLst>
              <a:ext uri="{FF2B5EF4-FFF2-40B4-BE49-F238E27FC236}">
                <a16:creationId xmlns:a16="http://schemas.microsoft.com/office/drawing/2014/main" id="{654EDDB4-901F-3D48-A715-17D163E8A7AC}"/>
              </a:ext>
            </a:extLst>
          </p:cNvPr>
          <p:cNvSpPr txBox="1"/>
          <p:nvPr/>
        </p:nvSpPr>
        <p:spPr>
          <a:xfrm>
            <a:off x="365760" y="2313390"/>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외부 시스템 호출과 코드</a:t>
            </a:r>
          </a:p>
        </p:txBody>
      </p:sp>
      <p:pic>
        <p:nvPicPr>
          <p:cNvPr id="35" name="plantuml Diagram 3"/>
          <p:cNvPicPr>
            <a:picLocks noChangeAspect="1"/>
          </p:cNvPicPr>
          <p:nvPr/>
        </p:nvPicPr>
        <p:blipFill>
          <a:blip r:embed="plantumlImage3"/>
          <a:stretch>
            <a:fillRect/>
          </a:stretch>
        </p:blipFill>
        <p:spPr>
          <a:xfrm>
            <a:off x="1818298" y="2551134"/>
            <a:ext cx="5507404" cy="2625481"/>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45. 시스템 오퍼레이션과 계약 </a:t>
            </a:r>
            <a:r>
              <a:rPr sz="2000" b="1">
                <a:solidFill>
                  <a:srgbClr val="000000"/>
                </a:solidFill>
                <a:latin typeface="맑은 고딕"/>
                <a:ea typeface="맑은 고딕"/>
              </a:rPr>
              <a:t>(1/6)</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- 59 -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시스템 오퍼레이션은 경계를 넘어 들어오는 </a:t>
            </a:r>
            <a:r>
              <a:rPr sz="1800" b="1">
                <a:solidFill>
                  <a:srgbClr val="000000"/>
                </a:solidFill>
                <a:latin typeface="맑은 고딕"/>
                <a:ea typeface="맑은 고딕"/>
              </a:rPr>
              <a:t>업무 이벤트에 응답하는 시스템의 책임</a:t>
            </a:r>
            <a:r>
              <a:rPr sz="1800" b="0">
                <a:solidFill>
                  <a:srgbClr val="000000"/>
                </a:solidFill>
                <a:latin typeface="맑은 고딕"/>
                <a:ea typeface="맑은 고딕"/>
              </a:rPr>
              <a:t>이다. 내부 메서드나 API를 먼저 정하는 일이 아니다.</a:t>
            </a:r>
          </a:p>
          <a:p>
            <a:pPr marL="342900" indent="0">
              <a:spcBef>
                <a:spcPts val="600"/>
              </a:spcBef>
              <a:spcAft>
                <a:spcPts val="600"/>
              </a:spcAft>
              <a:buNone/>
            </a:pPr>
            <a:r>
              <a:rPr sz="1800" b="1">
                <a:solidFill>
                  <a:srgbClr val="000000"/>
                </a:solidFill>
                <a:latin typeface="맑은 고딕"/>
                <a:ea typeface="맑은 고딕"/>
              </a:rPr>
              <a:t>식별 기준</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시스템 경계를 넘는 </a:t>
            </a:r>
            <a:r>
              <a:rPr sz="1800" b="1">
                <a:solidFill>
                  <a:srgbClr val="000000"/>
                </a:solidFill>
                <a:latin typeface="맑은 고딕"/>
                <a:ea typeface="맑은 고딕"/>
              </a:rPr>
              <a:t>업무 의미의 이벤트</a:t>
            </a:r>
            <a:r>
              <a:rPr sz="1800" b="0">
                <a:solidFill>
                  <a:srgbClr val="000000"/>
                </a:solidFill>
                <a:latin typeface="맑은 고딕"/>
                <a:ea typeface="맑은 고딕"/>
              </a:rPr>
              <a:t>를 찾는다. 예: </a:t>
            </a:r>
            <a:r>
              <a:rPr sz="1800" b="1">
                <a:solidFill>
                  <a:srgbClr val="000000"/>
                </a:solidFill>
                <a:latin typeface="맑은 고딕"/>
                <a:ea typeface="맑은 고딕"/>
              </a:rPr>
              <a:t>주문을 관리한다</a:t>
            </a:r>
            <a:r>
              <a:rPr sz="1800" b="0">
                <a:solidFill>
                  <a:srgbClr val="000000"/>
                </a:solidFill>
                <a:latin typeface="맑은 고딕"/>
                <a:ea typeface="맑은 고딕"/>
              </a:rPr>
              <a:t> 하나에 </a:t>
            </a:r>
            <a:r>
              <a:rPr sz="1800" b="0">
                <a:solidFill>
                  <a:srgbClr val="000000"/>
                </a:solidFill>
                <a:latin typeface="맑은 고딕"/>
                <a:ea typeface="맑은 고딕"/>
              </a:rPr>
              <a:t>상품 조회</a:t>
            </a:r>
            <a:r>
              <a:rPr sz="1800" b="0">
                <a:solidFill>
                  <a:srgbClr val="000000"/>
                </a:solidFill>
                <a:latin typeface="맑은 고딕"/>
                <a:ea typeface="맑은 고딕"/>
              </a:rPr>
              <a:t>, </a:t>
            </a:r>
            <a:r>
              <a:rPr sz="1800" b="0">
                <a:solidFill>
                  <a:srgbClr val="000000"/>
                </a:solidFill>
                <a:latin typeface="맑은 고딕"/>
                <a:ea typeface="맑은 고딕"/>
              </a:rPr>
              <a:t>장바구니 담기</a:t>
            </a:r>
            <a:r>
              <a:rPr sz="1800" b="0">
                <a:solidFill>
                  <a:srgbClr val="000000"/>
                </a:solidFill>
                <a:latin typeface="맑은 고딕"/>
                <a:ea typeface="맑은 고딕"/>
              </a:rPr>
              <a:t>, </a:t>
            </a:r>
            <a:r>
              <a:rPr sz="1800" b="0">
                <a:solidFill>
                  <a:srgbClr val="000000"/>
                </a:solidFill>
                <a:latin typeface="맑은 고딕"/>
                <a:ea typeface="맑은 고딕"/>
              </a:rPr>
              <a:t>배송지 지정</a:t>
            </a:r>
            <a:r>
              <a:rPr sz="1800" b="0">
                <a:solidFill>
                  <a:srgbClr val="000000"/>
                </a:solidFill>
                <a:latin typeface="맑은 고딕"/>
                <a:ea typeface="맑은 고딕"/>
              </a:rPr>
              <a:t>, </a:t>
            </a:r>
            <a:r>
              <a:rPr sz="1800" b="0">
                <a:solidFill>
                  <a:srgbClr val="000000"/>
                </a:solidFill>
                <a:latin typeface="맑은 고딕"/>
                <a:ea typeface="맑은 고딕"/>
              </a:rPr>
              <a:t>결제</a:t>
            </a:r>
            <a:r>
              <a:rPr sz="1800" b="0">
                <a:solidFill>
                  <a:srgbClr val="000000"/>
                </a:solidFill>
                <a:latin typeface="맑은 고딕"/>
                <a:ea typeface="맑은 고딕"/>
              </a:rPr>
              <a:t>, </a:t>
            </a:r>
            <a:r>
              <a:rPr sz="1800" b="0">
                <a:solidFill>
                  <a:srgbClr val="000000"/>
                </a:solidFill>
                <a:latin typeface="맑은 고딕"/>
                <a:ea typeface="맑은 고딕"/>
              </a:rPr>
              <a:t>배송지 변경</a:t>
            </a:r>
            <a:r>
              <a:rPr sz="1800" b="0">
                <a:solidFill>
                  <a:srgbClr val="000000"/>
                </a:solidFill>
                <a:latin typeface="맑은 고딕"/>
                <a:ea typeface="맑은 고딕"/>
              </a:rPr>
              <a:t>, </a:t>
            </a:r>
            <a:r>
              <a:rPr sz="1800" b="0">
                <a:solidFill>
                  <a:srgbClr val="000000"/>
                </a:solidFill>
                <a:latin typeface="맑은 고딕"/>
                <a:ea typeface="맑은 고딕"/>
              </a:rPr>
              <a:t>주문 취소</a:t>
            </a:r>
            <a:r>
              <a:rPr sz="1800" b="0">
                <a:solidFill>
                  <a:srgbClr val="000000"/>
                </a:solidFill>
                <a:latin typeface="맑은 고딕"/>
                <a:ea typeface="맑은 고딕"/>
              </a:rPr>
              <a:t>가 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계약은 </a:t>
            </a:r>
            <a:r>
              <a:rPr sz="1800" b="1">
                <a:solidFill>
                  <a:srgbClr val="000000"/>
                </a:solidFill>
                <a:latin typeface="맑은 고딕"/>
                <a:ea typeface="맑은 고딕"/>
              </a:rPr>
              <a:t>어렵고 복잡한 오퍼레이션</a:t>
            </a:r>
            <a:r>
              <a:rPr sz="1800" b="0">
                <a:solidFill>
                  <a:srgbClr val="000000"/>
                </a:solidFill>
                <a:latin typeface="맑은 고딕"/>
                <a:ea typeface="맑은 고딕"/>
              </a:rPr>
              <a:t>에만 쓴다 —</a:t>
            </a:r>
            <a:r>
              <a:rPr sz="1600" b="0">
                <a:solidFill>
                  <a:srgbClr val="000000"/>
                </a:solidFill>
                <a:latin typeface="맑은 고딕"/>
                <a:ea typeface="맑은 고딕"/>
              </a:rPr>
              <a:t> 조건이 까다롭거나 여러 객체의 상태가 함께 바뀌는 오퍼레이션.</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사후조건은 </a:t>
            </a:r>
            <a:r>
              <a:rPr sz="1800" b="1">
                <a:solidFill>
                  <a:srgbClr val="000000"/>
                </a:solidFill>
                <a:latin typeface="맑은 고딕"/>
                <a:ea typeface="맑은 고딕"/>
              </a:rPr>
              <a:t>도메인 모델 객체의 상태 변화</a:t>
            </a:r>
            <a:r>
              <a:rPr sz="1800" b="0">
                <a:solidFill>
                  <a:srgbClr val="000000"/>
                </a:solidFill>
                <a:latin typeface="맑은 고딕"/>
                <a:ea typeface="맑은 고딕"/>
              </a:rPr>
              <a:t>를 서술한다 — 인스턴스 생성과 연관의 형성·해제와 속성 변경이다</a:t>
            </a:r>
            <a:r>
              <a:rPr sz="1000" b="0">
                <a:solidFill>
                  <a:srgbClr val="000000"/>
                </a:solidFill>
                <a:latin typeface="맑은 고딕"/>
                <a:ea typeface="맑은 고딕"/>
              </a:rPr>
              <a:t>, </a:t>
            </a:r>
            <a:r>
              <a:rPr sz="1000" b="0">
                <a:solidFill>
                  <a:srgbClr val="000000"/>
                </a:solidFill>
                <a:latin typeface="맑은 고딕"/>
                <a:ea typeface="맑은 고딕"/>
              </a:rPr>
              <a:t>"The postconditions describe changes in the state of objects in the domain model. Domain model state changes include instances created, associations formed or broken, and attributes changed.", [Larman 2004]</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외부 시스템에 보낸 </a:t>
            </a:r>
            <a:r>
              <a:rPr sz="1800" b="1">
                <a:solidFill>
                  <a:srgbClr val="000000"/>
                </a:solidFill>
                <a:latin typeface="맑은 고딕"/>
                <a:ea typeface="맑은 고딕"/>
              </a:rPr>
              <a:t>요청</a:t>
            </a:r>
            <a:r>
              <a:rPr sz="1800" b="0">
                <a:solidFill>
                  <a:srgbClr val="000000"/>
                </a:solidFill>
                <a:latin typeface="맑은 고딕"/>
                <a:ea typeface="맑은 고딕"/>
              </a:rPr>
              <a:t>은 사후조건이 아니다. 시스템 사이의 이벤트로 「44. 정제된 SSD」에 보인다.</a:t>
            </a:r>
          </a:p>
        </p:txBody>
      </p:sp>
    </p:spTree>
    <p:extLst>
      <p:ext uri="{BB962C8B-B14F-4D97-AF65-F5344CB8AC3E}">
        <p14:creationId xmlns:p14="http://schemas.microsoft.com/office/powerpoint/2010/main" val="35554366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45. 시스템 오퍼레이션과 계약 </a:t>
            </a:r>
            <a:r>
              <a:rPr sz="2000" b="1">
                <a:solidFill>
                  <a:srgbClr val="000000"/>
                </a:solidFill>
                <a:latin typeface="맑은 고딕"/>
                <a:ea typeface="맑은 고딕"/>
              </a:rPr>
              <a:t>(2/6)</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053146" y="1258570"/>
          <a:ext cx="5024120" cy="3873500"/>
        </p:xfrm>
        <a:graphic>
          <a:graphicData uri="http://schemas.openxmlformats.org/drawingml/2006/table">
            <a:tbl>
              <a:tblPr/>
              <a:tblGrid>
                <a:gridCol w="1366520"/>
                <a:gridCol w="36576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항목</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내용</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오퍼레이션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결제(결제 수단)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관련 유스케이스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주문을 관리한다 — 기본 흐름 4</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사전조건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고객의 주문이 결제 대기이고 배송지가 지정되었다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사후조건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결제가 생성되었다 — 인스턴스 생성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결제가 주문과 연결되었다 — 연관 형성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주문의 상태가 결제 완료로 바뀌었다 — 속성 변경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1033239" y="5678424"/>
            <a:ext cx="6528540" cy="795528"/>
          </a:xfrm>
          <a:prstGeom prst="rect">
            <a:avLst/>
          </a:prstGeom>
          <a:noFill/>
        </p:spPr>
        <p:txBody>
          <a:bodyPr wrap="square">
            <a:spAutoFit/>
          </a:bodyPr>
          <a:lstStyle/>
          <a:p>
            <a:endParaRP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- 60 -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96012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오퍼레이션 계약 — 결제</a:t>
            </a:r>
          </a:p>
        </p:txBody>
      </p:sp>
    </p:spTree>
    <p:extLst>
      <p:ext uri="{BB962C8B-B14F-4D97-AF65-F5344CB8AC3E}">
        <p14:creationId xmlns:p14="http://schemas.microsoft.com/office/powerpoint/2010/main" val="27895694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45. 시스템 오퍼레이션과 계약 </a:t>
            </a:r>
            <a:r>
              <a:rPr sz="2000" b="1">
                <a:solidFill>
                  <a:srgbClr val="000000"/>
                </a:solidFill>
                <a:latin typeface="맑은 고딕"/>
                <a:ea typeface="맑은 고딕"/>
              </a:rPr>
              <a:t>(3/6)</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- 61 -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5549936"/>
            <a:ext cx="8412480" cy="11557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final class </a:t>
            </a:r>
            <a:r>
              <a:rPr sz="1000" b="1">
                <a:solidFill>
                  <a:srgbClr val="000000"/>
                </a:solidFill>
                <a:latin typeface="Consolas"/>
                <a:ea typeface="맑은 고딕"/>
              </a:rPr>
              <a:t>주문시스템구현</a:t>
            </a:r>
            <a:r>
              <a:rPr sz="1000" b="0">
                <a:solidFill>
                  <a:srgbClr val="000000"/>
                </a:solidFill>
                <a:latin typeface="Consolas"/>
                <a:ea typeface="맑은 고딕"/>
              </a:rPr>
              <a:t> implements 주문시스템 {</a:t>
            </a:r>
          </a:p>
          <a:p>
            <a:pPr marL="0" indent="0" algn="l">
              <a:lnSpc>
                <a:spcPts val="1150"/>
              </a:lnSpc>
              <a:spcBef>
                <a:spcPts val="0"/>
              </a:spcBef>
              <a:spcAft>
                <a:spcPts val="0"/>
              </a:spcAft>
              <a:buNone/>
            </a:pPr>
            <a:r>
              <a:rPr sz="1000" b="0">
                <a:solidFill>
                  <a:srgbClr val="000000"/>
                </a:solidFill>
                <a:latin typeface="Consolas"/>
                <a:ea typeface="맑은 고딕"/>
              </a:rPr>
              <a:t>    // ... 필드·생성자, 상품을조회한다·장바구니에담는다·배송지를지정한다 생략</a:t>
            </a:r>
          </a:p>
          <a:p>
            <a:pPr marL="0" indent="0" algn="l">
              <a:lnSpc>
                <a:spcPts val="1150"/>
              </a:lnSpc>
              <a:spcBef>
                <a:spcPts val="0"/>
              </a:spcBef>
              <a:spcAft>
                <a:spcPts val="0"/>
              </a:spcAft>
              <a:buNone/>
            </a:pPr>
            <a:r>
              <a:rPr sz="1000" b="0">
                <a:solidFill>
                  <a:srgbClr val="000000"/>
                </a:solidFill>
                <a:latin typeface="Consolas"/>
                <a:ea typeface="맑은 고딕"/>
              </a:rPr>
              <a:t>    public void </a:t>
            </a:r>
            <a:r>
              <a:rPr sz="1000" b="1">
                <a:solidFill>
                  <a:srgbClr val="000000"/>
                </a:solidFill>
                <a:latin typeface="Consolas"/>
                <a:ea typeface="맑은 고딕"/>
              </a:rPr>
              <a:t>결제한다</a:t>
            </a:r>
            <a:r>
              <a:rPr sz="1000" b="0">
                <a:solidFill>
                  <a:srgbClr val="000000"/>
                </a:solidFill>
                <a:latin typeface="Consolas"/>
                <a:ea typeface="맑은 고딕"/>
              </a:rPr>
              <a:t>(String 결제수단) {</a:t>
            </a:r>
          </a:p>
          <a:p>
            <a:pPr marL="0" indent="0" algn="l">
              <a:lnSpc>
                <a:spcPts val="1150"/>
              </a:lnSpc>
              <a:spcBef>
                <a:spcPts val="0"/>
              </a:spcBef>
              <a:spcAft>
                <a:spcPts val="0"/>
              </a:spcAft>
              <a:buNone/>
            </a:pPr>
            <a:r>
              <a:rPr sz="1000" b="0">
                <a:solidFill>
                  <a:srgbClr val="000000"/>
                </a:solidFill>
                <a:latin typeface="Consolas"/>
                <a:ea typeface="맑은 고딕"/>
              </a:rPr>
              <a:t>        if (!상태.equals("결제 대기") || 배송지 == null) throw new IllegalStateException("사전조건 위반");</a:t>
            </a:r>
          </a:p>
          <a:p>
            <a:pPr marL="0" indent="0" algn="l">
              <a:lnSpc>
                <a:spcPts val="1150"/>
              </a:lnSpc>
              <a:spcBef>
                <a:spcPts val="0"/>
              </a:spcBef>
              <a:spcAft>
                <a:spcPts val="0"/>
              </a:spcAft>
              <a:buNone/>
            </a:pPr>
            <a:r>
              <a:rPr sz="1000" b="0">
                <a:solidFill>
                  <a:srgbClr val="000000"/>
                </a:solidFill>
                <a:latin typeface="Consolas"/>
                <a:ea typeface="맑은 고딕"/>
              </a:rPr>
              <a:t>        int 금액 = 0;</a:t>
            </a:r>
          </a:p>
          <a:p>
            <a:pPr marL="0" indent="0" algn="l">
              <a:lnSpc>
                <a:spcPts val="1150"/>
              </a:lnSpc>
              <a:spcBef>
                <a:spcPts val="0"/>
              </a:spcBef>
              <a:spcAft>
                <a:spcPts val="0"/>
              </a:spcAft>
              <a:buNone/>
            </a:pPr>
            <a:r>
              <a:rPr sz="1000" b="0">
                <a:solidFill>
                  <a:srgbClr val="000000"/>
                </a:solidFill>
                <a:latin typeface="Consolas"/>
                <a:ea typeface="맑은 고딕"/>
              </a:rPr>
              <a:t>        for (var 항목 : 장바구니.entrySet()) 금액 += 항목.getKey().판매가() * 항목.getValue();</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1178518"/>
          </a:xfrm>
        </p:spPr>
        <p:txBody>
          <a:bodyPr>
            <a:normAutofit/>
          </a:bodyPr>
          <a:lstStyle/>
          <a:p>
            <a:pPr marL="342900" indent="0">
              <a:spcBef>
                <a:spcPts val="600"/>
              </a:spcBef>
              <a:spcAft>
                <a:spcPts val="600"/>
              </a:spcAft>
              <a:buNone/>
            </a:pPr>
            <a:r>
              <a:rPr sz="1800" b="1">
                <a:solidFill>
                  <a:srgbClr val="000000"/>
                </a:solidFill>
                <a:latin typeface="맑은 고딕"/>
                <a:ea typeface="맑은 고딕"/>
              </a:rPr>
              <a:t>계약에서 코드로</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사전조건</a:t>
            </a:r>
            <a:r>
              <a:rPr sz="1800" b="0">
                <a:solidFill>
                  <a:srgbClr val="000000"/>
                </a:solidFill>
                <a:latin typeface="맑은 고딕"/>
                <a:ea typeface="맑은 고딕"/>
              </a:rPr>
              <a:t>은 먼저 확인하고, </a:t>
            </a:r>
            <a:r>
              <a:rPr sz="1800" b="1">
                <a:solidFill>
                  <a:srgbClr val="000000"/>
                </a:solidFill>
                <a:latin typeface="맑은 고딕"/>
                <a:ea typeface="맑은 고딕"/>
              </a:rPr>
              <a:t>사후조건</a:t>
            </a:r>
            <a:r>
              <a:rPr sz="1800" b="0">
                <a:solidFill>
                  <a:srgbClr val="000000"/>
                </a:solidFill>
                <a:latin typeface="맑은 고딕"/>
                <a:ea typeface="맑은 고딕"/>
              </a:rPr>
              <a:t>은 결제 후의 상태다. 외부 시스템에 보내는 </a:t>
            </a:r>
            <a:r>
              <a:rPr sz="1800" b="1">
                <a:solidFill>
                  <a:srgbClr val="000000"/>
                </a:solidFill>
                <a:latin typeface="맑은 고딕"/>
                <a:ea typeface="맑은 고딕"/>
              </a:rPr>
              <a:t>요청</a:t>
            </a:r>
            <a:r>
              <a:rPr sz="1800" b="0">
                <a:solidFill>
                  <a:srgbClr val="000000"/>
                </a:solidFill>
                <a:latin typeface="맑은 고딕"/>
                <a:ea typeface="맑은 고딕"/>
              </a:rPr>
              <a:t>은 정제된 SSD의 순서를 따른다.</a:t>
            </a:r>
          </a:p>
        </p:txBody>
      </p:sp>
      <p:sp>
        <p:nvSpPr>
          <p:cNvPr id="33" name="TextBox 12">
            <a:extLst>
              <a:ext uri="{FF2B5EF4-FFF2-40B4-BE49-F238E27FC236}">
                <a16:creationId xmlns:a16="http://schemas.microsoft.com/office/drawing/2014/main" id="{654EDDB4-901F-3D48-A715-17D163E8A7AC}"/>
              </a:ext>
            </a:extLst>
          </p:cNvPr>
          <p:cNvSpPr txBox="1"/>
          <p:nvPr/>
        </p:nvSpPr>
        <p:spPr>
          <a:xfrm>
            <a:off x="365760" y="2313390"/>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결제 오퍼레이션의 시퀀스</a:t>
            </a:r>
          </a:p>
        </p:txBody>
      </p:sp>
      <p:pic>
        <p:nvPicPr>
          <p:cNvPr id="34" name="plantuml Diagram 4"/>
          <p:cNvPicPr>
            <a:picLocks noChangeAspect="1"/>
          </p:cNvPicPr>
          <p:nvPr/>
        </p:nvPicPr>
        <p:blipFill>
          <a:blip r:embed="plantumlImage4"/>
          <a:stretch>
            <a:fillRect/>
          </a:stretch>
        </p:blipFill>
        <p:spPr>
          <a:xfrm>
            <a:off x="1392115" y="2551134"/>
            <a:ext cx="6359769" cy="2779346"/>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45. 시스템 오퍼레이션과 계약 </a:t>
            </a:r>
            <a:r>
              <a:rPr sz="2000" b="1">
                <a:solidFill>
                  <a:srgbClr val="000000"/>
                </a:solidFill>
                <a:latin typeface="맑은 고딕"/>
                <a:ea typeface="맑은 고딕"/>
              </a:rPr>
              <a:t>(4/6)</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- 62 -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4269818"/>
            <a:ext cx="8412480" cy="19812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        승인번호 = 외부.결제().결제승인을요청한다(금액, 결제수단);</a:t>
            </a:r>
          </a:p>
          <a:p>
            <a:pPr marL="0" indent="0" algn="l">
              <a:lnSpc>
                <a:spcPts val="1150"/>
              </a:lnSpc>
              <a:spcBef>
                <a:spcPts val="0"/>
              </a:spcBef>
              <a:spcAft>
                <a:spcPts val="0"/>
              </a:spcAft>
              <a:buNone/>
            </a:pPr>
            <a:r>
              <a:rPr sz="1000" b="0">
                <a:solidFill>
                  <a:srgbClr val="000000"/>
                </a:solidFill>
                <a:latin typeface="Consolas"/>
                <a:ea typeface="맑은 고딕"/>
              </a:rPr>
              <a:t>        if (승인번호 == null) throw new IllegalStateException("승인 거절 — 정책 미확정");</a:t>
            </a:r>
          </a:p>
          <a:p>
            <a:pPr marL="0" indent="0" algn="l">
              <a:lnSpc>
                <a:spcPts val="1150"/>
              </a:lnSpc>
              <a:spcBef>
                <a:spcPts val="0"/>
              </a:spcBef>
              <a:spcAft>
                <a:spcPts val="0"/>
              </a:spcAft>
              <a:buNone/>
            </a:pPr>
            <a:r>
              <a:rPr sz="1000" b="0">
                <a:solidFill>
                  <a:srgbClr val="000000"/>
                </a:solidFill>
                <a:latin typeface="Consolas"/>
                <a:ea typeface="맑은 고딕"/>
              </a:rPr>
              <a:t>        장바구니.forEach((상품, 수량) -&gt; {</a:t>
            </a:r>
          </a:p>
          <a:p>
            <a:pPr marL="0" indent="0" algn="l">
              <a:lnSpc>
                <a:spcPts val="1150"/>
              </a:lnSpc>
              <a:spcBef>
                <a:spcPts val="0"/>
              </a:spcBef>
              <a:spcAft>
                <a:spcPts val="0"/>
              </a:spcAft>
              <a:buNone/>
            </a:pPr>
            <a:r>
              <a:rPr sz="1000" b="0">
                <a:solidFill>
                  <a:srgbClr val="000000"/>
                </a:solidFill>
                <a:latin typeface="Consolas"/>
                <a:ea typeface="맑은 고딕"/>
              </a:rPr>
              <a:t>            if (!외부.상품().재고차감을요청한다(상품, 수량)) throw new IllegalStateException("재고 부족 — 정책 미확정");</a:t>
            </a:r>
          </a:p>
          <a:p>
            <a:pPr marL="0" indent="0" algn="l">
              <a:lnSpc>
                <a:spcPts val="1150"/>
              </a:lnSpc>
              <a:spcBef>
                <a:spcPts val="0"/>
              </a:spcBef>
              <a:spcAft>
                <a:spcPts val="0"/>
              </a:spcAft>
              <a:buNone/>
            </a:pP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        외부.배송().배송을요청한다(주문번호, 배송지);</a:t>
            </a:r>
          </a:p>
          <a:p>
            <a:pPr marL="0" indent="0" algn="l">
              <a:lnSpc>
                <a:spcPts val="1150"/>
              </a:lnSpc>
              <a:spcBef>
                <a:spcPts val="0"/>
              </a:spcBef>
              <a:spcAft>
                <a:spcPts val="0"/>
              </a:spcAft>
              <a:buNone/>
            </a:pPr>
            <a:r>
              <a:rPr sz="1000" b="0">
                <a:solidFill>
                  <a:srgbClr val="000000"/>
                </a:solidFill>
                <a:latin typeface="Consolas"/>
                <a:ea typeface="맑은 고딕"/>
              </a:rPr>
              <a:t>        외부.회계().입금처리를요청한다(승인번호);</a:t>
            </a:r>
          </a:p>
          <a:p>
            <a:pPr marL="0" indent="0" algn="l">
              <a:lnSpc>
                <a:spcPts val="1150"/>
              </a:lnSpc>
              <a:spcBef>
                <a:spcPts val="0"/>
              </a:spcBef>
              <a:spcAft>
                <a:spcPts val="0"/>
              </a:spcAft>
              <a:buNone/>
            </a:pPr>
            <a:r>
              <a:rPr sz="1000" b="0">
                <a:solidFill>
                  <a:srgbClr val="000000"/>
                </a:solidFill>
                <a:latin typeface="Consolas"/>
                <a:ea typeface="맑은 고딕"/>
              </a:rPr>
              <a:t>        외부.회계().영수증발행을요청한다(주문번호, 승인번호);</a:t>
            </a:r>
          </a:p>
          <a:p>
            <a:pPr marL="0" indent="0" algn="l">
              <a:lnSpc>
                <a:spcPts val="1150"/>
              </a:lnSpc>
              <a:spcBef>
                <a:spcPts val="0"/>
              </a:spcBef>
              <a:spcAft>
                <a:spcPts val="0"/>
              </a:spcAft>
              <a:buNone/>
            </a:pPr>
            <a:r>
              <a:rPr sz="1000" b="0">
                <a:solidFill>
                  <a:srgbClr val="000000"/>
                </a:solidFill>
                <a:latin typeface="Consolas"/>
                <a:ea typeface="맑은 고딕"/>
              </a:rPr>
              <a:t>        상태 = "결제 완료";</a:t>
            </a:r>
          </a:p>
          <a:p>
            <a:pPr marL="0" indent="0" algn="l">
              <a:lnSpc>
                <a:spcPts val="1150"/>
              </a:lnSpc>
              <a:spcBef>
                <a:spcPts val="0"/>
              </a:spcBef>
              <a:spcAft>
                <a:spcPts val="0"/>
              </a:spcAft>
              <a:buNone/>
            </a:pPr>
            <a:r>
              <a:rPr sz="1000" b="0">
                <a:solidFill>
                  <a:srgbClr val="000000"/>
                </a:solidFill>
                <a:latin typeface="Consolas"/>
                <a:ea typeface="맑은 고딕"/>
              </a:rPr>
              <a:t>    }</a:t>
            </a:r>
          </a:p>
          <a:p>
            <a:pPr marL="0" indent="0" algn="l">
              <a:lnSpc>
                <a:spcPts val="1150"/>
              </a:lnSpc>
              <a:spcBef>
                <a:spcPts val="0"/>
              </a:spcBef>
              <a:spcAft>
                <a:spcPts val="0"/>
              </a:spcAft>
              <a:buNone/>
            </a:pPr>
            <a:r>
              <a:rPr sz="1000" b="0">
                <a:solidFill>
                  <a:srgbClr val="000000"/>
                </a:solidFill>
                <a:latin typeface="Consolas"/>
                <a:ea typeface="맑은 고딕"/>
              </a:rPr>
              <a:t>}</a:t>
            </a:r>
          </a:p>
        </p:txBody>
      </p:sp>
      <p:sp>
        <p:nvSpPr>
          <p:cNvPr id="32" name="TextBox 12">
            <a:extLst>
              <a:ext uri="{FF2B5EF4-FFF2-40B4-BE49-F238E27FC236}">
                <a16:creationId xmlns:a16="http://schemas.microsoft.com/office/drawing/2014/main" id="{654EDDB4-901F-3D48-A715-17D163E8A7AC}"/>
              </a:ext>
            </a:extLst>
          </p:cNvPr>
          <p:cNvSpPr txBox="1"/>
          <p:nvPr/>
        </p:nvSpPr>
        <p:spPr>
          <a:xfrm>
            <a:off x="365760" y="1033272"/>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결제 오퍼레이션의 시퀀스</a:t>
            </a:r>
          </a:p>
        </p:txBody>
      </p:sp>
      <p:pic>
        <p:nvPicPr>
          <p:cNvPr id="33" name="plantuml Diagram 5"/>
          <p:cNvPicPr>
            <a:picLocks noChangeAspect="1"/>
          </p:cNvPicPr>
          <p:nvPr/>
        </p:nvPicPr>
        <p:blipFill>
          <a:blip r:embed="plantumlImage5"/>
          <a:stretch>
            <a:fillRect/>
          </a:stretch>
        </p:blipFill>
        <p:spPr>
          <a:xfrm>
            <a:off x="1392115" y="1271016"/>
            <a:ext cx="6359769" cy="2779346"/>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45. 시스템 오퍼레이션과 계약 </a:t>
            </a:r>
            <a:r>
              <a:rPr sz="2000" b="1">
                <a:solidFill>
                  <a:srgbClr val="000000"/>
                </a:solidFill>
                <a:latin typeface="맑은 고딕"/>
                <a:ea typeface="맑은 고딕"/>
              </a:rPr>
              <a:t>(5/6)</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- 63 -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5272001"/>
            <a:ext cx="4114800" cy="1371600"/>
          </a:xfrm>
          <a:prstGeom prst="rect">
            <a:avLst/>
          </a:prstGeom>
          <a:noFill/>
        </p:spPr>
        <p:txBody>
          <a:bodyPr wrap="square" lIns="91440" tIns="0" rIns="91440" bIns="0" anchor="t">
            <a:noAutofit/>
          </a:bodyPr>
          <a:lstStyle/>
          <a:p>
            <a:pPr marL="0" indent="0" algn="l">
              <a:lnSpc>
                <a:spcPts val="1080"/>
              </a:lnSpc>
              <a:spcBef>
                <a:spcPts val="0"/>
              </a:spcBef>
              <a:spcAft>
                <a:spcPts val="0"/>
              </a:spcAft>
              <a:buNone/>
            </a:pPr>
            <a:r>
              <a:rPr sz="900" b="0">
                <a:solidFill>
                  <a:srgbClr val="000000"/>
                </a:solidFill>
                <a:latin typeface="Consolas"/>
                <a:ea typeface="맑은 고딕"/>
              </a:rPr>
              <a:t>class </a:t>
            </a:r>
            <a:r>
              <a:rPr sz="900" b="1">
                <a:solidFill>
                  <a:srgbClr val="000000"/>
                </a:solidFill>
                <a:latin typeface="Consolas"/>
                <a:ea typeface="맑은 고딕"/>
              </a:rPr>
              <a:t>결제계약테스트</a:t>
            </a:r>
            <a:r>
              <a:rPr sz="900" b="0">
                <a:solidFill>
                  <a:srgbClr val="000000"/>
                </a:solidFill>
                <a:latin typeface="Consolas"/>
                <a:ea typeface="맑은 고딕"/>
              </a:rPr>
              <a:t> {</a:t>
            </a:r>
          </a:p>
          <a:p>
            <a:pPr marL="0" indent="0" algn="l">
              <a:lnSpc>
                <a:spcPts val="1080"/>
              </a:lnSpc>
              <a:spcBef>
                <a:spcPts val="0"/>
              </a:spcBef>
              <a:spcAft>
                <a:spcPts val="0"/>
              </a:spcAft>
              <a:buNone/>
            </a:pPr>
            <a:r>
              <a:rPr sz="900" b="0">
                <a:solidFill>
                  <a:srgbClr val="000000"/>
                </a:solidFill>
                <a:latin typeface="Consolas"/>
                <a:ea typeface="맑은 고딕"/>
              </a:rPr>
              <a:t>    public static void </a:t>
            </a:r>
            <a:r>
              <a:rPr sz="900" b="1">
                <a:solidFill>
                  <a:srgbClr val="000000"/>
                </a:solidFill>
                <a:latin typeface="Consolas"/>
                <a:ea typeface="맑은 고딕"/>
              </a:rPr>
              <a:t>main</a:t>
            </a:r>
            <a:r>
              <a:rPr sz="900" b="0">
                <a:solidFill>
                  <a:srgbClr val="000000"/>
                </a:solidFill>
                <a:latin typeface="Consolas"/>
                <a:ea typeface="맑은 고딕"/>
              </a:rPr>
              <a:t>(String[] args) {</a:t>
            </a:r>
          </a:p>
          <a:p>
            <a:pPr marL="0" indent="0" algn="l">
              <a:lnSpc>
                <a:spcPts val="1080"/>
              </a:lnSpc>
              <a:spcBef>
                <a:spcPts val="0"/>
              </a:spcBef>
              <a:spcAft>
                <a:spcPts val="0"/>
              </a:spcAft>
              <a:buNone/>
            </a:pPr>
            <a:r>
              <a:rPr sz="900" b="0">
                <a:solidFill>
                  <a:srgbClr val="000000"/>
                </a:solidFill>
                <a:latin typeface="Consolas"/>
                <a:ea typeface="맑은 고딕"/>
              </a:rPr>
              <a:t>        var 가짜 = new 가짜외부();</a:t>
            </a:r>
          </a:p>
          <a:p>
            <a:pPr marL="0" indent="0" algn="l">
              <a:lnSpc>
                <a:spcPts val="1080"/>
              </a:lnSpc>
              <a:spcBef>
                <a:spcPts val="0"/>
              </a:spcBef>
              <a:spcAft>
                <a:spcPts val="0"/>
              </a:spcAft>
              <a:buNone/>
            </a:pPr>
            <a:r>
              <a:rPr sz="900" b="0">
                <a:solidFill>
                  <a:srgbClr val="000000"/>
                </a:solidFill>
                <a:latin typeface="Consolas"/>
                <a:ea typeface="맑은 고딕"/>
              </a:rPr>
              <a:t>        var 시스템 = new 주문시스템구현("주문-1", new 외부시스템(가짜, 가짜, 가짜, 가짜));</a:t>
            </a:r>
          </a:p>
          <a:p>
            <a:pPr marL="0" indent="0" algn="l">
              <a:lnSpc>
                <a:spcPts val="1080"/>
              </a:lnSpc>
              <a:spcBef>
                <a:spcPts val="0"/>
              </a:spcBef>
              <a:spcAft>
                <a:spcPts val="0"/>
              </a:spcAft>
              <a:buNone/>
            </a:pPr>
            <a:r>
              <a:rPr sz="900" b="0">
                <a:solidFill>
                  <a:srgbClr val="000000"/>
                </a:solidFill>
                <a:latin typeface="Consolas"/>
                <a:ea typeface="맑은 고딕"/>
              </a:rPr>
              <a:t>        시스템.장바구니에담는다(시스템.상품을조회한다("펜").get(0), 2);</a:t>
            </a:r>
          </a:p>
          <a:p>
            <a:pPr marL="0" indent="0" algn="l">
              <a:lnSpc>
                <a:spcPts val="1080"/>
              </a:lnSpc>
              <a:spcBef>
                <a:spcPts val="0"/>
              </a:spcBef>
              <a:spcAft>
                <a:spcPts val="0"/>
              </a:spcAft>
              <a:buNone/>
            </a:pPr>
            <a:r>
              <a:rPr sz="900" b="0">
                <a:solidFill>
                  <a:srgbClr val="000000"/>
                </a:solidFill>
                <a:latin typeface="Consolas"/>
                <a:ea typeface="맑은 고딕"/>
              </a:rPr>
              <a:t>        거절(() -&gt; 시스템.결제한다("카드"));</a:t>
            </a:r>
          </a:p>
          <a:p>
            <a:pPr marL="0" indent="0" algn="l">
              <a:lnSpc>
                <a:spcPts val="1080"/>
              </a:lnSpc>
              <a:spcBef>
                <a:spcPts val="0"/>
              </a:spcBef>
              <a:spcAft>
                <a:spcPts val="0"/>
              </a:spcAft>
              <a:buNone/>
            </a:pP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1178518"/>
          </a:xfrm>
        </p:spPr>
        <p:txBody>
          <a:bodyPr>
            <a:normAutofit/>
          </a:bodyPr>
          <a:lstStyle/>
          <a:p>
            <a:pPr marL="342900" indent="0">
              <a:spcBef>
                <a:spcPts val="600"/>
              </a:spcBef>
              <a:spcAft>
                <a:spcPts val="600"/>
              </a:spcAft>
              <a:buNone/>
            </a:pPr>
            <a:r>
              <a:rPr sz="1800" b="1">
                <a:solidFill>
                  <a:srgbClr val="000000"/>
                </a:solidFill>
                <a:latin typeface="맑은 고딕"/>
                <a:ea typeface="맑은 고딕"/>
              </a:rPr>
              <a:t>계약에서 테스트로</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계약의 예가 곧 </a:t>
            </a:r>
            <a:r>
              <a:rPr sz="1800" b="1">
                <a:solidFill>
                  <a:srgbClr val="000000"/>
                </a:solidFill>
                <a:latin typeface="맑은 고딕"/>
                <a:ea typeface="맑은 고딕"/>
              </a:rPr>
              <a:t>테스트</a:t>
            </a:r>
            <a:r>
              <a:rPr sz="1800" b="0">
                <a:solidFill>
                  <a:srgbClr val="000000"/>
                </a:solidFill>
                <a:latin typeface="맑은 고딕"/>
                <a:ea typeface="맑은 고딕"/>
              </a:rPr>
              <a:t>다. 사후조건</a:t>
            </a:r>
            <a:r>
              <a:rPr sz="1400" b="0">
                <a:solidFill>
                  <a:srgbClr val="000000"/>
                </a:solidFill>
                <a:latin typeface="맑은 고딕"/>
                <a:ea typeface="맑은 고딕"/>
              </a:rPr>
              <a:t>(상태)</a:t>
            </a:r>
            <a:r>
              <a:rPr sz="1800" b="0">
                <a:solidFill>
                  <a:srgbClr val="000000"/>
                </a:solidFill>
                <a:latin typeface="맑은 고딕"/>
                <a:ea typeface="맑은 고딕"/>
              </a:rPr>
              <a:t>과 함께 정제된 SSD의 요청을 확인하며, 외부 시스템은 요청을 기록하는 가짜로 대신한다.</a:t>
            </a:r>
          </a:p>
        </p:txBody>
      </p:sp>
      <p:sp>
        <p:nvSpPr>
          <p:cNvPr id="33" name="Integrated content 31">
            <a:extLst>
              <a:ext uri="{FF2B5EF4-FFF2-40B4-BE49-F238E27FC236}">
                <a16:creationId xmlns:a16="http://schemas.microsoft.com/office/drawing/2014/main" id="{8E264927-DE01-A85F-AD3D-A49DD8EAC71A}"/>
              </a:ext>
            </a:extLst>
          </p:cNvPr>
          <p:cNvSpPr txBox="1"/>
          <p:nvPr/>
        </p:nvSpPr>
        <p:spPr>
          <a:xfrm>
            <a:off x="4663440" y="5272001"/>
            <a:ext cx="4114800" cy="1371600"/>
          </a:xfrm>
          <a:prstGeom prst="rect">
            <a:avLst/>
          </a:prstGeom>
          <a:noFill/>
        </p:spPr>
        <p:txBody>
          <a:bodyPr wrap="square" lIns="91440" tIns="0" rIns="91440" bIns="0" anchor="t">
            <a:noAutofit/>
          </a:bodyPr>
          <a:lstStyle/>
          <a:p>
            <a:pPr marL="0" indent="0" algn="l">
              <a:lnSpc>
                <a:spcPts val="1080"/>
              </a:lnSpc>
              <a:spcBef>
                <a:spcPts val="0"/>
              </a:spcBef>
              <a:spcAft>
                <a:spcPts val="0"/>
              </a:spcAft>
              <a:buNone/>
            </a:pPr>
            <a:r>
              <a:rPr sz="900" b="0">
                <a:solidFill>
                  <a:srgbClr val="000000"/>
                </a:solidFill>
                <a:latin typeface="Consolas"/>
                <a:ea typeface="맑은 고딕"/>
              </a:rPr>
              <a:t>        시스템.배송지를지정한다("서울");</a:t>
            </a:r>
          </a:p>
          <a:p>
            <a:pPr marL="0" indent="0" algn="l">
              <a:lnSpc>
                <a:spcPts val="1080"/>
              </a:lnSpc>
              <a:spcBef>
                <a:spcPts val="0"/>
              </a:spcBef>
              <a:spcAft>
                <a:spcPts val="0"/>
              </a:spcAft>
              <a:buNone/>
            </a:pPr>
            <a:r>
              <a:rPr sz="900" b="0">
                <a:solidFill>
                  <a:srgbClr val="000000"/>
                </a:solidFill>
                <a:latin typeface="Consolas"/>
                <a:ea typeface="맑은 고딕"/>
              </a:rPr>
              <a:t>        시스템.결제한다("카드");</a:t>
            </a:r>
          </a:p>
          <a:p>
            <a:pPr marL="0" indent="0" algn="l">
              <a:lnSpc>
                <a:spcPts val="1080"/>
              </a:lnSpc>
              <a:spcBef>
                <a:spcPts val="0"/>
              </a:spcBef>
              <a:spcAft>
                <a:spcPts val="0"/>
              </a:spcAft>
              <a:buNone/>
            </a:pPr>
            <a:r>
              <a:rPr sz="900" b="0">
                <a:solidFill>
                  <a:srgbClr val="000000"/>
                </a:solidFill>
                <a:latin typeface="Consolas"/>
                <a:ea typeface="맑은 고딕"/>
              </a:rPr>
              <a:t>        확인(시스템.상태.equals("결제 완료"));</a:t>
            </a:r>
          </a:p>
          <a:p>
            <a:pPr marL="0" indent="0" algn="l">
              <a:lnSpc>
                <a:spcPts val="1080"/>
              </a:lnSpc>
              <a:spcBef>
                <a:spcPts val="0"/>
              </a:spcBef>
              <a:spcAft>
                <a:spcPts val="0"/>
              </a:spcAft>
              <a:buNone/>
            </a:pPr>
            <a:r>
              <a:rPr sz="900" b="0">
                <a:solidFill>
                  <a:srgbClr val="000000"/>
                </a:solidFill>
                <a:latin typeface="Consolas"/>
                <a:ea typeface="맑은 고딕"/>
              </a:rPr>
              <a:t>        확인(가짜.요청.equals(List.of("결제 승인 2000", "재고 차감", "배송", "입금 처리", "영수증 발행")));</a:t>
            </a:r>
          </a:p>
          <a:p>
            <a:pPr marL="0" indent="0" algn="l">
              <a:lnSpc>
                <a:spcPts val="1080"/>
              </a:lnSpc>
              <a:spcBef>
                <a:spcPts val="0"/>
              </a:spcBef>
              <a:spcAft>
                <a:spcPts val="0"/>
              </a:spcAft>
              <a:buNone/>
            </a:pPr>
            <a:r>
              <a:rPr sz="900" b="0">
                <a:solidFill>
                  <a:srgbClr val="000000"/>
                </a:solidFill>
                <a:latin typeface="Consolas"/>
                <a:ea typeface="맑은 고딕"/>
              </a:rPr>
              <a:t>        System.out.println("결제 계약 확인");</a:t>
            </a:r>
          </a:p>
          <a:p>
            <a:pPr marL="0" indent="0" algn="l">
              <a:lnSpc>
                <a:spcPts val="1080"/>
              </a:lnSpc>
              <a:spcBef>
                <a:spcPts val="0"/>
              </a:spcBef>
              <a:spcAft>
                <a:spcPts val="0"/>
              </a:spcAft>
              <a:buNone/>
            </a:pPr>
            <a:r>
              <a:rPr sz="900" b="0">
                <a:solidFill>
                  <a:srgbClr val="000000"/>
                </a:solidFill>
                <a:latin typeface="Consolas"/>
                <a:ea typeface="맑은 고딕"/>
              </a:rPr>
              <a:t>    }</a:t>
            </a:r>
          </a:p>
          <a:p>
            <a:pPr marL="0" indent="0" algn="l">
              <a:lnSpc>
                <a:spcPts val="1080"/>
              </a:lnSpc>
              <a:spcBef>
                <a:spcPts val="0"/>
              </a:spcBef>
              <a:spcAft>
                <a:spcPts val="0"/>
              </a:spcAft>
              <a:buNone/>
            </a:pPr>
            <a:r>
              <a:rPr sz="900" b="0">
                <a:solidFill>
                  <a:srgbClr val="000000"/>
                </a:solidFill>
                <a:latin typeface="Consolas"/>
                <a:ea typeface="맑은 고딕"/>
              </a:rPr>
              <a:t>    // ... 확인·거절 생략</a:t>
            </a:r>
          </a:p>
          <a:p>
            <a:pPr marL="0" indent="0" algn="l">
              <a:lnSpc>
                <a:spcPts val="1080"/>
              </a:lnSpc>
              <a:spcBef>
                <a:spcPts val="0"/>
              </a:spcBef>
              <a:spcAft>
                <a:spcPts val="0"/>
              </a:spcAft>
              <a:buNone/>
            </a:pPr>
            <a:r>
              <a:rPr sz="900" b="0">
                <a:solidFill>
                  <a:srgbClr val="000000"/>
                </a:solidFill>
                <a:latin typeface="Consolas"/>
                <a:ea typeface="맑은 고딕"/>
              </a:rPr>
              <a:t>}</a:t>
            </a:r>
          </a:p>
        </p:txBody>
      </p:sp>
      <p:sp>
        <p:nvSpPr>
          <p:cNvPr id="34" name="TextBox 12">
            <a:extLst>
              <a:ext uri="{FF2B5EF4-FFF2-40B4-BE49-F238E27FC236}">
                <a16:creationId xmlns:a16="http://schemas.microsoft.com/office/drawing/2014/main" id="{654EDDB4-901F-3D48-A715-17D163E8A7AC}"/>
              </a:ext>
            </a:extLst>
          </p:cNvPr>
          <p:cNvSpPr txBox="1"/>
          <p:nvPr/>
        </p:nvSpPr>
        <p:spPr>
          <a:xfrm>
            <a:off x="365760" y="2313390"/>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계약 테스트의 시퀀스</a:t>
            </a:r>
          </a:p>
        </p:txBody>
      </p:sp>
      <p:pic>
        <p:nvPicPr>
          <p:cNvPr id="35" name="plantuml Diagram 6"/>
          <p:cNvPicPr>
            <a:picLocks noChangeAspect="1"/>
          </p:cNvPicPr>
          <p:nvPr/>
        </p:nvPicPr>
        <p:blipFill>
          <a:blip r:embed="plantumlImage6"/>
          <a:stretch>
            <a:fillRect/>
          </a:stretch>
        </p:blipFill>
        <p:spPr>
          <a:xfrm>
            <a:off x="1710104" y="2551134"/>
            <a:ext cx="5723792" cy="2501412"/>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45. 시스템 오퍼레이션과 계약 </a:t>
            </a:r>
            <a:r>
              <a:rPr sz="2000" b="1">
                <a:solidFill>
                  <a:srgbClr val="000000"/>
                </a:solidFill>
                <a:latin typeface="맑은 고딕"/>
                <a:ea typeface="맑은 고딕"/>
              </a:rPr>
              <a:t>(6/6)</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039175" y="2462530"/>
          <a:ext cx="5052060" cy="3873500"/>
        </p:xfrm>
        <a:graphic>
          <a:graphicData uri="http://schemas.openxmlformats.org/drawingml/2006/table">
            <a:tbl>
              <a:tblPr/>
              <a:tblGrid>
                <a:gridCol w="1366520"/>
                <a:gridCol w="36855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항목</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내용</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오퍼레이션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배송지 변경(주문, 새 주소)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관련 유스케이스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주문을 관리한다 — 대안 흐름 3a 배송지 변경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사전조건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주문이 존재하고 고객 소유이며 출고 전이다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출고 여부는 배송 시스템이 판단한다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새 주소는 유효하며 위 교육 예시의 범위에 속한다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사후조건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주문의 배송지가 새 주소로 바뀌었다 — 속성 변경</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178518"/>
          </a:xfrm>
          <a:prstGeom prst="rect">
            <a:avLst/>
          </a:prstGeom>
          <a:noFill/>
        </p:spPr>
        <p:txBody>
          <a:bodyPr wrap="square">
            <a:spAutoFit/>
          </a:bodyPr>
          <a:lstStyle/>
          <a:p>
            <a:pPr marL="342900" indent="0">
              <a:spcBef>
                <a:spcPts val="600"/>
              </a:spcBef>
              <a:spcAft>
                <a:spcPts val="600"/>
              </a:spcAft>
              <a:buNone/>
            </a:pPr>
            <a:r>
              <a:rPr sz="1800" b="1">
                <a:solidFill>
                  <a:srgbClr val="000000"/>
                </a:solidFill>
                <a:latin typeface="맑은 고딕"/>
                <a:ea typeface="맑은 고딕"/>
              </a:rPr>
              <a:t>오퍼레이션 계약 —</a:t>
            </a:r>
            <a:r>
              <a:rPr sz="1600" b="1">
                <a:solidFill>
                  <a:srgbClr val="000000"/>
                </a:solidFill>
                <a:latin typeface="맑은 고딕"/>
                <a:ea typeface="맑은 고딕"/>
              </a:rPr>
              <a:t> 배송지 변경</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고객 소유의 출고 전 주문, 유효한 새 주소를 전제로 한 </a:t>
            </a:r>
            <a:r>
              <a:rPr sz="1800" b="1">
                <a:solidFill>
                  <a:srgbClr val="000000"/>
                </a:solidFill>
                <a:latin typeface="맑은 고딕"/>
                <a:ea typeface="맑은 고딕"/>
              </a:rPr>
              <a:t>성공 계약</a:t>
            </a:r>
            <a:r>
              <a:rPr sz="1800" b="0">
                <a:solidFill>
                  <a:srgbClr val="000000"/>
                </a:solidFill>
                <a:latin typeface="맑은 고딕"/>
                <a:ea typeface="맑은 고딕"/>
              </a:rPr>
              <a:t>이다. 사후조건은 처리 순서가 아니라 성공 후 </a:t>
            </a:r>
            <a:r>
              <a:rPr sz="1800" b="1">
                <a:solidFill>
                  <a:srgbClr val="000000"/>
                </a:solidFill>
                <a:latin typeface="맑은 고딕"/>
                <a:ea typeface="맑은 고딕"/>
              </a:rPr>
              <a:t>참인 상태</a:t>
            </a:r>
            <a:r>
              <a:rPr sz="1800" b="0">
                <a:solidFill>
                  <a:srgbClr val="000000"/>
                </a:solidFill>
                <a:latin typeface="맑은 고딕"/>
                <a:ea typeface="맑은 고딕"/>
              </a:rPr>
              <a:t>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- 64 -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16408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오퍼레이션 계약 — 배송지 변경</a:t>
            </a:r>
          </a:p>
        </p:txBody>
      </p:sp>
    </p:spTree>
    <p:extLst>
      <p:ext uri="{BB962C8B-B14F-4D97-AF65-F5344CB8AC3E}">
        <p14:creationId xmlns:p14="http://schemas.microsoft.com/office/powerpoint/2010/main" val="27895694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46. 정적·동적 모델을 통한 상세화 </a:t>
            </a:r>
            <a:r>
              <a:rPr sz="2000" b="1">
                <a:solidFill>
                  <a:srgbClr val="000000"/>
                </a:solidFill>
                <a:latin typeface="맑은 고딕"/>
                <a:ea typeface="맑은 고딕"/>
              </a:rPr>
              <a:t>(1/2)</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- 65 -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1">
                <a:solidFill>
                  <a:srgbClr val="000000"/>
                </a:solidFill>
                <a:latin typeface="맑은 고딕"/>
                <a:ea typeface="맑은 고딕"/>
              </a:rPr>
              <a:t>명세서·정제된 SSD·오퍼레이션 계약</a:t>
            </a:r>
            <a:r>
              <a:rPr sz="1800" b="0">
                <a:solidFill>
                  <a:srgbClr val="000000"/>
                </a:solidFill>
                <a:latin typeface="맑은 고딕"/>
                <a:ea typeface="맑은 고딕"/>
              </a:rPr>
              <a:t>은 정적·동적 분석의 </a:t>
            </a:r>
            <a:r>
              <a:rPr sz="1800" b="1">
                <a:solidFill>
                  <a:srgbClr val="000000"/>
                </a:solidFill>
                <a:latin typeface="맑은 고딕"/>
                <a:ea typeface="맑은 고딕"/>
              </a:rPr>
              <a:t>입력</a:t>
            </a:r>
            <a:r>
              <a:rPr sz="1800" b="0">
                <a:solidFill>
                  <a:srgbClr val="000000"/>
                </a:solidFill>
                <a:latin typeface="맑은 고딕"/>
                <a:ea typeface="맑은 고딕"/>
              </a:rPr>
              <a:t>이고, 분석의 발견은 이 산출물로 </a:t>
            </a:r>
            <a:r>
              <a:rPr sz="1800" b="1">
                <a:solidFill>
                  <a:srgbClr val="000000"/>
                </a:solidFill>
                <a:latin typeface="맑은 고딕"/>
                <a:ea typeface="맑은 고딕"/>
              </a:rPr>
              <a:t>되돌아온다</a:t>
            </a:r>
            <a:r>
              <a:rPr sz="1800" b="0">
                <a:solidFill>
                  <a:srgbClr val="000000"/>
                </a:solidFill>
                <a:latin typeface="맑은 고딕"/>
                <a:ea typeface="맑은 고딕"/>
              </a:rPr>
              <a:t>.</a:t>
            </a:r>
          </a:p>
          <a:p>
            <a:pPr marL="342900" indent="0">
              <a:spcBef>
                <a:spcPts val="600"/>
              </a:spcBef>
              <a:spcAft>
                <a:spcPts val="600"/>
              </a:spcAft>
              <a:buNone/>
            </a:pPr>
            <a:r>
              <a:rPr sz="1800" b="1">
                <a:solidFill>
                  <a:srgbClr val="000000"/>
                </a:solidFill>
                <a:latin typeface="맑은 고딕"/>
                <a:ea typeface="맑은 고딕"/>
              </a:rPr>
              <a:t>정적·동적 모델이 답하려는 질문</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정적 모델</a:t>
            </a:r>
            <a:r>
              <a:rPr sz="1800" b="0">
                <a:solidFill>
                  <a:srgbClr val="000000"/>
                </a:solidFill>
                <a:latin typeface="맑은 고딕"/>
                <a:ea typeface="맑은 고딕"/>
              </a:rPr>
              <a:t>은 문제영역의 의미·관계·제약을, </a:t>
            </a:r>
            <a:r>
              <a:rPr sz="1800" b="1">
                <a:solidFill>
                  <a:srgbClr val="000000"/>
                </a:solidFill>
                <a:latin typeface="맑은 고딕"/>
                <a:ea typeface="맑은 고딕"/>
              </a:rPr>
              <a:t>동적 모델</a:t>
            </a:r>
            <a:r>
              <a:rPr sz="1800" b="0">
                <a:solidFill>
                  <a:srgbClr val="000000"/>
                </a:solidFill>
                <a:latin typeface="맑은 고딕"/>
                <a:ea typeface="맑은 고딕"/>
              </a:rPr>
              <a:t>은 상호작용과 상태 변화의 사건·규칙을 다룬다.</a:t>
            </a:r>
          </a:p>
        </p:txBody>
      </p:sp>
    </p:spTree>
    <p:extLst>
      <p:ext uri="{BB962C8B-B14F-4D97-AF65-F5344CB8AC3E}">
        <p14:creationId xmlns:p14="http://schemas.microsoft.com/office/powerpoint/2010/main" val="35554366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46. 정적·동적 모델을 통한 상세화 </a:t>
            </a:r>
            <a:r>
              <a:rPr sz="2000" b="1">
                <a:solidFill>
                  <a:srgbClr val="000000"/>
                </a:solidFill>
                <a:latin typeface="맑은 고딕"/>
                <a:ea typeface="맑은 고딕"/>
              </a:rPr>
              <a:t>(2/2)</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- 66 -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054905"/>
            <a:ext cx="8412480" cy="201168"/>
          </a:xfrm>
          <a:prstGeom prst="rect">
            <a:avLst/>
          </a:prstGeom>
          <a:noFill/>
        </p:spPr>
        <p:txBody>
          <a:bodyPr wrap="square">
            <a:spAutoFit/>
          </a:bodyPr>
          <a:lstStyle/>
          <a:p>
            <a:pPr algn="ctr"/>
            <a:r>
              <a:rPr sz="1400" b="1">
                <a:solidFill>
                  <a:srgbClr val="000000"/>
                </a:solidFill>
                <a:latin typeface="맑은 고딕"/>
                <a:ea typeface="맑은 고딕"/>
              </a:rPr>
              <a:t>요구 산출물과 분석의 순환</a:t>
            </a:r>
          </a:p>
        </p:txBody>
      </p:sp>
      <p:pic>
        <p:nvPicPr>
          <p:cNvPr id="10" name="mermaid Diagram 2"/>
          <p:cNvPicPr>
            <a:picLocks noChangeAspect="1"/>
          </p:cNvPicPr>
          <p:nvPr/>
        </p:nvPicPr>
        <p:blipFill>
          <a:blip r:embed="mermaidImage2"/>
          <a:stretch>
            <a:fillRect/>
          </a:stretch>
        </p:blipFill>
        <p:spPr>
          <a:xfrm>
            <a:off x="594023" y="3292649"/>
            <a:ext cx="7955955" cy="1309079"/>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47. 유스케이스와 품질속성</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629475" y="2898948"/>
          <a:ext cx="7871460" cy="3873500"/>
        </p:xfrm>
        <a:graphic>
          <a:graphicData uri="http://schemas.openxmlformats.org/drawingml/2006/table">
            <a:tbl>
              <a:tblPr/>
              <a:tblGrid>
                <a:gridCol w="1087120"/>
                <a:gridCol w="3238500"/>
                <a:gridCol w="35458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품질 관점</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요구 후보</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검증 가능하게 만들기 위한 질문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응답 성능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조회가 신속하게 완료된다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부하·데이터량·측정 구간·허용 지연은?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장애 대응</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일시적 결제 장애로 주문이 유실되지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유실의 정의, 복구 결과와 허용 시간은?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접근 통제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다른 고객의 주문을 조회할 수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어떤 역할·접근 경로·예외 권한을 검사하는가?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사용 편의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모바일에서도 배송지를 변경할 수 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대상 기기·사용자·과업 성공 기준은?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변경 용이성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정책 변경의 영향을 제한한다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어떤 변경을 어떤 비용·영향 범위로 수용하는가?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유스케이스가 어떤 결과를 제공하는지 설명한다면, </a:t>
            </a:r>
            <a:r>
              <a:rPr sz="1800" b="1">
                <a:solidFill>
                  <a:srgbClr val="000000"/>
                </a:solidFill>
                <a:latin typeface="맑은 고딕"/>
                <a:ea typeface="맑은 고딕"/>
              </a:rPr>
              <a:t>품질 요구</a:t>
            </a:r>
            <a:r>
              <a:rPr sz="1800" b="0">
                <a:solidFill>
                  <a:srgbClr val="000000"/>
                </a:solidFill>
                <a:latin typeface="맑은 고딕"/>
                <a:ea typeface="맑은 고딕"/>
              </a:rPr>
              <a:t>는 그 결과를 어떤 조건에서 어느 수준으로 제공해야 하는지 보완한다.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"특성과 부특성은 제품 품질을 </a:t>
            </a:r>
            <a:r>
              <a:rPr sz="1800" b="1">
                <a:solidFill>
                  <a:srgbClr val="000000"/>
                </a:solidFill>
                <a:latin typeface="맑은 고딕"/>
                <a:ea typeface="맑은 고딕"/>
              </a:rPr>
              <a:t>명세·측정·평가</a:t>
            </a:r>
            <a:r>
              <a:rPr sz="1800" b="0">
                <a:solidFill>
                  <a:srgbClr val="000000"/>
                </a:solidFill>
                <a:latin typeface="맑은 고딕"/>
                <a:ea typeface="맑은 고딕"/>
              </a:rPr>
              <a:t>하는 참조 모델을 제공한다"</a:t>
            </a:r>
            <a:r>
              <a:rPr sz="1000" b="0">
                <a:solidFill>
                  <a:srgbClr val="000000"/>
                </a:solidFill>
                <a:latin typeface="맑은 고딕"/>
                <a:ea typeface="맑은 고딕"/>
              </a:rPr>
              <a:t>, </a:t>
            </a:r>
            <a:r>
              <a:rPr sz="1000" b="0">
                <a:solidFill>
                  <a:srgbClr val="000000"/>
                </a:solidFill>
                <a:latin typeface="맑은 고딕"/>
                <a:ea typeface="맑은 고딕"/>
              </a:rPr>
              <a:t>"The characteristics and subcharacteristics provide a reference model for the quality of the products to be specified, measured and evaluated."</a:t>
            </a:r>
            <a:r>
              <a:rPr sz="1000" b="0">
                <a:solidFill>
                  <a:srgbClr val="000000"/>
                </a:solidFill>
                <a:latin typeface="맑은 고딕"/>
                <a:ea typeface="맑은 고딕"/>
              </a:rPr>
              <a:t>, </a:t>
            </a:r>
            <a:r>
              <a:rPr sz="1000" b="0">
                <a:solidFill>
                  <a:srgbClr val="000000"/>
                </a:solidFill>
                <a:latin typeface="맑은 고딕"/>
                <a:ea typeface="맑은 고딕"/>
              </a:rPr>
              <a:t>ISO/IEC 25010:2023</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- 67 -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60049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품질 관점별 요구 후보</a:t>
            </a:r>
          </a:p>
        </p:txBody>
      </p:sp>
    </p:spTree>
    <p:extLst>
      <p:ext uri="{BB962C8B-B14F-4D97-AF65-F5344CB8AC3E}">
        <p14:creationId xmlns:p14="http://schemas.microsoft.com/office/powerpoint/2010/main" val="27895694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48. 프로토타입·와이어프레임 </a:t>
            </a:r>
            <a:r>
              <a:rPr sz="2000" b="1">
                <a:solidFill>
                  <a:srgbClr val="000000"/>
                </a:solidFill>
                <a:latin typeface="맑은 고딕"/>
                <a:ea typeface="맑은 고딕"/>
              </a:rPr>
              <a:t>(1/2)</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- 68 -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프로토타입과 와이어프레임은 화면을 확정하기 전에 </a:t>
            </a:r>
            <a:r>
              <a:rPr sz="1800" b="1">
                <a:solidFill>
                  <a:srgbClr val="000000"/>
                </a:solidFill>
                <a:latin typeface="맑은 고딕"/>
                <a:ea typeface="맑은 고딕"/>
              </a:rPr>
              <a:t>사용자가 과업을 이해하고 수행하는지 관찰해 숨은 요구와 잘못된 가정을 발견하는 도구</a:t>
            </a:r>
            <a:r>
              <a:rPr sz="1800" b="0">
                <a:solidFill>
                  <a:srgbClr val="000000"/>
                </a:solidFill>
                <a:latin typeface="맑은 고딕"/>
                <a:ea typeface="맑은 고딕"/>
              </a:rPr>
              <a:t>다.</a:t>
            </a:r>
          </a:p>
          <a:p>
            <a:pPr marL="342900" indent="0">
              <a:spcBef>
                <a:spcPts val="600"/>
              </a:spcBef>
              <a:spcAft>
                <a:spcPts val="600"/>
              </a:spcAft>
              <a:buNone/>
            </a:pPr>
            <a:r>
              <a:rPr sz="1800" b="1">
                <a:solidFill>
                  <a:srgbClr val="000000"/>
                </a:solidFill>
                <a:latin typeface="맑은 고딕"/>
                <a:ea typeface="맑은 고딕"/>
              </a:rPr>
              <a:t>배송지 변경 와이어프레임</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「45. 시스템 오퍼레이션과 계약」의 성공 계약을 검토하는 </a:t>
            </a:r>
            <a:r>
              <a:rPr sz="1800" b="1">
                <a:solidFill>
                  <a:srgbClr val="000000"/>
                </a:solidFill>
                <a:latin typeface="맑은 고딕"/>
                <a:ea typeface="맑은 고딕"/>
              </a:rPr>
              <a:t>화면 초안</a:t>
            </a:r>
            <a:r>
              <a:rPr sz="1800" b="0">
                <a:solidFill>
                  <a:srgbClr val="000000"/>
                </a:solidFill>
                <a:latin typeface="맑은 고딕"/>
                <a:ea typeface="맑은 고딕"/>
              </a:rPr>
              <a:t>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정적 와이어프레임</a:t>
            </a:r>
            <a:r>
              <a:rPr sz="1800" b="0">
                <a:solidFill>
                  <a:srgbClr val="000000"/>
                </a:solidFill>
                <a:latin typeface="맑은 고딕"/>
                <a:ea typeface="맑은 고딕"/>
              </a:rPr>
              <a:t>만으로 실제 처리나 성공을 검증할 수는 없다. 사용자에게 과업을 설명하게 하거나 조작 가능한 프로토타입으로 </a:t>
            </a:r>
            <a:r>
              <a:rPr sz="1800" b="1">
                <a:solidFill>
                  <a:srgbClr val="000000"/>
                </a:solidFill>
                <a:latin typeface="맑은 고딕"/>
                <a:ea typeface="맑은 고딕"/>
              </a:rPr>
              <a:t>관찰</a:t>
            </a:r>
            <a:r>
              <a:rPr sz="1800" b="0">
                <a:solidFill>
                  <a:srgbClr val="000000"/>
                </a:solidFill>
                <a:latin typeface="맑은 고딕"/>
                <a:ea typeface="맑은 고딕"/>
              </a:rPr>
              <a:t>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761232"/>
            <a:ext cx="8412480" cy="201168"/>
          </a:xfrm>
          <a:prstGeom prst="rect">
            <a:avLst/>
          </a:prstGeom>
          <a:noFill/>
        </p:spPr>
        <p:txBody>
          <a:bodyPr wrap="square">
            <a:spAutoFit/>
          </a:bodyPr>
          <a:lstStyle/>
          <a:p>
            <a:pPr algn="ctr"/>
            <a:r>
              <a:rPr sz="1400" b="1">
                <a:solidFill>
                  <a:srgbClr val="000000"/>
                </a:solidFill>
                <a:latin typeface="맑은 고딕"/>
                <a:ea typeface="맑은 고딕"/>
              </a:rPr>
              <a:t>배송지 변경 화면 초안</a:t>
            </a:r>
          </a:p>
        </p:txBody>
      </p:sp>
      <p:pic>
        <p:nvPicPr>
          <p:cNvPr id="10" name="svg Diagram 12" descr="주문 상세와 배송지 변경 와이어프레임"/>
          <p:cNvPicPr>
            <a:picLocks noChangeAspect="1"/>
          </p:cNvPicPr>
          <p:nvPr/>
        </p:nvPicPr>
        <p:blipFill>
          <a:blip r:embed="svgImage12"/>
          <a:stretch>
            <a:fillRect/>
          </a:stretch>
        </p:blipFill>
        <p:spPr>
          <a:xfrm>
            <a:off x="2428875" y="3998976"/>
            <a:ext cx="4286250" cy="161925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48. 프로토타입·와이어프레임 </a:t>
            </a:r>
            <a:r>
              <a:rPr sz="2000" b="1">
                <a:solidFill>
                  <a:srgbClr val="000000"/>
                </a:solidFill>
                <a:latin typeface="맑은 고딕"/>
                <a:ea typeface="맑은 고딕"/>
              </a:rPr>
              <a:t>(2/2)</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- 69 -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342900" indent="0">
              <a:spcBef>
                <a:spcPts val="600"/>
              </a:spcBef>
              <a:spcAft>
                <a:spcPts val="600"/>
              </a:spcAft>
              <a:buNone/>
            </a:pPr>
            <a:r>
              <a:rPr sz="1800" b="1">
                <a:solidFill>
                  <a:srgbClr val="000000"/>
                </a:solidFill>
                <a:latin typeface="맑은 고딕"/>
                <a:ea typeface="맑은 고딕"/>
              </a:rPr>
              <a:t>확인할 질문</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출고 직전</a:t>
            </a:r>
            <a:r>
              <a:rPr sz="1800" b="0">
                <a:solidFill>
                  <a:srgbClr val="000000"/>
                </a:solidFill>
                <a:latin typeface="맑은 고딕"/>
                <a:ea typeface="맑은 고딕"/>
              </a:rPr>
              <a:t> 변경 가능 여부와 </a:t>
            </a:r>
            <a:r>
              <a:rPr sz="1800" b="1">
                <a:solidFill>
                  <a:srgbClr val="000000"/>
                </a:solidFill>
                <a:latin typeface="맑은 고딕"/>
                <a:ea typeface="맑은 고딕"/>
              </a:rPr>
              <a:t>유효 주소</a:t>
            </a:r>
            <a:r>
              <a:rPr sz="1800" b="0">
                <a:solidFill>
                  <a:srgbClr val="000000"/>
                </a:solidFill>
                <a:latin typeface="맑은 고딕"/>
                <a:ea typeface="맑은 고딕"/>
              </a:rPr>
              <a:t> 기준·오류 안내는 무엇인가?</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배송비 변동</a:t>
            </a:r>
            <a:r>
              <a:rPr sz="1800" b="0">
                <a:solidFill>
                  <a:srgbClr val="000000"/>
                </a:solidFill>
                <a:latin typeface="맑은 고딕"/>
                <a:ea typeface="맑은 고딕"/>
              </a:rPr>
              <a:t>이나 이미 외부 배송 시스템에 전달된 경우는 어떻게 하는가?</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실패 시</a:t>
            </a:r>
            <a:r>
              <a:rPr sz="1800" b="0">
                <a:solidFill>
                  <a:srgbClr val="000000"/>
                </a:solidFill>
                <a:latin typeface="맑은 고딕"/>
                <a:ea typeface="맑은 고딕"/>
              </a:rPr>
              <a:t> 기존 주소 유지 여부와 변경 완료 확인 방법은 무엇인가?</a:t>
            </a:r>
          </a:p>
        </p:txBody>
      </p:sp>
    </p:spTree>
    <p:extLst>
      <p:ext uri="{BB962C8B-B14F-4D97-AF65-F5344CB8AC3E}">
        <p14:creationId xmlns:p14="http://schemas.microsoft.com/office/powerpoint/2010/main" val="35554366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49. 유저 스토리</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- 70 -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유저 스토리</a:t>
            </a:r>
            <a:r>
              <a:rPr sz="1400" b="0">
                <a:solidFill>
                  <a:srgbClr val="000000"/>
                </a:solidFill>
                <a:latin typeface="맑은 고딕"/>
                <a:ea typeface="맑은 고딕"/>
              </a:rPr>
              <a:t>(User Story)</a:t>
            </a:r>
            <a:r>
              <a:rPr sz="1800" b="0">
                <a:solidFill>
                  <a:srgbClr val="000000"/>
                </a:solidFill>
                <a:latin typeface="맑은 고딕"/>
                <a:ea typeface="맑은 고딕"/>
              </a:rPr>
              <a:t>는 요구사항 문서가 아니라, 사용자 관점에서 </a:t>
            </a:r>
            <a:r>
              <a:rPr sz="1800" b="1">
                <a:solidFill>
                  <a:srgbClr val="000000"/>
                </a:solidFill>
                <a:latin typeface="맑은 고딕"/>
                <a:ea typeface="맑은 고딕"/>
              </a:rPr>
              <a:t>작은 가치 단위</a:t>
            </a:r>
            <a:r>
              <a:rPr sz="1800" b="0">
                <a:solidFill>
                  <a:srgbClr val="000000"/>
                </a:solidFill>
                <a:latin typeface="맑은 고딕"/>
                <a:ea typeface="맑은 고딕"/>
              </a:rPr>
              <a:t>를 표현해 </a:t>
            </a:r>
            <a:r>
              <a:rPr sz="1800" b="1">
                <a:solidFill>
                  <a:srgbClr val="000000"/>
                </a:solidFill>
                <a:latin typeface="맑은 고딕"/>
                <a:ea typeface="맑은 고딕"/>
              </a:rPr>
              <a:t>대화를 시작하는 수단</a:t>
            </a:r>
            <a:r>
              <a:rPr sz="1800" b="0">
                <a:solidFill>
                  <a:srgbClr val="000000"/>
                </a:solidFill>
                <a:latin typeface="맑은 고딕"/>
                <a:ea typeface="맑은 고딕"/>
              </a:rPr>
              <a:t>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유저 스토리에는 결정적인 세 가지 면이 있고 이를 </a:t>
            </a:r>
            <a:r>
              <a:rPr sz="1800" b="1">
                <a:solidFill>
                  <a:srgbClr val="000000"/>
                </a:solidFill>
                <a:latin typeface="맑은 고딕"/>
                <a:ea typeface="맑은 고딕"/>
              </a:rPr>
              <a:t>카드·대화·확인</a:t>
            </a:r>
            <a:r>
              <a:rPr sz="1800" b="0">
                <a:solidFill>
                  <a:srgbClr val="000000"/>
                </a:solidFill>
                <a:latin typeface="맑은 고딕"/>
                <a:ea typeface="맑은 고딕"/>
              </a:rPr>
              <a:t>이라 부를 수 있다</a:t>
            </a:r>
            <a:r>
              <a:rPr sz="1000" b="0">
                <a:solidFill>
                  <a:srgbClr val="000000"/>
                </a:solidFill>
                <a:latin typeface="맑은 고딕"/>
                <a:ea typeface="맑은 고딕"/>
              </a:rPr>
              <a:t>, </a:t>
            </a:r>
            <a:r>
              <a:rPr sz="1000" b="0">
                <a:solidFill>
                  <a:srgbClr val="000000"/>
                </a:solidFill>
                <a:latin typeface="맑은 고딕"/>
                <a:ea typeface="맑은 고딕"/>
              </a:rPr>
              <a:t>"User stories have three critical aspects. We can call these Card, Conversation, and Confirmation.", [Jeffries 2001]</a:t>
            </a:r>
          </a:p>
          <a:p>
            <a:pPr lvl="3" marL="1077913" indent="-354013">
              <a:spcBef>
                <a:spcPts val="600"/>
              </a:spcBef>
              <a:spcAft>
                <a:spcPts val="600"/>
              </a:spcAft>
              <a:buSzPct val="90000"/>
              <a:buFont typeface="Wingdings" pitchFamily="2" charset="2"/>
              <a:buChar char=""/>
            </a:pPr>
            <a:r>
              <a:rPr sz="1600" b="1">
                <a:solidFill>
                  <a:srgbClr val="000000"/>
                </a:solidFill>
                <a:latin typeface="맑은 고딕"/>
                <a:ea typeface="맑은 고딕"/>
              </a:rPr>
              <a:t>카드</a:t>
            </a:r>
            <a:r>
              <a:rPr sz="1600" b="0">
                <a:solidFill>
                  <a:srgbClr val="000000"/>
                </a:solidFill>
                <a:latin typeface="맑은 고딕"/>
                <a:ea typeface="맑은 고딕"/>
              </a:rPr>
              <a:t> —</a:t>
            </a:r>
            <a:r>
              <a:rPr sz="1400" b="0">
                <a:solidFill>
                  <a:srgbClr val="000000"/>
                </a:solidFill>
                <a:latin typeface="맑은 고딕"/>
                <a:ea typeface="맑은 고딕"/>
              </a:rPr>
              <a:t> 스토리를 짧게 적어 둔 것. 요구사항 전체가 아니라 대화를 시작하는 메모다.</a:t>
            </a:r>
          </a:p>
          <a:p>
            <a:pPr lvl="3" marL="1077913" indent="-354013">
              <a:spcBef>
                <a:spcPts val="600"/>
              </a:spcBef>
              <a:spcAft>
                <a:spcPts val="600"/>
              </a:spcAft>
              <a:buSzPct val="90000"/>
              <a:buFont typeface="Wingdings" pitchFamily="2" charset="2"/>
              <a:buChar char=""/>
            </a:pPr>
            <a:r>
              <a:rPr sz="1600" b="1">
                <a:solidFill>
                  <a:srgbClr val="000000"/>
                </a:solidFill>
                <a:latin typeface="맑은 고딕"/>
                <a:ea typeface="맑은 고딕"/>
              </a:rPr>
              <a:t>대화</a:t>
            </a:r>
            <a:r>
              <a:rPr sz="1600" b="0">
                <a:solidFill>
                  <a:srgbClr val="000000"/>
                </a:solidFill>
                <a:latin typeface="맑은 고딕"/>
                <a:ea typeface="맑은 고딕"/>
              </a:rPr>
              <a:t> —</a:t>
            </a:r>
            <a:r>
              <a:rPr sz="1400" b="0">
                <a:solidFill>
                  <a:srgbClr val="000000"/>
                </a:solidFill>
                <a:latin typeface="맑은 고딕"/>
                <a:ea typeface="맑은 고딕"/>
              </a:rPr>
              <a:t> 세부는 고객과 개발자가 대화로 채운다. 업무 규칙이 여기서 나온다.</a:t>
            </a:r>
          </a:p>
          <a:p>
            <a:pPr lvl="3" marL="1077913" indent="-354013">
              <a:spcBef>
                <a:spcPts val="600"/>
              </a:spcBef>
              <a:spcAft>
                <a:spcPts val="600"/>
              </a:spcAft>
              <a:buSzPct val="90000"/>
              <a:buFont typeface="Wingdings" pitchFamily="2" charset="2"/>
              <a:buChar char=""/>
            </a:pPr>
            <a:r>
              <a:rPr sz="1600" b="1">
                <a:solidFill>
                  <a:srgbClr val="000000"/>
                </a:solidFill>
                <a:latin typeface="맑은 고딕"/>
                <a:ea typeface="맑은 고딕"/>
              </a:rPr>
              <a:t>확인</a:t>
            </a:r>
            <a:r>
              <a:rPr sz="1600" b="0">
                <a:solidFill>
                  <a:srgbClr val="000000"/>
                </a:solidFill>
                <a:latin typeface="맑은 고딕"/>
                <a:ea typeface="맑은 고딕"/>
              </a:rPr>
              <a:t> —</a:t>
            </a:r>
            <a:r>
              <a:rPr sz="1400" b="0">
                <a:solidFill>
                  <a:srgbClr val="000000"/>
                </a:solidFill>
                <a:latin typeface="맑은 고딕"/>
                <a:ea typeface="맑은 고딕"/>
              </a:rPr>
              <a:t> 스토리가 끝났는지 인수 조건</a:t>
            </a:r>
            <a:r>
              <a:rPr sz="1000" b="0">
                <a:solidFill>
                  <a:srgbClr val="000000"/>
                </a:solidFill>
                <a:latin typeface="맑은 고딕"/>
                <a:ea typeface="맑은 고딕"/>
              </a:rPr>
              <a:t>(테스트)</a:t>
            </a:r>
            <a:r>
              <a:rPr sz="1400" b="0">
                <a:solidFill>
                  <a:srgbClr val="000000"/>
                </a:solidFill>
                <a:latin typeface="맑은 고딕"/>
                <a:ea typeface="맑은 고딕"/>
              </a:rPr>
              <a:t>으로 확인한다.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문형보다 대화</a:t>
            </a:r>
            <a:r>
              <a:rPr sz="1800" b="0">
                <a:solidFill>
                  <a:srgbClr val="000000"/>
                </a:solidFill>
                <a:latin typeface="맑은 고딕"/>
                <a:ea typeface="맑은 고딕"/>
              </a:rPr>
              <a:t> —</a:t>
            </a:r>
            <a:r>
              <a:rPr sz="1600" b="0">
                <a:solidFill>
                  <a:srgbClr val="000000"/>
                </a:solidFill>
                <a:latin typeface="맑은 고딕"/>
                <a:ea typeface="맑은 고딕"/>
              </a:rPr>
              <a:t> 카드에 모든 것을 쓰지 않는다. 빠진 것은 대화로 채우고, 합의한 결과는 인수 조건으로 남긴다</a:t>
            </a:r>
            <a:r>
              <a:rPr sz="1200" b="0">
                <a:solidFill>
                  <a:srgbClr val="000000"/>
                </a:solidFill>
                <a:latin typeface="맑은 고딕"/>
                <a:ea typeface="맑은 고딕"/>
              </a:rPr>
              <a:t>(「56. Given-When-Then」)</a:t>
            </a:r>
            <a:r>
              <a:rPr sz="16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반복과 우선순위</a:t>
            </a:r>
            <a:r>
              <a:rPr sz="1800" b="0">
                <a:solidFill>
                  <a:srgbClr val="000000"/>
                </a:solidFill>
                <a:latin typeface="맑은 고딕"/>
                <a:ea typeface="맑은 고딕"/>
              </a:rPr>
              <a:t> —</a:t>
            </a:r>
            <a:r>
              <a:rPr sz="1600" b="0">
                <a:solidFill>
                  <a:srgbClr val="000000"/>
                </a:solidFill>
                <a:latin typeface="맑은 고딕"/>
                <a:ea typeface="맑은 고딕"/>
              </a:rPr>
              <a:t> 작은 가치 단위라서 반복마다 고르고 순서를 바꾸기 쉽다.</a:t>
            </a:r>
          </a:p>
        </p:txBody>
      </p:sp>
    </p:spTree>
    <p:extLst>
      <p:ext uri="{BB962C8B-B14F-4D97-AF65-F5344CB8AC3E}">
        <p14:creationId xmlns:p14="http://schemas.microsoft.com/office/powerpoint/2010/main" val="35554366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50. 스토리의 문형과 가치</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- 71 -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1842998"/>
            <a:ext cx="8412480" cy="6604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As a    고객 (누가)</a:t>
            </a:r>
          </a:p>
          <a:p>
            <a:pPr marL="0" indent="0" algn="l">
              <a:lnSpc>
                <a:spcPts val="1150"/>
              </a:lnSpc>
              <a:spcBef>
                <a:spcPts val="0"/>
              </a:spcBef>
              <a:spcAft>
                <a:spcPts val="0"/>
              </a:spcAft>
              <a:buNone/>
            </a:pPr>
            <a:r>
              <a:rPr sz="1000" b="0">
                <a:solidFill>
                  <a:srgbClr val="000000"/>
                </a:solidFill>
                <a:latin typeface="Consolas"/>
                <a:ea typeface="맑은 고딕"/>
              </a:rPr>
              <a:t>I want  출고 전 배송지를 변경한다 (무엇을)</a:t>
            </a:r>
          </a:p>
          <a:p>
            <a:pPr marL="0" indent="0" algn="l">
              <a:lnSpc>
                <a:spcPts val="1150"/>
              </a:lnSpc>
              <a:spcBef>
                <a:spcPts val="0"/>
              </a:spcBef>
              <a:spcAft>
                <a:spcPts val="0"/>
              </a:spcAft>
              <a:buNone/>
            </a:pPr>
            <a:r>
              <a:rPr sz="1000" b="0">
                <a:solidFill>
                  <a:srgbClr val="000000"/>
                </a:solidFill>
                <a:latin typeface="Consolas"/>
                <a:ea typeface="맑은 고딕"/>
              </a:rPr>
              <a:t>so that 올바른 장소에서 상품을 받는다 (왜)</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유저 스토리는 </a:t>
            </a:r>
            <a:r>
              <a:rPr sz="1800" b="1">
                <a:solidFill>
                  <a:srgbClr val="000000"/>
                </a:solidFill>
                <a:latin typeface="맑은 고딕"/>
                <a:ea typeface="맑은 고딕"/>
              </a:rPr>
              <a:t>누가, 무엇을, 왜</a:t>
            </a:r>
            <a:r>
              <a:rPr sz="1800" b="0">
                <a:solidFill>
                  <a:srgbClr val="000000"/>
                </a:solidFill>
                <a:latin typeface="맑은 고딕"/>
                <a:ea typeface="맑은 고딕"/>
              </a:rPr>
              <a:t> 원하는지를 한 문장으로 쓴다. "왜"가 스토리의 </a:t>
            </a:r>
            <a:r>
              <a:rPr sz="1800" b="1">
                <a:solidFill>
                  <a:srgbClr val="000000"/>
                </a:solidFill>
                <a:latin typeface="맑은 고딕"/>
                <a:ea typeface="맑은 고딕"/>
              </a:rPr>
              <a:t>가치</a:t>
            </a:r>
            <a:r>
              <a:rPr sz="1800" b="0">
                <a:solidFill>
                  <a:srgbClr val="000000"/>
                </a:solidFill>
                <a:latin typeface="맑은 고딕"/>
                <a:ea typeface="맑은 고딕"/>
              </a:rPr>
              <a:t>를 드러낸다.</a:t>
            </a:r>
          </a:p>
        </p:txBody>
      </p:sp>
      <p:sp>
        <p:nvSpPr>
          <p:cNvPr id="33" name="TextBox 12">
            <a:extLst>
              <a:ext uri="{FF2B5EF4-FFF2-40B4-BE49-F238E27FC236}">
                <a16:creationId xmlns:a16="http://schemas.microsoft.com/office/drawing/2014/main" id="{654EDDB4-901F-3D48-A715-17D163E8A7AC}"/>
              </a:ext>
            </a:extLst>
          </p:cNvPr>
          <p:cNvSpPr txBox="1"/>
          <p:nvPr/>
        </p:nvSpPr>
        <p:spPr>
          <a:xfrm>
            <a:off x="365760" y="2731998"/>
            <a:ext cx="8412480" cy="1984682"/>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이 문형의 강점은 스토리를 처음 정의할 때 </a:t>
            </a:r>
            <a:r>
              <a:rPr sz="1800" b="1">
                <a:solidFill>
                  <a:srgbClr val="000000"/>
                </a:solidFill>
                <a:latin typeface="맑은 고딕"/>
                <a:ea typeface="맑은 고딕"/>
              </a:rPr>
              <a:t>그 스토리를 전달하는 가치</a:t>
            </a:r>
            <a:r>
              <a:rPr sz="1800" b="0">
                <a:solidFill>
                  <a:srgbClr val="000000"/>
                </a:solidFill>
                <a:latin typeface="맑은 고딕"/>
                <a:ea typeface="맑은 고딕"/>
              </a:rPr>
              <a:t>를 밝히게 한다는 것이다</a:t>
            </a:r>
            <a:r>
              <a:rPr sz="1000" b="0">
                <a:solidFill>
                  <a:srgbClr val="000000"/>
                </a:solidFill>
                <a:latin typeface="맑은 고딕"/>
                <a:ea typeface="맑은 고딕"/>
              </a:rPr>
              <a:t>, </a:t>
            </a:r>
            <a:r>
              <a:rPr sz="1000" b="0">
                <a:solidFill>
                  <a:srgbClr val="000000"/>
                </a:solidFill>
                <a:latin typeface="맑은 고딕"/>
                <a:ea typeface="맑은 고딕"/>
              </a:rPr>
              <a:t>"Its strength is that it forces you to identify the value of delivering a story when you first define it.", [North 2006]</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주문 취소</a:t>
            </a:r>
            <a:r>
              <a:rPr sz="1800" b="0">
                <a:solidFill>
                  <a:srgbClr val="000000"/>
                </a:solidFill>
                <a:latin typeface="맑은 고딕"/>
                <a:ea typeface="맑은 고딕"/>
              </a:rPr>
              <a:t> —</a:t>
            </a:r>
            <a:r>
              <a:rPr sz="1600" b="0">
                <a:solidFill>
                  <a:srgbClr val="000000"/>
                </a:solidFill>
                <a:latin typeface="맑은 고딕"/>
                <a:ea typeface="맑은 고딕"/>
              </a:rPr>
              <a:t> 고객으로서 배송이 시작되기 전에 주문을 취소하고 싶다. 필요 없어진 상품의 대금을 돌려받고 싶기 때문이다.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"왜"가 없으면</a:t>
            </a:r>
            <a:r>
              <a:rPr sz="1800" b="0">
                <a:solidFill>
                  <a:srgbClr val="000000"/>
                </a:solidFill>
                <a:latin typeface="맑은 고딕"/>
                <a:ea typeface="맑은 고딕"/>
              </a:rPr>
              <a:t> —</a:t>
            </a:r>
            <a:r>
              <a:rPr sz="1600" b="0">
                <a:solidFill>
                  <a:srgbClr val="000000"/>
                </a:solidFill>
                <a:latin typeface="맑은 고딕"/>
                <a:ea typeface="맑은 고딕"/>
              </a:rPr>
              <a:t> 가치를 말하지 못하는 스토리는 범위에서 뺄 후보다.</a:t>
            </a:r>
          </a:p>
        </p:txBody>
      </p:sp>
    </p:spTree>
    <p:extLst>
      <p:ext uri="{BB962C8B-B14F-4D97-AF65-F5344CB8AC3E}">
        <p14:creationId xmlns:p14="http://schemas.microsoft.com/office/powerpoint/2010/main" val="377335152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51. 좋은 유저 스토리 — INVEST</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412306" y="2898948"/>
          <a:ext cx="8305800" cy="3873500"/>
        </p:xfrm>
        <a:graphic>
          <a:graphicData uri="http://schemas.openxmlformats.org/drawingml/2006/table">
            <a:tbl>
              <a:tblPr/>
              <a:tblGrid>
                <a:gridCol w="1953260"/>
                <a:gridCol w="3253740"/>
                <a:gridCol w="30988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조건</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뜻</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주문 시스템에서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독립적(Independent)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다른 스토리와 겹치지 않고 순서를 바꿀 수 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배송지 변경과 주문 취소를 따로 만든다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협상 가능(Negotiable)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세부는 대화로 함께 채운다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"출고 전"의 뜻은 대화로 정한다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가치(Valuable)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고객에게 가치가 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연동 모듈이 아니라 고객이 얻는 결과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추정 가능(Estimable)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우선순위를 정할 만큼 크기를 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부분 취소처럼 규칙을 모르면 먼저 묻는다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작음(Small)</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길어야 몇 주, 짧게는 며칠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반복 하나 안에 끝낼 크기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테스트 가능(Testable)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테스트를 쓸 수 있을 만큼 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Given-When-Then의 예로 확인한다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좋은 유저 스토리의 조건은 </a:t>
            </a:r>
            <a:r>
              <a:rPr sz="1800" b="1">
                <a:solidFill>
                  <a:srgbClr val="000000"/>
                </a:solidFill>
                <a:latin typeface="맑은 고딕"/>
                <a:ea typeface="맑은 고딕"/>
              </a:rPr>
              <a:t>INVEST</a:t>
            </a:r>
            <a:r>
              <a:rPr sz="1800" b="0">
                <a:solidFill>
                  <a:srgbClr val="000000"/>
                </a:solidFill>
                <a:latin typeface="맑은 고딕"/>
                <a:ea typeface="맑은 고딕"/>
              </a:rPr>
              <a:t> 6가지다. 조건을 채우지 못하면 스토리를 나누거나 대화로 더 구체화한다.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좋은 스토리는 </a:t>
            </a:r>
            <a:r>
              <a:rPr sz="1800" b="1">
                <a:solidFill>
                  <a:srgbClr val="000000"/>
                </a:solidFill>
                <a:latin typeface="맑은 고딕"/>
                <a:ea typeface="맑은 고딕"/>
              </a:rPr>
              <a:t>독립적·협상 가능·가치·추정 가능·작음·테스트 가능</a:t>
            </a:r>
            <a:r>
              <a:rPr sz="1800" b="0">
                <a:solidFill>
                  <a:srgbClr val="000000"/>
                </a:solidFill>
                <a:latin typeface="맑은 고딕"/>
                <a:ea typeface="맑은 고딕"/>
              </a:rPr>
              <a:t>의 6가지 조건을 갖춘다</a:t>
            </a:r>
            <a:r>
              <a:rPr sz="1000" b="0">
                <a:solidFill>
                  <a:srgbClr val="000000"/>
                </a:solidFill>
                <a:latin typeface="맑은 고딕"/>
                <a:ea typeface="맑은 고딕"/>
              </a:rPr>
              <a:t>, </a:t>
            </a:r>
            <a:r>
              <a:rPr sz="1000" b="0">
                <a:solidFill>
                  <a:srgbClr val="000000"/>
                </a:solidFill>
                <a:latin typeface="맑은 고딕"/>
                <a:ea typeface="맑은 고딕"/>
              </a:rPr>
              <a:t>"good stories are: I – Independent N – Negotiable V – Valuable E – Estimable S – Small T – Testable", [Wake 2003]</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- 72 -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60049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INVEST와 주문 시스템</a:t>
            </a:r>
          </a:p>
        </p:txBody>
      </p:sp>
    </p:spTree>
    <p:extLst>
      <p:ext uri="{BB962C8B-B14F-4D97-AF65-F5344CB8AC3E}">
        <p14:creationId xmlns:p14="http://schemas.microsoft.com/office/powerpoint/2010/main" val="27895694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52. 스토리 나누기</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699326" y="2898948"/>
          <a:ext cx="7731760" cy="3873500"/>
        </p:xfrm>
        <a:graphic>
          <a:graphicData uri="http://schemas.openxmlformats.org/drawingml/2006/table">
            <a:tbl>
              <a:tblPr/>
              <a:tblGrid>
                <a:gridCol w="1310640"/>
                <a:gridCol w="3462020"/>
                <a:gridCol w="29591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나누는 방법</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조각</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결과</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층으로(가로)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테이블, 배송 연동 모듈, 주문 화면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한 조각만으로는 고객이 얻는 것이 없다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흐름으로(세로)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결제한다, 주문을 취소한다, 배송지를 변경한다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조각마다 고객이 결과를 얻는다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스토리는 </a:t>
            </a:r>
            <a:r>
              <a:rPr sz="1800" b="1">
                <a:solidFill>
                  <a:srgbClr val="000000"/>
                </a:solidFill>
                <a:latin typeface="맑은 고딕"/>
                <a:ea typeface="맑은 고딕"/>
              </a:rPr>
              <a:t>층이 아니라 기능을 세로로</a:t>
            </a:r>
            <a:r>
              <a:rPr sz="1800" b="0">
                <a:solidFill>
                  <a:srgbClr val="000000"/>
                </a:solidFill>
                <a:latin typeface="맑은 고딕"/>
                <a:ea typeface="맑은 고딕"/>
              </a:rPr>
              <a:t> 나눈다. 한 조각만으로도 고객에게 가치가 있어야 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고객에게 케이크 전체의 본질을 주는 가장 좋은 방법은 </a:t>
            </a:r>
            <a:r>
              <a:rPr sz="1800" b="1">
                <a:solidFill>
                  <a:srgbClr val="000000"/>
                </a:solidFill>
                <a:latin typeface="맑은 고딕"/>
                <a:ea typeface="맑은 고딕"/>
              </a:rPr>
              <a:t>층을 세로로 자르는 것</a:t>
            </a:r>
            <a:r>
              <a:rPr sz="1800" b="0">
                <a:solidFill>
                  <a:srgbClr val="000000"/>
                </a:solidFill>
                <a:latin typeface="맑은 고딕"/>
                <a:ea typeface="맑은 고딕"/>
              </a:rPr>
              <a:t>이다</a:t>
            </a:r>
            <a:r>
              <a:rPr sz="1000" b="0">
                <a:solidFill>
                  <a:srgbClr val="000000"/>
                </a:solidFill>
                <a:latin typeface="맑은 고딕"/>
                <a:ea typeface="맑은 고딕"/>
              </a:rPr>
              <a:t>, </a:t>
            </a:r>
            <a:r>
              <a:rPr sz="1000" b="0">
                <a:solidFill>
                  <a:srgbClr val="000000"/>
                </a:solidFill>
                <a:latin typeface="맑은 고딕"/>
                <a:ea typeface="맑은 고딕"/>
              </a:rPr>
              <a:t>"We want to give the customer the essence of the whole cake, and the best way is to slice vertically through the layers.", [Wake 2003]</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- 73 -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60049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주문을 관리한다를 나누는 두 방법</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991548"/>
            <a:ext cx="8412480" cy="143555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유스케이스의 흐름이 나누는 기준</a:t>
            </a:r>
            <a:r>
              <a:rPr sz="1800" b="0">
                <a:solidFill>
                  <a:srgbClr val="000000"/>
                </a:solidFill>
                <a:latin typeface="맑은 고딕"/>
                <a:ea typeface="맑은 고딕"/>
              </a:rPr>
              <a:t> —</a:t>
            </a:r>
            <a:r>
              <a:rPr sz="1600" b="0">
                <a:solidFill>
                  <a:srgbClr val="000000"/>
                </a:solidFill>
                <a:latin typeface="맑은 고딕"/>
                <a:ea typeface="맑은 고딕"/>
              </a:rPr>
              <a:t> 「주문을 관리한다」의 기본 흐름과 대안 흐름 1a</a:t>
            </a:r>
            <a:r>
              <a:rPr sz="1200" b="0">
                <a:solidFill>
                  <a:srgbClr val="000000"/>
                </a:solidFill>
                <a:latin typeface="맑은 고딕"/>
                <a:ea typeface="맑은 고딕"/>
              </a:rPr>
              <a:t>(주문 취소)</a:t>
            </a:r>
            <a:r>
              <a:rPr sz="1600" b="0">
                <a:solidFill>
                  <a:srgbClr val="000000"/>
                </a:solidFill>
                <a:latin typeface="맑은 고딕"/>
                <a:ea typeface="맑은 고딕"/>
              </a:rPr>
              <a:t>·3a</a:t>
            </a:r>
            <a:r>
              <a:rPr sz="1200" b="0">
                <a:solidFill>
                  <a:srgbClr val="000000"/>
                </a:solidFill>
                <a:latin typeface="맑은 고딕"/>
                <a:ea typeface="맑은 고딕"/>
              </a:rPr>
              <a:t>(배송지 변경)</a:t>
            </a:r>
            <a:r>
              <a:rPr sz="1600" b="0">
                <a:solidFill>
                  <a:srgbClr val="000000"/>
                </a:solidFill>
                <a:latin typeface="맑은 고딕"/>
                <a:ea typeface="맑은 고딕"/>
              </a:rPr>
              <a:t>가 각각 스토리가 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유스케이스와 스토리</a:t>
            </a:r>
            <a:r>
              <a:rPr sz="1800" b="0">
                <a:solidFill>
                  <a:srgbClr val="000000"/>
                </a:solidFill>
                <a:latin typeface="맑은 고딕"/>
                <a:ea typeface="맑은 고딕"/>
              </a:rPr>
              <a:t> —</a:t>
            </a:r>
            <a:r>
              <a:rPr sz="1600" b="0">
                <a:solidFill>
                  <a:srgbClr val="000000"/>
                </a:solidFill>
                <a:latin typeface="맑은 고딕"/>
                <a:ea typeface="맑은 고딕"/>
              </a:rPr>
              <a:t> 유스케이스는 </a:t>
            </a:r>
            <a:r>
              <a:rPr sz="1600" b="1">
                <a:solidFill>
                  <a:srgbClr val="000000"/>
                </a:solidFill>
                <a:latin typeface="맑은 고딕"/>
                <a:ea typeface="맑은 고딕"/>
              </a:rPr>
              <a:t>전체 목표</a:t>
            </a:r>
            <a:r>
              <a:rPr sz="1600" b="0">
                <a:solidFill>
                  <a:srgbClr val="000000"/>
                </a:solidFill>
                <a:latin typeface="맑은 고딕"/>
                <a:ea typeface="맑은 고딕"/>
              </a:rPr>
              <a:t>를 보이고, 스토리는 </a:t>
            </a:r>
            <a:r>
              <a:rPr sz="1600" b="1">
                <a:solidFill>
                  <a:srgbClr val="000000"/>
                </a:solidFill>
                <a:latin typeface="맑은 고딕"/>
                <a:ea typeface="맑은 고딕"/>
              </a:rPr>
              <a:t>반복의 단위</a:t>
            </a:r>
            <a:r>
              <a:rPr sz="1600" b="0">
                <a:solidFill>
                  <a:srgbClr val="000000"/>
                </a:solidFill>
                <a:latin typeface="맑은 고딕"/>
                <a:ea typeface="맑은 고딕"/>
              </a:rPr>
              <a:t>가 된다.</a:t>
            </a:r>
          </a:p>
        </p:txBody>
      </p:sp>
    </p:spTree>
    <p:extLst>
      <p:ext uri="{BB962C8B-B14F-4D97-AF65-F5344CB8AC3E}">
        <p14:creationId xmlns:p14="http://schemas.microsoft.com/office/powerpoint/2010/main" val="278956947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53. 잘못된 유저 스토리</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894906" y="3061046"/>
          <a:ext cx="7340600" cy="3873500"/>
        </p:xfrm>
        <a:graphic>
          <a:graphicData uri="http://schemas.openxmlformats.org/drawingml/2006/table">
            <a:tbl>
              <a:tblPr/>
              <a:tblGrid>
                <a:gridCol w="1310640"/>
                <a:gridCol w="3294380"/>
                <a:gridCol w="27355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관행</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바로잡기</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개발자가 주어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개발자로서 주문 클래스가 견고하기를 원한다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고객이 얻는 결과로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기술 작업</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연동 모듈을 만든다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흐름으로 세로로 나눈다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CRUD 스토리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관리자로서 주문을 등록·수정·삭제하고 싶다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사용자의 목표로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"왜"가 없음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고객으로서 취소 버튼을 원한다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가치를 말하지 못하면 범위에서 뺀다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확인할 수 없음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배송지 변경이 편리하면 좋겠다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확인할 수 있는 예를 붙인다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73932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유저 스토리에도 유스케이스와 같은 </a:t>
            </a:r>
            <a:r>
              <a:rPr sz="1800" b="1">
                <a:solidFill>
                  <a:srgbClr val="000000"/>
                </a:solidFill>
                <a:latin typeface="맑은 고딕"/>
                <a:ea typeface="맑은 고딕"/>
              </a:rPr>
              <a:t>잘못된 관행</a:t>
            </a:r>
            <a:r>
              <a:rPr sz="1800" b="0">
                <a:solidFill>
                  <a:srgbClr val="000000"/>
                </a:solidFill>
                <a:latin typeface="맑은 고딕"/>
                <a:ea typeface="맑은 고딕"/>
              </a:rPr>
              <a:t>이 있다. 주어가 사용자가 아니거나, 기능·기술 작업으로 나눈 스토리다.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LLM 도구가 작은 버그를 고치며 쓴 스토리 — </a:t>
            </a:r>
            <a:r>
              <a:rPr sz="1800" b="1">
                <a:solidFill>
                  <a:srgbClr val="000000"/>
                </a:solidFill>
                <a:latin typeface="맑은 고딕"/>
                <a:ea typeface="맑은 고딕"/>
              </a:rPr>
              <a:t>개발자로서</a:t>
            </a:r>
            <a:r>
              <a:rPr sz="1800" b="0">
                <a:solidFill>
                  <a:srgbClr val="000000"/>
                </a:solidFill>
                <a:latin typeface="맑은 고딕"/>
                <a:ea typeface="맑은 고딕"/>
              </a:rPr>
              <a:t> 변환 함수가 경계 사례를 우아하게 처리하기를 원한다</a:t>
            </a:r>
            <a:r>
              <a:rPr sz="1000" b="0">
                <a:solidFill>
                  <a:srgbClr val="000000"/>
                </a:solidFill>
                <a:latin typeface="맑은 고딕"/>
                <a:ea typeface="맑은 고딕"/>
              </a:rPr>
              <a:t>, </a:t>
            </a:r>
            <a:r>
              <a:rPr sz="1000" b="0">
                <a:solidFill>
                  <a:srgbClr val="000000"/>
                </a:solidFill>
                <a:latin typeface="맑은 고딕"/>
                <a:ea typeface="맑은 고딕"/>
              </a:rPr>
              <a:t>"User story: As a developer, I want the transformation function to handle edge cases gracefully, so that the system remains robust when new category formats are introduced.", [Böckeler 2025]</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- 74 -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762596"/>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잘못된 유저 스토리</a:t>
            </a:r>
          </a:p>
        </p:txBody>
      </p:sp>
    </p:spTree>
    <p:extLst>
      <p:ext uri="{BB962C8B-B14F-4D97-AF65-F5344CB8AC3E}">
        <p14:creationId xmlns:p14="http://schemas.microsoft.com/office/powerpoint/2010/main" val="27895694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54. 유저 스토리의 강점과 한계</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109026" y="2112010"/>
          <a:ext cx="4912360" cy="3873500"/>
        </p:xfrm>
        <a:graphic>
          <a:graphicData uri="http://schemas.openxmlformats.org/drawingml/2006/table">
            <a:tbl>
              <a:tblPr/>
              <a:tblGrid>
                <a:gridCol w="1729740"/>
                <a:gridCol w="31826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강점</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한계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작은 가치 단위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전체 사용 흐름이 약해질 수 있음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반복적 개발에 적합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중요한 조건이 누락될 수 있음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이해관계자 대화 촉진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여러 스토리의 전체 목표가 흩어질 수 있음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변경 수용 용이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상세 요구사항을 별도로 보완해야 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유저 스토리는 작은 가치 단위의 </a:t>
            </a:r>
            <a:r>
              <a:rPr sz="1800" b="1">
                <a:solidFill>
                  <a:srgbClr val="000000"/>
                </a:solidFill>
                <a:latin typeface="맑은 고딕"/>
                <a:ea typeface="맑은 고딕"/>
              </a:rPr>
              <a:t>대화와 우선순위 결정</a:t>
            </a:r>
            <a:r>
              <a:rPr sz="1800" b="0">
                <a:solidFill>
                  <a:srgbClr val="000000"/>
                </a:solidFill>
                <a:latin typeface="맑은 고딕"/>
                <a:ea typeface="맑은 고딕"/>
              </a:rPr>
              <a:t>에 유용하다. </a:t>
            </a:r>
            <a:r>
              <a:rPr sz="1800" b="1">
                <a:solidFill>
                  <a:srgbClr val="000000"/>
                </a:solidFill>
                <a:latin typeface="맑은 고딕"/>
                <a:ea typeface="맑은 고딕"/>
              </a:rPr>
              <a:t>전체 목표</a:t>
            </a:r>
            <a:r>
              <a:rPr sz="1800" b="0">
                <a:solidFill>
                  <a:srgbClr val="000000"/>
                </a:solidFill>
                <a:latin typeface="맑은 고딕"/>
                <a:ea typeface="맑은 고딕"/>
              </a:rPr>
              <a:t>와 여러 스토리에 걸친 조건은 함께 검토해야 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- 75 -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유저 스토리의 강점과 한계</a:t>
            </a:r>
          </a:p>
        </p:txBody>
      </p:sp>
    </p:spTree>
    <p:extLst>
      <p:ext uri="{BB962C8B-B14F-4D97-AF65-F5344CB8AC3E}">
        <p14:creationId xmlns:p14="http://schemas.microsoft.com/office/powerpoint/2010/main" val="27895694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55. 행위 주도 개발</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244156" y="3335366"/>
          <a:ext cx="6642100" cy="3873500"/>
        </p:xfrm>
        <a:graphic>
          <a:graphicData uri="http://schemas.openxmlformats.org/drawingml/2006/table">
            <a:tbl>
              <a:tblPr/>
              <a:tblGrid>
                <a:gridCol w="1813560"/>
                <a:gridCol w="2595880"/>
                <a:gridCol w="22326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실천</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하는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확인하는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발견(Discovery)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함께 대화하며 규칙과 예를 찾는다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어떤 규칙과 예가 필요한가?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정형화(Formulation)</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예를 Given-When-Then으로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모두 같은 뜻으로 읽는가?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자동화(Automation)</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예를 실행되는 테스트로 만든다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시스템이 예대로 동작하는가?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996365"/>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행위 주도 개발</a:t>
            </a:r>
            <a:r>
              <a:rPr sz="1400" b="0">
                <a:solidFill>
                  <a:srgbClr val="000000"/>
                </a:solidFill>
                <a:latin typeface="맑은 고딕"/>
                <a:ea typeface="맑은 고딕"/>
              </a:rPr>
              <a:t>(BDD)</a:t>
            </a:r>
            <a:r>
              <a:rPr sz="1800" b="0">
                <a:solidFill>
                  <a:srgbClr val="000000"/>
                </a:solidFill>
                <a:latin typeface="맑은 고딕"/>
                <a:ea typeface="맑은 고딕"/>
              </a:rPr>
              <a:t>은 </a:t>
            </a:r>
            <a:r>
              <a:rPr sz="1800" b="1">
                <a:solidFill>
                  <a:srgbClr val="000000"/>
                </a:solidFill>
                <a:latin typeface="맑은 고딕"/>
                <a:ea typeface="맑은 고딕"/>
              </a:rPr>
              <a:t>구체적인 예로 기대 행위를 합의</a:t>
            </a:r>
            <a:r>
              <a:rPr sz="1800" b="0">
                <a:solidFill>
                  <a:srgbClr val="000000"/>
                </a:solidFill>
                <a:latin typeface="맑은 고딕"/>
                <a:ea typeface="맑은 고딕"/>
              </a:rPr>
              <a:t>하고 검증과 연결하는 협업 방식이다. TDD에서 출발해 요구 분석으로 넓어졌다.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"행위 주도 개발은 여러 역할 간 협업을 통해 해결할 문제에 대한 </a:t>
            </a:r>
            <a:r>
              <a:rPr sz="1800" b="1">
                <a:solidFill>
                  <a:srgbClr val="000000"/>
                </a:solidFill>
                <a:latin typeface="맑은 고딕"/>
                <a:ea typeface="맑은 고딕"/>
              </a:rPr>
              <a:t>공통 이해</a:t>
            </a:r>
            <a:r>
              <a:rPr sz="1800" b="0">
                <a:solidFill>
                  <a:srgbClr val="000000"/>
                </a:solidFill>
                <a:latin typeface="맑은 고딕"/>
                <a:ea typeface="맑은 고딕"/>
              </a:rPr>
              <a:t>를 만들어 업무 담당자와 기술 담당자의 간극을 좁히는 소프트웨어 팀의 협업 방식이다"</a:t>
            </a:r>
            <a:r>
              <a:rPr sz="1000" b="0">
                <a:solidFill>
                  <a:srgbClr val="000000"/>
                </a:solidFill>
                <a:latin typeface="맑은 고딕"/>
                <a:ea typeface="맑은 고딕"/>
              </a:rPr>
              <a:t>, </a:t>
            </a:r>
            <a:r>
              <a:rPr sz="1000" b="0">
                <a:solidFill>
                  <a:srgbClr val="000000"/>
                </a:solidFill>
                <a:latin typeface="맑은 고딕"/>
                <a:ea typeface="맑은 고딕"/>
              </a:rPr>
              <a:t>"BDD is a way for software teams to work that closes the gap between business people and technical people by: Encouraging collaboration across roles to build shared understanding of the problem to be solved"</a:t>
            </a:r>
            <a:r>
              <a:rPr sz="1000" b="0">
                <a:solidFill>
                  <a:srgbClr val="000000"/>
                </a:solidFill>
                <a:latin typeface="맑은 고딕"/>
                <a:ea typeface="맑은 고딕"/>
              </a:rPr>
              <a:t>, </a:t>
            </a:r>
            <a:r>
              <a:rPr sz="1000" b="0">
                <a:solidFill>
                  <a:srgbClr val="000000"/>
                </a:solidFill>
                <a:latin typeface="맑은 고딕"/>
                <a:ea typeface="맑은 고딕"/>
              </a:rPr>
              <a:t>[Cucumber]</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- 76 -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036916"/>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BDD의 3가지 실천</a:t>
            </a:r>
          </a:p>
        </p:txBody>
      </p:sp>
    </p:spTree>
    <p:extLst>
      <p:ext uri="{BB962C8B-B14F-4D97-AF65-F5344CB8AC3E}">
        <p14:creationId xmlns:p14="http://schemas.microsoft.com/office/powerpoint/2010/main" val="278956947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56. Given-When-Then</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- 77 -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1842998"/>
            <a:ext cx="8412480" cy="6604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Given 고객 소유의 주문 A가 출고 전이고 배송지는 주소 A, 새 주소 B는 유효하다</a:t>
            </a:r>
          </a:p>
          <a:p>
            <a:pPr marL="0" indent="0" algn="l">
              <a:lnSpc>
                <a:spcPts val="1150"/>
              </a:lnSpc>
              <a:spcBef>
                <a:spcPts val="0"/>
              </a:spcBef>
              <a:spcAft>
                <a:spcPts val="0"/>
              </a:spcAft>
              <a:buNone/>
            </a:pPr>
            <a:r>
              <a:rPr sz="1000" b="0">
                <a:solidFill>
                  <a:srgbClr val="000000"/>
                </a:solidFill>
                <a:latin typeface="Consolas"/>
                <a:ea typeface="맑은 고딕"/>
              </a:rPr>
              <a:t>When  고객이 주문 A의 배송지를 주소 B로 변경한다</a:t>
            </a:r>
          </a:p>
          <a:p>
            <a:pPr marL="0" indent="0" algn="l">
              <a:lnSpc>
                <a:spcPts val="1150"/>
              </a:lnSpc>
              <a:spcBef>
                <a:spcPts val="0"/>
              </a:spcBef>
              <a:spcAft>
                <a:spcPts val="0"/>
              </a:spcAft>
              <a:buNone/>
            </a:pPr>
            <a:r>
              <a:rPr sz="1000" b="0">
                <a:solidFill>
                  <a:srgbClr val="000000"/>
                </a:solidFill>
                <a:latin typeface="Consolas"/>
                <a:ea typeface="맑은 고딕"/>
              </a:rPr>
              <a:t>Then  주문 A의 배송지는 주소 B이고, 주문 식별 정보·상품·결제 금액은 변경 전과 같다</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781278"/>
          </a:xfrm>
        </p:spPr>
        <p:txBody>
          <a:bodyPr>
            <a:normAutofit/>
          </a:bodyPr>
          <a:lstStyle/>
          <a:p>
            <a:pPr marL="0" indent="0">
              <a:spcBef>
                <a:spcPts val="600"/>
              </a:spcBef>
              <a:spcAft>
                <a:spcPts val="600"/>
              </a:spcAft>
              <a:buNone/>
            </a:pPr>
            <a:r>
              <a:rPr sz="1800" b="0">
                <a:solidFill>
                  <a:srgbClr val="000000"/>
                </a:solidFill>
                <a:latin typeface="맑은 고딕"/>
                <a:ea typeface="맑은 고딕"/>
              </a:rPr>
              <a:t>스토리의 행위는 </a:t>
            </a:r>
            <a:r>
              <a:rPr sz="1800" b="1">
                <a:solidFill>
                  <a:srgbClr val="000000"/>
                </a:solidFill>
                <a:latin typeface="맑은 고딕"/>
                <a:ea typeface="맑은 고딕"/>
              </a:rPr>
              <a:t>인수 조건</a:t>
            </a:r>
            <a:r>
              <a:rPr sz="1800" b="0">
                <a:solidFill>
                  <a:srgbClr val="000000"/>
                </a:solidFill>
                <a:latin typeface="맑은 고딕"/>
                <a:ea typeface="맑은 고딕"/>
              </a:rPr>
              <a:t>이고, 인수 조건은 </a:t>
            </a:r>
            <a:r>
              <a:rPr sz="1800" b="1">
                <a:solidFill>
                  <a:srgbClr val="000000"/>
                </a:solidFill>
                <a:latin typeface="맑은 고딕"/>
                <a:ea typeface="맑은 고딕"/>
              </a:rPr>
              <a:t>Given-When-Then</a:t>
            </a:r>
            <a:r>
              <a:rPr sz="1800" b="0">
                <a:solidFill>
                  <a:srgbClr val="000000"/>
                </a:solidFill>
                <a:latin typeface="맑은 고딕"/>
                <a:ea typeface="맑은 고딕"/>
              </a:rPr>
              <a:t>의 시나리오로 쓴다.</a:t>
            </a:r>
          </a:p>
        </p:txBody>
      </p:sp>
      <p:sp>
        <p:nvSpPr>
          <p:cNvPr id="33" name="TextBox 12">
            <a:extLst>
              <a:ext uri="{FF2B5EF4-FFF2-40B4-BE49-F238E27FC236}">
                <a16:creationId xmlns:a16="http://schemas.microsoft.com/office/drawing/2014/main" id="{654EDDB4-901F-3D48-A715-17D163E8A7AC}"/>
              </a:ext>
            </a:extLst>
          </p:cNvPr>
          <p:cNvSpPr txBox="1"/>
          <p:nvPr/>
        </p:nvSpPr>
        <p:spPr>
          <a:xfrm>
            <a:off x="365760" y="2731998"/>
            <a:ext cx="8412480" cy="2650643"/>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스토리의 행위는 곧 </a:t>
            </a:r>
            <a:r>
              <a:rPr sz="1800" b="1">
                <a:solidFill>
                  <a:srgbClr val="000000"/>
                </a:solidFill>
                <a:latin typeface="맑은 고딕"/>
                <a:ea typeface="맑은 고딕"/>
              </a:rPr>
              <a:t>인수 조건</a:t>
            </a:r>
            <a:r>
              <a:rPr sz="1800" b="0">
                <a:solidFill>
                  <a:srgbClr val="000000"/>
                </a:solidFill>
                <a:latin typeface="맑은 고딕"/>
                <a:ea typeface="맑은 고딕"/>
              </a:rPr>
              <a:t>이다 — 시스템이 인수 조건을 모두 채우면 바르게 동작하고 채우지 못하면 아니다</a:t>
            </a:r>
            <a:r>
              <a:rPr sz="1000" b="0">
                <a:solidFill>
                  <a:srgbClr val="000000"/>
                </a:solidFill>
                <a:latin typeface="맑은 고딕"/>
                <a:ea typeface="맑은 고딕"/>
              </a:rPr>
              <a:t>, </a:t>
            </a:r>
            <a:r>
              <a:rPr sz="1000" b="0">
                <a:solidFill>
                  <a:srgbClr val="000000"/>
                </a:solidFill>
                <a:latin typeface="맑은 고딕"/>
                <a:ea typeface="맑은 고딕"/>
              </a:rPr>
              <a:t>"A story’s behaviour is simply its acceptance criteria: if the system fulfils all the acceptance criteria, it’s behaving correctly; if it doesn’t, it isn’t.", [North 2006]</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Given</a:t>
            </a:r>
            <a:r>
              <a:rPr sz="1800" b="0">
                <a:solidFill>
                  <a:srgbClr val="000000"/>
                </a:solidFill>
                <a:latin typeface="맑은 고딕"/>
                <a:ea typeface="맑은 고딕"/>
              </a:rPr>
              <a:t>은 어떤 상태에서 시작하는가, </a:t>
            </a:r>
            <a:r>
              <a:rPr sz="1800" b="1">
                <a:solidFill>
                  <a:srgbClr val="000000"/>
                </a:solidFill>
                <a:latin typeface="맑은 고딕"/>
                <a:ea typeface="맑은 고딕"/>
              </a:rPr>
              <a:t>When</a:t>
            </a:r>
            <a:r>
              <a:rPr sz="1800" b="0">
                <a:solidFill>
                  <a:srgbClr val="000000"/>
                </a:solidFill>
                <a:latin typeface="맑은 고딕"/>
                <a:ea typeface="맑은 고딕"/>
              </a:rPr>
              <a:t>은 액터가 무엇을 하는가, </a:t>
            </a:r>
            <a:r>
              <a:rPr sz="1800" b="1">
                <a:solidFill>
                  <a:srgbClr val="000000"/>
                </a:solidFill>
                <a:latin typeface="맑은 고딕"/>
                <a:ea typeface="맑은 고딕"/>
              </a:rPr>
              <a:t>Then</a:t>
            </a:r>
            <a:r>
              <a:rPr sz="1800" b="0">
                <a:solidFill>
                  <a:srgbClr val="000000"/>
                </a:solidFill>
                <a:latin typeface="맑은 고딕"/>
                <a:ea typeface="맑은 고딕"/>
              </a:rPr>
              <a:t>은 무엇이 관찰되어야 하는가다.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위의 예는 「45. 시스템 오퍼레이션과 계약」의 배송지 변경 계약을 </a:t>
            </a:r>
            <a:r>
              <a:rPr sz="1800" b="1">
                <a:solidFill>
                  <a:srgbClr val="000000"/>
                </a:solidFill>
                <a:latin typeface="맑은 고딕"/>
                <a:ea typeface="맑은 고딕"/>
              </a:rPr>
              <a:t>예로 옮긴 것</a:t>
            </a:r>
            <a:r>
              <a:rPr sz="1800" b="0">
                <a:solidFill>
                  <a:srgbClr val="000000"/>
                </a:solidFill>
                <a:latin typeface="맑은 고딕"/>
                <a:ea typeface="맑은 고딕"/>
              </a:rPr>
              <a:t>이다. 규칙마다 그 규칙을 가장 잘 보이는 </a:t>
            </a:r>
            <a:r>
              <a:rPr sz="1800" b="1">
                <a:solidFill>
                  <a:srgbClr val="000000"/>
                </a:solidFill>
                <a:latin typeface="맑은 고딕"/>
                <a:ea typeface="맑은 고딕"/>
              </a:rPr>
              <a:t>대표 예</a:t>
            </a:r>
            <a:r>
              <a:rPr sz="1800" b="0">
                <a:solidFill>
                  <a:srgbClr val="000000"/>
                </a:solidFill>
                <a:latin typeface="맑은 고딕"/>
                <a:ea typeface="맑은 고딕"/>
              </a:rPr>
              <a:t>를 고른다.</a:t>
            </a:r>
          </a:p>
        </p:txBody>
      </p:sp>
    </p:spTree>
    <p:extLst>
      <p:ext uri="{BB962C8B-B14F-4D97-AF65-F5344CB8AC3E}">
        <p14:creationId xmlns:p14="http://schemas.microsoft.com/office/powerpoint/2010/main" val="377335152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57. Example Mapping</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- 78 -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1">
                <a:solidFill>
                  <a:srgbClr val="000000"/>
                </a:solidFill>
                <a:latin typeface="맑은 고딕"/>
                <a:ea typeface="맑은 고딕"/>
              </a:rPr>
              <a:t>Example Mapping</a:t>
            </a:r>
            <a:r>
              <a:rPr sz="1800" b="0">
                <a:solidFill>
                  <a:srgbClr val="000000"/>
                </a:solidFill>
                <a:latin typeface="맑은 고딕"/>
                <a:ea typeface="맑은 고딕"/>
              </a:rPr>
              <a:t>은 스토리 하나를 놓고 </a:t>
            </a:r>
            <a:r>
              <a:rPr sz="1800" b="1">
                <a:solidFill>
                  <a:srgbClr val="000000"/>
                </a:solidFill>
                <a:latin typeface="맑은 고딕"/>
                <a:ea typeface="맑은 고딕"/>
              </a:rPr>
              <a:t>규칙·예·질문</a:t>
            </a:r>
            <a:r>
              <a:rPr sz="1800" b="0">
                <a:solidFill>
                  <a:srgbClr val="000000"/>
                </a:solidFill>
                <a:latin typeface="맑은 고딕"/>
                <a:ea typeface="맑은 고딕"/>
              </a:rPr>
              <a:t>을 카드로 나눠 대화하는 방법이다. 규칙은 업무 규칙, 예는 인수 조건, 답하지 못한 질문은 확인할 목록이 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Example Mapping은 인수 조건을 밝히는 대화를 </a:t>
            </a:r>
            <a:r>
              <a:rPr sz="1800" b="1">
                <a:solidFill>
                  <a:srgbClr val="000000"/>
                </a:solidFill>
                <a:latin typeface="맑은 고딕"/>
                <a:ea typeface="맑은 고딕"/>
              </a:rPr>
              <a:t>짧고 생산적으로</a:t>
            </a:r>
            <a:r>
              <a:rPr sz="1800" b="0">
                <a:solidFill>
                  <a:srgbClr val="000000"/>
                </a:solidFill>
                <a:latin typeface="맑은 고딕"/>
                <a:ea typeface="맑은 고딕"/>
              </a:rPr>
              <a:t> 만드는 방법이다</a:t>
            </a:r>
            <a:r>
              <a:rPr sz="1000" b="0">
                <a:solidFill>
                  <a:srgbClr val="000000"/>
                </a:solidFill>
                <a:latin typeface="맑은 고딕"/>
                <a:ea typeface="맑은 고딕"/>
              </a:rPr>
              <a:t>, </a:t>
            </a:r>
            <a:r>
              <a:rPr sz="1000" b="0">
                <a:solidFill>
                  <a:srgbClr val="000000"/>
                </a:solidFill>
                <a:latin typeface="맑은 고딕"/>
                <a:ea typeface="맑은 고딕"/>
              </a:rPr>
              <a:t>"Example Mapping is a method designed to make this conversation short and very productive.", [Cucumber: Example Mapping]</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2947970"/>
            <a:ext cx="8412480" cy="201168"/>
          </a:xfrm>
          <a:prstGeom prst="rect">
            <a:avLst/>
          </a:prstGeom>
          <a:noFill/>
        </p:spPr>
        <p:txBody>
          <a:bodyPr wrap="square">
            <a:spAutoFit/>
          </a:bodyPr>
          <a:lstStyle/>
          <a:p>
            <a:pPr algn="ctr"/>
            <a:r>
              <a:rPr sz="1400" b="1">
                <a:solidFill>
                  <a:srgbClr val="000000"/>
                </a:solidFill>
                <a:latin typeface="맑은 고딕"/>
                <a:ea typeface="맑은 고딕"/>
              </a:rPr>
              <a:t>배송지 변경의 Example Mapping</a:t>
            </a:r>
          </a:p>
        </p:txBody>
      </p:sp>
      <p:pic>
        <p:nvPicPr>
          <p:cNvPr id="10" name="mermaid Diagram 3"/>
          <p:cNvPicPr>
            <a:picLocks noChangeAspect="1"/>
          </p:cNvPicPr>
          <p:nvPr/>
        </p:nvPicPr>
        <p:blipFill>
          <a:blip r:embed="mermaidImage3"/>
          <a:stretch>
            <a:fillRect/>
          </a:stretch>
        </p:blipFill>
        <p:spPr>
          <a:xfrm>
            <a:off x="2082800" y="3185714"/>
            <a:ext cx="4978400" cy="2660650"/>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58. 행위 주도 개발의 강점과 한계</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220786" y="2112010"/>
          <a:ext cx="4688840" cy="3873500"/>
        </p:xfrm>
        <a:graphic>
          <a:graphicData uri="http://schemas.openxmlformats.org/drawingml/2006/table">
            <a:tbl>
              <a:tblPr/>
              <a:tblGrid>
                <a:gridCol w="2092960"/>
                <a:gridCol w="25958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강점</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한계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구체적인 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전체 목표가 약해질 수 있음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검증 가능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예제가 지나치게 많아질 수 있음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자동화된 인수 테스트 연결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화면·구현 세부사항에 종속될 위험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공통 이해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전체 요구 구조를 대체하지 못함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행위 주도 개발은 행위를 </a:t>
            </a:r>
            <a:r>
              <a:rPr sz="1800" b="1">
                <a:solidFill>
                  <a:srgbClr val="000000"/>
                </a:solidFill>
                <a:latin typeface="맑은 고딕"/>
                <a:ea typeface="맑은 고딕"/>
              </a:rPr>
              <a:t>구체적으로 확인</a:t>
            </a:r>
            <a:r>
              <a:rPr sz="1800" b="0">
                <a:solidFill>
                  <a:srgbClr val="000000"/>
                </a:solidFill>
                <a:latin typeface="맑은 고딕"/>
                <a:ea typeface="맑은 고딕"/>
              </a:rPr>
              <a:t>하는 데 유용하지만 목표와 요구사항 구조 전체를 </a:t>
            </a:r>
            <a:r>
              <a:rPr sz="1800" b="1">
                <a:solidFill>
                  <a:srgbClr val="000000"/>
                </a:solidFill>
                <a:latin typeface="맑은 고딕"/>
                <a:ea typeface="맑은 고딕"/>
              </a:rPr>
              <a:t>대체하지는 않는다</a:t>
            </a:r>
            <a:r>
              <a:rPr sz="1800" b="0">
                <a:solidFill>
                  <a:srgbClr val="000000"/>
                </a:solidFill>
                <a:latin typeface="맑은 고딕"/>
                <a:ea typeface="맑은 고딕"/>
              </a:rPr>
              <a:t>.</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- 79 -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BDD의 강점과 한계</a:t>
            </a:r>
          </a:p>
        </p:txBody>
      </p:sp>
    </p:spTree>
    <p:extLst>
      <p:ext uri="{BB962C8B-B14F-4D97-AF65-F5344CB8AC3E}">
        <p14:creationId xmlns:p14="http://schemas.microsoft.com/office/powerpoint/2010/main" val="278956947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59. 유스케이스·유저 스토리·BDD</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039176" y="2112010"/>
          <a:ext cx="5052060" cy="3873500"/>
        </p:xfrm>
        <a:graphic>
          <a:graphicData uri="http://schemas.openxmlformats.org/drawingml/2006/table">
            <a:tbl>
              <a:tblPr/>
              <a:tblGrid>
                <a:gridCol w="3322320"/>
                <a:gridCol w="17297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질문</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적합한 기법</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액터가 어떤 목표를 달성하는가?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유스케이스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작은 가치 단위로 무엇을 제공할 것인가?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유저 스토리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이 행위를 구체적으로 어떻게 검증할 것인가?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행위 주도 개발(BDD)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세 기법은 목적이 겹치지만 </a:t>
            </a:r>
            <a:r>
              <a:rPr sz="1800" b="1">
                <a:solidFill>
                  <a:srgbClr val="000000"/>
                </a:solidFill>
                <a:latin typeface="맑은 고딕"/>
                <a:ea typeface="맑은 고딕"/>
              </a:rPr>
              <a:t>강조점이 다르다</a:t>
            </a:r>
            <a:r>
              <a:rPr sz="1800" b="0">
                <a:solidFill>
                  <a:srgbClr val="000000"/>
                </a:solidFill>
                <a:latin typeface="맑은 고딕"/>
                <a:ea typeface="맑은 고딕"/>
              </a:rPr>
              <a:t>. 순서대로 도입할 필요 없이 필요한 관점에 맞춰 고르거나 잇는다.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- 80 -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질문별 적합한 기법</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565762"/>
            <a:ext cx="8412480" cy="201168"/>
          </a:xfrm>
          <a:prstGeom prst="rect">
            <a:avLst/>
          </a:prstGeom>
          <a:noFill/>
        </p:spPr>
        <p:txBody>
          <a:bodyPr wrap="square">
            <a:spAutoFit/>
          </a:bodyPr>
          <a:lstStyle/>
          <a:p>
            <a:pPr algn="ctr"/>
            <a:r>
              <a:rPr sz="1400" b="1">
                <a:solidFill>
                  <a:srgbClr val="000000"/>
                </a:solidFill>
                <a:latin typeface="맑은 고딕"/>
                <a:ea typeface="맑은 고딕"/>
              </a:rPr>
              <a:t>세 기법의 연결</a:t>
            </a:r>
          </a:p>
        </p:txBody>
      </p:sp>
      <p:pic>
        <p:nvPicPr>
          <p:cNvPr id="16" name="mermaid Diagram 4"/>
          <p:cNvPicPr>
            <a:picLocks noChangeAspect="1"/>
          </p:cNvPicPr>
          <p:nvPr/>
        </p:nvPicPr>
        <p:blipFill>
          <a:blip r:embed="mermaidImage4"/>
          <a:stretch>
            <a:fillRect/>
          </a:stretch>
        </p:blipFill>
        <p:spPr>
          <a:xfrm>
            <a:off x="2611092" y="3803506"/>
            <a:ext cx="3908227" cy="2203828"/>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60. 명세 주도 개발</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802956" y="3335366"/>
          <a:ext cx="5524500" cy="3873500"/>
        </p:xfrm>
        <a:graphic>
          <a:graphicData uri="http://schemas.openxmlformats.org/drawingml/2006/table">
            <a:tbl>
              <a:tblPr/>
              <a:tblGrid>
                <a:gridCol w="1087120"/>
                <a:gridCol w="2847340"/>
                <a:gridCol w="15900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수준</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명세는</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사람이 고치는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명세 먼저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그 작업에 쓰고 나면 할 일을 다 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코드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명세 고정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기능의 발전과 유지보수에 계속 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명세와 코드를 함께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명세가 원천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시간이 지나도 주된 원천 파일이다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명세만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996365"/>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AI 코딩 에이전트가 쓰이면서 </a:t>
            </a:r>
            <a:r>
              <a:rPr sz="1800" b="1">
                <a:solidFill>
                  <a:srgbClr val="000000"/>
                </a:solidFill>
                <a:latin typeface="맑은 고딕"/>
                <a:ea typeface="맑은 고딕"/>
              </a:rPr>
              <a:t>명세 주도 개발</a:t>
            </a:r>
            <a:r>
              <a:rPr sz="1400" b="1">
                <a:solidFill>
                  <a:srgbClr val="000000"/>
                </a:solidFill>
                <a:latin typeface="맑은 고딕"/>
                <a:ea typeface="맑은 고딕"/>
              </a:rPr>
              <a:t>(SDD)</a:t>
            </a:r>
            <a:r>
              <a:rPr sz="1800" b="0">
                <a:solidFill>
                  <a:srgbClr val="000000"/>
                </a:solidFill>
                <a:latin typeface="맑은 고딕"/>
                <a:ea typeface="맑은 고딕"/>
              </a:rPr>
              <a:t>이 주목받는다. 코드를 쓰기 전에 명세를 먼저 쓰고, 그 명세를 사람과 AI의 기준으로 삼는다.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명세 주도 개발은 AI로 코드를 쓰기 전에 </a:t>
            </a:r>
            <a:r>
              <a:rPr sz="1800" b="1">
                <a:solidFill>
                  <a:srgbClr val="000000"/>
                </a:solidFill>
                <a:latin typeface="맑은 고딕"/>
                <a:ea typeface="맑은 고딕"/>
              </a:rPr>
              <a:t>명세를 먼저 쓰는 것</a:t>
            </a:r>
            <a:r>
              <a:rPr sz="1800" b="0">
                <a:solidFill>
                  <a:srgbClr val="000000"/>
                </a:solidFill>
                <a:latin typeface="맑은 고딕"/>
                <a:ea typeface="맑은 고딕"/>
              </a:rPr>
              <a:t>이고 그 명세가 </a:t>
            </a:r>
            <a:r>
              <a:rPr sz="1800" b="1">
                <a:solidFill>
                  <a:srgbClr val="000000"/>
                </a:solidFill>
                <a:latin typeface="맑은 고딕"/>
                <a:ea typeface="맑은 고딕"/>
              </a:rPr>
              <a:t>사람과 AI의 기준</a:t>
            </a:r>
            <a:r>
              <a:rPr sz="1800" b="0">
                <a:solidFill>
                  <a:srgbClr val="000000"/>
                </a:solidFill>
                <a:latin typeface="맑은 고딕"/>
                <a:ea typeface="맑은 고딕"/>
              </a:rPr>
              <a:t>이 된다</a:t>
            </a:r>
            <a:r>
              <a:rPr sz="1000" b="0">
                <a:solidFill>
                  <a:srgbClr val="000000"/>
                </a:solidFill>
                <a:latin typeface="맑은 고딕"/>
                <a:ea typeface="맑은 고딕"/>
              </a:rPr>
              <a:t>, </a:t>
            </a:r>
            <a:r>
              <a:rPr sz="1000" b="0">
                <a:solidFill>
                  <a:srgbClr val="000000"/>
                </a:solidFill>
                <a:latin typeface="맑은 고딕"/>
                <a:ea typeface="맑은 고딕"/>
              </a:rPr>
              <a:t>"Spec-driven development means writing a “spec” before writing code with AI (“documentation first”). The spec becomes the source of truth for the human and the AI.", [Böckeler 2025]</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- 81 -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036916"/>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SDD의 3가지 수준</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715966"/>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명세의 내용은 요구 분석의 산출물</a:t>
            </a:r>
            <a:r>
              <a:rPr sz="1800" b="0">
                <a:solidFill>
                  <a:srgbClr val="000000"/>
                </a:solidFill>
                <a:latin typeface="맑은 고딕"/>
                <a:ea typeface="맑은 고딕"/>
              </a:rPr>
              <a:t> —</a:t>
            </a:r>
            <a:r>
              <a:rPr sz="1600" b="0">
                <a:solidFill>
                  <a:srgbClr val="000000"/>
                </a:solidFill>
                <a:latin typeface="맑은 고딕"/>
                <a:ea typeface="맑은 고딕"/>
              </a:rPr>
              <a:t> SDD 도구가 만드는 요구 문서도 유저 스토리와 Given-When-Then 인수 조건의 목록이다.</a:t>
            </a:r>
          </a:p>
        </p:txBody>
      </p:sp>
    </p:spTree>
    <p:extLst>
      <p:ext uri="{BB962C8B-B14F-4D97-AF65-F5344CB8AC3E}">
        <p14:creationId xmlns:p14="http://schemas.microsoft.com/office/powerpoint/2010/main" val="278956947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61. 명세 주도 개발의 한계</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- 82 -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명세가 많다고 좋은 것이 아니다. </a:t>
            </a:r>
            <a:r>
              <a:rPr sz="1800" b="1">
                <a:solidFill>
                  <a:srgbClr val="000000"/>
                </a:solidFill>
                <a:latin typeface="맑은 고딕"/>
                <a:ea typeface="맑은 고딕"/>
              </a:rPr>
              <a:t>작업 크기에 맞는 명세</a:t>
            </a:r>
            <a:r>
              <a:rPr sz="1800" b="0">
                <a:solidFill>
                  <a:srgbClr val="000000"/>
                </a:solidFill>
                <a:latin typeface="맑은 고딕"/>
                <a:ea typeface="맑은 고딕"/>
              </a:rPr>
              <a:t>와 </a:t>
            </a:r>
            <a:r>
              <a:rPr sz="1800" b="1">
                <a:solidFill>
                  <a:srgbClr val="000000"/>
                </a:solidFill>
                <a:latin typeface="맑은 고딕"/>
                <a:ea typeface="맑은 고딕"/>
              </a:rPr>
              <a:t>작은 반복</a:t>
            </a:r>
            <a:r>
              <a:rPr sz="1800" b="0">
                <a:solidFill>
                  <a:srgbClr val="000000"/>
                </a:solidFill>
                <a:latin typeface="맑은 고딕"/>
                <a:ea typeface="맑은 고딕"/>
              </a:rPr>
              <a:t>이 여전히 핵심이다.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요구 문서는 이 </a:t>
            </a:r>
            <a:r>
              <a:rPr sz="1800" b="1">
                <a:solidFill>
                  <a:srgbClr val="000000"/>
                </a:solidFill>
                <a:latin typeface="맑은 고딕"/>
                <a:ea typeface="맑은 고딕"/>
              </a:rPr>
              <a:t>작은 버그</a:t>
            </a:r>
            <a:r>
              <a:rPr sz="1800" b="0">
                <a:solidFill>
                  <a:srgbClr val="000000"/>
                </a:solidFill>
                <a:latin typeface="맑은 고딕"/>
                <a:ea typeface="맑은 고딕"/>
              </a:rPr>
              <a:t>를 </a:t>
            </a:r>
            <a:r>
              <a:rPr sz="1800" b="1">
                <a:solidFill>
                  <a:srgbClr val="000000"/>
                </a:solidFill>
                <a:latin typeface="맑은 고딕"/>
                <a:ea typeface="맑은 고딕"/>
              </a:rPr>
              <a:t>유저 스토리 4개와 인수 조건 16개</a:t>
            </a:r>
            <a:r>
              <a:rPr sz="1800" b="0">
                <a:solidFill>
                  <a:srgbClr val="000000"/>
                </a:solidFill>
                <a:latin typeface="맑은 고딕"/>
                <a:ea typeface="맑은 고딕"/>
              </a:rPr>
              <a:t>로 바꾸었다</a:t>
            </a:r>
            <a:r>
              <a:rPr sz="1000" b="0">
                <a:solidFill>
                  <a:srgbClr val="000000"/>
                </a:solidFill>
                <a:latin typeface="맑은 고딕"/>
                <a:ea typeface="맑은 고딕"/>
              </a:rPr>
              <a:t>, </a:t>
            </a:r>
            <a:r>
              <a:rPr sz="1000" b="0">
                <a:solidFill>
                  <a:srgbClr val="000000"/>
                </a:solidFill>
                <a:latin typeface="맑은 고딕"/>
                <a:ea typeface="맑은 고딕"/>
              </a:rPr>
              <a:t>"The requirements document turned this small bug into 4 “user stories” with a total of 16 acceptance criteria", [Böckeler 2025]</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명세가 원천인 방식과 명세 고정까지도 </a:t>
            </a:r>
            <a:r>
              <a:rPr sz="1800" b="1">
                <a:solidFill>
                  <a:srgbClr val="000000"/>
                </a:solidFill>
                <a:latin typeface="맑은 고딕"/>
                <a:ea typeface="맑은 고딕"/>
              </a:rPr>
              <a:t>MDD와 LLM의 단점을 함께</a:t>
            </a:r>
            <a:r>
              <a:rPr sz="1800" b="0">
                <a:solidFill>
                  <a:srgbClr val="000000"/>
                </a:solidFill>
                <a:latin typeface="맑은 고딕"/>
                <a:ea typeface="맑은 고딕"/>
              </a:rPr>
              <a:t> 떠안을 수 있다 — </a:t>
            </a:r>
            <a:r>
              <a:rPr sz="1800" b="1">
                <a:solidFill>
                  <a:srgbClr val="000000"/>
                </a:solidFill>
                <a:latin typeface="맑은 고딕"/>
                <a:ea typeface="맑은 고딕"/>
              </a:rPr>
              <a:t>경직성과 비결정성</a:t>
            </a:r>
            <a:r>
              <a:rPr sz="1000" b="0">
                <a:solidFill>
                  <a:srgbClr val="000000"/>
                </a:solidFill>
                <a:latin typeface="맑은 고딕"/>
                <a:ea typeface="맑은 고딕"/>
              </a:rPr>
              <a:t>, </a:t>
            </a:r>
            <a:r>
              <a:rPr sz="1000" b="0">
                <a:solidFill>
                  <a:srgbClr val="000000"/>
                </a:solidFill>
                <a:latin typeface="맑은 고딕"/>
                <a:ea typeface="맑은 고딕"/>
              </a:rPr>
              <a:t>"I wonder if spec-as-source, and even spec-anchoring, might end up with the downsides of both MDD and LLMs: Inflexibility and non-determinism.", [Böckeler 2025]</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명세 과잉</a:t>
            </a:r>
            <a:r>
              <a:rPr sz="1800" b="0">
                <a:solidFill>
                  <a:srgbClr val="000000"/>
                </a:solidFill>
                <a:latin typeface="맑은 고딕"/>
                <a:ea typeface="맑은 고딕"/>
              </a:rPr>
              <a:t> —</a:t>
            </a:r>
            <a:r>
              <a:rPr sz="1600" b="0">
                <a:solidFill>
                  <a:srgbClr val="000000"/>
                </a:solidFill>
                <a:latin typeface="맑은 고딕"/>
                <a:ea typeface="맑은 고딕"/>
              </a:rPr>
              <a:t> 작은 수정에도 문서가 불어나면 리뷰할 문서가 코드보다 많아진다</a:t>
            </a:r>
            <a:r>
              <a:rPr sz="1200" b="0">
                <a:solidFill>
                  <a:srgbClr val="000000"/>
                </a:solidFill>
                <a:latin typeface="맑은 고딕"/>
                <a:ea typeface="맑은 고딕"/>
              </a:rPr>
              <a:t>(「39. 잘못된 관행 — 명세 과잉·방치」)</a:t>
            </a:r>
            <a:r>
              <a:rPr sz="16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모델 주도 개발</a:t>
            </a:r>
            <a:r>
              <a:rPr sz="1400" b="1">
                <a:solidFill>
                  <a:srgbClr val="000000"/>
                </a:solidFill>
                <a:latin typeface="맑은 고딕"/>
                <a:ea typeface="맑은 고딕"/>
              </a:rPr>
              <a:t>(MDD)</a:t>
            </a:r>
            <a:r>
              <a:rPr sz="1800" b="1">
                <a:solidFill>
                  <a:srgbClr val="000000"/>
                </a:solidFill>
                <a:latin typeface="맑은 고딕"/>
                <a:ea typeface="맑은 고딕"/>
              </a:rPr>
              <a:t>의 교훈</a:t>
            </a:r>
            <a:r>
              <a:rPr sz="1800" b="0">
                <a:solidFill>
                  <a:srgbClr val="000000"/>
                </a:solidFill>
                <a:latin typeface="맑은 고딕"/>
                <a:ea typeface="맑은 고딕"/>
              </a:rPr>
              <a:t> —</a:t>
            </a:r>
            <a:r>
              <a:rPr sz="1600" b="0">
                <a:solidFill>
                  <a:srgbClr val="000000"/>
                </a:solidFill>
                <a:latin typeface="맑은 고딕"/>
                <a:ea typeface="맑은 고딕"/>
              </a:rPr>
              <a:t> 모델에서 코드를 생성하려던 MDD는 업무 애플리케이션에 자리잡지 못했다. 모델과 명세는 코드를 생성하려고 쓰는 것이 아니라 </a:t>
            </a:r>
            <a:r>
              <a:rPr sz="1600" b="1">
                <a:solidFill>
                  <a:srgbClr val="000000"/>
                </a:solidFill>
                <a:latin typeface="맑은 고딕"/>
                <a:ea typeface="맑은 고딕"/>
              </a:rPr>
              <a:t>의미를 밝히려고</a:t>
            </a:r>
            <a:r>
              <a:rPr sz="1600" b="0">
                <a:solidFill>
                  <a:srgbClr val="000000"/>
                </a:solidFill>
                <a:latin typeface="맑은 고딕"/>
                <a:ea typeface="맑은 고딕"/>
              </a:rPr>
              <a:t> 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작은 반복</a:t>
            </a:r>
            <a:r>
              <a:rPr sz="1800" b="0">
                <a:solidFill>
                  <a:srgbClr val="000000"/>
                </a:solidFill>
                <a:latin typeface="맑은 고딕"/>
                <a:ea typeface="맑은 고딕"/>
              </a:rPr>
              <a:t> —</a:t>
            </a:r>
            <a:r>
              <a:rPr sz="1600" b="0">
                <a:solidFill>
                  <a:srgbClr val="000000"/>
                </a:solidFill>
                <a:latin typeface="맑은 고딕"/>
                <a:ea typeface="맑은 고딕"/>
              </a:rPr>
              <a:t> 통제는 문서의 양이 아니라 작은 단계와 검증에서 나온다</a:t>
            </a:r>
            <a:r>
              <a:rPr sz="1200" b="0">
                <a:solidFill>
                  <a:srgbClr val="000000"/>
                </a:solidFill>
                <a:latin typeface="맑은 고딕"/>
                <a:ea typeface="맑은 고딕"/>
              </a:rPr>
              <a:t>(「09. 반복적 접근」)</a:t>
            </a:r>
            <a:r>
              <a:rPr sz="1600" b="0">
                <a:solidFill>
                  <a:srgbClr val="000000"/>
                </a:solidFill>
                <a:latin typeface="맑은 고딕"/>
                <a:ea typeface="맑은 고딕"/>
              </a:rPr>
              <a:t>.</a:t>
            </a:r>
          </a:p>
        </p:txBody>
      </p:sp>
    </p:spTree>
    <p:extLst>
      <p:ext uri="{BB962C8B-B14F-4D97-AF65-F5344CB8AC3E}">
        <p14:creationId xmlns:p14="http://schemas.microsoft.com/office/powerpoint/2010/main" val="355543667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62. 요구사항 검증</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- 83 -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요구사항의 </a:t>
            </a:r>
            <a:r>
              <a:rPr sz="1800" b="1">
                <a:solidFill>
                  <a:srgbClr val="000000"/>
                </a:solidFill>
                <a:latin typeface="맑은 고딕"/>
                <a:ea typeface="맑은 고딕"/>
              </a:rPr>
              <a:t>명세 품질</a:t>
            </a:r>
            <a:r>
              <a:rPr sz="1800" b="0">
                <a:solidFill>
                  <a:srgbClr val="000000"/>
                </a:solidFill>
                <a:latin typeface="맑은 고딕"/>
                <a:ea typeface="맑은 고딕"/>
              </a:rPr>
              <a:t>과 실제 문제 해결의 </a:t>
            </a:r>
            <a:r>
              <a:rPr sz="1800" b="1">
                <a:solidFill>
                  <a:srgbClr val="000000"/>
                </a:solidFill>
                <a:latin typeface="맑은 고딕"/>
                <a:ea typeface="맑은 고딕"/>
              </a:rPr>
              <a:t>타당성</a:t>
            </a:r>
            <a:r>
              <a:rPr sz="1800" b="0">
                <a:solidFill>
                  <a:srgbClr val="000000"/>
                </a:solidFill>
                <a:latin typeface="맑은 고딕"/>
                <a:ea typeface="맑은 고딕"/>
              </a:rPr>
              <a:t>을 함께 검토한다.</a:t>
            </a:r>
          </a:p>
          <a:p>
            <a:pPr marL="342900" indent="0">
              <a:spcBef>
                <a:spcPts val="600"/>
              </a:spcBef>
              <a:spcAft>
                <a:spcPts val="600"/>
              </a:spcAft>
              <a:buNone/>
            </a:pPr>
            <a:r>
              <a:rPr sz="1800" b="1">
                <a:solidFill>
                  <a:srgbClr val="000000"/>
                </a:solidFill>
                <a:latin typeface="맑은 고딕"/>
                <a:ea typeface="맑은 고딕"/>
              </a:rPr>
              <a:t>문서 수준에서 확인할 수 있는 것</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구현·검증 가능한가?</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명확·완전·일관적</a:t>
            </a:r>
            <a:r>
              <a:rPr sz="1800" b="0">
                <a:solidFill>
                  <a:srgbClr val="000000"/>
                </a:solidFill>
                <a:latin typeface="맑은 고딕"/>
                <a:ea typeface="맑은 고딕"/>
              </a:rPr>
              <a:t>인가?</a:t>
            </a:r>
          </a:p>
          <a:p>
            <a:pPr marL="342900" indent="0">
              <a:spcBef>
                <a:spcPts val="600"/>
              </a:spcBef>
              <a:spcAft>
                <a:spcPts val="600"/>
              </a:spcAft>
              <a:buNone/>
            </a:pPr>
            <a:r>
              <a:rPr sz="1800" b="1">
                <a:solidFill>
                  <a:srgbClr val="000000"/>
                </a:solidFill>
                <a:latin typeface="맑은 고딕"/>
                <a:ea typeface="맑은 고딕"/>
              </a:rPr>
              <a:t>실제 사용에서 확인해야 하는 것</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실제로 사용하며 </a:t>
            </a:r>
            <a:r>
              <a:rPr sz="1800" b="1">
                <a:solidFill>
                  <a:srgbClr val="000000"/>
                </a:solidFill>
                <a:latin typeface="맑은 고딕"/>
                <a:ea typeface="맑은 고딕"/>
              </a:rPr>
              <a:t>문제를 해결</a:t>
            </a:r>
            <a:r>
              <a:rPr sz="1800" b="0">
                <a:solidFill>
                  <a:srgbClr val="000000"/>
                </a:solidFill>
                <a:latin typeface="맑은 고딕"/>
                <a:ea typeface="맑은 고딕"/>
              </a:rPr>
              <a:t>하는가?</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기대한 가치</a:t>
            </a:r>
            <a:r>
              <a:rPr sz="1800" b="0">
                <a:solidFill>
                  <a:srgbClr val="000000"/>
                </a:solidFill>
                <a:latin typeface="맑은 고딕"/>
                <a:ea typeface="맑은 고딕"/>
              </a:rPr>
              <a:t>와 </a:t>
            </a:r>
            <a:r>
              <a:rPr sz="1800" b="1">
                <a:solidFill>
                  <a:srgbClr val="000000"/>
                </a:solidFill>
                <a:latin typeface="맑은 고딕"/>
                <a:ea typeface="맑은 고딕"/>
              </a:rPr>
              <a:t>예상 못한 문제</a:t>
            </a:r>
            <a:r>
              <a:rPr sz="1800" b="0">
                <a:solidFill>
                  <a:srgbClr val="000000"/>
                </a:solidFill>
                <a:latin typeface="맑은 고딕"/>
                <a:ea typeface="맑은 고딕"/>
              </a:rPr>
              <a:t>가 있는가?</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715512"/>
            <a:ext cx="8412480" cy="201168"/>
          </a:xfrm>
          <a:prstGeom prst="rect">
            <a:avLst/>
          </a:prstGeom>
          <a:noFill/>
        </p:spPr>
        <p:txBody>
          <a:bodyPr wrap="square">
            <a:spAutoFit/>
          </a:bodyPr>
          <a:lstStyle/>
          <a:p>
            <a:pPr algn="ctr"/>
            <a:r>
              <a:rPr sz="1400" b="1">
                <a:solidFill>
                  <a:srgbClr val="000000"/>
                </a:solidFill>
                <a:latin typeface="맑은 고딕"/>
                <a:ea typeface="맑은 고딕"/>
              </a:rPr>
              <a:t>요구사항 검증의 흐름</a:t>
            </a:r>
          </a:p>
        </p:txBody>
      </p:sp>
      <p:pic>
        <p:nvPicPr>
          <p:cNvPr id="10" name="mermaid Diagram 5"/>
          <p:cNvPicPr>
            <a:picLocks noChangeAspect="1"/>
          </p:cNvPicPr>
          <p:nvPr/>
        </p:nvPicPr>
        <p:blipFill>
          <a:blip r:embed="mermaidImage5"/>
          <a:stretch>
            <a:fillRect/>
          </a:stretch>
        </p:blipFill>
        <p:spPr>
          <a:xfrm>
            <a:off x="1337469" y="3953256"/>
            <a:ext cx="6469063" cy="1031419"/>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63. 요구사항 관리</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- 84 -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요구사항 관리는 변경을 막는 활동이 아니라, 무엇이 왜 바뀌었고 어디까지 영향을 주는지 </a:t>
            </a:r>
            <a:r>
              <a:rPr sz="1800" b="1">
                <a:solidFill>
                  <a:srgbClr val="000000"/>
                </a:solidFill>
                <a:latin typeface="맑은 고딕"/>
                <a:ea typeface="맑은 고딕"/>
              </a:rPr>
              <a:t>변경의 이유와 영향을 통제하는 활동</a:t>
            </a:r>
            <a:r>
              <a:rPr sz="1800" b="0">
                <a:solidFill>
                  <a:srgbClr val="000000"/>
                </a:solidFill>
                <a:latin typeface="맑은 고딕"/>
                <a:ea typeface="맑은 고딕"/>
              </a:rPr>
              <a:t>이다.</a:t>
            </a:r>
          </a:p>
          <a:p>
            <a:pPr marL="342900" indent="0">
              <a:spcBef>
                <a:spcPts val="600"/>
              </a:spcBef>
              <a:spcAft>
                <a:spcPts val="600"/>
              </a:spcAft>
              <a:buNone/>
            </a:pPr>
            <a:r>
              <a:rPr sz="1800" b="1">
                <a:solidFill>
                  <a:srgbClr val="000000"/>
                </a:solidFill>
                <a:latin typeface="맑은 고딕"/>
                <a:ea typeface="맑은 고딕"/>
              </a:rPr>
              <a:t>관리 대상</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기준선, 변경, 우선순위, 상태</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버전, 의존성, 영향분석, 추적</a:t>
            </a:r>
          </a:p>
          <a:p>
            <a:pPr marL="342900" indent="0">
              <a:spcBef>
                <a:spcPts val="600"/>
              </a:spcBef>
              <a:spcAft>
                <a:spcPts val="600"/>
              </a:spcAft>
              <a:buNone/>
            </a:pPr>
            <a:r>
              <a:rPr sz="1800" b="1">
                <a:solidFill>
                  <a:srgbClr val="000000"/>
                </a:solidFill>
                <a:latin typeface="맑은 고딕"/>
                <a:ea typeface="맑은 고딕"/>
              </a:rPr>
              <a:t>질문</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무엇이 </a:t>
            </a:r>
            <a:r>
              <a:rPr sz="1800" b="1">
                <a:solidFill>
                  <a:srgbClr val="000000"/>
                </a:solidFill>
                <a:latin typeface="맑은 고딕"/>
                <a:ea typeface="맑은 고딕"/>
              </a:rPr>
              <a:t>언제·왜</a:t>
            </a:r>
            <a:r>
              <a:rPr sz="1800" b="0">
                <a:solidFill>
                  <a:srgbClr val="000000"/>
                </a:solidFill>
                <a:latin typeface="맑은 고딕"/>
                <a:ea typeface="맑은 고딕"/>
              </a:rPr>
              <a:t> 바뀌었고 무엇에 </a:t>
            </a:r>
            <a:r>
              <a:rPr sz="1800" b="1">
                <a:solidFill>
                  <a:srgbClr val="000000"/>
                </a:solidFill>
                <a:latin typeface="맑은 고딕"/>
                <a:ea typeface="맑은 고딕"/>
              </a:rPr>
              <a:t>영향</a:t>
            </a:r>
            <a:r>
              <a:rPr sz="1800" b="0">
                <a:solidFill>
                  <a:srgbClr val="000000"/>
                </a:solidFill>
                <a:latin typeface="맑은 고딕"/>
                <a:ea typeface="맑은 고딕"/>
              </a:rPr>
              <a:t>을 주는가?</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누가 결정했는가?</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관련 </a:t>
            </a:r>
            <a:r>
              <a:rPr sz="1800" b="1">
                <a:solidFill>
                  <a:srgbClr val="000000"/>
                </a:solidFill>
                <a:latin typeface="맑은 고딕"/>
                <a:ea typeface="맑은 고딕"/>
              </a:rPr>
              <a:t>요구·설계·코드·테스트</a:t>
            </a:r>
            <a:r>
              <a:rPr sz="1800" b="0">
                <a:solidFill>
                  <a:srgbClr val="000000"/>
                </a:solidFill>
                <a:latin typeface="맑은 고딕"/>
                <a:ea typeface="맑은 고딕"/>
              </a:rPr>
              <a:t>는 무엇인가?</a:t>
            </a:r>
          </a:p>
        </p:txBody>
      </p:sp>
    </p:spTree>
    <p:extLst>
      <p:ext uri="{BB962C8B-B14F-4D97-AF65-F5344CB8AC3E}">
        <p14:creationId xmlns:p14="http://schemas.microsoft.com/office/powerpoint/2010/main" val="355543667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64. 요구사항 추적</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- 85 -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추적성은 </a:t>
            </a:r>
            <a:r>
              <a:rPr sz="1800" b="1">
                <a:solidFill>
                  <a:srgbClr val="000000"/>
                </a:solidFill>
                <a:latin typeface="맑은 고딕"/>
                <a:ea typeface="맑은 고딕"/>
              </a:rPr>
              <a:t>기준선 요구의 누락</a:t>
            </a:r>
            <a:r>
              <a:rPr sz="1800" b="0">
                <a:solidFill>
                  <a:srgbClr val="000000"/>
                </a:solidFill>
                <a:latin typeface="맑은 고딕"/>
                <a:ea typeface="맑은 고딕"/>
              </a:rPr>
              <a:t>과 </a:t>
            </a:r>
            <a:r>
              <a:rPr sz="1800" b="1">
                <a:solidFill>
                  <a:srgbClr val="000000"/>
                </a:solidFill>
                <a:latin typeface="맑은 고딕"/>
                <a:ea typeface="맑은 고딕"/>
              </a:rPr>
              <a:t>근거 없는 임의 추가</a:t>
            </a:r>
            <a:r>
              <a:rPr sz="1800" b="0">
                <a:solidFill>
                  <a:srgbClr val="000000"/>
                </a:solidFill>
                <a:latin typeface="맑은 고딕"/>
                <a:ea typeface="맑은 고딕"/>
              </a:rPr>
              <a:t> 양방향을 통제한다.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아래 방향</a:t>
            </a:r>
            <a:r>
              <a:rPr sz="1800" b="0">
                <a:solidFill>
                  <a:srgbClr val="000000"/>
                </a:solidFill>
                <a:latin typeface="맑은 고딕"/>
                <a:ea typeface="맑은 고딕"/>
              </a:rPr>
              <a:t> —</a:t>
            </a:r>
            <a:r>
              <a:rPr sz="1600" b="0">
                <a:solidFill>
                  <a:srgbClr val="000000"/>
                </a:solidFill>
                <a:latin typeface="맑은 고딕"/>
                <a:ea typeface="맑은 고딕"/>
              </a:rPr>
              <a:t> 기준선 요구가 설계·구현·테스트에서 빠지지 않았는가?</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위 방향</a:t>
            </a:r>
            <a:r>
              <a:rPr sz="1800" b="0">
                <a:solidFill>
                  <a:srgbClr val="000000"/>
                </a:solidFill>
                <a:latin typeface="맑은 고딕"/>
                <a:ea typeface="맑은 고딕"/>
              </a:rPr>
              <a:t> —</a:t>
            </a:r>
            <a:r>
              <a:rPr sz="1600" b="0">
                <a:solidFill>
                  <a:srgbClr val="000000"/>
                </a:solidFill>
                <a:latin typeface="맑은 고딕"/>
                <a:ea typeface="맑은 고딕"/>
              </a:rPr>
              <a:t> 설계·코드·테스트가 어떤 요구에 근거하는가?</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추적성은 원래의 </a:t>
            </a:r>
            <a:r>
              <a:rPr sz="1800" b="1">
                <a:solidFill>
                  <a:srgbClr val="000000"/>
                </a:solidFill>
                <a:latin typeface="맑은 고딕"/>
                <a:ea typeface="맑은 고딕"/>
              </a:rPr>
              <a:t>이해관계자 요구</a:t>
            </a:r>
            <a:r>
              <a:rPr sz="1800" b="0">
                <a:solidFill>
                  <a:srgbClr val="000000"/>
                </a:solidFill>
                <a:latin typeface="맑은 고딕"/>
                <a:ea typeface="맑은 고딕"/>
              </a:rPr>
              <a:t>에서 </a:t>
            </a:r>
            <a:r>
              <a:rPr sz="1800" b="1">
                <a:solidFill>
                  <a:srgbClr val="000000"/>
                </a:solidFill>
                <a:latin typeface="맑은 고딕"/>
                <a:ea typeface="맑은 고딕"/>
              </a:rPr>
              <a:t>실제 구현된 해결책</a:t>
            </a:r>
            <a:r>
              <a:rPr sz="1800" b="0">
                <a:solidFill>
                  <a:srgbClr val="000000"/>
                </a:solidFill>
                <a:latin typeface="맑은 고딕"/>
                <a:ea typeface="맑은 고딕"/>
              </a:rPr>
              <a:t>까지 요구사항과 설계 사이의 관계를 추적하는 능력이다</a:t>
            </a:r>
            <a:r>
              <a:rPr sz="1000" b="0">
                <a:solidFill>
                  <a:srgbClr val="000000"/>
                </a:solidFill>
                <a:latin typeface="맑은 고딕"/>
                <a:ea typeface="맑은 고딕"/>
              </a:rPr>
              <a:t>, </a:t>
            </a:r>
            <a:r>
              <a:rPr sz="1000" b="0">
                <a:solidFill>
                  <a:srgbClr val="000000"/>
                </a:solidFill>
                <a:latin typeface="맑은 고딕"/>
                <a:ea typeface="맑은 고딕"/>
              </a:rPr>
              <a:t>"The ability for tracking the relationships between requirements and designs from the original stakeholder need to the actual implemented solution.", [IIBA 2022]</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536788"/>
            <a:ext cx="8412480" cy="201168"/>
          </a:xfrm>
          <a:prstGeom prst="rect">
            <a:avLst/>
          </a:prstGeom>
          <a:noFill/>
        </p:spPr>
        <p:txBody>
          <a:bodyPr wrap="square">
            <a:spAutoFit/>
          </a:bodyPr>
          <a:lstStyle/>
          <a:p>
            <a:pPr algn="ctr"/>
            <a:r>
              <a:rPr sz="1400" b="1">
                <a:solidFill>
                  <a:srgbClr val="000000"/>
                </a:solidFill>
                <a:latin typeface="맑은 고딕"/>
                <a:ea typeface="맑은 고딕"/>
              </a:rPr>
              <a:t>요구사항 추적</a:t>
            </a:r>
          </a:p>
        </p:txBody>
      </p:sp>
      <p:pic>
        <p:nvPicPr>
          <p:cNvPr id="10" name="mermaid Diagram 6"/>
          <p:cNvPicPr>
            <a:picLocks noChangeAspect="1"/>
          </p:cNvPicPr>
          <p:nvPr/>
        </p:nvPicPr>
        <p:blipFill>
          <a:blip r:embed="mermaidImage6"/>
          <a:stretch>
            <a:fillRect/>
          </a:stretch>
        </p:blipFill>
        <p:spPr>
          <a:xfrm>
            <a:off x="1450181" y="3774532"/>
            <a:ext cx="6243638" cy="501721"/>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65. 요구사항에서 학습으로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- 86 -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요구사항은 개발 이전에 확정해 넘기는 입력이 아니라, </a:t>
            </a:r>
            <a:r>
              <a:rPr sz="1800" b="1">
                <a:solidFill>
                  <a:srgbClr val="000000"/>
                </a:solidFill>
                <a:latin typeface="맑은 고딕"/>
                <a:ea typeface="맑은 고딕"/>
              </a:rPr>
              <a:t>구현과 실제 사용에서 얻은 증거를 통해 계속 학습되고 수정되는 대상</a:t>
            </a:r>
            <a:r>
              <a:rPr sz="1800" b="0">
                <a:solidFill>
                  <a:srgbClr val="000000"/>
                </a:solidFill>
                <a:latin typeface="맑은 고딕"/>
                <a:ea typeface="맑은 고딕"/>
              </a:rPr>
              <a:t>이다.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1886712"/>
            <a:ext cx="8412480" cy="201168"/>
          </a:xfrm>
          <a:prstGeom prst="rect">
            <a:avLst/>
          </a:prstGeom>
          <a:noFill/>
        </p:spPr>
        <p:txBody>
          <a:bodyPr wrap="square">
            <a:spAutoFit/>
          </a:bodyPr>
          <a:lstStyle/>
          <a:p>
            <a:pPr algn="ctr"/>
            <a:r>
              <a:rPr sz="1400" b="1">
                <a:solidFill>
                  <a:srgbClr val="000000"/>
                </a:solidFill>
                <a:latin typeface="맑은 고딕"/>
                <a:ea typeface="맑은 고딕"/>
              </a:rPr>
              <a:t>요구에서 학습으로</a:t>
            </a:r>
          </a:p>
        </p:txBody>
      </p:sp>
      <p:pic>
        <p:nvPicPr>
          <p:cNvPr id="10" name="mermaid Diagram 7"/>
          <p:cNvPicPr>
            <a:picLocks noChangeAspect="1"/>
          </p:cNvPicPr>
          <p:nvPr/>
        </p:nvPicPr>
        <p:blipFill>
          <a:blip r:embed="mermaidImage7"/>
          <a:stretch>
            <a:fillRect/>
          </a:stretch>
        </p:blipFill>
        <p:spPr>
          <a:xfrm>
            <a:off x="1460376" y="2124456"/>
            <a:ext cx="6223248" cy="928725"/>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66. 실습 — 유스케이스</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- 87 -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5257800"/>
          </a:xfrm>
        </p:spPr>
        <p:txBody>
          <a:bodyPr>
            <a:normAutofit/>
          </a:bodyPr>
          <a:lstStyle/>
          <a:p>
            <a:pPr marL="0" indent="0">
              <a:spcBef>
                <a:spcPts val="300"/>
              </a:spcBef>
              <a:spcAft>
                <a:spcPts val="300"/>
              </a:spcAft>
              <a:buNone/>
            </a:pPr>
            <a:r>
              <a:rPr sz="1600" b="0">
                <a:solidFill>
                  <a:srgbClr val="000000"/>
                </a:solidFill>
                <a:latin typeface="맑은 고딕"/>
                <a:ea typeface="맑은 고딕"/>
              </a:rPr>
              <a:t>요구사항 정의서를 LLM에 제공하여 유스케이스 다이어그램과 </a:t>
            </a:r>
            <a:r>
              <a:rPr sz="1600" b="1">
                <a:solidFill>
                  <a:srgbClr val="000000"/>
                </a:solidFill>
                <a:latin typeface="맑은 고딕"/>
                <a:ea typeface="맑은 고딕"/>
              </a:rPr>
              <a:t>"정기배송을 신청한다"의 명세서</a:t>
            </a:r>
            <a:r>
              <a:rPr sz="1600" b="0">
                <a:solidFill>
                  <a:srgbClr val="000000"/>
                </a:solidFill>
                <a:latin typeface="맑은 고딕"/>
                <a:ea typeface="맑은 고딕"/>
              </a:rPr>
              <a:t>, </a:t>
            </a:r>
            <a:r>
              <a:rPr sz="1600" b="1">
                <a:solidFill>
                  <a:srgbClr val="000000"/>
                </a:solidFill>
                <a:latin typeface="맑은 고딕"/>
                <a:ea typeface="맑은 고딕"/>
              </a:rPr>
              <a:t>용어집</a:t>
            </a:r>
            <a:r>
              <a:rPr sz="1600" b="0">
                <a:solidFill>
                  <a:srgbClr val="000000"/>
                </a:solidFill>
                <a:latin typeface="맑은 고딕"/>
                <a:ea typeface="맑은 고딕"/>
              </a:rPr>
              <a:t>을 만들고, 점검 항목을 참고해 </a:t>
            </a:r>
            <a:r>
              <a:rPr sz="1600" b="1">
                <a:solidFill>
                  <a:srgbClr val="000000"/>
                </a:solidFill>
                <a:latin typeface="맑은 고딕"/>
                <a:ea typeface="맑은 고딕"/>
              </a:rPr>
              <a:t>피드백</a:t>
            </a:r>
            <a:r>
              <a:rPr sz="1600" b="0">
                <a:solidFill>
                  <a:srgbClr val="000000"/>
                </a:solidFill>
                <a:latin typeface="맑은 고딕"/>
                <a:ea typeface="맑은 고딕"/>
              </a:rPr>
              <a:t>하여 완성하십시오.</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투입물</a:t>
            </a:r>
          </a:p>
          <a:p>
            <a:pPr lvl="3" marL="723900" indent="0">
              <a:spcBef>
                <a:spcPts val="300"/>
              </a:spcBef>
              <a:spcAft>
                <a:spcPts val="300"/>
              </a:spcAft>
              <a:buNone/>
            </a:pPr>
            <a:r>
              <a:rPr sz="1400" b="0">
                <a:solidFill>
                  <a:srgbClr val="000000"/>
                </a:solidFill>
                <a:latin typeface="맑은 고딕"/>
                <a:ea typeface="맑은 고딕"/>
              </a:rPr>
              <a:t>실습 1의 </a:t>
            </a:r>
            <a:r>
              <a:rPr sz="1400" b="1">
                <a:solidFill>
                  <a:srgbClr val="000000"/>
                </a:solidFill>
                <a:latin typeface="맑은 고딕"/>
                <a:ea typeface="맑은 고딕"/>
              </a:rPr>
              <a:t>요구사항 정의서</a:t>
            </a:r>
            <a:r>
              <a:rPr sz="1400" b="0">
                <a:solidFill>
                  <a:srgbClr val="000000"/>
                </a:solidFill>
                <a:latin typeface="맑은 고딕"/>
                <a:ea typeface="맑은 고딕"/>
              </a:rPr>
              <a:t> —</a:t>
            </a:r>
            <a:r>
              <a:rPr sz="1200" b="0">
                <a:solidFill>
                  <a:srgbClr val="000000"/>
                </a:solidFill>
                <a:latin typeface="맑은 고딕"/>
                <a:ea typeface="맑은 고딕"/>
              </a:rPr>
              <a:t> 실제로는 여러분이 완성한 정의서를 이어 씁니다.</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프롬프트</a:t>
            </a:r>
          </a:p>
          <a:p>
            <a:pPr lvl="3" marL="723900" indent="0">
              <a:spcBef>
                <a:spcPts val="300"/>
              </a:spcBef>
              <a:spcAft>
                <a:spcPts val="300"/>
              </a:spcAft>
              <a:buNone/>
            </a:pPr>
            <a:r>
              <a:rPr sz="1400" b="0">
                <a:solidFill>
                  <a:srgbClr val="000000"/>
                </a:solidFill>
                <a:latin typeface="맑은 고딕"/>
                <a:ea typeface="맑은 고딕"/>
              </a:rPr>
              <a:t>"위 요구사항 정의서로 유스케이스 다이어그램을 PlantUML로 그리고, '정기배송을 신청한다'의 명세서를 작성해줘. 조회·변경·해지는 이 유스케이스의 대안 흐름에 넣고, Larman의 정식 형식</a:t>
            </a:r>
            <a:r>
              <a:rPr sz="1000" b="0">
                <a:solidFill>
                  <a:srgbClr val="000000"/>
                </a:solidFill>
                <a:latin typeface="맑은 고딕"/>
                <a:ea typeface="맑은 고딕"/>
              </a:rPr>
              <a:t>(fully dressed)</a:t>
            </a:r>
            <a:r>
              <a:rPr sz="1400" b="0">
                <a:solidFill>
                  <a:srgbClr val="000000"/>
                </a:solidFill>
                <a:latin typeface="맑은 고딕"/>
                <a:ea typeface="맑은 고딕"/>
              </a:rPr>
              <a:t>으로 기본 성공 시나리오와 대안 흐름</a:t>
            </a:r>
            <a:r>
              <a:rPr sz="1000" b="0">
                <a:solidFill>
                  <a:srgbClr val="000000"/>
                </a:solidFill>
                <a:latin typeface="맑은 고딕"/>
                <a:ea typeface="맑은 고딕"/>
              </a:rPr>
              <a:t>(성공·실패 모두)</a:t>
            </a:r>
            <a:r>
              <a:rPr sz="1400" b="0">
                <a:solidFill>
                  <a:srgbClr val="000000"/>
                </a:solidFill>
                <a:latin typeface="맑은 고딕"/>
                <a:ea typeface="맑은 고딕"/>
              </a:rPr>
              <a:t>을 써줘. 업무 규칙과 특별 요구사항도 덧붙여줘. 명세서에 없는 규칙은 </a:t>
            </a:r>
            <a:r>
              <a:rPr sz="1400" b="1">
                <a:solidFill>
                  <a:srgbClr val="000000"/>
                </a:solidFill>
                <a:latin typeface="맑은 고딕"/>
                <a:ea typeface="맑은 고딕"/>
              </a:rPr>
              <a:t>반드시 확인</a:t>
            </a:r>
            <a:r>
              <a:rPr sz="1400" b="0">
                <a:solidFill>
                  <a:srgbClr val="000000"/>
                </a:solidFill>
                <a:latin typeface="맑은 고딕"/>
                <a:ea typeface="맑은 고딕"/>
              </a:rPr>
              <a:t>해라. 명세서에 쓴 용어로 </a:t>
            </a:r>
            <a:r>
              <a:rPr sz="1400" b="1">
                <a:solidFill>
                  <a:srgbClr val="000000"/>
                </a:solidFill>
                <a:latin typeface="맑은 고딕"/>
                <a:ea typeface="맑은 고딕"/>
              </a:rPr>
              <a:t>용어집</a:t>
            </a:r>
            <a:r>
              <a:rPr sz="1000" b="0">
                <a:solidFill>
                  <a:srgbClr val="000000"/>
                </a:solidFill>
                <a:latin typeface="맑은 고딕"/>
                <a:ea typeface="맑은 고딕"/>
              </a:rPr>
              <a:t>(용어, 정의, 영문명)</a:t>
            </a:r>
            <a:r>
              <a:rPr sz="1400" b="0">
                <a:solidFill>
                  <a:srgbClr val="000000"/>
                </a:solidFill>
                <a:latin typeface="맑은 고딕"/>
                <a:ea typeface="맑은 고딕"/>
              </a:rPr>
              <a:t>도 만들어줘."</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점검 항목</a:t>
            </a:r>
          </a:p>
          <a:p>
            <a:pPr lvl="3" marL="947420" indent="-223520">
              <a:spcBef>
                <a:spcPts val="300"/>
              </a:spcBef>
              <a:spcAft>
                <a:spcPts val="300"/>
              </a:spcAft>
              <a:buNone/>
            </a:pPr>
            <a:r>
              <a:rPr sz="1400" b="0">
                <a:solidFill>
                  <a:srgbClr val="000000"/>
                </a:solidFill>
                <a:latin typeface="맑은 고딕"/>
                <a:ea typeface="맑은 고딕"/>
              </a:rPr>
              <a:t>1. </a:t>
            </a:r>
            <a:r>
              <a:rPr sz="1400" b="1">
                <a:solidFill>
                  <a:srgbClr val="000000"/>
                </a:solidFill>
                <a:latin typeface="맑은 고딕"/>
                <a:ea typeface="맑은 고딕"/>
              </a:rPr>
              <a:t>요구 반영</a:t>
            </a:r>
            <a:r>
              <a:rPr sz="1400" b="0">
                <a:solidFill>
                  <a:srgbClr val="000000"/>
                </a:solidFill>
                <a:latin typeface="맑은 고딕"/>
                <a:ea typeface="맑은 고딕"/>
              </a:rPr>
              <a:t> —</a:t>
            </a:r>
            <a:r>
              <a:rPr sz="1200" b="0">
                <a:solidFill>
                  <a:srgbClr val="000000"/>
                </a:solidFill>
                <a:latin typeface="맑은 고딕"/>
                <a:ea typeface="맑은 고딕"/>
              </a:rPr>
              <a:t> 기능 요구 F1~F6이 모두 유스케이스나 흐름으로 나타나는가?</a:t>
            </a:r>
          </a:p>
          <a:p>
            <a:pPr lvl="3" marL="947420" indent="-223520">
              <a:spcBef>
                <a:spcPts val="300"/>
              </a:spcBef>
              <a:spcAft>
                <a:spcPts val="300"/>
              </a:spcAft>
              <a:buNone/>
            </a:pPr>
            <a:r>
              <a:rPr sz="1400" b="0">
                <a:solidFill>
                  <a:srgbClr val="000000"/>
                </a:solidFill>
                <a:latin typeface="맑은 고딕"/>
                <a:ea typeface="맑은 고딕"/>
              </a:rPr>
              <a:t>2. </a:t>
            </a:r>
            <a:r>
              <a:rPr sz="1400" b="1">
                <a:solidFill>
                  <a:srgbClr val="000000"/>
                </a:solidFill>
                <a:latin typeface="맑은 고딕"/>
                <a:ea typeface="맑은 고딕"/>
              </a:rPr>
              <a:t>시스템 경계</a:t>
            </a:r>
            <a:r>
              <a:rPr sz="1400" b="0">
                <a:solidFill>
                  <a:srgbClr val="000000"/>
                </a:solidFill>
                <a:latin typeface="맑은 고딕"/>
                <a:ea typeface="맑은 고딕"/>
              </a:rPr>
              <a:t> —</a:t>
            </a:r>
            <a:r>
              <a:rPr sz="1200" b="0">
                <a:solidFill>
                  <a:srgbClr val="000000"/>
                </a:solidFill>
                <a:latin typeface="맑은 고딕"/>
                <a:ea typeface="맑은 고딕"/>
              </a:rPr>
              <a:t> 월별 청구·배송 처리처럼 외부 시스템이 하는 일을 유스케이스로 만들지 않았는가?</a:t>
            </a:r>
          </a:p>
          <a:p>
            <a:pPr lvl="3" marL="947420" indent="-223520">
              <a:spcBef>
                <a:spcPts val="300"/>
              </a:spcBef>
              <a:spcAft>
                <a:spcPts val="300"/>
              </a:spcAft>
              <a:buNone/>
            </a:pPr>
            <a:r>
              <a:rPr sz="1400" b="0">
                <a:solidFill>
                  <a:srgbClr val="000000"/>
                </a:solidFill>
                <a:latin typeface="맑은 고딕"/>
                <a:ea typeface="맑은 고딕"/>
              </a:rPr>
              <a:t>3. </a:t>
            </a:r>
            <a:r>
              <a:rPr sz="1400" b="1">
                <a:solidFill>
                  <a:srgbClr val="000000"/>
                </a:solidFill>
                <a:latin typeface="맑은 고딕"/>
                <a:ea typeface="맑은 고딕"/>
              </a:rPr>
              <a:t>유스케이스 단위</a:t>
            </a:r>
            <a:r>
              <a:rPr sz="1400" b="0">
                <a:solidFill>
                  <a:srgbClr val="000000"/>
                </a:solidFill>
                <a:latin typeface="맑은 고딕"/>
                <a:ea typeface="맑은 고딕"/>
              </a:rPr>
              <a:t> —</a:t>
            </a:r>
            <a:r>
              <a:rPr sz="1200" b="0">
                <a:solidFill>
                  <a:srgbClr val="000000"/>
                </a:solidFill>
                <a:latin typeface="맑은 고딕"/>
                <a:ea typeface="맑은 고딕"/>
              </a:rPr>
              <a:t> 기능 조각</a:t>
            </a:r>
            <a:r>
              <a:rPr sz="1000" b="0">
                <a:solidFill>
                  <a:srgbClr val="000000"/>
                </a:solidFill>
                <a:latin typeface="맑은 고딕"/>
                <a:ea typeface="맑은 고딕"/>
              </a:rPr>
              <a:t>(로그인·결제하기)</a:t>
            </a:r>
            <a:r>
              <a:rPr sz="1200" b="0">
                <a:solidFill>
                  <a:srgbClr val="000000"/>
                </a:solidFill>
                <a:latin typeface="맑은 고딕"/>
                <a:ea typeface="맑은 고딕"/>
              </a:rPr>
              <a:t>이나 CRUD 분할</a:t>
            </a:r>
            <a:r>
              <a:rPr sz="1000" b="0">
                <a:solidFill>
                  <a:srgbClr val="000000"/>
                </a:solidFill>
                <a:latin typeface="맑은 고딕"/>
                <a:ea typeface="맑은 고딕"/>
              </a:rPr>
              <a:t>(신청 조회·수정·삭제)</a:t>
            </a:r>
            <a:r>
              <a:rPr sz="1200" b="0">
                <a:solidFill>
                  <a:srgbClr val="000000"/>
                </a:solidFill>
                <a:latin typeface="맑은 고딕"/>
                <a:ea typeface="맑은 고딕"/>
              </a:rPr>
              <a:t>이 아닌가?</a:t>
            </a:r>
          </a:p>
          <a:p>
            <a:pPr lvl="3" marL="947420" indent="-223520">
              <a:spcBef>
                <a:spcPts val="300"/>
              </a:spcBef>
              <a:spcAft>
                <a:spcPts val="300"/>
              </a:spcAft>
              <a:buNone/>
            </a:pPr>
            <a:r>
              <a:rPr sz="1400" b="0">
                <a:solidFill>
                  <a:srgbClr val="000000"/>
                </a:solidFill>
                <a:latin typeface="맑은 고딕"/>
                <a:ea typeface="맑은 고딕"/>
              </a:rPr>
              <a:t>4. </a:t>
            </a:r>
            <a:r>
              <a:rPr sz="1400" b="1">
                <a:solidFill>
                  <a:srgbClr val="000000"/>
                </a:solidFill>
                <a:latin typeface="맑은 고딕"/>
                <a:ea typeface="맑은 고딕"/>
              </a:rPr>
              <a:t>흐름</a:t>
            </a:r>
            <a:r>
              <a:rPr sz="1400" b="0">
                <a:solidFill>
                  <a:srgbClr val="000000"/>
                </a:solidFill>
                <a:latin typeface="맑은 고딕"/>
                <a:ea typeface="맑은 고딕"/>
              </a:rPr>
              <a:t> —</a:t>
            </a:r>
            <a:r>
              <a:rPr sz="1200" b="0">
                <a:solidFill>
                  <a:srgbClr val="000000"/>
                </a:solidFill>
                <a:latin typeface="맑은 고딕"/>
                <a:ea typeface="맑은 고딕"/>
              </a:rPr>
              <a:t> 결제 요청, 배송 요청, 영수증 발행이 기본 흐름에 빠짐없이 있는가?</a:t>
            </a:r>
          </a:p>
          <a:p>
            <a:pPr lvl="3" marL="947420" indent="-223520">
              <a:spcBef>
                <a:spcPts val="300"/>
              </a:spcBef>
              <a:spcAft>
                <a:spcPts val="300"/>
              </a:spcAft>
              <a:buNone/>
            </a:pPr>
            <a:r>
              <a:rPr sz="1400" b="0">
                <a:solidFill>
                  <a:srgbClr val="000000"/>
                </a:solidFill>
                <a:latin typeface="맑은 고딕"/>
                <a:ea typeface="맑은 고딕"/>
              </a:rPr>
              <a:t>5. </a:t>
            </a:r>
            <a:r>
              <a:rPr sz="1400" b="1">
                <a:solidFill>
                  <a:srgbClr val="000000"/>
                </a:solidFill>
                <a:latin typeface="맑은 고딕"/>
                <a:ea typeface="맑은 고딕"/>
              </a:rPr>
              <a:t>규칙</a:t>
            </a:r>
            <a:r>
              <a:rPr sz="1400" b="0">
                <a:solidFill>
                  <a:srgbClr val="000000"/>
                </a:solidFill>
                <a:latin typeface="맑은 고딕"/>
                <a:ea typeface="맑은 고딕"/>
              </a:rPr>
              <a:t> —</a:t>
            </a:r>
            <a:r>
              <a:rPr sz="1200" b="0">
                <a:solidFill>
                  <a:srgbClr val="000000"/>
                </a:solidFill>
                <a:latin typeface="맑은 고딕"/>
                <a:ea typeface="맑은 고딕"/>
              </a:rPr>
              <a:t> 업무 규칙이 흐름의 조건으로 들어갔는가? 명세서에 없는 규칙은 확인했는가?</a:t>
            </a:r>
          </a:p>
          <a:p>
            <a:pPr lvl="3" marL="947420" indent="-223520">
              <a:spcBef>
                <a:spcPts val="300"/>
              </a:spcBef>
              <a:spcAft>
                <a:spcPts val="300"/>
              </a:spcAft>
              <a:buNone/>
            </a:pPr>
            <a:r>
              <a:rPr sz="1400" b="0">
                <a:solidFill>
                  <a:srgbClr val="000000"/>
                </a:solidFill>
                <a:latin typeface="맑은 고딕"/>
                <a:ea typeface="맑은 고딕"/>
              </a:rPr>
              <a:t>6. </a:t>
            </a:r>
            <a:r>
              <a:rPr sz="1400" b="1">
                <a:solidFill>
                  <a:srgbClr val="000000"/>
                </a:solidFill>
                <a:latin typeface="맑은 고딕"/>
                <a:ea typeface="맑은 고딕"/>
              </a:rPr>
              <a:t>용어</a:t>
            </a:r>
            <a:r>
              <a:rPr sz="1400" b="0">
                <a:solidFill>
                  <a:srgbClr val="000000"/>
                </a:solidFill>
                <a:latin typeface="맑은 고딕"/>
                <a:ea typeface="맑은 고딕"/>
              </a:rPr>
              <a:t> —</a:t>
            </a:r>
            <a:r>
              <a:rPr sz="1200" b="0">
                <a:solidFill>
                  <a:srgbClr val="000000"/>
                </a:solidFill>
                <a:latin typeface="맑은 고딕"/>
                <a:ea typeface="맑은 고딕"/>
              </a:rPr>
              <a:t> 구현 표현</a:t>
            </a:r>
            <a:r>
              <a:rPr sz="1000" b="0">
                <a:solidFill>
                  <a:srgbClr val="000000"/>
                </a:solidFill>
                <a:latin typeface="맑은 고딕"/>
                <a:ea typeface="맑은 고딕"/>
              </a:rPr>
              <a:t>(화면·DB)</a:t>
            </a:r>
            <a:r>
              <a:rPr sz="1200" b="0">
                <a:solidFill>
                  <a:srgbClr val="000000"/>
                </a:solidFill>
                <a:latin typeface="맑은 고딕"/>
                <a:ea typeface="맑은 고딕"/>
              </a:rPr>
              <a:t> 없이, 한 용어를 한 뜻과 한 영문명으로 용어집에 정했는가?</a:t>
            </a:r>
          </a:p>
          <a:p>
            <a:pPr lvl="2" marL="723900" indent="-368300">
              <a:spcBef>
                <a:spcPts val="300"/>
              </a:spcBef>
              <a:spcAft>
                <a:spcPts val="300"/>
              </a:spcAft>
              <a:buSzPct val="90000"/>
              <a:buFont typeface="Wingdings" pitchFamily="2" charset="2"/>
              <a:buChar char=""/>
            </a:pPr>
            <a:r>
              <a:rPr sz="1600" b="1">
                <a:solidFill>
                  <a:srgbClr val="000000"/>
                </a:solidFill>
                <a:latin typeface="맑은 고딕"/>
                <a:ea typeface="맑은 고딕"/>
              </a:rPr>
              <a:t>결과물</a:t>
            </a:r>
            <a:r>
              <a:rPr sz="1600" b="0">
                <a:solidFill>
                  <a:srgbClr val="000000"/>
                </a:solidFill>
                <a:latin typeface="맑은 고딕"/>
                <a:ea typeface="맑은 고딕"/>
              </a:rPr>
              <a:t> —</a:t>
            </a:r>
            <a:r>
              <a:rPr sz="1400" b="0">
                <a:solidFill>
                  <a:srgbClr val="000000"/>
                </a:solidFill>
                <a:latin typeface="맑은 고딕"/>
                <a:ea typeface="맑은 고딕"/>
              </a:rPr>
              <a:t> 유스케이스 다이어그램, "정기배송을 신청한다" 명세서, 용어집. 실습 3의 입력이 됩니다.</a:t>
            </a:r>
          </a:p>
        </p:txBody>
      </p:sp>
    </p:spTree>
    <p:extLst>
      <p:ext uri="{BB962C8B-B14F-4D97-AF65-F5344CB8AC3E}">
        <p14:creationId xmlns:p14="http://schemas.microsoft.com/office/powerpoint/2010/main" val="355543667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67. 요약</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- 88 -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요구 분석은 요청에서 요구를 </a:t>
            </a:r>
            <a:r>
              <a:rPr sz="1800" b="1">
                <a:solidFill>
                  <a:srgbClr val="000000"/>
                </a:solidFill>
                <a:latin typeface="맑은 고딕"/>
                <a:ea typeface="맑은 고딕"/>
              </a:rPr>
              <a:t>발견</a:t>
            </a:r>
            <a:r>
              <a:rPr sz="1800" b="0">
                <a:solidFill>
                  <a:srgbClr val="000000"/>
                </a:solidFill>
                <a:latin typeface="맑은 고딕"/>
                <a:ea typeface="맑은 고딕"/>
              </a:rPr>
              <a:t>하고 유스케이스로 책임을 </a:t>
            </a:r>
            <a:r>
              <a:rPr sz="1800" b="1">
                <a:solidFill>
                  <a:srgbClr val="000000"/>
                </a:solidFill>
                <a:latin typeface="맑은 고딕"/>
                <a:ea typeface="맑은 고딕"/>
              </a:rPr>
              <a:t>검증</a:t>
            </a:r>
            <a:r>
              <a:rPr sz="1800" b="0">
                <a:solidFill>
                  <a:srgbClr val="000000"/>
                </a:solidFill>
                <a:latin typeface="맑은 고딕"/>
                <a:ea typeface="맑은 고딕"/>
              </a:rPr>
              <a:t>한다.</a:t>
            </a:r>
          </a:p>
          <a:p>
            <a:pPr marL="342900" indent="0">
              <a:spcBef>
                <a:spcPts val="600"/>
              </a:spcBef>
              <a:spcAft>
                <a:spcPts val="600"/>
              </a:spcAft>
              <a:buNone/>
            </a:pPr>
            <a:r>
              <a:rPr sz="1800" b="1">
                <a:solidFill>
                  <a:srgbClr val="000000"/>
                </a:solidFill>
                <a:latin typeface="맑은 고딕"/>
                <a:ea typeface="맑은 고딕"/>
              </a:rPr>
              <a:t>요구 분석과 유스케이스의 핵심</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문제·요구·이벤트</a:t>
            </a:r>
            <a:r>
              <a:rPr sz="1800" b="0">
                <a:solidFill>
                  <a:srgbClr val="000000"/>
                </a:solidFill>
                <a:latin typeface="맑은 고딕"/>
                <a:ea typeface="맑은 고딕"/>
              </a:rPr>
              <a:t> —</a:t>
            </a:r>
            <a:r>
              <a:rPr sz="1600" b="0">
                <a:solidFill>
                  <a:srgbClr val="000000"/>
                </a:solidFill>
                <a:latin typeface="맑은 고딕"/>
                <a:ea typeface="맑은 고딕"/>
              </a:rPr>
              <a:t> 요청에 섞인 수준을 구분하고, 이벤트로 합의하며 작은 반복으로 검증한다.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경우별 접근</a:t>
            </a:r>
            <a:r>
              <a:rPr sz="1800" b="0">
                <a:solidFill>
                  <a:srgbClr val="000000"/>
                </a:solidFill>
                <a:latin typeface="맑은 고딕"/>
                <a:ea typeface="맑은 고딕"/>
              </a:rPr>
              <a:t> —</a:t>
            </a:r>
            <a:r>
              <a:rPr sz="1600" b="0">
                <a:solidFill>
                  <a:srgbClr val="000000"/>
                </a:solidFill>
                <a:latin typeface="맑은 고딕"/>
                <a:ea typeface="맑은 고딕"/>
              </a:rPr>
              <a:t> 업무 지식과 불확실성에 따라 요구 기법을 고른다.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용어집</a:t>
            </a:r>
            <a:r>
              <a:rPr sz="1800" b="0">
                <a:solidFill>
                  <a:srgbClr val="000000"/>
                </a:solidFill>
                <a:latin typeface="맑은 고딕"/>
                <a:ea typeface="맑은 고딕"/>
              </a:rPr>
              <a:t> —</a:t>
            </a:r>
            <a:r>
              <a:rPr sz="1600" b="0">
                <a:solidFill>
                  <a:srgbClr val="000000"/>
                </a:solidFill>
                <a:latin typeface="맑은 고딕"/>
                <a:ea typeface="맑은 고딕"/>
              </a:rPr>
              <a:t> 한 용어에 한 뜻과 하나의 영문명이 모델·코드의 원천이다.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유스케이스와 경계</a:t>
            </a:r>
            <a:r>
              <a:rPr sz="1800" b="0">
                <a:solidFill>
                  <a:srgbClr val="000000"/>
                </a:solidFill>
                <a:latin typeface="맑은 고딕"/>
                <a:ea typeface="맑은 고딕"/>
              </a:rPr>
              <a:t> —</a:t>
            </a:r>
            <a:r>
              <a:rPr sz="1600" b="0">
                <a:solidFill>
                  <a:srgbClr val="000000"/>
                </a:solidFill>
                <a:latin typeface="맑은 고딕"/>
                <a:ea typeface="맑은 고딕"/>
              </a:rPr>
              <a:t> 기능 분해·CRUD·화면이 아니라 사용자 목표와 가치 있는 결과로 식별하고, 소유로 시스템 경계를 정한다.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SSD·계약·검증</a:t>
            </a:r>
            <a:r>
              <a:rPr sz="1800" b="0">
                <a:solidFill>
                  <a:srgbClr val="000000"/>
                </a:solidFill>
                <a:latin typeface="맑은 고딕"/>
                <a:ea typeface="맑은 고딕"/>
              </a:rPr>
              <a:t> —</a:t>
            </a:r>
            <a:r>
              <a:rPr sz="1600" b="0">
                <a:solidFill>
                  <a:srgbClr val="000000"/>
                </a:solidFill>
                <a:latin typeface="맑은 고딕"/>
                <a:ea typeface="맑은 고딕"/>
              </a:rPr>
              <a:t> SSD 초안을 외부 시스템까지 정제하고, 외부 결과로 계약해 코드·테스트로 잇고, 스토리·BDD</a:t>
            </a:r>
            <a:r>
              <a:rPr sz="1200" b="0">
                <a:solidFill>
                  <a:srgbClr val="000000"/>
                </a:solidFill>
                <a:latin typeface="맑은 고딕"/>
                <a:ea typeface="맑은 고딕"/>
              </a:rPr>
              <a:t>(Given-When-Then)</a:t>
            </a:r>
            <a:r>
              <a:rPr sz="1600" b="0">
                <a:solidFill>
                  <a:srgbClr val="000000"/>
                </a:solidFill>
                <a:latin typeface="맑은 고딕"/>
                <a:ea typeface="맑은 고딕"/>
              </a:rPr>
              <a:t>·추적으로 검증한다.</a:t>
            </a:r>
          </a:p>
          <a:p>
            <a:pPr marL="342900" indent="0">
              <a:spcBef>
                <a:spcPts val="600"/>
              </a:spcBef>
              <a:spcAft>
                <a:spcPts val="600"/>
              </a:spcAft>
              <a:buNone/>
            </a:pPr>
            <a:r>
              <a:rPr sz="1800" b="1">
                <a:solidFill>
                  <a:srgbClr val="000000"/>
                </a:solidFill>
                <a:latin typeface="맑은 고딕"/>
                <a:ea typeface="맑은 고딕"/>
              </a:rPr>
              <a:t>다음 세션</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a:t>
            </a:r>
            <a:r>
              <a:rPr sz="1800" b="1">
                <a:solidFill>
                  <a:srgbClr val="000000"/>
                </a:solidFill>
                <a:latin typeface="맑은 고딕"/>
                <a:ea typeface="맑은 고딕"/>
              </a:rPr>
              <a:t>03. 정적 모델 —</a:t>
            </a:r>
            <a:r>
              <a:rPr sz="1600" b="1">
                <a:solidFill>
                  <a:srgbClr val="000000"/>
                </a:solidFill>
                <a:latin typeface="맑은 고딕"/>
                <a:ea typeface="맑은 고딕"/>
              </a:rPr>
              <a:t> 도메인 개념과 관계</a:t>
            </a:r>
            <a:r>
              <a:rPr sz="1600" b="0">
                <a:solidFill>
                  <a:srgbClr val="000000"/>
                </a:solidFill>
                <a:latin typeface="맑은 고딕"/>
                <a:ea typeface="맑은 고딕"/>
              </a:rPr>
              <a:t>" — 명세서·정제된 SSD·계약을 입력으로, 클래스로 기계적으로 변환하지 않고 문제영역의 정적 의미 구조를 분석한다.</a:t>
            </a:r>
          </a:p>
        </p:txBody>
      </p:sp>
    </p:spTree>
    <p:extLst>
      <p:ext uri="{BB962C8B-B14F-4D97-AF65-F5344CB8AC3E}">
        <p14:creationId xmlns:p14="http://schemas.microsoft.com/office/powerpoint/2010/main" val="355543667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유스케이스 다이어그램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- 89 -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300"/>
              </a:spcBef>
              <a:spcAft>
                <a:spcPts val="300"/>
              </a:spcAft>
              <a:buNone/>
            </a:pPr>
            <a:r>
              <a:rPr sz="1400" b="0">
                <a:solidFill>
                  <a:srgbClr val="000000"/>
                </a:solidFill>
                <a:latin typeface="맑은 고딕"/>
                <a:ea typeface="맑은 고딕"/>
              </a:rPr>
              <a:t>고객은 정기배송을 신청·관리하고, 다음 배송 취소·배송 현황 조회·반품을 한다. </a:t>
            </a:r>
            <a:r>
              <a:rPr sz="1400" b="1">
                <a:solidFill>
                  <a:srgbClr val="000000"/>
                </a:solidFill>
                <a:latin typeface="맑은 고딕"/>
                <a:ea typeface="맑은 고딕"/>
              </a:rPr>
              <a:t>관리자</a:t>
            </a:r>
            <a:r>
              <a:rPr sz="1400" b="0">
                <a:solidFill>
                  <a:srgbClr val="000000"/>
                </a:solidFill>
                <a:latin typeface="맑은 고딕"/>
                <a:ea typeface="맑은 고딕"/>
              </a:rPr>
              <a:t>는 고객의 정기배송과 반품을 관리한다. 월별 청구는 결제 시스템이, 배송은 배송 시스템이 맡는다.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고객</a:t>
            </a:r>
            <a:r>
              <a:rPr sz="1400" b="0">
                <a:solidFill>
                  <a:srgbClr val="000000"/>
                </a:solidFill>
                <a:latin typeface="맑은 고딕"/>
                <a:ea typeface="맑은 고딕"/>
              </a:rPr>
              <a:t> —</a:t>
            </a:r>
            <a:r>
              <a:rPr sz="1200" b="0">
                <a:solidFill>
                  <a:srgbClr val="000000"/>
                </a:solidFill>
                <a:latin typeface="맑은 고딕"/>
                <a:ea typeface="맑은 고딕"/>
              </a:rPr>
              <a:t> UC1 정기배송을 신청한다</a:t>
            </a:r>
            <a:r>
              <a:rPr sz="1000" b="0">
                <a:solidFill>
                  <a:srgbClr val="000000"/>
                </a:solidFill>
                <a:latin typeface="맑은 고딕"/>
                <a:ea typeface="맑은 고딕"/>
              </a:rPr>
              <a:t>(F1·F2·F3·F6, 조회·변경)</a:t>
            </a:r>
            <a:r>
              <a:rPr sz="1200" b="0">
                <a:solidFill>
                  <a:srgbClr val="000000"/>
                </a:solidFill>
                <a:latin typeface="맑은 고딕"/>
                <a:ea typeface="맑은 고딕"/>
              </a:rPr>
              <a:t>, UC2 다음 배송을 취소한다</a:t>
            </a:r>
            <a:r>
              <a:rPr sz="1000" b="0">
                <a:solidFill>
                  <a:srgbClr val="000000"/>
                </a:solidFill>
                <a:latin typeface="맑은 고딕"/>
                <a:ea typeface="맑은 고딕"/>
              </a:rPr>
              <a:t>(F4)</a:t>
            </a:r>
            <a:r>
              <a:rPr sz="1200" b="0">
                <a:solidFill>
                  <a:srgbClr val="000000"/>
                </a:solidFill>
                <a:latin typeface="맑은 고딕"/>
                <a:ea typeface="맑은 고딕"/>
              </a:rPr>
              <a:t>, UC3 배송 현황을 조회한다</a:t>
            </a:r>
            <a:r>
              <a:rPr sz="1000" b="0">
                <a:solidFill>
                  <a:srgbClr val="000000"/>
                </a:solidFill>
                <a:latin typeface="맑은 고딕"/>
                <a:ea typeface="맑은 고딕"/>
              </a:rPr>
              <a:t>(새 요구)</a:t>
            </a:r>
            <a:r>
              <a:rPr sz="1200" b="0">
                <a:solidFill>
                  <a:srgbClr val="000000"/>
                </a:solidFill>
                <a:latin typeface="맑은 고딕"/>
                <a:ea typeface="맑은 고딕"/>
              </a:rPr>
              <a:t>, UC4 반품을 신청한다</a:t>
            </a:r>
            <a:r>
              <a:rPr sz="1000" b="0">
                <a:solidFill>
                  <a:srgbClr val="000000"/>
                </a:solidFill>
                <a:latin typeface="맑은 고딕"/>
                <a:ea typeface="맑은 고딕"/>
              </a:rPr>
              <a:t>(F5)</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관리자</a:t>
            </a:r>
            <a:r>
              <a:rPr sz="1400" b="0">
                <a:solidFill>
                  <a:srgbClr val="000000"/>
                </a:solidFill>
                <a:latin typeface="맑은 고딕"/>
                <a:ea typeface="맑은 고딕"/>
              </a:rPr>
              <a:t> —</a:t>
            </a:r>
            <a:r>
              <a:rPr sz="1200" b="0">
                <a:solidFill>
                  <a:srgbClr val="000000"/>
                </a:solidFill>
                <a:latin typeface="맑은 고딕"/>
                <a:ea typeface="맑은 고딕"/>
              </a:rPr>
              <a:t> UC5 정기배송을 관리한다</a:t>
            </a:r>
            <a:r>
              <a:rPr sz="1000" b="0">
                <a:solidFill>
                  <a:srgbClr val="000000"/>
                </a:solidFill>
                <a:latin typeface="맑은 고딕"/>
                <a:ea typeface="맑은 고딕"/>
              </a:rPr>
              <a:t>(정지된 정기배송의 재개·해지)</a:t>
            </a:r>
            <a:r>
              <a:rPr sz="1200" b="0">
                <a:solidFill>
                  <a:srgbClr val="000000"/>
                </a:solidFill>
                <a:latin typeface="맑은 고딕"/>
                <a:ea typeface="맑은 고딕"/>
              </a:rPr>
              <a:t>, UC6 반품을 승인한다</a:t>
            </a:r>
            <a:r>
              <a:rPr sz="1000" b="0">
                <a:solidFill>
                  <a:srgbClr val="000000"/>
                </a:solidFill>
                <a:latin typeface="맑은 고딕"/>
                <a:ea typeface="맑은 고딕"/>
              </a:rPr>
              <a:t>(불량·오배송 판단)</a:t>
            </a:r>
          </a:p>
        </p:txBody>
      </p:sp>
      <p:pic>
        <p:nvPicPr>
          <p:cNvPr id="9" name="plantuml Diagram 7"/>
          <p:cNvPicPr>
            <a:picLocks noChangeAspect="1"/>
          </p:cNvPicPr>
          <p:nvPr/>
        </p:nvPicPr>
        <p:blipFill>
          <a:blip r:embed="plantumlImage7"/>
          <a:stretch>
            <a:fillRect/>
          </a:stretch>
        </p:blipFill>
        <p:spPr>
          <a:xfrm>
            <a:off x="2999154" y="2268323"/>
            <a:ext cx="3145692" cy="3243385"/>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유스케이스 명세서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- 90 -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1414318"/>
            <a:ext cx="4338828"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액터·조건</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주 액터</a:t>
            </a:r>
            <a:r>
              <a:rPr sz="1200" b="0">
                <a:solidFill>
                  <a:srgbClr val="000000"/>
                </a:solidFill>
                <a:latin typeface="맑은 고딕"/>
                <a:ea typeface="맑은 고딕"/>
              </a:rPr>
              <a:t> —</a:t>
            </a:r>
            <a:r>
              <a:rPr sz="1000" b="0">
                <a:solidFill>
                  <a:srgbClr val="000000"/>
                </a:solidFill>
                <a:latin typeface="맑은 고딕"/>
                <a:ea typeface="맑은 고딕"/>
              </a:rPr>
              <a:t> 고객</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지원 액터</a:t>
            </a:r>
            <a:r>
              <a:rPr sz="1200" b="0">
                <a:solidFill>
                  <a:srgbClr val="000000"/>
                </a:solidFill>
                <a:latin typeface="맑은 고딕"/>
                <a:ea typeface="맑은 고딕"/>
              </a:rPr>
              <a:t> —</a:t>
            </a:r>
            <a:r>
              <a:rPr sz="1000" b="0">
                <a:solidFill>
                  <a:srgbClr val="000000"/>
                </a:solidFill>
                <a:latin typeface="맑은 고딕"/>
                <a:ea typeface="맑은 고딕"/>
              </a:rPr>
              <a:t> 상품 시스템, 결제 시스템, 배송 시스템</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사전조건</a:t>
            </a:r>
            <a:r>
              <a:rPr sz="1200" b="0">
                <a:solidFill>
                  <a:srgbClr val="000000"/>
                </a:solidFill>
                <a:latin typeface="맑은 고딕"/>
                <a:ea typeface="맑은 고딕"/>
              </a:rPr>
              <a:t> —</a:t>
            </a:r>
            <a:r>
              <a:rPr sz="1000" b="0">
                <a:solidFill>
                  <a:srgbClr val="000000"/>
                </a:solidFill>
                <a:latin typeface="맑은 고딕"/>
                <a:ea typeface="맑은 고딕"/>
              </a:rPr>
              <a:t> 고객이 식별되어 있다.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성공 보장</a:t>
            </a:r>
            <a:r>
              <a:rPr sz="1200" b="0">
                <a:solidFill>
                  <a:srgbClr val="000000"/>
                </a:solidFill>
                <a:latin typeface="맑은 고딕"/>
                <a:ea typeface="맑은 고딕"/>
              </a:rPr>
              <a:t> —</a:t>
            </a:r>
            <a:r>
              <a:rPr sz="1000" b="0">
                <a:solidFill>
                  <a:srgbClr val="000000"/>
                </a:solidFill>
                <a:latin typeface="맑은 고딕"/>
                <a:ea typeface="맑은 고딕"/>
              </a:rPr>
              <a:t> 정기배송이 확정되고, 배송이 요청되고, 영수증이 발행된다.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기본 흐름</a:t>
            </a:r>
          </a:p>
          <a:p>
            <a:pPr lvl="3" marL="457200" indent="0">
              <a:spcBef>
                <a:spcPts val="300"/>
              </a:spcBef>
              <a:spcAft>
                <a:spcPts val="300"/>
              </a:spcAft>
              <a:buNone/>
            </a:pPr>
            <a:r>
              <a:rPr sz="1200" b="0">
                <a:solidFill>
                  <a:srgbClr val="000000"/>
                </a:solidFill>
                <a:latin typeface="맑은 고딕"/>
                <a:ea typeface="맑은 고딕"/>
              </a:rPr>
              <a:t>1. 고객이 배송 신청할 상품을 조회한다.</a:t>
            </a:r>
          </a:p>
          <a:p>
            <a:pPr lvl="3" marL="457200" indent="0">
              <a:spcBef>
                <a:spcPts val="300"/>
              </a:spcBef>
              <a:spcAft>
                <a:spcPts val="300"/>
              </a:spcAft>
              <a:buNone/>
            </a:pPr>
            <a:r>
              <a:rPr sz="1200" b="0">
                <a:solidFill>
                  <a:srgbClr val="000000"/>
                </a:solidFill>
                <a:latin typeface="맑은 고딕"/>
                <a:ea typeface="맑은 고딕"/>
              </a:rPr>
              <a:t>2. 고객이 선택한 상품과 수량을 </a:t>
            </a:r>
            <a:r>
              <a:rPr sz="1200" b="1">
                <a:solidFill>
                  <a:srgbClr val="000000"/>
                </a:solidFill>
                <a:latin typeface="맑은 고딕"/>
                <a:ea typeface="맑은 고딕"/>
              </a:rPr>
              <a:t>장바구니에 담는다</a:t>
            </a:r>
            <a:r>
              <a:rPr sz="800" b="0">
                <a:solidFill>
                  <a:srgbClr val="000000"/>
                </a:solidFill>
                <a:latin typeface="맑은 고딕"/>
                <a:ea typeface="맑은 고딕"/>
              </a:rPr>
              <a:t>(1~2 반복)</a:t>
            </a:r>
            <a:r>
              <a:rPr sz="1200" b="0">
                <a:solidFill>
                  <a:srgbClr val="000000"/>
                </a:solidFill>
                <a:latin typeface="맑은 고딕"/>
                <a:ea typeface="맑은 고딕"/>
              </a:rPr>
              <a:t>.</a:t>
            </a:r>
          </a:p>
          <a:p>
            <a:pPr lvl="3" marL="457200" indent="0">
              <a:spcBef>
                <a:spcPts val="300"/>
              </a:spcBef>
              <a:spcAft>
                <a:spcPts val="300"/>
              </a:spcAft>
              <a:buNone/>
            </a:pPr>
            <a:r>
              <a:rPr sz="1200" b="0">
                <a:solidFill>
                  <a:srgbClr val="000000"/>
                </a:solidFill>
                <a:latin typeface="맑은 고딕"/>
                <a:ea typeface="맑은 고딕"/>
              </a:rPr>
              <a:t>3. 고객이 배송 주기, 첫 배송일, 기간, 배송지를 입력한다.</a:t>
            </a:r>
          </a:p>
          <a:p>
            <a:pPr lvl="3" marL="457200" indent="0">
              <a:spcBef>
                <a:spcPts val="300"/>
              </a:spcBef>
              <a:spcAft>
                <a:spcPts val="300"/>
              </a:spcAft>
              <a:buNone/>
            </a:pPr>
            <a:r>
              <a:rPr sz="1200" b="0">
                <a:solidFill>
                  <a:srgbClr val="000000"/>
                </a:solidFill>
                <a:latin typeface="맑은 고딕"/>
                <a:ea typeface="맑은 고딕"/>
              </a:rPr>
              <a:t>4. 시스템이 결제 금액, 배송 일정, 만료일을 보여 준다.</a:t>
            </a:r>
          </a:p>
          <a:p>
            <a:pPr lvl="3" marL="457200" indent="0">
              <a:spcBef>
                <a:spcPts val="300"/>
              </a:spcBef>
              <a:spcAft>
                <a:spcPts val="300"/>
              </a:spcAft>
              <a:buNone/>
            </a:pPr>
            <a:r>
              <a:rPr sz="1200" b="0">
                <a:solidFill>
                  <a:srgbClr val="000000"/>
                </a:solidFill>
                <a:latin typeface="맑은 고딕"/>
                <a:ea typeface="맑은 고딕"/>
              </a:rPr>
              <a:t>5. 고객이 결제 방법과 청구 방식을 골라 결제한다.</a:t>
            </a:r>
          </a:p>
          <a:p>
            <a:pPr lvl="3" marL="457200" indent="0">
              <a:spcBef>
                <a:spcPts val="300"/>
              </a:spcBef>
              <a:spcAft>
                <a:spcPts val="300"/>
              </a:spcAft>
              <a:buNone/>
            </a:pPr>
            <a:r>
              <a:rPr sz="1200" b="0">
                <a:solidFill>
                  <a:srgbClr val="000000"/>
                </a:solidFill>
                <a:latin typeface="맑은 고딕"/>
                <a:ea typeface="맑은 고딕"/>
              </a:rPr>
              <a:t>6. 시스템이 </a:t>
            </a:r>
            <a:r>
              <a:rPr sz="1200" b="1">
                <a:solidFill>
                  <a:srgbClr val="000000"/>
                </a:solidFill>
                <a:latin typeface="맑은 고딕"/>
                <a:ea typeface="맑은 고딕"/>
              </a:rPr>
              <a:t>결제를 요청</a:t>
            </a:r>
            <a:r>
              <a:rPr sz="1200" b="0">
                <a:solidFill>
                  <a:srgbClr val="000000"/>
                </a:solidFill>
                <a:latin typeface="맑은 고딕"/>
                <a:ea typeface="맑은 고딕"/>
              </a:rPr>
              <a:t>한다.</a:t>
            </a:r>
          </a:p>
          <a:p>
            <a:pPr lvl="3" marL="457200" indent="0">
              <a:spcBef>
                <a:spcPts val="300"/>
              </a:spcBef>
              <a:spcAft>
                <a:spcPts val="300"/>
              </a:spcAft>
              <a:buNone/>
            </a:pPr>
            <a:r>
              <a:rPr sz="1200" b="0">
                <a:solidFill>
                  <a:srgbClr val="000000"/>
                </a:solidFill>
                <a:latin typeface="맑은 고딕"/>
                <a:ea typeface="맑은 고딕"/>
              </a:rPr>
              <a:t>7. 시스템이 정기배송을 확정하고, </a:t>
            </a:r>
            <a:r>
              <a:rPr sz="1200" b="1">
                <a:solidFill>
                  <a:srgbClr val="000000"/>
                </a:solidFill>
                <a:latin typeface="맑은 고딕"/>
                <a:ea typeface="맑은 고딕"/>
              </a:rPr>
              <a:t>배송을 요청</a:t>
            </a:r>
            <a:r>
              <a:rPr sz="1200" b="0">
                <a:solidFill>
                  <a:srgbClr val="000000"/>
                </a:solidFill>
                <a:latin typeface="맑은 고딕"/>
                <a:ea typeface="맑은 고딕"/>
              </a:rPr>
              <a:t>한다.</a:t>
            </a:r>
          </a:p>
          <a:p>
            <a:pPr lvl="3" marL="457200" indent="0">
              <a:spcBef>
                <a:spcPts val="300"/>
              </a:spcBef>
              <a:spcAft>
                <a:spcPts val="300"/>
              </a:spcAft>
              <a:buNone/>
            </a:pPr>
            <a:r>
              <a:rPr sz="1200" b="0">
                <a:solidFill>
                  <a:srgbClr val="000000"/>
                </a:solidFill>
                <a:latin typeface="맑은 고딕"/>
                <a:ea typeface="맑은 고딕"/>
              </a:rPr>
              <a:t>8. 시스템이 </a:t>
            </a:r>
            <a:r>
              <a:rPr sz="1200" b="1">
                <a:solidFill>
                  <a:srgbClr val="000000"/>
                </a:solidFill>
                <a:latin typeface="맑은 고딕"/>
                <a:ea typeface="맑은 고딕"/>
              </a:rPr>
              <a:t>영수증을 발행</a:t>
            </a:r>
            <a:r>
              <a:rPr sz="1200" b="0">
                <a:solidFill>
                  <a:srgbClr val="000000"/>
                </a:solidFill>
                <a:latin typeface="맑은 고딕"/>
                <a:ea typeface="맑은 고딕"/>
              </a:rPr>
              <a:t>하고 고객에게 알린다.</a:t>
            </a:r>
          </a:p>
        </p:txBody>
      </p:sp>
      <p:sp>
        <p:nvSpPr>
          <p:cNvPr id="9"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960120"/>
            <a:ext cx="8778240" cy="454198"/>
          </a:xfrm>
        </p:spPr>
        <p:txBody>
          <a:bodyPr>
            <a:normAutofit/>
          </a:bodyPr>
          <a:lstStyle/>
          <a:p>
            <a:pPr marL="0" indent="0">
              <a:spcBef>
                <a:spcPts val="300"/>
              </a:spcBef>
              <a:spcAft>
                <a:spcPts val="300"/>
              </a:spcAft>
              <a:buNone/>
            </a:pPr>
            <a:r>
              <a:rPr sz="1400" b="1">
                <a:solidFill>
                  <a:srgbClr val="000000"/>
                </a:solidFill>
                <a:latin typeface="맑은 고딕"/>
                <a:ea typeface="맑은 고딕"/>
              </a:rPr>
              <a:t>「정기배송을 신청한다」</a:t>
            </a:r>
            <a:r>
              <a:rPr sz="1400" b="0">
                <a:solidFill>
                  <a:srgbClr val="000000"/>
                </a:solidFill>
                <a:latin typeface="맑은 고딕"/>
                <a:ea typeface="맑은 고딕"/>
              </a:rPr>
              <a:t> —</a:t>
            </a:r>
            <a:r>
              <a:rPr sz="1200" b="0">
                <a:solidFill>
                  <a:srgbClr val="000000"/>
                </a:solidFill>
                <a:latin typeface="맑은 고딕"/>
                <a:ea typeface="맑은 고딕"/>
              </a:rPr>
              <a:t> 고객이 생필품을 정해진 주기로 받도록 정기배송을 신청하고, 신청한 정기배송을 조회·변경·해지한다.</a:t>
            </a:r>
          </a:p>
        </p:txBody>
      </p:sp>
      <p:sp>
        <p:nvSpPr>
          <p:cNvPr id="10" name="내용 개체 틀 7">
            <a:extLst>
              <a:ext uri="{FF2B5EF4-FFF2-40B4-BE49-F238E27FC236}">
                <a16:creationId xmlns:a16="http://schemas.microsoft.com/office/drawing/2014/main" id="{BEBA2C4A-B0BF-F2E4-EA6E-614C99CBA184}"/>
              </a:ext>
            </a:extLst>
          </p:cNvPr>
          <p:cNvSpPr>
            <a:spLocks noGrp="1"/>
          </p:cNvSpPr>
          <p:nvPr>
            <p:ph idx="1"/>
          </p:nvPr>
        </p:nvSpPr>
        <p:spPr>
          <a:xfrm>
            <a:off x="4572000" y="1414318"/>
            <a:ext cx="4439412"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업무 규칙</a:t>
            </a:r>
            <a:r>
              <a:rPr sz="1400" b="0">
                <a:solidFill>
                  <a:srgbClr val="000000"/>
                </a:solidFill>
                <a:latin typeface="맑은 고딕"/>
                <a:ea typeface="맑은 고딕"/>
              </a:rPr>
              <a:t> —</a:t>
            </a:r>
            <a:r>
              <a:rPr sz="1200" b="0">
                <a:solidFill>
                  <a:srgbClr val="000000"/>
                </a:solidFill>
                <a:latin typeface="맑은 고딕"/>
                <a:ea typeface="맑은 고딕"/>
              </a:rPr>
              <a:t> R1~R6, R11</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R12 배송 정보 변경</a:t>
            </a:r>
            <a:r>
              <a:rPr sz="1200" b="0">
                <a:solidFill>
                  <a:srgbClr val="000000"/>
                </a:solidFill>
                <a:latin typeface="맑은 고딕"/>
                <a:ea typeface="맑은 고딕"/>
              </a:rPr>
              <a:t> —</a:t>
            </a:r>
            <a:r>
              <a:rPr sz="1000" b="0">
                <a:solidFill>
                  <a:srgbClr val="000000"/>
                </a:solidFill>
                <a:latin typeface="맑은 고딕"/>
                <a:ea typeface="맑은 고딕"/>
              </a:rPr>
              <a:t> 다음 배송 24시간 전까지, 다음 회차부터 적용</a:t>
            </a:r>
            <a:r>
              <a:rPr sz="800" b="0">
                <a:solidFill>
                  <a:srgbClr val="000000"/>
                </a:solidFill>
                <a:latin typeface="맑은 고딕"/>
                <a:ea typeface="맑은 고딕"/>
              </a:rPr>
              <a:t>(새로 발견)</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대안 흐름</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1a 조회</a:t>
            </a:r>
            <a:r>
              <a:rPr sz="1200" b="0">
                <a:solidFill>
                  <a:srgbClr val="000000"/>
                </a:solidFill>
                <a:latin typeface="맑은 고딕"/>
                <a:ea typeface="맑은 고딕"/>
              </a:rPr>
              <a:t> —</a:t>
            </a:r>
            <a:r>
              <a:rPr sz="1000" b="0">
                <a:solidFill>
                  <a:srgbClr val="000000"/>
                </a:solidFill>
                <a:latin typeface="맑은 고딕"/>
                <a:ea typeface="맑은 고딕"/>
              </a:rPr>
              <a:t> 상품·수량, 다음 배송일, 만료일, 결제 내역을 보여 준다.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1b 변경</a:t>
            </a:r>
            <a:r>
              <a:rPr sz="1200" b="0">
                <a:solidFill>
                  <a:srgbClr val="000000"/>
                </a:solidFill>
                <a:latin typeface="맑은 고딕"/>
                <a:ea typeface="맑은 고딕"/>
              </a:rPr>
              <a:t> —</a:t>
            </a:r>
            <a:r>
              <a:rPr sz="1000" b="0">
                <a:solidFill>
                  <a:srgbClr val="000000"/>
                </a:solidFill>
                <a:latin typeface="맑은 고딕"/>
                <a:ea typeface="맑은 고딕"/>
              </a:rPr>
              <a:t> 고객이 배송 정보를 변경하면 배송 시스템에 반영한다.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1c 해지</a:t>
            </a:r>
            <a:r>
              <a:rPr sz="1200" b="0">
                <a:solidFill>
                  <a:srgbClr val="000000"/>
                </a:solidFill>
                <a:latin typeface="맑은 고딕"/>
                <a:ea typeface="맑은 고딕"/>
              </a:rPr>
              <a:t> —</a:t>
            </a:r>
            <a:r>
              <a:rPr sz="1000" b="0">
                <a:solidFill>
                  <a:srgbClr val="000000"/>
                </a:solidFill>
                <a:latin typeface="맑은 고딕"/>
                <a:ea typeface="맑은 고딕"/>
              </a:rPr>
              <a:t> 결제 시스템에 남은 회차의 환불·청구 중지를, 배송 시스템에 남은 배송의 취소를 요청한다. 24시간 전이 지난 회차는 배송한다.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3a 범위 벗어남</a:t>
            </a:r>
            <a:r>
              <a:rPr sz="1200" b="0">
                <a:solidFill>
                  <a:srgbClr val="000000"/>
                </a:solidFill>
                <a:latin typeface="맑은 고딕"/>
                <a:ea typeface="맑은 고딕"/>
              </a:rPr>
              <a:t> —</a:t>
            </a:r>
            <a:r>
              <a:rPr sz="1000" b="0">
                <a:solidFill>
                  <a:srgbClr val="000000"/>
                </a:solidFill>
                <a:latin typeface="맑은 고딕"/>
                <a:ea typeface="맑은 고딕"/>
              </a:rPr>
              <a:t> 주기</a:t>
            </a:r>
            <a:r>
              <a:rPr sz="800" b="0">
                <a:solidFill>
                  <a:srgbClr val="000000"/>
                </a:solidFill>
                <a:latin typeface="맑은 고딕"/>
                <a:ea typeface="맑은 고딕"/>
              </a:rPr>
              <a:t>(1~28일)</a:t>
            </a:r>
            <a:r>
              <a:rPr sz="1000" b="0">
                <a:solidFill>
                  <a:srgbClr val="000000"/>
                </a:solidFill>
                <a:latin typeface="맑은 고딕"/>
                <a:ea typeface="맑은 고딕"/>
              </a:rPr>
              <a:t>, 기간</a:t>
            </a:r>
            <a:r>
              <a:rPr sz="800" b="0">
                <a:solidFill>
                  <a:srgbClr val="000000"/>
                </a:solidFill>
                <a:latin typeface="맑은 고딕"/>
                <a:ea typeface="맑은 고딕"/>
              </a:rPr>
              <a:t>(1~12개월)</a:t>
            </a:r>
            <a:r>
              <a:rPr sz="1000" b="0">
                <a:solidFill>
                  <a:srgbClr val="000000"/>
                </a:solidFill>
                <a:latin typeface="맑은 고딕"/>
                <a:ea typeface="맑은 고딕"/>
              </a:rPr>
              <a:t>, 첫 배송일</a:t>
            </a:r>
            <a:r>
              <a:rPr sz="800" b="0">
                <a:solidFill>
                  <a:srgbClr val="000000"/>
                </a:solidFill>
                <a:latin typeface="맑은 고딕"/>
                <a:ea typeface="맑은 고딕"/>
              </a:rPr>
              <a:t>(7일 이내)</a:t>
            </a:r>
            <a:r>
              <a:rPr sz="1000" b="0">
                <a:solidFill>
                  <a:srgbClr val="000000"/>
                </a:solidFill>
                <a:latin typeface="맑은 고딕"/>
                <a:ea typeface="맑은 고딕"/>
              </a:rPr>
              <a:t>이 범위를 벗어나면 다시 정하게 한다.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6a 결제 거절</a:t>
            </a:r>
            <a:r>
              <a:rPr sz="1200" b="0">
                <a:solidFill>
                  <a:srgbClr val="000000"/>
                </a:solidFill>
                <a:latin typeface="맑은 고딕"/>
                <a:ea typeface="맑은 고딕"/>
              </a:rPr>
              <a:t> —</a:t>
            </a:r>
            <a:r>
              <a:rPr sz="1000" b="0">
                <a:solidFill>
                  <a:srgbClr val="000000"/>
                </a:solidFill>
                <a:latin typeface="맑은 고딕"/>
                <a:ea typeface="맑은 고딕"/>
              </a:rPr>
              <a:t> 신청을 확정하지 않고, 다른 결제 방법을 고르게 한다.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7a 배송 요청 실패</a:t>
            </a:r>
            <a:r>
              <a:rPr sz="1200" b="0">
                <a:solidFill>
                  <a:srgbClr val="000000"/>
                </a:solidFill>
                <a:latin typeface="맑은 고딕"/>
                <a:ea typeface="맑은 고딕"/>
              </a:rPr>
              <a:t> —</a:t>
            </a:r>
            <a:r>
              <a:rPr sz="1000" b="0">
                <a:solidFill>
                  <a:srgbClr val="000000"/>
                </a:solidFill>
                <a:latin typeface="맑은 고딕"/>
                <a:ea typeface="맑은 고딕"/>
              </a:rPr>
              <a:t> 결제 취소를 요청하고, 신청을 확정하지 않는다.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1b1a 변경 기한 지남</a:t>
            </a:r>
            <a:r>
              <a:rPr sz="1200" b="0">
                <a:solidFill>
                  <a:srgbClr val="000000"/>
                </a:solidFill>
                <a:latin typeface="맑은 고딕"/>
                <a:ea typeface="맑은 고딕"/>
              </a:rPr>
              <a:t> —</a:t>
            </a:r>
            <a:r>
              <a:rPr sz="1000" b="0">
                <a:solidFill>
                  <a:srgbClr val="000000"/>
                </a:solidFill>
                <a:latin typeface="맑은 고딕"/>
                <a:ea typeface="맑은 고딕"/>
              </a:rPr>
              <a:t> 그다음 회차부터 적용 가능하다고 알린다.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특별 요구사항</a:t>
            </a:r>
            <a:r>
              <a:rPr sz="1400" b="0">
                <a:solidFill>
                  <a:srgbClr val="000000"/>
                </a:solidFill>
                <a:latin typeface="맑은 고딕"/>
                <a:ea typeface="맑은 고딕"/>
              </a:rPr>
              <a:t> —</a:t>
            </a:r>
            <a:r>
              <a:rPr sz="1200" b="0">
                <a:solidFill>
                  <a:srgbClr val="000000"/>
                </a:solidFill>
                <a:latin typeface="맑은 고딕"/>
                <a:ea typeface="맑은 고딕"/>
              </a:rPr>
              <a:t> 결제나 배송 요청이 실패하면 신청은 확정되지 않는다</a:t>
            </a:r>
            <a:r>
              <a:rPr sz="1000" b="0">
                <a:solidFill>
                  <a:srgbClr val="000000"/>
                </a:solidFill>
                <a:latin typeface="맑은 고딕"/>
                <a:ea typeface="맑은 고딕"/>
              </a:rPr>
              <a:t>(전부 아니면 전무)</a:t>
            </a:r>
            <a:r>
              <a:rPr sz="1200" b="0">
                <a:solidFill>
                  <a:srgbClr val="000000"/>
                </a:solidFill>
                <a:latin typeface="맑은 고딕"/>
                <a:ea typeface="맑은 고딕"/>
              </a:rPr>
              <a:t>. 확정 전에 배송 일정</a:t>
            </a:r>
            <a:r>
              <a:rPr sz="1000" b="0">
                <a:solidFill>
                  <a:srgbClr val="000000"/>
                </a:solidFill>
                <a:latin typeface="맑은 고딕"/>
                <a:ea typeface="맑은 고딕"/>
              </a:rPr>
              <a:t>(달력)</a:t>
            </a:r>
            <a:r>
              <a:rPr sz="1200" b="0">
                <a:solidFill>
                  <a:srgbClr val="000000"/>
                </a:solidFill>
                <a:latin typeface="맑은 고딕"/>
                <a:ea typeface="맑은 고딕"/>
              </a:rPr>
              <a:t>과 회차별 금액을 보여 준다.</a:t>
            </a:r>
          </a:p>
        </p:txBody>
      </p:sp>
    </p:spTree>
    <p:extLst>
      <p:ext uri="{BB962C8B-B14F-4D97-AF65-F5344CB8AC3E}">
        <p14:creationId xmlns:p14="http://schemas.microsoft.com/office/powerpoint/2010/main" val="355543667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용어집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별첨: 02. 요구 분석과 유스케이스</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607376" y="1813560"/>
          <a:ext cx="5915660" cy="3873500"/>
        </p:xfrm>
        <a:graphic>
          <a:graphicData uri="http://schemas.openxmlformats.org/drawingml/2006/table">
            <a:tbl>
              <a:tblPr/>
              <a:tblGrid>
                <a:gridCol w="947420"/>
                <a:gridCol w="3238500"/>
                <a:gridCol w="17297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용어</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정의</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영문명</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정기배송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고객이 정한 주기로 상품을 받는 약정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Subscription</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배송 주기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사이의 일수(1~28일)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deliveryCycle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첫 배송일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첫 회차를 받는 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firstDeliveryDate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기간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약정 개월 수(1~12개월)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term</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만료일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첫 배송일 + 기간의 전날</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expiryDate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회차 금액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신청 때 가격 × 수량의 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roundAmount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청구 방식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일시불 또는 월별 청구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BillingMethod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결제 방법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카드, 계좌이체, 간편결제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PaymentMethod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확정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결제와 배송 요청이 끝나 정기배송이 성립함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confirm</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해지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남은 회차를 끝내는 고객의 요청</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terminate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영수증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결제를 증명하는 발행물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Receipt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명세서의 용어를 </a:t>
            </a:r>
            <a:r>
              <a:rPr sz="1800" b="1">
                <a:solidFill>
                  <a:srgbClr val="000000"/>
                </a:solidFill>
                <a:latin typeface="맑은 고딕"/>
                <a:ea typeface="맑은 고딕"/>
              </a:rPr>
              <a:t>한 뜻과 한 영문명</a:t>
            </a:r>
            <a:r>
              <a:rPr sz="1800" b="0">
                <a:solidFill>
                  <a:srgbClr val="000000"/>
                </a:solidFill>
                <a:latin typeface="맑은 고딕"/>
                <a:ea typeface="맑은 고딕"/>
              </a:rPr>
              <a:t>으로 고정했다. 회차 금액은 </a:t>
            </a:r>
            <a:r>
              <a:rPr sz="1800" b="1">
                <a:solidFill>
                  <a:srgbClr val="000000"/>
                </a:solidFill>
                <a:latin typeface="맑은 고딕"/>
                <a:ea typeface="맑은 고딕"/>
              </a:rPr>
              <a:t>신청 때의 가격</a:t>
            </a:r>
            <a:r>
              <a:rPr sz="1800" b="0">
                <a:solidFill>
                  <a:srgbClr val="000000"/>
                </a:solidFill>
                <a:latin typeface="맑은 고딕"/>
                <a:ea typeface="맑은 고딕"/>
              </a:rPr>
              <a:t>으로 정하고, 확정·해지는 정기배송에 일어나는 </a:t>
            </a:r>
            <a:r>
              <a:rPr sz="1800" b="1">
                <a:solidFill>
                  <a:srgbClr val="000000"/>
                </a:solidFill>
                <a:latin typeface="맑은 고딕"/>
                <a:ea typeface="맑은 고딕"/>
              </a:rPr>
              <a:t>사건</a:t>
            </a:r>
            <a:r>
              <a:rPr sz="1800" b="0">
                <a:solidFill>
                  <a:srgbClr val="000000"/>
                </a:solidFill>
                <a:latin typeface="맑은 고딕"/>
                <a:ea typeface="맑은 고딕"/>
              </a:rPr>
              <a:t>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- 91 -</a:t>
            </a:r>
          </a:p>
        </p:txBody>
      </p:sp>
    </p:spTree>
    <p:extLst>
      <p:ext uri="{BB962C8B-B14F-4D97-AF65-F5344CB8AC3E}">
        <p14:creationId xmlns:p14="http://schemas.microsoft.com/office/powerpoint/2010/main" val="278956947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시스템 시퀀스 다이어그램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- 92 -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300"/>
              </a:spcBef>
              <a:spcAft>
                <a:spcPts val="300"/>
              </a:spcAft>
              <a:buNone/>
            </a:pPr>
            <a:r>
              <a:rPr sz="1400" b="0">
                <a:solidFill>
                  <a:srgbClr val="000000"/>
                </a:solidFill>
                <a:latin typeface="맑은 고딕"/>
                <a:ea typeface="맑은 고딕"/>
              </a:rPr>
              <a:t>기본 흐름의 사건을 </a:t>
            </a:r>
            <a:r>
              <a:rPr sz="1400" b="1">
                <a:solidFill>
                  <a:srgbClr val="000000"/>
                </a:solidFill>
                <a:latin typeface="맑은 고딕"/>
                <a:ea typeface="맑은 고딕"/>
              </a:rPr>
              <a:t>시스템 이벤트</a:t>
            </a:r>
            <a:r>
              <a:rPr sz="1400" b="0">
                <a:solidFill>
                  <a:srgbClr val="000000"/>
                </a:solidFill>
                <a:latin typeface="맑은 고딕"/>
                <a:ea typeface="맑은 고딕"/>
              </a:rPr>
              <a:t>로 보이고, 시스템이 외부 시스템에 보내는 </a:t>
            </a:r>
            <a:r>
              <a:rPr sz="1400" b="1">
                <a:solidFill>
                  <a:srgbClr val="000000"/>
                </a:solidFill>
                <a:latin typeface="맑은 고딕"/>
                <a:ea typeface="맑은 고딕"/>
              </a:rPr>
              <a:t>요청</a:t>
            </a:r>
            <a:r>
              <a:rPr sz="1400" b="0">
                <a:solidFill>
                  <a:srgbClr val="000000"/>
                </a:solidFill>
                <a:latin typeface="맑은 고딕"/>
                <a:ea typeface="맑은 고딕"/>
              </a:rPr>
              <a:t>을 더했다.</a:t>
            </a:r>
          </a:p>
        </p:txBody>
      </p:sp>
      <p:pic>
        <p:nvPicPr>
          <p:cNvPr id="9" name="plantuml Diagram 8"/>
          <p:cNvPicPr>
            <a:picLocks noChangeAspect="1"/>
          </p:cNvPicPr>
          <p:nvPr/>
        </p:nvPicPr>
        <p:blipFill>
          <a:blip r:embed="plantumlImage8"/>
          <a:stretch>
            <a:fillRect/>
          </a:stretch>
        </p:blipFill>
        <p:spPr>
          <a:xfrm>
            <a:off x="517769" y="1539240"/>
            <a:ext cx="8108462" cy="3072423"/>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요구사항 정의서 보완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- 93 -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02. 요구 분석과 유스케이스</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1414318"/>
            <a:ext cx="4338828"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기능 요구</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F7 배송 현황 조회</a:t>
            </a:r>
            <a:r>
              <a:rPr sz="1200" b="0">
                <a:solidFill>
                  <a:srgbClr val="000000"/>
                </a:solidFill>
                <a:latin typeface="맑은 고딕"/>
                <a:ea typeface="맑은 고딕"/>
              </a:rPr>
              <a:t> —</a:t>
            </a:r>
            <a:r>
              <a:rPr sz="1000" b="0">
                <a:solidFill>
                  <a:srgbClr val="000000"/>
                </a:solidFill>
                <a:latin typeface="맑은 고딕"/>
                <a:ea typeface="맑은 고딕"/>
              </a:rPr>
              <a:t> 고객이 회차별 배송 현황을 조회한다</a:t>
            </a:r>
            <a:r>
              <a:rPr sz="800" b="0">
                <a:solidFill>
                  <a:srgbClr val="000000"/>
                </a:solidFill>
                <a:latin typeface="맑은 고딕"/>
                <a:ea typeface="맑은 고딕"/>
              </a:rPr>
              <a:t>(UC3)</a:t>
            </a:r>
            <a:r>
              <a:rPr sz="1000" b="0">
                <a:solidFill>
                  <a:srgbClr val="000000"/>
                </a:solidFill>
                <a:latin typeface="맑은 고딕"/>
                <a:ea typeface="맑은 고딕"/>
              </a:rPr>
              <a:t>.</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F8 정기배송 관리</a:t>
            </a:r>
            <a:r>
              <a:rPr sz="1200" b="0">
                <a:solidFill>
                  <a:srgbClr val="000000"/>
                </a:solidFill>
                <a:latin typeface="맑은 고딕"/>
                <a:ea typeface="맑은 고딕"/>
              </a:rPr>
              <a:t> —</a:t>
            </a:r>
            <a:r>
              <a:rPr sz="1000" b="0">
                <a:solidFill>
                  <a:srgbClr val="000000"/>
                </a:solidFill>
                <a:latin typeface="맑은 고딕"/>
                <a:ea typeface="맑은 고딕"/>
              </a:rPr>
              <a:t> 관리자가 정지된 정기배송을 재개하거나 해지한다</a:t>
            </a:r>
            <a:r>
              <a:rPr sz="800" b="0">
                <a:solidFill>
                  <a:srgbClr val="000000"/>
                </a:solidFill>
                <a:latin typeface="맑은 고딕"/>
                <a:ea typeface="맑은 고딕"/>
              </a:rPr>
              <a:t>(UC5)</a:t>
            </a:r>
            <a:r>
              <a:rPr sz="1000" b="0">
                <a:solidFill>
                  <a:srgbClr val="000000"/>
                </a:solidFill>
                <a:latin typeface="맑은 고딕"/>
                <a:ea typeface="맑은 고딕"/>
              </a:rPr>
              <a:t>.</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F9 반품 승인</a:t>
            </a:r>
            <a:r>
              <a:rPr sz="1200" b="0">
                <a:solidFill>
                  <a:srgbClr val="000000"/>
                </a:solidFill>
                <a:latin typeface="맑은 고딕"/>
                <a:ea typeface="맑은 고딕"/>
              </a:rPr>
              <a:t> —</a:t>
            </a:r>
            <a:r>
              <a:rPr sz="1000" b="0">
                <a:solidFill>
                  <a:srgbClr val="000000"/>
                </a:solidFill>
                <a:latin typeface="맑은 고딕"/>
                <a:ea typeface="맑은 고딕"/>
              </a:rPr>
              <a:t> 관리자가 불량·오배송 여부를 판단해 승인한다</a:t>
            </a:r>
            <a:r>
              <a:rPr sz="800" b="0">
                <a:solidFill>
                  <a:srgbClr val="000000"/>
                </a:solidFill>
                <a:latin typeface="맑은 고딕"/>
                <a:ea typeface="맑은 고딕"/>
              </a:rPr>
              <a:t>(UC6)</a:t>
            </a:r>
            <a:r>
              <a:rPr sz="1000" b="0">
                <a:solidFill>
                  <a:srgbClr val="000000"/>
                </a:solidFill>
                <a:latin typeface="맑은 고딕"/>
                <a:ea typeface="맑은 고딕"/>
              </a:rPr>
              <a:t>.</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F10 영수증 발행</a:t>
            </a:r>
            <a:r>
              <a:rPr sz="1200" b="0">
                <a:solidFill>
                  <a:srgbClr val="000000"/>
                </a:solidFill>
                <a:latin typeface="맑은 고딕"/>
                <a:ea typeface="맑은 고딕"/>
              </a:rPr>
              <a:t> —</a:t>
            </a:r>
            <a:r>
              <a:rPr sz="1000" b="0">
                <a:solidFill>
                  <a:srgbClr val="000000"/>
                </a:solidFill>
                <a:latin typeface="맑은 고딕"/>
                <a:ea typeface="맑은 고딕"/>
              </a:rPr>
              <a:t> 결제가 승인되면 영수증을 발행하고 고객에게 알린다</a:t>
            </a:r>
            <a:r>
              <a:rPr sz="800" b="0">
                <a:solidFill>
                  <a:srgbClr val="000000"/>
                </a:solidFill>
                <a:latin typeface="맑은 고딕"/>
                <a:ea typeface="맑은 고딕"/>
              </a:rPr>
              <a:t>(UC1 기본 흐름 8)</a:t>
            </a:r>
            <a:r>
              <a:rPr sz="1000" b="0">
                <a:solidFill>
                  <a:srgbClr val="000000"/>
                </a:solidFill>
                <a:latin typeface="맑은 고딕"/>
                <a:ea typeface="맑은 고딕"/>
              </a:rPr>
              <a:t>.</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업무 규칙</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R4 회차 금액</a:t>
            </a:r>
            <a:r>
              <a:rPr sz="1200" b="0">
                <a:solidFill>
                  <a:srgbClr val="000000"/>
                </a:solidFill>
                <a:latin typeface="맑은 고딕"/>
                <a:ea typeface="맑은 고딕"/>
              </a:rPr>
              <a:t> —</a:t>
            </a:r>
            <a:r>
              <a:rPr sz="1000" b="0">
                <a:solidFill>
                  <a:srgbClr val="000000"/>
                </a:solidFill>
                <a:latin typeface="맑은 고딕"/>
                <a:ea typeface="맑은 고딕"/>
              </a:rPr>
              <a:t> 여러 상품의 합: Σ</a:t>
            </a:r>
            <a:r>
              <a:rPr sz="800" b="0">
                <a:solidFill>
                  <a:srgbClr val="000000"/>
                </a:solidFill>
                <a:latin typeface="맑은 고딕"/>
                <a:ea typeface="맑은 고딕"/>
              </a:rPr>
              <a:t>(상품 가격 × 수량)</a:t>
            </a:r>
            <a:r>
              <a:rPr sz="800" b="0">
                <a:solidFill>
                  <a:srgbClr val="000000"/>
                </a:solidFill>
                <a:latin typeface="맑은 고딕"/>
                <a:ea typeface="맑은 고딕"/>
              </a:rPr>
              <a:t>(UC1 2 장바구니)</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R12 배송 정보 변경</a:t>
            </a:r>
            <a:r>
              <a:rPr sz="1200" b="0">
                <a:solidFill>
                  <a:srgbClr val="000000"/>
                </a:solidFill>
                <a:latin typeface="맑은 고딕"/>
                <a:ea typeface="맑은 고딕"/>
              </a:rPr>
              <a:t> —</a:t>
            </a:r>
            <a:r>
              <a:rPr sz="1000" b="0">
                <a:solidFill>
                  <a:srgbClr val="000000"/>
                </a:solidFill>
                <a:latin typeface="맑은 고딕"/>
                <a:ea typeface="맑은 고딕"/>
              </a:rPr>
              <a:t> 다음 배송 24시간 전까지, 다음 회차부터 적용</a:t>
            </a:r>
            <a:r>
              <a:rPr sz="800" b="0">
                <a:solidFill>
                  <a:srgbClr val="000000"/>
                </a:solidFill>
                <a:latin typeface="맑은 고딕"/>
                <a:ea typeface="맑은 고딕"/>
              </a:rPr>
              <a:t>(UC1 1b)</a:t>
            </a:r>
          </a:p>
        </p:txBody>
      </p:sp>
      <p:sp>
        <p:nvSpPr>
          <p:cNvPr id="9"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960120"/>
            <a:ext cx="8778240" cy="454198"/>
          </a:xfrm>
        </p:spPr>
        <p:txBody>
          <a:bodyPr>
            <a:normAutofit/>
          </a:bodyPr>
          <a:lstStyle/>
          <a:p>
            <a:pPr marL="0" indent="0">
              <a:spcBef>
                <a:spcPts val="300"/>
              </a:spcBef>
              <a:spcAft>
                <a:spcPts val="300"/>
              </a:spcAft>
              <a:buNone/>
            </a:pPr>
            <a:r>
              <a:rPr sz="1400" b="0">
                <a:solidFill>
                  <a:srgbClr val="000000"/>
                </a:solidFill>
                <a:latin typeface="맑은 고딕"/>
                <a:ea typeface="맑은 고딕"/>
              </a:rPr>
              <a:t>유스케이스를 작성하며 새로 발견한 요구는 </a:t>
            </a:r>
            <a:r>
              <a:rPr sz="1400" b="1">
                <a:solidFill>
                  <a:srgbClr val="000000"/>
                </a:solidFill>
                <a:latin typeface="맑은 고딕"/>
                <a:ea typeface="맑은 고딕"/>
              </a:rPr>
              <a:t>후속 작업에 영향을 미치는 경우에만</a:t>
            </a:r>
            <a:r>
              <a:rPr sz="1400" b="0">
                <a:solidFill>
                  <a:srgbClr val="000000"/>
                </a:solidFill>
                <a:latin typeface="맑은 고딕"/>
                <a:ea typeface="맑은 고딕"/>
              </a:rPr>
              <a:t> 명세서에 반영한다.</a:t>
            </a:r>
          </a:p>
        </p:txBody>
      </p:sp>
      <p:sp>
        <p:nvSpPr>
          <p:cNvPr id="10" name="내용 개체 틀 7">
            <a:extLst>
              <a:ext uri="{FF2B5EF4-FFF2-40B4-BE49-F238E27FC236}">
                <a16:creationId xmlns:a16="http://schemas.microsoft.com/office/drawing/2014/main" id="{BEBA2C4A-B0BF-F2E4-EA6E-614C99CBA184}"/>
              </a:ext>
            </a:extLst>
          </p:cNvPr>
          <p:cNvSpPr>
            <a:spLocks noGrp="1"/>
          </p:cNvSpPr>
          <p:nvPr>
            <p:ph idx="1"/>
          </p:nvPr>
        </p:nvSpPr>
        <p:spPr>
          <a:xfrm>
            <a:off x="4572000" y="1414318"/>
            <a:ext cx="4439412"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책임 경계</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F3 배송 요청</a:t>
            </a:r>
            <a:r>
              <a:rPr sz="1200" b="0">
                <a:solidFill>
                  <a:srgbClr val="000000"/>
                </a:solidFill>
                <a:latin typeface="맑은 고딕"/>
                <a:ea typeface="맑은 고딕"/>
              </a:rPr>
              <a:t> —</a:t>
            </a:r>
            <a:r>
              <a:rPr sz="1000" b="0">
                <a:solidFill>
                  <a:srgbClr val="000000"/>
                </a:solidFill>
                <a:latin typeface="맑은 고딕"/>
                <a:ea typeface="맑은 고딕"/>
              </a:rPr>
              <a:t> 확정한 정기배송의 배송을 배송 시스템에 요청한다. 회차 배송은 배송 시스템이 한다.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R6·R7 청구</a:t>
            </a:r>
            <a:r>
              <a:rPr sz="1200" b="0">
                <a:solidFill>
                  <a:srgbClr val="000000"/>
                </a:solidFill>
                <a:latin typeface="맑은 고딕"/>
                <a:ea typeface="맑은 고딕"/>
              </a:rPr>
              <a:t> —</a:t>
            </a:r>
            <a:r>
              <a:rPr sz="1000" b="0">
                <a:solidFill>
                  <a:srgbClr val="000000"/>
                </a:solidFill>
                <a:latin typeface="맑은 고딕"/>
                <a:ea typeface="맑은 고딕"/>
              </a:rPr>
              <a:t> 월별 청구와 청구 실패 재시도는 결제 시스템이 한다.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 현행화 기준</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반영</a:t>
            </a:r>
            <a:r>
              <a:rPr sz="1200" b="0">
                <a:solidFill>
                  <a:srgbClr val="000000"/>
                </a:solidFill>
                <a:latin typeface="맑은 고딕"/>
                <a:ea typeface="맑은 고딕"/>
              </a:rPr>
              <a:t> —</a:t>
            </a:r>
            <a:r>
              <a:rPr sz="1000" b="0">
                <a:solidFill>
                  <a:srgbClr val="000000"/>
                </a:solidFill>
                <a:latin typeface="맑은 고딕"/>
                <a:ea typeface="맑은 고딕"/>
              </a:rPr>
              <a:t> R4, R12, F3·R6·R7. 클래스·동적 모델의 입력이 된다.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기록만</a:t>
            </a:r>
            <a:r>
              <a:rPr sz="1200" b="0">
                <a:solidFill>
                  <a:srgbClr val="000000"/>
                </a:solidFill>
                <a:latin typeface="맑은 고딕"/>
                <a:ea typeface="맑은 고딕"/>
              </a:rPr>
              <a:t> —</a:t>
            </a:r>
            <a:r>
              <a:rPr sz="1000" b="0">
                <a:solidFill>
                  <a:srgbClr val="000000"/>
                </a:solidFill>
                <a:latin typeface="맑은 고딕"/>
                <a:ea typeface="맑은 고딕"/>
              </a:rPr>
              <a:t> F7~F10. 유스케이스에 이미 담겼으므로 명세서는 </a:t>
            </a:r>
            <a:r>
              <a:rPr sz="1000" b="1">
                <a:solidFill>
                  <a:srgbClr val="000000"/>
                </a:solidFill>
                <a:latin typeface="맑은 고딕"/>
                <a:ea typeface="맑은 고딕"/>
              </a:rPr>
              <a:t>비용 대비 가치</a:t>
            </a:r>
            <a:r>
              <a:rPr sz="1000" b="0">
                <a:solidFill>
                  <a:srgbClr val="000000"/>
                </a:solidFill>
                <a:latin typeface="맑은 고딕"/>
                <a:ea typeface="맑은 고딕"/>
              </a:rPr>
              <a:t>가 있을 때만 현행화한다.</a:t>
            </a:r>
          </a:p>
        </p:txBody>
      </p:sp>
    </p:spTree>
    <p:extLst>
      <p:ext uri="{BB962C8B-B14F-4D97-AF65-F5344CB8AC3E}">
        <p14:creationId xmlns:p14="http://schemas.microsoft.com/office/powerpoint/2010/main" val="3555436673"/>
      </p:ext>
    </p:extLst>
  </p:cSld>
  <p:clrMapOvr>
    <a:masterClrMapping/>
  </p:clrMapOvr>
</p:sld>
</file>

<file path=ppt/theme/theme1.xml><?xml version="1.0" encoding="utf-8"?>
<a:theme xmlns:a="http://schemas.openxmlformats.org/drawingml/2006/main" name="4_Office 테마">
  <a:themeElements>
    <a:clrScheme name="태양">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pPr>
      <a:bodyPr lIns="0" rIns="0" rtlCol="0" anchor="ctr"/>
      <a:lstStyle>
        <a:defPPr algn="ctr">
          <a:defRPr sz="1200" b="1" dirty="0" smtClean="0">
            <a:solidFill>
              <a:schemeClr val="bg1"/>
            </a:solidFill>
          </a:defRPr>
        </a:defPPr>
      </a:lstStyle>
      <a:style>
        <a:lnRef idx="2">
          <a:schemeClr val="dk1">
            <a:shade val="50000"/>
          </a:schemeClr>
        </a:lnRef>
        <a:fillRef idx="1">
          <a:schemeClr val="dk1"/>
        </a:fillRef>
        <a:effectRef idx="0">
          <a:schemeClr val="dk1"/>
        </a:effectRef>
        <a:fontRef idx="minor">
          <a:schemeClr val="lt1"/>
        </a:fontRef>
      </a:style>
    </a:sp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Macintosh PowerPoint</Application>
  <PresentationFormat>화면 슬라이드 쇼(4:3)</PresentationFormat>
  <Paragraphs>0</Paragraphs>
  <Slides>93</Slides>
  <Notes>72</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93</vt:i4>
      </vt:variant>
    </vt:vector>
  </HeadingPairs>
  <TitlesOfParts>
    <vt:vector size="97" baseType="lpstr">
      <vt:lpstr>맑은 고딕</vt:lpstr>
      <vt:lpstr>Arial</vt:lpstr>
      <vt:lpstr>Wingdings</vt:lpstr>
      <vt:lpstr>4_Office 테마</vt:lpstr>
      <vt:lpstr>02. 요구 분석과 유스케이스 목차 (1/2)</vt:lpstr>
      <vt:lpstr>02. 요구 분석과 유스케이스 목차 (2/2)</vt:lpstr>
      <vt:lpstr>01. 세션 목표</vt:lpstr>
      <vt:lpstr>02. 요구공학의 본질</vt:lpstr>
      <vt:lpstr>03. 분석 원칙</vt:lpstr>
      <vt:lpstr>04. 문제·요구·요구사항·해결책</vt:lpstr>
      <vt:lpstr>05. 요청에는 무엇이 섞여 있는가?</vt:lpstr>
      <vt:lpstr>06. 명세의 한계</vt:lpstr>
      <vt:lpstr>07. 이벤트 중심 요구</vt:lpstr>
      <vt:lpstr>08. 이벤트 중심 기법</vt:lpstr>
      <vt:lpstr>09. 반복적 접근</vt:lpstr>
      <vt:lpstr>10. AI 시대의 요구</vt:lpstr>
      <vt:lpstr>11. 요구공학의 주요 활동</vt:lpstr>
      <vt:lpstr>12. 요구사항 수집과 발견</vt:lpstr>
      <vt:lpstr>13. 누가 요구를 아는가?</vt:lpstr>
      <vt:lpstr>14. 업무·기술 불확실성</vt:lpstr>
      <vt:lpstr>15. 경우별 접근법</vt:lpstr>
      <vt:lpstr>16. 요구사항 유형</vt:lpstr>
      <vt:lpstr>17. 좋은 요구사항의 자격요건</vt:lpstr>
      <vt:lpstr>18. 용어집 (1/2)</vt:lpstr>
      <vt:lpstr>18. 용어집 (2/2)</vt:lpstr>
      <vt:lpstr>19. 유스케이스란 무엇인가?</vt:lpstr>
      <vt:lpstr>20. 왜 유스케이스가 필요한가?</vt:lpstr>
      <vt:lpstr>21. 유스케이스 작성 절차</vt:lpstr>
      <vt:lpstr>22. 대상 시스템과 경계 유스케이스 다이어그램</vt:lpstr>
      <vt:lpstr>23. 경계 판단</vt:lpstr>
      <vt:lpstr>24. 목표와 액터</vt:lpstr>
      <vt:lpstr>25. 유스케이스 후보 식별</vt:lpstr>
      <vt:lpstr>26. 유스케이스 수준</vt:lpstr>
      <vt:lpstr>27. 유스케이스 다이어그램 — 초안 (1/2)</vt:lpstr>
      <vt:lpstr>27. 유스케이스 다이어그램 — 초안 (2/2)</vt:lpstr>
      <vt:lpstr>28. 유스케이스 명세 형식</vt:lpstr>
      <vt:lpstr>29. 유스케이스 명세서 템플릿</vt:lpstr>
      <vt:lpstr>30. 기본 이벤트 흐름 (1/2)</vt:lpstr>
      <vt:lpstr>30. 기본 이벤트 흐름 (2/2)</vt:lpstr>
      <vt:lpstr>31. 규칙과 특별 요구사항</vt:lpstr>
      <vt:lpstr>32. 이벤트 흐름을 이용한 요구 분석</vt:lpstr>
      <vt:lpstr>33. 유스케이스 상세화</vt:lpstr>
      <vt:lpstr>34. 유스케이스 다이어그램 — 상세화 (1/4)</vt:lpstr>
      <vt:lpstr>34. 유스케이스 다이어그램 — 상세화 (2/4)</vt:lpstr>
      <vt:lpstr>34. 유스케이스 다이어그램 — 상세화 (3/4)</vt:lpstr>
      <vt:lpstr>34. 유스케이스 다이어그램 — 상세화 (4/4)</vt:lpstr>
      <vt:lpstr>35. 잘못된 관행 — 기능 분할</vt:lpstr>
      <vt:lpstr>36. 잘못된 관행 — CRUD 분할</vt:lpstr>
      <vt:lpstr>37. 잘못된 관행 — 화면·기술 요소</vt:lpstr>
      <vt:lpstr>38. 잘못된 관행 — 시스템 관점·액터</vt:lpstr>
      <vt:lpstr>39. 잘못된 관행 — 명세 과잉·방치</vt:lpstr>
      <vt:lpstr>40. 잘못된 유스케이스 다이어그램 (1/2)</vt:lpstr>
      <vt:lpstr>40. 잘못된 유스케이스 다이어그램 (2/2)</vt:lpstr>
      <vt:lpstr>41. 시스템 시퀀스 다이어그램 (1/2)</vt:lpstr>
      <vt:lpstr>41. 시스템 시퀀스 다이어그램 (2/2)</vt:lpstr>
      <vt:lpstr>42. SSD 초안 (1/2)</vt:lpstr>
      <vt:lpstr>42. SSD 초안 (2/2)</vt:lpstr>
      <vt:lpstr>43. 시스템 이벤트와 오퍼레이션</vt:lpstr>
      <vt:lpstr>44. 정제된 SSD (1/4)</vt:lpstr>
      <vt:lpstr>44. 정제된 SSD (2/4)</vt:lpstr>
      <vt:lpstr>44. 정제된 SSD (3/4)</vt:lpstr>
      <vt:lpstr>44. 정제된 SSD (4/4)</vt:lpstr>
      <vt:lpstr>45. 시스템 오퍼레이션과 계약 (1/6)</vt:lpstr>
      <vt:lpstr>45. 시스템 오퍼레이션과 계약 (2/6)</vt:lpstr>
      <vt:lpstr>45. 시스템 오퍼레이션과 계약 (3/6)</vt:lpstr>
      <vt:lpstr>45. 시스템 오퍼레이션과 계약 (4/6)</vt:lpstr>
      <vt:lpstr>45. 시스템 오퍼레이션과 계약 (5/6)</vt:lpstr>
      <vt:lpstr>45. 시스템 오퍼레이션과 계약 (6/6)</vt:lpstr>
      <vt:lpstr>46. 정적·동적 모델을 통한 상세화 (1/2)</vt:lpstr>
      <vt:lpstr>46. 정적·동적 모델을 통한 상세화 (2/2)</vt:lpstr>
      <vt:lpstr>47. 유스케이스와 품질속성</vt:lpstr>
      <vt:lpstr>48. 프로토타입·와이어프레임 (1/2)</vt:lpstr>
      <vt:lpstr>48. 프로토타입·와이어프레임 (2/2)</vt:lpstr>
      <vt:lpstr>49. 유저 스토리</vt:lpstr>
      <vt:lpstr>50. 스토리의 문형과 가치</vt:lpstr>
      <vt:lpstr>51. 좋은 유저 스토리 — INVEST</vt:lpstr>
      <vt:lpstr>52. 스토리 나누기</vt:lpstr>
      <vt:lpstr>53. 잘못된 유저 스토리</vt:lpstr>
      <vt:lpstr>54. 유저 스토리의 강점과 한계</vt:lpstr>
      <vt:lpstr>55. 행위 주도 개발</vt:lpstr>
      <vt:lpstr>56. Given-When-Then</vt:lpstr>
      <vt:lpstr>57. Example Mapping</vt:lpstr>
      <vt:lpstr>58. 행위 주도 개발의 강점과 한계</vt:lpstr>
      <vt:lpstr>59. 유스케이스·유저 스토리·BDD</vt:lpstr>
      <vt:lpstr>60. 명세 주도 개발</vt:lpstr>
      <vt:lpstr>61. 명세 주도 개발의 한계</vt:lpstr>
      <vt:lpstr>62. 요구사항 검증</vt:lpstr>
      <vt:lpstr>63. 요구사항 관리</vt:lpstr>
      <vt:lpstr>64. 요구사항 추적</vt:lpstr>
      <vt:lpstr>65. 요구사항에서 학습으로</vt:lpstr>
      <vt:lpstr>66. 실습 — 유스케이스</vt:lpstr>
      <vt:lpstr>67. 요약</vt:lpstr>
      <vt:lpstr>유스케이스 다이어그램 (안) 별첨. 실습 답</vt:lpstr>
      <vt:lpstr>유스케이스 명세서 (안) 별첨. 실습 답</vt:lpstr>
      <vt:lpstr>용어집 (안) 별첨. 실습 답</vt:lpstr>
      <vt:lpstr>시스템 시퀀스 다이어그램 (안) 별첨. 실습 답</vt:lpstr>
      <vt:lpstr>요구사항 정의서 보완 (안) 별첨. 실습 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02. 요구 분석과 유스케이스</dc:title>
  <dc:creator>Kim YoungSan</dc:creator>
  <cp:lastModifiedBy>Youngon Kim</cp:lastModifiedBy>
  <cp:revision>42</cp:revision>
  <dcterms:created xsi:type="dcterms:W3CDTF">2021-02-25T22:04:20Z</dcterms:created>
  <dcterms:modified xsi:type="dcterms:W3CDTF">2026-09-21T23:10:41Z</dcterms:modified>
</cp:coreProperties>
</file>