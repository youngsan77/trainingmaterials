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싱킹의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「23.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요구공학의 수집·분석·명세·검증·관리 활동을 연결한다.</a:t>
            </a:r>
          </a:p>
          <a:p>
            <a:pPr lvl="0">
              <a:buNone/>
            </a:pPr>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 건너뛰기는 이 세션 실습(「57. 실습 — 모델로 바꾸기」)의 사례다.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서로 다른 분류의 추상화 수준을 억지로 일대일 대응시키지 않는다.</a:t>
            </a:r>
          </a:p>
          <a:p>
            <a:pPr lvl="0">
              <a:buNone/>
            </a:pPr>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유스케이스에 모든 항목을 기계적으로 채우지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1c2a는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1c1a. 결제 전 주문이다 → 환불 없이 취소된다 같은 분기를 추가한다. 지금은 확정된 요구가 아니다.</a:t>
            </a:r>
          </a:p>
          <a:p>
            <a:pPr lvl="0"/>
            <a:r>
              <a:rPr lang="ko-KR" sz="1200"/>
              <a:t>주문 내역 확인(1a)·배송지 변경(1b)의 단계는 같은 방식으로 쓴다. 배송지 변경의 결과는 「44. 시스템 오퍼레이션과 계약」의 계약으로 상세화한다.</a:t>
            </a:r>
          </a:p>
          <a:p>
            <a:pPr lvl="0"/>
            <a:r>
              <a:rPr lang="ko-KR" sz="1200"/>
              <a:t>번호·분기 표기는 Cockburn의 확장(extension) 표기 방식을 따른 수업용 형식이다.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마지막 단계("고객은 주문 결과를 확인한다")는 시스템의 응답이라 이벤트로 그리지 않았다. 응답을 그리지 않는 것은 이 단계의 모든 호출이 동기라서다.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시간 배분은 전체 SA 완성 후 정한다.</a:t>
            </a:r>
          </a:p>
          <a:p>
            <a:pPr lvl="0">
              <a:buNone/>
            </a:pPr>
            <a:r>
              <a:rPr lang="ko-KR" sz="1200"/>
              <a:t>세부 검토 기준(충족한 결과 / 보완할 결과):</a:t>
            </a:r>
          </a:p>
          <a:p>
            <a:pPr lvl="0"/>
            <a:r>
              <a:rPr lang="ko-KR" sz="1200"/>
              <a:t>사실과 가정 — 주어진 네 조건과 추정한 고객 문제를 구분한다 / 버튼 요청만으로 불편 원인을 단정한다</a:t>
            </a:r>
          </a:p>
          <a:p>
            <a:pPr lvl="0"/>
            <a:r>
              <a:rPr lang="ko-KR" sz="1200"/>
              <a:t>목표와 해결책 — 건너뛰기를 정기배송 관리의 대안 흐름·시스템 오퍼레이션으로 표현하고 버튼은 해결책 후보로 둔다 / 버튼이나 건너뛰기 자체를 별도 유스케이스로 만든다</a:t>
            </a:r>
          </a:p>
          <a:p>
            <a:pPr lvl="0"/>
            <a:r>
              <a:rPr lang="ko-KR" sz="1200"/>
              <a:t>흐름과 규칙 — 성공 흐름에 의도·결과를 쓰고 48시간·연속 횟수는 규칙으로 분리한다 / 내부 조회·저장 순서를 흐름으로 쓴다</a:t>
            </a:r>
          </a:p>
          <a:p>
            <a:pPr lvl="0"/>
            <a:r>
              <a:rPr lang="ko-KR" sz="1200"/>
              <a:t>시스템 책임 — 건너뛰기 반영과 다음 배송일 확인을 외부 결과로 명시한다 / 책임 범위 없이 함수명·클래스부터 정한다</a:t>
            </a:r>
          </a:p>
          <a:p>
            <a:pPr lvl="0"/>
            <a:r>
              <a:rPr lang="ko-KR" sz="1200"/>
              <a:t>미확인 정책 — 승인된 결제 처리, 기준 시각·경계, 연속 횟수 계산을 질문으로 남긴다 / 환불·수수료·횟수 초기화 정책을 근거 없이 만든다</a:t>
            </a:r>
          </a:p>
          <a:p>
            <a:pPr lvl="0"/>
            <a:r>
              <a:rPr lang="ko-KR" sz="1200"/>
              <a:t>품질과 검증 — 통지 지연·권한·중복 요청 등 검토 질문과 확인 방법을 제시한다 / 근거 없이 성능 수치를 확정하거나 기능만 검사한다</a:t>
            </a:r>
          </a:p>
          <a:p>
            <a:pPr lvl="0"/>
            <a:r>
              <a:rPr lang="ko-KR" sz="1200"/>
              <a:t>가치 확인 — 일정 조절에 도움이 되는지 사용 증거로 확인한다 / 버튼을 구현했으므로 가치가 입증됐다고 본다</a:t>
            </a:r>
          </a:p>
          <a:p>
            <a:pPr lvl="0">
              <a:buNone/>
            </a:pPr>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유스케이스·주 액터: 정기배송을 관리한다 — 정기배송 고객. 다음 배송 건너뛰기는 이 유스케이스의 대안 흐름이다.</a:t>
            </a:r>
          </a:p>
          <a:p>
            <a:pPr lvl="0"/>
            <a:r>
              <a:rPr lang="ko-KR" sz="1200"/>
              <a:t>대안 흐름(다음 배송 건너뛰기): 고객이 다음 배송을 건너뛴다 → 고객이 건너뛰기 결과와 다음 예정 배송일을 확인한다.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buNone/>
            </a:pPr>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유스케이스란 무엇인가?</a:t>
            </a:r>
          </a:p>
          <a:p>
            <a:pPr lvl="1" marL="355600" indent="0">
              <a:spcBef>
                <a:spcPts val="300"/>
              </a:spcBef>
              <a:spcAft>
                <a:spcPts val="300"/>
              </a:spcAft>
              <a:buNone/>
            </a:pPr>
            <a:r>
              <a:rPr sz="1600" b="0">
                <a:solidFill>
                  <a:srgbClr val="000000"/>
                </a:solidFill>
                <a:latin typeface="맑은 고딕"/>
                <a:ea typeface="맑은 고딕"/>
              </a:rPr>
              <a:t>19. 왜 유스케이스가 필요한가?</a:t>
            </a:r>
          </a:p>
          <a:p>
            <a:pPr lvl="1" marL="355600" indent="0">
              <a:spcBef>
                <a:spcPts val="300"/>
              </a:spcBef>
              <a:spcAft>
                <a:spcPts val="300"/>
              </a:spcAft>
              <a:buNone/>
            </a:pPr>
            <a:r>
              <a:rPr sz="1600" b="0">
                <a:solidFill>
                  <a:srgbClr val="000000"/>
                </a:solidFill>
                <a:latin typeface="맑은 고딕"/>
                <a:ea typeface="맑은 고딕"/>
              </a:rPr>
              <a:t>20. 유스케이스의 위치</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58.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지식과 업무·기술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식별하고 이벤트 흐름으로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기능 분해·CRUD·화면 명세와 구분하고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외부 시스템까지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분석 모델과 후속 설계 판단의 연결을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품질속성·프로토타입·사용자 스토리·행위 주도 개발을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149350" y="4020779"/>
            <a:ext cx="6845300" cy="11176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분석하고, 어떤 정보를 더 묻고, 무엇으로 필요성을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6" y="1842998"/>
          <a:ext cx="6446520" cy="3873500"/>
        </p:xfrm>
        <a:graphic>
          <a:graphicData uri="http://schemas.openxmlformats.org/drawingml/2006/table">
            <a:tbl>
              <a:tblPr/>
              <a:tblGrid>
                <a:gridCol w="1450340"/>
                <a:gridCol w="3042920"/>
                <a:gridCol w="19532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반복·점진적 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싱킹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스타트업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반복적 접근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9" name="mermaid Diagram 2"/>
          <p:cNvPicPr>
            <a:picLocks noChangeAspect="1"/>
          </p:cNvPicPr>
          <p:nvPr/>
        </p:nvPicPr>
        <p:blipFill>
          <a:blip r:embed="mermaidImage2"/>
          <a:stretch>
            <a:fillRect/>
          </a:stretch>
        </p:blipFill>
        <p:spPr>
          <a:xfrm>
            <a:off x="1511697" y="3378343"/>
            <a:ext cx="6120606"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949488"/>
                <a:gridCol w="889000"/>
                <a:gridCol w="889000"/>
                <a:gridCol w="2218429"/>
                <a:gridCol w="335988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당연하게 여긴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목록과 명세로 빠르게 합의하고 예외·규칙을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 개발자의 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 도메인 전문가 참여, 용어집, 구체적인 예로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선택지와 결과를 보여주고 고객이 결정, 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작은 실험, 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1842998"/>
          <a:ext cx="7480300" cy="3873500"/>
        </p:xfrm>
        <a:graphic>
          <a:graphicData uri="http://schemas.openxmlformats.org/drawingml/2006/table">
            <a:tbl>
              <a:tblPr/>
              <a:tblGrid>
                <a:gridCol w="1673860"/>
                <a:gridCol w="212090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개선 방향: 변경 가능한 주문 상태, 변경 결과를 확인할 주체, 결과 통지 조건을 명시한다. 응답 시간 목표는 측정 조건과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plantuml Diagram 1"/>
          <p:cNvPicPr>
            <a:picLocks noChangeAspect="1"/>
          </p:cNvPicPr>
          <p:nvPr/>
        </p:nvPicPr>
        <p:blipFill>
          <a:blip r:embed="plantumlImage1"/>
          <a:stretch>
            <a:fillRect/>
          </a:stretch>
        </p:blipFill>
        <p:spPr>
          <a:xfrm>
            <a:off x="3556000" y="4511640"/>
            <a:ext cx="2032000" cy="7190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규칙이 중요한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280639"/>
                <a:gridCol w="1993306"/>
                <a:gridCol w="2943527"/>
                <a:gridCol w="20883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사건에 어떤 자료가 만들어지고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723900" indent="-368300">
              <a:spcBef>
                <a:spcPts val="600"/>
              </a:spcBef>
              <a:spcAft>
                <a:spcPts val="600"/>
              </a:spcAft>
              <a:buNone/>
            </a:pPr>
            <a:r>
              <a:rPr sz="1800" b="0">
                <a:solidFill>
                  <a:srgbClr val="000000"/>
                </a:solidFill>
                <a:latin typeface="맑은 고딕"/>
                <a:ea typeface="맑은 고딕"/>
              </a:rPr>
              <a:t>1. 대상 시스템과 경계를 정의한다. 외부 시스템은 지원 액터로 둔다.</a:t>
            </a:r>
          </a:p>
          <a:p>
            <a:pPr lvl="2" marL="723900" indent="-368300">
              <a:spcBef>
                <a:spcPts val="600"/>
              </a:spcBef>
              <a:spcAft>
                <a:spcPts val="600"/>
              </a:spcAft>
              <a:buNone/>
            </a:pPr>
            <a:r>
              <a:rPr sz="1800" b="0">
                <a:solidFill>
                  <a:srgbClr val="000000"/>
                </a:solidFill>
                <a:latin typeface="맑은 고딕"/>
                <a:ea typeface="맑은 고딕"/>
              </a:rPr>
              <a:t>2. 목표와 그 목표를 가진 액터를 함께 식별한다.</a:t>
            </a:r>
          </a:p>
          <a:p>
            <a:pPr lvl="2" marL="723900" indent="-368300">
              <a:spcBef>
                <a:spcPts val="600"/>
              </a:spcBef>
              <a:spcAft>
                <a:spcPts val="600"/>
              </a:spcAft>
              <a:buNone/>
            </a:pPr>
            <a:r>
              <a:rPr sz="1800" b="0">
                <a:solidFill>
                  <a:srgbClr val="000000"/>
                </a:solidFill>
                <a:latin typeface="맑은 고딕"/>
                <a:ea typeface="맑은 고딕"/>
              </a:rPr>
              <a:t>3. 목표 수준의 유스케이스 후보를 식별한다.</a:t>
            </a:r>
          </a:p>
          <a:p>
            <a:pPr lvl="2" marL="723900" indent="-368300">
              <a:spcBef>
                <a:spcPts val="600"/>
              </a:spcBef>
              <a:spcAft>
                <a:spcPts val="600"/>
              </a:spcAft>
              <a:buNone/>
            </a:pPr>
            <a:r>
              <a:rPr sz="1800" b="0">
                <a:solidFill>
                  <a:srgbClr val="000000"/>
                </a:solidFill>
                <a:latin typeface="맑은 고딕"/>
                <a:ea typeface="맑은 고딕"/>
              </a:rPr>
              <a:t>4. 액터와 유스케이스로 초안 유스케이스 다이어그램을 작성한다.</a:t>
            </a:r>
          </a:p>
          <a:p>
            <a:pPr lvl="2" marL="723900" indent="-368300">
              <a:spcBef>
                <a:spcPts val="600"/>
              </a:spcBef>
              <a:spcAft>
                <a:spcPts val="600"/>
              </a:spcAft>
              <a:buNone/>
            </a:pPr>
            <a:r>
              <a:rPr sz="1800" b="0">
                <a:solidFill>
                  <a:srgbClr val="000000"/>
                </a:solidFill>
                <a:latin typeface="맑은 고딕"/>
                <a:ea typeface="맑은 고딕"/>
              </a:rPr>
              <a:t>5. 유스케이스의 기본 이벤트 흐름을 작성한다.</a:t>
            </a:r>
          </a:p>
          <a:p>
            <a:pPr lvl="2" marL="723900" indent="-368300">
              <a:spcBef>
                <a:spcPts val="600"/>
              </a:spcBef>
              <a:spcAft>
                <a:spcPts val="600"/>
              </a:spcAft>
              <a:buNone/>
            </a:pPr>
            <a:r>
              <a:rPr sz="1800" b="0">
                <a:solidFill>
                  <a:srgbClr val="000000"/>
                </a:solidFill>
                <a:latin typeface="맑은 고딕"/>
                <a:ea typeface="맑은 고딕"/>
              </a:rPr>
              <a:t>6. 필요한 규칙·제약·예외 정책을 별도로 식별한다.</a:t>
            </a:r>
          </a:p>
          <a:p>
            <a:pPr lvl="2" marL="723900" indent="-368300">
              <a:spcBef>
                <a:spcPts val="600"/>
              </a:spcBef>
              <a:spcAft>
                <a:spcPts val="600"/>
              </a:spcAft>
              <a:buNone/>
            </a:pPr>
            <a:r>
              <a:rPr sz="1800" b="0">
                <a:solidFill>
                  <a:srgbClr val="000000"/>
                </a:solidFill>
                <a:latin typeface="맑은 고딕"/>
                <a:ea typeface="맑은 고딕"/>
              </a:rPr>
              <a:t>7. 사전조건·사후조건·비즈니스 규칙 등 필요한 내용을 상세화한다.</a:t>
            </a:r>
          </a:p>
          <a:p>
            <a:pPr lvl="2" marL="723900" indent="-368300">
              <a:spcBef>
                <a:spcPts val="600"/>
              </a:spcBef>
              <a:spcAft>
                <a:spcPts val="600"/>
              </a:spcAft>
              <a:buNone/>
            </a:pPr>
            <a:r>
              <a:rPr sz="1800" b="0">
                <a:solidFill>
                  <a:srgbClr val="000000"/>
                </a:solidFill>
                <a:latin typeface="맑은 고딕"/>
                <a:ea typeface="맑은 고딕"/>
              </a:rPr>
              <a:t>8. 상세화 결과를 반영해 유스케이스 다이어그램을 정제한다.</a:t>
            </a:r>
          </a:p>
          <a:p>
            <a:pPr lvl="2" marL="723900" indent="-368300">
              <a:spcBef>
                <a:spcPts val="600"/>
              </a:spcBef>
              <a:spcAft>
                <a:spcPts val="600"/>
              </a:spcAft>
              <a:buNone/>
            </a:pPr>
            <a:r>
              <a:rPr sz="1800" b="0">
                <a:solidFill>
                  <a:srgbClr val="000000"/>
                </a:solidFill>
                <a:latin typeface="맑은 고딕"/>
                <a:ea typeface="맑은 고딕"/>
              </a:rPr>
              <a:t>9. SSD 초안으로 시스템 이벤트와 시스템 오퍼레이션을 식별하고, 외부 시스템까지 SSD를 정제한다.</a:t>
            </a:r>
          </a:p>
          <a:p>
            <a:pPr lvl="2" marL="723900" indent="-368300">
              <a:spcBef>
                <a:spcPts val="600"/>
              </a:spcBef>
              <a:spcAft>
                <a:spcPts val="600"/>
              </a:spcAft>
              <a:buNone/>
            </a:pPr>
            <a:r>
              <a:rPr sz="1800" b="0">
                <a:solidFill>
                  <a:srgbClr val="000000"/>
                </a:solidFill>
                <a:latin typeface="맑은 고딕"/>
                <a:ea typeface="맑은 고딕"/>
              </a:rPr>
              <a:t>10. 필요하면 중요하고 복잡한 시스템 오퍼레이션의 계약을 작성한다.</a:t>
            </a:r>
          </a:p>
          <a:p>
            <a:pPr lvl="2" marL="723900" indent="-368300">
              <a:spcBef>
                <a:spcPts val="600"/>
              </a:spcBef>
              <a:spcAft>
                <a:spcPts val="600"/>
              </a:spcAft>
              <a:buNone/>
            </a:pPr>
            <a:r>
              <a:rPr sz="1800" b="0">
                <a:solidFill>
                  <a:srgbClr val="000000"/>
                </a:solidFill>
                <a:latin typeface="맑은 고딕"/>
                <a:ea typeface="맑은 고딕"/>
              </a:rPr>
              <a:t>11. 전체 요구와 유스케이스를 검토하고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시스템 컨텍스트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컨텍스트</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실선은 결과를 기다리는 요청, 점선은 기다리지 않는 요청·통보다.</a:t>
            </a:r>
          </a:p>
        </p:txBody>
      </p:sp>
      <p:pic>
        <p:nvPicPr>
          <p:cNvPr id="9" name="mermaid Diagram 3"/>
          <p:cNvPicPr>
            <a:picLocks noChangeAspect="1"/>
          </p:cNvPicPr>
          <p:nvPr/>
        </p:nvPicPr>
        <p:blipFill>
          <a:blip r:embed="mermaidImage3"/>
          <a:stretch>
            <a:fillRect/>
          </a:stretch>
        </p:blipFill>
        <p:spPr>
          <a:xfrm>
            <a:off x="1731288" y="3139961"/>
            <a:ext cx="5681424" cy="30018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3826359"/>
                <a:gridCol w="4479441"/>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14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237678"/>
          <a:ext cx="8305800" cy="3873500"/>
        </p:xfrm>
        <a:graphic>
          <a:graphicData uri="http://schemas.openxmlformats.org/drawingml/2006/table">
            <a:tbl>
              <a:tblPr/>
              <a:tblGrid>
                <a:gridCol w="3826359"/>
                <a:gridCol w="4479441"/>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만든다(「37. 잘못된 관행 — 시스템 관점·액터」)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a:p>
            <a:r>
              <a:rPr sz="1100" b="1">
                <a:solidFill>
                  <a:srgbClr val="000000"/>
                </a:solidFill>
                <a:latin typeface="맑은 고딕"/>
                <a:ea typeface="맑은 고딕"/>
              </a:rPr>
              <a:t>유스케이스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pic>
        <p:nvPicPr>
          <p:cNvPr id="14" name="plantuml Diagram 2"/>
          <p:cNvPicPr>
            <a:picLocks noChangeAspect="1"/>
          </p:cNvPicPr>
          <p:nvPr/>
        </p:nvPicPr>
        <p:blipFill>
          <a:blip r:embed="plantumlImage2"/>
          <a:stretch>
            <a:fillRect/>
          </a:stretch>
        </p:blipFill>
        <p:spPr>
          <a:xfrm>
            <a:off x="4260406" y="5152770"/>
            <a:ext cx="609600" cy="883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CRUD 목록을 그대로 유스케이스 4개로 만든 잘못된 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정의한다(「35.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 액터는 왼쪽, </a:t>
            </a:r>
            <a:r>
              <a:rPr sz="1800" b="1">
                <a:solidFill>
                  <a:srgbClr val="000000"/>
                </a:solidFill>
                <a:latin typeface="맑은 고딕"/>
                <a:ea typeface="맑은 고딕"/>
              </a:rPr>
              <a:t>지원 액터</a:t>
            </a:r>
            <a:r>
              <a:rPr sz="1400" b="0">
                <a:solidFill>
                  <a:srgbClr val="000000"/>
                </a:solidFill>
                <a:latin typeface="맑은 고딕"/>
                <a:ea typeface="맑은 고딕"/>
              </a:rPr>
              <a:t>(외부 시스템)</a:t>
            </a:r>
            <a:r>
              <a:rPr sz="1800" b="0">
                <a:solidFill>
                  <a:srgbClr val="000000"/>
                </a:solidFill>
                <a:latin typeface="맑은 고딕"/>
                <a:ea typeface="맑은 고딕"/>
              </a:rPr>
              <a:t>는 오른쪽에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a:t>
            </a:r>
            <a:r>
              <a:rPr sz="1800" b="0">
                <a:solidFill>
                  <a:srgbClr val="000000"/>
                </a:solidFill>
                <a:latin typeface="맑은 고딕"/>
                <a:ea typeface="맑은 고딕"/>
              </a:rPr>
              <a:t>&lt;&lt;include&gt;&gt;</a:t>
            </a:r>
            <a:r>
              <a:rPr sz="1800" b="0">
                <a:solidFill>
                  <a:srgbClr val="000000"/>
                </a:solidFill>
                <a:latin typeface="맑은 고딕"/>
                <a:ea typeface="맑은 고딕"/>
              </a:rPr>
              <a:t>)과 확장(</a:t>
            </a:r>
            <a:r>
              <a:rPr sz="1800" b="0">
                <a:solidFill>
                  <a:srgbClr val="000000"/>
                </a:solidFill>
                <a:latin typeface="맑은 고딕"/>
                <a:ea typeface="맑은 고딕"/>
              </a:rPr>
              <a:t>&lt;&lt;extend&gt;&gt;</a:t>
            </a:r>
            <a:r>
              <a:rPr sz="1800" b="0">
                <a:solidFill>
                  <a:srgbClr val="000000"/>
                </a:solidFill>
                <a:latin typeface="맑은 고딕"/>
                <a:ea typeface="맑은 고딕"/>
              </a:rPr>
              <a:t>) 관계는 이 단계에서 넣지 않는다.</a:t>
            </a:r>
          </a:p>
        </p:txBody>
      </p:sp>
      <p:pic>
        <p:nvPicPr>
          <p:cNvPr id="9" name="plantuml Diagram 3"/>
          <p:cNvPicPr>
            <a:picLocks noChangeAspect="1"/>
          </p:cNvPicPr>
          <p:nvPr/>
        </p:nvPicPr>
        <p:blipFill>
          <a:blip r:embed="plantumlImage3"/>
          <a:stretch>
            <a:fillRect/>
          </a:stretch>
        </p:blipFill>
        <p:spPr>
          <a:xfrm>
            <a:off x="2895600" y="2768345"/>
            <a:ext cx="3352800" cy="36053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570386"/>
                <a:gridCol w="2643786"/>
                <a:gridCol w="40916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쓴다. 사람·부서 이름이 아니다.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쓴다(주문을 관리한다).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 안에 시스템 이름을 쓴다. 안은 시스템의 책임, 밖은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실선. 순서나 데이터 흐름을 뜻하지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그 시스템의 경계 안에 따로 그린다. 주문 시스템의 범위가 아님을 분명히 한다.</a:t>
            </a:r>
          </a:p>
        </p:txBody>
      </p:sp>
      <p:pic>
        <p:nvPicPr>
          <p:cNvPr id="9" name="plantuml Diagram 4"/>
          <p:cNvPicPr>
            <a:picLocks noChangeAspect="1"/>
          </p:cNvPicPr>
          <p:nvPr/>
        </p:nvPicPr>
        <p:blipFill>
          <a:blip r:embed="plantumlImage4"/>
          <a:stretch>
            <a:fillRect/>
          </a:stretch>
        </p:blipFill>
        <p:spPr>
          <a:xfrm>
            <a:off x="2571262" y="2895492"/>
            <a:ext cx="4001477" cy="28760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1077913" indent="-354013">
              <a:spcBef>
                <a:spcPts val="600"/>
              </a:spcBef>
              <a:spcAft>
                <a:spcPts val="600"/>
              </a:spcAft>
              <a:buNone/>
            </a:pPr>
            <a:r>
              <a:rPr sz="1600" b="0">
                <a:solidFill>
                  <a:srgbClr val="000000"/>
                </a:solidFill>
                <a:latin typeface="맑은 고딕"/>
                <a:ea typeface="맑은 고딕"/>
              </a:rPr>
              <a:t>1. 고객이 주문할 상품과 수량을 고른다.</a:t>
            </a:r>
          </a:p>
          <a:p>
            <a:pPr lvl="3" marL="1077913" indent="-354013">
              <a:spcBef>
                <a:spcPts val="600"/>
              </a:spcBef>
              <a:spcAft>
                <a:spcPts val="600"/>
              </a:spcAft>
              <a:buNone/>
            </a:pPr>
            <a:r>
              <a:rPr sz="1600" b="0">
                <a:solidFill>
                  <a:srgbClr val="000000"/>
                </a:solidFill>
                <a:latin typeface="맑은 고딕"/>
                <a:ea typeface="맑은 고딕"/>
              </a:rPr>
              <a:t>2. 고객이 배송지를 지정한다.</a:t>
            </a:r>
          </a:p>
          <a:p>
            <a:pPr lvl="3" marL="1077913" indent="-354013">
              <a:spcBef>
                <a:spcPts val="600"/>
              </a:spcBef>
              <a:spcAft>
                <a:spcPts val="600"/>
              </a:spcAft>
              <a:buNone/>
            </a:pPr>
            <a:r>
              <a:rPr sz="1600" b="0">
                <a:solidFill>
                  <a:srgbClr val="000000"/>
                </a:solidFill>
                <a:latin typeface="맑은 고딕"/>
                <a:ea typeface="맑은 고딕"/>
              </a:rPr>
              <a:t>3. 고객이 결제한다.</a:t>
            </a:r>
          </a:p>
          <a:p>
            <a:pPr lvl="3" marL="1077913" indent="-354013">
              <a:spcBef>
                <a:spcPts val="600"/>
              </a:spcBef>
              <a:spcAft>
                <a:spcPts val="600"/>
              </a:spcAft>
              <a:buNone/>
            </a:pPr>
            <a:r>
              <a:rPr sz="1600" b="0">
                <a:solidFill>
                  <a:srgbClr val="000000"/>
                </a:solidFill>
                <a:latin typeface="맑은 고딕"/>
                <a:ea typeface="맑은 고딕"/>
              </a:rPr>
              <a:t>4.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내역 확인·배송지 변경·주문 취소는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r>
              <a:rPr sz="1200" b="0">
                <a:solidFill>
                  <a:srgbClr val="000000"/>
                </a:solidFill>
                <a:latin typeface="맑은 고딕"/>
                <a:ea typeface="맑은 고딕"/>
              </a:rPr>
              <a:t>(「32. 유스케이스 상세화」)</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반복이나 화면 클릭 순서를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의도·응답은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구현의 확인·계산·저장·호출은 나열하지 않되, 경로를 바꾸는 판단은 외부 행위로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모든 경우를 넣지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특정 상품은 취소가 제한될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부분 취소의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환불 처리와 연결되어야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법률·계약·정책상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정말 중요한 경우에만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중요한 질문을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「32. 유스케이스 상세화」의 주문 취소 대안 흐름을 출발점으로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선택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내역 확인, 1b 배송지 변경(출고 전), 1c 주문 취소(결제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1c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1077913" indent="-354013">
              <a:spcBef>
                <a:spcPts val="600"/>
              </a:spcBef>
              <a:spcAft>
                <a:spcPts val="600"/>
              </a:spcAft>
              <a:buNone/>
            </a:pPr>
            <a:r>
              <a:rPr sz="1600" b="0">
                <a:solidFill>
                  <a:srgbClr val="000000"/>
                </a:solidFill>
                <a:latin typeface="맑은 고딕"/>
                <a:ea typeface="맑은 고딕"/>
              </a:rPr>
              <a:t>1. 고객이 주문을 취소한다.</a:t>
            </a:r>
          </a:p>
          <a:p>
            <a:pPr lvl="3" marL="1077913" indent="-354013">
              <a:spcBef>
                <a:spcPts val="600"/>
              </a:spcBef>
              <a:spcAft>
                <a:spcPts val="600"/>
              </a:spcAft>
              <a:buNone/>
            </a:pPr>
            <a:r>
              <a:rPr sz="1600" b="0">
                <a:solidFill>
                  <a:srgbClr val="000000"/>
                </a:solidFill>
                <a:latin typeface="맑은 고딕"/>
                <a:ea typeface="맑은 고딕"/>
              </a:rPr>
              <a:t>2. 환불이 처리된다.</a:t>
            </a:r>
          </a:p>
          <a:p>
            <a:pPr lvl="3" marL="1077913" indent="-354013">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1c2a —</a:t>
            </a:r>
            <a:r>
              <a:rPr sz="1600" b="0">
                <a:solidFill>
                  <a:srgbClr val="000000"/>
                </a:solidFill>
                <a:latin typeface="맑은 고딕"/>
                <a:ea typeface="맑은 고딕"/>
              </a:rPr>
              <a:t> 환불이 완료되지 않는다</a:t>
            </a:r>
          </a:p>
          <a:p>
            <a:pPr lvl="3" marL="1077913" indent="-354013">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1077913" indent="-354013">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1c</a:t>
            </a:r>
            <a:r>
              <a:rPr sz="1600" b="0">
                <a:solidFill>
                  <a:srgbClr val="000000"/>
                </a:solidFill>
                <a:latin typeface="맑은 고딕"/>
                <a:ea typeface="맑은 고딕"/>
              </a:rPr>
              <a:t> —</a:t>
            </a:r>
            <a:r>
              <a:rPr sz="1400" b="0">
                <a:solidFill>
                  <a:srgbClr val="000000"/>
                </a:solidFill>
                <a:latin typeface="맑은 고딕"/>
                <a:ea typeface="맑은 고딕"/>
              </a:rPr>
              <a:t> 1단계에서 갈라지는 세 번째 경로, </a:t>
            </a:r>
            <a:r>
              <a:rPr sz="1400" b="0">
                <a:solidFill>
                  <a:srgbClr val="000000"/>
                </a:solidFill>
                <a:latin typeface="맑은 고딕"/>
                <a:ea typeface="맑은 고딕"/>
              </a:rPr>
              <a:t>1c2a</a:t>
            </a:r>
            <a:r>
              <a:rPr sz="1400" b="0">
                <a:solidFill>
                  <a:srgbClr val="000000"/>
                </a:solidFill>
                <a:latin typeface="맑은 고딕"/>
                <a:ea typeface="맑은 고딕"/>
              </a:rPr>
              <a:t> — 그 경로의 2단계에서 갈라지는 첫 번째 경로다.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흐름이 아니라 규칙으로 기록한다.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4790527"/>
                <a:gridCol w="262627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지점에서 필요한 별도 유스케이스의 행위를 삽입한다. 내부 함수라는 이유로 분리하지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열린 화살촉과 &lt;&lt;include&gt;&gt;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독립적으로 의미가 있는 기본 유스케이스의 확장 지점에 행위를 삽입한다. 조건이 지정되면 그 조건을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열린 화살촉과 &lt;&lt;extend&gt;&gt;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 분류 관계다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속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44798"/>
            <a:ext cx="8412480" cy="19729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결제 확인은 외부 </a:t>
            </a:r>
            <a:r>
              <a:rPr sz="1400" b="0">
                <a:solidFill>
                  <a:srgbClr val="000000"/>
                </a:solidFill>
                <a:latin typeface="맑은 고딕"/>
                <a:ea typeface="맑은 고딕"/>
              </a:rPr>
              <a:t>결제 시스템</a:t>
            </a:r>
            <a:r>
              <a:rPr sz="1400" b="0">
                <a:solidFill>
                  <a:srgbClr val="000000"/>
                </a:solidFill>
                <a:latin typeface="맑은 고딕"/>
                <a:ea typeface="맑은 고딕"/>
              </a:rPr>
              <a:t> 액터와 상호작용한다.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5"/>
          <p:cNvPicPr>
            <a:picLocks noChangeAspect="1"/>
          </p:cNvPicPr>
          <p:nvPr/>
        </p:nvPicPr>
        <p:blipFill>
          <a:blip r:embed="plantumlImage5"/>
          <a:stretch>
            <a:fillRect/>
          </a:stretch>
        </p:blipFill>
        <p:spPr>
          <a:xfrm>
            <a:off x="2868246" y="1993303"/>
            <a:ext cx="3407508" cy="342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쿠폰 없이도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적용한다.</a:t>
            </a:r>
          </a:p>
        </p:txBody>
      </p:sp>
      <p:pic>
        <p:nvPicPr>
          <p:cNvPr id="9" name="plantuml Diagram 6"/>
          <p:cNvPicPr>
            <a:picLocks noChangeAspect="1"/>
          </p:cNvPicPr>
          <p:nvPr/>
        </p:nvPicPr>
        <p:blipFill>
          <a:blip r:embed="plantumlImage6"/>
          <a:stretch>
            <a:fillRect/>
          </a:stretch>
        </p:blipFill>
        <p:spPr>
          <a:xfrm>
            <a:off x="1492738" y="3068309"/>
            <a:ext cx="6158523" cy="31730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모두 이어받을 때만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모두 이어받는다고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한도·혜택 등 요건이 붙을 수 있다.</a:t>
            </a:r>
          </a:p>
        </p:txBody>
      </p:sp>
      <p:pic>
        <p:nvPicPr>
          <p:cNvPr id="9" name="plantuml Diagram 7"/>
          <p:cNvPicPr>
            <a:picLocks noChangeAspect="1"/>
          </p:cNvPicPr>
          <p:nvPr/>
        </p:nvPicPr>
        <p:blipFill>
          <a:blip r:embed="plantumlImage7"/>
          <a:stretch>
            <a:fillRect/>
          </a:stretch>
        </p:blipFill>
        <p:spPr>
          <a:xfrm>
            <a:off x="2586892" y="3052679"/>
            <a:ext cx="3970215" cy="3204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3870332"/>
                <a:gridCol w="443546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 수량 입력, 쿠폰 입력, 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주문 흐름 하나로 두고, 각 행위는 그 흐름의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포함은 여러 유스케이스가 공유하는 의미 있는 행위에만 쓴다(예: 결제를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3990414"/>
                <a:gridCol w="4315386"/>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흐름: 등록, 대안 흐름: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주문한다·주문 내역 확인·배송지 변경·주문 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주문, 대안 흐름: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많이 쓰는 것과 요구를 잘 정의하는 것은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흐름이다(「35. 잘못된 관행 —</a:t>
            </a:r>
            <a:r>
              <a:rPr sz="1400" b="0">
                <a:solidFill>
                  <a:srgbClr val="000000"/>
                </a:solidFill>
                <a:latin typeface="맑은 고딕"/>
                <a:ea typeface="맑은 고딕"/>
              </a:rPr>
              <a:t> CRUD 분할」).</a:t>
            </a:r>
          </a:p>
        </p:txBody>
      </p:sp>
      <p:pic>
        <p:nvPicPr>
          <p:cNvPr id="9" name="plantuml Diagram 8"/>
          <p:cNvPicPr>
            <a:picLocks noChangeAspect="1"/>
          </p:cNvPicPr>
          <p:nvPr/>
        </p:nvPicPr>
        <p:blipFill>
          <a:blip r:embed="plantumlImage8"/>
          <a:stretch>
            <a:fillRect/>
          </a:stretch>
        </p:blipFill>
        <p:spPr>
          <a:xfrm>
            <a:off x="2001305" y="3136900"/>
            <a:ext cx="5141391" cy="31755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plantuml Diagram 9"/>
          <p:cNvPicPr>
            <a:picLocks noChangeAspect="1"/>
          </p:cNvPicPr>
          <p:nvPr/>
        </p:nvPicPr>
        <p:blipFill>
          <a:blip r:embed="plantumlImage9"/>
          <a:stretch>
            <a:fillRect/>
          </a:stretch>
        </p:blipFill>
        <p:spPr>
          <a:xfrm>
            <a:off x="820615" y="3845061"/>
            <a:ext cx="7502769" cy="976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 없이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실행 순서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화면 메뉴 구조를 그대로 유스케이스로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CRUD·내부 기능을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공통 코드라는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선택 기능이라는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거미줄</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 외부 시스템을 더한 정제는 「43. 정제된 SSD」에서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SSD는 </a:t>
            </a:r>
            <a:r>
              <a:rPr sz="1800" b="1">
                <a:solidFill>
                  <a:srgbClr val="000000"/>
                </a:solidFill>
                <a:latin typeface="맑은 고딕"/>
                <a:ea typeface="맑은 고딕"/>
              </a:rPr>
              <a:t>시퀀스 다이어그램</a:t>
            </a:r>
            <a:r>
              <a:rPr sz="1800" b="0">
                <a:solidFill>
                  <a:srgbClr val="000000"/>
                </a:solidFill>
                <a:latin typeface="맑은 고딕"/>
                <a:ea typeface="맑은 고딕"/>
              </a:rPr>
              <a:t>을 시스템 관점으로 제한해 쓴 것이다. 여기서는 SSD에 필요한 표기만 소개하고, 시퀀스 다이어그램의 정의와 전체 표기는 "04. 동적 모델 —</a:t>
            </a:r>
            <a:r>
              <a:rPr sz="1600" b="0">
                <a:solidFill>
                  <a:srgbClr val="000000"/>
                </a:solidFill>
                <a:latin typeface="맑은 고딕"/>
                <a:ea typeface="맑은 고딕"/>
              </a:rPr>
              <a:t> 상호작용과 상태"에서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p:txBody>
      </p:sp>
      <p:pic>
        <p:nvPicPr>
          <p:cNvPr id="9" name="svg Diagram 1" descr="시스템 시퀀스 다이어그램 표기: 액터, 대상 시스템과 생명선, 시스템 이벤트, 반복 조각"/>
          <p:cNvPicPr>
            <a:picLocks noChangeAspect="1"/>
          </p:cNvPicPr>
          <p:nvPr/>
        </p:nvPicPr>
        <p:blipFill>
          <a:blip r:embed="svgImage1"/>
          <a:stretch>
            <a:fillRect/>
          </a:stretch>
        </p:blipFill>
        <p:spPr>
          <a:xfrm>
            <a:off x="1661583" y="4167947"/>
            <a:ext cx="5820833" cy="13387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640151"/>
                <a:gridCol w="2410470"/>
                <a:gridCol w="4255179"/>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블랙박스인 시스템 하나. 점선은 시간의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인스턴스 이름을 쓴다. 시스템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액터 단계마다 하나. 업무 동사로 이름 짓고 괄호 안에 필요한 정보를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같은 이벤트를 여러 번 보낼 때 쓴다. 조건은 [상품마다]처럼 대괄호로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「주문을 관리한다」 </a:t>
            </a:r>
            <a:r>
              <a:rPr sz="1800" b="1">
                <a:solidFill>
                  <a:srgbClr val="000000"/>
                </a:solidFill>
                <a:latin typeface="맑은 고딕"/>
                <a:ea typeface="맑은 고딕"/>
              </a:rPr>
              <a:t>기본 흐름 전체</a:t>
            </a:r>
            <a:r>
              <a:rPr sz="1800" b="0">
                <a:solidFill>
                  <a:srgbClr val="000000"/>
                </a:solidFill>
                <a:latin typeface="맑은 고딕"/>
                <a:ea typeface="맑은 고딕"/>
              </a:rPr>
              <a:t>를 SSD 초안으로 그린다. 흐름의 액터 단계가 순서대로 시스템 이벤트가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 SSD는 흐름을 드러내야 한다.</a:t>
            </a:r>
          </a:p>
        </p:txBody>
      </p:sp>
      <p:pic>
        <p:nvPicPr>
          <p:cNvPr id="9" name="plantuml Diagram 10"/>
          <p:cNvPicPr>
            <a:picLocks noChangeAspect="1"/>
          </p:cNvPicPr>
          <p:nvPr/>
        </p:nvPicPr>
        <p:blipFill>
          <a:blip r:embed="plantumlImage10"/>
          <a:stretch>
            <a:fillRect/>
          </a:stretch>
        </p:blipFill>
        <p:spPr>
          <a:xfrm>
            <a:off x="2469662" y="2717008"/>
            <a:ext cx="4204677" cy="35403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00036"/>
          <a:ext cx="6921500" cy="3873500"/>
        </p:xfrm>
        <a:graphic>
          <a:graphicData uri="http://schemas.openxmlformats.org/drawingml/2006/table">
            <a:tbl>
              <a:tblPr/>
              <a:tblGrid>
                <a:gridCol w="2791460"/>
                <a:gridCol w="2623820"/>
                <a:gridCol w="15062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1b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1c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29628"/>
          <a:ext cx="8305800" cy="3873500"/>
        </p:xfrm>
        <a:graphic>
          <a:graphicData uri="http://schemas.openxmlformats.org/drawingml/2006/table">
            <a:tbl>
              <a:tblPr/>
              <a:tblGrid>
                <a:gridCol w="1900615"/>
                <a:gridCol w="2852060"/>
                <a:gridCol w="3553125"/>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495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2" descr="정제된 SSD 표기: 외부 시스템 생명선, 동기 요청, 비동기 요청"/>
          <p:cNvPicPr>
            <a:picLocks noChangeAspect="1"/>
          </p:cNvPicPr>
          <p:nvPr/>
        </p:nvPicPr>
        <p:blipFill>
          <a:blip r:embed="svgImage2"/>
          <a:stretch>
            <a:fillRect/>
          </a:stretch>
        </p:blipFill>
        <p:spPr>
          <a:xfrm>
            <a:off x="1945830" y="1842998"/>
            <a:ext cx="5238750" cy="120491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정제된 SSD다.</a:t>
            </a:r>
          </a:p>
        </p:txBody>
      </p:sp>
      <p:pic>
        <p:nvPicPr>
          <p:cNvPr id="9" name="plantuml Diagram 11"/>
          <p:cNvPicPr>
            <a:picLocks noChangeAspect="1"/>
          </p:cNvPicPr>
          <p:nvPr/>
        </p:nvPicPr>
        <p:blipFill>
          <a:blip r:embed="plantumlImage11"/>
          <a:stretch>
            <a:fillRect/>
          </a:stretch>
        </p:blipFill>
        <p:spPr>
          <a:xfrm>
            <a:off x="457200" y="1638876"/>
            <a:ext cx="8229600" cy="460697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57416" y="2497276"/>
          <a:ext cx="7815580" cy="3873500"/>
        </p:xfrm>
        <a:graphic>
          <a:graphicData uri="http://schemas.openxmlformats.org/drawingml/2006/table">
            <a:tbl>
              <a:tblPr/>
              <a:tblGrid>
                <a:gridCol w="2931160"/>
                <a:gridCol w="2092960"/>
                <a:gridCol w="27914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 "상품과 수량을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2·3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(「44.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업무 의미의 이벤트를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의미와 결과를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조건·상태 변화가 중요한 오퍼레이션에는 계약을 작성한다.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754313"/>
          <a:ext cx="8305800" cy="3873500"/>
        </p:xfrm>
        <a:graphic>
          <a:graphicData uri="http://schemas.openxmlformats.org/drawingml/2006/table">
            <a:tbl>
              <a:tblPr/>
              <a:tblGrid>
                <a:gridCol w="1111723"/>
                <a:gridCol w="7194077"/>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1b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전이다(출고 여부는 배송 시스템이 판단한다). 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받아들였고, 해당 주문의 배송지가 지정한 새 주소다. 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(3/3)</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931568"/>
                <a:gridCol w="7374232"/>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 상품 시스템에 재고 차감을, 배송 시스템에 배송을, 회계 시스템에 입금 처리·영수증 발행을 요청했다. 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모델은 문제영역의 의미·관계·제약을, 동적 모델은 상호작용과 상태 변화의 사건·규칙을 다룬다.</a:t>
            </a:r>
          </a:p>
        </p:txBody>
      </p:sp>
      <p:pic>
        <p:nvPicPr>
          <p:cNvPr id="9" name="mermaid Diagram 4"/>
          <p:cNvPicPr>
            <a:picLocks noChangeAspect="1"/>
          </p:cNvPicPr>
          <p:nvPr/>
        </p:nvPicPr>
        <p:blipFill>
          <a:blip r:embed="mermaidImage4"/>
          <a:stretch>
            <a:fillRect/>
          </a:stretch>
        </p:blipFill>
        <p:spPr>
          <a:xfrm>
            <a:off x="1149350" y="3851614"/>
            <a:ext cx="6845300"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교육 예시다.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성공 계약을 검토하기 위한 화면 초안이다. 교육용 주소 A·B는 실제 주소가 아니다. 버튼·화면 구성은 해결책 후보이며 확정된 요구사항이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와이어프레임만으로 실제 처리나 성공을 검증할 수는 없다. 사용자에게 과업을 설명하게 하거나 조작 가능한 프로토타입으로 관찰한다.</a:t>
            </a:r>
          </a:p>
        </p:txBody>
      </p:sp>
      <p:pic>
        <p:nvPicPr>
          <p:cNvPr id="9" name="svg Diagram 3" descr="주문 상세와 배송지 변경 와이어프레임"/>
          <p:cNvPicPr>
            <a:picLocks noChangeAspect="1"/>
          </p:cNvPicPr>
          <p:nvPr/>
        </p:nvPicPr>
        <p:blipFill>
          <a:blip r:embed="svgImage3"/>
          <a:stretch>
            <a:fillRect/>
          </a:stretch>
        </p:blipFill>
        <p:spPr>
          <a:xfrm>
            <a:off x="2214563" y="3853792"/>
            <a:ext cx="4714875" cy="17811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직전 변경 가능 여부와 유효 주소 기준·오류 안내는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배송비 변동이나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시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요구사항과 계약에 반영한다. 새 주소·배송비·실패 정책을 화면만 보고 임의로 결정하지 않는다.</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대화와 인수 조건으로 구체화한다.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반복적인 개발과 우선순위 관리에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대화와 우선순위 결정에 유용하다. 전체 목표와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함께 발견하고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「44. 시스템 오퍼레이션과 계약」의 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구체적으로 확인하는 데 유용하지만 목표와 요구사항 구조 전체를 대체하지는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pic>
        <p:nvPicPr>
          <p:cNvPr id="14" name="mermaid Diagram 5"/>
          <p:cNvPicPr>
            <a:picLocks noChangeAspect="1"/>
          </p:cNvPicPr>
          <p:nvPr/>
        </p:nvPicPr>
        <p:blipFill>
          <a:blip r:embed="mermaidImage5"/>
          <a:stretch>
            <a:fillRect/>
          </a:stretch>
        </p:blipFill>
        <p:spPr>
          <a:xfrm>
            <a:off x="2194671" y="3824705"/>
            <a:ext cx="4741069" cy="242728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명확·완전·일관적인가?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문제를 해결하는가?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기대한 가치와 예상 못한 문제가 있는가?</a:t>
            </a:r>
          </a:p>
        </p:txBody>
      </p:sp>
      <p:pic>
        <p:nvPicPr>
          <p:cNvPr id="9" name="mermaid Diagram 6"/>
          <p:cNvPicPr>
            <a:picLocks noChangeAspect="1"/>
          </p:cNvPicPr>
          <p:nvPr/>
        </p:nvPicPr>
        <p:blipFill>
          <a:blip r:embed="mermaidImage6"/>
          <a:stretch>
            <a:fillRect/>
          </a:stretch>
        </p:blipFill>
        <p:spPr>
          <a:xfrm>
            <a:off x="1149350" y="4164871"/>
            <a:ext cx="6845300" cy="10914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언제·왜 바뀌었고 무엇에 영향을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요구·설계·코드·테스트는 무엇인가?</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일대일 대응시키지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근거·영향을 기록하고 필요하면 기준선을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7"/>
          <p:cNvPicPr>
            <a:picLocks noChangeAspect="1"/>
          </p:cNvPicPr>
          <p:nvPr/>
        </p:nvPicPr>
        <p:blipFill>
          <a:blip r:embed="mermaidImage7"/>
          <a:stretch>
            <a:fillRect/>
          </a:stretch>
        </p:blipFill>
        <p:spPr>
          <a:xfrm>
            <a:off x="1149350" y="4587662"/>
            <a:ext cx="6845300" cy="550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8"/>
          <p:cNvPicPr>
            <a:picLocks noChangeAspect="1"/>
          </p:cNvPicPr>
          <p:nvPr/>
        </p:nvPicPr>
        <p:blipFill>
          <a:blip r:embed="mermaidImage8"/>
          <a:stretch>
            <a:fillRect/>
          </a:stretch>
        </p:blipFill>
        <p:spPr>
          <a:xfrm>
            <a:off x="1149350" y="3430730"/>
            <a:ext cx="6845300" cy="10215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문제·요구·제약·목표·시스템 책임을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목표·주 액터·유스케이스</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기본·대안 흐름, 규칙, 시스템 오퍼레이션</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발견하고 유스케이스로 목표와 시스템 책임을 표현·검증했다.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계약하며,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78</Slides>
  <Notes>44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78</vt:i4>
      </vt:variant>
    </vt:vector>
  </HeadingPairs>
  <TitlesOfParts>
    <vt:vector size="82"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 (1/2)</vt:lpstr>
      <vt:lpstr>09. 반복적 접근 (2/2)</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유스케이스란 무엇인가?</vt:lpstr>
      <vt:lpstr>19. 왜 유스케이스가 필요한가?</vt:lpstr>
      <vt:lpstr>20. 유스케이스의 위치</vt:lpstr>
      <vt:lpstr>21. 유스케이스 작성 절차</vt:lpstr>
      <vt:lpstr>22. 대상 시스템과 경계 시스템 컨텍스트 다이어그램</vt:lpstr>
      <vt:lpstr>23. 경계 판단</vt:lpstr>
      <vt:lpstr>24. 목표와 액터 유스케이스 다이어그램</vt:lpstr>
      <vt:lpstr>25. 유스케이스 후보 식별</vt:lpstr>
      <vt:lpstr>26. 유스케이스 수준</vt:lpstr>
      <vt:lpstr>27. 유스케이스 다이어그램 — 초안 (1/3)</vt:lpstr>
      <vt:lpstr>27. 유스케이스 다이어그램 — 초안 (2/3)</vt:lpstr>
      <vt:lpstr>27. 유스케이스 다이어그램 — 초안 (3/3)</vt:lpstr>
      <vt:lpstr>28. 유스케이스 명세서 템플릿</vt:lpstr>
      <vt:lpstr>29. 기본 이벤트 흐름</vt:lpstr>
      <vt:lpstr>30. 규칙·제약·예외 정책</vt:lpstr>
      <vt:lpstr>31. 이벤트 흐름을 이용한 요구 분석</vt:lpstr>
      <vt:lpstr>32. 유스케이스 상세화 (1/2)</vt:lpstr>
      <vt:lpstr>32. 유스케이스 상세화 (2/2)</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(1/3)</vt:lpstr>
      <vt:lpstr>39. 잘못된 유스케이스 다이어그램 (2/3)</vt:lpstr>
      <vt:lpstr>39. 잘못된 유스케이스 다이어그램 (3/3)</vt:lpstr>
      <vt:lpstr>40. 시스템 시퀀스 다이어그램 (1/2)</vt:lpstr>
      <vt:lpstr>40. 시스템 시퀀스 다이어그램 (2/2)</vt:lpstr>
      <vt:lpstr>41. SSD 초안</vt:lpstr>
      <vt:lpstr>42. 시스템 이벤트와 오퍼레이션</vt:lpstr>
      <vt:lpstr>43. 정제된 SSD (1/3)</vt:lpstr>
      <vt:lpstr>43. 정제된 SSD (2/3)</vt:lpstr>
      <vt:lpstr>43. 정제된 SSD (3/3)</vt:lpstr>
      <vt:lpstr>44. 시스템 오퍼레이션과 계약 (1/3)</vt:lpstr>
      <vt:lpstr>44. 시스템 오퍼레이션과 계약 (2/3)</vt:lpstr>
      <vt:lpstr>44. 시스템 오퍼레이션과 계약 (3/3)</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모델로 바꾸기 (1/2)</vt:lpstr>
      <vt:lpstr>57. 실습 — 모델로 바꾸기 (2/2)</vt:lpstr>
      <vt:lpstr>58.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