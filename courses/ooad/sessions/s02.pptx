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"48.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표의 세 번째 행("배송 시작")은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싱킹의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「23.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요구공학의 수집·분석·명세·검증·관리 활동을 연결한다.</a:t>
            </a:r>
          </a:p>
          <a:p>
            <a:pPr lvl="0">
              <a:buNone/>
            </a:pPr>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 건너뛰기는 이 세션 실습("52. 실습 — 모델로 바꾸기")의 사례다.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서로 다른 분류의 추상화 수준을 억지로 일대일 대응시키지 않는다.</a:t>
            </a:r>
          </a:p>
          <a:p>
            <a:pPr lvl="0">
              <a:buNone/>
            </a:pPr>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§5.2(개별 요구사항 및 요구사항 집합의 특성).</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절대적인 순차 절차가 아니다. 실제 분석에서는 필요한 만큼 앞뒤로 반복한다.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요구분석 경계를 최종 배포·아키텍처 경계와 동일시하지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 액터의 목표를 출발점으로 삼되 지원 액터를 빠뜨리지 않는다.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"27. 유스케이스 명세서 템플릿"의 "수준" 항목은 이 구분을 적는다.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유스케이스에 모든 항목을 기계적으로 채우지 않는다.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시스템이 재고를 조회한다, 시스템이 결제 모듈을 호출한다와 같은 내부 처리 단계는 넣지 않는다. 결제 확인은 외부 결제 시스템과의 상호작용이라 흐름에 남는다("32. 유스케이스 다이어그램 — 상세화"의 포함 관계).</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방어 코딩 수준의 모든 예외를 유스케이스에 기록하지 않는다.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1c2a는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1c1a. 결제 전 주문이다 → 환불 없이 취소된다 같은 분기를 추가한다. 지금은 확정된 요구가 아니다.</a:t>
            </a:r>
          </a:p>
          <a:p>
            <a:pPr lvl="0"/>
            <a:r>
              <a:rPr lang="ko-KR" sz="1200"/>
              <a:t>주문 내역 확인(1a)·배송지 변경(1b)의 단계는 같은 방식으로 쓴다. 배송지 변경의 결과는 "39. 시스템 오퍼레이션과 계약"의 계약으로 상세화한다.</a:t>
            </a:r>
          </a:p>
          <a:p>
            <a:pPr lvl="0"/>
            <a:r>
              <a:rPr lang="ko-KR" sz="1200"/>
              <a:t>번호·분기 표기는 Cockburn의 확장(extension) 표기 방식을 따른 수업용 형식이다.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"25. 유스케이스 수준"의 사용자 목표 기준이다.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"31. 유스케이스 상세화"를 참조한다.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바른 다이어그램은 "26. 유스케이스 다이어그램 — 초안"과 "32. 유스케이스 다이어그램 — 상세화"를 참조한다.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이 표는 성공 계약이다. 실패·인증 등 관련 유스케이스의 나머지 행위를 완전히 명세한 것은 아니다.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 식으로 기계적으로 변환한다는 의미가 아니다. "03. 정적 모델 — 도메인 개념과 관계"와 "04. 동적 모델 — 상호작용과 상태"에서 각각 본격적으로 다룬다.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시간 배분은 전체 SA 완성 후 정한다.</a:t>
            </a:r>
          </a:p>
          <a:p>
            <a:pPr lvl="0">
              <a:buNone/>
            </a:pPr>
            <a:r>
              <a:rPr lang="ko-KR" sz="1200"/>
              <a:t>세부 검토 기준(충족한 결과 / 보완할 결과):</a:t>
            </a:r>
          </a:p>
          <a:p>
            <a:pPr lvl="0"/>
            <a:r>
              <a:rPr lang="ko-KR" sz="1200"/>
              <a:t>사실과 가정 — 주어진 네 조건과 추정한 고객 문제를 구분한다 / 버튼 요청만으로 불편 원인을 단정한다</a:t>
            </a:r>
          </a:p>
          <a:p>
            <a:pPr lvl="0"/>
            <a:r>
              <a:rPr lang="ko-KR" sz="1200"/>
              <a:t>목표와 해결책 — 건너뛰기를 정기배송 관리의 대안 흐름·시스템 오퍼레이션으로 표현하고 버튼은 해결책 후보로 둔다 / 버튼이나 건너뛰기 자체를 별도 유스케이스로 만든다</a:t>
            </a:r>
          </a:p>
          <a:p>
            <a:pPr lvl="0"/>
            <a:r>
              <a:rPr lang="ko-KR" sz="1200"/>
              <a:t>흐름과 규칙 — 성공 흐름에 의도·결과를 쓰고 48시간·연속 횟수는 규칙으로 분리한다 / 내부 조회·저장 순서를 흐름으로 쓴다</a:t>
            </a:r>
          </a:p>
          <a:p>
            <a:pPr lvl="0"/>
            <a:r>
              <a:rPr lang="ko-KR" sz="1200"/>
              <a:t>시스템 책임 — 건너뛰기 반영과 다음 배송일 확인을 외부 결과로 명시한다 / 책임 범위 없이 함수명·클래스부터 정한다</a:t>
            </a:r>
          </a:p>
          <a:p>
            <a:pPr lvl="0"/>
            <a:r>
              <a:rPr lang="ko-KR" sz="1200"/>
              <a:t>미확인 정책 — 승인된 결제 처리, 기준 시각·경계, 연속 횟수 계산을 질문으로 남긴다 / 환불·수수료·횟수 초기화 정책을 근거 없이 만든다</a:t>
            </a:r>
          </a:p>
          <a:p>
            <a:pPr lvl="0"/>
            <a:r>
              <a:rPr lang="ko-KR" sz="1200"/>
              <a:t>품질과 검증 — 통지 지연·권한·중복 요청 등 검토 질문과 확인 방법을 제시한다 / 근거 없이 성능 수치를 확정하거나 기능만 검사한다</a:t>
            </a:r>
          </a:p>
          <a:p>
            <a:pPr lvl="0"/>
            <a:r>
              <a:rPr lang="ko-KR" sz="1200"/>
              <a:t>가치 확인 — 일정 조절에 도움이 되는지 사용 증거로 확인한다 / 버튼을 구현했으므로 가치가 입증됐다고 본다</a:t>
            </a:r>
          </a:p>
          <a:p>
            <a:pPr lvl="0">
              <a:buNone/>
            </a:pPr>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유스케이스·주 액터: 정기배송을 관리한다 — 정기배송 고객. 다음 배송 건너뛰기는 이 유스케이스의 대안 흐름이다.</a:t>
            </a:r>
          </a:p>
          <a:p>
            <a:pPr lvl="0"/>
            <a:r>
              <a:rPr lang="ko-KR" sz="1200"/>
              <a:t>대안 흐름(다음 배송 건너뛰기): 고객이 다음 배송을 건너뛴다 → 고객이 건너뛰기 결과와 다음 예정 배송일을 확인한다.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buNone/>
            </a:pPr>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유스케이스란 무엇인가?</a:t>
            </a:r>
          </a:p>
          <a:p>
            <a:pPr lvl="1" marL="355600" indent="0">
              <a:spcBef>
                <a:spcPts val="300"/>
              </a:spcBef>
              <a:spcAft>
                <a:spcPts val="300"/>
              </a:spcAft>
              <a:buNone/>
            </a:pPr>
            <a:r>
              <a:rPr sz="1600" b="0">
                <a:solidFill>
                  <a:srgbClr val="000000"/>
                </a:solidFill>
                <a:latin typeface="맑은 고딕"/>
                <a:ea typeface="맑은 고딕"/>
              </a:rPr>
              <a:t>19. 왜 유스케이스가 필요한가?</a:t>
            </a:r>
          </a:p>
          <a:p>
            <a:pPr lvl="1" marL="355600" indent="0">
              <a:spcBef>
                <a:spcPts val="300"/>
              </a:spcBef>
              <a:spcAft>
                <a:spcPts val="300"/>
              </a:spcAft>
              <a:buNone/>
            </a:pPr>
            <a:r>
              <a:rPr sz="1600" b="0">
                <a:solidFill>
                  <a:srgbClr val="000000"/>
                </a:solidFill>
                <a:latin typeface="맑은 고딕"/>
                <a:ea typeface="맑은 고딕"/>
              </a:rPr>
              <a:t>20. 유스케이스의 위치</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목표와 액터</a:t>
            </a:r>
          </a:p>
          <a:p>
            <a:pPr lvl="1" marL="355600" indent="0">
              <a:spcBef>
                <a:spcPts val="300"/>
              </a:spcBef>
              <a:spcAft>
                <a:spcPts val="300"/>
              </a:spcAft>
              <a:buNone/>
            </a:pPr>
            <a:r>
              <a:rPr sz="1600" b="0">
                <a:solidFill>
                  <a:srgbClr val="000000"/>
                </a:solidFill>
                <a:latin typeface="맑은 고딕"/>
                <a:ea typeface="맑은 고딕"/>
              </a:rPr>
              <a:t>24. 유스케이스 후보 식별</a:t>
            </a:r>
          </a:p>
          <a:p>
            <a:pPr lvl="1" marL="355600" indent="0">
              <a:spcBef>
                <a:spcPts val="300"/>
              </a:spcBef>
              <a:spcAft>
                <a:spcPts val="300"/>
              </a:spcAft>
              <a:buNone/>
            </a:pPr>
            <a:r>
              <a:rPr sz="1600" b="0">
                <a:solidFill>
                  <a:srgbClr val="000000"/>
                </a:solidFill>
                <a:latin typeface="맑은 고딕"/>
                <a:ea typeface="맑은 고딕"/>
              </a:rPr>
              <a:t>25. 유스케이스 수준</a:t>
            </a:r>
          </a:p>
          <a:p>
            <a:pPr lvl="1" marL="355600" indent="0">
              <a:spcBef>
                <a:spcPts val="300"/>
              </a:spcBef>
              <a:spcAft>
                <a:spcPts val="300"/>
              </a:spcAft>
              <a:buNone/>
            </a:pPr>
            <a:r>
              <a:rPr sz="1600" b="0">
                <a:solidFill>
                  <a:srgbClr val="000000"/>
                </a:solidFill>
                <a:latin typeface="맑은 고딕"/>
                <a:ea typeface="맑은 고딕"/>
              </a:rPr>
              <a:t>26.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27. 유스케이스 명세서 템플릿</a:t>
            </a:r>
          </a:p>
          <a:p>
            <a:pPr lvl="1" marL="355600" indent="0">
              <a:spcBef>
                <a:spcPts val="300"/>
              </a:spcBef>
              <a:spcAft>
                <a:spcPts val="300"/>
              </a:spcAft>
              <a:buNone/>
            </a:pPr>
            <a:r>
              <a:rPr sz="1600" b="0">
                <a:solidFill>
                  <a:srgbClr val="000000"/>
                </a:solidFill>
                <a:latin typeface="맑은 고딕"/>
                <a:ea typeface="맑은 고딕"/>
              </a:rPr>
              <a:t>28. 기본 이벤트 흐름</a:t>
            </a:r>
          </a:p>
          <a:p>
            <a:pPr lvl="1" marL="355600" indent="0">
              <a:spcBef>
                <a:spcPts val="300"/>
              </a:spcBef>
              <a:spcAft>
                <a:spcPts val="300"/>
              </a:spcAft>
              <a:buNone/>
            </a:pPr>
            <a:r>
              <a:rPr sz="1600" b="0">
                <a:solidFill>
                  <a:srgbClr val="000000"/>
                </a:solidFill>
                <a:latin typeface="맑은 고딕"/>
                <a:ea typeface="맑은 고딕"/>
              </a:rPr>
              <a:t>29. 규칙·제약·예외 정책</a:t>
            </a:r>
          </a:p>
          <a:p>
            <a:pPr lvl="1" marL="355600" indent="0">
              <a:spcBef>
                <a:spcPts val="300"/>
              </a:spcBef>
              <a:spcAft>
                <a:spcPts val="300"/>
              </a:spcAft>
              <a:buNone/>
            </a:pPr>
            <a:r>
              <a:rPr sz="1600" b="0">
                <a:solidFill>
                  <a:srgbClr val="000000"/>
                </a:solidFill>
                <a:latin typeface="맑은 고딕"/>
                <a:ea typeface="맑은 고딕"/>
              </a:rPr>
              <a:t>30. 이벤트 흐름을 이용한 요구 분석</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유스케이스 상세화</a:t>
            </a:r>
          </a:p>
          <a:p>
            <a:pPr lvl="1" marL="355600" indent="0">
              <a:spcBef>
                <a:spcPts val="300"/>
              </a:spcBef>
              <a:spcAft>
                <a:spcPts val="300"/>
              </a:spcAft>
              <a:buNone/>
            </a:pPr>
            <a:r>
              <a:rPr sz="1600" b="0">
                <a:solidFill>
                  <a:srgbClr val="000000"/>
                </a:solidFill>
                <a:latin typeface="맑은 고딕"/>
                <a:ea typeface="맑은 고딕"/>
              </a:rPr>
              <a:t>32.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33.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38. 잘못된 유스케이스 다이어그램</a:t>
            </a:r>
          </a:p>
          <a:p>
            <a:pPr lvl="1" marL="355600" indent="0">
              <a:spcBef>
                <a:spcPts val="300"/>
              </a:spcBef>
              <a:spcAft>
                <a:spcPts val="300"/>
              </a:spcAft>
              <a:buNone/>
            </a:pPr>
            <a:r>
              <a:rPr sz="1600" b="0">
                <a:solidFill>
                  <a:srgbClr val="000000"/>
                </a:solidFill>
                <a:latin typeface="맑은 고딕"/>
                <a:ea typeface="맑은 고딕"/>
              </a:rPr>
              <a:t>39. 시스템 오퍼레이션과 계약</a:t>
            </a:r>
          </a:p>
          <a:p>
            <a:pPr lvl="1" marL="355600" indent="0">
              <a:spcBef>
                <a:spcPts val="300"/>
              </a:spcBef>
              <a:spcAft>
                <a:spcPts val="300"/>
              </a:spcAft>
              <a:buNone/>
            </a:pPr>
            <a:r>
              <a:rPr sz="1600" b="0">
                <a:solidFill>
                  <a:srgbClr val="000000"/>
                </a:solidFill>
                <a:latin typeface="맑은 고딕"/>
                <a:ea typeface="맑은 고딕"/>
              </a:rPr>
              <a:t>40. 정적·동적 모델을 통한 상세화</a:t>
            </a:r>
          </a:p>
          <a:p>
            <a:pPr lvl="1" marL="355600" indent="0">
              <a:spcBef>
                <a:spcPts val="300"/>
              </a:spcBef>
              <a:spcAft>
                <a:spcPts val="300"/>
              </a:spcAft>
              <a:buNone/>
            </a:pPr>
            <a:r>
              <a:rPr sz="1600" b="0">
                <a:solidFill>
                  <a:srgbClr val="000000"/>
                </a:solidFill>
                <a:latin typeface="맑은 고딕"/>
                <a:ea typeface="맑은 고딕"/>
              </a:rPr>
              <a:t>41. 유스케이스와 품질속성</a:t>
            </a:r>
          </a:p>
          <a:p>
            <a:pPr lvl="1" marL="355600" indent="0">
              <a:spcBef>
                <a:spcPts val="300"/>
              </a:spcBef>
              <a:spcAft>
                <a:spcPts val="300"/>
              </a:spcAft>
              <a:buNone/>
            </a:pPr>
            <a:r>
              <a:rPr sz="1600" b="0">
                <a:solidFill>
                  <a:srgbClr val="000000"/>
                </a:solidFill>
                <a:latin typeface="맑은 고딕"/>
                <a:ea typeface="맑은 고딕"/>
              </a:rPr>
              <a:t>42. 프로토타입·와이어프레임</a:t>
            </a:r>
          </a:p>
          <a:p>
            <a:pPr lvl="1" marL="355600" indent="0">
              <a:spcBef>
                <a:spcPts val="300"/>
              </a:spcBef>
              <a:spcAft>
                <a:spcPts val="300"/>
              </a:spcAft>
              <a:buNone/>
            </a:pPr>
            <a:r>
              <a:rPr sz="1600" b="0">
                <a:solidFill>
                  <a:srgbClr val="000000"/>
                </a:solidFill>
                <a:latin typeface="맑은 고딕"/>
                <a:ea typeface="맑은 고딕"/>
              </a:rPr>
              <a:t>43. 사용자 스토리</a:t>
            </a:r>
          </a:p>
          <a:p>
            <a:pPr lvl="1" marL="355600" indent="0">
              <a:spcBef>
                <a:spcPts val="300"/>
              </a:spcBef>
              <a:spcAft>
                <a:spcPts val="300"/>
              </a:spcAft>
              <a:buNone/>
            </a:pPr>
            <a:r>
              <a:rPr sz="1600" b="0">
                <a:solidFill>
                  <a:srgbClr val="000000"/>
                </a:solidFill>
                <a:latin typeface="맑은 고딕"/>
                <a:ea typeface="맑은 고딕"/>
              </a:rPr>
              <a:t>44. 사용자 스토리의 강점과 한계</a:t>
            </a:r>
          </a:p>
          <a:p>
            <a:pPr lvl="1" marL="355600" indent="0">
              <a:spcBef>
                <a:spcPts val="300"/>
              </a:spcBef>
              <a:spcAft>
                <a:spcPts val="300"/>
              </a:spcAft>
              <a:buNone/>
            </a:pPr>
            <a:r>
              <a:rPr sz="1600" b="0">
                <a:solidFill>
                  <a:srgbClr val="000000"/>
                </a:solidFill>
                <a:latin typeface="맑은 고딕"/>
                <a:ea typeface="맑은 고딕"/>
              </a:rPr>
              <a:t>45. 행위 주도 개발</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행위 주도 개발의 강점과 한계</a:t>
            </a:r>
          </a:p>
          <a:p>
            <a:pPr lvl="1" marL="355600" indent="0">
              <a:spcBef>
                <a:spcPts val="300"/>
              </a:spcBef>
              <a:spcAft>
                <a:spcPts val="300"/>
              </a:spcAft>
              <a:buNone/>
            </a:pPr>
            <a:r>
              <a:rPr sz="1600" b="0">
                <a:solidFill>
                  <a:srgbClr val="000000"/>
                </a:solidFill>
                <a:latin typeface="맑은 고딕"/>
                <a:ea typeface="맑은 고딕"/>
              </a:rPr>
              <a:t>47. 유스케이스·사용자 스토리·BDD</a:t>
            </a:r>
          </a:p>
          <a:p>
            <a:pPr lvl="1" marL="355600" indent="0">
              <a:spcBef>
                <a:spcPts val="300"/>
              </a:spcBef>
              <a:spcAft>
                <a:spcPts val="300"/>
              </a:spcAft>
              <a:buNone/>
            </a:pPr>
            <a:r>
              <a:rPr sz="1600" b="0">
                <a:solidFill>
                  <a:srgbClr val="000000"/>
                </a:solidFill>
                <a:latin typeface="맑은 고딕"/>
                <a:ea typeface="맑은 고딕"/>
              </a:rPr>
              <a:t>48. 요구사항 검증</a:t>
            </a:r>
          </a:p>
          <a:p>
            <a:pPr lvl="1" marL="355600" indent="0">
              <a:spcBef>
                <a:spcPts val="300"/>
              </a:spcBef>
              <a:spcAft>
                <a:spcPts val="300"/>
              </a:spcAft>
              <a:buNone/>
            </a:pPr>
            <a:r>
              <a:rPr sz="1600" b="0">
                <a:solidFill>
                  <a:srgbClr val="000000"/>
                </a:solidFill>
                <a:latin typeface="맑은 고딕"/>
                <a:ea typeface="맑은 고딕"/>
              </a:rPr>
              <a:t>49. 요구사항 관리</a:t>
            </a:r>
          </a:p>
          <a:p>
            <a:pPr lvl="1" marL="355600" indent="0">
              <a:spcBef>
                <a:spcPts val="300"/>
              </a:spcBef>
              <a:spcAft>
                <a:spcPts val="300"/>
              </a:spcAft>
              <a:buNone/>
            </a:pPr>
            <a:r>
              <a:rPr sz="1600" b="0">
                <a:solidFill>
                  <a:srgbClr val="000000"/>
                </a:solidFill>
                <a:latin typeface="맑은 고딕"/>
                <a:ea typeface="맑은 고딕"/>
              </a:rPr>
              <a:t>50. 요구사항 추적</a:t>
            </a:r>
          </a:p>
          <a:p>
            <a:pPr lvl="1" marL="355600" indent="0">
              <a:spcBef>
                <a:spcPts val="300"/>
              </a:spcBef>
              <a:spcAft>
                <a:spcPts val="300"/>
              </a:spcAft>
              <a:buNone/>
            </a:pPr>
            <a:r>
              <a:rPr sz="1600" b="0">
                <a:solidFill>
                  <a:srgbClr val="000000"/>
                </a:solidFill>
                <a:latin typeface="맑은 고딕"/>
                <a:ea typeface="맑은 고딕"/>
              </a:rPr>
              <a:t>51. 요구사항에서 학습으로</a:t>
            </a:r>
          </a:p>
          <a:p>
            <a:pPr lvl="1" marL="355600" indent="0">
              <a:spcBef>
                <a:spcPts val="300"/>
              </a:spcBef>
              <a:spcAft>
                <a:spcPts val="300"/>
              </a:spcAft>
              <a:buNone/>
            </a:pPr>
            <a:r>
              <a:rPr sz="1600" b="0">
                <a:solidFill>
                  <a:srgbClr val="000000"/>
                </a:solidFill>
                <a:latin typeface="맑은 고딕"/>
                <a:ea typeface="맑은 고딕"/>
              </a:rPr>
              <a:t>52.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53.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지식과 업무·기술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식별하고 이벤트 흐름으로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기능 분해·CRUD·화면 명세와 구분하고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을 식별하고 필요하면 계약으로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분석 모델과 후속 설계 판단의 연결을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품질속성·프로토타입·사용자 스토리·행위 주도 개발을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149350" y="4020779"/>
            <a:ext cx="6845300" cy="11176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분석하고, 어떤 정보를 더 묻고, 무엇으로 필요성을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that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3455325"/>
          <a:ext cx="4241800" cy="3873500"/>
        </p:xfrm>
        <a:graphic>
          <a:graphicData uri="http://schemas.openxmlformats.org/drawingml/2006/table">
            <a:tbl>
              <a:tblPr/>
              <a:tblGrid>
                <a:gridCol w="2009140"/>
                <a:gridCol w="22326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물류가 배송을 시작한다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6" y="1842998"/>
          <a:ext cx="6446520" cy="3873500"/>
        </p:xfrm>
        <a:graphic>
          <a:graphicData uri="http://schemas.openxmlformats.org/drawingml/2006/table">
            <a:tbl>
              <a:tblPr/>
              <a:tblGrid>
                <a:gridCol w="1450340"/>
                <a:gridCol w="3042920"/>
                <a:gridCol w="19532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반복·점진적 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싱킹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스타트업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9" name="mermaid Diagram 2"/>
          <p:cNvPicPr>
            <a:picLocks noChangeAspect="1"/>
          </p:cNvPicPr>
          <p:nvPr/>
        </p:nvPicPr>
        <p:blipFill>
          <a:blip r:embed="mermaidImage2"/>
          <a:stretch>
            <a:fillRect/>
          </a:stretch>
        </p:blipFill>
        <p:spPr>
          <a:xfrm>
            <a:off x="1511697" y="3378343"/>
            <a:ext cx="6120606"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949488"/>
                <a:gridCol w="889000"/>
                <a:gridCol w="889000"/>
                <a:gridCol w="2218429"/>
                <a:gridCol w="335988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당연하게 여긴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목록과 명세로 빠르게 합의하고 예외·규칙을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 개발자의 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 도메인 전문가 참여, 용어집, 구체적인 예로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선택지와 결과를 보여주고 고객이 결정, 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작은 실험, 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1842998"/>
          <a:ext cx="7480300" cy="3873500"/>
        </p:xfrm>
        <a:graphic>
          <a:graphicData uri="http://schemas.openxmlformats.org/drawingml/2006/table">
            <a:tbl>
              <a:tblPr/>
              <a:tblGrid>
                <a:gridCol w="1673860"/>
                <a:gridCol w="212090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개선 방향: 변경 가능한 주문 상태, 변경 결과를 확인할 주체, 결과 통지 조건을 명시한다. 응답 시간 목표는 측정 조건과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plantuml Diagram 1"/>
          <p:cNvPicPr>
            <a:picLocks noChangeAspect="1"/>
          </p:cNvPicPr>
          <p:nvPr/>
        </p:nvPicPr>
        <p:blipFill>
          <a:blip r:embed="plantumlImage1"/>
          <a:stretch>
            <a:fillRect/>
          </a:stretch>
        </p:blipFill>
        <p:spPr>
          <a:xfrm>
            <a:off x="3556000" y="4511640"/>
            <a:ext cx="2032000" cy="7190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규칙이 중요한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280639"/>
                <a:gridCol w="1993306"/>
                <a:gridCol w="2943527"/>
                <a:gridCol w="20883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사건에 어떤 자료가 만들어지고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723900" indent="-368300">
              <a:spcBef>
                <a:spcPts val="600"/>
              </a:spcBef>
              <a:spcAft>
                <a:spcPts val="600"/>
              </a:spcAft>
              <a:buNone/>
            </a:pPr>
            <a:r>
              <a:rPr sz="1800" b="0">
                <a:solidFill>
                  <a:srgbClr val="000000"/>
                </a:solidFill>
                <a:latin typeface="맑은 고딕"/>
                <a:ea typeface="맑은 고딕"/>
              </a:rPr>
              <a:t>1. 대상 시스템을 정의한다.</a:t>
            </a:r>
          </a:p>
          <a:p>
            <a:pPr lvl="2" marL="723900" indent="-368300">
              <a:spcBef>
                <a:spcPts val="600"/>
              </a:spcBef>
              <a:spcAft>
                <a:spcPts val="600"/>
              </a:spcAft>
              <a:buNone/>
            </a:pPr>
            <a:r>
              <a:rPr sz="1800" b="0">
                <a:solidFill>
                  <a:srgbClr val="000000"/>
                </a:solidFill>
                <a:latin typeface="맑은 고딕"/>
                <a:ea typeface="맑은 고딕"/>
              </a:rPr>
              <a:t>2. 목표와 그 목표를 가진 액터를 함께 식별한다.</a:t>
            </a:r>
          </a:p>
          <a:p>
            <a:pPr lvl="2" marL="723900" indent="-368300">
              <a:spcBef>
                <a:spcPts val="600"/>
              </a:spcBef>
              <a:spcAft>
                <a:spcPts val="600"/>
              </a:spcAft>
              <a:buNone/>
            </a:pPr>
            <a:r>
              <a:rPr sz="1800" b="0">
                <a:solidFill>
                  <a:srgbClr val="000000"/>
                </a:solidFill>
                <a:latin typeface="맑은 고딕"/>
                <a:ea typeface="맑은 고딕"/>
              </a:rPr>
              <a:t>3. 목표 수준의 유스케이스 후보를 식별한다.</a:t>
            </a:r>
          </a:p>
          <a:p>
            <a:pPr lvl="2" marL="723900" indent="-368300">
              <a:spcBef>
                <a:spcPts val="600"/>
              </a:spcBef>
              <a:spcAft>
                <a:spcPts val="600"/>
              </a:spcAft>
              <a:buNone/>
            </a:pPr>
            <a:r>
              <a:rPr sz="1800" b="0">
                <a:solidFill>
                  <a:srgbClr val="000000"/>
                </a:solidFill>
                <a:latin typeface="맑은 고딕"/>
                <a:ea typeface="맑은 고딕"/>
              </a:rPr>
              <a:t>4. 액터와 유스케이스로 초안 유스케이스 다이어그램을 작성한다.</a:t>
            </a:r>
          </a:p>
          <a:p>
            <a:pPr lvl="2" marL="723900" indent="-368300">
              <a:spcBef>
                <a:spcPts val="600"/>
              </a:spcBef>
              <a:spcAft>
                <a:spcPts val="600"/>
              </a:spcAft>
              <a:buNone/>
            </a:pPr>
            <a:r>
              <a:rPr sz="1800" b="0">
                <a:solidFill>
                  <a:srgbClr val="000000"/>
                </a:solidFill>
                <a:latin typeface="맑은 고딕"/>
                <a:ea typeface="맑은 고딕"/>
              </a:rPr>
              <a:t>5. 유스케이스의 기본 이벤트 흐름을 작성한다.</a:t>
            </a:r>
          </a:p>
          <a:p>
            <a:pPr lvl="2" marL="723900" indent="-368300">
              <a:spcBef>
                <a:spcPts val="600"/>
              </a:spcBef>
              <a:spcAft>
                <a:spcPts val="600"/>
              </a:spcAft>
              <a:buNone/>
            </a:pPr>
            <a:r>
              <a:rPr sz="1800" b="0">
                <a:solidFill>
                  <a:srgbClr val="000000"/>
                </a:solidFill>
                <a:latin typeface="맑은 고딕"/>
                <a:ea typeface="맑은 고딕"/>
              </a:rPr>
              <a:t>6. 필요한 규칙·제약·예외 정책을 별도로 식별한다.</a:t>
            </a:r>
          </a:p>
          <a:p>
            <a:pPr lvl="2" marL="723900" indent="-368300">
              <a:spcBef>
                <a:spcPts val="600"/>
              </a:spcBef>
              <a:spcAft>
                <a:spcPts val="600"/>
              </a:spcAft>
              <a:buNone/>
            </a:pPr>
            <a:r>
              <a:rPr sz="1800" b="0">
                <a:solidFill>
                  <a:srgbClr val="000000"/>
                </a:solidFill>
                <a:latin typeface="맑은 고딕"/>
                <a:ea typeface="맑은 고딕"/>
              </a:rPr>
              <a:t>7. 사전조건·사후조건·비즈니스 규칙 등 필요한 내용을 상세화한다.</a:t>
            </a:r>
          </a:p>
          <a:p>
            <a:pPr lvl="2" marL="723900" indent="-368300">
              <a:spcBef>
                <a:spcPts val="600"/>
              </a:spcBef>
              <a:spcAft>
                <a:spcPts val="600"/>
              </a:spcAft>
              <a:buNone/>
            </a:pPr>
            <a:r>
              <a:rPr sz="1800" b="0">
                <a:solidFill>
                  <a:srgbClr val="000000"/>
                </a:solidFill>
                <a:latin typeface="맑은 고딕"/>
                <a:ea typeface="맑은 고딕"/>
              </a:rPr>
              <a:t>8. 상세화 결과를 반영해 유스케이스 다이어그램을 정제한다.</a:t>
            </a:r>
          </a:p>
          <a:p>
            <a:pPr lvl="2" marL="723900" indent="-368300">
              <a:spcBef>
                <a:spcPts val="600"/>
              </a:spcBef>
              <a:spcAft>
                <a:spcPts val="600"/>
              </a:spcAft>
              <a:buNone/>
            </a:pPr>
            <a:r>
              <a:rPr sz="1800" b="0">
                <a:solidFill>
                  <a:srgbClr val="000000"/>
                </a:solidFill>
                <a:latin typeface="맑은 고딕"/>
                <a:ea typeface="맑은 고딕"/>
              </a:rPr>
              <a:t>9. 중요한 시스템 이벤트에서 시스템 오퍼레이션을 식별한다.</a:t>
            </a:r>
          </a:p>
          <a:p>
            <a:pPr lvl="2" marL="723900" indent="-368300">
              <a:spcBef>
                <a:spcPts val="600"/>
              </a:spcBef>
              <a:spcAft>
                <a:spcPts val="600"/>
              </a:spcAft>
              <a:buNone/>
            </a:pPr>
            <a:r>
              <a:rPr sz="1800" b="0">
                <a:solidFill>
                  <a:srgbClr val="000000"/>
                </a:solidFill>
                <a:latin typeface="맑은 고딕"/>
                <a:ea typeface="맑은 고딕"/>
              </a:rPr>
              <a:t>10. 필요하면 중요하고 복잡한 시스템 오퍼레이션의 계약을 작성한다.</a:t>
            </a:r>
          </a:p>
          <a:p>
            <a:pPr lvl="2" marL="723900" indent="-368300">
              <a:spcBef>
                <a:spcPts val="600"/>
              </a:spcBef>
              <a:spcAft>
                <a:spcPts val="600"/>
              </a:spcAft>
              <a:buNone/>
            </a:pPr>
            <a:r>
              <a:rPr sz="1800" b="0">
                <a:solidFill>
                  <a:srgbClr val="000000"/>
                </a:solidFill>
                <a:latin typeface="맑은 고딕"/>
                <a:ea typeface="맑은 고딕"/>
              </a:rPr>
              <a:t>11. 전체 요구와 유스케이스를 검토하고 정제한다.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경계</a:t>
            </a:r>
            <a:r>
              <a:rPr sz="1800" b="0">
                <a:solidFill>
                  <a:srgbClr val="000000"/>
                </a:solidFill>
                <a:latin typeface="맑은 고딕"/>
                <a:ea typeface="맑은 고딕"/>
              </a:rPr>
              <a:t>를 명확히 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None/>
            </a:pPr>
            <a:r>
              <a:rPr sz="1600" b="0">
                <a:solidFill>
                  <a:srgbClr val="000000"/>
                </a:solidFill>
                <a:latin typeface="맑은 고딕"/>
                <a:ea typeface="맑은 고딕"/>
              </a:rPr>
              <a:t>지금 분석하는 대상 시스템은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사각형의 </a:t>
            </a:r>
            <a:r>
              <a:rPr sz="1600" b="1">
                <a:solidFill>
                  <a:srgbClr val="000000"/>
                </a:solidFill>
                <a:latin typeface="맑은 고딕"/>
                <a:ea typeface="맑은 고딕"/>
              </a:rPr>
              <a:t>상단 안쪽에 시스템 명칭</a:t>
            </a:r>
            <a:r>
              <a:rPr sz="1600" b="0">
                <a:solidFill>
                  <a:srgbClr val="000000"/>
                </a:solidFill>
                <a:latin typeface="맑은 고딕"/>
                <a:ea typeface="맑은 고딕"/>
              </a:rPr>
              <a:t>을 표시한다.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안에는 분석 대상 시스템의 유스케이스를 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밖에는 액터를 둔다.</a:t>
            </a:r>
          </a:p>
        </p:txBody>
      </p:sp>
      <p:pic>
        <p:nvPicPr>
          <p:cNvPr id="9" name="plantuml Diagram 2"/>
          <p:cNvPicPr>
            <a:picLocks noChangeAspect="1"/>
          </p:cNvPicPr>
          <p:nvPr/>
        </p:nvPicPr>
        <p:blipFill>
          <a:blip r:embed="plantumlImage2"/>
          <a:stretch>
            <a:fillRect/>
          </a:stretch>
        </p:blipFill>
        <p:spPr>
          <a:xfrm>
            <a:off x="2993292" y="3964297"/>
            <a:ext cx="3157415" cy="1391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6666" y="3151553"/>
          <a:ext cx="4577080" cy="3873500"/>
        </p:xfrm>
        <a:graphic>
          <a:graphicData uri="http://schemas.openxmlformats.org/drawingml/2006/table">
            <a:tbl>
              <a:tblPr/>
              <a:tblGrid>
                <a:gridCol w="3489960"/>
                <a:gridCol w="10871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pic>
        <p:nvPicPr>
          <p:cNvPr id="14" name="plantuml Diagram 3"/>
          <p:cNvPicPr>
            <a:picLocks noChangeAspect="1"/>
          </p:cNvPicPr>
          <p:nvPr/>
        </p:nvPicPr>
        <p:blipFill>
          <a:blip r:embed="plantumlImage3"/>
          <a:stretch>
            <a:fillRect/>
          </a:stretch>
        </p:blipFill>
        <p:spPr>
          <a:xfrm>
            <a:off x="4260406" y="5152770"/>
            <a:ext cx="609600" cy="883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후보 식별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현황을 조회한다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배송을 처리한다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상품 정보를 관리한다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후보 식별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CRUD 목록을 그대로 유스케이스 4개로 만든 잘못된 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정의한다("34.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유스케이스 다이어그램 —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초안에서는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전체 시스템의 사용 구조를 단순하게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a:t>
            </a:r>
            <a:r>
              <a:rPr sz="1800" b="0">
                <a:solidFill>
                  <a:srgbClr val="000000"/>
                </a:solidFill>
                <a:latin typeface="맑은 고딕"/>
                <a:ea typeface="맑은 고딕"/>
              </a:rPr>
              <a:t>&lt;&lt;include&gt;&gt;</a:t>
            </a:r>
            <a:r>
              <a:rPr sz="1800" b="0">
                <a:solidFill>
                  <a:srgbClr val="000000"/>
                </a:solidFill>
                <a:latin typeface="맑은 고딕"/>
                <a:ea typeface="맑은 고딕"/>
              </a:rPr>
              <a:t>)과 확장(</a:t>
            </a:r>
            <a:r>
              <a:rPr sz="1800" b="0">
                <a:solidFill>
                  <a:srgbClr val="000000"/>
                </a:solidFill>
                <a:latin typeface="맑은 고딕"/>
                <a:ea typeface="맑은 고딕"/>
              </a:rPr>
              <a:t>&lt;&lt;extend&gt;&gt;</a:t>
            </a:r>
            <a:r>
              <a:rPr sz="1800" b="0">
                <a:solidFill>
                  <a:srgbClr val="000000"/>
                </a:solidFill>
                <a:latin typeface="맑은 고딕"/>
                <a:ea typeface="맑은 고딕"/>
              </a:rPr>
              <a:t>) 관계는 이 단계에서 넣지 않는다.</a:t>
            </a:r>
          </a:p>
        </p:txBody>
      </p:sp>
      <p:pic>
        <p:nvPicPr>
          <p:cNvPr id="9" name="plantuml Diagram 4"/>
          <p:cNvPicPr>
            <a:picLocks noChangeAspect="1"/>
          </p:cNvPicPr>
          <p:nvPr/>
        </p:nvPicPr>
        <p:blipFill>
          <a:blip r:embed="plantumlImage4"/>
          <a:stretch>
            <a:fillRect/>
          </a:stretch>
        </p:blipFill>
        <p:spPr>
          <a:xfrm>
            <a:off x="2915015" y="2661920"/>
            <a:ext cx="3313970" cy="365054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1077913" indent="-354013">
              <a:spcBef>
                <a:spcPts val="600"/>
              </a:spcBef>
              <a:spcAft>
                <a:spcPts val="600"/>
              </a:spcAft>
              <a:buNone/>
            </a:pPr>
            <a:r>
              <a:rPr sz="1600" b="0">
                <a:solidFill>
                  <a:srgbClr val="000000"/>
                </a:solidFill>
                <a:latin typeface="맑은 고딕"/>
                <a:ea typeface="맑은 고딕"/>
              </a:rPr>
              <a:t>1. 고객이 상품과 수량을 정해 주문한다.</a:t>
            </a:r>
          </a:p>
          <a:p>
            <a:pPr lvl="3" marL="1077913" indent="-354013">
              <a:spcBef>
                <a:spcPts val="600"/>
              </a:spcBef>
              <a:spcAft>
                <a:spcPts val="600"/>
              </a:spcAft>
              <a:buNone/>
            </a:pPr>
            <a:r>
              <a:rPr sz="1600" b="0">
                <a:solidFill>
                  <a:srgbClr val="000000"/>
                </a:solidFill>
                <a:latin typeface="맑은 고딕"/>
                <a:ea typeface="맑은 고딕"/>
              </a:rPr>
              <a:t>2. 결제가 확인된다.</a:t>
            </a:r>
          </a:p>
          <a:p>
            <a:pPr lvl="3" marL="1077913" indent="-354013">
              <a:spcBef>
                <a:spcPts val="600"/>
              </a:spcBef>
              <a:spcAft>
                <a:spcPts val="600"/>
              </a:spcAft>
              <a:buNone/>
            </a:pPr>
            <a:r>
              <a:rPr sz="1600" b="0">
                <a:solidFill>
                  <a:srgbClr val="000000"/>
                </a:solidFill>
                <a:latin typeface="맑은 고딕"/>
                <a:ea typeface="맑은 고딕"/>
              </a:rPr>
              <a:t>3.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내역 확인·배송지 변경·주문 취소는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r>
              <a:rPr sz="1200" b="0">
                <a:solidFill>
                  <a:srgbClr val="000000"/>
                </a:solidFill>
                <a:latin typeface="맑은 고딕"/>
                <a:ea typeface="맑은 고딕"/>
              </a:rPr>
              <a:t>("31. 유스케이스 상세화")</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반복이나 화면 클릭 순서를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의도·응답은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내부 구현의 확인·계산·저장·호출은 나열하지 않되, 경로를 바꾸는 판단은 외부 행위로 표현한다.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모든 경우를 넣지 않는다.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특정 상품은 취소가 제한될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부분 취소의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환불 처리와 연결되어야 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법률·계약·정책상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정말 중요한 경우에만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중요한 질문을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"31. 유스케이스 상세화"의 주문 취소 대안 흐름을 출발점으로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유스케이스 상세화 </a:t>
            </a:r>
            <a:r>
              <a:rPr sz="2000" b="1">
                <a:solidFill>
                  <a:srgbClr val="000000"/>
                </a:solidFill>
                <a:latin typeface="맑은 고딕"/>
                <a:ea typeface="맑은 고딕"/>
              </a:rPr>
              <a:t>(1/3)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확인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내역 확인, 1b 배송지 변경(출고 전), 1c 주문 취소(결제 완료·배송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유스케이스 상세화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1c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1077913" indent="-354013">
              <a:spcBef>
                <a:spcPts val="600"/>
              </a:spcBef>
              <a:spcAft>
                <a:spcPts val="600"/>
              </a:spcAft>
              <a:buNone/>
            </a:pPr>
            <a:r>
              <a:rPr sz="1600" b="0">
                <a:solidFill>
                  <a:srgbClr val="000000"/>
                </a:solidFill>
                <a:latin typeface="맑은 고딕"/>
                <a:ea typeface="맑은 고딕"/>
              </a:rPr>
              <a:t>1. 고객이 주문을 취소한다.</a:t>
            </a:r>
          </a:p>
          <a:p>
            <a:pPr lvl="3" marL="1077913" indent="-354013">
              <a:spcBef>
                <a:spcPts val="600"/>
              </a:spcBef>
              <a:spcAft>
                <a:spcPts val="600"/>
              </a:spcAft>
              <a:buNone/>
            </a:pPr>
            <a:r>
              <a:rPr sz="1600" b="0">
                <a:solidFill>
                  <a:srgbClr val="000000"/>
                </a:solidFill>
                <a:latin typeface="맑은 고딕"/>
                <a:ea typeface="맑은 고딕"/>
              </a:rPr>
              <a:t>2. 환불이 처리된다.</a:t>
            </a:r>
          </a:p>
          <a:p>
            <a:pPr lvl="3" marL="1077913" indent="-354013">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1c2a —</a:t>
            </a:r>
            <a:r>
              <a:rPr sz="1600" b="0">
                <a:solidFill>
                  <a:srgbClr val="000000"/>
                </a:solidFill>
                <a:latin typeface="맑은 고딕"/>
                <a:ea typeface="맑은 고딕"/>
              </a:rPr>
              <a:t> 환불이 완료되지 않는다</a:t>
            </a:r>
          </a:p>
          <a:p>
            <a:pPr lvl="3" marL="1077913" indent="-354013">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1077913" indent="-354013">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1c</a:t>
            </a:r>
            <a:r>
              <a:rPr sz="1600" b="0">
                <a:solidFill>
                  <a:srgbClr val="000000"/>
                </a:solidFill>
                <a:latin typeface="맑은 고딕"/>
                <a:ea typeface="맑은 고딕"/>
              </a:rPr>
              <a:t> —</a:t>
            </a:r>
            <a:r>
              <a:rPr sz="1400" b="0">
                <a:solidFill>
                  <a:srgbClr val="000000"/>
                </a:solidFill>
                <a:latin typeface="맑은 고딕"/>
                <a:ea typeface="맑은 고딕"/>
              </a:rPr>
              <a:t> 1단계에서 갈라지는 세 번째 경로, </a:t>
            </a:r>
            <a:r>
              <a:rPr sz="1400" b="0">
                <a:solidFill>
                  <a:srgbClr val="000000"/>
                </a:solidFill>
                <a:latin typeface="맑은 고딕"/>
                <a:ea typeface="맑은 고딕"/>
              </a:rPr>
              <a:t>1c2a</a:t>
            </a:r>
            <a:r>
              <a:rPr sz="1400" b="0">
                <a:solidFill>
                  <a:srgbClr val="000000"/>
                </a:solidFill>
                <a:latin typeface="맑은 고딕"/>
                <a:ea typeface="맑은 고딕"/>
              </a:rPr>
              <a:t> — 그 경로의 2단계에서 갈라지는 첫 번째 경로다.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유스케이스 상세화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흐름이 아니라 규칙으로 기록한다.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4790527"/>
                <a:gridCol w="262627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지점에서 필요한 별도 유스케이스의 행위를 삽입한다. 내부 함수라는 이유로 분리하지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열린 화살촉과 &lt;&lt;include&gt;&gt;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독립적으로 의미가 있는 기본 유스케이스의 확장 지점에 행위를 삽입한다. 조건이 지정되면 그 조건을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열린 화살촉과 &lt;&lt;extend&gt;&gt;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 분류 관계다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속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결제 확인은 외부 </a:t>
            </a:r>
            <a:r>
              <a:rPr sz="1400" b="0">
                <a:solidFill>
                  <a:srgbClr val="000000"/>
                </a:solidFill>
                <a:latin typeface="맑은 고딕"/>
                <a:ea typeface="맑은 고딕"/>
              </a:rPr>
              <a:t>결제 시스템</a:t>
            </a:r>
            <a:r>
              <a:rPr sz="1400" b="0">
                <a:solidFill>
                  <a:srgbClr val="000000"/>
                </a:solidFill>
                <a:latin typeface="맑은 고딕"/>
                <a:ea typeface="맑은 고딕"/>
              </a:rPr>
              <a:t> 액터와 상호작용한다.</a:t>
            </a:r>
          </a:p>
        </p:txBody>
      </p:sp>
      <p:pic>
        <p:nvPicPr>
          <p:cNvPr id="9" name="plantuml Diagram 5"/>
          <p:cNvPicPr>
            <a:picLocks noChangeAspect="1"/>
          </p:cNvPicPr>
          <p:nvPr/>
        </p:nvPicPr>
        <p:blipFill>
          <a:blip r:embed="plantumlImage5"/>
          <a:stretch>
            <a:fillRect/>
          </a:stretch>
        </p:blipFill>
        <p:spPr>
          <a:xfrm>
            <a:off x="3074905" y="3304540"/>
            <a:ext cx="2994190" cy="30079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쿠폰 없이도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적용한다.</a:t>
            </a:r>
          </a:p>
        </p:txBody>
      </p:sp>
      <p:pic>
        <p:nvPicPr>
          <p:cNvPr id="9" name="plantuml Diagram 6"/>
          <p:cNvPicPr>
            <a:picLocks noChangeAspect="1"/>
          </p:cNvPicPr>
          <p:nvPr/>
        </p:nvPicPr>
        <p:blipFill>
          <a:blip r:embed="plantumlImage6"/>
          <a:stretch>
            <a:fillRect/>
          </a:stretch>
        </p:blipFill>
        <p:spPr>
          <a:xfrm>
            <a:off x="1492738" y="3068309"/>
            <a:ext cx="6158523" cy="31730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모두 이어받을 때만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모두 이어받는다고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한도·혜택 등 요건이 붙을 수 있다.</a:t>
            </a:r>
          </a:p>
        </p:txBody>
      </p:sp>
      <p:pic>
        <p:nvPicPr>
          <p:cNvPr id="9" name="plantuml Diagram 7"/>
          <p:cNvPicPr>
            <a:picLocks noChangeAspect="1"/>
          </p:cNvPicPr>
          <p:nvPr/>
        </p:nvPicPr>
        <p:blipFill>
          <a:blip r:embed="plantumlImage7"/>
          <a:stretch>
            <a:fillRect/>
          </a:stretch>
        </p:blipFill>
        <p:spPr>
          <a:xfrm>
            <a:off x="2586892" y="3052679"/>
            <a:ext cx="3970215" cy="3204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3870332"/>
                <a:gridCol w="443546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 수량 입력, 쿠폰 입력, 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주문 흐름 하나로 두고, 각 행위는 그 흐름의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포함은 여러 유스케이스가 공유하는 의미 있는 행위에만 쓴다(예: 결제를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3990414"/>
                <a:gridCol w="4315386"/>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흐름: 등록, 대안 흐름: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주문한다·주문 내역 확인·배송지 변경·주문 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주문, 대안 흐름: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3185" y="1842998"/>
          <a:ext cx="6924040" cy="3873500"/>
        </p:xfrm>
        <a:graphic>
          <a:graphicData uri="http://schemas.openxmlformats.org/drawingml/2006/table">
            <a:tbl>
              <a:tblPr/>
              <a:tblGrid>
                <a:gridCol w="2372360"/>
                <a:gridCol w="45516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결제 시스템만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많이 쓰는 것과 요구를 잘 정의하는 것은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흐름이다("34. 잘못된 관행 —</a:t>
            </a:r>
            <a:r>
              <a:rPr sz="1400" b="0">
                <a:solidFill>
                  <a:srgbClr val="000000"/>
                </a:solidFill>
                <a:latin typeface="맑은 고딕"/>
                <a:ea typeface="맑은 고딕"/>
              </a:rPr>
              <a:t> CRUD 분할").</a:t>
            </a:r>
          </a:p>
        </p:txBody>
      </p:sp>
      <p:pic>
        <p:nvPicPr>
          <p:cNvPr id="9" name="plantuml Diagram 8"/>
          <p:cNvPicPr>
            <a:picLocks noChangeAspect="1"/>
          </p:cNvPicPr>
          <p:nvPr/>
        </p:nvPicPr>
        <p:blipFill>
          <a:blip r:embed="plantumlImage8"/>
          <a:stretch>
            <a:fillRect/>
          </a:stretch>
        </p:blipFill>
        <p:spPr>
          <a:xfrm>
            <a:off x="2001305" y="3136900"/>
            <a:ext cx="5141391" cy="31755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plantuml Diagram 9"/>
          <p:cNvPicPr>
            <a:picLocks noChangeAspect="1"/>
          </p:cNvPicPr>
          <p:nvPr/>
        </p:nvPicPr>
        <p:blipFill>
          <a:blip r:embed="plantumlImage9"/>
          <a:stretch>
            <a:fillRect/>
          </a:stretch>
        </p:blipFill>
        <p:spPr>
          <a:xfrm>
            <a:off x="820615" y="3845061"/>
            <a:ext cx="7502769" cy="976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 없이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실행 순서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화면 메뉴 구조를 그대로 유스케이스로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CRUD·내부 기능을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공통 코드라는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선택 기능이라는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거미줄</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시스템 오퍼레이션과 계약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업무 의미의 이벤트를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의미와 결과를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주문</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조건·상태 변화가 중요한 오퍼레이션에는 계약을 작성한다.</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시스템 오퍼레이션과 계약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6595" y="2754313"/>
          <a:ext cx="8237220" cy="3873500"/>
        </p:xfrm>
        <a:graphic>
          <a:graphicData uri="http://schemas.openxmlformats.org/drawingml/2006/table">
            <a:tbl>
              <a:tblPr/>
              <a:tblGrid>
                <a:gridCol w="1450340"/>
                <a:gridCol w="6786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1b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 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 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800" b="1">
                <a:solidFill>
                  <a:srgbClr val="000000"/>
                </a:solidFill>
                <a:latin typeface="맑은 고딕"/>
                <a:ea typeface="맑은 고딕"/>
              </a:rPr>
              <a:t>행위 관점</a:t>
            </a:r>
            <a:r>
              <a:rPr sz="1800" b="0">
                <a:solidFill>
                  <a:srgbClr val="000000"/>
                </a:solidFill>
                <a:latin typeface="맑은 고딕"/>
                <a:ea typeface="맑은 고딕"/>
              </a:rPr>
              <a:t>)만으로는 부족하다. 정적·동적 모델이 </a:t>
            </a:r>
            <a:r>
              <a:rPr sz="1800" b="1">
                <a:solidFill>
                  <a:srgbClr val="000000"/>
                </a:solidFill>
                <a:latin typeface="맑은 고딕"/>
                <a:ea typeface="맑은 고딕"/>
              </a:rPr>
              <a:t>문제영역의 의미·관계·상태 변화</a:t>
            </a:r>
            <a:r>
              <a:rPr sz="1800" b="0">
                <a:solidFill>
                  <a:srgbClr val="000000"/>
                </a:solidFill>
                <a:latin typeface="맑은 고딕"/>
                <a:ea typeface="맑은 고딕"/>
              </a:rPr>
              <a:t>를 검토해 경계와 객체 책임을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모델은 문제영역의 의미·관계·제약을, 동적 모델은 상호작용과 상태 변화의 사건·규칙을 다룬다.</a:t>
            </a:r>
          </a:p>
        </p:txBody>
      </p:sp>
      <p:pic>
        <p:nvPicPr>
          <p:cNvPr id="9" name="mermaid Diagram 3"/>
          <p:cNvPicPr>
            <a:picLocks noChangeAspect="1"/>
          </p:cNvPicPr>
          <p:nvPr/>
        </p:nvPicPr>
        <p:blipFill>
          <a:blip r:embed="mermaidImage3"/>
          <a:stretch>
            <a:fillRect/>
          </a:stretch>
        </p:blipFill>
        <p:spPr>
          <a:xfrm>
            <a:off x="1149350" y="3893984"/>
            <a:ext cx="6845300" cy="8556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303439"/>
          <a:ext cx="7871460" cy="3873500"/>
        </p:xfrm>
        <a:graphic>
          <a:graphicData uri="http://schemas.openxmlformats.org/drawingml/2006/table">
            <a:tbl>
              <a:tblPr/>
              <a:tblGrid>
                <a:gridCol w="1087120"/>
                <a:gridCol w="3238500"/>
                <a:gridCol w="35458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"제품 품질 모델은 제품의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기준을 제공한다"</a:t>
            </a:r>
            <a:r>
              <a:rPr sz="1000" b="0">
                <a:solidFill>
                  <a:srgbClr val="000000"/>
                </a:solidFill>
                <a:latin typeface="맑은 고딕"/>
                <a:ea typeface="맑은 고딕"/>
              </a:rPr>
              <a:t>, </a:t>
            </a:r>
            <a:r>
              <a:rPr sz="1000" b="0">
                <a:solidFill>
                  <a:srgbClr val="000000"/>
                </a:solidFill>
                <a:latin typeface="맑은 고딕"/>
                <a:ea typeface="맑은 고딕"/>
              </a:rPr>
              <a:t>ISO/IEC 25010:2023,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교육 예시다.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시스템 오퍼레이션과 계약"의 성공 계약을 검토하기 위한 화면 초안이다. 교육용 주소 A·B는 실제 주소가 아니다. 버튼·화면 구성은 해결책 후보이며 확정된 요구사항이 아니다.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와이어프레임만으로 실제 처리나 성공을 검증할 수는 없다. 사용자에게 과업을 설명하게 하거나 조작 가능한 프로토타입으로 관찰한다.</a:t>
            </a:r>
          </a:p>
        </p:txBody>
      </p:sp>
      <p:pic>
        <p:nvPicPr>
          <p:cNvPr id="9" name="svg Diagram 1" descr="주문 상세와 배송지 변경 와이어프레임"/>
          <p:cNvPicPr>
            <a:picLocks noChangeAspect="1"/>
          </p:cNvPicPr>
          <p:nvPr/>
        </p:nvPicPr>
        <p:blipFill>
          <a:blip r:embed="svgImage1"/>
          <a:stretch>
            <a:fillRect/>
          </a:stretch>
        </p:blipFill>
        <p:spPr>
          <a:xfrm>
            <a:off x="2214563" y="3853792"/>
            <a:ext cx="4714875" cy="17811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직전 변경 가능 여부와 유효 주소 기준·오류 안내는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배송비 변동이나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시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요구사항과 계약에 반영한다. 새 주소·배송비·실패 정책을 화면만 보고 임의로 결정하지 않는다.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대화와 인수 조건으로 구체화한다.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반복적인 개발과 우선순위 관리에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대화와 우선순위 결정에 유용하다. 전체 목표와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함께 발견하고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시스템 오퍼레이션과 계약"의 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구체적으로 확인하는 데 유용하지만 목표와 요구사항 구조 전체를 대체하지는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pic>
        <p:nvPicPr>
          <p:cNvPr id="14" name="mermaid Diagram 4"/>
          <p:cNvPicPr>
            <a:picLocks noChangeAspect="1"/>
          </p:cNvPicPr>
          <p:nvPr/>
        </p:nvPicPr>
        <p:blipFill>
          <a:blip r:embed="mermaidImage4"/>
          <a:stretch>
            <a:fillRect/>
          </a:stretch>
        </p:blipFill>
        <p:spPr>
          <a:xfrm>
            <a:off x="2194671" y="3824705"/>
            <a:ext cx="4741069" cy="242728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명확·완전·일관적인가?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문제를 해결하는가?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기대한 가치와 예상 못한 문제가 있는가?</a:t>
            </a:r>
          </a:p>
        </p:txBody>
      </p:sp>
      <p:pic>
        <p:nvPicPr>
          <p:cNvPr id="9" name="mermaid Diagram 5"/>
          <p:cNvPicPr>
            <a:picLocks noChangeAspect="1"/>
          </p:cNvPicPr>
          <p:nvPr/>
        </p:nvPicPr>
        <p:blipFill>
          <a:blip r:embed="mermaidImage5"/>
          <a:stretch>
            <a:fillRect/>
          </a:stretch>
        </p:blipFill>
        <p:spPr>
          <a:xfrm>
            <a:off x="1149350" y="4164871"/>
            <a:ext cx="6845300" cy="10914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언제·왜 바뀌었고 무엇에 영향을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요구·설계·코드·테스트는 무엇인가?</a:t>
            </a:r>
          </a:p>
        </p:txBody>
      </p:sp>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일대일 대응시키지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근거·영향을 기록하고 필요하면 기준선을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6"/>
          <p:cNvPicPr>
            <a:picLocks noChangeAspect="1"/>
          </p:cNvPicPr>
          <p:nvPr/>
        </p:nvPicPr>
        <p:blipFill>
          <a:blip r:embed="mermaidImage6"/>
          <a:stretch>
            <a:fillRect/>
          </a:stretch>
        </p:blipFill>
        <p:spPr>
          <a:xfrm>
            <a:off x="1149350" y="4587662"/>
            <a:ext cx="6845300" cy="5500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51.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7"/>
          <p:cNvPicPr>
            <a:picLocks noChangeAspect="1"/>
          </p:cNvPicPr>
          <p:nvPr/>
        </p:nvPicPr>
        <p:blipFill>
          <a:blip r:embed="mermaidImage7"/>
          <a:stretch>
            <a:fillRect/>
          </a:stretch>
        </p:blipFill>
        <p:spPr>
          <a:xfrm>
            <a:off x="1149350" y="3430730"/>
            <a:ext cx="6845300" cy="10215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52.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문제·요구·제약·목표·시스템 책임을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목표·주 액터·유스케이스</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기본·대안 흐름, 규칙, 시스템 오퍼레이션</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52.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발견하고 유스케이스로 목표와 시스템 책임을 표현·검증했다.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흐름·오퍼레이션·검증</a:t>
            </a:r>
            <a:r>
              <a:rPr sz="1600" b="0">
                <a:solidFill>
                  <a:srgbClr val="000000"/>
                </a:solidFill>
                <a:latin typeface="맑은 고딕"/>
                <a:ea typeface="맑은 고딕"/>
              </a:rPr>
              <a:t> —</a:t>
            </a:r>
            <a:r>
              <a:rPr sz="1400" b="0">
                <a:solidFill>
                  <a:srgbClr val="000000"/>
                </a:solidFill>
                <a:latin typeface="맑은 고딕"/>
                <a:ea typeface="맑은 고딕"/>
              </a:rPr>
              <a:t> 본질적 행위와 외부 결과로 계약하고,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유스케이스를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70</Slides>
  <Notes>39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70</vt:i4>
      </vt:variant>
    </vt:vector>
  </HeadingPairs>
  <TitlesOfParts>
    <vt:vector size="74"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 (1/2)</vt:lpstr>
      <vt:lpstr>09. 반복적 접근 (2/2)</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유스케이스란 무엇인가?</vt:lpstr>
      <vt:lpstr>19. 왜 유스케이스가 필요한가?</vt:lpstr>
      <vt:lpstr>20. 유스케이스의 위치</vt:lpstr>
      <vt:lpstr>21. 유스케이스 작성 절차</vt:lpstr>
      <vt:lpstr>22. 대상 시스템과 경계</vt:lpstr>
      <vt:lpstr>23. 목표와 액터</vt:lpstr>
      <vt:lpstr>24. 유스케이스 후보 식별 (1/2)</vt:lpstr>
      <vt:lpstr>24. 유스케이스 후보 식별 (2/2)</vt:lpstr>
      <vt:lpstr>25. 유스케이스 수준</vt:lpstr>
      <vt:lpstr>26. 유스케이스 다이어그램 — 초안</vt:lpstr>
      <vt:lpstr>27. 유스케이스 명세서 템플릿</vt:lpstr>
      <vt:lpstr>28. 기본 이벤트 흐름 (1/2)</vt:lpstr>
      <vt:lpstr>28. 기본 이벤트 흐름 (2/2)</vt:lpstr>
      <vt:lpstr>29. 규칙·제약·예외 정책</vt:lpstr>
      <vt:lpstr>30. 이벤트 흐름을 이용한 요구 분석</vt:lpstr>
      <vt:lpstr>31. 유스케이스 상세화 (1/3)</vt:lpstr>
      <vt:lpstr>31. 유스케이스 상세화 (2/3)</vt:lpstr>
      <vt:lpstr>31. 유스케이스 상세화 (3/3)</vt:lpstr>
      <vt:lpstr>32. 유스케이스 다이어그램 — 상세화 (1/4)</vt:lpstr>
      <vt:lpstr>32. 유스케이스 다이어그램 — 상세화 (2/4)</vt:lpstr>
      <vt:lpstr>32. 유스케이스 다이어그램 — 상세화 (3/4)</vt:lpstr>
      <vt:lpstr>32. 유스케이스 다이어그램 — 상세화 (4/4)</vt:lpstr>
      <vt:lpstr>33. 잘못된 관행 — 기능 분할</vt:lpstr>
      <vt:lpstr>34. 잘못된 관행 — CRUD 분할</vt:lpstr>
      <vt:lpstr>35. 잘못된 관행 — 화면·기술 요소</vt:lpstr>
      <vt:lpstr>36. 잘못된 관행 — 시스템 관점·액터</vt:lpstr>
      <vt:lpstr>37. 잘못된 관행 — 명세 과잉·방치</vt:lpstr>
      <vt:lpstr>38. 잘못된 유스케이스 다이어그램 (1/3)</vt:lpstr>
      <vt:lpstr>38. 잘못된 유스케이스 다이어그램 (2/3)</vt:lpstr>
      <vt:lpstr>38. 잘못된 유스케이스 다이어그램 (3/3)</vt:lpstr>
      <vt:lpstr>39. 시스템 오퍼레이션과 계약 (1/2)</vt:lpstr>
      <vt:lpstr>39. 시스템 오퍼레이션과 계약 (2/2)</vt:lpstr>
      <vt:lpstr>40. 정적·동적 모델을 통한 상세화</vt:lpstr>
      <vt:lpstr>41. 유스케이스와 품질속성</vt:lpstr>
      <vt:lpstr>42. 프로토타입·와이어프레임 (1/2)</vt:lpstr>
      <vt:lpstr>42. 프로토타입·와이어프레임 (2/2)</vt:lpstr>
      <vt:lpstr>43. 사용자 스토리</vt:lpstr>
      <vt:lpstr>44. 사용자 스토리의 강점과 한계</vt:lpstr>
      <vt:lpstr>45. 행위 주도 개발 (1/2)</vt:lpstr>
      <vt:lpstr>45. 행위 주도 개발 (2/2)</vt:lpstr>
      <vt:lpstr>46. 행위 주도 개발의 강점과 한계</vt:lpstr>
      <vt:lpstr>47. 유스케이스·사용자 스토리·BDD</vt:lpstr>
      <vt:lpstr>48. 요구사항 검증</vt:lpstr>
      <vt:lpstr>49. 요구사항 관리</vt:lpstr>
      <vt:lpstr>50. 요구사항 추적</vt:lpstr>
      <vt:lpstr>51. 요구사항에서 학습으로</vt:lpstr>
      <vt:lpstr>52. 실습 — 모델로 바꾸기 (1/2)</vt:lpstr>
      <vt:lpstr>52. 실습 — 모델로 바꾸기 (2/2)</vt:lpstr>
      <vt:lpstr>53.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