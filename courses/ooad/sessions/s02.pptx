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「53.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요구사항·설계 인용 근거: IIBA, [*The Business Analysis Standard*](https://www.iiba.org/knowledgehub/the-business-analysis-standard/4-implementing-business-analysis/4-4-understanding-requirements-and-designs/)(2022), 4.4.1 원문 확인. 두 정의 사이의 설명은 생략(…)했다. 같은 정의는 BABOK v3의 핵심 개념 모델(BACCM)에도 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사례다(「57. 실습 — 유스케이스」).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「22. 속성 도메인」·「23. 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「06.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「32. 유스케이스 상세화」와 「42. 시스템 이벤트와 오퍼레이션」에서 상세화한다.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결제·상품·회계·배송 시스템은 지원 액터다. 요청의 동기·비동기는 「43. 정제된 SSD」에서 구분한다.</a:t>
            </a:r>
          </a:p>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「37.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§18.1.3.1; Craig Larman, [Applying UML and Patterns, 3rd ed., Chapter 6](https://www.craiglarman.com/wiki/downloads/applying_uml/larman-ch6-applying-evolutionary-use-cases.pdf), §6.6.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 목록을 유스케이스로 만드는 잘못된 예는 「35. 잘못된 관행 — CRUD 분할」에서 다룬다.</a:t>
            </a:r>
          </a:p>
          <a:p>
            <a:pPr lvl="0"/>
            <a:r>
              <a:rPr lang="ko-KR" sz="1200"/>
              <a:t>세 질문에 모두 "예"여야 후보다. 하나라도 "아니요"면 기능 조각이거나 다른 시스템의 목표다.</a:t>
            </a:r>
          </a:p>
          <a:p>
            <a:pPr lvl="0"/>
            <a:r>
              <a:rPr lang="ko-KR" sz="1200"/>
              <a:t>다른 시스템의 목표(배송을 처리한다, 상품 정보를 관리한다)는 분석 대상이 아니라 그리지 않는다.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「28.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3rd ed., Chapter 6](https://www.craiglarman.com/wiki/downloads/applying_uml/larman-ch6-applying-evolutionary-use-cases.pdf)).</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남는다(「33. 유스케이스 다이어그램 — 상세화」의 포함 관계).</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 정책은 원칙이고, 예외 흐름(「32. 유스케이스 상세화」의 1a2a)은 그 원칙에 따라 달라지는 외부 행위·결과다. 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「32.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「44. 시스템 오퍼레이션과 계약」의 계약으로 상세화한다. 배송 완료 후의 반품은 이 유스케이스의 대안 흐름이 아니라 별도 유스케이스다(「35. 잘못된 관행 — CRUD 분할」).</a:t>
            </a:r>
          </a:p>
          <a:p>
            <a:pPr lvl="0"/>
            <a:r>
              <a:rPr lang="ko-KR" sz="1200"/>
              <a:t>번호는 기본 흐름에서 파생한다 — 1a는 기본 흐름 1단계에서 갈라지는 첫 번째 대안 흐름, 1a2a는 그 대안 흐름 2단계의 첫 번째 예외 흐름이다. 대안·예외 흐름은 조건 → 달라지는 행위 → 복귀 또는 종료로 쓴다.</a:t>
            </a:r>
          </a:p>
          <a:p>
            <a:pPr lvl="0"/>
            <a:r>
              <a:rPr lang="ko-KR" sz="1200"/>
              <a:t>예외 정책은 실패 시 지킬 원칙이고, 예외 흐름은 그때 달라지는 외부 행위·결과다. 배송 시작 이후 일반 취소 불가는 흐름이 아니라 규칙으로 기록한다.</a:t>
            </a:r>
          </a:p>
          <a:p>
            <a:pPr lvl="0"/>
            <a:r>
              <a:rPr lang="ko-KR" sz="1200"/>
              <a:t>번호·분기 표기는 Cockburn의 확장(extension) 표기 방식을 따른 수업용 형식이다.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「26. 유스케이스 수준」의 사용자 목표 기준이다.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「32.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「33. 유스케이스 다이어그램 — 상세화」를 참조한다.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「29. 기본 이벤트 흐름」·「32. 유스케이스 상세화」와 같다.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않았다(「29.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3rd ed.,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「43.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문형은 표현 예이며 필수 표준 양식이 아니다.</a:t>
            </a:r>
          </a:p>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조건이다(「50.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본다(「52. 유스케이스·사용자 스토리·BDD」).</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「44. 시스템 오퍼레이션과 계약」에 있다.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쓴다(「50. 행위 주도 개발」의 배송지 변경 예).</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「44. 시스템 오퍼레이션과 계약」이 BDD의 확인과 같은 역할을 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「57. 누락과 모순」).</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나온다(「44. 시스템 오퍼레이션과 계약」).</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1b1a는 1b의 예외다.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「54. 시퀀스 다이어그램 (안)」).</a:t>
            </a:r>
          </a:p>
          <a:p>
            <a:pPr lvl="0"/>
            <a:r>
              <a:rPr lang="ko-KR" sz="1200"/>
              <a:t>결제 요청은 동기(결과를 기다림), 배송 요청은 비동기다. 유스케이스 흐름에 쓰지 않은 상품 조회가 여기서 외부 시스템과의 교환으로 드러난다.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「27. 피드백」.</a:t>
            </a:r>
          </a:p>
          <a:p>
            <a:pPr lvl="0"/>
            <a:r>
              <a:rPr lang="ko-KR" sz="1200"/>
              <a:t>모든 산출물을 늘 최신으로 유지하는 것은 적정 수준을 넘는 비용이다 — "01. OOAD 개요"의 「24. 적정 분석·설계」.</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명세서 템플릿</a:t>
            </a:r>
          </a:p>
          <a:p>
            <a:pPr lvl="1" marL="355600" indent="0">
              <a:spcBef>
                <a:spcPts val="300"/>
              </a:spcBef>
              <a:spcAft>
                <a:spcPts val="300"/>
              </a:spcAft>
              <a:buNone/>
            </a:pPr>
            <a:r>
              <a:rPr sz="1600" b="0">
                <a:solidFill>
                  <a:srgbClr val="000000"/>
                </a:solidFill>
                <a:latin typeface="맑은 고딕"/>
                <a:ea typeface="맑은 고딕"/>
              </a:rPr>
              <a:t>29. 기본 이벤트 흐름</a:t>
            </a:r>
          </a:p>
          <a:p>
            <a:pPr lvl="1" marL="355600" indent="0">
              <a:spcBef>
                <a:spcPts val="300"/>
              </a:spcBef>
              <a:spcAft>
                <a:spcPts val="300"/>
              </a:spcAft>
              <a:buNone/>
            </a:pPr>
            <a:r>
              <a:rPr sz="1600" b="0">
                <a:solidFill>
                  <a:srgbClr val="000000"/>
                </a:solidFill>
                <a:latin typeface="맑은 고딕"/>
                <a:ea typeface="맑은 고딕"/>
              </a:rPr>
              <a:t>30. 규칙·제약·예외 정책</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32. 유스케이스 상세화</a:t>
            </a:r>
          </a:p>
          <a:p>
            <a:pPr lvl="1" marL="355600" indent="0">
              <a:spcBef>
                <a:spcPts val="300"/>
              </a:spcBef>
              <a:spcAft>
                <a:spcPts val="300"/>
              </a:spcAft>
              <a:buNone/>
            </a:pPr>
            <a:r>
              <a:rPr sz="1600" b="0">
                <a:solidFill>
                  <a:srgbClr val="000000"/>
                </a:solidFill>
                <a:latin typeface="맑은 고딕"/>
                <a:ea typeface="맑은 고딕"/>
              </a:rPr>
              <a:t>33.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34.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39.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40. 시스템 시퀀스 다이어그램</a:t>
            </a:r>
          </a:p>
          <a:p>
            <a:pPr lvl="1" marL="355600" indent="0">
              <a:spcBef>
                <a:spcPts val="300"/>
              </a:spcBef>
              <a:spcAft>
                <a:spcPts val="300"/>
              </a:spcAft>
              <a:buNone/>
            </a:pPr>
            <a:r>
              <a:rPr sz="1600" b="0">
                <a:solidFill>
                  <a:srgbClr val="000000"/>
                </a:solidFill>
                <a:latin typeface="맑은 고딕"/>
                <a:ea typeface="맑은 고딕"/>
              </a:rPr>
              <a:t>41. SSD 초안</a:t>
            </a:r>
          </a:p>
          <a:p>
            <a:pPr lvl="1" marL="355600" indent="0">
              <a:spcBef>
                <a:spcPts val="300"/>
              </a:spcBef>
              <a:spcAft>
                <a:spcPts val="300"/>
              </a:spcAft>
              <a:buNone/>
            </a:pPr>
            <a:r>
              <a:rPr sz="1600" b="0">
                <a:solidFill>
                  <a:srgbClr val="000000"/>
                </a:solidFill>
                <a:latin typeface="맑은 고딕"/>
                <a:ea typeface="맑은 고딕"/>
              </a:rPr>
              <a:t>42. 시스템 이벤트와 오퍼레이션</a:t>
            </a:r>
          </a:p>
          <a:p>
            <a:pPr lvl="1" marL="355600" indent="0">
              <a:spcBef>
                <a:spcPts val="300"/>
              </a:spcBef>
              <a:spcAft>
                <a:spcPts val="300"/>
              </a:spcAft>
              <a:buNone/>
            </a:pPr>
            <a:r>
              <a:rPr sz="1600" b="0">
                <a:solidFill>
                  <a:srgbClr val="000000"/>
                </a:solidFill>
                <a:latin typeface="맑은 고딕"/>
                <a:ea typeface="맑은 고딕"/>
              </a:rPr>
              <a:t>43. 정제된 SSD</a:t>
            </a:r>
          </a:p>
          <a:p>
            <a:pPr lvl="1" marL="355600" indent="0">
              <a:spcBef>
                <a:spcPts val="300"/>
              </a:spcBef>
              <a:spcAft>
                <a:spcPts val="300"/>
              </a:spcAft>
              <a:buNone/>
            </a:pPr>
            <a:r>
              <a:rPr sz="1600" b="0">
                <a:solidFill>
                  <a:srgbClr val="000000"/>
                </a:solidFill>
                <a:latin typeface="맑은 고딕"/>
                <a:ea typeface="맑은 고딕"/>
              </a:rPr>
              <a:t>44. 시스템 오퍼레이션과 계약</a:t>
            </a:r>
          </a:p>
          <a:p>
            <a:pPr lvl="1" marL="355600" indent="0">
              <a:spcBef>
                <a:spcPts val="300"/>
              </a:spcBef>
              <a:spcAft>
                <a:spcPts val="300"/>
              </a:spcAft>
              <a:buNone/>
            </a:pPr>
            <a:r>
              <a:rPr sz="1600" b="0">
                <a:solidFill>
                  <a:srgbClr val="000000"/>
                </a:solidFill>
                <a:latin typeface="맑은 고딕"/>
                <a:ea typeface="맑은 고딕"/>
              </a:rPr>
              <a:t>45. 정적·동적 모델을 통한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유스케이스와 품질속성</a:t>
            </a:r>
          </a:p>
          <a:p>
            <a:pPr lvl="1" marL="355600" indent="0">
              <a:spcBef>
                <a:spcPts val="300"/>
              </a:spcBef>
              <a:spcAft>
                <a:spcPts val="300"/>
              </a:spcAft>
              <a:buNone/>
            </a:pPr>
            <a:r>
              <a:rPr sz="1600" b="0">
                <a:solidFill>
                  <a:srgbClr val="000000"/>
                </a:solidFill>
                <a:latin typeface="맑은 고딕"/>
                <a:ea typeface="맑은 고딕"/>
              </a:rPr>
              <a:t>47. 프로토타입·와이어프레임</a:t>
            </a:r>
          </a:p>
          <a:p>
            <a:pPr lvl="1" marL="355600" indent="0">
              <a:spcBef>
                <a:spcPts val="300"/>
              </a:spcBef>
              <a:spcAft>
                <a:spcPts val="300"/>
              </a:spcAft>
              <a:buNone/>
            </a:pPr>
            <a:r>
              <a:rPr sz="1600" b="0">
                <a:solidFill>
                  <a:srgbClr val="000000"/>
                </a:solidFill>
                <a:latin typeface="맑은 고딕"/>
                <a:ea typeface="맑은 고딕"/>
              </a:rPr>
              <a:t>48. 사용자 스토리</a:t>
            </a:r>
          </a:p>
          <a:p>
            <a:pPr lvl="1" marL="355600" indent="0">
              <a:spcBef>
                <a:spcPts val="300"/>
              </a:spcBef>
              <a:spcAft>
                <a:spcPts val="300"/>
              </a:spcAft>
              <a:buNone/>
            </a:pPr>
            <a:r>
              <a:rPr sz="1600" b="0">
                <a:solidFill>
                  <a:srgbClr val="000000"/>
                </a:solidFill>
                <a:latin typeface="맑은 고딕"/>
                <a:ea typeface="맑은 고딕"/>
              </a:rPr>
              <a:t>49. 사용자 스토리의 강점과 한계</a:t>
            </a:r>
          </a:p>
          <a:p>
            <a:pPr lvl="1" marL="355600" indent="0">
              <a:spcBef>
                <a:spcPts val="300"/>
              </a:spcBef>
              <a:spcAft>
                <a:spcPts val="300"/>
              </a:spcAft>
              <a:buNone/>
            </a:pPr>
            <a:r>
              <a:rPr sz="1600" b="0">
                <a:solidFill>
                  <a:srgbClr val="000000"/>
                </a:solidFill>
                <a:latin typeface="맑은 고딕"/>
                <a:ea typeface="맑은 고딕"/>
              </a:rPr>
              <a:t>50. 행위 주도 개발</a:t>
            </a:r>
          </a:p>
          <a:p>
            <a:pPr lvl="1" marL="355600" indent="0">
              <a:spcBef>
                <a:spcPts val="300"/>
              </a:spcBef>
              <a:spcAft>
                <a:spcPts val="300"/>
              </a:spcAft>
              <a:buNone/>
            </a:pPr>
            <a:r>
              <a:rPr sz="1600" b="0">
                <a:solidFill>
                  <a:srgbClr val="000000"/>
                </a:solidFill>
                <a:latin typeface="맑은 고딕"/>
                <a:ea typeface="맑은 고딕"/>
              </a:rPr>
              <a:t>51. 행위 주도 개발의 강점과 한계</a:t>
            </a:r>
          </a:p>
          <a:p>
            <a:pPr lvl="1" marL="355600" indent="0">
              <a:spcBef>
                <a:spcPts val="300"/>
              </a:spcBef>
              <a:spcAft>
                <a:spcPts val="300"/>
              </a:spcAft>
              <a:buNone/>
            </a:pPr>
            <a:r>
              <a:rPr sz="1600" b="0">
                <a:solidFill>
                  <a:srgbClr val="000000"/>
                </a:solidFill>
                <a:latin typeface="맑은 고딕"/>
                <a:ea typeface="맑은 고딕"/>
              </a:rPr>
              <a:t>52. 유스케이스·사용자 스토리·BDD</a:t>
            </a:r>
          </a:p>
          <a:p>
            <a:pPr lvl="1" marL="355600" indent="0">
              <a:spcBef>
                <a:spcPts val="300"/>
              </a:spcBef>
              <a:spcAft>
                <a:spcPts val="300"/>
              </a:spcAft>
              <a:buNone/>
            </a:pPr>
            <a:r>
              <a:rPr sz="1600" b="0">
                <a:solidFill>
                  <a:srgbClr val="000000"/>
                </a:solidFill>
                <a:latin typeface="맑은 고딕"/>
                <a:ea typeface="맑은 고딕"/>
              </a:rPr>
              <a:t>53. 요구사항 검증</a:t>
            </a:r>
          </a:p>
          <a:p>
            <a:pPr lvl="1" marL="355600" indent="0">
              <a:spcBef>
                <a:spcPts val="300"/>
              </a:spcBef>
              <a:spcAft>
                <a:spcPts val="300"/>
              </a:spcAft>
              <a:buNone/>
            </a:pPr>
            <a:r>
              <a:rPr sz="1600" b="0">
                <a:solidFill>
                  <a:srgbClr val="000000"/>
                </a:solidFill>
                <a:latin typeface="맑은 고딕"/>
                <a:ea typeface="맑은 고딕"/>
              </a:rPr>
              <a:t>54. 요구사항 관리</a:t>
            </a:r>
          </a:p>
          <a:p>
            <a:pPr lvl="1" marL="355600" indent="0">
              <a:spcBef>
                <a:spcPts val="300"/>
              </a:spcBef>
              <a:spcAft>
                <a:spcPts val="300"/>
              </a:spcAft>
              <a:buNone/>
            </a:pPr>
            <a:r>
              <a:rPr sz="1600" b="0">
                <a:solidFill>
                  <a:srgbClr val="000000"/>
                </a:solidFill>
                <a:latin typeface="맑은 고딕"/>
                <a:ea typeface="맑은 고딕"/>
              </a:rPr>
              <a:t>55. 요구사항 추적</a:t>
            </a:r>
          </a:p>
          <a:p>
            <a:pPr lvl="1" marL="355600" indent="0">
              <a:spcBef>
                <a:spcPts val="300"/>
              </a:spcBef>
              <a:spcAft>
                <a:spcPts val="300"/>
              </a:spcAft>
              <a:buNone/>
            </a:pPr>
            <a:r>
              <a:rPr sz="1600" b="0">
                <a:solidFill>
                  <a:srgbClr val="000000"/>
                </a:solidFill>
                <a:latin typeface="맑은 고딕"/>
                <a:ea typeface="맑은 고딕"/>
              </a:rPr>
              <a:t>56. 요구사항에서 학습으로</a:t>
            </a:r>
          </a:p>
          <a:p>
            <a:pPr lvl="1" marL="355600" indent="0">
              <a:spcBef>
                <a:spcPts val="300"/>
              </a:spcBef>
              <a:spcAft>
                <a:spcPts val="300"/>
              </a:spcAft>
              <a:buNone/>
            </a:pPr>
            <a:r>
              <a:rPr sz="1600" b="0">
                <a:solidFill>
                  <a:srgbClr val="000000"/>
                </a:solidFill>
                <a:latin typeface="맑은 고딕"/>
                <a:ea typeface="맑은 고딕"/>
              </a:rPr>
              <a:t>57.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58.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59. 유스케이스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용어집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ISO/IEC/IEEE 29148</a:t>
            </a:r>
            <a:r>
              <a:rPr sz="1800" b="0">
                <a:solidFill>
                  <a:srgbClr val="000000"/>
                </a:solidFill>
                <a:latin typeface="맑은 고딕"/>
                <a:ea typeface="맑은 고딕"/>
              </a:rPr>
              <a:t> —</a:t>
            </a:r>
            <a:r>
              <a:rPr sz="1600" b="0">
                <a:solidFill>
                  <a:srgbClr val="000000"/>
                </a:solidFill>
                <a:latin typeface="맑은 고딕"/>
                <a:ea typeface="맑은 고딕"/>
              </a:rPr>
              <a:t> 개발 대상의 </a:t>
            </a:r>
            <a:r>
              <a:rPr sz="1600" b="1">
                <a:solidFill>
                  <a:srgbClr val="000000"/>
                </a:solidFill>
                <a:latin typeface="맑은 고딕"/>
                <a:ea typeface="맑은 고딕"/>
              </a:rPr>
              <a:t>수준</a:t>
            </a:r>
            <a:r>
              <a:rPr sz="1600" b="0">
                <a:solidFill>
                  <a:srgbClr val="000000"/>
                </a:solidFill>
                <a:latin typeface="맑은 고딕"/>
                <a:ea typeface="맑은 고딕"/>
              </a:rPr>
              <a:t>을 따라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사업·임무</a:t>
            </a:r>
            <a:r>
              <a:rPr sz="1600" b="0">
                <a:solidFill>
                  <a:srgbClr val="000000"/>
                </a:solidFill>
                <a:latin typeface="맑은 고딕"/>
                <a:ea typeface="맑은 고딕"/>
              </a:rPr>
              <a:t> → 이해관계자 → 시스템 → 소프트웨어 요구사항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IIBA</a:t>
            </a:r>
            <a:r>
              <a:rPr sz="1800" b="0">
                <a:solidFill>
                  <a:srgbClr val="000000"/>
                </a:solidFill>
                <a:latin typeface="맑은 고딕"/>
                <a:ea typeface="맑은 고딕"/>
              </a:rPr>
              <a:t> —</a:t>
            </a:r>
            <a:r>
              <a:rPr sz="1600" b="0">
                <a:solidFill>
                  <a:srgbClr val="000000"/>
                </a:solidFill>
                <a:latin typeface="맑은 고딕"/>
                <a:ea typeface="맑은 고딕"/>
              </a:rPr>
              <a:t> 요구가 </a:t>
            </a:r>
            <a:r>
              <a:rPr sz="1600" b="1">
                <a:solidFill>
                  <a:srgbClr val="000000"/>
                </a:solidFill>
                <a:latin typeface="맑은 고딕"/>
                <a:ea typeface="맑은 고딕"/>
              </a:rPr>
              <a:t>무엇을 위한 것인지</a:t>
            </a:r>
            <a:r>
              <a:rPr sz="1600" b="0">
                <a:solidFill>
                  <a:srgbClr val="000000"/>
                </a:solidFill>
                <a:latin typeface="맑은 고딕"/>
                <a:ea typeface="맑은 고딕"/>
              </a:rPr>
              <a:t>로 나눈다.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사업</a:t>
            </a:r>
            <a:r>
              <a:rPr sz="1600" b="0">
                <a:solidFill>
                  <a:srgbClr val="000000"/>
                </a:solidFill>
                <a:latin typeface="맑은 고딕"/>
                <a:ea typeface="맑은 고딕"/>
              </a:rPr>
              <a:t> → 이해관계자 → 해결책 → </a:t>
            </a:r>
            <a:r>
              <a:rPr sz="1600" b="1">
                <a:solidFill>
                  <a:srgbClr val="000000"/>
                </a:solidFill>
                <a:latin typeface="맑은 고딕"/>
                <a:ea typeface="맑은 고딕"/>
              </a:rPr>
              <a:t>전환</a:t>
            </a:r>
            <a:r>
              <a:rPr sz="1600" b="0">
                <a:solidFill>
                  <a:srgbClr val="000000"/>
                </a:solidFill>
                <a:latin typeface="맑은 고딕"/>
                <a:ea typeface="맑은 고딕"/>
              </a:rPr>
              <a:t>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91045" y="1884410"/>
          <a:ext cx="8148320" cy="3873500"/>
        </p:xfrm>
        <a:graphic>
          <a:graphicData uri="http://schemas.openxmlformats.org/drawingml/2006/table">
            <a:tbl>
              <a:tblPr/>
              <a:tblGrid>
                <a:gridCol w="889000"/>
                <a:gridCol w="159004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561066"/>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626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1026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용어집(Glossary)은 요구에 쓰는 용어의 뜻과 규칙을 한 곳에 고정한다. 이 과정에서는 요구부터 코드까지 모든 모델이 쓰는 이름의 원천이다.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[Jacobson 1992,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7809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4852410"/>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기본·대안·예외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규칙·제약·품질속성</a:t>
            </a:r>
            <a:r>
              <a:rPr sz="1800" b="0">
                <a:solidFill>
                  <a:srgbClr val="000000"/>
                </a:solidFill>
                <a:latin typeface="맑은 고딕"/>
                <a:ea typeface="맑은 고딕"/>
              </a:rPr>
              <a:t>을 별도로 식별하고, 필요하면 </a:t>
            </a:r>
            <a:r>
              <a:rPr sz="1800" b="1">
                <a:solidFill>
                  <a:srgbClr val="000000"/>
                </a:solidFill>
                <a:latin typeface="맑은 고딕"/>
                <a:ea typeface="맑은 고딕"/>
              </a:rPr>
              <a:t>와이어프레임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a:t>
            </a:r>
            <a:r>
              <a:rPr sz="1800" b="0">
                <a:solidFill>
                  <a:srgbClr val="000000"/>
                </a:solidFill>
                <a:latin typeface="맑은 고딕"/>
                <a:ea typeface="맑은 고딕"/>
              </a:rPr>
              <a:t>로 시스템 이벤트를 찾고 외부 시스템까지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1421"/>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a:t>
            </a:r>
          </a:p>
        </p:txBody>
      </p:sp>
      <p:pic>
        <p:nvPicPr>
          <p:cNvPr id="10"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03574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45000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35653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81561"/>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「33.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8311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유스케이스 다이어그램(초안)</a:t>
            </a:r>
          </a:p>
        </p:txBody>
      </p:sp>
      <p:pic>
        <p:nvPicPr>
          <p:cNvPr id="16"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77159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214144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명세서 항목</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대안·예외 흐름의 번호</a:t>
            </a:r>
            <a:r>
              <a:rPr sz="1800" b="0">
                <a:solidFill>
                  <a:srgbClr val="000000"/>
                </a:solidFill>
                <a:latin typeface="맑은 고딕"/>
                <a:ea typeface="맑은 고딕"/>
              </a:rPr>
              <a:t>는 갈라져 나오는 기본 흐름 단계 번호 뒤에 붙여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생기는 </a:t>
            </a:r>
            <a:r>
              <a:rPr sz="1600" b="1">
                <a:solidFill>
                  <a:srgbClr val="000000"/>
                </a:solidFill>
                <a:latin typeface="맑은 고딕"/>
                <a:ea typeface="맑은 고딕"/>
              </a:rPr>
              <a:t>예외 흐름</a:t>
            </a:r>
            <a:r>
              <a:rPr sz="1600" b="0">
                <a:solidFill>
                  <a:srgbClr val="000000"/>
                </a:solidFill>
                <a:latin typeface="맑은 고딕"/>
                <a:ea typeface="맑은 고딕"/>
              </a:rPr>
              <a:t>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기본 이벤트 흐름에는 목표를 이루는 본질적인 행위만 쓴다.</a:t>
            </a:r>
          </a:p>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대안·예외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규칙·제약·예외 정책·품질속성은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(「30. 규칙·제약·예외 정책」)</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조건과 실패를 넣지 않는다. 명세서 템플릿의 </a:t>
            </a:r>
            <a:r>
              <a:rPr sz="1800" b="1">
                <a:solidFill>
                  <a:srgbClr val="000000"/>
                </a:solidFill>
                <a:latin typeface="맑은 고딕"/>
                <a:ea typeface="맑은 고딕"/>
              </a:rPr>
              <a:t>비즈니스 규칙·제약</a:t>
            </a:r>
            <a:r>
              <a:rPr sz="1800" b="0">
                <a:solidFill>
                  <a:srgbClr val="000000"/>
                </a:solidFill>
                <a:latin typeface="맑은 고딕"/>
                <a:ea typeface="맑은 고딕"/>
              </a:rPr>
              <a:t>, </a:t>
            </a:r>
            <a:r>
              <a:rPr sz="1800" b="1">
                <a:solidFill>
                  <a:srgbClr val="000000"/>
                </a:solidFill>
                <a:latin typeface="맑은 고딕"/>
                <a:ea typeface="맑은 고딕"/>
              </a:rPr>
              <a:t>예외 정책</a:t>
            </a:r>
            <a:r>
              <a:rPr sz="1800" b="0">
                <a:solidFill>
                  <a:srgbClr val="000000"/>
                </a:solidFill>
                <a:latin typeface="맑은 고딕"/>
                <a:ea typeface="맑은 고딕"/>
              </a:rPr>
              <a:t>,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비즈니스 규칙·제약</a:t>
            </a:r>
            <a:r>
              <a:rPr sz="1800" b="0">
                <a:solidFill>
                  <a:srgbClr val="000000"/>
                </a:solidFill>
                <a:latin typeface="맑은 고딕"/>
                <a:ea typeface="맑은 고딕"/>
              </a:rPr>
              <a:t> —</a:t>
            </a:r>
            <a:r>
              <a:rPr sz="1600" b="0">
                <a:solidFill>
                  <a:srgbClr val="000000"/>
                </a:solidFill>
                <a:latin typeface="맑은 고딕"/>
                <a:ea typeface="맑은 고딕"/>
              </a:rPr>
              <a:t> 흐름과 별도로 늘 지켜야 하는 업무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예외 정책</a:t>
            </a:r>
            <a:r>
              <a:rPr sz="1800" b="0">
                <a:solidFill>
                  <a:srgbClr val="000000"/>
                </a:solidFill>
                <a:latin typeface="맑은 고딕"/>
                <a:ea typeface="맑은 고딕"/>
              </a:rPr>
              <a:t> —</a:t>
            </a:r>
            <a:r>
              <a:rPr sz="1600" b="0">
                <a:solidFill>
                  <a:srgbClr val="000000"/>
                </a:solidFill>
                <a:latin typeface="맑은 고딕"/>
                <a:ea typeface="맑은 고딕"/>
              </a:rPr>
              <a:t> 실패했을 때 지킬 원칙이다. 핵심 업무 위험일 때만 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환불이 </a:t>
            </a:r>
            <a:r>
              <a:rPr sz="1600" b="1">
                <a:solidFill>
                  <a:srgbClr val="000000"/>
                </a:solidFill>
                <a:latin typeface="맑은 고딕"/>
                <a:ea typeface="맑은 고딕"/>
              </a:rPr>
              <a:t>완료되지 않으면</a:t>
            </a:r>
            <a:r>
              <a:rPr sz="1600" b="0">
                <a:solidFill>
                  <a:srgbClr val="000000"/>
                </a:solidFill>
                <a:latin typeface="맑은 고딕"/>
                <a:ea typeface="맑은 고딕"/>
              </a:rPr>
              <a:t> 고객에게 미완료와 후속 문의 방법을 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예외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포함·확장·일반화는 상세화로 확인된 행위의 결합 또는 분류 관계를 표현한다. 실행 순서를 그리는 화살표가 아니다.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893247"/>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1"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3167567"/>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포함·확장·일반화는 상세화로 확인된 행위의 결합 또는 분류 관계를 표현한다. 실행 순서를 그리는 화살표가 아니다.</a:t>
            </a:r>
          </a:p>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포함·확장·일반화는 상세화로 확인된 행위의 결합 또는 분류 관계를 표현한다. 실행 순서를 그리는 화살표가 아니다.</a:t>
            </a:r>
          </a:p>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9949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95726"/>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69057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88441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(「35.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유스케이스 다이어그램은 기능 분해도·업무 순서도·프로그램 호출 그래프를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(System Sequence Diagram, SSD)</a:t>
            </a:r>
            <a:r>
              <a:rPr sz="1800" b="0">
                <a:solidFill>
                  <a:srgbClr val="000000"/>
                </a:solidFill>
                <a:latin typeface="맑은 고딕"/>
                <a:ea typeface="맑은 고딕"/>
              </a:rPr>
              <a:t>은 시나리오 하나에서 </a:t>
            </a:r>
            <a:r>
              <a:rPr sz="1800" b="1">
                <a:solidFill>
                  <a:srgbClr val="000000"/>
                </a:solidFill>
                <a:latin typeface="맑은 고딕"/>
                <a:ea typeface="맑은 고딕"/>
              </a:rPr>
              <a:t>주 액터</a:t>
            </a:r>
            <a:r>
              <a:rPr sz="1800" b="0">
                <a:solidFill>
                  <a:srgbClr val="000000"/>
                </a:solidFill>
                <a:latin typeface="맑은 고딕"/>
                <a:ea typeface="맑은 고딕"/>
              </a:rPr>
              <a:t>가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순서를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「43.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56945"/>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조각"/>
          <p:cNvPicPr>
            <a:picLocks noChangeAspect="1"/>
          </p:cNvPicPr>
          <p:nvPr/>
        </p:nvPicPr>
        <p:blipFill>
          <a:blip r:embed="svgImage9"/>
          <a:stretch>
            <a:fillRect/>
          </a:stretch>
        </p:blipFill>
        <p:spPr>
          <a:xfrm>
            <a:off x="1926167" y="4131265"/>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935226"/>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6355080"/>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6367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시스템 시퀀스 다이어그램(System Sequence Diagram, SSD)은 시나리오 하나에서 주 액터가 보내는 시스템 이벤트와 순서를 보인다.</a:t>
            </a:r>
          </a:p>
        </p:txBody>
      </p:sp>
    </p:spTree>
    <p:extLst>
      <p:ext uri="{BB962C8B-B14F-4D97-AF65-F5344CB8AC3E}">
        <p14:creationId xmlns:p14="http://schemas.microsoft.com/office/powerpoint/2010/main" val="27895694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41.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624286"/>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344168"/>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960120"/>
            <a:ext cx="8412480" cy="384048"/>
          </a:xfrm>
          <a:prstGeom prst="rect">
            <a:avLst/>
          </a:prstGeom>
          <a:noFill/>
        </p:spPr>
        <p:txBody>
          <a:bodyPr wrap="square">
            <a:spAutoFit/>
          </a:bodyPr>
          <a:lstStyle/>
          <a:p>
            <a:r>
              <a:rPr sz="1800" b="0" i="1">
                <a:solidFill>
                  <a:srgbClr val="000000"/>
                </a:solidFill>
                <a:latin typeface="맑은 고딕"/>
                <a:ea typeface="맑은 고딕"/>
              </a:rPr>
              <a:t>SSD는 명세서 기본 흐름의 액터 단계마다 시스템 이벤트를 하나씩 보인다.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624286"/>
            <a:ext cx="8412480" cy="274320"/>
          </a:xfrm>
          <a:prstGeom prst="rect">
            <a:avLst/>
          </a:prstGeom>
          <a:noFill/>
        </p:spPr>
        <p:txBody>
          <a:bodyPr wrap="square">
            <a:spAutoFit/>
          </a:bodyPr>
          <a:lstStyle/>
          <a:p>
            <a:pPr algn="ctr"/>
            <a:r>
              <a:rPr sz="1400" b="1">
                <a:solidFill>
                  <a:srgbClr val="000000"/>
                </a:solidFill>
                <a:latin typeface="맑은 고딕"/>
                <a:ea typeface="맑은 고딕"/>
              </a:rPr>
              <a:t>시스템 이벤트와 코드</a:t>
            </a:r>
          </a:p>
        </p:txBody>
      </p:sp>
      <p:pic>
        <p:nvPicPr>
          <p:cNvPr id="35" name="plantuml Diagram 1"/>
          <p:cNvPicPr>
            <a:picLocks noChangeAspect="1"/>
          </p:cNvPicPr>
          <p:nvPr/>
        </p:nvPicPr>
        <p:blipFill>
          <a:blip r:embed="plantumlImage1"/>
          <a:stretch>
            <a:fillRect/>
          </a:stretch>
        </p:blipFill>
        <p:spPr>
          <a:xfrm>
            <a:off x="528656" y="2898606"/>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비동기의 결과는 나중에 오는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동기 요청, 비동기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SSD 초안에 외부 시스템(지원 액터)을 더해 정제한다. 시스템 이벤트마다 대상 시스템이 외부 시스템에 무엇을 요청하는지가 드러난다.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26404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1" name="plantuml Diagram 2"/>
          <p:cNvPicPr>
            <a:picLocks noChangeAspect="1"/>
          </p:cNvPicPr>
          <p:nvPr/>
        </p:nvPicPr>
        <p:blipFill>
          <a:blip r:embed="plantumlImage2"/>
          <a:stretch>
            <a:fillRect/>
          </a:stretch>
        </p:blipFill>
        <p:spPr>
          <a:xfrm>
            <a:off x="1389073" y="2538368"/>
            <a:ext cx="6365854" cy="383810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472382"/>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그래서 계약도 "요청했다"로 쓴다</a:t>
            </a:r>
            <a:r>
              <a:rPr sz="1400" b="0">
                <a:solidFill>
                  <a:srgbClr val="000000"/>
                </a:solidFill>
                <a:latin typeface="맑은 고딕"/>
                <a:ea typeface="맑은 고딕"/>
              </a:rPr>
              <a:t>(「44.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7393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SSD 초안에 외부 시스템(지원 액터)을 더해 정제한다. 시스템 이벤트마다 대상 시스템이 외부 시스템에 무엇을 요청하는지가 드러난다.</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43.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60361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60361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SSD 초안에 외부 시스템(지원 액터)을 더해 정제한다. 시스템 이벤트마다 대상 시스템이 외부 시스템에 무엇을 요청하는지가 드러난다.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916894"/>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6" name="plantuml Diagram 3"/>
          <p:cNvPicPr>
            <a:picLocks noChangeAspect="1"/>
          </p:cNvPicPr>
          <p:nvPr/>
        </p:nvPicPr>
        <p:blipFill>
          <a:blip r:embed="plantumlImage3"/>
          <a:stretch>
            <a:fillRect/>
          </a:stretch>
        </p:blipFill>
        <p:spPr>
          <a:xfrm>
            <a:off x="1818298" y="3191214"/>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시스템이 소유한 결과는 "했다"가 아니라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이벤트</a:t>
            </a:r>
            <a:r>
              <a:rPr sz="1800" b="0">
                <a:solidFill>
                  <a:srgbClr val="000000"/>
                </a:solidFill>
                <a:latin typeface="맑은 고딕"/>
                <a:ea typeface="맑은 고딕"/>
              </a:rPr>
              <a:t>에만 쓴다 —</a:t>
            </a:r>
            <a:r>
              <a:rPr sz="1600" b="0">
                <a:solidFill>
                  <a:srgbClr val="000000"/>
                </a:solidFill>
                <a:latin typeface="맑은 고딕"/>
                <a:ea typeface="맑은 고딕"/>
              </a:rPr>
              <a:t> 여러 외부 시스템을 조정하거나, 조건을 외부가 판단하거나, 상태와 결과가 얽힌 이벤트.</a:t>
            </a:r>
          </a:p>
        </p:txBody>
      </p:sp>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935226"/>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6355080"/>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6367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시스템 오퍼레이션은 경계를 넘어 들어오는 업무 이벤트에 응답하는 시스템의 책임이다. 내부 메서드나 API를 먼저 정하는 일이 아니다.</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99175"/>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92148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상태와 </a:t>
            </a:r>
            <a:r>
              <a:rPr sz="1800" b="1">
                <a:solidFill>
                  <a:srgbClr val="000000"/>
                </a:solidFill>
                <a:latin typeface="맑은 고딕"/>
                <a:ea typeface="맑은 고딕"/>
              </a:rPr>
              <a:t>요청</a:t>
            </a:r>
            <a:r>
              <a:rPr sz="1800" b="0">
                <a:solidFill>
                  <a:srgbClr val="000000"/>
                </a:solidFill>
                <a:latin typeface="맑은 고딕"/>
                <a:ea typeface="맑은 고딕"/>
              </a:rPr>
              <a:t>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시스템 오퍼레이션은 경계를 넘어 들어오는 업무 이벤트에 응답하는 시스템의 책임이다. 내부 메서드나 API를 먼저 정하는 일이 아니다.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65985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5" name="plantuml Diagram 4"/>
          <p:cNvPicPr>
            <a:picLocks noChangeAspect="1"/>
          </p:cNvPicPr>
          <p:nvPr/>
        </p:nvPicPr>
        <p:blipFill>
          <a:blip r:embed="plantumlImage4"/>
          <a:stretch>
            <a:fillRect/>
          </a:stretch>
        </p:blipFill>
        <p:spPr>
          <a:xfrm>
            <a:off x="2346081" y="2934176"/>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91208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91208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시스템 오퍼레이션은 경계를 넘어 들어오는 업무 이벤트에 응답하는 시스템의 책임이다. 내부 메서드나 API를 먼저 정하는 일이 아니다.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916894"/>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6" name="plantuml Diagram 5"/>
          <p:cNvPicPr>
            <a:picLocks noChangeAspect="1"/>
          </p:cNvPicPr>
          <p:nvPr/>
        </p:nvPicPr>
        <p:blipFill>
          <a:blip r:embed="plantumlImage5"/>
          <a:stretch>
            <a:fillRect/>
          </a:stretch>
        </p:blipFill>
        <p:spPr>
          <a:xfrm>
            <a:off x="1710104" y="3191214"/>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3215344"/>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1636776"/>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1689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시스템 오퍼레이션은 경계를 넘어 들어오는 업무 이벤트에 응답하는 시스템의 책임이다. 내부 메서드나 API를 먼저 정하는 일이 아니다.</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「44.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프로토타입과 와이어프레임은 화면을 확정하기 전에 사용자가 과업을 이해하고 수행하는지 관찰해 숨은 요구와 잘못된 가정을 발견하는 도구다.</a:t>
            </a:r>
          </a:p>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marL="342900" indent="0">
              <a:spcBef>
                <a:spcPts val="600"/>
              </a:spcBef>
              <a:spcAft>
                <a:spcPts val="600"/>
              </a:spcAft>
              <a:buNone/>
            </a:pPr>
            <a:r>
              <a:rPr sz="1800" b="1">
                <a:solidFill>
                  <a:srgbClr val="000000"/>
                </a:solidFill>
                <a:latin typeface="맑은 고딕"/>
                <a:ea typeface="맑은 고딕"/>
              </a:rPr>
              <a:t>표현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사용자로서 나는 </a:t>
            </a:r>
            <a:r>
              <a:rPr sz="1800" b="0">
                <a:solidFill>
                  <a:srgbClr val="000000"/>
                </a:solidFill>
                <a:latin typeface="맑은 고딕"/>
                <a:ea typeface="맑은 고딕"/>
              </a:rPr>
              <a:t>&lt;목표&gt;</a:t>
            </a:r>
            <a:r>
              <a:rPr sz="1800" b="0">
                <a:solidFill>
                  <a:srgbClr val="000000"/>
                </a:solidFill>
                <a:latin typeface="맑은 고딕"/>
                <a:ea typeface="맑은 고딕"/>
              </a:rPr>
              <a:t>를 원한다. 왜냐하면 </a:t>
            </a:r>
            <a:r>
              <a:rPr sz="1800" b="0">
                <a:solidFill>
                  <a:srgbClr val="000000"/>
                </a:solidFill>
                <a:latin typeface="맑은 고딕"/>
                <a:ea typeface="맑은 고딕"/>
              </a:rPr>
              <a:t>&lt;가치&gt;</a:t>
            </a:r>
            <a:r>
              <a:rPr sz="1800" b="0">
                <a:solidFill>
                  <a:srgbClr val="000000"/>
                </a:solidFill>
                <a:latin typeface="맑은 고딕"/>
                <a:ea typeface="맑은 고딕"/>
              </a:rPr>
              <a:t>를 얻고 싶기 때문이다.</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고객으로서 출고 전 배송지를 변경하고 싶다. 올바른 장소에서 상품을 받고 싶기 때문이다.</a:t>
            </a:r>
          </a:p>
          <a:p>
            <a:pPr marL="342900" indent="0">
              <a:spcBef>
                <a:spcPts val="600"/>
              </a:spcBef>
              <a:spcAft>
                <a:spcPts val="600"/>
              </a:spcAft>
              <a:buNone/>
            </a:pPr>
            <a:r>
              <a:rPr sz="1800" b="1">
                <a:solidFill>
                  <a:srgbClr val="000000"/>
                </a:solidFill>
                <a:latin typeface="맑은 고딕"/>
                <a:ea typeface="맑은 고딕"/>
              </a:rPr>
              <a:t>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세부 내용은 </a:t>
            </a:r>
            <a:r>
              <a:rPr sz="1800" b="1">
                <a:solidFill>
                  <a:srgbClr val="000000"/>
                </a:solidFill>
                <a:latin typeface="맑은 고딕"/>
                <a:ea typeface="맑은 고딕"/>
              </a:rPr>
              <a:t>대화와 인수 조건</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반복적인 개발</a:t>
            </a:r>
            <a:r>
              <a:rPr sz="1800" b="0">
                <a:solidFill>
                  <a:srgbClr val="000000"/>
                </a:solidFill>
                <a:latin typeface="맑은 고딕"/>
                <a:ea typeface="맑은 고딕"/>
              </a:rPr>
              <a:t>과 </a:t>
            </a:r>
            <a:r>
              <a:rPr sz="1800" b="1">
                <a:solidFill>
                  <a:srgbClr val="000000"/>
                </a:solidFill>
                <a:latin typeface="맑은 고딕"/>
                <a:ea typeface="맑은 고딕"/>
              </a:rPr>
              <a:t>우선순위 관리</a:t>
            </a:r>
            <a:r>
              <a:rPr sz="1800" b="0">
                <a:solidFill>
                  <a:srgbClr val="000000"/>
                </a:solidFill>
                <a:latin typeface="맑은 고딕"/>
                <a:ea typeface="맑은 고딕"/>
              </a:rPr>
              <a:t>에 적합하다.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형식 문장 자체보다 </a:t>
            </a:r>
            <a:r>
              <a:rPr sz="1800" b="1">
                <a:solidFill>
                  <a:srgbClr val="000000"/>
                </a:solidFill>
                <a:latin typeface="맑은 고딕"/>
                <a:ea typeface="맑은 고딕"/>
              </a:rPr>
              <a:t>카드·대화·확인</a:t>
            </a:r>
            <a:r>
              <a:rPr sz="1800" b="0">
                <a:solidFill>
                  <a:srgbClr val="000000"/>
                </a:solidFill>
                <a:latin typeface="맑은 고딕"/>
                <a:ea typeface="맑은 고딕"/>
              </a:rPr>
              <a:t>이 중요하다.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49.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사용자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508421"/>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활동</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262616"/>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&lt;시작 조건&gt;</a:t>
            </a:r>
          </a:p>
          <a:p>
            <a:pPr marL="0" indent="0" algn="l">
              <a:lnSpc>
                <a:spcPts val="1150"/>
              </a:lnSpc>
              <a:spcBef>
                <a:spcPts val="0"/>
              </a:spcBef>
              <a:spcAft>
                <a:spcPts val="0"/>
              </a:spcAft>
              <a:buNone/>
            </a:pPr>
            <a:r>
              <a:rPr sz="1000" b="0">
                <a:solidFill>
                  <a:srgbClr val="000000"/>
                </a:solidFill>
                <a:latin typeface="Consolas"/>
                <a:ea typeface="맑은 고딕"/>
              </a:rPr>
              <a:t>When  &lt;행위&gt;</a:t>
            </a:r>
          </a:p>
          <a:p>
            <a:pPr marL="0" indent="0" algn="l">
              <a:lnSpc>
                <a:spcPts val="1150"/>
              </a:lnSpc>
              <a:spcBef>
                <a:spcPts val="0"/>
              </a:spcBef>
              <a:spcAft>
                <a:spcPts val="0"/>
              </a:spcAft>
              <a:buNone/>
            </a:pPr>
            <a:r>
              <a:rPr sz="1000" b="0">
                <a:solidFill>
                  <a:srgbClr val="000000"/>
                </a:solidFill>
                <a:latin typeface="Consolas"/>
                <a:ea typeface="맑은 고딕"/>
              </a:rPr>
              <a:t>Then  &lt;관찰 가능한 결과&gt;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636776"/>
            <a:ext cx="8412480" cy="52424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Given-When-Then</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032744"/>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3794744"/>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블록은 「44.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960120"/>
            <a:ext cx="8412480" cy="676656"/>
          </a:xfrm>
          <a:prstGeom prst="rect">
            <a:avLst/>
          </a:prstGeom>
          <a:noFill/>
        </p:spPr>
        <p:txBody>
          <a:bodyPr wrap="square">
            <a:spAutoFit/>
          </a:bodyPr>
          <a:lstStyle/>
          <a:p>
            <a:r>
              <a:rPr sz="1800" b="0" i="1">
                <a:solidFill>
                  <a:srgbClr val="000000"/>
                </a:solidFill>
                <a:latin typeface="맑은 고딕"/>
                <a:ea typeface="맑은 고딕"/>
              </a:rPr>
              <a:t>행위 주도 개발(BDD)은 구체적인 예로 기대 행위를 합의하고 검증과 연결하는 협업 방식이다.</a:t>
            </a:r>
          </a:p>
        </p:txBody>
      </p:sp>
    </p:spTree>
    <p:extLst>
      <p:ext uri="{BB962C8B-B14F-4D97-AF65-F5344CB8AC3E}">
        <p14:creationId xmlns:p14="http://schemas.microsoft.com/office/powerpoint/2010/main" val="37733515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3"/>
          <p:cNvPicPr>
            <a:picLocks noChangeAspect="1"/>
          </p:cNvPicPr>
          <p:nvPr/>
        </p:nvPicPr>
        <p:blipFill>
          <a:blip r:embed="mermaidImage3"/>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53.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4"/>
          <p:cNvPicPr>
            <a:picLocks noChangeAspect="1"/>
          </p:cNvPicPr>
          <p:nvPr/>
        </p:nvPicPr>
        <p:blipFill>
          <a:blip r:embed="mermaidImage4"/>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5"/>
          <p:cNvPicPr>
            <a:picLocks noChangeAspect="1"/>
          </p:cNvPicPr>
          <p:nvPr/>
        </p:nvPicPr>
        <p:blipFill>
          <a:blip r:embed="mermaidImage5"/>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6"/>
          <p:cNvPicPr>
            <a:picLocks noChangeAspect="1"/>
          </p:cNvPicPr>
          <p:nvPr/>
        </p:nvPicPr>
        <p:blipFill>
          <a:blip r:embed="mermaidImage6"/>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1의 </a:t>
            </a:r>
            <a:r>
              <a:rPr sz="1600" b="1">
                <a:solidFill>
                  <a:srgbClr val="000000"/>
                </a:solidFill>
                <a:latin typeface="맑은 고딕"/>
                <a:ea typeface="맑은 고딕"/>
              </a:rPr>
              <a:t>요구사항 명세서</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기본·대안·예외 흐름으로 나눠줘. 필요하면 업무 규칙, 품질 속성, UI를 덧붙여줘. 명세서에 없는 규칙은 </a:t>
            </a:r>
            <a:r>
              <a:rPr sz="1600" b="1">
                <a:solidFill>
                  <a:srgbClr val="000000"/>
                </a:solidFill>
                <a:latin typeface="맑은 고딕"/>
                <a:ea typeface="맑은 고딕"/>
              </a:rPr>
              <a:t>반드시 확인</a:t>
            </a:r>
            <a:r>
              <a:rPr sz="1600" b="0">
                <a:solidFill>
                  <a:srgbClr val="000000"/>
                </a:solidFill>
                <a:latin typeface="맑은 고딕"/>
                <a:ea typeface="맑은 고딕"/>
              </a:rPr>
              <a:t>해라. 명세서에 쓴 용어로 </a:t>
            </a:r>
            <a:r>
              <a:rPr sz="16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6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요구 반영</a:t>
            </a:r>
            <a:r>
              <a:rPr sz="1600" b="0">
                <a:solidFill>
                  <a:srgbClr val="000000"/>
                </a:solidFill>
                <a:latin typeface="맑은 고딕"/>
                <a:ea typeface="맑은 고딕"/>
              </a:rPr>
              <a:t> —</a:t>
            </a:r>
            <a:r>
              <a:rPr sz="105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시스템 경계</a:t>
            </a:r>
            <a:r>
              <a:rPr sz="1600" b="0">
                <a:solidFill>
                  <a:srgbClr val="000000"/>
                </a:solidFill>
                <a:latin typeface="맑은 고딕"/>
                <a:ea typeface="맑은 고딕"/>
              </a:rPr>
              <a:t> —</a:t>
            </a:r>
            <a:r>
              <a:rPr sz="105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유스케이스 단위</a:t>
            </a:r>
            <a:r>
              <a:rPr sz="1600" b="0">
                <a:solidFill>
                  <a:srgbClr val="000000"/>
                </a:solidFill>
                <a:latin typeface="맑은 고딕"/>
                <a:ea typeface="맑은 고딕"/>
              </a:rPr>
              <a:t> —</a:t>
            </a:r>
            <a:r>
              <a:rPr sz="1050" b="0">
                <a:solidFill>
                  <a:srgbClr val="000000"/>
                </a:solidFill>
                <a:latin typeface="맑은 고딕"/>
                <a:ea typeface="맑은 고딕"/>
              </a:rPr>
              <a:t> 기능 조각</a:t>
            </a:r>
            <a:r>
              <a:rPr sz="850" b="0">
                <a:solidFill>
                  <a:srgbClr val="000000"/>
                </a:solidFill>
                <a:latin typeface="맑은 고딕"/>
                <a:ea typeface="맑은 고딕"/>
              </a:rPr>
              <a:t>(로그인·결제하기)</a:t>
            </a:r>
            <a:r>
              <a:rPr sz="1050" b="0">
                <a:solidFill>
                  <a:srgbClr val="000000"/>
                </a:solidFill>
                <a:latin typeface="맑은 고딕"/>
                <a:ea typeface="맑은 고딕"/>
              </a:rPr>
              <a:t>이나 CRUD 분할</a:t>
            </a:r>
            <a:r>
              <a:rPr sz="850" b="0">
                <a:solidFill>
                  <a:srgbClr val="000000"/>
                </a:solidFill>
                <a:latin typeface="맑은 고딕"/>
                <a:ea typeface="맑은 고딕"/>
              </a:rPr>
              <a:t>(신청 조회·수정·삭제)</a:t>
            </a:r>
            <a:r>
              <a:rPr sz="1050" b="0">
                <a:solidFill>
                  <a:srgbClr val="000000"/>
                </a:solidFill>
                <a:latin typeface="맑은 고딕"/>
                <a:ea typeface="맑은 고딕"/>
              </a:rPr>
              <a:t>이 아닌가?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흐름</a:t>
            </a:r>
            <a:r>
              <a:rPr sz="1600" b="0">
                <a:solidFill>
                  <a:srgbClr val="000000"/>
                </a:solidFill>
                <a:latin typeface="맑은 고딕"/>
                <a:ea typeface="맑은 고딕"/>
              </a:rPr>
              <a:t> —</a:t>
            </a:r>
            <a:r>
              <a:rPr sz="105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규칙</a:t>
            </a:r>
            <a:r>
              <a:rPr sz="1600" b="0">
                <a:solidFill>
                  <a:srgbClr val="000000"/>
                </a:solidFill>
                <a:latin typeface="맑은 고딕"/>
                <a:ea typeface="맑은 고딕"/>
              </a:rPr>
              <a:t> —</a:t>
            </a:r>
            <a:r>
              <a:rPr sz="105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용어</a:t>
            </a:r>
            <a:r>
              <a:rPr sz="1600" b="0">
                <a:solidFill>
                  <a:srgbClr val="000000"/>
                </a:solidFill>
                <a:latin typeface="맑은 고딕"/>
                <a:ea typeface="맑은 고딕"/>
              </a:rPr>
              <a:t> —</a:t>
            </a:r>
            <a:r>
              <a:rPr sz="1050" b="0">
                <a:solidFill>
                  <a:srgbClr val="000000"/>
                </a:solidFill>
                <a:latin typeface="맑은 고딕"/>
                <a:ea typeface="맑은 고딕"/>
              </a:rPr>
              <a:t> 구현 표현</a:t>
            </a:r>
            <a:r>
              <a:rPr sz="850" b="0">
                <a:solidFill>
                  <a:srgbClr val="000000"/>
                </a:solidFill>
                <a:latin typeface="맑은 고딕"/>
                <a:ea typeface="맑은 고딕"/>
              </a:rPr>
              <a:t>(화면·DB)</a:t>
            </a:r>
            <a:r>
              <a:rPr sz="105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6"/>
          <p:cNvPicPr>
            <a:picLocks noChangeAspect="1"/>
          </p:cNvPicPr>
          <p:nvPr/>
        </p:nvPicPr>
        <p:blipFill>
          <a:blip r:embed="plantumlImage6"/>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 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사후 조건</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예외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품질 속성</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UI</a:t>
            </a:r>
            <a:r>
              <a:rPr sz="1400" b="0">
                <a:solidFill>
                  <a:srgbClr val="000000"/>
                </a:solidFill>
                <a:latin typeface="맑은 고딕"/>
                <a:ea typeface="맑은 고딕"/>
              </a:rPr>
              <a:t> —</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7"/>
          <p:cNvPicPr>
            <a:picLocks noChangeAspect="1"/>
          </p:cNvPicPr>
          <p:nvPr/>
        </p:nvPicPr>
        <p:blipFill>
          <a:blip r:embed="plantumlImage7"/>
          <a:stretch>
            <a:fillRect/>
          </a:stretch>
        </p:blipFill>
        <p:spPr>
          <a:xfrm>
            <a:off x="517769" y="1617708"/>
            <a:ext cx="8108462" cy="44987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83</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83</vt:i4>
      </vt:variant>
    </vt:vector>
  </HeadingPairs>
  <TitlesOfParts>
    <vt:vector size="87" baseType="lpstr">
      <vt:lpstr>맑은 고딕</vt:lpstr>
      <vt:lpstr>Arial</vt:lpstr>
      <vt:lpstr>Wingdings</vt:lpstr>
      <vt:lpstr>4_Office 테마</vt:lpstr>
      <vt:lpstr>02. 요구 분석과 유스케이스 목차 (1/3)</vt:lpstr>
      <vt:lpstr>02. 요구 분석과 유스케이스 목차 (2/3)</vt:lpstr>
      <vt:lpstr>02. 요구 분석과 유스케이스 목차 (3/3)</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업무 배경도</vt:lpstr>
      <vt:lpstr>23. 경계 판단</vt:lpstr>
      <vt:lpstr>24. 목표와 액터</vt:lpstr>
      <vt:lpstr>25. 유스케이스 후보 식별</vt:lpstr>
      <vt:lpstr>26. 유스케이스 수준</vt:lpstr>
      <vt:lpstr>27. 유스케이스 다이어그램 — 초안</vt:lpstr>
      <vt:lpstr>28. 유스케이스 명세서 템플릿</vt:lpstr>
      <vt:lpstr>29. 기본 이벤트 흐름 (1/2)</vt:lpstr>
      <vt:lpstr>29. 기본 이벤트 흐름 (2/2)</vt:lpstr>
      <vt:lpstr>30. 규칙·제약·예외 정책</vt:lpstr>
      <vt:lpstr>31. 이벤트 흐름을 이용한 요구 분석</vt:lpstr>
      <vt:lpstr>32. 유스케이스 상세화</vt:lpstr>
      <vt:lpstr>33. 유스케이스 다이어그램 — 상세화 (1/4)</vt:lpstr>
      <vt:lpstr>33. 유스케이스 다이어그램 — 상세화 (2/4)</vt:lpstr>
      <vt:lpstr>33. 유스케이스 다이어그램 — 상세화 (3/4)</vt:lpstr>
      <vt:lpstr>33. 유스케이스 다이어그램 — 상세화 (4/4)</vt:lpstr>
      <vt:lpstr>34. 잘못된 관행 — 기능 분할</vt:lpstr>
      <vt:lpstr>35. 잘못된 관행 — CRUD 분할</vt:lpstr>
      <vt:lpstr>36. 잘못된 관행 — 화면·기술 요소</vt:lpstr>
      <vt:lpstr>37. 잘못된 관행 — 시스템 관점·액터</vt:lpstr>
      <vt:lpstr>38. 잘못된 관행 — 명세 과잉·방치</vt:lpstr>
      <vt:lpstr>39. 잘못된 유스케이스 다이어그램 (1/2)</vt:lpstr>
      <vt:lpstr>39. 잘못된 유스케이스 다이어그램 (2/2)</vt:lpstr>
      <vt:lpstr>40. 시스템 시퀀스 다이어그램 (1/2)</vt:lpstr>
      <vt:lpstr>40. 시스템 시퀀스 다이어그램 (2/2)</vt:lpstr>
      <vt:lpstr>41. SSD 초안 (1/2)</vt:lpstr>
      <vt:lpstr>41. SSD 초안 (2/2)</vt:lpstr>
      <vt:lpstr>42. 시스템 이벤트와 오퍼레이션</vt:lpstr>
      <vt:lpstr>43. 정제된 SSD (1/4)</vt:lpstr>
      <vt:lpstr>43. 정제된 SSD (2/4)</vt:lpstr>
      <vt:lpstr>43. 정제된 SSD (3/4)</vt:lpstr>
      <vt:lpstr>43. 정제된 SSD (4/4)</vt:lpstr>
      <vt:lpstr>44. 시스템 오퍼레이션과 계약 (1/5)</vt:lpstr>
      <vt:lpstr>44. 시스템 오퍼레이션과 계약 (2/5)</vt:lpstr>
      <vt:lpstr>44. 시스템 오퍼레이션과 계약 (3/5)</vt:lpstr>
      <vt:lpstr>44. 시스템 오퍼레이션과 계약 (4/5)</vt:lpstr>
      <vt:lpstr>44. 시스템 오퍼레이션과 계약 (5/5)</vt:lpstr>
      <vt:lpstr>45. 정적·동적 모델을 통한 상세화</vt:lpstr>
      <vt:lpstr>46. 유스케이스와 품질속성</vt:lpstr>
      <vt:lpstr>47. 프로토타입·와이어프레임 (1/2)</vt:lpstr>
      <vt:lpstr>47. 프로토타입·와이어프레임 (2/2)</vt:lpstr>
      <vt:lpstr>48. 사용자 스토리</vt:lpstr>
      <vt:lpstr>49. 사용자 스토리의 강점과 한계</vt:lpstr>
      <vt:lpstr>50. 행위 주도 개발 (1/2)</vt:lpstr>
      <vt:lpstr>50. 행위 주도 개발 (2/2)</vt:lpstr>
      <vt:lpstr>51. 행위 주도 개발의 강점과 한계</vt:lpstr>
      <vt:lpstr>52. 유스케이스·사용자 스토리·BDD</vt:lpstr>
      <vt:lpstr>53. 요구사항 검증</vt:lpstr>
      <vt:lpstr>54. 요구사항 관리</vt:lpstr>
      <vt:lpstr>55. 요구사항 추적</vt:lpstr>
      <vt:lpstr>56. 요구사항에서 학습으로</vt:lpstr>
      <vt:lpstr>57. 실습 — 유스케이스</vt:lpstr>
      <vt:lpstr>58. 유스케이스 다이어그램 (안)</vt:lpstr>
      <vt:lpstr>59. 유스케이스 명세서 (안)</vt:lpstr>
      <vt:lpstr>60. 용어집 (안)</vt:lpstr>
      <vt:lpstr>61. 시스템 시퀀스 다이어그램 (안)</vt:lpstr>
      <vt:lpstr>62. 요구사항 명세서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