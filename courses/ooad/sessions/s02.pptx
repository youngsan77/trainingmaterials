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"35. 요구사항 검증"에서 검토와 사용 증거의 역할을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표의 "문제" 행은 교육용 가정이다. 실제 문제와 원인은 항상 요청자에게 직접 확인한다.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요구공학의 수집·분석·명세·검증·관리 활동을 연결한다.</a:t>
            </a:r>
          </a:p>
          <a:p>
            <a:pPr lvl="0">
              <a:buNone/>
            </a:pPr>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Requirements](https://www.craiglarman.com/wiki/downloads/applying_uml/larman-ch5-applying-evolutionary-requirements.pdf)를 근거로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표는 각 접근 전체의 정의가 아니라 요구 발견에 연결하는 교육용 비교다.</a:t>
            </a:r>
          </a:p>
          <a:p>
            <a:pPr lvl="0"/>
            <a:r>
              <a:rPr lang="ko-KR" sz="1200"/>
              <a:t>디자인 싱킹의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서로 다른 분류의 추상화 수준을 억지로 일대일 대응시키지 않는다.</a:t>
            </a:r>
          </a:p>
          <a:p>
            <a:pPr lvl="0">
              <a:buNone/>
            </a:pPr>
            <a:r>
              <a:rPr lang="ko-KR" sz="1200"/>
              <a:t>앞의 수준 목록은 사업·임무에서 시스템과 소프트웨어로 요구를 구체화하는 수업용 연결이다. ISO의 완전한 유형 목록으로 제시하지 않는다. 수준 간 요구 도출은 NASA [Systems Engineering Handbook, §4](https://www.nasa.gov/reference/4-0-system-design-processes/)의 이해관계자 기대→기술 요구 및 하위 수준 전개를 참조한다. IIBA의 네 유형과 해결책 요구의 하위 분류는 [The Business Analysis Standard, 4.4.2](https://www.iiba.org/knowledgehub/the-business-analysis-standard/4-implementing-business-analysis/4-4-understanding-requirements-and-designs/)에서 확인한다. 두 관점은 목적이 달라 일대일 대응시키지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ISO/IEC/IEEE 29148:2018, §5.2(개별 요구사항 및 요구사항 집합의 특성).</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프로토타입, 디자인 싱킹, 린 사용자 경험, 애자일이 요구 발견과 연결되는 이유를 설명한다.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1992년 책의 문구는 Biddle 등의 논문에 재수록된 부분을 확인했다. 원서 페이지를 직접 확인하지 않았으므로 페이지 번호를 추정하지 않는다.</a:t>
            </a:r>
          </a:p>
          <a:p>
            <a:pPr lvl="0"/>
            <a:r>
              <a:rPr lang="ko-KR" sz="1200"/>
              <a:t>Jacobson은 [Use Cases — Yesterday, Today, and Tomorrow](https://web.archive.org/web/20221229212011id_/http://download.boulder.ibm.com/ibmdl/pub/software/dw/rationaledge/mar03/UseCases_TheRationalEdge_Mar2003.pdf), The Rational Edge, 2003-03, “How Many Use Cases Is Enough?”에서 특정 액터에게 측정 가능한 가치를 제공한다는 기준을 1994년에 추가했다고 직접 설명한다. 첨부 검토서의 1995년 책 문장 전체와 정확한 귀속은 이번 확인 자료로 확정하지 않았다.</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절대적인 순차 절차가 아니다. 실제 분석에서는 필요한 만큼 앞뒤로 반복한다.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요구분석 경계를 최종 배포·아키텍처 경계와 동일시하지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주 액터의 목표를 출발점으로 삼되 지원 액터를 빠뜨리지 않는다. 근거: OMG [UML 2.5.1](https://www.omg.org/spec/UML/2.5.1/PDF), §18.1.3.1; Craig Larman, [Applying UML and Patterns, Chapter 6](https://www.craiglarman.com/wiki/downloads/applying_uml/larman-ch6-applying-evolutionary-use-cases.pdf), §6.6.</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모든 유스케이스에 모든 항목을 기계적으로 채우지 않는다.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시스템이 주문을 확인한다, 시스템이 취소 가능 여부를 판단한다와 같은 내부 처리 단계는 넣지 않는다.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방어 코딩 수준의 모든 예외를 유스케이스에 기록하지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성공 경로, 추가한 예외 흐름은 실패 결과의 예다. 예외의 교육용 가정을 확정 업무 정책으로 승격하지 않는다. 실패 시 주문 상태와 복구 방식은 별도 확인 대상이다.</a:t>
            </a:r>
          </a:p>
          <a:p>
            <a:pPr lvl="0"/>
            <a:r>
              <a:rPr lang="ko-KR" sz="1200"/>
              <a:t>미결제 주문 지원은 확정된 요구가 아니라, 새로운 요구가 확인될 때 대안 흐름을 추가하는 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사전조건이 참인 호출의 정상 완료에서 사후조건이 성립한다는 계약 의미는 OMG [UML 2.5.1](https://www.omg.org/spec/UML/2.5.1/PDF), §9.6.3.1에 근거한다. 위 표는 수업용 시스템 수준 예시이며 표준 템플릿이 아니다.</a:t>
            </a:r>
          </a:p>
          <a:p>
            <a:pPr lvl="0"/>
            <a:r>
              <a:rPr lang="ko-KR" sz="1200"/>
              <a:t>유스케이스와 오퍼레이션 계약의 연결은 Craig Larman, [Applying UML and Patterns, Chapter 6](https://www.craiglarman.com/wiki/downloads/applying_uml/larman-ch6-applying-evolutionary-use-cases.pdf), Figure 6.1을 참조한다.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이 표는 성공 계약이다. 실패·인증 등 관련 유스케이스의 나머지 행위를 완전히 명세한 것은 아니다.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명사 → 클래스 식으로 기계적으로 변환한다는 의미가 아니다. S03과 S04에서 각각 본격적으로 다룬다.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이 장에서 S02의 전체 메시지를 닫는다. 이후 구현·검증·DevOps 단계에서도 이 피드백은 계속 이어진다.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시간 배분은 전체 SA 완성 후 정한다.</a:t>
            </a:r>
          </a:p>
          <a:p>
            <a:pPr lvl="0">
              <a:buNone/>
            </a:pPr>
            <a:r>
              <a:rPr lang="ko-KR" sz="1200"/>
              <a:t>세부 검토 기준(충족한 결과 / 보완할 결과):</a:t>
            </a:r>
          </a:p>
          <a:p>
            <a:pPr lvl="0"/>
            <a:r>
              <a:rPr lang="ko-KR" sz="1200"/>
              <a:t>사실과 가정 — 주어진 네 조건과 추정한 고객 문제를 구분한다 / 버튼 요청만으로 불편 원인을 단정한다</a:t>
            </a:r>
          </a:p>
          <a:p>
            <a:pPr lvl="0"/>
            <a:r>
              <a:rPr lang="ko-KR" sz="1200"/>
              <a:t>목표와 해결책 — 목표를 다음 배송 건너뛰기로 표현하고 버튼은 후보로 둔다 / 버튼 추가를 목표·요구·유스케이스에 그대로 복사한다</a:t>
            </a:r>
          </a:p>
          <a:p>
            <a:pPr lvl="0"/>
            <a:r>
              <a:rPr lang="ko-KR" sz="1200"/>
              <a:t>흐름과 규칙 — 성공 흐름에 의도·결과를 쓰고 48시간·연속 횟수는 규칙으로 분리한다 / 내부 조회·저장 순서를 흐름으로 쓴다</a:t>
            </a:r>
          </a:p>
          <a:p>
            <a:pPr lvl="0"/>
            <a:r>
              <a:rPr lang="ko-KR" sz="1200"/>
              <a:t>시스템 책임 — 건너뛰기 반영과 다음 배송일 확인을 외부 결과로 명시한다 / 책임 범위 없이 함수명·클래스부터 정한다</a:t>
            </a:r>
          </a:p>
          <a:p>
            <a:pPr lvl="0"/>
            <a:r>
              <a:rPr lang="ko-KR" sz="1200"/>
              <a:t>미확인 정책 — 승인된 결제 처리, 기준 시각·경계, 연속 횟수 계산을 질문으로 남긴다 / 환불·수수료·횟수 초기화 정책을 근거 없이 만든다</a:t>
            </a:r>
          </a:p>
          <a:p>
            <a:pPr lvl="0"/>
            <a:r>
              <a:rPr lang="ko-KR" sz="1200"/>
              <a:t>품질과 검증 — 통지 지연·권한·중복 요청 등 검토 질문과 확인 방법을 제시한다 / 근거 없이 성능 수치를 확정하거나 기능만 검사한다</a:t>
            </a:r>
          </a:p>
          <a:p>
            <a:pPr lvl="0"/>
            <a:r>
              <a:rPr lang="ko-KR" sz="1200"/>
              <a:t>가치 확인 — 일정 조절에 도움이 되는지 사용 증거로 확인한다 / 버튼을 구현했으므로 가치가 입증됐다고 본다</a:t>
            </a:r>
          </a:p>
          <a:p>
            <a:pPr lvl="0">
              <a:buNone/>
            </a:pPr>
            <a:r>
              <a:rPr lang="ko-KR" sz="1200"/>
              <a:t>검토 예는 유일한 정답이 아니다. 다음 예는 결제 전·마감 전·연속 제한에 걸리지 않는 고객 본인의 배송 건이라는 전제를 둔다.</a:t>
            </a:r>
          </a:p>
          <a:p>
            <a:pPr lvl="0"/>
            <a:r>
              <a:rPr lang="ko-KR" sz="1200"/>
              <a:t>문제 가설: 고객이 특정 회차의 배송을 원하지 않지만 스스로 조절하기 어렵다. 현재 가능한 경로와 실제 불편을 확인한다.</a:t>
            </a:r>
          </a:p>
          <a:p>
            <a:pPr lvl="0"/>
            <a:r>
              <a:rPr lang="ko-KR" sz="1200"/>
              <a:t>목표·주 액터: 정기배송 고객이 다음 배송을 건너뛴다.</a:t>
            </a:r>
          </a:p>
          <a:p>
            <a:pPr lvl="0"/>
            <a:r>
              <a:rPr lang="ko-KR" sz="1200"/>
              <a:t>기본 흐름: 고객이 다음 배송을 건너뛴다 → 고객이 건너뛰기 결과와 다음 예정 배송일을 확인한다.</a:t>
            </a:r>
          </a:p>
          <a:p>
            <a:pPr lvl="0"/>
            <a:r>
              <a:rPr lang="ko-KR" sz="1200"/>
              <a:t>시스템 오퍼레이션·성공 결과: 다음 배송 건너뛰기; 대상 회차가 배송 대상에서 제외되고 다음 예정 배송일을 확인할 수 있다. 일정 산정 규칙은 추가 확인 대상이다.</a:t>
            </a:r>
          </a:p>
          <a:p>
            <a:pPr lvl="0"/>
            <a:r>
              <a:rPr lang="ko-KR" sz="1200"/>
              <a:t>확인 질문: 정확히 48시간인 시점도 허용하는가? 어떤 시각·시간대를 기준으로 하는가? 이미 승인된 결제는 취소·환불·이월 중 무엇을 해야 하는가? 연속 횟수는 언제 초기화되는가?</a:t>
            </a:r>
          </a:p>
          <a:p>
            <a:pPr lvl="0"/>
            <a:r>
              <a:rPr lang="ko-KR" sz="1200"/>
              <a:t>아직 정해지지 않은 정책을 열어 두었다는 이유로 감점하지 않는다. 성공 예의 범위와 미확인 사항이 연결되어 있는지 평가한다.</a:t>
            </a:r>
          </a:p>
          <a:p>
            <a:pPr lvl="0">
              <a:buNone/>
            </a:pPr>
            <a:r>
              <a:rPr lang="ko-KR" sz="1200"/>
              <a:t>다음 두 질문을 중심으로 토론한다.</a:t>
            </a:r>
          </a:p>
          <a:p>
            <a:pPr lvl="0"/>
            <a:r>
              <a:rPr lang="ko-KR" sz="1200"/>
              <a:t>왜 그렇게 판단했는가?</a:t>
            </a:r>
          </a:p>
          <a:p>
            <a:pPr lvl="0"/>
            <a:r>
              <a:rPr lang="ko-KR" sz="1200"/>
              <a:t>아직 무엇을 모르는가?</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buNone/>
            </a:pPr>
            <a:r>
              <a:rPr lang="ko-KR" sz="1200"/>
              <a:t>S02에서는 요구를 행위 관점으로 구조화했다. S03에서는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요구공학의 주요 활동</a:t>
            </a:r>
          </a:p>
          <a:p>
            <a:pPr lvl="1" marL="355600" indent="0">
              <a:spcBef>
                <a:spcPts val="300"/>
              </a:spcBef>
              <a:spcAft>
                <a:spcPts val="300"/>
              </a:spcAft>
              <a:buNone/>
            </a:pPr>
            <a:r>
              <a:rPr sz="1600" b="0">
                <a:solidFill>
                  <a:srgbClr val="000000"/>
                </a:solidFill>
                <a:latin typeface="맑은 고딕"/>
                <a:ea typeface="맑은 고딕"/>
              </a:rPr>
              <a:t>07. 요구사항 수집과 발견</a:t>
            </a:r>
          </a:p>
          <a:p>
            <a:pPr lvl="1" marL="355600" indent="0">
              <a:spcBef>
                <a:spcPts val="300"/>
              </a:spcBef>
              <a:spcAft>
                <a:spcPts val="300"/>
              </a:spcAft>
              <a:buNone/>
            </a:pPr>
            <a:r>
              <a:rPr sz="1600" b="0">
                <a:solidFill>
                  <a:srgbClr val="000000"/>
                </a:solidFill>
                <a:latin typeface="맑은 고딕"/>
                <a:ea typeface="맑은 고딕"/>
              </a:rPr>
              <a:t>08. 디자인 싱킹·린 사고·Lean UX·애자일</a:t>
            </a:r>
          </a:p>
          <a:p>
            <a:pPr lvl="1" marL="355600" indent="0">
              <a:spcBef>
                <a:spcPts val="300"/>
              </a:spcBef>
              <a:spcAft>
                <a:spcPts val="300"/>
              </a:spcAft>
              <a:buNone/>
            </a:pPr>
            <a:r>
              <a:rPr sz="1600" b="0">
                <a:solidFill>
                  <a:srgbClr val="000000"/>
                </a:solidFill>
                <a:latin typeface="맑은 고딕"/>
                <a:ea typeface="맑은 고딕"/>
              </a:rPr>
              <a:t>09. 요구사항 유형</a:t>
            </a:r>
          </a:p>
          <a:p>
            <a:pPr lvl="1" marL="355600" indent="0">
              <a:spcBef>
                <a:spcPts val="300"/>
              </a:spcBef>
              <a:spcAft>
                <a:spcPts val="300"/>
              </a:spcAft>
              <a:buNone/>
            </a:pPr>
            <a:r>
              <a:rPr sz="1600" b="0">
                <a:solidFill>
                  <a:srgbClr val="000000"/>
                </a:solidFill>
                <a:latin typeface="맑은 고딕"/>
                <a:ea typeface="맑은 고딕"/>
              </a:rPr>
              <a:t>10. 좋은 요구사항의 자격요건</a:t>
            </a:r>
          </a:p>
          <a:p>
            <a:pPr lvl="1" marL="355600" indent="0">
              <a:spcBef>
                <a:spcPts val="300"/>
              </a:spcBef>
              <a:spcAft>
                <a:spcPts val="300"/>
              </a:spcAft>
              <a:buNone/>
            </a:pPr>
            <a:r>
              <a:rPr sz="1600" b="0">
                <a:solidFill>
                  <a:srgbClr val="000000"/>
                </a:solidFill>
                <a:latin typeface="맑은 고딕"/>
                <a:ea typeface="맑은 고딕"/>
              </a:rPr>
              <a:t>11. 요구사항은 언제 확정되는가?</a:t>
            </a:r>
          </a:p>
          <a:p>
            <a:pPr lvl="1" marL="355600" indent="0">
              <a:spcBef>
                <a:spcPts val="300"/>
              </a:spcBef>
              <a:spcAft>
                <a:spcPts val="300"/>
              </a:spcAft>
              <a:buNone/>
            </a:pPr>
            <a:r>
              <a:rPr sz="1600" b="0">
                <a:solidFill>
                  <a:srgbClr val="000000"/>
                </a:solidFill>
                <a:latin typeface="맑은 고딕"/>
                <a:ea typeface="맑은 고딕"/>
              </a:rPr>
              <a:t>12. 유스케이스란 무엇인가?</a:t>
            </a:r>
          </a:p>
          <a:p>
            <a:pPr lvl="1" marL="355600" indent="0">
              <a:spcBef>
                <a:spcPts val="300"/>
              </a:spcBef>
              <a:spcAft>
                <a:spcPts val="300"/>
              </a:spcAft>
              <a:buNone/>
            </a:pPr>
            <a:r>
              <a:rPr sz="1600" b="0">
                <a:solidFill>
                  <a:srgbClr val="000000"/>
                </a:solidFill>
                <a:latin typeface="맑은 고딕"/>
                <a:ea typeface="맑은 고딕"/>
              </a:rPr>
              <a:t>13. 왜 유스케이스가 필요한가?</a:t>
            </a:r>
          </a:p>
          <a:p>
            <a:pPr lvl="1" marL="355600" indent="0">
              <a:spcBef>
                <a:spcPts val="300"/>
              </a:spcBef>
              <a:spcAft>
                <a:spcPts val="300"/>
              </a:spcAft>
              <a:buNone/>
            </a:pPr>
            <a:r>
              <a:rPr sz="1600" b="0">
                <a:solidFill>
                  <a:srgbClr val="000000"/>
                </a:solidFill>
                <a:latin typeface="맑은 고딕"/>
                <a:ea typeface="맑은 고딕"/>
              </a:rPr>
              <a:t>14. 유스케이스 작성 절차</a:t>
            </a:r>
          </a:p>
          <a:p>
            <a:pPr lvl="1" marL="355600" indent="0">
              <a:spcBef>
                <a:spcPts val="300"/>
              </a:spcBef>
              <a:spcAft>
                <a:spcPts val="300"/>
              </a:spcAft>
              <a:buNone/>
            </a:pPr>
            <a:r>
              <a:rPr sz="1600" b="0">
                <a:solidFill>
                  <a:srgbClr val="000000"/>
                </a:solidFill>
                <a:latin typeface="맑은 고딕"/>
                <a:ea typeface="맑은 고딕"/>
              </a:rPr>
              <a:t>15. 대상 시스템과 경계</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목표와 액터</a:t>
            </a:r>
          </a:p>
          <a:p>
            <a:pPr lvl="1" marL="355600" indent="0">
              <a:spcBef>
                <a:spcPts val="300"/>
              </a:spcBef>
              <a:spcAft>
                <a:spcPts val="300"/>
              </a:spcAft>
              <a:buNone/>
            </a:pPr>
            <a:r>
              <a:rPr sz="1600" b="0">
                <a:solidFill>
                  <a:srgbClr val="000000"/>
                </a:solidFill>
                <a:latin typeface="맑은 고딕"/>
                <a:ea typeface="맑은 고딕"/>
              </a:rPr>
              <a:t>17. 유스케이스 후보 식별</a:t>
            </a:r>
          </a:p>
          <a:p>
            <a:pPr lvl="1" marL="355600" indent="0">
              <a:spcBef>
                <a:spcPts val="300"/>
              </a:spcBef>
              <a:spcAft>
                <a:spcPts val="300"/>
              </a:spcAft>
              <a:buNone/>
            </a:pPr>
            <a:r>
              <a:rPr sz="1600" b="0">
                <a:solidFill>
                  <a:srgbClr val="000000"/>
                </a:solidFill>
                <a:latin typeface="맑은 고딕"/>
                <a:ea typeface="맑은 고딕"/>
              </a:rPr>
              <a:t>18.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19. 유스케이스 명세서 템플릿</a:t>
            </a:r>
          </a:p>
          <a:p>
            <a:pPr lvl="1" marL="355600" indent="0">
              <a:spcBef>
                <a:spcPts val="300"/>
              </a:spcBef>
              <a:spcAft>
                <a:spcPts val="300"/>
              </a:spcAft>
              <a:buNone/>
            </a:pPr>
            <a:r>
              <a:rPr sz="1600" b="0">
                <a:solidFill>
                  <a:srgbClr val="000000"/>
                </a:solidFill>
                <a:latin typeface="맑은 고딕"/>
                <a:ea typeface="맑은 고딕"/>
              </a:rPr>
              <a:t>20. 기본 이벤트 흐름</a:t>
            </a:r>
          </a:p>
          <a:p>
            <a:pPr lvl="1" marL="355600" indent="0">
              <a:spcBef>
                <a:spcPts val="300"/>
              </a:spcBef>
              <a:spcAft>
                <a:spcPts val="300"/>
              </a:spcAft>
              <a:buNone/>
            </a:pPr>
            <a:r>
              <a:rPr sz="1600" b="0">
                <a:solidFill>
                  <a:srgbClr val="000000"/>
                </a:solidFill>
                <a:latin typeface="맑은 고딕"/>
                <a:ea typeface="맑은 고딕"/>
              </a:rPr>
              <a:t>21. 규칙·제약·예외 정책</a:t>
            </a:r>
          </a:p>
          <a:p>
            <a:pPr lvl="1" marL="355600" indent="0">
              <a:spcBef>
                <a:spcPts val="300"/>
              </a:spcBef>
              <a:spcAft>
                <a:spcPts val="300"/>
              </a:spcAft>
              <a:buNone/>
            </a:pPr>
            <a:r>
              <a:rPr sz="1600" b="0">
                <a:solidFill>
                  <a:srgbClr val="000000"/>
                </a:solidFill>
                <a:latin typeface="맑은 고딕"/>
                <a:ea typeface="맑은 고딕"/>
              </a:rPr>
              <a:t>22.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23. 유스케이스 상세화</a:t>
            </a:r>
          </a:p>
          <a:p>
            <a:pPr lvl="1" marL="355600" indent="0">
              <a:spcBef>
                <a:spcPts val="300"/>
              </a:spcBef>
              <a:spcAft>
                <a:spcPts val="300"/>
              </a:spcAft>
              <a:buNone/>
            </a:pPr>
            <a:r>
              <a:rPr sz="1600" b="0">
                <a:solidFill>
                  <a:srgbClr val="000000"/>
                </a:solidFill>
                <a:latin typeface="맑은 고딕"/>
                <a:ea typeface="맑은 고딕"/>
              </a:rPr>
              <a:t>24. 유스케이스 다이어그램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25. 잘못된 유스케이스 다이어그램</a:t>
            </a:r>
          </a:p>
          <a:p>
            <a:pPr lvl="1" marL="355600" indent="0">
              <a:spcBef>
                <a:spcPts val="300"/>
              </a:spcBef>
              <a:spcAft>
                <a:spcPts val="300"/>
              </a:spcAft>
              <a:buNone/>
            </a:pPr>
            <a:r>
              <a:rPr sz="1600" b="0">
                <a:solidFill>
                  <a:srgbClr val="000000"/>
                </a:solidFill>
                <a:latin typeface="맑은 고딕"/>
                <a:ea typeface="맑은 고딕"/>
              </a:rPr>
              <a:t>26. 시스템 오퍼레이션과 계약</a:t>
            </a:r>
          </a:p>
          <a:p>
            <a:pPr lvl="1" marL="355600" indent="0">
              <a:spcBef>
                <a:spcPts val="300"/>
              </a:spcBef>
              <a:spcAft>
                <a:spcPts val="300"/>
              </a:spcAft>
              <a:buNone/>
            </a:pPr>
            <a:r>
              <a:rPr sz="1600" b="0">
                <a:solidFill>
                  <a:srgbClr val="000000"/>
                </a:solidFill>
                <a:latin typeface="맑은 고딕"/>
                <a:ea typeface="맑은 고딕"/>
              </a:rPr>
              <a:t>27. 정적·동적 모델을 통한 상세화</a:t>
            </a:r>
          </a:p>
          <a:p>
            <a:pPr lvl="1" marL="355600" indent="0">
              <a:spcBef>
                <a:spcPts val="300"/>
              </a:spcBef>
              <a:spcAft>
                <a:spcPts val="300"/>
              </a:spcAft>
              <a:buNone/>
            </a:pPr>
            <a:r>
              <a:rPr sz="1600" b="0">
                <a:solidFill>
                  <a:srgbClr val="000000"/>
                </a:solidFill>
                <a:latin typeface="맑은 고딕"/>
                <a:ea typeface="맑은 고딕"/>
              </a:rPr>
              <a:t>28. 유스케이스와 품질속성</a:t>
            </a:r>
          </a:p>
          <a:p>
            <a:pPr lvl="1" marL="355600" indent="0">
              <a:spcBef>
                <a:spcPts val="300"/>
              </a:spcBef>
              <a:spcAft>
                <a:spcPts val="300"/>
              </a:spcAft>
              <a:buNone/>
            </a:pPr>
            <a:r>
              <a:rPr sz="1600" b="0">
                <a:solidFill>
                  <a:srgbClr val="000000"/>
                </a:solidFill>
                <a:latin typeface="맑은 고딕"/>
                <a:ea typeface="맑은 고딕"/>
              </a:rPr>
              <a:t>29. 프로토타입·와이어프레임</a:t>
            </a:r>
          </a:p>
          <a:p>
            <a:pPr lvl="1" marL="355600" indent="0">
              <a:spcBef>
                <a:spcPts val="300"/>
              </a:spcBef>
              <a:spcAft>
                <a:spcPts val="300"/>
              </a:spcAft>
              <a:buNone/>
            </a:pPr>
            <a:r>
              <a:rPr sz="1600" b="0">
                <a:solidFill>
                  <a:srgbClr val="000000"/>
                </a:solidFill>
                <a:latin typeface="맑은 고딕"/>
                <a:ea typeface="맑은 고딕"/>
              </a:rPr>
              <a:t>30. 사용자 스토리</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사용자 스토리의 강점과 한계</a:t>
            </a:r>
          </a:p>
          <a:p>
            <a:pPr lvl="1" marL="355600" indent="0">
              <a:spcBef>
                <a:spcPts val="300"/>
              </a:spcBef>
              <a:spcAft>
                <a:spcPts val="300"/>
              </a:spcAft>
              <a:buNone/>
            </a:pPr>
            <a:r>
              <a:rPr sz="1600" b="0">
                <a:solidFill>
                  <a:srgbClr val="000000"/>
                </a:solidFill>
                <a:latin typeface="맑은 고딕"/>
                <a:ea typeface="맑은 고딕"/>
              </a:rPr>
              <a:t>32. 행위 주도 개발</a:t>
            </a:r>
          </a:p>
          <a:p>
            <a:pPr lvl="1" marL="355600" indent="0">
              <a:spcBef>
                <a:spcPts val="300"/>
              </a:spcBef>
              <a:spcAft>
                <a:spcPts val="300"/>
              </a:spcAft>
              <a:buNone/>
            </a:pPr>
            <a:r>
              <a:rPr sz="1600" b="0">
                <a:solidFill>
                  <a:srgbClr val="000000"/>
                </a:solidFill>
                <a:latin typeface="맑은 고딕"/>
                <a:ea typeface="맑은 고딕"/>
              </a:rPr>
              <a:t>33. 행위 주도 개발의 강점과 한계</a:t>
            </a:r>
          </a:p>
          <a:p>
            <a:pPr lvl="1" marL="355600" indent="0">
              <a:spcBef>
                <a:spcPts val="300"/>
              </a:spcBef>
              <a:spcAft>
                <a:spcPts val="300"/>
              </a:spcAft>
              <a:buNone/>
            </a:pPr>
            <a:r>
              <a:rPr sz="1600" b="0">
                <a:solidFill>
                  <a:srgbClr val="000000"/>
                </a:solidFill>
                <a:latin typeface="맑은 고딕"/>
                <a:ea typeface="맑은 고딕"/>
              </a:rPr>
              <a:t>34. 유스케이스·사용자 스토리·BDD</a:t>
            </a:r>
          </a:p>
          <a:p>
            <a:pPr lvl="1" marL="355600" indent="0">
              <a:spcBef>
                <a:spcPts val="300"/>
              </a:spcBef>
              <a:spcAft>
                <a:spcPts val="300"/>
              </a:spcAft>
              <a:buNone/>
            </a:pPr>
            <a:r>
              <a:rPr sz="1600" b="0">
                <a:solidFill>
                  <a:srgbClr val="000000"/>
                </a:solidFill>
                <a:latin typeface="맑은 고딕"/>
                <a:ea typeface="맑은 고딕"/>
              </a:rPr>
              <a:t>35. 요구사항 검증</a:t>
            </a:r>
          </a:p>
          <a:p>
            <a:pPr lvl="1" marL="355600" indent="0">
              <a:spcBef>
                <a:spcPts val="300"/>
              </a:spcBef>
              <a:spcAft>
                <a:spcPts val="300"/>
              </a:spcAft>
              <a:buNone/>
            </a:pPr>
            <a:r>
              <a:rPr sz="1600" b="0">
                <a:solidFill>
                  <a:srgbClr val="000000"/>
                </a:solidFill>
                <a:latin typeface="맑은 고딕"/>
                <a:ea typeface="맑은 고딕"/>
              </a:rPr>
              <a:t>36. 요구사항 관리</a:t>
            </a:r>
          </a:p>
          <a:p>
            <a:pPr lvl="1" marL="355600" indent="0">
              <a:spcBef>
                <a:spcPts val="300"/>
              </a:spcBef>
              <a:spcAft>
                <a:spcPts val="300"/>
              </a:spcAft>
              <a:buNone/>
            </a:pPr>
            <a:r>
              <a:rPr sz="1600" b="0">
                <a:solidFill>
                  <a:srgbClr val="000000"/>
                </a:solidFill>
                <a:latin typeface="맑은 고딕"/>
                <a:ea typeface="맑은 고딕"/>
              </a:rPr>
              <a:t>37. 요구사항 추적</a:t>
            </a:r>
          </a:p>
          <a:p>
            <a:pPr lvl="1" marL="355600" indent="0">
              <a:spcBef>
                <a:spcPts val="300"/>
              </a:spcBef>
              <a:spcAft>
                <a:spcPts val="300"/>
              </a:spcAft>
              <a:buNone/>
            </a:pPr>
            <a:r>
              <a:rPr sz="1600" b="0">
                <a:solidFill>
                  <a:srgbClr val="000000"/>
                </a:solidFill>
                <a:latin typeface="맑은 고딕"/>
                <a:ea typeface="맑은 고딕"/>
              </a:rPr>
              <a:t>38. 요구사항에서 학습으로</a:t>
            </a:r>
          </a:p>
          <a:p>
            <a:pPr lvl="1" marL="355600" indent="0">
              <a:spcBef>
                <a:spcPts val="300"/>
              </a:spcBef>
              <a:spcAft>
                <a:spcPts val="300"/>
              </a:spcAft>
              <a:buNone/>
            </a:pPr>
            <a:r>
              <a:rPr sz="1600" b="0">
                <a:solidFill>
                  <a:srgbClr val="000000"/>
                </a:solidFill>
                <a:latin typeface="맑은 고딕"/>
                <a:ea typeface="맑은 고딕"/>
              </a:rPr>
              <a:t>39. 실습 —</a:t>
            </a:r>
            <a:r>
              <a:rPr sz="1400" b="0">
                <a:solidFill>
                  <a:srgbClr val="000000"/>
                </a:solidFill>
                <a:latin typeface="맑은 고딕"/>
                <a:ea typeface="맑은 고딕"/>
              </a:rPr>
              <a:t> 모델로 바꾸기</a:t>
            </a:r>
          </a:p>
          <a:p>
            <a:pPr lvl="1" marL="355600" indent="0">
              <a:spcBef>
                <a:spcPts val="300"/>
              </a:spcBef>
              <a:spcAft>
                <a:spcPts val="300"/>
              </a:spcAft>
              <a:buNone/>
            </a:pPr>
            <a:r>
              <a:rPr sz="1600" b="0">
                <a:solidFill>
                  <a:srgbClr val="000000"/>
                </a:solidFill>
                <a:latin typeface="맑은 고딕"/>
                <a:ea typeface="맑은 고딕"/>
              </a:rPr>
              <a:t>40.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요구공학의 주요 활동과 요구사항 유형을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방법을 통해 명시된 요구와 </a:t>
            </a:r>
            <a:r>
              <a:rPr sz="1800" b="1">
                <a:solidFill>
                  <a:srgbClr val="000000"/>
                </a:solidFill>
                <a:latin typeface="맑은 고딕"/>
                <a:ea typeface="맑은 고딕"/>
              </a:rPr>
              <a:t>숨어 있는 요구</a:t>
            </a:r>
            <a:r>
              <a:rPr sz="1800" b="0">
                <a:solidFill>
                  <a:srgbClr val="000000"/>
                </a:solidFill>
                <a:latin typeface="맑은 고딕"/>
                <a:ea typeface="맑은 고딕"/>
              </a:rPr>
              <a:t>를 발견한다.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식별하고 이벤트 흐름으로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다이어그램을 기능 분할도나 업무 흐름도와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중요한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을 식별하고 필요하면 계약으로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분석 모델과 후속 설계 판단의 연결을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품질속성과 프로토타입을 요구 발견과 검증에 활용한다.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스토리와 행위 주도 개발의 역할을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관리와 추적으로 </a:t>
            </a:r>
            <a:r>
              <a:rPr sz="1800" b="1">
                <a:solidFill>
                  <a:srgbClr val="000000"/>
                </a:solidFill>
                <a:latin typeface="맑은 고딕"/>
                <a:ea typeface="맑은 고딕"/>
              </a:rPr>
              <a:t>누락과 임의 추가</a:t>
            </a:r>
            <a:r>
              <a:rPr sz="1800" b="0">
                <a:solidFill>
                  <a:srgbClr val="000000"/>
                </a:solidFill>
                <a:latin typeface="맑은 고딕"/>
                <a:ea typeface="맑은 고딕"/>
              </a:rPr>
              <a:t>를 통제한다.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구현과 실제 사용에서 얻은 </a:t>
            </a:r>
            <a:r>
              <a:rPr sz="1800" b="1">
                <a:solidFill>
                  <a:srgbClr val="000000"/>
                </a:solidFill>
                <a:latin typeface="맑은 고딕"/>
                <a:ea typeface="맑은 고딕"/>
              </a:rPr>
              <a:t>증거</a:t>
            </a:r>
            <a:r>
              <a:rPr sz="1800" b="0">
                <a:solidFill>
                  <a:srgbClr val="000000"/>
                </a:solidFill>
                <a:latin typeface="맑은 고딕"/>
                <a:ea typeface="맑은 고딕"/>
              </a:rPr>
              <a:t>를 요구사항 학습으로 되돌린다.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그대로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무엇을 만들어야 하는지 구체화하며 </a:t>
            </a:r>
            <a:r>
              <a:rPr sz="1800" b="1">
                <a:solidFill>
                  <a:srgbClr val="000000"/>
                </a:solidFill>
                <a:latin typeface="맑은 고딕"/>
                <a:ea typeface="맑은 고딕"/>
              </a:rPr>
              <a:t>증거를 통해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Jeff Bezos, 2016</a:t>
            </a:r>
          </a:p>
        </p:txBody>
      </p:sp>
      <p:pic>
        <p:nvPicPr>
          <p:cNvPr id="9" name="mermaid Diagram 1"/>
          <p:cNvPicPr>
            <a:picLocks noChangeAspect="1"/>
          </p:cNvPicPr>
          <p:nvPr/>
        </p:nvPicPr>
        <p:blipFill>
          <a:blip r:embed="mermaidImage1"/>
          <a:stretch>
            <a:fillRect/>
          </a:stretch>
        </p:blipFill>
        <p:spPr>
          <a:xfrm>
            <a:off x="1468041" y="4016414"/>
            <a:ext cx="6207919" cy="11263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분석하고, 어떤 정보를 더 묻고, 무엇으로 필요성을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50785" y="3502059"/>
          <a:ext cx="7228840" cy="3873500"/>
        </p:xfrm>
        <a:graphic>
          <a:graphicData uri="http://schemas.openxmlformats.org/drawingml/2006/table">
            <a:tbl>
              <a:tblPr/>
              <a:tblGrid>
                <a:gridCol w="1087120"/>
                <a:gridCol w="2819400"/>
                <a:gridCol w="33223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잘못되었거나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요구(Need)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원하거나 필요로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지켜야 하는 조건은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방식으로 충족할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웹, 앱,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4033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필요와 그에 관련된 제약·조건</a:t>
            </a:r>
            <a:r>
              <a:rPr sz="1800" b="0">
                <a:solidFill>
                  <a:srgbClr val="000000"/>
                </a:solidFill>
                <a:latin typeface="맑은 고딕"/>
                <a:ea typeface="맑은 고딕"/>
              </a:rPr>
              <a:t>을 변환하거나 표현한 진술"</a:t>
            </a:r>
            <a:r>
              <a:rPr sz="1000" b="0">
                <a:solidFill>
                  <a:srgbClr val="000000"/>
                </a:solidFill>
                <a:latin typeface="맑은 고딕"/>
                <a:ea typeface="맑은 고딕"/>
              </a:rPr>
              <a:t>, </a:t>
            </a:r>
            <a:r>
              <a:rPr sz="1000" b="0">
                <a:solidFill>
                  <a:srgbClr val="000000"/>
                </a:solidFill>
                <a:latin typeface="맑은 고딕"/>
                <a:ea typeface="맑은 고딕"/>
              </a:rPr>
              <a:t>"Statement that translates or expresses a need and its associated constraints and conditions."</a:t>
            </a:r>
            <a:r>
              <a:rPr sz="1000" b="0">
                <a:solidFill>
                  <a:srgbClr val="000000"/>
                </a:solidFill>
                <a:latin typeface="맑은 고딕"/>
                <a:ea typeface="맑은 고딕"/>
              </a:rPr>
              <a:t>, </a:t>
            </a:r>
            <a:r>
              <a:rPr sz="1000" b="0">
                <a:solidFill>
                  <a:srgbClr val="000000"/>
                </a:solidFill>
                <a:latin typeface="맑은 고딕"/>
                <a:ea typeface="맑은 고딕"/>
              </a:rPr>
              <a:t>ISO/IEC/IEEE 29148:2018,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a:t>
            </a:r>
            <a:r>
              <a:rPr sz="1800" b="1">
                <a:solidFill>
                  <a:srgbClr val="000000"/>
                </a:solidFill>
                <a:latin typeface="맑은 고딕"/>
                <a:ea typeface="맑은 고딕"/>
              </a:rPr>
              <a:t>필요</a:t>
            </a:r>
            <a:r>
              <a:rPr sz="1800" b="0">
                <a:solidFill>
                  <a:srgbClr val="000000"/>
                </a:solidFill>
                <a:latin typeface="맑은 고딕"/>
                <a:ea typeface="맑은 고딕"/>
              </a:rPr>
              <a:t>를 사용할 수 있게 표현한 것이며 설계는 </a:t>
            </a:r>
            <a:r>
              <a:rPr sz="1800" b="1">
                <a:solidFill>
                  <a:srgbClr val="000000"/>
                </a:solidFill>
                <a:latin typeface="맑은 고딕"/>
                <a:ea typeface="맑은 고딕"/>
              </a:rPr>
              <a:t>해결책</a:t>
            </a:r>
            <a:r>
              <a:rPr sz="1800" b="0">
                <a:solidFill>
                  <a:srgbClr val="000000"/>
                </a:solidFill>
                <a:latin typeface="맑은 고딕"/>
                <a:ea typeface="맑은 고딕"/>
              </a:rPr>
              <a:t>을 사용할 수 있게 표현한 것이다"</a:t>
            </a:r>
            <a:r>
              <a:rPr sz="1000" b="0">
                <a:solidFill>
                  <a:srgbClr val="000000"/>
                </a:solidFill>
                <a:latin typeface="맑은 고딕"/>
                <a:ea typeface="맑은 고딕"/>
              </a:rPr>
              <a:t>, </a:t>
            </a:r>
            <a:r>
              <a:rPr sz="1000" b="0">
                <a:solidFill>
                  <a:srgbClr val="000000"/>
                </a:solidFill>
                <a:latin typeface="맑은 고딕"/>
                <a:ea typeface="맑은 고딕"/>
              </a:rPr>
              <a:t>"A requirement is a usable representation of a need... a design is a usable representation of a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8725" y="2380440"/>
          <a:ext cx="4632960" cy="3873500"/>
        </p:xfrm>
        <a:graphic>
          <a:graphicData uri="http://schemas.openxmlformats.org/drawingml/2006/table">
            <a:tbl>
              <a:tblPr/>
              <a:tblGrid>
                <a:gridCol w="1226820"/>
                <a:gridCol w="34061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요청된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수정할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변경하고 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이후 일반 변경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후보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버튼, 편집 화면, 챗봇,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가지 활동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수집:</a:t>
            </a:r>
            <a:r>
              <a:rPr sz="1600" b="0">
                <a:solidFill>
                  <a:srgbClr val="000000"/>
                </a:solidFill>
                <a:latin typeface="맑은 고딕"/>
                <a:ea typeface="맑은 고딕"/>
              </a:rPr>
              <a:t> 이해관계자의 문제·목표·필요를 찾아낸다.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분석:</a:t>
            </a:r>
            <a:r>
              <a:rPr sz="1600" b="0">
                <a:solidFill>
                  <a:srgbClr val="000000"/>
                </a:solidFill>
                <a:latin typeface="맑은 고딕"/>
                <a:ea typeface="맑은 고딕"/>
              </a:rPr>
              <a:t> 요구를 정제하고 관계·충돌·우선순위를 분석한다.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명세:</a:t>
            </a:r>
            <a:r>
              <a:rPr sz="1600" b="0">
                <a:solidFill>
                  <a:srgbClr val="000000"/>
                </a:solidFill>
                <a:latin typeface="맑은 고딕"/>
                <a:ea typeface="맑은 고딕"/>
              </a:rPr>
              <a:t> 합의하고 검토할 수 있는 형태로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검증:</a:t>
            </a:r>
            <a:r>
              <a:rPr sz="1600" b="0">
                <a:solidFill>
                  <a:srgbClr val="000000"/>
                </a:solidFill>
                <a:latin typeface="맑은 고딕"/>
                <a:ea typeface="맑은 고딕"/>
              </a:rPr>
              <a:t> 잘 작성되었는지, 실제 필요한 것인지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관리:</a:t>
            </a:r>
            <a:r>
              <a:rPr sz="16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1842998"/>
          <a:ext cx="6306820" cy="3873500"/>
        </p:xfrm>
        <a:graphic>
          <a:graphicData uri="http://schemas.openxmlformats.org/drawingml/2006/table">
            <a:tbl>
              <a:tblPr/>
              <a:tblGrid>
                <a:gridCol w="1450340"/>
                <a:gridCol w="2037080"/>
                <a:gridCol w="28194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디자인 싱킹·린 사고·Lean UX·애자일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2846" y="1842998"/>
          <a:ext cx="7284720" cy="3873500"/>
        </p:xfrm>
        <a:graphic>
          <a:graphicData uri="http://schemas.openxmlformats.org/drawingml/2006/table">
            <a:tbl>
              <a:tblPr/>
              <a:tblGrid>
                <a:gridCol w="2512060"/>
                <a:gridCol w="2679700"/>
                <a:gridCol w="20929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역할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싱킹(Design Thinking)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문제·숨어 있는 요구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린 사고(Lean Thinking)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고객 가치인가?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가치와 낭비 구분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린 사용자 경험(Lean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가설·실험·결과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애자일(Agile)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구현으로 무엇을 배울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점진적 구현과 빠른 피드백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디자인 싱킹, 린 사고, 린 사용자 경험, 애자일은 서로 다른 접근이지만 </a:t>
            </a:r>
            <a:r>
              <a:rPr sz="1800" b="1">
                <a:solidFill>
                  <a:srgbClr val="000000"/>
                </a:solidFill>
                <a:latin typeface="맑은 고딕"/>
                <a:ea typeface="맑은 고딕"/>
              </a:rPr>
              <a:t>요구와 해결책을 실제 증거로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요구사항 유형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이해관계자 요구사항에만 머물지 않는다. </a:t>
            </a:r>
            <a:r>
              <a:rPr sz="1800" b="1">
                <a:solidFill>
                  <a:srgbClr val="000000"/>
                </a:solidFill>
                <a:latin typeface="맑은 고딕"/>
                <a:ea typeface="맑은 고딕"/>
              </a:rPr>
              <a:t>사업 목적에서 해결책, 전환까지 연결</a:t>
            </a:r>
            <a:r>
              <a:rPr sz="1800" b="0">
                <a:solidFill>
                  <a:srgbClr val="000000"/>
                </a:solidFill>
                <a:latin typeface="맑은 고딕"/>
                <a:ea typeface="맑은 고딕"/>
              </a:rPr>
              <a:t>해서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개발 대상과 수준을 따라 요구를 구체화하기 </a:t>
            </a:r>
            <a:r>
              <a:rPr sz="1400" b="0">
                <a:solidFill>
                  <a:srgbClr val="000000"/>
                </a:solidFill>
                <a:latin typeface="맑은 고딕"/>
                <a:ea typeface="맑은 고딕"/>
              </a:rPr>
              <a:t>(ISO 29148)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사업·임무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 요구사항</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IIBA의 요구사항 분류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해결책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전환 요구사항</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좋은 요구사항의 자격요건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87005" y="2497276"/>
          <a:ext cx="6756400" cy="3873500"/>
        </p:xfrm>
        <a:graphic>
          <a:graphicData uri="http://schemas.openxmlformats.org/drawingml/2006/table">
            <a:tbl>
              <a:tblPr/>
              <a:tblGrid>
                <a:gridCol w="1087120"/>
                <a:gridCol w="56692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ISO/IEC/IEEE 29148:2018은 </a:t>
            </a:r>
            <a:r>
              <a:rPr sz="1800" b="1">
                <a:solidFill>
                  <a:srgbClr val="000000"/>
                </a:solidFill>
                <a:latin typeface="맑은 고딕"/>
                <a:ea typeface="맑은 고딕"/>
              </a:rPr>
              <a:t>개별 요구사항의 특성</a:t>
            </a:r>
            <a:r>
              <a:rPr sz="1800" b="0">
                <a:solidFill>
                  <a:srgbClr val="000000"/>
                </a:solidFill>
                <a:latin typeface="맑은 고딕"/>
                <a:ea typeface="맑은 고딕"/>
              </a:rPr>
              <a:t>과 </a:t>
            </a:r>
            <a:r>
              <a:rPr sz="1800" b="1">
                <a:solidFill>
                  <a:srgbClr val="000000"/>
                </a:solidFill>
                <a:latin typeface="맑은 고딕"/>
                <a:ea typeface="맑은 고딕"/>
              </a:rPr>
              <a:t>요구사항 집합의 특성</a:t>
            </a:r>
            <a:r>
              <a:rPr sz="1800" b="0">
                <a:solidFill>
                  <a:srgbClr val="000000"/>
                </a:solidFill>
                <a:latin typeface="맑은 고딕"/>
                <a:ea typeface="맑은 고딕"/>
              </a:rPr>
              <a:t>을 구분해 정의한다. 문장 하나의 품질과 집합 전체의 품질은 서로 다른 기준으로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개별 요구사항의 특성</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좋은 요구사항의 자격요건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집합의 특성</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완전함</a:t>
            </a:r>
            <a:r>
              <a:rPr sz="1600" b="0">
                <a:solidFill>
                  <a:srgbClr val="000000"/>
                </a:solidFill>
                <a:latin typeface="맑은 고딕"/>
                <a:ea typeface="맑은 고딕"/>
              </a:rPr>
              <a:t> —</a:t>
            </a:r>
            <a:r>
              <a:rPr sz="1400" b="0">
                <a:solidFill>
                  <a:srgbClr val="000000"/>
                </a:solidFill>
                <a:latin typeface="맑은 고딕"/>
                <a:ea typeface="맑은 고딕"/>
              </a:rPr>
              <a:t> 해결책에 필요한 요구를 모두 포함하는가?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일관됨</a:t>
            </a:r>
            <a:r>
              <a:rPr sz="1600" b="0">
                <a:solidFill>
                  <a:srgbClr val="000000"/>
                </a:solidFill>
                <a:latin typeface="맑은 고딕"/>
                <a:ea typeface="맑은 고딕"/>
              </a:rPr>
              <a:t> —</a:t>
            </a:r>
            <a:r>
              <a:rPr sz="1400" b="0">
                <a:solidFill>
                  <a:srgbClr val="000000"/>
                </a:solidFill>
                <a:latin typeface="맑은 고딕"/>
                <a:ea typeface="맑은 고딕"/>
              </a:rPr>
              <a:t> 요구 사이에 충돌이 없고 용어가 일관되는가?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실현 가능함</a:t>
            </a:r>
            <a:r>
              <a:rPr sz="1600" b="0">
                <a:solidFill>
                  <a:srgbClr val="000000"/>
                </a:solidFill>
                <a:latin typeface="맑은 고딕"/>
                <a:ea typeface="맑은 고딕"/>
              </a:rPr>
              <a:t> —</a:t>
            </a:r>
            <a:r>
              <a:rPr sz="1400" b="0">
                <a:solidFill>
                  <a:srgbClr val="000000"/>
                </a:solidFill>
                <a:latin typeface="맑은 고딕"/>
                <a:ea typeface="맑은 고딕"/>
              </a:rPr>
              <a:t> 전체를 함께 고려해도 제약 안에서 실현할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이해 가능함</a:t>
            </a:r>
            <a:r>
              <a:rPr sz="1600" b="0">
                <a:solidFill>
                  <a:srgbClr val="000000"/>
                </a:solidFill>
                <a:latin typeface="맑은 고딕"/>
                <a:ea typeface="맑은 고딕"/>
              </a:rPr>
              <a:t> —</a:t>
            </a:r>
            <a:r>
              <a:rPr sz="1400" b="0">
                <a:solidFill>
                  <a:srgbClr val="000000"/>
                </a:solidFill>
                <a:latin typeface="맑은 고딕"/>
                <a:ea typeface="맑은 고딕"/>
              </a:rPr>
              <a:t> 관련 이해관계자가 이해할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타당성 확인 가능함</a:t>
            </a:r>
            <a:r>
              <a:rPr sz="1600" b="0">
                <a:solidFill>
                  <a:srgbClr val="000000"/>
                </a:solidFill>
                <a:latin typeface="맑은 고딕"/>
                <a:ea typeface="맑은 고딕"/>
              </a:rPr>
              <a:t> —</a:t>
            </a:r>
            <a:r>
              <a:rPr sz="1400" b="0">
                <a:solidFill>
                  <a:srgbClr val="000000"/>
                </a:solidFill>
                <a:latin typeface="맑은 고딕"/>
                <a:ea typeface="맑은 고딕"/>
              </a:rPr>
              <a:t> 실제 이해관계자 의도와 맞는지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비교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위반 사례: </a:t>
            </a:r>
            <a:r>
              <a:rPr sz="1600" b="0">
                <a:solidFill>
                  <a:srgbClr val="000000"/>
                </a:solidFill>
                <a:latin typeface="맑은 고딕"/>
                <a:ea typeface="맑은 고딕"/>
              </a:rPr>
              <a:t>배송지를 신속하게 변경한다.</a:t>
            </a:r>
            <a:r>
              <a:rPr sz="1600" b="0">
                <a:solidFill>
                  <a:srgbClr val="000000"/>
                </a:solidFill>
                <a:latin typeface="맑은 고딕"/>
                <a:ea typeface="맑은 고딕"/>
              </a:rPr>
              <a:t> —</a:t>
            </a:r>
            <a:r>
              <a:rPr sz="1400" b="0">
                <a:solidFill>
                  <a:srgbClr val="000000"/>
                </a:solidFill>
                <a:latin typeface="맑은 고딕"/>
                <a:ea typeface="맑은 고딕"/>
              </a:rPr>
              <a:t> </a:t>
            </a:r>
            <a:r>
              <a:rPr sz="1400" b="1">
                <a:solidFill>
                  <a:srgbClr val="000000"/>
                </a:solidFill>
                <a:latin typeface="맑은 고딕"/>
                <a:ea typeface="맑은 고딕"/>
              </a:rPr>
              <a:t>명확함·검증 가능함</a:t>
            </a:r>
            <a:r>
              <a:rPr sz="1400" b="0">
                <a:solidFill>
                  <a:srgbClr val="000000"/>
                </a:solidFill>
                <a:latin typeface="맑은 고딕"/>
                <a:ea typeface="맑은 고딕"/>
              </a:rPr>
              <a:t> 위반이다. </a:t>
            </a:r>
            <a:r>
              <a:rPr sz="1400" b="0">
                <a:solidFill>
                  <a:srgbClr val="000000"/>
                </a:solidFill>
                <a:latin typeface="맑은 고딕"/>
                <a:ea typeface="맑은 고딕"/>
              </a:rPr>
              <a:t>신속하게</a:t>
            </a:r>
            <a:r>
              <a:rPr sz="1400" b="0">
                <a:solidFill>
                  <a:srgbClr val="000000"/>
                </a:solidFill>
                <a:latin typeface="맑은 고딕"/>
                <a:ea typeface="맑은 고딕"/>
              </a:rPr>
              <a:t>가 측정 조건 없이 해석에 따라 달라진다.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개선 방향: 변경 가능한 주문 상태, 변경 결과를 확인할 주체, 결과 통지 조건을 명시한다. 응답 시간 목표는 측정 조건과 함께 합의해 검증 가능하게 만든다.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요구사항은 언제 확정되는가?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문서의 승인과 요구의 타당성은 다르다. 승인된 요구사항도 실제 사용에서 </a:t>
            </a:r>
            <a:r>
              <a:rPr sz="1800" b="1">
                <a:solidFill>
                  <a:srgbClr val="000000"/>
                </a:solidFill>
                <a:latin typeface="맑은 고딕"/>
                <a:ea typeface="맑은 고딕"/>
              </a:rPr>
              <a:t>올바른 요구였는지 다시 검증</a:t>
            </a:r>
            <a:r>
              <a:rPr sz="1800" b="0">
                <a:solidFill>
                  <a:srgbClr val="000000"/>
                </a:solidFill>
                <a:latin typeface="맑은 고딕"/>
                <a:ea typeface="맑은 고딕"/>
              </a:rPr>
              <a:t>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앞에서 충분히 확정할 수 있다는 기대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단계를 앞에서 한 번에 확정하고 순서대로 진행할 수 있다는 기대다.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수집 → 분석 → 명세 → 승인 → 설계 → 구현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반복적인 학습</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실제 사용과 관찰에서 얻은 학습을 요구 재검토로 되돌린다.</a:t>
            </a:r>
          </a:p>
        </p:txBody>
      </p:sp>
      <p:pic>
        <p:nvPicPr>
          <p:cNvPr id="9" name="mermaid Diagram 2"/>
          <p:cNvPicPr>
            <a:picLocks noChangeAspect="1"/>
          </p:cNvPicPr>
          <p:nvPr/>
        </p:nvPicPr>
        <p:blipFill>
          <a:blip r:embed="mermaidImage2"/>
          <a:stretch>
            <a:fillRect/>
          </a:stretch>
        </p:blipFill>
        <p:spPr>
          <a:xfrm>
            <a:off x="1922066" y="4189665"/>
            <a:ext cx="5299869" cy="11263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달성해 </a:t>
            </a:r>
            <a:r>
              <a:rPr sz="1800" b="1">
                <a:solidFill>
                  <a:srgbClr val="000000"/>
                </a:solidFill>
                <a:latin typeface="맑은 고딕"/>
                <a:ea typeface="맑은 고딕"/>
              </a:rPr>
              <a:t>가치 있는 결과를 얻는 시스템 사용 단위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"시스템과의 대화에서 이루어지는, </a:t>
            </a:r>
            <a:r>
              <a:rPr sz="1800" b="1">
                <a:solidFill>
                  <a:srgbClr val="000000"/>
                </a:solidFill>
                <a:latin typeface="맑은 고딕"/>
                <a:ea typeface="맑은 고딕"/>
              </a:rPr>
              <a:t>행위적으로 연관된 일련의 트랜잭션</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behaviorally related sequence of transactions in a dialogue with the system"</a:t>
            </a:r>
            <a:r>
              <a:rPr sz="1000" b="0">
                <a:solidFill>
                  <a:srgbClr val="000000"/>
                </a:solidFill>
                <a:latin typeface="맑은 고딕"/>
                <a:ea typeface="맑은 고딕"/>
              </a:rPr>
              <a:t>, </a:t>
            </a:r>
            <a:r>
              <a:rPr sz="1000" b="0">
                <a:solidFill>
                  <a:srgbClr val="000000"/>
                </a:solidFill>
                <a:latin typeface="맑은 고딕"/>
                <a:ea typeface="맑은 고딕"/>
              </a:rPr>
              <a:t>Ivar Jacobson, 1992(Biddle·Noble·Tempero, 2001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대상 시스템이 수행하는 일련의 행위를 명세하며, 하나 이상의 액터 또는 이해관계자에게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a:t>
            </a:r>
            <a:r>
              <a:rPr sz="1000" b="0">
                <a:solidFill>
                  <a:srgbClr val="000000"/>
                </a:solidFill>
                <a:latin typeface="맑은 고딕"/>
                <a:ea typeface="맑은 고딕"/>
              </a:rPr>
              <a:t>, </a:t>
            </a:r>
            <a:r>
              <a:rPr sz="1000" b="0">
                <a:solidFill>
                  <a:srgbClr val="000000"/>
                </a:solidFill>
                <a:latin typeface="맑은 고딕"/>
                <a:ea typeface="맑은 고딕"/>
              </a:rPr>
              <a:t>"A UseCase specifies a set of actions performed by its subjects, which yields an observable result that is of value for one or more Actors or other stakeholders of each subject."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a:t>
            </a:r>
          </a:p>
        </p:txBody>
      </p:sp>
      <p:pic>
        <p:nvPicPr>
          <p:cNvPr id="9" name="plantuml Diagram 1"/>
          <p:cNvPicPr>
            <a:picLocks noChangeAspect="1"/>
          </p:cNvPicPr>
          <p:nvPr/>
        </p:nvPicPr>
        <p:blipFill>
          <a:blip r:embed="plantumlImage1"/>
          <a:stretch>
            <a:fillRect/>
          </a:stretch>
        </p:blipFill>
        <p:spPr>
          <a:xfrm>
            <a:off x="3874843" y="4626673"/>
            <a:ext cx="1394313" cy="4889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왜 유스케이스가 필요한가?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시스템을 기능 목록으로 분해하기보다,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를 중심으로 시스템이 제공해야 할 책임을 파악하는 데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기능 중심</a:t>
            </a:r>
            <a:r>
              <a:rPr sz="1800" b="0">
                <a:solidFill>
                  <a:srgbClr val="000000"/>
                </a:solidFill>
                <a:latin typeface="맑은 고딕"/>
                <a:ea typeface="맑은 고딕"/>
              </a:rPr>
              <a:t>: 등록, 조회, 수정, 삭제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 중심</a:t>
            </a:r>
            <a:r>
              <a:rPr sz="1800" b="0">
                <a:solidFill>
                  <a:srgbClr val="000000"/>
                </a:solidFill>
                <a:latin typeface="맑은 고딕"/>
                <a:ea typeface="맑은 고딕"/>
              </a:rPr>
              <a:t>: 주문한다, 주문을 취소한다, 배송지를 변경한다, 배송 상태를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목록만으로는 </a:t>
            </a:r>
            <a:r>
              <a:rPr sz="1800" b="1">
                <a:solidFill>
                  <a:srgbClr val="000000"/>
                </a:solidFill>
                <a:latin typeface="맑은 고딕"/>
                <a:ea typeface="맑은 고딕"/>
              </a:rPr>
              <a:t>누가·왜·어떤 목표로 사용하는지, 어떤 결과가 가치 있는지, 시스템 책임은 어디까지인지</a:t>
            </a:r>
            <a:r>
              <a:rPr sz="1800" b="0">
                <a:solidFill>
                  <a:srgbClr val="000000"/>
                </a:solidFill>
                <a:latin typeface="맑은 고딕"/>
                <a:ea typeface="맑은 고딕"/>
              </a:rPr>
              <a:t> 알기 어렵다.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시스템의 범위와 사용자 목표를 식별한 다음 이벤트 흐름과 규칙을 상세화</a:t>
            </a:r>
            <a:r>
              <a:rPr sz="1800" b="0">
                <a:solidFill>
                  <a:srgbClr val="000000"/>
                </a:solidFill>
                <a:latin typeface="맑은 고딕"/>
                <a:ea typeface="맑은 고딕"/>
              </a:rPr>
              <a:t>한다. 필요하면 앞 단계로 되돌아간다.</a:t>
            </a:r>
          </a:p>
          <a:p>
            <a:pPr lvl="2" marL="723900" indent="-368300">
              <a:spcBef>
                <a:spcPts val="600"/>
              </a:spcBef>
              <a:spcAft>
                <a:spcPts val="600"/>
              </a:spcAft>
              <a:buNone/>
            </a:pPr>
            <a:r>
              <a:rPr sz="1800" b="0">
                <a:solidFill>
                  <a:srgbClr val="000000"/>
                </a:solidFill>
                <a:latin typeface="맑은 고딕"/>
                <a:ea typeface="맑은 고딕"/>
              </a:rPr>
              <a:t>1. 대상 시스템을 정의한다.</a:t>
            </a:r>
          </a:p>
          <a:p>
            <a:pPr lvl="2" marL="723900" indent="-368300">
              <a:spcBef>
                <a:spcPts val="600"/>
              </a:spcBef>
              <a:spcAft>
                <a:spcPts val="600"/>
              </a:spcAft>
              <a:buNone/>
            </a:pPr>
            <a:r>
              <a:rPr sz="1800" b="0">
                <a:solidFill>
                  <a:srgbClr val="000000"/>
                </a:solidFill>
                <a:latin typeface="맑은 고딕"/>
                <a:ea typeface="맑은 고딕"/>
              </a:rPr>
              <a:t>2. 목표와 그 목표를 가진 액터를 함께 식별한다.</a:t>
            </a:r>
          </a:p>
          <a:p>
            <a:pPr lvl="2" marL="723900" indent="-368300">
              <a:spcBef>
                <a:spcPts val="600"/>
              </a:spcBef>
              <a:spcAft>
                <a:spcPts val="600"/>
              </a:spcAft>
              <a:buNone/>
            </a:pPr>
            <a:r>
              <a:rPr sz="1800" b="0">
                <a:solidFill>
                  <a:srgbClr val="000000"/>
                </a:solidFill>
                <a:latin typeface="맑은 고딕"/>
                <a:ea typeface="맑은 고딕"/>
              </a:rPr>
              <a:t>3. 목표 수준의 유스케이스 후보를 식별한다.</a:t>
            </a:r>
          </a:p>
          <a:p>
            <a:pPr lvl="2" marL="723900" indent="-368300">
              <a:spcBef>
                <a:spcPts val="600"/>
              </a:spcBef>
              <a:spcAft>
                <a:spcPts val="600"/>
              </a:spcAft>
              <a:buNone/>
            </a:pPr>
            <a:r>
              <a:rPr sz="1800" b="0">
                <a:solidFill>
                  <a:srgbClr val="000000"/>
                </a:solidFill>
                <a:latin typeface="맑은 고딕"/>
                <a:ea typeface="맑은 고딕"/>
              </a:rPr>
              <a:t>4. 액터와 유스케이스로 초안 유스케이스 다이어그램을 작성한다.</a:t>
            </a:r>
          </a:p>
          <a:p>
            <a:pPr lvl="2" marL="723900" indent="-368300">
              <a:spcBef>
                <a:spcPts val="600"/>
              </a:spcBef>
              <a:spcAft>
                <a:spcPts val="600"/>
              </a:spcAft>
              <a:buNone/>
            </a:pPr>
            <a:r>
              <a:rPr sz="1800" b="0">
                <a:solidFill>
                  <a:srgbClr val="000000"/>
                </a:solidFill>
                <a:latin typeface="맑은 고딕"/>
                <a:ea typeface="맑은 고딕"/>
              </a:rPr>
              <a:t>5. 유스케이스의 기본 이벤트 흐름을 작성한다.</a:t>
            </a:r>
          </a:p>
          <a:p>
            <a:pPr lvl="2" marL="723900" indent="-368300">
              <a:spcBef>
                <a:spcPts val="600"/>
              </a:spcBef>
              <a:spcAft>
                <a:spcPts val="600"/>
              </a:spcAft>
              <a:buNone/>
            </a:pPr>
            <a:r>
              <a:rPr sz="1800" b="0">
                <a:solidFill>
                  <a:srgbClr val="000000"/>
                </a:solidFill>
                <a:latin typeface="맑은 고딕"/>
                <a:ea typeface="맑은 고딕"/>
              </a:rPr>
              <a:t>6. 필요한 규칙·제약·예외 정책을 별도로 식별한다.</a:t>
            </a:r>
          </a:p>
          <a:p>
            <a:pPr lvl="2" marL="723900" indent="-368300">
              <a:spcBef>
                <a:spcPts val="600"/>
              </a:spcBef>
              <a:spcAft>
                <a:spcPts val="600"/>
              </a:spcAft>
              <a:buNone/>
            </a:pPr>
            <a:r>
              <a:rPr sz="1800" b="0">
                <a:solidFill>
                  <a:srgbClr val="000000"/>
                </a:solidFill>
                <a:latin typeface="맑은 고딕"/>
                <a:ea typeface="맑은 고딕"/>
              </a:rPr>
              <a:t>7. 사전조건·사후조건·비즈니스 규칙 등 필요한 내용을 상세화한다.</a:t>
            </a:r>
          </a:p>
          <a:p>
            <a:pPr lvl="2" marL="723900" indent="-368300">
              <a:spcBef>
                <a:spcPts val="600"/>
              </a:spcBef>
              <a:spcAft>
                <a:spcPts val="600"/>
              </a:spcAft>
              <a:buNone/>
            </a:pPr>
            <a:r>
              <a:rPr sz="1800" b="0">
                <a:solidFill>
                  <a:srgbClr val="000000"/>
                </a:solidFill>
                <a:latin typeface="맑은 고딕"/>
                <a:ea typeface="맑은 고딕"/>
              </a:rPr>
              <a:t>8. 상세화 결과를 반영해 유스케이스 다이어그램을 정제한다.</a:t>
            </a:r>
          </a:p>
          <a:p>
            <a:pPr lvl="2" marL="723900" indent="-368300">
              <a:spcBef>
                <a:spcPts val="600"/>
              </a:spcBef>
              <a:spcAft>
                <a:spcPts val="600"/>
              </a:spcAft>
              <a:buNone/>
            </a:pPr>
            <a:r>
              <a:rPr sz="1800" b="0">
                <a:solidFill>
                  <a:srgbClr val="000000"/>
                </a:solidFill>
                <a:latin typeface="맑은 고딕"/>
                <a:ea typeface="맑은 고딕"/>
              </a:rPr>
              <a:t>9. 중요한 시스템 이벤트에서 시스템 오퍼레이션을 식별한다.</a:t>
            </a:r>
          </a:p>
          <a:p>
            <a:pPr lvl="2" marL="723900" indent="-368300">
              <a:spcBef>
                <a:spcPts val="600"/>
              </a:spcBef>
              <a:spcAft>
                <a:spcPts val="600"/>
              </a:spcAft>
              <a:buNone/>
            </a:pPr>
            <a:r>
              <a:rPr sz="1800" b="0">
                <a:solidFill>
                  <a:srgbClr val="000000"/>
                </a:solidFill>
                <a:latin typeface="맑은 고딕"/>
                <a:ea typeface="맑은 고딕"/>
              </a:rPr>
              <a:t>10. 필요하면 중요하고 복잡한 시스템 오퍼레이션의 계약을 작성한다.</a:t>
            </a:r>
          </a:p>
          <a:p>
            <a:pPr lvl="2" marL="723900" indent="-368300">
              <a:spcBef>
                <a:spcPts val="600"/>
              </a:spcBef>
              <a:spcAft>
                <a:spcPts val="600"/>
              </a:spcAft>
              <a:buNone/>
            </a:pPr>
            <a:r>
              <a:rPr sz="1800" b="0">
                <a:solidFill>
                  <a:srgbClr val="000000"/>
                </a:solidFill>
                <a:latin typeface="맑은 고딕"/>
                <a:ea typeface="맑은 고딕"/>
              </a:rPr>
              <a:t>11. 전체 요구와 유스케이스를 검토하고 정제한다.</a:t>
            </a:r>
          </a:p>
        </p:txBody>
      </p:sp>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대상 시스템과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경계</a:t>
            </a:r>
            <a:r>
              <a:rPr sz="1800" b="0">
                <a:solidFill>
                  <a:srgbClr val="000000"/>
                </a:solidFill>
                <a:latin typeface="맑은 고딕"/>
                <a:ea typeface="맑은 고딕"/>
              </a:rPr>
              <a:t>를 명확히 해야 무엇을 시스템이 책임지고, 무엇을 외부 액터가 담당하는지 구분할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None/>
            </a:pPr>
            <a:r>
              <a:rPr sz="1600" b="0">
                <a:solidFill>
                  <a:srgbClr val="000000"/>
                </a:solidFill>
                <a:latin typeface="맑은 고딕"/>
                <a:ea typeface="맑은 고딕"/>
              </a:rPr>
              <a:t>지금 분석하는 대상 시스템은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경계 사각형의 </a:t>
            </a:r>
            <a:r>
              <a:rPr sz="1600" b="1">
                <a:solidFill>
                  <a:srgbClr val="000000"/>
                </a:solidFill>
                <a:latin typeface="맑은 고딕"/>
                <a:ea typeface="맑은 고딕"/>
              </a:rPr>
              <a:t>상단 안쪽에 시스템 명칭</a:t>
            </a:r>
            <a:r>
              <a:rPr sz="1600" b="0">
                <a:solidFill>
                  <a:srgbClr val="000000"/>
                </a:solidFill>
                <a:latin typeface="맑은 고딕"/>
                <a:ea typeface="맑은 고딕"/>
              </a:rPr>
              <a:t>을 표시한다.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경계 안에는 분석 대상 시스템의 유스케이스를 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경계 밖에는 액터를 둔다.</a:t>
            </a:r>
          </a:p>
        </p:txBody>
      </p:sp>
      <p:pic>
        <p:nvPicPr>
          <p:cNvPr id="9" name="plantuml Diagram 2"/>
          <p:cNvPicPr>
            <a:picLocks noChangeAspect="1"/>
          </p:cNvPicPr>
          <p:nvPr/>
        </p:nvPicPr>
        <p:blipFill>
          <a:blip r:embed="plantumlImage2"/>
          <a:stretch>
            <a:fillRect/>
          </a:stretch>
        </p:blipFill>
        <p:spPr>
          <a:xfrm>
            <a:off x="3492012" y="4020470"/>
            <a:ext cx="2159977" cy="12787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3255836" y="3151553"/>
          <a:ext cx="2618740" cy="3873500"/>
        </p:xfrm>
        <a:graphic>
          <a:graphicData uri="http://schemas.openxmlformats.org/drawingml/2006/table">
            <a:tbl>
              <a:tblPr/>
              <a:tblGrid>
                <a:gridCol w="1729740"/>
                <a:gridCol w="88900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상태를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액터는 시스템과 상호작용하는 외부 </a:t>
            </a:r>
            <a:r>
              <a:rPr sz="1800" b="1">
                <a:solidFill>
                  <a:srgbClr val="000000"/>
                </a:solidFill>
                <a:latin typeface="맑은 고딕"/>
                <a:ea typeface="맑은 고딕"/>
              </a:rPr>
              <a:t>역할</a:t>
            </a:r>
            <a:r>
              <a:rPr sz="1800" b="0">
                <a:solidFill>
                  <a:srgbClr val="000000"/>
                </a:solidFill>
                <a:latin typeface="맑은 고딕"/>
                <a:ea typeface="맑은 고딕"/>
              </a:rPr>
              <a:t>이다. 주 액터는 목표 달성에 시스템을 쓰고, 지원 액터는 필요한 외부 서비스를 제공한다.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pic>
        <p:nvPicPr>
          <p:cNvPr id="14" name="plantuml Diagram 3"/>
          <p:cNvPicPr>
            <a:picLocks noChangeAspect="1"/>
          </p:cNvPicPr>
          <p:nvPr/>
        </p:nvPicPr>
        <p:blipFill>
          <a:blip r:embed="plantumlImage3"/>
          <a:stretch>
            <a:fillRect/>
          </a:stretch>
        </p:blipFill>
        <p:spPr>
          <a:xfrm>
            <a:off x="4358342" y="4941266"/>
            <a:ext cx="413727" cy="98864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유스케이스 후보 식별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목표와 외부에서 확인할 수 있는 가치</a:t>
            </a:r>
            <a:r>
              <a:rPr sz="1800" b="0">
                <a:solidFill>
                  <a:srgbClr val="000000"/>
                </a:solidFill>
                <a:latin typeface="맑은 고딕"/>
                <a:ea typeface="맑은 고딕"/>
              </a:rPr>
              <a:t>를 기준으로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액터에게 </a:t>
            </a:r>
            <a:r>
              <a:rPr sz="1800" b="1">
                <a:solidFill>
                  <a:srgbClr val="000000"/>
                </a:solidFill>
                <a:latin typeface="맑은 고딕"/>
                <a:ea typeface="맑은 고딕"/>
              </a:rPr>
              <a:t>의미 있는 결과</a:t>
            </a:r>
            <a:r>
              <a:rPr sz="18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a:t>
            </a:r>
            <a:r>
              <a:rPr sz="1800" b="1">
                <a:solidFill>
                  <a:srgbClr val="000000"/>
                </a:solidFill>
                <a:latin typeface="맑은 고딕"/>
                <a:ea typeface="맑은 고딕"/>
              </a:rPr>
              <a:t>목표</a:t>
            </a:r>
            <a:r>
              <a:rPr sz="1800" b="0">
                <a:solidFill>
                  <a:srgbClr val="000000"/>
                </a:solidFill>
                <a:latin typeface="맑은 고딕"/>
                <a:ea typeface="맑은 고딕"/>
              </a:rPr>
              <a:t>를 표현하는가?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결과의 </a:t>
            </a:r>
            <a:r>
              <a:rPr sz="1800" b="1">
                <a:solidFill>
                  <a:srgbClr val="000000"/>
                </a:solidFill>
                <a:latin typeface="맑은 고딕"/>
                <a:ea typeface="맑은 고딕"/>
              </a:rPr>
              <a:t>가치</a:t>
            </a:r>
            <a:r>
              <a:rPr sz="1800" b="0">
                <a:solidFill>
                  <a:srgbClr val="000000"/>
                </a:solidFill>
                <a:latin typeface="맑은 고딕"/>
                <a:ea typeface="맑은 고딕"/>
              </a:rPr>
              <a:t>를 외부에서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취소한다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배송지를 변경한다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상태를 확인한다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유스케이스 후보 식별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기계적인 기능 분해의 반례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CRUD 목록을 목표·가치 확인 없이 그대로 유스케이스로 채택한 반례다.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회원 등록, 회원 조회, 회원 수정, 회원 삭제 </a:t>
            </a:r>
            <a:r>
              <a:rPr sz="1200" b="0">
                <a:solidFill>
                  <a:srgbClr val="000000"/>
                </a:solidFill>
                <a:latin typeface="맑은 고딕"/>
                <a:ea typeface="맑은 고딕"/>
              </a:rPr>
              <a:t>(CRUD)</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회원 등록</a:t>
            </a:r>
            <a:r>
              <a:rPr sz="1600" b="0">
                <a:solidFill>
                  <a:srgbClr val="000000"/>
                </a:solidFill>
                <a:latin typeface="맑은 고딕"/>
                <a:ea typeface="맑은 고딕"/>
              </a:rPr>
              <a:t>이 실제 가치 있는 목표를 표현하면 후보가 될 수 있다. 명칭만으로 판단하지 않는다.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유스케이스 다이어그램 — 초안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초안에서는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전체 시스템의 사용 구조를 단순하게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a:t>
            </a:r>
            <a:r>
              <a:rPr sz="1800" b="0">
                <a:solidFill>
                  <a:srgbClr val="000000"/>
                </a:solidFill>
                <a:latin typeface="맑은 고딕"/>
                <a:ea typeface="맑은 고딕"/>
              </a:rPr>
              <a:t>&lt;&lt;include&gt;&gt;</a:t>
            </a:r>
            <a:r>
              <a:rPr sz="1800" b="0">
                <a:solidFill>
                  <a:srgbClr val="000000"/>
                </a:solidFill>
                <a:latin typeface="맑은 고딕"/>
                <a:ea typeface="맑은 고딕"/>
              </a:rPr>
              <a:t>)과 확장(</a:t>
            </a:r>
            <a:r>
              <a:rPr sz="1800" b="0">
                <a:solidFill>
                  <a:srgbClr val="000000"/>
                </a:solidFill>
                <a:latin typeface="맑은 고딕"/>
                <a:ea typeface="맑은 고딕"/>
              </a:rPr>
              <a:t>&lt;&lt;extend&gt;&gt;</a:t>
            </a:r>
            <a:r>
              <a:rPr sz="1800" b="0">
                <a:solidFill>
                  <a:srgbClr val="000000"/>
                </a:solidFill>
                <a:latin typeface="맑은 고딕"/>
                <a:ea typeface="맑은 고딕"/>
              </a:rPr>
              <a:t>) 관계는 이 단계에서 넣지 않는다.</a:t>
            </a:r>
          </a:p>
        </p:txBody>
      </p:sp>
      <p:pic>
        <p:nvPicPr>
          <p:cNvPr id="9" name="plantuml Diagram 4"/>
          <p:cNvPicPr>
            <a:picLocks noChangeAspect="1"/>
          </p:cNvPicPr>
          <p:nvPr/>
        </p:nvPicPr>
        <p:blipFill>
          <a:blip r:embed="plantumlImage4"/>
          <a:stretch>
            <a:fillRect/>
          </a:stretch>
        </p:blipFill>
        <p:spPr>
          <a:xfrm>
            <a:off x="3379177" y="3573769"/>
            <a:ext cx="2385646" cy="182684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5" y="1842998"/>
          <a:ext cx="5331460" cy="3873500"/>
        </p:xfrm>
        <a:graphic>
          <a:graphicData uri="http://schemas.openxmlformats.org/drawingml/2006/table">
            <a:tbl>
              <a:tblPr/>
              <a:tblGrid>
                <a:gridCol w="1645920"/>
                <a:gridCol w="36855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달성하려는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달성의 주체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수준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결과에 영향을 받는 이해관계자와 기대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시작 전에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성공했을 때 참이어야 하는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정상적으로 목표를 달성하는 본질적인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흐름과 별도로 적용되는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정말 필요한 경우 별도로 정의하는 예외 처리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 등 별도의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명세는 서식을 채우기 위한 문서가 아니라, </a:t>
            </a:r>
            <a:r>
              <a:rPr sz="1800" b="1">
                <a:solidFill>
                  <a:srgbClr val="000000"/>
                </a:solidFill>
                <a:latin typeface="맑은 고딕"/>
                <a:ea typeface="맑은 고딕"/>
              </a:rPr>
              <a:t>목표·조건·행위·결과를 명확히 해 검토와 합의를 가능하게 하는 수단</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기본 이벤트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주문을 취소한다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결제 완료·배송 전 전체 취소</a:t>
            </a:r>
            <a:r>
              <a:rPr sz="1600" b="0">
                <a:solidFill>
                  <a:srgbClr val="000000"/>
                </a:solidFill>
                <a:latin typeface="맑은 고딕"/>
                <a:ea typeface="맑은 고딕"/>
              </a:rPr>
              <a:t>가 허용되고 전액 환불되는 성공 경로다.</a:t>
            </a:r>
          </a:p>
          <a:p>
            <a:pPr lvl="3" marL="1077913" indent="-354013">
              <a:spcBef>
                <a:spcPts val="600"/>
              </a:spcBef>
              <a:spcAft>
                <a:spcPts val="600"/>
              </a:spcAft>
              <a:buNone/>
            </a:pPr>
            <a:r>
              <a:rPr sz="1600" b="0">
                <a:solidFill>
                  <a:srgbClr val="000000"/>
                </a:solidFill>
                <a:latin typeface="맑은 고딕"/>
                <a:ea typeface="맑은 고딕"/>
              </a:rPr>
              <a:t>1. 고객이 주문을 취소한다.</a:t>
            </a:r>
          </a:p>
          <a:p>
            <a:pPr lvl="3" marL="1077913" indent="-354013">
              <a:spcBef>
                <a:spcPts val="600"/>
              </a:spcBef>
              <a:spcAft>
                <a:spcPts val="600"/>
              </a:spcAft>
              <a:buNone/>
            </a:pPr>
            <a:r>
              <a:rPr sz="1600" b="0">
                <a:solidFill>
                  <a:srgbClr val="000000"/>
                </a:solidFill>
                <a:latin typeface="맑은 고딕"/>
                <a:ea typeface="맑은 고딕"/>
              </a:rPr>
              <a:t>2. 환불이 처리된다.</a:t>
            </a:r>
          </a:p>
          <a:p>
            <a:pPr lvl="3" marL="1077913" indent="-354013">
              <a:spcBef>
                <a:spcPts val="600"/>
              </a:spcBef>
              <a:spcAft>
                <a:spcPts val="600"/>
              </a:spcAft>
              <a:buNone/>
            </a:pPr>
            <a:r>
              <a:rPr sz="1600" b="0">
                <a:solidFill>
                  <a:srgbClr val="000000"/>
                </a:solidFill>
                <a:latin typeface="맑은 고딕"/>
                <a:ea typeface="맑은 고딕"/>
              </a:rPr>
              <a:t>3. 고객은 주문 취소 결과를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작성 원칙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액터의 </a:t>
            </a:r>
            <a:r>
              <a:rPr sz="1600" b="1">
                <a:solidFill>
                  <a:srgbClr val="000000"/>
                </a:solidFill>
                <a:latin typeface="맑은 고딕"/>
                <a:ea typeface="맑은 고딕"/>
              </a:rPr>
              <a:t>목표와 의도</a:t>
            </a:r>
            <a:r>
              <a:rPr sz="1600" b="0">
                <a:solidFill>
                  <a:srgbClr val="000000"/>
                </a:solidFill>
                <a:latin typeface="맑은 고딕"/>
                <a:ea typeface="맑은 고딕"/>
              </a:rPr>
              <a:t>를 중심으로 </a:t>
            </a:r>
            <a:r>
              <a:rPr sz="1600" b="1">
                <a:solidFill>
                  <a:srgbClr val="000000"/>
                </a:solidFill>
                <a:latin typeface="맑은 고딕"/>
                <a:ea typeface="맑은 고딕"/>
              </a:rPr>
              <a:t>본질적인 행위만</a:t>
            </a:r>
            <a:r>
              <a:rPr sz="1600" b="0">
                <a:solidFill>
                  <a:srgbClr val="000000"/>
                </a:solidFill>
                <a:latin typeface="맑은 고딕"/>
                <a:ea typeface="맑은 고딕"/>
              </a:rPr>
              <a:t>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동일한 의미·결과의 반복이나 화면 클릭 순서를 쓰지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 없는 </a:t>
            </a:r>
            <a:r>
              <a:rPr sz="1600" b="0">
                <a:solidFill>
                  <a:srgbClr val="000000"/>
                </a:solidFill>
                <a:latin typeface="맑은 고딕"/>
                <a:ea typeface="맑은 고딕"/>
              </a:rPr>
              <a:t>요청→처리</a:t>
            </a:r>
            <a:r>
              <a:rPr sz="1600" b="0">
                <a:solidFill>
                  <a:srgbClr val="000000"/>
                </a:solidFill>
                <a:latin typeface="맑은 고딕"/>
                <a:ea typeface="맑은 고딕"/>
              </a:rPr>
              <a:t> 반복은 피하되 필요한 의도·응답은 표현한다.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내부 구현의 확인·계산·저장·호출은 나열하지 않되, 경로를 바꾸는 판단은 외부 행위로 표현한다.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설계 내용</a:t>
            </a:r>
            <a:r>
              <a:rPr sz="1200" b="0">
                <a:solidFill>
                  <a:srgbClr val="000000"/>
                </a:solidFill>
                <a:latin typeface="맑은 고딕"/>
                <a:ea typeface="맑은 고딕"/>
              </a:rPr>
              <a:t>(클래스·객체·메서드)</a:t>
            </a:r>
            <a:r>
              <a:rPr sz="1600" b="0">
                <a:solidFill>
                  <a:srgbClr val="000000"/>
                </a:solidFill>
                <a:latin typeface="맑은 고딕"/>
                <a:ea typeface="맑은 고딕"/>
              </a:rPr>
              <a:t>이나 가능한 모든 경우를 넣지 않는다.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규칙·제약·예외 정책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이벤트 흐름에 가능한 모든 조건과 실패를 나열하지 않는다. </a:t>
            </a:r>
            <a:r>
              <a:rPr sz="1800" b="1">
                <a:solidFill>
                  <a:srgbClr val="000000"/>
                </a:solidFill>
                <a:latin typeface="맑은 고딕"/>
                <a:ea typeface="맑은 고딕"/>
              </a:rPr>
              <a:t>규칙·제약·예외 정책은 필요할 때 별도로 분리해 기술</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비즈니스 규칙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이후에는 주문을 취소할 수 없다.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특정 상품은 취소가 제한될 수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부분 취소의 허용 조건을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완료 이후 취소는 환불 처리와 연결되어야 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법률·계약·정책상 취소 제한이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정책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정말 중요한 경우에만 별도로 정의한다.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예를 들어 환불 실패가 핵심 업무 위험이라면 </a:t>
            </a:r>
            <a:r>
              <a:rPr sz="1600" b="1">
                <a:solidFill>
                  <a:srgbClr val="000000"/>
                </a:solidFill>
                <a:latin typeface="맑은 고딕"/>
                <a:ea typeface="맑은 고딕"/>
              </a:rPr>
              <a:t>환불 실패 정책</a:t>
            </a:r>
            <a:r>
              <a:rPr sz="1600" b="0">
                <a:solidFill>
                  <a:srgbClr val="000000"/>
                </a:solidFill>
                <a:latin typeface="맑은 고딕"/>
                <a:ea typeface="맑은 고딕"/>
              </a:rPr>
              <a:t>으로 별도 정의할 수 있다.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이벤트 흐름을 이용한 요구 분석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중요한 질문을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"20. 기본 이벤트 흐름"을 출발점으로 적용 범위를 넓혀 보며 질문한다. 예시의 전제가 실제 요구 전체를 대표한다고 가정하지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취소할 수 있는 범위는 어디까지인가?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환불은 항상 필요한가?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부분 취소가 필요한가?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고객에게 어떤 취소 결과를 제공해야 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취소가 다른 업무에 어떤 영향을 주는가?</a:t>
            </a:r>
          </a:p>
        </p:txBody>
      </p:sp>
      <p:pic>
        <p:nvPicPr>
          <p:cNvPr id="9" name="mermaid Diagram 3"/>
          <p:cNvPicPr>
            <a:picLocks noChangeAspect="1"/>
          </p:cNvPicPr>
          <p:nvPr/>
        </p:nvPicPr>
        <p:blipFill>
          <a:blip r:embed="mermaidImage3"/>
          <a:stretch>
            <a:fillRect/>
          </a:stretch>
        </p:blipFill>
        <p:spPr>
          <a:xfrm>
            <a:off x="1149350" y="4599639"/>
            <a:ext cx="6845300" cy="5937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유스케이스 상세화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8055" y="2894516"/>
          <a:ext cx="7734300" cy="3873500"/>
        </p:xfrm>
        <a:graphic>
          <a:graphicData uri="http://schemas.openxmlformats.org/drawingml/2006/table">
            <a:tbl>
              <a:tblPr/>
              <a:tblGrid>
                <a:gridCol w="1534160"/>
                <a:gridCol w="62001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소유의 결제 완료 주문이며 배송 시작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 환불 처리 → 결과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 상태이고, 결제 금액 전액의 환불이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 취소 결과 통지 시간, 권한 확인 기준, 결과 확인 방식에 대한 요구를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3279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상세화는 문서량을 늘리는 작업이 아니라, </a:t>
            </a:r>
            <a:r>
              <a:rPr sz="1800" b="1">
                <a:solidFill>
                  <a:srgbClr val="000000"/>
                </a:solidFill>
                <a:latin typeface="맑은 고딕"/>
                <a:ea typeface="맑은 고딕"/>
              </a:rPr>
              <a:t>조건·규칙·결과의 의미를 필요한 수준까지 명확히 하는 작업</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취소한다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"20. 기본 이벤트 흐름"과 동일한 결제 완료·배송 시작 전 주문의 전체 취소 성공 경로를 상세화한 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유스케이스 상세화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기본 흐름과 다른 경로를 구분하는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미결제 주문도 취소 대상이면 환불 없이 결과를 확인하는 대안 흐름을 추가할 수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 일반 취소 불가</a:t>
            </a:r>
            <a:r>
              <a:rPr sz="1600" b="0">
                <a:solidFill>
                  <a:srgbClr val="000000"/>
                </a:solidFill>
                <a:latin typeface="맑은 고딕"/>
                <a:ea typeface="맑은 고딕"/>
              </a:rPr>
              <a:t>는 흐름이 아니라 규칙으로 기록한다.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 있는 예외 흐름의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 예외 설명에만 추가한 교육용 가정</a:t>
            </a:r>
            <a:r>
              <a:rPr sz="1600" b="0">
                <a:solidFill>
                  <a:srgbClr val="000000"/>
                </a:solidFill>
                <a:latin typeface="맑은 고딕"/>
                <a:ea typeface="맑은 고딕"/>
              </a:rPr>
              <a:t>이다: 취소 처리 중 환불이 실패하면 완료로 안내하지 않고, 미완료 결과와 후속 문의 방법을 안내한다.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환불이 완료되지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고객에게 취소·환불이 완료되지 않았음과 후속 문의 방법이 안내된다.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 경로는 성공 사후조건을 충족하지 않은 채 종료한다.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예외 정책</a:t>
            </a:r>
            <a:r>
              <a:rPr sz="1600" b="0">
                <a:solidFill>
                  <a:srgbClr val="000000"/>
                </a:solidFill>
                <a:latin typeface="맑은 고딕"/>
                <a:ea typeface="맑은 고딕"/>
              </a:rPr>
              <a:t>은 실패 시 지켜야 할 원칙이고, </a:t>
            </a:r>
            <a:r>
              <a:rPr sz="1600" b="1">
                <a:solidFill>
                  <a:srgbClr val="000000"/>
                </a:solidFill>
                <a:latin typeface="맑은 고딕"/>
                <a:ea typeface="맑은 고딕"/>
              </a:rPr>
              <a:t>예외 흐름</a:t>
            </a:r>
            <a:r>
              <a:rPr sz="1600" b="0">
                <a:solidFill>
                  <a:srgbClr val="000000"/>
                </a:solidFill>
                <a:latin typeface="맑은 고딕"/>
                <a:ea typeface="맑은 고딕"/>
              </a:rPr>
              <a:t>은 그때 달라지는 외부 행위·결과다. 내부 재시도 코드까지 나열하지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남길 주문 상태, 재시도·보상·문의 담당자는 추가 정책 확인 대상이다.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4790527"/>
                <a:gridCol w="2626273"/>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지점에서 필요한 별도 유스케이스의 행위를 삽입한다. 내부 함수라는 이유로 분리하지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열린 화살촉과 &lt;&lt;include&gt;&gt;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독립적으로 의미가 있는 기본 유스케이스의 확장 지점에 행위를 삽입한다. 조건이 지정되면 그 조건을 따른다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열린 화살촉과 &lt;&lt;extend&gt;&gt;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 분류 관계다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속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결제를 확인한다</a:t>
            </a:r>
            <a:r>
              <a:rPr sz="1600" b="0">
                <a:solidFill>
                  <a:srgbClr val="000000"/>
                </a:solidFill>
                <a:latin typeface="맑은 고딕"/>
                <a:ea typeface="맑은 고딕"/>
              </a:rPr>
              <a:t>가 포함으로 분리되는 이유는 내부 함수가 아니라 </a:t>
            </a:r>
            <a:r>
              <a:rPr sz="1600" b="1">
                <a:solidFill>
                  <a:srgbClr val="000000"/>
                </a:solidFill>
                <a:latin typeface="맑은 고딕"/>
                <a:ea typeface="맑은 고딕"/>
              </a:rPr>
              <a:t>외부 결제 시스템과의 상호작용</a:t>
            </a:r>
            <a:r>
              <a:rPr sz="1600" b="0">
                <a:solidFill>
                  <a:srgbClr val="000000"/>
                </a:solidFill>
                <a:latin typeface="맑은 고딕"/>
                <a:ea typeface="맑은 고딕"/>
              </a:rPr>
              <a:t>이기 때문이다.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주문한다</a:t>
            </a:r>
            <a:r>
              <a:rPr sz="1600" b="0">
                <a:solidFill>
                  <a:srgbClr val="000000"/>
                </a:solidFill>
                <a:latin typeface="맑은 고딕"/>
                <a:ea typeface="맑은 고딕"/>
              </a:rPr>
              <a:t>는 결제 확인 행위를 포함해야 완료된다.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결제 확인은 외부 </a:t>
            </a:r>
            <a:r>
              <a:rPr sz="1400" b="0">
                <a:solidFill>
                  <a:srgbClr val="000000"/>
                </a:solidFill>
                <a:latin typeface="맑은 고딕"/>
                <a:ea typeface="맑은 고딕"/>
              </a:rPr>
              <a:t>결제 시스템</a:t>
            </a:r>
            <a:r>
              <a:rPr sz="1400" b="0">
                <a:solidFill>
                  <a:srgbClr val="000000"/>
                </a:solidFill>
                <a:latin typeface="맑은 고딕"/>
                <a:ea typeface="맑은 고딕"/>
              </a:rPr>
              <a:t> 액터와 상호작용한다.</a:t>
            </a:r>
          </a:p>
        </p:txBody>
      </p:sp>
      <p:pic>
        <p:nvPicPr>
          <p:cNvPr id="9" name="plantuml Diagram 5"/>
          <p:cNvPicPr>
            <a:picLocks noChangeAspect="1"/>
          </p:cNvPicPr>
          <p:nvPr/>
        </p:nvPicPr>
        <p:blipFill>
          <a:blip r:embed="plantumlImage5"/>
          <a:stretch>
            <a:fillRect/>
          </a:stretch>
        </p:blipFill>
        <p:spPr>
          <a:xfrm>
            <a:off x="3406042" y="3602247"/>
            <a:ext cx="2331915" cy="24125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확장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다음은 표기 설명을 위한 </a:t>
            </a:r>
            <a:r>
              <a:rPr sz="1600" b="1">
                <a:solidFill>
                  <a:srgbClr val="000000"/>
                </a:solidFill>
                <a:latin typeface="맑은 고딕"/>
                <a:ea typeface="맑은 고딕"/>
              </a:rPr>
              <a:t>교육용 가정</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주문한다</a:t>
            </a:r>
            <a:r>
              <a:rPr sz="1600" b="0">
                <a:solidFill>
                  <a:srgbClr val="000000"/>
                </a:solidFill>
                <a:latin typeface="맑은 고딕"/>
                <a:ea typeface="맑은 고딕"/>
              </a:rPr>
              <a:t>는 쿠폰 없이도 완료된다.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유효한 쿠폰 요청이 있으면 </a:t>
            </a:r>
            <a:r>
              <a:rPr sz="1400" b="0">
                <a:solidFill>
                  <a:srgbClr val="000000"/>
                </a:solidFill>
                <a:latin typeface="맑은 고딕"/>
                <a:ea typeface="맑은 고딕"/>
              </a:rPr>
              <a:t>최종 금액 확정 전</a:t>
            </a:r>
            <a:r>
              <a:rPr sz="1400" b="0">
                <a:solidFill>
                  <a:srgbClr val="000000"/>
                </a:solidFill>
                <a:latin typeface="맑은 고딕"/>
                <a:ea typeface="맑은 고딕"/>
              </a:rPr>
              <a:t>에 쿠폰을 적용한다.</a:t>
            </a:r>
          </a:p>
        </p:txBody>
      </p:sp>
      <p:pic>
        <p:nvPicPr>
          <p:cNvPr id="9" name="plantuml Diagram 6"/>
          <p:cNvPicPr>
            <a:picLocks noChangeAspect="1"/>
          </p:cNvPicPr>
          <p:nvPr/>
        </p:nvPicPr>
        <p:blipFill>
          <a:blip r:embed="plantumlImage6"/>
          <a:stretch>
            <a:fillRect/>
          </a:stretch>
        </p:blipFill>
        <p:spPr>
          <a:xfrm>
            <a:off x="2720975" y="3569471"/>
            <a:ext cx="3702050" cy="21707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일반화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의미·행위를 모두 이어받을 때만 일반화를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기업 고객·VIP 고객이 </a:t>
            </a:r>
            <a:r>
              <a:rPr sz="1600" b="0">
                <a:solidFill>
                  <a:srgbClr val="000000"/>
                </a:solidFill>
                <a:latin typeface="맑은 고딕"/>
                <a:ea typeface="맑은 고딕"/>
              </a:rPr>
              <a:t>주문한다</a:t>
            </a:r>
            <a:r>
              <a:rPr sz="1600" b="0">
                <a:solidFill>
                  <a:srgbClr val="000000"/>
                </a:solidFill>
                <a:latin typeface="맑은 고딕"/>
                <a:ea typeface="맑은 고딕"/>
              </a:rPr>
              <a:t>를 모두 이어받는다고 가정한다.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이후 한도·혜택 등 요건이 붙을 수 있다.</a:t>
            </a:r>
          </a:p>
        </p:txBody>
      </p:sp>
      <p:pic>
        <p:nvPicPr>
          <p:cNvPr id="9" name="plantuml Diagram 7"/>
          <p:cNvPicPr>
            <a:picLocks noChangeAspect="1"/>
          </p:cNvPicPr>
          <p:nvPr/>
        </p:nvPicPr>
        <p:blipFill>
          <a:blip r:embed="plantumlImage7"/>
          <a:stretch>
            <a:fillRect/>
          </a:stretch>
        </p:blipFill>
        <p:spPr>
          <a:xfrm>
            <a:off x="3537683" y="3521113"/>
            <a:ext cx="2068635" cy="2267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잘못된 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피해야 할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관리 → 주문 등록 → 주문 조회 → 주문 수정 → 주문 삭제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로그인 → 상품 조회 → 상품 선택 → 결제 → 완료</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일반 화살표로 유스케이스 호출 순서를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화면 메뉴 구조를 그대로 유스케이스로 표현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내부 프로그램 기능을 유스케이스로 세분화</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공통 코드라는 이유만으로 </a:t>
            </a:r>
            <a:r>
              <a:rPr sz="1600" b="0">
                <a:solidFill>
                  <a:srgbClr val="000000"/>
                </a:solidFill>
                <a:latin typeface="맑은 고딕"/>
                <a:ea typeface="맑은 고딕"/>
              </a:rPr>
              <a:t>&lt;&lt;include&gt;&gt;</a:t>
            </a:r>
            <a:r>
              <a:rPr sz="1600" b="0">
                <a:solidFill>
                  <a:srgbClr val="000000"/>
                </a:solidFill>
                <a:latin typeface="맑은 고딕"/>
                <a:ea typeface="맑은 고딕"/>
              </a:rPr>
              <a:t>를 사용</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선택 기능이라는 이유만으로 무조건 </a:t>
            </a:r>
            <a:r>
              <a:rPr sz="1600" b="0">
                <a:solidFill>
                  <a:srgbClr val="000000"/>
                </a:solidFill>
                <a:latin typeface="맑은 고딕"/>
                <a:ea typeface="맑은 고딕"/>
              </a:rPr>
              <a:t>&lt;&lt;extend&gt;&gt;</a:t>
            </a:r>
            <a:r>
              <a:rPr sz="1600" b="0">
                <a:solidFill>
                  <a:srgbClr val="000000"/>
                </a:solidFill>
                <a:latin typeface="맑은 고딕"/>
                <a:ea typeface="맑은 고딕"/>
              </a:rPr>
              <a:t>를 사용</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시스템 오퍼레이션과 계약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시스템 경계를 넘어 들어오는 </a:t>
            </a:r>
            <a:r>
              <a:rPr sz="1800" b="1">
                <a:solidFill>
                  <a:srgbClr val="000000"/>
                </a:solidFill>
                <a:latin typeface="맑은 고딕"/>
                <a:ea typeface="맑은 고딕"/>
              </a:rPr>
              <a:t>의미 있는 이벤트에 응답하는 시스템의 책임</a:t>
            </a:r>
            <a:r>
              <a:rPr sz="1800" b="0">
                <a:solidFill>
                  <a:srgbClr val="000000"/>
                </a:solidFill>
                <a:latin typeface="맑은 고딕"/>
                <a:ea typeface="맑은 고딕"/>
              </a:rPr>
              <a:t>이다. 내부 객체의 메서드나 API를 먼저 정하는 것이 아니며, 유스케이스 하나에는 여러 오퍼레이션이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식별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경계를 넘는 업무 의미의 이벤트를 찾는다.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배송지 변경</a:t>
            </a:r>
            <a:r>
              <a:rPr sz="1600" b="0">
                <a:solidFill>
                  <a:srgbClr val="000000"/>
                </a:solidFill>
                <a:latin typeface="맑은 고딕"/>
                <a:ea typeface="맑은 고딕"/>
              </a:rPr>
              <a:t>처럼 의미와 결과를 표현하며, 화면 조작·내부 함수 호출과 구분한다.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조건·상태 변화가 중요한 오퍼레이션에는 계약을 작성한다.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시스템 오퍼레이션과 계약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46595" y="2754313"/>
          <a:ext cx="8237220" cy="3873500"/>
        </p:xfrm>
        <a:graphic>
          <a:graphicData uri="http://schemas.openxmlformats.org/drawingml/2006/table">
            <a:tbl>
              <a:tblPr/>
              <a:tblGrid>
                <a:gridCol w="1450340"/>
                <a:gridCol w="67868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변경할 주문과 새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 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주문의 배송지가 지정한 새 주소다. 주문 식별 정보·상품·결제 금액은 변경 전과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변경된 배송지를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배송지 변경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 소유의 출고 전 주문으로 범위를 한정한다. 새 주소는 유효하며 배송비·결제 금액에 영향을 주지 않는다고 가정한다. 아래 </a:t>
            </a:r>
            <a:r>
              <a:rPr sz="1600" b="1">
                <a:solidFill>
                  <a:srgbClr val="000000"/>
                </a:solidFill>
                <a:latin typeface="맑은 고딕"/>
                <a:ea typeface="맑은 고딕"/>
              </a:rPr>
              <a:t>성공 사후조건</a:t>
            </a:r>
            <a:r>
              <a:rPr sz="1600" b="0">
                <a:solidFill>
                  <a:srgbClr val="000000"/>
                </a:solidFill>
                <a:latin typeface="맑은 고딕"/>
                <a:ea typeface="맑은 고딕"/>
              </a:rPr>
              <a:t>은 </a:t>
            </a:r>
            <a:r>
              <a:rPr sz="1600" b="0">
                <a:solidFill>
                  <a:srgbClr val="000000"/>
                </a:solidFill>
                <a:latin typeface="맑은 고딕"/>
                <a:ea typeface="맑은 고딕"/>
              </a:rPr>
              <a:t>주소 검증 → DB 저장 → 응답</a:t>
            </a:r>
            <a:r>
              <a:rPr sz="1600" b="0">
                <a:solidFill>
                  <a:srgbClr val="000000"/>
                </a:solidFill>
                <a:latin typeface="맑은 고딕"/>
                <a:ea typeface="맑은 고딕"/>
              </a:rPr>
              <a:t> 같은 처리 순서가 아니라 성공 후 참이어야 하는 상태이며, 이 표는 성공 계약만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800" b="1">
                <a:solidFill>
                  <a:srgbClr val="000000"/>
                </a:solidFill>
                <a:latin typeface="맑은 고딕"/>
                <a:ea typeface="맑은 고딕"/>
              </a:rPr>
              <a:t>행위 관점</a:t>
            </a:r>
            <a:r>
              <a:rPr sz="1800" b="0">
                <a:solidFill>
                  <a:srgbClr val="000000"/>
                </a:solidFill>
                <a:latin typeface="맑은 고딕"/>
                <a:ea typeface="맑은 고딕"/>
              </a:rPr>
              <a:t>)만으로는 부족하다. 정적·동적 모델이 </a:t>
            </a:r>
            <a:r>
              <a:rPr sz="1800" b="1">
                <a:solidFill>
                  <a:srgbClr val="000000"/>
                </a:solidFill>
                <a:latin typeface="맑은 고딕"/>
                <a:ea typeface="맑은 고딕"/>
              </a:rPr>
              <a:t>문제영역의 의미·관계·상태 변화</a:t>
            </a:r>
            <a:r>
              <a:rPr sz="1800" b="0">
                <a:solidFill>
                  <a:srgbClr val="000000"/>
                </a:solidFill>
                <a:latin typeface="맑은 고딕"/>
                <a:ea typeface="맑은 고딕"/>
              </a:rPr>
              <a:t>를 검토해 경계와 객체 책임을 결정한다.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모델이 답하려는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정적 모델은 문제영역의 의미·관계·제약을, 동적 모델은 상호작용과 상태 변화의 사건·규칙을 다룬다.</a:t>
            </a:r>
          </a:p>
        </p:txBody>
      </p:sp>
      <p:pic>
        <p:nvPicPr>
          <p:cNvPr id="9" name="mermaid Diagram 4"/>
          <p:cNvPicPr>
            <a:picLocks noChangeAspect="1"/>
          </p:cNvPicPr>
          <p:nvPr/>
        </p:nvPicPr>
        <p:blipFill>
          <a:blip r:embed="mermaidImage4"/>
          <a:stretch>
            <a:fillRect/>
          </a:stretch>
        </p:blipFill>
        <p:spPr>
          <a:xfrm>
            <a:off x="1149350" y="3771747"/>
            <a:ext cx="6845300" cy="11001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303439"/>
          <a:ext cx="7871460" cy="3873500"/>
        </p:xfrm>
        <a:graphic>
          <a:graphicData uri="http://schemas.openxmlformats.org/drawingml/2006/table">
            <a:tbl>
              <a:tblPr/>
              <a:tblGrid>
                <a:gridCol w="1087120"/>
                <a:gridCol w="3238500"/>
                <a:gridCol w="35458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"제품 품질 모델은 제품의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기준을 제공한다"</a:t>
            </a:r>
            <a:r>
              <a:rPr sz="1000" b="0">
                <a:solidFill>
                  <a:srgbClr val="000000"/>
                </a:solidFill>
                <a:latin typeface="맑은 고딕"/>
                <a:ea typeface="맑은 고딕"/>
              </a:rPr>
              <a:t>, </a:t>
            </a:r>
            <a:r>
              <a:rPr sz="1000" b="0">
                <a:solidFill>
                  <a:srgbClr val="000000"/>
                </a:solidFill>
                <a:latin typeface="맑은 고딕"/>
                <a:ea typeface="맑은 고딕"/>
              </a:rPr>
              <a:t>ISO/IEC 25010:2023,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표는 검토 질문을 만드는 교육 예시다. 근거 없이 측정 수치나 서비스 수준을 확정하지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와이어프레임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"26. 시스템 오퍼레이션과 계약"의 성공 계약을 검토하기 위한 화면 초안이다. 교육용 주소 A·B는 실제 주소가 아니다. 버튼·화면 구성은 해결책 후보이며 확정된 요구사항이 아니다.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정적 와이어프레임만으로 실제 처리나 성공을 검증할 수는 없다. 사용자에게 과업을 설명하게 하거나 조작 가능한 프로토타입으로 관찰한다.</a:t>
            </a:r>
          </a:p>
        </p:txBody>
      </p:sp>
      <p:pic>
        <p:nvPicPr>
          <p:cNvPr id="9" name="svg Diagram 1" descr="주문 상세와 배송지 변경 와이어프레임"/>
          <p:cNvPicPr>
            <a:picLocks noChangeAspect="1"/>
          </p:cNvPicPr>
          <p:nvPr/>
        </p:nvPicPr>
        <p:blipFill>
          <a:blip r:embed="svgImage1"/>
          <a:stretch>
            <a:fillRect/>
          </a:stretch>
        </p:blipFill>
        <p:spPr>
          <a:xfrm>
            <a:off x="2214563" y="3853792"/>
            <a:ext cx="4714875" cy="17811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확인할 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출고 직전 변경 가능 여부와 유효 주소 기준·오류 안내는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배송비 변동이나 이미 외부 배송 시스템에 전달된 경우는 어떻게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실패 시 기존 주소 유지 여부와 변경 완료 확인 방법은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관찰한 혼란·누락을 요구사항과 계약에 반영한다. 새 주소·배송비·실패 정책을 화면만 보고 임의로 결정하지 않는다.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사용자로서 나는 </a:t>
            </a:r>
            <a:r>
              <a:rPr sz="1600" b="0">
                <a:solidFill>
                  <a:srgbClr val="000000"/>
                </a:solidFill>
                <a:latin typeface="맑은 고딕"/>
                <a:ea typeface="맑은 고딕"/>
              </a:rPr>
              <a:t>&lt;목표&gt;</a:t>
            </a:r>
            <a:r>
              <a:rPr sz="1600" b="0">
                <a:solidFill>
                  <a:srgbClr val="000000"/>
                </a:solidFill>
                <a:latin typeface="맑은 고딕"/>
                <a:ea typeface="맑은 고딕"/>
              </a:rPr>
              <a:t>를 원한다. 왜냐하면 </a:t>
            </a:r>
            <a:r>
              <a:rPr sz="1600" b="0">
                <a:solidFill>
                  <a:srgbClr val="000000"/>
                </a:solidFill>
                <a:latin typeface="맑은 고딕"/>
                <a:ea typeface="맑은 고딕"/>
              </a:rPr>
              <a:t>&lt;가치&gt;</a:t>
            </a:r>
            <a:r>
              <a:rPr sz="1600" b="0">
                <a:solidFill>
                  <a:srgbClr val="000000"/>
                </a:solidFill>
                <a:latin typeface="맑은 고딕"/>
                <a:ea typeface="맑은 고딕"/>
              </a:rPr>
              <a:t>를 얻고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고객으로서 출고 전 배송지를 변경하고 싶다. 올바른 장소에서 상품을 받고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세부 내용은 대화와 인수 조건으로 구체화한다.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반복적인 개발과 우선순위 관리에 적합하다.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형식 문장 자체보다 </a:t>
            </a:r>
            <a:r>
              <a:rPr sz="1600" b="1">
                <a:solidFill>
                  <a:srgbClr val="000000"/>
                </a:solidFill>
                <a:latin typeface="맑은 고딕"/>
                <a:ea typeface="맑은 고딕"/>
              </a:rPr>
              <a:t>카드·대화·확인</a:t>
            </a:r>
            <a:r>
              <a:rPr sz="1600" b="0">
                <a:solidFill>
                  <a:srgbClr val="000000"/>
                </a:solidFill>
                <a:latin typeface="맑은 고딕"/>
                <a:ea typeface="맑은 고딕"/>
              </a:rPr>
              <a:t>이 중요하다. 위 문형은 표현 예이며 필수 표준 양식이 아니다.</a:t>
            </a:r>
          </a:p>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Ron Jeffries, 2001</a:t>
            </a:r>
          </a:p>
        </p:txBody>
      </p:sp>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1842998"/>
          <a:ext cx="4912360" cy="3873500"/>
        </p:xfrm>
        <a:graphic>
          <a:graphicData uri="http://schemas.openxmlformats.org/drawingml/2006/table">
            <a:tbl>
              <a:tblPr/>
              <a:tblGrid>
                <a:gridCol w="1729740"/>
                <a:gridCol w="31826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대화와 우선순위 결정에 유용하다. 전체 목표와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829198"/>
          <a:ext cx="4996180" cy="3873500"/>
        </p:xfrm>
        <a:graphic>
          <a:graphicData uri="http://schemas.openxmlformats.org/drawingml/2006/table">
            <a:tbl>
              <a:tblPr/>
              <a:tblGrid>
                <a:gridCol w="1226820"/>
                <a:gridCol w="376936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합의하고 검증과 연결하는 협업 방식</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 템플릿</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Given</a:t>
            </a:r>
            <a:r>
              <a:rPr sz="1600" b="0">
                <a:solidFill>
                  <a:srgbClr val="000000"/>
                </a:solidFill>
                <a:latin typeface="맑은 고딕"/>
                <a:ea typeface="맑은 고딕"/>
              </a:rPr>
              <a:t> —</a:t>
            </a:r>
            <a:r>
              <a:rPr sz="1400" b="0">
                <a:solidFill>
                  <a:srgbClr val="000000"/>
                </a:solidFill>
                <a:latin typeface="맑은 고딕"/>
                <a:ea typeface="맑은 고딕"/>
              </a:rPr>
              <a:t> 시작 조건: 어떤 상태·전제에서 시작하는가?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When</a:t>
            </a:r>
            <a:r>
              <a:rPr sz="1600" b="0">
                <a:solidFill>
                  <a:srgbClr val="000000"/>
                </a:solidFill>
                <a:latin typeface="맑은 고딕"/>
                <a:ea typeface="맑은 고딕"/>
              </a:rPr>
              <a:t> —</a:t>
            </a:r>
            <a:r>
              <a:rPr sz="1400" b="0">
                <a:solidFill>
                  <a:srgbClr val="000000"/>
                </a:solidFill>
                <a:latin typeface="맑은 고딕"/>
                <a:ea typeface="맑은 고딕"/>
              </a:rPr>
              <a:t> 행위: 액터가 무엇을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Then</a:t>
            </a:r>
            <a:r>
              <a:rPr sz="1600" b="0">
                <a:solidFill>
                  <a:srgbClr val="000000"/>
                </a:solidFill>
                <a:latin typeface="맑은 고딕"/>
                <a:ea typeface="맑은 고딕"/>
              </a:rPr>
              <a:t> —</a:t>
            </a:r>
            <a:r>
              <a:rPr sz="1400" b="0">
                <a:solidFill>
                  <a:srgbClr val="000000"/>
                </a:solidFill>
                <a:latin typeface="맑은 고딕"/>
                <a:ea typeface="맑은 고딕"/>
              </a:rPr>
              <a:t> 결과: 어떤 관찰 가능한 결과가 성립해야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문법만으로 완성되지 않는다. 규칙을 함께 발견하고 구현에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- 42 -</a:t>
            </a:r>
          </a:p>
        </p:txBody>
      </p:sp>
    </p:spTree>
    <p:extLst>
      <p:ext uri="{BB962C8B-B14F-4D97-AF65-F5344CB8AC3E}">
        <p14:creationId xmlns:p14="http://schemas.microsoft.com/office/powerpoint/2010/main" val="2789569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변경의 성공 예 </a:t>
            </a:r>
            <a:r>
              <a:rPr sz="1400" b="0">
                <a:solidFill>
                  <a:srgbClr val="000000"/>
                </a:solidFill>
                <a:latin typeface="맑은 고딕"/>
                <a:ea typeface="맑은 고딕"/>
              </a:rPr>
              <a:t>(Given-When-Then)</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"26. 시스템 오퍼레이션과 계약"의 전제</a:t>
            </a:r>
            <a:r>
              <a:rPr sz="1200" b="0">
                <a:solidFill>
                  <a:srgbClr val="000000"/>
                </a:solidFill>
                <a:latin typeface="맑은 고딕"/>
                <a:ea typeface="맑은 고딕"/>
              </a:rPr>
              <a:t>(출고 전)</a:t>
            </a:r>
            <a:r>
              <a:rPr sz="1600" b="0">
                <a:solidFill>
                  <a:srgbClr val="000000"/>
                </a:solidFill>
                <a:latin typeface="맑은 고딕"/>
                <a:ea typeface="맑은 고딕"/>
              </a:rPr>
              <a:t>를 사용한다.</a:t>
            </a:r>
          </a:p>
          <a:p>
            <a:pPr lvl="3" marL="1077913" indent="-354013">
              <a:spcBef>
                <a:spcPts val="600"/>
              </a:spcBef>
              <a:spcAft>
                <a:spcPts val="600"/>
              </a:spcAft>
              <a:buNone/>
            </a:pPr>
            <a:r>
              <a:rPr sz="1600" b="1">
                <a:solidFill>
                  <a:srgbClr val="000000"/>
                </a:solidFill>
                <a:latin typeface="맑은 고딕"/>
                <a:ea typeface="맑은 고딕"/>
              </a:rPr>
              <a:t>Given</a:t>
            </a:r>
            <a:r>
              <a:rPr sz="1600" b="0">
                <a:solidFill>
                  <a:srgbClr val="000000"/>
                </a:solidFill>
                <a:latin typeface="맑은 고딕"/>
                <a:ea typeface="맑은 고딕"/>
              </a:rPr>
              <a:t> 고객 소유의 주문 A가 출고 전이고 배송지는 주소 A, 새 주소 B는 유효하다.</a:t>
            </a:r>
          </a:p>
          <a:p>
            <a:pPr lvl="3" marL="1077913" indent="-354013">
              <a:spcBef>
                <a:spcPts val="600"/>
              </a:spcBef>
              <a:spcAft>
                <a:spcPts val="600"/>
              </a:spcAft>
              <a:buNone/>
            </a:pPr>
            <a:r>
              <a:rPr sz="1600" b="1">
                <a:solidFill>
                  <a:srgbClr val="000000"/>
                </a:solidFill>
                <a:latin typeface="맑은 고딕"/>
                <a:ea typeface="맑은 고딕"/>
              </a:rPr>
              <a:t>When</a:t>
            </a:r>
            <a:r>
              <a:rPr sz="1600" b="0">
                <a:solidFill>
                  <a:srgbClr val="000000"/>
                </a:solidFill>
                <a:latin typeface="맑은 고딕"/>
                <a:ea typeface="맑은 고딕"/>
              </a:rPr>
              <a:t> 고객이 주문 A의 배송지를 주소 B로 변경한다.</a:t>
            </a:r>
          </a:p>
          <a:p>
            <a:pPr lvl="3" marL="1077913" indent="-354013">
              <a:spcBef>
                <a:spcPts val="600"/>
              </a:spcBef>
              <a:spcAft>
                <a:spcPts val="600"/>
              </a:spcAft>
              <a:buNone/>
            </a:pPr>
            <a:r>
              <a:rPr sz="1600" b="1">
                <a:solidFill>
                  <a:srgbClr val="000000"/>
                </a:solidFill>
                <a:latin typeface="맑은 고딕"/>
                <a:ea typeface="맑은 고딕"/>
              </a:rPr>
              <a:t>Then</a:t>
            </a:r>
            <a:r>
              <a:rPr sz="1600" b="0">
                <a:solidFill>
                  <a:srgbClr val="000000"/>
                </a:solidFill>
                <a:latin typeface="맑은 고딕"/>
                <a:ea typeface="맑은 고딕"/>
              </a:rPr>
              <a:t> 주문 A의 배송지는 주소 B이고, 주문 식별 정보·상품·결제 금액은 변경 전과 같다.</a:t>
            </a:r>
          </a:p>
        </p:txBody>
      </p:sp>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1842998"/>
          <a:ext cx="4688840" cy="3873500"/>
        </p:xfrm>
        <a:graphic>
          <a:graphicData uri="http://schemas.openxmlformats.org/drawingml/2006/table">
            <a:tbl>
              <a:tblPr/>
              <a:tblGrid>
                <a:gridCol w="2092960"/>
                <a:gridCol w="259588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구체적으로 확인하는 데 유용하지만 목표와 요구사항 구조 전체를 대체하지는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357073"/>
          <a:ext cx="5052060" cy="3873500"/>
        </p:xfrm>
        <a:graphic>
          <a:graphicData uri="http://schemas.openxmlformats.org/drawingml/2006/table">
            <a:tbl>
              <a:tblPr/>
              <a:tblGrid>
                <a:gridCol w="3322320"/>
                <a:gridCol w="172974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유스케이스·사용자 스토리·행위 주도 개발을 반드시 순서대로 도입할 필요는 없다. 일부 목적이 겹치지만 강조점이 다르다. </a:t>
            </a:r>
            <a:r>
              <a:rPr sz="1800" b="1">
                <a:solidFill>
                  <a:srgbClr val="000000"/>
                </a:solidFill>
                <a:latin typeface="맑은 고딕"/>
                <a:ea typeface="맑은 고딕"/>
              </a:rPr>
              <a:t>사용자 목표·작은 가치 단위·구체적인 행위와 검증</a:t>
            </a:r>
            <a:r>
              <a:rPr sz="1800" b="0">
                <a:solidFill>
                  <a:srgbClr val="000000"/>
                </a:solidFill>
                <a:latin typeface="맑은 고딕"/>
                <a:ea typeface="맑은 고딕"/>
              </a:rPr>
              <a:t> 중 필요한 관점에 맞춰 선택하거나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pic>
        <p:nvPicPr>
          <p:cNvPr id="14" name="mermaid Diagram 5"/>
          <p:cNvPicPr>
            <a:picLocks noChangeAspect="1"/>
          </p:cNvPicPr>
          <p:nvPr/>
        </p:nvPicPr>
        <p:blipFill>
          <a:blip r:embed="mermaidImage5"/>
          <a:stretch>
            <a:fillRect/>
          </a:stretch>
        </p:blipFill>
        <p:spPr>
          <a:xfrm>
            <a:off x="2439146" y="3824705"/>
            <a:ext cx="4252119" cy="242728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35.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수준에서 확인할 수 있는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구현·검증 가능한가?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명확·완전·일관적인가?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확인해야 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실제로 사용하며 문제를 해결하는가?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기대한 가치와 예상 못한 문제가 있는가?</a:t>
            </a:r>
          </a:p>
        </p:txBody>
      </p:sp>
      <p:pic>
        <p:nvPicPr>
          <p:cNvPr id="9" name="mermaid Diagram 6"/>
          <p:cNvPicPr>
            <a:picLocks noChangeAspect="1"/>
          </p:cNvPicPr>
          <p:nvPr/>
        </p:nvPicPr>
        <p:blipFill>
          <a:blip r:embed="mermaidImage6"/>
          <a:stretch>
            <a:fillRect/>
          </a:stretch>
        </p:blipFill>
        <p:spPr>
          <a:xfrm>
            <a:off x="1808559" y="4147408"/>
            <a:ext cx="5526881" cy="11263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36.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 대상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기준선, 변경, 우선순위,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버전, 의존성, 영향분석, 추적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무엇이 언제·왜 바뀌었고 무엇에 영향을 주는가?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누가 결정했는가?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관련 요구·설계·코드·테스트는 무엇인가?</a:t>
            </a:r>
          </a:p>
        </p:txBody>
      </p:sp>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37.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요구와 코드를 일대일 대응시키지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근거·영향을 기록하고 필요하면 기준선을 갱신한다.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pic>
        <p:nvPicPr>
          <p:cNvPr id="9" name="mermaid Diagram 7"/>
          <p:cNvPicPr>
            <a:picLocks noChangeAspect="1"/>
          </p:cNvPicPr>
          <p:nvPr/>
        </p:nvPicPr>
        <p:blipFill>
          <a:blip r:embed="mermaidImage7"/>
          <a:stretch>
            <a:fillRect/>
          </a:stretch>
        </p:blipFill>
        <p:spPr>
          <a:xfrm>
            <a:off x="1149350" y="4500350"/>
            <a:ext cx="6845300" cy="7246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38.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pic>
        <p:nvPicPr>
          <p:cNvPr id="9" name="mermaid Diagram 8"/>
          <p:cNvPicPr>
            <a:picLocks noChangeAspect="1"/>
          </p:cNvPicPr>
          <p:nvPr/>
        </p:nvPicPr>
        <p:blipFill>
          <a:blip r:embed="mermaidImage8"/>
          <a:stretch>
            <a:fillRect/>
          </a:stretch>
        </p:blipFill>
        <p:spPr>
          <a:xfrm>
            <a:off x="1149350" y="3557333"/>
            <a:ext cx="6845300" cy="7683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실습 — 모델로 바꾸기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요청된 버튼을 그대로 유스케이스로 삼지 않고, 문제·요구·제약·목표·시스템 책임을 구분해 요구 모델을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“정기배송 고객에게 다음 배송을 건너뛸 수 있는 버튼을 만들어 주세요.” </a:t>
            </a:r>
            <a:r>
              <a:rPr sz="1400" b="0">
                <a:solidFill>
                  <a:srgbClr val="000000"/>
                </a:solidFill>
                <a:latin typeface="맑은 고딕"/>
                <a:ea typeface="맑은 고딕"/>
              </a:rPr>
              <a:t>(조건: 48시간 전까지만 가능, 연속 2회 초과 불가, 결제 승인 건 별도 처리, 다음 배송일 안내 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p>
          <a:p>
            <a:pPr lvl="3" marL="1077913" indent="-354013">
              <a:spcBef>
                <a:spcPts val="600"/>
              </a:spcBef>
              <a:spcAft>
                <a:spcPts val="600"/>
              </a:spcAft>
              <a:buNone/>
            </a:pPr>
            <a:r>
              <a:rPr sz="1200" b="0">
                <a:solidFill>
                  <a:srgbClr val="000000"/>
                </a:solidFill>
                <a:latin typeface="맑은 고딕"/>
                <a:ea typeface="맑은 고딕"/>
              </a:rPr>
              <a:t>(1)</a:t>
            </a:r>
            <a:r>
              <a:rPr sz="1600" b="0">
                <a:solidFill>
                  <a:srgbClr val="000000"/>
                </a:solidFill>
                <a:latin typeface="맑은 고딕"/>
                <a:ea typeface="맑은 고딕"/>
              </a:rPr>
              <a:t> 문제·요구·요구사항·제약·해결책</a:t>
            </a:r>
          </a:p>
          <a:p>
            <a:pPr lvl="3" marL="1077913" indent="-354013">
              <a:spcBef>
                <a:spcPts val="600"/>
              </a:spcBef>
              <a:spcAft>
                <a:spcPts val="600"/>
              </a:spcAft>
              <a:buNone/>
            </a:pPr>
            <a:r>
              <a:rPr sz="1200" b="0">
                <a:solidFill>
                  <a:srgbClr val="000000"/>
                </a:solidFill>
                <a:latin typeface="맑은 고딕"/>
                <a:ea typeface="맑은 고딕"/>
              </a:rPr>
              <a:t>(2)</a:t>
            </a:r>
            <a:r>
              <a:rPr sz="1600" b="0">
                <a:solidFill>
                  <a:srgbClr val="000000"/>
                </a:solidFill>
                <a:latin typeface="맑은 고딕"/>
                <a:ea typeface="맑은 고딕"/>
              </a:rPr>
              <a:t> 목표·주 액터·유스케이스</a:t>
            </a:r>
          </a:p>
          <a:p>
            <a:pPr lvl="3" marL="1077913" indent="-354013">
              <a:spcBef>
                <a:spcPts val="600"/>
              </a:spcBef>
              <a:spcAft>
                <a:spcPts val="600"/>
              </a:spcAft>
              <a:buNone/>
            </a:pPr>
            <a:r>
              <a:rPr sz="1200" b="0">
                <a:solidFill>
                  <a:srgbClr val="000000"/>
                </a:solidFill>
                <a:latin typeface="맑은 고딕"/>
                <a:ea typeface="맑은 고딕"/>
              </a:rPr>
              <a:t>(3)</a:t>
            </a:r>
            <a:r>
              <a:rPr sz="1600" b="0">
                <a:solidFill>
                  <a:srgbClr val="000000"/>
                </a:solidFill>
                <a:latin typeface="맑은 고딕"/>
                <a:ea typeface="맑은 고딕"/>
              </a:rPr>
              <a:t> 기본 흐름·규칙·시스템 오퍼레이션</a:t>
            </a:r>
          </a:p>
          <a:p>
            <a:pPr lvl="3" marL="1077913" indent="-354013">
              <a:spcBef>
                <a:spcPts val="600"/>
              </a:spcBef>
              <a:spcAft>
                <a:spcPts val="600"/>
              </a:spcAft>
              <a:buNone/>
            </a:pPr>
            <a:r>
              <a:rPr sz="1200" b="0">
                <a:solidFill>
                  <a:srgbClr val="000000"/>
                </a:solidFill>
                <a:latin typeface="맑은 고딕"/>
                <a:ea typeface="맑은 고딕"/>
              </a:rPr>
              <a:t>(4)</a:t>
            </a:r>
            <a:r>
              <a:rPr sz="1600" b="0">
                <a:solidFill>
                  <a:srgbClr val="000000"/>
                </a:solidFill>
                <a:latin typeface="맑은 고딕"/>
                <a:ea typeface="맑은 고딕"/>
              </a:rPr>
              <a:t> 품질 요구사항</a:t>
            </a:r>
          </a:p>
          <a:p>
            <a:pPr lvl="3" marL="1077913" indent="-354013">
              <a:spcBef>
                <a:spcPts val="600"/>
              </a:spcBef>
              <a:spcAft>
                <a:spcPts val="600"/>
              </a:spcAft>
              <a:buNone/>
            </a:pPr>
            <a:r>
              <a:rPr sz="1200" b="0">
                <a:solidFill>
                  <a:srgbClr val="000000"/>
                </a:solidFill>
                <a:latin typeface="맑은 고딕"/>
                <a:ea typeface="맑은 고딕"/>
              </a:rPr>
              <a:t>(5)</a:t>
            </a:r>
            <a:r>
              <a:rPr sz="1600" b="0">
                <a:solidFill>
                  <a:srgbClr val="000000"/>
                </a:solidFill>
                <a:latin typeface="맑은 고딕"/>
                <a:ea typeface="맑은 고딕"/>
              </a:rPr>
              <a:t> 아직 모르는 것과 검증 방법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진행</a:t>
            </a:r>
            <a:r>
              <a:rPr sz="1800" b="0">
                <a:solidFill>
                  <a:srgbClr val="000000"/>
                </a:solidFill>
                <a:latin typeface="맑은 고딕"/>
                <a:ea typeface="맑은 고딕"/>
              </a:rPr>
              <a:t> —</a:t>
            </a:r>
            <a:r>
              <a:rPr sz="1600" b="0">
                <a:solidFill>
                  <a:srgbClr val="000000"/>
                </a:solidFill>
                <a:latin typeface="맑은 고딕"/>
                <a:ea typeface="맑은 고딕"/>
              </a:rPr>
              <a:t> 개인 작성 → 소그룹 비교 → 사실·가정·질문을 구분한 검토표 공유.</a:t>
            </a:r>
          </a:p>
        </p:txBody>
      </p:sp>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39. 실습 — 모델로 바꾸기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사실과 가정 구분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목표·해결책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흐름과 규칙 분리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결과 중심 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근거 없는 정책 확정 여부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품질 질문의 구체성</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가치의 사용 증거 확인</a:t>
            </a:r>
          </a:p>
        </p:txBody>
      </p:sp>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발견하고 유스케이스로 목표와 시스템 책임을 표현·검증했다.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분석과 유스케이스의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 → 요구 → 요구사항 → 해결책</a:t>
            </a:r>
            <a:r>
              <a:rPr sz="1600" b="0">
                <a:solidFill>
                  <a:srgbClr val="000000"/>
                </a:solidFill>
                <a:latin typeface="맑은 고딕"/>
                <a:ea typeface="맑은 고딕"/>
              </a:rPr>
              <a:t> —</a:t>
            </a:r>
            <a:r>
              <a:rPr sz="1400" b="0">
                <a:solidFill>
                  <a:srgbClr val="000000"/>
                </a:solidFill>
                <a:latin typeface="맑은 고딕"/>
                <a:ea typeface="맑은 고딕"/>
              </a:rPr>
              <a:t> 요청에 섞인 수준을 구분한다.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유스케이스</a:t>
            </a:r>
            <a:r>
              <a:rPr sz="1600" b="0">
                <a:solidFill>
                  <a:srgbClr val="000000"/>
                </a:solidFill>
                <a:latin typeface="맑은 고딕"/>
                <a:ea typeface="맑은 고딕"/>
              </a:rPr>
              <a:t> —</a:t>
            </a:r>
            <a:r>
              <a:rPr sz="1400" b="0">
                <a:solidFill>
                  <a:srgbClr val="000000"/>
                </a:solidFill>
                <a:latin typeface="맑은 고딕"/>
                <a:ea typeface="맑은 고딕"/>
              </a:rPr>
              <a:t> 기능 목록이 아니라 목표와 가치 있는 결과로 식별한다.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이벤트 흐름·시스템 오퍼레이션</a:t>
            </a:r>
            <a:r>
              <a:rPr sz="1600" b="0">
                <a:solidFill>
                  <a:srgbClr val="000000"/>
                </a:solidFill>
                <a:latin typeface="맑은 고딕"/>
                <a:ea typeface="맑은 고딕"/>
              </a:rPr>
              <a:t> —</a:t>
            </a:r>
            <a:r>
              <a:rPr sz="1400" b="0">
                <a:solidFill>
                  <a:srgbClr val="000000"/>
                </a:solidFill>
                <a:latin typeface="맑은 고딕"/>
                <a:ea typeface="맑은 고딕"/>
              </a:rPr>
              <a:t> 본질적 행위만 남기고 외부 결과로 계약한다.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사용자 스토리·BDD</a:t>
            </a:r>
            <a:r>
              <a:rPr sz="1600" b="0">
                <a:solidFill>
                  <a:srgbClr val="000000"/>
                </a:solidFill>
                <a:latin typeface="맑은 고딕"/>
                <a:ea typeface="맑은 고딕"/>
              </a:rPr>
              <a:t> —</a:t>
            </a:r>
            <a:r>
              <a:rPr sz="1400" b="0">
                <a:solidFill>
                  <a:srgbClr val="000000"/>
                </a:solidFill>
                <a:latin typeface="맑은 고딕"/>
                <a:ea typeface="맑은 고딕"/>
              </a:rPr>
              <a:t> 작은 가치 단위의 대화와 구체적 예로 검증한다.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검증·관리·추적</a:t>
            </a:r>
            <a:r>
              <a:rPr sz="1600" b="0">
                <a:solidFill>
                  <a:srgbClr val="000000"/>
                </a:solidFill>
                <a:latin typeface="맑은 고딕"/>
                <a:ea typeface="맑은 고딕"/>
              </a:rPr>
              <a:t> —</a:t>
            </a:r>
            <a:r>
              <a:rPr sz="1400" b="0">
                <a:solidFill>
                  <a:srgbClr val="000000"/>
                </a:solidFill>
                <a:latin typeface="맑은 고딕"/>
                <a:ea typeface="맑은 고딕"/>
              </a:rPr>
              <a:t> 명세 품질과 실제 가치를 함께 확인하고 변경을 통제한다.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03. 정적 모델 —</a:t>
            </a:r>
            <a:r>
              <a:rPr sz="1400" b="1">
                <a:solidFill>
                  <a:srgbClr val="000000"/>
                </a:solidFill>
                <a:latin typeface="맑은 고딕"/>
                <a:ea typeface="맑은 고딕"/>
              </a:rPr>
              <a:t> 도메인 개념과 관계</a:t>
            </a:r>
            <a:r>
              <a:rPr sz="1400" b="0">
                <a:solidFill>
                  <a:srgbClr val="000000"/>
                </a:solidFill>
                <a:latin typeface="맑은 고딕"/>
                <a:ea typeface="맑은 고딕"/>
              </a:rPr>
              <a:t>" — 유스케이스를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52</Slides>
  <Notes>24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52</vt:i4>
      </vt:variant>
    </vt:vector>
  </HeadingPairs>
  <TitlesOfParts>
    <vt:vector size="56"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요구공학의 주요 활동</vt:lpstr>
      <vt:lpstr>07. 요구사항 수집과 발견</vt:lpstr>
      <vt:lpstr>08. 디자인 싱킹·린 사고·Lean UX·애자일</vt:lpstr>
      <vt:lpstr>09. 요구사항 유형</vt:lpstr>
      <vt:lpstr>10. 좋은 요구사항의 자격요건 (1/2)</vt:lpstr>
      <vt:lpstr>10. 좋은 요구사항의 자격요건 (2/2)</vt:lpstr>
      <vt:lpstr>11. 요구사항은 언제 확정되는가?</vt:lpstr>
      <vt:lpstr>12. 유스케이스란 무엇인가?</vt:lpstr>
      <vt:lpstr>13. 왜 유스케이스가 필요한가?</vt:lpstr>
      <vt:lpstr>14. 유스케이스 작성 절차</vt:lpstr>
      <vt:lpstr>15. 대상 시스템과 경계</vt:lpstr>
      <vt:lpstr>16. 목표와 액터</vt:lpstr>
      <vt:lpstr>17. 유스케이스 후보 식별 (1/2)</vt:lpstr>
      <vt:lpstr>17. 유스케이스 후보 식별 (2/2)</vt:lpstr>
      <vt:lpstr>18. 유스케이스 다이어그램 — 초안</vt:lpstr>
      <vt:lpstr>19. 유스케이스 명세서 템플릿</vt:lpstr>
      <vt:lpstr>20. 기본 이벤트 흐름</vt:lpstr>
      <vt:lpstr>21. 규칙·제약·예외 정책</vt:lpstr>
      <vt:lpstr>22. 이벤트 흐름을 이용한 요구 분석</vt:lpstr>
      <vt:lpstr>23. 유스케이스 상세화 (1/2)</vt:lpstr>
      <vt:lpstr>23. 유스케이스 상세화 (2/2)</vt:lpstr>
      <vt:lpstr>24. 유스케이스 다이어그램 — 상세화 (1/4)</vt:lpstr>
      <vt:lpstr>24. 유스케이스 다이어그램 — 상세화 (2/4)</vt:lpstr>
      <vt:lpstr>24. 유스케이스 다이어그램 — 상세화 (3/4)</vt:lpstr>
      <vt:lpstr>24. 유스케이스 다이어그램 — 상세화 (4/4)</vt:lpstr>
      <vt:lpstr>25. 잘못된 유스케이스 다이어그램</vt:lpstr>
      <vt:lpstr>26. 시스템 오퍼레이션과 계약 (1/2)</vt:lpstr>
      <vt:lpstr>26. 시스템 오퍼레이션과 계약 (2/2)</vt:lpstr>
      <vt:lpstr>27. 정적·동적 모델을 통한 상세화</vt:lpstr>
      <vt:lpstr>28. 유스케이스와 품질속성</vt:lpstr>
      <vt:lpstr>29. 프로토타입·와이어프레임 (1/2)</vt:lpstr>
      <vt:lpstr>29. 프로토타입·와이어프레임 (2/2)</vt:lpstr>
      <vt:lpstr>30. 사용자 스토리</vt:lpstr>
      <vt:lpstr>31. 사용자 스토리의 강점과 한계</vt:lpstr>
      <vt:lpstr>32. 행위 주도 개발 (1/2)</vt:lpstr>
      <vt:lpstr>32. 행위 주도 개발 (2/2)</vt:lpstr>
      <vt:lpstr>33. 행위 주도 개발의 강점과 한계</vt:lpstr>
      <vt:lpstr>34. 유스케이스·사용자 스토리·BDD</vt:lpstr>
      <vt:lpstr>35. 요구사항 검증</vt:lpstr>
      <vt:lpstr>36. 요구사항 관리</vt:lpstr>
      <vt:lpstr>37. 요구사항 추적</vt:lpstr>
      <vt:lpstr>38. 요구사항에서 학습으로</vt:lpstr>
      <vt:lpstr>39. 실습 — 모델로 바꾸기 (1/2)</vt:lpstr>
      <vt:lpstr>39. 실습 — 모델로 바꾸기 (2/2)</vt:lpstr>
      <vt:lpstr>40.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