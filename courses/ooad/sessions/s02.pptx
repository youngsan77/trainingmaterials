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「54.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Larman 2004 원문 확인(verify-quote). 생략한 부분은 "and more broadly, the project"다 — 요구사항은 시스템뿐 아니라 프로젝트가 따라야 할 조건도 포함한다.</a:t>
            </a:r>
          </a:p>
          <a:p>
            <a:pPr lvl="0"/>
            <a:r>
              <a:rPr lang="ko-KR" sz="1200"/>
              <a:t>요구사항과 설계(해결책)를 구분하는 관점은 IIBA, *The Business Analysis Standard*(2022)도 같은 취지로 설명한다. 기준 원전이 아니므로 본문에 인용하지 않는다.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시스템(지원 액터)이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「AI-native SW공학」과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사례다(「58. 실습 — 유스케이스」).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FURPS+의 각 유형과 "+"의 부가 요소, 보조 명세서("everything not in the use cases"). 표의 "주문 사례" 열은 교육용 예다.</a:t>
            </a:r>
          </a:p>
          <a:p>
            <a:pPr lvl="0"/>
            <a:r>
              <a:rPr lang="ko-KR" sz="1200"/>
              <a:t>품질 요구를 검증 가능하게 만드는 질문은 「47. 유스케이스와 품질속성」에서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"03. 정적 모델 — 도메인 개념과 관계"의 「속성 도메인」·「속성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"03. 정적 모델 — 도메인 개념과 관계"에서 도메인 모델과 함께 정제하고, 설계 이름으로의 전환은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쓴다("05. 구조적 경계와 의존성"의 「06.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Larman 2004 원문 확인(verify-quote). 원문은 "Informally then, a use case is …"로 시작한다.</a:t>
            </a:r>
          </a:p>
          <a:p>
            <a:pPr lvl="0"/>
            <a:r>
              <a:rPr lang="ko-KR" sz="1200"/>
              <a:t>OMG 정의 근거: OMG Unified Modeling Language 2.5.1(2017-12), UseCase Description 원문 확인(verify-quote) — "A UseCase specifies a set of actions performed by its subjects, which yields an observable result that is of value for one or more Actors or other stakeholders of each subject."</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 Choose the system boundary." "2. Identify the primary actors…" "4. Define use cases that satisfy user goals; name them according to their goal." 원문은 2·3단계를 엄격하게 순서 짓는 것이 인위적이라고 덧붙인다.</a:t>
            </a:r>
          </a:p>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경계를 고르는 질문은 같은 책의 유스케이스 작성 절차 1단계("Choose the system boundary.")의 요약이다.</a:t>
            </a:r>
          </a:p>
          <a:p>
            <a:pPr lvl="0"/>
            <a:r>
              <a:rPr lang="ko-KR" sz="1200"/>
              <a:t>경계는 이 그림에서 정하고, 경계 안의 유스케이스는 「25. 유스케이스 후보 식별」에서 찾아 「27. 유스케이스 다이어그램 — 초안」에서 채운다. 외부 시스템과 오가는 요청은 「44. 정제된 SSD」에서 보인다.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Larman 2004.</a:t>
            </a:r>
          </a:p>
          <a:p>
            <a:pPr lvl="0"/>
            <a:r>
              <a:rPr lang="ko-KR" sz="1200"/>
              <a:t>액터 정의와 세 종류는 Larman 2004 원문 확인(verify-quote) — "an actor is something with behavior, such as a person (identified by role), computer system, or organization", "Supporting actor provides a service (for example, information) to the SuD.", "Offstage actor has an interest in the behavior of the use case, but is not primary or supporting". 무대 밖 액터의 예(쇼핑몰 운영사)는 교육용 예이며 명세서의 이해관계자와 관심사로 이어진다.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"The Boss Test The EBP Test The Size Test", 상사 시험의 "Is your boss happy?", 크기 시험의 "in the fully dressed format will often require 3–10 pages of text". 표의 "묻는 것"은 원문의 요약이다.</a:t>
            </a:r>
          </a:p>
          <a:p>
            <a:pPr lvl="0"/>
            <a:r>
              <a:rPr lang="ko-KR" sz="1200"/>
              <a:t>세 시험에 떨어지면 기능 조각이거나 다른 시스템의 목표다. 다른 시스템의 목표(배송을 처리한다, 상품 정보를 관리한다)는 분석 대상이 아니라 그리지 않는다.</a:t>
            </a:r>
          </a:p>
          <a:p>
            <a:pPr lvl="0"/>
            <a:r>
              <a:rPr lang="ko-KR" sz="1200"/>
              <a:t>CRUD 목록을 유스케이스로 만드는 잘못된 예는 「36. 잘못된 관행 — CRUD 분할」에서 다룬다.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EBP의 정의와 "use cases are classified as at the user-goal level or the subfunction level, among others". EBP는 업무 프로세스 공학에서 온 용어이며, 원문의 정의는 예시로 이어진다.</a:t>
            </a:r>
          </a:p>
          <a:p>
            <a:pPr lvl="0"/>
            <a:r>
              <a:rPr lang="ko-KR" sz="1200"/>
              <a:t>「29. 유스케이스 명세서 템플릿」의 "수준" 항목은 이 구분을 적는다.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쓴다(Larman 2004의 요약).</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세 형식의 정의와 "언제" 쓰는가. 표의 한글은 원문의 요약이다.</a:t>
            </a:r>
          </a:p>
          <a:p>
            <a:pPr lvl="0"/>
            <a:r>
              <a:rPr lang="ko-KR" sz="1200"/>
              <a:t>Larman도 같은 장에서 짧은 예를 간략·약식 형식으로, 대표 유스케이스 하나를 정식 형식으로 보인다.</a:t>
            </a:r>
          </a:p>
          <a:p>
            <a:pPr lvl="0"/>
            <a:r>
              <a:rPr lang="ko-KR" sz="1200"/>
              <a:t>형식은 문서의 등급이 아니라 지금 필요한 깊이다. 간략 형식으로 시작한 유스케이스도 반복하며 정식으로 키울 수 있다(「09. 반복적 접근」).</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정식 형식 템플릿의 항목과 설명("Start with a verb.", "Calls on the system to deliver its services.", "Alternate scenarios of success or failure." 등). 설명은 원문의 번역·요약이다.</a:t>
            </a:r>
          </a:p>
          <a:p>
            <a:pPr lvl="0"/>
            <a:r>
              <a:rPr lang="ko-KR" sz="1200"/>
              <a:t>원문의 Extensions는 이 과정에서 대안 흐름이라 부른다(원문도 "Extensions (or Alternate Flows)"로 쓴다). 성공·실패를 모두 대안 흐름으로 쓰고 예외 흐름을 따로 두지 않는다.</a:t>
            </a:r>
          </a:p>
          <a:p>
            <a:pPr lvl="0"/>
            <a:r>
              <a:rPr lang="ko-KR" sz="1200"/>
              <a:t>모든 항목을 기계적으로 채우지 않는다.</a:t>
            </a:r>
          </a:p>
          <a:p>
            <a:pPr lvl="0"/>
            <a:r>
              <a:rPr lang="ko-KR" sz="1200"/>
              <a:t>유스케이스 수준의 업무 규칙을 명세서에 두는 것은 과정의 결정이다(course-design.md의 「원전 적용 결정」). 여러 유스케이스에 공통인 규칙은 별도 업무 규칙 목록에 둔다(「31. 규칙과 특별 요구사항」).</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목록(Business Rules, Domain Rules)은 Larman 2004의 요구 산출물 중 하나다(원문 확인 — "Business Rules (Domain Rules)"). 유스케이스 수준의 규칙은 명세서에, 공통 규칙은 이 목록에 둔다는 구분은 과정의 결정이다(course-design.md의 「원전 적용 결정」).</a:t>
            </a:r>
          </a:p>
          <a:p>
            <a:pPr lvl="0"/>
            <a:r>
              <a:rPr lang="ko-KR" sz="1200"/>
              <a:t>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「33.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번호는 기본 흐름에서 파생한다 — 1a는 기본 흐름 1단계에서 갈라지는 첫 번째 대안 흐름, 1a2a는 그 대안 흐름 2단계에서 다시 갈라지는 대안 흐름이다. 대안 흐름은 조건 → 달라지는 행위 → 복귀 또는 종료로 쓴다.</a:t>
            </a:r>
          </a:p>
          <a:p>
            <a:pPr lvl="0"/>
            <a:r>
              <a:rPr lang="ko-KR" sz="1200"/>
              <a:t>배송 시작 이후 일반 취소 불가는 흐름이 아니라 업무 규칙으로 기록한다.</a:t>
            </a:r>
          </a:p>
          <a:p>
            <a:pPr lvl="0"/>
            <a:r>
              <a:rPr lang="ko-KR" sz="1200"/>
              <a:t>번호 표기(3a 등)는 Larman 2004의 정식 형식 예를 따른다(원문 확인 — "3a. Invalid item ID").</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판단 기준은 「25. 유스케이스 후보 식별」의 세 시험이다. 조각은 상사 시험과 크기 시험에 떨어진다.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인용 근거: Larman 2004 원문 확인(verify-quote). 원문은 이것을 "목표마다 유스케이스 하나"의 예외로 설명한다. 주문을 관리한다가 이 Manage &lt;X&gt;다(course-design.md의 「원전 적용 결정」).</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유스케이스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「34. 유스케이스 다이어그램 — 상세화」를 참조한다.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SSD에는 필요한 표기만 사용하며, 시퀀스 다이어그램의 정의와 전체 표기는 "04. 동적 모델 — 상호작용과 상태"에서 다룬다.</a:t>
            </a:r>
          </a:p>
          <a:p>
            <a:pPr lvl="0"/>
            <a:r>
              <a:rPr lang="ko-KR" sz="1200"/>
              <a:t>인용 근거: Larman 2004 원문 확인(verify-quote). 이름 짓기는 같은 장의 "System events should be expressed at the abstract level of intention rather than in terms of the physical input device."에 근거한다. 정의의 "시스템 사이의 이벤트"는 「44. 정제된 SSD」에서 그린다.</a:t>
            </a:r>
          </a:p>
          <a:p>
            <a:pPr lvl="0"/>
            <a:r>
              <a:rPr lang="ko-KR" sz="1200"/>
              <a:t>생명선 이름 :주문 시스템의 콜론은 "주문 시스템의 한 인스턴스"를 뜻한다.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요청의 전달 방식(호출을 기다릴지, 메시지로 보낼지)은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계약의 항목(오퍼레이션, 관련 유스케이스, 사전조건, 사후조건)과 사후조건의 세 종류는 Larman 2004를 따른다(원문 확인 — "Cross References", 사후조건 정의). 원문은 사후조건이 오퍼레이션 중에 할 행동이 아니라 끝난 뒤 참인 관찰이라고 강조한다.</a:t>
            </a:r>
          </a:p>
          <a:p>
            <a:pPr lvl="0"/>
            <a:r>
              <a:rPr lang="ko-KR" sz="1200"/>
              <a:t>사후조건의 결제·주문은 용어집의 개념이다. 도메인 모델은 "03. 정적 모델 — 도메인 개념과 관계"에서 그리며, 계약의 개념은 그 모델과 맞춘다.</a:t>
            </a:r>
          </a:p>
          <a:p>
            <a:pPr lvl="0"/>
            <a:r>
              <a:rPr lang="ko-KR" sz="1200"/>
              <a:t>배송 시스템에 배송지 변경을 요청하는 것은 「44. 정제된 SSD」의 이벤트다.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「03. 요구 산출물에서 출발」의 「계약의 정제」에서 작성한다.</a:t>
            </a:r>
          </a:p>
          <a:p>
            <a:pPr lvl="0"/>
            <a:r>
              <a:rPr lang="ko-KR" sz="1200"/>
              <a:t>재고 차감·배송·입금 처리·영수증 발행의 요청은 「44. 정제된 SSD」에 있다.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대안 흐름에 먼저 쓰고 테스트를 더한다.</a:t>
            </a:r>
          </a:p>
          <a:p>
            <a:pPr lvl="0"/>
            <a:r>
              <a:rPr lang="ko-KR" sz="1200"/>
              <a:t>가짜 외부 시스템으로 확인하는 것은 SSD의 요청까지다.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문형은 표현 예이며 필수 표준 양식이 아니다.</a:t>
            </a:r>
          </a:p>
          <a:p>
            <a:pPr lvl="0"/>
            <a:r>
              <a:rPr lang="ko-KR" sz="1200"/>
              <a:t>인용 근거: Ron Jeffries, "Essential XP: Card, Conversation, Confirmation"(2001-08-30) 원문 확인. 영어는 원문의 세 요소 이름이고, 한글 문장은 요약이다.</a:t>
            </a:r>
          </a:p>
          <a:p>
            <a:pPr lvl="0"/>
            <a:r>
              <a:rPr lang="ko-KR" sz="1200"/>
              <a:t>문형보다 대화가 핵심이다. 카드는 대화를 시작하는 메모이고, 확인은 인수 조건이다(「51.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본다(「53. 유스케이스·사용자 스토리·BDD」).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쓴다(「51. 행위 주도 개발」의 배송지 변경 예).</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「17. 모델의 검토」의 「누락과 모순」).</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구현·검증·DevOps 단계에서도 사용 증거를 요구로 되돌리는 피드백은 계속 이어진다.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흐름, 1b1a는 1b에서 다시 갈라지는 대안 흐름이다. 성공·실패를 모두 대안 흐름으로 쓴다(정식 형식).</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「13. 실습 — 동적 모델」의 「시퀀스 다이어그램 (안)」).</a:t>
            </a:r>
          </a:p>
          <a:p>
            <a:pPr lvl="0"/>
            <a:r>
              <a:rPr lang="ko-KR" sz="1200"/>
              <a:t>응답은 그리지 않는다(「44. 정제된 SSD」). 유스케이스 흐름에 쓰지 않은 상품 조회가 여기서 외부 시스템에 보내는 요청으로 드러난다.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「피드백」.</a:t>
            </a:r>
          </a:p>
          <a:p>
            <a:pPr lvl="0"/>
            <a:r>
              <a:rPr lang="ko-KR" sz="1200"/>
              <a:t>모든 산출물을 늘 최신으로 유지하는 것은 적정 수준을 넘는 비용이다 — "01. OOAD 개요"의 「모델링의 적정 수준」.</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 형식</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a:p>
            <a:pPr lvl="1" marL="355600" indent="0">
              <a:spcBef>
                <a:spcPts val="300"/>
              </a:spcBef>
              <a:spcAft>
                <a:spcPts val="300"/>
              </a:spcAft>
              <a:buNone/>
            </a:pPr>
            <a:r>
              <a:rPr sz="1600" b="0">
                <a:solidFill>
                  <a:srgbClr val="000000"/>
                </a:solidFill>
                <a:latin typeface="맑은 고딕"/>
                <a:ea typeface="맑은 고딕"/>
              </a:rPr>
              <a:t>31. 규칙과 특별 요구사항</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사용자 스토리</a:t>
            </a:r>
          </a:p>
          <a:p>
            <a:pPr lvl="1" marL="355600" indent="0">
              <a:spcBef>
                <a:spcPts val="300"/>
              </a:spcBef>
              <a:spcAft>
                <a:spcPts val="300"/>
              </a:spcAft>
              <a:buNone/>
            </a:pPr>
            <a:r>
              <a:rPr sz="1600" b="0">
                <a:solidFill>
                  <a:srgbClr val="000000"/>
                </a:solidFill>
                <a:latin typeface="맑은 고딕"/>
                <a:ea typeface="맑은 고딕"/>
              </a:rPr>
              <a:t>50. 사용자 스토리의 강점과 한계</a:t>
            </a:r>
          </a:p>
          <a:p>
            <a:pPr lvl="1" marL="355600" indent="0">
              <a:spcBef>
                <a:spcPts val="300"/>
              </a:spcBef>
              <a:spcAft>
                <a:spcPts val="300"/>
              </a:spcAft>
              <a:buNone/>
            </a:pPr>
            <a:r>
              <a:rPr sz="1600" b="0">
                <a:solidFill>
                  <a:srgbClr val="000000"/>
                </a:solidFill>
                <a:latin typeface="맑은 고딕"/>
                <a:ea typeface="맑은 고딕"/>
              </a:rPr>
              <a:t>51. 행위 주도 개발</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52. 행위 주도 개발의 강점과 한계</a:t>
            </a:r>
          </a:p>
          <a:p>
            <a:pPr lvl="1" marL="355600" indent="0">
              <a:spcBef>
                <a:spcPts val="300"/>
              </a:spcBef>
              <a:spcAft>
                <a:spcPts val="300"/>
              </a:spcAft>
              <a:buNone/>
            </a:pPr>
            <a:r>
              <a:rPr sz="1600" b="0">
                <a:solidFill>
                  <a:srgbClr val="000000"/>
                </a:solidFill>
                <a:latin typeface="맑은 고딕"/>
                <a:ea typeface="맑은 고딕"/>
              </a:rPr>
              <a:t>53. 유스케이스·사용자 스토리·BDD</a:t>
            </a:r>
          </a:p>
          <a:p>
            <a:pPr lvl="1" marL="355600" indent="0">
              <a:spcBef>
                <a:spcPts val="300"/>
              </a:spcBef>
              <a:spcAft>
                <a:spcPts val="300"/>
              </a:spcAft>
              <a:buNone/>
            </a:pPr>
            <a:r>
              <a:rPr sz="1600" b="0">
                <a:solidFill>
                  <a:srgbClr val="000000"/>
                </a:solidFill>
                <a:latin typeface="맑은 고딕"/>
                <a:ea typeface="맑은 고딕"/>
              </a:rPr>
              <a:t>54. 요구사항 검증</a:t>
            </a:r>
          </a:p>
          <a:p>
            <a:pPr lvl="1" marL="355600" indent="0">
              <a:spcBef>
                <a:spcPts val="300"/>
              </a:spcBef>
              <a:spcAft>
                <a:spcPts val="300"/>
              </a:spcAft>
              <a:buNone/>
            </a:pPr>
            <a:r>
              <a:rPr sz="1600" b="0">
                <a:solidFill>
                  <a:srgbClr val="000000"/>
                </a:solidFill>
                <a:latin typeface="맑은 고딕"/>
                <a:ea typeface="맑은 고딕"/>
              </a:rPr>
              <a:t>55. 요구사항 관리</a:t>
            </a:r>
          </a:p>
          <a:p>
            <a:pPr lvl="1" marL="355600" indent="0">
              <a:spcBef>
                <a:spcPts val="300"/>
              </a:spcBef>
              <a:spcAft>
                <a:spcPts val="300"/>
              </a:spcAft>
              <a:buNone/>
            </a:pPr>
            <a:r>
              <a:rPr sz="1600" b="0">
                <a:solidFill>
                  <a:srgbClr val="000000"/>
                </a:solidFill>
                <a:latin typeface="맑은 고딕"/>
                <a:ea typeface="맑은 고딕"/>
              </a:rPr>
              <a:t>56. 요구사항 추적</a:t>
            </a:r>
          </a:p>
          <a:p>
            <a:pPr lvl="1" marL="355600" indent="0">
              <a:spcBef>
                <a:spcPts val="300"/>
              </a:spcBef>
              <a:spcAft>
                <a:spcPts val="300"/>
              </a:spcAft>
              <a:buNone/>
            </a:pPr>
            <a:r>
              <a:rPr sz="1600" b="0">
                <a:solidFill>
                  <a:srgbClr val="000000"/>
                </a:solidFill>
                <a:latin typeface="맑은 고딕"/>
                <a:ea typeface="맑은 고딕"/>
              </a:rPr>
              <a:t>57. 요구사항에서 학습으로</a:t>
            </a:r>
          </a:p>
          <a:p>
            <a:pPr lvl="1" marL="355600" indent="0">
              <a:spcBef>
                <a:spcPts val="300"/>
              </a:spcBef>
              <a:spcAft>
                <a:spcPts val="300"/>
              </a:spcAft>
              <a:buNone/>
            </a:pPr>
            <a:r>
              <a:rPr sz="1600" b="0">
                <a:solidFill>
                  <a:srgbClr val="000000"/>
                </a:solidFill>
                <a:latin typeface="맑은 고딕"/>
                <a:ea typeface="맑은 고딕"/>
              </a:rPr>
              <a:t>58.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59. 유스케이스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60. 유스케이스 명세서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61. 용어집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시스템 시퀀스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요구사항 명세서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64.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a:t>
            </a:r>
            <a:r>
              <a:rPr sz="1800" b="1">
                <a:solidFill>
                  <a:srgbClr val="000000"/>
                </a:solidFill>
                <a:latin typeface="맑은 고딕"/>
                <a:ea typeface="맑은 고딕"/>
              </a:rPr>
              <a:t>문제를 발견해 요구사항을 정제하고, 유스케이스로 목표와 시스템 책임을 표현·검증하는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8615"/>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60500" y="4252935"/>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필요를 표현한 것이고, 그 필요를 채우는 </a:t>
            </a:r>
            <a:r>
              <a:rPr sz="1800" b="1">
                <a:solidFill>
                  <a:srgbClr val="000000"/>
                </a:solidFill>
                <a:latin typeface="맑은 고딕"/>
                <a:ea typeface="맑은 고딕"/>
              </a:rPr>
              <a:t>해결책</a:t>
            </a:r>
            <a:r>
              <a:rPr sz="1400" b="0">
                <a:solidFill>
                  <a:srgbClr val="000000"/>
                </a:solidFill>
                <a:latin typeface="맑은 고딕"/>
                <a:ea typeface="맑은 고딕"/>
              </a:rPr>
              <a:t>(설계)</a:t>
            </a:r>
            <a:r>
              <a:rPr sz="1800" b="0">
                <a:solidFill>
                  <a:srgbClr val="000000"/>
                </a:solidFill>
                <a:latin typeface="맑은 고딕"/>
                <a:ea typeface="맑은 고딕"/>
              </a:rPr>
              <a:t>은 따로 판단한다.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67889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80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89397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3380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955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90574"/>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4144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9572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4144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9848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41448"/>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801658"/>
                <a:gridCol w="3215506"/>
                <a:gridCol w="328863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기능(Functional)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 능력, 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 다른 고객의 주문은 볼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사용성(Usability)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인적 요소, 도움말, 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신뢰성(Reliability)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빈도, 복구 가능성, 예측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장애에도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성능(Performance)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시간, 처리량, 정확도, 가용성, 자원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조회의 응답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지원성(Supportability)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적응성, 유지보수성, 국제화, 설정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정책을 바꿔도 영향이 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구현·인터페이스·운영·패키징·법률 같은 부가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대행(PG)과의 인터페이스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a:t>
            </a:r>
            <a:r>
              <a:rPr sz="1800" b="1">
                <a:solidFill>
                  <a:srgbClr val="000000"/>
                </a:solidFill>
                <a:latin typeface="맑은 고딕"/>
                <a:ea typeface="맑은 고딕"/>
              </a:rPr>
              <a:t>FURPS+</a:t>
            </a:r>
            <a:r>
              <a:rPr sz="1800" b="0">
                <a:solidFill>
                  <a:srgbClr val="000000"/>
                </a:solidFill>
                <a:latin typeface="맑은 고딕"/>
                <a:ea typeface="맑은 고딕"/>
              </a:rPr>
              <a:t>로 나눠 빠뜨린 종류가 없는지 확인한다. 기능만이 요구가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FURPS+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요구는 </a:t>
            </a:r>
            <a:r>
              <a:rPr sz="1800" b="1">
                <a:solidFill>
                  <a:srgbClr val="000000"/>
                </a:solidFill>
                <a:latin typeface="맑은 고딕"/>
                <a:ea typeface="맑은 고딕"/>
              </a:rPr>
              <a:t>유스케이스</a:t>
            </a:r>
            <a:r>
              <a:rPr sz="1800" b="0">
                <a:solidFill>
                  <a:srgbClr val="000000"/>
                </a:solidFill>
                <a:latin typeface="맑은 고딕"/>
                <a:ea typeface="맑은 고딕"/>
              </a:rPr>
              <a:t>에 쓴다. 나머지는 주로 </a:t>
            </a:r>
            <a:r>
              <a:rPr sz="1800" b="1">
                <a:solidFill>
                  <a:srgbClr val="000000"/>
                </a:solidFill>
                <a:latin typeface="맑은 고딕"/>
                <a:ea typeface="맑은 고딕"/>
              </a:rPr>
              <a:t>보조 명세서</a:t>
            </a:r>
            <a:r>
              <a:rPr sz="1400" b="0">
                <a:solidFill>
                  <a:srgbClr val="000000"/>
                </a:solidFill>
                <a:latin typeface="맑은 고딕"/>
                <a:ea typeface="맑은 고딕"/>
              </a:rPr>
              <a:t>(Supplementary Specification)</a:t>
            </a:r>
            <a:r>
              <a:rPr sz="1800" b="0">
                <a:solidFill>
                  <a:srgbClr val="000000"/>
                </a:solidFill>
                <a:latin typeface="맑은 고딕"/>
                <a:ea typeface="맑은 고딕"/>
              </a:rPr>
              <a:t> —</a:t>
            </a:r>
            <a:r>
              <a:rPr sz="1600" b="0">
                <a:solidFill>
                  <a:srgbClr val="000000"/>
                </a:solidFill>
                <a:latin typeface="맑은 고딕"/>
                <a:ea typeface="맑은 고딕"/>
              </a:rPr>
              <a:t> 유스케이스에 없는 모든 요구 — 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용어는 </a:t>
            </a:r>
            <a:r>
              <a:rPr sz="1800" b="1">
                <a:solidFill>
                  <a:srgbClr val="000000"/>
                </a:solidFill>
                <a:latin typeface="맑은 고딕"/>
                <a:ea typeface="맑은 고딕"/>
              </a:rPr>
              <a:t>용어집</a:t>
            </a:r>
            <a:r>
              <a:rPr sz="1800" b="0">
                <a:solidFill>
                  <a:srgbClr val="000000"/>
                </a:solidFill>
                <a:latin typeface="맑은 고딕"/>
                <a:ea typeface="맑은 고딕"/>
              </a:rPr>
              <a:t>에, 여러 유스케이스에 공통인 규칙은 </a:t>
            </a:r>
            <a:r>
              <a:rPr sz="1800" b="1">
                <a:solidFill>
                  <a:srgbClr val="000000"/>
                </a:solidFill>
                <a:latin typeface="맑은 고딕"/>
                <a:ea typeface="맑은 고딕"/>
              </a:rPr>
              <a:t>업무 규칙</a:t>
            </a:r>
            <a:r>
              <a:rPr sz="1400" b="0">
                <a:solidFill>
                  <a:srgbClr val="000000"/>
                </a:solidFill>
                <a:latin typeface="맑은 고딕"/>
                <a:ea typeface="맑은 고딕"/>
              </a:rPr>
              <a:t>(Business Rules)</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91045" y="1884410"/>
          <a:ext cx="8148320" cy="3873500"/>
        </p:xfrm>
        <a:graphic>
          <a:graphicData uri="http://schemas.openxmlformats.org/drawingml/2006/table">
            <a:tbl>
              <a:tblPr/>
              <a:tblGrid>
                <a:gridCol w="889000"/>
                <a:gridCol w="159004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41448"/>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84410"/>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액터가 목표를 이루려고 시스템을 쓰는, 서로 관련된 </a:t>
            </a:r>
            <a:r>
              <a:rPr sz="1800" b="1">
                <a:solidFill>
                  <a:srgbClr val="000000"/>
                </a:solidFill>
                <a:latin typeface="맑은 고딕"/>
                <a:ea typeface="맑은 고딕"/>
              </a:rPr>
              <a:t>성공·실패 시나리오의 묶음</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use case is a collection of related success and failure scenarios that describe an actor using a system to support a goal."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"유스케이스는 다이어그램이 아니라 </a:t>
            </a:r>
            <a:r>
              <a:rPr sz="1600" b="1">
                <a:solidFill>
                  <a:srgbClr val="000000"/>
                </a:solidFill>
                <a:latin typeface="맑은 고딕"/>
                <a:ea typeface="맑은 고딕"/>
              </a:rPr>
              <a:t>글</a:t>
            </a:r>
            <a:r>
              <a:rPr sz="1600" b="0">
                <a:solidFill>
                  <a:srgbClr val="000000"/>
                </a:solidFill>
                <a:latin typeface="맑은 고딕"/>
                <a:ea typeface="맑은 고딕"/>
              </a:rPr>
              <a:t>이며, 유스케이스 모델링은 주로 글을 쓰는 일이다"</a:t>
            </a:r>
            <a:r>
              <a:rPr sz="1000" b="0">
                <a:solidFill>
                  <a:srgbClr val="000000"/>
                </a:solidFill>
                <a:latin typeface="맑은 고딕"/>
                <a:ea typeface="맑은 고딕"/>
              </a:rPr>
              <a:t>, </a:t>
            </a:r>
            <a:r>
              <a:rPr sz="1000" b="0">
                <a:solidFill>
                  <a:srgbClr val="000000"/>
                </a:solidFill>
                <a:latin typeface="맑은 고딕"/>
                <a:ea typeface="맑은 고딕"/>
              </a:rPr>
              <a:t>"Use cases are text documents, not diagrams, and use-case modeling is primarily an act of writing text, not drawing diagrams."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이루는 </a:t>
            </a:r>
            <a:r>
              <a:rPr sz="1800" b="1">
                <a:solidFill>
                  <a:srgbClr val="000000"/>
                </a:solidFill>
                <a:latin typeface="맑은 고딕"/>
                <a:ea typeface="맑은 고딕"/>
              </a:rPr>
              <a:t>시스템 사용의 이야기</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 UML은 유스케이스가 액터에게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만든다고 정의한다[OMG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25987"/>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5000307"/>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경계 → 주 액터 → 목표 → 유스케이스</a:t>
            </a:r>
            <a:r>
              <a:rPr sz="1800" b="0">
                <a:solidFill>
                  <a:srgbClr val="000000"/>
                </a:solidFill>
                <a:latin typeface="맑은 고딕"/>
                <a:ea typeface="맑은 고딕"/>
              </a:rPr>
              <a:t> 순서로 찾고</a:t>
            </a:r>
            <a:r>
              <a:rPr sz="1400" b="0">
                <a:solidFill>
                  <a:srgbClr val="000000"/>
                </a:solidFill>
                <a:latin typeface="맑은 고딕"/>
                <a:ea typeface="맑은 고딕"/>
              </a:rPr>
              <a:t>(Larman, 2004)</a:t>
            </a:r>
            <a:r>
              <a:rPr sz="1800" b="0">
                <a:solidFill>
                  <a:srgbClr val="000000"/>
                </a:solidFill>
                <a:latin typeface="맑은 고딕"/>
                <a:ea typeface="맑은 고딕"/>
              </a:rPr>
              <a:t>, 찾은 유스케이스를 필요한 깊이까지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1단계</a:t>
            </a:r>
            <a:r>
              <a:rPr sz="1800" b="0">
                <a:solidFill>
                  <a:srgbClr val="000000"/>
                </a:solidFill>
                <a:latin typeface="맑은 고딕"/>
                <a:ea typeface="맑은 고딕"/>
              </a:rPr>
              <a:t> —</a:t>
            </a:r>
            <a:r>
              <a:rPr sz="1600" b="0">
                <a:solidFill>
                  <a:srgbClr val="000000"/>
                </a:solidFill>
                <a:latin typeface="맑은 고딕"/>
                <a:ea typeface="맑은 고딕"/>
              </a:rPr>
              <a:t> 경계는 「22. 대상 시스템과 경계」, </a:t>
            </a:r>
            <a:r>
              <a:rPr sz="1600" b="1">
                <a:solidFill>
                  <a:srgbClr val="000000"/>
                </a:solidFill>
                <a:latin typeface="맑은 고딕"/>
                <a:ea typeface="맑은 고딕"/>
              </a:rPr>
              <a:t>2·3단계</a:t>
            </a:r>
            <a:r>
              <a:rPr sz="1600" b="0">
                <a:solidFill>
                  <a:srgbClr val="000000"/>
                </a:solidFill>
                <a:latin typeface="맑은 고딕"/>
                <a:ea typeface="맑은 고딕"/>
              </a:rPr>
              <a:t> — 액터와 목표는 「24. 목표와 액터」에서 정한다. 둘은 함께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4단계</a:t>
            </a:r>
            <a:r>
              <a:rPr sz="1800" b="0">
                <a:solidFill>
                  <a:srgbClr val="000000"/>
                </a:solidFill>
                <a:latin typeface="맑은 고딕"/>
                <a:ea typeface="맑은 고딕"/>
              </a:rPr>
              <a:t> —</a:t>
            </a:r>
            <a:r>
              <a:rPr sz="1600" b="0">
                <a:solidFill>
                  <a:srgbClr val="000000"/>
                </a:solidFill>
                <a:latin typeface="맑은 고딕"/>
                <a:ea typeface="맑은 고딕"/>
              </a:rPr>
              <a:t> 유스케이스 이름은 </a:t>
            </a:r>
            <a:r>
              <a:rPr sz="1600" b="1">
                <a:solidFill>
                  <a:srgbClr val="000000"/>
                </a:solidFill>
                <a:latin typeface="맑은 고딕"/>
                <a:ea typeface="맑은 고딕"/>
              </a:rPr>
              <a:t>목표</a:t>
            </a:r>
            <a:r>
              <a:rPr sz="1600" b="0">
                <a:solidFill>
                  <a:srgbClr val="000000"/>
                </a:solidFill>
                <a:latin typeface="맑은 고딕"/>
                <a:ea typeface="맑은 고딕"/>
              </a:rPr>
              <a:t>로 짓는다: </a:t>
            </a:r>
            <a:r>
              <a:rPr sz="1600" b="0">
                <a:solidFill>
                  <a:srgbClr val="000000"/>
                </a:solidFill>
                <a:latin typeface="맑은 고딕"/>
                <a:ea typeface="맑은 고딕"/>
              </a:rPr>
              <a:t>주문을 관리한다</a:t>
            </a:r>
            <a:r>
              <a:rPr sz="1200" b="0">
                <a:solidFill>
                  <a:srgbClr val="000000"/>
                </a:solidFill>
                <a:latin typeface="맑은 고딕"/>
                <a:ea typeface="맑은 고딕"/>
              </a:rPr>
              <a:t>(「25. 유스케이스 후보 식별」)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찾은 유스케이스는 모두 </a:t>
            </a:r>
            <a:r>
              <a:rPr sz="1800" b="1">
                <a:solidFill>
                  <a:srgbClr val="000000"/>
                </a:solidFill>
                <a:latin typeface="맑은 고딕"/>
                <a:ea typeface="맑은 고딕"/>
              </a:rPr>
              <a:t>같은 깊이</a:t>
            </a:r>
            <a:r>
              <a:rPr sz="1800" b="0">
                <a:solidFill>
                  <a:srgbClr val="000000"/>
                </a:solidFill>
                <a:latin typeface="맑은 고딕"/>
                <a:ea typeface="맑은 고딕"/>
              </a:rPr>
              <a:t>로 쓰지 않는다</a:t>
            </a:r>
            <a:r>
              <a:rPr sz="1400" b="0">
                <a:solidFill>
                  <a:srgbClr val="000000"/>
                </a:solidFill>
                <a:latin typeface="맑은 고딕"/>
                <a:ea typeface="맑은 고딕"/>
              </a:rPr>
              <a:t>(「28. 유스케이스 명세 형식」)</a:t>
            </a:r>
            <a:r>
              <a:rPr sz="1800" b="0">
                <a:solidFill>
                  <a:srgbClr val="000000"/>
                </a:solidFill>
                <a:latin typeface="맑은 고딕"/>
                <a:ea typeface="맑은 고딕"/>
              </a:rPr>
              <a:t>. 정식으로 쓴 명세서가 SSD와 계약의 입력이 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(1/2)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작업은 </a:t>
            </a:r>
            <a:r>
              <a:rPr sz="1800" b="1">
                <a:solidFill>
                  <a:srgbClr val="000000"/>
                </a:solidFill>
                <a:latin typeface="맑은 고딕"/>
                <a:ea typeface="맑은 고딕"/>
              </a:rPr>
              <a:t>시스템 경계를 고르는 것</a:t>
            </a:r>
            <a:r>
              <a:rPr sz="1800" b="0">
                <a:solidFill>
                  <a:srgbClr val="000000"/>
                </a:solidFill>
                <a:latin typeface="맑은 고딕"/>
                <a:ea typeface="맑은 고딕"/>
              </a:rPr>
              <a:t>에서 시작한다. 경계 안은 대상 시스템의 책임이고, 밖은 액터다.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다이어그램은 시스템의 </a:t>
            </a:r>
            <a:r>
              <a:rPr sz="1800" b="1">
                <a:solidFill>
                  <a:srgbClr val="000000"/>
                </a:solidFill>
                <a:latin typeface="맑은 고딕"/>
                <a:ea typeface="맑은 고딕"/>
              </a:rPr>
              <a:t>경계와 그 밖에 있는 것, 시스템이 쓰이는 방식</a:t>
            </a:r>
            <a:r>
              <a:rPr sz="1800" b="0">
                <a:solidFill>
                  <a:srgbClr val="000000"/>
                </a:solidFill>
                <a:latin typeface="맑은 고딕"/>
                <a:ea typeface="맑은 고딕"/>
              </a:rPr>
              <a:t>을 보여 주는 좋은 컨텍스트 다이어그램이다"</a:t>
            </a:r>
            <a:r>
              <a:rPr sz="1000" b="0">
                <a:solidFill>
                  <a:srgbClr val="000000"/>
                </a:solidFill>
                <a:latin typeface="맑은 고딕"/>
                <a:ea typeface="맑은 고딕"/>
              </a:rPr>
              <a:t>, </a:t>
            </a:r>
            <a:r>
              <a:rPr sz="1000" b="0">
                <a:solidFill>
                  <a:srgbClr val="000000"/>
                </a:solidFill>
                <a:latin typeface="맑은 고딕"/>
                <a:ea typeface="맑은 고딕"/>
              </a:rPr>
              <a:t>"A use case diagram is an excellent picture of the system context; it makes a good context diagram, that is, showing the boundary of a system, what lies outside of it, and how it gets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5834"/>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시스템의 경계</a:t>
            </a:r>
          </a:p>
        </p:txBody>
      </p:sp>
      <p:pic>
        <p:nvPicPr>
          <p:cNvPr id="10" name="svg Diagram 2" descr="주문 시스템의 경계: 왼쪽에 주 액터 고객, 오른쪽에 지원 액터 상품·회계·결제·배송 시스템, 경계 안은 아직 비어 있음"/>
          <p:cNvPicPr>
            <a:picLocks noChangeAspect="1"/>
          </p:cNvPicPr>
          <p:nvPr/>
        </p:nvPicPr>
        <p:blipFill>
          <a:blip r:embed="svgImage2"/>
          <a:stretch>
            <a:fillRect/>
          </a:stretch>
        </p:blipFill>
        <p:spPr>
          <a:xfrm>
            <a:off x="1774031" y="4050154"/>
            <a:ext cx="5595938" cy="1785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 </a:t>
            </a:r>
            <a:r>
              <a:rPr sz="2000" b="1">
                <a:solidFill>
                  <a:srgbClr val="000000"/>
                </a:solidFill>
                <a:latin typeface="맑은 고딕"/>
                <a:ea typeface="맑은 고딕"/>
              </a:rPr>
              <a:t>(2/2)</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안</a:t>
            </a:r>
            <a:r>
              <a:rPr sz="1800" b="0">
                <a:solidFill>
                  <a:srgbClr val="000000"/>
                </a:solidFill>
                <a:latin typeface="맑은 고딕"/>
                <a:ea typeface="맑은 고딕"/>
              </a:rPr>
              <a:t> —</a:t>
            </a:r>
            <a:r>
              <a:rPr sz="1600" b="0">
                <a:solidFill>
                  <a:srgbClr val="000000"/>
                </a:solidFill>
                <a:latin typeface="맑은 고딕"/>
                <a:ea typeface="맑은 고딕"/>
              </a:rPr>
              <a:t> 주문 시스템은 장바구니, 주문의 성립과 상태, 배송지 변경, 취소, 그리고 외부 시스템과의 </a:t>
            </a:r>
            <a:r>
              <a:rPr sz="1600" b="1">
                <a:solidFill>
                  <a:srgbClr val="000000"/>
                </a:solidFill>
                <a:latin typeface="맑은 고딕"/>
                <a:ea typeface="맑은 고딕"/>
              </a:rPr>
              <a:t>조정</a:t>
            </a:r>
            <a:r>
              <a:rPr sz="1600" b="0">
                <a:solidFill>
                  <a:srgbClr val="000000"/>
                </a:solidFill>
                <a:latin typeface="맑은 고딕"/>
                <a:ea typeface="맑은 고딕"/>
              </a:rPr>
              <a:t>을 책임진다.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밖</a:t>
            </a:r>
            <a:r>
              <a:rPr sz="1800" b="0">
                <a:solidFill>
                  <a:srgbClr val="000000"/>
                </a:solidFill>
                <a:latin typeface="맑은 고딕"/>
                <a:ea typeface="맑은 고딕"/>
              </a:rPr>
              <a:t> —</a:t>
            </a:r>
            <a:r>
              <a:rPr sz="1600" b="0">
                <a:solidFill>
                  <a:srgbClr val="000000"/>
                </a:solidFill>
                <a:latin typeface="맑은 고딕"/>
                <a:ea typeface="맑은 고딕"/>
              </a:rPr>
              <a:t> 목표를 이루려고 시스템을 쓰는 </a:t>
            </a:r>
            <a:r>
              <a:rPr sz="1600" b="1">
                <a:solidFill>
                  <a:srgbClr val="000000"/>
                </a:solidFill>
                <a:latin typeface="맑은 고딕"/>
                <a:ea typeface="맑은 고딕"/>
              </a:rPr>
              <a:t>주 액터</a:t>
            </a:r>
            <a:r>
              <a:rPr sz="1200" b="0">
                <a:solidFill>
                  <a:srgbClr val="000000"/>
                </a:solidFill>
                <a:latin typeface="맑은 고딕"/>
                <a:ea typeface="맑은 고딕"/>
              </a:rPr>
              <a:t>(고객)</a:t>
            </a:r>
            <a:r>
              <a:rPr sz="1600" b="0">
                <a:solidFill>
                  <a:srgbClr val="000000"/>
                </a:solidFill>
                <a:latin typeface="맑은 고딕"/>
                <a:ea typeface="맑은 고딕"/>
              </a:rPr>
              <a:t>와, 시스템에 서비스를 제공하는 </a:t>
            </a:r>
            <a:r>
              <a:rPr sz="1600" b="1">
                <a:solidFill>
                  <a:srgbClr val="000000"/>
                </a:solidFill>
                <a:latin typeface="맑은 고딕"/>
                <a:ea typeface="맑은 고딕"/>
              </a:rPr>
              <a:t>지원 액터</a:t>
            </a:r>
            <a:r>
              <a:rPr sz="1200" b="0">
                <a:solidFill>
                  <a:srgbClr val="000000"/>
                </a:solidFill>
                <a:latin typeface="맑은 고딕"/>
                <a:ea typeface="맑은 고딕"/>
              </a:rPr>
              <a:t>(상품·회계·결제·배송 시스템)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경계를 고르는 질문</a:t>
            </a:r>
            <a:r>
              <a:rPr sz="1800" b="0">
                <a:solidFill>
                  <a:srgbClr val="000000"/>
                </a:solidFill>
                <a:latin typeface="맑은 고딕"/>
                <a:ea typeface="맑은 고딕"/>
              </a:rPr>
              <a:t> —</a:t>
            </a:r>
            <a:r>
              <a:rPr sz="1600" b="0">
                <a:solidFill>
                  <a:srgbClr val="000000"/>
                </a:solidFill>
                <a:latin typeface="맑은 고딕"/>
                <a:ea typeface="맑은 고딕"/>
              </a:rPr>
              <a:t> 소프트웨어만인가, 하드웨어와 함께인가, 쓰는 사람까지인가, 조직 전체인가? [Larman 2004]</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181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65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4758559"/>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39838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a:t>
            </a:r>
            <a:r>
              <a:rPr sz="1800" b="0">
                <a:solidFill>
                  <a:srgbClr val="000000"/>
                </a:solidFill>
                <a:latin typeface="맑은 고딕"/>
                <a:ea typeface="맑은 고딕"/>
              </a:rPr>
              <a:t>는 행위를 하는 외부의 무엇이다 —</a:t>
            </a:r>
            <a:r>
              <a:rPr sz="1600" b="0">
                <a:solidFill>
                  <a:srgbClr val="000000"/>
                </a:solidFill>
                <a:latin typeface="맑은 고딕"/>
                <a:ea typeface="맑은 고딕"/>
              </a:rPr>
              <a:t> 사람</a:t>
            </a:r>
            <a:r>
              <a:rPr sz="1200" b="0">
                <a:solidFill>
                  <a:srgbClr val="000000"/>
                </a:solidFill>
                <a:latin typeface="맑은 고딕"/>
                <a:ea typeface="맑은 고딕"/>
              </a:rPr>
              <a:t>(역할)</a:t>
            </a:r>
            <a:r>
              <a:rPr sz="1600" b="0">
                <a:solidFill>
                  <a:srgbClr val="000000"/>
                </a:solidFill>
                <a:latin typeface="맑은 고딕"/>
                <a:ea typeface="맑은 고딕"/>
              </a:rPr>
              <a:t>, 컴퓨터 시스템, 조직[Larman 2004].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 액터</a:t>
            </a:r>
            <a:r>
              <a:rPr sz="1600" b="0">
                <a:solidFill>
                  <a:srgbClr val="000000"/>
                </a:solidFill>
                <a:latin typeface="맑은 고딕"/>
                <a:ea typeface="맑은 고딕"/>
              </a:rPr>
              <a:t>는 목표를 이루려고 시스템을 쓰고, </a:t>
            </a:r>
            <a:r>
              <a:rPr sz="1600" b="1">
                <a:solidFill>
                  <a:srgbClr val="000000"/>
                </a:solidFill>
                <a:latin typeface="맑은 고딕"/>
                <a:ea typeface="맑은 고딕"/>
              </a:rPr>
              <a:t>지원 액터</a:t>
            </a:r>
            <a:r>
              <a:rPr sz="1600" b="0">
                <a:solidFill>
                  <a:srgbClr val="000000"/>
                </a:solidFill>
                <a:latin typeface="맑은 고딕"/>
                <a:ea typeface="맑은 고딕"/>
              </a:rPr>
              <a:t>는 시스템에 서비스를 제공한다.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무대 밖 액터</a:t>
            </a:r>
            <a:r>
              <a:rPr sz="1200" b="0">
                <a:solidFill>
                  <a:srgbClr val="000000"/>
                </a:solidFill>
                <a:latin typeface="맑은 고딕"/>
                <a:ea typeface="맑은 고딕"/>
              </a:rPr>
              <a:t>(offstage)</a:t>
            </a:r>
            <a:r>
              <a:rPr sz="1600" b="0">
                <a:solidFill>
                  <a:srgbClr val="000000"/>
                </a:solidFill>
                <a:latin typeface="맑은 고딕"/>
                <a:ea typeface="맑은 고딕"/>
              </a:rPr>
              <a:t>는 유스케이스의 결과에 관심이 있지만 주 액터도 지원 액터도 아니다 —</a:t>
            </a:r>
            <a:r>
              <a:rPr sz="1400" b="0">
                <a:solidFill>
                  <a:srgbClr val="000000"/>
                </a:solidFill>
                <a:latin typeface="맑은 고딕"/>
                <a:ea typeface="맑은 고딕"/>
              </a:rPr>
              <a:t> 예: 매출 기록을 보는 쇼핑몰 운영사.</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010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141448"/>
          <a:ext cx="6697980" cy="3873500"/>
        </p:xfrm>
        <a:graphic>
          <a:graphicData uri="http://schemas.openxmlformats.org/drawingml/2006/table">
            <a:tbl>
              <a:tblPr/>
              <a:tblGrid>
                <a:gridCol w="1869440"/>
                <a:gridCol w="217678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상사 시험(Boss 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일로 상사가 만족하는가?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관리했다 ○ · 로그인했다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EBP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업무 프로세스인가?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크기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단계로 이루어지는가?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주소를 검색한다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a:t>
            </a:r>
            <a:r>
              <a:rPr sz="1800" b="0">
                <a:solidFill>
                  <a:srgbClr val="000000"/>
                </a:solidFill>
                <a:latin typeface="맑은 고딕"/>
                <a:ea typeface="맑은 고딕"/>
              </a:rPr>
              <a:t>로 찾고, 세 가지 시험으로 크기를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후보를 거르는 시험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상사 시험</a:t>
            </a:r>
            <a:r>
              <a:rPr sz="1800" b="0">
                <a:solidFill>
                  <a:srgbClr val="000000"/>
                </a:solidFill>
                <a:latin typeface="맑은 고딕"/>
                <a:ea typeface="맑은 고딕"/>
              </a:rPr>
              <a:t>은 "하루 종일 무엇을 했나?"에 그 이름으로 답해 보는 것이다. EBP는 「26. 유스케이스 수준」에서 정의한다.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87566" y="3356535"/>
          <a:ext cx="7955280" cy="3873500"/>
        </p:xfrm>
        <a:graphic>
          <a:graphicData uri="http://schemas.openxmlformats.org/drawingml/2006/table">
            <a:tbl>
              <a:tblPr/>
              <a:tblGrid>
                <a:gridCol w="1087120"/>
                <a:gridCol w="39090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EBP — 한 사람이 한 번에 마치고 업무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 —</a:t>
            </a:r>
            <a:r>
              <a:rPr sz="1600" b="0">
                <a:solidFill>
                  <a:srgbClr val="000000"/>
                </a:solidFill>
                <a:latin typeface="맑은 고딕"/>
                <a:ea typeface="맑은 고딕"/>
              </a:rPr>
              <a:t> 기본 업무 프로세스</a:t>
            </a:r>
            <a:r>
              <a:rPr sz="1200" b="0">
                <a:solidFill>
                  <a:srgbClr val="000000"/>
                </a:solidFill>
                <a:latin typeface="맑은 고딕"/>
                <a:ea typeface="맑은 고딕"/>
              </a:rPr>
              <a:t>(EBP)</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"EBP는 업무 사건에 반응해 </a:t>
            </a:r>
            <a:r>
              <a:rPr sz="1800" b="1">
                <a:solidFill>
                  <a:srgbClr val="000000"/>
                </a:solidFill>
                <a:latin typeface="맑은 고딕"/>
                <a:ea typeface="맑은 고딕"/>
              </a:rPr>
              <a:t>한 사람이 한 장소에서 한 번에</a:t>
            </a:r>
            <a:r>
              <a:rPr sz="1800" b="0">
                <a:solidFill>
                  <a:srgbClr val="000000"/>
                </a:solidFill>
                <a:latin typeface="맑은 고딕"/>
                <a:ea typeface="맑은 고딕"/>
              </a:rPr>
              <a:t> 수행하고, 측정 가능한 업무 가치를 더하며 데이터를 일관된 상태로 남기는 작업이다"</a:t>
            </a:r>
            <a:r>
              <a:rPr sz="1000" b="0">
                <a:solidFill>
                  <a:srgbClr val="000000"/>
                </a:solidFill>
                <a:latin typeface="맑은 고딕"/>
                <a:ea typeface="맑은 고딕"/>
              </a:rPr>
              <a:t>, </a:t>
            </a:r>
            <a:r>
              <a:rPr sz="1000" b="0">
                <a:solidFill>
                  <a:srgbClr val="000000"/>
                </a:solidFill>
                <a:latin typeface="맑은 고딕"/>
                <a:ea typeface="맑은 고딕"/>
              </a:rPr>
              <a:t>"A task performed by one person in one place at one time, in response to a business event, which adds measurable business value and leaves the data in a consistent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22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하위 기능</a:t>
            </a:r>
            <a:r>
              <a:rPr sz="1800" b="0">
                <a:solidFill>
                  <a:srgbClr val="000000"/>
                </a:solidFill>
                <a:latin typeface="맑은 고딕"/>
                <a:ea typeface="맑은 고딕"/>
              </a:rPr>
              <a:t>은 여러 유스케이스가 반복해 쓰는 의미 있는 행위일 때만 분리한다</a:t>
            </a:r>
            <a:r>
              <a:rPr sz="1400" b="0">
                <a:solidFill>
                  <a:srgbClr val="000000"/>
                </a:solidFill>
                <a:latin typeface="맑은 고딕"/>
                <a:ea typeface="맑은 고딕"/>
              </a:rPr>
              <a:t>(포함, 「34. 유스케이스 다이어그램 —</a:t>
            </a:r>
            <a:r>
              <a:rPr sz="1200" b="0">
                <a:solidFill>
                  <a:srgbClr val="000000"/>
                </a:solidFill>
                <a:latin typeface="맑은 고딕"/>
                <a:ea typeface="맑은 고딕"/>
              </a:rPr>
              <a:t>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「22. 대상 시스템과 경계」의 경계 안에 유스케이스를 채우고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의 연관만 둔다. 지원 액터의 연관과 포함·확장은 「34. 유스케이스 다이어그램 —</a:t>
            </a:r>
            <a:r>
              <a:rPr sz="1600" b="0">
                <a:solidFill>
                  <a:srgbClr val="000000"/>
                </a:solidFill>
                <a:latin typeface="맑은 고딕"/>
                <a:ea typeface="맑은 고딕"/>
              </a:rPr>
              <a:t> 상세화」에서 더한다.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69300"/>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다이어그램(초안)</a:t>
            </a:r>
          </a:p>
        </p:txBody>
      </p:sp>
      <p:pic>
        <p:nvPicPr>
          <p:cNvPr id="10"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843620"/>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1258570"/>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41448"/>
          <a:ext cx="6921500" cy="3873500"/>
        </p:xfrm>
        <a:graphic>
          <a:graphicData uri="http://schemas.openxmlformats.org/drawingml/2006/table">
            <a:tbl>
              <a:tblPr/>
              <a:tblGrid>
                <a:gridCol w="1841500"/>
                <a:gridCol w="25958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언제 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간략(brief)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성공 시나리오를 한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초기에 범위를 파악할 때(몇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약식(casual)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시나리오를 여러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간략 형식과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정식(fully dressed)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단계·변형과 보조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가치가 큰 일부(약 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모두 같은 깊이로 쓰지 않는다. </a:t>
            </a:r>
            <a:r>
              <a:rPr sz="1800" b="1">
                <a:solidFill>
                  <a:srgbClr val="000000"/>
                </a:solidFill>
                <a:latin typeface="맑은 고딕"/>
                <a:ea typeface="맑은 고딕"/>
              </a:rPr>
              <a:t>간략 → 약식 → 정식</a:t>
            </a:r>
            <a:r>
              <a:rPr sz="1800" b="0">
                <a:solidFill>
                  <a:srgbClr val="000000"/>
                </a:solidFill>
                <a:latin typeface="맑은 고딕"/>
                <a:ea typeface="맑은 고딕"/>
              </a:rPr>
              <a:t> 형식 가운데 필요한 만큼만 쓰고, 가치와 위험이 큰 것만 정식으로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형식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 형식</a:t>
            </a:r>
            <a:r>
              <a:rPr sz="1800" b="0">
                <a:solidFill>
                  <a:srgbClr val="000000"/>
                </a:solidFill>
                <a:latin typeface="맑은 고딕"/>
                <a:ea typeface="맑은 고딕"/>
              </a:rPr>
              <a:t>은 사전조건·성공 보장 같은 보조 항목을 둔다. 간략 형식으로 많이 찾은 뒤, 아키텍처상 중요하고 가치가 큰 것만 정식으로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간략 형식의 예</a:t>
            </a:r>
            <a:r>
              <a:rPr sz="1800" b="0">
                <a:solidFill>
                  <a:srgbClr val="000000"/>
                </a:solidFill>
                <a:latin typeface="맑은 고딕"/>
                <a:ea typeface="맑은 고딕"/>
              </a:rPr>
              <a:t> —</a:t>
            </a:r>
            <a:r>
              <a:rPr sz="1600" b="0">
                <a:solidFill>
                  <a:srgbClr val="000000"/>
                </a:solidFill>
                <a:latin typeface="맑은 고딕"/>
                <a:ea typeface="맑은 고딕"/>
              </a:rPr>
              <a:t> 배송 현황을 조회한다: 고객이 자기 주문을 골라 배송 현황을 조회하고, 배송 시스템이 알린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사례에서는 </a:t>
            </a:r>
            <a:r>
              <a:rPr sz="1800" b="1">
                <a:solidFill>
                  <a:srgbClr val="000000"/>
                </a:solidFill>
                <a:latin typeface="맑은 고딕"/>
                <a:ea typeface="맑은 고딕"/>
              </a:rPr>
              <a:t>주문을 관리한다</a:t>
            </a:r>
            <a:r>
              <a:rPr sz="1800" b="0">
                <a:solidFill>
                  <a:srgbClr val="000000"/>
                </a:solidFill>
                <a:latin typeface="맑은 고딕"/>
                <a:ea typeface="맑은 고딕"/>
              </a:rPr>
              <a:t>만 정식으로 쓴다 —</a:t>
            </a:r>
            <a:r>
              <a:rPr sz="1600" b="0">
                <a:solidFill>
                  <a:srgbClr val="000000"/>
                </a:solidFill>
                <a:latin typeface="맑은 고딕"/>
                <a:ea typeface="맑은 고딕"/>
              </a:rPr>
              <a:t> 결제·취소·배송지 변경이 외부 시스템과 얽혀 가치와 위험이 가장 크다.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7716" y="2141448"/>
          <a:ext cx="5554980" cy="3873500"/>
        </p:xfrm>
        <a:graphic>
          <a:graphicData uri="http://schemas.openxmlformats.org/drawingml/2006/table">
            <a:tbl>
              <a:tblPr/>
              <a:tblGrid>
                <a:gridCol w="181356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동사로 시작하는 목표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또는 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서비스를 요청하는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유스케이스에 관심을 두고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시작할 때 참이어야 하고 알릴 가치가 있는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보장(사후조건)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성공적으로 끝났을 때 참이어야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성공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전형적인 무조건 성공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또는 실패의 다른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비기능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기술·데이터 변형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입출력 방법과 데이터 형식의 변형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발생 빈도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조사·테스트·구현 시점에 영향을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미결 사항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정식 형식의 명세서는 </a:t>
            </a:r>
            <a:r>
              <a:rPr sz="1800" b="1">
                <a:solidFill>
                  <a:srgbClr val="000000"/>
                </a:solidFill>
                <a:latin typeface="맑은 고딕"/>
                <a:ea typeface="맑은 고딕"/>
              </a:rPr>
              <a:t>검토와 합의의 수단</a:t>
            </a:r>
            <a:r>
              <a:rPr sz="1800" b="0">
                <a:solidFill>
                  <a:srgbClr val="000000"/>
                </a:solidFill>
                <a:latin typeface="맑은 고딕"/>
                <a:ea typeface="맑은 고딕"/>
              </a:rPr>
              <a:t>이다. 아래 항목에 더해 이 유스케이스에만 적용되는 </a:t>
            </a:r>
            <a:r>
              <a:rPr sz="1800" b="1">
                <a:solidFill>
                  <a:srgbClr val="000000"/>
                </a:solidFill>
                <a:latin typeface="맑은 고딕"/>
                <a:ea typeface="맑은 고딕"/>
              </a:rPr>
              <a:t>업무 규칙</a:t>
            </a:r>
            <a:r>
              <a:rPr sz="1800" b="0">
                <a:solidFill>
                  <a:srgbClr val="000000"/>
                </a:solidFill>
                <a:latin typeface="맑은 고딕"/>
                <a:ea typeface="맑은 고딕"/>
              </a:rPr>
              <a:t>도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정식 형식의 항목 (Larman, 2004)</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성공이든 실패든 기본 흐름이 아닌 경로는 모두 </a:t>
            </a:r>
            <a:r>
              <a:rPr sz="1800" b="1">
                <a:solidFill>
                  <a:srgbClr val="000000"/>
                </a:solidFill>
                <a:latin typeface="맑은 고딕"/>
                <a:ea typeface="맑은 고딕"/>
              </a:rPr>
              <a:t>대안 흐름</a:t>
            </a:r>
            <a:r>
              <a:rPr sz="1800" b="0">
                <a:solidFill>
                  <a:srgbClr val="000000"/>
                </a:solidFill>
                <a:latin typeface="맑은 고딕"/>
                <a:ea typeface="맑은 고딕"/>
              </a:rPr>
              <a:t>이다. 번호는 갈라져 나오는 기본 흐름 단계 번호 뒤에 붙인다.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다시 갈라지는 대안 흐름은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규칙·특별 요구사항은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(「31. 규칙과 특별 요구사항」)</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규칙과 특별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조건을 넣지 않는다. 명세서의 </a:t>
            </a:r>
            <a:r>
              <a:rPr sz="1800" b="1">
                <a:solidFill>
                  <a:srgbClr val="000000"/>
                </a:solidFill>
                <a:latin typeface="맑은 고딕"/>
                <a:ea typeface="맑은 고딕"/>
              </a:rPr>
              <a:t>업무 규칙</a:t>
            </a:r>
            <a:r>
              <a:rPr sz="1800" b="0">
                <a:solidFill>
                  <a:srgbClr val="000000"/>
                </a:solidFill>
                <a:latin typeface="맑은 고딕"/>
                <a:ea typeface="맑은 고딕"/>
              </a:rPr>
              <a:t>과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쓰고, 실패한 경로는 </a:t>
            </a:r>
            <a:r>
              <a:rPr sz="1800" b="1">
                <a:solidFill>
                  <a:srgbClr val="000000"/>
                </a:solidFill>
                <a:latin typeface="맑은 고딕"/>
                <a:ea typeface="맑은 고딕"/>
              </a:rPr>
              <a:t>대안 흐름</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이 유스케이스에서 늘 지켜야 하는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유스케이스에 공통인 </a:t>
            </a:r>
            <a:r>
              <a:rPr sz="1800" b="1">
                <a:solidFill>
                  <a:srgbClr val="000000"/>
                </a:solidFill>
                <a:latin typeface="맑은 고딕"/>
                <a:ea typeface="맑은 고딕"/>
              </a:rPr>
              <a:t>도메인 규칙</a:t>
            </a:r>
            <a:r>
              <a:rPr sz="1800" b="0">
                <a:solidFill>
                  <a:srgbClr val="000000"/>
                </a:solidFill>
                <a:latin typeface="맑은 고딕"/>
                <a:ea typeface="맑은 고딕"/>
              </a:rPr>
              <a:t>은 명세서 밖의 </a:t>
            </a:r>
            <a:r>
              <a:rPr sz="1800" b="1">
                <a:solidFill>
                  <a:srgbClr val="000000"/>
                </a:solidFill>
                <a:latin typeface="맑은 고딕"/>
                <a:ea typeface="맑은 고딕"/>
              </a:rPr>
              <a:t>업무 규칙 목록</a:t>
            </a:r>
            <a:r>
              <a:rPr sz="1800" b="0">
                <a:solidFill>
                  <a:srgbClr val="000000"/>
                </a:solidFill>
                <a:latin typeface="맑은 고딕"/>
                <a:ea typeface="맑은 고딕"/>
              </a:rPr>
              <a:t>에 두고, 명세서는 그 규칙을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실패한 경로</a:t>
            </a:r>
            <a:r>
              <a:rPr sz="1800" b="0">
                <a:solidFill>
                  <a:srgbClr val="000000"/>
                </a:solidFill>
                <a:latin typeface="맑은 고딕"/>
                <a:ea typeface="맑은 고딕"/>
              </a:rPr>
              <a:t> —</a:t>
            </a:r>
            <a:r>
              <a:rPr sz="1600" b="0">
                <a:solidFill>
                  <a:srgbClr val="000000"/>
                </a:solidFill>
                <a:latin typeface="맑은 고딕"/>
                <a:ea typeface="맑은 고딕"/>
              </a:rPr>
              <a:t> 환불이 완료되지 않은 경우처럼 결과가 달라지면 대안 흐름으로 쓴다</a:t>
            </a:r>
            <a:r>
              <a:rPr sz="1200" b="0">
                <a:solidFill>
                  <a:srgbClr val="000000"/>
                </a:solidFill>
                <a:latin typeface="맑은 고딕"/>
                <a:ea typeface="맑은 고딕"/>
              </a:rPr>
              <a:t>(「33. 유스케이스 상세화」의 1a2a)</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41448"/>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616364"/>
            <a:ext cx="4338828"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56244"/>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000" b="1">
                <a:solidFill>
                  <a:srgbClr val="000000"/>
                </a:solidFill>
                <a:latin typeface="맑은 고딕"/>
                <a:ea typeface="맑은 고딕"/>
              </a:rPr>
              <a:t>(정식 형식의 일부 항목)</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616364"/>
            <a:ext cx="4439412"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4144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16591"/>
            <a:ext cx="8412480" cy="274320"/>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0"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249091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39827"/>
            <a:ext cx="8412480" cy="274320"/>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361414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40457"/>
            <a:ext cx="8412480" cy="274320"/>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421477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2141448"/>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3753775"/>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"따로인 생성·조회·수정·삭제 목표를 </a:t>
            </a:r>
            <a:r>
              <a:rPr sz="1800" b="1">
                <a:solidFill>
                  <a:srgbClr val="000000"/>
                </a:solidFill>
                <a:latin typeface="맑은 고딕"/>
                <a:ea typeface="맑은 고딕"/>
              </a:rPr>
              <a:t>하나의 CRUD 유스케이스</a:t>
            </a:r>
            <a:r>
              <a:rPr sz="1800" b="0">
                <a:solidFill>
                  <a:srgbClr val="000000"/>
                </a:solidFill>
                <a:latin typeface="맑은 고딕"/>
                <a:ea typeface="맑은 고딕"/>
              </a:rPr>
              <a:t>로 묶어 관용적으로 </a:t>
            </a:r>
            <a:r>
              <a:rPr sz="1800" b="0">
                <a:solidFill>
                  <a:srgbClr val="000000"/>
                </a:solidFill>
                <a:latin typeface="맑은 고딕"/>
                <a:ea typeface="맑은 고딕"/>
              </a:rPr>
              <a:t>Manage &lt;X&gt;</a:t>
            </a:r>
            <a:r>
              <a:rPr sz="1800" b="0">
                <a:solidFill>
                  <a:srgbClr val="000000"/>
                </a:solidFill>
                <a:latin typeface="맑은 고딕"/>
                <a:ea typeface="맑은 고딕"/>
              </a:rPr>
              <a:t>라 부른다"</a:t>
            </a:r>
            <a:r>
              <a:rPr sz="1000" b="0">
                <a:solidFill>
                  <a:srgbClr val="000000"/>
                </a:solidFill>
                <a:latin typeface="맑은 고딕"/>
                <a:ea typeface="맑은 고딕"/>
              </a:rPr>
              <a:t>, </a:t>
            </a:r>
            <a:r>
              <a:rPr sz="1000" b="0">
                <a:solidFill>
                  <a:srgbClr val="000000"/>
                </a:solidFill>
                <a:latin typeface="맑은 고딕"/>
                <a:ea typeface="맑은 고딕"/>
              </a:rPr>
              <a:t>"…to collapse CRUD (create, retrieve, update, delete) separate goals into one CRUD use case, idiomatically called Manage &lt;X&gt;."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5532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3099498"/>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a:t>
            </a:r>
            <a:r>
              <a:rPr sz="1800" b="1">
                <a:solidFill>
                  <a:srgbClr val="000000"/>
                </a:solidFill>
                <a:latin typeface="맑은 고딕"/>
                <a:ea typeface="맑은 고딕"/>
              </a:rPr>
              <a:t>본질 스타일</a:t>
            </a:r>
            <a:r>
              <a:rPr sz="1800" b="0">
                <a:solidFill>
                  <a:srgbClr val="000000"/>
                </a:solidFill>
                <a:latin typeface="맑은 고딕"/>
                <a:ea typeface="맑은 고딕"/>
              </a:rPr>
              <a:t>로 쓴다 — 사용자 인터페이스를 빼고 </a:t>
            </a:r>
            <a:r>
              <a:rPr sz="1800" b="1">
                <a:solidFill>
                  <a:srgbClr val="000000"/>
                </a:solidFill>
                <a:latin typeface="맑은 고딕"/>
                <a:ea typeface="맑은 고딕"/>
              </a:rPr>
              <a:t>액터의 의도</a:t>
            </a:r>
            <a:r>
              <a:rPr sz="1800" b="0">
                <a:solidFill>
                  <a:srgbClr val="000000"/>
                </a:solidFill>
                <a:latin typeface="맑은 고딕"/>
                <a:ea typeface="맑은 고딕"/>
              </a:rPr>
              <a:t>에 집중한다"</a:t>
            </a:r>
            <a:r>
              <a:rPr sz="1000" b="0">
                <a:solidFill>
                  <a:srgbClr val="000000"/>
                </a:solidFill>
                <a:latin typeface="맑은 고딕"/>
                <a:ea typeface="맑은 고딕"/>
              </a:rPr>
              <a:t>, </a:t>
            </a:r>
            <a:r>
              <a:rPr sz="1000" b="0">
                <a:solidFill>
                  <a:srgbClr val="000000"/>
                </a:solidFill>
                <a:latin typeface="맑은 고딕"/>
                <a:ea typeface="맑은 고딕"/>
              </a:rPr>
              <a:t>"Write use cases in an essential style; keep the user interface out and focus on actor intent."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4144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1725" y="1884410"/>
          <a:ext cx="7426960" cy="3873500"/>
        </p:xfrm>
        <a:graphic>
          <a:graphicData uri="http://schemas.openxmlformats.org/drawingml/2006/table">
            <a:tbl>
              <a:tblPr/>
              <a:tblGrid>
                <a:gridCol w="3462020"/>
                <a:gridCol w="3964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규칙·특별 요구사항으로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(「36.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31083"/>
            <a:ext cx="8412480" cy="274320"/>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350540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91880"/>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416620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유스케이스의 시나리오 하나에서 </a:t>
            </a:r>
            <a:r>
              <a:rPr sz="1800" b="1">
                <a:solidFill>
                  <a:srgbClr val="000000"/>
                </a:solidFill>
                <a:latin typeface="맑은 고딕"/>
                <a:ea typeface="맑은 고딕"/>
              </a:rPr>
              <a:t>외부 액터가 만드는 이벤트와 그 순서, 시스템 사이의 이벤트</a:t>
            </a:r>
            <a:r>
              <a:rPr sz="1800" b="0">
                <a:solidFill>
                  <a:srgbClr val="000000"/>
                </a:solidFill>
                <a:latin typeface="맑은 고딕"/>
                <a:ea typeface="맑은 고딕"/>
              </a:rPr>
              <a:t>를 보이는 그림이다"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이름은 입력 장치가 아니라 </a:t>
            </a:r>
            <a:r>
              <a:rPr sz="1800" b="1">
                <a:solidFill>
                  <a:srgbClr val="000000"/>
                </a:solidFill>
                <a:latin typeface="맑은 고딕"/>
                <a:ea typeface="맑은 고딕"/>
              </a:rPr>
              <a:t>의도</a:t>
            </a:r>
            <a:r>
              <a:rPr sz="1800" b="0">
                <a:solidFill>
                  <a:srgbClr val="000000"/>
                </a:solidFill>
                <a:latin typeface="맑은 고딕"/>
                <a:ea typeface="맑은 고딕"/>
              </a:rPr>
              <a:t>로 짓는다 —</a:t>
            </a:r>
            <a:r>
              <a:rPr sz="1600" b="0">
                <a:solidFill>
                  <a:srgbClr val="000000"/>
                </a:solidFill>
                <a:latin typeface="맑은 고딕"/>
                <a:ea typeface="맑은 고딕"/>
              </a:rPr>
              <a:t> </a:t>
            </a:r>
            <a:r>
              <a:rPr sz="1600" b="0">
                <a:solidFill>
                  <a:srgbClr val="000000"/>
                </a:solidFill>
                <a:latin typeface="맑은 고딕"/>
                <a:ea typeface="맑은 고딕"/>
              </a:rPr>
              <a:t>버튼을 누른다</a:t>
            </a:r>
            <a:r>
              <a:rPr sz="1600" b="0">
                <a:solidFill>
                  <a:srgbClr val="000000"/>
                </a:solidFill>
                <a:latin typeface="맑은 고딕"/>
                <a:ea typeface="맑은 고딕"/>
              </a:rPr>
              <a:t>가 아니라 </a:t>
            </a:r>
            <a:r>
              <a:rPr sz="1600" b="0">
                <a:solidFill>
                  <a:srgbClr val="000000"/>
                </a:solidFill>
                <a:latin typeface="맑은 고딕"/>
                <a:ea typeface="맑은 고딕"/>
              </a:rPr>
              <a:t>결제한다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59776"/>
            <a:ext cx="8412480" cy="274320"/>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프레임"/>
          <p:cNvPicPr>
            <a:picLocks noChangeAspect="1"/>
          </p:cNvPicPr>
          <p:nvPr/>
        </p:nvPicPr>
        <p:blipFill>
          <a:blip r:embed="svgImage9"/>
          <a:stretch>
            <a:fillRect/>
          </a:stretch>
        </p:blipFill>
        <p:spPr>
          <a:xfrm>
            <a:off x="1926167" y="4334096"/>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29874"/>
                <a:gridCol w="2453141"/>
                <a:gridCol w="33227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프레임(frame)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8820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336252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2627923"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시스템 이벤트와 코드</a:t>
            </a:r>
          </a:p>
        </p:txBody>
      </p:sp>
      <p:pic>
        <p:nvPicPr>
          <p:cNvPr id="34" name="plantuml Diagram 1"/>
          <p:cNvPicPr>
            <a:picLocks noChangeAspect="1"/>
          </p:cNvPicPr>
          <p:nvPr/>
        </p:nvPicPr>
        <p:blipFill>
          <a:blip r:embed="plantumlImage1"/>
          <a:stretch>
            <a:fillRect/>
          </a:stretch>
        </p:blipFill>
        <p:spPr>
          <a:xfrm>
            <a:off x="528656" y="2514558"/>
            <a:ext cx="2302130" cy="193841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2567940"/>
                <a:gridCol w="2529840"/>
                <a:gridCol w="150622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결제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전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605349"/>
          <a:ext cx="8305800" cy="3873500"/>
        </p:xfrm>
        <a:graphic>
          <a:graphicData uri="http://schemas.openxmlformats.org/drawingml/2006/table">
            <a:tbl>
              <a:tblPr/>
              <a:tblGrid>
                <a:gridCol w="1617980"/>
                <a:gridCol w="2959100"/>
                <a:gridCol w="372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외부 시스템에 맡기는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동사(필요한 정보), 시스템 이벤트마다 필요한 요청만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2402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a:t>
            </a:r>
            <a:r>
              <a:rPr sz="1800" b="0">
                <a:solidFill>
                  <a:srgbClr val="000000"/>
                </a:solidFill>
                <a:latin typeface="맑은 고딕"/>
                <a:ea typeface="맑은 고딕"/>
              </a:rPr>
              <a:t>은 그리지 않는다. 외부 시스템이 나중에 알리는 결과는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8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외부 시스템에 보내는 요청"/>
          <p:cNvPicPr>
            <a:picLocks noChangeAspect="1"/>
          </p:cNvPicPr>
          <p:nvPr/>
        </p:nvPicPr>
        <p:blipFill>
          <a:blip r:embed="svgImage11"/>
          <a:stretch>
            <a:fillRect/>
          </a:stretch>
        </p:blipFill>
        <p:spPr>
          <a:xfrm>
            <a:off x="2183956" y="211731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58739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2"/>
          <p:cNvPicPr>
            <a:picLocks noChangeAspect="1"/>
          </p:cNvPicPr>
          <p:nvPr/>
        </p:nvPicPr>
        <p:blipFill>
          <a:blip r:embed="plantumlImage2"/>
          <a:stretch>
            <a:fillRect/>
          </a:stretch>
        </p:blipFill>
        <p:spPr>
          <a:xfrm>
            <a:off x="1059962" y="186171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3052763"/>
          <a:ext cx="7005320" cy="3873500"/>
        </p:xfrm>
        <a:graphic>
          <a:graphicData uri="http://schemas.openxmlformats.org/drawingml/2006/table">
            <a:tbl>
              <a:tblPr/>
              <a:tblGrid>
                <a:gridCol w="2931160"/>
                <a:gridCol w="17576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결제 승인,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결제한다의 처리에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뒤 다른 시스템에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이 요청은 계약의 사후조건이 아니라 이 SSD의 시스템 사이 이벤트다</a:t>
            </a:r>
            <a:r>
              <a:rPr sz="1400" b="0">
                <a:solidFill>
                  <a:srgbClr val="000000"/>
                </a:solidFill>
                <a:latin typeface="맑은 고딕"/>
                <a:ea typeface="맑은 고딕"/>
              </a:rPr>
              <a:t>(「45.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SSD의 </a:t>
            </a:r>
            <a:r>
              <a:rPr sz="1800" b="1">
                <a:solidFill>
                  <a:srgbClr val="000000"/>
                </a:solidFill>
                <a:latin typeface="맑은 고딕"/>
                <a:ea typeface="맑은 고딕"/>
              </a:rPr>
              <a:t>요청</a:t>
            </a:r>
            <a:r>
              <a:rPr sz="1800" b="0">
                <a:solidFill>
                  <a:srgbClr val="000000"/>
                </a:solidFill>
                <a:latin typeface="맑은 고딕"/>
                <a:ea typeface="맑은 고딕"/>
              </a:rPr>
              <a:t> 하나가 메서드 하나다.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5" name="plantuml Diagram 3"/>
          <p:cNvPicPr>
            <a:picLocks noChangeAspect="1"/>
          </p:cNvPicPr>
          <p:nvPr/>
        </p:nvPicPr>
        <p:blipFill>
          <a:blip r:embed="plantumlImage3"/>
          <a:stretch>
            <a:fillRect/>
          </a:stretch>
        </p:blipFill>
        <p:spPr>
          <a:xfrm>
            <a:off x="1818298" y="251455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(1/6)</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오퍼레이션</a:t>
            </a:r>
            <a:r>
              <a:rPr sz="1800" b="0">
                <a:solidFill>
                  <a:srgbClr val="000000"/>
                </a:solidFill>
                <a:latin typeface="맑은 고딕"/>
                <a:ea typeface="맑은 고딕"/>
              </a:rPr>
              <a:t>에만 쓴다 —</a:t>
            </a:r>
            <a:r>
              <a:rPr sz="1600" b="0">
                <a:solidFill>
                  <a:srgbClr val="000000"/>
                </a:solidFill>
                <a:latin typeface="맑은 고딕"/>
                <a:ea typeface="맑은 고딕"/>
              </a:rPr>
              <a:t> 조건이 까다롭거나 여러 객체의 상태가 함께 바뀌는 오퍼레이션.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도메인 모델 객체의 상태 변화</a:t>
            </a:r>
            <a:r>
              <a:rPr sz="1800" b="0">
                <a:solidFill>
                  <a:srgbClr val="000000"/>
                </a:solidFill>
                <a:latin typeface="맑은 고딕"/>
                <a:ea typeface="맑은 고딕"/>
              </a:rPr>
              <a:t> — 인스턴스 생성, 연관 형성·해제, 속성 변경 — 를 서술한다"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 Domain model state changes include instances created, associations formed or broken, and attributes changed."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800" b="0">
                <a:solidFill>
                  <a:srgbClr val="000000"/>
                </a:solidFill>
                <a:latin typeface="맑은 고딕"/>
                <a:ea typeface="맑은 고딕"/>
              </a:rPr>
              <a:t>은 사후조건이 아니다. 시스템 사이의 이벤트로 「44. 정제된 SSD」에 보인다.</a:t>
            </a:r>
          </a:p>
        </p:txBody>
      </p:sp>
    </p:spTree>
    <p:extLst>
      <p:ext uri="{BB962C8B-B14F-4D97-AF65-F5344CB8AC3E}">
        <p14:creationId xmlns:p14="http://schemas.microsoft.com/office/powerpoint/2010/main" val="35554366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3146" y="1258570"/>
          <a:ext cx="5024120" cy="3873500"/>
        </p:xfrm>
        <a:graphic>
          <a:graphicData uri="http://schemas.openxmlformats.org/drawingml/2006/table">
            <a:tbl>
              <a:tblPr/>
              <a:tblGrid>
                <a:gridCol w="13665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주문과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133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주문시스템구현</a:t>
            </a:r>
            <a:r>
              <a:rPr sz="1000" b="0">
                <a:solidFill>
                  <a:srgbClr val="000000"/>
                </a:solidFill>
                <a:latin typeface="Consolas"/>
                <a:ea typeface="맑은 고딕"/>
              </a:rPr>
              <a:t> implements 주문시스템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상품을조회한다·장바구니에담는다·배송지를지정한다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 {</a:t>
            </a:r>
          </a:p>
          <a:p>
            <a:pPr marL="0" indent="0" algn="l">
              <a:lnSpc>
                <a:spcPts val="1150"/>
              </a:lnSpc>
              <a:spcBef>
                <a:spcPts val="0"/>
              </a:spcBef>
              <a:spcAft>
                <a:spcPts val="0"/>
              </a:spcAft>
              <a:buNone/>
            </a:pPr>
            <a:r>
              <a:rPr sz="1000" b="0">
                <a:solidFill>
                  <a:srgbClr val="000000"/>
                </a:solidFill>
                <a:latin typeface="Consolas"/>
                <a:ea typeface="맑은 고딕"/>
              </a:rPr>
              <a:t>        if (!상태.equals("결제 대기") || 배송지 == null) throw new IllegalStateException("사전조건 위반");</a:t>
            </a:r>
          </a:p>
          <a:p>
            <a:pPr marL="0" indent="0" algn="l">
              <a:lnSpc>
                <a:spcPts val="1150"/>
              </a:lnSpc>
              <a:spcBef>
                <a:spcPts val="0"/>
              </a:spcBef>
              <a:spcAft>
                <a:spcPts val="0"/>
              </a:spcAft>
              <a:buNone/>
            </a:pPr>
            <a:r>
              <a:rPr sz="1000" b="0">
                <a:solidFill>
                  <a:srgbClr val="000000"/>
                </a:solidFill>
                <a:latin typeface="Consolas"/>
                <a:ea typeface="맑은 고딕"/>
              </a:rPr>
              <a:t>        int 금액 = 0;</a:t>
            </a:r>
          </a:p>
          <a:p>
            <a:pPr marL="0" indent="0" algn="l">
              <a:lnSpc>
                <a:spcPts val="1150"/>
              </a:lnSpc>
              <a:spcBef>
                <a:spcPts val="0"/>
              </a:spcBef>
              <a:spcAft>
                <a:spcPts val="0"/>
              </a:spcAft>
              <a:buNone/>
            </a:pPr>
            <a:r>
              <a:rPr sz="1000" b="0">
                <a:solidFill>
                  <a:srgbClr val="000000"/>
                </a:solidFill>
                <a:latin typeface="Consolas"/>
                <a:ea typeface="맑은 고딕"/>
              </a:rPr>
              <a:t>        for (var 항목 : 장바구니.entrySet()) 금액 += 항목.getKey().판매가() * 항목.getValue();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상태다. 외부 시스템에 보내는 </a:t>
            </a:r>
            <a:r>
              <a:rPr sz="1800" b="1">
                <a:solidFill>
                  <a:srgbClr val="000000"/>
                </a:solidFill>
                <a:latin typeface="맑은 고딕"/>
                <a:ea typeface="맑은 고딕"/>
              </a:rPr>
              <a:t>요청</a:t>
            </a:r>
            <a:r>
              <a:rPr sz="1800" b="0">
                <a:solidFill>
                  <a:srgbClr val="000000"/>
                </a:solidFill>
                <a:latin typeface="맑은 고딕"/>
                <a:ea typeface="맑은 고딕"/>
              </a:rPr>
              <a:t>은 정제된 SSD의 순서를 따른다.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4" name="plantuml Diagram 4"/>
          <p:cNvPicPr>
            <a:picLocks noChangeAspect="1"/>
          </p:cNvPicPr>
          <p:nvPr/>
        </p:nvPicPr>
        <p:blipFill>
          <a:blip r:embed="plantumlImage4"/>
          <a:stretch>
            <a:fillRect/>
          </a:stretch>
        </p:blipFill>
        <p:spPr>
          <a:xfrm>
            <a:off x="1392115" y="2514558"/>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3324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승인번호 = 외부.결제().결제승인을요청한다(금액, 결제수단);</a:t>
            </a:r>
          </a:p>
          <a:p>
            <a:pPr marL="0" indent="0" algn="l">
              <a:lnSpc>
                <a:spcPts val="1150"/>
              </a:lnSpc>
              <a:spcBef>
                <a:spcPts val="0"/>
              </a:spcBef>
              <a:spcAft>
                <a:spcPts val="0"/>
              </a:spcAft>
              <a:buNone/>
            </a:pPr>
            <a:r>
              <a:rPr sz="1000" b="0">
                <a:solidFill>
                  <a:srgbClr val="000000"/>
                </a:solidFill>
                <a:latin typeface="Consolas"/>
                <a:ea typeface="맑은 고딕"/>
              </a:rPr>
              <a:t>        if (승인번호 == null) throw new IllegalStateException("승인 거절 — 정책 미확정");</a:t>
            </a:r>
          </a:p>
          <a:p>
            <a:pPr marL="0" indent="0" algn="l">
              <a:lnSpc>
                <a:spcPts val="1150"/>
              </a:lnSpc>
              <a:spcBef>
                <a:spcPts val="0"/>
              </a:spcBef>
              <a:spcAft>
                <a:spcPts val="0"/>
              </a:spcAft>
              <a:buNone/>
            </a:pPr>
            <a:r>
              <a:rPr sz="1000" b="0">
                <a:solidFill>
                  <a:srgbClr val="000000"/>
                </a:solidFill>
                <a:latin typeface="Consolas"/>
                <a:ea typeface="맑은 고딕"/>
              </a:rPr>
              <a:t>        장바구니.forEach((상품, 수량) -&gt; {</a:t>
            </a:r>
          </a:p>
          <a:p>
            <a:pPr marL="0" indent="0" algn="l">
              <a:lnSpc>
                <a:spcPts val="1150"/>
              </a:lnSpc>
              <a:spcBef>
                <a:spcPts val="0"/>
              </a:spcBef>
              <a:spcAft>
                <a:spcPts val="0"/>
              </a:spcAft>
              <a:buNone/>
            </a:pPr>
            <a:r>
              <a:rPr sz="1000" b="0">
                <a:solidFill>
                  <a:srgbClr val="000000"/>
                </a:solidFill>
                <a:latin typeface="Consolas"/>
                <a:ea typeface="맑은 고딕"/>
              </a:rPr>
              <a:t>            if (!외부.상품().재고차감을요청한다(상품, 수량)) throw new IllegalStateException("재고 부족 — 정책 미확정");</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외부.배송().배송을요청한다(주문번호, 배송지);</a:t>
            </a:r>
          </a:p>
          <a:p>
            <a:pPr marL="0" indent="0" algn="l">
              <a:lnSpc>
                <a:spcPts val="1150"/>
              </a:lnSpc>
              <a:spcBef>
                <a:spcPts val="0"/>
              </a:spcBef>
              <a:spcAft>
                <a:spcPts val="0"/>
              </a:spcAft>
              <a:buNone/>
            </a:pPr>
            <a:r>
              <a:rPr sz="1000" b="0">
                <a:solidFill>
                  <a:srgbClr val="000000"/>
                </a:solidFill>
                <a:latin typeface="Consolas"/>
                <a:ea typeface="맑은 고딕"/>
              </a:rPr>
              <a:t>        외부.회계().입금처리를요청한다(승인번호);</a:t>
            </a:r>
          </a:p>
          <a:p>
            <a:pPr marL="0" indent="0" algn="l">
              <a:lnSpc>
                <a:spcPts val="1150"/>
              </a:lnSpc>
              <a:spcBef>
                <a:spcPts val="0"/>
              </a:spcBef>
              <a:spcAft>
                <a:spcPts val="0"/>
              </a:spcAft>
              <a:buNone/>
            </a:pPr>
            <a:r>
              <a:rPr sz="1000" b="0">
                <a:solidFill>
                  <a:srgbClr val="000000"/>
                </a:solidFill>
                <a:latin typeface="Consolas"/>
                <a:ea typeface="맑은 고딕"/>
              </a:rPr>
              <a:t>        외부.회계().영수증발행을요청한다(주문번호, 승인번호);</a:t>
            </a:r>
          </a:p>
          <a:p>
            <a:pPr marL="0" indent="0" algn="l">
              <a:lnSpc>
                <a:spcPts val="1150"/>
              </a:lnSpc>
              <a:spcBef>
                <a:spcPts val="0"/>
              </a:spcBef>
              <a:spcAft>
                <a:spcPts val="0"/>
              </a:spcAft>
              <a:buNone/>
            </a:pPr>
            <a:r>
              <a:rPr sz="1000" b="0">
                <a:solidFill>
                  <a:srgbClr val="000000"/>
                </a:solidFill>
                <a:latin typeface="Consolas"/>
                <a:ea typeface="맑은 고딕"/>
              </a:rPr>
              <a:t>        상태 = "결제 완료";</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96012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3" name="plantuml Diagram 5"/>
          <p:cNvPicPr>
            <a:picLocks noChangeAspect="1"/>
          </p:cNvPicPr>
          <p:nvPr/>
        </p:nvPicPr>
        <p:blipFill>
          <a:blip r:embed="plantumlImage5"/>
          <a:stretch>
            <a:fillRect/>
          </a:stretch>
        </p:blipFill>
        <p:spPr>
          <a:xfrm>
            <a:off x="1392115" y="1234440"/>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사후조건</a:t>
            </a:r>
            <a:r>
              <a:rPr sz="1400" b="0">
                <a:solidFill>
                  <a:srgbClr val="000000"/>
                </a:solidFill>
                <a:latin typeface="맑은 고딕"/>
                <a:ea typeface="맑은 고딕"/>
              </a:rPr>
              <a:t>(상태)</a:t>
            </a:r>
            <a:r>
              <a:rPr sz="1800" b="0">
                <a:solidFill>
                  <a:srgbClr val="000000"/>
                </a:solidFill>
                <a:latin typeface="맑은 고딕"/>
                <a:ea typeface="맑은 고딕"/>
              </a:rPr>
              <a:t>과 함께 정제된 SSD의 요청을 확인하며,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5" name="plantuml Diagram 6"/>
          <p:cNvPicPr>
            <a:picLocks noChangeAspect="1"/>
          </p:cNvPicPr>
          <p:nvPr/>
        </p:nvPicPr>
        <p:blipFill>
          <a:blip r:embed="plantumlImage6"/>
          <a:stretch>
            <a:fillRect/>
          </a:stretch>
        </p:blipFill>
        <p:spPr>
          <a:xfrm>
            <a:off x="1710104" y="251455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(6/6)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538688"/>
          <a:ext cx="5052060" cy="3873500"/>
        </p:xfrm>
        <a:graphic>
          <a:graphicData uri="http://schemas.openxmlformats.org/drawingml/2006/table">
            <a:tbl>
              <a:tblPr/>
              <a:tblGrid>
                <a:gridCol w="13665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배송지가 새 주소로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09847"/>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1460500" y="4084167"/>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09949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「45.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41790"/>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4116110"/>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marL="342900" indent="0">
              <a:spcBef>
                <a:spcPts val="600"/>
              </a:spcBef>
              <a:spcAft>
                <a:spcPts val="600"/>
              </a:spcAft>
              <a:buNone/>
            </a:pPr>
            <a:r>
              <a:rPr sz="1800" b="1">
                <a:solidFill>
                  <a:srgbClr val="000000"/>
                </a:solidFill>
                <a:latin typeface="맑은 고딕"/>
                <a:ea typeface="맑은 고딕"/>
              </a:rPr>
              <a:t>표현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사용자로서 나는 </a:t>
            </a:r>
            <a:r>
              <a:rPr sz="1800" b="0">
                <a:solidFill>
                  <a:srgbClr val="000000"/>
                </a:solidFill>
                <a:latin typeface="맑은 고딕"/>
                <a:ea typeface="맑은 고딕"/>
              </a:rPr>
              <a:t>&lt;목표&gt;</a:t>
            </a:r>
            <a:r>
              <a:rPr sz="1800" b="0">
                <a:solidFill>
                  <a:srgbClr val="000000"/>
                </a:solidFill>
                <a:latin typeface="맑은 고딕"/>
                <a:ea typeface="맑은 고딕"/>
              </a:rPr>
              <a:t>를 원한다. 왜냐하면 </a:t>
            </a:r>
            <a:r>
              <a:rPr sz="1800" b="0">
                <a:solidFill>
                  <a:srgbClr val="000000"/>
                </a:solidFill>
                <a:latin typeface="맑은 고딕"/>
                <a:ea typeface="맑은 고딕"/>
              </a:rPr>
              <a:t>&lt;가치&gt;</a:t>
            </a:r>
            <a:r>
              <a:rPr sz="1800" b="0">
                <a:solidFill>
                  <a:srgbClr val="000000"/>
                </a:solidFill>
                <a:latin typeface="맑은 고딕"/>
                <a:ea typeface="맑은 고딕"/>
              </a:rPr>
              <a:t>를 얻고 싶기 때문이다.</a:t>
            </a:r>
          </a:p>
          <a:p>
            <a:pPr marL="342900" indent="0">
              <a:spcBef>
                <a:spcPts val="600"/>
              </a:spcBef>
              <a:spcAft>
                <a:spcPts val="600"/>
              </a:spcAft>
              <a:buNone/>
            </a:pPr>
            <a:r>
              <a:rPr sz="1800" b="1">
                <a:solidFill>
                  <a:srgbClr val="000000"/>
                </a:solidFill>
                <a:latin typeface="맑은 고딕"/>
                <a:ea typeface="맑은 고딕"/>
              </a:rPr>
              <a:t>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고객으로서 출고 전 배송지를 변경하고 싶다. 올바른 장소에서 상품을 받고 싶기 때문이다.</a:t>
            </a:r>
          </a:p>
          <a:p>
            <a:pPr marL="342900" indent="0">
              <a:spcBef>
                <a:spcPts val="600"/>
              </a:spcBef>
              <a:spcAft>
                <a:spcPts val="600"/>
              </a:spcAft>
              <a:buNone/>
            </a:pPr>
            <a:r>
              <a:rPr sz="1800" b="1">
                <a:solidFill>
                  <a:srgbClr val="000000"/>
                </a:solidFill>
                <a:latin typeface="맑은 고딕"/>
                <a:ea typeface="맑은 고딕"/>
              </a:rPr>
              <a:t>핵심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세부 내용은 </a:t>
            </a:r>
            <a:r>
              <a:rPr sz="1800" b="1">
                <a:solidFill>
                  <a:srgbClr val="000000"/>
                </a:solidFill>
                <a:latin typeface="맑은 고딕"/>
                <a:ea typeface="맑은 고딕"/>
              </a:rPr>
              <a:t>대화와 인수 조건</a:t>
            </a:r>
            <a:r>
              <a:rPr sz="1800" b="0">
                <a:solidFill>
                  <a:srgbClr val="000000"/>
                </a:solidFill>
                <a:latin typeface="맑은 고딕"/>
                <a:ea typeface="맑은 고딕"/>
              </a:rPr>
              <a:t>으로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반복적인 개발</a:t>
            </a:r>
            <a:r>
              <a:rPr sz="1800" b="0">
                <a:solidFill>
                  <a:srgbClr val="000000"/>
                </a:solidFill>
                <a:latin typeface="맑은 고딕"/>
                <a:ea typeface="맑은 고딕"/>
              </a:rPr>
              <a:t>과 </a:t>
            </a:r>
            <a:r>
              <a:rPr sz="1800" b="1">
                <a:solidFill>
                  <a:srgbClr val="000000"/>
                </a:solidFill>
                <a:latin typeface="맑은 고딕"/>
                <a:ea typeface="맑은 고딕"/>
              </a:rPr>
              <a:t>우선순위 관리</a:t>
            </a:r>
            <a:r>
              <a:rPr sz="1800" b="0">
                <a:solidFill>
                  <a:srgbClr val="000000"/>
                </a:solidFill>
                <a:latin typeface="맑은 고딕"/>
                <a:ea typeface="맑은 고딕"/>
              </a:rPr>
              <a:t>에 적합하다.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형식 문장 자체보다 </a:t>
            </a:r>
            <a:r>
              <a:rPr sz="1800" b="1">
                <a:solidFill>
                  <a:srgbClr val="000000"/>
                </a:solidFill>
                <a:latin typeface="맑은 고딕"/>
                <a:ea typeface="맑은 고딕"/>
              </a:rPr>
              <a:t>카드·대화·확인</a:t>
            </a:r>
            <a:r>
              <a:rPr sz="1800" b="0">
                <a:solidFill>
                  <a:srgbClr val="000000"/>
                </a:solidFill>
                <a:latin typeface="맑은 고딕"/>
                <a:ea typeface="맑은 고딕"/>
              </a:rPr>
              <a:t>이 중요하다.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4144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사용자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508421"/>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099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활동</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585960"/>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&lt;시작 조건&gt;</a:t>
            </a:r>
          </a:p>
          <a:p>
            <a:pPr marL="0" indent="0" algn="l">
              <a:lnSpc>
                <a:spcPts val="1150"/>
              </a:lnSpc>
              <a:spcBef>
                <a:spcPts val="0"/>
              </a:spcBef>
              <a:spcAft>
                <a:spcPts val="0"/>
              </a:spcAft>
              <a:buNone/>
            </a:pPr>
            <a:r>
              <a:rPr sz="1000" b="0">
                <a:solidFill>
                  <a:srgbClr val="000000"/>
                </a:solidFill>
                <a:latin typeface="Consolas"/>
                <a:ea typeface="맑은 고딕"/>
              </a:rPr>
              <a:t>When  &lt;행위&gt;</a:t>
            </a:r>
          </a:p>
          <a:p>
            <a:pPr marL="0" indent="0" algn="l">
              <a:lnSpc>
                <a:spcPts val="1150"/>
              </a:lnSpc>
              <a:spcBef>
                <a:spcPts val="0"/>
              </a:spcBef>
              <a:spcAft>
                <a:spcPts val="0"/>
              </a:spcAft>
              <a:buNone/>
            </a:pPr>
            <a:r>
              <a:rPr sz="1000" b="0">
                <a:solidFill>
                  <a:srgbClr val="000000"/>
                </a:solidFill>
                <a:latin typeface="Consolas"/>
                <a:ea typeface="맑은 고딕"/>
              </a:rPr>
              <a:t>Then  &lt;관찰 가능한 결과&gt;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Given-When-Then</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235608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311808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번째 블록은 「45.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7733515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4144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41448"/>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8224"/>
            <a:ext cx="8412480" cy="274320"/>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3"/>
          <p:cNvPicPr>
            <a:picLocks noChangeAspect="1"/>
          </p:cNvPicPr>
          <p:nvPr/>
        </p:nvPicPr>
        <p:blipFill>
          <a:blip r:embed="mermaidImage3"/>
          <a:stretch>
            <a:fillRect/>
          </a:stretch>
        </p:blipFill>
        <p:spPr>
          <a:xfrm>
            <a:off x="2608612" y="4042544"/>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480"/>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4"/>
          <p:cNvPicPr>
            <a:picLocks noChangeAspect="1"/>
          </p:cNvPicPr>
          <p:nvPr/>
        </p:nvPicPr>
        <p:blipFill>
          <a:blip r:embed="mermaidImage4"/>
          <a:stretch>
            <a:fillRect/>
          </a:stretch>
        </p:blipFill>
        <p:spPr>
          <a:xfrm>
            <a:off x="1460500" y="448880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25322"/>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5"/>
          <p:cNvPicPr>
            <a:picLocks noChangeAspect="1"/>
          </p:cNvPicPr>
          <p:nvPr/>
        </p:nvPicPr>
        <p:blipFill>
          <a:blip r:embed="mermaidImage5"/>
          <a:stretch>
            <a:fillRect/>
          </a:stretch>
        </p:blipFill>
        <p:spPr>
          <a:xfrm>
            <a:off x="1460500" y="4599642"/>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7164"/>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6"/>
          <p:cNvPicPr>
            <a:picLocks noChangeAspect="1"/>
          </p:cNvPicPr>
          <p:nvPr/>
        </p:nvPicPr>
        <p:blipFill>
          <a:blip r:embed="mermaidImage6"/>
          <a:stretch>
            <a:fillRect/>
          </a:stretch>
        </p:blipFill>
        <p:spPr>
          <a:xfrm>
            <a:off x="1460500" y="375148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명세서를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1의 </a:t>
            </a:r>
            <a:r>
              <a:rPr sz="1400" b="1">
                <a:solidFill>
                  <a:srgbClr val="000000"/>
                </a:solidFill>
                <a:latin typeface="맑은 고딕"/>
                <a:ea typeface="맑은 고딕"/>
              </a:rPr>
              <a:t>요구사항 명세서</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여러분이 완성한 명세서를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"위 요구사항 명세서로 유스케이스 다이어그램을 PlantUML로 그리고, '정기배송을 신청한다'의 명세서를 작성해줘. 조회·변경·해지는 이 유스케이스의 대안 흐름에 넣고, Larman의 정식 형식</a:t>
            </a:r>
            <a:r>
              <a:rPr sz="1000" b="0">
                <a:solidFill>
                  <a:srgbClr val="000000"/>
                </a:solidFill>
                <a:latin typeface="맑은 고딕"/>
                <a:ea typeface="맑은 고딕"/>
              </a:rPr>
              <a:t>(fully dressed)</a:t>
            </a:r>
            <a:r>
              <a:rPr sz="1400" b="0">
                <a:solidFill>
                  <a:srgbClr val="000000"/>
                </a:solidFill>
                <a:latin typeface="맑은 고딕"/>
                <a:ea typeface="맑은 고딕"/>
              </a:rPr>
              <a:t>으로 기본 성공 시나리오와 대안 흐름</a:t>
            </a:r>
            <a:r>
              <a:rPr sz="1000" b="0">
                <a:solidFill>
                  <a:srgbClr val="000000"/>
                </a:solidFill>
                <a:latin typeface="맑은 고딕"/>
                <a:ea typeface="맑은 고딕"/>
              </a:rPr>
              <a:t>(성공·실패 모두)</a:t>
            </a:r>
            <a:r>
              <a:rPr sz="1400" b="0">
                <a:solidFill>
                  <a:srgbClr val="000000"/>
                </a:solidFill>
                <a:latin typeface="맑은 고딕"/>
                <a:ea typeface="맑은 고딕"/>
              </a:rPr>
              <a:t>을 써줘. 업무 규칙과 특별 요구사항도 덧붙여줘. 명세서에 없는 규칙은 </a:t>
            </a:r>
            <a:r>
              <a:rPr sz="1400" b="1">
                <a:solidFill>
                  <a:srgbClr val="000000"/>
                </a:solidFill>
                <a:latin typeface="맑은 고딕"/>
                <a:ea typeface="맑은 고딕"/>
              </a:rPr>
              <a:t>반드시 확인</a:t>
            </a:r>
            <a:r>
              <a:rPr sz="1400" b="0">
                <a:solidFill>
                  <a:srgbClr val="000000"/>
                </a:solidFill>
                <a:latin typeface="맑은 고딕"/>
                <a:ea typeface="맑은 고딕"/>
              </a:rPr>
              <a:t>해라. 명세서에 쓴 용어로 </a:t>
            </a:r>
            <a:r>
              <a:rPr sz="14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4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요구 반영</a:t>
            </a:r>
            <a:r>
              <a:rPr sz="1400" b="0">
                <a:solidFill>
                  <a:srgbClr val="000000"/>
                </a:solidFill>
                <a:latin typeface="맑은 고딕"/>
                <a:ea typeface="맑은 고딕"/>
              </a:rPr>
              <a:t> —</a:t>
            </a:r>
            <a:r>
              <a:rPr sz="120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시스템 경계</a:t>
            </a:r>
            <a:r>
              <a:rPr sz="1400" b="0">
                <a:solidFill>
                  <a:srgbClr val="000000"/>
                </a:solidFill>
                <a:latin typeface="맑은 고딕"/>
                <a:ea typeface="맑은 고딕"/>
              </a:rPr>
              <a:t> —</a:t>
            </a:r>
            <a:r>
              <a:rPr sz="120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유스케이스 단위</a:t>
            </a:r>
            <a:r>
              <a:rPr sz="1400" b="0">
                <a:solidFill>
                  <a:srgbClr val="000000"/>
                </a:solidFill>
                <a:latin typeface="맑은 고딕"/>
                <a:ea typeface="맑은 고딕"/>
              </a:rPr>
              <a:t> —</a:t>
            </a:r>
            <a:r>
              <a:rPr sz="1200" b="0">
                <a:solidFill>
                  <a:srgbClr val="000000"/>
                </a:solidFill>
                <a:latin typeface="맑은 고딕"/>
                <a:ea typeface="맑은 고딕"/>
              </a:rPr>
              <a:t> 기능 조각</a:t>
            </a:r>
            <a:r>
              <a:rPr sz="1000" b="0">
                <a:solidFill>
                  <a:srgbClr val="000000"/>
                </a:solidFill>
                <a:latin typeface="맑은 고딕"/>
                <a:ea typeface="맑은 고딕"/>
              </a:rPr>
              <a:t>(로그인·결제하기)</a:t>
            </a:r>
            <a:r>
              <a:rPr sz="1200" b="0">
                <a:solidFill>
                  <a:srgbClr val="000000"/>
                </a:solidFill>
                <a:latin typeface="맑은 고딕"/>
                <a:ea typeface="맑은 고딕"/>
              </a:rPr>
              <a:t>이나 CRUD 분할</a:t>
            </a:r>
            <a:r>
              <a:rPr sz="1000" b="0">
                <a:solidFill>
                  <a:srgbClr val="000000"/>
                </a:solidFill>
                <a:latin typeface="맑은 고딕"/>
                <a:ea typeface="맑은 고딕"/>
              </a:rPr>
              <a:t>(신청 조회·수정·삭제)</a:t>
            </a:r>
            <a:r>
              <a:rPr sz="1200" b="0">
                <a:solidFill>
                  <a:srgbClr val="000000"/>
                </a:solidFill>
                <a:latin typeface="맑은 고딕"/>
                <a:ea typeface="맑은 고딕"/>
              </a:rPr>
              <a:t>이 아닌가?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흐름</a:t>
            </a:r>
            <a:r>
              <a:rPr sz="1400" b="0">
                <a:solidFill>
                  <a:srgbClr val="000000"/>
                </a:solidFill>
                <a:latin typeface="맑은 고딕"/>
                <a:ea typeface="맑은 고딕"/>
              </a:rPr>
              <a:t> —</a:t>
            </a:r>
            <a:r>
              <a:rPr sz="120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규칙</a:t>
            </a:r>
            <a:r>
              <a:rPr sz="1400" b="0">
                <a:solidFill>
                  <a:srgbClr val="000000"/>
                </a:solidFill>
                <a:latin typeface="맑은 고딕"/>
                <a:ea typeface="맑은 고딕"/>
              </a:rPr>
              <a:t> —</a:t>
            </a:r>
            <a:r>
              <a:rPr sz="120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용어</a:t>
            </a:r>
            <a:r>
              <a:rPr sz="1400" b="0">
                <a:solidFill>
                  <a:srgbClr val="000000"/>
                </a:solidFill>
                <a:latin typeface="맑은 고딕"/>
                <a:ea typeface="맑은 고딕"/>
              </a:rPr>
              <a:t> —</a:t>
            </a:r>
            <a:r>
              <a:rPr sz="1200" b="0">
                <a:solidFill>
                  <a:srgbClr val="000000"/>
                </a:solidFill>
                <a:latin typeface="맑은 고딕"/>
                <a:ea typeface="맑은 고딕"/>
              </a:rPr>
              <a:t> 구현 표현</a:t>
            </a:r>
            <a:r>
              <a:rPr sz="1000" b="0">
                <a:solidFill>
                  <a:srgbClr val="000000"/>
                </a:solidFill>
                <a:latin typeface="맑은 고딕"/>
                <a:ea typeface="맑은 고딕"/>
              </a:rPr>
              <a:t>(화면·DB)</a:t>
            </a:r>
            <a:r>
              <a:rPr sz="120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유스케이스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7"/>
          <p:cNvPicPr>
            <a:picLocks noChangeAspect="1"/>
          </p:cNvPicPr>
          <p:nvPr/>
        </p:nvPicPr>
        <p:blipFill>
          <a:blip r:embed="plantumlImage7"/>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유스케이스 명세서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성공 보장</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61. 용어집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- 83 -</a:t>
            </a:r>
          </a:p>
        </p:txBody>
      </p:sp>
    </p:spTree>
    <p:extLst>
      <p:ext uri="{BB962C8B-B14F-4D97-AF65-F5344CB8AC3E}">
        <p14:creationId xmlns:p14="http://schemas.microsoft.com/office/powerpoint/2010/main" val="27895694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시스템 시퀀스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8"/>
          <p:cNvPicPr>
            <a:picLocks noChangeAspect="1"/>
          </p:cNvPicPr>
          <p:nvPr/>
        </p:nvPicPr>
        <p:blipFill>
          <a:blip r:embed="plantumlImage8"/>
          <a:stretch>
            <a:fillRect/>
          </a:stretch>
        </p:blipFill>
        <p:spPr>
          <a:xfrm>
            <a:off x="517769" y="2330862"/>
            <a:ext cx="8108462" cy="30724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명세서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F10 영수증 발행</a:t>
            </a:r>
            <a:r>
              <a:rPr sz="1200" b="0">
                <a:solidFill>
                  <a:srgbClr val="000000"/>
                </a:solidFill>
                <a:latin typeface="맑은 고딕"/>
                <a:ea typeface="맑은 고딕"/>
              </a:rPr>
              <a:t> —</a:t>
            </a:r>
            <a:r>
              <a:rPr sz="1000" b="0">
                <a:solidFill>
                  <a:srgbClr val="000000"/>
                </a:solidFill>
                <a:latin typeface="맑은 고딕"/>
                <a:ea typeface="맑은 고딕"/>
              </a:rPr>
              <a:t> 결제가 승인되면 영수증을 발행하고 고객에게 알린다</a:t>
            </a:r>
            <a:r>
              <a:rPr sz="800" b="0">
                <a:solidFill>
                  <a:srgbClr val="000000"/>
                </a:solidFill>
                <a:latin typeface="맑은 고딕"/>
                <a:ea typeface="맑은 고딕"/>
              </a:rPr>
              <a:t>(UC1 기본 흐름 8)</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F7~F10.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한다.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업무·기술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 과정 끝까지 모든 모델·코드가 쓰는 이름의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64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(1/2) 유스케이스 다이어그램</vt:lpstr>
      <vt:lpstr>22. 대상 시스템과 경계 (2/2) 유스케이스 다이어그램</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 형식</vt:lpstr>
      <vt:lpstr>29. 유스케이스 명세서 템플릿</vt:lpstr>
      <vt:lpstr>30. 기본 이벤트 흐름 (1/2)</vt:lpstr>
      <vt:lpstr>30. 기본 이벤트 흐름 (2/2)</vt:lpstr>
      <vt:lpstr>31. 규칙과 특별 요구사항</vt:lpstr>
      <vt:lpstr>32. 이벤트 흐름을 이용한 요구 분석</vt:lpstr>
      <vt:lpstr>33. 유스케이스 상세화</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(1/2)</vt:lpstr>
      <vt:lpstr>40. 잘못된 유스케이스 다이어그램 (2/2)</vt:lpstr>
      <vt:lpstr>41. 시스템 시퀀스 다이어그램 (1/2)</vt:lpstr>
      <vt:lpstr>41. 시스템 시퀀스 다이어그램 (2/2)</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(1/6)</vt:lpstr>
      <vt:lpstr>45. 시스템 오퍼레이션과 계약 (2/6)</vt:lpstr>
      <vt:lpstr>45. 시스템 오퍼레이션과 계약 (3/6)</vt:lpstr>
      <vt:lpstr>45. 시스템 오퍼레이션과 계약 (4/6)</vt:lpstr>
      <vt:lpstr>45. 시스템 오퍼레이션과 계약 (5/6)</vt:lpstr>
      <vt:lpstr>45. 시스템 오퍼레이션과 계약 (6/6)</vt:lpstr>
      <vt:lpstr>46. 정적·동적 모델을 통한 상세화</vt:lpstr>
      <vt:lpstr>47. 유스케이스와 품질속성</vt:lpstr>
      <vt:lpstr>48. 프로토타입·와이어프레임 (1/2)</vt:lpstr>
      <vt:lpstr>48. 프로토타입·와이어프레임 (2/2)</vt:lpstr>
      <vt:lpstr>49. 사용자 스토리</vt:lpstr>
      <vt:lpstr>50. 사용자 스토리의 강점과 한계</vt:lpstr>
      <vt:lpstr>51. 행위 주도 개발 (1/2)</vt:lpstr>
      <vt:lpstr>51. 행위 주도 개발 (2/2)</vt:lpstr>
      <vt:lpstr>52. 행위 주도 개발의 강점과 한계</vt:lpstr>
      <vt:lpstr>53. 유스케이스·사용자 스토리·BDD</vt:lpstr>
      <vt:lpstr>54. 요구사항 검증</vt:lpstr>
      <vt:lpstr>55. 요구사항 관리</vt:lpstr>
      <vt:lpstr>56. 요구사항 추적</vt:lpstr>
      <vt:lpstr>57. 요구사항에서 학습으로</vt:lpstr>
      <vt:lpstr>58. 실습 — 유스케이스</vt:lpstr>
      <vt:lpstr>59. 유스케이스 다이어그램 (안)</vt:lpstr>
      <vt:lpstr>60. 유스케이스 명세서 (안)</vt:lpstr>
      <vt:lpstr>61. 용어집 (안)</vt:lpstr>
      <vt:lpstr>62. 시스템 시퀀스 다이어그램 (안)</vt:lpstr>
      <vt:lpstr>63. 요구사항 명세서 보완 (안)</vt:lpstr>
      <vt:lpstr>64.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