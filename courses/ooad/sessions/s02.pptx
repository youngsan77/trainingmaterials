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「53. 요구사항 검증」에서 검토와 사용 증거의 역할을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"문제" 행은 교육용 가정이다. 실제 문제와 원인은 항상 요청자에게 직접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구분은 이 요청에 대한 교육용 해석이다. 실제 문제는 고객에게 확인해 정한다(「03.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「32. AI 기반 소프트웨어공학」과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Requirements](https://www.craiglarman.com/wiki/downloads/applying_uml/larman-ch5-applying-evolutionary-requirements.pdf)를 근거로 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영역별 경우는 교육용 가정이다. 실제 프로젝트에서는 영역마다 누가 무엇을 아는지 먼저 확인한다.</a:t>
            </a:r>
          </a:p>
          <a:p>
            <a:pPr lvl="0"/>
            <a:r>
              <a:rPr lang="ko-KR" sz="1200"/>
              <a:t>정기배송 건너뛰기는 이 세션 실습(「57. 실습 — 모델로 바꾸기」)의 사례다.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서로 다른 분류의 추상화 수준을 억지로 일대일 대응시키지 않는다.</a:t>
            </a:r>
          </a:p>
          <a:p>
            <a:pPr lvl="0"/>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ISO/IEC/IEEE 29148:2018, §5.2(개별 요구사항 및 요구사항 집합의 특성).</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「32. 유스케이스 상세화」와 「42. 시스템 이벤트와 오퍼레이션」에서 상세화한다.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*Writing Effective Use Cases*, pre-publication draft #3(2000-02-21, Addison-Wesley 2001 출간), Chapter 1. 같은 곳에서 유스케이스는 성능 요구·비즈니스 규칙·화면 설계·데이터 설명·상태 기계 행위·우선순위를 담지 않으며, 이들을 연결하는 허브 역할을 한다고 설명한다.</a:t>
            </a:r>
          </a:p>
          <a:p>
            <a:pPr lvl="0"/>
            <a:r>
              <a:rPr lang="ko-KR" sz="1200"/>
              <a:t>기능 분해도·DFD·CRUD 매트릭스 자체가 틀린 도구라는 뜻이 아니다. 각자의 질문에 쓰되 유스케이스의 단위로 옮기지 않는다.</a:t>
            </a:r>
          </a:p>
          <a:p>
            <a:pPr lvl="0"/>
            <a:r>
              <a:rPr lang="ko-KR" sz="1200"/>
              <a:t>DFD는 사건에 반응해 자료를 생성·변경(C·U)하는 처리가 중심이다. 모든 자료 접근을 CRUD로 채우는 것은 상세 설계의 점검 작업이며 요구의 출발점이 아니다.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절대적인 순차 절차가 아니다. 실제 분석에서는 필요한 만큼 앞뒤로 반복한다.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시스템은 장바구니, 주문의 성립과 상태, 배송지 변경, 취소, 그리고 외부 시스템과의 조정을 책임진다.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「37. 잘못된 관행 — 시스템 관점·액터」에서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§18.1.3.1; Craig Larman, [Applying UML and Patterns, Chapter 6](https://www.craiglarman.com/wiki/downloads/applying_uml/larman-ch6-applying-evolutionary-use-cases.pdf), §6.6.</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질문에 모두 "예"여야 후보다. 하나라도 "아니요"면 기능 조각이거나 다른 시스템의 목표다.</a:t>
            </a:r>
          </a:p>
          <a:p>
            <a:pPr lvl="0"/>
            <a:r>
              <a:rPr lang="ko-KR" sz="1200"/>
              <a:t>경계 밖 후보는 「27. 유스케이스 다이어그램 — 초안」에서 그 시스템의 경계 안에 따로 그린다.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Alistair Cockburn, *Writing Effective Use Cases*, pre-publication draft #3(2000), Chapter 5 "Three Named Goal Levels". 사용자 목표는 업무 공학의 "기본 업무 프로세스"에 대응하며, 한 사람이 한 번 앉은 자리에서(몇 분) 마치는지를 보는 기준을 함께 제시한다.</a:t>
            </a:r>
          </a:p>
          <a:p>
            <a:pPr lvl="0"/>
            <a:r>
              <a:rPr lang="ko-KR" sz="1200"/>
              <a:t>「28. 유스케이스 명세서 템플릿」의 "수준" 항목은 이 구분을 적는다.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유스케이스는 글로 쓰는 명세이고, 다이어그램과 관계는 유스케이스 작업에서 부수적이다. 액터–목표 목록으로 다이어그램을 간단히 그리고 시간은 명세서에 쓴다(요약: Craig Larman, [Applying UML and Patterns, Chapter 6](https://www.craiglarman.com/wiki/downloads/applying_uml/larman-ch6-applying-evolutionary-use-cases.pdf)).</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유스케이스에 모든 항목을 기계적으로 채우지 않는다.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남는다(「33. 유스케이스 다이어그램 — 상세화」의 포함 관계).</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방어 코딩 수준의 모든 예외를 유스케이스에 기록하지 않는다.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 취소는 주문할 상품을 고르는 대신(1단계) 이미 한 주문을 취소하는 경로라 1a, 배송지 변경은 배송지 지정(3단계)의 대안이라 3a, 주문 내역 확인은 결과 확인(5단계)의 대안이라 5a다. 3a·5a의 단계도 같은 방식으로 쓴다. 배송지 변경의 결과는 「44. 시스템 오퍼레이션과 계약」의 계약으로 상세화한다.</a:t>
            </a:r>
          </a:p>
          <a:p>
            <a:pPr lvl="0"/>
            <a:r>
              <a:rPr lang="ko-KR" sz="1200"/>
              <a:t>번호·분기 표기는 Cockburn의 확장(extension) 표기 방식을 따른 수업용 형식이다.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Chapter 19 "Mistakes Fixed". 세 가지 실수는 이어지는 잘못된 관행 topic들의 출발점이다.</a:t>
            </a:r>
          </a:p>
          <a:p>
            <a:pPr lvl="0"/>
            <a:r>
              <a:rPr lang="ko-KR" sz="1200"/>
              <a:t>판단 질문은 「26. 유스케이스 수준」의 사용자 목표 기준이다.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「32. 유스케이스 상세화」를 참조한다.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정보공학의 DFD도 사건에 반응해 자료를 생성·변경(C·U)하는 처리가 중심이다. 모든 자료 접근을 CRUD로 채우는 일은 상세 설계의 점검 작업이지 요구의 출발점이 아니다.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"Reminders"의 단계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「33. 유스케이스 다이어그램 — 상세화」를 참조한다.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Craig Larman의 *Applying UML and Patterns*에서 유스케이스와 오퍼레이션 계약을 잇는 산출물로 소개된 개념이다. 저장소 기준은 references/sw-engineering/larman/ssd.md를 따른다.</a:t>
            </a:r>
          </a:p>
          <a:p>
            <a:pPr lvl="0"/>
            <a:r>
              <a:rPr lang="ko-KR" sz="1200"/>
              <a:t>생명선 이름 :주문 시스템의 콜론은 "주문 시스템의 한 인스턴스"를 뜻한다.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「29. 기본 이벤트 흐름」·「32. 유스케이스 상세화」와 같다.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않았다(「29.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비동기 전달의 실제 방식(메시지 등)은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「10. 계약의 정제」에서 작성한다.</a:t>
            </a:r>
          </a:p>
          <a:p>
            <a:pPr lvl="0"/>
            <a:r>
              <a:rPr lang="ko-KR" sz="1200"/>
              <a:t>결제 계약의 사후조건은 「43. 정제된 SSD」의 요청이 결제 이후 참인 상태로 바뀐 것이다.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예외 흐름에 먼저 쓰고 테스트를 더한다.</a:t>
            </a:r>
          </a:p>
          <a:p>
            <a:pPr lvl="0"/>
            <a:r>
              <a:rPr lang="ko-KR" sz="1200"/>
              <a:t>가짜 외부 시스템으로 확인하는 것은 "요청했다"까지다.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문형보다 대화가 핵심이다. 카드는 대화를 시작하는 메모이고, 확인은 인수 조건이다(「50. 행위 주도 개발」).</a:t>
            </a:r>
          </a:p>
          <a:p>
            <a:pPr lvl="0"/>
            <a:r>
              <a:rPr lang="ko-KR" sz="1200"/>
              <a:t>예의 스토리는 「주문을 관리한다」의 대안 흐름 3a(배송지 변경)를 스토리 형식으로 쓴 것이다.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본다(「52. 유스케이스·사용자 스토리·BDD」).</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합의한 예는 그대로 실행되는 테스트가 된다. 결제 계약을 테스트로 옮긴 예는 「44. 시스템 오퍼레이션과 계약」에 있다.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쓴다(「50. 행위 주도 개발」의 배송지 변경 예).</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이 과정은 유스케이스로 목표와 경계를, 스토리로 반복의 단위를, BDD로 검증을 잇는다.</a:t>
            </a:r>
          </a:p>
          <a:p>
            <a:pPr lvl="0"/>
            <a:r>
              <a:rPr lang="ko-KR" sz="1200"/>
              <a:t>결제 계약을 테스트로 옮긴 「44. 시스템 오퍼레이션과 계약」이 BDD의 확인과 같은 역할을 한다.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「55. 누락과 모순」).</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나온다(「44. 시스템 오퍼레이션과 계약」).</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시간 배분은 전체 SA 완성 후 정한다.</a:t>
            </a:r>
          </a:p>
          <a:p>
            <a:pPr lvl="0"/>
            <a:r>
              <a:rPr lang="ko-KR" sz="1200"/>
              <a:t>세부 검토 기준(충족한 결과 / 보완할 결과):</a:t>
            </a:r>
          </a:p>
          <a:p>
            <a:pPr lvl="1"/>
            <a:r>
              <a:rPr lang="ko-KR" sz="1200"/>
              <a:t>사실과 가정 — 주어진 네 조건과 추정한 고객 문제를 구분한다 / 버튼 요청만으로 불편 원인을 단정한다</a:t>
            </a:r>
          </a:p>
          <a:p>
            <a:pPr lvl="1"/>
            <a:r>
              <a:rPr lang="ko-KR" sz="1200"/>
              <a:t>목표와 해결책 — 건너뛰기를 정기배송 관리의 대안 흐름·시스템 오퍼레이션으로 표현하고 버튼은 해결책 후보로 둔다 / 버튼이나 건너뛰기 자체를 별도 유스케이스로 만든다</a:t>
            </a:r>
          </a:p>
          <a:p>
            <a:pPr lvl="1"/>
            <a:r>
              <a:rPr lang="ko-KR" sz="1200"/>
              <a:t>흐름과 규칙 — 성공 흐름에 의도·결과를 쓰고 48시간·연속 횟수는 규칙으로 분리한다 / 내부 조회·저장 순서를 흐름으로 쓴다</a:t>
            </a:r>
          </a:p>
          <a:p>
            <a:pPr lvl="1"/>
            <a:r>
              <a:rPr lang="ko-KR" sz="1200"/>
              <a:t>시스템 책임 — 건너뛰기 반영과 다음 배송일 확인을 외부 결과로 명시한다 / 책임 범위 없이 함수명·클래스부터 정한다</a:t>
            </a:r>
          </a:p>
          <a:p>
            <a:pPr lvl="1"/>
            <a:r>
              <a:rPr lang="ko-KR" sz="1200"/>
              <a:t>미확인 정책 — 승인된 결제 처리, 기준 시각·경계, 연속 횟수 계산을 질문으로 남긴다 / 환불·수수료·횟수 초기화 정책을 근거 없이 만든다</a:t>
            </a:r>
          </a:p>
          <a:p>
            <a:pPr lvl="1"/>
            <a:r>
              <a:rPr lang="ko-KR" sz="1200"/>
              <a:t>품질과 검증 — 통지 지연·권한·중복 요청 등 검토 질문과 확인 방법을 제시한다 / 근거 없이 성능 수치를 확정하거나 기능만 검사한다</a:t>
            </a:r>
          </a:p>
          <a:p>
            <a:pPr lvl="1"/>
            <a:r>
              <a:rPr lang="ko-KR" sz="1200"/>
              <a:t>가치 확인 — 일정 조절에 도움이 되는지 사용 증거로 확인한다 / 버튼을 구현했으므로 가치가 입증됐다고 본다</a:t>
            </a:r>
          </a:p>
          <a:p>
            <a:pPr lvl="0"/>
            <a:r>
              <a:rPr lang="ko-KR" sz="1200"/>
              <a:t>검토 예는 유일한 정답이 아니다. 다음 예는 결제 전·마감 전·연속 제한에 걸리지 않는 고객 본인의 배송 건이라는 전제를 둔다.</a:t>
            </a:r>
          </a:p>
          <a:p>
            <a:pPr lvl="0"/>
            <a:r>
              <a:rPr lang="ko-KR" sz="1200"/>
              <a:t>문제 가설: 고객이 특정 회차의 배송을 원하지 않지만 스스로 조절하기 어렵다. 현재 가능한 경로와 실제 불편을 확인한다.</a:t>
            </a:r>
          </a:p>
          <a:p>
            <a:pPr lvl="0"/>
            <a:r>
              <a:rPr lang="ko-KR" sz="1200"/>
              <a:t>유스케이스·주 액터: 정기배송을 관리한다 — 정기배송 고객. 다음 배송 건너뛰기는 이 유스케이스의 대안 흐름이다.</a:t>
            </a:r>
          </a:p>
          <a:p>
            <a:pPr lvl="0"/>
            <a:r>
              <a:rPr lang="ko-KR" sz="1200"/>
              <a:t>업무 배경도·유스케이스 다이어그램: 정기배송 고객이 정기배송 시스템에 건너뛰기·조회를 요청하고, 정기배송 시스템은 배송 시스템에 해당 회차의 배송 제외를, 결제 시스템에 승인된 결제의 처리를 요청한다. 배송·결제 시스템은 지원 액터다. 결제 처리의 내용은 확인 질문이다.</a:t>
            </a:r>
          </a:p>
          <a:p>
            <a:pPr lvl="0"/>
            <a:r>
              <a:rPr lang="ko-KR" sz="1200"/>
              <a:t>대안 흐름(다음 배송 건너뛰기): 고객이 다음 배송을 건너뛴다 → 고객이 건너뛰기 결과와 다음 예정 배송일을 확인한다. SSD에서는 첫 단계가 시스템 이벤트 다음 배송을 건너뛴다(회차)가 되고, 둘째 단계는 응답이다.</a:t>
            </a:r>
          </a:p>
          <a:p>
            <a:pPr lvl="0"/>
            <a:r>
              <a:rPr lang="ko-KR" sz="1200"/>
              <a:t>시스템 오퍼레이션·성공 결과: 다음 배송 건너뛰기; 대상 회차가 배송 대상에서 제외되고 다음 예정 배송일을 확인할 수 있다. 일정 산정 규칙은 추가 확인 대상이다.</a:t>
            </a:r>
          </a:p>
          <a:p>
            <a:pPr lvl="0"/>
            <a:r>
              <a:rPr lang="ko-KR" sz="1200"/>
              <a:t>확인 질문: 정확히 48시간인 시점도 허용하는가? 어떤 시각·시간대를 기준으로 하는가? 이미 승인된 결제는 취소·환불·이월 중 무엇을 해야 하는가? 연속 횟수는 언제 초기화되는가?</a:t>
            </a:r>
          </a:p>
          <a:p>
            <a:pPr lvl="0"/>
            <a:r>
              <a:rPr lang="ko-KR" sz="1200"/>
              <a:t>아직 정해지지 않은 정책을 열어 두었다는 이유로 감점하지 않는다. 성공 예의 범위와 미확인 사항이 연결되어 있는지 평가한다.</a:t>
            </a:r>
          </a:p>
          <a:p>
            <a:pPr lvl="0"/>
            <a:r>
              <a:rPr lang="ko-KR" sz="1200"/>
              <a:t>다음 두 질문을 중심으로 토론한다.</a:t>
            </a:r>
          </a:p>
          <a:p>
            <a:pPr lvl="0"/>
            <a:r>
              <a:rPr lang="ko-KR" sz="1200"/>
              <a:t>왜 그렇게 판단했는가?</a:t>
            </a:r>
          </a:p>
          <a:p>
            <a:pPr lvl="0"/>
            <a:r>
              <a:rPr lang="ko-KR" sz="1200"/>
              <a:t>아직 무엇을 모르는가?</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vgImage13" Type="http://schemas.openxmlformats.org/officeDocument/2006/relationships/image" Target="../media/svg-13.png"/><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a:p>
            <a:pPr lvl="1" marL="355600" indent="0">
              <a:spcBef>
                <a:spcPts val="300"/>
              </a:spcBef>
              <a:spcAft>
                <a:spcPts val="300"/>
              </a:spcAft>
              <a:buNone/>
            </a:pPr>
            <a:r>
              <a:rPr sz="1600" b="0">
                <a:solidFill>
                  <a:srgbClr val="000000"/>
                </a:solidFill>
                <a:latin typeface="맑은 고딕"/>
                <a:ea typeface="맑은 고딕"/>
              </a:rPr>
              <a:t>18. 유스케이스란 무엇인가?</a:t>
            </a:r>
          </a:p>
          <a:p>
            <a:pPr lvl="1" marL="355600" indent="0">
              <a:spcBef>
                <a:spcPts val="300"/>
              </a:spcBef>
              <a:spcAft>
                <a:spcPts val="300"/>
              </a:spcAft>
              <a:buNone/>
            </a:pPr>
            <a:r>
              <a:rPr sz="1600" b="0">
                <a:solidFill>
                  <a:srgbClr val="000000"/>
                </a:solidFill>
                <a:latin typeface="맑은 고딕"/>
                <a:ea typeface="맑은 고딕"/>
              </a:rPr>
              <a:t>19. 왜 유스케이스가 필요한가?</a:t>
            </a:r>
          </a:p>
          <a:p>
            <a:pPr lvl="1" marL="355600" indent="0">
              <a:spcBef>
                <a:spcPts val="300"/>
              </a:spcBef>
              <a:spcAft>
                <a:spcPts val="300"/>
              </a:spcAft>
              <a:buNone/>
            </a:pPr>
            <a:r>
              <a:rPr sz="1600" b="0">
                <a:solidFill>
                  <a:srgbClr val="000000"/>
                </a:solidFill>
                <a:latin typeface="맑은 고딕"/>
                <a:ea typeface="맑은 고딕"/>
              </a:rPr>
              <a:t>20. 유스케이스의 위치</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명세서 템플릿</a:t>
            </a:r>
          </a:p>
          <a:p>
            <a:pPr lvl="1" marL="355600" indent="0">
              <a:spcBef>
                <a:spcPts val="300"/>
              </a:spcBef>
              <a:spcAft>
                <a:spcPts val="300"/>
              </a:spcAft>
              <a:buNone/>
            </a:pPr>
            <a:r>
              <a:rPr sz="1600" b="0">
                <a:solidFill>
                  <a:srgbClr val="000000"/>
                </a:solidFill>
                <a:latin typeface="맑은 고딕"/>
                <a:ea typeface="맑은 고딕"/>
              </a:rPr>
              <a:t>29. 기본 이벤트 흐름</a:t>
            </a:r>
          </a:p>
          <a:p>
            <a:pPr lvl="1" marL="355600" indent="0">
              <a:spcBef>
                <a:spcPts val="300"/>
              </a:spcBef>
              <a:spcAft>
                <a:spcPts val="300"/>
              </a:spcAft>
              <a:buNone/>
            </a:pPr>
            <a:r>
              <a:rPr sz="1600" b="0">
                <a:solidFill>
                  <a:srgbClr val="000000"/>
                </a:solidFill>
                <a:latin typeface="맑은 고딕"/>
                <a:ea typeface="맑은 고딕"/>
              </a:rPr>
              <a:t>30. 규칙·제약·예외 정책</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32. 유스케이스 상세화</a:t>
            </a:r>
          </a:p>
          <a:p>
            <a:pPr lvl="1" marL="355600" indent="0">
              <a:spcBef>
                <a:spcPts val="300"/>
              </a:spcBef>
              <a:spcAft>
                <a:spcPts val="300"/>
              </a:spcAft>
              <a:buNone/>
            </a:pPr>
            <a:r>
              <a:rPr sz="1600" b="0">
                <a:solidFill>
                  <a:srgbClr val="000000"/>
                </a:solidFill>
                <a:latin typeface="맑은 고딕"/>
                <a:ea typeface="맑은 고딕"/>
              </a:rPr>
              <a:t>33.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34.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39.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40. 시스템 시퀀스 다이어그램</a:t>
            </a:r>
          </a:p>
          <a:p>
            <a:pPr lvl="1" marL="355600" indent="0">
              <a:spcBef>
                <a:spcPts val="300"/>
              </a:spcBef>
              <a:spcAft>
                <a:spcPts val="300"/>
              </a:spcAft>
              <a:buNone/>
            </a:pPr>
            <a:r>
              <a:rPr sz="1600" b="0">
                <a:solidFill>
                  <a:srgbClr val="000000"/>
                </a:solidFill>
                <a:latin typeface="맑은 고딕"/>
                <a:ea typeface="맑은 고딕"/>
              </a:rPr>
              <a:t>41. SSD 초안</a:t>
            </a:r>
          </a:p>
          <a:p>
            <a:pPr lvl="1" marL="355600" indent="0">
              <a:spcBef>
                <a:spcPts val="300"/>
              </a:spcBef>
              <a:spcAft>
                <a:spcPts val="300"/>
              </a:spcAft>
              <a:buNone/>
            </a:pPr>
            <a:r>
              <a:rPr sz="1600" b="0">
                <a:solidFill>
                  <a:srgbClr val="000000"/>
                </a:solidFill>
                <a:latin typeface="맑은 고딕"/>
                <a:ea typeface="맑은 고딕"/>
              </a:rPr>
              <a:t>42. 시스템 이벤트와 오퍼레이션</a:t>
            </a:r>
          </a:p>
          <a:p>
            <a:pPr lvl="1" marL="355600" indent="0">
              <a:spcBef>
                <a:spcPts val="300"/>
              </a:spcBef>
              <a:spcAft>
                <a:spcPts val="300"/>
              </a:spcAft>
              <a:buNone/>
            </a:pPr>
            <a:r>
              <a:rPr sz="1600" b="0">
                <a:solidFill>
                  <a:srgbClr val="000000"/>
                </a:solidFill>
                <a:latin typeface="맑은 고딕"/>
                <a:ea typeface="맑은 고딕"/>
              </a:rPr>
              <a:t>43. 정제된 SSD</a:t>
            </a:r>
          </a:p>
          <a:p>
            <a:pPr lvl="1" marL="355600" indent="0">
              <a:spcBef>
                <a:spcPts val="300"/>
              </a:spcBef>
              <a:spcAft>
                <a:spcPts val="300"/>
              </a:spcAft>
              <a:buNone/>
            </a:pPr>
            <a:r>
              <a:rPr sz="1600" b="0">
                <a:solidFill>
                  <a:srgbClr val="000000"/>
                </a:solidFill>
                <a:latin typeface="맑은 고딕"/>
                <a:ea typeface="맑은 고딕"/>
              </a:rPr>
              <a:t>44. 시스템 오퍼레이션과 계약</a:t>
            </a:r>
          </a:p>
          <a:p>
            <a:pPr lvl="1" marL="355600" indent="0">
              <a:spcBef>
                <a:spcPts val="300"/>
              </a:spcBef>
              <a:spcAft>
                <a:spcPts val="300"/>
              </a:spcAft>
              <a:buNone/>
            </a:pPr>
            <a:r>
              <a:rPr sz="1600" b="0">
                <a:solidFill>
                  <a:srgbClr val="000000"/>
                </a:solidFill>
                <a:latin typeface="맑은 고딕"/>
                <a:ea typeface="맑은 고딕"/>
              </a:rPr>
              <a:t>45. 정적·동적 모델을 통한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유스케이스와 품질속성</a:t>
            </a:r>
          </a:p>
          <a:p>
            <a:pPr lvl="1" marL="355600" indent="0">
              <a:spcBef>
                <a:spcPts val="300"/>
              </a:spcBef>
              <a:spcAft>
                <a:spcPts val="300"/>
              </a:spcAft>
              <a:buNone/>
            </a:pPr>
            <a:r>
              <a:rPr sz="1600" b="0">
                <a:solidFill>
                  <a:srgbClr val="000000"/>
                </a:solidFill>
                <a:latin typeface="맑은 고딕"/>
                <a:ea typeface="맑은 고딕"/>
              </a:rPr>
              <a:t>47. 프로토타입·와이어프레임</a:t>
            </a:r>
          </a:p>
          <a:p>
            <a:pPr lvl="1" marL="355600" indent="0">
              <a:spcBef>
                <a:spcPts val="300"/>
              </a:spcBef>
              <a:spcAft>
                <a:spcPts val="300"/>
              </a:spcAft>
              <a:buNone/>
            </a:pPr>
            <a:r>
              <a:rPr sz="1600" b="0">
                <a:solidFill>
                  <a:srgbClr val="000000"/>
                </a:solidFill>
                <a:latin typeface="맑은 고딕"/>
                <a:ea typeface="맑은 고딕"/>
              </a:rPr>
              <a:t>48. 사용자 스토리</a:t>
            </a:r>
          </a:p>
          <a:p>
            <a:pPr lvl="1" marL="355600" indent="0">
              <a:spcBef>
                <a:spcPts val="300"/>
              </a:spcBef>
              <a:spcAft>
                <a:spcPts val="300"/>
              </a:spcAft>
              <a:buNone/>
            </a:pPr>
            <a:r>
              <a:rPr sz="1600" b="0">
                <a:solidFill>
                  <a:srgbClr val="000000"/>
                </a:solidFill>
                <a:latin typeface="맑은 고딕"/>
                <a:ea typeface="맑은 고딕"/>
              </a:rPr>
              <a:t>49. 사용자 스토리의 강점과 한계</a:t>
            </a:r>
          </a:p>
          <a:p>
            <a:pPr lvl="1" marL="355600" indent="0">
              <a:spcBef>
                <a:spcPts val="300"/>
              </a:spcBef>
              <a:spcAft>
                <a:spcPts val="300"/>
              </a:spcAft>
              <a:buNone/>
            </a:pPr>
            <a:r>
              <a:rPr sz="1600" b="0">
                <a:solidFill>
                  <a:srgbClr val="000000"/>
                </a:solidFill>
                <a:latin typeface="맑은 고딕"/>
                <a:ea typeface="맑은 고딕"/>
              </a:rPr>
              <a:t>50. 행위 주도 개발</a:t>
            </a:r>
          </a:p>
          <a:p>
            <a:pPr lvl="1" marL="355600" indent="0">
              <a:spcBef>
                <a:spcPts val="300"/>
              </a:spcBef>
              <a:spcAft>
                <a:spcPts val="300"/>
              </a:spcAft>
              <a:buNone/>
            </a:pPr>
            <a:r>
              <a:rPr sz="1600" b="0">
                <a:solidFill>
                  <a:srgbClr val="000000"/>
                </a:solidFill>
                <a:latin typeface="맑은 고딕"/>
                <a:ea typeface="맑은 고딕"/>
              </a:rPr>
              <a:t>51. 행위 주도 개발의 강점과 한계</a:t>
            </a:r>
          </a:p>
          <a:p>
            <a:pPr lvl="1" marL="355600" indent="0">
              <a:spcBef>
                <a:spcPts val="300"/>
              </a:spcBef>
              <a:spcAft>
                <a:spcPts val="300"/>
              </a:spcAft>
              <a:buNone/>
            </a:pPr>
            <a:r>
              <a:rPr sz="1600" b="0">
                <a:solidFill>
                  <a:srgbClr val="000000"/>
                </a:solidFill>
                <a:latin typeface="맑은 고딕"/>
                <a:ea typeface="맑은 고딕"/>
              </a:rPr>
              <a:t>52. 유스케이스·사용자 스토리·BDD</a:t>
            </a:r>
          </a:p>
          <a:p>
            <a:pPr lvl="1" marL="355600" indent="0">
              <a:spcBef>
                <a:spcPts val="300"/>
              </a:spcBef>
              <a:spcAft>
                <a:spcPts val="300"/>
              </a:spcAft>
              <a:buNone/>
            </a:pPr>
            <a:r>
              <a:rPr sz="1600" b="0">
                <a:solidFill>
                  <a:srgbClr val="000000"/>
                </a:solidFill>
                <a:latin typeface="맑은 고딕"/>
                <a:ea typeface="맑은 고딕"/>
              </a:rPr>
              <a:t>53. 요구사항 검증</a:t>
            </a:r>
          </a:p>
          <a:p>
            <a:pPr lvl="1" marL="355600" indent="0">
              <a:spcBef>
                <a:spcPts val="300"/>
              </a:spcBef>
              <a:spcAft>
                <a:spcPts val="300"/>
              </a:spcAft>
              <a:buNone/>
            </a:pPr>
            <a:r>
              <a:rPr sz="1600" b="0">
                <a:solidFill>
                  <a:srgbClr val="000000"/>
                </a:solidFill>
                <a:latin typeface="맑은 고딕"/>
                <a:ea typeface="맑은 고딕"/>
              </a:rPr>
              <a:t>54. 요구사항 관리</a:t>
            </a:r>
          </a:p>
          <a:p>
            <a:pPr lvl="1" marL="355600" indent="0">
              <a:spcBef>
                <a:spcPts val="300"/>
              </a:spcBef>
              <a:spcAft>
                <a:spcPts val="300"/>
              </a:spcAft>
              <a:buNone/>
            </a:pPr>
            <a:r>
              <a:rPr sz="1600" b="0">
                <a:solidFill>
                  <a:srgbClr val="000000"/>
                </a:solidFill>
                <a:latin typeface="맑은 고딕"/>
                <a:ea typeface="맑은 고딕"/>
              </a:rPr>
              <a:t>55. 요구사항 추적</a:t>
            </a:r>
          </a:p>
          <a:p>
            <a:pPr lvl="1" marL="355600" indent="0">
              <a:spcBef>
                <a:spcPts val="300"/>
              </a:spcBef>
              <a:spcAft>
                <a:spcPts val="300"/>
              </a:spcAft>
              <a:buNone/>
            </a:pPr>
            <a:r>
              <a:rPr sz="1600" b="0">
                <a:solidFill>
                  <a:srgbClr val="000000"/>
                </a:solidFill>
                <a:latin typeface="맑은 고딕"/>
                <a:ea typeface="맑은 고딕"/>
              </a:rPr>
              <a:t>56. 요구사항에서 학습으로</a:t>
            </a:r>
          </a:p>
          <a:p>
            <a:pPr lvl="1" marL="355600" indent="0">
              <a:spcBef>
                <a:spcPts val="300"/>
              </a:spcBef>
              <a:spcAft>
                <a:spcPts val="300"/>
              </a:spcAft>
              <a:buNone/>
            </a:pPr>
            <a:r>
              <a:rPr sz="1600" b="0">
                <a:solidFill>
                  <a:srgbClr val="000000"/>
                </a:solidFill>
                <a:latin typeface="맑은 고딕"/>
                <a:ea typeface="맑은 고딕"/>
              </a:rPr>
              <a:t>57. 실습 —</a:t>
            </a:r>
            <a:r>
              <a:rPr sz="1400" b="0">
                <a:solidFill>
                  <a:srgbClr val="000000"/>
                </a:solidFill>
                <a:latin typeface="맑은 고딕"/>
                <a:ea typeface="맑은 고딕"/>
              </a:rPr>
              <a:t> 모델로 바꾸기</a:t>
            </a:r>
          </a:p>
          <a:p>
            <a:pPr lvl="1" marL="355600" indent="0">
              <a:spcBef>
                <a:spcPts val="300"/>
              </a:spcBef>
              <a:spcAft>
                <a:spcPts val="300"/>
              </a:spcAft>
              <a:buNone/>
            </a:pPr>
            <a:r>
              <a:rPr sz="1600" b="0">
                <a:solidFill>
                  <a:srgbClr val="000000"/>
                </a:solidFill>
                <a:latin typeface="맑은 고딕"/>
                <a:ea typeface="맑은 고딕"/>
              </a:rPr>
              <a:t>58.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품질속성·프로토타입·사용자 스토리·행위 주도 개발</a:t>
            </a:r>
            <a:r>
              <a:rPr sz="1800" b="0">
                <a:solidFill>
                  <a:srgbClr val="000000"/>
                </a:solidFill>
                <a:latin typeface="맑은 고딕"/>
                <a:ea typeface="맑은 고딕"/>
              </a:rPr>
              <a:t>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그대로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무엇을 만들어야 하는지 구체화하며 </a:t>
            </a:r>
            <a:r>
              <a:rPr sz="1800" b="1">
                <a:solidFill>
                  <a:srgbClr val="000000"/>
                </a:solidFill>
                <a:latin typeface="맑은 고딕"/>
                <a:ea typeface="맑은 고딕"/>
              </a:rPr>
              <a:t>증거를 통해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Jeff Bezos, 2016</a:t>
            </a:r>
          </a:p>
        </p:txBody>
      </p:sp>
      <p:pic>
        <p:nvPicPr>
          <p:cNvPr id="9" name="mermaid Diagram 1"/>
          <p:cNvPicPr>
            <a:picLocks noChangeAspect="1"/>
          </p:cNvPicPr>
          <p:nvPr/>
        </p:nvPicPr>
        <p:blipFill>
          <a:blip r:embed="mermaidImage1"/>
          <a:stretch>
            <a:fillRect/>
          </a:stretch>
        </p:blipFill>
        <p:spPr>
          <a:xfrm>
            <a:off x="1460500" y="4071579"/>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50785" y="3502059"/>
          <a:ext cx="7228840" cy="3873500"/>
        </p:xfrm>
        <a:graphic>
          <a:graphicData uri="http://schemas.openxmlformats.org/drawingml/2006/table">
            <a:tbl>
              <a:tblPr/>
              <a:tblGrid>
                <a:gridCol w="1087120"/>
                <a:gridCol w="28194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잘못되었거나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요구(Need)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원하거나 필요로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지켜야 하는 조건은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방식으로 충족할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웹, 앱,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4033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that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8725" y="2380440"/>
          <a:ext cx="4632960" cy="3873500"/>
        </p:xfrm>
        <a:graphic>
          <a:graphicData uri="http://schemas.openxmlformats.org/drawingml/2006/table">
            <a:tbl>
              <a:tblPr/>
              <a:tblGrid>
                <a:gridCol w="122682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요청된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수정할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변경하고 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이후 일반 변경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후보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버튼, 편집 화면, 챗봇,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필요한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개발자가 </a:t>
            </a:r>
            <a:r>
              <a:rPr sz="1600" b="1">
                <a:solidFill>
                  <a:srgbClr val="000000"/>
                </a:solidFill>
                <a:latin typeface="맑은 고딕"/>
                <a:ea typeface="맑은 고딕"/>
              </a:rPr>
              <a:t>같은 뜻으로 말할 수 있는 작은 단위</a:t>
            </a:r>
            <a:r>
              <a:rPr sz="1600" b="0">
                <a:solidFill>
                  <a:srgbClr val="000000"/>
                </a:solidFill>
                <a:latin typeface="맑은 고딕"/>
                <a:ea typeface="맑은 고딕"/>
              </a:rPr>
              <a:t>로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작게 만들어 보여주고 증거로 배우는</a:t>
            </a:r>
            <a:r>
              <a:rPr sz="16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455325"/>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 "무엇이 일어나면 시스템은 무엇을 해야 하는가?"는 고객과 개발자가 비교적 혼선 없이 말하고 합의할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Edward 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49162"/>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구조적 분석부터 도메인 주도 설계까지, 요구를 다루는 주요 기법은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관점에서 어떤 이벤트를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184299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반복적 접근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문서의 승인과 요구의 타당성은 다르다. 승인된 요구사항도 실제 사용에서 </a:t>
            </a:r>
            <a:r>
              <a:rPr sz="1800" b="1">
                <a:solidFill>
                  <a:srgbClr val="000000"/>
                </a:solidFill>
                <a:latin typeface="맑은 고딕"/>
                <a:ea typeface="맑은 고딕"/>
              </a:rPr>
              <a:t>올바른 요구였는지 다시 검증</a:t>
            </a:r>
            <a:r>
              <a:rPr sz="1800" b="0">
                <a:solidFill>
                  <a:srgbClr val="000000"/>
                </a:solidFill>
                <a:latin typeface="맑은 고딕"/>
                <a:ea typeface="맑은 고딕"/>
              </a:rPr>
              <a:t>해야 한다.</a:t>
            </a:r>
          </a:p>
        </p:txBody>
      </p:sp>
      <p:pic>
        <p:nvPicPr>
          <p:cNvPr id="9" name="mermaid Diagram 2"/>
          <p:cNvPicPr>
            <a:picLocks noChangeAspect="1"/>
          </p:cNvPicPr>
          <p:nvPr/>
        </p:nvPicPr>
        <p:blipFill>
          <a:blip r:embed="mermaidImage2"/>
          <a:stretch>
            <a:fillRect/>
          </a:stretch>
        </p:blipFill>
        <p:spPr>
          <a:xfrm>
            <a:off x="1789906" y="3429539"/>
            <a:ext cx="5564188" cy="1023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49727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가지 활동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수집:</a:t>
            </a:r>
            <a:r>
              <a:rPr sz="1600" b="0">
                <a:solidFill>
                  <a:srgbClr val="000000"/>
                </a:solidFill>
                <a:latin typeface="맑은 고딕"/>
                <a:ea typeface="맑은 고딕"/>
              </a:rPr>
              <a:t> 이해관계자의 문제·목표·필요를 찾아낸다.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분석:</a:t>
            </a:r>
            <a:r>
              <a:rPr sz="1600" b="0">
                <a:solidFill>
                  <a:srgbClr val="000000"/>
                </a:solidFill>
                <a:latin typeface="맑은 고딕"/>
                <a:ea typeface="맑은 고딕"/>
              </a:rPr>
              <a:t> 요구를 정제하고 관계·충돌·우선순위를 분석한다.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명세:</a:t>
            </a:r>
            <a:r>
              <a:rPr sz="1600" b="0">
                <a:solidFill>
                  <a:srgbClr val="000000"/>
                </a:solidFill>
                <a:latin typeface="맑은 고딕"/>
                <a:ea typeface="맑은 고딕"/>
              </a:rPr>
              <a:t> 합의하고 검토할 수 있는 형태로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검증:</a:t>
            </a:r>
            <a:r>
              <a:rPr sz="1600" b="0">
                <a:solidFill>
                  <a:srgbClr val="000000"/>
                </a:solidFill>
                <a:latin typeface="맑은 고딕"/>
                <a:ea typeface="맑은 고딕"/>
              </a:rPr>
              <a:t> 잘 작성되었는지, 실제 필요한 것인지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관리:</a:t>
            </a:r>
            <a:r>
              <a:rPr sz="16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184299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6766" y="1842998"/>
          <a:ext cx="8056880" cy="3873500"/>
        </p:xfrm>
        <a:graphic>
          <a:graphicData uri="http://schemas.openxmlformats.org/drawingml/2006/table">
            <a:tbl>
              <a:tblPr/>
              <a:tblGrid>
                <a:gridCol w="1087120"/>
                <a:gridCol w="889000"/>
                <a:gridCol w="889000"/>
                <a:gridCol w="20929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10003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1842998"/>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개발 대상과 수준을 따라 요구를 구체화하기 </a:t>
            </a:r>
            <a:r>
              <a:rPr sz="1400" b="0">
                <a:solidFill>
                  <a:srgbClr val="000000"/>
                </a:solidFill>
                <a:latin typeface="맑은 고딕"/>
                <a:ea typeface="맑은 고딕"/>
              </a:rPr>
              <a:t>(ISO 29148)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사업·임무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 요구사항</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IIBA의 요구사항 분류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해결책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전환 요구사항</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87005" y="2497276"/>
          <a:ext cx="6756400" cy="3873500"/>
        </p:xfrm>
        <a:graphic>
          <a:graphicData uri="http://schemas.openxmlformats.org/drawingml/2006/table">
            <a:tbl>
              <a:tblPr/>
              <a:tblGrid>
                <a:gridCol w="1087120"/>
                <a:gridCol w="5669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ISO/IEC/IEEE 29148:2018은 </a:t>
            </a:r>
            <a:r>
              <a:rPr sz="1800" b="1">
                <a:solidFill>
                  <a:srgbClr val="000000"/>
                </a:solidFill>
                <a:latin typeface="맑은 고딕"/>
                <a:ea typeface="맑은 고딕"/>
              </a:rPr>
              <a:t>개별 요구사항의 특성</a:t>
            </a:r>
            <a:r>
              <a:rPr sz="1800" b="0">
                <a:solidFill>
                  <a:srgbClr val="000000"/>
                </a:solidFill>
                <a:latin typeface="맑은 고딕"/>
                <a:ea typeface="맑은 고딕"/>
              </a:rPr>
              <a:t>과 </a:t>
            </a:r>
            <a:r>
              <a:rPr sz="1800" b="1">
                <a:solidFill>
                  <a:srgbClr val="000000"/>
                </a:solidFill>
                <a:latin typeface="맑은 고딕"/>
                <a:ea typeface="맑은 고딕"/>
              </a:rPr>
              <a:t>요구사항 집합의 특성</a:t>
            </a:r>
            <a:r>
              <a:rPr sz="1800" b="0">
                <a:solidFill>
                  <a:srgbClr val="000000"/>
                </a:solidFill>
                <a:latin typeface="맑은 고딕"/>
                <a:ea typeface="맑은 고딕"/>
              </a:rPr>
              <a:t>을 구분해 정의한다. 문장 하나의 품질과 집합 전체의 품질은 서로 다른 기준으로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개별 요구사항의 특성</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집합의 특성</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완전함</a:t>
            </a:r>
            <a:r>
              <a:rPr sz="1600" b="0">
                <a:solidFill>
                  <a:srgbClr val="000000"/>
                </a:solidFill>
                <a:latin typeface="맑은 고딕"/>
                <a:ea typeface="맑은 고딕"/>
              </a:rPr>
              <a:t> —</a:t>
            </a:r>
            <a:r>
              <a:rPr sz="1400" b="0">
                <a:solidFill>
                  <a:srgbClr val="000000"/>
                </a:solidFill>
                <a:latin typeface="맑은 고딕"/>
                <a:ea typeface="맑은 고딕"/>
              </a:rPr>
              <a:t> 해결책에 필요한 요구를 모두 포함하는가?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일관됨</a:t>
            </a:r>
            <a:r>
              <a:rPr sz="1600" b="0">
                <a:solidFill>
                  <a:srgbClr val="000000"/>
                </a:solidFill>
                <a:latin typeface="맑은 고딕"/>
                <a:ea typeface="맑은 고딕"/>
              </a:rPr>
              <a:t> —</a:t>
            </a:r>
            <a:r>
              <a:rPr sz="1400" b="0">
                <a:solidFill>
                  <a:srgbClr val="000000"/>
                </a:solidFill>
                <a:latin typeface="맑은 고딕"/>
                <a:ea typeface="맑은 고딕"/>
              </a:rPr>
              <a:t> 요구 사이에 충돌이 없고 용어가 일관되는가?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실현 가능함</a:t>
            </a:r>
            <a:r>
              <a:rPr sz="1600" b="0">
                <a:solidFill>
                  <a:srgbClr val="000000"/>
                </a:solidFill>
                <a:latin typeface="맑은 고딕"/>
                <a:ea typeface="맑은 고딕"/>
              </a:rPr>
              <a:t> —</a:t>
            </a:r>
            <a:r>
              <a:rPr sz="1400" b="0">
                <a:solidFill>
                  <a:srgbClr val="000000"/>
                </a:solidFill>
                <a:latin typeface="맑은 고딕"/>
                <a:ea typeface="맑은 고딕"/>
              </a:rPr>
              <a:t> 전체를 함께 고려해도 제약 안에서 실현할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이해 가능함</a:t>
            </a:r>
            <a:r>
              <a:rPr sz="1600" b="0">
                <a:solidFill>
                  <a:srgbClr val="000000"/>
                </a:solidFill>
                <a:latin typeface="맑은 고딕"/>
                <a:ea typeface="맑은 고딕"/>
              </a:rPr>
              <a:t> —</a:t>
            </a:r>
            <a:r>
              <a:rPr sz="1400" b="0">
                <a:solidFill>
                  <a:srgbClr val="000000"/>
                </a:solidFill>
                <a:latin typeface="맑은 고딕"/>
                <a:ea typeface="맑은 고딕"/>
              </a:rPr>
              <a:t> 관련 이해관계자가 이해할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타당성 확인 가능함</a:t>
            </a:r>
            <a:r>
              <a:rPr sz="1600" b="0">
                <a:solidFill>
                  <a:srgbClr val="000000"/>
                </a:solidFill>
                <a:latin typeface="맑은 고딕"/>
                <a:ea typeface="맑은 고딕"/>
              </a:rPr>
              <a:t> —</a:t>
            </a:r>
            <a:r>
              <a:rPr sz="1400" b="0">
                <a:solidFill>
                  <a:srgbClr val="000000"/>
                </a:solidFill>
                <a:latin typeface="맑은 고딕"/>
                <a:ea typeface="맑은 고딕"/>
              </a:rPr>
              <a:t> 실제 이해관계자 의도와 맞는지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비교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위반 사례: </a:t>
            </a:r>
            <a:r>
              <a:rPr sz="1600" b="0">
                <a:solidFill>
                  <a:srgbClr val="000000"/>
                </a:solidFill>
                <a:latin typeface="맑은 고딕"/>
                <a:ea typeface="맑은 고딕"/>
              </a:rPr>
              <a:t>배송지를 신속하게 변경한다.</a:t>
            </a:r>
            <a:r>
              <a:rPr sz="1600" b="0">
                <a:solidFill>
                  <a:srgbClr val="000000"/>
                </a:solidFill>
                <a:latin typeface="맑은 고딕"/>
                <a:ea typeface="맑은 고딕"/>
              </a:rPr>
              <a:t> —</a:t>
            </a:r>
            <a:r>
              <a:rPr sz="1400" b="0">
                <a:solidFill>
                  <a:srgbClr val="000000"/>
                </a:solidFill>
                <a:latin typeface="맑은 고딕"/>
                <a:ea typeface="맑은 고딕"/>
              </a:rPr>
              <a:t> </a:t>
            </a:r>
            <a:r>
              <a:rPr sz="1400" b="1">
                <a:solidFill>
                  <a:srgbClr val="000000"/>
                </a:solidFill>
                <a:latin typeface="맑은 고딕"/>
                <a:ea typeface="맑은 고딕"/>
              </a:rPr>
              <a:t>명확함·검증 가능함</a:t>
            </a:r>
            <a:r>
              <a:rPr sz="1400" b="0">
                <a:solidFill>
                  <a:srgbClr val="000000"/>
                </a:solidFill>
                <a:latin typeface="맑은 고딕"/>
                <a:ea typeface="맑은 고딕"/>
              </a:rPr>
              <a:t> 위반이다. </a:t>
            </a:r>
            <a:r>
              <a:rPr sz="1400" b="0">
                <a:solidFill>
                  <a:srgbClr val="000000"/>
                </a:solidFill>
                <a:latin typeface="맑은 고딕"/>
                <a:ea typeface="맑은 고딕"/>
              </a:rPr>
              <a:t>신속하게</a:t>
            </a:r>
            <a:r>
              <a:rPr sz="1400" b="0">
                <a:solidFill>
                  <a:srgbClr val="000000"/>
                </a:solidFill>
                <a:latin typeface="맑은 고딕"/>
                <a:ea typeface="맑은 고딕"/>
              </a:rPr>
              <a:t>가 측정 조건 없이 해석에 따라 달라진다.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개선 방향</a:t>
            </a:r>
            <a:r>
              <a:rPr sz="1600" b="0">
                <a:solidFill>
                  <a:srgbClr val="000000"/>
                </a:solidFill>
                <a:latin typeface="맑은 고딕"/>
                <a:ea typeface="맑은 고딕"/>
              </a:rPr>
              <a:t>: 변경 가능한 주문 상태, 변경 결과를 확인할 주체, 결과 통지 조건을 명시한다. 응답 시간 목표는 </a:t>
            </a:r>
            <a:r>
              <a:rPr sz="1600" b="1">
                <a:solidFill>
                  <a:srgbClr val="000000"/>
                </a:solidFill>
                <a:latin typeface="맑은 고딕"/>
                <a:ea typeface="맑은 고딕"/>
              </a:rPr>
              <a:t>측정 조건</a:t>
            </a:r>
            <a:r>
              <a:rPr sz="1600" b="0">
                <a:solidFill>
                  <a:srgbClr val="000000"/>
                </a:solidFill>
                <a:latin typeface="맑은 고딕"/>
                <a:ea typeface="맑은 고딕"/>
              </a:rPr>
              <a:t>과 함께 합의해 검증 가능하게 만든다.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Ivar Jacobson, 1992(Biddle·Noble·Tempero, 2001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pic>
        <p:nvPicPr>
          <p:cNvPr id="9" name="svg Diagram 1" descr="유스케이스 표기: 타원 안의 주문을 관리한다"/>
          <p:cNvPicPr>
            <a:picLocks noChangeAspect="1"/>
          </p:cNvPicPr>
          <p:nvPr/>
        </p:nvPicPr>
        <p:blipFill>
          <a:blip r:embed="svgImage1"/>
          <a:stretch>
            <a:fillRect/>
          </a:stretch>
        </p:blipFill>
        <p:spPr>
          <a:xfrm>
            <a:off x="3619500" y="4633023"/>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왜 유스케이스가 필요한가?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시스템을 기능 목록으로 분해하기보다,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를 중심으로 시스템이 제공해야 할 책임을 파악하는 데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자료·기능 중심</a:t>
            </a:r>
            <a:r>
              <a:rPr sz="1800" b="0">
                <a:solidFill>
                  <a:srgbClr val="000000"/>
                </a:solidFill>
                <a:latin typeface="맑은 고딕"/>
                <a:ea typeface="맑은 고딕"/>
              </a:rPr>
              <a:t> —</a:t>
            </a:r>
            <a:r>
              <a:rPr sz="1600" b="0">
                <a:solidFill>
                  <a:srgbClr val="000000"/>
                </a:solidFill>
                <a:latin typeface="맑은 고딕"/>
                <a:ea typeface="맑은 고딕"/>
              </a:rPr>
              <a:t> 주문 등록, 주문 조회, 주문 수정, 주문 삭제처럼 자료 조작별로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 중심</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배송을 처리한다, 상품 정보를 관리한다처럼 액터가 무엇을 위해 쓰는가로 묶는다.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규칙이 중요한 조작은 유스케이스를 나누지 않고 </a:t>
            </a:r>
            <a:r>
              <a:rPr sz="1800" b="1">
                <a:solidFill>
                  <a:srgbClr val="000000"/>
                </a:solidFill>
                <a:latin typeface="맑은 고딕"/>
                <a:ea typeface="맑은 고딕"/>
              </a:rPr>
              <a:t>대안 흐름과 시스템 오퍼레이션</a:t>
            </a:r>
            <a:r>
              <a:rPr sz="1800" b="0">
                <a:solidFill>
                  <a:srgbClr val="000000"/>
                </a:solidFill>
                <a:latin typeface="맑은 고딕"/>
                <a:ea typeface="맑은 고딕"/>
              </a:rPr>
              <a:t>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목록만으로는 </a:t>
            </a:r>
            <a:r>
              <a:rPr sz="1800" b="1">
                <a:solidFill>
                  <a:srgbClr val="000000"/>
                </a:solidFill>
                <a:latin typeface="맑은 고딕"/>
                <a:ea typeface="맑은 고딕"/>
              </a:rPr>
              <a:t>누가·왜·어떤 목표로 사용하는지, 어떤 결과가 가치 있는지, 시스템 책임은 어디까지인지</a:t>
            </a:r>
            <a:r>
              <a:rPr sz="1800" b="0">
                <a:solidFill>
                  <a:srgbClr val="000000"/>
                </a:solidFill>
                <a:latin typeface="맑은 고딕"/>
                <a:ea typeface="맑은 고딕"/>
              </a:rPr>
              <a:t> 알기 어렵다.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유스케이스의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544010"/>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목록·자료 흐름·화면 명세가 아니다. </a:t>
            </a:r>
            <a:r>
              <a:rPr sz="1800" b="1">
                <a:solidFill>
                  <a:srgbClr val="000000"/>
                </a:solidFill>
                <a:latin typeface="맑은 고딕"/>
                <a:ea typeface="맑은 고딕"/>
              </a:rPr>
              <a:t>행위 요구</a:t>
            </a:r>
            <a:r>
              <a:rPr sz="1800" b="0">
                <a:solidFill>
                  <a:srgbClr val="000000"/>
                </a:solidFill>
                <a:latin typeface="맑은 고딕"/>
                <a:ea typeface="맑은 고딕"/>
              </a:rPr>
              <a:t>를 액터의 목표로 표현하고, 다른 요구를 연결하는 중심이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요구사항 문서의 '3장', 즉 </a:t>
            </a:r>
            <a:r>
              <a:rPr sz="1800" b="1">
                <a:solidFill>
                  <a:srgbClr val="000000"/>
                </a:solidFill>
                <a:latin typeface="맑은 고딕"/>
                <a:ea typeface="맑은 고딕"/>
              </a:rPr>
              <a:t>행위 요구</a:t>
            </a:r>
            <a:r>
              <a:rPr sz="1800" b="0">
                <a:solidFill>
                  <a:srgbClr val="000000"/>
                </a:solidFill>
                <a:latin typeface="맑은 고딕"/>
                <a:ea typeface="맑은 고딕"/>
              </a:rPr>
              <a:t>일 뿐이다"</a:t>
            </a:r>
            <a:r>
              <a:rPr sz="1000" b="0">
                <a:solidFill>
                  <a:srgbClr val="000000"/>
                </a:solidFill>
                <a:latin typeface="맑은 고딕"/>
                <a:ea typeface="맑은 고딕"/>
              </a:rPr>
              <a:t>, </a:t>
            </a:r>
            <a:r>
              <a:rPr sz="1000" b="0">
                <a:solidFill>
                  <a:srgbClr val="000000"/>
                </a:solidFill>
                <a:latin typeface="맑은 고딕"/>
                <a:ea typeface="맑은 고딕"/>
              </a:rPr>
              <a:t>"Use cases are only “chapter three” of the requirements document, the behavioral requirements."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대상 시스템과 경계</a:t>
            </a:r>
            <a:r>
              <a:rPr sz="1800" b="0">
                <a:solidFill>
                  <a:srgbClr val="000000"/>
                </a:solidFill>
                <a:latin typeface="맑은 고딕"/>
                <a:ea typeface="맑은 고딕"/>
              </a:rPr>
              <a:t>를 정의한다. 외부 시스템은 지원 액터로 둔다.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목표</a:t>
            </a:r>
            <a:r>
              <a:rPr sz="1800" b="0">
                <a:solidFill>
                  <a:srgbClr val="000000"/>
                </a:solidFill>
                <a:latin typeface="맑은 고딕"/>
                <a:ea typeface="맑은 고딕"/>
              </a:rPr>
              <a:t>와 그 목표를 가진 </a:t>
            </a:r>
            <a:r>
              <a:rPr sz="1800" b="1">
                <a:solidFill>
                  <a:srgbClr val="000000"/>
                </a:solidFill>
                <a:latin typeface="맑은 고딕"/>
                <a:ea typeface="맑은 고딕"/>
              </a:rPr>
              <a:t>액터</a:t>
            </a:r>
            <a:r>
              <a:rPr sz="1800" b="0">
                <a:solidFill>
                  <a:srgbClr val="000000"/>
                </a:solidFill>
                <a:latin typeface="맑은 고딕"/>
                <a:ea typeface="맑은 고딕"/>
              </a:rPr>
              <a:t>를 함께 식별한다.</a:t>
            </a:r>
          </a:p>
          <a:p>
            <a:pPr lvl="2" marL="607060" indent="-251460">
              <a:spcBef>
                <a:spcPts val="600"/>
              </a:spcBef>
              <a:spcAft>
                <a:spcPts val="600"/>
              </a:spcAft>
              <a:buNone/>
            </a:pPr>
            <a:r>
              <a:rPr sz="1800" b="0">
                <a:solidFill>
                  <a:srgbClr val="000000"/>
                </a:solidFill>
                <a:latin typeface="맑은 고딕"/>
                <a:ea typeface="맑은 고딕"/>
              </a:rPr>
              <a:t>3. 목표 수준의 </a:t>
            </a:r>
            <a:r>
              <a:rPr sz="1800" b="1">
                <a:solidFill>
                  <a:srgbClr val="000000"/>
                </a:solidFill>
                <a:latin typeface="맑은 고딕"/>
                <a:ea typeface="맑은 고딕"/>
              </a:rPr>
              <a:t>유스케이스 후보</a:t>
            </a:r>
            <a:r>
              <a:rPr sz="1800" b="0">
                <a:solidFill>
                  <a:srgbClr val="000000"/>
                </a:solidFill>
                <a:latin typeface="맑은 고딕"/>
                <a:ea typeface="맑은 고딕"/>
              </a:rPr>
              <a:t>를 식별한다.</a:t>
            </a:r>
          </a:p>
          <a:p>
            <a:pPr lvl="2" marL="607060" indent="-251460">
              <a:spcBef>
                <a:spcPts val="600"/>
              </a:spcBef>
              <a:spcAft>
                <a:spcPts val="600"/>
              </a:spcAft>
              <a:buNone/>
            </a:pPr>
            <a:r>
              <a:rPr sz="1800" b="0">
                <a:solidFill>
                  <a:srgbClr val="000000"/>
                </a:solidFill>
                <a:latin typeface="맑은 고딕"/>
                <a:ea typeface="맑은 고딕"/>
              </a:rPr>
              <a:t>4. 액터와 유스케이스로 </a:t>
            </a:r>
            <a:r>
              <a:rPr sz="1800" b="1">
                <a:solidFill>
                  <a:srgbClr val="000000"/>
                </a:solidFill>
                <a:latin typeface="맑은 고딕"/>
                <a:ea typeface="맑은 고딕"/>
              </a:rPr>
              <a:t>초안 유스케이스 다이어그램</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5. 유스케이스의 </a:t>
            </a:r>
            <a:r>
              <a:rPr sz="1800" b="1">
                <a:solidFill>
                  <a:srgbClr val="000000"/>
                </a:solidFill>
                <a:latin typeface="맑은 고딕"/>
                <a:ea typeface="맑은 고딕"/>
              </a:rPr>
              <a:t>기본 이벤트 흐름</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6. 필요한 </a:t>
            </a:r>
            <a:r>
              <a:rPr sz="1800" b="1">
                <a:solidFill>
                  <a:srgbClr val="000000"/>
                </a:solidFill>
                <a:latin typeface="맑은 고딕"/>
                <a:ea typeface="맑은 고딕"/>
              </a:rPr>
              <a:t>규칙·제약·예외 정책</a:t>
            </a:r>
            <a:r>
              <a:rPr sz="1800" b="0">
                <a:solidFill>
                  <a:srgbClr val="000000"/>
                </a:solidFill>
                <a:latin typeface="맑은 고딕"/>
                <a:ea typeface="맑은 고딕"/>
              </a:rPr>
              <a:t>을 별도로 식별한다.</a:t>
            </a:r>
          </a:p>
          <a:p>
            <a:pPr lvl="2" marL="607060" indent="-251460">
              <a:spcBef>
                <a:spcPts val="600"/>
              </a:spcBef>
              <a:spcAft>
                <a:spcPts val="600"/>
              </a:spcAft>
              <a:buNone/>
            </a:pPr>
            <a:r>
              <a:rPr sz="1800" b="0">
                <a:solidFill>
                  <a:srgbClr val="000000"/>
                </a:solidFill>
                <a:latin typeface="맑은 고딕"/>
                <a:ea typeface="맑은 고딕"/>
              </a:rPr>
              <a:t>7. </a:t>
            </a:r>
            <a:r>
              <a:rPr sz="1800" b="1">
                <a:solidFill>
                  <a:srgbClr val="000000"/>
                </a:solidFill>
                <a:latin typeface="맑은 고딕"/>
                <a:ea typeface="맑은 고딕"/>
              </a:rPr>
              <a:t>사전조건·사후조건·비즈니스 규칙</a:t>
            </a:r>
            <a:r>
              <a:rPr sz="1800" b="0">
                <a:solidFill>
                  <a:srgbClr val="000000"/>
                </a:solidFill>
                <a:latin typeface="맑은 고딕"/>
                <a:ea typeface="맑은 고딕"/>
              </a:rPr>
              <a:t> 등 필요한 내용을 상세화한다.</a:t>
            </a:r>
          </a:p>
          <a:p>
            <a:pPr lvl="2" marL="607060" indent="-251460">
              <a:spcBef>
                <a:spcPts val="600"/>
              </a:spcBef>
              <a:spcAft>
                <a:spcPts val="600"/>
              </a:spcAft>
              <a:buNone/>
            </a:pPr>
            <a:r>
              <a:rPr sz="1800" b="0">
                <a:solidFill>
                  <a:srgbClr val="000000"/>
                </a:solidFill>
                <a:latin typeface="맑은 고딕"/>
                <a:ea typeface="맑은 고딕"/>
              </a:rPr>
              <a:t>8. 상세화 결과를 반영해 유스케이스 다이어그램을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9. </a:t>
            </a:r>
            <a:r>
              <a:rPr sz="1800" b="1">
                <a:solidFill>
                  <a:srgbClr val="000000"/>
                </a:solidFill>
                <a:latin typeface="맑은 고딕"/>
                <a:ea typeface="맑은 고딕"/>
              </a:rPr>
              <a:t>SSD 초안</a:t>
            </a:r>
            <a:r>
              <a:rPr sz="1800" b="0">
                <a:solidFill>
                  <a:srgbClr val="000000"/>
                </a:solidFill>
                <a:latin typeface="맑은 고딕"/>
                <a:ea typeface="맑은 고딕"/>
              </a:rPr>
              <a:t>으로 시스템 이벤트와 시스템 오퍼레이션을 식별하고, 외부 시스템까지 SSD를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732790" indent="-377190">
              <a:spcBef>
                <a:spcPts val="600"/>
              </a:spcBef>
              <a:spcAft>
                <a:spcPts val="600"/>
              </a:spcAft>
              <a:buNone/>
            </a:pPr>
            <a:r>
              <a:rPr sz="1800" b="0">
                <a:solidFill>
                  <a:srgbClr val="000000"/>
                </a:solidFill>
                <a:latin typeface="맑은 고딕"/>
                <a:ea typeface="맑은 고딕"/>
              </a:rPr>
              <a:t>10. 필요하면 중요하고 복잡한 시스템 오퍼레이션의 </a:t>
            </a:r>
            <a:r>
              <a:rPr sz="1800" b="1">
                <a:solidFill>
                  <a:srgbClr val="000000"/>
                </a:solidFill>
                <a:latin typeface="맑은 고딕"/>
                <a:ea typeface="맑은 고딕"/>
              </a:rPr>
              <a:t>계약</a:t>
            </a:r>
            <a:r>
              <a:rPr sz="1800" b="0">
                <a:solidFill>
                  <a:srgbClr val="000000"/>
                </a:solidFill>
                <a:latin typeface="맑은 고딕"/>
                <a:ea typeface="맑은 고딕"/>
              </a:rPr>
              <a:t>을 작성한다.</a:t>
            </a:r>
          </a:p>
          <a:p>
            <a:pPr lvl="2" marL="732790" indent="-377190">
              <a:spcBef>
                <a:spcPts val="600"/>
              </a:spcBef>
              <a:spcAft>
                <a:spcPts val="600"/>
              </a:spcAft>
              <a:buNone/>
            </a:pPr>
            <a:r>
              <a:rPr sz="1800" b="0">
                <a:solidFill>
                  <a:srgbClr val="000000"/>
                </a:solidFill>
                <a:latin typeface="맑은 고딕"/>
                <a:ea typeface="맑은 고딕"/>
              </a:rPr>
              <a:t>11. 전체 요구와 유스케이스를 </a:t>
            </a:r>
            <a:r>
              <a:rPr sz="1800" b="1">
                <a:solidFill>
                  <a:srgbClr val="000000"/>
                </a:solidFill>
                <a:latin typeface="맑은 고딕"/>
                <a:ea typeface="맑은 고딕"/>
              </a:rPr>
              <a:t>검토</a:t>
            </a:r>
            <a:r>
              <a:rPr sz="1800" b="0">
                <a:solidFill>
                  <a:srgbClr val="000000"/>
                </a:solidFill>
                <a:latin typeface="맑은 고딕"/>
                <a:ea typeface="맑은 고딕"/>
              </a:rPr>
              <a:t>하고 정제한다.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a:p>
            <a:r>
              <a:rPr sz="1100" b="1">
                <a:solidFill>
                  <a:srgbClr val="000000"/>
                </a:solidFill>
                <a:latin typeface="맑은 고딕"/>
                <a:ea typeface="맑은 고딕"/>
              </a:rPr>
              <a:t>업무 배경도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배경도</a:t>
            </a:r>
            <a:r>
              <a:rPr sz="1400" b="0">
                <a:solidFill>
                  <a:srgbClr val="000000"/>
                </a:solidFill>
                <a:latin typeface="맑은 고딕"/>
                <a:ea typeface="맑은 고딕"/>
              </a:rPr>
              <a:t>(시스템 컨텍스트 다이어그램)</a:t>
            </a:r>
            <a:r>
              <a:rPr sz="1800" b="0">
                <a:solidFill>
                  <a:srgbClr val="000000"/>
                </a:solidFill>
                <a:latin typeface="맑은 고딕"/>
                <a:ea typeface="맑은 고딕"/>
              </a:rPr>
              <a:t>는 대상 시스템과 외부 사이에 </a:t>
            </a:r>
            <a:r>
              <a:rPr sz="1800" b="1">
                <a:solidFill>
                  <a:srgbClr val="000000"/>
                </a:solidFill>
                <a:latin typeface="맑은 고딕"/>
                <a:ea typeface="맑은 고딕"/>
              </a:rPr>
              <a:t>무엇이 오가는지</a:t>
            </a:r>
            <a:r>
              <a:rPr sz="1800" b="0">
                <a:solidFill>
                  <a:srgbClr val="000000"/>
                </a:solidFill>
                <a:latin typeface="맑은 고딕"/>
                <a:ea typeface="맑은 고딕"/>
              </a:rPr>
              <a:t> 보여준다. 경계를 정해야 무엇을 시스템이 책임지고 무엇을 외부 액터가 담당하는지 구분할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결제·상품·회계·배송 시스템은 </a:t>
            </a:r>
            <a:r>
              <a:rPr sz="1800" b="1">
                <a:solidFill>
                  <a:srgbClr val="000000"/>
                </a:solidFill>
                <a:latin typeface="맑은 고딕"/>
                <a:ea typeface="맑은 고딕"/>
              </a:rPr>
              <a:t>지원 액터</a:t>
            </a:r>
            <a:r>
              <a:rPr sz="1800" b="0">
                <a:solidFill>
                  <a:srgbClr val="000000"/>
                </a:solidFill>
                <a:latin typeface="맑은 고딕"/>
                <a:ea typeface="맑은 고딕"/>
              </a:rPr>
              <a:t>다. 요청의 동기·비동기는 「43. 정제된 SSD」에서 구분한다.</a:t>
            </a:r>
          </a:p>
        </p:txBody>
      </p:sp>
      <p:pic>
        <p:nvPicPr>
          <p:cNvPr id="9" name="svg Diagram 2" descr="업무 배경도: 주문 시스템과 고객·상품·결제·배송·회계 시스템 사이에 오가는 요청과 통보"/>
          <p:cNvPicPr>
            <a:picLocks noChangeAspect="1"/>
          </p:cNvPicPr>
          <p:nvPr/>
        </p:nvPicPr>
        <p:blipFill>
          <a:blip r:embed="svgImage2"/>
          <a:stretch>
            <a:fillRect/>
          </a:stretch>
        </p:blipFill>
        <p:spPr>
          <a:xfrm>
            <a:off x="1774031" y="315258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방향의 잘못</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판단 질문 —</a:t>
            </a:r>
            <a:r>
              <a:rPr sz="1400" b="0">
                <a:solidFill>
                  <a:srgbClr val="000000"/>
                </a:solidFill>
                <a:latin typeface="맑은 고딕"/>
                <a:ea typeface="맑은 고딕"/>
              </a:rPr>
              <a:t> </a:t>
            </a:r>
            <a:r>
              <a:rPr sz="1400" b="1">
                <a:solidFill>
                  <a:srgbClr val="000000"/>
                </a:solidFill>
                <a:latin typeface="맑은 고딕"/>
                <a:ea typeface="맑은 고딕"/>
              </a:rPr>
              <a:t>이 책임의 데이터와 규칙을 누가 소유하는가?</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1196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3151553"/>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9315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a:t>
            </a:r>
            <a:r>
              <a:rPr sz="1800" b="1">
                <a:solidFill>
                  <a:srgbClr val="000000"/>
                </a:solidFill>
                <a:latin typeface="맑은 고딕"/>
                <a:ea typeface="맑은 고딕"/>
              </a:rPr>
              <a:t>액터–목표 목록</a:t>
            </a:r>
            <a:r>
              <a:rPr sz="1800" b="0">
                <a:solidFill>
                  <a:srgbClr val="000000"/>
                </a:solidFill>
                <a:latin typeface="맑은 고딕"/>
                <a:ea typeface="맑은 고딕"/>
              </a:rPr>
              <a:t>으로 유스케이스 다이어그램을 그린다(「27. 유스케이스 다이어그램 —</a:t>
            </a:r>
            <a:r>
              <a:rPr sz="1600" b="0">
                <a:solidFill>
                  <a:srgbClr val="000000"/>
                </a:solidFill>
                <a:latin typeface="맑은 고딕"/>
                <a:ea typeface="맑은 고딕"/>
              </a:rPr>
              <a:t> 초안」).</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시스템</a:t>
            </a:r>
            <a:r>
              <a:rPr sz="1600" b="0">
                <a:solidFill>
                  <a:srgbClr val="000000"/>
                </a:solidFill>
                <a:latin typeface="맑은 고딕"/>
                <a:ea typeface="맑은 고딕"/>
              </a:rPr>
              <a:t> —</a:t>
            </a:r>
            <a:r>
              <a:rPr sz="1400" b="0">
                <a:solidFill>
                  <a:srgbClr val="000000"/>
                </a:solidFill>
                <a:latin typeface="맑은 고딕"/>
                <a:ea typeface="맑은 고딕"/>
              </a:rPr>
              <a:t> 주문을 관리한다, 배송 현황을 조회한다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경계 밖</a:t>
            </a:r>
            <a:r>
              <a:rPr sz="1600" b="0">
                <a:solidFill>
                  <a:srgbClr val="000000"/>
                </a:solidFill>
                <a:latin typeface="맑은 고딕"/>
                <a:ea typeface="맑은 고딕"/>
              </a:rPr>
              <a:t> —</a:t>
            </a:r>
            <a:r>
              <a:rPr sz="1400" b="0">
                <a:solidFill>
                  <a:srgbClr val="000000"/>
                </a:solidFill>
                <a:latin typeface="맑은 고딕"/>
                <a:ea typeface="맑은 고딕"/>
              </a:rPr>
              <a:t> 배송을 처리한다</a:t>
            </a:r>
            <a:r>
              <a:rPr sz="1000" b="0">
                <a:solidFill>
                  <a:srgbClr val="000000"/>
                </a:solidFill>
                <a:latin typeface="맑은 고딕"/>
                <a:ea typeface="맑은 고딕"/>
              </a:rPr>
              <a:t>(배송 시스템)</a:t>
            </a:r>
            <a:r>
              <a:rPr sz="1400" b="0">
                <a:solidFill>
                  <a:srgbClr val="000000"/>
                </a:solidFill>
                <a:latin typeface="맑은 고딕"/>
                <a:ea typeface="맑은 고딕"/>
              </a:rPr>
              <a:t>, 상품 정보를 관리한다</a:t>
            </a:r>
            <a:r>
              <a:rPr sz="1000" b="0">
                <a:solidFill>
                  <a:srgbClr val="000000"/>
                </a:solidFill>
                <a:latin typeface="맑은 고딕"/>
                <a:ea typeface="맑은 고딕"/>
              </a:rPr>
              <a:t>(상품 시스템)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기계적인 기능 분해의 잘못된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 회원 조회, 회원 수정, 회원 삭제 —</a:t>
            </a:r>
            <a:r>
              <a:rPr sz="1400" b="0">
                <a:solidFill>
                  <a:srgbClr val="000000"/>
                </a:solidFill>
                <a:latin typeface="맑은 고딕"/>
                <a:ea typeface="맑은 고딕"/>
              </a:rPr>
              <a:t> </a:t>
            </a:r>
            <a:r>
              <a:rPr sz="1400" b="1">
                <a:solidFill>
                  <a:srgbClr val="000000"/>
                </a:solidFill>
                <a:latin typeface="맑은 고딕"/>
                <a:ea typeface="맑은 고딕"/>
              </a:rPr>
              <a:t>CRUD 목록</a:t>
            </a:r>
            <a:r>
              <a:rPr sz="1400" b="0">
                <a:solidFill>
                  <a:srgbClr val="000000"/>
                </a:solidFill>
                <a:latin typeface="맑은 고딕"/>
                <a:ea typeface="맑은 고딕"/>
              </a:rPr>
              <a:t>을 그대로 유스케이스 4개로 만든 </a:t>
            </a:r>
            <a:r>
              <a:rPr sz="1400" b="1">
                <a:solidFill>
                  <a:srgbClr val="000000"/>
                </a:solidFill>
                <a:latin typeface="맑은 고딕"/>
                <a:ea typeface="맑은 고딕"/>
              </a:rPr>
              <a:t>잘못된 예</a:t>
            </a:r>
            <a:r>
              <a:rPr sz="14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자료 유지는 </a:t>
            </a:r>
            <a:r>
              <a:rPr sz="1600" b="1">
                <a:solidFill>
                  <a:srgbClr val="000000"/>
                </a:solidFill>
                <a:latin typeface="맑은 고딕"/>
                <a:ea typeface="맑은 고딕"/>
              </a:rPr>
              <a:t>회원 정보를 관리한다</a:t>
            </a:r>
            <a:r>
              <a:rPr sz="1600" b="0">
                <a:solidFill>
                  <a:srgbClr val="000000"/>
                </a:solidFill>
                <a:latin typeface="맑은 고딕"/>
                <a:ea typeface="맑은 고딕"/>
              </a:rPr>
              <a:t> 하나로 다루고, 조회·수정·탈퇴는 필요하면 대안 흐름으로 정의한다(「35. 잘못된 관행 —</a:t>
            </a:r>
            <a:r>
              <a:rPr sz="1400" b="0">
                <a:solidFill>
                  <a:srgbClr val="000000"/>
                </a:solidFill>
                <a:latin typeface="맑은 고딕"/>
                <a:ea typeface="맑은 고딕"/>
              </a:rPr>
              <a:t> CRUD 분할」).</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5" y="3058085"/>
          <a:ext cx="7592060" cy="3873500"/>
        </p:xfrm>
        <a:graphic>
          <a:graphicData uri="http://schemas.openxmlformats.org/drawingml/2006/table">
            <a:tbl>
              <a:tblPr/>
              <a:tblGrid>
                <a:gridCol w="1087120"/>
                <a:gridCol w="35458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번의 사용·여러 날에 걸친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이용한다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사람이 한 번에 마치고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이고, 하위 기능은 반복되는 의미 있는 행위일 때만 분리한다</a:t>
            </a:r>
            <a:r>
              <a:rPr sz="1400" b="0">
                <a:solidFill>
                  <a:srgbClr val="000000"/>
                </a:solidFill>
                <a:latin typeface="맑은 고딕"/>
                <a:ea typeface="맑은 고딕"/>
              </a:rPr>
              <a:t>(포함)</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목표는 '주 액터가 이것을 마치고 </a:t>
            </a:r>
            <a:r>
              <a:rPr sz="1800" b="1">
                <a:solidFill>
                  <a:srgbClr val="000000"/>
                </a:solidFill>
                <a:latin typeface="맑은 고딕"/>
                <a:ea typeface="맑은 고딕"/>
              </a:rPr>
              <a:t>만족해서 떠날 수 있는가</a:t>
            </a:r>
            <a:r>
              <a:rPr sz="1800" b="0">
                <a:solidFill>
                  <a:srgbClr val="000000"/>
                </a:solidFill>
                <a:latin typeface="맑은 고딕"/>
                <a:ea typeface="맑은 고딕"/>
              </a:rPr>
              <a:t>?'라는 질문에 답한다"</a:t>
            </a:r>
            <a:r>
              <a:rPr sz="1000" b="0">
                <a:solidFill>
                  <a:srgbClr val="000000"/>
                </a:solidFill>
                <a:latin typeface="맑은 고딕"/>
                <a:ea typeface="맑은 고딕"/>
              </a:rPr>
              <a:t>, </a:t>
            </a:r>
            <a:r>
              <a:rPr sz="1000" b="0">
                <a:solidFill>
                  <a:srgbClr val="000000"/>
                </a:solidFill>
                <a:latin typeface="맑은 고딕"/>
                <a:ea typeface="맑은 고딕"/>
              </a:rPr>
              <a:t>"A user goal addresses the question, “Can the primary actor go away happy after having done this?”"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초안에서는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전체 시스템의 사용 구조를 단순하게 파악한다. 유스케이스 다이어그램은 시스템 경계와 외부 액터, 액터의 시스템 사용을 보여 주는 </a:t>
            </a:r>
            <a:r>
              <a:rPr sz="1800" b="1">
                <a:solidFill>
                  <a:srgbClr val="000000"/>
                </a:solidFill>
                <a:latin typeface="맑은 고딕"/>
                <a:ea typeface="맑은 고딕"/>
              </a:rPr>
              <a:t>업무 배경도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만 둔다. 지원 액터</a:t>
            </a:r>
            <a:r>
              <a:rPr sz="1400" b="0">
                <a:solidFill>
                  <a:srgbClr val="000000"/>
                </a:solidFill>
                <a:latin typeface="맑은 고딕"/>
                <a:ea typeface="맑은 고딕"/>
              </a:rPr>
              <a:t>(외부 시스템)</a:t>
            </a:r>
            <a:r>
              <a:rPr sz="1800" b="0">
                <a:solidFill>
                  <a:srgbClr val="000000"/>
                </a:solidFill>
                <a:latin typeface="맑은 고딕"/>
                <a:ea typeface="맑은 고딕"/>
              </a:rPr>
              <a:t>와 포함·확장 관계는 상세화에서 더한다(「33. 유스케이스 다이어그램 —</a:t>
            </a:r>
            <a:r>
              <a:rPr sz="1600" b="0">
                <a:solidFill>
                  <a:srgbClr val="000000"/>
                </a:solidFill>
                <a:latin typeface="맑은 고딕"/>
                <a:ea typeface="맑은 고딕"/>
              </a:rPr>
              <a:t> 상세화」).</a:t>
            </a:r>
          </a:p>
        </p:txBody>
      </p:sp>
      <p:pic>
        <p:nvPicPr>
          <p:cNvPr id="9" name="svg Diagram 3" descr="유스케이스 다이어그램 초안: 주 액터 고객과 주문 시스템의 두 유스케이스"/>
          <p:cNvPicPr>
            <a:picLocks noChangeAspect="1"/>
          </p:cNvPicPr>
          <p:nvPr/>
        </p:nvPicPr>
        <p:blipFill>
          <a:blip r:embed="svgImage3"/>
          <a:stretch>
            <a:fillRect/>
          </a:stretch>
        </p:blipFill>
        <p:spPr>
          <a:xfrm>
            <a:off x="2667000" y="3569300"/>
            <a:ext cx="3810000" cy="2143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570386"/>
                <a:gridCol w="2643786"/>
                <a:gridCol w="4091628"/>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쓴다. 사람·부서 이름이 아니다.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쓴다(주문을 관리한다).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 안에 시스템 이름을 쓴다. 안은 시스템의 책임, 밖은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실선. 순서나 데이터 흐름을 뜻하지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 밖의 유스케이스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다른 시스템의 유스케이스는 </a:t>
            </a:r>
            <a:r>
              <a:rPr sz="1600" b="1">
                <a:solidFill>
                  <a:srgbClr val="000000"/>
                </a:solidFill>
                <a:latin typeface="맑은 고딕"/>
                <a:ea typeface="맑은 고딕"/>
              </a:rPr>
              <a:t>그 시스템의 경계 안</a:t>
            </a:r>
            <a:r>
              <a:rPr sz="1600" b="0">
                <a:solidFill>
                  <a:srgbClr val="000000"/>
                </a:solidFill>
                <a:latin typeface="맑은 고딕"/>
                <a:ea typeface="맑은 고딕"/>
              </a:rPr>
              <a:t>에 따로 그린다. 주문 시스템의 범위가 아님을 분명히 한다.</a:t>
            </a:r>
          </a:p>
        </p:txBody>
      </p:sp>
      <p:pic>
        <p:nvPicPr>
          <p:cNvPr id="9" name="svg Diagram 4" descr="경계 밖 유스케이스: 관리자와 상품 시스템, 배송 담당자와 배송 시스템"/>
          <p:cNvPicPr>
            <a:picLocks noChangeAspect="1"/>
          </p:cNvPicPr>
          <p:nvPr/>
        </p:nvPicPr>
        <p:blipFill>
          <a:blip r:embed="svgImage4"/>
          <a:stretch>
            <a:fillRect/>
          </a:stretch>
        </p:blipFill>
        <p:spPr>
          <a:xfrm>
            <a:off x="1774031" y="3631054"/>
            <a:ext cx="5595938" cy="1404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1842998"/>
          <a:ext cx="5331460" cy="3873500"/>
        </p:xfrm>
        <a:graphic>
          <a:graphicData uri="http://schemas.openxmlformats.org/drawingml/2006/table">
            <a:tbl>
              <a:tblPr/>
              <a:tblGrid>
                <a:gridCol w="16459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주문을 관리한다 —</a:t>
            </a:r>
            <a:r>
              <a:rPr sz="1600" b="0">
                <a:solidFill>
                  <a:srgbClr val="000000"/>
                </a:solidFill>
                <a:latin typeface="맑은 고딕"/>
                <a:ea typeface="맑은 고딕"/>
              </a:rPr>
              <a:t> 기본 흐름</a:t>
            </a:r>
          </a:p>
          <a:p>
            <a:pPr lvl="3" marL="947420" indent="-223520">
              <a:spcBef>
                <a:spcPts val="600"/>
              </a:spcBef>
              <a:spcAft>
                <a:spcPts val="600"/>
              </a:spcAft>
              <a:buNone/>
            </a:pPr>
            <a:r>
              <a:rPr sz="1600" b="0">
                <a:solidFill>
                  <a:srgbClr val="000000"/>
                </a:solidFill>
                <a:latin typeface="맑은 고딕"/>
                <a:ea typeface="맑은 고딕"/>
              </a:rPr>
              <a:t>1. 고객이 상품을 조회한다.</a:t>
            </a:r>
          </a:p>
          <a:p>
            <a:pPr lvl="3" marL="947420" indent="-223520">
              <a:spcBef>
                <a:spcPts val="600"/>
              </a:spcBef>
              <a:spcAft>
                <a:spcPts val="600"/>
              </a:spcAft>
              <a:buNone/>
            </a:pPr>
            <a:r>
              <a:rPr sz="1600" b="0">
                <a:solidFill>
                  <a:srgbClr val="000000"/>
                </a:solidFill>
                <a:latin typeface="맑은 고딕"/>
                <a:ea typeface="맑은 고딕"/>
              </a:rPr>
              <a:t>2. 고객이 상품과 수량을 장바구니에 담는다.</a:t>
            </a:r>
          </a:p>
          <a:p>
            <a:pPr lvl="3" marL="947420" indent="-223520">
              <a:spcBef>
                <a:spcPts val="600"/>
              </a:spcBef>
              <a:spcAft>
                <a:spcPts val="600"/>
              </a:spcAft>
              <a:buNone/>
            </a:pPr>
            <a:r>
              <a:rPr sz="1600" b="0">
                <a:solidFill>
                  <a:srgbClr val="000000"/>
                </a:solidFill>
                <a:latin typeface="맑은 고딕"/>
                <a:ea typeface="맑은 고딕"/>
              </a:rPr>
              <a:t>3. 고객이 배송지를 지정한다.</a:t>
            </a:r>
          </a:p>
          <a:p>
            <a:pPr lvl="3" marL="947420" indent="-223520">
              <a:spcBef>
                <a:spcPts val="600"/>
              </a:spcBef>
              <a:spcAft>
                <a:spcPts val="600"/>
              </a:spcAft>
              <a:buNone/>
            </a:pPr>
            <a:r>
              <a:rPr sz="1600" b="0">
                <a:solidFill>
                  <a:srgbClr val="000000"/>
                </a:solidFill>
                <a:latin typeface="맑은 고딕"/>
                <a:ea typeface="맑은 고딕"/>
              </a:rPr>
              <a:t>4. 고객이 결제한다.</a:t>
            </a:r>
          </a:p>
          <a:p>
            <a:pPr lvl="3" marL="947420" indent="-223520">
              <a:spcBef>
                <a:spcPts val="600"/>
              </a:spcBef>
              <a:spcAft>
                <a:spcPts val="600"/>
              </a:spcAft>
              <a:buNone/>
            </a:pPr>
            <a:r>
              <a:rPr sz="1600" b="0">
                <a:solidFill>
                  <a:srgbClr val="000000"/>
                </a:solidFill>
                <a:latin typeface="맑은 고딕"/>
                <a:ea typeface="맑은 고딕"/>
              </a:rPr>
              <a:t>5. 고객은 주문 결과를 확인한다.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주문할 상품마다 </a:t>
            </a:r>
            <a:r>
              <a:rPr sz="1600" b="1">
                <a:solidFill>
                  <a:srgbClr val="000000"/>
                </a:solidFill>
                <a:latin typeface="맑은 고딕"/>
                <a:ea typeface="맑은 고딕"/>
              </a:rPr>
              <a:t>1~2단계를 반복</a:t>
            </a:r>
            <a:r>
              <a:rPr sz="1600" b="0">
                <a:solidFill>
                  <a:srgbClr val="000000"/>
                </a:solidFill>
                <a:latin typeface="맑은 고딕"/>
                <a:ea typeface="맑은 고딕"/>
              </a:rPr>
              <a:t>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취소·배송지 변경·주문 내역 확인은 이 유스케이스의 </a:t>
            </a:r>
            <a:r>
              <a:rPr sz="1600" b="1">
                <a:solidFill>
                  <a:srgbClr val="000000"/>
                </a:solidFill>
                <a:latin typeface="맑은 고딕"/>
                <a:ea typeface="맑은 고딕"/>
              </a:rPr>
              <a:t>대안 흐름</a:t>
            </a:r>
            <a:r>
              <a:rPr sz="1600" b="0">
                <a:solidFill>
                  <a:srgbClr val="000000"/>
                </a:solidFill>
                <a:latin typeface="맑은 고딕"/>
                <a:ea typeface="맑은 고딕"/>
              </a:rPr>
              <a:t>이다. 대안 흐름의 번호는 갈라져 나오는 </a:t>
            </a:r>
            <a:r>
              <a:rPr sz="1600" b="1">
                <a:solidFill>
                  <a:srgbClr val="000000"/>
                </a:solidFill>
                <a:latin typeface="맑은 고딕"/>
                <a:ea typeface="맑은 고딕"/>
              </a:rPr>
              <a:t>기본 흐름의 단계</a:t>
            </a:r>
            <a:r>
              <a:rPr sz="1600" b="0">
                <a:solidFill>
                  <a:srgbClr val="000000"/>
                </a:solidFill>
                <a:latin typeface="맑은 고딕"/>
                <a:ea typeface="맑은 고딕"/>
              </a:rPr>
              <a:t>를 따른다</a:t>
            </a:r>
            <a:r>
              <a:rPr sz="1200" b="0">
                <a:solidFill>
                  <a:srgbClr val="000000"/>
                </a:solidFill>
                <a:latin typeface="맑은 고딕"/>
                <a:ea typeface="맑은 고딕"/>
              </a:rPr>
              <a:t>(「32. 유스케이스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작성 원칙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액터의 </a:t>
            </a:r>
            <a:r>
              <a:rPr sz="1600" b="1">
                <a:solidFill>
                  <a:srgbClr val="000000"/>
                </a:solidFill>
                <a:latin typeface="맑은 고딕"/>
                <a:ea typeface="맑은 고딕"/>
              </a:rPr>
              <a:t>목표와 의도</a:t>
            </a:r>
            <a:r>
              <a:rPr sz="1600" b="0">
                <a:solidFill>
                  <a:srgbClr val="000000"/>
                </a:solidFill>
                <a:latin typeface="맑은 고딕"/>
                <a:ea typeface="맑은 고딕"/>
              </a:rPr>
              <a:t>를 중심으로 </a:t>
            </a:r>
            <a:r>
              <a:rPr sz="1600" b="1">
                <a:solidFill>
                  <a:srgbClr val="000000"/>
                </a:solidFill>
                <a:latin typeface="맑은 고딕"/>
                <a:ea typeface="맑은 고딕"/>
              </a:rPr>
              <a:t>본질적인 행위만</a:t>
            </a:r>
            <a:r>
              <a:rPr sz="1600" b="0">
                <a:solidFill>
                  <a:srgbClr val="000000"/>
                </a:solidFill>
                <a:latin typeface="맑은 고딕"/>
                <a:ea typeface="맑은 고딕"/>
              </a:rPr>
              <a:t>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동일한 의미·결과의 </a:t>
            </a:r>
            <a:r>
              <a:rPr sz="1600" b="1">
                <a:solidFill>
                  <a:srgbClr val="000000"/>
                </a:solidFill>
                <a:latin typeface="맑은 고딕"/>
                <a:ea typeface="맑은 고딕"/>
              </a:rPr>
              <a:t>반복</a:t>
            </a:r>
            <a:r>
              <a:rPr sz="1600" b="0">
                <a:solidFill>
                  <a:srgbClr val="000000"/>
                </a:solidFill>
                <a:latin typeface="맑은 고딕"/>
                <a:ea typeface="맑은 고딕"/>
              </a:rPr>
              <a:t>이나 </a:t>
            </a:r>
            <a:r>
              <a:rPr sz="1600" b="1">
                <a:solidFill>
                  <a:srgbClr val="000000"/>
                </a:solidFill>
                <a:latin typeface="맑은 고딕"/>
                <a:ea typeface="맑은 고딕"/>
              </a:rPr>
              <a:t>화면 클릭 순서</a:t>
            </a:r>
            <a:r>
              <a:rPr sz="1600" b="0">
                <a:solidFill>
                  <a:srgbClr val="000000"/>
                </a:solidFill>
                <a:latin typeface="맑은 고딕"/>
                <a:ea typeface="맑은 고딕"/>
              </a:rPr>
              <a:t>를 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 없는 </a:t>
            </a:r>
            <a:r>
              <a:rPr sz="1600" b="0">
                <a:solidFill>
                  <a:srgbClr val="000000"/>
                </a:solidFill>
                <a:latin typeface="맑은 고딕"/>
                <a:ea typeface="맑은 고딕"/>
              </a:rPr>
              <a:t>요청→처리</a:t>
            </a:r>
            <a:r>
              <a:rPr sz="1600" b="0">
                <a:solidFill>
                  <a:srgbClr val="000000"/>
                </a:solidFill>
                <a:latin typeface="맑은 고딕"/>
                <a:ea typeface="맑은 고딕"/>
              </a:rPr>
              <a:t> 반복은 피하되 필요한 </a:t>
            </a:r>
            <a:r>
              <a:rPr sz="1600" b="1">
                <a:solidFill>
                  <a:srgbClr val="000000"/>
                </a:solidFill>
                <a:latin typeface="맑은 고딕"/>
                <a:ea typeface="맑은 고딕"/>
              </a:rPr>
              <a:t>의도·응답</a:t>
            </a:r>
            <a:r>
              <a:rPr sz="1600" b="0">
                <a:solidFill>
                  <a:srgbClr val="000000"/>
                </a:solidFill>
                <a:latin typeface="맑은 고딕"/>
                <a:ea typeface="맑은 고딕"/>
              </a:rPr>
              <a:t>은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내부 구현</a:t>
            </a:r>
            <a:r>
              <a:rPr sz="1600" b="0">
                <a:solidFill>
                  <a:srgbClr val="000000"/>
                </a:solidFill>
                <a:latin typeface="맑은 고딕"/>
                <a:ea typeface="맑은 고딕"/>
              </a:rPr>
              <a:t>의 확인·계산·저장·호출은 나열하지 않되, 경로를 바꾸는 </a:t>
            </a:r>
            <a:r>
              <a:rPr sz="1600" b="1">
                <a:solidFill>
                  <a:srgbClr val="000000"/>
                </a:solidFill>
                <a:latin typeface="맑은 고딕"/>
                <a:ea typeface="맑은 고딕"/>
              </a:rPr>
              <a:t>판단</a:t>
            </a:r>
            <a:r>
              <a:rPr sz="1600" b="0">
                <a:solidFill>
                  <a:srgbClr val="000000"/>
                </a:solidFill>
                <a:latin typeface="맑은 고딕"/>
                <a:ea typeface="맑은 고딕"/>
              </a:rPr>
              <a:t>은 외부 행위로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설계 내용</a:t>
            </a:r>
            <a:r>
              <a:rPr sz="1200" b="0">
                <a:solidFill>
                  <a:srgbClr val="000000"/>
                </a:solidFill>
                <a:latin typeface="맑은 고딕"/>
                <a:ea typeface="맑은 고딕"/>
              </a:rPr>
              <a:t>(클래스·객체·메서드)</a:t>
            </a:r>
            <a:r>
              <a:rPr sz="1600" b="0">
                <a:solidFill>
                  <a:srgbClr val="000000"/>
                </a:solidFill>
                <a:latin typeface="맑은 고딕"/>
                <a:ea typeface="맑은 고딕"/>
              </a:rPr>
              <a:t>이나 가능한 </a:t>
            </a:r>
            <a:r>
              <a:rPr sz="1600" b="1">
                <a:solidFill>
                  <a:srgbClr val="000000"/>
                </a:solidFill>
                <a:latin typeface="맑은 고딕"/>
                <a:ea typeface="맑은 고딕"/>
              </a:rPr>
              <a:t>모든 경우</a:t>
            </a:r>
            <a:r>
              <a:rPr sz="1600" b="0">
                <a:solidFill>
                  <a:srgbClr val="000000"/>
                </a:solidFill>
                <a:latin typeface="맑은 고딕"/>
                <a:ea typeface="맑은 고딕"/>
              </a:rPr>
              <a:t>를 넣지 않는다.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이벤트 흐름에 가능한 모든 조건과 실패를 나열하지 않는다. </a:t>
            </a:r>
            <a:r>
              <a:rPr sz="1800" b="1">
                <a:solidFill>
                  <a:srgbClr val="000000"/>
                </a:solidFill>
                <a:latin typeface="맑은 고딕"/>
                <a:ea typeface="맑은 고딕"/>
              </a:rPr>
              <a:t>규칙·제약·예외 정책은 필요할 때 별도로 분리해 기술</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비즈니스 규칙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특정 상품</a:t>
            </a:r>
            <a:r>
              <a:rPr sz="1600" b="0">
                <a:solidFill>
                  <a:srgbClr val="000000"/>
                </a:solidFill>
                <a:latin typeface="맑은 고딕"/>
                <a:ea typeface="맑은 고딕"/>
              </a:rPr>
              <a:t>은 취소가 제한될 수 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부분 취소</a:t>
            </a:r>
            <a:r>
              <a:rPr sz="1600" b="0">
                <a:solidFill>
                  <a:srgbClr val="000000"/>
                </a:solidFill>
                <a:latin typeface="맑은 고딕"/>
                <a:ea typeface="맑은 고딕"/>
              </a:rPr>
              <a:t>의 허용 조건을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완료 이후 취소는 </a:t>
            </a:r>
            <a:r>
              <a:rPr sz="1600" b="1">
                <a:solidFill>
                  <a:srgbClr val="000000"/>
                </a:solidFill>
                <a:latin typeface="맑은 고딕"/>
                <a:ea typeface="맑은 고딕"/>
              </a:rPr>
              <a:t>환불 처리</a:t>
            </a:r>
            <a:r>
              <a:rPr sz="1600" b="0">
                <a:solidFill>
                  <a:srgbClr val="000000"/>
                </a:solidFill>
                <a:latin typeface="맑은 고딕"/>
                <a:ea typeface="맑은 고딕"/>
              </a:rPr>
              <a:t>와 연결되어야 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법률·계약·정책상</a:t>
            </a:r>
            <a:r>
              <a:rPr sz="1600" b="0">
                <a:solidFill>
                  <a:srgbClr val="000000"/>
                </a:solidFill>
                <a:latin typeface="맑은 고딕"/>
                <a:ea typeface="맑은 고딕"/>
              </a:rPr>
              <a:t> 취소 제한이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정책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정말 중요한 경우</a:t>
            </a:r>
            <a:r>
              <a:rPr sz="1600" b="0">
                <a:solidFill>
                  <a:srgbClr val="000000"/>
                </a:solidFill>
                <a:latin typeface="맑은 고딕"/>
                <a:ea typeface="맑은 고딕"/>
              </a:rPr>
              <a:t>에만 별도로 정의한다.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예를 들어 환불 실패가 핵심 업무 위험이라면 </a:t>
            </a:r>
            <a:r>
              <a:rPr sz="1600" b="1">
                <a:solidFill>
                  <a:srgbClr val="000000"/>
                </a:solidFill>
                <a:latin typeface="맑은 고딕"/>
                <a:ea typeface="맑은 고딕"/>
              </a:rPr>
              <a:t>환불 실패 정책</a:t>
            </a:r>
            <a:r>
              <a:rPr sz="1600" b="0">
                <a:solidFill>
                  <a:srgbClr val="000000"/>
                </a:solidFill>
                <a:latin typeface="맑은 고딕"/>
                <a:ea typeface="맑은 고딕"/>
              </a:rPr>
              <a:t>으로 별도 정의할 수 있다.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754313"/>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「32. 유스케이스 상세화」의 주문 취소 대안 흐름을 </a:t>
            </a:r>
            <a:r>
              <a:rPr sz="1800" b="1">
                <a:solidFill>
                  <a:srgbClr val="000000"/>
                </a:solidFill>
                <a:latin typeface="맑은 고딕"/>
                <a:ea typeface="맑은 고딕"/>
              </a:rPr>
              <a:t>출발점</a:t>
            </a:r>
            <a:r>
              <a:rPr sz="1800" b="0">
                <a:solidFill>
                  <a:srgbClr val="000000"/>
                </a:solidFill>
                <a:latin typeface="맑은 고딕"/>
                <a:ea typeface="맑은 고딕"/>
              </a:rPr>
              <a:t>으로 적용 범위를 넓혀 보며 질문한다. 예시의 전제가 실제 요구 전체를 대표한다고 가정하지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2240238"/>
          <a:ext cx="7790180" cy="3873500"/>
        </p:xfrm>
        <a:graphic>
          <a:graphicData uri="http://schemas.openxmlformats.org/drawingml/2006/table">
            <a:tbl>
              <a:tblPr/>
              <a:tblGrid>
                <a:gridCol w="1534160"/>
                <a:gridCol w="6256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상품 시스템, 회계 시스템,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 → 장바구니 담기(반복) → 배송지 지정 → 결제 → 주문 결과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 주문 취소(결제 완료·배송 시작 전), 3a 배송지 변경(출고 전), 5a 주문 내역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 결과 통지 시간, 권한 확인 기준, 결과 확인 방식에 대한 요구를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상세화는 문서량을 늘리는 작업이 아니라, </a:t>
            </a:r>
            <a:r>
              <a:rPr sz="1800" b="1">
                <a:solidFill>
                  <a:srgbClr val="000000"/>
                </a:solidFill>
                <a:latin typeface="맑은 고딕"/>
                <a:ea typeface="맑은 고딕"/>
              </a:rPr>
              <a:t>조건·규칙·결과의 의미를 필요한 수준까지 명확히 하는 작업</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 1a —</a:t>
            </a:r>
            <a:r>
              <a:rPr sz="1600" b="0">
                <a:solidFill>
                  <a:srgbClr val="000000"/>
                </a:solidFill>
                <a:latin typeface="맑은 고딕"/>
                <a:ea typeface="맑은 고딕"/>
              </a:rPr>
              <a:t> 주문 취소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조건</a:t>
            </a:r>
            <a:r>
              <a:rPr sz="1600" b="0">
                <a:solidFill>
                  <a:srgbClr val="000000"/>
                </a:solidFill>
                <a:latin typeface="맑은 고딕"/>
                <a:ea typeface="맑은 고딕"/>
              </a:rPr>
              <a:t> —</a:t>
            </a:r>
            <a:r>
              <a:rPr sz="1400" b="0">
                <a:solidFill>
                  <a:srgbClr val="000000"/>
                </a:solidFill>
                <a:latin typeface="맑은 고딕"/>
                <a:ea typeface="맑은 고딕"/>
              </a:rPr>
              <a:t> 고객 소유의 결제 완료 주문이며 배송 시작 전이다.</a:t>
            </a:r>
          </a:p>
          <a:p>
            <a:pPr lvl="3" marL="947420" indent="-223520">
              <a:spcBef>
                <a:spcPts val="600"/>
              </a:spcBef>
              <a:spcAft>
                <a:spcPts val="600"/>
              </a:spcAft>
              <a:buNone/>
            </a:pPr>
            <a:r>
              <a:rPr sz="1600" b="0">
                <a:solidFill>
                  <a:srgbClr val="000000"/>
                </a:solidFill>
                <a:latin typeface="맑은 고딕"/>
                <a:ea typeface="맑은 고딕"/>
              </a:rPr>
              <a:t>1. 고객이 주문을 취소한다.</a:t>
            </a:r>
          </a:p>
          <a:p>
            <a:pPr lvl="3" marL="947420" indent="-223520">
              <a:spcBef>
                <a:spcPts val="600"/>
              </a:spcBef>
              <a:spcAft>
                <a:spcPts val="600"/>
              </a:spcAft>
              <a:buNone/>
            </a:pPr>
            <a:r>
              <a:rPr sz="1600" b="0">
                <a:solidFill>
                  <a:srgbClr val="000000"/>
                </a:solidFill>
                <a:latin typeface="맑은 고딕"/>
                <a:ea typeface="맑은 고딕"/>
              </a:rPr>
              <a:t>2. 환불이 처리된다.</a:t>
            </a:r>
          </a:p>
          <a:p>
            <a:pPr lvl="3" marL="947420" indent="-223520">
              <a:spcBef>
                <a:spcPts val="600"/>
              </a:spcBef>
              <a:spcAft>
                <a:spcPts val="600"/>
              </a:spcAft>
              <a:buNone/>
            </a:pPr>
            <a:r>
              <a:rPr sz="1600" b="0">
                <a:solidFill>
                  <a:srgbClr val="000000"/>
                </a:solidFill>
                <a:latin typeface="맑은 고딕"/>
                <a:ea typeface="맑은 고딕"/>
              </a:rPr>
              <a:t>3. 고객은 주문 취소 결과를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결과</a:t>
            </a:r>
            <a:r>
              <a:rPr sz="1600" b="0">
                <a:solidFill>
                  <a:srgbClr val="000000"/>
                </a:solidFill>
                <a:latin typeface="맑은 고딕"/>
                <a:ea typeface="맑은 고딕"/>
              </a:rPr>
              <a:t> —</a:t>
            </a:r>
            <a:r>
              <a:rPr sz="1400" b="0">
                <a:solidFill>
                  <a:srgbClr val="000000"/>
                </a:solidFill>
                <a:latin typeface="맑은 고딕"/>
                <a:ea typeface="맑은 고딕"/>
              </a:rPr>
              <a:t> 주문이 취소 상태이고, 결제 금액 전액의 환불이 완료된다.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흐름 1a2a —</a:t>
            </a:r>
            <a:r>
              <a:rPr sz="1600" b="0">
                <a:solidFill>
                  <a:srgbClr val="000000"/>
                </a:solidFill>
                <a:latin typeface="맑은 고딕"/>
                <a:ea typeface="맑은 고딕"/>
              </a:rPr>
              <a:t> 환불이 완료되지 않는다</a:t>
            </a:r>
          </a:p>
          <a:p>
            <a:pPr lvl="3" marL="947420" indent="-223520">
              <a:spcBef>
                <a:spcPts val="600"/>
              </a:spcBef>
              <a:spcAft>
                <a:spcPts val="600"/>
              </a:spcAft>
              <a:buNone/>
            </a:pPr>
            <a:r>
              <a:rPr sz="1600" b="0">
                <a:solidFill>
                  <a:srgbClr val="000000"/>
                </a:solidFill>
                <a:latin typeface="맑은 고딕"/>
                <a:ea typeface="맑은 고딕"/>
              </a:rPr>
              <a:t>1. 고객은 취소·환불이 완료되지 않았음과 후속 문의 방법을 안내받는다.</a:t>
            </a:r>
          </a:p>
          <a:p>
            <a:pPr lvl="3" marL="947420" indent="-223520">
              <a:spcBef>
                <a:spcPts val="600"/>
              </a:spcBef>
              <a:spcAft>
                <a:spcPts val="600"/>
              </a:spcAft>
              <a:buNone/>
            </a:pPr>
            <a:r>
              <a:rPr sz="1600" b="0">
                <a:solidFill>
                  <a:srgbClr val="000000"/>
                </a:solidFill>
                <a:latin typeface="맑은 고딕"/>
                <a:ea typeface="맑은 고딕"/>
              </a:rPr>
              <a:t>2. 취소 흐름은 성공 결과를 충족하지 않은 채 끝난다.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번호는 </a:t>
            </a:r>
            <a:r>
              <a:rPr sz="1600" b="1">
                <a:solidFill>
                  <a:srgbClr val="000000"/>
                </a:solidFill>
                <a:latin typeface="맑은 고딕"/>
                <a:ea typeface="맑은 고딕"/>
              </a:rPr>
              <a:t>기본 흐름에서 파생</a:t>
            </a:r>
            <a:r>
              <a:rPr sz="1600" b="0">
                <a:solidFill>
                  <a:srgbClr val="000000"/>
                </a:solidFill>
                <a:latin typeface="맑은 고딕"/>
                <a:ea typeface="맑은 고딕"/>
              </a:rPr>
              <a:t>한다. </a:t>
            </a:r>
            <a:r>
              <a:rPr sz="1600" b="0">
                <a:solidFill>
                  <a:srgbClr val="000000"/>
                </a:solidFill>
                <a:latin typeface="맑은 고딕"/>
                <a:ea typeface="맑은 고딕"/>
              </a:rPr>
              <a:t>1a</a:t>
            </a:r>
            <a:r>
              <a:rPr sz="1600" b="0">
                <a:solidFill>
                  <a:srgbClr val="000000"/>
                </a:solidFill>
                <a:latin typeface="맑은 고딕"/>
                <a:ea typeface="맑은 고딕"/>
              </a:rPr>
              <a:t> —</a:t>
            </a:r>
            <a:r>
              <a:rPr sz="1400" b="0">
                <a:solidFill>
                  <a:srgbClr val="000000"/>
                </a:solidFill>
                <a:latin typeface="맑은 고딕"/>
                <a:ea typeface="맑은 고딕"/>
              </a:rPr>
              <a:t> 기본 흐름 1단계에서 갈라지는 첫 번째 대안 흐름, </a:t>
            </a:r>
            <a:r>
              <a:rPr sz="1400" b="0">
                <a:solidFill>
                  <a:srgbClr val="000000"/>
                </a:solidFill>
                <a:latin typeface="맑은 고딕"/>
                <a:ea typeface="맑은 고딕"/>
              </a:rPr>
              <a:t>1a2a</a:t>
            </a:r>
            <a:r>
              <a:rPr sz="1400" b="0">
                <a:solidFill>
                  <a:srgbClr val="000000"/>
                </a:solidFill>
                <a:latin typeface="맑은 고딕"/>
                <a:ea typeface="맑은 고딕"/>
              </a:rPr>
              <a:t> — 그 대안 흐름의 2단계에서 갈라지는 첫 번째 예외 흐름이다. 대안·예외 흐름 모두 </a:t>
            </a:r>
            <a:r>
              <a:rPr sz="1400" b="1">
                <a:solidFill>
                  <a:srgbClr val="000000"/>
                </a:solidFill>
                <a:latin typeface="맑은 고딕"/>
                <a:ea typeface="맑은 고딕"/>
              </a:rPr>
              <a:t>조건 → 달라지는 행위 → 복귀 또는 종료</a:t>
            </a:r>
            <a:r>
              <a:rPr sz="1400" b="0">
                <a:solidFill>
                  <a:srgbClr val="000000"/>
                </a:solidFill>
                <a:latin typeface="맑은 고딕"/>
                <a:ea typeface="맑은 고딕"/>
              </a:rPr>
              <a:t>로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예외 정책</a:t>
            </a:r>
            <a:r>
              <a:rPr sz="1600" b="0">
                <a:solidFill>
                  <a:srgbClr val="000000"/>
                </a:solidFill>
                <a:latin typeface="맑은 고딕"/>
                <a:ea typeface="맑은 고딕"/>
              </a:rPr>
              <a:t>은 실패 시 지킬 원칙이고, </a:t>
            </a:r>
            <a:r>
              <a:rPr sz="1600" b="1">
                <a:solidFill>
                  <a:srgbClr val="000000"/>
                </a:solidFill>
                <a:latin typeface="맑은 고딕"/>
                <a:ea typeface="맑은 고딕"/>
              </a:rPr>
              <a:t>예외 흐름</a:t>
            </a:r>
            <a:r>
              <a:rPr sz="1600" b="0">
                <a:solidFill>
                  <a:srgbClr val="000000"/>
                </a:solidFill>
                <a:latin typeface="맑은 고딕"/>
                <a:ea typeface="맑은 고딕"/>
              </a:rPr>
              <a:t>은 그때 달라지는 외부 행위·결과다.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 일반 취소 불가</a:t>
            </a:r>
            <a:r>
              <a:rPr sz="1600" b="0">
                <a:solidFill>
                  <a:srgbClr val="000000"/>
                </a:solidFill>
                <a:latin typeface="맑은 고딕"/>
                <a:ea typeface="맑은 고딕"/>
              </a:rPr>
              <a:t>는 </a:t>
            </a:r>
            <a:r>
              <a:rPr sz="1600" b="1">
                <a:solidFill>
                  <a:srgbClr val="000000"/>
                </a:solidFill>
                <a:latin typeface="맑은 고딕"/>
                <a:ea typeface="맑은 고딕"/>
              </a:rPr>
              <a:t>흐름</a:t>
            </a:r>
            <a:r>
              <a:rPr sz="1600" b="0">
                <a:solidFill>
                  <a:srgbClr val="000000"/>
                </a:solidFill>
                <a:latin typeface="맑은 고딕"/>
                <a:ea typeface="맑은 고딕"/>
              </a:rPr>
              <a:t>이 아니라 </a:t>
            </a:r>
            <a:r>
              <a:rPr sz="1600" b="1">
                <a:solidFill>
                  <a:srgbClr val="000000"/>
                </a:solidFill>
                <a:latin typeface="맑은 고딕"/>
                <a:ea typeface="맑은 고딕"/>
              </a:rPr>
              <a:t>규칙</a:t>
            </a:r>
            <a:r>
              <a:rPr sz="1600" b="0">
                <a:solidFill>
                  <a:srgbClr val="000000"/>
                </a:solidFill>
                <a:latin typeface="맑은 고딕"/>
                <a:ea typeface="맑은 고딕"/>
              </a:rPr>
              <a:t>으로 기록한다.</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184299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결제를 확인한다</a:t>
            </a:r>
            <a:r>
              <a:rPr sz="1600" b="0">
                <a:solidFill>
                  <a:srgbClr val="000000"/>
                </a:solidFill>
                <a:latin typeface="맑은 고딕"/>
                <a:ea typeface="맑은 고딕"/>
              </a:rPr>
              <a:t>가 포함으로 분리되는 이유는 내부 함수가 아니라 </a:t>
            </a:r>
            <a:r>
              <a:rPr sz="1600" b="1">
                <a:solidFill>
                  <a:srgbClr val="000000"/>
                </a:solidFill>
                <a:latin typeface="맑은 고딕"/>
                <a:ea typeface="맑은 고딕"/>
              </a:rPr>
              <a:t>외부 결제 시스템과의 상호작용</a:t>
            </a:r>
            <a:r>
              <a:rPr sz="1600" b="0">
                <a:solidFill>
                  <a:srgbClr val="000000"/>
                </a:solidFill>
                <a:latin typeface="맑은 고딕"/>
                <a:ea typeface="맑은 고딕"/>
              </a:rPr>
              <a:t>이기 때문이다.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결제 확인 행위를 포함해야 완료된다. 초안(「27. 유스케이스 다이어그램 —</a:t>
            </a:r>
            <a:r>
              <a:rPr sz="1400" b="0">
                <a:solidFill>
                  <a:srgbClr val="000000"/>
                </a:solidFill>
                <a:latin typeface="맑은 고딕"/>
                <a:ea typeface="맑은 고딕"/>
              </a:rPr>
              <a:t> 초안」)에 </a:t>
            </a:r>
            <a:r>
              <a:rPr sz="1400" b="1">
                <a:solidFill>
                  <a:srgbClr val="000000"/>
                </a:solidFill>
                <a:latin typeface="맑은 고딕"/>
                <a:ea typeface="맑은 고딕"/>
              </a:rPr>
              <a:t>지원 액터</a:t>
            </a:r>
            <a:r>
              <a:rPr sz="1400" b="0">
                <a:solidFill>
                  <a:srgbClr val="000000"/>
                </a:solidFill>
                <a:latin typeface="맑은 고딕"/>
                <a:ea typeface="맑은 고딕"/>
              </a:rPr>
              <a:t>(오른쪽 </a:t>
            </a:r>
            <a:r>
              <a:rPr sz="1400" b="0">
                <a:solidFill>
                  <a:srgbClr val="000000"/>
                </a:solidFill>
                <a:latin typeface="맑은 고딕"/>
                <a:ea typeface="맑은 고딕"/>
              </a:rPr>
              <a:t>«actor»</a:t>
            </a:r>
            <a:r>
              <a:rPr sz="14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svg Diagram 5" descr="상세화한 유스케이스 다이어그램: 주문을 관리한다가 결제를 확인한다를 포함하고 결제 시스템은 결제를 확인한다와 연결"/>
          <p:cNvPicPr>
            <a:picLocks noChangeAspect="1"/>
          </p:cNvPicPr>
          <p:nvPr/>
        </p:nvPicPr>
        <p:blipFill>
          <a:blip r:embed="svgImage5"/>
          <a:stretch>
            <a:fillRect/>
          </a:stretch>
        </p:blipFill>
        <p:spPr>
          <a:xfrm>
            <a:off x="1774031" y="221659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확장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다음은 표기 설명을 위한 </a:t>
            </a:r>
            <a:r>
              <a:rPr sz="1600" b="1">
                <a:solidFill>
                  <a:srgbClr val="000000"/>
                </a:solidFill>
                <a:latin typeface="맑은 고딕"/>
                <a:ea typeface="맑은 고딕"/>
              </a:rPr>
              <a:t>교육용 가정</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a:t>
            </a:r>
            <a:r>
              <a:rPr sz="1600" b="1">
                <a:solidFill>
                  <a:srgbClr val="000000"/>
                </a:solidFill>
                <a:latin typeface="맑은 고딕"/>
                <a:ea typeface="맑은 고딕"/>
              </a:rPr>
              <a:t>쿠폰 없이도 완료</a:t>
            </a:r>
            <a:r>
              <a:rPr sz="1600" b="0">
                <a:solidFill>
                  <a:srgbClr val="000000"/>
                </a:solidFill>
                <a:latin typeface="맑은 고딕"/>
                <a:ea typeface="맑은 고딕"/>
              </a:rPr>
              <a:t>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유효한 쿠폰 요청이 있으면 </a:t>
            </a:r>
            <a:r>
              <a:rPr sz="1400" b="0">
                <a:solidFill>
                  <a:srgbClr val="000000"/>
                </a:solidFill>
                <a:latin typeface="맑은 고딕"/>
                <a:ea typeface="맑은 고딕"/>
              </a:rPr>
              <a:t>최종 금액 확정 전</a:t>
            </a:r>
            <a:r>
              <a:rPr sz="1400" b="0">
                <a:solidFill>
                  <a:srgbClr val="000000"/>
                </a:solidFill>
                <a:latin typeface="맑은 고딕"/>
                <a:ea typeface="맑은 고딕"/>
              </a:rPr>
              <a:t>에 쿠폰을 </a:t>
            </a:r>
            <a:r>
              <a:rPr sz="1400" b="1">
                <a:solidFill>
                  <a:srgbClr val="000000"/>
                </a:solidFill>
                <a:latin typeface="맑은 고딕"/>
                <a:ea typeface="맑은 고딕"/>
              </a:rPr>
              <a:t>적용</a:t>
            </a:r>
            <a:r>
              <a:rPr sz="1400" b="0">
                <a:solidFill>
                  <a:srgbClr val="000000"/>
                </a:solidFill>
                <a:latin typeface="맑은 고딕"/>
                <a:ea typeface="맑은 고딕"/>
              </a:rPr>
              <a:t>한다.</a:t>
            </a:r>
          </a:p>
        </p:txBody>
      </p:sp>
      <p:pic>
        <p:nvPicPr>
          <p:cNvPr id="9" name="svg Diagram 6" descr="확장 관계: 쿠폰을 적용한다가 확장 조건에 따라 주문을 관리한다를 확장"/>
          <p:cNvPicPr>
            <a:picLocks noChangeAspect="1"/>
          </p:cNvPicPr>
          <p:nvPr/>
        </p:nvPicPr>
        <p:blipFill>
          <a:blip r:embed="svgImage6"/>
          <a:stretch>
            <a:fillRect/>
          </a:stretch>
        </p:blipFill>
        <p:spPr>
          <a:xfrm>
            <a:off x="2250281" y="357731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일반화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의미·행위를 </a:t>
            </a:r>
            <a:r>
              <a:rPr sz="1600" b="1">
                <a:solidFill>
                  <a:srgbClr val="000000"/>
                </a:solidFill>
                <a:latin typeface="맑은 고딕"/>
                <a:ea typeface="맑은 고딕"/>
              </a:rPr>
              <a:t>모두 이어받을 때만</a:t>
            </a:r>
            <a:r>
              <a:rPr sz="1600" b="0">
                <a:solidFill>
                  <a:srgbClr val="000000"/>
                </a:solidFill>
                <a:latin typeface="맑은 고딕"/>
                <a:ea typeface="맑은 고딕"/>
              </a:rPr>
              <a:t> 일반화를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기업 고객·VIP 고객이 </a:t>
            </a:r>
            <a:r>
              <a:rPr sz="1600" b="0">
                <a:solidFill>
                  <a:srgbClr val="000000"/>
                </a:solidFill>
                <a:latin typeface="맑은 고딕"/>
                <a:ea typeface="맑은 고딕"/>
              </a:rPr>
              <a:t>주문을 관리한다</a:t>
            </a:r>
            <a:r>
              <a:rPr sz="1600" b="0">
                <a:solidFill>
                  <a:srgbClr val="000000"/>
                </a:solidFill>
                <a:latin typeface="맑은 고딕"/>
                <a:ea typeface="맑은 고딕"/>
              </a:rPr>
              <a:t>를 </a:t>
            </a:r>
            <a:r>
              <a:rPr sz="1600" b="1">
                <a:solidFill>
                  <a:srgbClr val="000000"/>
                </a:solidFill>
                <a:latin typeface="맑은 고딕"/>
                <a:ea typeface="맑은 고딕"/>
              </a:rPr>
              <a:t>모두 이어받는다</a:t>
            </a:r>
            <a:r>
              <a:rPr sz="1600" b="0">
                <a:solidFill>
                  <a:srgbClr val="000000"/>
                </a:solidFill>
                <a:latin typeface="맑은 고딕"/>
                <a:ea typeface="맑은 고딕"/>
              </a:rPr>
              <a:t>고 가정한다.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이후 </a:t>
            </a:r>
            <a:r>
              <a:rPr sz="1400" b="1">
                <a:solidFill>
                  <a:srgbClr val="000000"/>
                </a:solidFill>
                <a:latin typeface="맑은 고딕"/>
                <a:ea typeface="맑은 고딕"/>
              </a:rPr>
              <a:t>한도·혜택</a:t>
            </a:r>
            <a:r>
              <a:rPr sz="1400" b="0">
                <a:solidFill>
                  <a:srgbClr val="000000"/>
                </a:solidFill>
                <a:latin typeface="맑은 고딕"/>
                <a:ea typeface="맑은 고딕"/>
              </a:rPr>
              <a:t> 등 요건이 붙을 수 있다.</a:t>
            </a:r>
          </a:p>
        </p:txBody>
      </p:sp>
      <p:pic>
        <p:nvPicPr>
          <p:cNvPr id="9" name="svg Diagram 7" descr="액터 일반화: 기업 고객과 VIP 고객이 고객을 특수화하고 고객은 주문을 관리한다에 참여"/>
          <p:cNvPicPr>
            <a:picLocks noChangeAspect="1"/>
          </p:cNvPicPr>
          <p:nvPr/>
        </p:nvPicPr>
        <p:blipFill>
          <a:blip r:embed="svgImage7"/>
          <a:stretch>
            <a:fillRect/>
          </a:stretch>
        </p:blipFill>
        <p:spPr>
          <a:xfrm>
            <a:off x="2637234" y="394045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3058085"/>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 분해도처럼 유스케이스를 잘게 쪼개면 </a:t>
            </a:r>
            <a:r>
              <a:rPr sz="1800" b="1">
                <a:solidFill>
                  <a:srgbClr val="000000"/>
                </a:solidFill>
                <a:latin typeface="맑은 고딕"/>
                <a:ea typeface="맑은 고딕"/>
              </a:rPr>
              <a:t>액터의 목표가 사라지고</a:t>
            </a:r>
            <a:r>
              <a:rPr sz="1800" b="0">
                <a:solidFill>
                  <a:srgbClr val="000000"/>
                </a:solidFill>
                <a:latin typeface="맑은 고딕"/>
                <a:ea typeface="맑은 고딕"/>
              </a:rPr>
              <a:t> 유스케이스 수만 늘어난다. 판단 질문은 하나다. </a:t>
            </a:r>
            <a:r>
              <a:rPr sz="1800" b="1">
                <a:solidFill>
                  <a:srgbClr val="000000"/>
                </a:solidFill>
                <a:latin typeface="맑은 고딕"/>
                <a:ea typeface="맑은 고딕"/>
              </a:rPr>
              <a:t>이것만 마치고 액터가 만족해서 떠날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"글쓰기에서 가장 흔한 실수는 문장의 주어를 빼는 것, </a:t>
            </a:r>
            <a:r>
              <a:rPr sz="1800" b="1">
                <a:solidFill>
                  <a:srgbClr val="000000"/>
                </a:solidFill>
                <a:latin typeface="맑은 고딕"/>
                <a:ea typeface="맑은 고딕"/>
              </a:rPr>
              <a:t>화면 설계를 가정</a:t>
            </a:r>
            <a:r>
              <a:rPr sz="1800" b="0">
                <a:solidFill>
                  <a:srgbClr val="000000"/>
                </a:solidFill>
                <a:latin typeface="맑은 고딕"/>
                <a:ea typeface="맑은 고딕"/>
              </a:rPr>
              <a:t>하는 것, </a:t>
            </a:r>
            <a:r>
              <a:rPr sz="1800" b="1">
                <a:solidFill>
                  <a:srgbClr val="000000"/>
                </a:solidFill>
                <a:latin typeface="맑은 고딕"/>
                <a:ea typeface="맑은 고딕"/>
              </a:rPr>
              <a:t>너무 낮은 목표 수준</a:t>
            </a:r>
            <a:r>
              <a:rPr sz="1800" b="0">
                <a:solidFill>
                  <a:srgbClr val="000000"/>
                </a:solidFill>
                <a:latin typeface="맑은 고딕"/>
                <a:ea typeface="맑은 고딕"/>
              </a:rPr>
              <a:t>을 쓰는 것이다"</a:t>
            </a:r>
            <a:r>
              <a:rPr sz="1000" b="0">
                <a:solidFill>
                  <a:srgbClr val="000000"/>
                </a:solidFill>
                <a:latin typeface="맑은 고딕"/>
                <a:ea typeface="맑은 고딕"/>
              </a:rPr>
              <a:t>, </a:t>
            </a:r>
            <a:r>
              <a:rPr sz="1000" b="0">
                <a:solidFill>
                  <a:srgbClr val="000000"/>
                </a:solidFill>
                <a:latin typeface="맑은 고딕"/>
                <a:ea typeface="맑은 고딕"/>
              </a:rPr>
              <a:t>"The most common mistakes in writing are leaving out the subjects of sentences, making assumptions about the user interface design, and using goal levels that are too low."</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2100036"/>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매트릭스를 요구 목록으로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CRUD 전체 점검은 상세 설계에서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자료를 유지하는 요구를 생성·조회·수정·삭제별 유스케이스로 나누지 않는다.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다루고, 조회·수정·삭제는 필요하면 </a:t>
            </a:r>
            <a:r>
              <a:rPr sz="1800" b="1">
                <a:solidFill>
                  <a:srgbClr val="000000"/>
                </a:solidFill>
                <a:latin typeface="맑은 고딕"/>
                <a:ea typeface="맑은 고딕"/>
              </a:rPr>
              <a:t>대안 흐름</a:t>
            </a:r>
            <a:r>
              <a:rPr sz="1800" b="0">
                <a:solidFill>
                  <a:srgbClr val="000000"/>
                </a:solidFill>
                <a:latin typeface="맑은 고딕"/>
                <a:ea typeface="맑은 고딕"/>
              </a:rPr>
              <a:t>으로 정의한다.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392124"/>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세부가 아니라 </a:t>
            </a:r>
            <a:r>
              <a:rPr sz="1800" b="1">
                <a:solidFill>
                  <a:srgbClr val="000000"/>
                </a:solidFill>
                <a:latin typeface="맑은 고딕"/>
                <a:ea typeface="맑은 고딕"/>
              </a:rPr>
              <a:t>액터의 의도</a:t>
            </a:r>
            <a:r>
              <a:rPr sz="1800" b="0">
                <a:solidFill>
                  <a:srgbClr val="000000"/>
                </a:solidFill>
                <a:latin typeface="맑은 고딕"/>
                <a:ea typeface="맑은 고딕"/>
              </a:rPr>
              <a:t>를 드러낸다"</a:t>
            </a:r>
            <a:r>
              <a:rPr sz="1000" b="0">
                <a:solidFill>
                  <a:srgbClr val="000000"/>
                </a:solidFill>
                <a:latin typeface="맑은 고딕"/>
                <a:ea typeface="맑은 고딕"/>
              </a:rPr>
              <a:t>, </a:t>
            </a:r>
            <a:r>
              <a:rPr sz="1000" b="0">
                <a:solidFill>
                  <a:srgbClr val="000000"/>
                </a:solidFill>
                <a:latin typeface="맑은 고딕"/>
                <a:ea typeface="맑은 고딕"/>
              </a:rPr>
              <a:t>"Highlight the actor's intention, not the user interface details."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184299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1585960"/>
          <a:ext cx="7790180" cy="3873500"/>
        </p:xfrm>
        <a:graphic>
          <a:graphicData uri="http://schemas.openxmlformats.org/drawingml/2006/table">
            <a:tbl>
              <a:tblPr/>
              <a:tblGrid>
                <a:gridCol w="346202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대안·예외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규칙·제약·예외 정책으로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- 49 -</a:t>
            </a:r>
          </a:p>
        </p:txBody>
      </p:sp>
    </p:spTree>
    <p:extLst>
      <p:ext uri="{BB962C8B-B14F-4D97-AF65-F5344CB8AC3E}">
        <p14:creationId xmlns:p14="http://schemas.microsoft.com/office/powerpoint/2010/main" val="27895694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CRUD를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바른 모습은 </a:t>
            </a:r>
            <a:r>
              <a:rPr sz="1600" b="1">
                <a:solidFill>
                  <a:srgbClr val="000000"/>
                </a:solidFill>
                <a:latin typeface="맑은 고딕"/>
                <a:ea typeface="맑은 고딕"/>
              </a:rPr>
              <a:t>상품 정보를 관리한다</a:t>
            </a:r>
            <a:r>
              <a:rPr sz="1600" b="0">
                <a:solidFill>
                  <a:srgbClr val="000000"/>
                </a:solidFill>
                <a:latin typeface="맑은 고딕"/>
                <a:ea typeface="맑은 고딕"/>
              </a:rPr>
              <a:t> 하나와 대안 흐름이다(「35. 잘못된 관행 —</a:t>
            </a:r>
            <a:r>
              <a:rPr sz="1400" b="0">
                <a:solidFill>
                  <a:srgbClr val="000000"/>
                </a:solidFill>
                <a:latin typeface="맑은 고딕"/>
                <a:ea typeface="맑은 고딕"/>
              </a:rPr>
              <a:t> CRUD 분할」).</a:t>
            </a:r>
          </a:p>
        </p:txBody>
      </p:sp>
      <p:pic>
        <p:nvPicPr>
          <p:cNvPr id="9" name="svg Diagram 8" descr="잘못된 예: 상품 관리를 등록·조회·수정·삭제 포함 관계로 분해"/>
          <p:cNvPicPr>
            <a:picLocks noChangeAspect="1"/>
          </p:cNvPicPr>
          <p:nvPr/>
        </p:nvPicPr>
        <p:blipFill>
          <a:blip r:embed="svgImage8"/>
          <a:stretch>
            <a:fillRect/>
          </a:stretch>
        </p:blipFill>
        <p:spPr>
          <a:xfrm>
            <a:off x="1893094" y="346857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유스케이스로 그린 업무 순서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경계가 없고, 유스케이스 사이의 일반 화살표가 </a:t>
            </a:r>
            <a:r>
              <a:rPr sz="1600" b="1">
                <a:solidFill>
                  <a:srgbClr val="000000"/>
                </a:solidFill>
                <a:latin typeface="맑은 고딕"/>
                <a:ea typeface="맑은 고딕"/>
              </a:rPr>
              <a:t>실행 순서</a:t>
            </a:r>
            <a:r>
              <a:rPr sz="1600" b="0">
                <a:solidFill>
                  <a:srgbClr val="000000"/>
                </a:solidFill>
                <a:latin typeface="맑은 고딕"/>
                <a:ea typeface="맑은 고딕"/>
              </a:rPr>
              <a:t>를 나타낸다.</a:t>
            </a:r>
          </a:p>
        </p:txBody>
      </p:sp>
      <p:pic>
        <p:nvPicPr>
          <p:cNvPr id="9" name="svg Diagram 9" descr="잘못된 예: 시스템 경계 없이 유스케이스 사이 화살표로 실행 순서를 표현"/>
          <p:cNvPicPr>
            <a:picLocks noChangeAspect="1"/>
          </p:cNvPicPr>
          <p:nvPr/>
        </p:nvPicPr>
        <p:blipFill>
          <a:blip r:embed="svgImage9"/>
          <a:stretch>
            <a:fillRect/>
          </a:stretch>
        </p:blipFill>
        <p:spPr>
          <a:xfrm>
            <a:off x="1744266" y="373821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피해야 할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시스템 경계 없이</a:t>
            </a:r>
            <a:r>
              <a:rPr sz="1600" b="0">
                <a:solidFill>
                  <a:srgbClr val="000000"/>
                </a:solidFill>
                <a:latin typeface="맑은 고딕"/>
                <a:ea typeface="맑은 고딕"/>
              </a:rPr>
              <a:t> 유스케이스만 나열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 사이의 일반 화살표로 </a:t>
            </a:r>
            <a:r>
              <a:rPr sz="1600" b="1">
                <a:solidFill>
                  <a:srgbClr val="000000"/>
                </a:solidFill>
                <a:latin typeface="맑은 고딕"/>
                <a:ea typeface="맑은 고딕"/>
              </a:rPr>
              <a:t>실행 순서</a:t>
            </a:r>
            <a:r>
              <a:rPr sz="1600" b="0">
                <a:solidFill>
                  <a:srgbClr val="000000"/>
                </a:solidFill>
                <a:latin typeface="맑은 고딕"/>
                <a:ea typeface="맑은 고딕"/>
              </a:rPr>
              <a:t>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화면 메뉴 구조</a:t>
            </a:r>
            <a:r>
              <a:rPr sz="1600" b="0">
                <a:solidFill>
                  <a:srgbClr val="000000"/>
                </a:solidFill>
                <a:latin typeface="맑은 고딕"/>
                <a:ea typeface="맑은 고딕"/>
              </a:rPr>
              <a:t>를 그대로 유스케이스로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CRUD·내부 기능</a:t>
            </a:r>
            <a:r>
              <a:rPr sz="1600" b="0">
                <a:solidFill>
                  <a:srgbClr val="000000"/>
                </a:solidFill>
                <a:latin typeface="맑은 고딕"/>
                <a:ea typeface="맑은 고딕"/>
              </a:rPr>
              <a:t>을 포함 관계로 분해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공통 코드</a:t>
            </a:r>
            <a:r>
              <a:rPr sz="1600" b="0">
                <a:solidFill>
                  <a:srgbClr val="000000"/>
                </a:solidFill>
                <a:latin typeface="맑은 고딕"/>
                <a:ea typeface="맑은 고딕"/>
              </a:rPr>
              <a:t>라는 이유만으로 </a:t>
            </a:r>
            <a:r>
              <a:rPr sz="1600" b="0">
                <a:solidFill>
                  <a:srgbClr val="000000"/>
                </a:solidFill>
                <a:latin typeface="맑은 고딕"/>
                <a:ea typeface="맑은 고딕"/>
              </a:rPr>
              <a:t>&lt;&lt;include&gt;&gt;</a:t>
            </a:r>
            <a:r>
              <a:rPr sz="1600" b="0">
                <a:solidFill>
                  <a:srgbClr val="000000"/>
                </a:solidFill>
                <a:latin typeface="맑은 고딕"/>
                <a:ea typeface="맑은 고딕"/>
              </a:rPr>
              <a:t>, </a:t>
            </a:r>
            <a:r>
              <a:rPr sz="1600" b="1">
                <a:solidFill>
                  <a:srgbClr val="000000"/>
                </a:solidFill>
                <a:latin typeface="맑은 고딕"/>
                <a:ea typeface="맑은 고딕"/>
              </a:rPr>
              <a:t>선택 기능</a:t>
            </a:r>
            <a:r>
              <a:rPr sz="1600" b="0">
                <a:solidFill>
                  <a:srgbClr val="000000"/>
                </a:solidFill>
                <a:latin typeface="맑은 고딕"/>
                <a:ea typeface="맑은 고딕"/>
              </a:rPr>
              <a:t>이라는 이유만으로 </a:t>
            </a:r>
            <a:r>
              <a:rPr sz="1600" b="0">
                <a:solidFill>
                  <a:srgbClr val="000000"/>
                </a:solidFill>
                <a:latin typeface="맑은 고딕"/>
                <a:ea typeface="맑은 고딕"/>
              </a:rPr>
              <a:t>&lt;&lt;extend&gt;&gt;</a:t>
            </a:r>
            <a:r>
              <a:rPr sz="1600" b="0">
                <a:solidFill>
                  <a:srgbClr val="000000"/>
                </a:solidFill>
                <a:latin typeface="맑은 고딕"/>
                <a:ea typeface="맑은 고딕"/>
              </a:rPr>
              <a:t> 사용</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액터를 모든 유스케이스에 연결한 </a:t>
            </a:r>
            <a:r>
              <a:rPr sz="1600" b="1">
                <a:solidFill>
                  <a:srgbClr val="000000"/>
                </a:solidFill>
                <a:latin typeface="맑은 고딕"/>
                <a:ea typeface="맑은 고딕"/>
              </a:rPr>
              <a:t>거미줄</a:t>
            </a:r>
          </a:p>
        </p:txBody>
      </p:sp>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a:t>
            </a:r>
            <a:r>
              <a:rPr sz="1400" b="0">
                <a:solidFill>
                  <a:srgbClr val="000000"/>
                </a:solidFill>
                <a:latin typeface="맑은 고딕"/>
                <a:ea typeface="맑은 고딕"/>
              </a:rPr>
              <a:t>(System Sequence Diagram, SSD)</a:t>
            </a:r>
            <a:r>
              <a:rPr sz="1800" b="0">
                <a:solidFill>
                  <a:srgbClr val="000000"/>
                </a:solidFill>
                <a:latin typeface="맑은 고딕"/>
                <a:ea typeface="맑은 고딕"/>
              </a:rPr>
              <a:t>은 유스케이스 </a:t>
            </a:r>
            <a:r>
              <a:rPr sz="1800" b="1">
                <a:solidFill>
                  <a:srgbClr val="000000"/>
                </a:solidFill>
                <a:latin typeface="맑은 고딕"/>
                <a:ea typeface="맑은 고딕"/>
              </a:rPr>
              <a:t>시나리오 하나</a:t>
            </a:r>
            <a:r>
              <a:rPr sz="1800" b="0">
                <a:solidFill>
                  <a:srgbClr val="000000"/>
                </a:solidFill>
                <a:latin typeface="맑은 고딕"/>
                <a:ea typeface="맑은 고딕"/>
              </a:rPr>
              <a:t>에서 </a:t>
            </a:r>
            <a:r>
              <a:rPr sz="1800" b="1">
                <a:solidFill>
                  <a:srgbClr val="000000"/>
                </a:solidFill>
                <a:latin typeface="맑은 고딕"/>
                <a:ea typeface="맑은 고딕"/>
              </a:rPr>
              <a:t>주 액터</a:t>
            </a:r>
            <a:r>
              <a:rPr sz="1800" b="0">
                <a:solidFill>
                  <a:srgbClr val="000000"/>
                </a:solidFill>
                <a:latin typeface="맑은 고딕"/>
                <a:ea typeface="맑은 고딕"/>
              </a:rPr>
              <a:t>가 시스템에 보내는 </a:t>
            </a:r>
            <a:r>
              <a:rPr sz="1800" b="1">
                <a:solidFill>
                  <a:srgbClr val="000000"/>
                </a:solidFill>
                <a:latin typeface="맑은 고딕"/>
                <a:ea typeface="맑은 고딕"/>
              </a:rPr>
              <a:t>시스템 이벤트</a:t>
            </a:r>
            <a:r>
              <a:rPr sz="1800" b="0">
                <a:solidFill>
                  <a:srgbClr val="000000"/>
                </a:solidFill>
                <a:latin typeface="맑은 고딕"/>
                <a:ea typeface="맑은 고딕"/>
              </a:rPr>
              <a:t>와 그 순서를 보여준다. 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요구 분석에서는 SSD로 시스템 이벤트를 찾고, 시스템 오퍼레이션과 계약으로 이어 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 외부 시스템을 더한 정제는 「43. 정제된 SSD」에서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SSD는 </a:t>
            </a:r>
            <a:r>
              <a:rPr sz="1800" b="1">
                <a:solidFill>
                  <a:srgbClr val="000000"/>
                </a:solidFill>
                <a:latin typeface="맑은 고딕"/>
                <a:ea typeface="맑은 고딕"/>
              </a:rPr>
              <a:t>시퀀스 다이어그램</a:t>
            </a:r>
            <a:r>
              <a:rPr sz="1800" b="0">
                <a:solidFill>
                  <a:srgbClr val="000000"/>
                </a:solidFill>
                <a:latin typeface="맑은 고딕"/>
                <a:ea typeface="맑은 고딕"/>
              </a:rPr>
              <a:t>을 시스템 관점으로 제한해 쓴 것이다. 여기서는 SSD에 필요한 표기만 소개하고, 시퀀스 다이어그램의 정의와 전체 표기는 "04. 동적 모델 —</a:t>
            </a:r>
            <a:r>
              <a:rPr sz="1600" b="0">
                <a:solidFill>
                  <a:srgbClr val="000000"/>
                </a:solidFill>
                <a:latin typeface="맑은 고딕"/>
                <a:ea typeface="맑은 고딕"/>
              </a:rPr>
              <a:t> 상호작용과 상태"에서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단계의 이벤트는 모두 </a:t>
            </a:r>
            <a:r>
              <a:rPr sz="1800" b="1">
                <a:solidFill>
                  <a:srgbClr val="000000"/>
                </a:solidFill>
                <a:latin typeface="맑은 고딕"/>
                <a:ea typeface="맑은 고딕"/>
              </a:rPr>
              <a:t>동기 호출</a:t>
            </a:r>
            <a:r>
              <a:rPr sz="1800" b="0">
                <a:solidFill>
                  <a:srgbClr val="000000"/>
                </a:solidFill>
                <a:latin typeface="맑은 고딕"/>
                <a:ea typeface="맑은 고딕"/>
              </a:rPr>
              <a:t>이다. 응답은 그리지 않는다.</a:t>
            </a:r>
          </a:p>
        </p:txBody>
      </p:sp>
      <p:pic>
        <p:nvPicPr>
          <p:cNvPr id="9" name="svg Diagram 10" descr="시스템 시퀀스 다이어그램 표기: 액터, 대상 시스템과 생명선, 시스템 이벤트, 반복 조각"/>
          <p:cNvPicPr>
            <a:picLocks noChangeAspect="1"/>
          </p:cNvPicPr>
          <p:nvPr/>
        </p:nvPicPr>
        <p:blipFill>
          <a:blip r:embed="svgImage10"/>
          <a:stretch>
            <a:fillRect/>
          </a:stretch>
        </p:blipFill>
        <p:spPr>
          <a:xfrm>
            <a:off x="1926167" y="4228801"/>
            <a:ext cx="5291667"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2260600"/>
                <a:gridCol w="267970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조각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 </a:t>
            </a:r>
            <a:r>
              <a:rPr sz="1800" b="1">
                <a:solidFill>
                  <a:srgbClr val="000000"/>
                </a:solidFill>
                <a:latin typeface="맑은 고딕"/>
                <a:ea typeface="맑은 고딕"/>
              </a:rPr>
              <a:t>한 시나리오</a:t>
            </a:r>
            <a:r>
              <a:rPr sz="1800" b="0">
                <a:solidFill>
                  <a:srgbClr val="000000"/>
                </a:solidFill>
                <a:latin typeface="맑은 고딕"/>
                <a:ea typeface="맑은 고딕"/>
              </a:rPr>
              <a:t>의 시스템 이벤트를 시각화한다.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나온다. 반복되는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이벤트가 아니다.</a:t>
            </a:r>
          </a:p>
        </p:txBody>
      </p:sp>
      <p:pic>
        <p:nvPicPr>
          <p:cNvPr id="9" name="svg Diagram 11" descr="유스케이스 기본 흐름의 각 단계와 SSD 초안의 시스템 이벤트 대응"/>
          <p:cNvPicPr>
            <a:picLocks noChangeAspect="1"/>
          </p:cNvPicPr>
          <p:nvPr/>
        </p:nvPicPr>
        <p:blipFill>
          <a:blip r:embed="svgImage11"/>
          <a:stretch>
            <a:fillRect/>
          </a:stretch>
        </p:blipFill>
        <p:spPr>
          <a:xfrm>
            <a:off x="1684734" y="285071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41.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SSD와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이벤트는 </a:t>
            </a:r>
            <a:r>
              <a:rPr sz="1600" b="1">
                <a:solidFill>
                  <a:srgbClr val="000000"/>
                </a:solidFill>
                <a:latin typeface="맑은 고딕"/>
                <a:ea typeface="맑은 고딕"/>
              </a:rPr>
              <a:t>시스템 경계의 오퍼레이션</a:t>
            </a:r>
            <a:r>
              <a:rPr sz="1600" b="0">
                <a:solidFill>
                  <a:srgbClr val="000000"/>
                </a:solidFill>
                <a:latin typeface="맑은 고딕"/>
                <a:ea typeface="맑은 고딕"/>
              </a:rPr>
              <a:t>이 된다. 사용자 목표 하나를 이벤트 하나로 줄이면 </a:t>
            </a:r>
            <a:r>
              <a:rPr sz="1600" b="1">
                <a:solidFill>
                  <a:srgbClr val="000000"/>
                </a:solidFill>
                <a:latin typeface="맑은 고딕"/>
                <a:ea typeface="맑은 고딕"/>
              </a:rPr>
              <a:t>이벤트 흐름이 사라진다</a:t>
            </a:r>
            <a:r>
              <a:rPr sz="1600" b="0">
                <a:solidFill>
                  <a:srgbClr val="000000"/>
                </a:solidFill>
                <a:latin typeface="맑은 고딕"/>
                <a:ea typeface="맑은 고딕"/>
              </a:rPr>
              <a:t>.</a:t>
            </a:r>
          </a:p>
        </p:txBody>
      </p:sp>
      <p:pic>
        <p:nvPicPr>
          <p:cNvPr id="33" name="plantuml Diagram 1"/>
          <p:cNvPicPr>
            <a:picLocks noChangeAspect="1"/>
          </p:cNvPicPr>
          <p:nvPr/>
        </p:nvPicPr>
        <p:blipFill>
          <a:blip r:embed="plantumlImage1"/>
          <a:stretch>
            <a:fillRect/>
          </a:stretch>
        </p:blipFill>
        <p:spPr>
          <a:xfrm>
            <a:off x="365760" y="2240238"/>
            <a:ext cx="2627923" cy="22127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234477"/>
                <a:gridCol w="2283100"/>
                <a:gridCol w="1310628"/>
                <a:gridCol w="247759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네 외부 시스템을 조정한다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상태·출고 중단·환불이 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여부를 외부가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액터가 보내는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이고,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 유스케이스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0091"/>
          <a:ext cx="8305800" cy="3873500"/>
        </p:xfrm>
        <a:graphic>
          <a:graphicData uri="http://schemas.openxmlformats.org/drawingml/2006/table">
            <a:tbl>
              <a:tblPr/>
              <a:tblGrid>
                <a:gridCol w="1900615"/>
                <a:gridCol w="2852060"/>
                <a:gridCol w="355312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요청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받아야 흐름을 이어갈 수 있는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승인처럼 결과가 다음 단계를 결정할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요청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 요청·통보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요청처럼 결과가 나중에 따로 올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9973"/>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응답은 그리지 않는다. 비동기의 결과는 나중에 오는 </a:t>
            </a:r>
            <a:r>
              <a:rPr sz="1600" b="1">
                <a:solidFill>
                  <a:srgbClr val="000000"/>
                </a:solidFill>
                <a:latin typeface="맑은 고딕"/>
                <a:ea typeface="맑은 고딕"/>
              </a:rPr>
              <a:t>별도의 이벤트</a:t>
            </a:r>
            <a:r>
              <a:rPr sz="1600" b="0">
                <a:solidFill>
                  <a:srgbClr val="000000"/>
                </a:solidFill>
                <a:latin typeface="맑은 고딕"/>
                <a:ea typeface="맑은 고딕"/>
              </a:rPr>
              <a:t>다</a:t>
            </a:r>
            <a:r>
              <a:rPr sz="1200" b="0">
                <a:solidFill>
                  <a:srgbClr val="000000"/>
                </a:solidFill>
                <a:latin typeface="맑은 고딕"/>
                <a:ea typeface="맑은 고딕"/>
              </a:rPr>
              <a:t>(배송 시작 통보)</a:t>
            </a:r>
            <a:r>
              <a:rPr sz="1600" b="0">
                <a:solidFill>
                  <a:srgbClr val="000000"/>
                </a:solidFill>
                <a:latin typeface="맑은 고딕"/>
                <a:ea typeface="맑은 고딕"/>
              </a:rPr>
              <a:t>.</a:t>
            </a:r>
          </a:p>
        </p:txBody>
      </p:sp>
      <p:pic>
        <p:nvPicPr>
          <p:cNvPr id="15" name="svg Diagram 12" descr="정제된 SSD 표기: 외부 시스템 생명선, 동기 요청, 비동기 요청"/>
          <p:cNvPicPr>
            <a:picLocks noChangeAspect="1"/>
          </p:cNvPicPr>
          <p:nvPr/>
        </p:nvPicPr>
        <p:blipFill>
          <a:blip r:embed="svgImage12"/>
          <a:stretch>
            <a:fillRect/>
          </a:stretch>
        </p:blipFill>
        <p:spPr>
          <a:xfrm>
            <a:off x="2183956" y="184299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 주문 시나리오의 </a:t>
            </a:r>
            <a:r>
              <a:rPr sz="1600" b="1">
                <a:solidFill>
                  <a:srgbClr val="000000"/>
                </a:solidFill>
                <a:latin typeface="맑은 고딕"/>
                <a:ea typeface="맑은 고딕"/>
              </a:rPr>
              <a:t>정제된 SSD</a:t>
            </a:r>
            <a:r>
              <a:rPr sz="1600" b="0">
                <a:solidFill>
                  <a:srgbClr val="000000"/>
                </a:solidFill>
                <a:latin typeface="맑은 고딕"/>
                <a:ea typeface="맑은 고딕"/>
              </a:rPr>
              <a:t>다.</a:t>
            </a:r>
          </a:p>
        </p:txBody>
      </p:sp>
      <p:pic>
        <p:nvPicPr>
          <p:cNvPr id="9" name="plantuml Diagram 2"/>
          <p:cNvPicPr>
            <a:picLocks noChangeAspect="1"/>
          </p:cNvPicPr>
          <p:nvPr/>
        </p:nvPicPr>
        <p:blipFill>
          <a:blip r:embed="plantumlImage2"/>
          <a:stretch>
            <a:fillRect/>
          </a:stretch>
        </p:blipFill>
        <p:spPr>
          <a:xfrm>
            <a:off x="1059962" y="182488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497276"/>
          <a:ext cx="7256780" cy="3873500"/>
        </p:xfrm>
        <a:graphic>
          <a:graphicData uri="http://schemas.openxmlformats.org/drawingml/2006/table">
            <a:tbl>
              <a:tblPr/>
              <a:tblGrid>
                <a:gridCol w="293116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재고 차감, 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있어야 다음으로 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비동기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재고·입금·영수증·출고는 주문 시스템이 </a:t>
            </a:r>
            <a:r>
              <a:rPr sz="1600" b="1">
                <a:solidFill>
                  <a:srgbClr val="000000"/>
                </a:solidFill>
                <a:latin typeface="맑은 고딕"/>
                <a:ea typeface="맑은 고딕"/>
              </a:rPr>
              <a:t>하지 않고 요청한다</a:t>
            </a:r>
            <a:r>
              <a:rPr sz="1600" b="0">
                <a:solidFill>
                  <a:srgbClr val="000000"/>
                </a:solidFill>
                <a:latin typeface="맑은 고딕"/>
                <a:ea typeface="맑은 고딕"/>
              </a:rPr>
              <a:t>. 그래서 계약도 "요청했다"로 쓴다</a:t>
            </a:r>
            <a:r>
              <a:rPr sz="1200" b="0">
                <a:solidFill>
                  <a:srgbClr val="000000"/>
                </a:solidFill>
                <a:latin typeface="맑은 고딕"/>
                <a:ea typeface="맑은 고딕"/>
              </a:rPr>
              <a:t>(「44. 시스템 오퍼레이션과 계약」)</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시스템의 </a:t>
            </a:r>
            <a:r>
              <a:rPr sz="1600" b="1">
                <a:solidFill>
                  <a:srgbClr val="000000"/>
                </a:solidFill>
                <a:latin typeface="맑은 고딕"/>
                <a:ea typeface="맑은 고딕"/>
              </a:rPr>
              <a:t>배송 시작·완료 통보</a:t>
            </a:r>
            <a:r>
              <a:rPr sz="1600" b="0">
                <a:solidFill>
                  <a:srgbClr val="000000"/>
                </a:solidFill>
                <a:latin typeface="맑은 고딕"/>
                <a:ea typeface="맑은 고딕"/>
              </a:rPr>
              <a:t>는 주문 시스템이 반응할 외부 이벤트다</a:t>
            </a:r>
            <a:r>
              <a:rPr sz="1200" b="0">
                <a:solidFill>
                  <a:srgbClr val="000000"/>
                </a:solidFill>
                <a:latin typeface="맑은 고딕"/>
                <a:ea typeface="맑은 고딕"/>
              </a:rPr>
              <a:t>(「07. 이벤트 중심 요구」)</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시스템은 주문 시스템이 </a:t>
            </a:r>
            <a:r>
              <a:rPr sz="1600" b="1">
                <a:solidFill>
                  <a:srgbClr val="000000"/>
                </a:solidFill>
                <a:latin typeface="맑은 고딕"/>
                <a:ea typeface="맑은 고딕"/>
              </a:rPr>
              <a:t>호출하는 인터페이스</a:t>
            </a:r>
            <a:r>
              <a:rPr sz="1600" b="0">
                <a:solidFill>
                  <a:srgbClr val="000000"/>
                </a:solidFill>
                <a:latin typeface="맑은 고딕"/>
                <a:ea typeface="맑은 고딕"/>
              </a:rPr>
              <a:t>가 된다. 동기 요청은 결과를 반환값으로 받고, 비동기 요청은 결과를 기다리지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3"/>
          <p:cNvPicPr>
            <a:picLocks noChangeAspect="1"/>
          </p:cNvPicPr>
          <p:nvPr/>
        </p:nvPicPr>
        <p:blipFill>
          <a:blip r:embed="plantumlImage3"/>
          <a:stretch>
            <a:fillRect/>
          </a:stretch>
        </p:blipFill>
        <p:spPr>
          <a:xfrm>
            <a:off x="1818298" y="224023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(1/5)</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SSD의 시스템 이벤트처럼 시스템 경계를 넘어 들어오는 </a:t>
            </a:r>
            <a:r>
              <a:rPr sz="1800" b="1">
                <a:solidFill>
                  <a:srgbClr val="000000"/>
                </a:solidFill>
                <a:latin typeface="맑은 고딕"/>
                <a:ea typeface="맑은 고딕"/>
              </a:rPr>
              <a:t>의미 있는 이벤트에 응답하는 시스템의 책임</a:t>
            </a:r>
            <a:r>
              <a:rPr sz="1800" b="0">
                <a:solidFill>
                  <a:srgbClr val="000000"/>
                </a:solidFill>
                <a:latin typeface="맑은 고딕"/>
                <a:ea typeface="맑은 고딕"/>
              </a:rPr>
              <a:t>이다. 내부 객체의 메서드나 API를 먼저 정하는 것이 아니며, 유스케이스 하나에는 여러 오퍼레이션이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식별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경계를 넘는 </a:t>
            </a:r>
            <a:r>
              <a:rPr sz="1600" b="1">
                <a:solidFill>
                  <a:srgbClr val="000000"/>
                </a:solidFill>
                <a:latin typeface="맑은 고딕"/>
                <a:ea typeface="맑은 고딕"/>
              </a:rPr>
              <a:t>업무 의미의 이벤트</a:t>
            </a:r>
            <a:r>
              <a:rPr sz="1600" b="0">
                <a:solidFill>
                  <a:srgbClr val="000000"/>
                </a:solidFill>
                <a:latin typeface="맑은 고딕"/>
                <a:ea typeface="맑은 고딕"/>
              </a:rPr>
              <a:t>를 찾는다.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 변경</a:t>
            </a:r>
            <a:r>
              <a:rPr sz="1600" b="0">
                <a:solidFill>
                  <a:srgbClr val="000000"/>
                </a:solidFill>
                <a:latin typeface="맑은 고딕"/>
                <a:ea typeface="맑은 고딕"/>
              </a:rPr>
              <a:t>처럼 </a:t>
            </a:r>
            <a:r>
              <a:rPr sz="1600" b="1">
                <a:solidFill>
                  <a:srgbClr val="000000"/>
                </a:solidFill>
                <a:latin typeface="맑은 고딕"/>
                <a:ea typeface="맑은 고딕"/>
              </a:rPr>
              <a:t>의미와 결과</a:t>
            </a:r>
            <a:r>
              <a:rPr sz="1600" b="0">
                <a:solidFill>
                  <a:srgbClr val="000000"/>
                </a:solidFill>
                <a:latin typeface="맑은 고딕"/>
                <a:ea typeface="맑은 고딕"/>
              </a:rPr>
              <a:t>를 표현하며, 화면 조작·내부 함수 호출과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a:t>
            </a:r>
            <a:r>
              <a:rPr sz="1600" b="1">
                <a:solidFill>
                  <a:srgbClr val="000000"/>
                </a:solidFill>
                <a:latin typeface="맑은 고딕"/>
                <a:ea typeface="맑은 고딕"/>
              </a:rPr>
              <a:t>주문을 관리한다</a:t>
            </a:r>
            <a:r>
              <a:rPr sz="1600" b="0">
                <a:solidFill>
                  <a:srgbClr val="000000"/>
                </a:solidFill>
                <a:latin typeface="맑은 고딕"/>
                <a:ea typeface="맑은 고딕"/>
              </a:rPr>
              <a:t> 하나에 </a:t>
            </a:r>
            <a:r>
              <a:rPr sz="1600" b="0">
                <a:solidFill>
                  <a:srgbClr val="000000"/>
                </a:solidFill>
                <a:latin typeface="맑은 고딕"/>
                <a:ea typeface="맑은 고딕"/>
              </a:rPr>
              <a:t>상품 조회</a:t>
            </a:r>
            <a:r>
              <a:rPr sz="1600" b="0">
                <a:solidFill>
                  <a:srgbClr val="000000"/>
                </a:solidFill>
                <a:latin typeface="맑은 고딕"/>
                <a:ea typeface="맑은 고딕"/>
              </a:rPr>
              <a:t>, </a:t>
            </a:r>
            <a:r>
              <a:rPr sz="1600" b="0">
                <a:solidFill>
                  <a:srgbClr val="000000"/>
                </a:solidFill>
                <a:latin typeface="맑은 고딕"/>
                <a:ea typeface="맑은 고딕"/>
              </a:rPr>
              <a:t>장바구니 담기</a:t>
            </a:r>
            <a:r>
              <a:rPr sz="1600" b="0">
                <a:solidFill>
                  <a:srgbClr val="000000"/>
                </a:solidFill>
                <a:latin typeface="맑은 고딕"/>
                <a:ea typeface="맑은 고딕"/>
              </a:rPr>
              <a:t>, </a:t>
            </a:r>
            <a:r>
              <a:rPr sz="1600" b="0">
                <a:solidFill>
                  <a:srgbClr val="000000"/>
                </a:solidFill>
                <a:latin typeface="맑은 고딕"/>
                <a:ea typeface="맑은 고딕"/>
              </a:rPr>
              <a:t>배송지 지정</a:t>
            </a:r>
            <a:r>
              <a:rPr sz="1600" b="0">
                <a:solidFill>
                  <a:srgbClr val="000000"/>
                </a:solidFill>
                <a:latin typeface="맑은 고딕"/>
                <a:ea typeface="맑은 고딕"/>
              </a:rPr>
              <a:t>, </a:t>
            </a:r>
            <a:r>
              <a:rPr sz="1600" b="0">
                <a:solidFill>
                  <a:srgbClr val="000000"/>
                </a:solidFill>
                <a:latin typeface="맑은 고딕"/>
                <a:ea typeface="맑은 고딕"/>
              </a:rPr>
              <a:t>결제</a:t>
            </a:r>
            <a:r>
              <a:rPr sz="1600" b="0">
                <a:solidFill>
                  <a:srgbClr val="000000"/>
                </a:solidFill>
                <a:latin typeface="맑은 고딕"/>
                <a:ea typeface="맑은 고딕"/>
              </a:rPr>
              <a:t>, </a:t>
            </a:r>
            <a:r>
              <a:rPr sz="1600" b="0">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주문 취소</a:t>
            </a:r>
            <a:r>
              <a:rPr sz="1600" b="0">
                <a:solidFill>
                  <a:srgbClr val="000000"/>
                </a:solidFill>
                <a:latin typeface="맑은 고딕"/>
                <a:ea typeface="맑은 고딕"/>
              </a:rPr>
              <a:t> 오퍼레이션이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시스템이 소유한 결과는 "했다"가 아니라 "</a:t>
            </a:r>
            <a:r>
              <a:rPr sz="1600" b="1">
                <a:solidFill>
                  <a:srgbClr val="000000"/>
                </a:solidFill>
                <a:latin typeface="맑은 고딕"/>
                <a:ea typeface="맑은 고딕"/>
              </a:rPr>
              <a:t>요청했다</a:t>
            </a:r>
            <a:r>
              <a:rPr sz="1600" b="0">
                <a:solidFill>
                  <a:srgbClr val="000000"/>
                </a:solidFill>
                <a:latin typeface="맑은 고딕"/>
                <a:ea typeface="맑은 고딕"/>
              </a:rPr>
              <a:t>"로 쓴다. 대상 시스템이 보장할 수 있는 것만 계약한다.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계약은 이벤트 흐름 중 </a:t>
            </a:r>
            <a:r>
              <a:rPr sz="1600" b="1">
                <a:solidFill>
                  <a:srgbClr val="000000"/>
                </a:solidFill>
                <a:latin typeface="맑은 고딕"/>
                <a:ea typeface="맑은 고딕"/>
              </a:rPr>
              <a:t>어렵고 복잡한 이벤트</a:t>
            </a:r>
            <a:r>
              <a:rPr sz="1600" b="0">
                <a:solidFill>
                  <a:srgbClr val="000000"/>
                </a:solidFill>
                <a:latin typeface="맑은 고딕"/>
                <a:ea typeface="맑은 고딕"/>
              </a:rPr>
              <a:t>에만 쓴다 —</a:t>
            </a:r>
            <a:r>
              <a:rPr sz="1400" b="0">
                <a:solidFill>
                  <a:srgbClr val="000000"/>
                </a:solidFill>
                <a:latin typeface="맑은 고딕"/>
                <a:ea typeface="맑은 고딕"/>
              </a:rPr>
              <a:t> 여러 외부 시스템을 조정하거나, 조건을 외부가 판단하거나, 상태와 결과가 얽힌 이벤트다. 조회·단순 입력은 흐름으로 충분하다</a:t>
            </a:r>
            <a:r>
              <a:rPr sz="1000" b="0">
                <a:solidFill>
                  <a:srgbClr val="000000"/>
                </a:solidFill>
                <a:latin typeface="맑은 고딕"/>
                <a:ea typeface="맑은 고딕"/>
              </a:rPr>
              <a:t>(「42. 시스템 이벤트와 오퍼레이션」)</a:t>
            </a:r>
            <a:r>
              <a:rPr sz="14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(2/5)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5956" y="1585960"/>
          <a:ext cx="5778500" cy="3873500"/>
        </p:xfrm>
        <a:graphic>
          <a:graphicData uri="http://schemas.openxmlformats.org/drawingml/2006/table">
            <a:tbl>
              <a:tblPr/>
              <a:tblGrid>
                <a:gridCol w="145034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시스템에 재고 차감을, 배송 시스템에 배송을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시스템에 입금 처리·영수증 발행을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결제 완료다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결과를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결제</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(3/5)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38471"/>
            <a:ext cx="841248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주문시스템구현</a:t>
            </a:r>
            <a:r>
              <a:rPr sz="800" b="0">
                <a:solidFill>
                  <a:srgbClr val="000000"/>
                </a:solidFill>
                <a:latin typeface="Consolas"/>
                <a:ea typeface="맑은 고딕"/>
              </a:rPr>
              <a:t> implements 주문시스템 {</a:t>
            </a:r>
          </a:p>
          <a:p>
            <a:pPr marL="0" indent="0" algn="l">
              <a:lnSpc>
                <a:spcPts val="960"/>
              </a:lnSpc>
              <a:spcBef>
                <a:spcPts val="0"/>
              </a:spcBef>
              <a:spcAft>
                <a:spcPts val="0"/>
              </a:spcAft>
              <a:buNone/>
            </a:pPr>
            <a:r>
              <a:rPr sz="800" b="0">
                <a:solidFill>
                  <a:srgbClr val="000000"/>
                </a:solidFill>
                <a:latin typeface="Consolas"/>
                <a:ea typeface="맑은 고딕"/>
              </a:rPr>
              <a:t>    // ... 필드·생성자, 상품을조회한다·장바구니에담는다·배송지를지정한다 생략</a:t>
            </a:r>
          </a:p>
          <a:p>
            <a:pPr marL="0" indent="0" algn="l">
              <a:lnSpc>
                <a:spcPts val="960"/>
              </a:lnSpc>
              <a:spcBef>
                <a:spcPts val="0"/>
              </a:spcBef>
              <a:spcAft>
                <a:spcPts val="0"/>
              </a:spcAft>
              <a:buNone/>
            </a:pPr>
            <a:r>
              <a:rPr sz="800" b="0">
                <a:solidFill>
                  <a:srgbClr val="000000"/>
                </a:solidFill>
                <a:latin typeface="Consolas"/>
                <a:ea typeface="맑은 고딕"/>
              </a:rPr>
              <a:t>    public void </a:t>
            </a:r>
            <a:r>
              <a:rPr sz="800" b="1">
                <a:solidFill>
                  <a:srgbClr val="000000"/>
                </a:solidFill>
                <a:latin typeface="Consolas"/>
                <a:ea typeface="맑은 고딕"/>
              </a:rPr>
              <a:t>결제한다</a:t>
            </a:r>
            <a:r>
              <a:rPr sz="800" b="0">
                <a:solidFill>
                  <a:srgbClr val="000000"/>
                </a:solidFill>
                <a:latin typeface="Consolas"/>
                <a:ea typeface="맑은 고딕"/>
              </a:rPr>
              <a:t>(String 결제수단) {</a:t>
            </a:r>
          </a:p>
          <a:p>
            <a:pPr marL="0" indent="0" algn="l">
              <a:lnSpc>
                <a:spcPts val="960"/>
              </a:lnSpc>
              <a:spcBef>
                <a:spcPts val="0"/>
              </a:spcBef>
              <a:spcAft>
                <a:spcPts val="0"/>
              </a:spcAft>
              <a:buNone/>
            </a:pPr>
            <a:r>
              <a:rPr sz="800" b="0">
                <a:solidFill>
                  <a:srgbClr val="000000"/>
                </a:solidFill>
                <a:latin typeface="Consolas"/>
                <a:ea typeface="맑은 고딕"/>
              </a:rPr>
              <a:t>        if (!상태.equals("결제 대기") || 배송지 == null) throw new IllegalStateException("사전조건 위반");</a:t>
            </a:r>
          </a:p>
          <a:p>
            <a:pPr marL="0" indent="0" algn="l">
              <a:lnSpc>
                <a:spcPts val="960"/>
              </a:lnSpc>
              <a:spcBef>
                <a:spcPts val="0"/>
              </a:spcBef>
              <a:spcAft>
                <a:spcPts val="0"/>
              </a:spcAft>
              <a:buNone/>
            </a:pPr>
            <a:r>
              <a:rPr sz="800" b="0">
                <a:solidFill>
                  <a:srgbClr val="000000"/>
                </a:solidFill>
                <a:latin typeface="Consolas"/>
                <a:ea typeface="맑은 고딕"/>
              </a:rPr>
              <a:t>        int 금액 = 0;</a:t>
            </a:r>
          </a:p>
          <a:p>
            <a:pPr marL="0" indent="0" algn="l">
              <a:lnSpc>
                <a:spcPts val="960"/>
              </a:lnSpc>
              <a:spcBef>
                <a:spcPts val="0"/>
              </a:spcBef>
              <a:spcAft>
                <a:spcPts val="0"/>
              </a:spcAft>
              <a:buNone/>
            </a:pPr>
            <a:r>
              <a:rPr sz="800" b="0">
                <a:solidFill>
                  <a:srgbClr val="000000"/>
                </a:solidFill>
                <a:latin typeface="Consolas"/>
                <a:ea typeface="맑은 고딕"/>
              </a:rPr>
              <a:t>        for (var 항목 : 장바구니.entrySet()) 금액 += 항목.getKey().판매가() * 항목.getValue();</a:t>
            </a:r>
          </a:p>
          <a:p>
            <a:pPr marL="0" indent="0" algn="l">
              <a:lnSpc>
                <a:spcPts val="960"/>
              </a:lnSpc>
              <a:spcBef>
                <a:spcPts val="0"/>
              </a:spcBef>
              <a:spcAft>
                <a:spcPts val="0"/>
              </a:spcAft>
              <a:buNone/>
            </a:pPr>
            <a:r>
              <a:rPr sz="800" b="0">
                <a:solidFill>
                  <a:srgbClr val="000000"/>
                </a:solidFill>
                <a:latin typeface="Consolas"/>
                <a:ea typeface="맑은 고딕"/>
              </a:rPr>
              <a:t>        승인번호 = 외부.결제().결제승인을요청한다(금액, 결제수단);</a:t>
            </a:r>
          </a:p>
          <a:p>
            <a:pPr marL="0" indent="0" algn="l">
              <a:lnSpc>
                <a:spcPts val="960"/>
              </a:lnSpc>
              <a:spcBef>
                <a:spcPts val="0"/>
              </a:spcBef>
              <a:spcAft>
                <a:spcPts val="0"/>
              </a:spcAft>
              <a:buNone/>
            </a:pPr>
            <a:r>
              <a:rPr sz="800" b="0">
                <a:solidFill>
                  <a:srgbClr val="000000"/>
                </a:solidFill>
                <a:latin typeface="Consolas"/>
                <a:ea typeface="맑은 고딕"/>
              </a:rPr>
              <a:t>        if (승인번호 == null) throw new IllegalStateException("승인 거절 — 정책 미확정");</a:t>
            </a:r>
          </a:p>
          <a:p>
            <a:pPr marL="0" indent="0" algn="l">
              <a:lnSpc>
                <a:spcPts val="960"/>
              </a:lnSpc>
              <a:spcBef>
                <a:spcPts val="0"/>
              </a:spcBef>
              <a:spcAft>
                <a:spcPts val="0"/>
              </a:spcAft>
              <a:buNone/>
            </a:pPr>
            <a:r>
              <a:rPr sz="800" b="0">
                <a:solidFill>
                  <a:srgbClr val="000000"/>
                </a:solidFill>
                <a:latin typeface="Consolas"/>
                <a:ea typeface="맑은 고딕"/>
              </a:rPr>
              <a:t>        장바구니.forEach((상품, 수량) -&gt; {</a:t>
            </a:r>
          </a:p>
          <a:p>
            <a:pPr marL="0" indent="0" algn="l">
              <a:lnSpc>
                <a:spcPts val="960"/>
              </a:lnSpc>
              <a:spcBef>
                <a:spcPts val="0"/>
              </a:spcBef>
              <a:spcAft>
                <a:spcPts val="0"/>
              </a:spcAft>
              <a:buNone/>
            </a:pPr>
            <a:r>
              <a:rPr sz="800" b="0">
                <a:solidFill>
                  <a:srgbClr val="000000"/>
                </a:solidFill>
                <a:latin typeface="Consolas"/>
                <a:ea typeface="맑은 고딕"/>
              </a:rPr>
              <a:t>            if (!외부.상품().재고차감을요청한다(상품, 수량)) throw new IllegalStateException("재고 부족 — 정책 미확정");</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외부.배송().배송을요청한다(주문번호, 배송지);</a:t>
            </a:r>
          </a:p>
          <a:p>
            <a:pPr marL="0" indent="0" algn="l">
              <a:lnSpc>
                <a:spcPts val="960"/>
              </a:lnSpc>
              <a:spcBef>
                <a:spcPts val="0"/>
              </a:spcBef>
              <a:spcAft>
                <a:spcPts val="0"/>
              </a:spcAft>
              <a:buNone/>
            </a:pPr>
            <a:r>
              <a:rPr sz="800" b="0">
                <a:solidFill>
                  <a:srgbClr val="000000"/>
                </a:solidFill>
                <a:latin typeface="Consolas"/>
                <a:ea typeface="맑은 고딕"/>
              </a:rPr>
              <a:t>        외부.회계().입금처리를요청한다(승인번호);</a:t>
            </a:r>
          </a:p>
          <a:p>
            <a:pPr marL="0" indent="0" algn="l">
              <a:lnSpc>
                <a:spcPts val="960"/>
              </a:lnSpc>
              <a:spcBef>
                <a:spcPts val="0"/>
              </a:spcBef>
              <a:spcAft>
                <a:spcPts val="0"/>
              </a:spcAft>
              <a:buNone/>
            </a:pPr>
            <a:r>
              <a:rPr sz="800" b="0">
                <a:solidFill>
                  <a:srgbClr val="000000"/>
                </a:solidFill>
                <a:latin typeface="Consolas"/>
                <a:ea typeface="맑은 고딕"/>
              </a:rPr>
              <a:t>        외부.회계().영수증발행을요청한다(주문번호, 승인번호);</a:t>
            </a:r>
          </a:p>
          <a:p>
            <a:pPr marL="0" indent="0" algn="l">
              <a:lnSpc>
                <a:spcPts val="960"/>
              </a:lnSpc>
              <a:spcBef>
                <a:spcPts val="0"/>
              </a:spcBef>
              <a:spcAft>
                <a:spcPts val="0"/>
              </a:spcAft>
              <a:buNone/>
            </a:pPr>
            <a:r>
              <a:rPr sz="800" b="0">
                <a:solidFill>
                  <a:srgbClr val="000000"/>
                </a:solidFill>
                <a:latin typeface="Consolas"/>
                <a:ea typeface="맑은 고딕"/>
              </a:rPr>
              <a:t>        상태 = "결제 완료";</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코드로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사전조건</a:t>
            </a:r>
            <a:r>
              <a:rPr sz="1600" b="0">
                <a:solidFill>
                  <a:srgbClr val="000000"/>
                </a:solidFill>
                <a:latin typeface="맑은 고딕"/>
                <a:ea typeface="맑은 고딕"/>
              </a:rPr>
              <a:t>은 먼저 확인하고, </a:t>
            </a:r>
            <a:r>
              <a:rPr sz="1600" b="1">
                <a:solidFill>
                  <a:srgbClr val="000000"/>
                </a:solidFill>
                <a:latin typeface="맑은 고딕"/>
                <a:ea typeface="맑은 고딕"/>
              </a:rPr>
              <a:t>사후조건</a:t>
            </a:r>
            <a:r>
              <a:rPr sz="1600" b="0">
                <a:solidFill>
                  <a:srgbClr val="000000"/>
                </a:solidFill>
                <a:latin typeface="맑은 고딕"/>
                <a:ea typeface="맑은 고딕"/>
              </a:rPr>
              <a:t>은 결제 후의 상태와 </a:t>
            </a:r>
            <a:r>
              <a:rPr sz="1600" b="1">
                <a:solidFill>
                  <a:srgbClr val="000000"/>
                </a:solidFill>
                <a:latin typeface="맑은 고딕"/>
                <a:ea typeface="맑은 고딕"/>
              </a:rPr>
              <a:t>요청</a:t>
            </a:r>
            <a:r>
              <a:rPr sz="1600" b="0">
                <a:solidFill>
                  <a:srgbClr val="000000"/>
                </a:solidFill>
                <a:latin typeface="맑은 고딕"/>
                <a:ea typeface="맑은 고딕"/>
              </a:rPr>
              <a:t>이다.</a:t>
            </a:r>
          </a:p>
        </p:txBody>
      </p:sp>
      <p:pic>
        <p:nvPicPr>
          <p:cNvPr id="33" name="plantuml Diagram 4"/>
          <p:cNvPicPr>
            <a:picLocks noChangeAspect="1"/>
          </p:cNvPicPr>
          <p:nvPr/>
        </p:nvPicPr>
        <p:blipFill>
          <a:blip r:embed="plantumlImage4"/>
          <a:stretch>
            <a:fillRect/>
          </a:stretch>
        </p:blipFill>
        <p:spPr>
          <a:xfrm>
            <a:off x="2346081" y="1983200"/>
            <a:ext cx="4451838" cy="194554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(4/5)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5"/>
          <p:cNvPicPr>
            <a:picLocks noChangeAspect="1"/>
          </p:cNvPicPr>
          <p:nvPr/>
        </p:nvPicPr>
        <p:blipFill>
          <a:blip r:embed="plantumlImage5"/>
          <a:stretch>
            <a:fillRect/>
          </a:stretch>
        </p:blipFill>
        <p:spPr>
          <a:xfrm>
            <a:off x="1710104" y="224023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(5/5)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7266" y="2754313"/>
          <a:ext cx="5135880" cy="3873500"/>
        </p:xfrm>
        <a:graphic>
          <a:graphicData uri="http://schemas.openxmlformats.org/drawingml/2006/table">
            <a:tbl>
              <a:tblPr/>
              <a:tblGrid>
                <a:gridCol w="145034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배송지 변경을 받아들였다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주문의 배송지가 지정한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배송지 변경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 소유의 출고 전 주문으로 범위를 한정한다. 새 주소는 유효하며 배송비·결제 금액에 영향을 주지 않는다고 가정한다. 아래 </a:t>
            </a:r>
            <a:r>
              <a:rPr sz="1600" b="1">
                <a:solidFill>
                  <a:srgbClr val="000000"/>
                </a:solidFill>
                <a:latin typeface="맑은 고딕"/>
                <a:ea typeface="맑은 고딕"/>
              </a:rPr>
              <a:t>성공 사후조건</a:t>
            </a:r>
            <a:r>
              <a:rPr sz="1600" b="0">
                <a:solidFill>
                  <a:srgbClr val="000000"/>
                </a:solidFill>
                <a:latin typeface="맑은 고딕"/>
                <a:ea typeface="맑은 고딕"/>
              </a:rPr>
              <a:t>은 </a:t>
            </a:r>
            <a:r>
              <a:rPr sz="1600" b="0">
                <a:solidFill>
                  <a:srgbClr val="000000"/>
                </a:solidFill>
                <a:latin typeface="맑은 고딕"/>
                <a:ea typeface="맑은 고딕"/>
              </a:rPr>
              <a:t>주소 검증 → DB 저장 → 응답</a:t>
            </a:r>
            <a:r>
              <a:rPr sz="1600" b="0">
                <a:solidFill>
                  <a:srgbClr val="000000"/>
                </a:solidFill>
                <a:latin typeface="맑은 고딕"/>
                <a:ea typeface="맑은 고딕"/>
              </a:rPr>
              <a:t> 같은 처리 순서가 아니라 성공 후 참이어야 하는 상태이며, 이 표는 성공 계약만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산출물인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분석에서 발견한 누락과 모순은 이 산출물로 </a:t>
            </a:r>
            <a:r>
              <a:rPr sz="1800" b="1">
                <a:solidFill>
                  <a:srgbClr val="000000"/>
                </a:solidFill>
                <a:latin typeface="맑은 고딕"/>
                <a:ea typeface="맑은 고딕"/>
              </a:rPr>
              <a:t>되돌아와</a:t>
            </a:r>
            <a:r>
              <a:rPr sz="1800" b="0">
                <a:solidFill>
                  <a:srgbClr val="000000"/>
                </a:solidFill>
                <a:latin typeface="맑은 고딕"/>
                <a:ea typeface="맑은 고딕"/>
              </a:rPr>
              <a:t> 보완된다.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모델이 답하려는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모델</a:t>
            </a:r>
            <a:r>
              <a:rPr sz="1600" b="0">
                <a:solidFill>
                  <a:srgbClr val="000000"/>
                </a:solidFill>
                <a:latin typeface="맑은 고딕"/>
                <a:ea typeface="맑은 고딕"/>
              </a:rPr>
              <a:t>은 문제영역의 의미·관계·제약을, </a:t>
            </a:r>
            <a:r>
              <a:rPr sz="1600" b="1">
                <a:solidFill>
                  <a:srgbClr val="000000"/>
                </a:solidFill>
                <a:latin typeface="맑은 고딕"/>
                <a:ea typeface="맑은 고딕"/>
              </a:rPr>
              <a:t>동적 모델</a:t>
            </a:r>
            <a:r>
              <a:rPr sz="1600" b="0">
                <a:solidFill>
                  <a:srgbClr val="000000"/>
                </a:solidFill>
                <a:latin typeface="맑은 고딕"/>
                <a:ea typeface="맑은 고딕"/>
              </a:rPr>
              <a:t>은 상호작용과 상태 변화의 사건·규칙을 다룬다.</a:t>
            </a:r>
          </a:p>
        </p:txBody>
      </p:sp>
      <p:pic>
        <p:nvPicPr>
          <p:cNvPr id="9" name="mermaid Diagram 3"/>
          <p:cNvPicPr>
            <a:picLocks noChangeAspect="1"/>
          </p:cNvPicPr>
          <p:nvPr/>
        </p:nvPicPr>
        <p:blipFill>
          <a:blip r:embed="mermaidImage3"/>
          <a:stretch>
            <a:fillRect/>
          </a:stretch>
        </p:blipFill>
        <p:spPr>
          <a:xfrm>
            <a:off x="1460500" y="3902811"/>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303439"/>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"제품 품질 모델은 제품의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기준을 제공한다"</a:t>
            </a:r>
            <a:r>
              <a:rPr sz="1000" b="0">
                <a:solidFill>
                  <a:srgbClr val="000000"/>
                </a:solidFill>
                <a:latin typeface="맑은 고딕"/>
                <a:ea typeface="맑은 고딕"/>
              </a:rPr>
              <a:t>, </a:t>
            </a:r>
            <a:r>
              <a:rPr sz="1000" b="0">
                <a:solidFill>
                  <a:srgbClr val="000000"/>
                </a:solidFill>
                <a:latin typeface="맑은 고딕"/>
                <a:ea typeface="맑은 고딕"/>
              </a:rPr>
              <a:t>ISO/IEC 25010:2023,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표는 검토 질문을 만드는 </a:t>
            </a:r>
            <a:r>
              <a:rPr sz="1800" b="1">
                <a:solidFill>
                  <a:srgbClr val="000000"/>
                </a:solidFill>
                <a:latin typeface="맑은 고딕"/>
                <a:ea typeface="맑은 고딕"/>
              </a:rPr>
              <a:t>교육 예시</a:t>
            </a:r>
            <a:r>
              <a:rPr sz="1800" b="0">
                <a:solidFill>
                  <a:srgbClr val="000000"/>
                </a:solidFill>
                <a:latin typeface="맑은 고딕"/>
                <a:ea typeface="맑은 고딕"/>
              </a:rPr>
              <a:t>다. 근거 없이 측정 수치나 서비스 수준을 확정하지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와이어프레임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성공 계약을 검토하기 위한 </a:t>
            </a:r>
            <a:r>
              <a:rPr sz="1600" b="1">
                <a:solidFill>
                  <a:srgbClr val="000000"/>
                </a:solidFill>
                <a:latin typeface="맑은 고딕"/>
                <a:ea typeface="맑은 고딕"/>
              </a:rPr>
              <a:t>화면 초안</a:t>
            </a:r>
            <a:r>
              <a:rPr sz="1600" b="0">
                <a:solidFill>
                  <a:srgbClr val="000000"/>
                </a:solidFill>
                <a:latin typeface="맑은 고딕"/>
                <a:ea typeface="맑은 고딕"/>
              </a:rPr>
              <a:t>이다. 교육용 주소 A·B는 실제 주소가 아니다. 버튼·화면 구성은 </a:t>
            </a:r>
            <a:r>
              <a:rPr sz="1600" b="1">
                <a:solidFill>
                  <a:srgbClr val="000000"/>
                </a:solidFill>
                <a:latin typeface="맑은 고딕"/>
                <a:ea typeface="맑은 고딕"/>
              </a:rPr>
              <a:t>해결책 후보</a:t>
            </a:r>
            <a:r>
              <a:rPr sz="1600" b="0">
                <a:solidFill>
                  <a:srgbClr val="000000"/>
                </a:solidFill>
                <a:latin typeface="맑은 고딕"/>
                <a:ea typeface="맑은 고딕"/>
              </a:rPr>
              <a:t>이며 확정된 요구사항이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와이어프레임</a:t>
            </a:r>
            <a:r>
              <a:rPr sz="1600" b="0">
                <a:solidFill>
                  <a:srgbClr val="000000"/>
                </a:solidFill>
                <a:latin typeface="맑은 고딕"/>
                <a:ea typeface="맑은 고딕"/>
              </a:rPr>
              <a:t>만으로 실제 처리나 성공을 검증할 수는 없다. 사용자에게 과업을 설명하게 하거나 조작 가능한 프로토타입으로 </a:t>
            </a:r>
            <a:r>
              <a:rPr sz="1600" b="1">
                <a:solidFill>
                  <a:srgbClr val="000000"/>
                </a:solidFill>
                <a:latin typeface="맑은 고딕"/>
                <a:ea typeface="맑은 고딕"/>
              </a:rPr>
              <a:t>관찰</a:t>
            </a:r>
            <a:r>
              <a:rPr sz="1600" b="0">
                <a:solidFill>
                  <a:srgbClr val="000000"/>
                </a:solidFill>
                <a:latin typeface="맑은 고딕"/>
                <a:ea typeface="맑은 고딕"/>
              </a:rPr>
              <a:t>한다.</a:t>
            </a:r>
          </a:p>
        </p:txBody>
      </p:sp>
      <p:pic>
        <p:nvPicPr>
          <p:cNvPr id="9" name="svg Diagram 13" descr="주문 상세와 배송지 변경 와이어프레임"/>
          <p:cNvPicPr>
            <a:picLocks noChangeAspect="1"/>
          </p:cNvPicPr>
          <p:nvPr/>
        </p:nvPicPr>
        <p:blipFill>
          <a:blip r:embed="svgImage13"/>
          <a:stretch>
            <a:fillRect/>
          </a:stretch>
        </p:blipFill>
        <p:spPr>
          <a:xfrm>
            <a:off x="2428875" y="3934754"/>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확인할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직전</a:t>
            </a:r>
            <a:r>
              <a:rPr sz="1600" b="0">
                <a:solidFill>
                  <a:srgbClr val="000000"/>
                </a:solidFill>
                <a:latin typeface="맑은 고딕"/>
                <a:ea typeface="맑은 고딕"/>
              </a:rPr>
              <a:t> 변경 가능 여부와 </a:t>
            </a:r>
            <a:r>
              <a:rPr sz="1600" b="1">
                <a:solidFill>
                  <a:srgbClr val="000000"/>
                </a:solidFill>
                <a:latin typeface="맑은 고딕"/>
                <a:ea typeface="맑은 고딕"/>
              </a:rPr>
              <a:t>유효 주소</a:t>
            </a:r>
            <a:r>
              <a:rPr sz="1600" b="0">
                <a:solidFill>
                  <a:srgbClr val="000000"/>
                </a:solidFill>
                <a:latin typeface="맑은 고딕"/>
                <a:ea typeface="맑은 고딕"/>
              </a:rPr>
              <a:t> 기준·오류 안내는 무엇인가?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배송비 변동</a:t>
            </a:r>
            <a:r>
              <a:rPr sz="1600" b="0">
                <a:solidFill>
                  <a:srgbClr val="000000"/>
                </a:solidFill>
                <a:latin typeface="맑은 고딕"/>
                <a:ea typeface="맑은 고딕"/>
              </a:rPr>
              <a:t>이나 이미 외부 배송 시스템에 전달된 경우는 어떻게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실패 시</a:t>
            </a:r>
            <a:r>
              <a:rPr sz="1600" b="0">
                <a:solidFill>
                  <a:srgbClr val="000000"/>
                </a:solidFill>
                <a:latin typeface="맑은 고딕"/>
                <a:ea typeface="맑은 고딕"/>
              </a:rPr>
              <a:t> 기존 주소 유지 여부와 변경 완료 확인 방법은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관찰한 혼란·누락을 </a:t>
            </a:r>
            <a:r>
              <a:rPr sz="1600" b="1">
                <a:solidFill>
                  <a:srgbClr val="000000"/>
                </a:solidFill>
                <a:latin typeface="맑은 고딕"/>
                <a:ea typeface="맑은 고딕"/>
              </a:rPr>
              <a:t>요구사항과 계약</a:t>
            </a:r>
            <a:r>
              <a:rPr sz="1600" b="0">
                <a:solidFill>
                  <a:srgbClr val="000000"/>
                </a:solidFill>
                <a:latin typeface="맑은 고딕"/>
                <a:ea typeface="맑은 고딕"/>
              </a:rPr>
              <a:t>에 반영한다. 새 주소·배송비·실패 정책을 화면만 보고 </a:t>
            </a:r>
            <a:r>
              <a:rPr sz="1600" b="1">
                <a:solidFill>
                  <a:srgbClr val="000000"/>
                </a:solidFill>
                <a:latin typeface="맑은 고딕"/>
                <a:ea typeface="맑은 고딕"/>
              </a:rPr>
              <a:t>임의로 결정하지 않는다</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사용자로서 나는 </a:t>
            </a:r>
            <a:r>
              <a:rPr sz="1600" b="0">
                <a:solidFill>
                  <a:srgbClr val="000000"/>
                </a:solidFill>
                <a:latin typeface="맑은 고딕"/>
                <a:ea typeface="맑은 고딕"/>
              </a:rPr>
              <a:t>&lt;목표&gt;</a:t>
            </a:r>
            <a:r>
              <a:rPr sz="1600" b="0">
                <a:solidFill>
                  <a:srgbClr val="000000"/>
                </a:solidFill>
                <a:latin typeface="맑은 고딕"/>
                <a:ea typeface="맑은 고딕"/>
              </a:rPr>
              <a:t>를 원한다. 왜냐하면 </a:t>
            </a:r>
            <a:r>
              <a:rPr sz="1600" b="0">
                <a:solidFill>
                  <a:srgbClr val="000000"/>
                </a:solidFill>
                <a:latin typeface="맑은 고딕"/>
                <a:ea typeface="맑은 고딕"/>
              </a:rPr>
              <a:t>&lt;가치&gt;</a:t>
            </a:r>
            <a:r>
              <a:rPr sz="1600" b="0">
                <a:solidFill>
                  <a:srgbClr val="000000"/>
                </a:solidFill>
                <a:latin typeface="맑은 고딕"/>
                <a:ea typeface="맑은 고딕"/>
              </a:rPr>
              <a:t>를 얻고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고객으로서 출고 전 배송지를 변경하고 싶다. 올바른 장소에서 상품을 받고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세부 내용은 </a:t>
            </a:r>
            <a:r>
              <a:rPr sz="1600" b="1">
                <a:solidFill>
                  <a:srgbClr val="000000"/>
                </a:solidFill>
                <a:latin typeface="맑은 고딕"/>
                <a:ea typeface="맑은 고딕"/>
              </a:rPr>
              <a:t>대화와 인수 조건</a:t>
            </a:r>
            <a:r>
              <a:rPr sz="1600" b="0">
                <a:solidFill>
                  <a:srgbClr val="000000"/>
                </a:solidFill>
                <a:latin typeface="맑은 고딕"/>
                <a:ea typeface="맑은 고딕"/>
              </a:rPr>
              <a:t>으로 구체화한다.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반복적인 개발</a:t>
            </a:r>
            <a:r>
              <a:rPr sz="1600" b="0">
                <a:solidFill>
                  <a:srgbClr val="000000"/>
                </a:solidFill>
                <a:latin typeface="맑은 고딕"/>
                <a:ea typeface="맑은 고딕"/>
              </a:rPr>
              <a:t>과 </a:t>
            </a:r>
            <a:r>
              <a:rPr sz="1600" b="1">
                <a:solidFill>
                  <a:srgbClr val="000000"/>
                </a:solidFill>
                <a:latin typeface="맑은 고딕"/>
                <a:ea typeface="맑은 고딕"/>
              </a:rPr>
              <a:t>우선순위 관리</a:t>
            </a:r>
            <a:r>
              <a:rPr sz="1600" b="0">
                <a:solidFill>
                  <a:srgbClr val="000000"/>
                </a:solidFill>
                <a:latin typeface="맑은 고딕"/>
                <a:ea typeface="맑은 고딕"/>
              </a:rPr>
              <a:t>에 적합하다.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형식 문장 자체보다 </a:t>
            </a:r>
            <a:r>
              <a:rPr sz="1600" b="1">
                <a:solidFill>
                  <a:srgbClr val="000000"/>
                </a:solidFill>
                <a:latin typeface="맑은 고딕"/>
                <a:ea typeface="맑은 고딕"/>
              </a:rPr>
              <a:t>카드·대화·확인</a:t>
            </a:r>
            <a:r>
              <a:rPr sz="1600" b="0">
                <a:solidFill>
                  <a:srgbClr val="000000"/>
                </a:solidFill>
                <a:latin typeface="맑은 고딕"/>
                <a:ea typeface="맑은 고딕"/>
              </a:rPr>
              <a:t>이 중요하다. 위 문형은 표현 예이며 필수 표준 양식이 아니다.</a:t>
            </a:r>
          </a:p>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Ron Jeffries, 2001</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184299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829198"/>
          <a:ext cx="4996180" cy="3873500"/>
        </p:xfrm>
        <a:graphic>
          <a:graphicData uri="http://schemas.openxmlformats.org/drawingml/2006/table">
            <a:tbl>
              <a:tblPr/>
              <a:tblGrid>
                <a:gridCol w="1226820"/>
                <a:gridCol w="3769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합의하고 검증과 연결하는 협업 방식</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 템플릿</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Given</a:t>
            </a:r>
            <a:r>
              <a:rPr sz="1600" b="0">
                <a:solidFill>
                  <a:srgbClr val="000000"/>
                </a:solidFill>
                <a:latin typeface="맑은 고딕"/>
                <a:ea typeface="맑은 고딕"/>
              </a:rPr>
              <a:t> —</a:t>
            </a:r>
            <a:r>
              <a:rPr sz="1400" b="0">
                <a:solidFill>
                  <a:srgbClr val="000000"/>
                </a:solidFill>
                <a:latin typeface="맑은 고딕"/>
                <a:ea typeface="맑은 고딕"/>
              </a:rPr>
              <a:t> 시작 조건: 어떤 상태·전제에서 시작하는가?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When</a:t>
            </a:r>
            <a:r>
              <a:rPr sz="1600" b="0">
                <a:solidFill>
                  <a:srgbClr val="000000"/>
                </a:solidFill>
                <a:latin typeface="맑은 고딕"/>
                <a:ea typeface="맑은 고딕"/>
              </a:rPr>
              <a:t> —</a:t>
            </a:r>
            <a:r>
              <a:rPr sz="1400" b="0">
                <a:solidFill>
                  <a:srgbClr val="000000"/>
                </a:solidFill>
                <a:latin typeface="맑은 고딕"/>
                <a:ea typeface="맑은 고딕"/>
              </a:rPr>
              <a:t> 행위: 액터가 무엇을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Then</a:t>
            </a:r>
            <a:r>
              <a:rPr sz="1600" b="0">
                <a:solidFill>
                  <a:srgbClr val="000000"/>
                </a:solidFill>
                <a:latin typeface="맑은 고딕"/>
                <a:ea typeface="맑은 고딕"/>
              </a:rPr>
              <a:t> —</a:t>
            </a:r>
            <a:r>
              <a:rPr sz="1400" b="0">
                <a:solidFill>
                  <a:srgbClr val="000000"/>
                </a:solidFill>
                <a:latin typeface="맑은 고딕"/>
                <a:ea typeface="맑은 고딕"/>
              </a:rPr>
              <a:t> 결과: 어떤 관찰 가능한 결과가 성립해야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문법만으로 완성되지 않는다. 규칙을 </a:t>
            </a:r>
            <a:r>
              <a:rPr sz="1600" b="1">
                <a:solidFill>
                  <a:srgbClr val="000000"/>
                </a:solidFill>
                <a:latin typeface="맑은 고딕"/>
                <a:ea typeface="맑은 고딕"/>
              </a:rPr>
              <a:t>함께 발견</a:t>
            </a:r>
            <a:r>
              <a:rPr sz="1600" b="0">
                <a:solidFill>
                  <a:srgbClr val="000000"/>
                </a:solidFill>
                <a:latin typeface="맑은 고딕"/>
                <a:ea typeface="맑은 고딕"/>
              </a:rPr>
              <a:t>하고 구현에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변경의 성공 예 </a:t>
            </a:r>
            <a:r>
              <a:rPr sz="1400" b="0">
                <a:solidFill>
                  <a:srgbClr val="000000"/>
                </a:solidFill>
                <a:latin typeface="맑은 고딕"/>
                <a:ea typeface="맑은 고딕"/>
              </a:rPr>
              <a:t>(Given-When-Then)</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a:t>
            </a:r>
            <a:r>
              <a:rPr sz="1600" b="1">
                <a:solidFill>
                  <a:srgbClr val="000000"/>
                </a:solidFill>
                <a:latin typeface="맑은 고딕"/>
                <a:ea typeface="맑은 고딕"/>
              </a:rPr>
              <a:t>전제</a:t>
            </a:r>
            <a:r>
              <a:rPr sz="1200" b="0">
                <a:solidFill>
                  <a:srgbClr val="000000"/>
                </a:solidFill>
                <a:latin typeface="맑은 고딕"/>
                <a:ea typeface="맑은 고딕"/>
              </a:rPr>
              <a:t>(출고 전)</a:t>
            </a:r>
            <a:r>
              <a:rPr sz="1600" b="0">
                <a:solidFill>
                  <a:srgbClr val="000000"/>
                </a:solidFill>
                <a:latin typeface="맑은 고딕"/>
                <a:ea typeface="맑은 고딕"/>
              </a:rPr>
              <a:t>를 사용한다.</a:t>
            </a:r>
          </a:p>
          <a:p>
            <a:pPr lvl="3" marL="1077913" indent="-354013">
              <a:spcBef>
                <a:spcPts val="600"/>
              </a:spcBef>
              <a:spcAft>
                <a:spcPts val="600"/>
              </a:spcAft>
              <a:buNone/>
            </a:pPr>
            <a:r>
              <a:rPr sz="1600" b="1">
                <a:solidFill>
                  <a:srgbClr val="000000"/>
                </a:solidFill>
                <a:latin typeface="맑은 고딕"/>
                <a:ea typeface="맑은 고딕"/>
              </a:rPr>
              <a:t>Given</a:t>
            </a:r>
            <a:r>
              <a:rPr sz="1600" b="0">
                <a:solidFill>
                  <a:srgbClr val="000000"/>
                </a:solidFill>
                <a:latin typeface="맑은 고딕"/>
                <a:ea typeface="맑은 고딕"/>
              </a:rPr>
              <a:t> 고객 소유의 주문 A가 출고 전이고 배송지는 주소 A, 새 주소 B는 유효하다.</a:t>
            </a:r>
          </a:p>
          <a:p>
            <a:pPr lvl="3" marL="1077913" indent="-354013">
              <a:spcBef>
                <a:spcPts val="600"/>
              </a:spcBef>
              <a:spcAft>
                <a:spcPts val="600"/>
              </a:spcAft>
              <a:buNone/>
            </a:pPr>
            <a:r>
              <a:rPr sz="1600" b="1">
                <a:solidFill>
                  <a:srgbClr val="000000"/>
                </a:solidFill>
                <a:latin typeface="맑은 고딕"/>
                <a:ea typeface="맑은 고딕"/>
              </a:rPr>
              <a:t>When</a:t>
            </a:r>
            <a:r>
              <a:rPr sz="1600" b="0">
                <a:solidFill>
                  <a:srgbClr val="000000"/>
                </a:solidFill>
                <a:latin typeface="맑은 고딕"/>
                <a:ea typeface="맑은 고딕"/>
              </a:rPr>
              <a:t> 고객이 주문 A의 배송지를 주소 B로 변경한다.</a:t>
            </a:r>
          </a:p>
          <a:p>
            <a:pPr lvl="3" marL="1077913" indent="-354013">
              <a:spcBef>
                <a:spcPts val="600"/>
              </a:spcBef>
              <a:spcAft>
                <a:spcPts val="600"/>
              </a:spcAft>
              <a:buNone/>
            </a:pPr>
            <a:r>
              <a:rPr sz="1600" b="1">
                <a:solidFill>
                  <a:srgbClr val="000000"/>
                </a:solidFill>
                <a:latin typeface="맑은 고딕"/>
                <a:ea typeface="맑은 고딕"/>
              </a:rPr>
              <a:t>Then</a:t>
            </a:r>
            <a:r>
              <a:rPr sz="1600" b="0">
                <a:solidFill>
                  <a:srgbClr val="000000"/>
                </a:solidFill>
                <a:latin typeface="맑은 고딕"/>
                <a:ea typeface="맑은 고딕"/>
              </a:rPr>
              <a:t> 주문 A의 배송지는 주소 B이고, 주문 식별 정보·상품·결제 금액은 변경 전과 같다.</a:t>
            </a:r>
          </a:p>
        </p:txBody>
      </p:sp>
    </p:spTree>
    <p:extLst>
      <p:ext uri="{BB962C8B-B14F-4D97-AF65-F5344CB8AC3E}">
        <p14:creationId xmlns:p14="http://schemas.microsoft.com/office/powerpoint/2010/main" val="355543667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184299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357073"/>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유스케이스·사용자 스토리·행위 주도 개발을 반드시 순서대로 도입할 필요는 없다. 일부 목적이 겹치지만 강조점이 다르다. </a:t>
            </a:r>
            <a:r>
              <a:rPr sz="1800" b="1">
                <a:solidFill>
                  <a:srgbClr val="000000"/>
                </a:solidFill>
                <a:latin typeface="맑은 고딕"/>
                <a:ea typeface="맑은 고딕"/>
              </a:rPr>
              <a:t>사용자 목표·작은 가치 단위·구체적인 행위와 검증</a:t>
            </a:r>
            <a:r>
              <a:rPr sz="1800" b="0">
                <a:solidFill>
                  <a:srgbClr val="000000"/>
                </a:solidFill>
                <a:latin typeface="맑은 고딕"/>
                <a:ea typeface="맑은 고딕"/>
              </a:rPr>
              <a:t> 중 필요한 관점에 맞춰 선택하거나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pic>
        <p:nvPicPr>
          <p:cNvPr id="14" name="mermaid Diagram 4"/>
          <p:cNvPicPr>
            <a:picLocks noChangeAspect="1"/>
          </p:cNvPicPr>
          <p:nvPr/>
        </p:nvPicPr>
        <p:blipFill>
          <a:blip r:embed="mermaidImage4"/>
          <a:stretch>
            <a:fillRect/>
          </a:stretch>
        </p:blipFill>
        <p:spPr>
          <a:xfrm>
            <a:off x="2608612" y="3876036"/>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수준에서 확인할 수 있는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구현·검증 가능한가?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명확·완전·일관적</a:t>
            </a:r>
            <a:r>
              <a:rPr sz="16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확인해야 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실제로 사용하며 </a:t>
            </a:r>
            <a:r>
              <a:rPr sz="1600" b="1">
                <a:solidFill>
                  <a:srgbClr val="000000"/>
                </a:solidFill>
                <a:latin typeface="맑은 고딕"/>
                <a:ea typeface="맑은 고딕"/>
              </a:rPr>
              <a:t>문제를 해결</a:t>
            </a:r>
            <a:r>
              <a:rPr sz="1600" b="0">
                <a:solidFill>
                  <a:srgbClr val="000000"/>
                </a:solidFill>
                <a:latin typeface="맑은 고딕"/>
                <a:ea typeface="맑은 고딕"/>
              </a:rPr>
              <a:t>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기대한 가치</a:t>
            </a:r>
            <a:r>
              <a:rPr sz="1600" b="0">
                <a:solidFill>
                  <a:srgbClr val="000000"/>
                </a:solidFill>
                <a:latin typeface="맑은 고딕"/>
                <a:ea typeface="맑은 고딕"/>
              </a:rPr>
              <a:t>와 </a:t>
            </a:r>
            <a:r>
              <a:rPr sz="1600" b="1">
                <a:solidFill>
                  <a:srgbClr val="000000"/>
                </a:solidFill>
                <a:latin typeface="맑은 고딕"/>
                <a:ea typeface="맑은 고딕"/>
              </a:rPr>
              <a:t>예상 못한 문제</a:t>
            </a:r>
            <a:r>
              <a:rPr sz="1600" b="0">
                <a:solidFill>
                  <a:srgbClr val="000000"/>
                </a:solidFill>
                <a:latin typeface="맑은 고딕"/>
                <a:ea typeface="맑은 고딕"/>
              </a:rPr>
              <a:t>가 있는가?</a:t>
            </a:r>
          </a:p>
        </p:txBody>
      </p:sp>
      <p:pic>
        <p:nvPicPr>
          <p:cNvPr id="9" name="mermaid Diagram 5"/>
          <p:cNvPicPr>
            <a:picLocks noChangeAspect="1"/>
          </p:cNvPicPr>
          <p:nvPr/>
        </p:nvPicPr>
        <p:blipFill>
          <a:blip r:embed="mermaidImage5"/>
          <a:stretch>
            <a:fillRect/>
          </a:stretch>
        </p:blipFill>
        <p:spPr>
          <a:xfrm>
            <a:off x="1460500" y="421448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 대상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기준선, 변경, 우선순위,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버전, 의존성, 영향분석, 추적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무엇이 </a:t>
            </a:r>
            <a:r>
              <a:rPr sz="1600" b="1">
                <a:solidFill>
                  <a:srgbClr val="000000"/>
                </a:solidFill>
                <a:latin typeface="맑은 고딕"/>
                <a:ea typeface="맑은 고딕"/>
              </a:rPr>
              <a:t>언제·왜</a:t>
            </a:r>
            <a:r>
              <a:rPr sz="1600" b="0">
                <a:solidFill>
                  <a:srgbClr val="000000"/>
                </a:solidFill>
                <a:latin typeface="맑은 고딕"/>
                <a:ea typeface="맑은 고딕"/>
              </a:rPr>
              <a:t> 바뀌었고 무엇에 </a:t>
            </a:r>
            <a:r>
              <a:rPr sz="1600" b="1">
                <a:solidFill>
                  <a:srgbClr val="000000"/>
                </a:solidFill>
                <a:latin typeface="맑은 고딕"/>
                <a:ea typeface="맑은 고딕"/>
              </a:rPr>
              <a:t>영향</a:t>
            </a:r>
            <a:r>
              <a:rPr sz="1600" b="0">
                <a:solidFill>
                  <a:srgbClr val="000000"/>
                </a:solidFill>
                <a:latin typeface="맑은 고딕"/>
                <a:ea typeface="맑은 고딕"/>
              </a:rPr>
              <a:t>을 주는가?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누가 결정했는가?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관련 </a:t>
            </a:r>
            <a:r>
              <a:rPr sz="1600" b="1">
                <a:solidFill>
                  <a:srgbClr val="000000"/>
                </a:solidFill>
                <a:latin typeface="맑은 고딕"/>
                <a:ea typeface="맑은 고딕"/>
              </a:rPr>
              <a:t>요구·설계·코드·테스트</a:t>
            </a:r>
            <a:r>
              <a:rPr sz="16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요구와 코드를 </a:t>
            </a:r>
            <a:r>
              <a:rPr sz="1800" b="1">
                <a:solidFill>
                  <a:srgbClr val="000000"/>
                </a:solidFill>
                <a:latin typeface="맑은 고딕"/>
                <a:ea typeface="맑은 고딕"/>
              </a:rPr>
              <a:t>일대일 대응</a:t>
            </a:r>
            <a:r>
              <a:rPr sz="1800" b="0">
                <a:solidFill>
                  <a:srgbClr val="000000"/>
                </a:solidFill>
                <a:latin typeface="맑은 고딕"/>
                <a:ea typeface="맑은 고딕"/>
              </a:rPr>
              <a:t>시키지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근거·영향</a:t>
            </a:r>
            <a:r>
              <a:rPr sz="1800" b="0">
                <a:solidFill>
                  <a:srgbClr val="000000"/>
                </a:solidFill>
                <a:latin typeface="맑은 고딕"/>
                <a:ea typeface="맑은 고딕"/>
              </a:rPr>
              <a:t>을 기록하고 필요하면 </a:t>
            </a:r>
            <a:r>
              <a:rPr sz="1800" b="1">
                <a:solidFill>
                  <a:srgbClr val="000000"/>
                </a:solidFill>
                <a:latin typeface="맑은 고딕"/>
                <a:ea typeface="맑은 고딕"/>
              </a:rPr>
              <a:t>기준선</a:t>
            </a:r>
            <a:r>
              <a:rPr sz="1800" b="0">
                <a:solidFill>
                  <a:srgbClr val="000000"/>
                </a:solidFill>
                <a:latin typeface="맑은 고딕"/>
                <a:ea typeface="맑은 고딕"/>
              </a:rPr>
              <a:t>을 갱신한다.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pic>
        <p:nvPicPr>
          <p:cNvPr id="9" name="mermaid Diagram 6"/>
          <p:cNvPicPr>
            <a:picLocks noChangeAspect="1"/>
          </p:cNvPicPr>
          <p:nvPr/>
        </p:nvPicPr>
        <p:blipFill>
          <a:blip r:embed="mermaidImage6"/>
          <a:stretch>
            <a:fillRect/>
          </a:stretch>
        </p:blipFill>
        <p:spPr>
          <a:xfrm>
            <a:off x="1460500" y="4612666"/>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pic>
        <p:nvPicPr>
          <p:cNvPr id="9" name="mermaid Diagram 7"/>
          <p:cNvPicPr>
            <a:picLocks noChangeAspect="1"/>
          </p:cNvPicPr>
          <p:nvPr/>
        </p:nvPicPr>
        <p:blipFill>
          <a:blip r:embed="mermaidImage7"/>
          <a:stretch>
            <a:fillRect/>
          </a:stretch>
        </p:blipFill>
        <p:spPr>
          <a:xfrm>
            <a:off x="1460500" y="347716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모델로 바꾸기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요청된 버튼을 그대로 유스케이스로 삼지 않고, </a:t>
            </a:r>
            <a:r>
              <a:rPr sz="1800" b="1">
                <a:solidFill>
                  <a:srgbClr val="000000"/>
                </a:solidFill>
                <a:latin typeface="맑은 고딕"/>
                <a:ea typeface="맑은 고딕"/>
              </a:rPr>
              <a:t>문제·요구·제약·목표·시스템 책임</a:t>
            </a:r>
            <a:r>
              <a:rPr sz="1800" b="0">
                <a:solidFill>
                  <a:srgbClr val="000000"/>
                </a:solidFill>
                <a:latin typeface="맑은 고딕"/>
                <a:ea typeface="맑은 고딕"/>
              </a:rPr>
              <a:t>을 구분해 요구 모델을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08380" indent="-284480">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문제·요구·요구사항·제약·해결책</a:t>
            </a:r>
          </a:p>
          <a:p>
            <a:pPr lvl="3" marL="1008380" indent="-284480">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업무 배경도와 유스케이스 다이어그램 —</a:t>
            </a:r>
            <a:r>
              <a:rPr sz="1400" b="0">
                <a:solidFill>
                  <a:srgbClr val="000000"/>
                </a:solidFill>
                <a:latin typeface="맑은 고딕"/>
                <a:ea typeface="맑은 고딕"/>
              </a:rPr>
              <a:t> 목표·주 액터·지원 액터·유스케이스</a:t>
            </a:r>
          </a:p>
          <a:p>
            <a:pPr lvl="3" marL="1008380" indent="-284480">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기본·대안 흐름과 SSD의 대응, 규칙, 시스템 오퍼레이션</a:t>
            </a:r>
          </a:p>
          <a:p>
            <a:pPr lvl="3" marL="1008380" indent="-284480">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품질 요구사항</a:t>
            </a:r>
          </a:p>
          <a:p>
            <a:pPr lvl="3" marL="1008380" indent="-284480">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아직 모르는 것과 검증 방법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사실·가정·질문을 구분한 검토표 공유.</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모델로 바꾸기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사실과 가정 구분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목표·해결책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흐름과 규칙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경계와 외부 시스템이 드러나는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흐름의 액터 단계와 SSD 이벤트의 대응</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결과 중심 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근거 없는 정책 확정 여부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품질 질문의 구체성</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가치의 사용 증거 확인</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분석과 유스케이스의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문제·요구·이벤트</a:t>
            </a:r>
            <a:r>
              <a:rPr sz="1600" b="0">
                <a:solidFill>
                  <a:srgbClr val="000000"/>
                </a:solidFill>
                <a:latin typeface="맑은 고딕"/>
                <a:ea typeface="맑은 고딕"/>
              </a:rPr>
              <a:t> —</a:t>
            </a:r>
            <a:r>
              <a:rPr sz="1400" b="0">
                <a:solidFill>
                  <a:srgbClr val="000000"/>
                </a:solidFill>
                <a:latin typeface="맑은 고딕"/>
                <a:ea typeface="맑은 고딕"/>
              </a:rPr>
              <a:t> 요청에 섞인 수준을 구분하고, 이벤트로 합의하며 작은 반복으로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경우별 접근</a:t>
            </a:r>
            <a:r>
              <a:rPr sz="1600" b="0">
                <a:solidFill>
                  <a:srgbClr val="000000"/>
                </a:solidFill>
                <a:latin typeface="맑은 고딕"/>
                <a:ea typeface="맑은 고딕"/>
              </a:rPr>
              <a:t> —</a:t>
            </a:r>
            <a:r>
              <a:rPr sz="1400" b="0">
                <a:solidFill>
                  <a:srgbClr val="000000"/>
                </a:solidFill>
                <a:latin typeface="맑은 고딕"/>
                <a:ea typeface="맑은 고딕"/>
              </a:rPr>
              <a:t> 업무 지식과 업무·기술 불확실성에 따라 요구 기법을 고른다.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유스케이스와 경계</a:t>
            </a:r>
            <a:r>
              <a:rPr sz="1600" b="0">
                <a:solidFill>
                  <a:srgbClr val="000000"/>
                </a:solidFill>
                <a:latin typeface="맑은 고딕"/>
                <a:ea typeface="맑은 고딕"/>
              </a:rPr>
              <a:t> —</a:t>
            </a:r>
            <a:r>
              <a:rPr sz="1400" b="0">
                <a:solidFill>
                  <a:srgbClr val="000000"/>
                </a:solidFill>
                <a:latin typeface="맑은 고딕"/>
                <a:ea typeface="맑은 고딕"/>
              </a:rPr>
              <a:t> 기능 분해·CRUD·화면이 아니라 사용자 목표와 가치 있는 결과로 식별하고, 소유로 시스템 경계를 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SSD·계약·검증</a:t>
            </a:r>
            <a:r>
              <a:rPr sz="1600" b="0">
                <a:solidFill>
                  <a:srgbClr val="000000"/>
                </a:solidFill>
                <a:latin typeface="맑은 고딕"/>
                <a:ea typeface="맑은 고딕"/>
              </a:rPr>
              <a:t> —</a:t>
            </a:r>
            <a:r>
              <a:rPr sz="1400" b="0">
                <a:solidFill>
                  <a:srgbClr val="000000"/>
                </a:solidFill>
                <a:latin typeface="맑은 고딕"/>
                <a:ea typeface="맑은 고딕"/>
              </a:rPr>
              <a:t> SSD 초안을 외부 시스템까지 정제하고, 외부 결과로 계약해 코드·테스트로 잇고, 스토리·BDD·추적으로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03. 정적 모델 —</a:t>
            </a:r>
            <a:r>
              <a:rPr sz="1400" b="1">
                <a:solidFill>
                  <a:srgbClr val="000000"/>
                </a:solidFill>
                <a:latin typeface="맑은 고딕"/>
                <a:ea typeface="맑은 고딕"/>
              </a:rPr>
              <a:t> 도메인 개념과 관계</a:t>
            </a:r>
            <a:r>
              <a:rPr sz="14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83</Slides>
  <Notes>58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83</vt:i4>
      </vt:variant>
    </vt:vector>
  </HeadingPairs>
  <TitlesOfParts>
    <vt:vector size="87"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 (1/2)</vt:lpstr>
      <vt:lpstr>09. 반복적 접근 (2/2)</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 (1/2)</vt:lpstr>
      <vt:lpstr>17. 좋은 요구사항의 자격요건 (2/2)</vt:lpstr>
      <vt:lpstr>18. 유스케이스란 무엇인가?</vt:lpstr>
      <vt:lpstr>19. 왜 유스케이스가 필요한가?</vt:lpstr>
      <vt:lpstr>20. 유스케이스의 위치</vt:lpstr>
      <vt:lpstr>21. 유스케이스 작성 절차</vt:lpstr>
      <vt:lpstr>22. 대상 시스템과 경계 업무 배경도</vt:lpstr>
      <vt:lpstr>23. 경계 판단</vt:lpstr>
      <vt:lpstr>24. 목표와 액터</vt:lpstr>
      <vt:lpstr>25. 유스케이스 후보 식별</vt:lpstr>
      <vt:lpstr>26. 유스케이스 수준</vt:lpstr>
      <vt:lpstr>27. 유스케이스 다이어그램 — 초안 (1/3)</vt:lpstr>
      <vt:lpstr>27. 유스케이스 다이어그램 — 초안 (2/3)</vt:lpstr>
      <vt:lpstr>27. 유스케이스 다이어그램 — 초안 (3/3)</vt:lpstr>
      <vt:lpstr>28. 유스케이스 명세서 템플릿</vt:lpstr>
      <vt:lpstr>29. 기본 이벤트 흐름 (1/2)</vt:lpstr>
      <vt:lpstr>29. 기본 이벤트 흐름 (2/2)</vt:lpstr>
      <vt:lpstr>30. 규칙·제약·예외 정책</vt:lpstr>
      <vt:lpstr>31. 이벤트 흐름을 이용한 요구 분석</vt:lpstr>
      <vt:lpstr>32. 유스케이스 상세화 (1/2)</vt:lpstr>
      <vt:lpstr>32. 유스케이스 상세화 (2/2)</vt:lpstr>
      <vt:lpstr>33. 유스케이스 다이어그램 — 상세화 (1/4)</vt:lpstr>
      <vt:lpstr>33. 유스케이스 다이어그램 — 상세화 (2/4)</vt:lpstr>
      <vt:lpstr>33. 유스케이스 다이어그램 — 상세화 (3/4)</vt:lpstr>
      <vt:lpstr>33. 유스케이스 다이어그램 — 상세화 (4/4)</vt:lpstr>
      <vt:lpstr>34. 잘못된 관행 — 기능 분할</vt:lpstr>
      <vt:lpstr>35. 잘못된 관행 — CRUD 분할</vt:lpstr>
      <vt:lpstr>36. 잘못된 관행 — 화면·기술 요소</vt:lpstr>
      <vt:lpstr>37. 잘못된 관행 — 시스템 관점·액터</vt:lpstr>
      <vt:lpstr>38. 잘못된 관행 — 명세 과잉·방치</vt:lpstr>
      <vt:lpstr>39. 잘못된 유스케이스 다이어그램 (1/3)</vt:lpstr>
      <vt:lpstr>39. 잘못된 유스케이스 다이어그램 (2/3)</vt:lpstr>
      <vt:lpstr>39. 잘못된 유스케이스 다이어그램 (3/3)</vt:lpstr>
      <vt:lpstr>40. 시스템 시퀀스 다이어그램 (1/2)</vt:lpstr>
      <vt:lpstr>40. 시스템 시퀀스 다이어그램 (2/2)</vt:lpstr>
      <vt:lpstr>41. SSD 초안 (1/2)</vt:lpstr>
      <vt:lpstr>41. SSD 초안 (2/2)</vt:lpstr>
      <vt:lpstr>42. 시스템 이벤트와 오퍼레이션</vt:lpstr>
      <vt:lpstr>43. 정제된 SSD (1/4)</vt:lpstr>
      <vt:lpstr>43. 정제된 SSD (2/4)</vt:lpstr>
      <vt:lpstr>43. 정제된 SSD (3/4)</vt:lpstr>
      <vt:lpstr>43. 정제된 SSD (4/4)</vt:lpstr>
      <vt:lpstr>44. 시스템 오퍼레이션과 계약 (1/5)</vt:lpstr>
      <vt:lpstr>44. 시스템 오퍼레이션과 계약 (2/5)</vt:lpstr>
      <vt:lpstr>44. 시스템 오퍼레이션과 계약 (3/5)</vt:lpstr>
      <vt:lpstr>44. 시스템 오퍼레이션과 계약 (4/5)</vt:lpstr>
      <vt:lpstr>44. 시스템 오퍼레이션과 계약 (5/5)</vt:lpstr>
      <vt:lpstr>45. 정적·동적 모델을 통한 상세화</vt:lpstr>
      <vt:lpstr>46. 유스케이스와 품질속성</vt:lpstr>
      <vt:lpstr>47. 프로토타입·와이어프레임 (1/2)</vt:lpstr>
      <vt:lpstr>47. 프로토타입·와이어프레임 (2/2)</vt:lpstr>
      <vt:lpstr>48. 사용자 스토리</vt:lpstr>
      <vt:lpstr>49. 사용자 스토리의 강점과 한계</vt:lpstr>
      <vt:lpstr>50. 행위 주도 개발 (1/2)</vt:lpstr>
      <vt:lpstr>50. 행위 주도 개발 (2/2)</vt:lpstr>
      <vt:lpstr>51. 행위 주도 개발의 강점과 한계</vt:lpstr>
      <vt:lpstr>52. 유스케이스·사용자 스토리·BDD</vt:lpstr>
      <vt:lpstr>53. 요구사항 검증</vt:lpstr>
      <vt:lpstr>54. 요구사항 관리</vt:lpstr>
      <vt:lpstr>55. 요구사항 추적</vt:lpstr>
      <vt:lpstr>56. 요구사항에서 학습으로</vt:lpstr>
      <vt:lpstr>57. 실습 — 모델로 바꾸기 (1/2)</vt:lpstr>
      <vt:lpstr>57. 실습 — 모델로 바꾸기 (2/2)</vt:lpstr>
      <vt:lpstr>58.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