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Override PartName="/ppt/notesSlides/notesSlide87.xml" ContentType="application/vnd.openxmlformats-officedocument.presentationml.notesSlide+xml"/>
  <Override PartName="/ppt/slides/slide87.xml" ContentType="application/vnd.openxmlformats-officedocument.presentationml.slide+xml"/>
  <Override PartName="/ppt/notesSlides/notesSlide88.xml" ContentType="application/vnd.openxmlformats-officedocument.presentationml.notesSlide+xml"/>
  <Override PartName="/ppt/slides/slide88.xml" ContentType="application/vnd.openxmlformats-officedocument.presentationml.slide+xml"/>
  <Override PartName="/ppt/notesSlides/notesSlide89.xml" ContentType="application/vnd.openxmlformats-officedocument.presentationml.notesSlide+xml"/>
  <Override PartName="/ppt/slides/slide89.xml" ContentType="application/vnd.openxmlformats-officedocument.presentationml.slide+xml"/>
  <Override PartName="/ppt/notesSlides/notesSlide90.xml" ContentType="application/vnd.openxmlformats-officedocument.presentationml.notesSlide+xml"/>
  <Override PartName="/ppt/slides/slide90.xml" ContentType="application/vnd.openxmlformats-officedocument.presentationml.slide+xml"/>
  <Override PartName="/ppt/notesSlides/notesSlide91.xml" ContentType="application/vnd.openxmlformats-officedocument.presentationml.notesSlide+xml"/>
  <Override PartName="/ppt/slides/slide91.xml" ContentType="application/vnd.openxmlformats-officedocument.presentationml.slide+xml"/>
  <Override PartName="/ppt/notesSlides/notesSlide92.xml" ContentType="application/vnd.openxmlformats-officedocument.presentationml.notesSlide+xml"/>
  <Override PartName="/ppt/slides/slide92.xml" ContentType="application/vnd.openxmlformats-officedocument.presentationml.slide+xml"/>
  <Override PartName="/ppt/notesSlides/notesSlide93.xml" ContentType="application/vnd.openxmlformats-officedocument.presentationml.notesSlide+xml"/>
  <Override PartName="/ppt/slides/slide9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 id="342" r:id="javaLecture87"/>
    <p:sldId id="343" r:id="javaLecture88"/>
    <p:sldId id="344" r:id="javaLecture89"/>
    <p:sldId id="345" r:id="javaLecture90"/>
    <p:sldId id="346" r:id="javaLecture91"/>
    <p:sldId id="347" r:id="javaLecture92"/>
    <p:sldId id="348" r:id="javaLecture9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 Id="javaLecture87" Type="http://schemas.openxmlformats.org/officeDocument/2006/relationships/slide" Target="slides/slide87.xml"/><Relationship Id="javaLecture88" Type="http://schemas.openxmlformats.org/officeDocument/2006/relationships/slide" Target="slides/slide88.xml"/><Relationship Id="javaLecture89" Type="http://schemas.openxmlformats.org/officeDocument/2006/relationships/slide" Target="slides/slide89.xml"/><Relationship Id="javaLecture90" Type="http://schemas.openxmlformats.org/officeDocument/2006/relationships/slide" Target="slides/slide90.xml"/><Relationship Id="javaLecture91" Type="http://schemas.openxmlformats.org/officeDocument/2006/relationships/slide" Target="slides/slide91.xml"/><Relationship Id="javaLecture92" Type="http://schemas.openxmlformats.org/officeDocument/2006/relationships/slide" Target="slides/slide92.xml"/><Relationship Id="javaLecture93"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_rels/notesSlide87.xml.rels><?xml version="1.0" encoding="UTF-8"?><Relationships xmlns="http://schemas.openxmlformats.org/package/2006/relationships"><Relationship Id="rId1" Type="http://schemas.openxmlformats.org/officeDocument/2006/relationships/slide" Target="../slides/slide87.xml"/><Relationship Id="rId2" Type="http://schemas.openxmlformats.org/officeDocument/2006/relationships/notesMaster" Target="../notesMasters/notesMaster1.xml"/></Relationships>
</file>

<file path=ppt/notesSlides/_rels/notesSlide88.xml.rels><?xml version="1.0" encoding="UTF-8"?><Relationships xmlns="http://schemas.openxmlformats.org/package/2006/relationships"><Relationship Id="rId1" Type="http://schemas.openxmlformats.org/officeDocument/2006/relationships/slide" Target="../slides/slide88.xml"/><Relationship Id="rId2" Type="http://schemas.openxmlformats.org/officeDocument/2006/relationships/notesMaster" Target="../notesMasters/notesMaster1.xml"/></Relationships>
</file>

<file path=ppt/notesSlides/_rels/notesSlide89.xml.rels><?xml version="1.0" encoding="UTF-8"?><Relationships xmlns="http://schemas.openxmlformats.org/package/2006/relationships"><Relationship Id="rId1" Type="http://schemas.openxmlformats.org/officeDocument/2006/relationships/slide" Target="../slides/slide89.xml"/><Relationship Id="rId2" Type="http://schemas.openxmlformats.org/officeDocument/2006/relationships/notesMaster" Target="../notesMasters/notesMaster1.xml"/></Relationships>
</file>

<file path=ppt/notesSlides/_rels/notesSlide90.xml.rels><?xml version="1.0" encoding="UTF-8"?><Relationships xmlns="http://schemas.openxmlformats.org/package/2006/relationships"><Relationship Id="rId1" Type="http://schemas.openxmlformats.org/officeDocument/2006/relationships/slide" Target="../slides/slide90.xml"/><Relationship Id="rId2" Type="http://schemas.openxmlformats.org/officeDocument/2006/relationships/notesMaster" Target="../notesMasters/notesMaster1.xml"/></Relationships>
</file>

<file path=ppt/notesSlides/_rels/notesSlide91.xml.rels><?xml version="1.0" encoding="UTF-8"?><Relationships xmlns="http://schemas.openxmlformats.org/package/2006/relationships"><Relationship Id="rId1" Type="http://schemas.openxmlformats.org/officeDocument/2006/relationships/slide" Target="../slides/slide91.xml"/><Relationship Id="rId2" Type="http://schemas.openxmlformats.org/officeDocument/2006/relationships/notesMaster" Target="../notesMasters/notesMaster1.xml"/></Relationships>
</file>

<file path=ppt/notesSlides/_rels/notesSlide92.xml.rels><?xml version="1.0" encoding="UTF-8"?><Relationships xmlns="http://schemas.openxmlformats.org/package/2006/relationships"><Relationship Id="rId1" Type="http://schemas.openxmlformats.org/officeDocument/2006/relationships/slide" Target="../slides/slide92.xml"/><Relationship Id="rId2" Type="http://schemas.openxmlformats.org/officeDocument/2006/relationships/notesMaster" Target="../notesMasters/notesMaster1.xml"/></Relationships>
</file>

<file path=ppt/notesSlides/_rels/notesSlide93.xml.rels><?xml version="1.0" encoding="UTF-8"?><Relationships xmlns="http://schemas.openxmlformats.org/package/2006/relationships"><Relationship Id="rId1" Type="http://schemas.openxmlformats.org/officeDocument/2006/relationships/slide" Target="../slides/slide93.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「62. 요구사항 검증」에서 검토와 사용 증거의 역할을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Larman 2004 원문 확인(verify-quote). 생략한 부분은 "and more broadly, the project"다 — 요구사항은 시스템뿐 아니라 프로젝트가 따라야 할 조건도 포함한다.</a:t>
            </a:r>
          </a:p>
          <a:p>
            <a:pPr lvl="0"/>
            <a:r>
              <a:rPr lang="ko-KR" sz="1200"/>
              <a:t>요구사항과 설계(해결책)를 구분하는 관점은 IIBA, *The Business Analysis Standard*(2022)도 같은 취지로 설명한다. 기준 원전이 아니므로 본문에 인용하지 않는다.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구분은 요청 한 문장에 대한 교육용 해석이다. 실제 문제와 출고 조건은 고객에게 확인해 정한다.</a:t>
            </a:r>
          </a:p>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시스템(지원 액터)이 알리는 사건도 이벤트다(「22. 대상 시스템과 경계」). 교육용 예다. 배송 시작과 출고의 관계는 "세션 03. 정적 모델 — 도메인 개념과 관계"·"세션 04. 동적 모델 — 상호작용과 상태"에서 확인한다.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유저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유스케이스·유저 스토리는 이 세션 뒤에서, 도메인 이벤트와 이벤트 기반 아키텍처는 "세션 13. OOAD에서 전문영역으로 — Architecture · DDD · MSA"에서 다룬다.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"세션 01. OOAD 개요"의 「AI-native SW공학」과 연결한다. Human·Agent 역할과 가드레일·하네스의 구성은 "세션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영역별 경우는 교육용 가정이다.</a:t>
            </a:r>
          </a:p>
          <a:p>
            <a:pPr lvl="0"/>
            <a:r>
              <a:rPr lang="ko-KR" sz="1200"/>
              <a:t>표의 영역별 경우는 교육용 가정이다. 실제 프로젝트에서는 영역마다 누가 무엇을 아는지 먼저 확인한다.</a:t>
            </a:r>
          </a:p>
          <a:p>
            <a:pPr lvl="0"/>
            <a:r>
              <a:rPr lang="ko-KR" sz="1200"/>
              <a:t>정기배송은 이 과정 실습의 관통 사례다(「66. 실습 — 유스케이스」).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FURPS+의 각 유형과 "+"의 부가 요소, 보조 명세서("everything not in the use cases"). 표의 "주문 사례" 열은 교육용 예다.</a:t>
            </a:r>
          </a:p>
          <a:p>
            <a:pPr lvl="0"/>
            <a:r>
              <a:rPr lang="ko-KR" sz="1200"/>
              <a:t>품질 요구를 검증 가능하게 만드는 질문은 「47. 유스케이스와 품질속성」에서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위반 사례 — 배송지를 신속하게 변경한다.는 명확함·검증 가능함 위반이다. 신속하게가 측정 조건 없이 해석에 따라 달라진다.</a:t>
            </a:r>
          </a:p>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"세션 03. 정적 모델 — 도메인 개념과 관계"의 「속성 도메인」·「속성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"세션 03. 정적 모델 — 도메인 개념과 관계"에서 도메인 모델과 함께 정제하고, 설계 이름으로의 전환은 "세션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"세션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쓴다("세션 05. 구조적 경계와 의존성"의 「05.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정의 근거: Larman 2004 원문 확인(verify-quote). 원문은 "Informally then, a use case is …"로 시작한다.</a:t>
            </a:r>
          </a:p>
          <a:p>
            <a:pPr lvl="0"/>
            <a:r>
              <a:rPr lang="ko-KR" sz="1200"/>
              <a:t>OMG 정의 근거: OMG Unified Modeling Language 2.5.1(2017-12), UseCase Description 원문 확인(verify-quote) — "A UseCase specifies a set of actions performed by its subjects, which yields an observable result that is of value for one or more Actors or other stakeholders of each subject."</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유스케이스는 행위 요구를 표현하고 다른 요구를 연결하는 중심이 된다. Cockburn은 유스케이스를 요구사항 문서의 "3장"(행위 요구)이라 부른다(Alistair Cockburn, *Writing Effective Use Cases*, 2000).</a:t>
            </a:r>
          </a:p>
          <a:p>
            <a:pPr lvl="0"/>
            <a:r>
              <a:rPr lang="ko-KR" sz="1200"/>
              <a:t>자료·기능 중심 분해가 쓸모없다는 뜻이 아니다. 자료 구조는 "세션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"1. Choose the system boundary." "2. Identify the primary actors…" "4. Define use cases that satisfy user goals; name them according to their goal." 원문은 2·3단계를 엄격하게 순서 짓는 것이 인위적이라고 덧붙인다.</a:t>
            </a:r>
          </a:p>
          <a:p>
            <a:pPr lvl="0"/>
            <a:r>
              <a:rPr lang="ko-KR" sz="1200"/>
              <a:t>절대적인 순차 절차가 아니다. 실제 분석에서는 필요한 만큼 앞뒤로 반복한다.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경계를 고르는 질문은 같은 책의 유스케이스 작성 절차 1단계("Choose the system boundary.")의 요약이다.</a:t>
            </a:r>
          </a:p>
          <a:p>
            <a:pPr lvl="0"/>
            <a:r>
              <a:rPr lang="ko-KR" sz="1200"/>
              <a:t>경계는 이 그림에서 정하고, 경계 안의 유스케이스는 「25. 유스케이스 후보 식별」에서 찾아 「27. 유스케이스 다이어그램 — 초안」에서 채운다. 외부 시스템과 오가는 요청은 「44. 정제된 SSD」에서 보인다.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쓴다(「27.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"세션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액터–목표 목록으로 유스케이스 다이어그램을 그린다(「27. 유스케이스 다이어그램 — 초안」).</a:t>
            </a:r>
          </a:p>
          <a:p>
            <a:pPr lvl="0"/>
            <a:r>
              <a:rPr lang="ko-KR" sz="1200"/>
              <a:t>주 액터의 목표를 출발점으로 삼되 지원 액터를 빠뜨리지 않는다. 아래 두 목표는 다른 시스템의 것이다. 주문 시스템의 범위에 넣지 않는다(「23. 경계 판단」). 근거: OMG [UML 2.5.1](https://www.omg.org/spec/UML/2.5.1/PDF); Larman 2004.</a:t>
            </a:r>
          </a:p>
          <a:p>
            <a:pPr lvl="0"/>
            <a:r>
              <a:rPr lang="ko-KR" sz="1200"/>
              <a:t>액터 정의와 세 종류는 Larman 2004 원문 확인(verify-quote) — "an actor is something with behavior, such as a person (identified by role), computer system, or organization", "Supporting actor provides a service (for example, information) to the SuD.", "Offstage actor has an interest in the behavior of the use case, but is not primary or supporting". 무대 밖 액터의 예(쇼핑몰 운영사)는 교육용 예이며 명세서의 이해관계자와 관심사로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"The Boss Test The EBP Test The Size Test", 상사 시험의 "Is your boss happy?", 크기 시험의 "in the fully dressed format will often require 3–10 pages of text". 표의 "묻는 것"은 원문의 요약이다.</a:t>
            </a:r>
          </a:p>
          <a:p>
            <a:pPr lvl="0"/>
            <a:r>
              <a:rPr lang="ko-KR" sz="1200"/>
              <a:t>세 시험에 떨어지면 기능 조각이거나 다른 시스템의 목표다. 다른 시스템의 목표(배송을 처리한다, 상품 정보를 관리한다)는 분석 대상이 아니라 그리지 않는다.</a:t>
            </a:r>
          </a:p>
          <a:p>
            <a:pPr lvl="0"/>
            <a:r>
              <a:rPr lang="ko-KR" sz="1200"/>
              <a:t>CRUD 목록을 유스케이스로 만드는 잘못된 예는 「36. 잘못된 관행 — CRUD 분할」에서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EBP의 정의와 "use cases are classified as at the user-goal level or the subfunction level, among others". EBP는 업무 프로세스 공학에서 온 용어이며, 원문의 정의는 예시로 이어진다.</a:t>
            </a:r>
          </a:p>
          <a:p>
            <a:pPr lvl="0"/>
            <a:r>
              <a:rPr lang="ko-KR" sz="1200"/>
              <a:t>「29. 유스케이스 명세서 템플릿」의 "수준" 항목은 이 구분을 적는다.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a:t>
            </a:r>
          </a:p>
          <a:p>
            <a:pPr lvl="0"/>
            <a:r>
              <a:rPr lang="ko-KR" sz="1200"/>
              <a:t>유스케이스는 글로 쓰는 명세이고, 다이어그램과 관계는 유스케이스 작업에서 부수적이다. 액터–목표 목록으로 다이어그램을 간단히 그리고 시간은 명세서에 쓴다(Larman 2004의 요약).</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세 형식의 정의와 "언제" 쓰는가. 표의 한글은 원문의 요약이다.</a:t>
            </a:r>
          </a:p>
          <a:p>
            <a:pPr lvl="0"/>
            <a:r>
              <a:rPr lang="ko-KR" sz="1200"/>
              <a:t>Larman도 같은 장에서 짧은 예를 간략·약식 형식으로, 대표 유스케이스 하나를 정식 형식으로 보인다.</a:t>
            </a:r>
          </a:p>
          <a:p>
            <a:pPr lvl="0"/>
            <a:r>
              <a:rPr lang="ko-KR" sz="1200"/>
              <a:t>형식은 문서의 등급이 아니라 지금 필요한 깊이다. 간략 형식으로 시작한 유스케이스도 반복하며 정식으로 키울 수 있다(「09. 반복적 접근」).</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Larman 2004 원문 확인(verify-quote) — 정식 형식 템플릿의 항목과 설명("Start with a verb.", "Calls on the system to deliver its services.", "Alternate scenarios of success or failure." 등). 설명은 원문의 번역·요약이다.</a:t>
            </a:r>
          </a:p>
          <a:p>
            <a:pPr lvl="0"/>
            <a:r>
              <a:rPr lang="ko-KR" sz="1200"/>
              <a:t>원문의 Extensions는 이 과정에서 대안 흐름이라 부른다(원문도 "Extensions (or Alternate Flows)"로 쓴다). 성공·실패를 모두 대안 흐름으로 쓰고 예외 흐름을 따로 두지 않는다.</a:t>
            </a:r>
          </a:p>
          <a:p>
            <a:pPr lvl="0"/>
            <a:r>
              <a:rPr lang="ko-KR" sz="1200"/>
              <a:t>모든 항목을 기계적으로 채우지 않는다.</a:t>
            </a:r>
          </a:p>
          <a:p>
            <a:pPr lvl="0"/>
            <a:r>
              <a:rPr lang="ko-KR" sz="1200"/>
              <a:t>유스케이스 수준의 업무 규칙을 명세서에 두는 것은 과정의 결정이다(course-design.md의 「원전 적용 결정」). 여러 유스케이스에 공통인 규칙은 별도 업무 규칙 목록에 둔다(「31. 규칙과 특별 요구사항」).</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규칙 목록(Business Rules, Domain Rules)은 Larman 2004의 요구 산출물 중 하나다(원문 확인 — "Business Rules (Domain Rules)"). 유스케이스 수준의 규칙은 명세서에, 공통 규칙은 이 목록에 둔다는 구분은 과정의 결정이다(course-design.md의 「원전 적용 결정」).</a:t>
            </a:r>
          </a:p>
          <a:p>
            <a:pPr lvl="0"/>
            <a:r>
              <a:rPr lang="ko-KR" sz="1200"/>
              <a:t>부분 취소처럼 허용 조건이 정해지지 않은 것은 규칙으로 쓰지 않고 확인할 질문으로 남긴다.</a:t>
            </a:r>
          </a:p>
          <a:p>
            <a:pPr lvl="0"/>
            <a:r>
              <a:rPr lang="ko-KR" sz="1200"/>
              <a:t>방어 코딩 수준의 모든 예외를 유스케이스에 기록하지 않는다.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「33. 유스케이스 상세화」의 주문 취소 대안 흐름을 출발점으로 적용 범위를 넓혀 보며 질문한다. 예시의 전제가 실제 요구 전체를 대표한다고 가정하지 않는다.</a:t>
            </a:r>
          </a:p>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번호는 기본 흐름에서 파생한다 — 1a는 기본 흐름 1단계에서 갈라지는 첫 번째 대안 흐름, 1a2a는 그 대안 흐름 2단계에서 다시 갈라지는 대안 흐름이다. 대안 흐름은 조건 → 달라지는 행위 → 복귀 또는 종료로 쓴다.</a:t>
            </a:r>
          </a:p>
          <a:p>
            <a:pPr lvl="0"/>
            <a:r>
              <a:rPr lang="ko-KR" sz="1200"/>
              <a:t>배송 시작 이후 일반 취소 불가는 흐름이 아니라 업무 규칙으로 기록한다.</a:t>
            </a:r>
          </a:p>
          <a:p>
            <a:pPr lvl="0"/>
            <a:r>
              <a:rPr lang="ko-KR" sz="1200"/>
              <a:t>번호 표기(3a 등)는 Larman 2004의 정식 형식 예를 따른다(원문 확인 — "3a. Invalid item ID").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확장·일반화 예는 표기 설명을 위한 교육용 가정이다.</a:t>
            </a:r>
          </a:p>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판단 기준은 「25. 유스케이스 후보 식별」의 세 시험이다. 조각은 상사 시험과 크기 시험에 떨어진다.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인용 근거: Larman 2004 원문 확인(verify-quote). 원문은 이것을 "목표마다 유스케이스 하나"의 예외로 설명한다. 주문을 관리한다가 이 Manage &lt;X&gt;다(course-design.md의 「원전 적용 결정」).</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확인(verify-quote) — 유스케이스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「27. 유스케이스 다이어그램 — 초안」과 「34. 유스케이스 다이어그램 — 상세화」를 참조한다.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SSD에는 필요한 표기만 사용하며, 시퀀스 다이어그램의 정의와 전체 표기는 "세션 04. 동적 모델 — 상호작용과 상태"에서 다룬다.</a:t>
            </a:r>
          </a:p>
          <a:p>
            <a:pPr lvl="0"/>
            <a:r>
              <a:rPr lang="ko-KR" sz="1200"/>
              <a:t>인용 근거: Larman 2004 원문 확인(verify-quote). 이름 짓기는 같은 장의 "System events should be expressed at the abstract level of intention rather than in terms of the physical input device."에 근거한다. 정의의 "시스템 사이의 이벤트"는 「44. 정제된 SSD」에서 그린다.</a:t>
            </a:r>
          </a:p>
          <a:p>
            <a:pPr lvl="0"/>
            <a:r>
              <a:rPr lang="ko-KR" sz="1200"/>
              <a:t>생명선 이름 :주문 시스템의 콜론은 "주문 시스템의 한 인스턴스"를 뜻한다.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요청의 전달 방식(호출을 기다릴지, 메시지로 보낼지)은 설계에서 정한다.</a:t>
            </a:r>
          </a:p>
          <a:p>
            <a:pPr lvl="0"/>
            <a:r>
              <a:rPr lang="ko-KR" sz="1200"/>
              <a:t>요청의 순서(승인 뒤 재고 차감)도 업무 규칙이다. 재고가 모자라면 이미 승인된 결제를 어떻게 하는가? 요구 질문으로 남기고 "세션 04. 동적 모델 — 상호작용과 상태"에서 다시 본다.</a:t>
            </a:r>
          </a:p>
          <a:p>
            <a:pPr lvl="0"/>
            <a:r>
              <a:rPr lang="ko-KR" sz="1200"/>
              <a:t>정제된 SSD와 계약, 유스케이스 명세서는 "세션 03. 정적 모델 — 도메인 개념과 관계"와 "세션 04. 동적 모델 — 상호작용과 상태"의 입력이다. 분석에서 발견한 것은 이 산출물에 되돌려 보완한다.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배송지 변경 계약의 교육용 가정 — 새 주소는 유효하고 배송비·세금·결제 금액·배송 방식에 영향을 주지 않는 지역이다(과정 설계 공통 전제). 사후조건은 주소 검증 → DB 저장 → 응답 같은 처리 순서가 아니다.</a:t>
            </a:r>
          </a:p>
          <a:p>
            <a:pPr lvl="0"/>
            <a:r>
              <a:rPr lang="ko-KR" sz="1200"/>
              <a:t>계약의 항목(오퍼레이션, 관련 유스케이스, 사전조건, 사후조건)과 사후조건의 세 종류는 Larman 2004를 따른다(원문 확인 — "Cross References", 사후조건 정의). 원문은 사후조건이 오퍼레이션 중에 할 행동이 아니라 끝난 뒤 참인 관찰이라고 강조한다.</a:t>
            </a:r>
          </a:p>
          <a:p>
            <a:pPr lvl="0"/>
            <a:r>
              <a:rPr lang="ko-KR" sz="1200"/>
              <a:t>사후조건의 결제·주문은 용어집의 개념이다. 도메인 모델은 "세션 03. 정적 모델 — 도메인 개념과 관계"에서 그리며, 계약의 개념은 그 모델과 맞춘다.</a:t>
            </a:r>
          </a:p>
          <a:p>
            <a:pPr lvl="0"/>
            <a:r>
              <a:rPr lang="ko-KR" sz="1200"/>
              <a:t>배송 시스템에 배송지 변경을 요청하는 것은 「44. 정제된 SSD」의 이벤트다.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"세션 04. 동적 모델 — 상호작용과 상태"의 「03. 요구 산출물에서 출발」의 「계약의 정제」에서 작성한다.</a:t>
            </a:r>
          </a:p>
          <a:p>
            <a:pPr lvl="0"/>
            <a:r>
              <a:rPr lang="ko-KR" sz="1200"/>
              <a:t>재고 차감·배송·입금 처리·영수증 발행의 요청은 「44. 정제된 SSD」에 있다.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대안 흐름에 먼저 쓰고 테스트를 더한다.</a:t>
            </a:r>
          </a:p>
          <a:p>
            <a:pPr lvl="0"/>
            <a:r>
              <a:rPr lang="ko-KR" sz="1200"/>
              <a:t>가짜 외부 시스템으로 확인하는 것은 SSD의 요청까지다. 주문시스템구현은 설계 객체의 한 예이며 분석 모델로 역수입하지 않는다. 내부 책임은 "세션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"세션 03. 정적 모델 — 도메인 개념과 관계"와 "세션 04. 동적 모델 — 상호작용과 상태"에서 각각 본격적으로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검토 질문을 만드는 교육 예시다. 근거 없이 측정 수치나 서비스 수준을 확정하지 않는다.</a:t>
            </a:r>
          </a:p>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"세션 13. OOAD에서 전문영역으로 — Architecture · DDD · MSA"에서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교육용 주소 A·B는 실제 주소가 아니다. 버튼·화면 구성은 해결책 후보이며 확정된 요구사항이 아니다. 관찰한 혼란·누락은 요구사항과 계약에 반영하고, 새 주소·배송비·실패 정책을 화면만 보고 임의로 결정하지 않는다.</a:t>
            </a:r>
          </a:p>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세 요소의 설명은 원문의 Card·Conversation·Confirmation 절을 요약한 것이다.</a:t>
            </a:r>
          </a:p>
          <a:p>
            <a:pPr lvl="0"/>
            <a:r>
              <a:rPr lang="ko-KR" sz="1200"/>
              <a:t>Wake(2003)도 Jeffries를 들어 스토리를 카드·대화·확인으로 소개한다(「51. 좋은 유저 스토리 — INVEST」).</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원문은 가치가 없는 스토리가 "so that I just do, ok?"처럼 끝난다고 적는다.</a:t>
            </a:r>
          </a:p>
          <a:p>
            <a:pPr lvl="0"/>
            <a:r>
              <a:rPr lang="ko-KR" sz="1200"/>
              <a:t>문형은 필수 양식이 아니다. 누가·무엇을·왜가 드러나면 된다.</a:t>
            </a:r>
          </a:p>
          <a:p>
            <a:pPr lvl="0"/>
            <a:r>
              <a:rPr lang="ko-KR" sz="1200"/>
              <a:t>예의 스토리는 「주문을 관리한다」의 대안 흐름 3a(배송지 변경)와 1a(주문 취소)를 스토리 형식으로 쓴 것이다.</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Bill Wake, "INVEST in Good Stories, and SMART Tasks"(2003) 원문 확인. 표의 "뜻"은 원문의 각 절을 요약했다.</a:t>
            </a:r>
          </a:p>
          <a:p>
            <a:pPr lvl="0"/>
            <a:r>
              <a:rPr lang="ko-KR" sz="1200"/>
              <a:t>원문은 테스트 가능을 이렇게 설명한다: 스토리 카드를 쓰는 것은 "테스트를 쓸 수 있을 만큼 원하는 것을 안다"는 약속이다. 고객이 테스트 방법을 모르면 스토리가 아직 분명하지 않다는 신호다.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원문은 개발자가 한 번에 한 층만 "제대로" 만들고 싶어 하지만, 화면이 없는 데이터베이스 층은 고객에게 가치가 적다고 적는다.</a:t>
            </a:r>
          </a:p>
          <a:p>
            <a:pPr lvl="0"/>
            <a:r>
              <a:rPr lang="ko-KR" sz="1200"/>
              <a:t>층으로 나눈 조각은 「35. 잘못된 관행 — 기능 분할」과 같은 문제다.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인용은 Böckeler가 SDD 도구(Kiro)로 작은 버그를 고치려 했을 때 요구 문서에 생긴 스토리 가운데 하나다. LLM에게 스토리를 쓰게 하면 이런 스토리가 섞이기 쉽다.</a:t>
            </a:r>
          </a:p>
          <a:p>
            <a:pPr lvl="0"/>
            <a:r>
              <a:rPr lang="ko-KR" sz="1200"/>
              <a:t>CRUD 스토리는 「36. 잘못된 관행 — CRUD 분할」과 같은 문제다. 표의 예는 주문 시스템에 맞춘 교육용 예다.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본다(「59. 유스케이스·유저 스토리·BDD」).</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 같은 문서가 세 실천을 Discovery, Formulation, Automation이라 부른다.</a:t>
            </a:r>
          </a:p>
          <a:p>
            <a:pPr lvl="0"/>
            <a:r>
              <a:rPr lang="ko-KR" sz="1200"/>
              <a:t>North(2006)는 TDD의 "테스트" 대신 "행위"라는 말을 쓰다가, 동료(Chris Matts)와 함께 이 생각을 요구 정의에 적용했다고 적는다.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Dan North, "Introducing BDD"(2006) 원문 확인. 원문의 형식은 "Given some initial context (the givens), When an event occurs, Then ensure some outcomes."다.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"Example Mapping" 원문 확인. 원문은 스토리를 노란 카드, 규칙을 파란 카드, 예를 초록 카드, 답하지 못한 질문을 빨간 카드에 쓴다고 설명한다.</a:t>
            </a:r>
          </a:p>
          <a:p>
            <a:pPr lvl="0"/>
            <a:r>
              <a:rPr lang="ko-KR" sz="1200"/>
              <a:t>"출고는 누가 판단하는가?"는 "세션 11. 통합 설계와 적정 모델링"에서 드러나는 빈틈과 같은 질문이다. 출고는 배송 시스템이 판단한다.</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쓴다(「56. Given-When-Then」의 배송지 변경 예).</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Birgitta Böckeler, "Understanding Spec-Driven-Development: Kiro, spec-kit, and Tessl", martinfowler.com, 2025 원문 확인. 3가지 수준(spec-first, spec-anchored, spec-as-source)도 같은 글이 정리한 것이다.</a:t>
            </a:r>
          </a:p>
          <a:p>
            <a:pPr lvl="0"/>
            <a:r>
              <a:rPr lang="ko-KR" sz="1200"/>
              <a:t>원문은 Kiro의 요구 문서가 "As a…" 형식의 스토리와 "GIVEN… WHEN… THEN…" 형식의 인수 조건으로 되어 있다고 적는다.</a:t>
            </a:r>
          </a:p>
          <a:p>
            <a:pPr lvl="0"/>
            <a:r>
              <a:rPr lang="ko-KR" sz="1200"/>
              <a:t>SDD의 상세는 "AI-native SW 공학" 과정의 '03. 요구의 구체화와 명세'가 다룬다.</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Böckeler(2025) 원문 확인. 원문은 이 모든 문서가 있어도 에이전트가 지시를 다 따르지 않는 것을 자주 보았고, 통제하는 가장 좋은 방법은 작고 반복적인 단계였다고 적는다.</a:t>
            </a:r>
          </a:p>
          <a:p>
            <a:pPr lvl="0"/>
            <a:r>
              <a:rPr lang="ko-KR" sz="1200"/>
              <a:t>원문의 저자는 MDD를 많이 쓴 프로젝트를 경험했다고 밝힌다.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변경이다("세션 03. 정적 모델 — 도메인 개념과 관계"의 「17. 모델의 검토」의 「누락과 모순」).</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기능 요구와 코드를 일대일 대응시키지 않는다. 근거·영향을 기록하고 필요하면 기준선을 갱신한다.</a:t>
            </a:r>
          </a:p>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구현·검증·DevOps 단계에서도 사용 증거를 요구로 되돌리는 피드백은 계속 이어진다.</a:t>
            </a: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흐름, 1b1a는 1b에서 다시 갈라지는 대안 흐름이다. 성공·실패를 모두 대안 흐름으로 쓴다(정식 형식).</a:t>
            </a: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펼친다("세션 04. 동적 모델 — 상호작용과 상태"의 「13. 실습 — 동적 모델」의 「시퀀스 다이어그램 (안)」).</a:t>
            </a:r>
          </a:p>
          <a:p>
            <a:pPr lvl="0"/>
            <a:r>
              <a:rPr lang="ko-KR" sz="1200"/>
              <a:t>응답은 그리지 않는다(「44. 정제된 SSD」). 유스케이스 흐름에 쓰지 않은 상품 조회가 여기서 외부 시스템에 보내는 요청으로 드러난다.</a:t>
            </a: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"세션 01. OOAD 개요"의 「피드백」.</a:t>
            </a:r>
          </a:p>
          <a:p>
            <a:pPr lvl="0"/>
            <a:r>
              <a:rPr lang="ko-KR" sz="1200"/>
              <a:t>모든 산출물을 늘 최신으로 유지하는 것은 적정 수준을 넘는 비용이다 — "세션 01. OOAD 개요"의 「모델링의 적정 수준」.</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86"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speakerNotes87"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speakerNotes8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9"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speakerNotes90"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speakerNotes91"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9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speakerNotes93" Type="http://schemas.openxmlformats.org/officeDocument/2006/relationships/notesSlide" Target="../notesSlides/notesSlide9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 작성 절차</a:t>
            </a:r>
          </a:p>
          <a:p>
            <a:pPr lvl="1" marL="355600" indent="0">
              <a:spcBef>
                <a:spcPts val="300"/>
              </a:spcBef>
              <a:spcAft>
                <a:spcPts val="300"/>
              </a:spcAft>
              <a:buNone/>
            </a:pPr>
            <a:r>
              <a:rPr sz="1600" b="0">
                <a:solidFill>
                  <a:srgbClr val="000000"/>
                </a:solidFill>
                <a:latin typeface="맑은 고딕"/>
                <a:ea typeface="맑은 고딕"/>
              </a:rPr>
              <a:t>22. 대상 시스템과 경계</a:t>
            </a:r>
          </a:p>
          <a:p>
            <a:pPr lvl="1" marL="355600" indent="0">
              <a:spcBef>
                <a:spcPts val="300"/>
              </a:spcBef>
              <a:spcAft>
                <a:spcPts val="300"/>
              </a:spcAft>
              <a:buNone/>
            </a:pPr>
            <a:r>
              <a:rPr sz="1600" b="0">
                <a:solidFill>
                  <a:srgbClr val="000000"/>
                </a:solidFill>
                <a:latin typeface="맑은 고딕"/>
                <a:ea typeface="맑은 고딕"/>
              </a:rPr>
              <a:t>23. 경계 판단</a:t>
            </a:r>
          </a:p>
          <a:p>
            <a:pPr lvl="1" marL="355600" indent="0">
              <a:spcBef>
                <a:spcPts val="300"/>
              </a:spcBef>
              <a:spcAft>
                <a:spcPts val="300"/>
              </a:spcAft>
              <a:buNone/>
            </a:pPr>
            <a:r>
              <a:rPr sz="1600" b="0">
                <a:solidFill>
                  <a:srgbClr val="000000"/>
                </a:solidFill>
                <a:latin typeface="맑은 고딕"/>
                <a:ea typeface="맑은 고딕"/>
              </a:rPr>
              <a:t>24. 목표와 액터</a:t>
            </a:r>
          </a:p>
          <a:p>
            <a:pPr lvl="1" marL="355600" indent="0">
              <a:spcBef>
                <a:spcPts val="300"/>
              </a:spcBef>
              <a:spcAft>
                <a:spcPts val="300"/>
              </a:spcAft>
              <a:buNone/>
            </a:pPr>
            <a:r>
              <a:rPr sz="1600" b="0">
                <a:solidFill>
                  <a:srgbClr val="000000"/>
                </a:solidFill>
                <a:latin typeface="맑은 고딕"/>
                <a:ea typeface="맑은 고딕"/>
              </a:rPr>
              <a:t>25. 유스케이스 후보 식별</a:t>
            </a:r>
          </a:p>
          <a:p>
            <a:pPr lvl="1" marL="355600" indent="0">
              <a:spcBef>
                <a:spcPts val="300"/>
              </a:spcBef>
              <a:spcAft>
                <a:spcPts val="300"/>
              </a:spcAft>
              <a:buNone/>
            </a:pPr>
            <a:r>
              <a:rPr sz="1600" b="0">
                <a:solidFill>
                  <a:srgbClr val="000000"/>
                </a:solidFill>
                <a:latin typeface="맑은 고딕"/>
                <a:ea typeface="맑은 고딕"/>
              </a:rPr>
              <a:t>26. 유스케이스 수준</a:t>
            </a:r>
          </a:p>
          <a:p>
            <a:pPr lvl="1" marL="355600" indent="0">
              <a:spcBef>
                <a:spcPts val="300"/>
              </a:spcBef>
              <a:spcAft>
                <a:spcPts val="300"/>
              </a:spcAft>
              <a:buNone/>
            </a:pPr>
            <a:r>
              <a:rPr sz="1600" b="0">
                <a:solidFill>
                  <a:srgbClr val="000000"/>
                </a:solidFill>
                <a:latin typeface="맑은 고딕"/>
                <a:ea typeface="맑은 고딕"/>
              </a:rPr>
              <a:t>27.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28. 유스케이스 명세 형식</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a:p>
            <a:pPr lvl="1" marL="355600" indent="0">
              <a:spcBef>
                <a:spcPts val="300"/>
              </a:spcBef>
              <a:spcAft>
                <a:spcPts val="300"/>
              </a:spcAft>
              <a:buNone/>
            </a:pPr>
            <a:r>
              <a:rPr sz="1600" b="0">
                <a:solidFill>
                  <a:srgbClr val="000000"/>
                </a:solidFill>
                <a:latin typeface="맑은 고딕"/>
                <a:ea typeface="맑은 고딕"/>
              </a:rPr>
              <a:t>31. 규칙과 특별 요구사항</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유저 스토리</a:t>
            </a:r>
          </a:p>
          <a:p>
            <a:pPr lvl="1" marL="355600" indent="0">
              <a:spcBef>
                <a:spcPts val="300"/>
              </a:spcBef>
              <a:spcAft>
                <a:spcPts val="300"/>
              </a:spcAft>
              <a:buNone/>
            </a:pPr>
            <a:r>
              <a:rPr sz="1600" b="0">
                <a:solidFill>
                  <a:srgbClr val="000000"/>
                </a:solidFill>
                <a:latin typeface="맑은 고딕"/>
                <a:ea typeface="맑은 고딕"/>
              </a:rPr>
              <a:t>50. 스토리의 문형과 가치</a:t>
            </a:r>
          </a:p>
          <a:p>
            <a:pPr lvl="1" marL="355600" indent="0">
              <a:spcBef>
                <a:spcPts val="300"/>
              </a:spcBef>
              <a:spcAft>
                <a:spcPts val="300"/>
              </a:spcAft>
              <a:buNone/>
            </a:pPr>
            <a:r>
              <a:rPr sz="1600" b="0">
                <a:solidFill>
                  <a:srgbClr val="000000"/>
                </a:solidFill>
                <a:latin typeface="맑은 고딕"/>
                <a:ea typeface="맑은 고딕"/>
              </a:rPr>
              <a:t>51. 좋은 유저 스토리 —</a:t>
            </a:r>
            <a:r>
              <a:rPr sz="1400" b="0">
                <a:solidFill>
                  <a:srgbClr val="000000"/>
                </a:solidFill>
                <a:latin typeface="맑은 고딕"/>
                <a:ea typeface="맑은 고딕"/>
              </a:rPr>
              <a:t> INVEST</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52. 스토리 나누기</a:t>
            </a:r>
          </a:p>
          <a:p>
            <a:pPr lvl="1" marL="355600" indent="0">
              <a:spcBef>
                <a:spcPts val="300"/>
              </a:spcBef>
              <a:spcAft>
                <a:spcPts val="300"/>
              </a:spcAft>
              <a:buNone/>
            </a:pPr>
            <a:r>
              <a:rPr sz="1600" b="0">
                <a:solidFill>
                  <a:srgbClr val="000000"/>
                </a:solidFill>
                <a:latin typeface="맑은 고딕"/>
                <a:ea typeface="맑은 고딕"/>
              </a:rPr>
              <a:t>53. 잘못된 유저 스토리</a:t>
            </a:r>
          </a:p>
          <a:p>
            <a:pPr lvl="1" marL="355600" indent="0">
              <a:spcBef>
                <a:spcPts val="300"/>
              </a:spcBef>
              <a:spcAft>
                <a:spcPts val="300"/>
              </a:spcAft>
              <a:buNone/>
            </a:pPr>
            <a:r>
              <a:rPr sz="1600" b="0">
                <a:solidFill>
                  <a:srgbClr val="000000"/>
                </a:solidFill>
                <a:latin typeface="맑은 고딕"/>
                <a:ea typeface="맑은 고딕"/>
              </a:rPr>
              <a:t>54. 유저 스토리의 강점과 한계</a:t>
            </a:r>
          </a:p>
          <a:p>
            <a:pPr lvl="1" marL="355600" indent="0">
              <a:spcBef>
                <a:spcPts val="300"/>
              </a:spcBef>
              <a:spcAft>
                <a:spcPts val="300"/>
              </a:spcAft>
              <a:buNone/>
            </a:pPr>
            <a:r>
              <a:rPr sz="1600" b="0">
                <a:solidFill>
                  <a:srgbClr val="000000"/>
                </a:solidFill>
                <a:latin typeface="맑은 고딕"/>
                <a:ea typeface="맑은 고딕"/>
              </a:rPr>
              <a:t>55. 행위 주도 개발</a:t>
            </a:r>
          </a:p>
          <a:p>
            <a:pPr lvl="1" marL="355600" indent="0">
              <a:spcBef>
                <a:spcPts val="300"/>
              </a:spcBef>
              <a:spcAft>
                <a:spcPts val="300"/>
              </a:spcAft>
              <a:buNone/>
            </a:pPr>
            <a:r>
              <a:rPr sz="1600" b="0">
                <a:solidFill>
                  <a:srgbClr val="000000"/>
                </a:solidFill>
                <a:latin typeface="맑은 고딕"/>
                <a:ea typeface="맑은 고딕"/>
              </a:rPr>
              <a:t>56. Given-When-Then</a:t>
            </a:r>
          </a:p>
          <a:p>
            <a:pPr lvl="1" marL="355600" indent="0">
              <a:spcBef>
                <a:spcPts val="300"/>
              </a:spcBef>
              <a:spcAft>
                <a:spcPts val="300"/>
              </a:spcAft>
              <a:buNone/>
            </a:pPr>
            <a:r>
              <a:rPr sz="1600" b="0">
                <a:solidFill>
                  <a:srgbClr val="000000"/>
                </a:solidFill>
                <a:latin typeface="맑은 고딕"/>
                <a:ea typeface="맑은 고딕"/>
              </a:rPr>
              <a:t>57. Example Mapping</a:t>
            </a:r>
          </a:p>
          <a:p>
            <a:pPr lvl="1" marL="355600" indent="0">
              <a:spcBef>
                <a:spcPts val="300"/>
              </a:spcBef>
              <a:spcAft>
                <a:spcPts val="300"/>
              </a:spcAft>
              <a:buNone/>
            </a:pPr>
            <a:r>
              <a:rPr sz="1600" b="0">
                <a:solidFill>
                  <a:srgbClr val="000000"/>
                </a:solidFill>
                <a:latin typeface="맑은 고딕"/>
                <a:ea typeface="맑은 고딕"/>
              </a:rPr>
              <a:t>58. 행위 주도 개발의 강점과 한계</a:t>
            </a:r>
          </a:p>
          <a:p>
            <a:pPr lvl="1" marL="355600" indent="0">
              <a:spcBef>
                <a:spcPts val="300"/>
              </a:spcBef>
              <a:spcAft>
                <a:spcPts val="300"/>
              </a:spcAft>
              <a:buNone/>
            </a:pPr>
            <a:r>
              <a:rPr sz="1600" b="0">
                <a:solidFill>
                  <a:srgbClr val="000000"/>
                </a:solidFill>
                <a:latin typeface="맑은 고딕"/>
                <a:ea typeface="맑은 고딕"/>
              </a:rPr>
              <a:t>59. 유스케이스·유저 스토리·BDD</a:t>
            </a:r>
          </a:p>
          <a:p>
            <a:pPr lvl="1" marL="355600" indent="0">
              <a:spcBef>
                <a:spcPts val="300"/>
              </a:spcBef>
              <a:spcAft>
                <a:spcPts val="300"/>
              </a:spcAft>
              <a:buNone/>
            </a:pPr>
            <a:r>
              <a:rPr sz="1600" b="0">
                <a:solidFill>
                  <a:srgbClr val="000000"/>
                </a:solidFill>
                <a:latin typeface="맑은 고딕"/>
                <a:ea typeface="맑은 고딕"/>
              </a:rPr>
              <a:t>60. 명세 주도 개발</a:t>
            </a:r>
          </a:p>
          <a:p>
            <a:pPr lvl="1" marL="355600" indent="0">
              <a:spcBef>
                <a:spcPts val="300"/>
              </a:spcBef>
              <a:spcAft>
                <a:spcPts val="300"/>
              </a:spcAft>
              <a:buNone/>
            </a:pPr>
            <a:r>
              <a:rPr sz="1600" b="0">
                <a:solidFill>
                  <a:srgbClr val="000000"/>
                </a:solidFill>
                <a:latin typeface="맑은 고딕"/>
                <a:ea typeface="맑은 고딕"/>
              </a:rPr>
              <a:t>61. 명세 주도 개발의 한계</a:t>
            </a:r>
          </a:p>
          <a:p>
            <a:pPr lvl="1" marL="355600" indent="0">
              <a:spcBef>
                <a:spcPts val="300"/>
              </a:spcBef>
              <a:spcAft>
                <a:spcPts val="300"/>
              </a:spcAft>
              <a:buNone/>
            </a:pPr>
            <a:r>
              <a:rPr sz="1600" b="0">
                <a:solidFill>
                  <a:srgbClr val="000000"/>
                </a:solidFill>
                <a:latin typeface="맑은 고딕"/>
                <a:ea typeface="맑은 고딕"/>
              </a:rPr>
              <a:t>62. 요구사항 검증</a:t>
            </a:r>
          </a:p>
          <a:p>
            <a:pPr lvl="1" marL="355600" indent="0">
              <a:spcBef>
                <a:spcPts val="300"/>
              </a:spcBef>
              <a:spcAft>
                <a:spcPts val="300"/>
              </a:spcAft>
              <a:buNone/>
            </a:pPr>
            <a:r>
              <a:rPr sz="1600" b="0">
                <a:solidFill>
                  <a:srgbClr val="000000"/>
                </a:solidFill>
                <a:latin typeface="맑은 고딕"/>
                <a:ea typeface="맑은 고딕"/>
              </a:rPr>
              <a:t>63. 요구사항 관리</a:t>
            </a:r>
          </a:p>
          <a:p>
            <a:pPr lvl="1" marL="355600" indent="0">
              <a:spcBef>
                <a:spcPts val="300"/>
              </a:spcBef>
              <a:spcAft>
                <a:spcPts val="300"/>
              </a:spcAft>
              <a:buNone/>
            </a:pPr>
            <a:r>
              <a:rPr sz="1600" b="0">
                <a:solidFill>
                  <a:srgbClr val="000000"/>
                </a:solidFill>
                <a:latin typeface="맑은 고딕"/>
                <a:ea typeface="맑은 고딕"/>
              </a:rPr>
              <a:t>64. 요구사항 추적</a:t>
            </a:r>
          </a:p>
          <a:p>
            <a:pPr lvl="1" marL="355600" indent="0">
              <a:spcBef>
                <a:spcPts val="300"/>
              </a:spcBef>
              <a:spcAft>
                <a:spcPts val="300"/>
              </a:spcAft>
              <a:buNone/>
            </a:pPr>
            <a:r>
              <a:rPr sz="1600" b="0">
                <a:solidFill>
                  <a:srgbClr val="000000"/>
                </a:solidFill>
                <a:latin typeface="맑은 고딕"/>
                <a:ea typeface="맑은 고딕"/>
              </a:rPr>
              <a:t>65. 요구사항에서 학습으로</a:t>
            </a:r>
          </a:p>
          <a:p>
            <a:pPr lvl="1" marL="355600" indent="0">
              <a:spcBef>
                <a:spcPts val="300"/>
              </a:spcBef>
              <a:spcAft>
                <a:spcPts val="300"/>
              </a:spcAft>
              <a:buNone/>
            </a:pPr>
            <a:r>
              <a:rPr sz="1600" b="0">
                <a:solidFill>
                  <a:srgbClr val="000000"/>
                </a:solidFill>
                <a:latin typeface="맑은 고딕"/>
                <a:ea typeface="맑은 고딕"/>
              </a:rPr>
              <a:t>66.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67. 요약</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a:t>
            </a:r>
            <a:r>
              <a:rPr sz="1800" b="1">
                <a:solidFill>
                  <a:srgbClr val="000000"/>
                </a:solidFill>
                <a:latin typeface="맑은 고딕"/>
                <a:ea typeface="맑은 고딕"/>
              </a:rPr>
              <a:t>문제를 발견해 요구사항을 정제하고, 유스케이스로 목표와 시스템 책임을 표현·검증하는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유저 스토리</a:t>
            </a:r>
            <a:r>
              <a:rPr sz="1400" b="0">
                <a:solidFill>
                  <a:srgbClr val="000000"/>
                </a:solidFill>
                <a:latin typeface="맑은 고딕"/>
                <a:ea typeface="맑은 고딕"/>
              </a:rPr>
              <a:t>(INVEST)</a:t>
            </a:r>
            <a:r>
              <a:rPr sz="1800" b="0">
                <a:solidFill>
                  <a:srgbClr val="000000"/>
                </a:solidFill>
                <a:latin typeface="맑은 고딕"/>
                <a:ea typeface="맑은 고딕"/>
              </a:rPr>
              <a:t>를 흐름으로 나누고, </a:t>
            </a:r>
            <a:r>
              <a:rPr sz="1800" b="1">
                <a:solidFill>
                  <a:srgbClr val="000000"/>
                </a:solidFill>
                <a:latin typeface="맑은 고딕"/>
                <a:ea typeface="맑은 고딕"/>
              </a:rPr>
              <a:t>행위 주도 개발</a:t>
            </a:r>
            <a:r>
              <a:rPr sz="1800" b="0">
                <a:solidFill>
                  <a:srgbClr val="000000"/>
                </a:solidFill>
                <a:latin typeface="맑은 고딕"/>
                <a:ea typeface="맑은 고딕"/>
              </a:rPr>
              <a:t>의 예</a:t>
            </a:r>
            <a:r>
              <a:rPr sz="1400" b="0">
                <a:solidFill>
                  <a:srgbClr val="000000"/>
                </a:solidFill>
                <a:latin typeface="맑은 고딕"/>
                <a:ea typeface="맑은 고딕"/>
              </a:rPr>
              <a:t>(Given-When-Then)</a:t>
            </a:r>
            <a:r>
              <a:rPr sz="1800" b="0">
                <a:solidFill>
                  <a:srgbClr val="000000"/>
                </a:solidFill>
                <a:latin typeface="맑은 고딕"/>
                <a:ea typeface="맑은 고딕"/>
              </a:rPr>
              <a:t>로 확인하며, </a:t>
            </a:r>
            <a:r>
              <a:rPr sz="1800" b="1">
                <a:solidFill>
                  <a:srgbClr val="000000"/>
                </a:solidFill>
                <a:latin typeface="맑은 고딕"/>
                <a:ea typeface="맑은 고딕"/>
              </a:rPr>
              <a:t>명세 주도 개발</a:t>
            </a:r>
            <a:r>
              <a:rPr sz="1800" b="0">
                <a:solidFill>
                  <a:srgbClr val="000000"/>
                </a:solidFill>
                <a:latin typeface="맑은 고딕"/>
                <a:ea typeface="맑은 고딕"/>
              </a:rPr>
              <a:t>에서 그 쓰임과 한계를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a:t>
            </a:r>
            <a:r>
              <a:rPr sz="1800" b="1">
                <a:solidFill>
                  <a:srgbClr val="000000"/>
                </a:solidFill>
                <a:latin typeface="맑은 고딕"/>
                <a:ea typeface="맑은 고딕"/>
              </a:rPr>
              <a:t>증거로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[Bezos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86268"/>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요구공학의 반복</a:t>
            </a:r>
          </a:p>
        </p:txBody>
      </p:sp>
      <p:pic>
        <p:nvPicPr>
          <p:cNvPr id="10" name="mermaid Diagram 1"/>
          <p:cNvPicPr>
            <a:picLocks noChangeAspect="1"/>
          </p:cNvPicPr>
          <p:nvPr/>
        </p:nvPicPr>
        <p:blipFill>
          <a:blip r:embed="mermaidImage1"/>
          <a:stretch>
            <a:fillRect/>
          </a:stretch>
        </p:blipFill>
        <p:spPr>
          <a:xfrm>
            <a:off x="1432719" y="3424012"/>
            <a:ext cx="6278563" cy="102507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필요를 표현한 것이고, 그 필요를 채우는 </a:t>
            </a:r>
            <a:r>
              <a:rPr sz="1800" b="1">
                <a:solidFill>
                  <a:srgbClr val="000000"/>
                </a:solidFill>
                <a:latin typeface="맑은 고딕"/>
                <a:ea typeface="맑은 고딕"/>
              </a:rPr>
              <a:t>해결책</a:t>
            </a:r>
            <a:r>
              <a:rPr sz="1400" b="0">
                <a:solidFill>
                  <a:srgbClr val="000000"/>
                </a:solidFill>
                <a:latin typeface="맑은 고딕"/>
                <a:ea typeface="맑은 고딕"/>
              </a:rPr>
              <a:t>(설계)</a:t>
            </a:r>
            <a:r>
              <a:rPr sz="1800" b="0">
                <a:solidFill>
                  <a:srgbClr val="000000"/>
                </a:solidFill>
                <a:latin typeface="맑은 고딕"/>
                <a:ea typeface="맑은 고딕"/>
              </a:rPr>
              <a:t>은 따로 판단한다.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66026" y="2538730"/>
          <a:ext cx="7198360" cy="3873500"/>
        </p:xfrm>
        <a:graphic>
          <a:graphicData uri="http://schemas.openxmlformats.org/drawingml/2006/table">
            <a:tbl>
              <a:tblPr/>
              <a:tblGrid>
                <a:gridCol w="889000"/>
                <a:gridCol w="259588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요청에서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지킬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요청된 버튼, 그 밖에 편집 화면·챗봇·상담 자동화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섞인 것</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marL="342900" indent="0">
              <a:spcBef>
                <a:spcPts val="600"/>
              </a:spcBef>
              <a:spcAft>
                <a:spcPts val="600"/>
              </a:spcAft>
              <a:buNone/>
            </a:pPr>
            <a:r>
              <a:rPr sz="1800" b="1">
                <a:solidFill>
                  <a:srgbClr val="000000"/>
                </a:solidFill>
                <a:latin typeface="맑은 고딕"/>
                <a:ea typeface="맑은 고딕"/>
              </a:rPr>
              <a:t>그래서 필요한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고객과 개발자가 </a:t>
            </a:r>
            <a:r>
              <a:rPr sz="1800" b="1">
                <a:solidFill>
                  <a:srgbClr val="000000"/>
                </a:solidFill>
                <a:latin typeface="맑은 고딕"/>
                <a:ea typeface="맑은 고딕"/>
              </a:rPr>
              <a:t>같은 뜻으로 말할 수 있는 작은 단위</a:t>
            </a:r>
            <a:r>
              <a:rPr sz="1800" b="0">
                <a:solidFill>
                  <a:srgbClr val="000000"/>
                </a:solidFill>
                <a:latin typeface="맑은 고딕"/>
                <a:ea typeface="맑은 고딕"/>
              </a:rPr>
              <a:t>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만들어 보여주고 증거로 배우는</a:t>
            </a:r>
            <a:r>
              <a:rPr sz="18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599988"/>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8192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일어나면 시스템은 무엇을 해야 하는가?"는 고객과 개발자가 </a:t>
            </a:r>
            <a:r>
              <a:rPr sz="1800" b="1">
                <a:solidFill>
                  <a:srgbClr val="000000"/>
                </a:solidFill>
                <a:latin typeface="맑은 고딕"/>
                <a:ea typeface="맑은 고딕"/>
              </a:rPr>
              <a:t>혼선 없이 합의</a:t>
            </a:r>
            <a:r>
              <a:rPr sz="1800" b="0">
                <a:solidFill>
                  <a:srgbClr val="000000"/>
                </a:solidFill>
                <a:latin typeface="맑은 고딕"/>
                <a:ea typeface="맑은 고딕"/>
              </a:rPr>
              <a:t>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015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이벤트와 시스템의 반응</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24628"/>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다루는 주요 기법은 모두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a:t>
            </a:r>
            <a:r>
              <a:rPr sz="1800" b="0">
                <a:solidFill>
                  <a:srgbClr val="000000"/>
                </a:solidFill>
                <a:latin typeface="맑은 고딕"/>
                <a:ea typeface="맑은 고딕"/>
              </a:rPr>
              <a:t>에서 보는가다.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이벤트는 도메인 전문가가 관심을 두는 </a:t>
            </a:r>
            <a:r>
              <a:rPr sz="1800" b="1">
                <a:solidFill>
                  <a:srgbClr val="000000"/>
                </a:solidFill>
                <a:latin typeface="맑은 고딕"/>
                <a:ea typeface="맑은 고딕"/>
              </a:rPr>
              <a:t>무언가가 일어난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기법별로 보는 이벤트</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2112010"/>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접근별 반복의 단위</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736850"/>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AI 용어와 요구공학</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다섯 가지 활동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수집:</a:t>
            </a:r>
            <a:r>
              <a:rPr sz="1800" b="0">
                <a:solidFill>
                  <a:srgbClr val="000000"/>
                </a:solidFill>
                <a:latin typeface="맑은 고딕"/>
                <a:ea typeface="맑은 고딕"/>
              </a:rPr>
              <a:t> 이해관계자의 문제·목표·필요를 찾아낸다.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분석:</a:t>
            </a:r>
            <a:r>
              <a:rPr sz="1800" b="0">
                <a:solidFill>
                  <a:srgbClr val="000000"/>
                </a:solidFill>
                <a:latin typeface="맑은 고딕"/>
                <a:ea typeface="맑은 고딕"/>
              </a:rPr>
              <a:t> 요구를 정제하고 관계·충돌·우선순위를 분석한다.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명세:</a:t>
            </a:r>
            <a:r>
              <a:rPr sz="1800" b="0">
                <a:solidFill>
                  <a:srgbClr val="000000"/>
                </a:solidFill>
                <a:latin typeface="맑은 고딕"/>
                <a:ea typeface="맑은 고딕"/>
              </a:rPr>
              <a:t> 합의하고 검토할 수 있는 형태로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검증:</a:t>
            </a:r>
            <a:r>
              <a:rPr sz="1800" b="0">
                <a:solidFill>
                  <a:srgbClr val="000000"/>
                </a:solidFill>
                <a:latin typeface="맑은 고딕"/>
                <a:ea typeface="맑은 고딕"/>
              </a:rPr>
              <a:t> 잘 작성되었는지, 실제 필요한 것인지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 관리:</a:t>
            </a:r>
            <a:r>
              <a:rPr sz="18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112010"/>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발견 방법</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087120"/>
                <a:gridCol w="889000"/>
                <a:gridCol w="889000"/>
                <a:gridCol w="2092960"/>
                <a:gridCol w="3347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누가 요구를 아는가</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386330"/>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업무·기술 불확실성에 따른 접근</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12010"/>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영역별 요구 기법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801658"/>
                <a:gridCol w="3215506"/>
                <a:gridCol w="328863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기능(Functional)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 능력, 보안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 다른 고객의 주문은 볼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사용성(Usability)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인적 요소, 도움말, 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신뢰성(Reliability)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장애 빈도, 복구 가능성, 예측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장애에도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성능(Performance)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응답 시간, 처리량, 정확도, 가용성, 자원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조회의 응답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지원성(Supportability)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적응성, 유지보수성, 국제화, 설정 가능성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정책을 바꿔도 영향이 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구현·인터페이스·운영·패키징·법률 같은 부가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대행(PG)과의 인터페이스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a:t>
            </a:r>
            <a:r>
              <a:rPr sz="1800" b="1">
                <a:solidFill>
                  <a:srgbClr val="000000"/>
                </a:solidFill>
                <a:latin typeface="맑은 고딕"/>
                <a:ea typeface="맑은 고딕"/>
              </a:rPr>
              <a:t>FURPS+</a:t>
            </a:r>
            <a:r>
              <a:rPr sz="1800" b="0">
                <a:solidFill>
                  <a:srgbClr val="000000"/>
                </a:solidFill>
                <a:latin typeface="맑은 고딕"/>
                <a:ea typeface="맑은 고딕"/>
              </a:rPr>
              <a:t>로 나눠 빠뜨린 종류가 없는지 확인한다. 기능만이 요구가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FURPS+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요구는 </a:t>
            </a:r>
            <a:r>
              <a:rPr sz="1800" b="1">
                <a:solidFill>
                  <a:srgbClr val="000000"/>
                </a:solidFill>
                <a:latin typeface="맑은 고딕"/>
                <a:ea typeface="맑은 고딕"/>
              </a:rPr>
              <a:t>유스케이스</a:t>
            </a:r>
            <a:r>
              <a:rPr sz="1800" b="0">
                <a:solidFill>
                  <a:srgbClr val="000000"/>
                </a:solidFill>
                <a:latin typeface="맑은 고딕"/>
                <a:ea typeface="맑은 고딕"/>
              </a:rPr>
              <a:t>에 쓴다. 나머지는 주로 </a:t>
            </a:r>
            <a:r>
              <a:rPr sz="1800" b="1">
                <a:solidFill>
                  <a:srgbClr val="000000"/>
                </a:solidFill>
                <a:latin typeface="맑은 고딕"/>
                <a:ea typeface="맑은 고딕"/>
              </a:rPr>
              <a:t>보조 명세서</a:t>
            </a:r>
            <a:r>
              <a:rPr sz="1400" b="0">
                <a:solidFill>
                  <a:srgbClr val="000000"/>
                </a:solidFill>
                <a:latin typeface="맑은 고딕"/>
                <a:ea typeface="맑은 고딕"/>
              </a:rPr>
              <a:t>(Supplementary Specification)</a:t>
            </a:r>
            <a:r>
              <a:rPr sz="1800" b="0">
                <a:solidFill>
                  <a:srgbClr val="000000"/>
                </a:solidFill>
                <a:latin typeface="맑은 고딕"/>
                <a:ea typeface="맑은 고딕"/>
              </a:rPr>
              <a:t> —</a:t>
            </a:r>
            <a:r>
              <a:rPr sz="1600" b="0">
                <a:solidFill>
                  <a:srgbClr val="000000"/>
                </a:solidFill>
                <a:latin typeface="맑은 고딕"/>
                <a:ea typeface="맑은 고딕"/>
              </a:rPr>
              <a:t> 유스케이스에 없는 모든 요구 — 에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용어는 </a:t>
            </a:r>
            <a:r>
              <a:rPr sz="1800" b="1">
                <a:solidFill>
                  <a:srgbClr val="000000"/>
                </a:solidFill>
                <a:latin typeface="맑은 고딕"/>
                <a:ea typeface="맑은 고딕"/>
              </a:rPr>
              <a:t>용어집</a:t>
            </a:r>
            <a:r>
              <a:rPr sz="1800" b="0">
                <a:solidFill>
                  <a:srgbClr val="000000"/>
                </a:solidFill>
                <a:latin typeface="맑은 고딕"/>
                <a:ea typeface="맑은 고딕"/>
              </a:rPr>
              <a:t>에, 여러 유스케이스에 공통인 규칙은 </a:t>
            </a:r>
            <a:r>
              <a:rPr sz="1800" b="1">
                <a:solidFill>
                  <a:srgbClr val="000000"/>
                </a:solidFill>
                <a:latin typeface="맑은 고딕"/>
                <a:ea typeface="맑은 고딕"/>
              </a:rPr>
              <a:t>업무 규칙</a:t>
            </a:r>
            <a:r>
              <a:rPr sz="1400" b="0">
                <a:solidFill>
                  <a:srgbClr val="000000"/>
                </a:solidFill>
                <a:latin typeface="맑은 고딕"/>
                <a:ea typeface="맑은 고딕"/>
              </a:rPr>
              <a:t>(Business Rules)</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49135" y="1837690"/>
          <a:ext cx="8232140" cy="3873500"/>
        </p:xfrm>
        <a:graphic>
          <a:graphicData uri="http://schemas.openxmlformats.org/drawingml/2006/table">
            <a:tbl>
              <a:tblPr/>
              <a:tblGrid>
                <a:gridCol w="889000"/>
                <a:gridCol w="1590040"/>
                <a:gridCol w="5753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집합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해결책에 필요한 요구를 모두 포함하는가?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일관됨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사이에 충돌이 없고 용어가 일관되는가?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전체를 함께 고려해도 제약 안에서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이해관계자가 이해할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타당성 확인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이해관계자 의도와 맞는지 확인할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요구사항은 </a:t>
            </a:r>
            <a:r>
              <a:rPr sz="1800" b="1">
                <a:solidFill>
                  <a:srgbClr val="000000"/>
                </a:solidFill>
                <a:latin typeface="맑은 고딕"/>
                <a:ea typeface="맑은 고딕"/>
              </a:rPr>
              <a:t>개별 문장</a:t>
            </a:r>
            <a:r>
              <a:rPr sz="1800" b="0">
                <a:solidFill>
                  <a:srgbClr val="000000"/>
                </a:solidFill>
                <a:latin typeface="맑은 고딕"/>
                <a:ea typeface="맑은 고딕"/>
              </a:rPr>
              <a:t>과 </a:t>
            </a:r>
            <a:r>
              <a:rPr sz="1800" b="1">
                <a:solidFill>
                  <a:srgbClr val="000000"/>
                </a:solidFill>
                <a:latin typeface="맑은 고딕"/>
                <a:ea typeface="맑은 고딕"/>
              </a:rPr>
              <a:t>요구사항 집합</a:t>
            </a:r>
            <a:r>
              <a:rPr sz="1800" b="0">
                <a:solidFill>
                  <a:srgbClr val="000000"/>
                </a:solidFill>
                <a:latin typeface="맑은 고딕"/>
                <a:ea typeface="맑은 고딕"/>
              </a:rPr>
              <a:t>을 따로 검토한다.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ISO/IEC/IEEE 29148:2018의 요구사항 특성</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2112010"/>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시스템 용어집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37690"/>
          <a:ext cx="6195060" cy="3873500"/>
        </p:xfrm>
        <a:graphic>
          <a:graphicData uri="http://schemas.openxmlformats.org/drawingml/2006/table">
            <a:tbl>
              <a:tblPr/>
              <a:tblGrid>
                <a:gridCol w="1282700"/>
                <a:gridCol w="20370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장치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고정하는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용어집과의 관계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사전(DD)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자료의 구성과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업무 용어의 뜻을 고정한다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XP 메타포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전체의 비유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쓸모 있으면 공통 언어에 흡수한다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언어(UL)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대화·문서·코드의 같은 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용어집은 그것을 글로 고정한 형태다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영문명을 코드 이름으로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같은 목적의 장치</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 뜻, 한 이름을 지키는 장치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 → 도메인 → 값 객체</a:t>
            </a:r>
            <a:r>
              <a:rPr sz="1800" b="0">
                <a:solidFill>
                  <a:srgbClr val="000000"/>
                </a:solidFill>
                <a:latin typeface="맑은 고딕"/>
                <a:ea typeface="맑은 고딕"/>
              </a:rPr>
              <a:t> —</a:t>
            </a:r>
            <a:r>
              <a:rPr sz="1600" b="0">
                <a:solidFill>
                  <a:srgbClr val="000000"/>
                </a:solidFill>
                <a:latin typeface="맑은 고딕"/>
                <a:ea typeface="맑은 고딕"/>
              </a:rPr>
              <a:t> 용어의 규칙</a:t>
            </a:r>
            <a:r>
              <a:rPr sz="1200" b="0">
                <a:solidFill>
                  <a:srgbClr val="000000"/>
                </a:solidFill>
                <a:latin typeface="맑은 고딕"/>
                <a:ea typeface="맑은 고딕"/>
              </a:rPr>
              <a:t>(수량은 1 이상)</a:t>
            </a:r>
            <a:r>
              <a:rPr sz="1600" b="0">
                <a:solidFill>
                  <a:srgbClr val="000000"/>
                </a:solidFill>
                <a:latin typeface="맑은 고딕"/>
                <a:ea typeface="맑은 고딕"/>
              </a:rPr>
              <a:t>은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코드의 </a:t>
            </a:r>
            <a:r>
              <a:rPr sz="1600" b="1">
                <a:solidFill>
                  <a:srgbClr val="000000"/>
                </a:solidFill>
                <a:latin typeface="맑은 고딕"/>
                <a:ea typeface="맑은 고딕"/>
              </a:rPr>
              <a:t>값 객체</a:t>
            </a:r>
            <a:r>
              <a:rPr sz="1600" b="0">
                <a:solidFill>
                  <a:srgbClr val="000000"/>
                </a:solidFill>
                <a:latin typeface="맑은 고딕"/>
                <a:ea typeface="맑은 고딕"/>
              </a:rPr>
              <a:t> </a:t>
            </a:r>
            <a:r>
              <a:rPr sz="1600" b="0">
                <a:solidFill>
                  <a:srgbClr val="000000"/>
                </a:solidFill>
                <a:latin typeface="맑은 고딕"/>
                <a:ea typeface="맑은 고딕"/>
              </a:rPr>
              <a:t>Quantity</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액터가 목표를 이루려고 시스템을 쓰는 서로 관련된 </a:t>
            </a:r>
            <a:r>
              <a:rPr sz="1800" b="1">
                <a:solidFill>
                  <a:srgbClr val="000000"/>
                </a:solidFill>
                <a:latin typeface="맑은 고딕"/>
                <a:ea typeface="맑은 고딕"/>
              </a:rPr>
              <a:t>성공·실패 시나리오의 묶음</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 use case is a collection of related success and failure scenarios that describe an actor using a system to support a goal."</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유스케이스는 다이어그램이 아니라 </a:t>
            </a:r>
            <a:r>
              <a:rPr sz="1600" b="1">
                <a:solidFill>
                  <a:srgbClr val="000000"/>
                </a:solidFill>
                <a:latin typeface="맑은 고딕"/>
                <a:ea typeface="맑은 고딕"/>
              </a:rPr>
              <a:t>글</a:t>
            </a:r>
            <a:r>
              <a:rPr sz="1600" b="0">
                <a:solidFill>
                  <a:srgbClr val="000000"/>
                </a:solidFill>
                <a:latin typeface="맑은 고딕"/>
                <a:ea typeface="맑은 고딕"/>
              </a:rPr>
              <a:t>이며 유스케이스 모델링은 주로 </a:t>
            </a:r>
            <a:r>
              <a:rPr sz="1600" b="1">
                <a:solidFill>
                  <a:srgbClr val="000000"/>
                </a:solidFill>
                <a:latin typeface="맑은 고딕"/>
                <a:ea typeface="맑은 고딕"/>
              </a:rPr>
              <a:t>글을 쓰는 일</a:t>
            </a:r>
            <a:r>
              <a:rPr sz="16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"Use cases are text documents, not diagrams, and use-case modeling is primarily an act of writing text, not drawing diagrams."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이루는 </a:t>
            </a:r>
            <a:r>
              <a:rPr sz="1800" b="1">
                <a:solidFill>
                  <a:srgbClr val="000000"/>
                </a:solidFill>
                <a:latin typeface="맑은 고딕"/>
                <a:ea typeface="맑은 고딕"/>
              </a:rPr>
              <a:t>시스템 사용의 이야기</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 UML은 유스케이스가 액터에게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만든다고 정의한다[OMG 2017].</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59748"/>
            <a:ext cx="8412480" cy="201168"/>
          </a:xfrm>
          <a:prstGeom prst="rect">
            <a:avLst/>
          </a:prstGeom>
          <a:noFill/>
        </p:spPr>
        <p:txBody>
          <a:bodyPr wrap="square">
            <a:spAutoFit/>
          </a:bodyPr>
          <a:lstStyle/>
          <a:p>
            <a:pPr algn="ctr"/>
            <a:r>
              <a:rPr sz="1400" b="1">
                <a:solidFill>
                  <a:srgbClr val="000000"/>
                </a:solidFill>
                <a:latin typeface="맑은 고딕"/>
                <a:ea typeface="맑은 고딕"/>
              </a:rPr>
              <a:t>유스케이스 표기</a:t>
            </a:r>
          </a:p>
        </p:txBody>
      </p:sp>
      <p:pic>
        <p:nvPicPr>
          <p:cNvPr id="10" name="svg Diagram 1" descr="유스케이스 표기: 타원 안의 주문을 관리한다"/>
          <p:cNvPicPr>
            <a:picLocks noChangeAspect="1"/>
          </p:cNvPicPr>
          <p:nvPr/>
        </p:nvPicPr>
        <p:blipFill>
          <a:blip r:embed="svgImage1"/>
          <a:stretch>
            <a:fillRect/>
          </a:stretch>
        </p:blipFill>
        <p:spPr>
          <a:xfrm>
            <a:off x="3619500" y="4597492"/>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목록이 아니라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로 시스템이 제공할 책임을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표현별 단위와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대안 흐름과 시스템 오퍼레이션으로 상세화한다.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경계 → 주 액터 → 목표 → 유스케이스</a:t>
            </a:r>
            <a:r>
              <a:rPr sz="1800" b="0">
                <a:solidFill>
                  <a:srgbClr val="000000"/>
                </a:solidFill>
                <a:latin typeface="맑은 고딕"/>
                <a:ea typeface="맑은 고딕"/>
              </a:rPr>
              <a:t> 순서로 찾고</a:t>
            </a:r>
            <a:r>
              <a:rPr sz="1400" b="0">
                <a:solidFill>
                  <a:srgbClr val="000000"/>
                </a:solidFill>
                <a:latin typeface="맑은 고딕"/>
                <a:ea typeface="맑은 고딕"/>
              </a:rPr>
              <a:t>(Larman, 2004)</a:t>
            </a:r>
            <a:r>
              <a:rPr sz="1800" b="0">
                <a:solidFill>
                  <a:srgbClr val="000000"/>
                </a:solidFill>
                <a:latin typeface="맑은 고딕"/>
                <a:ea typeface="맑은 고딕"/>
              </a:rPr>
              <a:t>, 찾은 유스케이스를 필요한 깊이까지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1단계</a:t>
            </a:r>
            <a:r>
              <a:rPr sz="1800" b="0">
                <a:solidFill>
                  <a:srgbClr val="000000"/>
                </a:solidFill>
                <a:latin typeface="맑은 고딕"/>
                <a:ea typeface="맑은 고딕"/>
              </a:rPr>
              <a:t> —</a:t>
            </a:r>
            <a:r>
              <a:rPr sz="1600" b="0">
                <a:solidFill>
                  <a:srgbClr val="000000"/>
                </a:solidFill>
                <a:latin typeface="맑은 고딕"/>
                <a:ea typeface="맑은 고딕"/>
              </a:rPr>
              <a:t> 경계는 「22. 대상 시스템과 경계」, </a:t>
            </a:r>
            <a:r>
              <a:rPr sz="1600" b="1">
                <a:solidFill>
                  <a:srgbClr val="000000"/>
                </a:solidFill>
                <a:latin typeface="맑은 고딕"/>
                <a:ea typeface="맑은 고딕"/>
              </a:rPr>
              <a:t>2·3단계</a:t>
            </a:r>
            <a:r>
              <a:rPr sz="1600" b="0">
                <a:solidFill>
                  <a:srgbClr val="000000"/>
                </a:solidFill>
                <a:latin typeface="맑은 고딕"/>
                <a:ea typeface="맑은 고딕"/>
              </a:rPr>
              <a:t> — 액터와 목표는 「24. 목표와 액터」에서 정한다. 둘은 함께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4단계</a:t>
            </a:r>
            <a:r>
              <a:rPr sz="1800" b="0">
                <a:solidFill>
                  <a:srgbClr val="000000"/>
                </a:solidFill>
                <a:latin typeface="맑은 고딕"/>
                <a:ea typeface="맑은 고딕"/>
              </a:rPr>
              <a:t> —</a:t>
            </a:r>
            <a:r>
              <a:rPr sz="1600" b="0">
                <a:solidFill>
                  <a:srgbClr val="000000"/>
                </a:solidFill>
                <a:latin typeface="맑은 고딕"/>
                <a:ea typeface="맑은 고딕"/>
              </a:rPr>
              <a:t> 유스케이스 이름은 </a:t>
            </a:r>
            <a:r>
              <a:rPr sz="1600" b="1">
                <a:solidFill>
                  <a:srgbClr val="000000"/>
                </a:solidFill>
                <a:latin typeface="맑은 고딕"/>
                <a:ea typeface="맑은 고딕"/>
              </a:rPr>
              <a:t>목표</a:t>
            </a:r>
            <a:r>
              <a:rPr sz="1600" b="0">
                <a:solidFill>
                  <a:srgbClr val="000000"/>
                </a:solidFill>
                <a:latin typeface="맑은 고딕"/>
                <a:ea typeface="맑은 고딕"/>
              </a:rPr>
              <a:t>로 짓는다: </a:t>
            </a:r>
            <a:r>
              <a:rPr sz="1600" b="0">
                <a:solidFill>
                  <a:srgbClr val="000000"/>
                </a:solidFill>
                <a:latin typeface="맑은 고딕"/>
                <a:ea typeface="맑은 고딕"/>
              </a:rPr>
              <a:t>주문을 관리한다</a:t>
            </a:r>
            <a:r>
              <a:rPr sz="1200" b="0">
                <a:solidFill>
                  <a:srgbClr val="000000"/>
                </a:solidFill>
                <a:latin typeface="맑은 고딕"/>
                <a:ea typeface="맑은 고딕"/>
              </a:rPr>
              <a:t>(「25. 유스케이스 후보 식별」)</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찾은 유스케이스는 모두 </a:t>
            </a:r>
            <a:r>
              <a:rPr sz="1800" b="1">
                <a:solidFill>
                  <a:srgbClr val="000000"/>
                </a:solidFill>
                <a:latin typeface="맑은 고딕"/>
                <a:ea typeface="맑은 고딕"/>
              </a:rPr>
              <a:t>같은 깊이</a:t>
            </a:r>
            <a:r>
              <a:rPr sz="1800" b="0">
                <a:solidFill>
                  <a:srgbClr val="000000"/>
                </a:solidFill>
                <a:latin typeface="맑은 고딕"/>
                <a:ea typeface="맑은 고딕"/>
              </a:rPr>
              <a:t>로 쓰지 않는다</a:t>
            </a:r>
            <a:r>
              <a:rPr sz="1400" b="0">
                <a:solidFill>
                  <a:srgbClr val="000000"/>
                </a:solidFill>
                <a:latin typeface="맑은 고딕"/>
                <a:ea typeface="맑은 고딕"/>
              </a:rPr>
              <a:t>(「28. 유스케이스 명세 형식」)</a:t>
            </a:r>
            <a:r>
              <a:rPr sz="1800" b="0">
                <a:solidFill>
                  <a:srgbClr val="000000"/>
                </a:solidFill>
                <a:latin typeface="맑은 고딕"/>
                <a:ea typeface="맑은 고딕"/>
              </a:rPr>
              <a:t>. 정식으로 쓴 명세서가 SSD와 계약의 입력이 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대상 시스템과 경계</a:t>
            </a:r>
          </a:p>
          <a:p>
            <a:r>
              <a:rPr sz="1100" b="1">
                <a:solidFill>
                  <a:srgbClr val="000000"/>
                </a:solidFill>
                <a:latin typeface="맑은 고딕"/>
                <a:ea typeface="맑은 고딕"/>
              </a:rPr>
              <a:t>유스케이스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44839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작업은 </a:t>
            </a:r>
            <a:r>
              <a:rPr sz="1800" b="1">
                <a:solidFill>
                  <a:srgbClr val="000000"/>
                </a:solidFill>
                <a:latin typeface="맑은 고딕"/>
                <a:ea typeface="맑은 고딕"/>
              </a:rPr>
              <a:t>시스템 경계를 고르는 것</a:t>
            </a:r>
            <a:r>
              <a:rPr sz="1800" b="0">
                <a:solidFill>
                  <a:srgbClr val="000000"/>
                </a:solidFill>
                <a:latin typeface="맑은 고딕"/>
                <a:ea typeface="맑은 고딕"/>
              </a:rPr>
              <a:t>에서 시작한다. 경계 안은 대상 시스템의 책임이고, 밖은 액터다.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다이어그램은 시스템의 </a:t>
            </a:r>
            <a:r>
              <a:rPr sz="1800" b="1">
                <a:solidFill>
                  <a:srgbClr val="000000"/>
                </a:solidFill>
                <a:latin typeface="맑은 고딕"/>
                <a:ea typeface="맑은 고딕"/>
              </a:rPr>
              <a:t>경계와 바깥에 있는 것</a:t>
            </a:r>
            <a:r>
              <a:rPr sz="1800" b="0">
                <a:solidFill>
                  <a:srgbClr val="000000"/>
                </a:solidFill>
                <a:latin typeface="맑은 고딕"/>
                <a:ea typeface="맑은 고딕"/>
              </a:rPr>
              <a:t>과 </a:t>
            </a:r>
            <a:r>
              <a:rPr sz="1800" b="1">
                <a:solidFill>
                  <a:srgbClr val="000000"/>
                </a:solidFill>
                <a:latin typeface="맑은 고딕"/>
                <a:ea typeface="맑은 고딕"/>
              </a:rPr>
              <a:t>시스템이 쓰이는 방식</a:t>
            </a:r>
            <a:r>
              <a:rPr sz="1800" b="0">
                <a:solidFill>
                  <a:srgbClr val="000000"/>
                </a:solidFill>
                <a:latin typeface="맑은 고딕"/>
                <a:ea typeface="맑은 고딕"/>
              </a:rPr>
              <a:t>을 보여 주는 좋은 컨텍스트 다이어그램이다</a:t>
            </a:r>
            <a:r>
              <a:rPr sz="1000" b="0">
                <a:solidFill>
                  <a:srgbClr val="000000"/>
                </a:solidFill>
                <a:latin typeface="맑은 고딕"/>
                <a:ea typeface="맑은 고딕"/>
              </a:rPr>
              <a:t>, </a:t>
            </a:r>
            <a:r>
              <a:rPr sz="1000" b="0">
                <a:solidFill>
                  <a:srgbClr val="000000"/>
                </a:solidFill>
                <a:latin typeface="맑은 고딕"/>
                <a:ea typeface="맑은 고딕"/>
              </a:rPr>
              <a:t>"A use case diagram is an excellent picture of the system context; it makes a good context diagram, that is, showing the boundary of a system, what lies outside of it, and how it gets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안</a:t>
            </a:r>
            <a:r>
              <a:rPr sz="1800" b="0">
                <a:solidFill>
                  <a:srgbClr val="000000"/>
                </a:solidFill>
                <a:latin typeface="맑은 고딕"/>
                <a:ea typeface="맑은 고딕"/>
              </a:rPr>
              <a:t> —</a:t>
            </a:r>
            <a:r>
              <a:rPr sz="1600" b="0">
                <a:solidFill>
                  <a:srgbClr val="000000"/>
                </a:solidFill>
                <a:latin typeface="맑은 고딕"/>
                <a:ea typeface="맑은 고딕"/>
              </a:rPr>
              <a:t> 주문 시스템은 장바구니, 주문의 성립과 상태, 배송지 변경, 취소, 그리고 외부 시스템과의 </a:t>
            </a:r>
            <a:r>
              <a:rPr sz="1600" b="1">
                <a:solidFill>
                  <a:srgbClr val="000000"/>
                </a:solidFill>
                <a:latin typeface="맑은 고딕"/>
                <a:ea typeface="맑은 고딕"/>
              </a:rPr>
              <a:t>조정</a:t>
            </a:r>
            <a:r>
              <a:rPr sz="1600" b="0">
                <a:solidFill>
                  <a:srgbClr val="000000"/>
                </a:solidFill>
                <a:latin typeface="맑은 고딕"/>
                <a:ea typeface="맑은 고딕"/>
              </a:rPr>
              <a:t>을 책임진다.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 밖</a:t>
            </a:r>
            <a:r>
              <a:rPr sz="1800" b="0">
                <a:solidFill>
                  <a:srgbClr val="000000"/>
                </a:solidFill>
                <a:latin typeface="맑은 고딕"/>
                <a:ea typeface="맑은 고딕"/>
              </a:rPr>
              <a:t> —</a:t>
            </a:r>
            <a:r>
              <a:rPr sz="1600" b="0">
                <a:solidFill>
                  <a:srgbClr val="000000"/>
                </a:solidFill>
                <a:latin typeface="맑은 고딕"/>
                <a:ea typeface="맑은 고딕"/>
              </a:rPr>
              <a:t> 목표를 이루려고 시스템을 쓰는 </a:t>
            </a:r>
            <a:r>
              <a:rPr sz="1600" b="1">
                <a:solidFill>
                  <a:srgbClr val="000000"/>
                </a:solidFill>
                <a:latin typeface="맑은 고딕"/>
                <a:ea typeface="맑은 고딕"/>
              </a:rPr>
              <a:t>주 액터</a:t>
            </a:r>
            <a:r>
              <a:rPr sz="1200" b="0">
                <a:solidFill>
                  <a:srgbClr val="000000"/>
                </a:solidFill>
                <a:latin typeface="맑은 고딕"/>
                <a:ea typeface="맑은 고딕"/>
              </a:rPr>
              <a:t>(고객)</a:t>
            </a:r>
            <a:r>
              <a:rPr sz="1600" b="0">
                <a:solidFill>
                  <a:srgbClr val="000000"/>
                </a:solidFill>
                <a:latin typeface="맑은 고딕"/>
                <a:ea typeface="맑은 고딕"/>
              </a:rPr>
              <a:t>와, 시스템에 서비스를 제공하는 </a:t>
            </a:r>
            <a:r>
              <a:rPr sz="1600" b="1">
                <a:solidFill>
                  <a:srgbClr val="000000"/>
                </a:solidFill>
                <a:latin typeface="맑은 고딕"/>
                <a:ea typeface="맑은 고딕"/>
              </a:rPr>
              <a:t>지원 액터</a:t>
            </a:r>
            <a:r>
              <a:rPr sz="1200" b="0">
                <a:solidFill>
                  <a:srgbClr val="000000"/>
                </a:solidFill>
                <a:latin typeface="맑은 고딕"/>
                <a:ea typeface="맑은 고딕"/>
              </a:rPr>
              <a:t>(상품·회계·결제·배송 시스템)</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경계를 고르는 질문</a:t>
            </a:r>
            <a:r>
              <a:rPr sz="1800" b="0">
                <a:solidFill>
                  <a:srgbClr val="000000"/>
                </a:solidFill>
                <a:latin typeface="맑은 고딕"/>
                <a:ea typeface="맑은 고딕"/>
              </a:rPr>
              <a:t> —</a:t>
            </a:r>
            <a:r>
              <a:rPr sz="1600" b="0">
                <a:solidFill>
                  <a:srgbClr val="000000"/>
                </a:solidFill>
                <a:latin typeface="맑은 고딕"/>
                <a:ea typeface="맑은 고딕"/>
              </a:rPr>
              <a:t> 소프트웨어만인가, 하드웨어와 함께인가, 쓰는 사람까지인가, 조직 전체인가?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1026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시스템의 경계</a:t>
            </a:r>
          </a:p>
        </p:txBody>
      </p:sp>
      <p:pic>
        <p:nvPicPr>
          <p:cNvPr id="10" name="svg Diagram 2" descr="주문 시스템의 경계: 왼쪽에 주 액터 고객, 오른쪽에 지원 액터 상품·회계·결제·배송 시스템, 경계 안은 아직 비어 있음"/>
          <p:cNvPicPr>
            <a:picLocks noChangeAspect="1"/>
          </p:cNvPicPr>
          <p:nvPr/>
        </p:nvPicPr>
        <p:blipFill>
          <a:blip r:embed="svgImage2"/>
          <a:stretch>
            <a:fillRect/>
          </a:stretch>
        </p:blipFill>
        <p:spPr>
          <a:xfrm>
            <a:off x="2334078" y="4948012"/>
            <a:ext cx="4475843" cy="14284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소유에 따른 경계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두 방향의 잘못</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판단 질문 —</a:t>
            </a:r>
            <a:r>
              <a:rPr sz="1600" b="0">
                <a:solidFill>
                  <a:srgbClr val="000000"/>
                </a:solidFill>
                <a:latin typeface="맑은 고딕"/>
                <a:ea typeface="맑은 고딕"/>
              </a:rPr>
              <a:t> </a:t>
            </a:r>
            <a:r>
              <a:rPr sz="1600" b="1">
                <a:solidFill>
                  <a:srgbClr val="000000"/>
                </a:solidFill>
                <a:latin typeface="맑은 고딕"/>
                <a:ea typeface="맑은 고딕"/>
              </a:rPr>
              <a:t>이 책임의 데이터와 규칙을 누가 소유하는가?</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442225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경계를 잘못 둔 예</a:t>
            </a:r>
          </a:p>
        </p:txBody>
      </p:sp>
      <p:graphicFrame>
        <p:nvGraphicFramePr>
          <p:cNvPr id="17"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20700"/>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4611370"/>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39838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a:t>
            </a:r>
            <a:r>
              <a:rPr sz="1800" b="0">
                <a:solidFill>
                  <a:srgbClr val="000000"/>
                </a:solidFill>
                <a:latin typeface="맑은 고딕"/>
                <a:ea typeface="맑은 고딕"/>
              </a:rPr>
              <a:t>는 행위를 하는 외부의 무엇이다 —</a:t>
            </a:r>
            <a:r>
              <a:rPr sz="1600" b="0">
                <a:solidFill>
                  <a:srgbClr val="000000"/>
                </a:solidFill>
                <a:latin typeface="맑은 고딕"/>
                <a:ea typeface="맑은 고딕"/>
              </a:rPr>
              <a:t> 사람</a:t>
            </a:r>
            <a:r>
              <a:rPr sz="1200" b="0">
                <a:solidFill>
                  <a:srgbClr val="000000"/>
                </a:solidFill>
                <a:latin typeface="맑은 고딕"/>
                <a:ea typeface="맑은 고딕"/>
              </a:rPr>
              <a:t>(역할)</a:t>
            </a:r>
            <a:r>
              <a:rPr sz="1600" b="0">
                <a:solidFill>
                  <a:srgbClr val="000000"/>
                </a:solidFill>
                <a:latin typeface="맑은 고딕"/>
                <a:ea typeface="맑은 고딕"/>
              </a:rPr>
              <a:t>, 컴퓨터 시스템, 조직[Larman 2004].</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 액터</a:t>
            </a:r>
            <a:r>
              <a:rPr sz="1600" b="0">
                <a:solidFill>
                  <a:srgbClr val="000000"/>
                </a:solidFill>
                <a:latin typeface="맑은 고딕"/>
                <a:ea typeface="맑은 고딕"/>
              </a:rPr>
              <a:t>는 목표를 이루려고 시스템을 쓰고, </a:t>
            </a:r>
            <a:r>
              <a:rPr sz="1600" b="1">
                <a:solidFill>
                  <a:srgbClr val="000000"/>
                </a:solidFill>
                <a:latin typeface="맑은 고딕"/>
                <a:ea typeface="맑은 고딕"/>
              </a:rPr>
              <a:t>지원 액터</a:t>
            </a:r>
            <a:r>
              <a:rPr sz="1600" b="0">
                <a:solidFill>
                  <a:srgbClr val="000000"/>
                </a:solidFill>
                <a:latin typeface="맑은 고딕"/>
                <a:ea typeface="맑은 고딕"/>
              </a:rPr>
              <a:t>는 시스템에 서비스를 제공한다.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무대 밖 액터</a:t>
            </a:r>
            <a:r>
              <a:rPr sz="1200" b="0">
                <a:solidFill>
                  <a:srgbClr val="000000"/>
                </a:solidFill>
                <a:latin typeface="맑은 고딕"/>
                <a:ea typeface="맑은 고딕"/>
              </a:rPr>
              <a:t>(offstage)</a:t>
            </a:r>
            <a:r>
              <a:rPr sz="1600" b="0">
                <a:solidFill>
                  <a:srgbClr val="000000"/>
                </a:solidFill>
                <a:latin typeface="맑은 고딕"/>
                <a:ea typeface="맑은 고딕"/>
              </a:rPr>
              <a:t>는 유스케이스의 결과에 관심이 있지만 주 액터도 지원 액터도 아니다 —</a:t>
            </a:r>
            <a:r>
              <a:rPr sz="1400" b="0">
                <a:solidFill>
                  <a:srgbClr val="000000"/>
                </a:solidFill>
                <a:latin typeface="맑은 고딕"/>
                <a:ea typeface="맑은 고딕"/>
              </a:rPr>
              <a:t> 예: 매출 기록을 보는 쇼핑몰 운영사.</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129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액터–목표 목록</a:t>
            </a:r>
          </a:p>
        </p:txBody>
      </p:sp>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유스케이스 후보 식별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112010"/>
          <a:ext cx="6697980" cy="3873500"/>
        </p:xfrm>
        <a:graphic>
          <a:graphicData uri="http://schemas.openxmlformats.org/drawingml/2006/table">
            <a:tbl>
              <a:tblPr/>
              <a:tblGrid>
                <a:gridCol w="1869440"/>
                <a:gridCol w="217678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상사 시험(Boss Test)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일로 상사가 만족하는가?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관리했다 ○ · 로그인했다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EBP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업무 프로세스인가?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크기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단계로 이루어지는가?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주소를 검색한다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a:t>
            </a:r>
            <a:r>
              <a:rPr sz="1800" b="0">
                <a:solidFill>
                  <a:srgbClr val="000000"/>
                </a:solidFill>
                <a:latin typeface="맑은 고딕"/>
                <a:ea typeface="맑은 고딕"/>
              </a:rPr>
              <a:t>로 찾고, 세 가지 시험으로 크기를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후보를 거르는 시험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상사 시험</a:t>
            </a:r>
            <a:r>
              <a:rPr sz="1800" b="0">
                <a:solidFill>
                  <a:srgbClr val="000000"/>
                </a:solidFill>
                <a:latin typeface="맑은 고딕"/>
                <a:ea typeface="맑은 고딕"/>
              </a:rPr>
              <a:t>은 "하루 종일 무엇을 했나?"에 그 이름으로 답해 보는 것이다. EBP는 「26. 유스케이스 수준」에서 정의한다.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시스템의 유스케이스</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배송·결제는 이 유스케이스 안에서 외부 시스템</a:t>
            </a:r>
            <a:r>
              <a:rPr sz="1200" b="0">
                <a:solidFill>
                  <a:srgbClr val="000000"/>
                </a:solidFill>
                <a:latin typeface="맑은 고딕"/>
                <a:ea typeface="맑은 고딕"/>
              </a:rPr>
              <a:t>(지원 액터)</a:t>
            </a:r>
            <a:r>
              <a:rPr sz="1600" b="0">
                <a:solidFill>
                  <a:srgbClr val="000000"/>
                </a:solidFill>
                <a:latin typeface="맑은 고딕"/>
                <a:ea typeface="맑은 고딕"/>
              </a:rPr>
              <a:t>에 </a:t>
            </a:r>
            <a:r>
              <a:rPr sz="1600" b="1">
                <a:solidFill>
                  <a:srgbClr val="000000"/>
                </a:solidFill>
                <a:latin typeface="맑은 고딕"/>
                <a:ea typeface="맑은 고딕"/>
              </a:rPr>
              <a:t>요청</a:t>
            </a:r>
            <a:r>
              <a:rPr sz="16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87566" y="3173268"/>
          <a:ext cx="7955280" cy="3873500"/>
        </p:xfrm>
        <a:graphic>
          <a:graphicData uri="http://schemas.openxmlformats.org/drawingml/2006/table">
            <a:tbl>
              <a:tblPr/>
              <a:tblGrid>
                <a:gridCol w="1087120"/>
                <a:gridCol w="39090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EBP — 한 사람이 한 번에 마치고 업무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 —</a:t>
            </a:r>
            <a:r>
              <a:rPr sz="1600" b="0">
                <a:solidFill>
                  <a:srgbClr val="000000"/>
                </a:solidFill>
                <a:latin typeface="맑은 고딕"/>
                <a:ea typeface="맑은 고딕"/>
              </a:rPr>
              <a:t> 기본 업무 프로세스</a:t>
            </a:r>
            <a:r>
              <a:rPr sz="1200" b="0">
                <a:solidFill>
                  <a:srgbClr val="000000"/>
                </a:solidFill>
                <a:latin typeface="맑은 고딕"/>
                <a:ea typeface="맑은 고딕"/>
              </a:rPr>
              <a:t>(EBP)</a:t>
            </a:r>
            <a:r>
              <a:rPr sz="16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EBP는 업무 사건에 반응해 </a:t>
            </a:r>
            <a:r>
              <a:rPr sz="1800" b="1">
                <a:solidFill>
                  <a:srgbClr val="000000"/>
                </a:solidFill>
                <a:latin typeface="맑은 고딕"/>
                <a:ea typeface="맑은 고딕"/>
              </a:rPr>
              <a:t>한 사람이 한 장소에서 한 번에</a:t>
            </a:r>
            <a:r>
              <a:rPr sz="1800" b="0">
                <a:solidFill>
                  <a:srgbClr val="000000"/>
                </a:solidFill>
                <a:latin typeface="맑은 고딕"/>
                <a:ea typeface="맑은 고딕"/>
              </a:rPr>
              <a:t> 수행하고 측정 가능한 업무 가치를 더하며 데이터를 일관된 상태로 남기는 작업이다</a:t>
            </a:r>
            <a:r>
              <a:rPr sz="1000" b="0">
                <a:solidFill>
                  <a:srgbClr val="000000"/>
                </a:solidFill>
                <a:latin typeface="맑은 고딕"/>
                <a:ea typeface="맑은 고딕"/>
              </a:rPr>
              <a:t>, </a:t>
            </a:r>
            <a:r>
              <a:rPr sz="1000" b="0">
                <a:solidFill>
                  <a:srgbClr val="000000"/>
                </a:solidFill>
                <a:latin typeface="맑은 고딕"/>
                <a:ea typeface="맑은 고딕"/>
              </a:rPr>
              <a:t>"A task performed by one person in one place at one time, in response to a business event, which adds measurable business value and leaves the data in a consistent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7481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6586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하위 기능</a:t>
            </a:r>
            <a:r>
              <a:rPr sz="1800" b="0">
                <a:solidFill>
                  <a:srgbClr val="000000"/>
                </a:solidFill>
                <a:latin typeface="맑은 고딕"/>
                <a:ea typeface="맑은 고딕"/>
              </a:rPr>
              <a:t>은 여러 유스케이스가 반복해 쓰는 의미 있는 행위일 때만 분리한다</a:t>
            </a:r>
            <a:r>
              <a:rPr sz="1400" b="0">
                <a:solidFill>
                  <a:srgbClr val="000000"/>
                </a:solidFill>
                <a:latin typeface="맑은 고딕"/>
                <a:ea typeface="맑은 고딕"/>
              </a:rPr>
              <a:t>(포함, 「34. 유스케이스 다이어그램 —</a:t>
            </a:r>
            <a:r>
              <a:rPr sz="1200" b="0">
                <a:solidFill>
                  <a:srgbClr val="000000"/>
                </a:solidFill>
                <a:latin typeface="맑은 고딕"/>
                <a:ea typeface="맑은 고딕"/>
              </a:rPr>
              <a:t>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초안은 「22. 대상 시스템과 경계」의 경계 안에 유스케이스를 채우고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의 연관만 둔다. 지원 액터의 연관과 포함·확장은 「34. 유스케이스 다이어그램 —</a:t>
            </a:r>
            <a:r>
              <a:rPr sz="1600" b="0">
                <a:solidFill>
                  <a:srgbClr val="000000"/>
                </a:solidFill>
                <a:latin typeface="맑은 고딕"/>
                <a:ea typeface="맑은 고딕"/>
              </a:rPr>
              <a:t> 상세화」에서 더한다.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85872"/>
            <a:ext cx="8412480" cy="201168"/>
          </a:xfrm>
          <a:prstGeom prst="rect">
            <a:avLst/>
          </a:prstGeom>
          <a:noFill/>
        </p:spPr>
        <p:txBody>
          <a:bodyPr wrap="square">
            <a:spAutoFit/>
          </a:bodyPr>
          <a:lstStyle/>
          <a:p>
            <a:pPr algn="ctr"/>
            <a:r>
              <a:rPr sz="1400" b="1">
                <a:solidFill>
                  <a:srgbClr val="000000"/>
                </a:solidFill>
                <a:latin typeface="맑은 고딕"/>
                <a:ea typeface="맑은 고딕"/>
              </a:rPr>
              <a:t>유스케이스 다이어그램(초안)</a:t>
            </a:r>
          </a:p>
        </p:txBody>
      </p:sp>
      <p:pic>
        <p:nvPicPr>
          <p:cNvPr id="10" name="svg Diagram 3" descr="유스케이스 다이어그램 초안: 주 액터 고객과 주문 시스템의 두 유스케이스"/>
          <p:cNvPicPr>
            <a:picLocks noChangeAspect="1"/>
          </p:cNvPicPr>
          <p:nvPr/>
        </p:nvPicPr>
        <p:blipFill>
          <a:blip r:embed="svgImage3"/>
          <a:stretch>
            <a:fillRect/>
          </a:stretch>
        </p:blipFill>
        <p:spPr>
          <a:xfrm>
            <a:off x="2667000" y="3023616"/>
            <a:ext cx="3810000" cy="21431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다이어그램 — 초안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1258570"/>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명세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04456" y="2112010"/>
          <a:ext cx="6921500" cy="3873500"/>
        </p:xfrm>
        <a:graphic>
          <a:graphicData uri="http://schemas.openxmlformats.org/drawingml/2006/table">
            <a:tbl>
              <a:tblPr/>
              <a:tblGrid>
                <a:gridCol w="1841500"/>
                <a:gridCol w="2595880"/>
                <a:gridCol w="2484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언제 쓰는가?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간략(brief)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성공 시나리오를 한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초기에 범위를 파악할 때(몇 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약식(casual)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시나리오를 여러 문단으로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간략 형식과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정식(fully dressed)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단계·변형과 보조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가치가 큰 일부(약 10%)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모두 같은 깊이로 쓰지 않는다. </a:t>
            </a:r>
            <a:r>
              <a:rPr sz="1800" b="1">
                <a:solidFill>
                  <a:srgbClr val="000000"/>
                </a:solidFill>
                <a:latin typeface="맑은 고딕"/>
                <a:ea typeface="맑은 고딕"/>
              </a:rPr>
              <a:t>간략 → 약식 → 정식</a:t>
            </a:r>
            <a:r>
              <a:rPr sz="1800" b="0">
                <a:solidFill>
                  <a:srgbClr val="000000"/>
                </a:solidFill>
                <a:latin typeface="맑은 고딕"/>
                <a:ea typeface="맑은 고딕"/>
              </a:rPr>
              <a:t> 형식 가운데 필요한 만큼만 쓰고, 가치와 위험이 큰 것만 정식으로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형식 (Larman, 2004)</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정식 형식</a:t>
            </a:r>
            <a:r>
              <a:rPr sz="1800" b="0">
                <a:solidFill>
                  <a:srgbClr val="000000"/>
                </a:solidFill>
                <a:latin typeface="맑은 고딕"/>
                <a:ea typeface="맑은 고딕"/>
              </a:rPr>
              <a:t>은 사전조건·성공 보장 같은 보조 항목을 둔다. 간략 형식으로 많이 찾은 뒤, 아키텍처상 중요하고 가치가 큰 것만 정식으로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간략 형식의 예</a:t>
            </a:r>
            <a:r>
              <a:rPr sz="1800" b="0">
                <a:solidFill>
                  <a:srgbClr val="000000"/>
                </a:solidFill>
                <a:latin typeface="맑은 고딕"/>
                <a:ea typeface="맑은 고딕"/>
              </a:rPr>
              <a:t> —</a:t>
            </a:r>
            <a:r>
              <a:rPr sz="1600" b="0">
                <a:solidFill>
                  <a:srgbClr val="000000"/>
                </a:solidFill>
                <a:latin typeface="맑은 고딕"/>
                <a:ea typeface="맑은 고딕"/>
              </a:rPr>
              <a:t> 배송 현황을 조회한다: 고객이 자기 주문을 골라 배송 현황을 조회하고, 배송 시스템이 알린 배송 상태를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사례에서는 </a:t>
            </a:r>
            <a:r>
              <a:rPr sz="1800" b="1">
                <a:solidFill>
                  <a:srgbClr val="000000"/>
                </a:solidFill>
                <a:latin typeface="맑은 고딕"/>
                <a:ea typeface="맑은 고딕"/>
              </a:rPr>
              <a:t>주문을 관리한다</a:t>
            </a:r>
            <a:r>
              <a:rPr sz="1800" b="0">
                <a:solidFill>
                  <a:srgbClr val="000000"/>
                </a:solidFill>
                <a:latin typeface="맑은 고딕"/>
                <a:ea typeface="맑은 고딕"/>
              </a:rPr>
              <a:t>만 정식으로 쓴다 —</a:t>
            </a:r>
            <a:r>
              <a:rPr sz="1600" b="0">
                <a:solidFill>
                  <a:srgbClr val="000000"/>
                </a:solidFill>
                <a:latin typeface="맑은 고딕"/>
                <a:ea typeface="맑은 고딕"/>
              </a:rPr>
              <a:t> 결제·취소·배송지 변경이 외부 시스템과 얽혀 가치와 위험이 가장 크다.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45806" y="2112010"/>
          <a:ext cx="5638800" cy="3873500"/>
        </p:xfrm>
        <a:graphic>
          <a:graphicData uri="http://schemas.openxmlformats.org/drawingml/2006/table">
            <a:tbl>
              <a:tblPr/>
              <a:tblGrid>
                <a:gridCol w="1813560"/>
                <a:gridCol w="38252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동사로 시작하는 목표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또는 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서비스를 요청하는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이 유스케이스에 관심을 두고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시작할 때 참이어야 하고 알릴 가치가 있는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보장(사후조건)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성공적으로 끝났을 때 참이어야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성공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전형적인 무조건 성공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또는 실패의 다른 시나리오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비기능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기술·데이터 변형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입출력 방법과 데이터 형식의 변형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발생 빈도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조사·테스트·구현 시점에 영향을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미결 사항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정식 형식의 명세서는 </a:t>
            </a:r>
            <a:r>
              <a:rPr sz="1800" b="1">
                <a:solidFill>
                  <a:srgbClr val="000000"/>
                </a:solidFill>
                <a:latin typeface="맑은 고딕"/>
                <a:ea typeface="맑은 고딕"/>
              </a:rPr>
              <a:t>검토와 합의의 수단</a:t>
            </a:r>
            <a:r>
              <a:rPr sz="1800" b="0">
                <a:solidFill>
                  <a:srgbClr val="000000"/>
                </a:solidFill>
                <a:latin typeface="맑은 고딕"/>
                <a:ea typeface="맑은 고딕"/>
              </a:rPr>
              <a:t>이다. 아래 항목에 더해 이 유스케이스에만 적용되는 </a:t>
            </a:r>
            <a:r>
              <a:rPr sz="1800" b="1">
                <a:solidFill>
                  <a:srgbClr val="000000"/>
                </a:solidFill>
                <a:latin typeface="맑은 고딕"/>
                <a:ea typeface="맑은 고딕"/>
              </a:rPr>
              <a:t>업무 규칙</a:t>
            </a:r>
            <a:r>
              <a:rPr sz="1800" b="0">
                <a:solidFill>
                  <a:srgbClr val="000000"/>
                </a:solidFill>
                <a:latin typeface="맑은 고딕"/>
                <a:ea typeface="맑은 고딕"/>
              </a:rPr>
              <a:t>도 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정식 형식의 항목 (Larman, 2004)</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목표를 이루는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쓴다.</a:t>
            </a:r>
          </a:p>
          <a:p>
            <a:pPr marL="342900" indent="0">
              <a:spcBef>
                <a:spcPts val="600"/>
              </a:spcBef>
              <a:spcAft>
                <a:spcPts val="600"/>
              </a:spcAft>
              <a:buNone/>
            </a:pPr>
            <a:r>
              <a:rPr sz="1800" b="1">
                <a:solidFill>
                  <a:srgbClr val="000000"/>
                </a:solidFill>
                <a:latin typeface="맑은 고딕"/>
                <a:ea typeface="맑은 고딕"/>
              </a:rPr>
              <a:t>유스케이스: 주문을 관리한다 —</a:t>
            </a:r>
            <a:r>
              <a:rPr sz="1600" b="1">
                <a:solidFill>
                  <a:srgbClr val="000000"/>
                </a:solidFill>
                <a:latin typeface="맑은 고딕"/>
                <a:ea typeface="맑은 고딕"/>
              </a:rPr>
              <a:t> 기본 흐름</a:t>
            </a:r>
          </a:p>
          <a:p>
            <a:pPr lvl="2" marL="607060" indent="-251460">
              <a:spcBef>
                <a:spcPts val="600"/>
              </a:spcBef>
              <a:spcAft>
                <a:spcPts val="600"/>
              </a:spcAft>
              <a:buNone/>
            </a:pPr>
            <a:r>
              <a:rPr sz="1800" b="0">
                <a:solidFill>
                  <a:srgbClr val="000000"/>
                </a:solidFill>
                <a:latin typeface="맑은 고딕"/>
                <a:ea typeface="맑은 고딕"/>
              </a:rPr>
              <a:t>1. 고객이 상품을 조회한다.</a:t>
            </a:r>
          </a:p>
          <a:p>
            <a:pPr lvl="2" marL="607060" indent="-251460">
              <a:spcBef>
                <a:spcPts val="600"/>
              </a:spcBef>
              <a:spcAft>
                <a:spcPts val="600"/>
              </a:spcAft>
              <a:buNone/>
            </a:pPr>
            <a:r>
              <a:rPr sz="1800" b="0">
                <a:solidFill>
                  <a:srgbClr val="000000"/>
                </a:solidFill>
                <a:latin typeface="맑은 고딕"/>
                <a:ea typeface="맑은 고딕"/>
              </a:rPr>
              <a:t>2. 고객이 상품과 수량을 장바구니에 담는다.</a:t>
            </a:r>
          </a:p>
          <a:p>
            <a:pPr lvl="2" marL="723900" indent="-368300">
              <a:spcBef>
                <a:spcPts val="600"/>
              </a:spcBef>
              <a:spcAft>
                <a:spcPts val="600"/>
              </a:spcAft>
              <a:buNone/>
            </a:pPr>
            <a:r>
              <a:rPr sz="1800" b="0">
                <a:solidFill>
                  <a:srgbClr val="000000"/>
                </a:solidFill>
                <a:latin typeface="맑은 고딕"/>
                <a:ea typeface="맑은 고딕"/>
              </a:rPr>
              <a:t>고객은 주문할 상품마다 </a:t>
            </a:r>
            <a:r>
              <a:rPr sz="1800" b="1">
                <a:solidFill>
                  <a:srgbClr val="000000"/>
                </a:solidFill>
                <a:latin typeface="맑은 고딕"/>
                <a:ea typeface="맑은 고딕"/>
              </a:rPr>
              <a:t>1~2단계를 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3. 고객이 배송지를 지정한다.</a:t>
            </a:r>
          </a:p>
          <a:p>
            <a:pPr lvl="2" marL="607060" indent="-251460">
              <a:spcBef>
                <a:spcPts val="600"/>
              </a:spcBef>
              <a:spcAft>
                <a:spcPts val="600"/>
              </a:spcAft>
              <a:buNone/>
            </a:pPr>
            <a:r>
              <a:rPr sz="1800" b="0">
                <a:solidFill>
                  <a:srgbClr val="000000"/>
                </a:solidFill>
                <a:latin typeface="맑은 고딕"/>
                <a:ea typeface="맑은 고딕"/>
              </a:rPr>
              <a:t>4. 고객이 결제한다.</a:t>
            </a:r>
          </a:p>
          <a:p>
            <a:pPr lvl="2" marL="607060" indent="-251460">
              <a:spcBef>
                <a:spcPts val="600"/>
              </a:spcBef>
              <a:spcAft>
                <a:spcPts val="600"/>
              </a:spcAft>
              <a:buNone/>
            </a:pPr>
            <a:r>
              <a:rPr sz="1800" b="0">
                <a:solidFill>
                  <a:srgbClr val="000000"/>
                </a:solidFill>
                <a:latin typeface="맑은 고딕"/>
                <a:ea typeface="맑은 고딕"/>
              </a:rPr>
              <a:t>5. 고객은 주문 결과를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성공이든 실패든 기본 흐름이 아닌 경로는 모두 </a:t>
            </a:r>
            <a:r>
              <a:rPr sz="1800" b="1">
                <a:solidFill>
                  <a:srgbClr val="000000"/>
                </a:solidFill>
                <a:latin typeface="맑은 고딕"/>
                <a:ea typeface="맑은 고딕"/>
              </a:rPr>
              <a:t>대안 흐름</a:t>
            </a:r>
            <a:r>
              <a:rPr sz="1800" b="0">
                <a:solidFill>
                  <a:srgbClr val="000000"/>
                </a:solidFill>
                <a:latin typeface="맑은 고딕"/>
                <a:ea typeface="맑은 고딕"/>
              </a:rPr>
              <a:t>이다. 번호는 갈라져 나오는 기본 흐름 단계 번호 뒤에 붙인다.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3단계의 첫째·둘째 </a:t>
            </a:r>
            <a:r>
              <a:rPr sz="1600" b="1">
                <a:solidFill>
                  <a:srgbClr val="000000"/>
                </a:solidFill>
                <a:latin typeface="맑은 고딕"/>
                <a:ea typeface="맑은 고딕"/>
              </a:rPr>
              <a:t>대안 흐름</a:t>
            </a:r>
            <a:r>
              <a:rPr sz="1600" b="0">
                <a:solidFill>
                  <a:srgbClr val="000000"/>
                </a:solidFill>
                <a:latin typeface="맑은 고딕"/>
                <a:ea typeface="맑은 고딕"/>
              </a:rPr>
              <a:t>은 </a:t>
            </a:r>
            <a:r>
              <a:rPr sz="1600" b="0">
                <a:solidFill>
                  <a:srgbClr val="000000"/>
                </a:solidFill>
                <a:latin typeface="맑은 고딕"/>
                <a:ea typeface="맑은 고딕"/>
              </a:rPr>
              <a:t>3a</a:t>
            </a:r>
            <a:r>
              <a:rPr sz="1600" b="0">
                <a:solidFill>
                  <a:srgbClr val="000000"/>
                </a:solidFill>
                <a:latin typeface="맑은 고딕"/>
                <a:ea typeface="맑은 고딕"/>
              </a:rPr>
              <a:t>·</a:t>
            </a:r>
            <a:r>
              <a:rPr sz="1600" b="0">
                <a:solidFill>
                  <a:srgbClr val="000000"/>
                </a:solidFill>
                <a:latin typeface="맑은 고딕"/>
                <a:ea typeface="맑은 고딕"/>
              </a:rPr>
              <a:t>3b</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의 2단계에서 다시 갈라지는 대안 흐름은 </a:t>
            </a:r>
            <a:r>
              <a:rPr sz="1600" b="0">
                <a:solidFill>
                  <a:srgbClr val="000000"/>
                </a:solidFill>
                <a:latin typeface="맑은 고딕"/>
                <a:ea typeface="맑은 고딕"/>
              </a:rPr>
              <a:t>3a2a</a:t>
            </a:r>
            <a:r>
              <a:rPr sz="16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 유스케이스는 </a:t>
            </a:r>
            <a:r>
              <a:rPr sz="1600" b="1">
                <a:solidFill>
                  <a:srgbClr val="000000"/>
                </a:solidFill>
                <a:latin typeface="맑은 고딕"/>
                <a:ea typeface="맑은 고딕"/>
              </a:rPr>
              <a:t>주문 취소</a:t>
            </a:r>
            <a:r>
              <a:rPr sz="1600" b="0">
                <a:solidFill>
                  <a:srgbClr val="000000"/>
                </a:solidFill>
                <a:latin typeface="맑은 고딕"/>
                <a:ea typeface="맑은 고딕"/>
              </a:rPr>
              <a:t> </a:t>
            </a:r>
            <a:r>
              <a:rPr sz="1600" b="0">
                <a:solidFill>
                  <a:srgbClr val="000000"/>
                </a:solidFill>
                <a:latin typeface="맑은 고딕"/>
                <a:ea typeface="맑은 고딕"/>
              </a:rPr>
              <a:t>1a</a:t>
            </a:r>
            <a:r>
              <a:rPr sz="1600" b="0">
                <a:solidFill>
                  <a:srgbClr val="000000"/>
                </a:solidFill>
                <a:latin typeface="맑은 고딕"/>
                <a:ea typeface="맑은 고딕"/>
              </a:rPr>
              <a:t>, </a:t>
            </a:r>
            <a:r>
              <a:rPr sz="1600" b="1">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3a</a:t>
            </a:r>
            <a:r>
              <a:rPr sz="1600" b="0">
                <a:solidFill>
                  <a:srgbClr val="000000"/>
                </a:solidFill>
                <a:latin typeface="맑은 고딕"/>
                <a:ea typeface="맑은 고딕"/>
              </a:rPr>
              <a:t>, </a:t>
            </a:r>
            <a:r>
              <a:rPr sz="1600" b="1">
                <a:solidFill>
                  <a:srgbClr val="000000"/>
                </a:solidFill>
                <a:latin typeface="맑은 고딕"/>
                <a:ea typeface="맑은 고딕"/>
              </a:rPr>
              <a:t>주문 내역 확인</a:t>
            </a:r>
            <a:r>
              <a:rPr sz="1600" b="0">
                <a:solidFill>
                  <a:srgbClr val="000000"/>
                </a:solidFill>
                <a:latin typeface="맑은 고딕"/>
                <a:ea typeface="맑은 고딕"/>
              </a:rPr>
              <a:t> </a:t>
            </a:r>
            <a:r>
              <a:rPr sz="1600" b="0">
                <a:solidFill>
                  <a:srgbClr val="000000"/>
                </a:solidFill>
                <a:latin typeface="맑은 고딕"/>
                <a:ea typeface="맑은 고딕"/>
              </a:rPr>
              <a:t>5a</a:t>
            </a:r>
            <a:r>
              <a:rPr sz="1600" b="0">
                <a:solidFill>
                  <a:srgbClr val="000000"/>
                </a:solidFill>
                <a:latin typeface="맑은 고딕"/>
                <a:ea typeface="맑은 고딕"/>
              </a:rPr>
              <a:t>를 대안 흐름으로 둔다.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작성 원칙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액터의 의도</a:t>
            </a:r>
            <a:r>
              <a:rPr sz="1800" b="0">
                <a:solidFill>
                  <a:srgbClr val="000000"/>
                </a:solidFill>
                <a:latin typeface="맑은 고딕"/>
                <a:ea typeface="맑은 고딕"/>
              </a:rPr>
              <a:t>와 외부에서 의미 있는 </a:t>
            </a:r>
            <a:r>
              <a:rPr sz="1800" b="1">
                <a:solidFill>
                  <a:srgbClr val="000000"/>
                </a:solidFill>
                <a:latin typeface="맑은 고딕"/>
                <a:ea typeface="맑은 고딕"/>
              </a:rPr>
              <a:t>결과</a:t>
            </a:r>
            <a:r>
              <a:rPr sz="1800" b="0">
                <a:solidFill>
                  <a:srgbClr val="000000"/>
                </a:solidFill>
                <a:latin typeface="맑은 고딕"/>
                <a:ea typeface="맑은 고딕"/>
              </a:rPr>
              <a:t>만 쓴다 —</a:t>
            </a:r>
            <a:r>
              <a:rPr sz="1600" b="0">
                <a:solidFill>
                  <a:srgbClr val="000000"/>
                </a:solidFill>
                <a:latin typeface="맑은 고딕"/>
                <a:ea typeface="맑은 고딕"/>
              </a:rPr>
              <a:t> 화면 클릭 순서, 내부의 확인·계산·저장·호출, 설계 내용은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액터 단계 하나가 시스템 이벤트 하나</a:t>
            </a:r>
            <a:r>
              <a:rPr sz="1800" b="0">
                <a:solidFill>
                  <a:srgbClr val="000000"/>
                </a:solidFill>
                <a:latin typeface="맑은 고딕"/>
                <a:ea typeface="맑은 고딕"/>
              </a:rPr>
              <a:t>에 대응한다. 한 단계에 이벤트가 둘 숨어 있으면 단계를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반복은 "1~2단계를 반복한다"처럼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흐름은 목표 달성 경로가 </a:t>
            </a:r>
            <a:r>
              <a:rPr sz="1800" b="1">
                <a:solidFill>
                  <a:srgbClr val="000000"/>
                </a:solidFill>
                <a:latin typeface="맑은 고딕"/>
                <a:ea typeface="맑은 고딕"/>
              </a:rPr>
              <a:t>의미 있게 달라질 때만</a:t>
            </a:r>
            <a:r>
              <a:rPr sz="18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규칙·특별 요구사항은 흐름에 섞지 않고 </a:t>
            </a:r>
            <a:r>
              <a:rPr sz="1800" b="1">
                <a:solidFill>
                  <a:srgbClr val="000000"/>
                </a:solidFill>
                <a:latin typeface="맑은 고딕"/>
                <a:ea typeface="맑은 고딕"/>
              </a:rPr>
              <a:t>따로</a:t>
            </a:r>
            <a:r>
              <a:rPr sz="1800" b="0">
                <a:solidFill>
                  <a:srgbClr val="000000"/>
                </a:solidFill>
                <a:latin typeface="맑은 고딕"/>
                <a:ea typeface="맑은 고딕"/>
              </a:rPr>
              <a:t> 쓴다</a:t>
            </a:r>
            <a:r>
              <a:rPr sz="1400" b="0">
                <a:solidFill>
                  <a:srgbClr val="000000"/>
                </a:solidFill>
                <a:latin typeface="맑은 고딕"/>
                <a:ea typeface="맑은 고딕"/>
              </a:rPr>
              <a:t>(「31. 규칙과 특별 요구사항」)</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규칙과 특별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흐름에 모든 조건을 넣지 않는다. 명세서의 </a:t>
            </a:r>
            <a:r>
              <a:rPr sz="1800" b="1">
                <a:solidFill>
                  <a:srgbClr val="000000"/>
                </a:solidFill>
                <a:latin typeface="맑은 고딕"/>
                <a:ea typeface="맑은 고딕"/>
              </a:rPr>
              <a:t>업무 규칙</a:t>
            </a:r>
            <a:r>
              <a:rPr sz="1800" b="0">
                <a:solidFill>
                  <a:srgbClr val="000000"/>
                </a:solidFill>
                <a:latin typeface="맑은 고딕"/>
                <a:ea typeface="맑은 고딕"/>
              </a:rPr>
              <a:t>과 </a:t>
            </a:r>
            <a:r>
              <a:rPr sz="1800" b="1">
                <a:solidFill>
                  <a:srgbClr val="000000"/>
                </a:solidFill>
                <a:latin typeface="맑은 고딕"/>
                <a:ea typeface="맑은 고딕"/>
              </a:rPr>
              <a:t>특별 요구사항</a:t>
            </a:r>
            <a:r>
              <a:rPr sz="1800" b="0">
                <a:solidFill>
                  <a:srgbClr val="000000"/>
                </a:solidFill>
                <a:latin typeface="맑은 고딕"/>
                <a:ea typeface="맑은 고딕"/>
              </a:rPr>
              <a:t>에 따로 쓰고, 실패한 경로는 </a:t>
            </a:r>
            <a:r>
              <a:rPr sz="1800" b="1">
                <a:solidFill>
                  <a:srgbClr val="000000"/>
                </a:solidFill>
                <a:latin typeface="맑은 고딕"/>
                <a:ea typeface="맑은 고딕"/>
              </a:rPr>
              <a:t>대안 흐름</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이 유스케이스에서 늘 지켜야 하는 규칙과 조건이다.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일반 취소를 허용하지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법률·계약상 취소가 제한되는 상품이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여러 유스케이스에 공통인 </a:t>
            </a:r>
            <a:r>
              <a:rPr sz="1800" b="1">
                <a:solidFill>
                  <a:srgbClr val="000000"/>
                </a:solidFill>
                <a:latin typeface="맑은 고딕"/>
                <a:ea typeface="맑은 고딕"/>
              </a:rPr>
              <a:t>도메인 규칙</a:t>
            </a:r>
            <a:r>
              <a:rPr sz="1800" b="0">
                <a:solidFill>
                  <a:srgbClr val="000000"/>
                </a:solidFill>
                <a:latin typeface="맑은 고딕"/>
                <a:ea typeface="맑은 고딕"/>
              </a:rPr>
              <a:t>은 명세서 밖의 </a:t>
            </a:r>
            <a:r>
              <a:rPr sz="1800" b="1">
                <a:solidFill>
                  <a:srgbClr val="000000"/>
                </a:solidFill>
                <a:latin typeface="맑은 고딕"/>
                <a:ea typeface="맑은 고딕"/>
              </a:rPr>
              <a:t>업무 규칙 목록</a:t>
            </a:r>
            <a:r>
              <a:rPr sz="1800" b="0">
                <a:solidFill>
                  <a:srgbClr val="000000"/>
                </a:solidFill>
                <a:latin typeface="맑은 고딕"/>
                <a:ea typeface="맑은 고딕"/>
              </a:rPr>
              <a:t>에 두고, 명세서는 그 규칙을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특별 요구사항</a:t>
            </a:r>
            <a:r>
              <a:rPr sz="1800" b="0">
                <a:solidFill>
                  <a:srgbClr val="000000"/>
                </a:solidFill>
                <a:latin typeface="맑은 고딕"/>
                <a:ea typeface="맑은 고딕"/>
              </a:rPr>
              <a:t> —</a:t>
            </a:r>
            <a:r>
              <a:rPr sz="1600" b="0">
                <a:solidFill>
                  <a:srgbClr val="000000"/>
                </a:solidFill>
                <a:latin typeface="맑은 고딕"/>
                <a:ea typeface="맑은 고딕"/>
              </a:rPr>
              <a:t> 품질속성처럼 흐름 밖에서 결과의 수준을 정하는 요구다.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취소 결과를 고객에게 알리는 </a:t>
            </a:r>
            <a:r>
              <a:rPr sz="1600" b="1">
                <a:solidFill>
                  <a:srgbClr val="000000"/>
                </a:solidFill>
                <a:latin typeface="맑은 고딕"/>
                <a:ea typeface="맑은 고딕"/>
              </a:rPr>
              <a:t>시간</a:t>
            </a:r>
            <a:r>
              <a:rPr sz="1200" b="0">
                <a:solidFill>
                  <a:srgbClr val="000000"/>
                </a:solidFill>
                <a:latin typeface="맑은 고딕"/>
                <a:ea typeface="맑은 고딕"/>
              </a:rPr>
              <a:t>(미정 —</a:t>
            </a:r>
            <a:r>
              <a:rPr sz="1000" b="0">
                <a:solidFill>
                  <a:srgbClr val="000000"/>
                </a:solidFill>
                <a:latin typeface="맑은 고딕"/>
                <a:ea typeface="맑은 고딕"/>
              </a:rPr>
              <a:t> 이해관계자와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실패한 경로</a:t>
            </a:r>
            <a:r>
              <a:rPr sz="1800" b="0">
                <a:solidFill>
                  <a:srgbClr val="000000"/>
                </a:solidFill>
                <a:latin typeface="맑은 고딕"/>
                <a:ea typeface="맑은 고딕"/>
              </a:rPr>
              <a:t> —</a:t>
            </a:r>
            <a:r>
              <a:rPr sz="1600" b="0">
                <a:solidFill>
                  <a:srgbClr val="000000"/>
                </a:solidFill>
                <a:latin typeface="맑은 고딕"/>
                <a:ea typeface="맑은 고딕"/>
              </a:rPr>
              <a:t> 환불이 완료되지 않은 경우처럼 결과가 달라지면 대안 흐름으로 쓴다</a:t>
            </a:r>
            <a:r>
              <a:rPr sz="1200" b="0">
                <a:solidFill>
                  <a:srgbClr val="000000"/>
                </a:solidFill>
                <a:latin typeface="맑은 고딕"/>
                <a:ea typeface="맑은 고딕"/>
              </a:rPr>
              <a:t>(「33. 유스케이스 상세화」의 1a2a)</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112010"/>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이벤트 흐름에서 발견한 요구</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616364"/>
            <a:ext cx="4338828"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유스케이스명</a:t>
            </a:r>
            <a:r>
              <a:rPr sz="1400" b="0">
                <a:solidFill>
                  <a:srgbClr val="000000"/>
                </a:solidFill>
                <a:latin typeface="맑은 고딕"/>
                <a:ea typeface="맑은 고딕"/>
              </a:rPr>
              <a:t> —</a:t>
            </a:r>
            <a:r>
              <a:rPr sz="1200" b="0">
                <a:solidFill>
                  <a:srgbClr val="000000"/>
                </a:solidFill>
                <a:latin typeface="맑은 고딕"/>
                <a:ea typeface="맑은 고딕"/>
              </a:rPr>
              <a:t> 주문을 관리한다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a:t>
            </a:r>
            <a:r>
              <a:rPr sz="1400" b="0">
                <a:solidFill>
                  <a:srgbClr val="000000"/>
                </a:solidFill>
                <a:latin typeface="맑은 고딕"/>
                <a:ea typeface="맑은 고딕"/>
              </a:rPr>
              <a:t> —</a:t>
            </a:r>
            <a:r>
              <a:rPr sz="1200" b="0">
                <a:solidFill>
                  <a:srgbClr val="000000"/>
                </a:solidFill>
                <a:latin typeface="맑은 고딕"/>
                <a:ea typeface="맑은 고딕"/>
              </a:rPr>
              <a:t> 주 액터: 고객 / 지원 액터: 결제·상품·회계·배송 시스템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범위·수준</a:t>
            </a:r>
            <a:r>
              <a:rPr sz="1400" b="0">
                <a:solidFill>
                  <a:srgbClr val="000000"/>
                </a:solidFill>
                <a:latin typeface="맑은 고딕"/>
                <a:ea typeface="맑은 고딕"/>
              </a:rPr>
              <a:t> —</a:t>
            </a:r>
            <a:r>
              <a:rPr sz="1200" b="0">
                <a:solidFill>
                  <a:srgbClr val="000000"/>
                </a:solidFill>
                <a:latin typeface="맑은 고딕"/>
                <a:ea typeface="맑은 고딕"/>
              </a:rPr>
              <a:t> 주문 시스템, 사용자 목표</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상품을 조회한다.</a:t>
            </a:r>
          </a:p>
          <a:p>
            <a:pPr lvl="3" marL="457200" indent="0">
              <a:spcBef>
                <a:spcPts val="300"/>
              </a:spcBef>
              <a:spcAft>
                <a:spcPts val="300"/>
              </a:spcAft>
              <a:buNone/>
            </a:pPr>
            <a:r>
              <a:rPr sz="1200" b="0">
                <a:solidFill>
                  <a:srgbClr val="000000"/>
                </a:solidFill>
                <a:latin typeface="맑은 고딕"/>
                <a:ea typeface="맑은 고딕"/>
              </a:rPr>
              <a:t>2. 고객이 상품과 수량을 장바구니에 담는다.</a:t>
            </a:r>
          </a:p>
          <a:p>
            <a:pPr lvl="3" marL="457200" indent="0">
              <a:spcBef>
                <a:spcPts val="300"/>
              </a:spcBef>
              <a:spcAft>
                <a:spcPts val="300"/>
              </a:spcAft>
              <a:buNone/>
            </a:pPr>
            <a:r>
              <a:rPr sz="1200" b="0">
                <a:solidFill>
                  <a:srgbClr val="000000"/>
                </a:solidFill>
                <a:latin typeface="맑은 고딕"/>
                <a:ea typeface="맑은 고딕"/>
              </a:rPr>
              <a:t>고객은 주문할 상품마다 </a:t>
            </a:r>
            <a:r>
              <a:rPr sz="1200" b="1">
                <a:solidFill>
                  <a:srgbClr val="000000"/>
                </a:solidFill>
                <a:latin typeface="맑은 고딕"/>
                <a:ea typeface="맑은 고딕"/>
              </a:rPr>
              <a:t>1~2단계를 반복</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3. 고객이 배송지를 지정한다.</a:t>
            </a:r>
          </a:p>
          <a:p>
            <a:pPr lvl="3" marL="457200" indent="0">
              <a:spcBef>
                <a:spcPts val="300"/>
              </a:spcBef>
              <a:spcAft>
                <a:spcPts val="300"/>
              </a:spcAft>
              <a:buNone/>
            </a:pPr>
            <a:r>
              <a:rPr sz="1200" b="0">
                <a:solidFill>
                  <a:srgbClr val="000000"/>
                </a:solidFill>
                <a:latin typeface="맑은 고딕"/>
                <a:ea typeface="맑은 고딕"/>
              </a:rPr>
              <a:t>4. 고객이 결제한다.</a:t>
            </a:r>
          </a:p>
          <a:p>
            <a:pPr lvl="3" marL="457200" indent="0">
              <a:spcBef>
                <a:spcPts val="300"/>
              </a:spcBef>
              <a:spcAft>
                <a:spcPts val="300"/>
              </a:spcAft>
              <a:buNone/>
            </a:pPr>
            <a:r>
              <a:rPr sz="1200" b="0">
                <a:solidFill>
                  <a:srgbClr val="000000"/>
                </a:solidFill>
                <a:latin typeface="맑은 고딕"/>
                <a:ea typeface="맑은 고딕"/>
              </a:rPr>
              <a:t>5. 고객은 주문 결과를 확인한다.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656244"/>
          </a:xfrm>
        </p:spPr>
        <p:txBody>
          <a:bodyPr>
            <a:normAutofit/>
          </a:bodyPr>
          <a:lstStyle/>
          <a:p>
            <a:pPr marL="0" indent="0">
              <a:spcBef>
                <a:spcPts val="300"/>
              </a:spcBef>
              <a:spcAft>
                <a:spcPts val="300"/>
              </a:spcAft>
              <a:buNone/>
            </a:pPr>
            <a:r>
              <a:rPr sz="1400" b="1">
                <a:solidFill>
                  <a:srgbClr val="000000"/>
                </a:solidFill>
                <a:latin typeface="맑은 고딕"/>
                <a:ea typeface="맑은 고딕"/>
              </a:rPr>
              <a:t>「주문을 관리한다」 명세서</a:t>
            </a:r>
            <a:r>
              <a:rPr sz="1000" b="1">
                <a:solidFill>
                  <a:srgbClr val="000000"/>
                </a:solidFill>
                <a:latin typeface="맑은 고딕"/>
                <a:ea typeface="맑은 고딕"/>
              </a:rPr>
              <a:t>(정식 형식의 일부 항목)</a:t>
            </a:r>
            <a:r>
              <a:rPr sz="1400" b="0">
                <a:solidFill>
                  <a:srgbClr val="000000"/>
                </a:solidFill>
                <a:latin typeface="맑은 고딕"/>
                <a:ea typeface="맑은 고딕"/>
              </a:rPr>
              <a:t> —</a:t>
            </a:r>
            <a:r>
              <a:rPr sz="1200" b="0">
                <a:solidFill>
                  <a:srgbClr val="000000"/>
                </a:solidFill>
                <a:latin typeface="맑은 고딕"/>
                <a:ea typeface="맑은 고딕"/>
              </a:rPr>
              <a:t> 상세화는 문서량을 늘리는 일이 아니라 조건·규칙·결과의 </a:t>
            </a:r>
            <a:r>
              <a:rPr sz="1200" b="1">
                <a:solidFill>
                  <a:srgbClr val="000000"/>
                </a:solidFill>
                <a:latin typeface="맑은 고딕"/>
                <a:ea typeface="맑은 고딕"/>
              </a:rPr>
              <a:t>의미를 필요한 만큼</a:t>
            </a:r>
            <a:r>
              <a:rPr sz="1200" b="0">
                <a:solidFill>
                  <a:srgbClr val="000000"/>
                </a:solidFill>
                <a:latin typeface="맑은 고딕"/>
                <a:ea typeface="맑은 고딕"/>
              </a:rPr>
              <a:t> 명확히 하는 일이다.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616364"/>
            <a:ext cx="4439412" cy="4696101"/>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 주문 취소</a:t>
            </a:r>
            <a:r>
              <a:rPr sz="1400" b="0">
                <a:solidFill>
                  <a:srgbClr val="000000"/>
                </a:solidFill>
                <a:latin typeface="맑은 고딕"/>
                <a:ea typeface="맑은 고딕"/>
              </a:rPr>
              <a:t> —</a:t>
            </a:r>
            <a:r>
              <a:rPr sz="1200" b="0">
                <a:solidFill>
                  <a:srgbClr val="000000"/>
                </a:solidFill>
                <a:latin typeface="맑은 고딕"/>
                <a:ea typeface="맑은 고딕"/>
              </a:rPr>
              <a:t> 조건: 고객 소유의 결제 완료 주문, 배송 시작 전</a:t>
            </a:r>
          </a:p>
          <a:p>
            <a:pPr lvl="3" marL="457200" indent="0">
              <a:spcBef>
                <a:spcPts val="300"/>
              </a:spcBef>
              <a:spcAft>
                <a:spcPts val="300"/>
              </a:spcAft>
              <a:buNone/>
            </a:pPr>
            <a:r>
              <a:rPr sz="1200" b="0">
                <a:solidFill>
                  <a:srgbClr val="000000"/>
                </a:solidFill>
                <a:latin typeface="맑은 고딕"/>
                <a:ea typeface="맑은 고딕"/>
              </a:rPr>
              <a:t>1. 고객이 주문을 취소한다.</a:t>
            </a:r>
          </a:p>
          <a:p>
            <a:pPr lvl="3" marL="457200" indent="0">
              <a:spcBef>
                <a:spcPts val="300"/>
              </a:spcBef>
              <a:spcAft>
                <a:spcPts val="300"/>
              </a:spcAft>
              <a:buNone/>
            </a:pPr>
            <a:r>
              <a:rPr sz="1200" b="0">
                <a:solidFill>
                  <a:srgbClr val="000000"/>
                </a:solidFill>
                <a:latin typeface="맑은 고딕"/>
                <a:ea typeface="맑은 고딕"/>
              </a:rPr>
              <a:t>2. 환불이 처리된다.</a:t>
            </a:r>
          </a:p>
          <a:p>
            <a:pPr lvl="3" marL="457200" indent="0">
              <a:spcBef>
                <a:spcPts val="300"/>
              </a:spcBef>
              <a:spcAft>
                <a:spcPts val="300"/>
              </a:spcAft>
              <a:buNone/>
            </a:pPr>
            <a:r>
              <a:rPr sz="1200" b="0">
                <a:solidFill>
                  <a:srgbClr val="000000"/>
                </a:solidFill>
                <a:latin typeface="맑은 고딕"/>
                <a:ea typeface="맑은 고딕"/>
              </a:rPr>
              <a:t>3. 고객은 주문 취소 결과를 확인한다.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결과</a:t>
            </a:r>
            <a:r>
              <a:rPr sz="1200" b="0">
                <a:solidFill>
                  <a:srgbClr val="000000"/>
                </a:solidFill>
                <a:latin typeface="맑은 고딕"/>
                <a:ea typeface="맑은 고딕"/>
              </a:rPr>
              <a:t> —</a:t>
            </a:r>
            <a:r>
              <a:rPr sz="1000" b="0">
                <a:solidFill>
                  <a:srgbClr val="000000"/>
                </a:solidFill>
                <a:latin typeface="맑은 고딕"/>
                <a:ea typeface="맑은 고딕"/>
              </a:rPr>
              <a:t> 주문이 취소 상태이고 결제 금액 전액의 환불이 완료된다.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3a 배송지 변경</a:t>
            </a:r>
            <a:r>
              <a:rPr sz="1000" b="0">
                <a:solidFill>
                  <a:srgbClr val="000000"/>
                </a:solidFill>
                <a:latin typeface="맑은 고딕"/>
                <a:ea typeface="맑은 고딕"/>
              </a:rPr>
              <a:t>(출고 전)</a:t>
            </a:r>
            <a:r>
              <a:rPr sz="1400" b="0">
                <a:solidFill>
                  <a:srgbClr val="000000"/>
                </a:solidFill>
                <a:latin typeface="맑은 고딕"/>
                <a:ea typeface="맑은 고딕"/>
              </a:rPr>
              <a:t>, </a:t>
            </a:r>
            <a:r>
              <a:rPr sz="1400" b="1">
                <a:solidFill>
                  <a:srgbClr val="000000"/>
                </a:solidFill>
                <a:latin typeface="맑은 고딕"/>
                <a:ea typeface="맑은 고딕"/>
              </a:rPr>
              <a:t>5a 주문 내역 확인</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 1a2a 환불 미완료</a:t>
            </a:r>
            <a:r>
              <a:rPr sz="1000" b="0">
                <a:solidFill>
                  <a:srgbClr val="000000"/>
                </a:solidFill>
                <a:latin typeface="맑은 고딕"/>
                <a:ea typeface="맑은 고딕"/>
              </a:rPr>
              <a:t>(교육용 가정)</a:t>
            </a:r>
          </a:p>
          <a:p>
            <a:pPr lvl="3" marL="457200" indent="0">
              <a:spcBef>
                <a:spcPts val="300"/>
              </a:spcBef>
              <a:spcAft>
                <a:spcPts val="300"/>
              </a:spcAft>
              <a:buNone/>
            </a:pPr>
            <a:r>
              <a:rPr sz="1200" b="0">
                <a:solidFill>
                  <a:srgbClr val="000000"/>
                </a:solidFill>
                <a:latin typeface="맑은 고딕"/>
                <a:ea typeface="맑은 고딕"/>
              </a:rPr>
              <a:t>1. 고객은 미완료와 후속 문의 방법을 안내받는다.</a:t>
            </a:r>
          </a:p>
          <a:p>
            <a:pPr lvl="3" marL="457200" indent="0">
              <a:spcBef>
                <a:spcPts val="300"/>
              </a:spcBef>
              <a:spcAft>
                <a:spcPts val="300"/>
              </a:spcAft>
              <a:buNone/>
            </a:pPr>
            <a:r>
              <a:rPr sz="1200" b="0">
                <a:solidFill>
                  <a:srgbClr val="000000"/>
                </a:solidFill>
                <a:latin typeface="맑은 고딕"/>
                <a:ea typeface="맑은 고딕"/>
              </a:rPr>
              <a:t>2. 취소 흐름은 성공 결과 없이 끝난다.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배송 시작 이후에는 일반 취소를 허용하지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미정: 결과 통지 시간, 권한 확인 기준, 결과 확인 방식</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2112010"/>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유스케이스 관계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089833"/>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포함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결제를 확인한다</a:t>
            </a:r>
            <a:r>
              <a:rPr sz="1800" b="0">
                <a:solidFill>
                  <a:srgbClr val="000000"/>
                </a:solidFill>
                <a:latin typeface="맑은 고딕"/>
                <a:ea typeface="맑은 고딕"/>
              </a:rPr>
              <a:t>가 포함으로 분리되는 이유는 내부 함수가 아니라 </a:t>
            </a:r>
            <a:r>
              <a:rPr sz="1800" b="1">
                <a:solidFill>
                  <a:srgbClr val="000000"/>
                </a:solidFill>
                <a:latin typeface="맑은 고딕"/>
                <a:ea typeface="맑은 고딕"/>
              </a:rPr>
              <a:t>외부 결제 시스템과의 상호작용</a:t>
            </a:r>
            <a:r>
              <a:rPr sz="1800" b="0">
                <a:solidFill>
                  <a:srgbClr val="000000"/>
                </a:solidFill>
                <a:latin typeface="맑은 고딕"/>
                <a:ea typeface="맑은 고딕"/>
              </a:rPr>
              <a:t>이기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결제 확인 행위를 포함해야 완료된다. 초안</a:t>
            </a:r>
            <a:r>
              <a:rPr sz="1400" b="0">
                <a:solidFill>
                  <a:srgbClr val="000000"/>
                </a:solidFill>
                <a:latin typeface="맑은 고딕"/>
                <a:ea typeface="맑은 고딕"/>
              </a:rPr>
              <a:t>(「27. 유스케이스 다이어그램 —</a:t>
            </a:r>
            <a:r>
              <a:rPr sz="1200" b="0">
                <a:solidFill>
                  <a:srgbClr val="000000"/>
                </a:solidFill>
                <a:latin typeface="맑은 고딕"/>
                <a:ea typeface="맑은 고딕"/>
              </a:rPr>
              <a:t> 초안」)</a:t>
            </a:r>
            <a:r>
              <a:rPr sz="1600" b="0">
                <a:solidFill>
                  <a:srgbClr val="000000"/>
                </a:solidFill>
                <a:latin typeface="맑은 고딕"/>
                <a:ea typeface="맑은 고딕"/>
              </a:rPr>
              <a:t>에 </a:t>
            </a:r>
            <a:r>
              <a:rPr sz="1600" b="1">
                <a:solidFill>
                  <a:srgbClr val="000000"/>
                </a:solidFill>
                <a:latin typeface="맑은 고딕"/>
                <a:ea typeface="맑은 고딕"/>
              </a:rPr>
              <a:t>지원 액터</a:t>
            </a:r>
            <a:r>
              <a:rPr sz="1600" b="0">
                <a:solidFill>
                  <a:srgbClr val="000000"/>
                </a:solidFill>
                <a:latin typeface="맑은 고딕"/>
                <a:ea typeface="맑은 고딕"/>
              </a:rPr>
              <a:t>(오른쪽 </a:t>
            </a:r>
            <a:r>
              <a:rPr sz="1600" b="0">
                <a:solidFill>
                  <a:srgbClr val="000000"/>
                </a:solidFill>
                <a:latin typeface="맑은 고딕"/>
                <a:ea typeface="맑은 고딕"/>
              </a:rPr>
              <a:t>«actor»</a:t>
            </a:r>
            <a:r>
              <a:rPr sz="16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포함 관계</a:t>
            </a:r>
          </a:p>
        </p:txBody>
      </p:sp>
      <p:pic>
        <p:nvPicPr>
          <p:cNvPr id="10" name="svg Diagram 4" descr="상세화한 유스케이스 다이어그램: 주문을 관리한다가 결제를 확인한다를 포함하고 결제 시스템은 결제를 확인한다와 연결"/>
          <p:cNvPicPr>
            <a:picLocks noChangeAspect="1"/>
          </p:cNvPicPr>
          <p:nvPr/>
        </p:nvPicPr>
        <p:blipFill>
          <a:blip r:embed="svgImage4"/>
          <a:stretch>
            <a:fillRect/>
          </a:stretch>
        </p:blipFill>
        <p:spPr>
          <a:xfrm>
            <a:off x="1774031" y="1850136"/>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확장 관계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r>
              <a:rPr sz="1800" b="0">
                <a:solidFill>
                  <a:srgbClr val="000000"/>
                </a:solidFill>
                <a:latin typeface="맑은 고딕"/>
                <a:ea typeface="맑은 고딕"/>
              </a:rPr>
              <a:t>의 주문 흐름은 </a:t>
            </a:r>
            <a:r>
              <a:rPr sz="1800" b="1">
                <a:solidFill>
                  <a:srgbClr val="000000"/>
                </a:solidFill>
                <a:latin typeface="맑은 고딕"/>
                <a:ea typeface="맑은 고딕"/>
              </a:rPr>
              <a:t>쿠폰 없이도 완료</a:t>
            </a:r>
            <a:r>
              <a:rPr sz="1800" b="0">
                <a:solidFill>
                  <a:srgbClr val="000000"/>
                </a:solidFill>
                <a:latin typeface="맑은 고딕"/>
                <a:ea typeface="맑은 고딕"/>
              </a:rPr>
              <a:t>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유효한 쿠폰 요청이 있으면 </a:t>
            </a:r>
            <a:r>
              <a:rPr sz="1600" b="0">
                <a:solidFill>
                  <a:srgbClr val="000000"/>
                </a:solidFill>
                <a:latin typeface="맑은 고딕"/>
                <a:ea typeface="맑은 고딕"/>
              </a:rPr>
              <a:t>최종 금액 확정 전</a:t>
            </a:r>
            <a:r>
              <a:rPr sz="1600" b="0">
                <a:solidFill>
                  <a:srgbClr val="000000"/>
                </a:solidFill>
                <a:latin typeface="맑은 고딕"/>
                <a:ea typeface="맑은 고딕"/>
              </a:rPr>
              <a:t>에 쿠폰을 </a:t>
            </a:r>
            <a:r>
              <a:rPr sz="1600" b="1">
                <a:solidFill>
                  <a:srgbClr val="000000"/>
                </a:solidFill>
                <a:latin typeface="맑은 고딕"/>
                <a:ea typeface="맑은 고딕"/>
              </a:rPr>
              <a:t>적용</a:t>
            </a:r>
            <a:r>
              <a:rPr sz="16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313432"/>
            <a:ext cx="8412480" cy="201168"/>
          </a:xfrm>
          <a:prstGeom prst="rect">
            <a:avLst/>
          </a:prstGeom>
          <a:noFill/>
        </p:spPr>
        <p:txBody>
          <a:bodyPr wrap="square">
            <a:spAutoFit/>
          </a:bodyPr>
          <a:lstStyle/>
          <a:p>
            <a:pPr algn="ctr"/>
            <a:r>
              <a:rPr sz="1400" b="1">
                <a:solidFill>
                  <a:srgbClr val="000000"/>
                </a:solidFill>
                <a:latin typeface="맑은 고딕"/>
                <a:ea typeface="맑은 고딕"/>
              </a:rPr>
              <a:t>확장 관계</a:t>
            </a:r>
          </a:p>
        </p:txBody>
      </p:sp>
      <p:pic>
        <p:nvPicPr>
          <p:cNvPr id="10" name="svg Diagram 5" descr="확장 관계: 쿠폰을 적용한다가 확장 조건에 따라 주문을 관리한다를 확장"/>
          <p:cNvPicPr>
            <a:picLocks noChangeAspect="1"/>
          </p:cNvPicPr>
          <p:nvPr/>
        </p:nvPicPr>
        <p:blipFill>
          <a:blip r:embed="svgImage5"/>
          <a:stretch>
            <a:fillRect/>
          </a:stretch>
        </p:blipFill>
        <p:spPr>
          <a:xfrm>
            <a:off x="2250281" y="2551176"/>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일반화 예</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의미·행위를 </a:t>
            </a:r>
            <a:r>
              <a:rPr sz="1800" b="1">
                <a:solidFill>
                  <a:srgbClr val="000000"/>
                </a:solidFill>
                <a:latin typeface="맑은 고딕"/>
                <a:ea typeface="맑은 고딕"/>
              </a:rPr>
              <a:t>모두 이어받을 때만</a:t>
            </a:r>
            <a:r>
              <a:rPr sz="1800" b="0">
                <a:solidFill>
                  <a:srgbClr val="000000"/>
                </a:solidFill>
                <a:latin typeface="맑은 고딕"/>
                <a:ea typeface="맑은 고딕"/>
              </a:rPr>
              <a:t> 일반화를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기업 고객·VIP 고객이 </a:t>
            </a:r>
            <a:r>
              <a:rPr sz="1800" b="0">
                <a:solidFill>
                  <a:srgbClr val="000000"/>
                </a:solidFill>
                <a:latin typeface="맑은 고딕"/>
                <a:ea typeface="맑은 고딕"/>
              </a:rPr>
              <a:t>주문을 관리한다</a:t>
            </a:r>
            <a:r>
              <a:rPr sz="1800" b="0">
                <a:solidFill>
                  <a:srgbClr val="000000"/>
                </a:solidFill>
                <a:latin typeface="맑은 고딕"/>
                <a:ea typeface="맑은 고딕"/>
              </a:rPr>
              <a:t>를 </a:t>
            </a:r>
            <a:r>
              <a:rPr sz="1800" b="1">
                <a:solidFill>
                  <a:srgbClr val="000000"/>
                </a:solidFill>
                <a:latin typeface="맑은 고딕"/>
                <a:ea typeface="맑은 고딕"/>
              </a:rPr>
              <a:t>모두 이어받는다</a:t>
            </a:r>
            <a:r>
              <a:rPr sz="1800" b="0">
                <a:solidFill>
                  <a:srgbClr val="000000"/>
                </a:solidFill>
                <a:latin typeface="맑은 고딕"/>
                <a:ea typeface="맑은 고딕"/>
              </a:rPr>
              <a:t>고 가정한다.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이후 </a:t>
            </a:r>
            <a:r>
              <a:rPr sz="1600" b="1">
                <a:solidFill>
                  <a:srgbClr val="000000"/>
                </a:solidFill>
                <a:latin typeface="맑은 고딕"/>
                <a:ea typeface="맑은 고딕"/>
              </a:rPr>
              <a:t>한도·혜택</a:t>
            </a:r>
            <a:r>
              <a:rPr sz="1600" b="0">
                <a:solidFill>
                  <a:srgbClr val="000000"/>
                </a:solidFill>
                <a:latin typeface="맑은 고딕"/>
                <a:ea typeface="맑은 고딕"/>
              </a:rPr>
              <a:t> 등 요건이 붙을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63952"/>
            <a:ext cx="8412480" cy="201168"/>
          </a:xfrm>
          <a:prstGeom prst="rect">
            <a:avLst/>
          </a:prstGeom>
          <a:noFill/>
        </p:spPr>
        <p:txBody>
          <a:bodyPr wrap="square">
            <a:spAutoFit/>
          </a:bodyPr>
          <a:lstStyle/>
          <a:p>
            <a:pPr algn="ctr"/>
            <a:r>
              <a:rPr sz="1400" b="1">
                <a:solidFill>
                  <a:srgbClr val="000000"/>
                </a:solidFill>
                <a:latin typeface="맑은 고딕"/>
                <a:ea typeface="맑은 고딕"/>
              </a:rPr>
              <a:t>일반화 관계</a:t>
            </a:r>
          </a:p>
        </p:txBody>
      </p:sp>
      <p:pic>
        <p:nvPicPr>
          <p:cNvPr id="10" name="svg Diagram 6" descr="액터 일반화: 기업 고객과 VIP 고객이 고객을 특수화하고 고객은 주문을 관리한다에 참여"/>
          <p:cNvPicPr>
            <a:picLocks noChangeAspect="1"/>
          </p:cNvPicPr>
          <p:nvPr/>
        </p:nvPicPr>
        <p:blipFill>
          <a:blip r:embed="svgImage6"/>
          <a:stretch>
            <a:fillRect/>
          </a:stretch>
        </p:blipFill>
        <p:spPr>
          <a:xfrm>
            <a:off x="2637234" y="2901696"/>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2112010"/>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유스케이스를 잘게 쪼개면 </a:t>
            </a:r>
            <a:r>
              <a:rPr sz="1800" b="1">
                <a:solidFill>
                  <a:srgbClr val="000000"/>
                </a:solidFill>
                <a:latin typeface="맑은 고딕"/>
                <a:ea typeface="맑은 고딕"/>
              </a:rPr>
              <a:t>액터의 목표가 사라진다</a:t>
            </a:r>
            <a:r>
              <a:rPr sz="1800" b="0">
                <a:solidFill>
                  <a:srgbClr val="000000"/>
                </a:solidFill>
                <a:latin typeface="맑은 고딕"/>
                <a:ea typeface="맑은 고딕"/>
              </a:rPr>
              <a:t>. 판단 질문은 </a:t>
            </a:r>
            <a:r>
              <a:rPr sz="1800" b="1">
                <a:solidFill>
                  <a:srgbClr val="000000"/>
                </a:solidFill>
                <a:latin typeface="맑은 고딕"/>
                <a:ea typeface="맑은 고딕"/>
              </a:rPr>
              <a:t>이것만 마치고 액터가 만족해서 떠날 수 있는가?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3523788"/>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 유지는 생성·조회·수정·삭제로 나누지 않고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다룬다. 조회·수정·삭제는 </a:t>
            </a:r>
            <a:r>
              <a:rPr sz="1800" b="1">
                <a:solidFill>
                  <a:srgbClr val="000000"/>
                </a:solidFill>
                <a:latin typeface="맑은 고딕"/>
                <a:ea typeface="맑은 고딕"/>
              </a:rPr>
              <a:t>대안 흐름</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따로인 생성·조회·수정·삭제 목표를 </a:t>
            </a:r>
            <a:r>
              <a:rPr sz="1800" b="1">
                <a:solidFill>
                  <a:srgbClr val="000000"/>
                </a:solidFill>
                <a:latin typeface="맑은 고딕"/>
                <a:ea typeface="맑은 고딕"/>
              </a:rPr>
              <a:t>하나의 CRUD 유스케이스</a:t>
            </a:r>
            <a:r>
              <a:rPr sz="1800" b="0">
                <a:solidFill>
                  <a:srgbClr val="000000"/>
                </a:solidFill>
                <a:latin typeface="맑은 고딕"/>
                <a:ea typeface="맑은 고딕"/>
              </a:rPr>
              <a:t>로 묶어 관용적으로 </a:t>
            </a:r>
            <a:r>
              <a:rPr sz="1800" b="0">
                <a:solidFill>
                  <a:srgbClr val="000000"/>
                </a:solidFill>
                <a:latin typeface="맑은 고딕"/>
                <a:ea typeface="맑은 고딕"/>
              </a:rPr>
              <a:t>Manage &lt;X&gt;</a:t>
            </a:r>
            <a:r>
              <a:rPr sz="1800" b="0">
                <a:solidFill>
                  <a:srgbClr val="000000"/>
                </a:solidFill>
                <a:latin typeface="맑은 고딕"/>
                <a:ea typeface="맑은 고딕"/>
              </a:rPr>
              <a:t>라 부른다</a:t>
            </a:r>
            <a:r>
              <a:rPr sz="1000" b="0">
                <a:solidFill>
                  <a:srgbClr val="000000"/>
                </a:solidFill>
                <a:latin typeface="맑은 고딕"/>
                <a:ea typeface="맑은 고딕"/>
              </a:rPr>
              <a:t>, </a:t>
            </a:r>
            <a:r>
              <a:rPr sz="1000" b="0">
                <a:solidFill>
                  <a:srgbClr val="000000"/>
                </a:solidFill>
                <a:latin typeface="맑은 고딕"/>
                <a:ea typeface="맑은 고딕"/>
              </a:rPr>
              <a:t>"…to collapse CRUD (create, retrieve, update, delete) separate goals into one CRUD use case, idiomatically called Manage &lt;X&gt;."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하나로 다루는 기준</a:t>
            </a:r>
            <a:r>
              <a:rPr sz="1800" b="0">
                <a:solidFill>
                  <a:srgbClr val="000000"/>
                </a:solidFill>
                <a:latin typeface="맑은 고딕"/>
                <a:ea typeface="맑은 고딕"/>
              </a:rPr>
              <a:t>은 같은 자료의 유지다. 시작 조건·목표·결과가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5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898948"/>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a:t>
            </a:r>
            <a:r>
              <a:rPr sz="1800" b="1">
                <a:solidFill>
                  <a:srgbClr val="000000"/>
                </a:solidFill>
                <a:latin typeface="맑은 고딕"/>
                <a:ea typeface="맑은 고딕"/>
              </a:rPr>
              <a:t>본질 스타일</a:t>
            </a:r>
            <a:r>
              <a:rPr sz="1800" b="0">
                <a:solidFill>
                  <a:srgbClr val="000000"/>
                </a:solidFill>
                <a:latin typeface="맑은 고딕"/>
                <a:ea typeface="맑은 고딕"/>
              </a:rPr>
              <a:t>로 쓴다 — 사용자 인터페이스를 빼고 </a:t>
            </a:r>
            <a:r>
              <a:rPr sz="1800" b="1">
                <a:solidFill>
                  <a:srgbClr val="000000"/>
                </a:solidFill>
                <a:latin typeface="맑은 고딕"/>
                <a:ea typeface="맑은 고딕"/>
              </a:rPr>
              <a:t>액터의 의도</a:t>
            </a:r>
            <a:r>
              <a:rPr sz="1800" b="0">
                <a:solidFill>
                  <a:srgbClr val="000000"/>
                </a:solidFill>
                <a:latin typeface="맑은 고딕"/>
                <a:ea typeface="맑은 고딕"/>
              </a:rPr>
              <a:t>에 집중한다</a:t>
            </a:r>
            <a:r>
              <a:rPr sz="1000" b="0">
                <a:solidFill>
                  <a:srgbClr val="000000"/>
                </a:solidFill>
                <a:latin typeface="맑은 고딕"/>
                <a:ea typeface="맑은 고딕"/>
              </a:rPr>
              <a:t>, </a:t>
            </a:r>
            <a:r>
              <a:rPr sz="1000" b="0">
                <a:solidFill>
                  <a:srgbClr val="000000"/>
                </a:solidFill>
                <a:latin typeface="맑은 고딕"/>
                <a:ea typeface="맑은 고딕"/>
              </a:rPr>
              <a:t>"Write use cases in an essential style; keep the user interface out and focus on actor intent."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2112010"/>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51725" y="1837690"/>
          <a:ext cx="7426960" cy="3873500"/>
        </p:xfrm>
        <a:graphic>
          <a:graphicData uri="http://schemas.openxmlformats.org/drawingml/2006/table">
            <a:tbl>
              <a:tblPr/>
              <a:tblGrid>
                <a:gridCol w="3462020"/>
                <a:gridCol w="3964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규칙·특별 요구사항으로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바른 모습은 </a:t>
            </a:r>
            <a:r>
              <a:rPr sz="1800" b="1">
                <a:solidFill>
                  <a:srgbClr val="000000"/>
                </a:solidFill>
                <a:latin typeface="맑은 고딕"/>
                <a:ea typeface="맑은 고딕"/>
              </a:rPr>
              <a:t>상품 정보를 관리한다</a:t>
            </a:r>
            <a:r>
              <a:rPr sz="1800" b="0">
                <a:solidFill>
                  <a:srgbClr val="000000"/>
                </a:solidFill>
                <a:latin typeface="맑은 고딕"/>
                <a:ea typeface="맑은 고딕"/>
              </a:rPr>
              <a:t> 하나와 대안 흐름이다</a:t>
            </a:r>
            <a:r>
              <a:rPr sz="1400" b="0">
                <a:solidFill>
                  <a:srgbClr val="000000"/>
                </a:solidFill>
                <a:latin typeface="맑은 고딕"/>
                <a:ea typeface="맑은 고딕"/>
              </a:rPr>
              <a:t>(「36. 잘못된 관행 —</a:t>
            </a:r>
            <a:r>
              <a:rPr sz="1200" b="0">
                <a:solidFill>
                  <a:srgbClr val="000000"/>
                </a:solidFill>
                <a:latin typeface="맑은 고딕"/>
                <a:ea typeface="맑은 고딕"/>
              </a:rPr>
              <a:t> CRUD 분할」)</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CRUD를 포함 관계로 분해한 예</a:t>
            </a:r>
          </a:p>
        </p:txBody>
      </p:sp>
      <p:pic>
        <p:nvPicPr>
          <p:cNvPr id="10" name="svg Diagram 7" descr="잘못된 예: 상품 관리를 등록·조회·수정·삭제 포함 관계로 분해"/>
          <p:cNvPicPr>
            <a:picLocks noChangeAspect="1"/>
          </p:cNvPicPr>
          <p:nvPr/>
        </p:nvPicPr>
        <p:blipFill>
          <a:blip r:embed="svgImage7"/>
          <a:stretch>
            <a:fillRect/>
          </a:stretch>
        </p:blipFill>
        <p:spPr>
          <a:xfrm>
            <a:off x="1893094" y="2749296"/>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경계가 없고, 유스케이스 사이의 일반 화살표가 </a:t>
            </a:r>
            <a:r>
              <a:rPr sz="1800" b="1">
                <a:solidFill>
                  <a:srgbClr val="000000"/>
                </a:solidFill>
                <a:latin typeface="맑은 고딕"/>
                <a:ea typeface="맑은 고딕"/>
              </a:rPr>
              <a:t>실행 순서</a:t>
            </a:r>
            <a:r>
              <a:rPr sz="1800" b="0">
                <a:solidFill>
                  <a:srgbClr val="000000"/>
                </a:solidFill>
                <a:latin typeface="맑은 고딕"/>
                <a:ea typeface="맑은 고딕"/>
              </a:rPr>
              <a:t>를 나타낸다.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메뉴 구조를 그대로 옮기거나, 모든 액터를 모든 유스케이스에 잇는 </a:t>
            </a:r>
            <a:r>
              <a:rPr sz="1800" b="1">
                <a:solidFill>
                  <a:srgbClr val="000000"/>
                </a:solidFill>
                <a:latin typeface="맑은 고딕"/>
                <a:ea typeface="맑은 고딕"/>
              </a:rPr>
              <a:t>거미줄</a:t>
            </a:r>
            <a:r>
              <a:rPr sz="1800" b="0">
                <a:solidFill>
                  <a:srgbClr val="000000"/>
                </a:solidFill>
                <a:latin typeface="맑은 고딕"/>
                <a:ea typeface="맑은 고딕"/>
              </a:rPr>
              <a:t>도 피한다.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업무 순서로 그린 예</a:t>
            </a:r>
          </a:p>
        </p:txBody>
      </p:sp>
      <p:pic>
        <p:nvPicPr>
          <p:cNvPr id="10" name="svg Diagram 8" descr="잘못된 예: 시스템 경계 없이 유스케이스 사이 화살표로 실행 순서를 표현"/>
          <p:cNvPicPr>
            <a:picLocks noChangeAspect="1"/>
          </p:cNvPicPr>
          <p:nvPr/>
        </p:nvPicPr>
        <p:blipFill>
          <a:blip r:embed="svgImage8"/>
          <a:stretch>
            <a:fillRect/>
          </a:stretch>
        </p:blipFill>
        <p:spPr>
          <a:xfrm>
            <a:off x="1744266" y="2749296"/>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유스케이스의 시나리오 하나에서 </a:t>
            </a:r>
            <a:r>
              <a:rPr sz="1800" b="1">
                <a:solidFill>
                  <a:srgbClr val="000000"/>
                </a:solidFill>
                <a:latin typeface="맑은 고딕"/>
                <a:ea typeface="맑은 고딕"/>
              </a:rPr>
              <a:t>외부 액터가 만드는 이벤트와 그 순서</a:t>
            </a:r>
            <a:r>
              <a:rPr sz="1800" b="0">
                <a:solidFill>
                  <a:srgbClr val="000000"/>
                </a:solidFill>
                <a:latin typeface="맑은 고딕"/>
                <a:ea typeface="맑은 고딕"/>
              </a:rPr>
              <a:t>와 </a:t>
            </a:r>
            <a:r>
              <a:rPr sz="1800" b="1">
                <a:solidFill>
                  <a:srgbClr val="000000"/>
                </a:solidFill>
                <a:latin typeface="맑은 고딕"/>
                <a:ea typeface="맑은 고딕"/>
              </a:rPr>
              <a:t>시스템 사이의 이벤트</a:t>
            </a:r>
            <a:r>
              <a:rPr sz="1800" b="0">
                <a:solidFill>
                  <a:srgbClr val="000000"/>
                </a:solidFill>
                <a:latin typeface="맑은 고딕"/>
                <a:ea typeface="맑은 고딕"/>
              </a:rPr>
              <a:t>를 보이는 그림이다</a:t>
            </a:r>
            <a:r>
              <a:rPr sz="1000" b="0">
                <a:solidFill>
                  <a:srgbClr val="000000"/>
                </a:solidFill>
                <a:latin typeface="맑은 고딕"/>
                <a:ea typeface="맑은 고딕"/>
              </a:rPr>
              <a:t>, </a:t>
            </a:r>
            <a:r>
              <a:rPr sz="1000" b="0">
                <a:solidFill>
                  <a:srgbClr val="000000"/>
                </a:solidFill>
                <a:latin typeface="맑은 고딕"/>
                <a:ea typeface="맑은 고딕"/>
              </a:rPr>
              <a:t>"A system sequence diagram is a picture that shows, for one particular scenario of a use case, the events that external actors generate, their order, and inter-system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SSD로 시스템 이벤트를 찾고, 시스템 오퍼레이션과 계약으로 잇는다.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이름은 입력 장치가 아니라 </a:t>
            </a:r>
            <a:r>
              <a:rPr sz="1800" b="1">
                <a:solidFill>
                  <a:srgbClr val="000000"/>
                </a:solidFill>
                <a:latin typeface="맑은 고딕"/>
                <a:ea typeface="맑은 고딕"/>
              </a:rPr>
              <a:t>의도</a:t>
            </a:r>
            <a:r>
              <a:rPr sz="1800" b="0">
                <a:solidFill>
                  <a:srgbClr val="000000"/>
                </a:solidFill>
                <a:latin typeface="맑은 고딕"/>
                <a:ea typeface="맑은 고딕"/>
              </a:rPr>
              <a:t>로 짓는다 —</a:t>
            </a:r>
            <a:r>
              <a:rPr sz="1600" b="0">
                <a:solidFill>
                  <a:srgbClr val="000000"/>
                </a:solidFill>
                <a:latin typeface="맑은 고딕"/>
                <a:ea typeface="맑은 고딕"/>
              </a:rPr>
              <a:t> </a:t>
            </a:r>
            <a:r>
              <a:rPr sz="1600" b="0">
                <a:solidFill>
                  <a:srgbClr val="000000"/>
                </a:solidFill>
                <a:latin typeface="맑은 고딕"/>
                <a:ea typeface="맑은 고딕"/>
              </a:rPr>
              <a:t>버튼을 누른다</a:t>
            </a:r>
            <a:r>
              <a:rPr sz="1600" b="0">
                <a:solidFill>
                  <a:srgbClr val="000000"/>
                </a:solidFill>
                <a:latin typeface="맑은 고딕"/>
                <a:ea typeface="맑은 고딕"/>
              </a:rPr>
              <a:t>가 아니라 </a:t>
            </a:r>
            <a:r>
              <a:rPr sz="1600" b="0">
                <a:solidFill>
                  <a:srgbClr val="000000"/>
                </a:solidFill>
                <a:latin typeface="맑은 고딕"/>
                <a:ea typeface="맑은 고딕"/>
              </a:rPr>
              <a:t>결제한다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108"/>
            <a:ext cx="8412480" cy="201168"/>
          </a:xfrm>
          <a:prstGeom prst="rect">
            <a:avLst/>
          </a:prstGeom>
          <a:noFill/>
        </p:spPr>
        <p:txBody>
          <a:bodyPr wrap="square">
            <a:spAutoFit/>
          </a:bodyPr>
          <a:lstStyle/>
          <a:p>
            <a:pPr algn="ctr"/>
            <a:r>
              <a:rPr sz="1400" b="1">
                <a:solidFill>
                  <a:srgbClr val="000000"/>
                </a:solidFill>
                <a:latin typeface="맑은 고딕"/>
                <a:ea typeface="맑은 고딕"/>
              </a:rPr>
              <a:t>SSD 표기</a:t>
            </a:r>
          </a:p>
        </p:txBody>
      </p:sp>
      <p:pic>
        <p:nvPicPr>
          <p:cNvPr id="10" name="svg Diagram 9" descr="시스템 시퀀스 다이어그램 표기: 액터, 대상 시스템과 생명선, 시스템 이벤트, 반복 프레임"/>
          <p:cNvPicPr>
            <a:picLocks noChangeAspect="1"/>
          </p:cNvPicPr>
          <p:nvPr/>
        </p:nvPicPr>
        <p:blipFill>
          <a:blip r:embed="svgImage9"/>
          <a:stretch>
            <a:fillRect/>
          </a:stretch>
        </p:blipFill>
        <p:spPr>
          <a:xfrm>
            <a:off x="1926167" y="4048852"/>
            <a:ext cx="5291667"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29874"/>
                <a:gridCol w="2453141"/>
                <a:gridCol w="33227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프레임(frame)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이벤트를 하나씩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반복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a:t>
            </a:r>
            <a:r>
              <a:rPr sz="1800" b="1">
                <a:solidFill>
                  <a:srgbClr val="000000"/>
                </a:solidFill>
                <a:latin typeface="맑은 고딕"/>
                <a:ea typeface="맑은 고딕"/>
              </a:rPr>
              <a:t>이벤트가 아니다</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SSD 초안</a:t>
            </a:r>
          </a:p>
        </p:txBody>
      </p:sp>
      <p:pic>
        <p:nvPicPr>
          <p:cNvPr id="10" name="svg Diagram 10" descr="유스케이스 기본 흐름의 각 단계와 SSD 초안의 시스템 이벤트 대응"/>
          <p:cNvPicPr>
            <a:picLocks noChangeAspect="1"/>
          </p:cNvPicPr>
          <p:nvPr/>
        </p:nvPicPr>
        <p:blipFill>
          <a:blip r:embed="svgImage10"/>
          <a:stretch>
            <a:fillRect/>
          </a:stretch>
        </p:blipFill>
        <p:spPr>
          <a:xfrm>
            <a:off x="1684734" y="2749296"/>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SSD와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이벤트는 </a:t>
            </a:r>
            <a:r>
              <a:rPr sz="1800" b="1">
                <a:solidFill>
                  <a:srgbClr val="000000"/>
                </a:solidFill>
                <a:latin typeface="맑은 고딕"/>
                <a:ea typeface="맑은 고딕"/>
              </a:rPr>
              <a:t>시스템 경계의 오퍼레이션</a:t>
            </a:r>
            <a:r>
              <a:rPr sz="1800" b="0">
                <a:solidFill>
                  <a:srgbClr val="000000"/>
                </a:solidFill>
                <a:latin typeface="맑은 고딕"/>
                <a:ea typeface="맑은 고딕"/>
              </a:rPr>
              <a:t>이 된다. 사용자 목표 하나를 이벤트 하나로 줄이면 </a:t>
            </a:r>
            <a:r>
              <a:rPr sz="1800" b="1">
                <a:solidFill>
                  <a:srgbClr val="000000"/>
                </a:solidFill>
                <a:latin typeface="맑은 고딕"/>
                <a:ea typeface="맑은 고딕"/>
              </a:rPr>
              <a:t>이벤트 흐름이 사라진다</a:t>
            </a:r>
            <a:r>
              <a:rPr sz="1800" b="0">
                <a:solidFill>
                  <a:srgbClr val="000000"/>
                </a:solidFill>
                <a:latin typeface="맑은 고딕"/>
                <a:ea typeface="맑은 고딕"/>
              </a:rPr>
              <a:t>.</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313390"/>
            <a:ext cx="2627923"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시스템 이벤트와 코드</a:t>
            </a:r>
          </a:p>
        </p:txBody>
      </p:sp>
      <p:pic>
        <p:nvPicPr>
          <p:cNvPr id="34" name="plantuml Diagram 1"/>
          <p:cNvPicPr>
            <a:picLocks noChangeAspect="1"/>
          </p:cNvPicPr>
          <p:nvPr/>
        </p:nvPicPr>
        <p:blipFill>
          <a:blip r:embed="plantumlImage1"/>
          <a:stretch>
            <a:fillRect/>
          </a:stretch>
        </p:blipFill>
        <p:spPr>
          <a:xfrm>
            <a:off x="550376" y="2551134"/>
            <a:ext cx="2258691" cy="190183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2567940"/>
                <a:gridCol w="2529840"/>
                <a:gridCol w="150622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결제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전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액터의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흐름·이벤트·오퍼레이션·계약</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10049"/>
          <a:ext cx="8305800" cy="3873500"/>
        </p:xfrm>
        <a:graphic>
          <a:graphicData uri="http://schemas.openxmlformats.org/drawingml/2006/table">
            <a:tbl>
              <a:tblPr/>
              <a:tblGrid>
                <a:gridCol w="1617980"/>
                <a:gridCol w="2959100"/>
                <a:gridCol w="372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외부 시스템에 맡기는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동사(필요한 정보), 시스템 이벤트마다 필요한 요청만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558159"/>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a:t>
            </a:r>
            <a:r>
              <a:rPr sz="1800" b="0">
                <a:solidFill>
                  <a:srgbClr val="000000"/>
                </a:solidFill>
                <a:latin typeface="맑은 고딕"/>
                <a:ea typeface="맑은 고딕"/>
              </a:rPr>
              <a:t>은 그리지 않는다. 외부 시스템이 나중에 알리는 결과는 </a:t>
            </a:r>
            <a:r>
              <a:rPr sz="1800" b="1">
                <a:solidFill>
                  <a:srgbClr val="000000"/>
                </a:solidFill>
                <a:latin typeface="맑은 고딕"/>
                <a:ea typeface="맑은 고딕"/>
              </a:rPr>
              <a:t>별도의 이벤트</a:t>
            </a:r>
            <a:r>
              <a:rPr sz="1800" b="0">
                <a:solidFill>
                  <a:srgbClr val="000000"/>
                </a:solidFill>
                <a:latin typeface="맑은 고딕"/>
                <a:ea typeface="맑은 고딕"/>
              </a:rPr>
              <a:t>다</a:t>
            </a:r>
            <a:r>
              <a:rPr sz="1400" b="0">
                <a:solidFill>
                  <a:srgbClr val="000000"/>
                </a:solidFill>
                <a:latin typeface="맑은 고딕"/>
                <a:ea typeface="맑은 고딕"/>
              </a:rPr>
              <a:t>(배송 시작 통보)</a:t>
            </a:r>
            <a:r>
              <a:rPr sz="1800" b="0">
                <a:solidFill>
                  <a:srgbClr val="000000"/>
                </a:solidFill>
                <a:latin typeface="맑은 고딕"/>
                <a:ea typeface="맑은 고딕"/>
              </a:rPr>
              <a:t>.</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115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정제된 SSD 표기</a:t>
            </a:r>
          </a:p>
        </p:txBody>
      </p:sp>
      <p:pic>
        <p:nvPicPr>
          <p:cNvPr id="17" name="svg Diagram 11" descr="정제된 SSD 표기: 외부 시스템 생명선, 외부 시스템에 보내는 요청"/>
          <p:cNvPicPr>
            <a:picLocks noChangeAspect="1"/>
          </p:cNvPicPr>
          <p:nvPr/>
        </p:nvPicPr>
        <p:blipFill>
          <a:blip r:embed="svgImage11"/>
          <a:stretch>
            <a:fillRect/>
          </a:stretch>
        </p:blipFill>
        <p:spPr>
          <a:xfrm>
            <a:off x="2183956" y="2124456"/>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12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2"/>
          <p:cNvPicPr>
            <a:picLocks noChangeAspect="1"/>
          </p:cNvPicPr>
          <p:nvPr/>
        </p:nvPicPr>
        <p:blipFill>
          <a:blip r:embed="plantumlImage2"/>
          <a:stretch>
            <a:fillRect/>
          </a:stretch>
        </p:blipFill>
        <p:spPr>
          <a:xfrm>
            <a:off x="1059962" y="1850136"/>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3011170"/>
          <a:ext cx="7005320" cy="3873500"/>
        </p:xfrm>
        <a:graphic>
          <a:graphicData uri="http://schemas.openxmlformats.org/drawingml/2006/table">
            <a:tbl>
              <a:tblPr/>
              <a:tblGrid>
                <a:gridCol w="2931160"/>
                <a:gridCol w="175768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결제 승인, 재고 차감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결제한다의 처리에 필요하다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뒤 다른 시스템에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재고·입금·영수증·출고는 주문 시스템이 </a:t>
            </a:r>
            <a:r>
              <a:rPr sz="1800" b="1">
                <a:solidFill>
                  <a:srgbClr val="000000"/>
                </a:solidFill>
                <a:latin typeface="맑은 고딕"/>
                <a:ea typeface="맑은 고딕"/>
              </a:rPr>
              <a:t>하지 않고 요청한다</a:t>
            </a:r>
            <a:r>
              <a:rPr sz="1800" b="0">
                <a:solidFill>
                  <a:srgbClr val="000000"/>
                </a:solidFill>
                <a:latin typeface="맑은 고딕"/>
                <a:ea typeface="맑은 고딕"/>
              </a:rPr>
              <a:t>. 이 요청은 계약의 사후조건이 아니라 이 SSD의 시스템 사이 이벤트다</a:t>
            </a:r>
            <a:r>
              <a:rPr sz="1400" b="0">
                <a:solidFill>
                  <a:srgbClr val="000000"/>
                </a:solidFill>
                <a:latin typeface="맑은 고딕"/>
                <a:ea typeface="맑은 고딕"/>
              </a:rPr>
              <a:t>(「45. 시스템 오퍼레이션과 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 시스템의 </a:t>
            </a:r>
            <a:r>
              <a:rPr sz="1800" b="1">
                <a:solidFill>
                  <a:srgbClr val="000000"/>
                </a:solidFill>
                <a:latin typeface="맑은 고딕"/>
                <a:ea typeface="맑은 고딕"/>
              </a:rPr>
              <a:t>배송 시작·완료 통보</a:t>
            </a:r>
            <a:r>
              <a:rPr sz="1800" b="0">
                <a:solidFill>
                  <a:srgbClr val="000000"/>
                </a:solidFill>
                <a:latin typeface="맑은 고딕"/>
                <a:ea typeface="맑은 고딕"/>
              </a:rPr>
              <a:t>는 주문 시스템이 반응할 외부 이벤트다</a:t>
            </a:r>
            <a:r>
              <a:rPr sz="1400" b="0">
                <a:solidFill>
                  <a:srgbClr val="000000"/>
                </a:solidFill>
                <a:latin typeface="맑은 고딕"/>
                <a:ea typeface="맑은 고딕"/>
              </a:rPr>
              <a:t>(「07. 이벤트 중심 요구」)</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127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메시지의 종류</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39607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외부 시스템과 코드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시스템은 주문 시스템이 </a:t>
            </a:r>
            <a:r>
              <a:rPr sz="1800" b="1">
                <a:solidFill>
                  <a:srgbClr val="000000"/>
                </a:solidFill>
                <a:latin typeface="맑은 고딕"/>
                <a:ea typeface="맑은 고딕"/>
              </a:rPr>
              <a:t>호출하는 인터페이스</a:t>
            </a:r>
            <a:r>
              <a:rPr sz="1800" b="0">
                <a:solidFill>
                  <a:srgbClr val="000000"/>
                </a:solidFill>
                <a:latin typeface="맑은 고딕"/>
                <a:ea typeface="맑은 고딕"/>
              </a:rPr>
              <a:t>가 된다. SSD의 </a:t>
            </a:r>
            <a:r>
              <a:rPr sz="1800" b="1">
                <a:solidFill>
                  <a:srgbClr val="000000"/>
                </a:solidFill>
                <a:latin typeface="맑은 고딕"/>
                <a:ea typeface="맑은 고딕"/>
              </a:rPr>
              <a:t>요청</a:t>
            </a:r>
            <a:r>
              <a:rPr sz="1800" b="0">
                <a:solidFill>
                  <a:srgbClr val="000000"/>
                </a:solidFill>
                <a:latin typeface="맑은 고딕"/>
                <a:ea typeface="맑은 고딕"/>
              </a:rPr>
              <a:t> 하나가 메서드 하나다.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396071"/>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외부 시스템 호출과 코드</a:t>
            </a:r>
          </a:p>
        </p:txBody>
      </p:sp>
      <p:pic>
        <p:nvPicPr>
          <p:cNvPr id="35" name="plantuml Diagram 3"/>
          <p:cNvPicPr>
            <a:picLocks noChangeAspect="1"/>
          </p:cNvPicPr>
          <p:nvPr/>
        </p:nvPicPr>
        <p:blipFill>
          <a:blip r:embed="plantumlImage3"/>
          <a:stretch>
            <a:fillRect/>
          </a:stretch>
        </p:blipFill>
        <p:spPr>
          <a:xfrm>
            <a:off x="1818298" y="2551134"/>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(1/6)</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경계를 넘어 들어오는 </a:t>
            </a:r>
            <a:r>
              <a:rPr sz="1800" b="1">
                <a:solidFill>
                  <a:srgbClr val="000000"/>
                </a:solidFill>
                <a:latin typeface="맑은 고딕"/>
                <a:ea typeface="맑은 고딕"/>
              </a:rPr>
              <a:t>업무 이벤트에 응답하는 시스템의 책임</a:t>
            </a:r>
            <a:r>
              <a:rPr sz="1800" b="0">
                <a:solidFill>
                  <a:srgbClr val="000000"/>
                </a:solidFill>
                <a:latin typeface="맑은 고딕"/>
                <a:ea typeface="맑은 고딕"/>
              </a:rPr>
              <a:t>이다. 내부 메서드나 API를 먼저 정하는 일이 아니다.</a:t>
            </a:r>
          </a:p>
          <a:p>
            <a:pPr marL="342900" indent="0">
              <a:spcBef>
                <a:spcPts val="600"/>
              </a:spcBef>
              <a:spcAft>
                <a:spcPts val="600"/>
              </a:spcAft>
              <a:buNone/>
            </a:pPr>
            <a:r>
              <a:rPr sz="1800" b="1">
                <a:solidFill>
                  <a:srgbClr val="000000"/>
                </a:solidFill>
                <a:latin typeface="맑은 고딕"/>
                <a:ea typeface="맑은 고딕"/>
              </a:rPr>
              <a:t>식별 기준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경계를 넘는 </a:t>
            </a:r>
            <a:r>
              <a:rPr sz="1800" b="1">
                <a:solidFill>
                  <a:srgbClr val="000000"/>
                </a:solidFill>
                <a:latin typeface="맑은 고딕"/>
                <a:ea typeface="맑은 고딕"/>
              </a:rPr>
              <a:t>업무 의미의 이벤트</a:t>
            </a:r>
            <a:r>
              <a:rPr sz="1800" b="0">
                <a:solidFill>
                  <a:srgbClr val="000000"/>
                </a:solidFill>
                <a:latin typeface="맑은 고딕"/>
                <a:ea typeface="맑은 고딕"/>
              </a:rPr>
              <a:t>를 찾는다. 예: </a:t>
            </a:r>
            <a:r>
              <a:rPr sz="1800" b="1">
                <a:solidFill>
                  <a:srgbClr val="000000"/>
                </a:solidFill>
                <a:latin typeface="맑은 고딕"/>
                <a:ea typeface="맑은 고딕"/>
              </a:rPr>
              <a:t>주문을 관리한다</a:t>
            </a:r>
            <a:r>
              <a:rPr sz="1800" b="0">
                <a:solidFill>
                  <a:srgbClr val="000000"/>
                </a:solidFill>
                <a:latin typeface="맑은 고딕"/>
                <a:ea typeface="맑은 고딕"/>
              </a:rPr>
              <a:t> 하나에 </a:t>
            </a:r>
            <a:r>
              <a:rPr sz="1800" b="0">
                <a:solidFill>
                  <a:srgbClr val="000000"/>
                </a:solidFill>
                <a:latin typeface="맑은 고딕"/>
                <a:ea typeface="맑은 고딕"/>
              </a:rPr>
              <a:t>상품 조회</a:t>
            </a:r>
            <a:r>
              <a:rPr sz="1800" b="0">
                <a:solidFill>
                  <a:srgbClr val="000000"/>
                </a:solidFill>
                <a:latin typeface="맑은 고딕"/>
                <a:ea typeface="맑은 고딕"/>
              </a:rPr>
              <a:t>, </a:t>
            </a:r>
            <a:r>
              <a:rPr sz="1800" b="0">
                <a:solidFill>
                  <a:srgbClr val="000000"/>
                </a:solidFill>
                <a:latin typeface="맑은 고딕"/>
                <a:ea typeface="맑은 고딕"/>
              </a:rPr>
              <a:t>장바구니 담기</a:t>
            </a:r>
            <a:r>
              <a:rPr sz="1800" b="0">
                <a:solidFill>
                  <a:srgbClr val="000000"/>
                </a:solidFill>
                <a:latin typeface="맑은 고딕"/>
                <a:ea typeface="맑은 고딕"/>
              </a:rPr>
              <a:t>, </a:t>
            </a:r>
            <a:r>
              <a:rPr sz="1800" b="0">
                <a:solidFill>
                  <a:srgbClr val="000000"/>
                </a:solidFill>
                <a:latin typeface="맑은 고딕"/>
                <a:ea typeface="맑은 고딕"/>
              </a:rPr>
              <a:t>배송지 지정</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 </a:t>
            </a:r>
            <a:r>
              <a:rPr sz="1800" b="0">
                <a:solidFill>
                  <a:srgbClr val="000000"/>
                </a:solidFill>
                <a:latin typeface="맑은 고딕"/>
                <a:ea typeface="맑은 고딕"/>
              </a:rPr>
              <a:t>배송지 변경</a:t>
            </a:r>
            <a:r>
              <a:rPr sz="1800" b="0">
                <a:solidFill>
                  <a:srgbClr val="000000"/>
                </a:solidFill>
                <a:latin typeface="맑은 고딕"/>
                <a:ea typeface="맑은 고딕"/>
              </a:rPr>
              <a:t>, </a:t>
            </a:r>
            <a:r>
              <a:rPr sz="1800" b="0">
                <a:solidFill>
                  <a:srgbClr val="000000"/>
                </a:solidFill>
                <a:latin typeface="맑은 고딕"/>
                <a:ea typeface="맑은 고딕"/>
              </a:rPr>
              <a:t>주문 취소</a:t>
            </a:r>
            <a:r>
              <a:rPr sz="1800" b="0">
                <a:solidFill>
                  <a:srgbClr val="000000"/>
                </a:solidFill>
                <a:latin typeface="맑은 고딕"/>
                <a:ea typeface="맑은 고딕"/>
              </a:rPr>
              <a:t>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복잡한 오퍼레이션</a:t>
            </a:r>
            <a:r>
              <a:rPr sz="1800" b="0">
                <a:solidFill>
                  <a:srgbClr val="000000"/>
                </a:solidFill>
                <a:latin typeface="맑은 고딕"/>
                <a:ea typeface="맑은 고딕"/>
              </a:rPr>
              <a:t>에만 쓴다 —</a:t>
            </a:r>
            <a:r>
              <a:rPr sz="1600" b="0">
                <a:solidFill>
                  <a:srgbClr val="000000"/>
                </a:solidFill>
                <a:latin typeface="맑은 고딕"/>
                <a:ea typeface="맑은 고딕"/>
              </a:rPr>
              <a:t> 조건이 까다롭거나 여러 객체의 상태가 함께 바뀌는 오퍼레이션.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사후조건은 </a:t>
            </a:r>
            <a:r>
              <a:rPr sz="1800" b="1">
                <a:solidFill>
                  <a:srgbClr val="000000"/>
                </a:solidFill>
                <a:latin typeface="맑은 고딕"/>
                <a:ea typeface="맑은 고딕"/>
              </a:rPr>
              <a:t>도메인 모델 객체의 상태 변화</a:t>
            </a:r>
            <a:r>
              <a:rPr sz="1800" b="0">
                <a:solidFill>
                  <a:srgbClr val="000000"/>
                </a:solidFill>
                <a:latin typeface="맑은 고딕"/>
                <a:ea typeface="맑은 고딕"/>
              </a:rPr>
              <a:t>를 서술한다 — 인스턴스 생성과 연관의 형성·해제와 속성 변경이다</a:t>
            </a:r>
            <a:r>
              <a:rPr sz="1000" b="0">
                <a:solidFill>
                  <a:srgbClr val="000000"/>
                </a:solidFill>
                <a:latin typeface="맑은 고딕"/>
                <a:ea typeface="맑은 고딕"/>
              </a:rPr>
              <a:t>, </a:t>
            </a:r>
            <a:r>
              <a:rPr sz="1000" b="0">
                <a:solidFill>
                  <a:srgbClr val="000000"/>
                </a:solidFill>
                <a:latin typeface="맑은 고딕"/>
                <a:ea typeface="맑은 고딕"/>
              </a:rPr>
              <a:t>"The postconditions describe changes in the state of objects in the domain model. Domain model state changes include instances created, associations formed or broken, and attributes changed."</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800" b="0">
                <a:solidFill>
                  <a:srgbClr val="000000"/>
                </a:solidFill>
                <a:latin typeface="맑은 고딕"/>
                <a:ea typeface="맑은 고딕"/>
              </a:rPr>
              <a:t>은 사후조건이 아니다. 시스템 사이의 이벤트로 「44. 정제된 SSD」에 보인다.</a:t>
            </a:r>
          </a:p>
        </p:txBody>
      </p:sp>
    </p:spTree>
    <p:extLst>
      <p:ext uri="{BB962C8B-B14F-4D97-AF65-F5344CB8AC3E}">
        <p14:creationId xmlns:p14="http://schemas.microsoft.com/office/powerpoint/2010/main" val="35554366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3146" y="1258570"/>
          <a:ext cx="5024120" cy="3873500"/>
        </p:xfrm>
        <a:graphic>
          <a:graphicData uri="http://schemas.openxmlformats.org/drawingml/2006/table">
            <a:tbl>
              <a:tblPr/>
              <a:tblGrid>
                <a:gridCol w="136652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주문과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결제</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549936"/>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주문시스템구현</a:t>
            </a:r>
            <a:r>
              <a:rPr sz="1000" b="0">
                <a:solidFill>
                  <a:srgbClr val="000000"/>
                </a:solidFill>
                <a:latin typeface="Consolas"/>
                <a:ea typeface="맑은 고딕"/>
              </a:rPr>
              <a:t> implements 주문시스템 {</a:t>
            </a:r>
          </a:p>
          <a:p>
            <a:pPr marL="0" indent="0" algn="l">
              <a:lnSpc>
                <a:spcPts val="1150"/>
              </a:lnSpc>
              <a:spcBef>
                <a:spcPts val="0"/>
              </a:spcBef>
              <a:spcAft>
                <a:spcPts val="0"/>
              </a:spcAft>
              <a:buNone/>
            </a:pPr>
            <a:r>
              <a:rPr sz="1000" b="0">
                <a:solidFill>
                  <a:srgbClr val="000000"/>
                </a:solidFill>
                <a:latin typeface="Consolas"/>
                <a:ea typeface="맑은 고딕"/>
              </a:rPr>
              <a:t>    // ... 필드·생성자, 상품을조회한다·장바구니에담는다·배송지를지정한다 생략</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 {</a:t>
            </a:r>
          </a:p>
          <a:p>
            <a:pPr marL="0" indent="0" algn="l">
              <a:lnSpc>
                <a:spcPts val="1150"/>
              </a:lnSpc>
              <a:spcBef>
                <a:spcPts val="0"/>
              </a:spcBef>
              <a:spcAft>
                <a:spcPts val="0"/>
              </a:spcAft>
              <a:buNone/>
            </a:pPr>
            <a:r>
              <a:rPr sz="1000" b="0">
                <a:solidFill>
                  <a:srgbClr val="000000"/>
                </a:solidFill>
                <a:latin typeface="Consolas"/>
                <a:ea typeface="맑은 고딕"/>
              </a:rPr>
              <a:t>        if (!상태.equals("결제 대기") || 배송지 == null) throw new IllegalStateException("사전조건 위반");</a:t>
            </a:r>
          </a:p>
          <a:p>
            <a:pPr marL="0" indent="0" algn="l">
              <a:lnSpc>
                <a:spcPts val="1150"/>
              </a:lnSpc>
              <a:spcBef>
                <a:spcPts val="0"/>
              </a:spcBef>
              <a:spcAft>
                <a:spcPts val="0"/>
              </a:spcAft>
              <a:buNone/>
            </a:pPr>
            <a:r>
              <a:rPr sz="1000" b="0">
                <a:solidFill>
                  <a:srgbClr val="000000"/>
                </a:solidFill>
                <a:latin typeface="Consolas"/>
                <a:ea typeface="맑은 고딕"/>
              </a:rPr>
              <a:t>        int 금액 = 0;</a:t>
            </a:r>
          </a:p>
          <a:p>
            <a:pPr marL="0" indent="0" algn="l">
              <a:lnSpc>
                <a:spcPts val="1150"/>
              </a:lnSpc>
              <a:spcBef>
                <a:spcPts val="0"/>
              </a:spcBef>
              <a:spcAft>
                <a:spcPts val="0"/>
              </a:spcAft>
              <a:buNone/>
            </a:pPr>
            <a:r>
              <a:rPr sz="1000" b="0">
                <a:solidFill>
                  <a:srgbClr val="000000"/>
                </a:solidFill>
                <a:latin typeface="Consolas"/>
                <a:ea typeface="맑은 고딕"/>
              </a:rPr>
              <a:t>        for (var 항목 : 장바구니.entrySet()) 금액 += 항목.getKey().판매가() * 항목.getValue();</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코드로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a:t>
            </a:r>
            <a:r>
              <a:rPr sz="1800" b="0">
                <a:solidFill>
                  <a:srgbClr val="000000"/>
                </a:solidFill>
                <a:latin typeface="맑은 고딕"/>
                <a:ea typeface="맑은 고딕"/>
              </a:rPr>
              <a:t>은 먼저 확인하고, </a:t>
            </a:r>
            <a:r>
              <a:rPr sz="1800" b="1">
                <a:solidFill>
                  <a:srgbClr val="000000"/>
                </a:solidFill>
                <a:latin typeface="맑은 고딕"/>
                <a:ea typeface="맑은 고딕"/>
              </a:rPr>
              <a:t>사후조건</a:t>
            </a:r>
            <a:r>
              <a:rPr sz="1800" b="0">
                <a:solidFill>
                  <a:srgbClr val="000000"/>
                </a:solidFill>
                <a:latin typeface="맑은 고딕"/>
                <a:ea typeface="맑은 고딕"/>
              </a:rPr>
              <a:t>은 결제 후의 상태다. 외부 시스템에 보내는 </a:t>
            </a:r>
            <a:r>
              <a:rPr sz="1800" b="1">
                <a:solidFill>
                  <a:srgbClr val="000000"/>
                </a:solidFill>
                <a:latin typeface="맑은 고딕"/>
                <a:ea typeface="맑은 고딕"/>
              </a:rPr>
              <a:t>요청</a:t>
            </a:r>
            <a:r>
              <a:rPr sz="1800" b="0">
                <a:solidFill>
                  <a:srgbClr val="000000"/>
                </a:solidFill>
                <a:latin typeface="맑은 고딕"/>
                <a:ea typeface="맑은 고딕"/>
              </a:rPr>
              <a:t>은 정제된 SSD의 순서를 따른다.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4" name="plantuml Diagram 4"/>
          <p:cNvPicPr>
            <a:picLocks noChangeAspect="1"/>
          </p:cNvPicPr>
          <p:nvPr/>
        </p:nvPicPr>
        <p:blipFill>
          <a:blip r:embed="plantumlImage4"/>
          <a:stretch>
            <a:fillRect/>
          </a:stretch>
        </p:blipFill>
        <p:spPr>
          <a:xfrm>
            <a:off x="1392115" y="2551134"/>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69818"/>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승인번호 = 외부.결제().결제승인을요청한다(금액, 결제수단);</a:t>
            </a:r>
          </a:p>
          <a:p>
            <a:pPr marL="0" indent="0" algn="l">
              <a:lnSpc>
                <a:spcPts val="1150"/>
              </a:lnSpc>
              <a:spcBef>
                <a:spcPts val="0"/>
              </a:spcBef>
              <a:spcAft>
                <a:spcPts val="0"/>
              </a:spcAft>
              <a:buNone/>
            </a:pPr>
            <a:r>
              <a:rPr sz="1000" b="0">
                <a:solidFill>
                  <a:srgbClr val="000000"/>
                </a:solidFill>
                <a:latin typeface="Consolas"/>
                <a:ea typeface="맑은 고딕"/>
              </a:rPr>
              <a:t>        if (승인번호 == null) throw new IllegalStateException("승인 거절 — 정책 미확정");</a:t>
            </a:r>
          </a:p>
          <a:p>
            <a:pPr marL="0" indent="0" algn="l">
              <a:lnSpc>
                <a:spcPts val="1150"/>
              </a:lnSpc>
              <a:spcBef>
                <a:spcPts val="0"/>
              </a:spcBef>
              <a:spcAft>
                <a:spcPts val="0"/>
              </a:spcAft>
              <a:buNone/>
            </a:pPr>
            <a:r>
              <a:rPr sz="1000" b="0">
                <a:solidFill>
                  <a:srgbClr val="000000"/>
                </a:solidFill>
                <a:latin typeface="Consolas"/>
                <a:ea typeface="맑은 고딕"/>
              </a:rPr>
              <a:t>        장바구니.forEach((상품, 수량) -&gt; {</a:t>
            </a:r>
          </a:p>
          <a:p>
            <a:pPr marL="0" indent="0" algn="l">
              <a:lnSpc>
                <a:spcPts val="1150"/>
              </a:lnSpc>
              <a:spcBef>
                <a:spcPts val="0"/>
              </a:spcBef>
              <a:spcAft>
                <a:spcPts val="0"/>
              </a:spcAft>
              <a:buNone/>
            </a:pPr>
            <a:r>
              <a:rPr sz="1000" b="0">
                <a:solidFill>
                  <a:srgbClr val="000000"/>
                </a:solidFill>
                <a:latin typeface="Consolas"/>
                <a:ea typeface="맑은 고딕"/>
              </a:rPr>
              <a:t>            if (!외부.상품().재고차감을요청한다(상품, 수량)) throw new IllegalStateException("재고 부족 — 정책 미확정");</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외부.배송().배송을요청한다(주문번호, 배송지);</a:t>
            </a:r>
          </a:p>
          <a:p>
            <a:pPr marL="0" indent="0" algn="l">
              <a:lnSpc>
                <a:spcPts val="1150"/>
              </a:lnSpc>
              <a:spcBef>
                <a:spcPts val="0"/>
              </a:spcBef>
              <a:spcAft>
                <a:spcPts val="0"/>
              </a:spcAft>
              <a:buNone/>
            </a:pPr>
            <a:r>
              <a:rPr sz="1000" b="0">
                <a:solidFill>
                  <a:srgbClr val="000000"/>
                </a:solidFill>
                <a:latin typeface="Consolas"/>
                <a:ea typeface="맑은 고딕"/>
              </a:rPr>
              <a:t>        외부.회계().입금처리를요청한다(승인번호);</a:t>
            </a:r>
          </a:p>
          <a:p>
            <a:pPr marL="0" indent="0" algn="l">
              <a:lnSpc>
                <a:spcPts val="1150"/>
              </a:lnSpc>
              <a:spcBef>
                <a:spcPts val="0"/>
              </a:spcBef>
              <a:spcAft>
                <a:spcPts val="0"/>
              </a:spcAft>
              <a:buNone/>
            </a:pPr>
            <a:r>
              <a:rPr sz="1000" b="0">
                <a:solidFill>
                  <a:srgbClr val="000000"/>
                </a:solidFill>
                <a:latin typeface="Consolas"/>
                <a:ea typeface="맑은 고딕"/>
              </a:rPr>
              <a:t>        외부.회계().영수증발행을요청한다(주문번호, 승인번호);</a:t>
            </a:r>
          </a:p>
          <a:p>
            <a:pPr marL="0" indent="0" algn="l">
              <a:lnSpc>
                <a:spcPts val="1150"/>
              </a:lnSpc>
              <a:spcBef>
                <a:spcPts val="0"/>
              </a:spcBef>
              <a:spcAft>
                <a:spcPts val="0"/>
              </a:spcAft>
              <a:buNone/>
            </a:pPr>
            <a:r>
              <a:rPr sz="1000" b="0">
                <a:solidFill>
                  <a:srgbClr val="000000"/>
                </a:solidFill>
                <a:latin typeface="Consolas"/>
                <a:ea typeface="맑은 고딕"/>
              </a:rPr>
              <a:t>        상태 = "결제 완료";</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03327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결제 오퍼레이션의 시퀀스</a:t>
            </a:r>
          </a:p>
        </p:txBody>
      </p:sp>
      <p:pic>
        <p:nvPicPr>
          <p:cNvPr id="33" name="plantuml Diagram 5"/>
          <p:cNvPicPr>
            <a:picLocks noChangeAspect="1"/>
          </p:cNvPicPr>
          <p:nvPr/>
        </p:nvPicPr>
        <p:blipFill>
          <a:blip r:embed="plantumlImage5"/>
          <a:stretch>
            <a:fillRect/>
          </a:stretch>
        </p:blipFill>
        <p:spPr>
          <a:xfrm>
            <a:off x="1392115" y="1271016"/>
            <a:ext cx="6359769" cy="27793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(5/6)</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5272001"/>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marL="342900" indent="0">
              <a:spcBef>
                <a:spcPts val="600"/>
              </a:spcBef>
              <a:spcAft>
                <a:spcPts val="600"/>
              </a:spcAft>
              <a:buNone/>
            </a:pPr>
            <a:r>
              <a:rPr sz="1800" b="1">
                <a:solidFill>
                  <a:srgbClr val="000000"/>
                </a:solidFill>
                <a:latin typeface="맑은 고딕"/>
                <a:ea typeface="맑은 고딕"/>
              </a:rPr>
              <a:t>계약에서 테스트로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계약의 예가 곧 </a:t>
            </a:r>
            <a:r>
              <a:rPr sz="1800" b="1">
                <a:solidFill>
                  <a:srgbClr val="000000"/>
                </a:solidFill>
                <a:latin typeface="맑은 고딕"/>
                <a:ea typeface="맑은 고딕"/>
              </a:rPr>
              <a:t>테스트</a:t>
            </a:r>
            <a:r>
              <a:rPr sz="1800" b="0">
                <a:solidFill>
                  <a:srgbClr val="000000"/>
                </a:solidFill>
                <a:latin typeface="맑은 고딕"/>
                <a:ea typeface="맑은 고딕"/>
              </a:rPr>
              <a:t>다. 사후조건</a:t>
            </a:r>
            <a:r>
              <a:rPr sz="1400" b="0">
                <a:solidFill>
                  <a:srgbClr val="000000"/>
                </a:solidFill>
                <a:latin typeface="맑은 고딕"/>
                <a:ea typeface="맑은 고딕"/>
              </a:rPr>
              <a:t>(상태)</a:t>
            </a:r>
            <a:r>
              <a:rPr sz="1800" b="0">
                <a:solidFill>
                  <a:srgbClr val="000000"/>
                </a:solidFill>
                <a:latin typeface="맑은 고딕"/>
                <a:ea typeface="맑은 고딕"/>
              </a:rPr>
              <a:t>과 함께 정제된 SSD의 요청을 확인하며,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5272001"/>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31339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계약 테스트의 시퀀스</a:t>
            </a:r>
          </a:p>
        </p:txBody>
      </p:sp>
      <p:pic>
        <p:nvPicPr>
          <p:cNvPr id="35" name="plantuml Diagram 6"/>
          <p:cNvPicPr>
            <a:picLocks noChangeAspect="1"/>
          </p:cNvPicPr>
          <p:nvPr/>
        </p:nvPicPr>
        <p:blipFill>
          <a:blip r:embed="plantumlImage6"/>
          <a:stretch>
            <a:fillRect/>
          </a:stretch>
        </p:blipFill>
        <p:spPr>
          <a:xfrm>
            <a:off x="1710104" y="2551134"/>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(6/6)</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5" y="2462530"/>
          <a:ext cx="5052060" cy="3873500"/>
        </p:xfrm>
        <a:graphic>
          <a:graphicData uri="http://schemas.openxmlformats.org/drawingml/2006/table">
            <a:tbl>
              <a:tblPr/>
              <a:tblGrid>
                <a:gridCol w="13665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배송지가 새 주소로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오퍼레이션 계약 —</a:t>
            </a:r>
            <a:r>
              <a:rPr sz="1600" b="1">
                <a:solidFill>
                  <a:srgbClr val="000000"/>
                </a:solidFill>
                <a:latin typeface="맑은 고딕"/>
                <a:ea typeface="맑은 고딕"/>
              </a:rPr>
              <a:t> 배송지 변경</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 소유의 출고 전 주문, 유효한 새 주소를 전제로 한 </a:t>
            </a:r>
            <a:r>
              <a:rPr sz="1800" b="1">
                <a:solidFill>
                  <a:srgbClr val="000000"/>
                </a:solidFill>
                <a:latin typeface="맑은 고딕"/>
                <a:ea typeface="맑은 고딕"/>
              </a:rPr>
              <a:t>성공 계약</a:t>
            </a:r>
            <a:r>
              <a:rPr sz="1800" b="0">
                <a:solidFill>
                  <a:srgbClr val="000000"/>
                </a:solidFill>
                <a:latin typeface="맑은 고딕"/>
                <a:ea typeface="맑은 고딕"/>
              </a:rPr>
              <a:t>이다. 사후조건은 처리 순서가 아니라 성공 후 </a:t>
            </a:r>
            <a:r>
              <a:rPr sz="1800" b="1">
                <a:solidFill>
                  <a:srgbClr val="000000"/>
                </a:solidFill>
                <a:latin typeface="맑은 고딕"/>
                <a:ea typeface="맑은 고딕"/>
              </a:rPr>
              <a:t>참인 상태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640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배송지 변경</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이고, 분석의 발견은 이 산출물로 </a:t>
            </a:r>
            <a:r>
              <a:rPr sz="1800" b="1">
                <a:solidFill>
                  <a:srgbClr val="000000"/>
                </a:solidFill>
                <a:latin typeface="맑은 고딕"/>
                <a:ea typeface="맑은 고딕"/>
              </a:rPr>
              <a:t>되돌아온다</a:t>
            </a:r>
            <a:r>
              <a:rPr sz="1800" b="0">
                <a:solidFill>
                  <a:srgbClr val="000000"/>
                </a:solidFill>
                <a:latin typeface="맑은 고딕"/>
                <a:ea typeface="맑은 고딕"/>
              </a:rPr>
              <a:t>.</a:t>
            </a:r>
          </a:p>
          <a:p>
            <a:pPr marL="342900" indent="0">
              <a:spcBef>
                <a:spcPts val="600"/>
              </a:spcBef>
              <a:spcAft>
                <a:spcPts val="600"/>
              </a:spcAft>
              <a:buNone/>
            </a:pPr>
            <a:r>
              <a:rPr sz="1800" b="1">
                <a:solidFill>
                  <a:srgbClr val="000000"/>
                </a:solidFill>
                <a:latin typeface="맑은 고딕"/>
                <a:ea typeface="맑은 고딕"/>
              </a:rPr>
              <a:t>정적·동적 모델이 답하려는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a:t>
            </a:r>
            <a:r>
              <a:rPr sz="1800" b="0">
                <a:solidFill>
                  <a:srgbClr val="000000"/>
                </a:solidFill>
                <a:latin typeface="맑은 고딕"/>
                <a:ea typeface="맑은 고딕"/>
              </a:rPr>
              <a:t>은 문제영역의 의미·관계·제약을, </a:t>
            </a:r>
            <a:r>
              <a:rPr sz="1800" b="1">
                <a:solidFill>
                  <a:srgbClr val="000000"/>
                </a:solidFill>
                <a:latin typeface="맑은 고딕"/>
                <a:ea typeface="맑은 고딕"/>
              </a:rPr>
              <a:t>동적 모델</a:t>
            </a:r>
            <a:r>
              <a:rPr sz="1800" b="0">
                <a:solidFill>
                  <a:srgbClr val="000000"/>
                </a:solidFill>
                <a:latin typeface="맑은 고딕"/>
                <a:ea typeface="맑은 고딕"/>
              </a:rPr>
              <a:t>은 상호작용과 상태 변화의 사건·규칙을 다룬다.</a:t>
            </a:r>
          </a:p>
        </p:txBody>
      </p:sp>
    </p:spTree>
    <p:extLst>
      <p:ext uri="{BB962C8B-B14F-4D97-AF65-F5344CB8AC3E}">
        <p14:creationId xmlns:p14="http://schemas.microsoft.com/office/powerpoint/2010/main" val="35554366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54905"/>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 산출물과 분석의 순환</a:t>
            </a:r>
          </a:p>
        </p:txBody>
      </p:sp>
      <p:pic>
        <p:nvPicPr>
          <p:cNvPr id="10" name="mermaid Diagram 2"/>
          <p:cNvPicPr>
            <a:picLocks noChangeAspect="1"/>
          </p:cNvPicPr>
          <p:nvPr/>
        </p:nvPicPr>
        <p:blipFill>
          <a:blip r:embed="mermaidImage2"/>
          <a:stretch>
            <a:fillRect/>
          </a:stretch>
        </p:blipFill>
        <p:spPr>
          <a:xfrm>
            <a:off x="594023" y="3292649"/>
            <a:ext cx="7955955" cy="130907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2898948"/>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관점별 요구 후보</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marL="342900" indent="0">
              <a:spcBef>
                <a:spcPts val="600"/>
              </a:spcBef>
              <a:spcAft>
                <a:spcPts val="600"/>
              </a:spcAft>
              <a:buNone/>
            </a:pPr>
            <a:r>
              <a:rPr sz="1800" b="1">
                <a:solidFill>
                  <a:srgbClr val="000000"/>
                </a:solidFill>
                <a:latin typeface="맑은 고딕"/>
                <a:ea typeface="맑은 고딕"/>
              </a:rPr>
              <a:t>배송지 변경 와이어프레임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「45. 시스템 오퍼레이션과 계약」의 성공 계약을 검토하는 </a:t>
            </a:r>
            <a:r>
              <a:rPr sz="1800" b="1">
                <a:solidFill>
                  <a:srgbClr val="000000"/>
                </a:solidFill>
                <a:latin typeface="맑은 고딕"/>
                <a:ea typeface="맑은 고딕"/>
              </a:rPr>
              <a:t>화면 초안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와이어프레임</a:t>
            </a:r>
            <a:r>
              <a:rPr sz="1800" b="0">
                <a:solidFill>
                  <a:srgbClr val="000000"/>
                </a:solidFill>
                <a:latin typeface="맑은 고딕"/>
                <a:ea typeface="맑은 고딕"/>
              </a:rPr>
              <a:t>만으로 실제 처리나 성공을 검증할 수는 없다. 사용자에게 과업을 설명하게 하거나 조작 가능한 프로토타입으로 </a:t>
            </a:r>
            <a:r>
              <a:rPr sz="1800" b="1">
                <a:solidFill>
                  <a:srgbClr val="000000"/>
                </a:solidFill>
                <a:latin typeface="맑은 고딕"/>
                <a:ea typeface="맑은 고딕"/>
              </a:rPr>
              <a:t>관찰</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배송지 변경 화면 초안</a:t>
            </a:r>
          </a:p>
        </p:txBody>
      </p:sp>
      <p:pic>
        <p:nvPicPr>
          <p:cNvPr id="10" name="svg Diagram 12" descr="주문 상세와 배송지 변경 와이어프레임"/>
          <p:cNvPicPr>
            <a:picLocks noChangeAspect="1"/>
          </p:cNvPicPr>
          <p:nvPr/>
        </p:nvPicPr>
        <p:blipFill>
          <a:blip r:embed="svgImage12"/>
          <a:stretch>
            <a:fillRect/>
          </a:stretch>
        </p:blipFill>
        <p:spPr>
          <a:xfrm>
            <a:off x="2428875" y="3998976"/>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확인할 질문</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직전</a:t>
            </a:r>
            <a:r>
              <a:rPr sz="1800" b="0">
                <a:solidFill>
                  <a:srgbClr val="000000"/>
                </a:solidFill>
                <a:latin typeface="맑은 고딕"/>
                <a:ea typeface="맑은 고딕"/>
              </a:rPr>
              <a:t> 변경 가능 여부와 </a:t>
            </a:r>
            <a:r>
              <a:rPr sz="1800" b="1">
                <a:solidFill>
                  <a:srgbClr val="000000"/>
                </a:solidFill>
                <a:latin typeface="맑은 고딕"/>
                <a:ea typeface="맑은 고딕"/>
              </a:rPr>
              <a:t>유효 주소</a:t>
            </a:r>
            <a:r>
              <a:rPr sz="1800" b="0">
                <a:solidFill>
                  <a:srgbClr val="000000"/>
                </a:solidFill>
                <a:latin typeface="맑은 고딕"/>
                <a:ea typeface="맑은 고딕"/>
              </a:rPr>
              <a:t> 기준·오류 안내는 무엇인가?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배송비 변동</a:t>
            </a:r>
            <a:r>
              <a:rPr sz="1800" b="0">
                <a:solidFill>
                  <a:srgbClr val="000000"/>
                </a:solidFill>
                <a:latin typeface="맑은 고딕"/>
                <a:ea typeface="맑은 고딕"/>
              </a:rPr>
              <a:t>이나 이미 외부 배송 시스템에 전달된 경우는 어떻게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 시</a:t>
            </a:r>
            <a:r>
              <a:rPr sz="1800" b="0">
                <a:solidFill>
                  <a:srgbClr val="000000"/>
                </a:solidFill>
                <a:latin typeface="맑은 고딕"/>
                <a:ea typeface="맑은 고딕"/>
              </a:rPr>
              <a:t> 기존 주소 유지 여부와 변경 완료 확인 방법은 무엇인가?</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유저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a:t>
            </a:r>
            <a:r>
              <a:rPr sz="1800" b="1">
                <a:solidFill>
                  <a:srgbClr val="000000"/>
                </a:solidFill>
                <a:latin typeface="맑은 고딕"/>
                <a:ea typeface="맑은 고딕"/>
              </a:rPr>
              <a:t>대화를 시작하는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유저 스토리에는 결정적인 세 가지 면이 있고 이를 </a:t>
            </a:r>
            <a:r>
              <a:rPr sz="1800" b="1">
                <a:solidFill>
                  <a:srgbClr val="000000"/>
                </a:solidFill>
                <a:latin typeface="맑은 고딕"/>
                <a:ea typeface="맑은 고딕"/>
              </a:rPr>
              <a:t>카드·대화·확인</a:t>
            </a:r>
            <a:r>
              <a:rPr sz="1800" b="0">
                <a:solidFill>
                  <a:srgbClr val="000000"/>
                </a:solidFill>
                <a:latin typeface="맑은 고딕"/>
                <a:ea typeface="맑은 고딕"/>
              </a:rPr>
              <a:t>이라 부를 수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카드</a:t>
            </a:r>
            <a:r>
              <a:rPr sz="1600" b="0">
                <a:solidFill>
                  <a:srgbClr val="000000"/>
                </a:solidFill>
                <a:latin typeface="맑은 고딕"/>
                <a:ea typeface="맑은 고딕"/>
              </a:rPr>
              <a:t> —</a:t>
            </a:r>
            <a:r>
              <a:rPr sz="1400" b="0">
                <a:solidFill>
                  <a:srgbClr val="000000"/>
                </a:solidFill>
                <a:latin typeface="맑은 고딕"/>
                <a:ea typeface="맑은 고딕"/>
              </a:rPr>
              <a:t> 스토리를 짧게 적어 둔 것. 요구사항 전체가 아니라 대화를 시작하는 메모다.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대화</a:t>
            </a:r>
            <a:r>
              <a:rPr sz="1600" b="0">
                <a:solidFill>
                  <a:srgbClr val="000000"/>
                </a:solidFill>
                <a:latin typeface="맑은 고딕"/>
                <a:ea typeface="맑은 고딕"/>
              </a:rPr>
              <a:t> —</a:t>
            </a:r>
            <a:r>
              <a:rPr sz="1400" b="0">
                <a:solidFill>
                  <a:srgbClr val="000000"/>
                </a:solidFill>
                <a:latin typeface="맑은 고딕"/>
                <a:ea typeface="맑은 고딕"/>
              </a:rPr>
              <a:t> 세부는 고객과 개발자가 대화로 채운다. 업무 규칙이 여기서 나온다.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확인</a:t>
            </a:r>
            <a:r>
              <a:rPr sz="1600" b="0">
                <a:solidFill>
                  <a:srgbClr val="000000"/>
                </a:solidFill>
                <a:latin typeface="맑은 고딕"/>
                <a:ea typeface="맑은 고딕"/>
              </a:rPr>
              <a:t> —</a:t>
            </a:r>
            <a:r>
              <a:rPr sz="1400" b="0">
                <a:solidFill>
                  <a:srgbClr val="000000"/>
                </a:solidFill>
                <a:latin typeface="맑은 고딕"/>
                <a:ea typeface="맑은 고딕"/>
              </a:rPr>
              <a:t> 스토리가 끝났는지 인수 조건</a:t>
            </a:r>
            <a:r>
              <a:rPr sz="1000" b="0">
                <a:solidFill>
                  <a:srgbClr val="000000"/>
                </a:solidFill>
                <a:latin typeface="맑은 고딕"/>
                <a:ea typeface="맑은 고딕"/>
              </a:rPr>
              <a:t>(테스트)</a:t>
            </a:r>
            <a:r>
              <a:rPr sz="1400" b="0">
                <a:solidFill>
                  <a:srgbClr val="000000"/>
                </a:solidFill>
                <a:latin typeface="맑은 고딕"/>
                <a:ea typeface="맑은 고딕"/>
              </a:rPr>
              <a:t>으로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문형보다 대화</a:t>
            </a:r>
            <a:r>
              <a:rPr sz="1800" b="0">
                <a:solidFill>
                  <a:srgbClr val="000000"/>
                </a:solidFill>
                <a:latin typeface="맑은 고딕"/>
                <a:ea typeface="맑은 고딕"/>
              </a:rPr>
              <a:t> —</a:t>
            </a:r>
            <a:r>
              <a:rPr sz="1600" b="0">
                <a:solidFill>
                  <a:srgbClr val="000000"/>
                </a:solidFill>
                <a:latin typeface="맑은 고딕"/>
                <a:ea typeface="맑은 고딕"/>
              </a:rPr>
              <a:t> 카드에 모든 것을 쓰지 않는다. 빠진 것은 대화로 채우고, 합의한 결과는 인수 조건으로 남긴다</a:t>
            </a:r>
            <a:r>
              <a:rPr sz="1200" b="0">
                <a:solidFill>
                  <a:srgbClr val="000000"/>
                </a:solidFill>
                <a:latin typeface="맑은 고딕"/>
                <a:ea typeface="맑은 고딕"/>
              </a:rPr>
              <a:t>(「56. Given-When-Then」)</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반복과 우선순위</a:t>
            </a:r>
            <a:r>
              <a:rPr sz="1800" b="0">
                <a:solidFill>
                  <a:srgbClr val="000000"/>
                </a:solidFill>
                <a:latin typeface="맑은 고딕"/>
                <a:ea typeface="맑은 고딕"/>
              </a:rPr>
              <a:t> —</a:t>
            </a:r>
            <a:r>
              <a:rPr sz="1600" b="0">
                <a:solidFill>
                  <a:srgbClr val="000000"/>
                </a:solidFill>
                <a:latin typeface="맑은 고딕"/>
                <a:ea typeface="맑은 고딕"/>
              </a:rPr>
              <a:t> 작은 가치 단위라서 반복마다 고르고 순서를 바꾸기 쉽다.</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50. 스토리의 문형과 가치</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As a    고객 (누가)</a:t>
            </a:r>
          </a:p>
          <a:p>
            <a:pPr marL="0" indent="0" algn="l">
              <a:lnSpc>
                <a:spcPts val="1150"/>
              </a:lnSpc>
              <a:spcBef>
                <a:spcPts val="0"/>
              </a:spcBef>
              <a:spcAft>
                <a:spcPts val="0"/>
              </a:spcAft>
              <a:buNone/>
            </a:pPr>
            <a:r>
              <a:rPr sz="1000" b="0">
                <a:solidFill>
                  <a:srgbClr val="000000"/>
                </a:solidFill>
                <a:latin typeface="Consolas"/>
                <a:ea typeface="맑은 고딕"/>
              </a:rPr>
              <a:t>I want  출고 전 배송지를 변경한다 (무엇을)</a:t>
            </a:r>
          </a:p>
          <a:p>
            <a:pPr marL="0" indent="0" algn="l">
              <a:lnSpc>
                <a:spcPts val="1150"/>
              </a:lnSpc>
              <a:spcBef>
                <a:spcPts val="0"/>
              </a:spcBef>
              <a:spcAft>
                <a:spcPts val="0"/>
              </a:spcAft>
              <a:buNone/>
            </a:pPr>
            <a:r>
              <a:rPr sz="1000" b="0">
                <a:solidFill>
                  <a:srgbClr val="000000"/>
                </a:solidFill>
                <a:latin typeface="Consolas"/>
                <a:ea typeface="맑은 고딕"/>
              </a:rPr>
              <a:t>so that 올바른 장소에서 상품을 받는다 (왜)</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유저 스토리는 </a:t>
            </a:r>
            <a:r>
              <a:rPr sz="1800" b="1">
                <a:solidFill>
                  <a:srgbClr val="000000"/>
                </a:solidFill>
                <a:latin typeface="맑은 고딕"/>
                <a:ea typeface="맑은 고딕"/>
              </a:rPr>
              <a:t>누가, 무엇을, 왜</a:t>
            </a:r>
            <a:r>
              <a:rPr sz="1800" b="0">
                <a:solidFill>
                  <a:srgbClr val="000000"/>
                </a:solidFill>
                <a:latin typeface="맑은 고딕"/>
                <a:ea typeface="맑은 고딕"/>
              </a:rPr>
              <a:t> 원하는지를 한 문장으로 쓴다. "왜"가 스토리의 </a:t>
            </a:r>
            <a:r>
              <a:rPr sz="1800" b="1">
                <a:solidFill>
                  <a:srgbClr val="000000"/>
                </a:solidFill>
                <a:latin typeface="맑은 고딕"/>
                <a:ea typeface="맑은 고딕"/>
              </a:rPr>
              <a:t>가치</a:t>
            </a:r>
            <a:r>
              <a:rPr sz="1800" b="0">
                <a:solidFill>
                  <a:srgbClr val="000000"/>
                </a:solidFill>
                <a:latin typeface="맑은 고딕"/>
                <a:ea typeface="맑은 고딕"/>
              </a:rPr>
              <a:t>를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1984682"/>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문형의 강점은 스토리를 처음 정의할 때 </a:t>
            </a:r>
            <a:r>
              <a:rPr sz="1800" b="1">
                <a:solidFill>
                  <a:srgbClr val="000000"/>
                </a:solidFill>
                <a:latin typeface="맑은 고딕"/>
                <a:ea typeface="맑은 고딕"/>
              </a:rPr>
              <a:t>그 스토리를 전달하는 가치</a:t>
            </a:r>
            <a:r>
              <a:rPr sz="1800" b="0">
                <a:solidFill>
                  <a:srgbClr val="000000"/>
                </a:solidFill>
                <a:latin typeface="맑은 고딕"/>
                <a:ea typeface="맑은 고딕"/>
              </a:rPr>
              <a:t>를 밝히게 한다는 것이다</a:t>
            </a:r>
            <a:r>
              <a:rPr sz="1000" b="0">
                <a:solidFill>
                  <a:srgbClr val="000000"/>
                </a:solidFill>
                <a:latin typeface="맑은 고딕"/>
                <a:ea typeface="맑은 고딕"/>
              </a:rPr>
              <a:t>, </a:t>
            </a:r>
            <a:r>
              <a:rPr sz="1000" b="0">
                <a:solidFill>
                  <a:srgbClr val="000000"/>
                </a:solidFill>
                <a:latin typeface="맑은 고딕"/>
                <a:ea typeface="맑은 고딕"/>
              </a:rPr>
              <a:t>"Its strength is that it forces you to identify the value of delivering a story when you first define it."</a:t>
            </a:r>
            <a:r>
              <a:rPr sz="1000" b="0">
                <a:solidFill>
                  <a:srgbClr val="000000"/>
                </a:solidFill>
                <a:latin typeface="맑은 고딕"/>
                <a:ea typeface="맑은 고딕"/>
              </a:rPr>
              <a:t>, </a:t>
            </a:r>
            <a:r>
              <a:rPr sz="1000" b="0">
                <a:solidFill>
                  <a:srgbClr val="000000"/>
                </a:solidFill>
                <a:latin typeface="맑은 고딕"/>
                <a:ea typeface="맑은 고딕"/>
              </a:rPr>
              <a:t>[North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취소</a:t>
            </a:r>
            <a:r>
              <a:rPr sz="1800" b="0">
                <a:solidFill>
                  <a:srgbClr val="000000"/>
                </a:solidFill>
                <a:latin typeface="맑은 고딕"/>
                <a:ea typeface="맑은 고딕"/>
              </a:rPr>
              <a:t> —</a:t>
            </a:r>
            <a:r>
              <a:rPr sz="1600" b="0">
                <a:solidFill>
                  <a:srgbClr val="000000"/>
                </a:solidFill>
                <a:latin typeface="맑은 고딕"/>
                <a:ea typeface="맑은 고딕"/>
              </a:rPr>
              <a:t> 고객으로서 배송이 시작되기 전에 주문을 취소하고 싶다. 필요 없어진 상품의 대금을 돌려받고 싶기 때문이다.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"왜"가 없으면</a:t>
            </a:r>
            <a:r>
              <a:rPr sz="1800" b="0">
                <a:solidFill>
                  <a:srgbClr val="000000"/>
                </a:solidFill>
                <a:latin typeface="맑은 고딕"/>
                <a:ea typeface="맑은 고딕"/>
              </a:rPr>
              <a:t> —</a:t>
            </a:r>
            <a:r>
              <a:rPr sz="1600" b="0">
                <a:solidFill>
                  <a:srgbClr val="000000"/>
                </a:solidFill>
                <a:latin typeface="맑은 고딕"/>
                <a:ea typeface="맑은 고딕"/>
              </a:rPr>
              <a:t> 가치를 말하지 못하는 스토리는 범위에서 뺄 후보다.</a:t>
            </a:r>
          </a:p>
        </p:txBody>
      </p:sp>
    </p:spTree>
    <p:extLst>
      <p:ext uri="{BB962C8B-B14F-4D97-AF65-F5344CB8AC3E}">
        <p14:creationId xmlns:p14="http://schemas.microsoft.com/office/powerpoint/2010/main" val="37733515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좋은 유저 스토리 — INVEST</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898948"/>
          <a:ext cx="8305800" cy="3873500"/>
        </p:xfrm>
        <a:graphic>
          <a:graphicData uri="http://schemas.openxmlformats.org/drawingml/2006/table">
            <a:tbl>
              <a:tblPr/>
              <a:tblGrid>
                <a:gridCol w="1953260"/>
                <a:gridCol w="325374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시스템에서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독립적(Independent)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스토리와 겹치지 않고 순서를 바꿀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변경과 주문 취소를 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협상 가능(Negotiable)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세부는 대화로 함께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전"의 뜻은 대화로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가치(Valuable)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고객에게 가치가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모듈이 아니라 고객이 얻는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추정 가능(Estimable)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우선순위를 정할 만큼 크기를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부분 취소처럼 규칙을 모르면 먼저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작음(Small)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길어야 몇 주, 짧게는 며칠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하나 안에 끝낼 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 가능(Testable)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테스트를 쓸 수 있을 만큼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Given-When-Then의 예로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유저 스토리의 조건은 </a:t>
            </a:r>
            <a:r>
              <a:rPr sz="1800" b="1">
                <a:solidFill>
                  <a:srgbClr val="000000"/>
                </a:solidFill>
                <a:latin typeface="맑은 고딕"/>
                <a:ea typeface="맑은 고딕"/>
              </a:rPr>
              <a:t>INVEST</a:t>
            </a:r>
            <a:r>
              <a:rPr sz="1800" b="0">
                <a:solidFill>
                  <a:srgbClr val="000000"/>
                </a:solidFill>
                <a:latin typeface="맑은 고딕"/>
                <a:ea typeface="맑은 고딕"/>
              </a:rPr>
              <a:t> 6가지다. 조건을 채우지 못하면 스토리를 나누거나 대화로 더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스토리는 </a:t>
            </a:r>
            <a:r>
              <a:rPr sz="1800" b="1">
                <a:solidFill>
                  <a:srgbClr val="000000"/>
                </a:solidFill>
                <a:latin typeface="맑은 고딕"/>
                <a:ea typeface="맑은 고딕"/>
              </a:rPr>
              <a:t>독립적·협상 가능·가치·추정 가능·작음·테스트 가능</a:t>
            </a:r>
            <a:r>
              <a:rPr sz="1800" b="0">
                <a:solidFill>
                  <a:srgbClr val="000000"/>
                </a:solidFill>
                <a:latin typeface="맑은 고딕"/>
                <a:ea typeface="맑은 고딕"/>
              </a:rPr>
              <a:t>의 6가지 조건을 갖춘다</a:t>
            </a:r>
            <a:r>
              <a:rPr sz="1000" b="0">
                <a:solidFill>
                  <a:srgbClr val="000000"/>
                </a:solidFill>
                <a:latin typeface="맑은 고딕"/>
                <a:ea typeface="맑은 고딕"/>
              </a:rPr>
              <a:t>, </a:t>
            </a:r>
            <a:r>
              <a:rPr sz="1000" b="0">
                <a:solidFill>
                  <a:srgbClr val="000000"/>
                </a:solidFill>
                <a:latin typeface="맑은 고딕"/>
                <a:ea typeface="맑은 고딕"/>
              </a:rPr>
              <a:t>"good stories are: I – Independent N – Negotiable V – Valuable E – Estimable S – Small T – Testable"</a:t>
            </a:r>
            <a:r>
              <a:rPr sz="1000" b="0">
                <a:solidFill>
                  <a:srgbClr val="000000"/>
                </a:solidFill>
                <a:latin typeface="맑은 고딕"/>
                <a:ea typeface="맑은 고딕"/>
              </a:rPr>
              <a:t>, </a:t>
            </a:r>
            <a:r>
              <a:rPr sz="1000" b="0">
                <a:solidFill>
                  <a:srgbClr val="000000"/>
                </a:solidFill>
                <a:latin typeface="맑은 고딕"/>
                <a:ea typeface="맑은 고딕"/>
              </a:rPr>
              <a:t>[Wake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INVEST와 주문 시스템</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스토리 나누기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2898948"/>
          <a:ext cx="7731760" cy="3873500"/>
        </p:xfrm>
        <a:graphic>
          <a:graphicData uri="http://schemas.openxmlformats.org/drawingml/2006/table">
            <a:tbl>
              <a:tblPr/>
              <a:tblGrid>
                <a:gridCol w="1310640"/>
                <a:gridCol w="346202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나누는 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층으로(가로)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테이블, 배송 연동 모듈, 주문 화면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조각만으로는 고객이 얻는 것이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흐름으로(세로)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 주문을 취소한다,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조각마다 고객이 결과를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스토리는 </a:t>
            </a:r>
            <a:r>
              <a:rPr sz="1800" b="1">
                <a:solidFill>
                  <a:srgbClr val="000000"/>
                </a:solidFill>
                <a:latin typeface="맑은 고딕"/>
                <a:ea typeface="맑은 고딕"/>
              </a:rPr>
              <a:t>층이 아니라 기능을 세로로</a:t>
            </a:r>
            <a:r>
              <a:rPr sz="1800" b="0">
                <a:solidFill>
                  <a:srgbClr val="000000"/>
                </a:solidFill>
                <a:latin typeface="맑은 고딕"/>
                <a:ea typeface="맑은 고딕"/>
              </a:rPr>
              <a:t> 나눈다. 한 조각만으로도 고객에게 가치가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고객에게 케이크 전체의 본질을 주는 가장 좋은 방법은 </a:t>
            </a:r>
            <a:r>
              <a:rPr sz="1800" b="1">
                <a:solidFill>
                  <a:srgbClr val="000000"/>
                </a:solidFill>
                <a:latin typeface="맑은 고딕"/>
                <a:ea typeface="맑은 고딕"/>
              </a:rPr>
              <a:t>층을 세로로 자르는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"We want to give the customer the essence of the whole cake, and the best way is to slice vertically through the layers."</a:t>
            </a:r>
            <a:r>
              <a:rPr sz="1000" b="0">
                <a:solidFill>
                  <a:srgbClr val="000000"/>
                </a:solidFill>
                <a:latin typeface="맑은 고딕"/>
                <a:ea typeface="맑은 고딕"/>
              </a:rPr>
              <a:t>, </a:t>
            </a:r>
            <a:r>
              <a:rPr sz="1000" b="0">
                <a:solidFill>
                  <a:srgbClr val="000000"/>
                </a:solidFill>
                <a:latin typeface="맑은 고딕"/>
                <a:ea typeface="맑은 고딕"/>
              </a:rPr>
              <a:t>[Wake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주문을 관리한다를 나누는 두 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915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유스케이스의 흐름이 나누는 기준</a:t>
            </a:r>
            <a:r>
              <a:rPr sz="1800" b="0">
                <a:solidFill>
                  <a:srgbClr val="000000"/>
                </a:solidFill>
                <a:latin typeface="맑은 고딕"/>
                <a:ea typeface="맑은 고딕"/>
              </a:rPr>
              <a:t> —</a:t>
            </a:r>
            <a:r>
              <a:rPr sz="1600" b="0">
                <a:solidFill>
                  <a:srgbClr val="000000"/>
                </a:solidFill>
                <a:latin typeface="맑은 고딕"/>
                <a:ea typeface="맑은 고딕"/>
              </a:rPr>
              <a:t> 「주문을 관리한다」의 기본 흐름과 대안 흐름 1a</a:t>
            </a:r>
            <a:r>
              <a:rPr sz="1200" b="0">
                <a:solidFill>
                  <a:srgbClr val="000000"/>
                </a:solidFill>
                <a:latin typeface="맑은 고딕"/>
                <a:ea typeface="맑은 고딕"/>
              </a:rPr>
              <a:t>(주문 취소)</a:t>
            </a:r>
            <a:r>
              <a:rPr sz="1600" b="0">
                <a:solidFill>
                  <a:srgbClr val="000000"/>
                </a:solidFill>
                <a:latin typeface="맑은 고딕"/>
                <a:ea typeface="맑은 고딕"/>
              </a:rPr>
              <a:t>·3a</a:t>
            </a:r>
            <a:r>
              <a:rPr sz="1200" b="0">
                <a:solidFill>
                  <a:srgbClr val="000000"/>
                </a:solidFill>
                <a:latin typeface="맑은 고딕"/>
                <a:ea typeface="맑은 고딕"/>
              </a:rPr>
              <a:t>(배송지 변경)</a:t>
            </a:r>
            <a:r>
              <a:rPr sz="1600" b="0">
                <a:solidFill>
                  <a:srgbClr val="000000"/>
                </a:solidFill>
                <a:latin typeface="맑은 고딕"/>
                <a:ea typeface="맑은 고딕"/>
              </a:rPr>
              <a:t>가 각각 스토리가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스토리</a:t>
            </a:r>
            <a:r>
              <a:rPr sz="1800" b="0">
                <a:solidFill>
                  <a:srgbClr val="000000"/>
                </a:solidFill>
                <a:latin typeface="맑은 고딕"/>
                <a:ea typeface="맑은 고딕"/>
              </a:rPr>
              <a:t> —</a:t>
            </a:r>
            <a:r>
              <a:rPr sz="1600" b="0">
                <a:solidFill>
                  <a:srgbClr val="000000"/>
                </a:solidFill>
                <a:latin typeface="맑은 고딕"/>
                <a:ea typeface="맑은 고딕"/>
              </a:rPr>
              <a:t> 유스케이스는 </a:t>
            </a:r>
            <a:r>
              <a:rPr sz="1600" b="1">
                <a:solidFill>
                  <a:srgbClr val="000000"/>
                </a:solidFill>
                <a:latin typeface="맑은 고딕"/>
                <a:ea typeface="맑은 고딕"/>
              </a:rPr>
              <a:t>전체 목표</a:t>
            </a:r>
            <a:r>
              <a:rPr sz="1600" b="0">
                <a:solidFill>
                  <a:srgbClr val="000000"/>
                </a:solidFill>
                <a:latin typeface="맑은 고딕"/>
                <a:ea typeface="맑은 고딕"/>
              </a:rPr>
              <a:t>를 보이고, 스토리는 </a:t>
            </a:r>
            <a:r>
              <a:rPr sz="1600" b="1">
                <a:solidFill>
                  <a:srgbClr val="000000"/>
                </a:solidFill>
                <a:latin typeface="맑은 고딕"/>
                <a:ea typeface="맑은 고딕"/>
              </a:rPr>
              <a:t>반복의 단위</a:t>
            </a:r>
            <a:r>
              <a:rPr sz="1600" b="0">
                <a:solidFill>
                  <a:srgbClr val="000000"/>
                </a:solidFill>
                <a:latin typeface="맑은 고딕"/>
                <a:ea typeface="맑은 고딕"/>
              </a:rPr>
              <a:t>가 된다.</a:t>
            </a:r>
          </a:p>
        </p:txBody>
      </p:sp>
    </p:spTree>
    <p:extLst>
      <p:ext uri="{BB962C8B-B14F-4D97-AF65-F5344CB8AC3E}">
        <p14:creationId xmlns:p14="http://schemas.microsoft.com/office/powerpoint/2010/main" val="278956947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잘못된 유저 스토리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3061046"/>
          <a:ext cx="7340600" cy="3873500"/>
        </p:xfrm>
        <a:graphic>
          <a:graphicData uri="http://schemas.openxmlformats.org/drawingml/2006/table">
            <a:tbl>
              <a:tblPr/>
              <a:tblGrid>
                <a:gridCol w="1310640"/>
                <a:gridCol w="32943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바로잡기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개발자가 주어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개발자로서 주문 클래스가 견고하기를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얻는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 모듈을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흐름으로 세로로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관리자로서 주문을 등록·수정·삭제하고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목표로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고객으로서 취소 버튼을 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가치를 말하지 못하면 범위에서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확인할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변경이 편리하면 좋겠다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확인할 수 있는 예를 붙인다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스토리에도 유스케이스와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이 있다. 주어가 사용자가 아니거나, 기능·기술 작업으로 나눈 스토리다.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도구가 작은 버그를 고치며 쓴 스토리 — </a:t>
            </a:r>
            <a:r>
              <a:rPr sz="1800" b="1">
                <a:solidFill>
                  <a:srgbClr val="000000"/>
                </a:solidFill>
                <a:latin typeface="맑은 고딕"/>
                <a:ea typeface="맑은 고딕"/>
              </a:rPr>
              <a:t>개발자로서</a:t>
            </a:r>
            <a:r>
              <a:rPr sz="1800" b="0">
                <a:solidFill>
                  <a:srgbClr val="000000"/>
                </a:solidFill>
                <a:latin typeface="맑은 고딕"/>
                <a:ea typeface="맑은 고딕"/>
              </a:rPr>
              <a:t> 변환 함수가 경계 사례를 우아하게 처리하기를 원한다</a:t>
            </a:r>
            <a:r>
              <a:rPr sz="1000" b="0">
                <a:solidFill>
                  <a:srgbClr val="000000"/>
                </a:solidFill>
                <a:latin typeface="맑은 고딕"/>
                <a:ea typeface="맑은 고딕"/>
              </a:rPr>
              <a:t>, </a:t>
            </a:r>
            <a:r>
              <a:rPr sz="1000" b="0">
                <a:solidFill>
                  <a:srgbClr val="000000"/>
                </a:solidFill>
                <a:latin typeface="맑은 고딕"/>
                <a:ea typeface="맑은 고딕"/>
              </a:rPr>
              <a:t>"User story: As a developer, I want the transformation function to handle edge cases gracefully, so that the system remains robust when new category formats are introduced."</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유저 스토리</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54. 유저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2112010"/>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유저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유저 스토리의 강점과 한계</a:t>
            </a:r>
          </a:p>
        </p:txBody>
      </p:sp>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55. 행위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3335366"/>
          <a:ext cx="6642100" cy="3873500"/>
        </p:xfrm>
        <a:graphic>
          <a:graphicData uri="http://schemas.openxmlformats.org/drawingml/2006/table">
            <a:tbl>
              <a:tblPr/>
              <a:tblGrid>
                <a:gridCol w="1813560"/>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발견(Discovery)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대화하며 규칙과 예를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정형화(Formulation)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Given-When-Then으로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같은 뜻으로 읽는가?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자동화(Automation)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예를 실행되는 테스트로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예대로 동작하는가?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a:t>
            </a:r>
            <a:r>
              <a:rPr sz="1800" b="0">
                <a:solidFill>
                  <a:srgbClr val="000000"/>
                </a:solidFill>
                <a:latin typeface="맑은 고딕"/>
                <a:ea typeface="맑은 고딕"/>
              </a:rPr>
              <a:t>하고 검증과 연결하는 협업 방식이다. TDD에서 출발해 요구 분석으로 넓어졌다.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3가지 실천</a:t>
            </a:r>
          </a:p>
        </p:txBody>
      </p:sp>
    </p:spTree>
    <p:extLst>
      <p:ext uri="{BB962C8B-B14F-4D97-AF65-F5344CB8AC3E}">
        <p14:creationId xmlns:p14="http://schemas.microsoft.com/office/powerpoint/2010/main" val="278956947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56. Given-When-Then</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Given 고객 소유의 주문 A가 출고 전이고 배송지는 주소 A, 새 주소 B는 유효하다</a:t>
            </a:r>
          </a:p>
          <a:p>
            <a:pPr marL="0" indent="0" algn="l">
              <a:lnSpc>
                <a:spcPts val="1150"/>
              </a:lnSpc>
              <a:spcBef>
                <a:spcPts val="0"/>
              </a:spcBef>
              <a:spcAft>
                <a:spcPts val="0"/>
              </a:spcAft>
              <a:buNone/>
            </a:pPr>
            <a:r>
              <a:rPr sz="1000" b="0">
                <a:solidFill>
                  <a:srgbClr val="000000"/>
                </a:solidFill>
                <a:latin typeface="Consolas"/>
                <a:ea typeface="맑은 고딕"/>
              </a:rPr>
              <a:t>When  고객이 주문 A의 배송지를 주소 B로 변경한다</a:t>
            </a:r>
          </a:p>
          <a:p>
            <a:pPr marL="0" indent="0" algn="l">
              <a:lnSpc>
                <a:spcPts val="1150"/>
              </a:lnSpc>
              <a:spcBef>
                <a:spcPts val="0"/>
              </a:spcBef>
              <a:spcAft>
                <a:spcPts val="0"/>
              </a:spcAft>
              <a:buNone/>
            </a:pPr>
            <a:r>
              <a:rPr sz="1000" b="0">
                <a:solidFill>
                  <a:srgbClr val="000000"/>
                </a:solidFill>
                <a:latin typeface="Consolas"/>
                <a:ea typeface="맑은 고딕"/>
              </a:rPr>
              <a:t>Then  주문 A의 배송지는 주소 B이고, 주문 식별 정보·상품·결제 금액은 변경 전과 같다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스토리의 행위는 </a:t>
            </a:r>
            <a:r>
              <a:rPr sz="1800" b="1">
                <a:solidFill>
                  <a:srgbClr val="000000"/>
                </a:solidFill>
                <a:latin typeface="맑은 고딕"/>
                <a:ea typeface="맑은 고딕"/>
              </a:rPr>
              <a:t>인수 조건</a:t>
            </a:r>
            <a:r>
              <a:rPr sz="1800" b="0">
                <a:solidFill>
                  <a:srgbClr val="000000"/>
                </a:solidFill>
                <a:latin typeface="맑은 고딕"/>
                <a:ea typeface="맑은 고딕"/>
              </a:rPr>
              <a:t>이고, 인수 조건은 </a:t>
            </a:r>
            <a:r>
              <a:rPr sz="1800" b="1">
                <a:solidFill>
                  <a:srgbClr val="000000"/>
                </a:solidFill>
                <a:latin typeface="맑은 고딕"/>
                <a:ea typeface="맑은 고딕"/>
              </a:rPr>
              <a:t>Given-When-Then</a:t>
            </a:r>
            <a:r>
              <a:rPr sz="1800" b="0">
                <a:solidFill>
                  <a:srgbClr val="000000"/>
                </a:solidFill>
                <a:latin typeface="맑은 고딕"/>
                <a:ea typeface="맑은 고딕"/>
              </a:rPr>
              <a:t>의 시나리오로 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265064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행위는 곧 </a:t>
            </a:r>
            <a:r>
              <a:rPr sz="1800" b="1">
                <a:solidFill>
                  <a:srgbClr val="000000"/>
                </a:solidFill>
                <a:latin typeface="맑은 고딕"/>
                <a:ea typeface="맑은 고딕"/>
              </a:rPr>
              <a:t>인수 조건</a:t>
            </a:r>
            <a:r>
              <a:rPr sz="1800" b="0">
                <a:solidFill>
                  <a:srgbClr val="000000"/>
                </a:solidFill>
                <a:latin typeface="맑은 고딕"/>
                <a:ea typeface="맑은 고딕"/>
              </a:rPr>
              <a:t>이다 — 시스템이 인수 조건을 모두 채우면 바르게 동작하고 채우지 못하면 아니다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a:t>
            </a:r>
            <a:r>
              <a:rPr sz="1000" b="0">
                <a:solidFill>
                  <a:srgbClr val="000000"/>
                </a:solidFill>
                <a:latin typeface="맑은 고딕"/>
                <a:ea typeface="맑은 고딕"/>
              </a:rPr>
              <a:t>, </a:t>
            </a:r>
            <a:r>
              <a:rPr sz="1000" b="0">
                <a:solidFill>
                  <a:srgbClr val="000000"/>
                </a:solidFill>
                <a:latin typeface="맑은 고딕"/>
                <a:ea typeface="맑은 고딕"/>
              </a:rPr>
              <a:t>[North 2006]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Given</a:t>
            </a:r>
            <a:r>
              <a:rPr sz="1800" b="0">
                <a:solidFill>
                  <a:srgbClr val="000000"/>
                </a:solidFill>
                <a:latin typeface="맑은 고딕"/>
                <a:ea typeface="맑은 고딕"/>
              </a:rPr>
              <a:t>은 어떤 상태에서 시작하는가, </a:t>
            </a:r>
            <a:r>
              <a:rPr sz="1800" b="1">
                <a:solidFill>
                  <a:srgbClr val="000000"/>
                </a:solidFill>
                <a:latin typeface="맑은 고딕"/>
                <a:ea typeface="맑은 고딕"/>
              </a:rPr>
              <a:t>When</a:t>
            </a:r>
            <a:r>
              <a:rPr sz="1800" b="0">
                <a:solidFill>
                  <a:srgbClr val="000000"/>
                </a:solidFill>
                <a:latin typeface="맑은 고딕"/>
                <a:ea typeface="맑은 고딕"/>
              </a:rPr>
              <a:t>은 액터가 무엇을 하는가, </a:t>
            </a:r>
            <a:r>
              <a:rPr sz="1800" b="1">
                <a:solidFill>
                  <a:srgbClr val="000000"/>
                </a:solidFill>
                <a:latin typeface="맑은 고딕"/>
                <a:ea typeface="맑은 고딕"/>
              </a:rPr>
              <a:t>Then</a:t>
            </a:r>
            <a:r>
              <a:rPr sz="1800" b="0">
                <a:solidFill>
                  <a:srgbClr val="000000"/>
                </a:solidFill>
                <a:latin typeface="맑은 고딕"/>
                <a:ea typeface="맑은 고딕"/>
              </a:rPr>
              <a:t>은 무엇이 관찰되어야 하는가다.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위의 예는 「45. 시스템 오퍼레이션과 계약」의 배송지 변경 계약을 </a:t>
            </a:r>
            <a:r>
              <a:rPr sz="1800" b="1">
                <a:solidFill>
                  <a:srgbClr val="000000"/>
                </a:solidFill>
                <a:latin typeface="맑은 고딕"/>
                <a:ea typeface="맑은 고딕"/>
              </a:rPr>
              <a:t>예로 옮긴 것</a:t>
            </a:r>
            <a:r>
              <a:rPr sz="1800" b="0">
                <a:solidFill>
                  <a:srgbClr val="000000"/>
                </a:solidFill>
                <a:latin typeface="맑은 고딕"/>
                <a:ea typeface="맑은 고딕"/>
              </a:rPr>
              <a:t>이다. 규칙마다 그 규칙을 가장 잘 보이는 </a:t>
            </a:r>
            <a:r>
              <a:rPr sz="1800" b="1">
                <a:solidFill>
                  <a:srgbClr val="000000"/>
                </a:solidFill>
                <a:latin typeface="맑은 고딕"/>
                <a:ea typeface="맑은 고딕"/>
              </a:rPr>
              <a:t>대표 예</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377335152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Example Mapping</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Example Mapping</a:t>
            </a:r>
            <a:r>
              <a:rPr sz="1800" b="0">
                <a:solidFill>
                  <a:srgbClr val="000000"/>
                </a:solidFill>
                <a:latin typeface="맑은 고딕"/>
                <a:ea typeface="맑은 고딕"/>
              </a:rPr>
              <a:t>은 스토리 하나를 놓고 </a:t>
            </a:r>
            <a:r>
              <a:rPr sz="1800" b="1">
                <a:solidFill>
                  <a:srgbClr val="000000"/>
                </a:solidFill>
                <a:latin typeface="맑은 고딕"/>
                <a:ea typeface="맑은 고딕"/>
              </a:rPr>
              <a:t>규칙·예·질문</a:t>
            </a:r>
            <a:r>
              <a:rPr sz="1800" b="0">
                <a:solidFill>
                  <a:srgbClr val="000000"/>
                </a:solidFill>
                <a:latin typeface="맑은 고딕"/>
                <a:ea typeface="맑은 고딕"/>
              </a:rPr>
              <a:t>을 카드로 나눠 대화하는 방법이다. 규칙은 업무 규칙, 예는 인수 조건, 답하지 못한 질문은 확인할 목록이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Example Mapping은 인수 조건을 밝히는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만드는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a:t>
            </a:r>
            <a:r>
              <a:rPr sz="1000" b="0">
                <a:solidFill>
                  <a:srgbClr val="000000"/>
                </a:solidFill>
                <a:latin typeface="맑은 고딕"/>
                <a:ea typeface="맑은 고딕"/>
              </a:rPr>
              <a:t>, </a:t>
            </a:r>
            <a:r>
              <a:rPr sz="1000" b="0">
                <a:solidFill>
                  <a:srgbClr val="000000"/>
                </a:solidFill>
                <a:latin typeface="맑은 고딕"/>
                <a:ea typeface="맑은 고딕"/>
              </a:rPr>
              <a:t>[Cucumber: Example Mapping]</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947970"/>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배송지 변경의 Example Mapping</a:t>
            </a:r>
          </a:p>
        </p:txBody>
      </p:sp>
      <p:pic>
        <p:nvPicPr>
          <p:cNvPr id="10" name="mermaid Diagram 3"/>
          <p:cNvPicPr>
            <a:picLocks noChangeAspect="1"/>
          </p:cNvPicPr>
          <p:nvPr/>
        </p:nvPicPr>
        <p:blipFill>
          <a:blip r:embed="mermaidImage3"/>
          <a:stretch>
            <a:fillRect/>
          </a:stretch>
        </p:blipFill>
        <p:spPr>
          <a:xfrm>
            <a:off x="2082800" y="3185714"/>
            <a:ext cx="4978400" cy="26606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58.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2112010"/>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BDD의 강점과 한계</a:t>
            </a:r>
          </a:p>
        </p:txBody>
      </p:sp>
    </p:spTree>
    <p:extLst>
      <p:ext uri="{BB962C8B-B14F-4D97-AF65-F5344CB8AC3E}">
        <p14:creationId xmlns:p14="http://schemas.microsoft.com/office/powerpoint/2010/main" val="278956947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59. 유스케이스·유저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112010"/>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유저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기법은 목적이 겹치지만 </a:t>
            </a:r>
            <a:r>
              <a:rPr sz="1800" b="1">
                <a:solidFill>
                  <a:srgbClr val="000000"/>
                </a:solidFill>
                <a:latin typeface="맑은 고딕"/>
                <a:ea typeface="맑은 고딕"/>
              </a:rPr>
              <a:t>강조점이 다르다</a:t>
            </a:r>
            <a:r>
              <a:rPr sz="1800" b="0">
                <a:solidFill>
                  <a:srgbClr val="000000"/>
                </a:solidFill>
                <a:latin typeface="맑은 고딕"/>
                <a:ea typeface="맑은 고딕"/>
              </a:rPr>
              <a:t>. 순서대로 도입할 필요 없이 필요한 관점에 맞춰 고르거나 잇는다.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질문별 적합한 기법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65762"/>
            <a:ext cx="8412480" cy="201168"/>
          </a:xfrm>
          <a:prstGeom prst="rect">
            <a:avLst/>
          </a:prstGeom>
          <a:noFill/>
        </p:spPr>
        <p:txBody>
          <a:bodyPr wrap="square">
            <a:spAutoFit/>
          </a:bodyPr>
          <a:lstStyle/>
          <a:p>
            <a:pPr algn="ctr"/>
            <a:r>
              <a:rPr sz="1400" b="1">
                <a:solidFill>
                  <a:srgbClr val="000000"/>
                </a:solidFill>
                <a:latin typeface="맑은 고딕"/>
                <a:ea typeface="맑은 고딕"/>
              </a:rPr>
              <a:t>세 기법의 연결</a:t>
            </a:r>
          </a:p>
        </p:txBody>
      </p:sp>
      <p:pic>
        <p:nvPicPr>
          <p:cNvPr id="16" name="mermaid Diagram 4"/>
          <p:cNvPicPr>
            <a:picLocks noChangeAspect="1"/>
          </p:cNvPicPr>
          <p:nvPr/>
        </p:nvPicPr>
        <p:blipFill>
          <a:blip r:embed="mermaidImage4"/>
          <a:stretch>
            <a:fillRect/>
          </a:stretch>
        </p:blipFill>
        <p:spPr>
          <a:xfrm>
            <a:off x="2611092" y="3803506"/>
            <a:ext cx="3908227" cy="220382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2956" y="3335366"/>
          <a:ext cx="5524500" cy="3873500"/>
        </p:xfrm>
        <a:graphic>
          <a:graphicData uri="http://schemas.openxmlformats.org/drawingml/2006/table">
            <a:tbl>
              <a:tblPr/>
              <a:tblGrid>
                <a:gridCol w="1087120"/>
                <a:gridCol w="2847340"/>
                <a:gridCol w="1590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명세는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사람이 고치는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먼저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작업에 쓰고 나면 할 일을 다 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 고정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기능의 발전과 유지보수에 계속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명세와 코드를 함께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명세가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지나도 주된 원천 파일이다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코딩 에이전트가 쓰이면서 </a:t>
            </a:r>
            <a:r>
              <a:rPr sz="1800" b="1">
                <a:solidFill>
                  <a:srgbClr val="000000"/>
                </a:solidFill>
                <a:latin typeface="맑은 고딕"/>
                <a:ea typeface="맑은 고딕"/>
              </a:rPr>
              <a:t>명세 주도 개발</a:t>
            </a:r>
            <a:r>
              <a:rPr sz="1400" b="1">
                <a:solidFill>
                  <a:srgbClr val="000000"/>
                </a:solidFill>
                <a:latin typeface="맑은 고딕"/>
                <a:ea typeface="맑은 고딕"/>
              </a:rPr>
              <a:t>(SDD)</a:t>
            </a:r>
            <a:r>
              <a:rPr sz="1800" b="0">
                <a:solidFill>
                  <a:srgbClr val="000000"/>
                </a:solidFill>
                <a:latin typeface="맑은 고딕"/>
                <a:ea typeface="맑은 고딕"/>
              </a:rPr>
              <a:t>이 주목받는다. 코드를 쓰기 전에 명세를 먼저 쓰고, 그 명세를 사람과 AI의 기준으로 삼는다.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쓰기 전에 </a:t>
            </a:r>
            <a:r>
              <a:rPr sz="1800" b="1">
                <a:solidFill>
                  <a:srgbClr val="000000"/>
                </a:solidFill>
                <a:latin typeface="맑은 고딕"/>
                <a:ea typeface="맑은 고딕"/>
              </a:rPr>
              <a:t>명세를 먼저 쓰는 것</a:t>
            </a:r>
            <a:r>
              <a:rPr sz="1800" b="0">
                <a:solidFill>
                  <a:srgbClr val="000000"/>
                </a:solidFill>
                <a:latin typeface="맑은 고딕"/>
                <a:ea typeface="맑은 고딕"/>
              </a:rPr>
              <a:t>이고 그 명세가 </a:t>
            </a:r>
            <a:r>
              <a:rPr sz="1800" b="1">
                <a:solidFill>
                  <a:srgbClr val="000000"/>
                </a:solidFill>
                <a:latin typeface="맑은 고딕"/>
                <a:ea typeface="맑은 고딕"/>
              </a:rPr>
              <a:t>사람과 AI의 기준</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691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SDD의 3가지 수준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71596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내용은 요구 분석의 산출물</a:t>
            </a:r>
            <a:r>
              <a:rPr sz="1800" b="0">
                <a:solidFill>
                  <a:srgbClr val="000000"/>
                </a:solidFill>
                <a:latin typeface="맑은 고딕"/>
                <a:ea typeface="맑은 고딕"/>
              </a:rPr>
              <a:t> —</a:t>
            </a:r>
            <a:r>
              <a:rPr sz="1600" b="0">
                <a:solidFill>
                  <a:srgbClr val="000000"/>
                </a:solidFill>
                <a:latin typeface="맑은 고딕"/>
                <a:ea typeface="맑은 고딕"/>
              </a:rPr>
              <a:t> SDD 도구가 만드는 요구 문서도 유저 스토리와 Given-When-Then 인수 조건의 목록이다.</a:t>
            </a:r>
          </a:p>
        </p:txBody>
      </p:sp>
    </p:spTree>
    <p:extLst>
      <p:ext uri="{BB962C8B-B14F-4D97-AF65-F5344CB8AC3E}">
        <p14:creationId xmlns:p14="http://schemas.microsoft.com/office/powerpoint/2010/main" val="27895694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61. 명세 주도 개발의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명세가 많다고 좋은 것이 아니다. </a:t>
            </a:r>
            <a:r>
              <a:rPr sz="1800" b="1">
                <a:solidFill>
                  <a:srgbClr val="000000"/>
                </a:solidFill>
                <a:latin typeface="맑은 고딕"/>
                <a:ea typeface="맑은 고딕"/>
              </a:rPr>
              <a:t>작업 크기에 맞는 명세</a:t>
            </a:r>
            <a:r>
              <a:rPr sz="1800" b="0">
                <a:solidFill>
                  <a:srgbClr val="000000"/>
                </a:solidFill>
                <a:latin typeface="맑은 고딕"/>
                <a:ea typeface="맑은 고딕"/>
              </a:rPr>
              <a:t>와 </a:t>
            </a:r>
            <a:r>
              <a:rPr sz="1800" b="1">
                <a:solidFill>
                  <a:srgbClr val="000000"/>
                </a:solidFill>
                <a:latin typeface="맑은 고딕"/>
                <a:ea typeface="맑은 고딕"/>
              </a:rPr>
              <a:t>작은 반복</a:t>
            </a:r>
            <a:r>
              <a:rPr sz="1800" b="0">
                <a:solidFill>
                  <a:srgbClr val="000000"/>
                </a:solidFill>
                <a:latin typeface="맑은 고딕"/>
                <a:ea typeface="맑은 고딕"/>
              </a:rPr>
              <a:t>이 여전히 핵심이다.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문서는 이 </a:t>
            </a:r>
            <a:r>
              <a:rPr sz="1800" b="1">
                <a:solidFill>
                  <a:srgbClr val="000000"/>
                </a:solidFill>
                <a:latin typeface="맑은 고딕"/>
                <a:ea typeface="맑은 고딕"/>
              </a:rPr>
              <a:t>작은 버그</a:t>
            </a:r>
            <a:r>
              <a:rPr sz="1800" b="0">
                <a:solidFill>
                  <a:srgbClr val="000000"/>
                </a:solidFill>
                <a:latin typeface="맑은 고딕"/>
                <a:ea typeface="맑은 고딕"/>
              </a:rPr>
              <a:t>를 </a:t>
            </a:r>
            <a:r>
              <a:rPr sz="1800" b="1">
                <a:solidFill>
                  <a:srgbClr val="000000"/>
                </a:solidFill>
                <a:latin typeface="맑은 고딕"/>
                <a:ea typeface="맑은 고딕"/>
              </a:rPr>
              <a:t>유저 스토리 4개와 인수 조건 16개</a:t>
            </a:r>
            <a:r>
              <a:rPr sz="1800" b="0">
                <a:solidFill>
                  <a:srgbClr val="000000"/>
                </a:solidFill>
                <a:latin typeface="맑은 고딕"/>
                <a:ea typeface="맑은 고딕"/>
              </a:rPr>
              <a:t>로 바꾸었다</a:t>
            </a:r>
            <a:r>
              <a:rPr sz="1000" b="0">
                <a:solidFill>
                  <a:srgbClr val="000000"/>
                </a:solidFill>
                <a:latin typeface="맑은 고딕"/>
                <a:ea typeface="맑은 고딕"/>
              </a:rPr>
              <a:t>, </a:t>
            </a:r>
            <a:r>
              <a:rPr sz="1000" b="0">
                <a:solidFill>
                  <a:srgbClr val="000000"/>
                </a:solidFill>
                <a:latin typeface="맑은 고딕"/>
                <a:ea typeface="맑은 고딕"/>
              </a:rPr>
              <a:t>"The requirements document turned this small bug into 4 “user stories” with a total of 16 acceptance criteria"</a:t>
            </a:r>
            <a:r>
              <a:rPr sz="1000" b="0">
                <a:solidFill>
                  <a:srgbClr val="000000"/>
                </a:solidFill>
                <a:latin typeface="맑은 고딕"/>
                <a:ea typeface="맑은 고딕"/>
              </a:rPr>
              <a:t>, </a:t>
            </a:r>
            <a:r>
              <a:rPr sz="1000" b="0">
                <a:solidFill>
                  <a:srgbClr val="000000"/>
                </a:solidFill>
                <a:latin typeface="맑은 고딕"/>
                <a:ea typeface="맑은 고딕"/>
              </a:rPr>
              <a:t>[Böckeler 2025]</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명세가 원천인 방식과 명세 고정까지도 </a:t>
            </a:r>
            <a:r>
              <a:rPr sz="1800" b="1">
                <a:solidFill>
                  <a:srgbClr val="000000"/>
                </a:solidFill>
                <a:latin typeface="맑은 고딕"/>
                <a:ea typeface="맑은 고딕"/>
              </a:rPr>
              <a:t>MDD와 LLM의 단점을 함께</a:t>
            </a:r>
            <a:r>
              <a:rPr sz="1800" b="0">
                <a:solidFill>
                  <a:srgbClr val="000000"/>
                </a:solidFill>
                <a:latin typeface="맑은 고딕"/>
                <a:ea typeface="맑은 고딕"/>
              </a:rPr>
              <a:t> 떠안을 수 있다 — </a:t>
            </a:r>
            <a:r>
              <a:rPr sz="1800" b="1">
                <a:solidFill>
                  <a:srgbClr val="000000"/>
                </a:solidFill>
                <a:latin typeface="맑은 고딕"/>
                <a:ea typeface="맑은 고딕"/>
              </a:rPr>
              <a:t>경직성과 비결정성</a:t>
            </a:r>
            <a:r>
              <a:rPr sz="1000" b="0">
                <a:solidFill>
                  <a:srgbClr val="000000"/>
                </a:solidFill>
                <a:latin typeface="맑은 고딕"/>
                <a:ea typeface="맑은 고딕"/>
              </a:rPr>
              <a:t>, </a:t>
            </a:r>
            <a:r>
              <a:rPr sz="1000" b="0">
                <a:solidFill>
                  <a:srgbClr val="000000"/>
                </a:solidFill>
                <a:latin typeface="맑은 고딕"/>
                <a:ea typeface="맑은 고딕"/>
              </a:rPr>
              <a:t>"I wonder if spec-as-source, and even spec-anchoring, might end up with the downsides of both MDD and LLMs: Inflexibility and non-determinism."</a:t>
            </a:r>
            <a:r>
              <a:rPr sz="1000" b="0">
                <a:solidFill>
                  <a:srgbClr val="000000"/>
                </a:solidFill>
                <a:latin typeface="맑은 고딕"/>
                <a:ea typeface="맑은 고딕"/>
              </a:rPr>
              <a:t>, </a:t>
            </a:r>
            <a:r>
              <a:rPr sz="1000" b="0">
                <a:solidFill>
                  <a:srgbClr val="000000"/>
                </a:solidFill>
                <a:latin typeface="맑은 고딕"/>
                <a:ea typeface="맑은 고딕"/>
              </a:rPr>
              <a:t>[Böckeler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 과잉</a:t>
            </a:r>
            <a:r>
              <a:rPr sz="1800" b="0">
                <a:solidFill>
                  <a:srgbClr val="000000"/>
                </a:solidFill>
                <a:latin typeface="맑은 고딕"/>
                <a:ea typeface="맑은 고딕"/>
              </a:rPr>
              <a:t> —</a:t>
            </a:r>
            <a:r>
              <a:rPr sz="1600" b="0">
                <a:solidFill>
                  <a:srgbClr val="000000"/>
                </a:solidFill>
                <a:latin typeface="맑은 고딕"/>
                <a:ea typeface="맑은 고딕"/>
              </a:rPr>
              <a:t> 작은 수정에도 문서가 불어나면 리뷰할 문서가 코드보다 많아진다</a:t>
            </a:r>
            <a:r>
              <a:rPr sz="1200" b="0">
                <a:solidFill>
                  <a:srgbClr val="000000"/>
                </a:solidFill>
                <a:latin typeface="맑은 고딕"/>
                <a:ea typeface="맑은 고딕"/>
              </a:rPr>
              <a:t>(「39. 잘못된 관행 — 명세 과잉·방치」)</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 주도 개발</a:t>
            </a:r>
            <a:r>
              <a:rPr sz="1400" b="1">
                <a:solidFill>
                  <a:srgbClr val="000000"/>
                </a:solidFill>
                <a:latin typeface="맑은 고딕"/>
                <a:ea typeface="맑은 고딕"/>
              </a:rPr>
              <a:t>(MDD)</a:t>
            </a:r>
            <a:r>
              <a:rPr sz="1800" b="1">
                <a:solidFill>
                  <a:srgbClr val="000000"/>
                </a:solidFill>
                <a:latin typeface="맑은 고딕"/>
                <a:ea typeface="맑은 고딕"/>
              </a:rPr>
              <a:t>의 교훈</a:t>
            </a:r>
            <a:r>
              <a:rPr sz="1800" b="0">
                <a:solidFill>
                  <a:srgbClr val="000000"/>
                </a:solidFill>
                <a:latin typeface="맑은 고딕"/>
                <a:ea typeface="맑은 고딕"/>
              </a:rPr>
              <a:t> —</a:t>
            </a:r>
            <a:r>
              <a:rPr sz="1600" b="0">
                <a:solidFill>
                  <a:srgbClr val="000000"/>
                </a:solidFill>
                <a:latin typeface="맑은 고딕"/>
                <a:ea typeface="맑은 고딕"/>
              </a:rPr>
              <a:t> 모델에서 코드를 생성하려던 MDD는 업무 애플리케이션에 자리잡지 못했다. 모델과 명세는 코드를 생성하려고 쓰는 것이 아니라 </a:t>
            </a:r>
            <a:r>
              <a:rPr sz="1600" b="1">
                <a:solidFill>
                  <a:srgbClr val="000000"/>
                </a:solidFill>
                <a:latin typeface="맑은 고딕"/>
                <a:ea typeface="맑은 고딕"/>
              </a:rPr>
              <a:t>의미를 밝히려고</a:t>
            </a:r>
            <a:r>
              <a:rPr sz="1600" b="0">
                <a:solidFill>
                  <a:srgbClr val="000000"/>
                </a:solidFill>
                <a:latin typeface="맑은 고딕"/>
                <a:ea typeface="맑은 고딕"/>
              </a:rPr>
              <a:t>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반복</a:t>
            </a:r>
            <a:r>
              <a:rPr sz="1800" b="0">
                <a:solidFill>
                  <a:srgbClr val="000000"/>
                </a:solidFill>
                <a:latin typeface="맑은 고딕"/>
                <a:ea typeface="맑은 고딕"/>
              </a:rPr>
              <a:t> —</a:t>
            </a:r>
            <a:r>
              <a:rPr sz="1600" b="0">
                <a:solidFill>
                  <a:srgbClr val="000000"/>
                </a:solidFill>
                <a:latin typeface="맑은 고딕"/>
                <a:ea typeface="맑은 고딕"/>
              </a:rPr>
              <a:t> 통제는 문서의 양이 아니라 작은 단계와 검증에서 나온다</a:t>
            </a:r>
            <a:r>
              <a:rPr sz="1200" b="0">
                <a:solidFill>
                  <a:srgbClr val="000000"/>
                </a:solidFill>
                <a:latin typeface="맑은 고딕"/>
                <a:ea typeface="맑은 고딕"/>
              </a:rPr>
              <a:t>(「09. 반복적 접근」)</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marL="342900" indent="0">
              <a:spcBef>
                <a:spcPts val="600"/>
              </a:spcBef>
              <a:spcAft>
                <a:spcPts val="600"/>
              </a:spcAft>
              <a:buNone/>
            </a:pPr>
            <a:r>
              <a:rPr sz="1800" b="1">
                <a:solidFill>
                  <a:srgbClr val="000000"/>
                </a:solidFill>
                <a:latin typeface="맑은 고딕"/>
                <a:ea typeface="맑은 고딕"/>
              </a:rPr>
              <a:t>문서 수준에서 확인할 수 있는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구현·검증 가능한가?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명확·완전·일관적</a:t>
            </a:r>
            <a:r>
              <a:rPr sz="1800" b="0">
                <a:solidFill>
                  <a:srgbClr val="000000"/>
                </a:solidFill>
                <a:latin typeface="맑은 고딕"/>
                <a:ea typeface="맑은 고딕"/>
              </a:rPr>
              <a:t>인가?</a:t>
            </a:r>
          </a:p>
          <a:p>
            <a:pPr marL="342900" indent="0">
              <a:spcBef>
                <a:spcPts val="600"/>
              </a:spcBef>
              <a:spcAft>
                <a:spcPts val="600"/>
              </a:spcAft>
              <a:buNone/>
            </a:pPr>
            <a:r>
              <a:rPr sz="1800" b="1">
                <a:solidFill>
                  <a:srgbClr val="000000"/>
                </a:solidFill>
                <a:latin typeface="맑은 고딕"/>
                <a:ea typeface="맑은 고딕"/>
              </a:rPr>
              <a:t>실제 사용에서 확인해야 하는 것</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사용하며 </a:t>
            </a:r>
            <a:r>
              <a:rPr sz="1800" b="1">
                <a:solidFill>
                  <a:srgbClr val="000000"/>
                </a:solidFill>
                <a:latin typeface="맑은 고딕"/>
                <a:ea typeface="맑은 고딕"/>
              </a:rPr>
              <a:t>문제를 해결</a:t>
            </a:r>
            <a:r>
              <a:rPr sz="1800" b="0">
                <a:solidFill>
                  <a:srgbClr val="000000"/>
                </a:solidFill>
                <a:latin typeface="맑은 고딕"/>
                <a:ea typeface="맑은 고딕"/>
              </a:rPr>
              <a:t>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기대한 가치</a:t>
            </a:r>
            <a:r>
              <a:rPr sz="1800" b="0">
                <a:solidFill>
                  <a:srgbClr val="000000"/>
                </a:solidFill>
                <a:latin typeface="맑은 고딕"/>
                <a:ea typeface="맑은 고딕"/>
              </a:rPr>
              <a:t>와 </a:t>
            </a:r>
            <a:r>
              <a:rPr sz="1800" b="1">
                <a:solidFill>
                  <a:srgbClr val="000000"/>
                </a:solidFill>
                <a:latin typeface="맑은 고딕"/>
                <a:ea typeface="맑은 고딕"/>
              </a:rPr>
              <a:t>예상 못한 문제</a:t>
            </a:r>
            <a:r>
              <a:rPr sz="1800" b="0">
                <a:solidFill>
                  <a:srgbClr val="000000"/>
                </a:solidFill>
                <a:latin typeface="맑은 고딕"/>
                <a:ea typeface="맑은 고딕"/>
              </a:rPr>
              <a:t>가 있는가?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1551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요구사항 검증의 흐름</a:t>
            </a:r>
          </a:p>
        </p:txBody>
      </p:sp>
      <p:pic>
        <p:nvPicPr>
          <p:cNvPr id="10" name="mermaid Diagram 5"/>
          <p:cNvPicPr>
            <a:picLocks noChangeAspect="1"/>
          </p:cNvPicPr>
          <p:nvPr/>
        </p:nvPicPr>
        <p:blipFill>
          <a:blip r:embed="mermaidImage5"/>
          <a:stretch>
            <a:fillRect/>
          </a:stretch>
        </p:blipFill>
        <p:spPr>
          <a:xfrm>
            <a:off x="1337469" y="3953256"/>
            <a:ext cx="6469063" cy="10314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marL="342900" indent="0">
              <a:spcBef>
                <a:spcPts val="600"/>
              </a:spcBef>
              <a:spcAft>
                <a:spcPts val="600"/>
              </a:spcAft>
              <a:buNone/>
            </a:pPr>
            <a:r>
              <a:rPr sz="1800" b="1">
                <a:solidFill>
                  <a:srgbClr val="000000"/>
                </a:solidFill>
                <a:latin typeface="맑은 고딕"/>
                <a:ea typeface="맑은 고딕"/>
              </a:rPr>
              <a:t>관리 대상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기준선, 변경, 우선순위, 상태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버전, 의존성, 영향분석, 추적</a:t>
            </a:r>
          </a:p>
          <a:p>
            <a:pPr marL="342900" indent="0">
              <a:spcBef>
                <a:spcPts val="600"/>
              </a:spcBef>
              <a:spcAft>
                <a:spcPts val="600"/>
              </a:spcAft>
              <a:buNone/>
            </a:pPr>
            <a:r>
              <a:rPr sz="1800" b="1">
                <a:solidFill>
                  <a:srgbClr val="000000"/>
                </a:solidFill>
                <a:latin typeface="맑은 고딕"/>
                <a:ea typeface="맑은 고딕"/>
              </a:rPr>
              <a:t>질문</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무엇이 </a:t>
            </a:r>
            <a:r>
              <a:rPr sz="1800" b="1">
                <a:solidFill>
                  <a:srgbClr val="000000"/>
                </a:solidFill>
                <a:latin typeface="맑은 고딕"/>
                <a:ea typeface="맑은 고딕"/>
              </a:rPr>
              <a:t>언제·왜</a:t>
            </a:r>
            <a:r>
              <a:rPr sz="1800" b="0">
                <a:solidFill>
                  <a:srgbClr val="000000"/>
                </a:solidFill>
                <a:latin typeface="맑은 고딕"/>
                <a:ea typeface="맑은 고딕"/>
              </a:rPr>
              <a:t> 바뀌었고 무엇에 </a:t>
            </a:r>
            <a:r>
              <a:rPr sz="1800" b="1">
                <a:solidFill>
                  <a:srgbClr val="000000"/>
                </a:solidFill>
                <a:latin typeface="맑은 고딕"/>
                <a:ea typeface="맑은 고딕"/>
              </a:rPr>
              <a:t>영향</a:t>
            </a:r>
            <a:r>
              <a:rPr sz="1800" b="0">
                <a:solidFill>
                  <a:srgbClr val="000000"/>
                </a:solidFill>
                <a:latin typeface="맑은 고딕"/>
                <a:ea typeface="맑은 고딕"/>
              </a:rPr>
              <a:t>을 주는가?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누가 결정했는가?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관련 </a:t>
            </a:r>
            <a:r>
              <a:rPr sz="1800" b="1">
                <a:solidFill>
                  <a:srgbClr val="000000"/>
                </a:solidFill>
                <a:latin typeface="맑은 고딕"/>
                <a:ea typeface="맑은 고딕"/>
              </a:rPr>
              <a:t>요구·설계·코드·테스트</a:t>
            </a:r>
            <a:r>
              <a:rPr sz="18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36788"/>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요구사항 추적</a:t>
            </a:r>
          </a:p>
        </p:txBody>
      </p:sp>
      <p:pic>
        <p:nvPicPr>
          <p:cNvPr id="10" name="mermaid Diagram 6"/>
          <p:cNvPicPr>
            <a:picLocks noChangeAspect="1"/>
          </p:cNvPicPr>
          <p:nvPr/>
        </p:nvPicPr>
        <p:blipFill>
          <a:blip r:embed="mermaidImage6"/>
          <a:stretch>
            <a:fillRect/>
          </a:stretch>
        </p:blipFill>
        <p:spPr>
          <a:xfrm>
            <a:off x="1450181" y="3774532"/>
            <a:ext cx="6243638" cy="50172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65.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요구에서 학습으로</a:t>
            </a:r>
          </a:p>
        </p:txBody>
      </p:sp>
      <p:pic>
        <p:nvPicPr>
          <p:cNvPr id="10" name="mermaid Diagram 7"/>
          <p:cNvPicPr>
            <a:picLocks noChangeAspect="1"/>
          </p:cNvPicPr>
          <p:nvPr/>
        </p:nvPicPr>
        <p:blipFill>
          <a:blip r:embed="mermaidImage7"/>
          <a:stretch>
            <a:fillRect/>
          </a:stretch>
        </p:blipFill>
        <p:spPr>
          <a:xfrm>
            <a:off x="1460376" y="2124456"/>
            <a:ext cx="6223248" cy="9287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66.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정의서를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1의 </a:t>
            </a:r>
            <a:r>
              <a:rPr sz="1400" b="1">
                <a:solidFill>
                  <a:srgbClr val="000000"/>
                </a:solidFill>
                <a:latin typeface="맑은 고딕"/>
                <a:ea typeface="맑은 고딕"/>
              </a:rPr>
              <a:t>요구사항 정의서</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여러분이 완성한 정의서를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"위 요구사항 정의서로 유스케이스 다이어그램을 PlantUML로 그리고, '정기배송을 신청한다'의 명세서를 작성해줘. 조회·변경·해지는 이 유스케이스의 대안 흐름에 넣고, Larman의 정식 형식</a:t>
            </a:r>
            <a:r>
              <a:rPr sz="1000" b="0">
                <a:solidFill>
                  <a:srgbClr val="000000"/>
                </a:solidFill>
                <a:latin typeface="맑은 고딕"/>
                <a:ea typeface="맑은 고딕"/>
              </a:rPr>
              <a:t>(fully dressed)</a:t>
            </a:r>
            <a:r>
              <a:rPr sz="1400" b="0">
                <a:solidFill>
                  <a:srgbClr val="000000"/>
                </a:solidFill>
                <a:latin typeface="맑은 고딕"/>
                <a:ea typeface="맑은 고딕"/>
              </a:rPr>
              <a:t>으로 기본 성공 시나리오와 대안 흐름</a:t>
            </a:r>
            <a:r>
              <a:rPr sz="1000" b="0">
                <a:solidFill>
                  <a:srgbClr val="000000"/>
                </a:solidFill>
                <a:latin typeface="맑은 고딕"/>
                <a:ea typeface="맑은 고딕"/>
              </a:rPr>
              <a:t>(성공·실패 모두)</a:t>
            </a:r>
            <a:r>
              <a:rPr sz="1400" b="0">
                <a:solidFill>
                  <a:srgbClr val="000000"/>
                </a:solidFill>
                <a:latin typeface="맑은 고딕"/>
                <a:ea typeface="맑은 고딕"/>
              </a:rPr>
              <a:t>을 써줘. 업무 규칙과 특별 요구사항도 덧붙여줘. 명세서에 없는 규칙은 </a:t>
            </a:r>
            <a:r>
              <a:rPr sz="1400" b="1">
                <a:solidFill>
                  <a:srgbClr val="000000"/>
                </a:solidFill>
                <a:latin typeface="맑은 고딕"/>
                <a:ea typeface="맑은 고딕"/>
              </a:rPr>
              <a:t>반드시 확인</a:t>
            </a:r>
            <a:r>
              <a:rPr sz="1400" b="0">
                <a:solidFill>
                  <a:srgbClr val="000000"/>
                </a:solidFill>
                <a:latin typeface="맑은 고딕"/>
                <a:ea typeface="맑은 고딕"/>
              </a:rPr>
              <a:t>해라. 명세서에 쓴 용어로 </a:t>
            </a:r>
            <a:r>
              <a:rPr sz="14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4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요구 반영</a:t>
            </a:r>
            <a:r>
              <a:rPr sz="1400" b="0">
                <a:solidFill>
                  <a:srgbClr val="000000"/>
                </a:solidFill>
                <a:latin typeface="맑은 고딕"/>
                <a:ea typeface="맑은 고딕"/>
              </a:rPr>
              <a:t> —</a:t>
            </a:r>
            <a:r>
              <a:rPr sz="120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시스템 경계</a:t>
            </a:r>
            <a:r>
              <a:rPr sz="1400" b="0">
                <a:solidFill>
                  <a:srgbClr val="000000"/>
                </a:solidFill>
                <a:latin typeface="맑은 고딕"/>
                <a:ea typeface="맑은 고딕"/>
              </a:rPr>
              <a:t> —</a:t>
            </a:r>
            <a:r>
              <a:rPr sz="120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유스케이스 단위</a:t>
            </a:r>
            <a:r>
              <a:rPr sz="1400" b="0">
                <a:solidFill>
                  <a:srgbClr val="000000"/>
                </a:solidFill>
                <a:latin typeface="맑은 고딕"/>
                <a:ea typeface="맑은 고딕"/>
              </a:rPr>
              <a:t> —</a:t>
            </a:r>
            <a:r>
              <a:rPr sz="1200" b="0">
                <a:solidFill>
                  <a:srgbClr val="000000"/>
                </a:solidFill>
                <a:latin typeface="맑은 고딕"/>
                <a:ea typeface="맑은 고딕"/>
              </a:rPr>
              <a:t> 기능 조각</a:t>
            </a:r>
            <a:r>
              <a:rPr sz="1000" b="0">
                <a:solidFill>
                  <a:srgbClr val="000000"/>
                </a:solidFill>
                <a:latin typeface="맑은 고딕"/>
                <a:ea typeface="맑은 고딕"/>
              </a:rPr>
              <a:t>(로그인·결제하기)</a:t>
            </a:r>
            <a:r>
              <a:rPr sz="1200" b="0">
                <a:solidFill>
                  <a:srgbClr val="000000"/>
                </a:solidFill>
                <a:latin typeface="맑은 고딕"/>
                <a:ea typeface="맑은 고딕"/>
              </a:rPr>
              <a:t>이나 CRUD 분할</a:t>
            </a:r>
            <a:r>
              <a:rPr sz="1000" b="0">
                <a:solidFill>
                  <a:srgbClr val="000000"/>
                </a:solidFill>
                <a:latin typeface="맑은 고딕"/>
                <a:ea typeface="맑은 고딕"/>
              </a:rPr>
              <a:t>(신청 조회·수정·삭제)</a:t>
            </a:r>
            <a:r>
              <a:rPr sz="1200" b="0">
                <a:solidFill>
                  <a:srgbClr val="000000"/>
                </a:solidFill>
                <a:latin typeface="맑은 고딕"/>
                <a:ea typeface="맑은 고딕"/>
              </a:rPr>
              <a:t>이 아닌가?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흐름</a:t>
            </a:r>
            <a:r>
              <a:rPr sz="1400" b="0">
                <a:solidFill>
                  <a:srgbClr val="000000"/>
                </a:solidFill>
                <a:latin typeface="맑은 고딕"/>
                <a:ea typeface="맑은 고딕"/>
              </a:rPr>
              <a:t> —</a:t>
            </a:r>
            <a:r>
              <a:rPr sz="120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규칙</a:t>
            </a:r>
            <a:r>
              <a:rPr sz="1400" b="0">
                <a:solidFill>
                  <a:srgbClr val="000000"/>
                </a:solidFill>
                <a:latin typeface="맑은 고딕"/>
                <a:ea typeface="맑은 고딕"/>
              </a:rPr>
              <a:t> —</a:t>
            </a:r>
            <a:r>
              <a:rPr sz="120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용어</a:t>
            </a:r>
            <a:r>
              <a:rPr sz="1400" b="0">
                <a:solidFill>
                  <a:srgbClr val="000000"/>
                </a:solidFill>
                <a:latin typeface="맑은 고딕"/>
                <a:ea typeface="맑은 고딕"/>
              </a:rPr>
              <a:t> —</a:t>
            </a:r>
            <a:r>
              <a:rPr sz="1200" b="0">
                <a:solidFill>
                  <a:srgbClr val="000000"/>
                </a:solidFill>
                <a:latin typeface="맑은 고딕"/>
                <a:ea typeface="맑은 고딕"/>
              </a:rPr>
              <a:t> 구현 표현</a:t>
            </a:r>
            <a:r>
              <a:rPr sz="1000" b="0">
                <a:solidFill>
                  <a:srgbClr val="000000"/>
                </a:solidFill>
                <a:latin typeface="맑은 고딕"/>
                <a:ea typeface="맑은 고딕"/>
              </a:rPr>
              <a:t>(화면·DB)</a:t>
            </a:r>
            <a:r>
              <a:rPr sz="120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67.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책임을 </a:t>
            </a:r>
            <a:r>
              <a:rPr sz="1800" b="1">
                <a:solidFill>
                  <a:srgbClr val="000000"/>
                </a:solidFill>
                <a:latin typeface="맑은 고딕"/>
                <a:ea typeface="맑은 고딕"/>
              </a:rPr>
              <a:t>검증</a:t>
            </a:r>
            <a:r>
              <a:rPr sz="1800" b="0">
                <a:solidFill>
                  <a:srgbClr val="000000"/>
                </a:solidFill>
                <a:latin typeface="맑은 고딕"/>
                <a:ea typeface="맑은 고딕"/>
              </a:rPr>
              <a:t>한다.</a:t>
            </a:r>
          </a:p>
          <a:p>
            <a:pPr marL="342900" indent="0">
              <a:spcBef>
                <a:spcPts val="600"/>
              </a:spcBef>
              <a:spcAft>
                <a:spcPts val="600"/>
              </a:spcAft>
              <a:buNone/>
            </a:pPr>
            <a:r>
              <a:rPr sz="1800" b="1">
                <a:solidFill>
                  <a:srgbClr val="000000"/>
                </a:solidFill>
                <a:latin typeface="맑은 고딕"/>
                <a:ea typeface="맑은 고딕"/>
              </a:rPr>
              <a:t>요구 분석과 유스케이스의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문제·요구·이벤트</a:t>
            </a:r>
            <a:r>
              <a:rPr sz="1800" b="0">
                <a:solidFill>
                  <a:srgbClr val="000000"/>
                </a:solidFill>
                <a:latin typeface="맑은 고딕"/>
                <a:ea typeface="맑은 고딕"/>
              </a:rPr>
              <a:t> —</a:t>
            </a:r>
            <a:r>
              <a:rPr sz="1600" b="0">
                <a:solidFill>
                  <a:srgbClr val="000000"/>
                </a:solidFill>
                <a:latin typeface="맑은 고딕"/>
                <a:ea typeface="맑은 고딕"/>
              </a:rPr>
              <a:t> 요청에 섞인 수준을 구분하고, 이벤트로 합의하며 작은 반복으로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경우별 접근</a:t>
            </a:r>
            <a:r>
              <a:rPr sz="1800" b="0">
                <a:solidFill>
                  <a:srgbClr val="000000"/>
                </a:solidFill>
                <a:latin typeface="맑은 고딕"/>
                <a:ea typeface="맑은 고딕"/>
              </a:rPr>
              <a:t> —</a:t>
            </a:r>
            <a:r>
              <a:rPr sz="1600" b="0">
                <a:solidFill>
                  <a:srgbClr val="000000"/>
                </a:solidFill>
                <a:latin typeface="맑은 고딕"/>
                <a:ea typeface="맑은 고딕"/>
              </a:rPr>
              <a:t> 업무 지식과 불확실성에 따라 요구 기법을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 —</a:t>
            </a:r>
            <a:r>
              <a:rPr sz="1600" b="0">
                <a:solidFill>
                  <a:srgbClr val="000000"/>
                </a:solidFill>
                <a:latin typeface="맑은 고딕"/>
                <a:ea typeface="맑은 고딕"/>
              </a:rPr>
              <a:t> 한 용어에 한 뜻과 하나의 영문명이 모델·코드의 원천이다.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유스케이스와 경계</a:t>
            </a:r>
            <a:r>
              <a:rPr sz="1800" b="0">
                <a:solidFill>
                  <a:srgbClr val="000000"/>
                </a:solidFill>
                <a:latin typeface="맑은 고딕"/>
                <a:ea typeface="맑은 고딕"/>
              </a:rPr>
              <a:t> —</a:t>
            </a:r>
            <a:r>
              <a:rPr sz="1600" b="0">
                <a:solidFill>
                  <a:srgbClr val="000000"/>
                </a:solidFill>
                <a:latin typeface="맑은 고딕"/>
                <a:ea typeface="맑은 고딕"/>
              </a:rPr>
              <a:t> 기능 분해·CRUD·화면이 아니라 사용자 목표와 가치 있는 결과로 식별하고, 소유로 시스템 경계를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SSD·계약·검증</a:t>
            </a:r>
            <a:r>
              <a:rPr sz="1800" b="0">
                <a:solidFill>
                  <a:srgbClr val="000000"/>
                </a:solidFill>
                <a:latin typeface="맑은 고딕"/>
                <a:ea typeface="맑은 고딕"/>
              </a:rPr>
              <a:t> —</a:t>
            </a:r>
            <a:r>
              <a:rPr sz="1600" b="0">
                <a:solidFill>
                  <a:srgbClr val="000000"/>
                </a:solidFill>
                <a:latin typeface="맑은 고딕"/>
                <a:ea typeface="맑은 고딕"/>
              </a:rPr>
              <a:t> SSD 초안을 외부 시스템까지 정제하고, 외부 결과로 계약해 코드·테스트로 잇고, 스토리·BDD</a:t>
            </a:r>
            <a:r>
              <a:rPr sz="1200" b="0">
                <a:solidFill>
                  <a:srgbClr val="000000"/>
                </a:solidFill>
                <a:latin typeface="맑은 고딕"/>
                <a:ea typeface="맑은 고딕"/>
              </a:rPr>
              <a:t>(Given-When-Then)</a:t>
            </a:r>
            <a:r>
              <a:rPr sz="1600" b="0">
                <a:solidFill>
                  <a:srgbClr val="000000"/>
                </a:solidFill>
                <a:latin typeface="맑은 고딕"/>
                <a:ea typeface="맑은 고딕"/>
              </a:rPr>
              <a:t>·추적으로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03. 정적 모델 —</a:t>
            </a:r>
            <a:r>
              <a:rPr sz="1600" b="1">
                <a:solidFill>
                  <a:srgbClr val="000000"/>
                </a:solidFill>
                <a:latin typeface="맑은 고딕"/>
                <a:ea typeface="맑은 고딕"/>
              </a:rPr>
              <a:t> 도메인 개념과 관계</a:t>
            </a:r>
            <a:r>
              <a:rPr sz="16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7"/>
          <p:cNvPicPr>
            <a:picLocks noChangeAspect="1"/>
          </p:cNvPicPr>
          <p:nvPr/>
        </p:nvPicPr>
        <p:blipFill>
          <a:blip r:embed="plantumlImage7"/>
          <a:stretch>
            <a:fillRect/>
          </a:stretch>
        </p:blipFill>
        <p:spPr>
          <a:xfrm>
            <a:off x="2999154" y="2268323"/>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 명세서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성공 보장</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특별 요구사항</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용어집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13560"/>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- 91 -</a:t>
            </a:r>
          </a:p>
        </p:txBody>
      </p:sp>
    </p:spTree>
    <p:extLst>
      <p:ext uri="{BB962C8B-B14F-4D97-AF65-F5344CB8AC3E}">
        <p14:creationId xmlns:p14="http://schemas.microsoft.com/office/powerpoint/2010/main" val="27895694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8"/>
          <p:cNvPicPr>
            <a:picLocks noChangeAspect="1"/>
          </p:cNvPicPr>
          <p:nvPr/>
        </p:nvPicPr>
        <p:blipFill>
          <a:blip r:embed="plantumlImage8"/>
          <a:stretch>
            <a:fillRect/>
          </a:stretch>
        </p:blipFill>
        <p:spPr>
          <a:xfrm>
            <a:off x="517769" y="1539240"/>
            <a:ext cx="8108462" cy="30724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F10 영수증 발행</a:t>
            </a:r>
            <a:r>
              <a:rPr sz="1200" b="0">
                <a:solidFill>
                  <a:srgbClr val="000000"/>
                </a:solidFill>
                <a:latin typeface="맑은 고딕"/>
                <a:ea typeface="맑은 고딕"/>
              </a:rPr>
              <a:t> —</a:t>
            </a:r>
            <a:r>
              <a:rPr sz="1000" b="0">
                <a:solidFill>
                  <a:srgbClr val="000000"/>
                </a:solidFill>
                <a:latin typeface="맑은 고딕"/>
                <a:ea typeface="맑은 고딕"/>
              </a:rPr>
              <a:t> 결제가 승인되면 영수증을 발행하고 고객에게 알린다</a:t>
            </a:r>
            <a:r>
              <a:rPr sz="800" b="0">
                <a:solidFill>
                  <a:srgbClr val="000000"/>
                </a:solidFill>
                <a:latin typeface="맑은 고딕"/>
                <a:ea typeface="맑은 고딕"/>
              </a:rPr>
              <a:t>(UC1 기본 흐름 8)</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F7~F10.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93</Slides>
  <Notes>72</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93</vt:i4>
      </vt:variant>
    </vt:vector>
  </HeadingPairs>
  <TitlesOfParts>
    <vt:vector size="97" baseType="lpstr">
      <vt:lpstr>맑은 고딕</vt:lpstr>
      <vt:lpstr>Arial</vt:lpstr>
      <vt:lpstr>Wingdings</vt:lpstr>
      <vt:lpstr>4_Office 테마</vt:lpstr>
      <vt:lpstr>02. 요구 분석과 유스케이스 목차 (1/2)</vt:lpstr>
      <vt:lpstr>02. 요구 분석과 유스케이스 목차 (2/2)</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vt:lpstr>
      <vt:lpstr>18. 용어집 (1/2)</vt:lpstr>
      <vt:lpstr>18. 용어집 (2/2)</vt:lpstr>
      <vt:lpstr>19. 유스케이스란 무엇인가?</vt:lpstr>
      <vt:lpstr>20. 왜 유스케이스가 필요한가?</vt:lpstr>
      <vt:lpstr>21. 유스케이스 작성 절차</vt:lpstr>
      <vt:lpstr>22. 대상 시스템과 경계 유스케이스 다이어그램</vt:lpstr>
      <vt:lpstr>23. 경계 판단</vt:lpstr>
      <vt:lpstr>24. 목표와 액터</vt:lpstr>
      <vt:lpstr>25. 유스케이스 후보 식별</vt:lpstr>
      <vt:lpstr>26. 유스케이스 수준</vt:lpstr>
      <vt:lpstr>27. 유스케이스 다이어그램 — 초안 (1/2)</vt:lpstr>
      <vt:lpstr>27. 유스케이스 다이어그램 — 초안 (2/2)</vt:lpstr>
      <vt:lpstr>28. 유스케이스 명세 형식</vt:lpstr>
      <vt:lpstr>29. 유스케이스 명세서 템플릿</vt:lpstr>
      <vt:lpstr>30. 기본 이벤트 흐름 (1/2)</vt:lpstr>
      <vt:lpstr>30. 기본 이벤트 흐름 (2/2)</vt:lpstr>
      <vt:lpstr>31. 규칙과 특별 요구사항</vt:lpstr>
      <vt:lpstr>32. 이벤트 흐름을 이용한 요구 분석</vt:lpstr>
      <vt:lpstr>33. 유스케이스 상세화</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(1/2)</vt:lpstr>
      <vt:lpstr>40. 잘못된 유스케이스 다이어그램 (2/2)</vt:lpstr>
      <vt:lpstr>41. 시스템 시퀀스 다이어그램 (1/2)</vt:lpstr>
      <vt:lpstr>41. 시스템 시퀀스 다이어그램 (2/2)</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(1/6)</vt:lpstr>
      <vt:lpstr>45. 시스템 오퍼레이션과 계약 (2/6)</vt:lpstr>
      <vt:lpstr>45. 시스템 오퍼레이션과 계약 (3/6)</vt:lpstr>
      <vt:lpstr>45. 시스템 오퍼레이션과 계약 (4/6)</vt:lpstr>
      <vt:lpstr>45. 시스템 오퍼레이션과 계약 (5/6)</vt:lpstr>
      <vt:lpstr>45. 시스템 오퍼레이션과 계약 (6/6)</vt:lpstr>
      <vt:lpstr>46. 정적·동적 모델을 통한 상세화 (1/2)</vt:lpstr>
      <vt:lpstr>46. 정적·동적 모델을 통한 상세화 (2/2)</vt:lpstr>
      <vt:lpstr>47. 유스케이스와 품질속성</vt:lpstr>
      <vt:lpstr>48. 프로토타입·와이어프레임 (1/2)</vt:lpstr>
      <vt:lpstr>48. 프로토타입·와이어프레임 (2/2)</vt:lpstr>
      <vt:lpstr>49. 유저 스토리</vt:lpstr>
      <vt:lpstr>50. 스토리의 문형과 가치</vt:lpstr>
      <vt:lpstr>51. 좋은 유저 스토리 — INVEST</vt:lpstr>
      <vt:lpstr>52. 스토리 나누기</vt:lpstr>
      <vt:lpstr>53. 잘못된 유저 스토리</vt:lpstr>
      <vt:lpstr>54. 유저 스토리의 강점과 한계</vt:lpstr>
      <vt:lpstr>55. 행위 주도 개발</vt:lpstr>
      <vt:lpstr>56. Given-When-Then</vt:lpstr>
      <vt:lpstr>57. Example Mapping</vt:lpstr>
      <vt:lpstr>58. 행위 주도 개발의 강점과 한계</vt:lpstr>
      <vt:lpstr>59. 유스케이스·유저 스토리·BDD</vt:lpstr>
      <vt:lpstr>60. 명세 주도 개발</vt:lpstr>
      <vt:lpstr>61. 명세 주도 개발의 한계</vt:lpstr>
      <vt:lpstr>62. 요구사항 검증</vt:lpstr>
      <vt:lpstr>63. 요구사항 관리</vt:lpstr>
      <vt:lpstr>64. 요구사항 추적</vt:lpstr>
      <vt:lpstr>65. 요구사항에서 학습으로</vt:lpstr>
      <vt:lpstr>66. 실습 — 유스케이스</vt:lpstr>
      <vt:lpstr>67. 요약</vt:lpstr>
      <vt:lpstr>유스케이스 다이어그램 (안) 별첨. 실습 답</vt:lpstr>
      <vt:lpstr>유스케이스 명세서 (안) 별첨. 실습 답</vt:lpstr>
      <vt:lpstr>용어집 (안) 별첨. 실습 답</vt:lpstr>
      <vt:lpstr>시스템 시퀀스 다이어그램 (안) 별첨. 실습 답</vt:lpstr>
      <vt:lpstr>요구사항 정의서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