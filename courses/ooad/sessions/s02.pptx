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"35.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요구공학의 수집··분석·명세.검증·타당성 확인·소통·문서화·관리 활동을 연결한다.</a:t>
            </a:r>
          </a:p>
          <a:p>
            <a:pPr lvl="0">
              <a:buNone/>
            </a:pPr>
            <a:r>
              <a:rPr lang="ko-KR" sz="1200"/>
              <a:t>이 여섯 묶음은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표는 각 접근 전체의 정의가 아니라 요구 발견에 연결하는 교육용 비교다.</a:t>
            </a:r>
          </a:p>
          <a:p>
            <a:pPr lvl="0"/>
            <a:r>
              <a:rPr lang="ko-KR" sz="1200"/>
              <a:t>디자인 싱킹의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서로 다른 분류의 추상화 수준을 억지로 일대일 대응시키지 않는다.</a:t>
            </a:r>
          </a:p>
          <a:p>
            <a:pPr lvl="0">
              <a:buNone/>
            </a:pPr>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프로토타입, 디자인 싱킹, 린 사용자 경험, 애자일이 요구 발견과 연결되는 이유를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절대적인 순차 절차가 아니다. 실제 분석에서는 필요한 만큼 앞뒤로 반복한다.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요구분석 경계를 최종 배포·아키텍처 경계와 동일시하지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 액터의 목표를 출발점으로 삼되 지원 액터를 빠뜨리지 않는다.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유스케이스에 모든 항목을 기계적으로 채우지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시스템이 주문을 확인한다, 시스템이 취소 가능 여부를 판단한다와 같은 내부 처리 단계는 넣지 않는다.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방어 코딩 수준의 모든 예외를 유스케이스에 기록하지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성공 경로, 추가한 예외 흐름은 실패 결과의 예다. 예외의 교육용 가정을 확정 업무 정책으로 승격하지 않는다. 실패 시 주문 상태와 복구 방식은 별도 확인 대상이다.</a:t>
            </a:r>
          </a:p>
          <a:p>
            <a:pPr lvl="0"/>
            <a:r>
              <a:rPr lang="ko-KR" sz="1200"/>
              <a:t>미결제 주문 지원은 확정된 요구가 아니라, 새로운 요구가 확인될 때 대안 흐름을 추가하는 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이 표는 성공 계약이다. 실패·인증 등 관련 유스케이스의 나머지 행위를 완전히 명세한 것은 아니다.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 식으로 기계적으로 변환한다는 의미가 아니다. S03과 S04에서 각각 본격적으로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장에서 S02의 전체 메시지를 닫는다. 이후 구현·검증·DevOps 단계에서도 이 피드백은 계속 이어진다.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시간 배분은 전체 SA 완성 후 정한다.</a:t>
            </a:r>
          </a:p>
          <a:p>
            <a:pPr lvl="0">
              <a:buNone/>
            </a:pPr>
            <a:r>
              <a:rPr lang="ko-KR" sz="1200"/>
              <a:t>세부 검토 기준(충족한 결과 / 보완할 결과):</a:t>
            </a:r>
          </a:p>
          <a:p>
            <a:pPr lvl="0"/>
            <a:r>
              <a:rPr lang="ko-KR" sz="1200"/>
              <a:t>사실과 가정 — 주어진 네 조건과 추정한 고객 문제를 구분한다 / 버튼 요청만으로 불편 원인을 단정한다</a:t>
            </a:r>
          </a:p>
          <a:p>
            <a:pPr lvl="0"/>
            <a:r>
              <a:rPr lang="ko-KR" sz="1200"/>
              <a:t>목표와 해결책 — 목표를 다음 배송 건너뛰기로 표현하고 버튼은 후보로 둔다 / 버튼 추가를 목표·요구·유스케이스에 그대로 복사한다</a:t>
            </a:r>
          </a:p>
          <a:p>
            <a:pPr lvl="0"/>
            <a:r>
              <a:rPr lang="ko-KR" sz="1200"/>
              <a:t>흐름과 규칙 — 성공 흐름에 의도·결과를 쓰고 48시간·연속 횟수는 규칙으로 분리한다 / 내부 조회·저장 순서를 흐름으로 쓴다</a:t>
            </a:r>
          </a:p>
          <a:p>
            <a:pPr lvl="0"/>
            <a:r>
              <a:rPr lang="ko-KR" sz="1200"/>
              <a:t>시스템 책임 — 건너뛰기 반영과 다음 배송일 확인을 외부 결과로 명시한다 / 책임 범위 없이 함수명·클래스부터 정한다</a:t>
            </a:r>
          </a:p>
          <a:p>
            <a:pPr lvl="0"/>
            <a:r>
              <a:rPr lang="ko-KR" sz="1200"/>
              <a:t>미확인 정책 — 승인된 결제 처리, 기준 시각·경계, 연속 횟수 계산을 질문으로 남긴다 / 환불·수수료·횟수 초기화 정책을 근거 없이 만든다</a:t>
            </a:r>
          </a:p>
          <a:p>
            <a:pPr lvl="0"/>
            <a:r>
              <a:rPr lang="ko-KR" sz="1200"/>
              <a:t>품질과 검증 — 통지 지연·권한·중복 요청 등 검토 질문과 확인 방법을 제시한다 / 근거 없이 성능 수치를 확정하거나 기능만 검사한다</a:t>
            </a:r>
          </a:p>
          <a:p>
            <a:pPr lvl="0"/>
            <a:r>
              <a:rPr lang="ko-KR" sz="1200"/>
              <a:t>가치 확인 — 일정 조절에 도움이 되는지 사용 증거로 확인한다 / 버튼을 구현했으므로 가치가 입증됐다고 본다</a:t>
            </a:r>
          </a:p>
          <a:p>
            <a:pPr lvl="0">
              <a:buNone/>
            </a:pPr>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목표·주 액터: 정기배송 고객이 다음 배송을 건너뛴다.</a:t>
            </a:r>
          </a:p>
          <a:p>
            <a:pPr lvl="0"/>
            <a:r>
              <a:rPr lang="ko-KR" sz="1200"/>
              <a:t>기본 흐름: 고객이 다음 배송을 건너뛴다 → 고객이 건너뛰기 결과와 다음 예정 배송일을 확인한다.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buNone/>
            </a:pPr>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S02에서는 요구를 행위 관점으로 구조화했다. S03에서는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요구공학의 주요 활동</a:t>
            </a:r>
          </a:p>
          <a:p>
            <a:pPr lvl="1" marL="355600" indent="0">
              <a:spcBef>
                <a:spcPts val="300"/>
              </a:spcBef>
              <a:spcAft>
                <a:spcPts val="300"/>
              </a:spcAft>
              <a:buNone/>
            </a:pPr>
            <a:r>
              <a:rPr sz="1600" b="0">
                <a:solidFill>
                  <a:srgbClr val="000000"/>
                </a:solidFill>
                <a:latin typeface="맑은 고딕"/>
                <a:ea typeface="맑은 고딕"/>
              </a:rPr>
              <a:t>07. 요구사항 수집과 발견</a:t>
            </a:r>
          </a:p>
          <a:p>
            <a:pPr lvl="1" marL="355600" indent="0">
              <a:spcBef>
                <a:spcPts val="300"/>
              </a:spcBef>
              <a:spcAft>
                <a:spcPts val="300"/>
              </a:spcAft>
              <a:buNone/>
            </a:pPr>
            <a:r>
              <a:rPr sz="1600" b="0">
                <a:solidFill>
                  <a:srgbClr val="000000"/>
                </a:solidFill>
                <a:latin typeface="맑은 고딕"/>
                <a:ea typeface="맑은 고딕"/>
              </a:rPr>
              <a:t>08. 디자인 싱킹·린 사고·Lean UX·애자일</a:t>
            </a:r>
          </a:p>
          <a:p>
            <a:pPr lvl="1" marL="355600" indent="0">
              <a:spcBef>
                <a:spcPts val="300"/>
              </a:spcBef>
              <a:spcAft>
                <a:spcPts val="300"/>
              </a:spcAft>
              <a:buNone/>
            </a:pPr>
            <a:r>
              <a:rPr sz="1600" b="0">
                <a:solidFill>
                  <a:srgbClr val="000000"/>
                </a:solidFill>
                <a:latin typeface="맑은 고딕"/>
                <a:ea typeface="맑은 고딕"/>
              </a:rPr>
              <a:t>09. 요구사항 유형</a:t>
            </a:r>
          </a:p>
          <a:p>
            <a:pPr lvl="1" marL="355600" indent="0">
              <a:spcBef>
                <a:spcPts val="300"/>
              </a:spcBef>
              <a:spcAft>
                <a:spcPts val="300"/>
              </a:spcAft>
              <a:buNone/>
            </a:pPr>
            <a:r>
              <a:rPr sz="1600" b="0">
                <a:solidFill>
                  <a:srgbClr val="000000"/>
                </a:solidFill>
                <a:latin typeface="맑은 고딕"/>
                <a:ea typeface="맑은 고딕"/>
              </a:rPr>
              <a:t>10. 좋은 요구사항의 자격요건</a:t>
            </a:r>
          </a:p>
          <a:p>
            <a:pPr lvl="1" marL="355600" indent="0">
              <a:spcBef>
                <a:spcPts val="300"/>
              </a:spcBef>
              <a:spcAft>
                <a:spcPts val="300"/>
              </a:spcAft>
              <a:buNone/>
            </a:pPr>
            <a:r>
              <a:rPr sz="1600" b="0">
                <a:solidFill>
                  <a:srgbClr val="000000"/>
                </a:solidFill>
                <a:latin typeface="맑은 고딕"/>
                <a:ea typeface="맑은 고딕"/>
              </a:rPr>
              <a:t>11. 요구사항은 언제 확정되는가?</a:t>
            </a:r>
          </a:p>
          <a:p>
            <a:pPr lvl="1" marL="355600" indent="0">
              <a:spcBef>
                <a:spcPts val="300"/>
              </a:spcBef>
              <a:spcAft>
                <a:spcPts val="300"/>
              </a:spcAft>
              <a:buNone/>
            </a:pPr>
            <a:r>
              <a:rPr sz="1600" b="0">
                <a:solidFill>
                  <a:srgbClr val="000000"/>
                </a:solidFill>
                <a:latin typeface="맑은 고딕"/>
                <a:ea typeface="맑은 고딕"/>
              </a:rPr>
              <a:t>12. 유스케이스란 무엇인가?</a:t>
            </a:r>
          </a:p>
          <a:p>
            <a:pPr lvl="1" marL="355600" indent="0">
              <a:spcBef>
                <a:spcPts val="300"/>
              </a:spcBef>
              <a:spcAft>
                <a:spcPts val="300"/>
              </a:spcAft>
              <a:buNone/>
            </a:pPr>
            <a:r>
              <a:rPr sz="1600" b="0">
                <a:solidFill>
                  <a:srgbClr val="000000"/>
                </a:solidFill>
                <a:latin typeface="맑은 고딕"/>
                <a:ea typeface="맑은 고딕"/>
              </a:rPr>
              <a:t>13. 왜 유스케이스가 필요한가?</a:t>
            </a:r>
          </a:p>
          <a:p>
            <a:pPr lvl="1" marL="355600" indent="0">
              <a:spcBef>
                <a:spcPts val="300"/>
              </a:spcBef>
              <a:spcAft>
                <a:spcPts val="300"/>
              </a:spcAft>
              <a:buNone/>
            </a:pPr>
            <a:r>
              <a:rPr sz="1600" b="0">
                <a:solidFill>
                  <a:srgbClr val="000000"/>
                </a:solidFill>
                <a:latin typeface="맑은 고딕"/>
                <a:ea typeface="맑은 고딕"/>
              </a:rPr>
              <a:t>14. 유스케이스 작성 절차</a:t>
            </a:r>
          </a:p>
          <a:p>
            <a:pPr lvl="1" marL="355600" indent="0">
              <a:spcBef>
                <a:spcPts val="300"/>
              </a:spcBef>
              <a:spcAft>
                <a:spcPts val="300"/>
              </a:spcAft>
              <a:buNone/>
            </a:pPr>
            <a:r>
              <a:rPr sz="1600" b="0">
                <a:solidFill>
                  <a:srgbClr val="000000"/>
                </a:solidFill>
                <a:latin typeface="맑은 고딕"/>
                <a:ea typeface="맑은 고딕"/>
              </a:rPr>
              <a:t>15. 대상 시스템과 경계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목표와 액터</a:t>
            </a:r>
          </a:p>
          <a:p>
            <a:pPr lvl="1" marL="355600" indent="0">
              <a:spcBef>
                <a:spcPts val="300"/>
              </a:spcBef>
              <a:spcAft>
                <a:spcPts val="300"/>
              </a:spcAft>
              <a:buNone/>
            </a:pPr>
            <a:r>
              <a:rPr sz="1600" b="0">
                <a:solidFill>
                  <a:srgbClr val="000000"/>
                </a:solidFill>
                <a:latin typeface="맑은 고딕"/>
                <a:ea typeface="맑은 고딕"/>
              </a:rPr>
              <a:t>17. 유스케이스 후보 식별</a:t>
            </a:r>
          </a:p>
          <a:p>
            <a:pPr lvl="1" marL="355600" indent="0">
              <a:spcBef>
                <a:spcPts val="300"/>
              </a:spcBef>
              <a:spcAft>
                <a:spcPts val="300"/>
              </a:spcAft>
              <a:buNone/>
            </a:pPr>
            <a:r>
              <a:rPr sz="1600" b="0">
                <a:solidFill>
                  <a:srgbClr val="000000"/>
                </a:solidFill>
                <a:latin typeface="맑은 고딕"/>
                <a:ea typeface="맑은 고딕"/>
              </a:rPr>
              <a:t>18.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19. 유스케이스 명세서 템플릿</a:t>
            </a:r>
          </a:p>
          <a:p>
            <a:pPr lvl="1" marL="355600" indent="0">
              <a:spcBef>
                <a:spcPts val="300"/>
              </a:spcBef>
              <a:spcAft>
                <a:spcPts val="300"/>
              </a:spcAft>
              <a:buNone/>
            </a:pPr>
            <a:r>
              <a:rPr sz="1600" b="0">
                <a:solidFill>
                  <a:srgbClr val="000000"/>
                </a:solidFill>
                <a:latin typeface="맑은 고딕"/>
                <a:ea typeface="맑은 고딕"/>
              </a:rPr>
              <a:t>20. 기본 이벤트 흐름</a:t>
            </a:r>
          </a:p>
          <a:p>
            <a:pPr lvl="1" marL="355600" indent="0">
              <a:spcBef>
                <a:spcPts val="300"/>
              </a:spcBef>
              <a:spcAft>
                <a:spcPts val="300"/>
              </a:spcAft>
              <a:buNone/>
            </a:pPr>
            <a:r>
              <a:rPr sz="1600" b="0">
                <a:solidFill>
                  <a:srgbClr val="000000"/>
                </a:solidFill>
                <a:latin typeface="맑은 고딕"/>
                <a:ea typeface="맑은 고딕"/>
              </a:rPr>
              <a:t>21. 규칙·제약·예외 정책</a:t>
            </a:r>
          </a:p>
          <a:p>
            <a:pPr lvl="1" marL="355600" indent="0">
              <a:spcBef>
                <a:spcPts val="300"/>
              </a:spcBef>
              <a:spcAft>
                <a:spcPts val="300"/>
              </a:spcAft>
              <a:buNone/>
            </a:pPr>
            <a:r>
              <a:rPr sz="1600" b="0">
                <a:solidFill>
                  <a:srgbClr val="000000"/>
                </a:solidFill>
                <a:latin typeface="맑은 고딕"/>
                <a:ea typeface="맑은 고딕"/>
              </a:rPr>
              <a:t>22.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23. 유스케이스 상세화</a:t>
            </a:r>
          </a:p>
          <a:p>
            <a:pPr lvl="1" marL="355600" indent="0">
              <a:spcBef>
                <a:spcPts val="300"/>
              </a:spcBef>
              <a:spcAft>
                <a:spcPts val="300"/>
              </a:spcAft>
              <a:buNone/>
            </a:pPr>
            <a:r>
              <a:rPr sz="1600" b="0">
                <a:solidFill>
                  <a:srgbClr val="000000"/>
                </a:solidFill>
                <a:latin typeface="맑은 고딕"/>
                <a:ea typeface="맑은 고딕"/>
              </a:rPr>
              <a:t>24.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25. 잘못된 유스케이스 다이어그램</a:t>
            </a:r>
          </a:p>
          <a:p>
            <a:pPr lvl="1" marL="355600" indent="0">
              <a:spcBef>
                <a:spcPts val="300"/>
              </a:spcBef>
              <a:spcAft>
                <a:spcPts val="300"/>
              </a:spcAft>
              <a:buNone/>
            </a:pPr>
            <a:r>
              <a:rPr sz="1600" b="0">
                <a:solidFill>
                  <a:srgbClr val="000000"/>
                </a:solidFill>
                <a:latin typeface="맑은 고딕"/>
                <a:ea typeface="맑은 고딕"/>
              </a:rPr>
              <a:t>26. 시스템 오퍼레이션과 계약</a:t>
            </a:r>
          </a:p>
          <a:p>
            <a:pPr lvl="1" marL="355600" indent="0">
              <a:spcBef>
                <a:spcPts val="300"/>
              </a:spcBef>
              <a:spcAft>
                <a:spcPts val="300"/>
              </a:spcAft>
              <a:buNone/>
            </a:pPr>
            <a:r>
              <a:rPr sz="1600" b="0">
                <a:solidFill>
                  <a:srgbClr val="000000"/>
                </a:solidFill>
                <a:latin typeface="맑은 고딕"/>
                <a:ea typeface="맑은 고딕"/>
              </a:rPr>
              <a:t>27. 정적·동적 모델을 통한 상세화</a:t>
            </a:r>
          </a:p>
          <a:p>
            <a:pPr lvl="1" marL="355600" indent="0">
              <a:spcBef>
                <a:spcPts val="300"/>
              </a:spcBef>
              <a:spcAft>
                <a:spcPts val="300"/>
              </a:spcAft>
              <a:buNone/>
            </a:pPr>
            <a:r>
              <a:rPr sz="1600" b="0">
                <a:solidFill>
                  <a:srgbClr val="000000"/>
                </a:solidFill>
                <a:latin typeface="맑은 고딕"/>
                <a:ea typeface="맑은 고딕"/>
              </a:rPr>
              <a:t>28. 유스케이스와 품질속성</a:t>
            </a:r>
          </a:p>
          <a:p>
            <a:pPr lvl="1" marL="355600" indent="0">
              <a:spcBef>
                <a:spcPts val="300"/>
              </a:spcBef>
              <a:spcAft>
                <a:spcPts val="300"/>
              </a:spcAft>
              <a:buNone/>
            </a:pPr>
            <a:r>
              <a:rPr sz="1600" b="0">
                <a:solidFill>
                  <a:srgbClr val="000000"/>
                </a:solidFill>
                <a:latin typeface="맑은 고딕"/>
                <a:ea typeface="맑은 고딕"/>
              </a:rPr>
              <a:t>29. 프로토타입·와이어프레임</a:t>
            </a:r>
          </a:p>
          <a:p>
            <a:pPr lvl="1" marL="355600" indent="0">
              <a:spcBef>
                <a:spcPts val="300"/>
              </a:spcBef>
              <a:spcAft>
                <a:spcPts val="300"/>
              </a:spcAft>
              <a:buNone/>
            </a:pPr>
            <a:r>
              <a:rPr sz="1600" b="0">
                <a:solidFill>
                  <a:srgbClr val="000000"/>
                </a:solidFill>
                <a:latin typeface="맑은 고딕"/>
                <a:ea typeface="맑은 고딕"/>
              </a:rPr>
              <a:t>30. 사용자 스토리</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사용자 스토리의 강점과 한계</a:t>
            </a:r>
          </a:p>
          <a:p>
            <a:pPr lvl="1" marL="355600" indent="0">
              <a:spcBef>
                <a:spcPts val="300"/>
              </a:spcBef>
              <a:spcAft>
                <a:spcPts val="300"/>
              </a:spcAft>
              <a:buNone/>
            </a:pPr>
            <a:r>
              <a:rPr sz="1600" b="0">
                <a:solidFill>
                  <a:srgbClr val="000000"/>
                </a:solidFill>
                <a:latin typeface="맑은 고딕"/>
                <a:ea typeface="맑은 고딕"/>
              </a:rPr>
              <a:t>32. 행위 주도 개발</a:t>
            </a:r>
          </a:p>
          <a:p>
            <a:pPr lvl="1" marL="355600" indent="0">
              <a:spcBef>
                <a:spcPts val="300"/>
              </a:spcBef>
              <a:spcAft>
                <a:spcPts val="300"/>
              </a:spcAft>
              <a:buNone/>
            </a:pPr>
            <a:r>
              <a:rPr sz="1600" b="0">
                <a:solidFill>
                  <a:srgbClr val="000000"/>
                </a:solidFill>
                <a:latin typeface="맑은 고딕"/>
                <a:ea typeface="맑은 고딕"/>
              </a:rPr>
              <a:t>33. 행위 주도 개발의 강점과 한계</a:t>
            </a:r>
          </a:p>
          <a:p>
            <a:pPr lvl="1" marL="355600" indent="0">
              <a:spcBef>
                <a:spcPts val="300"/>
              </a:spcBef>
              <a:spcAft>
                <a:spcPts val="300"/>
              </a:spcAft>
              <a:buNone/>
            </a:pPr>
            <a:r>
              <a:rPr sz="1600" b="0">
                <a:solidFill>
                  <a:srgbClr val="000000"/>
                </a:solidFill>
                <a:latin typeface="맑은 고딕"/>
                <a:ea typeface="맑은 고딕"/>
              </a:rPr>
              <a:t>34. 유스케이스·사용자 스토리·BDD</a:t>
            </a:r>
          </a:p>
          <a:p>
            <a:pPr lvl="1" marL="355600" indent="0">
              <a:spcBef>
                <a:spcPts val="300"/>
              </a:spcBef>
              <a:spcAft>
                <a:spcPts val="300"/>
              </a:spcAft>
              <a:buNone/>
            </a:pPr>
            <a:r>
              <a:rPr sz="1600" b="0">
                <a:solidFill>
                  <a:srgbClr val="000000"/>
                </a:solidFill>
                <a:latin typeface="맑은 고딕"/>
                <a:ea typeface="맑은 고딕"/>
              </a:rPr>
              <a:t>35. 요구사항 검증</a:t>
            </a:r>
          </a:p>
          <a:p>
            <a:pPr lvl="1" marL="355600" indent="0">
              <a:spcBef>
                <a:spcPts val="300"/>
              </a:spcBef>
              <a:spcAft>
                <a:spcPts val="300"/>
              </a:spcAft>
              <a:buNone/>
            </a:pPr>
            <a:r>
              <a:rPr sz="1600" b="0">
                <a:solidFill>
                  <a:srgbClr val="000000"/>
                </a:solidFill>
                <a:latin typeface="맑은 고딕"/>
                <a:ea typeface="맑은 고딕"/>
              </a:rPr>
              <a:t>36. 요구사항 관리</a:t>
            </a:r>
          </a:p>
          <a:p>
            <a:pPr lvl="1" marL="355600" indent="0">
              <a:spcBef>
                <a:spcPts val="300"/>
              </a:spcBef>
              <a:spcAft>
                <a:spcPts val="300"/>
              </a:spcAft>
              <a:buNone/>
            </a:pPr>
            <a:r>
              <a:rPr sz="1600" b="0">
                <a:solidFill>
                  <a:srgbClr val="000000"/>
                </a:solidFill>
                <a:latin typeface="맑은 고딕"/>
                <a:ea typeface="맑은 고딕"/>
              </a:rPr>
              <a:t>37. 요구사항 추적</a:t>
            </a:r>
          </a:p>
          <a:p>
            <a:pPr lvl="1" marL="355600" indent="0">
              <a:spcBef>
                <a:spcPts val="300"/>
              </a:spcBef>
              <a:spcAft>
                <a:spcPts val="300"/>
              </a:spcAft>
              <a:buNone/>
            </a:pPr>
            <a:r>
              <a:rPr sz="1600" b="0">
                <a:solidFill>
                  <a:srgbClr val="000000"/>
                </a:solidFill>
                <a:latin typeface="맑은 고딕"/>
                <a:ea typeface="맑은 고딕"/>
              </a:rPr>
              <a:t>38. 요구사항에서 학습으로</a:t>
            </a:r>
          </a:p>
          <a:p>
            <a:pPr lvl="1" marL="355600" indent="0">
              <a:spcBef>
                <a:spcPts val="300"/>
              </a:spcBef>
              <a:spcAft>
                <a:spcPts val="300"/>
              </a:spcAft>
              <a:buNone/>
            </a:pPr>
            <a:r>
              <a:rPr sz="1600" b="0">
                <a:solidFill>
                  <a:srgbClr val="000000"/>
                </a:solidFill>
                <a:latin typeface="맑은 고딕"/>
                <a:ea typeface="맑은 고딕"/>
              </a:rPr>
              <a:t>39.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40.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방법을 통해 명시된 요구와 </a:t>
            </a:r>
            <a:r>
              <a:rPr sz="1800" b="1">
                <a:solidFill>
                  <a:srgbClr val="000000"/>
                </a:solidFill>
                <a:latin typeface="맑은 고딕"/>
                <a:ea typeface="맑은 고딕"/>
              </a:rPr>
              <a:t>숨어 있는 요구</a:t>
            </a:r>
            <a:r>
              <a:rPr sz="1800" b="0">
                <a:solidFill>
                  <a:srgbClr val="000000"/>
                </a:solidFill>
                <a:latin typeface="맑은 고딕"/>
                <a:ea typeface="맑은 고딕"/>
              </a:rPr>
              <a:t>를 발견한다.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식별하고 이벤트 흐름으로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다이어그램을 기능 분할도나 업무 흐름도와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을 식별하고 필요하면 계약으로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분석 모델과 후속 설계 판단의 연결을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품질속성과 프로토타입을 요구 발견과 검증에 활용한다.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스토리와 행위 주도 개발의 역할을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관리와 추적으로 </a:t>
            </a:r>
            <a:r>
              <a:rPr sz="1800" b="1">
                <a:solidFill>
                  <a:srgbClr val="000000"/>
                </a:solidFill>
                <a:latin typeface="맑은 고딕"/>
                <a:ea typeface="맑은 고딕"/>
              </a:rPr>
              <a:t>누락과 임의 추가</a:t>
            </a:r>
            <a:r>
              <a:rPr sz="1800" b="0">
                <a:solidFill>
                  <a:srgbClr val="000000"/>
                </a:solidFill>
                <a:latin typeface="맑은 고딕"/>
                <a:ea typeface="맑은 고딕"/>
              </a:rPr>
              <a:t>를 통제한다.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구현과 실제 사용에서 얻은 </a:t>
            </a:r>
            <a:r>
              <a:rPr sz="1800" b="1">
                <a:solidFill>
                  <a:srgbClr val="000000"/>
                </a:solidFill>
                <a:latin typeface="맑은 고딕"/>
                <a:ea typeface="맑은 고딕"/>
              </a:rPr>
              <a:t>증거</a:t>
            </a:r>
            <a:r>
              <a:rPr sz="1800" b="0">
                <a:solidFill>
                  <a:srgbClr val="000000"/>
                </a:solidFill>
                <a:latin typeface="맑은 고딕"/>
                <a:ea typeface="맑은 고딕"/>
              </a:rPr>
              <a:t>를 요구사항 학습으로 되돌린다.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8041" y="4016414"/>
            <a:ext cx="6207919"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분석하고, 어떤 정보를 더 묻고, 무엇으로 필요성을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that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디자인 싱킹·린 사고·Lean UX·애자일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42998"/>
          <a:ext cx="7284720" cy="3873500"/>
        </p:xfrm>
        <a:graphic>
          <a:graphicData uri="http://schemas.openxmlformats.org/drawingml/2006/table">
            <a:tbl>
              <a:tblPr/>
              <a:tblGrid>
                <a:gridCol w="2512060"/>
                <a:gridCol w="2679700"/>
                <a:gridCol w="20929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역할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싱킹(Design Thinking)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문제·숨어 있는 요구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사고(Lean Thinking)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고객 가치인가?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가치와 낭비 구분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사용자 경험(Lean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가설·실험·결과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애자일(Agile)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구현으로 무엇을 배울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점진적 구현과 빠른 피드백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디자인 싱킹, 린 사고, 린 사용자 경험, 애자일은 서로 다른 접근이지만 </a:t>
            </a:r>
            <a:r>
              <a:rPr sz="1800" b="1">
                <a:solidFill>
                  <a:srgbClr val="000000"/>
                </a:solidFill>
                <a:latin typeface="맑은 고딕"/>
                <a:ea typeface="맑은 고딕"/>
              </a:rPr>
              <a:t>요구와 해결책을 실제 증거로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개선 방향: 변경 가능한 주문 상태, 변경 결과를 확인할 주체, 결과 통지 조건을 명시한다. 응답 시간 목표는 측정 조건과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요구사항은 언제 확정되는가?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앞에서 충분히 확정할 수 있다는 기대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단계를 앞에서 한 번에 확정하고 순서대로 진행할 수 있다는 기대다.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수집 → 분석 → 명세 → 승인 → 설계 →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반복적인 학습</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 사용과 관찰에서 얻은 학습을 요구 재검토로 되돌린다.</a:t>
            </a:r>
          </a:p>
        </p:txBody>
      </p:sp>
      <p:pic>
        <p:nvPicPr>
          <p:cNvPr id="9" name="mermaid Diagram 2"/>
          <p:cNvPicPr>
            <a:picLocks noChangeAspect="1"/>
          </p:cNvPicPr>
          <p:nvPr/>
        </p:nvPicPr>
        <p:blipFill>
          <a:blip r:embed="mermaidImage2"/>
          <a:stretch>
            <a:fillRect/>
          </a:stretch>
        </p:blipFill>
        <p:spPr>
          <a:xfrm>
            <a:off x="1922066" y="4189665"/>
            <a:ext cx="5299869"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plantuml Diagram 1"/>
          <p:cNvPicPr>
            <a:picLocks noChangeAspect="1"/>
          </p:cNvPicPr>
          <p:nvPr/>
        </p:nvPicPr>
        <p:blipFill>
          <a:blip r:embed="plantumlImage1"/>
          <a:stretch>
            <a:fillRect/>
          </a:stretch>
        </p:blipFill>
        <p:spPr>
          <a:xfrm>
            <a:off x="3874843" y="4626673"/>
            <a:ext cx="1394313" cy="4889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기능 중심</a:t>
            </a:r>
            <a:r>
              <a:rPr sz="1800" b="0">
                <a:solidFill>
                  <a:srgbClr val="000000"/>
                </a:solidFill>
                <a:latin typeface="맑은 고딕"/>
                <a:ea typeface="맑은 고딕"/>
              </a:rPr>
              <a:t>: 등록, 조회, 수정, 삭제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주문한다, 주문을 취소한다, 배송지를 변경한다,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723900" indent="-368300">
              <a:spcBef>
                <a:spcPts val="600"/>
              </a:spcBef>
              <a:spcAft>
                <a:spcPts val="600"/>
              </a:spcAft>
              <a:buNone/>
            </a:pPr>
            <a:r>
              <a:rPr sz="1800" b="0">
                <a:solidFill>
                  <a:srgbClr val="000000"/>
                </a:solidFill>
                <a:latin typeface="맑은 고딕"/>
                <a:ea typeface="맑은 고딕"/>
              </a:rPr>
              <a:t>1. 대상 시스템을 정의한다.</a:t>
            </a:r>
          </a:p>
          <a:p>
            <a:pPr lvl="2" marL="723900" indent="-368300">
              <a:spcBef>
                <a:spcPts val="600"/>
              </a:spcBef>
              <a:spcAft>
                <a:spcPts val="600"/>
              </a:spcAft>
              <a:buNone/>
            </a:pPr>
            <a:r>
              <a:rPr sz="1800" b="0">
                <a:solidFill>
                  <a:srgbClr val="000000"/>
                </a:solidFill>
                <a:latin typeface="맑은 고딕"/>
                <a:ea typeface="맑은 고딕"/>
              </a:rPr>
              <a:t>2. 목표와 그 목표를 가진 액터를 함께 식별한다.</a:t>
            </a:r>
          </a:p>
          <a:p>
            <a:pPr lvl="2" marL="723900" indent="-368300">
              <a:spcBef>
                <a:spcPts val="600"/>
              </a:spcBef>
              <a:spcAft>
                <a:spcPts val="600"/>
              </a:spcAft>
              <a:buNone/>
            </a:pPr>
            <a:r>
              <a:rPr sz="1800" b="0">
                <a:solidFill>
                  <a:srgbClr val="000000"/>
                </a:solidFill>
                <a:latin typeface="맑은 고딕"/>
                <a:ea typeface="맑은 고딕"/>
              </a:rPr>
              <a:t>3. 목표 수준의 유스케이스 후보를 식별한다.</a:t>
            </a:r>
          </a:p>
          <a:p>
            <a:pPr lvl="2" marL="723900" indent="-368300">
              <a:spcBef>
                <a:spcPts val="600"/>
              </a:spcBef>
              <a:spcAft>
                <a:spcPts val="600"/>
              </a:spcAft>
              <a:buNone/>
            </a:pPr>
            <a:r>
              <a:rPr sz="1800" b="0">
                <a:solidFill>
                  <a:srgbClr val="000000"/>
                </a:solidFill>
                <a:latin typeface="맑은 고딕"/>
                <a:ea typeface="맑은 고딕"/>
              </a:rPr>
              <a:t>4. 액터와 유스케이스로 초안 유스케이스 다이어그램을 작성한다.</a:t>
            </a:r>
          </a:p>
          <a:p>
            <a:pPr lvl="2" marL="723900" indent="-368300">
              <a:spcBef>
                <a:spcPts val="600"/>
              </a:spcBef>
              <a:spcAft>
                <a:spcPts val="600"/>
              </a:spcAft>
              <a:buNone/>
            </a:pPr>
            <a:r>
              <a:rPr sz="1800" b="0">
                <a:solidFill>
                  <a:srgbClr val="000000"/>
                </a:solidFill>
                <a:latin typeface="맑은 고딕"/>
                <a:ea typeface="맑은 고딕"/>
              </a:rPr>
              <a:t>5. 유스케이스의 기본 이벤트 흐름을 작성한다.</a:t>
            </a:r>
          </a:p>
          <a:p>
            <a:pPr lvl="2" marL="723900" indent="-368300">
              <a:spcBef>
                <a:spcPts val="600"/>
              </a:spcBef>
              <a:spcAft>
                <a:spcPts val="600"/>
              </a:spcAft>
              <a:buNone/>
            </a:pPr>
            <a:r>
              <a:rPr sz="1800" b="0">
                <a:solidFill>
                  <a:srgbClr val="000000"/>
                </a:solidFill>
                <a:latin typeface="맑은 고딕"/>
                <a:ea typeface="맑은 고딕"/>
              </a:rPr>
              <a:t>6. 필요한 규칙·제약·예외 정책을 별도로 식별한다.</a:t>
            </a:r>
          </a:p>
          <a:p>
            <a:pPr lvl="2" marL="723900" indent="-368300">
              <a:spcBef>
                <a:spcPts val="600"/>
              </a:spcBef>
              <a:spcAft>
                <a:spcPts val="600"/>
              </a:spcAft>
              <a:buNone/>
            </a:pPr>
            <a:r>
              <a:rPr sz="1800" b="0">
                <a:solidFill>
                  <a:srgbClr val="000000"/>
                </a:solidFill>
                <a:latin typeface="맑은 고딕"/>
                <a:ea typeface="맑은 고딕"/>
              </a:rPr>
              <a:t>7. 사전조건·사후조건·비즈니스 규칙 등 필요한 내용을 상세화한다.</a:t>
            </a:r>
          </a:p>
          <a:p>
            <a:pPr lvl="2" marL="723900" indent="-368300">
              <a:spcBef>
                <a:spcPts val="600"/>
              </a:spcBef>
              <a:spcAft>
                <a:spcPts val="600"/>
              </a:spcAft>
              <a:buNone/>
            </a:pPr>
            <a:r>
              <a:rPr sz="1800" b="0">
                <a:solidFill>
                  <a:srgbClr val="000000"/>
                </a:solidFill>
                <a:latin typeface="맑은 고딕"/>
                <a:ea typeface="맑은 고딕"/>
              </a:rPr>
              <a:t>8. 상세화 결과를 반영해 유스케이스 다이어그램을 정제한다.</a:t>
            </a:r>
          </a:p>
          <a:p>
            <a:pPr lvl="2" marL="723900" indent="-368300">
              <a:spcBef>
                <a:spcPts val="600"/>
              </a:spcBef>
              <a:spcAft>
                <a:spcPts val="600"/>
              </a:spcAft>
              <a:buNone/>
            </a:pPr>
            <a:r>
              <a:rPr sz="1800" b="0">
                <a:solidFill>
                  <a:srgbClr val="000000"/>
                </a:solidFill>
                <a:latin typeface="맑은 고딕"/>
                <a:ea typeface="맑은 고딕"/>
              </a:rPr>
              <a:t>9. 중요한 시스템 이벤트에서 시스템 오퍼레이션을 식별한다.</a:t>
            </a:r>
          </a:p>
          <a:p>
            <a:pPr lvl="2" marL="723900" indent="-368300">
              <a:spcBef>
                <a:spcPts val="600"/>
              </a:spcBef>
              <a:spcAft>
                <a:spcPts val="600"/>
              </a:spcAft>
              <a:buNone/>
            </a:pPr>
            <a:r>
              <a:rPr sz="1800" b="0">
                <a:solidFill>
                  <a:srgbClr val="000000"/>
                </a:solidFill>
                <a:latin typeface="맑은 고딕"/>
                <a:ea typeface="맑은 고딕"/>
              </a:rPr>
              <a:t>10. 필요하면 중요하고 복잡한 시스템 오퍼레이션의 계약을 작성한다.</a:t>
            </a:r>
          </a:p>
          <a:p>
            <a:pPr lvl="2" marL="723900" indent="-368300">
              <a:spcBef>
                <a:spcPts val="600"/>
              </a:spcBef>
              <a:spcAft>
                <a:spcPts val="600"/>
              </a:spcAft>
              <a:buNone/>
            </a:pPr>
            <a:r>
              <a:rPr sz="1800" b="0">
                <a:solidFill>
                  <a:srgbClr val="000000"/>
                </a:solidFill>
                <a:latin typeface="맑은 고딕"/>
                <a:ea typeface="맑은 고딕"/>
              </a:rPr>
              <a:t>11. 전체 요구와 유스케이스를 검토하고 정제한다.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대상 시스템과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경계</a:t>
            </a:r>
            <a:r>
              <a:rPr sz="1800" b="0">
                <a:solidFill>
                  <a:srgbClr val="000000"/>
                </a:solidFill>
                <a:latin typeface="맑은 고딕"/>
                <a:ea typeface="맑은 고딕"/>
              </a:rPr>
              <a:t>를 명확히 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None/>
            </a:pPr>
            <a:r>
              <a:rPr sz="1600" b="0">
                <a:solidFill>
                  <a:srgbClr val="000000"/>
                </a:solidFill>
                <a:latin typeface="맑은 고딕"/>
                <a:ea typeface="맑은 고딕"/>
              </a:rPr>
              <a:t>지금 분석하는 대상 시스템은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사각형의 </a:t>
            </a:r>
            <a:r>
              <a:rPr sz="1600" b="1">
                <a:solidFill>
                  <a:srgbClr val="000000"/>
                </a:solidFill>
                <a:latin typeface="맑은 고딕"/>
                <a:ea typeface="맑은 고딕"/>
              </a:rPr>
              <a:t>상단 안쪽에 시스템 명칭</a:t>
            </a:r>
            <a:r>
              <a:rPr sz="1600" b="0">
                <a:solidFill>
                  <a:srgbClr val="000000"/>
                </a:solidFill>
                <a:latin typeface="맑은 고딕"/>
                <a:ea typeface="맑은 고딕"/>
              </a:rPr>
              <a:t>을 표시한다.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안에는 분석 대상 시스템의 유스케이스를 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밖에는 액터를 둔다.</a:t>
            </a:r>
          </a:p>
        </p:txBody>
      </p:sp>
      <p:pic>
        <p:nvPicPr>
          <p:cNvPr id="9" name="plantuml Diagram 2"/>
          <p:cNvPicPr>
            <a:picLocks noChangeAspect="1"/>
          </p:cNvPicPr>
          <p:nvPr/>
        </p:nvPicPr>
        <p:blipFill>
          <a:blip r:embed="plantumlImage2"/>
          <a:stretch>
            <a:fillRect/>
          </a:stretch>
        </p:blipFill>
        <p:spPr>
          <a:xfrm>
            <a:off x="3492012" y="4020470"/>
            <a:ext cx="2159977" cy="12787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3255836" y="3151553"/>
          <a:ext cx="2618740" cy="3873500"/>
        </p:xfrm>
        <a:graphic>
          <a:graphicData uri="http://schemas.openxmlformats.org/drawingml/2006/table">
            <a:tbl>
              <a:tblPr/>
              <a:tblGrid>
                <a:gridCol w="1729740"/>
                <a:gridCol w="8890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상태를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pic>
        <p:nvPicPr>
          <p:cNvPr id="14" name="plantuml Diagram 3"/>
          <p:cNvPicPr>
            <a:picLocks noChangeAspect="1"/>
          </p:cNvPicPr>
          <p:nvPr/>
        </p:nvPicPr>
        <p:blipFill>
          <a:blip r:embed="plantumlImage3"/>
          <a:stretch>
            <a:fillRect/>
          </a:stretch>
        </p:blipFill>
        <p:spPr>
          <a:xfrm>
            <a:off x="4358342" y="4941266"/>
            <a:ext cx="413727" cy="9886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유스케이스 후보 식별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취소한다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배송지를 변경한다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상태를 확인한다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유스케이스 후보 식별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반례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CRUD 목록을 목표·가치 확인 없이 그대로 유스케이스로 채택한 반례다.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200" b="0">
                <a:solidFill>
                  <a:srgbClr val="000000"/>
                </a:solidFill>
                <a:latin typeface="맑은 고딕"/>
                <a:ea typeface="맑은 고딕"/>
              </a:rPr>
              <a:t>(CRUD)</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a:t>
            </a:r>
            <a:r>
              <a:rPr sz="1600" b="0">
                <a:solidFill>
                  <a:srgbClr val="000000"/>
                </a:solidFill>
                <a:latin typeface="맑은 고딕"/>
                <a:ea typeface="맑은 고딕"/>
              </a:rPr>
              <a:t>이 실제 가치 있는 목표를 표현하면 후보가 될 수 있다. 명칭만으로 판단하지 않는다.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다이어그램 —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초안에서는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전체 시스템의 사용 구조를 단순하게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a:t>
            </a:r>
            <a:r>
              <a:rPr sz="1800" b="0">
                <a:solidFill>
                  <a:srgbClr val="000000"/>
                </a:solidFill>
                <a:latin typeface="맑은 고딕"/>
                <a:ea typeface="맑은 고딕"/>
              </a:rPr>
              <a:t>&lt;&lt;include&gt;&gt;</a:t>
            </a:r>
            <a:r>
              <a:rPr sz="1800" b="0">
                <a:solidFill>
                  <a:srgbClr val="000000"/>
                </a:solidFill>
                <a:latin typeface="맑은 고딕"/>
                <a:ea typeface="맑은 고딕"/>
              </a:rPr>
              <a:t>)과 확장(</a:t>
            </a:r>
            <a:r>
              <a:rPr sz="1800" b="0">
                <a:solidFill>
                  <a:srgbClr val="000000"/>
                </a:solidFill>
                <a:latin typeface="맑은 고딕"/>
                <a:ea typeface="맑은 고딕"/>
              </a:rPr>
              <a:t>&lt;&lt;extend&gt;&gt;</a:t>
            </a:r>
            <a:r>
              <a:rPr sz="1800" b="0">
                <a:solidFill>
                  <a:srgbClr val="000000"/>
                </a:solidFill>
                <a:latin typeface="맑은 고딕"/>
                <a:ea typeface="맑은 고딕"/>
              </a:rPr>
              <a:t>) 관계는 이 단계에서 넣지 않는다.</a:t>
            </a:r>
          </a:p>
        </p:txBody>
      </p:sp>
      <p:pic>
        <p:nvPicPr>
          <p:cNvPr id="9" name="plantuml Diagram 4"/>
          <p:cNvPicPr>
            <a:picLocks noChangeAspect="1"/>
          </p:cNvPicPr>
          <p:nvPr/>
        </p:nvPicPr>
        <p:blipFill>
          <a:blip r:embed="plantumlImage4"/>
          <a:stretch>
            <a:fillRect/>
          </a:stretch>
        </p:blipFill>
        <p:spPr>
          <a:xfrm>
            <a:off x="3379177" y="3573769"/>
            <a:ext cx="2385646" cy="1826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기본 이벤트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취소한다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완료·배송 전 전체 취소</a:t>
            </a:r>
            <a:r>
              <a:rPr sz="1600" b="0">
                <a:solidFill>
                  <a:srgbClr val="000000"/>
                </a:solidFill>
                <a:latin typeface="맑은 고딕"/>
                <a:ea typeface="맑은 고딕"/>
              </a:rPr>
              <a:t>가 허용되고 전액 환불되는 성공 경로다.</a:t>
            </a:r>
          </a:p>
          <a:p>
            <a:pPr lvl="3" marL="1077913" indent="-354013">
              <a:spcBef>
                <a:spcPts val="600"/>
              </a:spcBef>
              <a:spcAft>
                <a:spcPts val="600"/>
              </a:spcAft>
              <a:buNone/>
            </a:pPr>
            <a:r>
              <a:rPr sz="1600" b="0">
                <a:solidFill>
                  <a:srgbClr val="000000"/>
                </a:solidFill>
                <a:latin typeface="맑은 고딕"/>
                <a:ea typeface="맑은 고딕"/>
              </a:rPr>
              <a:t>1. 고객이 주문을 취소한다.</a:t>
            </a:r>
          </a:p>
          <a:p>
            <a:pPr lvl="3" marL="1077913" indent="-354013">
              <a:spcBef>
                <a:spcPts val="600"/>
              </a:spcBef>
              <a:spcAft>
                <a:spcPts val="600"/>
              </a:spcAft>
              <a:buNone/>
            </a:pPr>
            <a:r>
              <a:rPr sz="1600" b="0">
                <a:solidFill>
                  <a:srgbClr val="000000"/>
                </a:solidFill>
                <a:latin typeface="맑은 고딕"/>
                <a:ea typeface="맑은 고딕"/>
              </a:rPr>
              <a:t>2. 환불이 처리된다.</a:t>
            </a:r>
          </a:p>
          <a:p>
            <a:pPr lvl="3" marL="1077913" indent="-354013">
              <a:spcBef>
                <a:spcPts val="600"/>
              </a:spcBef>
              <a:spcAft>
                <a:spcPts val="600"/>
              </a:spcAft>
              <a:buNone/>
            </a:pPr>
            <a:r>
              <a:rPr sz="1600" b="0">
                <a:solidFill>
                  <a:srgbClr val="000000"/>
                </a:solidFill>
                <a:latin typeface="맑은 고딕"/>
                <a:ea typeface="맑은 고딕"/>
              </a:rPr>
              <a:t>3. 고객은 주문 취소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반복이나 화면 클릭 순서를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의도·응답은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구현의 확인·계산·저장·호출은 나열하지 않되, 경로를 바꾸는 판단은 외부 행위로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모든 경우를 넣지 않는다.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특정 상품은 취소가 제한될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부분 취소의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환불 처리와 연결되어야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법률·계약·정책상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정말 중요한 경우에만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이벤트 흐름을 이용한 요구 분석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중요한 질문을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"20. 기본 이벤트 흐름"을 출발점으로 적용 범위를 넓혀 보며 질문한다. 예시의 전제가 실제 요구 전체를 대표한다고 가정하지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취소할 수 있는 범위는 어디까지인가?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항상 필요한가?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부분 취소가 필요한가?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어떤 취소 결과를 제공해야 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취소가 다른 업무에 어떤 영향을 주는가?</a:t>
            </a:r>
          </a:p>
        </p:txBody>
      </p:sp>
      <p:pic>
        <p:nvPicPr>
          <p:cNvPr id="9" name="mermaid Diagram 3"/>
          <p:cNvPicPr>
            <a:picLocks noChangeAspect="1"/>
          </p:cNvPicPr>
          <p:nvPr/>
        </p:nvPicPr>
        <p:blipFill>
          <a:blip r:embed="mermaidImage3"/>
          <a:stretch>
            <a:fillRect/>
          </a:stretch>
        </p:blipFill>
        <p:spPr>
          <a:xfrm>
            <a:off x="1149350" y="4599639"/>
            <a:ext cx="6845300" cy="5937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5" y="2894516"/>
          <a:ext cx="7734300" cy="3873500"/>
        </p:xfrm>
        <a:graphic>
          <a:graphicData uri="http://schemas.openxmlformats.org/drawingml/2006/table">
            <a:tbl>
              <a:tblPr/>
              <a:tblGrid>
                <a:gridCol w="1534160"/>
                <a:gridCol w="6200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 환불 처리 →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 상태이고, 결제 금액 전액의 환불이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취소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3279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취소한다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"20. 기본 이벤트 흐름"과 동일한 결제 완료·배송 시작 전 주문의 전체 취소 성공 경로를 상세화한 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기본 흐름과 다른 경로를 구분하는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미결제 주문도 취소 대상이면 환불 없이 결과를 확인하는 대안 흐름을 추가할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흐름이 아니라 규칙으로 기록한다.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 있는 예외 흐름의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 예외 설명에만 추가한 교육용 가정</a:t>
            </a:r>
            <a:r>
              <a:rPr sz="1600" b="0">
                <a:solidFill>
                  <a:srgbClr val="000000"/>
                </a:solidFill>
                <a:latin typeface="맑은 고딕"/>
                <a:ea typeface="맑은 고딕"/>
              </a:rPr>
              <a:t>이다: 취소 처리 중 환불이 실패하면 완료로 안내하지 않고, 미완료 결과와 후속 문의 방법을 안내한다.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환불이 완료되지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고객에게 취소·환불이 완료되지 않았음과 후속 문의 방법이 안내된다.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경로는 성공 사후조건을 충족하지 않은 채 종료한다.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지켜야 할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 내부 재시도 코드까지 나열하지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남길 주문 상태, 재시도·보상·문의 담당자는 추가 정책 확인 대상이다.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4790527"/>
                <a:gridCol w="262627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지점에서 필요한 별도 유스케이스의 행위를 삽입한다. 내부 함수라는 이유로 분리하지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열린 화살촉과 &lt;&lt;include&gt;&gt;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독립적으로 의미가 있는 기본 유스케이스의 확장 지점에 행위를 삽입한다. 조건이 지정되면 그 조건을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열린 화살촉과 &lt;&lt;extend&gt;&gt;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 분류 관계다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속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주문한다</a:t>
            </a:r>
            <a:r>
              <a:rPr sz="1600" b="0">
                <a:solidFill>
                  <a:srgbClr val="000000"/>
                </a:solidFill>
                <a:latin typeface="맑은 고딕"/>
                <a:ea typeface="맑은 고딕"/>
              </a:rPr>
              <a:t>는 결제 확인 행위를 포함해야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결제 확인은 외부 </a:t>
            </a:r>
            <a:r>
              <a:rPr sz="1400" b="0">
                <a:solidFill>
                  <a:srgbClr val="000000"/>
                </a:solidFill>
                <a:latin typeface="맑은 고딕"/>
                <a:ea typeface="맑은 고딕"/>
              </a:rPr>
              <a:t>결제 시스템</a:t>
            </a:r>
            <a:r>
              <a:rPr sz="1400" b="0">
                <a:solidFill>
                  <a:srgbClr val="000000"/>
                </a:solidFill>
                <a:latin typeface="맑은 고딕"/>
                <a:ea typeface="맑은 고딕"/>
              </a:rPr>
              <a:t> 액터와 상호작용한다.</a:t>
            </a:r>
          </a:p>
        </p:txBody>
      </p:sp>
      <p:pic>
        <p:nvPicPr>
          <p:cNvPr id="9" name="plantuml Diagram 5"/>
          <p:cNvPicPr>
            <a:picLocks noChangeAspect="1"/>
          </p:cNvPicPr>
          <p:nvPr/>
        </p:nvPicPr>
        <p:blipFill>
          <a:blip r:embed="plantumlImage5"/>
          <a:stretch>
            <a:fillRect/>
          </a:stretch>
        </p:blipFill>
        <p:spPr>
          <a:xfrm>
            <a:off x="3406042" y="3602247"/>
            <a:ext cx="2331915" cy="24125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주문한다</a:t>
            </a:r>
            <a:r>
              <a:rPr sz="1600" b="0">
                <a:solidFill>
                  <a:srgbClr val="000000"/>
                </a:solidFill>
                <a:latin typeface="맑은 고딕"/>
                <a:ea typeface="맑은 고딕"/>
              </a:rPr>
              <a:t>는 쿠폰 없이도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적용한다.</a:t>
            </a:r>
          </a:p>
        </p:txBody>
      </p:sp>
      <p:pic>
        <p:nvPicPr>
          <p:cNvPr id="9" name="plantuml Diagram 6"/>
          <p:cNvPicPr>
            <a:picLocks noChangeAspect="1"/>
          </p:cNvPicPr>
          <p:nvPr/>
        </p:nvPicPr>
        <p:blipFill>
          <a:blip r:embed="plantumlImage6"/>
          <a:stretch>
            <a:fillRect/>
          </a:stretch>
        </p:blipFill>
        <p:spPr>
          <a:xfrm>
            <a:off x="2720975" y="3569471"/>
            <a:ext cx="3702050" cy="21707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모두 이어받을 때만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주문한다</a:t>
            </a:r>
            <a:r>
              <a:rPr sz="1600" b="0">
                <a:solidFill>
                  <a:srgbClr val="000000"/>
                </a:solidFill>
                <a:latin typeface="맑은 고딕"/>
                <a:ea typeface="맑은 고딕"/>
              </a:rPr>
              <a:t>를 모두 이어받는다고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한도·혜택 등 요건이 붙을 수 있다.</a:t>
            </a:r>
          </a:p>
        </p:txBody>
      </p:sp>
      <p:pic>
        <p:nvPicPr>
          <p:cNvPr id="9" name="plantuml Diagram 7"/>
          <p:cNvPicPr>
            <a:picLocks noChangeAspect="1"/>
          </p:cNvPicPr>
          <p:nvPr/>
        </p:nvPicPr>
        <p:blipFill>
          <a:blip r:embed="plantumlImage7"/>
          <a:stretch>
            <a:fillRect/>
          </a:stretch>
        </p:blipFill>
        <p:spPr>
          <a:xfrm>
            <a:off x="3537683" y="3521113"/>
            <a:ext cx="2068635" cy="2267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잘못된 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관리 → 주문 등록 → 주문 조회 → 주문 수정 → 주문 삭제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로그인 → 상품 조회 → 상품 선택 → 결제 → 완료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일반 화살표로 유스케이스 호출 순서를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화면 메뉴 구조를 그대로 유스케이스로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프로그램 기능을 유스케이스로 세분화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공통 코드라는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를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선택 기능이라는 이유만으로 무조건 </a:t>
            </a:r>
            <a:r>
              <a:rPr sz="1600" b="0">
                <a:solidFill>
                  <a:srgbClr val="000000"/>
                </a:solidFill>
                <a:latin typeface="맑은 고딕"/>
                <a:ea typeface="맑은 고딕"/>
              </a:rPr>
              <a:t>&lt;&lt;extend&gt;&gt;</a:t>
            </a:r>
            <a:r>
              <a:rPr sz="1600" b="0">
                <a:solidFill>
                  <a:srgbClr val="000000"/>
                </a:solidFill>
                <a:latin typeface="맑은 고딕"/>
                <a:ea typeface="맑은 고딕"/>
              </a:rPr>
              <a:t>를 사용</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시스템 오퍼레이션과 계약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업무 의미의 이벤트를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의미와 결과를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조건·상태 변화가 중요한 오퍼레이션에는 계약을 작성한다.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시스템 오퍼레이션과 계약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6595" y="2754313"/>
          <a:ext cx="8237220" cy="3873500"/>
        </p:xfrm>
        <a:graphic>
          <a:graphicData uri="http://schemas.openxmlformats.org/drawingml/2006/table">
            <a:tbl>
              <a:tblPr/>
              <a:tblGrid>
                <a:gridCol w="1450340"/>
                <a:gridCol w="6786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 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 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800" b="1">
                <a:solidFill>
                  <a:srgbClr val="000000"/>
                </a:solidFill>
                <a:latin typeface="맑은 고딕"/>
                <a:ea typeface="맑은 고딕"/>
              </a:rPr>
              <a:t>행위 관점</a:t>
            </a:r>
            <a:r>
              <a:rPr sz="1800" b="0">
                <a:solidFill>
                  <a:srgbClr val="000000"/>
                </a:solidFill>
                <a:latin typeface="맑은 고딕"/>
                <a:ea typeface="맑은 고딕"/>
              </a:rPr>
              <a:t>)만으로는 부족하다. 정적·동적 모델이 </a:t>
            </a:r>
            <a:r>
              <a:rPr sz="1800" b="1">
                <a:solidFill>
                  <a:srgbClr val="000000"/>
                </a:solidFill>
                <a:latin typeface="맑은 고딕"/>
                <a:ea typeface="맑은 고딕"/>
              </a:rPr>
              <a:t>문제영역의 의미·관계·상태 변화</a:t>
            </a:r>
            <a:r>
              <a:rPr sz="1800" b="0">
                <a:solidFill>
                  <a:srgbClr val="000000"/>
                </a:solidFill>
                <a:latin typeface="맑은 고딕"/>
                <a:ea typeface="맑은 고딕"/>
              </a:rPr>
              <a:t>를 검토해 경계와 객체 책임을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모델은 문제영역의 의미·관계·제약을, 동적 모델은 상호작용과 상태 변화의 사건·규칙을 다룬다.</a:t>
            </a:r>
          </a:p>
        </p:txBody>
      </p:sp>
      <p:pic>
        <p:nvPicPr>
          <p:cNvPr id="9" name="mermaid Diagram 4"/>
          <p:cNvPicPr>
            <a:picLocks noChangeAspect="1"/>
          </p:cNvPicPr>
          <p:nvPr/>
        </p:nvPicPr>
        <p:blipFill>
          <a:blip r:embed="mermaidImage4"/>
          <a:stretch>
            <a:fillRect/>
          </a:stretch>
        </p:blipFill>
        <p:spPr>
          <a:xfrm>
            <a:off x="1149350" y="3771747"/>
            <a:ext cx="6845300" cy="1100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303439"/>
          <a:ext cx="7871460" cy="3873500"/>
        </p:xfrm>
        <a:graphic>
          <a:graphicData uri="http://schemas.openxmlformats.org/drawingml/2006/table">
            <a:tbl>
              <a:tblPr/>
              <a:tblGrid>
                <a:gridCol w="1087120"/>
                <a:gridCol w="3238500"/>
                <a:gridCol w="35458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"제품 품질 모델은 제품의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기준을 제공한다"</a:t>
            </a:r>
            <a:r>
              <a:rPr sz="1000" b="0">
                <a:solidFill>
                  <a:srgbClr val="000000"/>
                </a:solidFill>
                <a:latin typeface="맑은 고딕"/>
                <a:ea typeface="맑은 고딕"/>
              </a:rPr>
              <a:t>, </a:t>
            </a:r>
            <a:r>
              <a:rPr sz="1000" b="0">
                <a:solidFill>
                  <a:srgbClr val="000000"/>
                </a:solidFill>
                <a:latin typeface="맑은 고딕"/>
                <a:ea typeface="맑은 고딕"/>
              </a:rPr>
              <a:t>ISO/IEC 25010:2023,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교육 예시다.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"26. 시스템 오퍼레이션과 계약"의 성공 계약을 검토하기 위한 화면 초안이다. 교육용 주소 A·B는 실제 주소가 아니다. 버튼·화면 구성은 해결책 후보이며 확정된 요구사항이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와이어프레임만으로 실제 처리나 성공을 검증할 수는 없다. 사용자에게 과업을 설명하게 하거나 조작 가능한 프로토타입으로 관찰한다.</a:t>
            </a:r>
          </a:p>
        </p:txBody>
      </p:sp>
      <p:pic>
        <p:nvPicPr>
          <p:cNvPr id="9" name="svg Diagram 1" descr="주문 상세와 배송지 변경 와이어프레임"/>
          <p:cNvPicPr>
            <a:picLocks noChangeAspect="1"/>
          </p:cNvPicPr>
          <p:nvPr/>
        </p:nvPicPr>
        <p:blipFill>
          <a:blip r:embed="svgImage1"/>
          <a:stretch>
            <a:fillRect/>
          </a:stretch>
        </p:blipFill>
        <p:spPr>
          <a:xfrm>
            <a:off x="2214563" y="3853792"/>
            <a:ext cx="4714875" cy="17811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직전 변경 가능 여부와 유효 주소 기준·오류 안내는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배송비 변동이나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시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요구사항과 계약에 반영한다. 새 주소·배송비·실패 정책을 화면만 보고 임의로 결정하지 않는다.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대화와 인수 조건으로 구체화한다.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반복적인 개발과 우선순위 관리에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대화와 우선순위 결정에 유용하다. 전체 목표와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함께 발견하고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"26. 시스템 오퍼레이션과 계약"의 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구체적으로 확인하는 데 유용하지만 목표와 요구사항 구조 전체를 대체하지는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pic>
        <p:nvPicPr>
          <p:cNvPr id="14" name="mermaid Diagram 5"/>
          <p:cNvPicPr>
            <a:picLocks noChangeAspect="1"/>
          </p:cNvPicPr>
          <p:nvPr/>
        </p:nvPicPr>
        <p:blipFill>
          <a:blip r:embed="mermaidImage5"/>
          <a:stretch>
            <a:fillRect/>
          </a:stretch>
        </p:blipFill>
        <p:spPr>
          <a:xfrm>
            <a:off x="2439146" y="3824705"/>
            <a:ext cx="4252119" cy="242728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명확·완전·일관적인가?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문제를 해결하는가?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기대한 가치와 예상 못한 문제가 있는가?</a:t>
            </a:r>
          </a:p>
        </p:txBody>
      </p:sp>
      <p:pic>
        <p:nvPicPr>
          <p:cNvPr id="9" name="mermaid Diagram 6"/>
          <p:cNvPicPr>
            <a:picLocks noChangeAspect="1"/>
          </p:cNvPicPr>
          <p:nvPr/>
        </p:nvPicPr>
        <p:blipFill>
          <a:blip r:embed="mermaidImage6"/>
          <a:stretch>
            <a:fillRect/>
          </a:stretch>
        </p:blipFill>
        <p:spPr>
          <a:xfrm>
            <a:off x="1808559" y="4147408"/>
            <a:ext cx="5526881"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언제·왜 바뀌었고 무엇에 영향을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요구·설계·코드·테스트는 무엇인가?</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일대일 대응시키지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근거·영향을 기록하고 필요하면 기준선을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7"/>
          <p:cNvPicPr>
            <a:picLocks noChangeAspect="1"/>
          </p:cNvPicPr>
          <p:nvPr/>
        </p:nvPicPr>
        <p:blipFill>
          <a:blip r:embed="mermaidImage7"/>
          <a:stretch>
            <a:fillRect/>
          </a:stretch>
        </p:blipFill>
        <p:spPr>
          <a:xfrm>
            <a:off x="1149350" y="4500350"/>
            <a:ext cx="6845300" cy="7246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8"/>
          <p:cNvPicPr>
            <a:picLocks noChangeAspect="1"/>
          </p:cNvPicPr>
          <p:nvPr/>
        </p:nvPicPr>
        <p:blipFill>
          <a:blip r:embed="mermaidImage8"/>
          <a:stretch>
            <a:fillRect/>
          </a:stretch>
        </p:blipFill>
        <p:spPr>
          <a:xfrm>
            <a:off x="1149350" y="3557333"/>
            <a:ext cx="6845300" cy="7683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문제·요구·제약·목표·시스템 책임을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목표·주 액터·유스케이스</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 흐름·규칙·시스템 오퍼레이션</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발견하고 유스케이스로 목표와 시스템 책임을 표현·검증했다.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 → 요구 → 요구사항 → 해결책</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a:t>
            </a:r>
            <a:r>
              <a:rPr sz="1600" b="0">
                <a:solidFill>
                  <a:srgbClr val="000000"/>
                </a:solidFill>
                <a:latin typeface="맑은 고딕"/>
                <a:ea typeface="맑은 고딕"/>
              </a:rPr>
              <a:t> —</a:t>
            </a:r>
            <a:r>
              <a:rPr sz="1400" b="0">
                <a:solidFill>
                  <a:srgbClr val="000000"/>
                </a:solidFill>
                <a:latin typeface="맑은 고딕"/>
                <a:ea typeface="맑은 고딕"/>
              </a:rPr>
              <a:t> 기능 목록이 아니라 목표와 가치 있는 결과로 식별한다.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이벤트 흐름·시스템 오퍼레이션</a:t>
            </a:r>
            <a:r>
              <a:rPr sz="1600" b="0">
                <a:solidFill>
                  <a:srgbClr val="000000"/>
                </a:solidFill>
                <a:latin typeface="맑은 고딕"/>
                <a:ea typeface="맑은 고딕"/>
              </a:rPr>
              <a:t> —</a:t>
            </a:r>
            <a:r>
              <a:rPr sz="1400" b="0">
                <a:solidFill>
                  <a:srgbClr val="000000"/>
                </a:solidFill>
                <a:latin typeface="맑은 고딕"/>
                <a:ea typeface="맑은 고딕"/>
              </a:rPr>
              <a:t> 본질적 행위만 남기고 외부 결과로 계약한다.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사용자 스토리·BDD</a:t>
            </a:r>
            <a:r>
              <a:rPr sz="1600" b="0">
                <a:solidFill>
                  <a:srgbClr val="000000"/>
                </a:solidFill>
                <a:latin typeface="맑은 고딕"/>
                <a:ea typeface="맑은 고딕"/>
              </a:rPr>
              <a:t> —</a:t>
            </a:r>
            <a:r>
              <a:rPr sz="1400" b="0">
                <a:solidFill>
                  <a:srgbClr val="000000"/>
                </a:solidFill>
                <a:latin typeface="맑은 고딕"/>
                <a:ea typeface="맑은 고딕"/>
              </a:rPr>
              <a:t> 작은 가치 단위의 대화와 구체적 예로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검증·관리·추적</a:t>
            </a:r>
            <a:r>
              <a:rPr sz="1600" b="0">
                <a:solidFill>
                  <a:srgbClr val="000000"/>
                </a:solidFill>
                <a:latin typeface="맑은 고딕"/>
                <a:ea typeface="맑은 고딕"/>
              </a:rPr>
              <a:t> —</a:t>
            </a:r>
            <a:r>
              <a:rPr sz="1400" b="0">
                <a:solidFill>
                  <a:srgbClr val="000000"/>
                </a:solidFill>
                <a:latin typeface="맑은 고딕"/>
                <a:ea typeface="맑은 고딕"/>
              </a:rPr>
              <a:t> 명세 품질과 실제 가치를 함께 확인하고 변경을 통제한다.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유스케이스를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52</Slides>
  <Notes>24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요구공학의 주요 활동</vt:lpstr>
      <vt:lpstr>07. 요구사항 수집과 발견</vt:lpstr>
      <vt:lpstr>08. 디자인 싱킹·린 사고·Lean UX·애자일</vt:lpstr>
      <vt:lpstr>09. 요구사항 유형</vt:lpstr>
      <vt:lpstr>10. 좋은 요구사항의 자격요건 (1/2)</vt:lpstr>
      <vt:lpstr>10. 좋은 요구사항의 자격요건 (2/2)</vt:lpstr>
      <vt:lpstr>11. 요구사항은 언제 확정되는가?</vt:lpstr>
      <vt:lpstr>12. 유스케이스란 무엇인가?</vt:lpstr>
      <vt:lpstr>13. 왜 유스케이스가 필요한가?</vt:lpstr>
      <vt:lpstr>14. 유스케이스 작성 절차</vt:lpstr>
      <vt:lpstr>15. 대상 시스템과 경계</vt:lpstr>
      <vt:lpstr>16. 목표와 액터</vt:lpstr>
      <vt:lpstr>17. 유스케이스 후보 식별 (1/2)</vt:lpstr>
      <vt:lpstr>17. 유스케이스 후보 식별 (2/2)</vt:lpstr>
      <vt:lpstr>18. 유스케이스 다이어그램 — 초안</vt:lpstr>
      <vt:lpstr>19. 유스케이스 명세서 템플릿</vt:lpstr>
      <vt:lpstr>20. 기본 이벤트 흐름</vt:lpstr>
      <vt:lpstr>21. 규칙·제약·예외 정책</vt:lpstr>
      <vt:lpstr>22. 이벤트 흐름을 이용한 요구 분석</vt:lpstr>
      <vt:lpstr>23. 유스케이스 상세화 (1/2)</vt:lpstr>
      <vt:lpstr>23. 유스케이스 상세화 (2/2)</vt:lpstr>
      <vt:lpstr>24. 유스케이스 다이어그램 — 상세화 (1/4)</vt:lpstr>
      <vt:lpstr>24. 유스케이스 다이어그램 — 상세화 (2/4)</vt:lpstr>
      <vt:lpstr>24. 유스케이스 다이어그램 — 상세화 (3/4)</vt:lpstr>
      <vt:lpstr>24. 유스케이스 다이어그램 — 상세화 (4/4)</vt:lpstr>
      <vt:lpstr>25. 잘못된 유스케이스 다이어그램</vt:lpstr>
      <vt:lpstr>26. 시스템 오퍼레이션과 계약 (1/2)</vt:lpstr>
      <vt:lpstr>26. 시스템 오퍼레이션과 계약 (2/2)</vt:lpstr>
      <vt:lpstr>27. 정적·동적 모델을 통한 상세화</vt:lpstr>
      <vt:lpstr>28. 유스케이스와 품질속성</vt:lpstr>
      <vt:lpstr>29. 프로토타입·와이어프레임 (1/2)</vt:lpstr>
      <vt:lpstr>29. 프로토타입·와이어프레임 (2/2)</vt:lpstr>
      <vt:lpstr>30. 사용자 스토리</vt:lpstr>
      <vt:lpstr>31. 사용자 스토리의 강점과 한계</vt:lpstr>
      <vt:lpstr>32. 행위 주도 개발 (1/2)</vt:lpstr>
      <vt:lpstr>32. 행위 주도 개발 (2/2)</vt:lpstr>
      <vt:lpstr>33. 행위 주도 개발의 강점과 한계</vt:lpstr>
      <vt:lpstr>34. 유스케이스·사용자 스토리·BDD</vt:lpstr>
      <vt:lpstr>35. 요구사항 검증</vt:lpstr>
      <vt:lpstr>36. 요구사항 관리</vt:lpstr>
      <vt:lpstr>37. 요구사항 추적</vt:lpstr>
      <vt:lpstr>38. 요구사항에서 학습으로</vt:lpstr>
      <vt:lpstr>39. 실습 — 모델로 바꾸기 (1/2)</vt:lpstr>
      <vt:lpstr>39. 실습 — 모델로 바꾸기 (2/2)</vt:lpstr>
      <vt:lpstr>40.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