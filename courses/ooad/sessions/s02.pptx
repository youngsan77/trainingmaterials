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「54.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「AI-native SW공학」과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사례다(「58. 실습 — 유스케이스」).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「속성 도메인」·「속성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「06.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여기서는 SSD에 필요한 표기만 소개하고, 시퀀스 다이어그램의 정의와 전체 표기는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「03. 요구 산출물에서 출발」의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문형은 표현 예이며 필수 표준 양식이 아니다.</a:t>
            </a:r>
          </a:p>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조건이다(「51.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본다(「53. 유스케이스·사용자 스토리·BDD」).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쓴다(「51. 행위 주도 개발」의 배송지 변경 예).</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「17. 모델의 검토」의 「누락과 모순」).</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「13. 실습 — 동적 모델」의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「피드백」.</a:t>
            </a:r>
          </a:p>
          <a:p>
            <a:pPr lvl="0"/>
            <a:r>
              <a:rPr lang="ko-KR" sz="1200"/>
              <a:t>모든 산출물을 늘 최신으로 유지하는 것은 적정 수준을 넘는 비용이다 — "01. OOAD 개요"의 「모델링의 적정 수준」.</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사용자 스토리</a:t>
            </a:r>
          </a:p>
          <a:p>
            <a:pPr lvl="1" marL="355600" indent="0">
              <a:spcBef>
                <a:spcPts val="300"/>
              </a:spcBef>
              <a:spcAft>
                <a:spcPts val="300"/>
              </a:spcAft>
              <a:buNone/>
            </a:pPr>
            <a:r>
              <a:rPr sz="1600" b="0">
                <a:solidFill>
                  <a:srgbClr val="000000"/>
                </a:solidFill>
                <a:latin typeface="맑은 고딕"/>
                <a:ea typeface="맑은 고딕"/>
              </a:rPr>
              <a:t>50. 사용자 스토리의 강점과 한계</a:t>
            </a:r>
          </a:p>
          <a:p>
            <a:pPr lvl="1" marL="355600" indent="0">
              <a:spcBef>
                <a:spcPts val="300"/>
              </a:spcBef>
              <a:spcAft>
                <a:spcPts val="300"/>
              </a:spcAft>
              <a:buNone/>
            </a:pPr>
            <a:r>
              <a:rPr sz="1600" b="0">
                <a:solidFill>
                  <a:srgbClr val="000000"/>
                </a:solidFill>
                <a:latin typeface="맑은 고딕"/>
                <a:ea typeface="맑은 고딕"/>
              </a:rPr>
              <a:t>51. 행위 주도 개발</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52. 행위 주도 개발의 강점과 한계</a:t>
            </a:r>
          </a:p>
          <a:p>
            <a:pPr lvl="1" marL="355600" indent="0">
              <a:spcBef>
                <a:spcPts val="300"/>
              </a:spcBef>
              <a:spcAft>
                <a:spcPts val="300"/>
              </a:spcAft>
              <a:buNone/>
            </a:pPr>
            <a:r>
              <a:rPr sz="1600" b="0">
                <a:solidFill>
                  <a:srgbClr val="000000"/>
                </a:solidFill>
                <a:latin typeface="맑은 고딕"/>
                <a:ea typeface="맑은 고딕"/>
              </a:rPr>
              <a:t>53. 유스케이스·사용자 스토리·BDD</a:t>
            </a:r>
          </a:p>
          <a:p>
            <a:pPr lvl="1" marL="355600" indent="0">
              <a:spcBef>
                <a:spcPts val="300"/>
              </a:spcBef>
              <a:spcAft>
                <a:spcPts val="300"/>
              </a:spcAft>
              <a:buNone/>
            </a:pPr>
            <a:r>
              <a:rPr sz="1600" b="0">
                <a:solidFill>
                  <a:srgbClr val="000000"/>
                </a:solidFill>
                <a:latin typeface="맑은 고딕"/>
                <a:ea typeface="맑은 고딕"/>
              </a:rPr>
              <a:t>54. 요구사항 검증</a:t>
            </a:r>
          </a:p>
          <a:p>
            <a:pPr lvl="1" marL="355600" indent="0">
              <a:spcBef>
                <a:spcPts val="300"/>
              </a:spcBef>
              <a:spcAft>
                <a:spcPts val="300"/>
              </a:spcAft>
              <a:buNone/>
            </a:pPr>
            <a:r>
              <a:rPr sz="1600" b="0">
                <a:solidFill>
                  <a:srgbClr val="000000"/>
                </a:solidFill>
                <a:latin typeface="맑은 고딕"/>
                <a:ea typeface="맑은 고딕"/>
              </a:rPr>
              <a:t>55. 요구사항 관리</a:t>
            </a:r>
          </a:p>
          <a:p>
            <a:pPr lvl="1" marL="355600" indent="0">
              <a:spcBef>
                <a:spcPts val="300"/>
              </a:spcBef>
              <a:spcAft>
                <a:spcPts val="300"/>
              </a:spcAft>
              <a:buNone/>
            </a:pPr>
            <a:r>
              <a:rPr sz="1600" b="0">
                <a:solidFill>
                  <a:srgbClr val="000000"/>
                </a:solidFill>
                <a:latin typeface="맑은 고딕"/>
                <a:ea typeface="맑은 고딕"/>
              </a:rPr>
              <a:t>56. 요구사항 추적</a:t>
            </a:r>
          </a:p>
          <a:p>
            <a:pPr lvl="1" marL="355600" indent="0">
              <a:spcBef>
                <a:spcPts val="300"/>
              </a:spcBef>
              <a:spcAft>
                <a:spcPts val="300"/>
              </a:spcAft>
              <a:buNone/>
            </a:pPr>
            <a:r>
              <a:rPr sz="1600" b="0">
                <a:solidFill>
                  <a:srgbClr val="000000"/>
                </a:solidFill>
                <a:latin typeface="맑은 고딕"/>
                <a:ea typeface="맑은 고딕"/>
              </a:rPr>
              <a:t>57. 요구사항에서 학습으로</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59. 유스케이스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60. 유스케이스 명세서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61. 용어집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시스템 시퀀스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요구사항 명세서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64.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8615"/>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60500" y="4252935"/>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67889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80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89397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3380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955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90574"/>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4144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9572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4144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9848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41448"/>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91045" y="1884410"/>
          <a:ext cx="8148320" cy="3873500"/>
        </p:xfrm>
        <a:graphic>
          <a:graphicData uri="http://schemas.openxmlformats.org/drawingml/2006/table">
            <a:tbl>
              <a:tblPr/>
              <a:tblGrid>
                <a:gridCol w="889000"/>
                <a:gridCol w="159004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4144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8441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글을 쓰는 일이다"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25987"/>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5000307"/>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(1/2)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그 밖에 있는 것, 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5834"/>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1774031" y="4050154"/>
            <a:ext cx="5595938" cy="1785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(2/2)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181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65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758559"/>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010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41448"/>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356535"/>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22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69300"/>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843620"/>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41448"/>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2141448"/>
          <a:ext cx="5554980" cy="3873500"/>
        </p:xfrm>
        <a:graphic>
          <a:graphicData uri="http://schemas.openxmlformats.org/drawingml/2006/table">
            <a:tbl>
              <a:tblPr/>
              <a:tblGrid>
                <a:gridCol w="181356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41448"/>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4144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16591"/>
            <a:ext cx="8412480" cy="274320"/>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249091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39827"/>
            <a:ext cx="8412480" cy="274320"/>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361414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40457"/>
            <a:ext cx="8412480" cy="274320"/>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421477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41448"/>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753775"/>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5532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309949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4144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8441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31083"/>
            <a:ext cx="8412480" cy="274320"/>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350540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91880"/>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416620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 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59776"/>
            <a:ext cx="8412480" cy="274320"/>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조각"/>
          <p:cNvPicPr>
            <a:picLocks noChangeAspect="1"/>
          </p:cNvPicPr>
          <p:nvPr/>
        </p:nvPicPr>
        <p:blipFill>
          <a:blip r:embed="svgImage9"/>
          <a:stretch>
            <a:fillRect/>
          </a:stretch>
        </p:blipFill>
        <p:spPr>
          <a:xfrm>
            <a:off x="1926167" y="4334096"/>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8820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336252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2627923"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28656" y="2514558"/>
            <a:ext cx="2302130" cy="193841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6053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2402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8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1731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58739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6171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52763"/>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1455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 — 인스턴스 생성, 연관 형성·해제, 속성 변경 — 를 서술한다"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133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14558"/>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3324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96012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34440"/>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1455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538688"/>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09847"/>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1460500" y="4084167"/>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09949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41790"/>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4116110"/>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marL="342900" indent="0">
              <a:spcBef>
                <a:spcPts val="600"/>
              </a:spcBef>
              <a:spcAft>
                <a:spcPts val="600"/>
              </a:spcAft>
              <a:buNone/>
            </a:pPr>
            <a:r>
              <a:rPr sz="1800" b="1">
                <a:solidFill>
                  <a:srgbClr val="000000"/>
                </a:solidFill>
                <a:latin typeface="맑은 고딕"/>
                <a:ea typeface="맑은 고딕"/>
              </a:rPr>
              <a:t>표현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사용자로서 나는 </a:t>
            </a:r>
            <a:r>
              <a:rPr sz="1800" b="0">
                <a:solidFill>
                  <a:srgbClr val="000000"/>
                </a:solidFill>
                <a:latin typeface="맑은 고딕"/>
                <a:ea typeface="맑은 고딕"/>
              </a:rPr>
              <a:t>&lt;목표&gt;</a:t>
            </a:r>
            <a:r>
              <a:rPr sz="1800" b="0">
                <a:solidFill>
                  <a:srgbClr val="000000"/>
                </a:solidFill>
                <a:latin typeface="맑은 고딕"/>
                <a:ea typeface="맑은 고딕"/>
              </a:rPr>
              <a:t>를 원한다. 왜냐하면 </a:t>
            </a:r>
            <a:r>
              <a:rPr sz="1800" b="0">
                <a:solidFill>
                  <a:srgbClr val="000000"/>
                </a:solidFill>
                <a:latin typeface="맑은 고딕"/>
                <a:ea typeface="맑은 고딕"/>
              </a:rPr>
              <a:t>&lt;가치&gt;</a:t>
            </a:r>
            <a:r>
              <a:rPr sz="1800" b="0">
                <a:solidFill>
                  <a:srgbClr val="000000"/>
                </a:solidFill>
                <a:latin typeface="맑은 고딕"/>
                <a:ea typeface="맑은 고딕"/>
              </a:rPr>
              <a:t>를 얻고 싶기 때문이다.</a:t>
            </a:r>
          </a:p>
          <a:p>
            <a:pPr marL="342900" indent="0">
              <a:spcBef>
                <a:spcPts val="600"/>
              </a:spcBef>
              <a:spcAft>
                <a:spcPts val="600"/>
              </a:spcAft>
              <a:buNone/>
            </a:pPr>
            <a:r>
              <a:rPr sz="1800" b="1">
                <a:solidFill>
                  <a:srgbClr val="000000"/>
                </a:solidFill>
                <a:latin typeface="맑은 고딕"/>
                <a:ea typeface="맑은 고딕"/>
              </a:rPr>
              <a:t>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고객으로서 출고 전 배송지를 변경하고 싶다. 올바른 장소에서 상품을 받고 싶기 때문이다.</a:t>
            </a:r>
          </a:p>
          <a:p>
            <a:pPr marL="342900" indent="0">
              <a:spcBef>
                <a:spcPts val="600"/>
              </a:spcBef>
              <a:spcAft>
                <a:spcPts val="600"/>
              </a:spcAft>
              <a:buNone/>
            </a:pPr>
            <a:r>
              <a:rPr sz="1800" b="1">
                <a:solidFill>
                  <a:srgbClr val="000000"/>
                </a:solidFill>
                <a:latin typeface="맑은 고딕"/>
                <a:ea typeface="맑은 고딕"/>
              </a:rPr>
              <a:t>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세부 내용은 </a:t>
            </a:r>
            <a:r>
              <a:rPr sz="1800" b="1">
                <a:solidFill>
                  <a:srgbClr val="000000"/>
                </a:solidFill>
                <a:latin typeface="맑은 고딕"/>
                <a:ea typeface="맑은 고딕"/>
              </a:rPr>
              <a:t>대화와 인수 조건</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반복적인 개발</a:t>
            </a:r>
            <a:r>
              <a:rPr sz="1800" b="0">
                <a:solidFill>
                  <a:srgbClr val="000000"/>
                </a:solidFill>
                <a:latin typeface="맑은 고딕"/>
                <a:ea typeface="맑은 고딕"/>
              </a:rPr>
              <a:t>과 </a:t>
            </a:r>
            <a:r>
              <a:rPr sz="1800" b="1">
                <a:solidFill>
                  <a:srgbClr val="000000"/>
                </a:solidFill>
                <a:latin typeface="맑은 고딕"/>
                <a:ea typeface="맑은 고딕"/>
              </a:rPr>
              <a:t>우선순위 관리</a:t>
            </a:r>
            <a:r>
              <a:rPr sz="1800" b="0">
                <a:solidFill>
                  <a:srgbClr val="000000"/>
                </a:solidFill>
                <a:latin typeface="맑은 고딕"/>
                <a:ea typeface="맑은 고딕"/>
              </a:rPr>
              <a:t>에 적합하다.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형식 문장 자체보다 </a:t>
            </a:r>
            <a:r>
              <a:rPr sz="1800" b="1">
                <a:solidFill>
                  <a:srgbClr val="000000"/>
                </a:solidFill>
                <a:latin typeface="맑은 고딕"/>
                <a:ea typeface="맑은 고딕"/>
              </a:rPr>
              <a:t>카드·대화·확인</a:t>
            </a:r>
            <a:r>
              <a:rPr sz="1800" b="0">
                <a:solidFill>
                  <a:srgbClr val="000000"/>
                </a:solidFill>
                <a:latin typeface="맑은 고딕"/>
                <a:ea typeface="맑은 고딕"/>
              </a:rPr>
              <a:t>이 중요하다.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4144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사용자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508421"/>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099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활동</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&lt;시작 조건&gt;</a:t>
            </a:r>
          </a:p>
          <a:p>
            <a:pPr marL="0" indent="0" algn="l">
              <a:lnSpc>
                <a:spcPts val="1150"/>
              </a:lnSpc>
              <a:spcBef>
                <a:spcPts val="0"/>
              </a:spcBef>
              <a:spcAft>
                <a:spcPts val="0"/>
              </a:spcAft>
              <a:buNone/>
            </a:pPr>
            <a:r>
              <a:rPr sz="1000" b="0">
                <a:solidFill>
                  <a:srgbClr val="000000"/>
                </a:solidFill>
                <a:latin typeface="Consolas"/>
                <a:ea typeface="맑은 고딕"/>
              </a:rPr>
              <a:t>When  &lt;행위&gt;</a:t>
            </a:r>
          </a:p>
          <a:p>
            <a:pPr marL="0" indent="0" algn="l">
              <a:lnSpc>
                <a:spcPts val="1150"/>
              </a:lnSpc>
              <a:spcBef>
                <a:spcPts val="0"/>
              </a:spcBef>
              <a:spcAft>
                <a:spcPts val="0"/>
              </a:spcAft>
              <a:buNone/>
            </a:pPr>
            <a:r>
              <a:rPr sz="1000" b="0">
                <a:solidFill>
                  <a:srgbClr val="000000"/>
                </a:solidFill>
                <a:latin typeface="Consolas"/>
                <a:ea typeface="맑은 고딕"/>
              </a:rPr>
              <a:t>Then  &lt;관찰 가능한 결과&gt;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Given-When-Then</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235608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311808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블록은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7733515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4144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41448"/>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8224"/>
            <a:ext cx="8412480" cy="274320"/>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3"/>
          <p:cNvPicPr>
            <a:picLocks noChangeAspect="1"/>
          </p:cNvPicPr>
          <p:nvPr/>
        </p:nvPicPr>
        <p:blipFill>
          <a:blip r:embed="mermaidImage3"/>
          <a:stretch>
            <a:fillRect/>
          </a:stretch>
        </p:blipFill>
        <p:spPr>
          <a:xfrm>
            <a:off x="2608612" y="4042544"/>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480"/>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4"/>
          <p:cNvPicPr>
            <a:picLocks noChangeAspect="1"/>
          </p:cNvPicPr>
          <p:nvPr/>
        </p:nvPicPr>
        <p:blipFill>
          <a:blip r:embed="mermaidImage4"/>
          <a:stretch>
            <a:fillRect/>
          </a:stretch>
        </p:blipFill>
        <p:spPr>
          <a:xfrm>
            <a:off x="1460500" y="448880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25322"/>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5"/>
          <p:cNvPicPr>
            <a:picLocks noChangeAspect="1"/>
          </p:cNvPicPr>
          <p:nvPr/>
        </p:nvPicPr>
        <p:blipFill>
          <a:blip r:embed="mermaidImage5"/>
          <a:stretch>
            <a:fillRect/>
          </a:stretch>
        </p:blipFill>
        <p:spPr>
          <a:xfrm>
            <a:off x="1460500" y="4599642"/>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7164"/>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6"/>
          <p:cNvPicPr>
            <a:picLocks noChangeAspect="1"/>
          </p:cNvPicPr>
          <p:nvPr/>
        </p:nvPicPr>
        <p:blipFill>
          <a:blip r:embed="mermaidImage6"/>
          <a:stretch>
            <a:fillRect/>
          </a:stretch>
        </p:blipFill>
        <p:spPr>
          <a:xfrm>
            <a:off x="1460500" y="375148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명세서를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1의 </a:t>
            </a:r>
            <a:r>
              <a:rPr sz="1400" b="1">
                <a:solidFill>
                  <a:srgbClr val="000000"/>
                </a:solidFill>
                <a:latin typeface="맑은 고딕"/>
                <a:ea typeface="맑은 고딕"/>
              </a:rPr>
              <a:t>요구사항 명세서</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여러분이 완성한 명세서를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"위 요구사항 명세서로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4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400" b="0">
                <a:solidFill>
                  <a:srgbClr val="000000"/>
                </a:solidFill>
                <a:latin typeface="맑은 고딕"/>
                <a:ea typeface="맑은 고딕"/>
              </a:rPr>
              <a:t>을 써줘. 업무 규칙과 특별 요구사항도 덧붙여줘. 명세서에 없는 규칙은 </a:t>
            </a:r>
            <a:r>
              <a:rPr sz="1400" b="1">
                <a:solidFill>
                  <a:srgbClr val="000000"/>
                </a:solidFill>
                <a:latin typeface="맑은 고딕"/>
                <a:ea typeface="맑은 고딕"/>
              </a:rPr>
              <a:t>반드시 확인</a:t>
            </a:r>
            <a:r>
              <a:rPr sz="1400" b="0">
                <a:solidFill>
                  <a:srgbClr val="000000"/>
                </a:solidFill>
                <a:latin typeface="맑은 고딕"/>
                <a:ea typeface="맑은 고딕"/>
              </a:rPr>
              <a:t>해라. 명세서에 쓴 용어로 </a:t>
            </a:r>
            <a:r>
              <a:rPr sz="14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4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요구 반영</a:t>
            </a:r>
            <a:r>
              <a:rPr sz="1400" b="0">
                <a:solidFill>
                  <a:srgbClr val="000000"/>
                </a:solidFill>
                <a:latin typeface="맑은 고딕"/>
                <a:ea typeface="맑은 고딕"/>
              </a:rPr>
              <a:t> —</a:t>
            </a:r>
            <a:r>
              <a:rPr sz="120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시스템 경계</a:t>
            </a:r>
            <a:r>
              <a:rPr sz="1400" b="0">
                <a:solidFill>
                  <a:srgbClr val="000000"/>
                </a:solidFill>
                <a:latin typeface="맑은 고딕"/>
                <a:ea typeface="맑은 고딕"/>
              </a:rPr>
              <a:t> —</a:t>
            </a:r>
            <a:r>
              <a:rPr sz="120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유스케이스 단위</a:t>
            </a:r>
            <a:r>
              <a:rPr sz="1400" b="0">
                <a:solidFill>
                  <a:srgbClr val="000000"/>
                </a:solidFill>
                <a:latin typeface="맑은 고딕"/>
                <a:ea typeface="맑은 고딕"/>
              </a:rPr>
              <a:t> —</a:t>
            </a:r>
            <a:r>
              <a:rPr sz="1200" b="0">
                <a:solidFill>
                  <a:srgbClr val="000000"/>
                </a:solidFill>
                <a:latin typeface="맑은 고딕"/>
                <a:ea typeface="맑은 고딕"/>
              </a:rPr>
              <a:t> 기능 조각</a:t>
            </a:r>
            <a:r>
              <a:rPr sz="1000" b="0">
                <a:solidFill>
                  <a:srgbClr val="000000"/>
                </a:solidFill>
                <a:latin typeface="맑은 고딕"/>
                <a:ea typeface="맑은 고딕"/>
              </a:rPr>
              <a:t>(로그인·결제하기)</a:t>
            </a:r>
            <a:r>
              <a:rPr sz="1200" b="0">
                <a:solidFill>
                  <a:srgbClr val="000000"/>
                </a:solidFill>
                <a:latin typeface="맑은 고딕"/>
                <a:ea typeface="맑은 고딕"/>
              </a:rPr>
              <a:t>이나 CRUD 분할</a:t>
            </a:r>
            <a:r>
              <a:rPr sz="1000" b="0">
                <a:solidFill>
                  <a:srgbClr val="000000"/>
                </a:solidFill>
                <a:latin typeface="맑은 고딕"/>
                <a:ea typeface="맑은 고딕"/>
              </a:rPr>
              <a:t>(신청 조회·수정·삭제)</a:t>
            </a:r>
            <a:r>
              <a:rPr sz="1200" b="0">
                <a:solidFill>
                  <a:srgbClr val="000000"/>
                </a:solidFill>
                <a:latin typeface="맑은 고딕"/>
                <a:ea typeface="맑은 고딕"/>
              </a:rPr>
              <a:t>이 아닌가?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흐름</a:t>
            </a:r>
            <a:r>
              <a:rPr sz="1400" b="0">
                <a:solidFill>
                  <a:srgbClr val="000000"/>
                </a:solidFill>
                <a:latin typeface="맑은 고딕"/>
                <a:ea typeface="맑은 고딕"/>
              </a:rPr>
              <a:t> —</a:t>
            </a:r>
            <a:r>
              <a:rPr sz="120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규칙</a:t>
            </a:r>
            <a:r>
              <a:rPr sz="1400" b="0">
                <a:solidFill>
                  <a:srgbClr val="000000"/>
                </a:solidFill>
                <a:latin typeface="맑은 고딕"/>
                <a:ea typeface="맑은 고딕"/>
              </a:rPr>
              <a:t> —</a:t>
            </a:r>
            <a:r>
              <a:rPr sz="120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용어</a:t>
            </a:r>
            <a:r>
              <a:rPr sz="1400" b="0">
                <a:solidFill>
                  <a:srgbClr val="000000"/>
                </a:solidFill>
                <a:latin typeface="맑은 고딕"/>
                <a:ea typeface="맑은 고딕"/>
              </a:rPr>
              <a:t> —</a:t>
            </a:r>
            <a:r>
              <a:rPr sz="1200" b="0">
                <a:solidFill>
                  <a:srgbClr val="000000"/>
                </a:solidFill>
                <a:latin typeface="맑은 고딕"/>
                <a:ea typeface="맑은 고딕"/>
              </a:rPr>
              <a:t> 구현 표현</a:t>
            </a:r>
            <a:r>
              <a:rPr sz="1000" b="0">
                <a:solidFill>
                  <a:srgbClr val="000000"/>
                </a:solidFill>
                <a:latin typeface="맑은 고딕"/>
                <a:ea typeface="맑은 고딕"/>
              </a:rPr>
              <a:t>(화면·DB)</a:t>
            </a:r>
            <a:r>
              <a:rPr sz="120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유스케이스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유스케이스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61. 용어집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- 83 -</a:t>
            </a:r>
          </a:p>
        </p:txBody>
      </p:sp>
    </p:spTree>
    <p:extLst>
      <p:ext uri="{BB962C8B-B14F-4D97-AF65-F5344CB8AC3E}">
        <p14:creationId xmlns:p14="http://schemas.microsoft.com/office/powerpoint/2010/main" val="27895694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시스템 시퀀스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2330862"/>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명세서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F7~F9.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업무·기술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 과정 끝까지 모든 모델·코드가 쓰는 이름의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(1/2) 유스케이스 다이어그램</vt:lpstr>
      <vt:lpstr>22. 대상 시스템과 경계 (2/2)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vt:lpstr>
      <vt:lpstr>47. 유스케이스와 품질속성</vt:lpstr>
      <vt:lpstr>48. 프로토타입·와이어프레임 (1/2)</vt:lpstr>
      <vt:lpstr>48. 프로토타입·와이어프레임 (2/2)</vt:lpstr>
      <vt:lpstr>49. 사용자 스토리</vt:lpstr>
      <vt:lpstr>50. 사용자 스토리의 강점과 한계</vt:lpstr>
      <vt:lpstr>51. 행위 주도 개발 (1/2)</vt:lpstr>
      <vt:lpstr>51. 행위 주도 개발 (2/2)</vt:lpstr>
      <vt:lpstr>52. 행위 주도 개발의 강점과 한계</vt:lpstr>
      <vt:lpstr>53. 유스케이스·사용자 스토리·BDD</vt:lpstr>
      <vt:lpstr>54. 요구사항 검증</vt:lpstr>
      <vt:lpstr>55. 요구사항 관리</vt:lpstr>
      <vt:lpstr>56. 요구사항 추적</vt:lpstr>
      <vt:lpstr>57. 요구사항에서 학습으로</vt:lpstr>
      <vt:lpstr>58. 실습 — 유스케이스</vt:lpstr>
      <vt:lpstr>59. 유스케이스 다이어그램 (안)</vt:lpstr>
      <vt:lpstr>60. 유스케이스 명세서 (안)</vt:lpstr>
      <vt:lpstr>61. 용어집 (안)</vt:lpstr>
      <vt:lpstr>62. 시스템 시퀀스 다이어그램 (안)</vt:lpstr>
      <vt:lpstr>63. 요구사항 명세서 보완 (안)</vt:lpstr>
      <vt:lpstr>64.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