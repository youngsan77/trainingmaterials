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"02. 요구 분석과 유스케이스"에서 정했다. 이 세션은 주문 시스템 안의 경계를 다룬다. 클래스 수준의 책임 배치는 "06. 분석 모델에서 설계 모델로"·"07.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 — 요구("02. 요구 분석과 유스케이스")의 시스템 이벤트·오퍼레이션 계약·외부 시스템, 정적 모델("03. 정적 모델 — 도메인 개념과 관계")의 개념·연관·분석 패키지, 동적 모델("04. 동적 모델 — 상호작용과 상태")의 상호작용·상태의 소유·요청과 통보.</a:t>
            </a:r>
          </a:p>
          <a:p>
            <a:pPr lvl="0"/>
            <a:r>
              <a:rPr lang="ko-KR" sz="1200"/>
              <a:t>"04. 동적 모델 — 상호작용과 상태"는 주문 시스템이 외부에 보내는 요청과 받는 통보를 남겼다. 이 세션은 그 질문(주문 시스템이 배송 시스템을 아는가, 통보를 받는가?)에 답한다.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"03. 정적 모델 — 도메인 개념과 관계"의 「48. 도메인 모델 — 패키지별」을 경계를 넘는 연관만 남겨 줄인 것이다(장바구니 항목·환불은 생략). 분석 패키지의 기준(주제 영역·클래스 계층·유스케이스·강한 연관)은 "03. 정적 모델 — 도메인 개념과 관계"의 「47. 패키지 기준」에서 다뤘다.</a:t>
            </a:r>
          </a:p>
          <a:p>
            <a:pPr lvl="0"/>
            <a:r>
              <a:rPr lang="ko-KR" sz="1200"/>
              <a:t>분석 패키지를 구조 패키지로 그대로 쓸 수 있는지는 설계의 기준으로 다시 확인한다(「08. 패키지 기준」).</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a:p>
            <a:pPr lvl="0"/>
            <a:r>
              <a:rPr lang="ko-KR" sz="1200"/>
              <a:t>"01. OOAD 개요"의 「21. 책임과 경계」에서 경계를 "함께 변경되어야 할 상태와 행위의 묶음"으로 미리 보였다. 이 세션은 그것을 주문 시스템에 적용한다.</a:t>
            </a:r>
          </a:p>
          <a:p>
            <a:pPr lvl="0"/>
            <a:r>
              <a:rPr lang="ko-KR" sz="1200"/>
              <a:t>이 세션의 경계는 주문 시스템 안의 구조다. 여러 시스템으로 나누는 판단(서비스 경계)은 "13. OOAD에서 전문영역으로 — Architecture · DDD · MSA"에서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Unified Modeling Language 2.5.1(2017-12), §7.7 Dependencies 원문 확인.</a:t>
            </a:r>
          </a:p>
          <a:p>
            <a:pPr lvl="0"/>
            <a:r>
              <a:rPr lang="ko-KR" sz="1200"/>
              <a:t>의존 방향을 정하는 일은 곧 변경이 어디로 번질지를 정하는 일이다. 이 세션의 판단은 모두 이 한 문장에서 나온다.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용어, 한 이름 — 용어집에 없는 업무 용어는 코드에서 먼저 만들지 않고 용어집에 먼저 더한다. 다른 예: 주문 상태 OrderStatus(값 PENDING_PAYMENT ~ CANCELLED), 출고 중단을 요청한다 requestDispatchStop.</a:t>
            </a:r>
          </a:p>
          <a:p>
            <a:pPr lvl="0"/>
            <a:r>
              <a:rPr lang="ko-KR" sz="1200"/>
              <a:t>용어집과 영문명은 "02. 요구 분석과 유스케이스"의 「18. 용어집」에서 정의하고 "03. 정적 모델 — 도메인 개념과 관계"의 「42. 용어집 정제」에서 정제했다. 전체 목록과 명명 규칙은 과정 설계의 "영한 용어집과 명명 규칙"이 원천이다.</a:t>
            </a:r>
          </a:p>
          <a:p>
            <a:pPr lvl="0"/>
            <a:r>
              <a:rPr lang="ko-KR" sz="1200"/>
              <a:t>앞 세션들의 예시 코드는 분석 모델을 옮긴 것이라 한글 식별자였다. 이 세션부터의 설계 코드는 개발 도구·라이브러리·협업의 관례를 따라 영문으로 쓴다. 뜻은 용어집이 잇는다 — OrderStatus.CANCELLING은 "취소 처리 중"이다.</a:t>
            </a:r>
          </a:p>
          <a:p>
            <a:pPr lvl="0"/>
            <a:r>
              <a:rPr lang="ko-KR" sz="1200"/>
              <a:t>개발자마다 다른 영어로 옮기면 한 용어가 여러 이름이 된다(예: 주문 항목을 OrderLine·OrderItem·OrderDetail로). 용어집의 영문명이 이를 막는다.</a:t>
            </a:r>
          </a:p>
          <a:p>
            <a:pPr lvl="0"/>
            <a:r>
              <a:rPr lang="ko-KR" sz="1200"/>
              <a:t>이 세션의 「03. 클래스에서 패키지로」와 「09. 업무 패키지」은 분석 모델을 다시 보는 도식이라 한글이다.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 §12 Packages, §7.7 Dependencies, §10.4 Interfaces.</a:t>
            </a:r>
          </a:p>
          <a:p>
            <a:pPr lvl="0"/>
            <a:r>
              <a:rPr lang="ko-KR" sz="1200"/>
              <a:t>"03. 정적 모델 — 도메인 개념과 관계"의 「46. 개념의 묶음 — 패키지」는 개념의 묶음까지 다뤘다. 이 세션은 의존 화살표와 인터페이스를 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Parnas, "On the Criteria To Be Used in Decomposing Systems into Modules", *Communications of the ACM*(1972) 원문은 확인하지 못했다(www). 재인용처: Adrian Colyer, *the morning paper*(2016-09-05)의 해설에서 문장을 확인했다. Parnas는 각 모듈이 그런 결정 하나를 다른 모듈에 감추도록 설계하라고 이어 말한다.</a:t>
            </a:r>
          </a:p>
          <a:p>
            <a:pPr lvl="0"/>
            <a:r>
              <a:rPr lang="ko-KR" sz="1200"/>
              <a:t>CCP·CRP 인용 근거: Robert C. Martin, "Design Principles and Design Patterns"(2000), The Common Closure Principle·The Common Reuse Principle 원문 확인.</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모델은 "03. 정적 모델 — 도메인 개념과 관계"의 것이다. 환불 규칙은 환불 ≤ 결제 금액, 출고 준비 중·출고됨은 배송 시스템의 상태라 주문 시스템 밖이다.</a:t>
            </a:r>
          </a:p>
          <a:p>
            <a:pPr lvl="0"/>
            <a:r>
              <a:rPr lang="ko-KR" sz="1200"/>
              <a:t>근거: "03. 정적 모델 — 도메인 개념과 관계"의 「45. 도메인 모델 — 상세화」·「48. 도메인 모델 — 패키지별」, "04. 동적 모델 — 상호작용과 상태"의 「33. 주문 상태 기계」.</a:t>
            </a:r>
          </a:p>
          <a:p>
            <a:pPr lvl="0"/>
            <a:r>
              <a:rPr lang="ko-KR" sz="1200"/>
              <a:t>결과가 분석 패키지와 같은 것은 우연이 아니다. "03. 정적 모델 — 도메인 개념과 관계"가 업무 의미로 묶었기 때문이다. 기술 계층으로 묶었다면 결과가 달랐을 것이다.</a:t>
            </a:r>
          </a:p>
          <a:p>
            <a:pPr lvl="0"/>
            <a:r>
              <a:rPr lang="ko-KR" sz="1200"/>
              <a:t>외부 시스템마다 둘 연동 넷은 「10. 요청과 통보」에서 더한다.</a:t>
            </a:r>
          </a:p>
          <a:p>
            <a:pPr lvl="0"/>
            <a:r>
              <a:rPr lang="ko-KR" sz="1200"/>
              <a:t>업무 경계의 이름은 분석 패키지와 같다. 이름을 바꾸면 모델이 바뀐 것이다. 분석 모델을 다시 보는 도식이라 한글로 그렸다.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외부마다 연동 경계를 따로 둬 통제할 수 없는 변경을 가둔다.</a:t>
            </a:r>
          </a:p>
          <a:p>
            <a:pPr lvl="0"/>
            <a:r>
              <a:rPr lang="ko-KR" sz="1200"/>
              <a:t>외부 시스템 목록과 동기·비동기는 과정의 공통 전제와 같다("02. 요구 분석과 유스케이스"의 「43. 정제된 SSD」). 동기·비동기의 기준은 반환값이 아니라 완료를 기다리는가다("04. 동적 모델 — 상호작용과 상태"의 「51. 동적 모델에서 코드로」).</a:t>
            </a:r>
          </a:p>
          <a:p>
            <a:pPr lvl="0"/>
            <a:r>
              <a:rPr lang="ko-KR" sz="1200"/>
              <a:t>외부 코드(STOP·IN_TRANSIT)는 연동 안에서만 쓰이고, PICKING 같은 배송 시스템 내부 상태는 주문으로 바꾸지 않는다. 상태 코드는 교육용 가정이다. 실제 형식은 외부 시스템의 계약으로 확인한다. DeliverySystemApi는 외부 배송 시스템의 형식을 나타낸다.</a:t>
            </a:r>
          </a:p>
          <a:p>
            <a:pPr lvl="0"/>
            <a:r>
              <a:rPr lang="ko-KR" sz="1200"/>
              <a:t>도식은 무엇이 오가는지만 본다. 누가 누구를 아는가 — 인터페이스를 어느 패키지에 두는가 — 는 「13. 순환 의존」에서 정한다.</a:t>
            </a:r>
          </a:p>
          <a:p>
            <a:pPr lvl="0"/>
            <a:r>
              <a:rPr lang="ko-KR" sz="1200"/>
              <a:t>연동 경계는 외부 시스템마다 하나다: 결제 연동, 상품 연동, 배송 연동, 회계 연동.</a:t>
            </a:r>
          </a:p>
          <a:p>
            <a:pPr lvl="0"/>
            <a:r>
              <a:rPr lang="ko-KR" sz="1200"/>
              <a:t>상품 시스템의 판매가도 주문 시점에 주문 항목의 단가로 옮겨 확정한다("03. 정적 모델 — 도메인 개념과 관계"의 현재 값과 확정 값).</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읽기의 예 — delivery ..&gt; deliveryadapter는 배송 연동이 바뀌면 배송이 바뀔 수 있다는 뜻이다.</a:t>
            </a:r>
          </a:p>
          <a:p>
            <a:pPr lvl="0"/>
            <a:r>
              <a:rPr lang="ko-KR" sz="1200"/>
              <a:t>화살표를 셀 때는 변경이 어디서 시작될 가능성이 큰가를 함께 본다. 외부 시스템은 우리가 통제하지 못하는 변경의 출발점이다.</a:t>
            </a:r>
          </a:p>
          <a:p>
            <a:pPr lvl="0"/>
            <a:r>
              <a:rPr lang="ko-KR" sz="1200"/>
              <a:t>초안의 문제를 먼저 보이고 「13. 순환 의존」·「14. 주문 시스템 패키지 — 상세화」에서 고친다.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Principle·The Dependency Inversion Principle 원문 확인. "betwen"은 원문의 표기다.</a:t>
            </a:r>
          </a:p>
          <a:p>
            <a:pPr lvl="0"/>
            <a:r>
              <a:rPr lang="ko-KR" sz="1200"/>
              <a:t>설계 요소(배송 연동)를 포함한 구조 설계의 확인용 도식이라 용어집의 영문명으로 그렸다.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초안의 delivery → deliveryadapter 의존이 반대로 바뀌었다. 결제도 같다 — 초안과 나란히 보여 준다.</a:t>
            </a:r>
          </a:p>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인터페이스를, 결제가 회계 시스템 인터페이스를 갖고 각 연동이 실현한다.</a:t>
            </a:r>
          </a:p>
          <a:p>
            <a:pPr lvl="0"/>
            <a:r>
              <a:rPr lang="ko-KR" sz="1200"/>
              <a:t>이 구조에 이름을 붙이는 일(아키텍처 스타일)은 "13. OOAD에서 전문영역으로 — Architecture · DDD · MSA"에서 한다. 여기서는 판단의 근거만 본다.</a:t>
            </a:r>
          </a:p>
          <a:p>
            <a:pPr lvl="0"/>
            <a:r>
              <a:rPr lang="ko-KR" sz="1200"/>
              <a:t>경계별 소유·인터페이스·의존 — 주문(주문 상태·취소 규칙, onPaid·cancel·통보 수신, 결제·배송에 의존), 결제(결제·환불 기록, requestRefund), 배송(배송 기록, requestDispatchStop), 결제·배송 연동(외부 형식, 인터페이스 구현, 업무 경계에 의존).</a:t>
            </a:r>
          </a:p>
          <a:p>
            <a:pPr lvl="0"/>
            <a:r>
              <a:rPr lang="ko-KR" sz="1200"/>
              <a:t>인터페이스는 오퍼레이션 이름 수준이다. 매개변수와 계약의 정제는 "07. 책임·협력·계약"에서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Release Reuse Equivalency Principle 원문 확인. 뒤의 책 *Clean Architecture*(2017)에서는 컴포넌트 원칙이라 부른다.</a:t>
            </a:r>
          </a:p>
          <a:p>
            <a:pPr lvl="0"/>
            <a:r>
              <a:rPr lang="ko-KR" sz="1200"/>
              <a:t>SOLID가 클래스(벽돌)를 배치하는 원칙이라면, 패키지 원칙은 컴포넌트(방)를 배치하는 원칙이다. CCP는 SRP를, CRP는 ISP를 컴포넌트 수준으로 옮긴 것이다(Robert C. Martin, *Clean Architecture*, 2017의 요지 — 재인용처: Yannick Grenzinger, "Summary of 'Clean Architecture'"). SOLID는 "07. 책임·협력·계약"·"08. 변화 대응과 변이 설계"에서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Robert C. Martin, *Clean Architecture*(2017) 14장의 문장이다. 원서는 확인하지 못했다(www). 재인용처: GitHub "thzt/book-excerpt"의 *Clean Architecture* 발췌에서 문장을 확인했다. 국역본은 송준이 옮김, 인사이트, 2019다.</a:t>
            </a:r>
          </a:p>
          <a:p>
            <a:pPr lvl="0"/>
            <a:r>
              <a:rPr lang="ko-KR" sz="1200"/>
              <a:t>같은 장은 패키지 의존 그림이 기능이 아니라 빌드와 유지보수의 지도라고 설명한다(재인용처: Yannick Grenzinger의 요약).</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이 세션은 패키지 수준에 적용한다. 객체 수준의 결합·응집은 "07. 책임·협력·계약"에서 다룬다.</a:t>
            </a:r>
          </a:p>
          <a:p>
            <a:pPr lvl="0"/>
            <a:r>
              <a:rPr lang="ko-KR" sz="1200"/>
              <a:t>결제 전 취소는 "04. 동적 모델 — 상호작용과 상태"의 「35. 가드와 금지된 전이」에서 미정으로 남긴 요구다. 정해지면 주문 경계 안에서 끝난다.</a:t>
            </a:r>
          </a:p>
          <a:p>
            <a:pPr lvl="0"/>
            <a:r>
              <a:rPr lang="ko-KR" sz="1200"/>
              <a:t>상세화에서도 연동은 주문에 기댄다. 자주 바뀌는 쪽이 덜 바뀌는 쪽에 기대는 것이 방향의 핵심이다.</a:t>
            </a:r>
          </a:p>
          <a:p>
            <a:pPr lvl="0"/>
            <a:r>
              <a:rPr lang="ko-KR" sz="1200"/>
              <a:t>시나리오는 교육용 예다. 실제 검토는 바뀔 가능성이 큰 것부터 고른다(「08. 패키지 기준」).</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"06. 분석 모델에서 설계 모델로"·"07. 책임·협력·계약"에서 클래스와 책임을 정할 때의 입력이다.</a:t>
            </a:r>
          </a:p>
          <a:p>
            <a:pPr lvl="0"/>
            <a:r>
              <a:rPr lang="ko-KR" sz="1200"/>
              <a:t>제약은 적을수록 좋다. 지키지 않으면 변경이 번지는 것만 적는다.</a:t>
            </a:r>
          </a:p>
          <a:p>
            <a:pPr lvl="0"/>
            <a:r>
              <a:rPr lang="ko-KR" sz="1200"/>
              <a:t>말로만 두면 코드가 자라며 어긋난다. 인터페이스의 위치, 상태 코드 문자열, 상태를 바꾸는 메서드의 위치는 리뷰로 확인한다. 실제 프로젝트에서는 빌드 도구의 모듈 경계나 아키텍처 검사 도구를 쓸 수 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구조는 LLM이 패키지를 나눌 때 흔히 내놓는 답이다(실습의 점검 항목 1).</a:t>
            </a:r>
          </a:p>
          <a:p>
            <a:pPr lvl="0"/>
            <a:r>
              <a:rPr lang="ko-KR" sz="1200"/>
              <a:t>경계 안의 구성 방식은 "13. OOAD에서 전문영역으로 — Architecture · DDD · MSA"의 포트와 어댑터로 이어진다.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공용 패키지에는 서로 다른 이유로 바뀌는 것이 모인다. 여러 경계가 같은 값을 쓰면 그 값을 소유한 경계에 의존한다. 정말 업무 의미가 없는 기술 도구(날짜 계산 등)만 공용으로 둔다.</a:t>
            </a:r>
          </a:p>
          <a:p>
            <a:pPr lvl="0"/>
            <a:r>
              <a:rPr lang="ko-KR" sz="1200"/>
              <a:t>예제 코드에서 Money(금액)는 payment 패키지에 있다(code/s05/payment/Money.java).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결제도 같다. 결제 대행 응답 객체를 주문이 필드로 들지 않고 결제 경계의 기록으로 변환한다.</a:t>
            </a:r>
          </a:p>
          <a:p>
            <a:pPr lvl="0"/>
            <a:r>
              <a:rPr lang="ko-KR" sz="1200"/>
              <a:t>"04. 동적 모델 — 상호작용과 상태"에서 출고 준비 중·출고됨을 주문 상태에 넣지 않은 것과 같은 판단이다.</a:t>
            </a:r>
          </a:p>
          <a:p>
            <a:pPr lvl="0"/>
            <a:r>
              <a:rPr lang="ko-KR" sz="1200"/>
              <a:t>도식의 OrderStatus는 비교에 필요한 값만 보였다(나머지 값 생략).</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"04. 동적 모델 — 상호작용과 상태"의 분석 코드 배송시스템·출고중단을요청한다가 용어집의 영문명 DeliveryGateway·requestDispatchStop이 되었다. 이 세션에서는 그 인터페이스가 delivery 패키지에 놓인다.</a:t>
            </a:r>
          </a:p>
          <a:p>
            <a:pPr lvl="0"/>
            <a:r>
              <a:rPr lang="ko-KR" sz="1200"/>
              <a:t>코드가 보장하는 것은 import의 방향뿐이다. 클래스의 책임과 협력은 "07. 책임·협력·계약"에서 정한다.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구현으로 취소하면 요청은 어떤 순서로 기록되는가?</a:t>
            </a:r>
          </a:p>
          <a:p>
            <a:pPr lvl="0"/>
            <a:r>
              <a:rPr lang="ko-KR" sz="1200"/>
              <a:t>요청의 순서(출고 중단 → 환불)는 "04. 동적 모델 — 상호작용과 상태"의 테스트와 같다. 경계를 나누고 이름을 영문으로 바꿔도 업무의 의미는 그대로다 — CANCELLING은 용어집의 "취소 처리 중"이다.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테스트(code/s05/test/BoundaryTest.java) — PICKING을 받아도 주문은 결제 완료(PAID) 그대로이고, IN_TRANSIT을 받으면 배송 중(IN_DELIVERY)이 된다.</a:t>
            </a:r>
          </a:p>
          <a:p>
            <a:pPr lvl="0"/>
            <a:r>
              <a:rPr lang="ko-KR" sz="1200"/>
              <a:t>상태 코드는 「10. 요청과 통보」의 교육용 가정이다. 배송 시작을 IN_TRANSIT으로 둔 것은 용어집의 출고(dispatch)와 섞지 않기 위해서다.</a:t>
            </a:r>
          </a:p>
          <a:p>
            <a:pPr lvl="0"/>
            <a:r>
              <a:rPr lang="ko-KR" sz="1200"/>
              <a:t>통보를 받는 방식(메시지 큐·웹훅 등)은 생략했다. 전달 기술은 "10. 기술 제약과 도메인 의미 보존"에서 다룬다.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a:p>
            <a:pPr lvl="0"/>
            <a:r>
              <a:rPr lang="ko-KR" sz="1200"/>
              <a:t>영문으로 그리게 하면 LLM은 용어집과 다른 영어를 지어내기 쉽다(예: 정기배송을 RegularDelivery, 해지를 cancel로). 용어집의 영문명을 투입물로 함께 준다.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의존은 클래스 사이의 연관·생성에서 나온다 — 장바구니가 정기배송을 만들고(고객 → 정기배송), 정기배송이 고객을 참조한다(정기배송 → 고객).</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옮긴 근거 — 장바구니는 정기배송 신청과 함께 쓰이고 함께 바뀐다. 고객은 정기배송을 모르므로 의존은 정기배송 → 고객 한 방향이다.</a:t>
            </a:r>
          </a:p>
          <a:p>
            <a:pPr lvl="0"/>
            <a:r>
              <a:rPr lang="ko-KR" sz="1200"/>
              <a:t>연동은 업무 패키지의 인터페이스를 실현한다(의존 역전). 결제 시스템의 형식은 결제 연동 밖으로 나가지 않는다.</a:t>
            </a:r>
          </a:p>
          <a:p>
            <a:pPr lvl="0"/>
            <a:r>
              <a:rPr lang="ko-KR" sz="1200"/>
              <a:t>장바구니 항목·정기배송 항목은 소속만 같아 생략했다.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순환 의존은 대개 연관 방향을 정하지 않은 데서 온다. 패키지를 나누면 연관 방향을 결정해야 한다.</a:t>
            </a:r>
          </a:p>
          <a:p>
            <a:pPr lvl="0"/>
            <a:r>
              <a:rPr lang="ko-KR" sz="1200"/>
              <a:t>고객의 정기배송 목록이 필요하면 정기배송 쪽의 조회로 푼다 — 객체 설계에서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구조적 제약(「18. 구조적 제약」)은 다음 세션에서 분석 개념을 설계 클래스로 옮길 때의 경계가 된다.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클래스에서 패키지로</a:t>
            </a:r>
          </a:p>
          <a:p>
            <a:pPr lvl="1" marL="355600" indent="0">
              <a:spcBef>
                <a:spcPts val="300"/>
              </a:spcBef>
              <a:spcAft>
                <a:spcPts val="300"/>
              </a:spcAft>
              <a:buNone/>
            </a:pPr>
            <a:r>
              <a:rPr sz="1600" b="0">
                <a:solidFill>
                  <a:srgbClr val="000000"/>
                </a:solidFill>
                <a:latin typeface="맑은 고딕"/>
                <a:ea typeface="맑은 고딕"/>
              </a:rPr>
              <a:t>04. 구조적 경계</a:t>
            </a:r>
          </a:p>
          <a:p>
            <a:pPr lvl="1" marL="355600" indent="0">
              <a:spcBef>
                <a:spcPts val="300"/>
              </a:spcBef>
              <a:spcAft>
                <a:spcPts val="300"/>
              </a:spcAft>
              <a:buNone/>
            </a:pPr>
            <a:r>
              <a:rPr sz="1600" b="0">
                <a:solidFill>
                  <a:srgbClr val="000000"/>
                </a:solidFill>
                <a:latin typeface="맑은 고딕"/>
                <a:ea typeface="맑은 고딕"/>
              </a:rPr>
              <a:t>05. 의존성</a:t>
            </a:r>
          </a:p>
          <a:p>
            <a:pPr lvl="1" marL="355600" indent="0">
              <a:spcBef>
                <a:spcPts val="300"/>
              </a:spcBef>
              <a:spcAft>
                <a:spcPts val="300"/>
              </a:spcAft>
              <a:buNone/>
            </a:pPr>
            <a:r>
              <a:rPr sz="1600" b="0">
                <a:solidFill>
                  <a:srgbClr val="000000"/>
                </a:solidFill>
                <a:latin typeface="맑은 고딕"/>
                <a:ea typeface="맑은 고딕"/>
              </a:rPr>
              <a:t>06. 설계의 이름</a:t>
            </a:r>
          </a:p>
          <a:p>
            <a:pPr lvl="1" marL="355600" indent="0">
              <a:spcBef>
                <a:spcPts val="300"/>
              </a:spcBef>
              <a:spcAft>
                <a:spcPts val="300"/>
              </a:spcAft>
              <a:buNone/>
            </a:pPr>
            <a:r>
              <a:rPr sz="1600" b="0">
                <a:solidFill>
                  <a:srgbClr val="000000"/>
                </a:solidFill>
                <a:latin typeface="맑은 고딕"/>
                <a:ea typeface="맑은 고딕"/>
              </a:rPr>
              <a:t>07. 패키지 다이어그램</a:t>
            </a:r>
          </a:p>
          <a:p>
            <a:pPr lvl="1" marL="355600" indent="0">
              <a:spcBef>
                <a:spcPts val="300"/>
              </a:spcBef>
              <a:spcAft>
                <a:spcPts val="300"/>
              </a:spcAft>
              <a:buNone/>
            </a:pPr>
            <a:r>
              <a:rPr sz="1600" b="0">
                <a:solidFill>
                  <a:srgbClr val="000000"/>
                </a:solidFill>
                <a:latin typeface="맑은 고딕"/>
                <a:ea typeface="맑은 고딕"/>
              </a:rPr>
              <a:t>08. 패키지 기준</a:t>
            </a:r>
          </a:p>
          <a:p>
            <a:pPr lvl="1" marL="355600" indent="0">
              <a:spcBef>
                <a:spcPts val="300"/>
              </a:spcBef>
              <a:spcAft>
                <a:spcPts val="300"/>
              </a:spcAft>
              <a:buNone/>
            </a:pPr>
            <a:r>
              <a:rPr sz="1600" b="0">
                <a:solidFill>
                  <a:srgbClr val="000000"/>
                </a:solidFill>
                <a:latin typeface="맑은 고딕"/>
                <a:ea typeface="맑은 고딕"/>
              </a:rPr>
              <a:t>09. 업무 패키지</a:t>
            </a:r>
          </a:p>
          <a:p>
            <a:pPr lvl="1" marL="355600" indent="0">
              <a:spcBef>
                <a:spcPts val="300"/>
              </a:spcBef>
              <a:spcAft>
                <a:spcPts val="300"/>
              </a:spcAft>
              <a:buNone/>
            </a:pPr>
            <a:r>
              <a:rPr sz="1600" b="0">
                <a:solidFill>
                  <a:srgbClr val="000000"/>
                </a:solidFill>
                <a:latin typeface="맑은 고딕"/>
                <a:ea typeface="맑은 고딕"/>
              </a:rPr>
              <a:t>10. 요청과 통보</a:t>
            </a:r>
          </a:p>
          <a:p>
            <a:pPr lvl="1" marL="355600" indent="0">
              <a:spcBef>
                <a:spcPts val="300"/>
              </a:spcBef>
              <a:spcAft>
                <a:spcPts val="300"/>
              </a:spcAft>
              <a:buNone/>
            </a:pPr>
            <a:r>
              <a:rPr sz="1600" b="0">
                <a:solidFill>
                  <a:srgbClr val="000000"/>
                </a:solidFill>
                <a:latin typeface="맑은 고딕"/>
                <a:ea typeface="맑은 고딕"/>
              </a:rPr>
              <a:t>11. 주문 시스템 패키지 —</a:t>
            </a:r>
            <a:r>
              <a:rPr sz="1400" b="0">
                <a:solidFill>
                  <a:srgbClr val="000000"/>
                </a:solidFill>
                <a:latin typeface="맑은 고딕"/>
                <a:ea typeface="맑은 고딕"/>
              </a:rPr>
              <a:t> 초안</a:t>
            </a:r>
          </a:p>
          <a:p>
            <a:pPr lvl="1" marL="355600" indent="0">
              <a:spcBef>
                <a:spcPts val="300"/>
              </a:spcBef>
              <a:spcAft>
                <a:spcPts val="300"/>
              </a:spcAft>
              <a:buNone/>
            </a:pPr>
            <a:r>
              <a:rPr sz="1600" b="0">
                <a:solidFill>
                  <a:srgbClr val="000000"/>
                </a:solidFill>
                <a:latin typeface="맑은 고딕"/>
                <a:ea typeface="맑은 고딕"/>
              </a:rPr>
              <a:t>12. 의존 방향</a:t>
            </a:r>
          </a:p>
          <a:p>
            <a:pPr lvl="1" marL="355600" indent="0">
              <a:spcBef>
                <a:spcPts val="300"/>
              </a:spcBef>
              <a:spcAft>
                <a:spcPts val="300"/>
              </a:spcAft>
              <a:buNone/>
            </a:pPr>
            <a:r>
              <a:rPr sz="1600" b="0">
                <a:solidFill>
                  <a:srgbClr val="000000"/>
                </a:solidFill>
                <a:latin typeface="맑은 고딕"/>
                <a:ea typeface="맑은 고딕"/>
              </a:rPr>
              <a:t>13. 순환 의존</a:t>
            </a:r>
          </a:p>
          <a:p>
            <a:pPr lvl="1" marL="355600" indent="0">
              <a:spcBef>
                <a:spcPts val="300"/>
              </a:spcBef>
              <a:spcAft>
                <a:spcPts val="300"/>
              </a:spcAft>
              <a:buNone/>
            </a:pPr>
            <a:r>
              <a:rPr sz="1600" b="0">
                <a:solidFill>
                  <a:srgbClr val="000000"/>
                </a:solidFill>
                <a:latin typeface="맑은 고딕"/>
                <a:ea typeface="맑은 고딕"/>
              </a:rPr>
              <a:t>14. 주문 시스템 패키지 —</a:t>
            </a:r>
            <a:r>
              <a:rPr sz="1400" b="0">
                <a:solidFill>
                  <a:srgbClr val="000000"/>
                </a:solidFill>
                <a:latin typeface="맑은 고딕"/>
                <a:ea typeface="맑은 고딕"/>
              </a:rPr>
              <a:t> 상세화</a:t>
            </a:r>
          </a:p>
          <a:p>
            <a:pPr lvl="1" marL="355600" indent="0">
              <a:spcBef>
                <a:spcPts val="300"/>
              </a:spcBef>
              <a:spcAft>
                <a:spcPts val="300"/>
              </a:spcAft>
              <a:buNone/>
            </a:pPr>
            <a:r>
              <a:rPr sz="1600" b="0">
                <a:solidFill>
                  <a:srgbClr val="000000"/>
                </a:solidFill>
                <a:latin typeface="맑은 고딕"/>
                <a:ea typeface="맑은 고딕"/>
              </a:rPr>
              <a:t>15. 패키지 원칙</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구조의 진화</a:t>
            </a:r>
          </a:p>
          <a:p>
            <a:pPr lvl="1" marL="355600" indent="0">
              <a:spcBef>
                <a:spcPts val="300"/>
              </a:spcBef>
              <a:spcAft>
                <a:spcPts val="300"/>
              </a:spcAft>
              <a:buNone/>
            </a:pPr>
            <a:r>
              <a:rPr sz="1600" b="0">
                <a:solidFill>
                  <a:srgbClr val="000000"/>
                </a:solidFill>
                <a:latin typeface="맑은 고딕"/>
                <a:ea typeface="맑은 고딕"/>
              </a:rPr>
              <a:t>17. 변경 파급</a:t>
            </a:r>
          </a:p>
          <a:p>
            <a:pPr lvl="1" marL="355600" indent="0">
              <a:spcBef>
                <a:spcPts val="300"/>
              </a:spcBef>
              <a:spcAft>
                <a:spcPts val="300"/>
              </a:spcAft>
              <a:buNone/>
            </a:pPr>
            <a:r>
              <a:rPr sz="1600" b="0">
                <a:solidFill>
                  <a:srgbClr val="000000"/>
                </a:solidFill>
                <a:latin typeface="맑은 고딕"/>
                <a:ea typeface="맑은 고딕"/>
              </a:rPr>
              <a:t>18. 구조적 제약</a:t>
            </a:r>
          </a:p>
          <a:p>
            <a:pPr lvl="1" marL="355600" indent="0">
              <a:spcBef>
                <a:spcPts val="300"/>
              </a:spcBef>
              <a:spcAft>
                <a:spcPts val="300"/>
              </a:spcAft>
              <a:buNone/>
            </a:pPr>
            <a:r>
              <a:rPr sz="1600" b="0">
                <a:solidFill>
                  <a:srgbClr val="000000"/>
                </a:solidFill>
                <a:latin typeface="맑은 고딕"/>
                <a:ea typeface="맑은 고딕"/>
              </a:rPr>
              <a:t>19. 잘못된 관행 —</a:t>
            </a:r>
            <a:r>
              <a:rPr sz="1400" b="0">
                <a:solidFill>
                  <a:srgbClr val="000000"/>
                </a:solidFill>
                <a:latin typeface="맑은 고딕"/>
                <a:ea typeface="맑은 고딕"/>
              </a:rPr>
              <a:t> 기술 계층 분할</a:t>
            </a:r>
          </a:p>
          <a:p>
            <a:pPr lvl="1" marL="355600" indent="0">
              <a:spcBef>
                <a:spcPts val="300"/>
              </a:spcBef>
              <a:spcAft>
                <a:spcPts val="300"/>
              </a:spcAft>
              <a:buNone/>
            </a:pPr>
            <a:r>
              <a:rPr sz="1600" b="0">
                <a:solidFill>
                  <a:srgbClr val="000000"/>
                </a:solidFill>
                <a:latin typeface="맑은 고딕"/>
                <a:ea typeface="맑은 고딕"/>
              </a:rPr>
              <a:t>20. 잘못된 관행 —</a:t>
            </a:r>
            <a:r>
              <a:rPr sz="1400" b="0">
                <a:solidFill>
                  <a:srgbClr val="000000"/>
                </a:solidFill>
                <a:latin typeface="맑은 고딕"/>
                <a:ea typeface="맑은 고딕"/>
              </a:rPr>
              <a:t> 공용 패키지</a:t>
            </a:r>
          </a:p>
          <a:p>
            <a:pPr lvl="1" marL="355600" indent="0">
              <a:spcBef>
                <a:spcPts val="300"/>
              </a:spcBef>
              <a:spcAft>
                <a:spcPts val="300"/>
              </a:spcAft>
              <a:buNone/>
            </a:pPr>
            <a:r>
              <a:rPr sz="1600" b="0">
                <a:solidFill>
                  <a:srgbClr val="000000"/>
                </a:solidFill>
                <a:latin typeface="맑은 고딕"/>
                <a:ea typeface="맑은 고딕"/>
              </a:rPr>
              <a:t>21. 잘못된 관행 —</a:t>
            </a:r>
            <a:r>
              <a:rPr sz="1400" b="0">
                <a:solidFill>
                  <a:srgbClr val="000000"/>
                </a:solidFill>
                <a:latin typeface="맑은 고딕"/>
                <a:ea typeface="맑은 고딕"/>
              </a:rPr>
              <a:t> 외부 모델 누수</a:t>
            </a:r>
          </a:p>
          <a:p>
            <a:pPr lvl="1" marL="355600" indent="0">
              <a:spcBef>
                <a:spcPts val="300"/>
              </a:spcBef>
              <a:spcAft>
                <a:spcPts val="300"/>
              </a:spcAft>
              <a:buNone/>
            </a:pPr>
            <a:r>
              <a:rPr sz="1600" b="0">
                <a:solidFill>
                  <a:srgbClr val="000000"/>
                </a:solidFill>
                <a:latin typeface="맑은 고딕"/>
                <a:ea typeface="맑은 고딕"/>
              </a:rPr>
              <a:t>22. 패키지와 코드</a:t>
            </a:r>
          </a:p>
          <a:p>
            <a:pPr lvl="1" marL="355600" indent="0">
              <a:spcBef>
                <a:spcPts val="300"/>
              </a:spcBef>
              <a:spcAft>
                <a:spcPts val="300"/>
              </a:spcAft>
              <a:buNone/>
            </a:pPr>
            <a:r>
              <a:rPr sz="1600" b="0">
                <a:solidFill>
                  <a:srgbClr val="000000"/>
                </a:solidFill>
                <a:latin typeface="맑은 고딕"/>
                <a:ea typeface="맑은 고딕"/>
              </a:rPr>
              <a:t>23. 의존 방향과 테스트</a:t>
            </a:r>
          </a:p>
          <a:p>
            <a:pPr lvl="1" marL="355600" indent="0">
              <a:spcBef>
                <a:spcPts val="300"/>
              </a:spcBef>
              <a:spcAft>
                <a:spcPts val="300"/>
              </a:spcAft>
              <a:buNone/>
            </a:pPr>
            <a:r>
              <a:rPr sz="1600" b="0">
                <a:solidFill>
                  <a:srgbClr val="000000"/>
                </a:solidFill>
                <a:latin typeface="맑은 고딕"/>
                <a:ea typeface="맑은 고딕"/>
              </a:rPr>
              <a:t>24. 통보 변환 코드</a:t>
            </a:r>
          </a:p>
          <a:p>
            <a:pPr lvl="1" marL="355600" indent="0">
              <a:spcBef>
                <a:spcPts val="300"/>
              </a:spcBef>
              <a:spcAft>
                <a:spcPts val="300"/>
              </a:spcAft>
              <a:buNone/>
            </a:pPr>
            <a:r>
              <a:rPr sz="1600" b="0">
                <a:solidFill>
                  <a:srgbClr val="000000"/>
                </a:solidFill>
                <a:latin typeface="맑은 고딕"/>
                <a:ea typeface="맑은 고딕"/>
              </a:rPr>
              <a:t>25. 적정 구조 설계</a:t>
            </a:r>
          </a:p>
          <a:p>
            <a:pPr lvl="1" marL="355600" indent="0">
              <a:spcBef>
                <a:spcPts val="300"/>
              </a:spcBef>
              <a:spcAft>
                <a:spcPts val="300"/>
              </a:spcAft>
              <a:buNone/>
            </a:pPr>
            <a:r>
              <a:rPr sz="1600" b="0">
                <a:solidFill>
                  <a:srgbClr val="000000"/>
                </a:solidFill>
                <a:latin typeface="맑은 고딕"/>
                <a:ea typeface="맑은 고딕"/>
              </a:rPr>
              <a:t>26. 실습 —</a:t>
            </a:r>
            <a:r>
              <a:rPr sz="1400" b="0">
                <a:solidFill>
                  <a:srgbClr val="000000"/>
                </a:solidFill>
                <a:latin typeface="맑은 고딕"/>
                <a:ea typeface="맑은 고딕"/>
              </a:rPr>
              <a:t> 패키지 다이어그램</a:t>
            </a:r>
          </a:p>
          <a:p>
            <a:pPr lvl="1" marL="355600" indent="0">
              <a:spcBef>
                <a:spcPts val="300"/>
              </a:spcBef>
              <a:spcAft>
                <a:spcPts val="300"/>
              </a:spcAft>
              <a:buNone/>
            </a:pPr>
            <a:r>
              <a:rPr sz="1600" b="0">
                <a:solidFill>
                  <a:srgbClr val="000000"/>
                </a:solidFill>
                <a:latin typeface="맑은 고딕"/>
                <a:ea typeface="맑은 고딕"/>
              </a:rPr>
              <a:t>27. 패키지 다이어그램 초안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28. 패키지 다이어그램 상세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29. 구조 보완 </a:t>
            </a:r>
            <a:r>
              <a:rPr sz="1200" b="0">
                <a:solidFill>
                  <a:srgbClr val="000000"/>
                </a:solidFill>
                <a:latin typeface="맑은 고딕"/>
                <a:ea typeface="맑은 고딕"/>
              </a:rPr>
              <a:t>(안)</a:t>
            </a:r>
          </a:p>
          <a:p>
            <a:pPr lvl="1" marL="355600" indent="0">
              <a:spcBef>
                <a:spcPts val="300"/>
              </a:spcBef>
              <a:spcAft>
                <a:spcPts val="300"/>
              </a:spcAft>
              <a:buNone/>
            </a:pPr>
            <a:r>
              <a:rPr sz="1600" b="0">
                <a:solidFill>
                  <a:srgbClr val="000000"/>
                </a:solidFill>
                <a:latin typeface="맑은 고딕"/>
                <a:ea typeface="맑은 고딕"/>
              </a:rPr>
              <a:t>30.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나누는 </a:t>
            </a:r>
            <a:r>
              <a:rPr sz="1800" b="1">
                <a:solidFill>
                  <a:srgbClr val="000000"/>
                </a:solidFill>
                <a:latin typeface="맑은 고딕"/>
                <a:ea typeface="맑은 고딕"/>
              </a:rPr>
              <a:t>패키지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a:t>
            </a:r>
            <a:r>
              <a:rPr sz="1400" b="0">
                <a:solidFill>
                  <a:srgbClr val="000000"/>
                </a:solidFill>
                <a:latin typeface="맑은 고딕"/>
                <a:ea typeface="맑은 고딕"/>
              </a:rPr>
              <a:t>(설계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a:t>
            </a:r>
            <a:r>
              <a:rPr sz="1800" b="0">
                <a:solidFill>
                  <a:srgbClr val="000000"/>
                </a:solidFill>
                <a:latin typeface="맑은 고딕"/>
                <a:ea typeface="맑은 고딕"/>
              </a:rPr>
              <a:t>,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맨 위의 </a:t>
            </a:r>
            <a:r>
              <a:rPr sz="1800" b="1">
                <a:solidFill>
                  <a:srgbClr val="000000"/>
                </a:solidFill>
                <a:latin typeface="맑은 고딕"/>
                <a:ea typeface="맑은 고딕"/>
              </a:rPr>
              <a:t>요구·정적·동적 모델</a:t>
            </a:r>
            <a:r>
              <a:rPr sz="1800" b="0">
                <a:solidFill>
                  <a:srgbClr val="000000"/>
                </a:solidFill>
                <a:latin typeface="맑은 고딕"/>
                <a:ea typeface="맑은 고딕"/>
              </a:rPr>
              <a:t>이 입력이다. 그림의 순서대로 </a:t>
            </a:r>
            <a:r>
              <a:rPr sz="1800" b="1">
                <a:solidFill>
                  <a:srgbClr val="000000"/>
                </a:solidFill>
                <a:latin typeface="맑은 고딕"/>
                <a:ea typeface="맑은 고딕"/>
              </a:rPr>
              <a:t>경계 후보</a:t>
            </a:r>
            <a:r>
              <a:rPr sz="1800" b="0">
                <a:solidFill>
                  <a:srgbClr val="000000"/>
                </a:solidFill>
                <a:latin typeface="맑은 고딕"/>
                <a:ea typeface="맑은 고딕"/>
              </a:rPr>
              <a:t> → </a:t>
            </a:r>
            <a:r>
              <a:rPr sz="1800" b="1">
                <a:solidFill>
                  <a:srgbClr val="000000"/>
                </a:solidFill>
                <a:latin typeface="맑은 고딕"/>
                <a:ea typeface="맑은 고딕"/>
              </a:rPr>
              <a:t>의존 방향</a:t>
            </a:r>
            <a:r>
              <a:rPr sz="1800" b="0">
                <a:solidFill>
                  <a:srgbClr val="000000"/>
                </a:solidFill>
                <a:latin typeface="맑은 고딕"/>
                <a:ea typeface="맑은 고딕"/>
              </a:rPr>
              <a:t> → </a:t>
            </a:r>
            <a:r>
              <a:rPr sz="1800" b="1">
                <a:solidFill>
                  <a:srgbClr val="000000"/>
                </a:solidFill>
                <a:latin typeface="맑은 고딕"/>
                <a:ea typeface="맑은 고딕"/>
              </a:rPr>
              <a:t>구조적 제약</a:t>
            </a:r>
            <a:r>
              <a:rPr sz="1800" b="0">
                <a:solidFill>
                  <a:srgbClr val="000000"/>
                </a:solidFill>
                <a:latin typeface="맑은 고딕"/>
                <a:ea typeface="맑은 고딕"/>
              </a:rPr>
              <a:t>을 정해 객체 설계에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점선은 </a:t>
            </a:r>
            <a:r>
              <a:rPr sz="1800" b="1">
                <a:solidFill>
                  <a:srgbClr val="000000"/>
                </a:solidFill>
                <a:latin typeface="맑은 고딕"/>
                <a:ea typeface="맑은 고딕"/>
              </a:rPr>
              <a:t>변경 파급</a:t>
            </a:r>
            <a:r>
              <a:rPr sz="1800" b="0">
                <a:solidFill>
                  <a:srgbClr val="000000"/>
                </a:solidFill>
                <a:latin typeface="맑은 고딕"/>
                <a:ea typeface="맑은 고딕"/>
              </a:rPr>
              <a:t>을 검토하며 경계 후보로 되돌아가는 길이다.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74514"/>
            <a:ext cx="8412480" cy="274320"/>
          </a:xfrm>
          <a:prstGeom prst="rect">
            <a:avLst/>
          </a:prstGeom>
          <a:noFill/>
        </p:spPr>
        <p:txBody>
          <a:bodyPr wrap="square">
            <a:spAutoFit/>
          </a:bodyPr>
          <a:lstStyle/>
          <a:p>
            <a:pPr algn="ctr"/>
            <a:r>
              <a:rPr sz="1400" b="1">
                <a:solidFill>
                  <a:srgbClr val="000000"/>
                </a:solidFill>
                <a:latin typeface="맑은 고딕"/>
                <a:ea typeface="맑은 고딕"/>
              </a:rPr>
              <a:t>구조 설계의 흐름</a:t>
            </a:r>
          </a:p>
        </p:txBody>
      </p:sp>
      <p:pic>
        <p:nvPicPr>
          <p:cNvPr id="10" name="mermaid Diagram 1"/>
          <p:cNvPicPr>
            <a:picLocks noChangeAspect="1"/>
          </p:cNvPicPr>
          <p:nvPr/>
        </p:nvPicPr>
        <p:blipFill>
          <a:blip r:embed="mermaidImage1"/>
          <a:stretch>
            <a:fillRect/>
          </a:stretch>
        </p:blipFill>
        <p:spPr>
          <a:xfrm>
            <a:off x="3649663" y="3648834"/>
            <a:ext cx="1844675" cy="27003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클래스에서 패키지로</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817846"/>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5193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 패키지와 구조 패키지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분석 패키지</a:t>
            </a:r>
          </a:p>
        </p:txBody>
      </p:sp>
      <p:pic>
        <p:nvPicPr>
          <p:cNvPr id="16" name="plantuml Diagram 1"/>
          <p:cNvPicPr>
            <a:picLocks noChangeAspect="1"/>
          </p:cNvPicPr>
          <p:nvPr/>
        </p:nvPicPr>
        <p:blipFill>
          <a:blip r:embed="plantumlImage1"/>
          <a:stretch>
            <a:fillRect/>
          </a:stretch>
        </p:blipFill>
        <p:spPr>
          <a:xfrm>
            <a:off x="2748129" y="2117318"/>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구조적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5766" y="4501521"/>
          <a:ext cx="6278880" cy="3873500"/>
        </p:xfrm>
        <a:graphic>
          <a:graphicData uri="http://schemas.openxmlformats.org/drawingml/2006/table">
            <a:tbl>
              <a:tblPr/>
              <a:tblGrid>
                <a:gridCol w="1087120"/>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인터페이스로만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으로,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203071"/>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경계와 의존의 결정</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a:t>
            </a:r>
            <a:r>
              <a:rPr sz="1000" b="0">
                <a:solidFill>
                  <a:srgbClr val="000000"/>
                </a:solidFill>
                <a:latin typeface="맑은 고딕"/>
                <a:ea typeface="맑은 고딕"/>
              </a:rPr>
              <a:t>, </a:t>
            </a:r>
            <a:r>
              <a:rPr sz="1000" b="0">
                <a:solidFill>
                  <a:srgbClr val="000000"/>
                </a:solidFill>
                <a:latin typeface="맑은 고딕"/>
                <a:ea typeface="맑은 고딕"/>
              </a:rPr>
              <a:t>[OMG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설계의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2141448"/>
          <a:ext cx="5831840" cy="3873500"/>
        </p:xfrm>
        <a:graphic>
          <a:graphicData uri="http://schemas.openxmlformats.org/drawingml/2006/table">
            <a:tbl>
              <a:tblPr/>
              <a:tblGrid>
                <a:gridCol w="1366520"/>
                <a:gridCol w="17297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게이트웨이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요청하는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배송 시스템과 통신하는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분석</a:t>
            </a:r>
            <a:r>
              <a:rPr sz="1800" b="0">
                <a:solidFill>
                  <a:srgbClr val="000000"/>
                </a:solidFill>
                <a:latin typeface="맑은 고딕"/>
                <a:ea typeface="맑은 고딕"/>
              </a:rPr>
              <a:t>은 용어집의 </a:t>
            </a:r>
            <a:r>
              <a:rPr sz="1800" b="1">
                <a:solidFill>
                  <a:srgbClr val="000000"/>
                </a:solidFill>
                <a:latin typeface="맑은 고딕"/>
                <a:ea typeface="맑은 고딕"/>
              </a:rPr>
              <a:t>한글 용어</a:t>
            </a:r>
            <a:r>
              <a:rPr sz="1800" b="0">
                <a:solidFill>
                  <a:srgbClr val="000000"/>
                </a:solidFill>
                <a:latin typeface="맑은 고딕"/>
                <a:ea typeface="맑은 고딕"/>
              </a:rPr>
              <a:t>로, </a:t>
            </a:r>
            <a:r>
              <a:rPr sz="1800" b="1">
                <a:solidFill>
                  <a:srgbClr val="000000"/>
                </a:solidFill>
                <a:latin typeface="맑은 고딕"/>
                <a:ea typeface="맑은 고딕"/>
              </a:rPr>
              <a:t>설계</a:t>
            </a:r>
            <a:r>
              <a:rPr sz="1800" b="0">
                <a:solidFill>
                  <a:srgbClr val="000000"/>
                </a:solidFill>
                <a:latin typeface="맑은 고딕"/>
                <a:ea typeface="맑은 고딕"/>
              </a:rPr>
              <a:t>는 같은 용어의 </a:t>
            </a:r>
            <a:r>
              <a:rPr sz="1800" b="1">
                <a:solidFill>
                  <a:srgbClr val="000000"/>
                </a:solidFill>
                <a:latin typeface="맑은 고딕"/>
                <a:ea typeface="맑은 고딕"/>
              </a:rPr>
              <a:t>영문명</a:t>
            </a:r>
            <a:r>
              <a:rPr sz="1800" b="0">
                <a:solidFill>
                  <a:srgbClr val="000000"/>
                </a:solidFill>
                <a:latin typeface="맑은 고딕"/>
                <a:ea typeface="맑은 고딕"/>
              </a:rPr>
              <a:t>으로 그린다. 이 세션의 패키지 다이어그램부터 설계 도식과 코드는 영문이다.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용어집에서 설계 이름으로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83048"/>
            <a:ext cx="8412480" cy="15757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 쓰는 법</a:t>
            </a:r>
            <a:r>
              <a:rPr sz="1800" b="0">
                <a:solidFill>
                  <a:srgbClr val="000000"/>
                </a:solidFill>
                <a:latin typeface="맑은 고딕"/>
                <a:ea typeface="맑은 고딕"/>
              </a:rPr>
              <a:t> —</a:t>
            </a:r>
            <a:r>
              <a:rPr sz="1600" b="0">
                <a:solidFill>
                  <a:srgbClr val="000000"/>
                </a:solidFill>
                <a:latin typeface="맑은 고딕"/>
                <a:ea typeface="맑은 고딕"/>
              </a:rPr>
              <a:t> 표의 이름처럼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클래스·인터페이스</a:t>
            </a:r>
            <a:r>
              <a:rPr sz="1600" b="0">
                <a:solidFill>
                  <a:srgbClr val="000000"/>
                </a:solidFill>
                <a:latin typeface="맑은 고딕"/>
                <a:ea typeface="맑은 고딕"/>
              </a:rPr>
              <a:t>는 단어 첫 글자를 대문자로(</a:t>
            </a:r>
            <a:r>
              <a:rPr sz="1600" b="0">
                <a:solidFill>
                  <a:srgbClr val="000000"/>
                </a:solidFill>
                <a:latin typeface="맑은 고딕"/>
                <a:ea typeface="맑은 고딕"/>
              </a:rPr>
              <a:t>DeliveryGateway</a:t>
            </a:r>
            <a:r>
              <a:rPr sz="1600" b="0">
                <a:solidFill>
                  <a:srgbClr val="000000"/>
                </a:solidFill>
                <a:latin typeface="맑은 고딕"/>
                <a:ea typeface="맑은 고딕"/>
              </a:rPr>
              <a:t>), </a:t>
            </a:r>
            <a:r>
              <a:rPr sz="1600" b="1">
                <a:solidFill>
                  <a:srgbClr val="000000"/>
                </a:solidFill>
                <a:latin typeface="맑은 고딕"/>
                <a:ea typeface="맑은 고딕"/>
              </a:rPr>
              <a:t>메서드</a:t>
            </a:r>
            <a:r>
              <a:rPr sz="1600" b="0">
                <a:solidFill>
                  <a:srgbClr val="000000"/>
                </a:solidFill>
                <a:latin typeface="맑은 고딕"/>
                <a:ea typeface="맑은 고딕"/>
              </a:rPr>
              <a:t>는 첫 단어만 소문자로(</a:t>
            </a:r>
            <a:r>
              <a:rPr sz="1600" b="0">
                <a:solidFill>
                  <a:srgbClr val="000000"/>
                </a:solidFill>
                <a:latin typeface="맑은 고딕"/>
                <a:ea typeface="맑은 고딕"/>
              </a:rPr>
              <a:t>onDeliveryStarted</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a:t>
            </a:r>
            <a:r>
              <a:rPr sz="1600" b="0">
                <a:solidFill>
                  <a:srgbClr val="000000"/>
                </a:solidFill>
                <a:latin typeface="맑은 고딕"/>
                <a:ea typeface="맑은 고딕"/>
              </a:rPr>
              <a:t>은 대문자와 밑줄로(</a:t>
            </a:r>
            <a:r>
              <a:rPr sz="1600" b="0">
                <a:solidFill>
                  <a:srgbClr val="000000"/>
                </a:solidFill>
                <a:latin typeface="맑은 고딕"/>
                <a:ea typeface="맑은 고딕"/>
              </a:rPr>
              <a:t>PENDING_PAYMENT</a:t>
            </a:r>
            <a:r>
              <a:rPr sz="1600" b="0">
                <a:solidFill>
                  <a:srgbClr val="000000"/>
                </a:solidFill>
                <a:latin typeface="맑은 고딕"/>
                <a:ea typeface="맑은 고딕"/>
              </a:rPr>
              <a:t>), </a:t>
            </a:r>
            <a:r>
              <a:rPr sz="1600" b="1">
                <a:solidFill>
                  <a:srgbClr val="000000"/>
                </a:solidFill>
                <a:latin typeface="맑은 고딕"/>
                <a:ea typeface="맑은 고딕"/>
              </a:rPr>
              <a:t>패키지</a:t>
            </a:r>
            <a:r>
              <a:rPr sz="1600" b="0">
                <a:solidFill>
                  <a:srgbClr val="000000"/>
                </a:solidFill>
                <a:latin typeface="맑은 고딕"/>
                <a:ea typeface="맑은 고딕"/>
              </a:rPr>
              <a:t>는 소문자로(</a:t>
            </a:r>
            <a:r>
              <a:rPr sz="1600" b="0">
                <a:solidFill>
                  <a:srgbClr val="000000"/>
                </a:solidFill>
                <a:latin typeface="맑은 고딕"/>
                <a:ea typeface="맑은 고딕"/>
              </a:rPr>
              <a:t>order</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3972807"/>
          <a:ext cx="6390640" cy="3873500"/>
        </p:xfrm>
        <a:graphic>
          <a:graphicData uri="http://schemas.openxmlformats.org/drawingml/2006/table">
            <a:tbl>
              <a:tblPr/>
              <a:tblGrid>
                <a:gridCol w="1841500"/>
                <a:gridCol w="181356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인터페이스와 구현 클래스를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메서드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인터페이스를 쓰는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674357"/>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다이어그램의 예</a:t>
            </a:r>
          </a:p>
        </p:txBody>
      </p:sp>
      <p:pic>
        <p:nvPicPr>
          <p:cNvPr id="16" name="plantuml Diagram 2"/>
          <p:cNvPicPr>
            <a:picLocks noChangeAspect="1"/>
          </p:cNvPicPr>
          <p:nvPr/>
        </p:nvPicPr>
        <p:blipFill>
          <a:blip r:embed="plantumlImage2"/>
          <a:stretch>
            <a:fillRect/>
          </a:stretch>
        </p:blipFill>
        <p:spPr>
          <a:xfrm>
            <a:off x="2425744" y="2117318"/>
            <a:ext cx="4278923"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패키지 기준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41448"/>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나누는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4299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97104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두 기준은 </a:t>
            </a:r>
            <a:r>
              <a:rPr sz="1800" b="1">
                <a:solidFill>
                  <a:srgbClr val="000000"/>
                </a:solidFill>
                <a:latin typeface="맑은 고딕"/>
                <a:ea typeface="맑은 고딕"/>
              </a:rPr>
              <a:t>함께 둘 것</a:t>
            </a:r>
            <a:r>
              <a:rPr sz="1800" b="0">
                <a:solidFill>
                  <a:srgbClr val="000000"/>
                </a:solidFill>
                <a:latin typeface="맑은 고딕"/>
                <a:ea typeface="맑은 고딕"/>
              </a:rPr>
              <a:t>을, 뒤의 세 기준은 </a:t>
            </a:r>
            <a:r>
              <a:rPr sz="1800" b="1">
                <a:solidFill>
                  <a:srgbClr val="000000"/>
                </a:solidFill>
                <a:latin typeface="맑은 고딕"/>
                <a:ea typeface="맑은 고딕"/>
              </a:rPr>
              <a:t>나눌 것</a:t>
            </a:r>
            <a:r>
              <a:rPr sz="1800" b="0">
                <a:solidFill>
                  <a:srgbClr val="000000"/>
                </a:solidFill>
                <a:latin typeface="맑은 고딕"/>
                <a:ea typeface="맑은 고딕"/>
              </a:rPr>
              <a:t>을 찾는다. 기준이 부딪히면 </a:t>
            </a:r>
            <a:r>
              <a:rPr sz="1800" b="1">
                <a:solidFill>
                  <a:srgbClr val="000000"/>
                </a:solidFill>
                <a:latin typeface="맑은 고딕"/>
                <a:ea typeface="맑은 고딕"/>
              </a:rPr>
              <a:t>변경 이유</a:t>
            </a:r>
            <a:r>
              <a:rPr sz="1800" b="0">
                <a:solidFill>
                  <a:srgbClr val="000000"/>
                </a:solidFill>
                <a:latin typeface="맑은 고딕"/>
                <a:ea typeface="맑은 고딕"/>
              </a:rPr>
              <a:t>가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a:t>
            </a:r>
            <a:r>
              <a:rPr sz="1400" b="0">
                <a:solidFill>
                  <a:srgbClr val="000000"/>
                </a:solidFill>
                <a:latin typeface="맑은 고딕"/>
                <a:ea typeface="맑은 고딕"/>
              </a:rPr>
              <a:t>(주문 관리 기능, 결제 기능)</a:t>
            </a:r>
            <a:r>
              <a:rPr sz="1800" b="0">
                <a:solidFill>
                  <a:srgbClr val="000000"/>
                </a:solidFill>
                <a:latin typeface="맑은 고딕"/>
                <a:ea typeface="맑은 고딕"/>
              </a:rPr>
              <a:t>이나 </a:t>
            </a:r>
            <a:r>
              <a:rPr sz="1800" b="1">
                <a:solidFill>
                  <a:srgbClr val="000000"/>
                </a:solidFill>
                <a:latin typeface="맑은 고딕"/>
                <a:ea typeface="맑은 고딕"/>
              </a:rPr>
              <a:t>기술 계층</a:t>
            </a:r>
            <a:r>
              <a:rPr sz="1800" b="0">
                <a:solidFill>
                  <a:srgbClr val="000000"/>
                </a:solidFill>
                <a:latin typeface="맑은 고딕"/>
                <a:ea typeface="맑은 고딕"/>
              </a:rPr>
              <a:t>은 기준이 아니다</a:t>
            </a:r>
            <a:r>
              <a:rPr sz="1400" b="0">
                <a:solidFill>
                  <a:srgbClr val="000000"/>
                </a:solidFill>
                <a:latin typeface="맑은 고딕"/>
                <a:ea typeface="맑은 고딕"/>
              </a:rPr>
              <a:t>(「19. 잘못된 관행 —</a:t>
            </a:r>
            <a:r>
              <a:rPr sz="1200" b="0">
                <a:solidFill>
                  <a:srgbClr val="000000"/>
                </a:solidFill>
                <a:latin typeface="맑은 고딕"/>
                <a:ea typeface="맑은 고딕"/>
              </a:rPr>
              <a:t> 기술 계층 분할」)</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패키지 기준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0"/>
              </a:spcBef>
              <a:spcAft>
                <a:spcPts val="600"/>
              </a:spcAft>
              <a:buNone/>
            </a:pPr>
            <a:r>
              <a:rPr sz="1800" b="0" i="1">
                <a:solidFill>
                  <a:srgbClr val="000000"/>
                </a:solidFill>
                <a:latin typeface="맑은 고딕"/>
                <a:ea typeface="맑은 고딕"/>
              </a:rPr>
              <a:t>클래스를 패키지로 나누는 기준은 다섯 가지 질문이다. 각 질문의 단서는 앞 세션의 모델에 이미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함께 쓰이지 않는 것</a:t>
            </a:r>
            <a:r>
              <a:rPr sz="1800" b="0">
                <a:solidFill>
                  <a:srgbClr val="000000"/>
                </a:solidFill>
                <a:latin typeface="맑은 고딕"/>
                <a:ea typeface="맑은 고딕"/>
              </a:rPr>
              <a:t>은 나눈다.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"대신 </a:t>
            </a:r>
            <a:r>
              <a:rPr sz="1800" b="1">
                <a:solidFill>
                  <a:srgbClr val="000000"/>
                </a:solidFill>
                <a:latin typeface="맑은 고딕"/>
                <a:ea typeface="맑은 고딕"/>
              </a:rPr>
              <a:t>어렵거나 바뀔 가능성이 큰 설계 결정</a:t>
            </a:r>
            <a:r>
              <a:rPr sz="1800" b="0">
                <a:solidFill>
                  <a:srgbClr val="000000"/>
                </a:solidFill>
                <a:latin typeface="맑은 고딕"/>
                <a:ea typeface="맑은 고딕"/>
              </a:rPr>
              <a:t>의 목록에서 시작하기를 제안한다"</a:t>
            </a:r>
            <a:r>
              <a:rPr sz="1000" b="0">
                <a:solidFill>
                  <a:srgbClr val="000000"/>
                </a:solidFill>
                <a:latin typeface="맑은 고딕"/>
                <a:ea typeface="맑은 고딕"/>
              </a:rPr>
              <a:t>, </a:t>
            </a:r>
            <a:r>
              <a:rPr sz="1000" b="0">
                <a:solidFill>
                  <a:srgbClr val="000000"/>
                </a:solidFill>
                <a:latin typeface="맑은 고딕"/>
                <a:ea typeface="맑은 고딕"/>
              </a:rPr>
              <a:t>"We propose instead that one begins with a list of difficult design decisions or design decisions which are likely to change."</a:t>
            </a:r>
            <a:r>
              <a:rPr sz="1000" b="0">
                <a:solidFill>
                  <a:srgbClr val="000000"/>
                </a:solidFill>
                <a:latin typeface="맑은 고딕"/>
                <a:ea typeface="맑은 고딕"/>
              </a:rPr>
              <a:t>, </a:t>
            </a:r>
            <a:r>
              <a:rPr sz="1000" b="0">
                <a:solidFill>
                  <a:srgbClr val="000000"/>
                </a:solidFill>
                <a:latin typeface="맑은 고딕"/>
                <a:ea typeface="맑은 고딕"/>
              </a:rPr>
              <a:t>[Parnas 1972, 재인용]</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바뀌는</a:t>
            </a:r>
            <a:r>
              <a:rPr sz="18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함께 재사용되지 않는</a:t>
            </a:r>
            <a:r>
              <a:rPr sz="18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규칙</a:t>
            </a:r>
            <a:r>
              <a:rPr sz="1400" b="0">
                <a:solidFill>
                  <a:srgbClr val="000000"/>
                </a:solidFill>
                <a:latin typeface="맑은 고딕"/>
                <a:ea typeface="맑은 고딕"/>
              </a:rPr>
              <a:t>(업무 정책)</a:t>
            </a:r>
            <a:r>
              <a:rPr sz="1800" b="0">
                <a:solidFill>
                  <a:srgbClr val="000000"/>
                </a:solidFill>
                <a:latin typeface="맑은 고딕"/>
                <a:ea typeface="맑은 고딕"/>
              </a:rPr>
              <a:t>과 결제 대행 방식</a:t>
            </a:r>
            <a:r>
              <a:rPr sz="1400" b="0">
                <a:solidFill>
                  <a:srgbClr val="000000"/>
                </a:solidFill>
                <a:latin typeface="맑은 고딕"/>
                <a:ea typeface="맑은 고딕"/>
              </a:rPr>
              <a:t>(외부 계약)</a:t>
            </a:r>
            <a:r>
              <a:rPr sz="1800" b="0">
                <a:solidFill>
                  <a:srgbClr val="000000"/>
                </a:solidFill>
                <a:latin typeface="맑은 고딕"/>
                <a:ea typeface="맑은 고딕"/>
              </a:rPr>
              <a:t>은 </a:t>
            </a:r>
            <a:r>
              <a:rPr sz="1800" b="1">
                <a:solidFill>
                  <a:srgbClr val="000000"/>
                </a:solidFill>
                <a:latin typeface="맑은 고딕"/>
                <a:ea typeface="맑은 고딕"/>
              </a:rPr>
              <a:t>바뀌는 이유</a:t>
            </a:r>
            <a:r>
              <a:rPr sz="1800" b="0">
                <a:solidFill>
                  <a:srgbClr val="000000"/>
                </a:solidFill>
                <a:latin typeface="맑은 고딕"/>
                <a:ea typeface="맑은 고딕"/>
              </a:rPr>
              <a:t>가 달라 다른 경계에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업무 패키지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패키지 기준</a:t>
            </a:r>
            <a:r>
              <a:rPr sz="1800" b="0">
                <a:solidFill>
                  <a:srgbClr val="000000"/>
                </a:solidFill>
                <a:latin typeface="맑은 고딕"/>
                <a:ea typeface="맑은 고딕"/>
              </a:rPr>
              <a:t>을 적용하면 </a:t>
            </a:r>
            <a:r>
              <a:rPr sz="1800" b="1">
                <a:solidFill>
                  <a:srgbClr val="000000"/>
                </a:solidFill>
                <a:latin typeface="맑은 고딕"/>
                <a:ea typeface="맑은 고딕"/>
              </a:rPr>
              <a:t>업무 패키지 여섯</a:t>
            </a:r>
            <a:r>
              <a:rPr sz="1800" b="0">
                <a:solidFill>
                  <a:srgbClr val="000000"/>
                </a:solidFill>
                <a:latin typeface="맑은 고딕"/>
                <a:ea typeface="맑은 고딕"/>
              </a:rPr>
              <a:t>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합성·소유</a:t>
            </a:r>
            <a:r>
              <a:rPr sz="1800" b="0">
                <a:solidFill>
                  <a:srgbClr val="000000"/>
                </a:solidFill>
                <a:latin typeface="맑은 고딕"/>
                <a:ea typeface="맑은 고딕"/>
              </a:rPr>
              <a:t> —</a:t>
            </a:r>
            <a:r>
              <a:rPr sz="1600" b="0">
                <a:solidFill>
                  <a:srgbClr val="000000"/>
                </a:solidFill>
                <a:latin typeface="맑은 고딕"/>
                <a:ea typeface="맑은 고딕"/>
              </a:rPr>
              <a:t> 주문 항목은 주문에 붙이고, 환불은 환불 규칙을 지키는 </a:t>
            </a:r>
            <a:r>
              <a:rPr sz="1600" b="1">
                <a:solidFill>
                  <a:srgbClr val="000000"/>
                </a:solidFill>
                <a:latin typeface="맑은 고딕"/>
                <a:ea typeface="맑은 고딕"/>
              </a:rPr>
              <a:t>결제</a:t>
            </a:r>
            <a:r>
              <a:rPr sz="1600" b="0">
                <a:solidFill>
                  <a:srgbClr val="000000"/>
                </a:solidFill>
                <a:latin typeface="맑은 고딕"/>
                <a:ea typeface="맑은 고딕"/>
              </a:rPr>
              <a:t>에 모은다.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이유·함께 쓰임</a:t>
            </a:r>
            <a:r>
              <a:rPr sz="1800" b="0">
                <a:solidFill>
                  <a:srgbClr val="000000"/>
                </a:solidFill>
                <a:latin typeface="맑은 고딕"/>
                <a:ea typeface="맑은 고딕"/>
              </a:rPr>
              <a:t> —</a:t>
            </a:r>
            <a:r>
              <a:rPr sz="1600" b="0">
                <a:solidFill>
                  <a:srgbClr val="000000"/>
                </a:solidFill>
                <a:latin typeface="맑은 고딕"/>
                <a:ea typeface="맑은 고딕"/>
              </a:rPr>
              <a:t> 배송은 취소 규칙과 따로 바뀌고, 장바구니와 결제는 함께 쓰이지 않아 </a:t>
            </a:r>
            <a:r>
              <a:rPr sz="1600" b="1">
                <a:solidFill>
                  <a:srgbClr val="000000"/>
                </a:solidFill>
                <a:latin typeface="맑은 고딕"/>
                <a:ea typeface="맑은 고딕"/>
              </a:rPr>
              <a:t>나눈다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86298"/>
            <a:ext cx="8412480" cy="274320"/>
          </a:xfrm>
          <a:prstGeom prst="rect">
            <a:avLst/>
          </a:prstGeom>
          <a:noFill/>
        </p:spPr>
        <p:txBody>
          <a:bodyPr wrap="square">
            <a:spAutoFit/>
          </a:bodyPr>
          <a:lstStyle/>
          <a:p>
            <a:pPr algn="ctr"/>
            <a:r>
              <a:rPr sz="1400" b="1">
                <a:solidFill>
                  <a:srgbClr val="000000"/>
                </a:solidFill>
                <a:latin typeface="맑은 고딕"/>
                <a:ea typeface="맑은 고딕"/>
              </a:rPr>
              <a:t>업무 패키지 도출</a:t>
            </a:r>
          </a:p>
        </p:txBody>
      </p:sp>
      <p:pic>
        <p:nvPicPr>
          <p:cNvPr id="10" name="plantuml Diagram 3"/>
          <p:cNvPicPr>
            <a:picLocks noChangeAspect="1"/>
          </p:cNvPicPr>
          <p:nvPr/>
        </p:nvPicPr>
        <p:blipFill>
          <a:blip r:embed="plantumlImage3"/>
          <a:stretch>
            <a:fillRect/>
          </a:stretch>
        </p:blipFill>
        <p:spPr>
          <a:xfrm>
            <a:off x="2344615" y="3660618"/>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요청과 통보 </a:t>
            </a:r>
            <a:r>
              <a:rPr sz="2000" b="1">
                <a:solidFill>
                  <a:srgbClr val="000000"/>
                </a:solidFill>
                <a:latin typeface="맑은 고딕"/>
                <a:ea typeface="맑은 고딕"/>
              </a:rPr>
              <a:t>(1/2)</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84410"/>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외부 시스템 넷과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859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시스템과의 요청·통보</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요청과 통보 </a:t>
            </a:r>
            <a:r>
              <a:rPr sz="2000" b="1">
                <a:solidFill>
                  <a:srgbClr val="000000"/>
                </a:solidFill>
                <a:latin typeface="맑은 고딕"/>
                <a:ea typeface="맑은 고딕"/>
              </a:rPr>
              <a:t>(2/2)</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주문 시스템은 외부 시스템 넷과 요청과 통보를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400" b="1">
                <a:solidFill>
                  <a:srgbClr val="000000"/>
                </a:solidFill>
                <a:latin typeface="맑은 고딕"/>
                <a:ea typeface="맑은 고딕"/>
              </a:rPr>
              <a:t>(위·동기)</a:t>
            </a:r>
            <a:r>
              <a:rPr sz="1800" b="0">
                <a:solidFill>
                  <a:srgbClr val="000000"/>
                </a:solidFill>
                <a:latin typeface="맑은 고딕"/>
                <a:ea typeface="맑은 고딕"/>
              </a:rPr>
              <a:t> —</a:t>
            </a:r>
            <a:r>
              <a:rPr sz="1600" b="0">
                <a:solidFill>
                  <a:srgbClr val="000000"/>
                </a:solidFill>
                <a:latin typeface="맑은 고딕"/>
                <a:ea typeface="맑은 고딕"/>
              </a:rPr>
              <a:t> 출고 중단 요청 </a:t>
            </a:r>
            <a:r>
              <a:rPr sz="1600" b="0">
                <a:solidFill>
                  <a:srgbClr val="000000"/>
                </a:solidFill>
                <a:latin typeface="맑은 고딕"/>
                <a:ea typeface="맑은 고딕"/>
              </a:rPr>
              <a:t>requestDispatchStop()</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a:t>
            </a:r>
            <a:r>
              <a:rPr sz="1600" b="0">
                <a:solidFill>
                  <a:srgbClr val="000000"/>
                </a:solidFill>
                <a:latin typeface="맑은 고딕"/>
                <a:ea typeface="맑은 고딕"/>
              </a:rPr>
              <a:t>STOP</a:t>
            </a:r>
            <a:r>
              <a:rPr sz="1600" b="0">
                <a:solidFill>
                  <a:srgbClr val="000000"/>
                </a:solidFill>
                <a:latin typeface="맑은 고딕"/>
                <a:ea typeface="맑은 고딕"/>
              </a:rPr>
              <a:t>으로 보내고, </a:t>
            </a:r>
            <a:r>
              <a:rPr sz="1600" b="0">
                <a:solidFill>
                  <a:srgbClr val="000000"/>
                </a:solidFill>
                <a:latin typeface="맑은 고딕"/>
                <a:ea typeface="맑은 고딕"/>
              </a:rPr>
              <a:t>ACCEPTED</a:t>
            </a:r>
            <a:r>
              <a:rPr sz="1600" b="0">
                <a:solidFill>
                  <a:srgbClr val="000000"/>
                </a:solidFill>
                <a:latin typeface="맑은 고딕"/>
                <a:ea typeface="맑은 고딕"/>
              </a:rPr>
              <a:t>를 </a:t>
            </a:r>
            <a:r>
              <a:rPr sz="1600" b="0">
                <a:solidFill>
                  <a:srgbClr val="000000"/>
                </a:solidFill>
                <a:latin typeface="맑은 고딕"/>
                <a:ea typeface="맑은 고딕"/>
              </a:rPr>
              <a:t>true</a:t>
            </a:r>
            <a:r>
              <a:rPr sz="1600" b="0">
                <a:solidFill>
                  <a:srgbClr val="000000"/>
                </a:solidFill>
                <a:latin typeface="맑은 고딕"/>
                <a:ea typeface="맑은 고딕"/>
              </a:rPr>
              <a:t>로 돌려준다.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400" b="1">
                <a:solidFill>
                  <a:srgbClr val="000000"/>
                </a:solidFill>
                <a:latin typeface="맑은 고딕"/>
                <a:ea typeface="맑은 고딕"/>
              </a:rPr>
              <a:t>(아래·비동기)</a:t>
            </a:r>
            <a:r>
              <a:rPr sz="1800" b="0">
                <a:solidFill>
                  <a:srgbClr val="000000"/>
                </a:solidFill>
                <a:latin typeface="맑은 고딕"/>
                <a:ea typeface="맑은 고딕"/>
              </a:rPr>
              <a:t> —</a:t>
            </a:r>
            <a:r>
              <a:rPr sz="1600" b="0">
                <a:solidFill>
                  <a:srgbClr val="000000"/>
                </a:solidFill>
                <a:latin typeface="맑은 고딕"/>
                <a:ea typeface="맑은 고딕"/>
              </a:rPr>
              <a:t> 배송 시작 </a:t>
            </a:r>
            <a:r>
              <a:rPr sz="1600" b="0">
                <a:solidFill>
                  <a:srgbClr val="000000"/>
                </a:solidFill>
                <a:latin typeface="맑은 고딕"/>
                <a:ea typeface="맑은 고딕"/>
              </a:rPr>
              <a:t>IN_TRANSIT</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배송 시작 통보 </a:t>
            </a:r>
            <a:r>
              <a:rPr sz="1600" b="0">
                <a:solidFill>
                  <a:srgbClr val="000000"/>
                </a:solidFill>
                <a:latin typeface="맑은 고딕"/>
                <a:ea typeface="맑은 고딕"/>
              </a:rPr>
              <a:t>onDeliveryStarted()</a:t>
            </a:r>
            <a:r>
              <a:rPr sz="1600" b="0">
                <a:solidFill>
                  <a:srgbClr val="000000"/>
                </a:solidFill>
                <a:latin typeface="맑은 고딕"/>
                <a:ea typeface="맑은 고딕"/>
              </a:rPr>
              <a:t>로 </a:t>
            </a:r>
            <a:r>
              <a:rPr sz="1600" b="1">
                <a:solidFill>
                  <a:srgbClr val="000000"/>
                </a:solidFill>
                <a:latin typeface="맑은 고딕"/>
                <a:ea typeface="맑은 고딕"/>
              </a:rPr>
              <a:t>바꿔</a:t>
            </a:r>
            <a:r>
              <a:rPr sz="1600" b="0">
                <a:solidFill>
                  <a:srgbClr val="000000"/>
                </a:solidFill>
                <a:latin typeface="맑은 고딕"/>
                <a:ea typeface="맑은 고딕"/>
              </a:rPr>
              <a:t> 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29539"/>
            <a:ext cx="8412480" cy="274320"/>
          </a:xfrm>
          <a:prstGeom prst="rect">
            <a:avLst/>
          </a:prstGeom>
          <a:noFill/>
        </p:spPr>
        <p:txBody>
          <a:bodyPr wrap="square">
            <a:spAutoFit/>
          </a:bodyPr>
          <a:lstStyle/>
          <a:p>
            <a:pPr algn="ctr"/>
            <a:r>
              <a:rPr sz="1400" b="1">
                <a:solidFill>
                  <a:srgbClr val="000000"/>
                </a:solidFill>
                <a:latin typeface="맑은 고딕"/>
                <a:ea typeface="맑은 고딕"/>
              </a:rPr>
              <a:t>배송 시스템과의 요청과 통보</a:t>
            </a:r>
          </a:p>
        </p:txBody>
      </p:sp>
      <p:pic>
        <p:nvPicPr>
          <p:cNvPr id="10" name="plantuml Diagram 4"/>
          <p:cNvPicPr>
            <a:picLocks noChangeAspect="1"/>
          </p:cNvPicPr>
          <p:nvPr/>
        </p:nvPicPr>
        <p:blipFill>
          <a:blip r:embed="plantumlImage4"/>
          <a:stretch>
            <a:fillRect/>
          </a:stretch>
        </p:blipFill>
        <p:spPr>
          <a:xfrm>
            <a:off x="2359269" y="3603859"/>
            <a:ext cx="4425462" cy="2315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주문 시스템 패키지 — 초안</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연동이 통보를 주문에 전해 </a:t>
            </a:r>
            <a:r>
              <a:rPr sz="1800" b="1">
                <a:solidFill>
                  <a:srgbClr val="000000"/>
                </a:solidFill>
                <a:latin typeface="맑은 고딕"/>
                <a:ea typeface="맑은 고딕"/>
              </a:rPr>
              <a:t>순환</a:t>
            </a:r>
            <a:r>
              <a:rPr sz="1800" b="0">
                <a:solidFill>
                  <a:srgbClr val="000000"/>
                </a:solidFill>
                <a:latin typeface="맑은 고딕"/>
                <a:ea typeface="맑은 고딕"/>
              </a:rPr>
              <a:t>이 생긴다: </a:t>
            </a:r>
            <a:r>
              <a:rPr sz="1800" b="0">
                <a:solidFill>
                  <a:srgbClr val="000000"/>
                </a:solidFill>
                <a:latin typeface="맑은 고딕"/>
                <a:ea typeface="맑은 고딕"/>
              </a:rPr>
              <a:t>order</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 → </a:t>
            </a:r>
            <a:r>
              <a:rPr sz="1800" b="0">
                <a:solidFill>
                  <a:srgbClr val="000000"/>
                </a:solidFill>
                <a:latin typeface="맑은 고딕"/>
                <a:ea typeface="맑은 고딕"/>
              </a:rPr>
              <a:t>deliveryadapter</a:t>
            </a:r>
            <a:r>
              <a:rPr sz="1800" b="0">
                <a:solidFill>
                  <a:srgbClr val="000000"/>
                </a:solidFill>
                <a:latin typeface="맑은 고딕"/>
                <a:ea typeface="맑은 고딕"/>
              </a:rPr>
              <a:t> → </a:t>
            </a:r>
            <a:r>
              <a:rPr sz="1800" b="0">
                <a:solidFill>
                  <a:srgbClr val="000000"/>
                </a:solidFill>
                <a:latin typeface="맑은 고딕"/>
                <a:ea typeface="맑은 고딕"/>
              </a:rPr>
              <a:t>order</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53865"/>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패키지(초안)</a:t>
            </a:r>
          </a:p>
        </p:txBody>
      </p:sp>
      <p:pic>
        <p:nvPicPr>
          <p:cNvPr id="10" name="plantuml Diagram 5"/>
          <p:cNvPicPr>
            <a:picLocks noChangeAspect="1"/>
          </p:cNvPicPr>
          <p:nvPr/>
        </p:nvPicPr>
        <p:blipFill>
          <a:blip r:embed="plantumlImage5"/>
          <a:stretch>
            <a:fillRect/>
          </a:stretch>
        </p:blipFill>
        <p:spPr>
          <a:xfrm>
            <a:off x="2476500" y="4028185"/>
            <a:ext cx="4191000" cy="1941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의존하라"</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안정은 "좋다"가 아니라 </a:t>
            </a:r>
            <a:r>
              <a:rPr sz="1800" b="1">
                <a:solidFill>
                  <a:srgbClr val="000000"/>
                </a:solidFill>
                <a:latin typeface="맑은 고딕"/>
                <a:ea typeface="맑은 고딕"/>
              </a:rPr>
              <a:t>"바꾸기 어렵다"</a:t>
            </a:r>
            <a:r>
              <a:rPr sz="1800" b="0">
                <a:solidFill>
                  <a:srgbClr val="000000"/>
                </a:solidFill>
                <a:latin typeface="맑은 고딕"/>
                <a:ea typeface="맑은 고딕"/>
              </a:rPr>
              <a:t>는 뜻이다. 그래서 바꾸기 어려운 곳에 </a:t>
            </a:r>
            <a:r>
              <a:rPr sz="1800" b="1">
                <a:solidFill>
                  <a:srgbClr val="000000"/>
                </a:solidFill>
                <a:latin typeface="맑은 고딕"/>
                <a:ea typeface="맑은 고딕"/>
              </a:rPr>
              <a:t>자주 바뀌는 세부</a:t>
            </a:r>
            <a:r>
              <a:rPr sz="1800" b="0">
                <a:solidFill>
                  <a:srgbClr val="000000"/>
                </a:solidFill>
                <a:latin typeface="맑은 고딕"/>
                <a:ea typeface="맑은 고딕"/>
              </a:rPr>
              <a:t>를 두지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순환 의존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알아 </a:t>
            </a:r>
            <a:r>
              <a:rPr sz="1800" b="1">
                <a:solidFill>
                  <a:srgbClr val="000000"/>
                </a:solidFill>
                <a:latin typeface="맑은 고딕"/>
                <a:ea typeface="맑은 고딕"/>
              </a:rPr>
              <a:t>따로 바꾸거나 시험할 수 없는</a:t>
            </a:r>
            <a:r>
              <a:rPr sz="18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order</a:t>
            </a:r>
            <a:r>
              <a:rPr sz="1800" b="1">
                <a:solidFill>
                  <a:srgbClr val="000000"/>
                </a:solidFill>
                <a:latin typeface="맑은 고딕"/>
                <a:ea typeface="맑은 고딕"/>
              </a:rPr>
              <a:t> → </a:t>
            </a:r>
            <a:r>
              <a:rPr sz="1800" b="1">
                <a:solidFill>
                  <a:srgbClr val="000000"/>
                </a:solidFill>
                <a:latin typeface="맑은 고딕"/>
                <a:ea typeface="맑은 고딕"/>
              </a:rPr>
              <a:t>delivery</a:t>
            </a:r>
            <a:r>
              <a:rPr sz="1800" b="1">
                <a:solidFill>
                  <a:srgbClr val="000000"/>
                </a:solidFill>
                <a:latin typeface="맑은 고딕"/>
                <a:ea typeface="맑은 고딕"/>
              </a:rPr>
              <a:t> → </a:t>
            </a:r>
            <a:r>
              <a:rPr sz="1800" b="1">
                <a:solidFill>
                  <a:srgbClr val="000000"/>
                </a:solidFill>
                <a:latin typeface="맑은 고딕"/>
                <a:ea typeface="맑은 고딕"/>
              </a:rPr>
              <a:t>deliveryadapter</a:t>
            </a:r>
            <a:r>
              <a:rPr sz="1800" b="1">
                <a:solidFill>
                  <a:srgbClr val="000000"/>
                </a:solidFill>
                <a:latin typeface="맑은 고딕"/>
                <a:ea typeface="맑은 고딕"/>
              </a:rPr>
              <a:t> → </a:t>
            </a:r>
            <a:r>
              <a:rPr sz="1800" b="1">
                <a:solidFill>
                  <a:srgbClr val="000000"/>
                </a:solidFill>
                <a:latin typeface="맑은 고딕"/>
                <a:ea typeface="맑은 고딕"/>
              </a:rPr>
              <a:t>order</a:t>
            </a:r>
            <a:r>
              <a:rPr sz="1800" b="0">
                <a:solidFill>
                  <a:srgbClr val="000000"/>
                </a:solidFill>
                <a:latin typeface="맑은 고딕"/>
                <a:ea typeface="맑은 고딕"/>
              </a:rPr>
              <a:t>는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 인터페이스를 어느 패키지에 두는지가 그 화살표다.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추상</a:t>
            </a:r>
            <a:r>
              <a:rPr sz="1600" b="0">
                <a:solidFill>
                  <a:srgbClr val="000000"/>
                </a:solidFill>
                <a:latin typeface="맑은 고딕"/>
                <a:ea typeface="맑은 고딕"/>
              </a:rPr>
              <a:t>에 의존하라. 구체에 의존하지 마라"</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순환 의존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순환 의존은 서로가 서로를 알아 따로 바꾸거나 시험할 수 없는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인터페이스를 업무 패키지에 둔다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600" b="0">
                <a:solidFill>
                  <a:srgbClr val="000000"/>
                </a:solidFill>
                <a:latin typeface="맑은 고딕"/>
                <a:ea typeface="맑은 고딕"/>
              </a:rPr>
              <a:t>는 같은 패키지의 인터페이스 </a:t>
            </a:r>
            <a:r>
              <a:rPr sz="1600" b="0">
                <a:solidFill>
                  <a:srgbClr val="000000"/>
                </a:solidFill>
                <a:latin typeface="맑은 고딕"/>
                <a:ea typeface="맑은 고딕"/>
              </a:rPr>
              <a:t>DeliveryGateway</a:t>
            </a:r>
            <a:r>
              <a:rPr sz="1600" b="0">
                <a:solidFill>
                  <a:srgbClr val="000000"/>
                </a:solidFill>
                <a:latin typeface="맑은 고딕"/>
                <a:ea typeface="맑은 고딕"/>
              </a:rPr>
              <a:t>만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DeliveryAdapter</a:t>
            </a:r>
            <a:r>
              <a:rPr sz="1800" b="0">
                <a:solidFill>
                  <a:srgbClr val="000000"/>
                </a:solidFill>
                <a:latin typeface="맑은 고딕"/>
                <a:ea typeface="맑은 고딕"/>
              </a:rPr>
              <a:t>가 그 인터페이스를 </a:t>
            </a:r>
            <a:r>
              <a:rPr sz="1800" b="1">
                <a:solidFill>
                  <a:srgbClr val="000000"/>
                </a:solidFill>
                <a:latin typeface="맑은 고딕"/>
                <a:ea typeface="맑은 고딕"/>
              </a:rPr>
              <a:t>구현</a:t>
            </a:r>
            <a:r>
              <a:rPr sz="1800" b="0">
                <a:solidFill>
                  <a:srgbClr val="000000"/>
                </a:solidFill>
                <a:latin typeface="맑은 고딕"/>
                <a:ea typeface="맑은 고딕"/>
              </a:rPr>
              <a:t>하고</a:t>
            </a:r>
            <a:r>
              <a:rPr sz="1400" b="0">
                <a:solidFill>
                  <a:srgbClr val="000000"/>
                </a:solidFill>
                <a:latin typeface="맑은 고딕"/>
                <a:ea typeface="맑은 고딕"/>
              </a:rPr>
              <a:t>(빈 삼각형)</a:t>
            </a:r>
            <a:r>
              <a:rPr sz="1800" b="0">
                <a:solidFill>
                  <a:srgbClr val="000000"/>
                </a:solidFill>
                <a:latin typeface="맑은 고딕"/>
                <a:ea typeface="맑은 고딕"/>
              </a:rPr>
              <a:t> 통보를 </a:t>
            </a:r>
            <a:r>
              <a:rPr sz="1800" b="0">
                <a:solidFill>
                  <a:srgbClr val="000000"/>
                </a:solidFill>
                <a:latin typeface="맑은 고딕"/>
                <a:ea typeface="맑은 고딕"/>
              </a:rPr>
              <a:t>Order</a:t>
            </a:r>
            <a:r>
              <a:rPr sz="1800" b="0">
                <a:solidFill>
                  <a:srgbClr val="000000"/>
                </a:solidFill>
                <a:latin typeface="맑은 고딕"/>
                <a:ea typeface="맑은 고딕"/>
              </a:rPr>
              <a:t>에 전한다 —</a:t>
            </a:r>
            <a:r>
              <a:rPr sz="1600" b="0">
                <a:solidFill>
                  <a:srgbClr val="000000"/>
                </a:solidFill>
                <a:latin typeface="맑은 고딕"/>
                <a:ea typeface="맑은 고딕"/>
              </a:rPr>
              <a:t> 화살표가 모두 </a:t>
            </a:r>
            <a:r>
              <a:rPr sz="1600" b="1">
                <a:solidFill>
                  <a:srgbClr val="000000"/>
                </a:solidFill>
                <a:latin typeface="맑은 고딕"/>
                <a:ea typeface="맑은 고딕"/>
              </a:rPr>
              <a:t>업무 쪽</a:t>
            </a:r>
            <a:r>
              <a:rPr sz="1600" b="0">
                <a:solidFill>
                  <a:srgbClr val="000000"/>
                </a:solidFill>
                <a:latin typeface="맑은 고딕"/>
                <a:ea typeface="맑은 고딕"/>
              </a:rPr>
              <a:t>을 향해 순환이 끊긴다.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500500"/>
            <a:ext cx="8412480" cy="274320"/>
          </a:xfrm>
          <a:prstGeom prst="rect">
            <a:avLst/>
          </a:prstGeom>
          <a:noFill/>
        </p:spPr>
        <p:txBody>
          <a:bodyPr wrap="square">
            <a:spAutoFit/>
          </a:bodyPr>
          <a:lstStyle/>
          <a:p>
            <a:pPr algn="ctr"/>
            <a:r>
              <a:rPr sz="1400" b="1">
                <a:solidFill>
                  <a:srgbClr val="000000"/>
                </a:solidFill>
                <a:latin typeface="맑은 고딕"/>
                <a:ea typeface="맑은 고딕"/>
              </a:rPr>
              <a:t>인터페이스를 가진 배송, 구현하는 연동</a:t>
            </a:r>
          </a:p>
        </p:txBody>
      </p:sp>
      <p:pic>
        <p:nvPicPr>
          <p:cNvPr id="10" name="plantuml Diagram 6"/>
          <p:cNvPicPr>
            <a:picLocks noChangeAspect="1"/>
          </p:cNvPicPr>
          <p:nvPr/>
        </p:nvPicPr>
        <p:blipFill>
          <a:blip r:embed="plantumlImage6"/>
          <a:stretch>
            <a:fillRect/>
          </a:stretch>
        </p:blipFill>
        <p:spPr>
          <a:xfrm>
            <a:off x="1768231" y="3774820"/>
            <a:ext cx="5607538" cy="197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주문 시스템 패키지 — 상세화</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인터페이스를 업무 패키지에 둔 </a:t>
            </a:r>
            <a:r>
              <a:rPr sz="1800" b="1">
                <a:solidFill>
                  <a:srgbClr val="000000"/>
                </a:solidFill>
                <a:latin typeface="맑은 고딕"/>
                <a:ea typeface="맑은 고딕"/>
              </a:rPr>
              <a:t>상세화</a:t>
            </a:r>
            <a:r>
              <a:rPr sz="1800" b="0">
                <a:solidFill>
                  <a:srgbClr val="000000"/>
                </a:solidFill>
                <a:latin typeface="맑은 고딕"/>
                <a:ea typeface="맑은 고딕"/>
              </a:rPr>
              <a:t>다. 순환이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a:t>
            </a:r>
            <a:r>
              <a:rPr sz="1800" b="0">
                <a:solidFill>
                  <a:srgbClr val="000000"/>
                </a:solidFill>
                <a:latin typeface="맑은 고딕"/>
                <a:ea typeface="맑은 고딕"/>
              </a:rPr>
              <a:t>delivery</a:t>
            </a:r>
            <a:r>
              <a:rPr sz="1800" b="0">
                <a:solidFill>
                  <a:srgbClr val="000000"/>
                </a:solidFill>
                <a:latin typeface="맑은 고딕"/>
                <a:ea typeface="맑은 고딕"/>
              </a:rPr>
              <a:t>가 인터페이스를 갖고 연동이 </a:t>
            </a:r>
            <a:r>
              <a:rPr sz="1800" b="1">
                <a:solidFill>
                  <a:srgbClr val="000000"/>
                </a:solidFill>
                <a:latin typeface="맑은 고딕"/>
                <a:ea typeface="맑은 고딕"/>
              </a:rPr>
              <a:t>구현</a:t>
            </a:r>
            <a:r>
              <a:rPr sz="1800" b="0">
                <a:solidFill>
                  <a:srgbClr val="000000"/>
                </a:solidFill>
                <a:latin typeface="맑은 고딕"/>
                <a:ea typeface="맑은 고딕"/>
              </a:rPr>
              <a:t>한다 —</a:t>
            </a:r>
            <a:r>
              <a:rPr sz="1600" b="0">
                <a:solidFill>
                  <a:srgbClr val="000000"/>
                </a:solidFill>
                <a:latin typeface="맑은 고딕"/>
                <a:ea typeface="맑은 고딕"/>
              </a:rPr>
              <a:t> 연동의 점선이 모두 </a:t>
            </a:r>
            <a:r>
              <a:rPr sz="1600" b="1">
                <a:solidFill>
                  <a:srgbClr val="000000"/>
                </a:solidFill>
                <a:latin typeface="맑은 고딕"/>
                <a:ea typeface="맑은 고딕"/>
              </a:rPr>
              <a:t>업무 패키지</a:t>
            </a:r>
            <a:r>
              <a:rPr sz="1600" b="0">
                <a:solidFill>
                  <a:srgbClr val="000000"/>
                </a:solidFill>
                <a:latin typeface="맑은 고딕"/>
                <a:ea typeface="맑은 고딕"/>
              </a:rPr>
              <a:t>로 향한다.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308779"/>
            <a:ext cx="8412480" cy="274320"/>
          </a:xfrm>
          <a:prstGeom prst="rect">
            <a:avLst/>
          </a:prstGeom>
          <a:noFill/>
        </p:spPr>
        <p:txBody>
          <a:bodyPr wrap="square">
            <a:spAutoFit/>
          </a:bodyPr>
          <a:lstStyle/>
          <a:p>
            <a:pPr algn="ctr"/>
            <a:r>
              <a:rPr sz="1400" b="1">
                <a:solidFill>
                  <a:srgbClr val="000000"/>
                </a:solidFill>
                <a:latin typeface="맑은 고딕"/>
                <a:ea typeface="맑은 고딕"/>
              </a:rPr>
              <a:t>주문 시스템 패키지(상세화)</a:t>
            </a:r>
          </a:p>
        </p:txBody>
      </p:sp>
      <p:pic>
        <p:nvPicPr>
          <p:cNvPr id="10" name="plantuml Diagram 7"/>
          <p:cNvPicPr>
            <a:picLocks noChangeAspect="1"/>
          </p:cNvPicPr>
          <p:nvPr/>
        </p:nvPicPr>
        <p:blipFill>
          <a:blip r:embed="plantumlImage7"/>
          <a:stretch>
            <a:fillRect/>
          </a:stretch>
        </p:blipFill>
        <p:spPr>
          <a:xfrm>
            <a:off x="2667000" y="3583099"/>
            <a:ext cx="3810000" cy="2706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패키지 원칙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99806" y="2690574"/>
          <a:ext cx="5130800" cy="3873500"/>
        </p:xfrm>
        <a:graphic>
          <a:graphicData uri="http://schemas.openxmlformats.org/drawingml/2006/table">
            <a:tbl>
              <a:tblPr/>
              <a:tblGrid>
                <a:gridCol w="889000"/>
                <a:gridCol w="1925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REP 재사용·릴리스 등가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CCP 공통 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CRP 공통 재사용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ADP 비순환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SDP 안정된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SAP 안정된 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재사용의 단위</a:t>
            </a:r>
            <a:r>
              <a:rPr sz="1800" b="0">
                <a:solidFill>
                  <a:srgbClr val="000000"/>
                </a:solidFill>
                <a:latin typeface="맑은 고딕"/>
                <a:ea typeface="맑은 고딕"/>
              </a:rPr>
              <a:t>는 릴리스의 단위다"</a:t>
            </a:r>
            <a:r>
              <a:rPr sz="1000" b="0">
                <a:solidFill>
                  <a:srgbClr val="000000"/>
                </a:solidFill>
                <a:latin typeface="맑은 고딕"/>
                <a:ea typeface="맑은 고딕"/>
              </a:rPr>
              <a:t>, </a:t>
            </a:r>
            <a:r>
              <a:rPr sz="1000" b="0">
                <a:solidFill>
                  <a:srgbClr val="000000"/>
                </a:solidFill>
                <a:latin typeface="맑은 고딕"/>
                <a:ea typeface="맑은 고딕"/>
              </a:rPr>
              <a:t>"The granule of reuse is the granule of release."</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9212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원칙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Release Reuse Equivalency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패키지 원칙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0"/>
              </a:spcBef>
              <a:spcAft>
                <a:spcPts val="600"/>
              </a:spcAft>
              <a:buNone/>
            </a:pPr>
            <a:r>
              <a:rPr sz="1800" b="0" i="1">
                <a:solidFill>
                  <a:srgbClr val="000000"/>
                </a:solidFill>
                <a:latin typeface="맑은 고딕"/>
                <a:ea typeface="맑은 고딕"/>
              </a:rPr>
              <a:t>Robert C. Martin은 패키지를 묶는 응집 원칙 셋과 패키지 사이의 결합 원칙 셋을 정리했다.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 세션에서 적용한 곳</a:t>
            </a:r>
            <a:r>
              <a:rPr sz="1800" b="0">
                <a:solidFill>
                  <a:srgbClr val="000000"/>
                </a:solidFill>
                <a:latin typeface="맑은 고딕"/>
                <a:ea typeface="맑은 고딕"/>
              </a:rPr>
              <a:t> —</a:t>
            </a:r>
            <a:r>
              <a:rPr sz="1600" b="0">
                <a:solidFill>
                  <a:srgbClr val="000000"/>
                </a:solidFill>
                <a:latin typeface="맑은 고딕"/>
                <a:ea typeface="맑은 고딕"/>
              </a:rPr>
              <a:t> CCP·CRP는 「08. 패키지 기준」, SDP는 「12. 의존 방향」, ADP는 「13. 순환 의존」, SAP는 「14. 주문 시스템 패키지 — 상세화」.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REP는 여러 팀·배포 단위로 나눌 때 중요하다. 한 시스템 안의 패키지에서는 </a:t>
            </a:r>
            <a:r>
              <a:rPr sz="1800" b="1">
                <a:solidFill>
                  <a:srgbClr val="000000"/>
                </a:solidFill>
                <a:latin typeface="맑은 고딕"/>
                <a:ea typeface="맑은 고딕"/>
              </a:rPr>
              <a:t>CCP·CRP</a:t>
            </a:r>
            <a:r>
              <a:rPr sz="1800" b="0">
                <a:solidFill>
                  <a:srgbClr val="000000"/>
                </a:solidFill>
                <a:latin typeface="맑은 고딕"/>
                <a:ea typeface="맑은 고딕"/>
              </a:rPr>
              <a:t>가 먼저다.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Release Reuse Equivalency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이 세션의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시스템에서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a:t>
            </a:r>
            <a:r>
              <a:rPr sz="1000" b="0">
                <a:solidFill>
                  <a:srgbClr val="000000"/>
                </a:solidFill>
                <a:latin typeface="맑은 고딕"/>
                <a:ea typeface="맑은 고딕"/>
              </a:rPr>
              <a:t>, </a:t>
            </a:r>
            <a:r>
              <a:rPr sz="1000" b="0">
                <a:solidFill>
                  <a:srgbClr val="000000"/>
                </a:solidFill>
                <a:latin typeface="맑은 고딕"/>
                <a:ea typeface="맑은 고딕"/>
              </a:rPr>
              <a:t>[Martin 2018, 재인용]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변경 파급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590206"/>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한 이유로 모였는가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인터페이스뿐이다.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시나리오를 하나씩 대어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9175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변경 시나리오별 파급</a:t>
            </a:r>
          </a:p>
        </p:txBody>
      </p:sp>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변경 파급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0"/>
              </a:spcBef>
              <a:spcAft>
                <a:spcPts val="600"/>
              </a:spcAft>
              <a:buNone/>
            </a:pPr>
            <a:r>
              <a:rPr sz="1800" b="0" i="1">
                <a:solidFill>
                  <a:srgbClr val="000000"/>
                </a:solidFill>
                <a:latin typeface="맑은 고딕"/>
                <a:ea typeface="맑은 고딕"/>
              </a:rPr>
              <a:t>결합도는 경계 사이가 얼마나 기대는가, 응집도는 경계 안이 한 이유로 모였는가다.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400" b="1">
                <a:solidFill>
                  <a:srgbClr val="000000"/>
                </a:solidFill>
                <a:latin typeface="맑은 고딕"/>
                <a:ea typeface="맑은 고딕"/>
              </a:rPr>
              <a:t>(초안)</a:t>
            </a:r>
            <a:r>
              <a:rPr sz="1800" b="0">
                <a:solidFill>
                  <a:srgbClr val="000000"/>
                </a:solidFill>
                <a:latin typeface="맑은 고딕"/>
                <a:ea typeface="맑은 고딕"/>
              </a:rPr>
              <a:t> —</a:t>
            </a:r>
            <a:r>
              <a:rPr sz="1600" b="0">
                <a:solidFill>
                  <a:srgbClr val="000000"/>
                </a:solidFill>
                <a:latin typeface="맑은 고딕"/>
                <a:ea typeface="맑은 고딕"/>
              </a:rPr>
              <a:t> 화살표가 </a:t>
            </a:r>
            <a:r>
              <a:rPr sz="1600" b="0">
                <a:solidFill>
                  <a:srgbClr val="000000"/>
                </a:solidFill>
                <a:latin typeface="맑은 고딕"/>
                <a:ea typeface="맑은 고딕"/>
              </a:rPr>
              <a:t>order</a:t>
            </a:r>
            <a:r>
              <a:rPr sz="1600" b="0">
                <a:solidFill>
                  <a:srgbClr val="000000"/>
                </a:solidFill>
                <a:latin typeface="맑은 고딕"/>
                <a:ea typeface="맑은 고딕"/>
              </a:rPr>
              <a:t> → </a:t>
            </a:r>
            <a:r>
              <a:rPr sz="1600" b="0">
                <a:solidFill>
                  <a:srgbClr val="000000"/>
                </a:solidFill>
                <a:latin typeface="맑은 고딕"/>
                <a:ea typeface="맑은 고딕"/>
              </a:rPr>
              <a:t>delivery</a:t>
            </a:r>
            <a:r>
              <a:rPr sz="1600" b="0">
                <a:solidFill>
                  <a:srgbClr val="000000"/>
                </a:solidFill>
                <a:latin typeface="맑은 고딕"/>
                <a:ea typeface="맑은 고딕"/>
              </a:rPr>
              <a:t> → </a:t>
            </a:r>
            <a:r>
              <a:rPr sz="1600" b="0">
                <a:solidFill>
                  <a:srgbClr val="000000"/>
                </a:solidFill>
                <a:latin typeface="맑은 고딕"/>
                <a:ea typeface="맑은 고딕"/>
              </a:rPr>
              <a:t>deliveryadapter</a:t>
            </a:r>
            <a:r>
              <a:rPr sz="1600" b="0">
                <a:solidFill>
                  <a:srgbClr val="000000"/>
                </a:solidFill>
                <a:latin typeface="맑은 고딕"/>
                <a:ea typeface="맑은 고딕"/>
              </a:rPr>
              <a:t> → </a:t>
            </a:r>
            <a:r>
              <a:rPr sz="1600" b="0">
                <a:solidFill>
                  <a:srgbClr val="000000"/>
                </a:solidFill>
                <a:latin typeface="맑은 고딕"/>
                <a:ea typeface="맑은 고딕"/>
              </a:rPr>
              <a:t>order</a:t>
            </a:r>
            <a:r>
              <a:rPr sz="1600" b="0">
                <a:solidFill>
                  <a:srgbClr val="000000"/>
                </a:solidFill>
                <a:latin typeface="맑은 고딕"/>
                <a:ea typeface="맑은 고딕"/>
              </a:rPr>
              <a:t>로 돈다. 연동이 바뀌면 </a:t>
            </a:r>
            <a:r>
              <a:rPr sz="1600" b="1">
                <a:solidFill>
                  <a:srgbClr val="000000"/>
                </a:solidFill>
                <a:latin typeface="맑은 고딕"/>
                <a:ea typeface="맑은 고딕"/>
              </a:rPr>
              <a:t>order</a:t>
            </a:r>
            <a:r>
              <a:rPr sz="1600" b="1">
                <a:solidFill>
                  <a:srgbClr val="000000"/>
                </a:solidFill>
                <a:latin typeface="맑은 고딕"/>
                <a:ea typeface="맑은 고딕"/>
              </a:rPr>
              <a:t>까지</a:t>
            </a:r>
            <a:r>
              <a:rPr sz="1600" b="0">
                <a:solidFill>
                  <a:srgbClr val="000000"/>
                </a:solidFill>
                <a:latin typeface="맑은 고딕"/>
                <a:ea typeface="맑은 고딕"/>
              </a:rPr>
              <a:t> 다시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400" b="1">
                <a:solidFill>
                  <a:srgbClr val="000000"/>
                </a:solidFill>
                <a:latin typeface="맑은 고딕"/>
                <a:ea typeface="맑은 고딕"/>
              </a:rPr>
              <a:t>(상세화)</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로 들어오는 화살표가 없어 변경이 </a:t>
            </a:r>
            <a:r>
              <a:rPr sz="1600" b="1">
                <a:solidFill>
                  <a:srgbClr val="000000"/>
                </a:solidFill>
                <a:latin typeface="맑은 고딕"/>
                <a:ea typeface="맑은 고딕"/>
              </a:rPr>
              <a:t>그 안에서</a:t>
            </a:r>
            <a:r>
              <a:rPr sz="1600" b="0">
                <a:solidFill>
                  <a:srgbClr val="000000"/>
                </a:solidFill>
                <a:latin typeface="맑은 고딕"/>
                <a:ea typeface="맑은 고딕"/>
              </a:rPr>
              <a:t> 끝난다.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73231"/>
            <a:ext cx="8412480" cy="274320"/>
          </a:xfrm>
          <a:prstGeom prst="rect">
            <a:avLst/>
          </a:prstGeom>
          <a:noFill/>
        </p:spPr>
        <p:txBody>
          <a:bodyPr wrap="square">
            <a:spAutoFit/>
          </a:bodyPr>
          <a:lstStyle/>
          <a:p>
            <a:pPr algn="ctr"/>
            <a:r>
              <a:rPr sz="1400" b="1">
                <a:solidFill>
                  <a:srgbClr val="000000"/>
                </a:solidFill>
                <a:latin typeface="맑은 고딕"/>
                <a:ea typeface="맑은 고딕"/>
              </a:rPr>
              <a:t>초안과 상세화의 파급 비교</a:t>
            </a:r>
          </a:p>
        </p:txBody>
      </p:sp>
      <p:pic>
        <p:nvPicPr>
          <p:cNvPr id="10" name="plantuml Diagram 8"/>
          <p:cNvPicPr>
            <a:picLocks noChangeAspect="1"/>
          </p:cNvPicPr>
          <p:nvPr/>
        </p:nvPicPr>
        <p:blipFill>
          <a:blip r:embed="plantumlImage8"/>
          <a:stretch>
            <a:fillRect/>
          </a:stretch>
        </p:blipFill>
        <p:spPr>
          <a:xfrm>
            <a:off x="3048000" y="3447551"/>
            <a:ext cx="3048000"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18.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인터페이스의 위치</a:t>
            </a:r>
            <a:r>
              <a:rPr sz="1800" b="0">
                <a:solidFill>
                  <a:srgbClr val="000000"/>
                </a:solidFill>
                <a:latin typeface="맑은 고딕"/>
                <a:ea typeface="맑은 고딕"/>
              </a:rPr>
              <a:t> —</a:t>
            </a:r>
            <a:r>
              <a:rPr sz="1600" b="0">
                <a:solidFill>
                  <a:srgbClr val="000000"/>
                </a:solidFill>
                <a:latin typeface="맑은 고딕"/>
                <a:ea typeface="맑은 고딕"/>
              </a:rPr>
              <a:t> 외부에 대한 요청 인터페이스는 </a:t>
            </a:r>
            <a:r>
              <a:rPr sz="1600" b="1">
                <a:solidFill>
                  <a:srgbClr val="000000"/>
                </a:solidFill>
                <a:latin typeface="맑은 고딕"/>
                <a:ea typeface="맑은 고딕"/>
              </a:rPr>
              <a:t>업무 패키지</a:t>
            </a:r>
            <a:r>
              <a:rPr sz="16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리뷰와 코드로 본다. 업무 패키지의 </a:t>
            </a:r>
            <a:r>
              <a:rPr sz="1600" b="1">
                <a:solidFill>
                  <a:srgbClr val="000000"/>
                </a:solidFill>
                <a:latin typeface="맑은 고딕"/>
                <a:ea typeface="맑은 고딕"/>
              </a:rPr>
              <a:t>import 검사</a:t>
            </a:r>
            <a:r>
              <a:rPr sz="1600" b="0">
                <a:solidFill>
                  <a:srgbClr val="000000"/>
                </a:solidFill>
                <a:latin typeface="맑은 고딕"/>
                <a:ea typeface="맑은 고딕"/>
              </a:rPr>
              <a:t>는 「23. 의존 방향과 테스트」의 테스트다.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잘못된 관행 — 기술 계층 분할</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로 먼저 나누면, 취소 규칙 하나가 </a:t>
            </a:r>
            <a:r>
              <a:rPr sz="1800" b="1">
                <a:solidFill>
                  <a:srgbClr val="000000"/>
                </a:solidFill>
                <a:latin typeface="맑은 고딕"/>
                <a:ea typeface="맑은 고딕"/>
              </a:rPr>
              <a:t>모든 계층</a:t>
            </a:r>
            <a:r>
              <a:rPr sz="1800" b="0">
                <a:solidFill>
                  <a:srgbClr val="000000"/>
                </a:solidFill>
                <a:latin typeface="맑은 고딕"/>
                <a:ea typeface="맑은 고딕"/>
              </a:rPr>
              <a:t>에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왼쪽에서 취소 규칙이 바뀌면 </a:t>
            </a:r>
            <a:r>
              <a:rPr sz="1800" b="1">
                <a:solidFill>
                  <a:srgbClr val="000000"/>
                </a:solidFill>
                <a:latin typeface="맑은 고딕"/>
                <a:ea typeface="맑은 고딕"/>
              </a:rPr>
              <a:t>세 계층</a:t>
            </a:r>
            <a:r>
              <a:rPr sz="1800" b="0">
                <a:solidFill>
                  <a:srgbClr val="000000"/>
                </a:solidFill>
                <a:latin typeface="맑은 고딕"/>
                <a:ea typeface="맑은 고딕"/>
              </a:rPr>
              <a:t>을 모두 고친다. 업무 사이의 의존</a:t>
            </a:r>
            <a:r>
              <a:rPr sz="1400" b="0">
                <a:solidFill>
                  <a:srgbClr val="000000"/>
                </a:solidFill>
                <a:latin typeface="맑은 고딕"/>
                <a:ea typeface="맑은 고딕"/>
              </a:rPr>
              <a:t>(주문 → 결제)</a:t>
            </a:r>
            <a:r>
              <a:rPr sz="1800" b="0">
                <a:solidFill>
                  <a:srgbClr val="000000"/>
                </a:solidFill>
                <a:latin typeface="맑은 고딕"/>
                <a:ea typeface="맑은 고딕"/>
              </a:rPr>
              <a:t>은 보이지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a:t>
            </a:r>
            <a:r>
              <a:rPr sz="1800" b="1">
                <a:solidFill>
                  <a:srgbClr val="000000"/>
                </a:solidFill>
                <a:latin typeface="맑은 고딕"/>
                <a:ea typeface="맑은 고딕"/>
              </a:rPr>
              <a:t>변경 이유</a:t>
            </a:r>
            <a:r>
              <a:rPr sz="1800" b="0">
                <a:solidFill>
                  <a:srgbClr val="000000"/>
                </a:solidFill>
                <a:latin typeface="맑은 고딕"/>
                <a:ea typeface="맑은 고딕"/>
              </a:rPr>
              <a:t>로 나눠 취소 규칙이 </a:t>
            </a:r>
            <a:r>
              <a:rPr sz="1800" b="0">
                <a:solidFill>
                  <a:srgbClr val="000000"/>
                </a:solidFill>
                <a:latin typeface="맑은 고딕"/>
                <a:ea typeface="맑은 고딕"/>
              </a:rPr>
              <a:t>order</a:t>
            </a:r>
            <a:r>
              <a:rPr sz="1800" b="0">
                <a:solidFill>
                  <a:srgbClr val="000000"/>
                </a:solidFill>
                <a:latin typeface="맑은 고딕"/>
                <a:ea typeface="맑은 고딕"/>
              </a:rPr>
              <a:t> 안에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계층이 틀린 것은 아니다. 계층은 경계 </a:t>
            </a:r>
            <a:r>
              <a:rPr sz="1800" b="1">
                <a:solidFill>
                  <a:srgbClr val="000000"/>
                </a:solidFill>
                <a:latin typeface="맑은 고딕"/>
                <a:ea typeface="맑은 고딕"/>
              </a:rPr>
              <a:t>안의</a:t>
            </a:r>
            <a:r>
              <a:rPr sz="1800" b="0">
                <a:solidFill>
                  <a:srgbClr val="000000"/>
                </a:solidFill>
                <a:latin typeface="맑은 고딕"/>
                <a:ea typeface="맑은 고딕"/>
              </a:rPr>
              <a:t> 구성 방식이 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48211"/>
            <a:ext cx="8412480" cy="274320"/>
          </a:xfrm>
          <a:prstGeom prst="rect">
            <a:avLst/>
          </a:prstGeom>
          <a:noFill/>
        </p:spPr>
        <p:txBody>
          <a:bodyPr wrap="square">
            <a:spAutoFit/>
          </a:bodyPr>
          <a:lstStyle/>
          <a:p>
            <a:pPr algn="ctr"/>
            <a:r>
              <a:rPr sz="1400" b="1">
                <a:solidFill>
                  <a:srgbClr val="000000"/>
                </a:solidFill>
                <a:latin typeface="맑은 고딕"/>
                <a:ea typeface="맑은 고딕"/>
              </a:rPr>
              <a:t>기술 계층 분할과 변경 이유 분할</a:t>
            </a:r>
          </a:p>
        </p:txBody>
      </p:sp>
      <p:pic>
        <p:nvPicPr>
          <p:cNvPr id="10" name="plantuml Diagram 9"/>
          <p:cNvPicPr>
            <a:picLocks noChangeAspect="1"/>
          </p:cNvPicPr>
          <p:nvPr/>
        </p:nvPicPr>
        <p:blipFill>
          <a:blip r:embed="plantumlImage9"/>
          <a:stretch>
            <a:fillRect/>
          </a:stretch>
        </p:blipFill>
        <p:spPr>
          <a:xfrm>
            <a:off x="3112406" y="3922531"/>
            <a:ext cx="2919188" cy="245394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잘못된 관행 — 공용 패키지</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공용 패키지</a:t>
            </a:r>
            <a:r>
              <a:rPr sz="1400" b="0">
                <a:solidFill>
                  <a:srgbClr val="000000"/>
                </a:solidFill>
                <a:latin typeface="맑은 고딕"/>
                <a:ea typeface="맑은 고딕"/>
              </a:rPr>
              <a:t>(common·util)</a:t>
            </a:r>
            <a:r>
              <a:rPr sz="1800" b="0">
                <a:solidFill>
                  <a:srgbClr val="000000"/>
                </a:solidFill>
                <a:latin typeface="맑은 고딕"/>
                <a:ea typeface="맑은 고딕"/>
              </a:rPr>
              <a:t>는 모두가 의존해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금액 규칙만 고쳐도 주소를 쓰는 곳까지 </a:t>
            </a:r>
            <a:r>
              <a:rPr sz="1800" b="1">
                <a:solidFill>
                  <a:srgbClr val="000000"/>
                </a:solidFill>
                <a:latin typeface="맑은 고딕"/>
                <a:ea typeface="맑은 고딕"/>
              </a:rPr>
              <a:t>다시 확인</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값을 </a:t>
            </a:r>
            <a:r>
              <a:rPr sz="1800" b="1">
                <a:solidFill>
                  <a:srgbClr val="000000"/>
                </a:solidFill>
                <a:latin typeface="맑은 고딕"/>
                <a:ea typeface="맑은 고딕"/>
              </a:rPr>
              <a:t>의미를 소유한 경계</a:t>
            </a:r>
            <a:r>
              <a:rPr sz="1800" b="0">
                <a:solidFill>
                  <a:srgbClr val="000000"/>
                </a:solidFill>
                <a:latin typeface="맑은 고딕"/>
                <a:ea typeface="맑은 고딕"/>
              </a:rPr>
              <a:t>에 둔다 —</a:t>
            </a:r>
            <a:r>
              <a:rPr sz="1600" b="0">
                <a:solidFill>
                  <a:srgbClr val="000000"/>
                </a:solidFill>
                <a:latin typeface="맑은 고딕"/>
                <a:ea typeface="맑은 고딕"/>
              </a:rPr>
              <a:t> 금액은 </a:t>
            </a:r>
            <a:r>
              <a:rPr sz="1600" b="0">
                <a:solidFill>
                  <a:srgbClr val="000000"/>
                </a:solidFill>
                <a:latin typeface="맑은 고딕"/>
                <a:ea typeface="맑은 고딕"/>
              </a:rPr>
              <a:t>payment</a:t>
            </a:r>
            <a:r>
              <a:rPr sz="1600" b="0">
                <a:solidFill>
                  <a:srgbClr val="000000"/>
                </a:solidFill>
                <a:latin typeface="맑은 고딕"/>
                <a:ea typeface="맑은 고딕"/>
              </a:rPr>
              <a:t>, 주소는 </a:t>
            </a:r>
            <a:r>
              <a:rPr sz="1600" b="0">
                <a:solidFill>
                  <a:srgbClr val="000000"/>
                </a:solidFill>
                <a:latin typeface="맑은 고딕"/>
                <a:ea typeface="맑은 고딕"/>
              </a:rPr>
              <a:t>order</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순환을 끊으려고 공용 패키지를 만들지 않는다. 인터페이스를 </a:t>
            </a:r>
            <a:r>
              <a:rPr sz="1800" b="1">
                <a:solidFill>
                  <a:srgbClr val="000000"/>
                </a:solidFill>
                <a:latin typeface="맑은 고딕"/>
                <a:ea typeface="맑은 고딕"/>
              </a:rPr>
              <a:t>두는 패키지</a:t>
            </a:r>
            <a:r>
              <a:rPr sz="1800" b="0">
                <a:solidFill>
                  <a:srgbClr val="000000"/>
                </a:solidFill>
                <a:latin typeface="맑은 고딕"/>
                <a:ea typeface="맑은 고딕"/>
              </a:rPr>
              <a:t>를 바꿔 방향을 바꾼다</a:t>
            </a:r>
            <a:r>
              <a:rPr sz="1400" b="0">
                <a:solidFill>
                  <a:srgbClr val="000000"/>
                </a:solidFill>
                <a:latin typeface="맑은 고딕"/>
                <a:ea typeface="맑은 고딕"/>
              </a:rPr>
              <a:t>(「13. 순환 의존」)</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09673"/>
            <a:ext cx="8412480" cy="274320"/>
          </a:xfrm>
          <a:prstGeom prst="rect">
            <a:avLst/>
          </a:prstGeom>
          <a:noFill/>
        </p:spPr>
        <p:txBody>
          <a:bodyPr wrap="square">
            <a:spAutoFit/>
          </a:bodyPr>
          <a:lstStyle/>
          <a:p>
            <a:pPr algn="ctr"/>
            <a:r>
              <a:rPr sz="1400" b="1">
                <a:solidFill>
                  <a:srgbClr val="000000"/>
                </a:solidFill>
                <a:latin typeface="맑은 고딕"/>
                <a:ea typeface="맑은 고딕"/>
              </a:rPr>
              <a:t>공용 패키지와 의미 소유</a:t>
            </a:r>
          </a:p>
        </p:txBody>
      </p:sp>
      <p:pic>
        <p:nvPicPr>
          <p:cNvPr id="10" name="plantuml Diagram 10"/>
          <p:cNvPicPr>
            <a:picLocks noChangeAspect="1"/>
          </p:cNvPicPr>
          <p:nvPr/>
        </p:nvPicPr>
        <p:blipFill>
          <a:blip r:embed="plantumlImage10"/>
          <a:stretch>
            <a:fillRect/>
          </a:stretch>
        </p:blipFill>
        <p:spPr>
          <a:xfrm>
            <a:off x="2149231" y="4283993"/>
            <a:ext cx="4845538"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잘못된 관행 — 외부 모델 누수</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배송 시스템의 상태 코드 </a:t>
            </a:r>
            <a:r>
              <a:rPr sz="1800" b="0">
                <a:solidFill>
                  <a:srgbClr val="000000"/>
                </a:solidFill>
                <a:latin typeface="맑은 고딕"/>
                <a:ea typeface="맑은 고딕"/>
              </a:rPr>
              <a:t>PICKING</a:t>
            </a:r>
            <a:r>
              <a:rPr sz="1800" b="0">
                <a:solidFill>
                  <a:srgbClr val="000000"/>
                </a:solidFill>
                <a:latin typeface="맑은 고딕"/>
                <a:ea typeface="맑은 고딕"/>
              </a:rPr>
              <a:t>·</a:t>
            </a:r>
            <a:r>
              <a:rPr sz="1800" b="0">
                <a:solidFill>
                  <a:srgbClr val="000000"/>
                </a:solidFill>
                <a:latin typeface="맑은 고딕"/>
                <a:ea typeface="맑은 고딕"/>
              </a:rPr>
              <a:t>PACKED</a:t>
            </a:r>
            <a:r>
              <a:rPr sz="1800" b="0">
                <a:solidFill>
                  <a:srgbClr val="000000"/>
                </a:solidFill>
                <a:latin typeface="맑은 고딕"/>
                <a:ea typeface="맑은 고딕"/>
              </a:rPr>
              <a:t>가 </a:t>
            </a:r>
            <a:r>
              <a:rPr sz="1800" b="1">
                <a:solidFill>
                  <a:srgbClr val="000000"/>
                </a:solidFill>
                <a:latin typeface="맑은 고딕"/>
                <a:ea typeface="맑은 고딕"/>
              </a:rPr>
              <a:t>주문 상태</a:t>
            </a:r>
            <a:r>
              <a:rPr sz="1800" b="0">
                <a:solidFill>
                  <a:srgbClr val="000000"/>
                </a:solidFill>
                <a:latin typeface="맑은 고딕"/>
                <a:ea typeface="맑은 고딕"/>
              </a:rPr>
              <a:t>가 됐다. 배송 시스템이 코드를 바꾸면 주문의 규칙이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주문 상태를 </a:t>
            </a:r>
            <a:r>
              <a:rPr sz="1800" b="1">
                <a:solidFill>
                  <a:srgbClr val="000000"/>
                </a:solidFill>
                <a:latin typeface="맑은 고딕"/>
                <a:ea typeface="맑은 고딕"/>
              </a:rPr>
              <a:t>주문의 사건</a:t>
            </a:r>
            <a:r>
              <a:rPr sz="1800" b="0">
                <a:solidFill>
                  <a:srgbClr val="000000"/>
                </a:solidFill>
                <a:latin typeface="맑은 고딕"/>
                <a:ea typeface="맑은 고딕"/>
              </a:rPr>
              <a:t>으로 정하고, 연동이 </a:t>
            </a:r>
            <a:r>
              <a:rPr sz="1800" b="0">
                <a:solidFill>
                  <a:srgbClr val="000000"/>
                </a:solidFill>
                <a:latin typeface="맑은 고딕"/>
                <a:ea typeface="맑은 고딕"/>
              </a:rPr>
              <a:t>IN_TRANSIT</a:t>
            </a:r>
            <a:r>
              <a:rPr sz="1800" b="0">
                <a:solidFill>
                  <a:srgbClr val="000000"/>
                </a:solidFill>
                <a:latin typeface="맑은 고딕"/>
                <a:ea typeface="맑은 고딕"/>
              </a:rPr>
              <a:t>을 배송 시작 통보로 변환한다.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89168"/>
            <a:ext cx="8412480" cy="274320"/>
          </a:xfrm>
          <a:prstGeom prst="rect">
            <a:avLst/>
          </a:prstGeom>
          <a:noFill/>
        </p:spPr>
        <p:txBody>
          <a:bodyPr wrap="square">
            <a:spAutoFit/>
          </a:bodyPr>
          <a:lstStyle/>
          <a:p>
            <a:pPr algn="ctr"/>
            <a:r>
              <a:rPr sz="1400" b="1">
                <a:solidFill>
                  <a:srgbClr val="000000"/>
                </a:solidFill>
                <a:latin typeface="맑은 고딕"/>
                <a:ea typeface="맑은 고딕"/>
              </a:rPr>
              <a:t>외부 형식의 누수와 번역</a:t>
            </a:r>
          </a:p>
        </p:txBody>
      </p:sp>
      <p:pic>
        <p:nvPicPr>
          <p:cNvPr id="10" name="plantuml Diagram 11"/>
          <p:cNvPicPr>
            <a:picLocks noChangeAspect="1"/>
          </p:cNvPicPr>
          <p:nvPr/>
        </p:nvPicPr>
        <p:blipFill>
          <a:blip r:embed="plantumlImage11"/>
          <a:stretch>
            <a:fillRect/>
          </a:stretch>
        </p:blipFill>
        <p:spPr>
          <a:xfrm>
            <a:off x="2868598" y="3763488"/>
            <a:ext cx="3406803" cy="2612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22. 패키지와 코드</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587235"/>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패키지가 가진 요청 인터페이스.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DeliveryGateway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requestDispatchStop</a:t>
            </a:r>
            <a:r>
              <a:rPr sz="1000" b="0">
                <a:solidFill>
                  <a:srgbClr val="000000"/>
                </a:solidFill>
                <a:latin typeface="Consolas"/>
                <a:ea typeface="맑은 고딕"/>
              </a:rPr>
              <a:t>(String deliveryNumber);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요청 인터페이스는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852663"/>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deliveryadapter;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delivery.DeliveryGateway;</a:t>
            </a:r>
          </a:p>
          <a:p>
            <a:pPr marL="0" indent="0" algn="l">
              <a:lnSpc>
                <a:spcPts val="1150"/>
              </a:lnSpc>
              <a:spcBef>
                <a:spcPts val="0"/>
              </a:spcBef>
              <a:spcAft>
                <a:spcPts val="0"/>
              </a:spcAft>
              <a:buNone/>
            </a:pPr>
            <a:r>
              <a:rPr sz="1000" b="0">
                <a:solidFill>
                  <a:srgbClr val="000000"/>
                </a:solidFill>
                <a:latin typeface="Consolas"/>
                <a:ea typeface="맑은 고딕"/>
              </a:rPr>
              <a:t>import order.Order;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변환한다.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DeliveryAdapter</a:t>
            </a:r>
            <a:r>
              <a:rPr sz="1000" b="0">
                <a:solidFill>
                  <a:srgbClr val="000000"/>
                </a:solidFill>
                <a:latin typeface="Consolas"/>
                <a:ea typeface="맑은 고딕"/>
              </a:rPr>
              <a:t> implements DeliveryGateway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인터페이스와 연동</a:t>
            </a:r>
          </a:p>
        </p:txBody>
      </p:sp>
      <p:pic>
        <p:nvPicPr>
          <p:cNvPr id="35" name="plantuml Diagram 12"/>
          <p:cNvPicPr>
            <a:picLocks noChangeAspect="1"/>
          </p:cNvPicPr>
          <p:nvPr/>
        </p:nvPicPr>
        <p:blipFill>
          <a:blip r:embed="plantumlImage12"/>
          <a:stretch>
            <a:fillRect/>
          </a:stretch>
        </p:blipFill>
        <p:spPr>
          <a:xfrm>
            <a:off x="3145692" y="2117318"/>
            <a:ext cx="2852615"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23. 의존 방향과 테스트</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77735"/>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requests = new ArrayList&lt;String&gt;();</a:t>
            </a:r>
          </a:p>
          <a:p>
            <a:pPr marL="0" indent="0" algn="l">
              <a:lnSpc>
                <a:spcPts val="1080"/>
              </a:lnSpc>
              <a:spcBef>
                <a:spcPts val="0"/>
              </a:spcBef>
              <a:spcAft>
                <a:spcPts val="0"/>
              </a:spcAft>
              <a:buNone/>
            </a:pPr>
            <a:r>
              <a:rPr sz="900" b="0">
                <a:solidFill>
                  <a:srgbClr val="000000"/>
                </a:solidFill>
                <a:latin typeface="Consolas"/>
                <a:ea typeface="맑은 고딕"/>
              </a:rPr>
              <a:t>        PaymentGateway fakePayment = amount -&gt; requests.add("환불 " + amount.won());</a:t>
            </a:r>
          </a:p>
          <a:p>
            <a:pPr marL="0" indent="0" algn="l">
              <a:lnSpc>
                <a:spcPts val="1080"/>
              </a:lnSpc>
              <a:spcBef>
                <a:spcPts val="0"/>
              </a:spcBef>
              <a:spcAft>
                <a:spcPts val="0"/>
              </a:spcAft>
              <a:buNone/>
            </a:pPr>
            <a:r>
              <a:rPr sz="900" b="0">
                <a:solidFill>
                  <a:srgbClr val="000000"/>
                </a:solidFill>
                <a:latin typeface="Consolas"/>
                <a:ea typeface="맑은 고딕"/>
              </a:rPr>
              <a:t>        DeliveryGateway fakeDelivery = number -&gt; { requests.add("출고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order = new Order();</a:t>
            </a:r>
          </a:p>
          <a:p>
            <a:pPr marL="0" indent="0" algn="l">
              <a:lnSpc>
                <a:spcPts val="1080"/>
              </a:lnSpc>
              <a:spcBef>
                <a:spcPts val="0"/>
              </a:spcBef>
              <a:spcAft>
                <a:spcPts val="0"/>
              </a:spcAft>
              <a:buNone/>
            </a:pPr>
            <a:r>
              <a:rPr sz="900" b="0">
                <a:solidFill>
                  <a:srgbClr val="000000"/>
                </a:solidFill>
                <a:latin typeface="Consolas"/>
                <a:ea typeface="맑은 고딕"/>
              </a:rPr>
              <a:t>        order.onPaid(new Payment(new Money(2000), fakePayment), new Delivery("D-1", fakeDelivery));</a:t>
            </a:r>
          </a:p>
          <a:p>
            <a:pPr marL="0" indent="0" algn="l">
              <a:lnSpc>
                <a:spcPts val="1080"/>
              </a:lnSpc>
              <a:spcBef>
                <a:spcPts val="0"/>
              </a:spcBef>
              <a:spcAft>
                <a:spcPts val="0"/>
              </a:spcAft>
              <a:buNone/>
            </a:pPr>
            <a:r>
              <a:rPr sz="900" b="0">
                <a:solidFill>
                  <a:srgbClr val="000000"/>
                </a:solidFill>
                <a:latin typeface="Consolas"/>
                <a:ea typeface="맑은 고딕"/>
              </a:rPr>
              <a:t>        order.cancel();</a:t>
            </a:r>
          </a:p>
          <a:p>
            <a:pPr marL="0" indent="0" algn="l">
              <a:lnSpc>
                <a:spcPts val="1080"/>
              </a:lnSpc>
              <a:spcBef>
                <a:spcPts val="0"/>
              </a:spcBef>
              <a:spcAft>
                <a:spcPts val="0"/>
              </a:spcAft>
              <a:buNone/>
            </a:pPr>
            <a:r>
              <a:rPr sz="900" b="0">
                <a:solidFill>
                  <a:srgbClr val="000000"/>
                </a:solidFill>
                <a:latin typeface="Consolas"/>
                <a:ea typeface="맑은 고딕"/>
              </a:rPr>
              <a:t>        check(order.status() == OrderStatus.CANCELLING);</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business : List.of("order", "payment", "delivery"))</a:t>
            </a:r>
          </a:p>
          <a:p>
            <a:pPr marL="0" indent="0" algn="l">
              <a:lnSpc>
                <a:spcPts val="1080"/>
              </a:lnSpc>
              <a:spcBef>
                <a:spcPts val="0"/>
              </a:spcBef>
              <a:spcAft>
                <a:spcPts val="0"/>
              </a:spcAft>
              <a:buNone/>
            </a:pPr>
            <a:r>
              <a:rPr sz="900" b="0">
                <a:solidFill>
                  <a:srgbClr val="000000"/>
                </a:solidFill>
                <a:latin typeface="Consolas"/>
                <a:ea typeface="맑은 고딕"/>
              </a:rPr>
              <a:t>            try (var files = Files.list(Path.of(business))) {</a:t>
            </a:r>
          </a:p>
          <a:p>
            <a:pPr marL="0" indent="0" algn="l">
              <a:lnSpc>
                <a:spcPts val="1080"/>
              </a:lnSpc>
              <a:spcBef>
                <a:spcPts val="0"/>
              </a:spcBef>
              <a:spcAft>
                <a:spcPts val="0"/>
              </a:spcAft>
              <a:buNone/>
            </a:pPr>
            <a:r>
              <a:rPr sz="900" b="0">
                <a:solidFill>
                  <a:srgbClr val="000000"/>
                </a:solidFill>
                <a:latin typeface="Consolas"/>
                <a:ea typeface="맑은 고딕"/>
              </a:rPr>
              <a:t>                for (Path file : files.toList()) {</a:t>
            </a:r>
          </a:p>
          <a:p>
            <a:pPr marL="0" indent="0" algn="l">
              <a:lnSpc>
                <a:spcPts val="1080"/>
              </a:lnSpc>
              <a:spcBef>
                <a:spcPts val="0"/>
              </a:spcBef>
              <a:spcAft>
                <a:spcPts val="0"/>
              </a:spcAft>
              <a:buNone/>
            </a:pPr>
            <a:r>
              <a:rPr sz="900" b="0">
                <a:solidFill>
                  <a:srgbClr val="000000"/>
                </a:solidFill>
                <a:latin typeface="Consolas"/>
                <a:ea typeface="맑은 고딕"/>
              </a:rPr>
              <a:t>                    String source = Files.readString(file);</a:t>
            </a:r>
          </a:p>
          <a:p>
            <a:pPr marL="0" indent="0" algn="l">
              <a:lnSpc>
                <a:spcPts val="1080"/>
              </a:lnSpc>
              <a:spcBef>
                <a:spcPts val="0"/>
              </a:spcBef>
              <a:spcAft>
                <a:spcPts val="0"/>
              </a:spcAft>
              <a:buNone/>
            </a:pPr>
            <a:r>
              <a:rPr sz="900" b="0">
                <a:solidFill>
                  <a:srgbClr val="000000"/>
                </a:solidFill>
                <a:latin typeface="Consolas"/>
                <a:ea typeface="맑은 고딕"/>
              </a:rPr>
              <a:t>                    check(!source.contains("import paymentadapter") &amp;&amp; !source.contains("import deliveryadapter"));</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인터페이스가 업무 패키지에 있으면, 연동 없이 </a:t>
            </a:r>
            <a:r>
              <a:rPr sz="1800" b="1">
                <a:solidFill>
                  <a:srgbClr val="000000"/>
                </a:solidFill>
                <a:latin typeface="맑은 고딕"/>
                <a:ea typeface="맑은 고딕"/>
              </a:rPr>
              <a:t>가짜 구현</a:t>
            </a:r>
            <a:r>
              <a:rPr sz="1800" b="0">
                <a:solidFill>
                  <a:srgbClr val="000000"/>
                </a:solidFill>
                <a:latin typeface="맑은 고딕"/>
                <a:ea typeface="맑은 고딕"/>
              </a:rPr>
              <a:t>으로 주문 규칙을 시험할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시험할 때의 의존</a:t>
            </a:r>
          </a:p>
        </p:txBody>
      </p:sp>
      <p:pic>
        <p:nvPicPr>
          <p:cNvPr id="34" name="plantuml Diagram 13"/>
          <p:cNvPicPr>
            <a:picLocks noChangeAspect="1"/>
          </p:cNvPicPr>
          <p:nvPr/>
        </p:nvPicPr>
        <p:blipFill>
          <a:blip r:embed="plantumlImage13"/>
          <a:stretch>
            <a:fillRect/>
          </a:stretch>
        </p:blipFill>
        <p:spPr>
          <a:xfrm>
            <a:off x="3283683" y="2117318"/>
            <a:ext cx="2576635"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24. 통보 변환 코드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792389"/>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변환한다.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Order order)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order.onDeliveryStarted();</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변환하지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DeliveryAdapter</a:t>
            </a:r>
            <a:r>
              <a:rPr sz="1800" b="0">
                <a:solidFill>
                  <a:srgbClr val="000000"/>
                </a:solidFill>
                <a:latin typeface="맑은 고딕"/>
                <a:ea typeface="맑은 고딕"/>
              </a:rPr>
              <a:t>는 </a:t>
            </a:r>
            <a:r>
              <a:rPr sz="1800" b="0">
                <a:solidFill>
                  <a:srgbClr val="000000"/>
                </a:solidFill>
                <a:latin typeface="맑은 고딕"/>
                <a:ea typeface="맑은 고딕"/>
              </a:rPr>
              <a:t>IN_TRANSIT</a:t>
            </a:r>
            <a:r>
              <a:rPr sz="1800" b="0">
                <a:solidFill>
                  <a:srgbClr val="000000"/>
                </a:solidFill>
                <a:latin typeface="맑은 고딕"/>
                <a:ea typeface="맑은 고딕"/>
              </a:rPr>
              <a:t>만 배송 시작 통보 </a:t>
            </a:r>
            <a:r>
              <a:rPr sz="1800" b="0">
                <a:solidFill>
                  <a:srgbClr val="000000"/>
                </a:solidFill>
                <a:latin typeface="맑은 고딕"/>
                <a:ea typeface="맑은 고딕"/>
              </a:rPr>
              <a:t>onDeliveryStarted()</a:t>
            </a:r>
            <a:r>
              <a:rPr sz="1800" b="0">
                <a:solidFill>
                  <a:srgbClr val="000000"/>
                </a:solidFill>
                <a:latin typeface="맑은 고딕"/>
                <a:ea typeface="맑은 고딕"/>
              </a:rPr>
              <a:t>로 </a:t>
            </a:r>
            <a:r>
              <a:rPr sz="1800" b="1">
                <a:solidFill>
                  <a:srgbClr val="000000"/>
                </a:solidFill>
                <a:latin typeface="맑은 고딕"/>
                <a:ea typeface="맑은 고딕"/>
              </a:rPr>
              <a:t>변환</a:t>
            </a:r>
            <a:r>
              <a:rPr sz="1800" b="0">
                <a:solidFill>
                  <a:srgbClr val="000000"/>
                </a:solidFill>
                <a:latin typeface="맑은 고딕"/>
                <a:ea typeface="맑은 고딕"/>
              </a:rPr>
              <a:t>하고, </a:t>
            </a:r>
            <a:r>
              <a:rPr sz="1800" b="0">
                <a:solidFill>
                  <a:srgbClr val="000000"/>
                </a:solidFill>
                <a:latin typeface="맑은 고딕"/>
                <a:ea typeface="맑은 고딕"/>
              </a:rPr>
              <a:t>PICKING</a:t>
            </a:r>
            <a:r>
              <a:rPr sz="1800" b="0">
                <a:solidFill>
                  <a:srgbClr val="000000"/>
                </a:solidFill>
                <a:latin typeface="맑은 고딕"/>
                <a:ea typeface="맑은 고딕"/>
              </a:rPr>
              <a:t>은 버린다.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842998"/>
            <a:ext cx="8412480" cy="274320"/>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코드를 주문의 사건으로 변환</a:t>
            </a:r>
          </a:p>
        </p:txBody>
      </p:sp>
      <p:pic>
        <p:nvPicPr>
          <p:cNvPr id="34" name="plantuml Diagram 14"/>
          <p:cNvPicPr>
            <a:picLocks noChangeAspect="1"/>
          </p:cNvPicPr>
          <p:nvPr/>
        </p:nvPicPr>
        <p:blipFill>
          <a:blip r:embed="plantumlImage14"/>
          <a:stretch>
            <a:fillRect/>
          </a:stretch>
        </p:blipFill>
        <p:spPr>
          <a:xfrm>
            <a:off x="2443529" y="2117318"/>
            <a:ext cx="425694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인터페이스와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인터페이스가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실습 — 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실습 4의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 실습 2의 </a:t>
            </a:r>
            <a:r>
              <a:rPr sz="1400" b="1">
                <a:solidFill>
                  <a:srgbClr val="000000"/>
                </a:solidFill>
                <a:latin typeface="맑은 고딕"/>
                <a:ea typeface="맑은 고딕"/>
              </a:rPr>
              <a:t>용어집</a:t>
            </a:r>
            <a:r>
              <a:rPr sz="1000" b="0">
                <a:solidFill>
                  <a:srgbClr val="000000"/>
                </a:solidFill>
                <a:latin typeface="맑은 고딕"/>
                <a:ea typeface="맑은 고딕"/>
              </a:rPr>
              <a:t>(보완 포함)</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도메인 모델의 클래스를 </a:t>
            </a:r>
            <a:r>
              <a:rPr sz="1400" b="1">
                <a:solidFill>
                  <a:srgbClr val="000000"/>
                </a:solidFill>
                <a:latin typeface="맑은 고딕"/>
                <a:ea typeface="맑은 고딕"/>
              </a:rPr>
              <a:t>변경 이유</a:t>
            </a:r>
            <a:r>
              <a:rPr sz="1400" b="0">
                <a:solidFill>
                  <a:srgbClr val="000000"/>
                </a:solidFill>
                <a:latin typeface="맑은 고딕"/>
                <a:ea typeface="맑은 고딕"/>
              </a:rPr>
              <a:t>로 묶어 PlantUML </a:t>
            </a:r>
            <a:r>
              <a:rPr sz="1400" b="1">
                <a:solidFill>
                  <a:srgbClr val="000000"/>
                </a:solidFill>
                <a:latin typeface="맑은 고딕"/>
                <a:ea typeface="맑은 고딕"/>
              </a:rPr>
              <a:t>패키지 다이어그램 초안</a:t>
            </a:r>
            <a:r>
              <a:rPr sz="1400" b="0">
                <a:solidFill>
                  <a:srgbClr val="000000"/>
                </a:solidFill>
                <a:latin typeface="맑은 고딕"/>
                <a:ea typeface="맑은 고딕"/>
              </a:rPr>
              <a:t>을 그려줘. 의존을 표시하고, 클래스는 이름만 보여줘. 패키지·클래스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으로 써줘."</a:t>
            </a:r>
          </a:p>
          <a:p>
            <a:pPr lvl="3" marL="723900" indent="0">
              <a:spcBef>
                <a:spcPts val="300"/>
              </a:spcBef>
              <a:spcAft>
                <a:spcPts val="300"/>
              </a:spcAft>
              <a:buNone/>
            </a:pPr>
            <a:r>
              <a:rPr sz="1400" b="0">
                <a:solidFill>
                  <a:srgbClr val="000000"/>
                </a:solidFill>
                <a:latin typeface="맑은 고딕"/>
                <a:ea typeface="맑은 고딕"/>
              </a:rPr>
              <a:t>② "외부 시스템 연동을 분리하고 </a:t>
            </a:r>
            <a:r>
              <a:rPr sz="1400" b="1">
                <a:solidFill>
                  <a:srgbClr val="000000"/>
                </a:solidFill>
                <a:latin typeface="맑은 고딕"/>
                <a:ea typeface="맑은 고딕"/>
              </a:rPr>
              <a:t>순환 의존</a:t>
            </a:r>
            <a:r>
              <a:rPr sz="1400" b="0">
                <a:solidFill>
                  <a:srgbClr val="000000"/>
                </a:solidFill>
                <a:latin typeface="맑은 고딕"/>
                <a:ea typeface="맑은 고딕"/>
              </a:rPr>
              <a:t>을 없애 </a:t>
            </a:r>
            <a:r>
              <a:rPr sz="1400" b="1">
                <a:solidFill>
                  <a:srgbClr val="000000"/>
                </a:solidFill>
                <a:latin typeface="맑은 고딕"/>
                <a:ea typeface="맑은 고딕"/>
              </a:rPr>
              <a:t>상세 패키지 다이어그램</a:t>
            </a:r>
            <a:r>
              <a:rPr sz="14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패키지 기준</a:t>
            </a:r>
            <a:r>
              <a:rPr sz="1400" b="0">
                <a:solidFill>
                  <a:srgbClr val="000000"/>
                </a:solidFill>
                <a:latin typeface="맑은 고딕"/>
                <a:ea typeface="맑은 고딕"/>
              </a:rPr>
              <a:t> —</a:t>
            </a:r>
            <a:r>
              <a:rPr sz="1200" b="0">
                <a:solidFill>
                  <a:srgbClr val="000000"/>
                </a:solidFill>
                <a:latin typeface="맑은 고딕"/>
                <a:ea typeface="맑은 고딕"/>
              </a:rPr>
              <a:t> 기술 계층이나 공용</a:t>
            </a:r>
            <a:r>
              <a:rPr sz="1000" b="0">
                <a:solidFill>
                  <a:srgbClr val="000000"/>
                </a:solidFill>
                <a:latin typeface="맑은 고딕"/>
                <a:ea typeface="맑은 고딕"/>
              </a:rPr>
              <a:t>(common)</a:t>
            </a:r>
            <a:r>
              <a:rPr sz="1200" b="0">
                <a:solidFill>
                  <a:srgbClr val="000000"/>
                </a:solidFill>
                <a:latin typeface="맑은 고딕"/>
                <a:ea typeface="맑은 고딕"/>
              </a:rPr>
              <a:t> 패키지가 아닌 </a:t>
            </a:r>
            <a:r>
              <a:rPr sz="1200" b="1">
                <a:solidFill>
                  <a:srgbClr val="000000"/>
                </a:solidFill>
                <a:latin typeface="맑은 고딕"/>
                <a:ea typeface="맑은 고딕"/>
              </a:rPr>
              <a:t>변경 이유</a:t>
            </a:r>
            <a:r>
              <a:rPr sz="1200" b="0">
                <a:solidFill>
                  <a:srgbClr val="000000"/>
                </a:solidFill>
                <a:latin typeface="맑은 고딕"/>
                <a:ea typeface="맑은 고딕"/>
              </a:rPr>
              <a:t>로 묶었는가?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순환 의존</a:t>
            </a:r>
            <a:r>
              <a:rPr sz="1400" b="0">
                <a:solidFill>
                  <a:srgbClr val="000000"/>
                </a:solidFill>
                <a:latin typeface="맑은 고딕"/>
                <a:ea typeface="맑은 고딕"/>
              </a:rPr>
              <a:t> —</a:t>
            </a:r>
            <a:r>
              <a:rPr sz="120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연동 분리</a:t>
            </a:r>
            <a:r>
              <a:rPr sz="1400" b="0">
                <a:solidFill>
                  <a:srgbClr val="000000"/>
                </a:solidFill>
                <a:latin typeface="맑은 고딕"/>
                <a:ea typeface="맑은 고딕"/>
              </a:rPr>
              <a:t> —</a:t>
            </a:r>
            <a:r>
              <a:rPr sz="120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의존 방향</a:t>
            </a:r>
            <a:r>
              <a:rPr sz="1400" b="0">
                <a:solidFill>
                  <a:srgbClr val="000000"/>
                </a:solidFill>
                <a:latin typeface="맑은 고딕"/>
                <a:ea typeface="맑은 고딕"/>
              </a:rPr>
              <a:t> —</a:t>
            </a:r>
            <a:r>
              <a:rPr sz="120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인터페이스의 위치</a:t>
            </a:r>
            <a:r>
              <a:rPr sz="1400" b="0">
                <a:solidFill>
                  <a:srgbClr val="000000"/>
                </a:solidFill>
                <a:latin typeface="맑은 고딕"/>
                <a:ea typeface="맑은 고딕"/>
              </a:rPr>
              <a:t> —</a:t>
            </a:r>
            <a:r>
              <a:rPr sz="1200" b="0">
                <a:solidFill>
                  <a:srgbClr val="000000"/>
                </a:solidFill>
                <a:latin typeface="맑은 고딕"/>
                <a:ea typeface="맑은 고딕"/>
              </a:rPr>
              <a:t> 결제·배송 요청의 </a:t>
            </a:r>
            <a:r>
              <a:rPr sz="1200" b="1">
                <a:solidFill>
                  <a:srgbClr val="000000"/>
                </a:solidFill>
                <a:latin typeface="맑은 고딕"/>
                <a:ea typeface="맑은 고딕"/>
              </a:rPr>
              <a:t>인터페이스</a:t>
            </a:r>
            <a:r>
              <a:rPr sz="1200" b="0">
                <a:solidFill>
                  <a:srgbClr val="000000"/>
                </a:solidFill>
                <a:latin typeface="맑은 고딕"/>
                <a:ea typeface="맑은 고딕"/>
              </a:rPr>
              <a:t>를 업무 패키지가 갖는가?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설계 이름</a:t>
            </a:r>
            <a:r>
              <a:rPr sz="1400" b="0">
                <a:solidFill>
                  <a:srgbClr val="000000"/>
                </a:solidFill>
                <a:latin typeface="맑은 고딕"/>
                <a:ea typeface="맑은 고딕"/>
              </a:rPr>
              <a:t> —</a:t>
            </a:r>
            <a:r>
              <a:rPr sz="1200" b="0">
                <a:solidFill>
                  <a:srgbClr val="000000"/>
                </a:solidFill>
                <a:latin typeface="맑은 고딕"/>
                <a:ea typeface="맑은 고딕"/>
              </a:rPr>
              <a:t> 패키지·클래스 이름이 용어집의 영문명과 명명 규칙을 따르는가?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27. 패키지 다이어그램 초안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묶었다. 장바구니가 정기배송을 만들고 정기배송이 고객을 알아서 </a:t>
            </a:r>
            <a:r>
              <a:rPr sz="1400" b="1">
                <a:solidFill>
                  <a:srgbClr val="000000"/>
                </a:solidFill>
                <a:latin typeface="맑은 고딕"/>
                <a:ea typeface="맑은 고딕"/>
              </a:rPr>
              <a:t>고객 ↔ 정기배송</a:t>
            </a:r>
            <a:r>
              <a:rPr sz="1400" b="0">
                <a:solidFill>
                  <a:srgbClr val="000000"/>
                </a:solidFill>
                <a:latin typeface="맑은 고딕"/>
                <a:ea typeface="맑은 고딕"/>
              </a:rPr>
              <a:t>에 순환이 생긴다.</a:t>
            </a:r>
          </a:p>
        </p:txBody>
      </p:sp>
      <p:pic>
        <p:nvPicPr>
          <p:cNvPr id="9" name="plantuml Diagram 15"/>
          <p:cNvPicPr>
            <a:picLocks noChangeAspect="1"/>
          </p:cNvPicPr>
          <p:nvPr/>
        </p:nvPicPr>
        <p:blipFill>
          <a:blip r:embed="plantumlImage15"/>
          <a:stretch>
            <a:fillRect/>
          </a:stretch>
        </p:blipFill>
        <p:spPr>
          <a:xfrm>
            <a:off x="3312746" y="1752662"/>
            <a:ext cx="2518508" cy="44704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28. 패키지 다이어그램 상세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장바구니를 정기배송으로 옮겨 </a:t>
            </a:r>
            <a:r>
              <a:rPr sz="1400" b="1">
                <a:solidFill>
                  <a:srgbClr val="000000"/>
                </a:solidFill>
                <a:latin typeface="맑은 고딕"/>
                <a:ea typeface="맑은 고딕"/>
              </a:rPr>
              <a:t>순환을 끊고</a:t>
            </a:r>
            <a:r>
              <a:rPr sz="1400" b="0">
                <a:solidFill>
                  <a:srgbClr val="000000"/>
                </a:solidFill>
                <a:latin typeface="맑은 고딕"/>
                <a:ea typeface="맑은 고딕"/>
              </a:rPr>
              <a:t>, 외부 연동을 </a:t>
            </a:r>
            <a:r>
              <a:rPr sz="1400" b="1">
                <a:solidFill>
                  <a:srgbClr val="000000"/>
                </a:solidFill>
                <a:latin typeface="맑은 고딕"/>
                <a:ea typeface="맑은 고딕"/>
              </a:rPr>
              <a:t>연동 패키지</a:t>
            </a:r>
            <a:r>
              <a:rPr sz="1400" b="0">
                <a:solidFill>
                  <a:srgbClr val="000000"/>
                </a:solidFill>
                <a:latin typeface="맑은 고딕"/>
                <a:ea typeface="맑은 고딕"/>
              </a:rPr>
              <a:t>로 분리했다. 요청 인터페이스는 </a:t>
            </a:r>
            <a:r>
              <a:rPr sz="1400" b="1">
                <a:solidFill>
                  <a:srgbClr val="000000"/>
                </a:solidFill>
                <a:latin typeface="맑은 고딕"/>
                <a:ea typeface="맑은 고딕"/>
              </a:rPr>
              <a:t>업무 패키지</a:t>
            </a:r>
            <a:r>
              <a:rPr sz="1400" b="0">
                <a:solidFill>
                  <a:srgbClr val="000000"/>
                </a:solidFill>
                <a:latin typeface="맑은 고딕"/>
                <a:ea typeface="맑은 고딕"/>
              </a:rPr>
              <a:t>가 갖는다.</a:t>
            </a:r>
          </a:p>
        </p:txBody>
      </p:sp>
      <p:pic>
        <p:nvPicPr>
          <p:cNvPr id="9" name="plantuml Diagram 16"/>
          <p:cNvPicPr>
            <a:picLocks noChangeAspect="1"/>
          </p:cNvPicPr>
          <p:nvPr/>
        </p:nvPicPr>
        <p:blipFill>
          <a:blip r:embed="plantumlImage16"/>
          <a:stretch>
            <a:fillRect/>
          </a:stretch>
        </p:blipFill>
        <p:spPr>
          <a:xfrm>
            <a:off x="706560" y="2927900"/>
            <a:ext cx="7730881" cy="2119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29. 구조 보완 </a:t>
            </a:r>
            <a:r>
              <a:rPr sz="1800" b="1">
                <a:solidFill>
                  <a:srgbClr val="000000"/>
                </a:solidFill>
                <a:latin typeface="맑은 고딕"/>
                <a:ea typeface="맑은 고딕"/>
              </a:rPr>
              <a:t>(안)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a:t>
            </a:r>
            <a:r>
              <a:rPr sz="1000" b="0">
                <a:solidFill>
                  <a:srgbClr val="000000"/>
                </a:solidFill>
                <a:latin typeface="맑은 고딕"/>
                <a:ea typeface="맑은 고딕"/>
              </a:rPr>
              <a:t>(실습 3)</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연관 방향</a:t>
            </a:r>
            <a:r>
              <a:rPr sz="1200" b="0">
                <a:solidFill>
                  <a:srgbClr val="000000"/>
                </a:solidFill>
                <a:latin typeface="맑은 고딕"/>
                <a:ea typeface="맑은 고딕"/>
              </a:rPr>
              <a:t> —</a:t>
            </a:r>
            <a:r>
              <a:rPr sz="1000" b="0">
                <a:solidFill>
                  <a:srgbClr val="000000"/>
                </a:solidFill>
                <a:latin typeface="맑은 고딕"/>
                <a:ea typeface="맑은 고딕"/>
              </a:rPr>
              <a:t> 고객–정기배송 연관은 </a:t>
            </a:r>
            <a:r>
              <a:rPr sz="1000" b="1">
                <a:solidFill>
                  <a:srgbClr val="000000"/>
                </a:solidFill>
                <a:latin typeface="맑은 고딕"/>
                <a:ea typeface="맑은 고딕"/>
              </a:rPr>
              <a:t>정기배송 → 고객</a:t>
            </a:r>
            <a:r>
              <a:rPr sz="1000" b="0">
                <a:solidFill>
                  <a:srgbClr val="000000"/>
                </a:solidFill>
                <a:latin typeface="맑은 고딕"/>
                <a:ea typeface="맑은 고딕"/>
              </a:rPr>
              <a:t> 한 방향이다. 고객은 정기배송 목록을 직접 갖지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장바구니 소속</a:t>
            </a:r>
            <a:r>
              <a:rPr sz="1200" b="0">
                <a:solidFill>
                  <a:srgbClr val="000000"/>
                </a:solidFill>
                <a:latin typeface="맑은 고딕"/>
                <a:ea typeface="맑은 고딕"/>
              </a:rPr>
              <a:t> —</a:t>
            </a:r>
            <a:r>
              <a:rPr sz="1000" b="0">
                <a:solidFill>
                  <a:srgbClr val="000000"/>
                </a:solidFill>
                <a:latin typeface="맑은 고딕"/>
                <a:ea typeface="맑은 고딕"/>
              </a:rPr>
              <a:t> 장바구니는 고객이 아닌 </a:t>
            </a:r>
            <a:r>
              <a:rPr sz="1000" b="1">
                <a:solidFill>
                  <a:srgbClr val="000000"/>
                </a:solidFill>
                <a:latin typeface="맑은 고딕"/>
                <a:ea typeface="맑은 고딕"/>
              </a:rPr>
              <a:t>정기배송 신청</a:t>
            </a:r>
            <a:r>
              <a:rPr sz="1000" b="0">
                <a:solidFill>
                  <a:srgbClr val="000000"/>
                </a:solidFill>
                <a:latin typeface="맑은 고딕"/>
                <a:ea typeface="맑은 고딕"/>
              </a:rPr>
              <a:t>의 개념이다.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5068778"/>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요청</a:t>
            </a:r>
            <a:r>
              <a:rPr sz="1200" b="0">
                <a:solidFill>
                  <a:srgbClr val="000000"/>
                </a:solidFill>
                <a:latin typeface="맑은 고딕"/>
                <a:ea typeface="맑은 고딕"/>
              </a:rPr>
              <a:t> —</a:t>
            </a:r>
            <a:r>
              <a:rPr sz="1000" b="0">
                <a:solidFill>
                  <a:srgbClr val="000000"/>
                </a:solidFill>
                <a:latin typeface="맑은 고딕"/>
                <a:ea typeface="맑은 고딕"/>
              </a:rPr>
              <a:t> 결제·배송 요청은 업무 패키지의 </a:t>
            </a:r>
            <a:r>
              <a:rPr sz="1000" b="1">
                <a:solidFill>
                  <a:srgbClr val="000000"/>
                </a:solidFill>
                <a:latin typeface="맑은 고딕"/>
                <a:ea typeface="맑은 고딕"/>
              </a:rPr>
              <a:t>인터페이스</a:t>
            </a:r>
            <a:r>
              <a:rPr sz="1000" b="0">
                <a:solidFill>
                  <a:srgbClr val="000000"/>
                </a:solidFill>
                <a:latin typeface="맑은 고딕"/>
                <a:ea typeface="맑은 고딕"/>
              </a:rPr>
              <a:t>(</a:t>
            </a:r>
            <a:r>
              <a:rPr sz="1000" b="0">
                <a:solidFill>
                  <a:srgbClr val="000000"/>
                </a:solidFill>
                <a:latin typeface="맑은 고딕"/>
                <a:ea typeface="맑은 고딕"/>
              </a:rPr>
              <a:t>PaymentGateway</a:t>
            </a:r>
            <a:r>
              <a:rPr sz="1000" b="0">
                <a:solidFill>
                  <a:srgbClr val="000000"/>
                </a:solidFill>
                <a:latin typeface="맑은 고딕"/>
                <a:ea typeface="맑은 고딕"/>
              </a:rPr>
              <a:t>·</a:t>
            </a:r>
            <a:r>
              <a:rPr sz="1000" b="0">
                <a:solidFill>
                  <a:srgbClr val="000000"/>
                </a:solidFill>
                <a:latin typeface="맑은 고딕"/>
                <a:ea typeface="맑은 고딕"/>
              </a:rPr>
              <a:t>DeliveryGateway</a:t>
            </a:r>
            <a:r>
              <a:rPr sz="1000" b="0">
                <a:solidFill>
                  <a:srgbClr val="000000"/>
                </a:solidFill>
                <a:latin typeface="맑은 고딕"/>
                <a:ea typeface="맑은 고딕"/>
              </a:rPr>
              <a:t>)로 보낸다.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연관 방향, 장바구니 소속, 요청 인터페이스. 객체 설계와 코드의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시퀀스 다이어그램의 외부 참여자 표기.</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정했다.</a:t>
            </a:r>
          </a:p>
          <a:p>
            <a:pPr marL="342900" indent="0">
              <a:spcBef>
                <a:spcPts val="600"/>
              </a:spcBef>
              <a:spcAft>
                <a:spcPts val="600"/>
              </a:spcAft>
              <a:buNone/>
            </a:pPr>
            <a:r>
              <a:rPr sz="1800" b="1">
                <a:solidFill>
                  <a:srgbClr val="000000"/>
                </a:solidFill>
                <a:latin typeface="맑은 고딕"/>
                <a:ea typeface="맑은 고딕"/>
              </a:rPr>
              <a:t>구조적 경계와 의존성의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상태와 규칙의 묶음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기준</a:t>
            </a:r>
            <a:r>
              <a:rPr sz="1800" b="0">
                <a:solidFill>
                  <a:srgbClr val="000000"/>
                </a:solidFill>
                <a:latin typeface="맑은 고딕"/>
                <a:ea typeface="맑은 고딕"/>
              </a:rPr>
              <a:t> —</a:t>
            </a:r>
            <a:r>
              <a:rPr sz="1600" b="0">
                <a:solidFill>
                  <a:srgbClr val="000000"/>
                </a:solidFill>
                <a:latin typeface="맑은 고딕"/>
                <a:ea typeface="맑은 고딕"/>
              </a:rPr>
              <a:t> 합성·소유·변경 이유·함께 쓰임·외부 통제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쓰는 쪽 → 쓰이는 쪽. 변경은 반대 방향으로 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덜 바뀌는 업무 쪽으로. 요청 인터페이스는 업무 패키지에 두고, 연동이 통보를 변환한다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원칙</a:t>
            </a:r>
            <a:r>
              <a:rPr sz="1800" b="0">
                <a:solidFill>
                  <a:srgbClr val="000000"/>
                </a:solidFill>
                <a:latin typeface="맑은 고딕"/>
                <a:ea typeface="맑은 고딕"/>
              </a:rPr>
              <a:t> —</a:t>
            </a:r>
            <a:r>
              <a:rPr sz="1600" b="0">
                <a:solidFill>
                  <a:srgbClr val="000000"/>
                </a:solidFill>
                <a:latin typeface="맑은 고딕"/>
                <a:ea typeface="맑은 고딕"/>
              </a:rPr>
              <a:t> 응집</a:t>
            </a:r>
            <a:r>
              <a:rPr sz="1200" b="0">
                <a:solidFill>
                  <a:srgbClr val="000000"/>
                </a:solidFill>
                <a:latin typeface="맑은 고딕"/>
                <a:ea typeface="맑은 고딕"/>
              </a:rPr>
              <a:t>(REP·CCP·CRP)</a:t>
            </a:r>
            <a:r>
              <a:rPr sz="1600" b="0">
                <a:solidFill>
                  <a:srgbClr val="000000"/>
                </a:solidFill>
                <a:latin typeface="맑은 고딕"/>
                <a:ea typeface="맑은 고딕"/>
              </a:rPr>
              <a:t>과 결합</a:t>
            </a:r>
            <a:r>
              <a:rPr sz="1200" b="0">
                <a:solidFill>
                  <a:srgbClr val="000000"/>
                </a:solidFill>
                <a:latin typeface="맑은 고딕"/>
                <a:ea typeface="맑은 고딕"/>
              </a:rPr>
              <a:t>(ADP·SDP·SAP)</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영문명과 명명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객체 설계 전에 명시하고 코드·테스트·변경 시나리오로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06. 분석 모델에서 설계 모델로</a:t>
            </a:r>
            <a:r>
              <a:rPr sz="1800" b="0">
                <a:solidFill>
                  <a:srgbClr val="000000"/>
                </a:solidFill>
                <a:latin typeface="맑은 고딕"/>
                <a:ea typeface="맑은 고딕"/>
              </a:rPr>
              <a:t>" —</a:t>
            </a:r>
            <a:r>
              <a:rPr sz="1600" b="0">
                <a:solidFill>
                  <a:srgbClr val="000000"/>
                </a:solidFill>
                <a:latin typeface="맑은 고딕"/>
                <a:ea typeface="맑은 고딕"/>
              </a:rPr>
              <a:t> 분석 개념을 기계적으로 변환하지 않고 의미를 보존하며 설계 모델로 전환한다.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Release Reuse Equivalency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36</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36</vt:i4>
      </vt:variant>
    </vt:vector>
  </HeadingPairs>
  <TitlesOfParts>
    <vt:vector size="40" baseType="lpstr">
      <vt:lpstr>맑은 고딕</vt:lpstr>
      <vt:lpstr>Arial</vt:lpstr>
      <vt:lpstr>Wingdings</vt:lpstr>
      <vt:lpstr>4_Office 테마</vt:lpstr>
      <vt:lpstr>05. 구조적 경계와 의존성 목차</vt:lpstr>
      <vt:lpstr>01. 세션 목표</vt:lpstr>
      <vt:lpstr>02. 분석에서 구조로</vt:lpstr>
      <vt:lpstr>03. 클래스에서 패키지로 패키지 다이어그램</vt:lpstr>
      <vt:lpstr>04. 구조적 경계</vt:lpstr>
      <vt:lpstr>05. 의존성</vt:lpstr>
      <vt:lpstr>06. 설계의 이름</vt:lpstr>
      <vt:lpstr>07. 패키지 다이어그램</vt:lpstr>
      <vt:lpstr>08. 패키지 기준 (1/2)</vt:lpstr>
      <vt:lpstr>08. 패키지 기준 (2/2)</vt:lpstr>
      <vt:lpstr>09. 업무 패키지 클래스 다이어그램</vt:lpstr>
      <vt:lpstr>10. 요청과 통보 (1/2) 시퀀스 다이어그램</vt:lpstr>
      <vt:lpstr>10. 요청과 통보 (2/2) 시퀀스 다이어그램</vt:lpstr>
      <vt:lpstr>11. 주문 시스템 패키지 — 초안 패키지 다이어그램</vt:lpstr>
      <vt:lpstr>12. 의존 방향</vt:lpstr>
      <vt:lpstr>13. 순환 의존 (1/2)</vt:lpstr>
      <vt:lpstr>13. 순환 의존 (2/2)</vt:lpstr>
      <vt:lpstr>14. 주문 시스템 패키지 — 상세화 패키지 다이어그램</vt:lpstr>
      <vt:lpstr>15. 패키지 원칙 (1/2)</vt:lpstr>
      <vt:lpstr>15. 패키지 원칙 (2/2)</vt:lpstr>
      <vt:lpstr>16. 구조의 진화</vt:lpstr>
      <vt:lpstr>17. 변경 파급 (1/2) 패키지 다이어그램</vt:lpstr>
      <vt:lpstr>17. 변경 파급 (2/2) 패키지 다이어그램</vt:lpstr>
      <vt:lpstr>18. 구조적 제약</vt:lpstr>
      <vt:lpstr>19. 잘못된 관행 — 기술 계층 분할 패키지 다이어그램</vt:lpstr>
      <vt:lpstr>20. 잘못된 관행 — 공용 패키지 패키지 다이어그램</vt:lpstr>
      <vt:lpstr>21. 잘못된 관행 — 외부 모델 누수 클래스 다이어그램</vt:lpstr>
      <vt:lpstr>22. 패키지와 코드 패키지 다이어그램</vt:lpstr>
      <vt:lpstr>23. 의존 방향과 테스트 패키지 다이어그램</vt:lpstr>
      <vt:lpstr>24. 통보 변환 코드 시퀀스 다이어그램</vt:lpstr>
      <vt:lpstr>25. 적정 구조 설계</vt:lpstr>
      <vt:lpstr>26. 실습 — 패키지 다이어그램</vt:lpstr>
      <vt:lpstr>27. 패키지 다이어그램 초안 (안)</vt:lpstr>
      <vt:lpstr>28. 패키지 다이어그램 상세 (안)</vt:lpstr>
      <vt:lpstr>29. 구조 보완 (안)</vt:lpstr>
      <vt:lpstr>30.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