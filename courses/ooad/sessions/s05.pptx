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notesSlides/notesSlide41.xml" ContentType="application/vnd.openxmlformats-officedocument.presentationml.notesSlide+xml"/>
  <Override PartName="/ppt/slides/slide41.xml" ContentType="application/vnd.openxmlformats-officedocument.presentationml.slide+xml"/>
  <Override PartName="/ppt/notesSlides/notesSlide42.xml" ContentType="application/vnd.openxmlformats-officedocument.presentationml.notesSlide+xml"/>
  <Override PartName="/ppt/slides/slide42.xml" ContentType="application/vnd.openxmlformats-officedocument.presentationml.slide+xml"/>
  <Override PartName="/ppt/notesSlides/notesSlide43.xml" ContentType="application/vnd.openxmlformats-officedocument.presentationml.notes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notesSlides/notesSlide48.xml" ContentType="application/vnd.openxmlformats-officedocument.presentationml.notesSlide+xml"/>
  <Override PartName="/ppt/slides/slide48.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3.xml.rels><?xml version="1.0" encoding="UTF-8"?><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시스템 전체의 경계(무엇이 주문 시스템의 책임인가)는 "02. 요구 분석과 유스케이스"에서 정했다. 이 세션은 주문 시스템 안의 경계를 다룬다. 클래스 수준의 책임 배치는 "06. 분석 모델에서 설계 모델로"·"07. 책임·협력·계약"에서 다룬다.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"04. 동적 모델 — 상호작용과 상태"는 주문 시스템이 외부에 보내는 요청과 받는 통보를 남겼다. 이 세션은 그 질문(주문 시스템이 배송 시스템을 아는가, 통보를 받는가?)에 답한다.</a:t>
            </a:r>
          </a:p>
          <a:p>
            <a:pPr lvl="0"/>
            <a:r>
              <a:rPr lang="ko-KR" sz="1200"/>
              <a:t>사례의 전제(결제 완료·배송 시작 전 전체 취소, 출고 전 배송지 변경)는 그대로 유지한다.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도식은 "03. 정적 모델 — 도메인 개념과 관계"의 「48. 도메인 모델 — 패키지별」을 경계를 넘는 연관만 남겨 줄인 것이다(장바구니 항목·환불은 생략). 분석 패키지의 기준(주제 영역·클래스 계층·유스케이스·강한 연관)은 "03. 정적 모델 — 도메인 개념과 관계"의 「47. 패키지 기준」에서 다뤘다.</a:t>
            </a:r>
          </a:p>
          <a:p>
            <a:pPr lvl="0"/>
            <a:r>
              <a:rPr lang="ko-KR" sz="1200"/>
              <a:t>분석 패키지를 구조 패키지로 그대로 쓸 수 있는지는 설계의 기준으로 다시 확인한다(「08. 묶는 기준」).</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"01. OOAD 개요"의 「21. 책임과 경계」에서 경계를 "함께 변경되어야 할 상태와 행위의 묶음"으로 미리 보였다. 이 세션은 그것을 주문 시스템에 적용한다.</a:t>
            </a:r>
          </a:p>
          <a:p>
            <a:pPr lvl="0"/>
            <a:r>
              <a:rPr lang="ko-KR" sz="1200"/>
              <a:t>이 세션의 경계는 주문 시스템 안의 구조다. 여러 시스템으로 나누는 판단(서비스 경계)은 "13. OOAD에서 전문영역으로 — Architecture · DDD · MSA"에서 다룬다.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OMG Unified Modeling Language 2.5.1(2017-12), §7.7 Dependencies 원문 확인.</a:t>
            </a:r>
          </a:p>
          <a:p>
            <a:pPr lvl="0"/>
            <a:r>
              <a:rPr lang="ko-KR" sz="1200"/>
              <a:t>의존 방향을 정하는 일은 곧 변경이 어디로 번질지를 정하는 일이다. 이 세션의 판단은 모두 이 한 문장에서 나온다.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분석은 의미를 밝히고, 설계는 그 의미를 지킬 책임과 협력을 새로 판단한다. 경계는 분석 모델을 그대로 옮긴 결과가 아니다.</a:t>
            </a:r>
          </a:p>
          <a:p>
            <a:pPr lvl="0"/>
            <a:r>
              <a:rPr lang="ko-KR" sz="1200"/>
              <a:t>구조의 결정은 되돌리기 어렵다. 그래서 객체 설계 전에 확인한다(sw-engineering-principles.md의 YAGNI — 되돌리기 어려운 결정은 지금 확인한다).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표기 기준: OMG UML 2.5.1, §12 Packages, §7.7 Dependencies, §10.4 Interfaces.</a:t>
            </a:r>
          </a:p>
          <a:p>
            <a:pPr lvl="0"/>
            <a:r>
              <a:rPr lang="ko-KR" sz="1200"/>
              <a:t>"03. 정적 모델 — 도메인 개념과 관계"의 「46. 개념의 묶음 — 패키지」는 개념의 묶음까지 다뤘다. 이 세션은 의존 화살표와 인터페이스를 더한다.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앞의 두 기준은 함께 두어야 할 것을, 뒤의 세 기준은 나눠야 할 것을 찾는다. 기준이 부딪히면 변경 이유가 우선한다.</a:t>
            </a:r>
          </a:p>
          <a:p>
            <a:pPr lvl="0"/>
            <a:r>
              <a:rPr lang="ko-KR" sz="1200"/>
              <a:t>기능 목록(주문 관리 기능, 결제 기능)이나 기술 계층은 기준이 아니다(「34. 잘못된 관행 — 기술 계층 분할」).</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합성과 다중성은 "03. 정적 모델 — 도메인 개념과 관계"의 「45. 도메인 모델 — 상세화」와 같다.</a:t>
            </a:r>
          </a:p>
          <a:p>
            <a:pPr lvl="0"/>
            <a:r>
              <a:rPr lang="ko-KR" sz="1200"/>
              <a:t>합성은 "함께 만들어지고 함께 사라지는 부분"이다. 연관의 강도가 약할수록 경계를 둘 후보가 된다.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"04. 동적 모델 — 상호작용과 상태"의 「33. 주문 상태 기계」와 「26. 주문 취소 시퀀스」.</a:t>
            </a:r>
          </a:p>
          <a:p>
            <a:pPr lvl="0"/>
            <a:r>
              <a:rPr lang="ko-KR" sz="1200"/>
              <a:t>규칙이 상태와 다른 경계에 있으면, 상태를 바꿀 때마다 두 경계가 함께 바뀐다. 규칙의 소유는 "03. 정적 모델 — 도메인 개념과 관계"의 「24. 규칙의 소유」와 같은 생각을 패키지 수준에 적용한 것이다.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Parnas, "On the Criteria To Be Used in Decomposing Systems into Modules", *Communications of the ACM*(1972) 원문은 확인하지 못했다(www). 재인용처: Adrian Colyer, *the morning paper*(2016-09-05)의 해설에서 문장을 확인했다.</a:t>
            </a:r>
          </a:p>
          <a:p>
            <a:pPr lvl="0"/>
            <a:r>
              <a:rPr lang="ko-KR" sz="1200"/>
              <a:t>CCP 인용 근거: Robert C. Martin, "Design Principles and Design Patterns"(2000), The Common Closure Principle 원문 확인.</a:t>
            </a:r>
          </a:p>
          <a:p>
            <a:pPr lvl="0"/>
            <a:r>
              <a:rPr lang="ko-KR" sz="1200"/>
              <a:t>Parnas는 각 모듈이 그런 결정 하나를 다른 모듈에 감추도록 설계하라고 이어 말한다. 이 세션의 "변경을 가둔다"와 같은 생각이다.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"Design Principles and Design Patterns"(2000), The Common Reuse Principle 원문 확인.</a:t>
            </a:r>
          </a:p>
          <a:p>
            <a:pPr lvl="0"/>
            <a:r>
              <a:rPr lang="ko-KR" sz="1200"/>
              <a:t>장바구니와 결제는 한 이벤트에서도 함께 쓰이지 않는다. 한 패키지에 두면 장바구니 편의 기능의 변경이 결제까지 다시 확인하게 만든다.</a:t>
            </a:r>
          </a:p>
          <a:p>
            <a:pPr lvl="0"/>
            <a:r>
              <a:rPr lang="ko-KR" sz="1200"/>
              <a:t>이벤트 이름은 "02. 요구 분석과 유스케이스"의 공통 전제와 같다.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외부 시스템 목록과 동기·비동기는 과정의 공통 전제와 같다("02. 요구 분석과 유스케이스"의 「43. 정제된 SSD」).</a:t>
            </a:r>
          </a:p>
          <a:p>
            <a:pPr lvl="0"/>
            <a:r>
              <a:rPr lang="ko-KR" sz="1200"/>
              <a:t>연동 경계는 외부 시스템마다 하나다: 결제 연동, 상품 연동, 배송 연동, 회계 연동.</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절차의 순서는 판단의 순서다. 먼저 함께 둘 것을 붙이고, 그다음 나눌 것을 나눈다.</a:t>
            </a:r>
          </a:p>
          <a:p>
            <a:pPr lvl="0"/>
            <a:r>
              <a:rPr lang="ko-KR" sz="1200"/>
              <a:t>분석 패키지와 결과가 같은 것은 우연이 아니라 "03. 정적 모델 — 도메인 개념과 관계"가 업무 의미로 묶었기 때문이다. 기술 계층으로 묶었다면 결과가 달랐을 것이다.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연동 경계는 외부 시스템마다 하나다: 결제 연동, 상품 연동, 배송 연동, 회계 연동. 이 이름은 과정의 공통 전제에 더한다.</a:t>
            </a:r>
          </a:p>
          <a:p>
            <a:pPr lvl="0"/>
            <a:r>
              <a:rPr lang="ko-KR" sz="1200"/>
              <a:t>업무 경계의 이름은 분석 패키지와 같다. 이름을 바꾸면 모델이 바뀐 것이다.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외부 시스템과 요청의 동기·비동기는 과정의 공통 전제와 같다("02. 요구 분석과 유스케이스"의 「43. 정제된 SSD」).</a:t>
            </a:r>
          </a:p>
          <a:p>
            <a:pPr lvl="0"/>
            <a:r>
              <a:rPr lang="ko-KR" sz="1200"/>
              <a:t>외부 시스템 자체는 바꿀 수 없다. 우리가 정할 수 있는 것은 주문 시스템 안에서 누가 외부를 아는가다.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동기·비동기의 구분 기준은 반환값이 아니라 완료를 기다리는가다("04. 동적 모델 — 상호작용과 상태"의 「51. 동적 모델에서 코드로」).</a:t>
            </a:r>
          </a:p>
          <a:p>
            <a:pPr lvl="0"/>
            <a:r>
              <a:rPr lang="ko-KR" sz="1200"/>
              <a:t>약속과 그 실현(외부 호출)을 나누면, 실현이 바뀌어도 약속에 의존하는 쪽은 바뀌지 않는다.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"04. 동적 모델 — 상호작용과 상태"가 남긴 질문의 답이다. 주문은 통보를 받지만, 배송 시스템을 알지 않는다.</a:t>
            </a:r>
          </a:p>
          <a:p>
            <a:pPr lvl="0"/>
            <a:r>
              <a:rPr lang="ko-KR" sz="1200"/>
              <a:t>통보를 옮기는 연동이 주문을 알고, 주문은 연동을 모른다. 방향의 근거는 「23. 의존 방향」에서 다룬다.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상태 코드는 이해를 돕기 위한 교육용 가정이다. 실제 형식은 외부 시스템의 계약으로 확인한다.</a:t>
            </a:r>
          </a:p>
          <a:p>
            <a:pPr lvl="0"/>
            <a:r>
              <a:rPr lang="ko-KR" sz="1200"/>
              <a:t>판매가도 같다. 상품 시스템의 판매가는 주문 시점에 주문 항목의 단가로 옮겨 확정한다("03. 정적 모델 — 도메인 개념과 관계"의 현재 값과 확정 값).</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고객·상품·상품 연동·회계 연동은 같은 방식이라 생략했다.</a:t>
            </a:r>
          </a:p>
          <a:p>
            <a:pPr lvl="0"/>
            <a:r>
              <a:rPr lang="ko-KR" sz="1200"/>
              <a:t>초안의 문제를 먼저 보이고 「24. 순환 의존」·「26. 주문 시스템 패키지 — 상세화」에서 고친다.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화살표를 셀 때는 변경이 어디서 시작될 가능성이 큰가를 함께 본다. 외부 시스템은 우리가 통제하지 못하는 변경의 출발점이다.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"제공하는 약속"은 오퍼레이션 이름 수준이다. 매개변수와 계약의 정제는 "07. 책임·협력·계약"에서 한다.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"Design Principles and Design Patterns"(2000), The Stable Dependencies Principle 원문 확인.</a:t>
            </a:r>
          </a:p>
          <a:p>
            <a:pPr lvl="0"/>
            <a:r>
              <a:rPr lang="ko-KR" sz="1200"/>
              <a:t>안정은 "좋다"가 아니라 "바꾸기 어렵다"는 뜻이다. 그래서 바꾸기 어려운 곳에는 자주 바뀌는 세부를 두지 않는다.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"Design Principles and Design Patterns"(2000), The Acyclic Dependencies Principle 원문 확인. "betwen"은 원문의 표기다.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"Design Principles and Design Patterns"(2000), The Dependency Inversion Principle 원문 확인.</a:t>
            </a:r>
          </a:p>
          <a:p>
            <a:pPr lvl="0"/>
            <a:r>
              <a:rPr lang="ko-KR" sz="1200"/>
              <a:t>이 시퀀스의 참여자는 설계 객체(배송 연동)를 포함한다. 분석 시퀀스가 아니라 구조 설계의 확인용이다.</a:t>
            </a:r>
          </a:p>
          <a:p>
            <a:pPr lvl="0"/>
            <a:r>
              <a:rPr lang="ko-KR" sz="1200"/>
              <a:t>요청과 통보는 서로 다른 시점의 상호작용이다. 한 그림에 모은 것은 방향 비교를 위해서다.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SAP 인용 근거: Robert C. Martin, "Design Principles and Design Patterns"(2000), The Stable Abstractions Principle 원문 확인.</a:t>
            </a:r>
          </a:p>
          <a:p>
            <a:pPr lvl="0"/>
            <a:r>
              <a:rPr lang="ko-KR" sz="1200"/>
              <a:t>고객·상품과 상품 연동·회계 연동은 같은 원칙이다: 상품이 상품 시스템 약속을, 결제가 회계 시스템 약속을 소유하고 각 연동이 실현한다.</a:t>
            </a:r>
          </a:p>
          <a:p>
            <a:pPr lvl="0"/>
            <a:r>
              <a:rPr lang="ko-KR" sz="1200"/>
              <a:t>이 구조에 이름을 붙이는 일(아키텍처 스타일)은 "13. OOAD에서 전문영역으로 — Architecture · DDD · MSA"에서 한다. 여기서는 판단의 근거만 본다.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"Design Principles and Design Patterns"(2000), The Release Reuse Equivalency Principle 원문 확인. 뒤의 책 *Clean Architecture*(2017)에서는 컴포넌트 원칙이라 부른다.</a:t>
            </a:r>
          </a:p>
          <a:p>
            <a:pPr lvl="0"/>
            <a:r>
              <a:rPr lang="ko-KR" sz="1200"/>
              <a:t>이 세션의 적용: CCP는 「11. 변경 이유」, CRP는 「12. 함께 쓰임」, SDP는 「23. 의존 방향」, ADP는 「24. 순환 의존」, SAP는 「26. 주문 시스템 패키지 — 상세화」.</a:t>
            </a:r>
          </a:p>
          <a:p>
            <a:pPr lvl="0"/>
            <a:r>
              <a:rPr lang="ko-KR" sz="1200"/>
              <a:t>REP는 여러 팀·배포 단위로 나눌 때 중요하다. 한 시스템 안의 패키지에서는 CCP·CRP가 먼저다.</a:t>
            </a:r>
          </a:p>
          <a:p>
            <a:pPr lvl="0"/>
            <a:r>
              <a:rPr lang="ko-KR" sz="1200"/>
              <a:t>SOLID가 클래스(벽돌)를 배치하는 원칙이라면, 패키지 원칙은 컴포넌트(방)를 배치하는 원칙이다. CCP는 SRP를, CRP는 ISP를 컴포넌트 수준으로 옮긴 것이다(Robert C. Martin, *Clean Architecture*, 2017의 요지 — 재인용처: Yannick Grenzinger, "Summary of 'Clean Architecture'"). SOLID는 "07. 책임·협력·계약"·"08. 변화 대응과 변이 설계"에서 다룬다.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Robert C. Martin, *Clean Architecture*(2017) 14장의 문장이다. 원서는 확인하지 못했다(www). 재인용처: GitHub "thzt/book-excerpt"의 *Clean Architecture* 발췌에서 문장을 확인했다. 국역본은 송준이 옮김, 인사이트, 2019다.</a:t>
            </a:r>
          </a:p>
          <a:p>
            <a:pPr lvl="0"/>
            <a:r>
              <a:rPr lang="ko-KR" sz="1200"/>
              <a:t>같은 장은 패키지 의존 그림이 기능이 아니라 빌드와 유지보수의 지도라고 설명한다(재인용처: Yannick Grenzinger의 요약).</a:t>
            </a:r>
          </a:p>
          <a:p>
            <a:pPr lvl="0"/>
            <a:r>
              <a:rPr lang="ko-KR" sz="1200"/>
              <a:t>반복·점진 개발에서 구조도 함께 자란다. sw-engineering-principles.md의 결정–검증–되돌림이 구조에도 적용된다.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결합도·응집도는 Stevens·Myers·Constantine의 "Structured Design"(IBM Systems Journal, 1974)이 모듈 설계의 기준으로 제시한 개념이다. 이 세션은 패키지 수준에 적용한다.</a:t>
            </a:r>
          </a:p>
          <a:p>
            <a:pPr lvl="0"/>
            <a:r>
              <a:rPr lang="ko-KR" sz="1200"/>
              <a:t>객체 수준의 결합·응집은 "07. 책임·협력·계약"에서 다룬다.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 전 취소는 "04. 동적 모델 — 상호작용과 상태"의 「35. 가드와 금지된 전이」에서 미정으로 남긴 요구다. 정해지면 주문 경계 안에서 끝난다.</a:t>
            </a:r>
          </a:p>
          <a:p>
            <a:pPr lvl="0"/>
            <a:r>
              <a:rPr lang="ko-KR" sz="1200"/>
              <a:t>시나리오는 교육용 예다. 실제 검토는 바뀔 가능성이 큰 것부터 고른다(「11. 변경 이유」).</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상세화에서도 배송 연동은 주문과 배송에 의존한다. 그래서 주문이 바뀌면 연동이 바뀔 수 있다. 변경이 자주 일어나는 쪽(연동)이 덜 바뀌는 쪽(주문)에 기대는 것이 방향 판단의 핵심이다.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제약은 "06. 분석 모델에서 설계 모델로"·"07. 책임·협력·계약"에서 클래스와 책임을 정할 때의 입력이다.</a:t>
            </a:r>
          </a:p>
          <a:p>
            <a:pPr lvl="0"/>
            <a:r>
              <a:rPr lang="ko-KR" sz="1200"/>
              <a:t>제약은 적을수록 좋다. 지키지 않으면 변경이 번지는 것만 적는다.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과정의 예제는 import 검사를 테스트로 둔다(「38. 의존 방향과 테스트」). 실제 프로젝트에서는 빌드 도구의 모듈 경계나 아키텍처 검사 도구를 쓸 수 있다.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기술 계층이 틀렸다는 뜻이 아니다. 계층은 경계 안의 구성 방식이 될 수 있다. 문제는 계층을 첫 번째 경계로 삼는 것이다.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여러 경계가 같은 값을 쓰면 그 값을 소유한 경계에 의존한다. 정말 업무 의미가 없는 기술 도구(날짜 계산 등)만 공용으로 둔다.</a:t>
            </a:r>
          </a:p>
          <a:p>
            <a:pPr lvl="0"/>
            <a:r>
              <a:rPr lang="ko-KR" sz="1200"/>
              <a:t>예제 코드에서 금액은 결제 패키지에 있다(「37. 패키지와 코드」).</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"04. 동적 모델 — 상호작용과 상태"에서 출고 준비 중·출고됨을 주문 상태에 넣지 않은 것과 같은 판단이다.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모두 code/s05/의 패키지별 원본에서 발췌했으며, 컴파일·실행해 확인한다. 인터페이스 이름 배송시스템은 "04. 동적 모델 — 상호작용과 상태"의 코드와 같다. 이 세션에서는 그 인터페이스가 배송 패키지에 놓인다.</a:t>
            </a:r>
          </a:p>
          <a:p>
            <a:pPr lvl="0"/>
            <a:r>
              <a:rPr lang="ko-KR" sz="1200"/>
              <a:t>코드가 보장하는 것은 import의 방향뿐이다. 클래스의 책임과 협력은 "07. 책임·협력·계약"에서 정한다.</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결과를 먼저 예측하게 한다: 가짜 약속으로 취소하면 요청은 어떤 순서로 기록되는가?</a:t>
            </a:r>
          </a:p>
          <a:p>
            <a:pPr lvl="0"/>
            <a:r>
              <a:rPr lang="ko-KR" sz="1200"/>
              <a:t>요청의 순서(출고 중단 → 환불)는 "04. 동적 모델 — 상호작용과 상태"의 테스트와 같다. 경계를 나눠도 업무의 의미는 그대로다.</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상태 코드는 「19. 경계에서 옮기기」의 교육용 가정이다.</a:t>
            </a:r>
          </a:p>
          <a:p>
            <a:pPr lvl="0"/>
            <a:r>
              <a:rPr lang="ko-KR" sz="1200"/>
              <a:t>통보를 받는 방식(메시지 큐·웹훅 등)은 생략했다. 전달 기술은 "10. 기술 제약과 도메인 의미 보존"에서 다룬다.</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사례는 업무 경계 6개와 연동 4개로 충분했다. 작은 시스템은 패키지 몇 개와 방향 규칙 하나로 시작해도 된다.</a:t>
            </a:r>
          </a:p>
          <a:p>
            <a:pPr lvl="0"/>
            <a:r>
              <a:rPr lang="ko-KR" sz="1200"/>
              <a:t>판단 기준은 sw-engineering-principles.md의 적정 수준과 KISS·YAGNI다.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LLM은 화면·서비스·저장소 같은 기술 계층으로 나누거나, 장바구니를 고객 패키지에 넣어 순환을 만들기 쉽다.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패키지 의존은 클래스 사이의 연관·생성에서 나온다 — 장바구니가 정기배송을 만들고(고객 → 정기배송), 정기배송이 고객을 참조한다(정기배송 → 고객).</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장바구니를 옮긴 근거 — 장바구니는 정기배송 신청과 함께 쓰이고 함께 바뀐다. 고객은 정기배송을 모르므로 의존은 정기배송 → 고객 한 방향이다.</a:t>
            </a:r>
          </a:p>
          <a:p>
            <a:pPr lvl="0"/>
            <a:r>
              <a:rPr lang="ko-KR" sz="1200"/>
              <a:t>연동은 업무 패키지의 인터페이스를 실현한다(의존 역전). 결제 시스템의 형식은 결제 연동 밖으로 나가지 않는다.</a:t>
            </a:r>
          </a:p>
          <a:p>
            <a:pPr lvl="0"/>
            <a:r>
              <a:rPr lang="ko-KR" sz="1200"/>
              <a:t>장바구니 항목·정기배송 항목은 소속만 같아 생략했다.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순환 의존은 대개 연관 방향을 정하지 않은 데서 온다. 패키지를 나누면 연관 방향을 결정해야 한다.</a:t>
            </a:r>
          </a:p>
          <a:p>
            <a:pPr lvl="0"/>
            <a:r>
              <a:rPr lang="ko-KR" sz="1200"/>
              <a:t>고객의 정기배송 목록이 필요하면 정기배송 쪽의 조회로 푼다 — 객체 설계에서 다룬다.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세션의 구조적 제약(「32. 구조적 제약」)은 다음 세션에서 분석 개념을 설계 클래스로 옮길 때의 경계가 된다.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1"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1">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1">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1">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1">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1"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1"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1"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 Id="speakerNotes41"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plantumlImage9" Type="http://schemas.openxmlformats.org/officeDocument/2006/relationships/image" Target="../media/plantuml-9.png"/><Relationship Id="speakerNotes4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speakerNotes4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peakerNotes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plantumlImage10" Type="http://schemas.openxmlformats.org/officeDocument/2006/relationships/image" Target="../media/plantuml-10.png"/><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plantumlImage11" Type="http://schemas.openxmlformats.org/officeDocument/2006/relationships/image" Target="../media/plantuml-11.png"/><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speakerNotes48"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05. 구조적 경계와 의존성 목차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분석에서 구조로</a:t>
            </a:r>
          </a:p>
          <a:p>
            <a:pPr lvl="1" marL="355600" indent="0">
              <a:spcBef>
                <a:spcPts val="300"/>
              </a:spcBef>
              <a:spcAft>
                <a:spcPts val="300"/>
              </a:spcAft>
              <a:buNone/>
            </a:pPr>
            <a:r>
              <a:rPr sz="1600" b="0">
                <a:solidFill>
                  <a:srgbClr val="000000"/>
                </a:solidFill>
                <a:latin typeface="맑은 고딕"/>
                <a:ea typeface="맑은 고딕"/>
              </a:rPr>
              <a:t>03. 클래스에서 패키지로</a:t>
            </a:r>
          </a:p>
          <a:p>
            <a:pPr lvl="1" marL="355600" indent="0">
              <a:spcBef>
                <a:spcPts val="300"/>
              </a:spcBef>
              <a:spcAft>
                <a:spcPts val="300"/>
              </a:spcAft>
              <a:buNone/>
            </a:pPr>
            <a:r>
              <a:rPr sz="1600" b="0">
                <a:solidFill>
                  <a:srgbClr val="000000"/>
                </a:solidFill>
                <a:latin typeface="맑은 고딕"/>
                <a:ea typeface="맑은 고딕"/>
              </a:rPr>
              <a:t>04. 구조적 경계</a:t>
            </a:r>
          </a:p>
          <a:p>
            <a:pPr lvl="1" marL="355600" indent="0">
              <a:spcBef>
                <a:spcPts val="300"/>
              </a:spcBef>
              <a:spcAft>
                <a:spcPts val="300"/>
              </a:spcAft>
              <a:buNone/>
            </a:pPr>
            <a:r>
              <a:rPr sz="1600" b="0">
                <a:solidFill>
                  <a:srgbClr val="000000"/>
                </a:solidFill>
                <a:latin typeface="맑은 고딕"/>
                <a:ea typeface="맑은 고딕"/>
              </a:rPr>
              <a:t>05. 의존성</a:t>
            </a:r>
          </a:p>
          <a:p>
            <a:pPr lvl="1" marL="355600" indent="0">
              <a:spcBef>
                <a:spcPts val="300"/>
              </a:spcBef>
              <a:spcAft>
                <a:spcPts val="300"/>
              </a:spcAft>
              <a:buNone/>
            </a:pPr>
            <a:r>
              <a:rPr sz="1600" b="0">
                <a:solidFill>
                  <a:srgbClr val="000000"/>
                </a:solidFill>
                <a:latin typeface="맑은 고딕"/>
                <a:ea typeface="맑은 고딕"/>
              </a:rPr>
              <a:t>06. 경계와 의존의 결정</a:t>
            </a:r>
          </a:p>
          <a:p>
            <a:pPr lvl="1" marL="355600" indent="0">
              <a:spcBef>
                <a:spcPts val="300"/>
              </a:spcBef>
              <a:spcAft>
                <a:spcPts val="300"/>
              </a:spcAft>
              <a:buNone/>
            </a:pPr>
            <a:r>
              <a:rPr sz="1600" b="0">
                <a:solidFill>
                  <a:srgbClr val="000000"/>
                </a:solidFill>
                <a:latin typeface="맑은 고딕"/>
                <a:ea typeface="맑은 고딕"/>
              </a:rPr>
              <a:t>07. 패키지 다이어그램</a:t>
            </a:r>
          </a:p>
          <a:p>
            <a:pPr lvl="1" marL="355600" indent="0">
              <a:spcBef>
                <a:spcPts val="300"/>
              </a:spcBef>
              <a:spcAft>
                <a:spcPts val="300"/>
              </a:spcAft>
              <a:buNone/>
            </a:pPr>
            <a:r>
              <a:rPr sz="1600" b="0">
                <a:solidFill>
                  <a:srgbClr val="000000"/>
                </a:solidFill>
                <a:latin typeface="맑은 고딕"/>
                <a:ea typeface="맑은 고딕"/>
              </a:rPr>
              <a:t>08. 묶는 기준</a:t>
            </a:r>
          </a:p>
          <a:p>
            <a:pPr lvl="1" marL="355600" indent="0">
              <a:spcBef>
                <a:spcPts val="300"/>
              </a:spcBef>
              <a:spcAft>
                <a:spcPts val="300"/>
              </a:spcAft>
              <a:buNone/>
            </a:pPr>
            <a:r>
              <a:rPr sz="1600" b="0">
                <a:solidFill>
                  <a:srgbClr val="000000"/>
                </a:solidFill>
                <a:latin typeface="맑은 고딕"/>
                <a:ea typeface="맑은 고딕"/>
              </a:rPr>
              <a:t>09. 합성과 불변 조건</a:t>
            </a:r>
          </a:p>
          <a:p>
            <a:pPr lvl="1" marL="355600" indent="0">
              <a:spcBef>
                <a:spcPts val="300"/>
              </a:spcBef>
              <a:spcAft>
                <a:spcPts val="300"/>
              </a:spcAft>
              <a:buNone/>
            </a:pPr>
            <a:r>
              <a:rPr sz="1600" b="0">
                <a:solidFill>
                  <a:srgbClr val="000000"/>
                </a:solidFill>
                <a:latin typeface="맑은 고딕"/>
                <a:ea typeface="맑은 고딕"/>
              </a:rPr>
              <a:t>10. 규칙과 상태의 소유</a:t>
            </a:r>
          </a:p>
          <a:p>
            <a:pPr lvl="1" marL="355600" indent="0">
              <a:spcBef>
                <a:spcPts val="300"/>
              </a:spcBef>
              <a:spcAft>
                <a:spcPts val="300"/>
              </a:spcAft>
              <a:buNone/>
            </a:pPr>
            <a:r>
              <a:rPr sz="1600" b="0">
                <a:solidFill>
                  <a:srgbClr val="000000"/>
                </a:solidFill>
                <a:latin typeface="맑은 고딕"/>
                <a:ea typeface="맑은 고딕"/>
              </a:rPr>
              <a:t>11. 변경 이유</a:t>
            </a:r>
          </a:p>
          <a:p>
            <a:pPr lvl="1" marL="355600" indent="0">
              <a:spcBef>
                <a:spcPts val="300"/>
              </a:spcBef>
              <a:spcAft>
                <a:spcPts val="300"/>
              </a:spcAft>
              <a:buNone/>
            </a:pPr>
            <a:r>
              <a:rPr sz="1600" b="0">
                <a:solidFill>
                  <a:srgbClr val="000000"/>
                </a:solidFill>
                <a:latin typeface="맑은 고딕"/>
                <a:ea typeface="맑은 고딕"/>
              </a:rPr>
              <a:t>12. 함께 쓰임</a:t>
            </a:r>
          </a:p>
          <a:p>
            <a:pPr lvl="1" marL="355600" indent="0">
              <a:spcBef>
                <a:spcPts val="300"/>
              </a:spcBef>
              <a:spcAft>
                <a:spcPts val="300"/>
              </a:spcAft>
              <a:buNone/>
            </a:pPr>
            <a:r>
              <a:rPr sz="1600" b="0">
                <a:solidFill>
                  <a:srgbClr val="000000"/>
                </a:solidFill>
                <a:latin typeface="맑은 고딕"/>
                <a:ea typeface="맑은 고딕"/>
              </a:rPr>
              <a:t>13. 연동 분리</a:t>
            </a:r>
          </a:p>
          <a:p>
            <a:pPr lvl="1" marL="355600" indent="0">
              <a:spcBef>
                <a:spcPts val="300"/>
              </a:spcBef>
              <a:spcAft>
                <a:spcPts val="300"/>
              </a:spcAft>
              <a:buNone/>
            </a:pPr>
            <a:r>
              <a:rPr sz="1600" b="0">
                <a:solidFill>
                  <a:srgbClr val="000000"/>
                </a:solidFill>
                <a:latin typeface="맑은 고딕"/>
                <a:ea typeface="맑은 고딕"/>
              </a:rPr>
              <a:t>14. 묶기 절차</a:t>
            </a:r>
          </a:p>
          <a:p>
            <a:pPr lvl="1" marL="355600" indent="0">
              <a:spcBef>
                <a:spcPts val="300"/>
              </a:spcBef>
              <a:spcAft>
                <a:spcPts val="300"/>
              </a:spcAft>
              <a:buNone/>
            </a:pPr>
            <a:r>
              <a:rPr sz="1600" b="0">
                <a:solidFill>
                  <a:srgbClr val="000000"/>
                </a:solidFill>
                <a:latin typeface="맑은 고딕"/>
                <a:ea typeface="맑은 고딕"/>
              </a:rPr>
              <a:t>15. 경계 후보</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16. 외부 시스템 의존</a:t>
            </a:r>
          </a:p>
          <a:p>
            <a:pPr lvl="1" marL="355600" indent="0">
              <a:spcBef>
                <a:spcPts val="300"/>
              </a:spcBef>
              <a:spcAft>
                <a:spcPts val="300"/>
              </a:spcAft>
              <a:buNone/>
            </a:pPr>
            <a:r>
              <a:rPr sz="1600" b="0">
                <a:solidFill>
                  <a:srgbClr val="000000"/>
                </a:solidFill>
                <a:latin typeface="맑은 고딕"/>
                <a:ea typeface="맑은 고딕"/>
              </a:rPr>
              <a:t>17. 동기 요청</a:t>
            </a:r>
          </a:p>
          <a:p>
            <a:pPr lvl="1" marL="355600" indent="0">
              <a:spcBef>
                <a:spcPts val="300"/>
              </a:spcBef>
              <a:spcAft>
                <a:spcPts val="300"/>
              </a:spcAft>
              <a:buNone/>
            </a:pPr>
            <a:r>
              <a:rPr sz="1600" b="0">
                <a:solidFill>
                  <a:srgbClr val="000000"/>
                </a:solidFill>
                <a:latin typeface="맑은 고딕"/>
                <a:ea typeface="맑은 고딕"/>
              </a:rPr>
              <a:t>18. 비동기 통보</a:t>
            </a:r>
          </a:p>
          <a:p>
            <a:pPr lvl="1" marL="355600" indent="0">
              <a:spcBef>
                <a:spcPts val="300"/>
              </a:spcBef>
              <a:spcAft>
                <a:spcPts val="300"/>
              </a:spcAft>
              <a:buNone/>
            </a:pPr>
            <a:r>
              <a:rPr sz="1600" b="0">
                <a:solidFill>
                  <a:srgbClr val="000000"/>
                </a:solidFill>
                <a:latin typeface="맑은 고딕"/>
                <a:ea typeface="맑은 고딕"/>
              </a:rPr>
              <a:t>19. 경계에서 옮기기</a:t>
            </a:r>
          </a:p>
          <a:p>
            <a:pPr lvl="1" marL="355600" indent="0">
              <a:spcBef>
                <a:spcPts val="300"/>
              </a:spcBef>
              <a:spcAft>
                <a:spcPts val="300"/>
              </a:spcAft>
              <a:buNone/>
            </a:pPr>
            <a:r>
              <a:rPr sz="1600" b="0">
                <a:solidFill>
                  <a:srgbClr val="000000"/>
                </a:solidFill>
                <a:latin typeface="맑은 고딕"/>
                <a:ea typeface="맑은 고딕"/>
              </a:rPr>
              <a:t>20. 주문 시스템 패키지 —</a:t>
            </a:r>
            <a:r>
              <a:rPr sz="1400" b="0">
                <a:solidFill>
                  <a:srgbClr val="000000"/>
                </a:solidFill>
                <a:latin typeface="맑은 고딕"/>
                <a:ea typeface="맑은 고딕"/>
              </a:rPr>
              <a:t> 초안</a:t>
            </a:r>
          </a:p>
          <a:p>
            <a:pPr lvl="1" marL="355600" indent="0">
              <a:spcBef>
                <a:spcPts val="300"/>
              </a:spcBef>
              <a:spcAft>
                <a:spcPts val="300"/>
              </a:spcAft>
              <a:buNone/>
            </a:pPr>
            <a:r>
              <a:rPr sz="1600" b="0">
                <a:solidFill>
                  <a:srgbClr val="000000"/>
                </a:solidFill>
                <a:latin typeface="맑은 고딕"/>
                <a:ea typeface="맑은 고딕"/>
              </a:rPr>
              <a:t>21. 의존 화살표 읽기</a:t>
            </a:r>
          </a:p>
          <a:p>
            <a:pPr lvl="1" marL="355600" indent="0">
              <a:spcBef>
                <a:spcPts val="300"/>
              </a:spcBef>
              <a:spcAft>
                <a:spcPts val="300"/>
              </a:spcAft>
              <a:buNone/>
            </a:pPr>
            <a:r>
              <a:rPr sz="1600" b="0">
                <a:solidFill>
                  <a:srgbClr val="000000"/>
                </a:solidFill>
                <a:latin typeface="맑은 고딕"/>
                <a:ea typeface="맑은 고딕"/>
              </a:rPr>
              <a:t>22. 경계의 책임</a:t>
            </a:r>
          </a:p>
          <a:p>
            <a:pPr lvl="1" marL="355600" indent="0">
              <a:spcBef>
                <a:spcPts val="300"/>
              </a:spcBef>
              <a:spcAft>
                <a:spcPts val="300"/>
              </a:spcAft>
              <a:buNone/>
            </a:pPr>
            <a:r>
              <a:rPr sz="1600" b="0">
                <a:solidFill>
                  <a:srgbClr val="000000"/>
                </a:solidFill>
                <a:latin typeface="맑은 고딕"/>
                <a:ea typeface="맑은 고딕"/>
              </a:rPr>
              <a:t>23. 의존 방향</a:t>
            </a:r>
          </a:p>
          <a:p>
            <a:pPr lvl="1" marL="355600" indent="0">
              <a:spcBef>
                <a:spcPts val="300"/>
              </a:spcBef>
              <a:spcAft>
                <a:spcPts val="300"/>
              </a:spcAft>
              <a:buNone/>
            </a:pPr>
            <a:r>
              <a:rPr sz="1600" b="0">
                <a:solidFill>
                  <a:srgbClr val="000000"/>
                </a:solidFill>
                <a:latin typeface="맑은 고딕"/>
                <a:ea typeface="맑은 고딕"/>
              </a:rPr>
              <a:t>24. 순환 의존</a:t>
            </a:r>
          </a:p>
          <a:p>
            <a:pPr lvl="1" marL="355600" indent="0">
              <a:spcBef>
                <a:spcPts val="300"/>
              </a:spcBef>
              <a:spcAft>
                <a:spcPts val="300"/>
              </a:spcAft>
              <a:buNone/>
            </a:pPr>
            <a:r>
              <a:rPr sz="1600" b="0">
                <a:solidFill>
                  <a:srgbClr val="000000"/>
                </a:solidFill>
                <a:latin typeface="맑은 고딕"/>
                <a:ea typeface="맑은 고딕"/>
              </a:rPr>
              <a:t>25. 요청과 통보의 방향</a:t>
            </a:r>
          </a:p>
          <a:p>
            <a:pPr lvl="1" marL="355600" indent="0">
              <a:spcBef>
                <a:spcPts val="300"/>
              </a:spcBef>
              <a:spcAft>
                <a:spcPts val="300"/>
              </a:spcAft>
              <a:buNone/>
            </a:pPr>
            <a:r>
              <a:rPr sz="1600" b="0">
                <a:solidFill>
                  <a:srgbClr val="000000"/>
                </a:solidFill>
                <a:latin typeface="맑은 고딕"/>
                <a:ea typeface="맑은 고딕"/>
              </a:rPr>
              <a:t>26. 주문 시스템 패키지 —</a:t>
            </a:r>
            <a:r>
              <a:rPr sz="1400" b="0">
                <a:solidFill>
                  <a:srgbClr val="000000"/>
                </a:solidFill>
                <a:latin typeface="맑은 고딕"/>
                <a:ea typeface="맑은 고딕"/>
              </a:rPr>
              <a:t> 상세화</a:t>
            </a:r>
          </a:p>
          <a:p>
            <a:pPr lvl="1" marL="355600" indent="0">
              <a:spcBef>
                <a:spcPts val="300"/>
              </a:spcBef>
              <a:spcAft>
                <a:spcPts val="300"/>
              </a:spcAft>
              <a:buNone/>
            </a:pPr>
            <a:r>
              <a:rPr sz="1600" b="0">
                <a:solidFill>
                  <a:srgbClr val="000000"/>
                </a:solidFill>
                <a:latin typeface="맑은 고딕"/>
                <a:ea typeface="맑은 고딕"/>
              </a:rPr>
              <a:t>27. 패키지 원칙</a:t>
            </a:r>
          </a:p>
          <a:p>
            <a:pPr lvl="1" marL="355600" indent="0">
              <a:spcBef>
                <a:spcPts val="300"/>
              </a:spcBef>
              <a:spcAft>
                <a:spcPts val="300"/>
              </a:spcAft>
              <a:buNone/>
            </a:pPr>
            <a:r>
              <a:rPr sz="1600" b="0">
                <a:solidFill>
                  <a:srgbClr val="000000"/>
                </a:solidFill>
                <a:latin typeface="맑은 고딕"/>
                <a:ea typeface="맑은 고딕"/>
              </a:rPr>
              <a:t>28. 구조의 진화</a:t>
            </a:r>
          </a:p>
          <a:p>
            <a:pPr lvl="1" marL="355600" indent="0">
              <a:spcBef>
                <a:spcPts val="300"/>
              </a:spcBef>
              <a:spcAft>
                <a:spcPts val="300"/>
              </a:spcAft>
              <a:buNone/>
            </a:pPr>
            <a:r>
              <a:rPr sz="1600" b="0">
                <a:solidFill>
                  <a:srgbClr val="000000"/>
                </a:solidFill>
                <a:latin typeface="맑은 고딕"/>
                <a:ea typeface="맑은 고딕"/>
              </a:rPr>
              <a:t>29. 결합도와 응집도</a:t>
            </a:r>
          </a:p>
          <a:p>
            <a:pPr lvl="1" marL="355600" indent="0">
              <a:spcBef>
                <a:spcPts val="300"/>
              </a:spcBef>
              <a:spcAft>
                <a:spcPts val="300"/>
              </a:spcAft>
              <a:buNone/>
            </a:pPr>
            <a:r>
              <a:rPr sz="1600" b="0">
                <a:solidFill>
                  <a:srgbClr val="000000"/>
                </a:solidFill>
                <a:latin typeface="맑은 고딕"/>
                <a:ea typeface="맑은 고딕"/>
              </a:rPr>
              <a:t>30. 변경 파급</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05. 구조적 경계와 의존성 목차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31. 방향에 따른 파급</a:t>
            </a:r>
          </a:p>
          <a:p>
            <a:pPr lvl="1" marL="355600" indent="0">
              <a:spcBef>
                <a:spcPts val="300"/>
              </a:spcBef>
              <a:spcAft>
                <a:spcPts val="300"/>
              </a:spcAft>
              <a:buNone/>
            </a:pPr>
            <a:r>
              <a:rPr sz="1600" b="0">
                <a:solidFill>
                  <a:srgbClr val="000000"/>
                </a:solidFill>
                <a:latin typeface="맑은 고딕"/>
                <a:ea typeface="맑은 고딕"/>
              </a:rPr>
              <a:t>32. 구조적 제약</a:t>
            </a:r>
          </a:p>
          <a:p>
            <a:pPr lvl="1" marL="355600" indent="0">
              <a:spcBef>
                <a:spcPts val="300"/>
              </a:spcBef>
              <a:spcAft>
                <a:spcPts val="300"/>
              </a:spcAft>
              <a:buNone/>
            </a:pPr>
            <a:r>
              <a:rPr sz="1600" b="0">
                <a:solidFill>
                  <a:srgbClr val="000000"/>
                </a:solidFill>
                <a:latin typeface="맑은 고딕"/>
                <a:ea typeface="맑은 고딕"/>
              </a:rPr>
              <a:t>33. 제약의 검증</a:t>
            </a:r>
          </a:p>
          <a:p>
            <a:pPr lvl="1" marL="355600" indent="0">
              <a:spcBef>
                <a:spcPts val="300"/>
              </a:spcBef>
              <a:spcAft>
                <a:spcPts val="300"/>
              </a:spcAft>
              <a:buNone/>
            </a:pPr>
            <a:r>
              <a:rPr sz="1600" b="0">
                <a:solidFill>
                  <a:srgbClr val="000000"/>
                </a:solidFill>
                <a:latin typeface="맑은 고딕"/>
                <a:ea typeface="맑은 고딕"/>
              </a:rPr>
              <a:t>34. 잘못된 관행 —</a:t>
            </a:r>
            <a:r>
              <a:rPr sz="1400" b="0">
                <a:solidFill>
                  <a:srgbClr val="000000"/>
                </a:solidFill>
                <a:latin typeface="맑은 고딕"/>
                <a:ea typeface="맑은 고딕"/>
              </a:rPr>
              <a:t> 기술 계층 분할</a:t>
            </a:r>
          </a:p>
          <a:p>
            <a:pPr lvl="1" marL="355600" indent="0">
              <a:spcBef>
                <a:spcPts val="300"/>
              </a:spcBef>
              <a:spcAft>
                <a:spcPts val="300"/>
              </a:spcAft>
              <a:buNone/>
            </a:pPr>
            <a:r>
              <a:rPr sz="1600" b="0">
                <a:solidFill>
                  <a:srgbClr val="000000"/>
                </a:solidFill>
                <a:latin typeface="맑은 고딕"/>
                <a:ea typeface="맑은 고딕"/>
              </a:rPr>
              <a:t>35. 잘못된 관행 —</a:t>
            </a:r>
            <a:r>
              <a:rPr sz="1400" b="0">
                <a:solidFill>
                  <a:srgbClr val="000000"/>
                </a:solidFill>
                <a:latin typeface="맑은 고딕"/>
                <a:ea typeface="맑은 고딕"/>
              </a:rPr>
              <a:t> 공용 패키지</a:t>
            </a:r>
          </a:p>
          <a:p>
            <a:pPr lvl="1" marL="355600" indent="0">
              <a:spcBef>
                <a:spcPts val="300"/>
              </a:spcBef>
              <a:spcAft>
                <a:spcPts val="300"/>
              </a:spcAft>
              <a:buNone/>
            </a:pPr>
            <a:r>
              <a:rPr sz="1600" b="0">
                <a:solidFill>
                  <a:srgbClr val="000000"/>
                </a:solidFill>
                <a:latin typeface="맑은 고딕"/>
                <a:ea typeface="맑은 고딕"/>
              </a:rPr>
              <a:t>36. 잘못된 관행 —</a:t>
            </a:r>
            <a:r>
              <a:rPr sz="1400" b="0">
                <a:solidFill>
                  <a:srgbClr val="000000"/>
                </a:solidFill>
                <a:latin typeface="맑은 고딕"/>
                <a:ea typeface="맑은 고딕"/>
              </a:rPr>
              <a:t> 외부 모델 누수</a:t>
            </a:r>
          </a:p>
          <a:p>
            <a:pPr lvl="1" marL="355600" indent="0">
              <a:spcBef>
                <a:spcPts val="300"/>
              </a:spcBef>
              <a:spcAft>
                <a:spcPts val="300"/>
              </a:spcAft>
              <a:buNone/>
            </a:pPr>
            <a:r>
              <a:rPr sz="1600" b="0">
                <a:solidFill>
                  <a:srgbClr val="000000"/>
                </a:solidFill>
                <a:latin typeface="맑은 고딕"/>
                <a:ea typeface="맑은 고딕"/>
              </a:rPr>
              <a:t>37. 패키지와 코드</a:t>
            </a:r>
          </a:p>
          <a:p>
            <a:pPr lvl="1" marL="355600" indent="0">
              <a:spcBef>
                <a:spcPts val="300"/>
              </a:spcBef>
              <a:spcAft>
                <a:spcPts val="300"/>
              </a:spcAft>
              <a:buNone/>
            </a:pPr>
            <a:r>
              <a:rPr sz="1600" b="0">
                <a:solidFill>
                  <a:srgbClr val="000000"/>
                </a:solidFill>
                <a:latin typeface="맑은 고딕"/>
                <a:ea typeface="맑은 고딕"/>
              </a:rPr>
              <a:t>38. 의존 방향과 테스트</a:t>
            </a:r>
          </a:p>
          <a:p>
            <a:pPr lvl="1" marL="355600" indent="0">
              <a:spcBef>
                <a:spcPts val="300"/>
              </a:spcBef>
              <a:spcAft>
                <a:spcPts val="300"/>
              </a:spcAft>
              <a:buNone/>
            </a:pPr>
            <a:r>
              <a:rPr sz="1600" b="0">
                <a:solidFill>
                  <a:srgbClr val="000000"/>
                </a:solidFill>
                <a:latin typeface="맑은 고딕"/>
                <a:ea typeface="맑은 고딕"/>
              </a:rPr>
              <a:t>39. 옮기기 코드</a:t>
            </a:r>
          </a:p>
          <a:p>
            <a:pPr lvl="1" marL="355600" indent="0">
              <a:spcBef>
                <a:spcPts val="300"/>
              </a:spcBef>
              <a:spcAft>
                <a:spcPts val="300"/>
              </a:spcAft>
              <a:buNone/>
            </a:pPr>
            <a:r>
              <a:rPr sz="1600" b="0">
                <a:solidFill>
                  <a:srgbClr val="000000"/>
                </a:solidFill>
                <a:latin typeface="맑은 고딕"/>
                <a:ea typeface="맑은 고딕"/>
              </a:rPr>
              <a:t>40. 적정 구조 설계</a:t>
            </a:r>
          </a:p>
          <a:p>
            <a:pPr lvl="1" marL="355600" indent="0">
              <a:spcBef>
                <a:spcPts val="300"/>
              </a:spcBef>
              <a:spcAft>
                <a:spcPts val="300"/>
              </a:spcAft>
              <a:buNone/>
            </a:pPr>
            <a:r>
              <a:rPr sz="1600" b="0">
                <a:solidFill>
                  <a:srgbClr val="000000"/>
                </a:solidFill>
                <a:latin typeface="맑은 고딕"/>
                <a:ea typeface="맑은 고딕"/>
              </a:rPr>
              <a:t>41. 실습 —</a:t>
            </a:r>
            <a:r>
              <a:rPr sz="1400" b="0">
                <a:solidFill>
                  <a:srgbClr val="000000"/>
                </a:solidFill>
                <a:latin typeface="맑은 고딕"/>
                <a:ea typeface="맑은 고딕"/>
              </a:rPr>
              <a:t> 경계와 의존성</a:t>
            </a:r>
          </a:p>
          <a:p>
            <a:pPr lvl="1" marL="355600" indent="0">
              <a:spcBef>
                <a:spcPts val="300"/>
              </a:spcBef>
              <a:spcAft>
                <a:spcPts val="300"/>
              </a:spcAft>
              <a:buNone/>
            </a:pPr>
            <a:r>
              <a:rPr sz="1600" b="0">
                <a:solidFill>
                  <a:srgbClr val="000000"/>
                </a:solidFill>
                <a:latin typeface="맑은 고딕"/>
                <a:ea typeface="맑은 고딕"/>
              </a:rPr>
              <a:t>42. 패키지 다이어그램 초안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43. 패키지 다이어그램 상세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44. 구조 보완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45.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요구·정적·동적 모델을 바탕으로 책임이 놓일 </a:t>
            </a:r>
            <a:r>
              <a:rPr sz="1800" b="1">
                <a:solidFill>
                  <a:srgbClr val="000000"/>
                </a:solidFill>
                <a:latin typeface="맑은 고딕"/>
                <a:ea typeface="맑은 고딕"/>
              </a:rPr>
              <a:t>구조적 경계</a:t>
            </a:r>
            <a:r>
              <a:rPr sz="1800" b="0">
                <a:solidFill>
                  <a:srgbClr val="000000"/>
                </a:solidFill>
                <a:latin typeface="맑은 고딕"/>
                <a:ea typeface="맑은 고딕"/>
              </a:rPr>
              <a:t>와 </a:t>
            </a:r>
            <a:r>
              <a:rPr sz="1800" b="1">
                <a:solidFill>
                  <a:srgbClr val="000000"/>
                </a:solidFill>
                <a:latin typeface="맑은 고딕"/>
                <a:ea typeface="맑은 고딕"/>
              </a:rPr>
              <a:t>의존성 방향</a:t>
            </a:r>
            <a:r>
              <a:rPr sz="1800" b="0">
                <a:solidFill>
                  <a:srgbClr val="000000"/>
                </a:solidFill>
                <a:latin typeface="맑은 고딕"/>
                <a:ea typeface="맑은 고딕"/>
              </a:rPr>
              <a:t>을 판단한다.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구조적 경계와 의존성이 </a:t>
            </a:r>
            <a:r>
              <a:rPr sz="1800" b="1">
                <a:solidFill>
                  <a:srgbClr val="000000"/>
                </a:solidFill>
                <a:latin typeface="맑은 고딕"/>
                <a:ea typeface="맑은 고딕"/>
              </a:rPr>
              <a:t>변경의 범위와 전파 방향</a:t>
            </a:r>
            <a:r>
              <a:rPr sz="1800" b="0">
                <a:solidFill>
                  <a:srgbClr val="000000"/>
                </a:solidFill>
                <a:latin typeface="맑은 고딕"/>
                <a:ea typeface="맑은 고딕"/>
              </a:rPr>
              <a:t>을 정한다는 것을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클래스를 패키지로 </a:t>
            </a:r>
            <a:r>
              <a:rPr sz="1800" b="1">
                <a:solidFill>
                  <a:srgbClr val="000000"/>
                </a:solidFill>
                <a:latin typeface="맑은 고딕"/>
                <a:ea typeface="맑은 고딕"/>
              </a:rPr>
              <a:t>묶는 기준</a:t>
            </a:r>
            <a:r>
              <a:rPr sz="1400" b="0">
                <a:solidFill>
                  <a:srgbClr val="000000"/>
                </a:solidFill>
                <a:latin typeface="맑은 고딕"/>
                <a:ea typeface="맑은 고딕"/>
              </a:rPr>
              <a:t>(합성·소유·변경 이유·함께 쓰임·외부)</a:t>
            </a:r>
            <a:r>
              <a:rPr sz="1800" b="0">
                <a:solidFill>
                  <a:srgbClr val="000000"/>
                </a:solidFill>
                <a:latin typeface="맑은 고딕"/>
                <a:ea typeface="맑은 고딕"/>
              </a:rPr>
              <a:t>을 적용해 경계 후보를 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시스템에 대한 </a:t>
            </a:r>
            <a:r>
              <a:rPr sz="1800" b="1">
                <a:solidFill>
                  <a:srgbClr val="000000"/>
                </a:solidFill>
                <a:latin typeface="맑은 고딕"/>
                <a:ea typeface="맑은 고딕"/>
              </a:rPr>
              <a:t>요청과 통보</a:t>
            </a:r>
            <a:r>
              <a:rPr sz="1800" b="0">
                <a:solidFill>
                  <a:srgbClr val="000000"/>
                </a:solidFill>
                <a:latin typeface="맑은 고딕"/>
                <a:ea typeface="맑은 고딕"/>
              </a:rPr>
              <a:t>의 의존 방향을 판단한다.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패키지 다이어그램</a:t>
            </a:r>
            <a:r>
              <a:rPr sz="1800" b="0">
                <a:solidFill>
                  <a:srgbClr val="000000"/>
                </a:solidFill>
                <a:latin typeface="맑은 고딕"/>
                <a:ea typeface="맑은 고딕"/>
              </a:rPr>
              <a:t>으로 경계와 의존성을 표현하고, </a:t>
            </a:r>
            <a:r>
              <a:rPr sz="1800" b="1">
                <a:solidFill>
                  <a:srgbClr val="000000"/>
                </a:solidFill>
                <a:latin typeface="맑은 고딕"/>
                <a:ea typeface="맑은 고딕"/>
              </a:rPr>
              <a:t>패키지 원칙</a:t>
            </a:r>
            <a:r>
              <a:rPr sz="1800" b="0">
                <a:solidFill>
                  <a:srgbClr val="000000"/>
                </a:solidFill>
                <a:latin typeface="맑은 고딕"/>
                <a:ea typeface="맑은 고딕"/>
              </a:rPr>
              <a:t>으로 순환 없는 방향을 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변경 시나리오로 </a:t>
            </a:r>
            <a:r>
              <a:rPr sz="1800" b="1">
                <a:solidFill>
                  <a:srgbClr val="000000"/>
                </a:solidFill>
                <a:latin typeface="맑은 고딕"/>
                <a:ea typeface="맑은 고딕"/>
              </a:rPr>
              <a:t>결합도와 변경 파급</a:t>
            </a:r>
            <a:r>
              <a:rPr sz="1800" b="0">
                <a:solidFill>
                  <a:srgbClr val="000000"/>
                </a:solidFill>
                <a:latin typeface="맑은 고딕"/>
                <a:ea typeface="맑은 고딕"/>
              </a:rPr>
              <a:t>을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 설계 전에 지킬 </a:t>
            </a:r>
            <a:r>
              <a:rPr sz="1800" b="1">
                <a:solidFill>
                  <a:srgbClr val="000000"/>
                </a:solidFill>
                <a:latin typeface="맑은 고딕"/>
                <a:ea typeface="맑은 고딕"/>
              </a:rPr>
              <a:t>구조적 제약</a:t>
            </a:r>
            <a:r>
              <a:rPr sz="1800" b="0">
                <a:solidFill>
                  <a:srgbClr val="000000"/>
                </a:solidFill>
                <a:latin typeface="맑은 고딕"/>
                <a:ea typeface="맑은 고딕"/>
              </a:rPr>
              <a:t>을 명시하고 자바 코드·테스트로 확인한다.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02. 분석에서 구조로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94906" y="1842998"/>
          <a:ext cx="7340600" cy="3873500"/>
        </p:xfrm>
        <a:graphic>
          <a:graphicData uri="http://schemas.openxmlformats.org/drawingml/2006/table">
            <a:tbl>
              <a:tblPr/>
              <a:tblGrid>
                <a:gridCol w="947420"/>
                <a:gridCol w="2987040"/>
                <a:gridCol w="34061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입력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앞 세션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 세션에서 쓰는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"02. 요구 분석과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 오퍼레이션 계약, 외부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"03. 정적 모델 — 도메인 개념과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연관, 분석 패키지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동적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"04. 동적 모델 — 상호작용과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상호작용, 상태의 소유, 요청과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분석은 </a:t>
            </a:r>
            <a:r>
              <a:rPr sz="1800" b="1">
                <a:solidFill>
                  <a:srgbClr val="000000"/>
                </a:solidFill>
                <a:latin typeface="맑은 고딕"/>
                <a:ea typeface="맑은 고딕"/>
              </a:rPr>
              <a:t>무엇이 존재하고 무엇이 일어나는지</a:t>
            </a:r>
            <a:r>
              <a:rPr sz="1800" b="0">
                <a:solidFill>
                  <a:srgbClr val="000000"/>
                </a:solidFill>
                <a:latin typeface="맑은 고딕"/>
                <a:ea typeface="맑은 고딕"/>
              </a:rPr>
              <a:t>를 밝혔다. 이제 그 의미를 지킬 책임이 </a:t>
            </a:r>
            <a:r>
              <a:rPr sz="1800" b="1">
                <a:solidFill>
                  <a:srgbClr val="000000"/>
                </a:solidFill>
                <a:latin typeface="맑은 고딕"/>
                <a:ea typeface="맑은 고딕"/>
              </a:rPr>
              <a:t>어디에 놓일지</a:t>
            </a:r>
            <a:r>
              <a:rPr sz="1800" b="0">
                <a:solidFill>
                  <a:srgbClr val="000000"/>
                </a:solidFill>
                <a:latin typeface="맑은 고딕"/>
                <a:ea typeface="맑은 고딕"/>
              </a:rPr>
              <a:t> 판단한다.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pic>
        <p:nvPicPr>
          <p:cNvPr id="14" name="mermaid Diagram 1"/>
          <p:cNvPicPr>
            <a:picLocks noChangeAspect="1"/>
          </p:cNvPicPr>
          <p:nvPr/>
        </p:nvPicPr>
        <p:blipFill>
          <a:blip r:embed="mermaidImage1"/>
          <a:stretch>
            <a:fillRect/>
          </a:stretch>
        </p:blipFill>
        <p:spPr>
          <a:xfrm>
            <a:off x="1453706" y="4373062"/>
            <a:ext cx="6223000" cy="698500"/>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03. 클래스에서 패키지로</a:t>
            </a:r>
          </a:p>
          <a:p>
            <a:r>
              <a:rPr sz="1100" b="1">
                <a:solidFill>
                  <a:srgbClr val="000000"/>
                </a:solidFill>
                <a:latin typeface="맑은 고딕"/>
                <a:ea typeface="맑은 고딕"/>
              </a:rPr>
              <a:t>패키지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389696" y="4392386"/>
          <a:ext cx="4351020" cy="3873500"/>
        </p:xfrm>
        <a:graphic>
          <a:graphicData uri="http://schemas.openxmlformats.org/drawingml/2006/table">
            <a:tbl>
              <a:tblPr/>
              <a:tblGrid>
                <a:gridCol w="947420"/>
                <a:gridCol w="1366520"/>
                <a:gridCol w="2037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 패키지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구조 패키지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묶는 이유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개념을 이해한다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변경을 가둔다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방향 없는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방향 있는 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판단 기준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의미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소유·변경 이유·함께 쓰임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모델이 커지면 클래스 다이어그램 한 장으로는 읽기도, 바꾸기도 어렵다. 패키지는 </a:t>
            </a:r>
            <a:r>
              <a:rPr sz="1800" b="1">
                <a:solidFill>
                  <a:srgbClr val="000000"/>
                </a:solidFill>
                <a:latin typeface="맑은 고딕"/>
                <a:ea typeface="맑은 고딕"/>
              </a:rPr>
              <a:t>개념을 읽기 쉽게 묶는</a:t>
            </a:r>
            <a:r>
              <a:rPr sz="1800" b="0">
                <a:solidFill>
                  <a:srgbClr val="000000"/>
                </a:solidFill>
                <a:latin typeface="맑은 고딕"/>
                <a:ea typeface="맑은 고딕"/>
              </a:rPr>
              <a:t> 데서 시작해, 이 세션에서는 </a:t>
            </a:r>
            <a:r>
              <a:rPr sz="1800" b="1">
                <a:solidFill>
                  <a:srgbClr val="000000"/>
                </a:solidFill>
                <a:latin typeface="맑은 고딕"/>
                <a:ea typeface="맑은 고딕"/>
              </a:rPr>
              <a:t>변경의 단위</a:t>
            </a:r>
            <a:r>
              <a:rPr sz="1800" b="0">
                <a:solidFill>
                  <a:srgbClr val="000000"/>
                </a:solidFill>
                <a:latin typeface="맑은 고딕"/>
                <a:ea typeface="맑은 고딕"/>
              </a:rPr>
              <a:t>가 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pic>
        <p:nvPicPr>
          <p:cNvPr id="14" name="plantuml Diagram 1"/>
          <p:cNvPicPr>
            <a:picLocks noChangeAspect="1"/>
          </p:cNvPicPr>
          <p:nvPr/>
        </p:nvPicPr>
        <p:blipFill>
          <a:blip r:embed="plantumlImage1"/>
          <a:stretch>
            <a:fillRect/>
          </a:stretch>
        </p:blipFill>
        <p:spPr>
          <a:xfrm>
            <a:off x="2748129" y="2100036"/>
            <a:ext cx="3634154" cy="2190750"/>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구조적 경계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구조적 경계</a:t>
            </a:r>
            <a:r>
              <a:rPr sz="1800" b="0">
                <a:solidFill>
                  <a:srgbClr val="000000"/>
                </a:solidFill>
                <a:latin typeface="맑은 고딕"/>
                <a:ea typeface="맑은 고딕"/>
              </a:rPr>
              <a:t>는 함께 바뀌는 </a:t>
            </a:r>
            <a:r>
              <a:rPr sz="1800" b="1">
                <a:solidFill>
                  <a:srgbClr val="000000"/>
                </a:solidFill>
                <a:latin typeface="맑은 고딕"/>
                <a:ea typeface="맑은 고딕"/>
              </a:rPr>
              <a:t>상태와 규칙</a:t>
            </a:r>
            <a:r>
              <a:rPr sz="1800" b="0">
                <a:solidFill>
                  <a:srgbClr val="000000"/>
                </a:solidFill>
                <a:latin typeface="맑은 고딕"/>
                <a:ea typeface="맑은 고딕"/>
              </a:rPr>
              <a:t>을 묶어, 책임이 놓일 범위를 정하는 선이다.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안</a:t>
            </a:r>
            <a:r>
              <a:rPr sz="1800" b="0">
                <a:solidFill>
                  <a:srgbClr val="000000"/>
                </a:solidFill>
                <a:latin typeface="맑은 고딕"/>
                <a:ea typeface="맑은 고딕"/>
              </a:rPr>
              <a:t> —</a:t>
            </a:r>
            <a:r>
              <a:rPr sz="1600" b="0">
                <a:solidFill>
                  <a:srgbClr val="000000"/>
                </a:solidFill>
                <a:latin typeface="맑은 고딕"/>
                <a:ea typeface="맑은 고딕"/>
              </a:rPr>
              <a:t> 경계가 소유하는 상태와 그 상태를 바꾸는 규칙</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밖</a:t>
            </a:r>
            <a:r>
              <a:rPr sz="1800" b="0">
                <a:solidFill>
                  <a:srgbClr val="000000"/>
                </a:solidFill>
                <a:latin typeface="맑은 고딕"/>
                <a:ea typeface="맑은 고딕"/>
              </a:rPr>
              <a:t> —</a:t>
            </a:r>
            <a:r>
              <a:rPr sz="1600" b="0">
                <a:solidFill>
                  <a:srgbClr val="000000"/>
                </a:solidFill>
                <a:latin typeface="맑은 고딕"/>
                <a:ea typeface="맑은 고딕"/>
              </a:rPr>
              <a:t> 경계가 알 필요 없는 세부. 경계를 넘을 때는 약속한 방식으로만 주고받는다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목적</a:t>
            </a:r>
            <a:r>
              <a:rPr sz="1800" b="0">
                <a:solidFill>
                  <a:srgbClr val="000000"/>
                </a:solidFill>
                <a:latin typeface="맑은 고딕"/>
                <a:ea typeface="맑은 고딕"/>
              </a:rPr>
              <a:t> —</a:t>
            </a:r>
            <a:r>
              <a:rPr sz="1600" b="0">
                <a:solidFill>
                  <a:srgbClr val="000000"/>
                </a:solidFill>
                <a:latin typeface="맑은 고딕"/>
                <a:ea typeface="맑은 고딕"/>
              </a:rPr>
              <a:t> 한 곳의 변경이 </a:t>
            </a:r>
            <a:r>
              <a:rPr sz="1600" b="1">
                <a:solidFill>
                  <a:srgbClr val="000000"/>
                </a:solidFill>
                <a:latin typeface="맑은 고딕"/>
                <a:ea typeface="맑은 고딕"/>
              </a:rPr>
              <a:t>다른 곳으로 번지지 않게</a:t>
            </a:r>
            <a:r>
              <a:rPr sz="1600" b="0">
                <a:solidFill>
                  <a:srgbClr val="000000"/>
                </a:solidFill>
                <a:latin typeface="맑은 고딕"/>
                <a:ea typeface="맑은 고딕"/>
              </a:rPr>
              <a:t>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경계는 폴더 정리가 아니라 </a:t>
            </a:r>
            <a:r>
              <a:rPr sz="1800" b="1">
                <a:solidFill>
                  <a:srgbClr val="000000"/>
                </a:solidFill>
                <a:latin typeface="맑은 고딕"/>
                <a:ea typeface="맑은 고딕"/>
              </a:rPr>
              <a:t>변경을 가두는 결정</a:t>
            </a:r>
            <a:r>
              <a:rPr sz="1800" b="0">
                <a:solidFill>
                  <a:srgbClr val="000000"/>
                </a:solidFill>
                <a:latin typeface="맑은 고딕"/>
                <a:ea typeface="맑은 고딕"/>
              </a:rPr>
              <a:t>이다.</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05. 의존성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의존성</a:t>
            </a:r>
            <a:r>
              <a:rPr sz="1800" b="0">
                <a:solidFill>
                  <a:srgbClr val="000000"/>
                </a:solidFill>
                <a:latin typeface="맑은 고딕"/>
                <a:ea typeface="맑은 고딕"/>
              </a:rPr>
              <a:t>은 한 요소가 다른 요소를 </a:t>
            </a:r>
            <a:r>
              <a:rPr sz="1800" b="1">
                <a:solidFill>
                  <a:srgbClr val="000000"/>
                </a:solidFill>
                <a:latin typeface="맑은 고딕"/>
                <a:ea typeface="맑은 고딕"/>
              </a:rPr>
              <a:t>알고 쓰는</a:t>
            </a:r>
            <a:r>
              <a:rPr sz="1800" b="0">
                <a:solidFill>
                  <a:srgbClr val="000000"/>
                </a:solidFill>
                <a:latin typeface="맑은 고딕"/>
                <a:ea typeface="맑은 고딕"/>
              </a:rPr>
              <a:t> 관계다. 쓰는 쪽은 쓰이는 쪽이 바뀌면 </a:t>
            </a:r>
            <a:r>
              <a:rPr sz="1800" b="1">
                <a:solidFill>
                  <a:srgbClr val="000000"/>
                </a:solidFill>
                <a:latin typeface="맑은 고딕"/>
                <a:ea typeface="맑은 고딕"/>
              </a:rPr>
              <a:t>함께 바뀔 수 있다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"의존은 공급자를 바꾸면 클라이언트 요소가 영향을 받을 수 있는, 모델 요소 사이의 </a:t>
            </a:r>
            <a:r>
              <a:rPr sz="1800" b="1">
                <a:solidFill>
                  <a:srgbClr val="000000"/>
                </a:solidFill>
                <a:latin typeface="맑은 고딕"/>
                <a:ea typeface="맑은 고딕"/>
              </a:rPr>
              <a:t>공급자/클라이언트</a:t>
            </a:r>
            <a:r>
              <a:rPr sz="1800" b="0">
                <a:solidFill>
                  <a:srgbClr val="000000"/>
                </a:solidFill>
                <a:latin typeface="맑은 고딕"/>
                <a:ea typeface="맑은 고딕"/>
              </a:rPr>
              <a:t> 관계다"</a:t>
            </a:r>
            <a:r>
              <a:rPr sz="1000" b="0">
                <a:solidFill>
                  <a:srgbClr val="000000"/>
                </a:solidFill>
                <a:latin typeface="맑은 고딕"/>
                <a:ea typeface="맑은 고딕"/>
              </a:rPr>
              <a:t>, </a:t>
            </a:r>
            <a:r>
              <a:rPr sz="1000" b="0">
                <a:solidFill>
                  <a:srgbClr val="000000"/>
                </a:solidFill>
                <a:latin typeface="맑은 고딕"/>
                <a:ea typeface="맑은 고딕"/>
              </a:rPr>
              <a:t>"A Dependency signifies a supplier/client relationship between model elements where the modification of a supplier may impact the client model elements."</a:t>
            </a:r>
            <a:r>
              <a:rPr sz="1000" b="0">
                <a:solidFill>
                  <a:srgbClr val="000000"/>
                </a:solidFill>
                <a:latin typeface="맑은 고딕"/>
                <a:ea typeface="맑은 고딕"/>
              </a:rPr>
              <a:t>, </a:t>
            </a:r>
            <a:r>
              <a:rPr sz="1000" b="0">
                <a:solidFill>
                  <a:srgbClr val="000000"/>
                </a:solidFill>
                <a:latin typeface="맑은 고딕"/>
                <a:ea typeface="맑은 고딕"/>
              </a:rPr>
              <a:t>Object Management Group, 2017</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방향</a:t>
            </a:r>
            <a:r>
              <a:rPr sz="1800" b="0">
                <a:solidFill>
                  <a:srgbClr val="000000"/>
                </a:solidFill>
                <a:latin typeface="맑은 고딕"/>
                <a:ea typeface="맑은 고딕"/>
              </a:rPr>
              <a:t> —</a:t>
            </a:r>
            <a:r>
              <a:rPr sz="1600" b="0">
                <a:solidFill>
                  <a:srgbClr val="000000"/>
                </a:solidFill>
                <a:latin typeface="맑은 고딕"/>
                <a:ea typeface="맑은 고딕"/>
              </a:rPr>
              <a:t> 화살표는 쓰는 쪽</a:t>
            </a:r>
            <a:r>
              <a:rPr sz="1200" b="0">
                <a:solidFill>
                  <a:srgbClr val="000000"/>
                </a:solidFill>
                <a:latin typeface="맑은 고딕"/>
                <a:ea typeface="맑은 고딕"/>
              </a:rPr>
              <a:t>(클라이언트)</a:t>
            </a:r>
            <a:r>
              <a:rPr sz="1600" b="0">
                <a:solidFill>
                  <a:srgbClr val="000000"/>
                </a:solidFill>
                <a:latin typeface="맑은 고딕"/>
                <a:ea typeface="맑은 고딕"/>
              </a:rPr>
              <a:t>에서 쓰이는 쪽</a:t>
            </a:r>
            <a:r>
              <a:rPr sz="1200" b="0">
                <a:solidFill>
                  <a:srgbClr val="000000"/>
                </a:solidFill>
                <a:latin typeface="맑은 고딕"/>
                <a:ea typeface="맑은 고딕"/>
              </a:rPr>
              <a:t>(공급자)</a:t>
            </a:r>
            <a:r>
              <a:rPr sz="1600" b="0">
                <a:solidFill>
                  <a:srgbClr val="000000"/>
                </a:solidFill>
                <a:latin typeface="맑은 고딕"/>
                <a:ea typeface="맑은 고딕"/>
              </a:rPr>
              <a:t>으로 향한다.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전파</a:t>
            </a:r>
            <a:r>
              <a:rPr sz="1800" b="0">
                <a:solidFill>
                  <a:srgbClr val="000000"/>
                </a:solidFill>
                <a:latin typeface="맑은 고딕"/>
                <a:ea typeface="맑은 고딕"/>
              </a:rPr>
              <a:t> —</a:t>
            </a:r>
            <a:r>
              <a:rPr sz="1600" b="0">
                <a:solidFill>
                  <a:srgbClr val="000000"/>
                </a:solidFill>
                <a:latin typeface="맑은 고딕"/>
                <a:ea typeface="맑은 고딕"/>
              </a:rPr>
              <a:t> 변경은 화살표의 </a:t>
            </a:r>
            <a:r>
              <a:rPr sz="1600" b="1">
                <a:solidFill>
                  <a:srgbClr val="000000"/>
                </a:solidFill>
                <a:latin typeface="맑은 고딕"/>
                <a:ea typeface="맑은 고딕"/>
              </a:rPr>
              <a:t>반대 방향</a:t>
            </a:r>
            <a:r>
              <a:rPr sz="1600" b="0">
                <a:solidFill>
                  <a:srgbClr val="000000"/>
                </a:solidFill>
                <a:latin typeface="맑은 고딕"/>
                <a:ea typeface="맑은 고딕"/>
              </a:rPr>
              <a:t>으로 번진다. 공급자가 바뀌면 클라이언트가 영향을 받는다.</a:t>
            </a:r>
          </a:p>
        </p:txBody>
      </p:sp>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06. 경계와 의존의 결정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25766" y="1842998"/>
          <a:ext cx="6278880" cy="3873500"/>
        </p:xfrm>
        <a:graphic>
          <a:graphicData uri="http://schemas.openxmlformats.org/drawingml/2006/table">
            <a:tbl>
              <a:tblPr/>
              <a:tblGrid>
                <a:gridCol w="1087120"/>
                <a:gridCol w="2819400"/>
                <a:gridCol w="23723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다루는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이 시스템의 책임인가?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"02. 요구 분석과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구조적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안의 어느 묶음이 책임지는가?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세션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 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묶음이 어느 묶음을 아는가?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세션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객체가 판단하고 협력하는가?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"07. 책임·협력·계약"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경계와 의존 방향은 요구·분석과 다른 </a:t>
            </a:r>
            <a:r>
              <a:rPr sz="1800" b="1">
                <a:solidFill>
                  <a:srgbClr val="000000"/>
                </a:solidFill>
                <a:latin typeface="맑은 고딕"/>
                <a:ea typeface="맑은 고딕"/>
              </a:rPr>
              <a:t>구조 설계의 결정</a:t>
            </a:r>
            <a:r>
              <a:rPr sz="1800" b="0">
                <a:solidFill>
                  <a:srgbClr val="000000"/>
                </a:solidFill>
                <a:latin typeface="맑은 고딕"/>
                <a:ea typeface="맑은 고딕"/>
              </a:rPr>
              <a:t>이다. 앞의 결정을 입력으로 쓰고, 뒤의 결정을 제약한다.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패키지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21346" y="3916149"/>
          <a:ext cx="5887720" cy="3873500"/>
        </p:xfrm>
        <a:graphic>
          <a:graphicData uri="http://schemas.openxmlformats.org/drawingml/2006/table">
            <a:tbl>
              <a:tblPr/>
              <a:tblGrid>
                <a:gridCol w="1841500"/>
                <a:gridCol w="181356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패키지 — 탭 달린 폴더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경계의 이름 있는 묶음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변경 이유로 이름 짓는다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 — 점선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쓰는 쪽 → 쓰이는 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경계를 넘는 사용마다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실현 — 점선·빈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인터페이스를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약속과 그 실현을 잇는다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«interface»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 없는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약속을 소유한 패키지에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패키지 다이어그램</a:t>
            </a:r>
            <a:r>
              <a:rPr sz="1800" b="0">
                <a:solidFill>
                  <a:srgbClr val="000000"/>
                </a:solidFill>
                <a:latin typeface="맑은 고딕"/>
                <a:ea typeface="맑은 고딕"/>
              </a:rPr>
              <a:t>은 패키지와 그 사이의 </a:t>
            </a:r>
            <a:r>
              <a:rPr sz="1800" b="1">
                <a:solidFill>
                  <a:srgbClr val="000000"/>
                </a:solidFill>
                <a:latin typeface="맑은 고딕"/>
                <a:ea typeface="맑은 고딕"/>
              </a:rPr>
              <a:t>의존</a:t>
            </a:r>
            <a:r>
              <a:rPr sz="1800" b="0">
                <a:solidFill>
                  <a:srgbClr val="000000"/>
                </a:solidFill>
                <a:latin typeface="맑은 고딕"/>
                <a:ea typeface="맑은 고딕"/>
              </a:rPr>
              <a:t>을 보여 준다. 경계와 의존 방향을 한눈에 검토하는 도구다.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290309"/>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표기와 사용법</a:t>
            </a:r>
          </a:p>
        </p:txBody>
      </p:sp>
      <p:pic>
        <p:nvPicPr>
          <p:cNvPr id="15" name="plantuml Diagram 2"/>
          <p:cNvPicPr>
            <a:picLocks noChangeAspect="1"/>
          </p:cNvPicPr>
          <p:nvPr/>
        </p:nvPicPr>
        <p:blipFill>
          <a:blip r:embed="plantumlImage2"/>
          <a:stretch>
            <a:fillRect/>
          </a:stretch>
        </p:blipFill>
        <p:spPr>
          <a:xfrm>
            <a:off x="2923975" y="1842998"/>
            <a:ext cx="3282462" cy="1345712"/>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묶는 기준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07376" y="1842998"/>
          <a:ext cx="5915660" cy="3873500"/>
        </p:xfrm>
        <a:graphic>
          <a:graphicData uri="http://schemas.openxmlformats.org/drawingml/2006/table">
            <a:tbl>
              <a:tblPr/>
              <a:tblGrid>
                <a:gridCol w="1310640"/>
                <a:gridCol w="2540000"/>
                <a:gridCol w="20650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모델의 단서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합성·불변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 있어야 규칙이 지켜지는가?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정적 모델의 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그 상태와 규칙을 바꾸는가?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동적 모델의 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이유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이유로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요구의 규칙·정책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함께 쓰임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늘 함께 쓰이는가?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요구의 시스템 이벤트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통제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우리가 바꿀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정제된 SSD의 외부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클래스를 패키지로 묶는 기준은 </a:t>
            </a:r>
            <a:r>
              <a:rPr sz="1800" b="1">
                <a:solidFill>
                  <a:srgbClr val="000000"/>
                </a:solidFill>
                <a:latin typeface="맑은 고딕"/>
                <a:ea typeface="맑은 고딕"/>
              </a:rPr>
              <a:t>다섯 가지 질문</a:t>
            </a:r>
            <a:r>
              <a:rPr sz="1800" b="0">
                <a:solidFill>
                  <a:srgbClr val="000000"/>
                </a:solidFill>
                <a:latin typeface="맑은 고딕"/>
                <a:ea typeface="맑은 고딕"/>
              </a:rPr>
              <a:t>이다. 각 질문의 단서는 앞 세션의 모델에 이미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09. 합성과 불변 조건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합성</a:t>
            </a:r>
            <a:r>
              <a:rPr sz="1800" b="0">
                <a:solidFill>
                  <a:srgbClr val="000000"/>
                </a:solidFill>
                <a:latin typeface="맑은 고딕"/>
                <a:ea typeface="맑은 고딕"/>
              </a:rPr>
              <a:t>으로 묶인 전체와 부분은 </a:t>
            </a:r>
            <a:r>
              <a:rPr sz="1800" b="1">
                <a:solidFill>
                  <a:srgbClr val="000000"/>
                </a:solidFill>
                <a:latin typeface="맑은 고딕"/>
                <a:ea typeface="맑은 고딕"/>
              </a:rPr>
              <a:t>같은 패키지</a:t>
            </a:r>
            <a:r>
              <a:rPr sz="1800" b="0">
                <a:solidFill>
                  <a:srgbClr val="000000"/>
                </a:solidFill>
                <a:latin typeface="맑은 고딕"/>
                <a:ea typeface="맑은 고딕"/>
              </a:rPr>
              <a:t>에 둔다. 전체가 부분의 규칙을 지키므로, 떼어 놓으면 규칙이 경계를 넘는다.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주문–주문 항목</a:t>
            </a:r>
            <a:r>
              <a:rPr sz="1800" b="0">
                <a:solidFill>
                  <a:srgbClr val="000000"/>
                </a:solidFill>
                <a:latin typeface="맑은 고딕"/>
                <a:ea typeface="맑은 고딕"/>
              </a:rPr>
              <a:t> —</a:t>
            </a:r>
            <a:r>
              <a:rPr sz="1600" b="0">
                <a:solidFill>
                  <a:srgbClr val="000000"/>
                </a:solidFill>
                <a:latin typeface="맑은 고딕"/>
                <a:ea typeface="맑은 고딕"/>
              </a:rPr>
              <a:t> 주문 항목은 </a:t>
            </a:r>
            <a:r>
              <a:rPr sz="1600" b="1">
                <a:solidFill>
                  <a:srgbClr val="000000"/>
                </a:solidFill>
                <a:latin typeface="맑은 고딕"/>
                <a:ea typeface="맑은 고딕"/>
              </a:rPr>
              <a:t>1개 이상</a:t>
            </a:r>
            <a:r>
              <a:rPr sz="1600" b="0">
                <a:solidFill>
                  <a:srgbClr val="000000"/>
                </a:solidFill>
                <a:latin typeface="맑은 고딕"/>
                <a:ea typeface="맑은 고딕"/>
              </a:rPr>
              <a:t>이다</a:t>
            </a:r>
            <a:r>
              <a:rPr sz="1200" b="0">
                <a:solidFill>
                  <a:srgbClr val="000000"/>
                </a:solidFill>
                <a:latin typeface="맑은 고딕"/>
                <a:ea typeface="맑은 고딕"/>
              </a:rPr>
              <a:t>(빈 주문 거절)</a:t>
            </a:r>
            <a:r>
              <a:rPr sz="1600" b="0">
                <a:solidFill>
                  <a:srgbClr val="000000"/>
                </a:solidFill>
                <a:latin typeface="맑은 고딕"/>
                <a:ea typeface="맑은 고딕"/>
              </a:rPr>
              <a:t>. 주문 항목만 따로 바뀌지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장바구니–장바구니 항목</a:t>
            </a:r>
            <a:r>
              <a:rPr sz="1800" b="0">
                <a:solidFill>
                  <a:srgbClr val="000000"/>
                </a:solidFill>
                <a:latin typeface="맑은 고딕"/>
                <a:ea typeface="맑은 고딕"/>
              </a:rPr>
              <a:t> —</a:t>
            </a:r>
            <a:r>
              <a:rPr sz="1600" b="0">
                <a:solidFill>
                  <a:srgbClr val="000000"/>
                </a:solidFill>
                <a:latin typeface="맑은 고딕"/>
                <a:ea typeface="맑은 고딕"/>
              </a:rPr>
              <a:t> 담기·빼기는 장바구니의 규칙이다.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연관</a:t>
            </a:r>
            <a:r>
              <a:rPr sz="1800" b="0">
                <a:solidFill>
                  <a:srgbClr val="000000"/>
                </a:solidFill>
                <a:latin typeface="맑은 고딕"/>
                <a:ea typeface="맑은 고딕"/>
              </a:rPr>
              <a:t>은 다르다. 주문과 결제는 연관이라 </a:t>
            </a:r>
            <a:r>
              <a:rPr sz="1800" b="1">
                <a:solidFill>
                  <a:srgbClr val="000000"/>
                </a:solidFill>
                <a:latin typeface="맑은 고딕"/>
                <a:ea typeface="맑은 고딕"/>
              </a:rPr>
              <a:t>나눌 수 있다</a:t>
            </a:r>
            <a:r>
              <a:rPr sz="1800" b="0">
                <a:solidFill>
                  <a:srgbClr val="000000"/>
                </a:solidFill>
                <a:latin typeface="맑은 고딕"/>
                <a:ea typeface="맑은 고딕"/>
              </a:rPr>
              <a:t> —</a:t>
            </a:r>
            <a:r>
              <a:rPr sz="1600" b="0">
                <a:solidFill>
                  <a:srgbClr val="000000"/>
                </a:solidFill>
                <a:latin typeface="맑은 고딕"/>
                <a:ea typeface="맑은 고딕"/>
              </a:rPr>
              <a:t> 결제는 자기 규칙</a:t>
            </a:r>
            <a:r>
              <a:rPr sz="1200" b="0">
                <a:solidFill>
                  <a:srgbClr val="000000"/>
                </a:solidFill>
                <a:latin typeface="맑은 고딕"/>
                <a:ea typeface="맑은 고딕"/>
              </a:rPr>
              <a:t>(환불 금액 ≤ 결제 금액)</a:t>
            </a:r>
            <a:r>
              <a:rPr sz="1600" b="0">
                <a:solidFill>
                  <a:srgbClr val="000000"/>
                </a:solidFill>
                <a:latin typeface="맑은 고딕"/>
                <a:ea typeface="맑은 고딕"/>
              </a:rPr>
              <a:t>을 가진다.</a:t>
            </a:r>
          </a:p>
        </p:txBody>
      </p:sp>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규칙과 상태의 소유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2056" y="1842998"/>
          <a:ext cx="4686300" cy="3873500"/>
        </p:xfrm>
        <a:graphic>
          <a:graphicData uri="http://schemas.openxmlformats.org/drawingml/2006/table">
            <a:tbl>
              <a:tblPr/>
              <a:tblGrid>
                <a:gridCol w="2288540"/>
                <a:gridCol w="108712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상태·규칙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바꾸는 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경계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상태(결제 대기~취소됨)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규칙(배송 시작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 규칙(환불 ≤ 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준비 중·출고됨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 밖</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상태를 </a:t>
            </a:r>
            <a:r>
              <a:rPr sz="1800" b="1">
                <a:solidFill>
                  <a:srgbClr val="000000"/>
                </a:solidFill>
                <a:latin typeface="맑은 고딕"/>
                <a:ea typeface="맑은 고딕"/>
              </a:rPr>
              <a:t>바꾸는 쪽</a:t>
            </a:r>
            <a:r>
              <a:rPr sz="1800" b="0">
                <a:solidFill>
                  <a:srgbClr val="000000"/>
                </a:solidFill>
                <a:latin typeface="맑은 고딕"/>
                <a:ea typeface="맑은 고딕"/>
              </a:rPr>
              <a:t>이 그 상태의 경계다. 규칙은 그 규칙이 지키는 </a:t>
            </a:r>
            <a:r>
              <a:rPr sz="1800" b="1">
                <a:solidFill>
                  <a:srgbClr val="000000"/>
                </a:solidFill>
                <a:latin typeface="맑은 고딕"/>
                <a:ea typeface="맑은 고딕"/>
              </a:rPr>
              <a:t>상태와 같은 곳</a:t>
            </a:r>
            <a:r>
              <a:rPr sz="1800" b="0">
                <a:solidFill>
                  <a:srgbClr val="000000"/>
                </a:solidFill>
                <a:latin typeface="맑은 고딕"/>
                <a:ea typeface="맑은 고딕"/>
              </a:rPr>
              <a:t>에 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11. 변경 이유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99246" y="3350174"/>
          <a:ext cx="3931920" cy="3873500"/>
        </p:xfrm>
        <a:graphic>
          <a:graphicData uri="http://schemas.openxmlformats.org/drawingml/2006/table">
            <a:tbl>
              <a:tblPr/>
              <a:tblGrid>
                <a:gridCol w="1394460"/>
                <a:gridCol w="1590040"/>
                <a:gridCol w="9474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바뀔 수 있는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변경 이유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가둘 경계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결제·환불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대행 방식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계약·기술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통보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시스템의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28845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경계는 </a:t>
            </a:r>
            <a:r>
              <a:rPr sz="1800" b="1">
                <a:solidFill>
                  <a:srgbClr val="000000"/>
                </a:solidFill>
                <a:latin typeface="맑은 고딕"/>
                <a:ea typeface="맑은 고딕"/>
              </a:rPr>
              <a:t>함께 바뀌는 것</a:t>
            </a:r>
            <a:r>
              <a:rPr sz="1800" b="0">
                <a:solidFill>
                  <a:srgbClr val="000000"/>
                </a:solidFill>
                <a:latin typeface="맑은 고딕"/>
                <a:ea typeface="맑은 고딕"/>
              </a:rPr>
              <a:t>을 묶고 </a:t>
            </a:r>
            <a:r>
              <a:rPr sz="1800" b="1">
                <a:solidFill>
                  <a:srgbClr val="000000"/>
                </a:solidFill>
                <a:latin typeface="맑은 고딕"/>
                <a:ea typeface="맑은 고딕"/>
              </a:rPr>
              <a:t>따로 바뀌는 것</a:t>
            </a:r>
            <a:r>
              <a:rPr sz="1800" b="0">
                <a:solidFill>
                  <a:srgbClr val="000000"/>
                </a:solidFill>
                <a:latin typeface="맑은 고딕"/>
                <a:ea typeface="맑은 고딕"/>
              </a:rPr>
              <a:t>을 나눈다. 묶는 기준은 기능 목록이 아니라 </a:t>
            </a:r>
            <a:r>
              <a:rPr sz="1800" b="1">
                <a:solidFill>
                  <a:srgbClr val="000000"/>
                </a:solidFill>
                <a:latin typeface="맑은 고딕"/>
                <a:ea typeface="맑은 고딕"/>
              </a:rPr>
              <a:t>변경 이유</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"대신 </a:t>
            </a:r>
            <a:r>
              <a:rPr sz="1800" b="1">
                <a:solidFill>
                  <a:srgbClr val="000000"/>
                </a:solidFill>
                <a:latin typeface="맑은 고딕"/>
                <a:ea typeface="맑은 고딕"/>
              </a:rPr>
              <a:t>어렵거나 바뀔 가능성이 큰 설계 결정</a:t>
            </a:r>
            <a:r>
              <a:rPr sz="1800" b="0">
                <a:solidFill>
                  <a:srgbClr val="000000"/>
                </a:solidFill>
                <a:latin typeface="맑은 고딕"/>
                <a:ea typeface="맑은 고딕"/>
              </a:rPr>
              <a:t>의 목록에서 시작하기를 제안한다"</a:t>
            </a:r>
            <a:r>
              <a:rPr sz="1000" b="0">
                <a:solidFill>
                  <a:srgbClr val="000000"/>
                </a:solidFill>
                <a:latin typeface="맑은 고딕"/>
                <a:ea typeface="맑은 고딕"/>
              </a:rPr>
              <a:t>, </a:t>
            </a:r>
            <a:r>
              <a:rPr sz="1000" b="0">
                <a:solidFill>
                  <a:srgbClr val="000000"/>
                </a:solidFill>
                <a:latin typeface="맑은 고딕"/>
                <a:ea typeface="맑은 고딕"/>
              </a:rPr>
              <a:t>"We propose instead that one begins with a list of difficult design decisions or design decisions which are likely to change."</a:t>
            </a:r>
            <a:r>
              <a:rPr sz="1000" b="0">
                <a:solidFill>
                  <a:srgbClr val="000000"/>
                </a:solidFill>
                <a:latin typeface="맑은 고딕"/>
                <a:ea typeface="맑은 고딕"/>
              </a:rPr>
              <a:t>, </a:t>
            </a:r>
            <a:r>
              <a:rPr sz="1000" b="0">
                <a:solidFill>
                  <a:srgbClr val="000000"/>
                </a:solidFill>
                <a:latin typeface="맑은 고딕"/>
                <a:ea typeface="맑은 고딕"/>
              </a:rPr>
              <a:t>David L. Parnas, 1972, www</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함께 바뀌는</a:t>
            </a:r>
            <a:r>
              <a:rPr sz="1800" b="0">
                <a:solidFill>
                  <a:srgbClr val="000000"/>
                </a:solidFill>
                <a:latin typeface="맑은 고딕"/>
                <a:ea typeface="맑은 고딕"/>
              </a:rPr>
              <a:t> 클래스는 함께 둔다"</a:t>
            </a:r>
            <a:r>
              <a:rPr sz="1000" b="0">
                <a:solidFill>
                  <a:srgbClr val="000000"/>
                </a:solidFill>
                <a:latin typeface="맑은 고딕"/>
                <a:ea typeface="맑은 고딕"/>
              </a:rPr>
              <a:t>, </a:t>
            </a:r>
            <a:r>
              <a:rPr sz="1000" b="0">
                <a:solidFill>
                  <a:srgbClr val="000000"/>
                </a:solidFill>
                <a:latin typeface="맑은 고딕"/>
                <a:ea typeface="맑은 고딕"/>
              </a:rPr>
              <a:t>"Classes that change together, belong together."</a:t>
            </a:r>
            <a:r>
              <a:rPr sz="1000" b="0">
                <a:solidFill>
                  <a:srgbClr val="000000"/>
                </a:solidFill>
                <a:latin typeface="맑은 고딕"/>
                <a:ea typeface="맑은 고딕"/>
              </a:rPr>
              <a:t>, </a:t>
            </a:r>
            <a:r>
              <a:rPr sz="1000" b="0">
                <a:solidFill>
                  <a:srgbClr val="000000"/>
                </a:solidFill>
                <a:latin typeface="맑은 고딕"/>
                <a:ea typeface="맑은 고딕"/>
              </a:rPr>
              <a:t>Robert C. Martin,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함께 쓰임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417636" y="2392124"/>
          <a:ext cx="4295140" cy="3873500"/>
        </p:xfrm>
        <a:graphic>
          <a:graphicData uri="http://schemas.openxmlformats.org/drawingml/2006/table">
            <a:tbl>
              <a:tblPr/>
              <a:tblGrid>
                <a:gridCol w="1506220"/>
                <a:gridCol w="147828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 이벤트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함께 쓰는 경계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쓰지 않는 경계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장바구니에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배송지를 변경한다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늘 </a:t>
            </a:r>
            <a:r>
              <a:rPr sz="1800" b="1">
                <a:solidFill>
                  <a:srgbClr val="000000"/>
                </a:solidFill>
                <a:latin typeface="맑은 고딕"/>
                <a:ea typeface="맑은 고딕"/>
              </a:rPr>
              <a:t>함께 쓰이지 않는</a:t>
            </a:r>
            <a:r>
              <a:rPr sz="1800" b="0">
                <a:solidFill>
                  <a:srgbClr val="000000"/>
                </a:solidFill>
                <a:latin typeface="맑은 고딕"/>
                <a:ea typeface="맑은 고딕"/>
              </a:rPr>
              <a:t> 클래스는 한 패키지에 두지 않는다. 한쪽만 쓰는 곳도 다른 쪽의 변경에 영향을 받기 때문이다.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함께 재사용되지 않는</a:t>
            </a:r>
            <a:r>
              <a:rPr sz="1800" b="0">
                <a:solidFill>
                  <a:srgbClr val="000000"/>
                </a:solidFill>
                <a:latin typeface="맑은 고딕"/>
                <a:ea typeface="맑은 고딕"/>
              </a:rPr>
              <a:t> 클래스는 함께 묶지 않는다"</a:t>
            </a:r>
            <a:r>
              <a:rPr sz="1000" b="0">
                <a:solidFill>
                  <a:srgbClr val="000000"/>
                </a:solidFill>
                <a:latin typeface="맑은 고딕"/>
                <a:ea typeface="맑은 고딕"/>
              </a:rPr>
              <a:t>, </a:t>
            </a:r>
            <a:r>
              <a:rPr sz="1000" b="0">
                <a:solidFill>
                  <a:srgbClr val="000000"/>
                </a:solidFill>
                <a:latin typeface="맑은 고딕"/>
                <a:ea typeface="맑은 고딕"/>
              </a:rPr>
              <a:t>"Classes that aren’t reused together should not be grouped together."</a:t>
            </a:r>
            <a:r>
              <a:rPr sz="1000" b="0">
                <a:solidFill>
                  <a:srgbClr val="000000"/>
                </a:solidFill>
                <a:latin typeface="맑은 고딕"/>
                <a:ea typeface="맑은 고딕"/>
              </a:rPr>
              <a:t>, </a:t>
            </a:r>
            <a:r>
              <a:rPr sz="1000" b="0">
                <a:solidFill>
                  <a:srgbClr val="000000"/>
                </a:solidFill>
                <a:latin typeface="맑은 고딕"/>
                <a:ea typeface="맑은 고딕"/>
              </a:rPr>
              <a:t>Robert C. Martin,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13. 연동 분리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외부 시스템</a:t>
            </a:r>
            <a:r>
              <a:rPr sz="1800" b="0">
                <a:solidFill>
                  <a:srgbClr val="000000"/>
                </a:solidFill>
                <a:latin typeface="맑은 고딕"/>
                <a:ea typeface="맑은 고딕"/>
              </a:rPr>
              <a:t>과 주고받는 형식은 우리가 통제하지 못한다. 외부마다 </a:t>
            </a:r>
            <a:r>
              <a:rPr sz="1800" b="1">
                <a:solidFill>
                  <a:srgbClr val="000000"/>
                </a:solidFill>
                <a:latin typeface="맑은 고딕"/>
                <a:ea typeface="맑은 고딕"/>
              </a:rPr>
              <a:t>연동 경계</a:t>
            </a:r>
            <a:r>
              <a:rPr sz="1800" b="0">
                <a:solidFill>
                  <a:srgbClr val="000000"/>
                </a:solidFill>
                <a:latin typeface="맑은 고딕"/>
                <a:ea typeface="맑은 고딕"/>
              </a:rPr>
              <a:t>를 따로 둬 그 변경을 가둔다.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통제 밖</a:t>
            </a:r>
            <a:r>
              <a:rPr sz="1800" b="0">
                <a:solidFill>
                  <a:srgbClr val="000000"/>
                </a:solidFill>
                <a:latin typeface="맑은 고딕"/>
                <a:ea typeface="맑은 고딕"/>
              </a:rPr>
              <a:t> —</a:t>
            </a:r>
            <a:r>
              <a:rPr sz="1600" b="0">
                <a:solidFill>
                  <a:srgbClr val="000000"/>
                </a:solidFill>
                <a:latin typeface="맑은 고딕"/>
                <a:ea typeface="맑은 고딕"/>
              </a:rPr>
              <a:t> 결제 대행 계약, 배송사의 통보 형식은 외부의 결정으로 바뀐다.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따로 바뀜</a:t>
            </a:r>
            <a:r>
              <a:rPr sz="1800" b="0">
                <a:solidFill>
                  <a:srgbClr val="000000"/>
                </a:solidFill>
                <a:latin typeface="맑은 고딕"/>
                <a:ea typeface="맑은 고딕"/>
              </a:rPr>
              <a:t> —</a:t>
            </a:r>
            <a:r>
              <a:rPr sz="1600" b="0">
                <a:solidFill>
                  <a:srgbClr val="000000"/>
                </a:solidFill>
                <a:latin typeface="맑은 고딕"/>
                <a:ea typeface="맑은 고딕"/>
              </a:rPr>
              <a:t> 결제 시스템과 배송 시스템은 </a:t>
            </a:r>
            <a:r>
              <a:rPr sz="1600" b="1">
                <a:solidFill>
                  <a:srgbClr val="000000"/>
                </a:solidFill>
                <a:latin typeface="맑은 고딕"/>
                <a:ea typeface="맑은 고딕"/>
              </a:rPr>
              <a:t>서로 다른 이유</a:t>
            </a:r>
            <a:r>
              <a:rPr sz="1600" b="0">
                <a:solidFill>
                  <a:srgbClr val="000000"/>
                </a:solidFill>
                <a:latin typeface="맑은 고딕"/>
                <a:ea typeface="맑은 고딕"/>
              </a:rPr>
              <a:t>로 바뀌므로 연동도 나눈다.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업무와 분리</a:t>
            </a:r>
            <a:r>
              <a:rPr sz="1800" b="0">
                <a:solidFill>
                  <a:srgbClr val="000000"/>
                </a:solidFill>
                <a:latin typeface="맑은 고딕"/>
                <a:ea typeface="맑은 고딕"/>
              </a:rPr>
              <a:t> —</a:t>
            </a:r>
            <a:r>
              <a:rPr sz="1600" b="0">
                <a:solidFill>
                  <a:srgbClr val="000000"/>
                </a:solidFill>
                <a:latin typeface="맑은 고딕"/>
                <a:ea typeface="맑은 고딕"/>
              </a:rPr>
              <a:t> 연동이 바뀌어도 주문의 규칙은 바뀌지 않아야 한다.</a:t>
            </a:r>
          </a:p>
        </p:txBody>
      </p:sp>
    </p:spTree>
    <p:extLst>
      <p:ext uri="{BB962C8B-B14F-4D97-AF65-F5344CB8AC3E}">
        <p14:creationId xmlns:p14="http://schemas.microsoft.com/office/powerpoint/2010/main" val="35554366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묶기 절차 </a:t>
            </a:r>
            <a:r>
              <a:rPr sz="2000" b="1">
                <a:solidFill>
                  <a:srgbClr val="000000"/>
                </a:solidFill>
                <a:latin typeface="맑은 고딕"/>
                <a:ea typeface="맑은 고딕"/>
              </a:rPr>
              <a:t>(1/2)</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"03. 정적 모델 —</a:t>
            </a:r>
            <a:r>
              <a:rPr sz="1600" b="0">
                <a:solidFill>
                  <a:srgbClr val="000000"/>
                </a:solidFill>
                <a:latin typeface="맑은 고딕"/>
                <a:ea typeface="맑은 고딕"/>
              </a:rPr>
              <a:t> 도메인 개념과 관계"의 「48. 도메인 모델 — 패키지별」을 </a:t>
            </a:r>
            <a:r>
              <a:rPr sz="1600" b="1">
                <a:solidFill>
                  <a:srgbClr val="000000"/>
                </a:solidFill>
                <a:latin typeface="맑은 고딕"/>
                <a:ea typeface="맑은 고딕"/>
              </a:rPr>
              <a:t>설계의 기준 순서대로</a:t>
            </a:r>
            <a:r>
              <a:rPr sz="1600" b="0">
                <a:solidFill>
                  <a:srgbClr val="000000"/>
                </a:solidFill>
                <a:latin typeface="맑은 고딕"/>
                <a:ea typeface="맑은 고딕"/>
              </a:rPr>
              <a:t> 다시 확인한다.</a:t>
            </a:r>
          </a:p>
          <a:p>
            <a:pPr lvl="2" marL="607060" indent="-251460">
              <a:spcBef>
                <a:spcPts val="600"/>
              </a:spcBef>
              <a:spcAft>
                <a:spcPts val="600"/>
              </a:spcAft>
              <a:buNone/>
            </a:pPr>
            <a:r>
              <a:rPr sz="1800" b="0">
                <a:solidFill>
                  <a:srgbClr val="000000"/>
                </a:solidFill>
                <a:latin typeface="맑은 고딕"/>
                <a:ea typeface="맑은 고딕"/>
              </a:rPr>
              <a:t>1. </a:t>
            </a:r>
            <a:r>
              <a:rPr sz="1800" b="1">
                <a:solidFill>
                  <a:srgbClr val="000000"/>
                </a:solidFill>
                <a:latin typeface="맑은 고딕"/>
                <a:ea typeface="맑은 고딕"/>
              </a:rPr>
              <a:t>합성</a:t>
            </a:r>
            <a:r>
              <a:rPr sz="1800" b="0">
                <a:solidFill>
                  <a:srgbClr val="000000"/>
                </a:solidFill>
                <a:latin typeface="맑은 고딕"/>
                <a:ea typeface="맑은 고딕"/>
              </a:rPr>
              <a:t>으로 묶인 부분을 전체에 붙인다</a:t>
            </a:r>
            <a:r>
              <a:rPr sz="1400" b="0">
                <a:solidFill>
                  <a:srgbClr val="000000"/>
                </a:solidFill>
                <a:latin typeface="맑은 고딕"/>
                <a:ea typeface="맑은 고딕"/>
              </a:rPr>
              <a:t>(주문 항목 → 주문, 장바구니 항목 → 장바구니)</a:t>
            </a:r>
            <a:r>
              <a:rPr sz="1800" b="0">
                <a:solidFill>
                  <a:srgbClr val="000000"/>
                </a:solidFill>
                <a:latin typeface="맑은 고딕"/>
                <a:ea typeface="맑은 고딕"/>
              </a:rPr>
              <a:t>.</a:t>
            </a:r>
          </a:p>
          <a:p>
            <a:pPr lvl="2" marL="607060" indent="-251460">
              <a:spcBef>
                <a:spcPts val="600"/>
              </a:spcBef>
              <a:spcAft>
                <a:spcPts val="600"/>
              </a:spcAft>
              <a:buNone/>
            </a:pPr>
            <a:r>
              <a:rPr sz="1800" b="0">
                <a:solidFill>
                  <a:srgbClr val="000000"/>
                </a:solidFill>
                <a:latin typeface="맑은 고딕"/>
                <a:ea typeface="맑은 고딕"/>
              </a:rPr>
              <a:t>2. 상태·규칙의 </a:t>
            </a:r>
            <a:r>
              <a:rPr sz="1800" b="1">
                <a:solidFill>
                  <a:srgbClr val="000000"/>
                </a:solidFill>
                <a:latin typeface="맑은 고딕"/>
                <a:ea typeface="맑은 고딕"/>
              </a:rPr>
              <a:t>소유자</a:t>
            </a:r>
            <a:r>
              <a:rPr sz="1800" b="0">
                <a:solidFill>
                  <a:srgbClr val="000000"/>
                </a:solidFill>
                <a:latin typeface="맑은 고딕"/>
                <a:ea typeface="맑은 고딕"/>
              </a:rPr>
              <a:t>에 모은다</a:t>
            </a:r>
            <a:r>
              <a:rPr sz="1400" b="0">
                <a:solidFill>
                  <a:srgbClr val="000000"/>
                </a:solidFill>
                <a:latin typeface="맑은 고딕"/>
                <a:ea typeface="맑은 고딕"/>
              </a:rPr>
              <a:t>(환불 → 결제)</a:t>
            </a:r>
            <a:r>
              <a:rPr sz="1800" b="0">
                <a:solidFill>
                  <a:srgbClr val="000000"/>
                </a:solidFill>
                <a:latin typeface="맑은 고딕"/>
                <a:ea typeface="맑은 고딕"/>
              </a:rPr>
              <a:t>.</a:t>
            </a:r>
          </a:p>
          <a:p>
            <a:pPr lvl="2" marL="607060" indent="-251460">
              <a:spcBef>
                <a:spcPts val="600"/>
              </a:spcBef>
              <a:spcAft>
                <a:spcPts val="600"/>
              </a:spcAft>
              <a:buNone/>
            </a:pPr>
            <a:r>
              <a:rPr sz="1800" b="0">
                <a:solidFill>
                  <a:srgbClr val="000000"/>
                </a:solidFill>
                <a:latin typeface="맑은 고딕"/>
                <a:ea typeface="맑은 고딕"/>
              </a:rPr>
              <a:t>3. </a:t>
            </a:r>
            <a:r>
              <a:rPr sz="1800" b="1">
                <a:solidFill>
                  <a:srgbClr val="000000"/>
                </a:solidFill>
                <a:latin typeface="맑은 고딕"/>
                <a:ea typeface="맑은 고딕"/>
              </a:rPr>
              <a:t>변경 이유</a:t>
            </a:r>
            <a:r>
              <a:rPr sz="1800" b="0">
                <a:solidFill>
                  <a:srgbClr val="000000"/>
                </a:solidFill>
                <a:latin typeface="맑은 고딕"/>
                <a:ea typeface="맑은 고딕"/>
              </a:rPr>
              <a:t>가 다르면 나눈다</a:t>
            </a:r>
            <a:r>
              <a:rPr sz="1400" b="0">
                <a:solidFill>
                  <a:srgbClr val="000000"/>
                </a:solidFill>
                <a:latin typeface="맑은 고딕"/>
                <a:ea typeface="맑은 고딕"/>
              </a:rPr>
              <a:t>(배송 기록은 주문 규칙과 따로 바뀐다)</a:t>
            </a:r>
            <a:r>
              <a:rPr sz="1800" b="0">
                <a:solidFill>
                  <a:srgbClr val="000000"/>
                </a:solidFill>
                <a:latin typeface="맑은 고딕"/>
                <a:ea typeface="맑은 고딕"/>
              </a:rPr>
              <a:t>.</a:t>
            </a:r>
          </a:p>
          <a:p>
            <a:pPr lvl="2" marL="607060" indent="-251460">
              <a:spcBef>
                <a:spcPts val="600"/>
              </a:spcBef>
              <a:spcAft>
                <a:spcPts val="600"/>
              </a:spcAft>
              <a:buNone/>
            </a:pPr>
            <a:r>
              <a:rPr sz="1800" b="0">
                <a:solidFill>
                  <a:srgbClr val="000000"/>
                </a:solidFill>
                <a:latin typeface="맑은 고딕"/>
                <a:ea typeface="맑은 고딕"/>
              </a:rPr>
              <a:t>4. </a:t>
            </a:r>
            <a:r>
              <a:rPr sz="1800" b="1">
                <a:solidFill>
                  <a:srgbClr val="000000"/>
                </a:solidFill>
                <a:latin typeface="맑은 고딕"/>
                <a:ea typeface="맑은 고딕"/>
              </a:rPr>
              <a:t>함께 쓰이지 않으면</a:t>
            </a:r>
            <a:r>
              <a:rPr sz="1800" b="0">
                <a:solidFill>
                  <a:srgbClr val="000000"/>
                </a:solidFill>
                <a:latin typeface="맑은 고딕"/>
                <a:ea typeface="맑은 고딕"/>
              </a:rPr>
              <a:t> 나눈다</a:t>
            </a:r>
            <a:r>
              <a:rPr sz="1400" b="0">
                <a:solidFill>
                  <a:srgbClr val="000000"/>
                </a:solidFill>
                <a:latin typeface="맑은 고딕"/>
                <a:ea typeface="맑은 고딕"/>
              </a:rPr>
              <a:t>(장바구니와 결제)</a:t>
            </a:r>
            <a:r>
              <a:rPr sz="1800" b="0">
                <a:solidFill>
                  <a:srgbClr val="000000"/>
                </a:solidFill>
                <a:latin typeface="맑은 고딕"/>
                <a:ea typeface="맑은 고딕"/>
              </a:rPr>
              <a:t>.</a:t>
            </a:r>
          </a:p>
          <a:p>
            <a:pPr lvl="2" marL="607060" indent="-251460">
              <a:spcBef>
                <a:spcPts val="600"/>
              </a:spcBef>
              <a:spcAft>
                <a:spcPts val="600"/>
              </a:spcAft>
              <a:buNone/>
            </a:pPr>
            <a:r>
              <a:rPr sz="1800" b="0">
                <a:solidFill>
                  <a:srgbClr val="000000"/>
                </a:solidFill>
                <a:latin typeface="맑은 고딕"/>
                <a:ea typeface="맑은 고딕"/>
              </a:rPr>
              <a:t>5. </a:t>
            </a:r>
            <a:r>
              <a:rPr sz="1800" b="1">
                <a:solidFill>
                  <a:srgbClr val="000000"/>
                </a:solidFill>
                <a:latin typeface="맑은 고딕"/>
                <a:ea typeface="맑은 고딕"/>
              </a:rPr>
              <a:t>외부 시스템</a:t>
            </a:r>
            <a:r>
              <a:rPr sz="1800" b="0">
                <a:solidFill>
                  <a:srgbClr val="000000"/>
                </a:solidFill>
                <a:latin typeface="맑은 고딕"/>
                <a:ea typeface="맑은 고딕"/>
              </a:rPr>
              <a:t>마다 연동을 둔다.</a:t>
            </a:r>
          </a:p>
          <a:p>
            <a:pPr lvl="2" marL="607060" indent="-251460">
              <a:spcBef>
                <a:spcPts val="600"/>
              </a:spcBef>
              <a:spcAft>
                <a:spcPts val="600"/>
              </a:spcAft>
              <a:buNone/>
            </a:pPr>
            <a:r>
              <a:rPr sz="1800" b="0">
                <a:solidFill>
                  <a:srgbClr val="000000"/>
                </a:solidFill>
                <a:latin typeface="맑은 고딕"/>
                <a:ea typeface="맑은 고딕"/>
              </a:rPr>
              <a:t>6. 경계를 넘는 연관의 </a:t>
            </a:r>
            <a:r>
              <a:rPr sz="1800" b="1">
                <a:solidFill>
                  <a:srgbClr val="000000"/>
                </a:solidFill>
                <a:latin typeface="맑은 고딕"/>
                <a:ea typeface="맑은 고딕"/>
              </a:rPr>
              <a:t>방향</a:t>
            </a:r>
            <a:r>
              <a:rPr sz="1800" b="0">
                <a:solidFill>
                  <a:srgbClr val="000000"/>
                </a:solidFill>
                <a:latin typeface="맑은 고딕"/>
                <a:ea typeface="맑은 고딕"/>
              </a:rPr>
              <a:t>을 정하고 순환을 검사한다(「20. 주문 시스템 패키지 —</a:t>
            </a:r>
            <a:r>
              <a:rPr sz="1600" b="0">
                <a:solidFill>
                  <a:srgbClr val="000000"/>
                </a:solidFill>
                <a:latin typeface="맑은 고딕"/>
                <a:ea typeface="맑은 고딕"/>
              </a:rPr>
              <a:t> 초안」).</a:t>
            </a:r>
          </a:p>
        </p:txBody>
      </p:sp>
    </p:spTree>
    <p:extLst>
      <p:ext uri="{BB962C8B-B14F-4D97-AF65-F5344CB8AC3E}">
        <p14:creationId xmlns:p14="http://schemas.microsoft.com/office/powerpoint/2010/main" val="3555436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묶기 절차 </a:t>
            </a:r>
            <a:r>
              <a:rPr sz="2000" b="1">
                <a:solidFill>
                  <a:srgbClr val="000000"/>
                </a:solidFill>
                <a:latin typeface="맑은 고딕"/>
                <a:ea typeface="맑은 고딕"/>
              </a:rPr>
              <a:t>(2/2)</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사례에서는 분석 패키지가 기준을 통과해 </a:t>
            </a:r>
            <a:r>
              <a:rPr sz="1800" b="1">
                <a:solidFill>
                  <a:srgbClr val="000000"/>
                </a:solidFill>
                <a:latin typeface="맑은 고딕"/>
                <a:ea typeface="맑은 고딕"/>
              </a:rPr>
              <a:t>업무 경계</a:t>
            </a:r>
            <a:r>
              <a:rPr sz="1800" b="0">
                <a:solidFill>
                  <a:srgbClr val="000000"/>
                </a:solidFill>
                <a:latin typeface="맑은 고딕"/>
                <a:ea typeface="맑은 고딕"/>
              </a:rPr>
              <a:t>가 된다. 연동 경계 넷을 더한다.</a:t>
            </a:r>
          </a:p>
        </p:txBody>
      </p:sp>
      <p:pic>
        <p:nvPicPr>
          <p:cNvPr id="9" name="plantuml Diagram 3"/>
          <p:cNvPicPr>
            <a:picLocks noChangeAspect="1"/>
          </p:cNvPicPr>
          <p:nvPr/>
        </p:nvPicPr>
        <p:blipFill>
          <a:blip r:embed="plantumlImage3"/>
          <a:stretch>
            <a:fillRect/>
          </a:stretch>
        </p:blipFill>
        <p:spPr>
          <a:xfrm>
            <a:off x="3458308" y="2093340"/>
            <a:ext cx="2227385" cy="400538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경계 후보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43926" y="1842998"/>
          <a:ext cx="5242560" cy="3873500"/>
        </p:xfrm>
        <a:graphic>
          <a:graphicData uri="http://schemas.openxmlformats.org/drawingml/2006/table">
            <a:tbl>
              <a:tblPr/>
              <a:tblGrid>
                <a:gridCol w="889000"/>
                <a:gridCol w="2763520"/>
                <a:gridCol w="15900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소유하는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변경 이유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회원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장바구니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담긴 상품·수량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구매 편의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주문·주문 항목·주문 상태·취소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시스템이 기억하는 상품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시스템의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결제·환불 기록과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결제·환불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요청의 의미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시스템과 주고받는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시스템의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단서와 변경 이유로 주문 시스템의 </a:t>
            </a:r>
            <a:r>
              <a:rPr sz="1800" b="1">
                <a:solidFill>
                  <a:srgbClr val="000000"/>
                </a:solidFill>
                <a:latin typeface="맑은 고딕"/>
                <a:ea typeface="맑은 고딕"/>
              </a:rPr>
              <a:t>경계 후보</a:t>
            </a:r>
            <a:r>
              <a:rPr sz="1800" b="0">
                <a:solidFill>
                  <a:srgbClr val="000000"/>
                </a:solidFill>
                <a:latin typeface="맑은 고딕"/>
                <a:ea typeface="맑은 고딕"/>
              </a:rPr>
              <a:t>를 정리한다. </a:t>
            </a:r>
            <a:r>
              <a:rPr sz="1800" b="1">
                <a:solidFill>
                  <a:srgbClr val="000000"/>
                </a:solidFill>
                <a:latin typeface="맑은 고딕"/>
                <a:ea typeface="맑은 고딕"/>
              </a:rPr>
              <a:t>업무 경계</a:t>
            </a:r>
            <a:r>
              <a:rPr sz="1800" b="0">
                <a:solidFill>
                  <a:srgbClr val="000000"/>
                </a:solidFill>
                <a:latin typeface="맑은 고딕"/>
                <a:ea typeface="맑은 고딕"/>
              </a:rPr>
              <a:t>는 분석 패키지를 따르고, 외부 시스템마다 </a:t>
            </a:r>
            <a:r>
              <a:rPr sz="1800" b="1">
                <a:solidFill>
                  <a:srgbClr val="000000"/>
                </a:solidFill>
                <a:latin typeface="맑은 고딕"/>
                <a:ea typeface="맑은 고딕"/>
              </a:rPr>
              <a:t>연동 경계</a:t>
            </a:r>
            <a:r>
              <a:rPr sz="1800" b="0">
                <a:solidFill>
                  <a:srgbClr val="000000"/>
                </a:solidFill>
                <a:latin typeface="맑은 고딕"/>
                <a:ea typeface="맑은 고딕"/>
              </a:rPr>
              <a:t>를 더한다.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16. 외부 시스템 의존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49286" y="1842998"/>
          <a:ext cx="5831840" cy="3873500"/>
        </p:xfrm>
        <a:graphic>
          <a:graphicData uri="http://schemas.openxmlformats.org/drawingml/2006/table">
            <a:tbl>
              <a:tblPr/>
              <a:tblGrid>
                <a:gridCol w="1087120"/>
                <a:gridCol w="3070860"/>
                <a:gridCol w="1673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외부 시스템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시스템 → 외부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외부 → 주문 시스템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승인(동기), 환불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완료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정보·재고 차감(동기)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회계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입금 처리·영수증 발행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요청, 배송지 변경·출고 중단(동기)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시작·완료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주문 시스템은 네 외부 시스템과 </a:t>
            </a:r>
            <a:r>
              <a:rPr sz="1800" b="1">
                <a:solidFill>
                  <a:srgbClr val="000000"/>
                </a:solidFill>
                <a:latin typeface="맑은 고딕"/>
                <a:ea typeface="맑은 고딕"/>
              </a:rPr>
              <a:t>요청과 통보</a:t>
            </a:r>
            <a:r>
              <a:rPr sz="1800" b="0">
                <a:solidFill>
                  <a:srgbClr val="000000"/>
                </a:solidFill>
                <a:latin typeface="맑은 고딕"/>
                <a:ea typeface="맑은 고딕"/>
              </a:rPr>
              <a:t>를 주고받는다. 요청의 종류가 의존의 성격을 정한다.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17. 동기 요청</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동기 요청</a:t>
            </a:r>
            <a:r>
              <a:rPr sz="1800" b="0">
                <a:solidFill>
                  <a:srgbClr val="000000"/>
                </a:solidFill>
                <a:latin typeface="맑은 고딕"/>
                <a:ea typeface="맑은 고딕"/>
              </a:rPr>
              <a:t>은 결과를 기다리는 요청이다. 요청하는 쪽은 받는 쪽의 </a:t>
            </a:r>
            <a:r>
              <a:rPr sz="1800" b="1">
                <a:solidFill>
                  <a:srgbClr val="000000"/>
                </a:solidFill>
                <a:latin typeface="맑은 고딕"/>
                <a:ea typeface="맑은 고딕"/>
              </a:rPr>
              <a:t>약속</a:t>
            </a:r>
            <a:r>
              <a:rPr sz="1400" b="1">
                <a:solidFill>
                  <a:srgbClr val="000000"/>
                </a:solidFill>
                <a:latin typeface="맑은 고딕"/>
                <a:ea typeface="맑은 고딕"/>
              </a:rPr>
              <a:t>(인터페이스)</a:t>
            </a:r>
            <a:r>
              <a:rPr sz="1800" b="0">
                <a:solidFill>
                  <a:srgbClr val="000000"/>
                </a:solidFill>
                <a:latin typeface="맑은 고딕"/>
                <a:ea typeface="맑은 고딕"/>
              </a:rPr>
              <a:t>에 의존한다.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출고 중단 요청은 결과</a:t>
            </a:r>
            <a:r>
              <a:rPr sz="1400" b="0">
                <a:solidFill>
                  <a:srgbClr val="000000"/>
                </a:solidFill>
                <a:latin typeface="맑은 고딕"/>
                <a:ea typeface="맑은 고딕"/>
              </a:rPr>
              <a:t>(중단됨·이미 출고됨)</a:t>
            </a:r>
            <a:r>
              <a:rPr sz="1800" b="0">
                <a:solidFill>
                  <a:srgbClr val="000000"/>
                </a:solidFill>
                <a:latin typeface="맑은 고딕"/>
                <a:ea typeface="맑은 고딕"/>
              </a:rPr>
              <a:t>를 </a:t>
            </a:r>
            <a:r>
              <a:rPr sz="1800" b="1">
                <a:solidFill>
                  <a:srgbClr val="000000"/>
                </a:solidFill>
                <a:latin typeface="맑은 고딕"/>
                <a:ea typeface="맑은 고딕"/>
              </a:rPr>
              <a:t>받아야</a:t>
            </a:r>
            <a:r>
              <a:rPr sz="1800" b="0">
                <a:solidFill>
                  <a:srgbClr val="000000"/>
                </a:solidFill>
                <a:latin typeface="맑은 고딕"/>
                <a:ea typeface="맑은 고딕"/>
              </a:rPr>
              <a:t> 다음 행동을 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이때 주문이 아는 것은 "출고 중단을 요청할 수 있다"는 </a:t>
            </a:r>
            <a:r>
              <a:rPr sz="1800" b="1">
                <a:solidFill>
                  <a:srgbClr val="000000"/>
                </a:solidFill>
                <a:latin typeface="맑은 고딕"/>
                <a:ea typeface="맑은 고딕"/>
              </a:rPr>
              <a:t>약속</a:t>
            </a:r>
            <a:r>
              <a:rPr sz="1800" b="0">
                <a:solidFill>
                  <a:srgbClr val="000000"/>
                </a:solidFill>
                <a:latin typeface="맑은 고딕"/>
                <a:ea typeface="맑은 고딕"/>
              </a:rPr>
              <a:t>이면 충분하다. 배송 시스템의 주소·형식까지 알 필요는 없다.</a:t>
            </a:r>
          </a:p>
        </p:txBody>
      </p:sp>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18. 비동기 통보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비동기 통보</a:t>
            </a:r>
            <a:r>
              <a:rPr sz="1800" b="0">
                <a:solidFill>
                  <a:srgbClr val="000000"/>
                </a:solidFill>
                <a:latin typeface="맑은 고딕"/>
                <a:ea typeface="맑은 고딕"/>
              </a:rPr>
              <a:t>는 외부가 나중에 알려 오는 사건이다. 통보는 </a:t>
            </a:r>
            <a:r>
              <a:rPr sz="1800" b="1">
                <a:solidFill>
                  <a:srgbClr val="000000"/>
                </a:solidFill>
                <a:latin typeface="맑은 고딕"/>
                <a:ea typeface="맑은 고딕"/>
              </a:rPr>
              <a:t>주문 시스템 쪽으로</a:t>
            </a:r>
            <a:r>
              <a:rPr sz="1800" b="0">
                <a:solidFill>
                  <a:srgbClr val="000000"/>
                </a:solidFill>
                <a:latin typeface="맑은 고딕"/>
                <a:ea typeface="맑은 고딕"/>
              </a:rPr>
              <a:t> 들어오지만, 의존 방향은 우리가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질문</a:t>
            </a:r>
            <a:r>
              <a:rPr sz="1800" b="0">
                <a:solidFill>
                  <a:srgbClr val="000000"/>
                </a:solidFill>
                <a:latin typeface="맑은 고딕"/>
                <a:ea typeface="맑은 고딕"/>
              </a:rPr>
              <a:t> —</a:t>
            </a:r>
            <a:r>
              <a:rPr sz="1600" b="0">
                <a:solidFill>
                  <a:srgbClr val="000000"/>
                </a:solidFill>
                <a:latin typeface="맑은 고딕"/>
                <a:ea typeface="맑은 고딕"/>
              </a:rPr>
              <a:t> 주문이 배송 시스템을 알아야 통보를 받을 수 있는가?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답</a:t>
            </a:r>
            <a:r>
              <a:rPr sz="1800" b="0">
                <a:solidFill>
                  <a:srgbClr val="000000"/>
                </a:solidFill>
                <a:latin typeface="맑은 고딕"/>
                <a:ea typeface="맑은 고딕"/>
              </a:rPr>
              <a:t> —</a:t>
            </a:r>
            <a:r>
              <a:rPr sz="1600" b="0">
                <a:solidFill>
                  <a:srgbClr val="000000"/>
                </a:solidFill>
                <a:latin typeface="맑은 고딕"/>
                <a:ea typeface="맑은 고딕"/>
              </a:rPr>
              <a:t> 아니다. 주문은 "배송이 시작되었다"는 </a:t>
            </a:r>
            <a:r>
              <a:rPr sz="1600" b="1">
                <a:solidFill>
                  <a:srgbClr val="000000"/>
                </a:solidFill>
                <a:latin typeface="맑은 고딕"/>
                <a:ea typeface="맑은 고딕"/>
              </a:rPr>
              <a:t>자기 사건</a:t>
            </a:r>
            <a:r>
              <a:rPr sz="1600" b="0">
                <a:solidFill>
                  <a:srgbClr val="000000"/>
                </a:solidFill>
                <a:latin typeface="맑은 고딕"/>
                <a:ea typeface="맑은 고딕"/>
              </a:rPr>
              <a:t>만 안다. 배송 시스템의 형식을 읽어 그 사건으로 바꾸는 일은 </a:t>
            </a:r>
            <a:r>
              <a:rPr sz="1600" b="1">
                <a:solidFill>
                  <a:srgbClr val="000000"/>
                </a:solidFill>
                <a:latin typeface="맑은 고딕"/>
                <a:ea typeface="맑은 고딕"/>
              </a:rPr>
              <a:t>연동</a:t>
            </a:r>
            <a:r>
              <a:rPr sz="1600" b="0">
                <a:solidFill>
                  <a:srgbClr val="000000"/>
                </a:solidFill>
                <a:latin typeface="맑은 고딕"/>
                <a:ea typeface="맑은 고딕"/>
              </a:rPr>
              <a:t>이 한다.</a:t>
            </a:r>
          </a:p>
        </p:txBody>
      </p:sp>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19. 경계에서 옮기기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49286" y="1842998"/>
          <a:ext cx="5831840" cy="3873500"/>
        </p:xfrm>
        <a:graphic>
          <a:graphicData uri="http://schemas.openxmlformats.org/drawingml/2006/table">
            <a:tbl>
              <a:tblPr/>
              <a:tblGrid>
                <a:gridCol w="2204720"/>
                <a:gridCol w="1813560"/>
                <a:gridCol w="18135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외부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연동이 옮긴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옮기지 않는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DISPATCHED 상태 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PICKING·PACKED 상태 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 내부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REFUNDED 결과 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완료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STOP·ACCEPTED 명령</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 요청과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외부의 이름·형식·상태는 </a:t>
            </a:r>
            <a:r>
              <a:rPr sz="1800" b="1">
                <a:solidFill>
                  <a:srgbClr val="000000"/>
                </a:solidFill>
                <a:latin typeface="맑은 고딕"/>
                <a:ea typeface="맑은 고딕"/>
              </a:rPr>
              <a:t>경계에서 주문 시스템의 의미로 옮긴다</a:t>
            </a:r>
            <a:r>
              <a:rPr sz="1800" b="0">
                <a:solidFill>
                  <a:srgbClr val="000000"/>
                </a:solidFill>
                <a:latin typeface="맑은 고딕"/>
                <a:ea typeface="맑은 고딕"/>
              </a:rPr>
              <a:t>. 옮기지 않으면 외부의 변경이 안으로 번진다.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20. 주문 시스템 패키지 — 초안</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연관을 따라 의존을 그리고, 외부 호출을 쓰는 곳에서 연동을 </a:t>
            </a:r>
            <a:r>
              <a:rPr sz="1800" b="1">
                <a:solidFill>
                  <a:srgbClr val="000000"/>
                </a:solidFill>
                <a:latin typeface="맑은 고딕"/>
                <a:ea typeface="맑은 고딕"/>
              </a:rPr>
              <a:t>직접 부르는</a:t>
            </a:r>
            <a:r>
              <a:rPr sz="1800" b="0">
                <a:solidFill>
                  <a:srgbClr val="000000"/>
                </a:solidFill>
                <a:latin typeface="맑은 고딕"/>
                <a:ea typeface="맑은 고딕"/>
              </a:rPr>
              <a:t> 초안이다.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결제·배송이 연동을 부르고, 연동은 통보를 주문에 전한다 → 주문 → 배송 → 배송 연동 → 주문의 </a:t>
            </a:r>
            <a:r>
              <a:rPr sz="1800" b="1">
                <a:solidFill>
                  <a:srgbClr val="000000"/>
                </a:solidFill>
                <a:latin typeface="맑은 고딕"/>
                <a:ea typeface="맑은 고딕"/>
              </a:rPr>
              <a:t>순환</a:t>
            </a:r>
            <a:r>
              <a:rPr sz="1800" b="0">
                <a:solidFill>
                  <a:srgbClr val="000000"/>
                </a:solidFill>
                <a:latin typeface="맑은 고딕"/>
                <a:ea typeface="맑은 고딕"/>
              </a:rPr>
              <a:t>이 생긴다.</a:t>
            </a:r>
          </a:p>
        </p:txBody>
      </p:sp>
      <p:pic>
        <p:nvPicPr>
          <p:cNvPr id="9" name="plantuml Diagram 4"/>
          <p:cNvPicPr>
            <a:picLocks noChangeAspect="1"/>
          </p:cNvPicPr>
          <p:nvPr/>
        </p:nvPicPr>
        <p:blipFill>
          <a:blip r:embed="plantumlImage4"/>
          <a:stretch>
            <a:fillRect/>
          </a:stretch>
        </p:blipFill>
        <p:spPr>
          <a:xfrm>
            <a:off x="2919779" y="3523702"/>
            <a:ext cx="3304442" cy="192698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21. 의존 화살표 읽기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의존 화살표는 </a:t>
            </a:r>
            <a:r>
              <a:rPr sz="1800" b="1">
                <a:solidFill>
                  <a:srgbClr val="000000"/>
                </a:solidFill>
                <a:latin typeface="맑은 고딕"/>
                <a:ea typeface="맑은 고딕"/>
              </a:rPr>
              <a:t>"이것이 바뀌면 저것이 바뀔 수 있다"</a:t>
            </a:r>
            <a:r>
              <a:rPr sz="1800" b="0">
                <a:solidFill>
                  <a:srgbClr val="000000"/>
                </a:solidFill>
                <a:latin typeface="맑은 고딕"/>
                <a:ea typeface="맑은 고딕"/>
              </a:rPr>
              <a:t>로 거꾸로 읽는다.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 ..&gt; 배송 연동</a:t>
            </a:r>
            <a:r>
              <a:rPr sz="1800" b="0">
                <a:solidFill>
                  <a:srgbClr val="000000"/>
                </a:solidFill>
                <a:latin typeface="맑은 고딕"/>
                <a:ea typeface="맑은 고딕"/>
              </a:rPr>
              <a:t> —</a:t>
            </a:r>
            <a:r>
              <a:rPr sz="1600" b="0">
                <a:solidFill>
                  <a:srgbClr val="000000"/>
                </a:solidFill>
                <a:latin typeface="맑은 고딕"/>
                <a:ea typeface="맑은 고딕"/>
              </a:rPr>
              <a:t> 배송 연동이 바뀌면</a:t>
            </a:r>
            <a:r>
              <a:rPr sz="1200" b="0">
                <a:solidFill>
                  <a:srgbClr val="000000"/>
                </a:solidFill>
                <a:latin typeface="맑은 고딕"/>
                <a:ea typeface="맑은 고딕"/>
              </a:rPr>
              <a:t>(배송 대행사 교체)</a:t>
            </a:r>
            <a:r>
              <a:rPr sz="1600" b="0">
                <a:solidFill>
                  <a:srgbClr val="000000"/>
                </a:solidFill>
                <a:latin typeface="맑은 고딕"/>
                <a:ea typeface="맑은 고딕"/>
              </a:rPr>
              <a:t> </a:t>
            </a:r>
            <a:r>
              <a:rPr sz="1600" b="1">
                <a:solidFill>
                  <a:srgbClr val="000000"/>
                </a:solidFill>
                <a:latin typeface="맑은 고딕"/>
                <a:ea typeface="맑은 고딕"/>
              </a:rPr>
              <a:t>배송</a:t>
            </a:r>
            <a:r>
              <a:rPr sz="1600" b="0">
                <a:solidFill>
                  <a:srgbClr val="000000"/>
                </a:solidFill>
                <a:latin typeface="맑은 고딕"/>
                <a:ea typeface="맑은 고딕"/>
              </a:rPr>
              <a:t>이 바뀔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 연동 ..&gt; 주문</a:t>
            </a:r>
            <a:r>
              <a:rPr sz="1800" b="0">
                <a:solidFill>
                  <a:srgbClr val="000000"/>
                </a:solidFill>
                <a:latin typeface="맑은 고딕"/>
                <a:ea typeface="맑은 고딕"/>
              </a:rPr>
              <a:t> —</a:t>
            </a:r>
            <a:r>
              <a:rPr sz="1600" b="0">
                <a:solidFill>
                  <a:srgbClr val="000000"/>
                </a:solidFill>
                <a:latin typeface="맑은 고딕"/>
                <a:ea typeface="맑은 고딕"/>
              </a:rPr>
              <a:t> 주문이 바뀌면 배송 연동이 바뀔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초안에서는 외부 형식의 변경이 연동 → 배송 → </a:t>
            </a:r>
            <a:r>
              <a:rPr sz="1800" b="1">
                <a:solidFill>
                  <a:srgbClr val="000000"/>
                </a:solidFill>
                <a:latin typeface="맑은 고딕"/>
                <a:ea typeface="맑은 고딕"/>
              </a:rPr>
              <a:t>주문까지</a:t>
            </a:r>
            <a:r>
              <a:rPr sz="1800" b="0">
                <a:solidFill>
                  <a:srgbClr val="000000"/>
                </a:solidFill>
                <a:latin typeface="맑은 고딕"/>
                <a:ea typeface="맑은 고딕"/>
              </a:rPr>
              <a:t> 번질 수 있다.</a:t>
            </a:r>
          </a:p>
        </p:txBody>
      </p:sp>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22. 경계의 책임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68946" y="1842998"/>
          <a:ext cx="6192520" cy="3873500"/>
        </p:xfrm>
        <a:graphic>
          <a:graphicData uri="http://schemas.openxmlformats.org/drawingml/2006/table">
            <a:tbl>
              <a:tblPr/>
              <a:tblGrid>
                <a:gridCol w="947420"/>
                <a:gridCol w="1673860"/>
                <a:gridCol w="2540000"/>
                <a:gridCol w="10312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소유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제공하는 약속</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상태·취소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결제되었다, 취소한다, 통보 수신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결제·환불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시스템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시스템 요청의 실현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 요청의 실현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경계마다 </a:t>
            </a:r>
            <a:r>
              <a:rPr sz="1800" b="1">
                <a:solidFill>
                  <a:srgbClr val="000000"/>
                </a:solidFill>
                <a:latin typeface="맑은 고딕"/>
                <a:ea typeface="맑은 고딕"/>
              </a:rPr>
              <a:t>소유하는 것, 제공하는 약속, 의존하는 것</a:t>
            </a:r>
            <a:r>
              <a:rPr sz="1800" b="0">
                <a:solidFill>
                  <a:srgbClr val="000000"/>
                </a:solidFill>
                <a:latin typeface="맑은 고딕"/>
                <a:ea typeface="맑은 고딕"/>
              </a:rPr>
              <a:t>을 적으면 방향을 판단할 근거가 생긴다.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- 25 -</a:t>
            </a:r>
          </a:p>
        </p:txBody>
      </p:sp>
    </p:spTree>
    <p:extLst>
      <p:ext uri="{BB962C8B-B14F-4D97-AF65-F5344CB8AC3E}">
        <p14:creationId xmlns:p14="http://schemas.microsoft.com/office/powerpoint/2010/main" val="27895694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23. 의존 방향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의존은 </a:t>
            </a:r>
            <a:r>
              <a:rPr sz="1800" b="1">
                <a:solidFill>
                  <a:srgbClr val="000000"/>
                </a:solidFill>
                <a:latin typeface="맑은 고딕"/>
                <a:ea typeface="맑은 고딕"/>
              </a:rPr>
              <a:t>덜 바뀌는 쪽</a:t>
            </a:r>
            <a:r>
              <a:rPr sz="1800" b="0">
                <a:solidFill>
                  <a:srgbClr val="000000"/>
                </a:solidFill>
                <a:latin typeface="맑은 고딕"/>
                <a:ea typeface="맑은 고딕"/>
              </a:rPr>
              <a:t>을 향해야 한다. 업무 규칙은 외부 연동보다 덜 바뀌므로, </a:t>
            </a:r>
            <a:r>
              <a:rPr sz="1800" b="1">
                <a:solidFill>
                  <a:srgbClr val="000000"/>
                </a:solidFill>
                <a:latin typeface="맑은 고딕"/>
                <a:ea typeface="맑은 고딕"/>
              </a:rPr>
              <a:t>연동이 업무에 의존</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안정된 방향</a:t>
            </a:r>
            <a:r>
              <a:rPr sz="1800" b="0">
                <a:solidFill>
                  <a:srgbClr val="000000"/>
                </a:solidFill>
                <a:latin typeface="맑은 고딕"/>
                <a:ea typeface="맑은 고딕"/>
              </a:rPr>
              <a:t>으로 의존하라"</a:t>
            </a:r>
            <a:r>
              <a:rPr sz="1000" b="0">
                <a:solidFill>
                  <a:srgbClr val="000000"/>
                </a:solidFill>
                <a:latin typeface="맑은 고딕"/>
                <a:ea typeface="맑은 고딕"/>
              </a:rPr>
              <a:t>, </a:t>
            </a:r>
            <a:r>
              <a:rPr sz="1000" b="0">
                <a:solidFill>
                  <a:srgbClr val="000000"/>
                </a:solidFill>
                <a:latin typeface="맑은 고딕"/>
                <a:ea typeface="맑은 고딕"/>
              </a:rPr>
              <a:t>"Depend in the direction of stability."</a:t>
            </a:r>
            <a:r>
              <a:rPr sz="1000" b="0">
                <a:solidFill>
                  <a:srgbClr val="000000"/>
                </a:solidFill>
                <a:latin typeface="맑은 고딕"/>
                <a:ea typeface="맑은 고딕"/>
              </a:rPr>
              <a:t>, </a:t>
            </a:r>
            <a:r>
              <a:rPr sz="1000" b="0">
                <a:solidFill>
                  <a:srgbClr val="000000"/>
                </a:solidFill>
                <a:latin typeface="맑은 고딕"/>
                <a:ea typeface="맑은 고딕"/>
              </a:rPr>
              <a:t>Robert C. Martin, 2000</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안정</a:t>
            </a:r>
            <a:r>
              <a:rPr sz="1800" b="0">
                <a:solidFill>
                  <a:srgbClr val="000000"/>
                </a:solidFill>
                <a:latin typeface="맑은 고딕"/>
                <a:ea typeface="맑은 고딕"/>
              </a:rPr>
              <a:t> —</a:t>
            </a:r>
            <a:r>
              <a:rPr sz="1600" b="0">
                <a:solidFill>
                  <a:srgbClr val="000000"/>
                </a:solidFill>
                <a:latin typeface="맑은 고딕"/>
                <a:ea typeface="맑은 고딕"/>
              </a:rPr>
              <a:t> 많은 쪽이 의존하고, 바꾸기 어렵고, 바뀔 이유가 적다</a:t>
            </a:r>
            <a:r>
              <a:rPr sz="1200" b="0">
                <a:solidFill>
                  <a:srgbClr val="000000"/>
                </a:solidFill>
                <a:latin typeface="맑은 고딕"/>
                <a:ea typeface="맑은 고딕"/>
              </a:rPr>
              <a:t>(주문의 규칙)</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불안정</a:t>
            </a:r>
            <a:r>
              <a:rPr sz="1800" b="0">
                <a:solidFill>
                  <a:srgbClr val="000000"/>
                </a:solidFill>
                <a:latin typeface="맑은 고딕"/>
                <a:ea typeface="맑은 고딕"/>
              </a:rPr>
              <a:t> —</a:t>
            </a:r>
            <a:r>
              <a:rPr sz="1600" b="0">
                <a:solidFill>
                  <a:srgbClr val="000000"/>
                </a:solidFill>
                <a:latin typeface="맑은 고딕"/>
                <a:ea typeface="맑은 고딕"/>
              </a:rPr>
              <a:t> 외부 계약·기술 때문에 자주 바뀐다</a:t>
            </a:r>
            <a:r>
              <a:rPr sz="1200" b="0">
                <a:solidFill>
                  <a:srgbClr val="000000"/>
                </a:solidFill>
                <a:latin typeface="맑은 고딕"/>
                <a:ea typeface="맑은 고딕"/>
              </a:rPr>
              <a:t>(결제 대행, 배송 형식)</a:t>
            </a:r>
            <a:r>
              <a:rPr sz="16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24. 순환 의존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순환 의존</a:t>
            </a:r>
            <a:r>
              <a:rPr sz="1800" b="0">
                <a:solidFill>
                  <a:srgbClr val="000000"/>
                </a:solidFill>
                <a:latin typeface="맑은 고딕"/>
                <a:ea typeface="맑은 고딕"/>
              </a:rPr>
              <a:t>은 서로가 서로를 아는 상태다. 순환 안의 요소는 </a:t>
            </a:r>
            <a:r>
              <a:rPr sz="1800" b="1">
                <a:solidFill>
                  <a:srgbClr val="000000"/>
                </a:solidFill>
                <a:latin typeface="맑은 고딕"/>
                <a:ea typeface="맑은 고딕"/>
              </a:rPr>
              <a:t>따로 바꾸거나 따로 시험할 수 없다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"패키지 사이의 의존은 </a:t>
            </a:r>
            <a:r>
              <a:rPr sz="1800" b="1">
                <a:solidFill>
                  <a:srgbClr val="000000"/>
                </a:solidFill>
                <a:latin typeface="맑은 고딕"/>
                <a:ea typeface="맑은 고딕"/>
              </a:rPr>
              <a:t>순환</a:t>
            </a:r>
            <a:r>
              <a:rPr sz="1800" b="0">
                <a:solidFill>
                  <a:srgbClr val="000000"/>
                </a:solidFill>
                <a:latin typeface="맑은 고딕"/>
                <a:ea typeface="맑은 고딕"/>
              </a:rPr>
              <a:t>을 이루어서는 안 된다"</a:t>
            </a:r>
            <a:r>
              <a:rPr sz="1000" b="0">
                <a:solidFill>
                  <a:srgbClr val="000000"/>
                </a:solidFill>
                <a:latin typeface="맑은 고딕"/>
                <a:ea typeface="맑은 고딕"/>
              </a:rPr>
              <a:t>, </a:t>
            </a:r>
            <a:r>
              <a:rPr sz="1000" b="0">
                <a:solidFill>
                  <a:srgbClr val="000000"/>
                </a:solidFill>
                <a:latin typeface="맑은 고딕"/>
                <a:ea typeface="맑은 고딕"/>
              </a:rPr>
              <a:t>"The dependencies betwen packages must not form cycles."</a:t>
            </a:r>
            <a:r>
              <a:rPr sz="1000" b="0">
                <a:solidFill>
                  <a:srgbClr val="000000"/>
                </a:solidFill>
                <a:latin typeface="맑은 고딕"/>
                <a:ea typeface="맑은 고딕"/>
              </a:rPr>
              <a:t>, </a:t>
            </a:r>
            <a:r>
              <a:rPr sz="1000" b="0">
                <a:solidFill>
                  <a:srgbClr val="000000"/>
                </a:solidFill>
                <a:latin typeface="맑은 고딕"/>
                <a:ea typeface="맑은 고딕"/>
              </a:rPr>
              <a:t>Robert C. Martin, 2000</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초안의 </a:t>
            </a:r>
            <a:r>
              <a:rPr sz="1800" b="1">
                <a:solidFill>
                  <a:srgbClr val="000000"/>
                </a:solidFill>
                <a:latin typeface="맑은 고딕"/>
                <a:ea typeface="맑은 고딕"/>
              </a:rPr>
              <a:t>주문 → 배송 → 배송 연동 → 주문</a:t>
            </a:r>
            <a:r>
              <a:rPr sz="1800" b="0">
                <a:solidFill>
                  <a:srgbClr val="000000"/>
                </a:solidFill>
                <a:latin typeface="맑은 고딕"/>
                <a:ea typeface="맑은 고딕"/>
              </a:rPr>
              <a:t>은 순환이다. 배송 연동을 바꾸면 세 경계를 모두 다시 확인해야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순환은 </a:t>
            </a:r>
            <a:r>
              <a:rPr sz="1800" b="1">
                <a:solidFill>
                  <a:srgbClr val="000000"/>
                </a:solidFill>
                <a:latin typeface="맑은 고딕"/>
                <a:ea typeface="맑은 고딕"/>
              </a:rPr>
              <a:t>화살표 하나의 방향</a:t>
            </a:r>
            <a:r>
              <a:rPr sz="1800" b="0">
                <a:solidFill>
                  <a:srgbClr val="000000"/>
                </a:solidFill>
                <a:latin typeface="맑은 고딕"/>
                <a:ea typeface="맑은 고딕"/>
              </a:rPr>
              <a:t>을 바꿔 끊는다. 요청의 약속을 누가 소유하는지가 그 화살표다.</a:t>
            </a:r>
          </a:p>
        </p:txBody>
      </p:sp>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25. 요청과 통보의 방향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요청의 약속을 업무 경계가 소유</a:t>
            </a:r>
            <a:r>
              <a:rPr sz="1800" b="0">
                <a:solidFill>
                  <a:srgbClr val="000000"/>
                </a:solidFill>
                <a:latin typeface="맑은 고딕"/>
                <a:ea typeface="맑은 고딕"/>
              </a:rPr>
              <a:t>하면 순환이 끊긴다. 연동은 그 약속을 실현하고, 통보를 주문에 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추상</a:t>
            </a:r>
            <a:r>
              <a:rPr sz="1800" b="0">
                <a:solidFill>
                  <a:srgbClr val="000000"/>
                </a:solidFill>
                <a:latin typeface="맑은 고딕"/>
                <a:ea typeface="맑은 고딕"/>
              </a:rPr>
              <a:t>에 의존하라. 구체에 의존하지 마라"</a:t>
            </a:r>
            <a:r>
              <a:rPr sz="1000" b="0">
                <a:solidFill>
                  <a:srgbClr val="000000"/>
                </a:solidFill>
                <a:latin typeface="맑은 고딕"/>
                <a:ea typeface="맑은 고딕"/>
              </a:rPr>
              <a:t>, </a:t>
            </a:r>
            <a:r>
              <a:rPr sz="1000" b="0">
                <a:solidFill>
                  <a:srgbClr val="000000"/>
                </a:solidFill>
                <a:latin typeface="맑은 고딕"/>
                <a:ea typeface="맑은 고딕"/>
              </a:rPr>
              <a:t>"Depend upon Abstractions. Do not depend upon concretions."</a:t>
            </a:r>
            <a:r>
              <a:rPr sz="1000" b="0">
                <a:solidFill>
                  <a:srgbClr val="000000"/>
                </a:solidFill>
                <a:latin typeface="맑은 고딕"/>
                <a:ea typeface="맑은 고딕"/>
              </a:rPr>
              <a:t>, </a:t>
            </a:r>
            <a:r>
              <a:rPr sz="1000" b="0">
                <a:solidFill>
                  <a:srgbClr val="000000"/>
                </a:solidFill>
                <a:latin typeface="맑은 고딕"/>
                <a:ea typeface="맑은 고딕"/>
              </a:rPr>
              <a:t>Robert C. Martin, 2000</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요청</a:t>
            </a:r>
            <a:r>
              <a:rPr sz="1800" b="0">
                <a:solidFill>
                  <a:srgbClr val="000000"/>
                </a:solidFill>
                <a:latin typeface="맑은 고딕"/>
                <a:ea typeface="맑은 고딕"/>
              </a:rPr>
              <a:t> —</a:t>
            </a:r>
            <a:r>
              <a:rPr sz="1600" b="0">
                <a:solidFill>
                  <a:srgbClr val="000000"/>
                </a:solidFill>
                <a:latin typeface="맑은 고딕"/>
                <a:ea typeface="맑은 고딕"/>
              </a:rPr>
              <a:t> 배송은 자기 약속 </a:t>
            </a:r>
            <a:r>
              <a:rPr sz="1600" b="1">
                <a:solidFill>
                  <a:srgbClr val="000000"/>
                </a:solidFill>
                <a:latin typeface="맑은 고딕"/>
                <a:ea typeface="맑은 고딕"/>
              </a:rPr>
              <a:t>배송 시스템</a:t>
            </a:r>
            <a:r>
              <a:rPr sz="1600" b="0">
                <a:solidFill>
                  <a:srgbClr val="000000"/>
                </a:solidFill>
                <a:latin typeface="맑은 고딕"/>
                <a:ea typeface="맑은 고딕"/>
              </a:rPr>
              <a:t>을 부르고, 실현은 모른다.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통보</a:t>
            </a:r>
            <a:r>
              <a:rPr sz="1800" b="0">
                <a:solidFill>
                  <a:srgbClr val="000000"/>
                </a:solidFill>
                <a:latin typeface="맑은 고딕"/>
                <a:ea typeface="맑은 고딕"/>
              </a:rPr>
              <a:t> —</a:t>
            </a:r>
            <a:r>
              <a:rPr sz="1600" b="0">
                <a:solidFill>
                  <a:srgbClr val="000000"/>
                </a:solidFill>
                <a:latin typeface="맑은 고딕"/>
                <a:ea typeface="맑은 고딕"/>
              </a:rPr>
              <a:t> 배송 연동이 외부 형식을 </a:t>
            </a:r>
            <a:r>
              <a:rPr sz="1600" b="1">
                <a:solidFill>
                  <a:srgbClr val="000000"/>
                </a:solidFill>
                <a:latin typeface="맑은 고딕"/>
                <a:ea typeface="맑은 고딕"/>
              </a:rPr>
              <a:t>배송 시작 통보</a:t>
            </a:r>
            <a:r>
              <a:rPr sz="1600" b="0">
                <a:solidFill>
                  <a:srgbClr val="000000"/>
                </a:solidFill>
                <a:latin typeface="맑은 고딕"/>
                <a:ea typeface="맑은 고딕"/>
              </a:rPr>
              <a:t>로 옮긴다.</a:t>
            </a:r>
          </a:p>
        </p:txBody>
      </p:sp>
      <p:pic>
        <p:nvPicPr>
          <p:cNvPr id="9" name="plantuml Diagram 5"/>
          <p:cNvPicPr>
            <a:picLocks noChangeAspect="1"/>
          </p:cNvPicPr>
          <p:nvPr/>
        </p:nvPicPr>
        <p:blipFill>
          <a:blip r:embed="plantumlImage5"/>
          <a:stretch>
            <a:fillRect/>
          </a:stretch>
        </p:blipFill>
        <p:spPr>
          <a:xfrm>
            <a:off x="2320192" y="3810038"/>
            <a:ext cx="4503615" cy="21785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26. 주문 시스템 패키지 — 상세화</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4846320" cy="52578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요청의 약속을 업무 경계가 소유하게 바꾼 </a:t>
            </a:r>
            <a:r>
              <a:rPr sz="1800" b="1">
                <a:solidFill>
                  <a:srgbClr val="000000"/>
                </a:solidFill>
                <a:latin typeface="맑은 고딕"/>
                <a:ea typeface="맑은 고딕"/>
              </a:rPr>
              <a:t>상세화</a:t>
            </a:r>
            <a:r>
              <a:rPr sz="1800" b="0">
                <a:solidFill>
                  <a:srgbClr val="000000"/>
                </a:solidFill>
                <a:latin typeface="맑은 고딕"/>
                <a:ea typeface="맑은 고딕"/>
              </a:rPr>
              <a:t>다. 모든 화살표가 </a:t>
            </a:r>
            <a:r>
              <a:rPr sz="1800" b="1">
                <a:solidFill>
                  <a:srgbClr val="000000"/>
                </a:solidFill>
                <a:latin typeface="맑은 고딕"/>
                <a:ea typeface="맑은 고딕"/>
              </a:rPr>
              <a:t>업무 쪽으로</a:t>
            </a:r>
            <a:r>
              <a:rPr sz="1800" b="0">
                <a:solidFill>
                  <a:srgbClr val="000000"/>
                </a:solidFill>
                <a:latin typeface="맑은 고딕"/>
                <a:ea typeface="맑은 고딕"/>
              </a:rPr>
              <a:t> 향하고 순환이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초안의 </a:t>
            </a:r>
            <a:r>
              <a:rPr sz="1800" b="1">
                <a:solidFill>
                  <a:srgbClr val="000000"/>
                </a:solidFill>
                <a:latin typeface="맑은 고딕"/>
                <a:ea typeface="맑은 고딕"/>
              </a:rPr>
              <a:t>배송 ..&gt; 배송 연동</a:t>
            </a:r>
            <a:r>
              <a:rPr sz="1800" b="0">
                <a:solidFill>
                  <a:srgbClr val="000000"/>
                </a:solidFill>
                <a:latin typeface="맑은 고딕"/>
                <a:ea typeface="맑은 고딕"/>
              </a:rPr>
              <a:t>이 </a:t>
            </a:r>
            <a:r>
              <a:rPr sz="1800" b="1">
                <a:solidFill>
                  <a:srgbClr val="000000"/>
                </a:solidFill>
                <a:latin typeface="맑은 고딕"/>
                <a:ea typeface="맑은 고딕"/>
              </a:rPr>
              <a:t>배송 연동 ..&gt; 배송</a:t>
            </a:r>
            <a:r>
              <a:rPr sz="1800" b="0">
                <a:solidFill>
                  <a:srgbClr val="000000"/>
                </a:solidFill>
                <a:latin typeface="맑은 고딕"/>
                <a:ea typeface="맑은 고딕"/>
              </a:rPr>
              <a:t>으로 바뀌었다. 결제도 같다.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안정된 패키지</a:t>
            </a:r>
            <a:r>
              <a:rPr sz="1800" b="0">
                <a:solidFill>
                  <a:srgbClr val="000000"/>
                </a:solidFill>
                <a:latin typeface="맑은 고딕"/>
                <a:ea typeface="맑은 고딕"/>
              </a:rPr>
              <a:t>는 추상 패키지여야 한다"</a:t>
            </a:r>
            <a:r>
              <a:rPr sz="1000" b="0">
                <a:solidFill>
                  <a:srgbClr val="000000"/>
                </a:solidFill>
                <a:latin typeface="맑은 고딕"/>
                <a:ea typeface="맑은 고딕"/>
              </a:rPr>
              <a:t>, </a:t>
            </a:r>
            <a:r>
              <a:rPr sz="1000" b="0">
                <a:solidFill>
                  <a:srgbClr val="000000"/>
                </a:solidFill>
                <a:latin typeface="맑은 고딕"/>
                <a:ea typeface="맑은 고딕"/>
              </a:rPr>
              <a:t>"Stable packages should be abstract packages."</a:t>
            </a:r>
            <a:r>
              <a:rPr sz="1000" b="0">
                <a:solidFill>
                  <a:srgbClr val="000000"/>
                </a:solidFill>
                <a:latin typeface="맑은 고딕"/>
                <a:ea typeface="맑은 고딕"/>
              </a:rPr>
              <a:t>, </a:t>
            </a:r>
            <a:r>
              <a:rPr sz="1000" b="0">
                <a:solidFill>
                  <a:srgbClr val="000000"/>
                </a:solidFill>
                <a:latin typeface="맑은 고딕"/>
                <a:ea typeface="맑은 고딕"/>
              </a:rPr>
              <a:t>Robert C. Martin, 2000</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많이 의존받는 결제·배송이 </a:t>
            </a:r>
            <a:r>
              <a:rPr sz="1800" b="1">
                <a:solidFill>
                  <a:srgbClr val="000000"/>
                </a:solidFill>
                <a:latin typeface="맑은 고딕"/>
                <a:ea typeface="맑은 고딕"/>
              </a:rPr>
              <a:t>약속</a:t>
            </a:r>
            <a:r>
              <a:rPr sz="1400" b="1">
                <a:solidFill>
                  <a:srgbClr val="000000"/>
                </a:solidFill>
                <a:latin typeface="맑은 고딕"/>
                <a:ea typeface="맑은 고딕"/>
              </a:rPr>
              <a:t>(인터페이스)</a:t>
            </a:r>
            <a:r>
              <a:rPr sz="1800" b="0">
                <a:solidFill>
                  <a:srgbClr val="000000"/>
                </a:solidFill>
                <a:latin typeface="맑은 고딕"/>
                <a:ea typeface="맑은 고딕"/>
              </a:rPr>
              <a:t>을 소유하고, 실현은 연동이 맡는다.</a:t>
            </a:r>
          </a:p>
        </p:txBody>
      </p:sp>
      <p:pic>
        <p:nvPicPr>
          <p:cNvPr id="9" name="plantuml Diagram 6"/>
          <p:cNvPicPr>
            <a:picLocks noChangeAspect="1"/>
          </p:cNvPicPr>
          <p:nvPr/>
        </p:nvPicPr>
        <p:blipFill>
          <a:blip r:embed="plantumlImage6"/>
          <a:stretch>
            <a:fillRect/>
          </a:stretch>
        </p:blipFill>
        <p:spPr>
          <a:xfrm>
            <a:off x="5700932" y="2235982"/>
            <a:ext cx="2725615" cy="27060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27. 패키지 원칙</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99806" y="2392124"/>
          <a:ext cx="5130800" cy="3873500"/>
        </p:xfrm>
        <a:graphic>
          <a:graphicData uri="http://schemas.openxmlformats.org/drawingml/2006/table">
            <a:tbl>
              <a:tblPr/>
              <a:tblGrid>
                <a:gridCol w="889000"/>
                <a:gridCol w="192532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요지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REP 재사용·릴리스 등가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 배포하는 단위로 묶는다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CCP 공통 폐쇄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 바뀌는 것을 묶는다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CRP 공통 재사용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 쓰이지 않는 것은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ADP 비순환 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순환을 만들지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SDP 안정된 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안정된 쪽으로 의존한다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SAP 안정된 추상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안정된 패키지는 추상적이다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Robert C. Martin은 패키지를 묶는 </a:t>
            </a:r>
            <a:r>
              <a:rPr sz="1800" b="1">
                <a:solidFill>
                  <a:srgbClr val="000000"/>
                </a:solidFill>
                <a:latin typeface="맑은 고딕"/>
                <a:ea typeface="맑은 고딕"/>
              </a:rPr>
              <a:t>응집</a:t>
            </a:r>
            <a:r>
              <a:rPr sz="1800" b="0">
                <a:solidFill>
                  <a:srgbClr val="000000"/>
                </a:solidFill>
                <a:latin typeface="맑은 고딕"/>
                <a:ea typeface="맑은 고딕"/>
              </a:rPr>
              <a:t> 원칙 셋과 패키지 사이의 </a:t>
            </a:r>
            <a:r>
              <a:rPr sz="1800" b="1">
                <a:solidFill>
                  <a:srgbClr val="000000"/>
                </a:solidFill>
                <a:latin typeface="맑은 고딕"/>
                <a:ea typeface="맑은 고딕"/>
              </a:rPr>
              <a:t>결합</a:t>
            </a:r>
            <a:r>
              <a:rPr sz="1800" b="0">
                <a:solidFill>
                  <a:srgbClr val="000000"/>
                </a:solidFill>
                <a:latin typeface="맑은 고딕"/>
                <a:ea typeface="맑은 고딕"/>
              </a:rPr>
              <a:t> 원칙 셋을 정리했다.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재사용의 단위</a:t>
            </a:r>
            <a:r>
              <a:rPr sz="1800" b="0">
                <a:solidFill>
                  <a:srgbClr val="000000"/>
                </a:solidFill>
                <a:latin typeface="맑은 고딕"/>
                <a:ea typeface="맑은 고딕"/>
              </a:rPr>
              <a:t>는 릴리스의 단위다"</a:t>
            </a:r>
            <a:r>
              <a:rPr sz="1000" b="0">
                <a:solidFill>
                  <a:srgbClr val="000000"/>
                </a:solidFill>
                <a:latin typeface="맑은 고딕"/>
                <a:ea typeface="맑은 고딕"/>
              </a:rPr>
              <a:t>, </a:t>
            </a:r>
            <a:r>
              <a:rPr sz="1000" b="0">
                <a:solidFill>
                  <a:srgbClr val="000000"/>
                </a:solidFill>
                <a:latin typeface="맑은 고딕"/>
                <a:ea typeface="맑은 고딕"/>
              </a:rPr>
              <a:t>"The granule of reuse is the granule of release."</a:t>
            </a:r>
            <a:r>
              <a:rPr sz="1000" b="0">
                <a:solidFill>
                  <a:srgbClr val="000000"/>
                </a:solidFill>
                <a:latin typeface="맑은 고딕"/>
                <a:ea typeface="맑은 고딕"/>
              </a:rPr>
              <a:t>, </a:t>
            </a:r>
            <a:r>
              <a:rPr sz="1000" b="0">
                <a:solidFill>
                  <a:srgbClr val="000000"/>
                </a:solidFill>
                <a:latin typeface="맑은 고딕"/>
                <a:ea typeface="맑은 고딕"/>
              </a:rPr>
              <a:t>Robert C. Martin,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- 30 -</a:t>
            </a:r>
          </a:p>
        </p:txBody>
      </p:sp>
    </p:spTree>
    <p:extLst>
      <p:ext uri="{BB962C8B-B14F-4D97-AF65-F5344CB8AC3E}">
        <p14:creationId xmlns:p14="http://schemas.microsoft.com/office/powerpoint/2010/main" val="27895694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28. 구조의 진화</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패키지 구조는 처음에 완성하지 않는다. 이 세션의 경계는 </a:t>
            </a:r>
            <a:r>
              <a:rPr sz="1800" b="1">
                <a:solidFill>
                  <a:srgbClr val="000000"/>
                </a:solidFill>
                <a:latin typeface="맑은 고딕"/>
                <a:ea typeface="맑은 고딕"/>
              </a:rPr>
              <a:t>첫 구조</a:t>
            </a:r>
            <a:r>
              <a:rPr sz="1800" b="0">
                <a:solidFill>
                  <a:srgbClr val="000000"/>
                </a:solidFill>
                <a:latin typeface="맑은 고딕"/>
                <a:ea typeface="맑은 고딕"/>
              </a:rPr>
              <a:t>이며, 클래스 설계와 변경을 거치며 </a:t>
            </a:r>
            <a:r>
              <a:rPr sz="1800" b="1">
                <a:solidFill>
                  <a:srgbClr val="000000"/>
                </a:solidFill>
                <a:latin typeface="맑은 고딕"/>
                <a:ea typeface="맑은 고딕"/>
              </a:rPr>
              <a:t>다시 조정된다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"컴포넌트 구조는 </a:t>
            </a:r>
            <a:r>
              <a:rPr sz="1800" b="1">
                <a:solidFill>
                  <a:srgbClr val="000000"/>
                </a:solidFill>
                <a:latin typeface="맑은 고딕"/>
                <a:ea typeface="맑은 고딕"/>
              </a:rPr>
              <a:t>하향식으로 설계할 수 없다</a:t>
            </a:r>
            <a:r>
              <a:rPr sz="1800" b="0">
                <a:solidFill>
                  <a:srgbClr val="000000"/>
                </a:solidFill>
                <a:latin typeface="맑은 고딕"/>
                <a:ea typeface="맑은 고딕"/>
              </a:rPr>
              <a:t>. 시스템에서 가장 먼저 설계하는 것이 아니라, 시스템이 자라고 바뀌면서 진화한다"</a:t>
            </a:r>
            <a:r>
              <a:rPr sz="1000" b="0">
                <a:solidFill>
                  <a:srgbClr val="000000"/>
                </a:solidFill>
                <a:latin typeface="맑은 고딕"/>
                <a:ea typeface="맑은 고딕"/>
              </a:rPr>
              <a:t>, </a:t>
            </a:r>
            <a:r>
              <a:rPr sz="1000" b="0">
                <a:solidFill>
                  <a:srgbClr val="000000"/>
                </a:solidFill>
                <a:latin typeface="맑은 고딕"/>
                <a:ea typeface="맑은 고딕"/>
              </a:rPr>
              <a:t>"The component structure cannot be designed from the top down. It is not one of the first things about the system that is designed, but rather evolves as the system grows and changes."</a:t>
            </a:r>
            <a:r>
              <a:rPr sz="1000" b="0">
                <a:solidFill>
                  <a:srgbClr val="000000"/>
                </a:solidFill>
                <a:latin typeface="맑은 고딕"/>
                <a:ea typeface="맑은 고딕"/>
              </a:rPr>
              <a:t>, </a:t>
            </a:r>
            <a:r>
              <a:rPr sz="1000" b="0">
                <a:solidFill>
                  <a:srgbClr val="000000"/>
                </a:solidFill>
                <a:latin typeface="맑은 고딕"/>
                <a:ea typeface="맑은 고딕"/>
              </a:rPr>
              <a:t>Robert C. Martin, 2017, www</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지금</a:t>
            </a:r>
            <a:r>
              <a:rPr sz="1800" b="0">
                <a:solidFill>
                  <a:srgbClr val="000000"/>
                </a:solidFill>
                <a:latin typeface="맑은 고딕"/>
                <a:ea typeface="맑은 고딕"/>
              </a:rPr>
              <a:t> —</a:t>
            </a:r>
            <a:r>
              <a:rPr sz="1600" b="0">
                <a:solidFill>
                  <a:srgbClr val="000000"/>
                </a:solidFill>
                <a:latin typeface="맑은 고딕"/>
                <a:ea typeface="맑은 고딕"/>
              </a:rPr>
              <a:t> 요구·분석 모델에서 드러난 변경 이유로 </a:t>
            </a:r>
            <a:r>
              <a:rPr sz="1600" b="1">
                <a:solidFill>
                  <a:srgbClr val="000000"/>
                </a:solidFill>
                <a:latin typeface="맑은 고딕"/>
                <a:ea typeface="맑은 고딕"/>
              </a:rPr>
              <a:t>첫 경계</a:t>
            </a:r>
            <a:r>
              <a:rPr sz="1600" b="0">
                <a:solidFill>
                  <a:srgbClr val="000000"/>
                </a:solidFill>
                <a:latin typeface="맑은 고딕"/>
                <a:ea typeface="맑은 고딕"/>
              </a:rPr>
              <a:t>와 방향을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다음</a:t>
            </a:r>
            <a:r>
              <a:rPr sz="1800" b="0">
                <a:solidFill>
                  <a:srgbClr val="000000"/>
                </a:solidFill>
                <a:latin typeface="맑은 고딕"/>
                <a:ea typeface="맑은 고딕"/>
              </a:rPr>
              <a:t> —</a:t>
            </a:r>
            <a:r>
              <a:rPr sz="1600" b="0">
                <a:solidFill>
                  <a:srgbClr val="000000"/>
                </a:solidFill>
                <a:latin typeface="맑은 고딕"/>
                <a:ea typeface="맑은 고딕"/>
              </a:rPr>
              <a:t> 클래스의 책임을 정하면</a:t>
            </a:r>
            <a:r>
              <a:rPr sz="1200" b="0">
                <a:solidFill>
                  <a:srgbClr val="000000"/>
                </a:solidFill>
                <a:latin typeface="맑은 고딕"/>
                <a:ea typeface="맑은 고딕"/>
              </a:rPr>
              <a:t>("07. 책임·협력·계약")</a:t>
            </a:r>
            <a:r>
              <a:rPr sz="1600" b="0">
                <a:solidFill>
                  <a:srgbClr val="000000"/>
                </a:solidFill>
                <a:latin typeface="맑은 고딕"/>
                <a:ea typeface="맑은 고딕"/>
              </a:rPr>
              <a:t> 경계가 맞는지 </a:t>
            </a:r>
            <a:r>
              <a:rPr sz="1600" b="1">
                <a:solidFill>
                  <a:srgbClr val="000000"/>
                </a:solidFill>
                <a:latin typeface="맑은 고딕"/>
                <a:ea typeface="맑은 고딕"/>
              </a:rPr>
              <a:t>다시 확인</a:t>
            </a:r>
            <a:r>
              <a:rPr sz="16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변경 후</a:t>
            </a:r>
            <a:r>
              <a:rPr sz="1800" b="0">
                <a:solidFill>
                  <a:srgbClr val="000000"/>
                </a:solidFill>
                <a:latin typeface="맑은 고딕"/>
                <a:ea typeface="맑은 고딕"/>
              </a:rPr>
              <a:t> —</a:t>
            </a:r>
            <a:r>
              <a:rPr sz="1600" b="0">
                <a:solidFill>
                  <a:srgbClr val="000000"/>
                </a:solidFill>
                <a:latin typeface="맑은 고딕"/>
                <a:ea typeface="맑은 고딕"/>
              </a:rPr>
              <a:t> 실제 변경이 여러 경계에 번지면 </a:t>
            </a:r>
            <a:r>
              <a:rPr sz="1600" b="1">
                <a:solidFill>
                  <a:srgbClr val="000000"/>
                </a:solidFill>
                <a:latin typeface="맑은 고딕"/>
                <a:ea typeface="맑은 고딕"/>
              </a:rPr>
              <a:t>경계를 되돌려</a:t>
            </a:r>
            <a:r>
              <a:rPr sz="1600" b="0">
                <a:solidFill>
                  <a:srgbClr val="000000"/>
                </a:solidFill>
                <a:latin typeface="맑은 고딕"/>
                <a:ea typeface="맑은 고딕"/>
              </a:rPr>
              <a:t> 고친다.</a:t>
            </a:r>
          </a:p>
        </p:txBody>
      </p:sp>
    </p:spTree>
    <p:extLst>
      <p:ext uri="{BB962C8B-B14F-4D97-AF65-F5344CB8AC3E}">
        <p14:creationId xmlns:p14="http://schemas.microsoft.com/office/powerpoint/2010/main" val="35554366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29. 결합도와 응집도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결합도</a:t>
            </a:r>
            <a:r>
              <a:rPr sz="1800" b="0">
                <a:solidFill>
                  <a:srgbClr val="000000"/>
                </a:solidFill>
                <a:latin typeface="맑은 고딕"/>
                <a:ea typeface="맑은 고딕"/>
              </a:rPr>
              <a:t>는 경계 사이가 서로에게 </a:t>
            </a:r>
            <a:r>
              <a:rPr sz="1800" b="1">
                <a:solidFill>
                  <a:srgbClr val="000000"/>
                </a:solidFill>
                <a:latin typeface="맑은 고딕"/>
                <a:ea typeface="맑은 고딕"/>
              </a:rPr>
              <a:t>얼마나 기대는가</a:t>
            </a:r>
            <a:r>
              <a:rPr sz="1800" b="0">
                <a:solidFill>
                  <a:srgbClr val="000000"/>
                </a:solidFill>
                <a:latin typeface="맑은 고딕"/>
                <a:ea typeface="맑은 고딕"/>
              </a:rPr>
              <a:t>, </a:t>
            </a:r>
            <a:r>
              <a:rPr sz="1800" b="1">
                <a:solidFill>
                  <a:srgbClr val="000000"/>
                </a:solidFill>
                <a:latin typeface="맑은 고딕"/>
                <a:ea typeface="맑은 고딕"/>
              </a:rPr>
              <a:t>응집도</a:t>
            </a:r>
            <a:r>
              <a:rPr sz="1800" b="0">
                <a:solidFill>
                  <a:srgbClr val="000000"/>
                </a:solidFill>
                <a:latin typeface="맑은 고딕"/>
                <a:ea typeface="맑은 고딕"/>
              </a:rPr>
              <a:t>는 경계 안이 </a:t>
            </a:r>
            <a:r>
              <a:rPr sz="1800" b="1">
                <a:solidFill>
                  <a:srgbClr val="000000"/>
                </a:solidFill>
                <a:latin typeface="맑은 고딕"/>
                <a:ea typeface="맑은 고딕"/>
              </a:rPr>
              <a:t>하나의 이유로 모여 있는가</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낮은 결합</a:t>
            </a:r>
            <a:r>
              <a:rPr sz="1800" b="0">
                <a:solidFill>
                  <a:srgbClr val="000000"/>
                </a:solidFill>
                <a:latin typeface="맑은 고딕"/>
                <a:ea typeface="맑은 고딕"/>
              </a:rPr>
              <a:t> —</a:t>
            </a:r>
            <a:r>
              <a:rPr sz="1600" b="0">
                <a:solidFill>
                  <a:srgbClr val="000000"/>
                </a:solidFill>
                <a:latin typeface="맑은 고딕"/>
                <a:ea typeface="맑은 고딕"/>
              </a:rPr>
              <a:t> 경계를 넘는 것은 약속뿐이다. 한쪽의 세부가 바뀌어도 다른 쪽은 그대로다.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높은 응집</a:t>
            </a:r>
            <a:r>
              <a:rPr sz="1800" b="0">
                <a:solidFill>
                  <a:srgbClr val="000000"/>
                </a:solidFill>
                <a:latin typeface="맑은 고딕"/>
                <a:ea typeface="맑은 고딕"/>
              </a:rPr>
              <a:t> —</a:t>
            </a:r>
            <a:r>
              <a:rPr sz="1600" b="0">
                <a:solidFill>
                  <a:srgbClr val="000000"/>
                </a:solidFill>
                <a:latin typeface="맑은 고딕"/>
                <a:ea typeface="맑은 고딕"/>
              </a:rPr>
              <a:t> 경계 안의 것은 </a:t>
            </a:r>
            <a:r>
              <a:rPr sz="1600" b="1">
                <a:solidFill>
                  <a:srgbClr val="000000"/>
                </a:solidFill>
                <a:latin typeface="맑은 고딕"/>
                <a:ea typeface="맑은 고딕"/>
              </a:rPr>
              <a:t>같은 변경 이유</a:t>
            </a:r>
            <a:r>
              <a:rPr sz="1600" b="0">
                <a:solidFill>
                  <a:srgbClr val="000000"/>
                </a:solidFill>
                <a:latin typeface="맑은 고딕"/>
                <a:ea typeface="맑은 고딕"/>
              </a:rPr>
              <a:t>로 함께 바뀐다.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둘은 </a:t>
            </a:r>
            <a:r>
              <a:rPr sz="1800" b="1">
                <a:solidFill>
                  <a:srgbClr val="000000"/>
                </a:solidFill>
                <a:latin typeface="맑은 고딕"/>
                <a:ea typeface="맑은 고딕"/>
              </a:rPr>
              <a:t>함께</a:t>
            </a:r>
            <a:r>
              <a:rPr sz="1800" b="0">
                <a:solidFill>
                  <a:srgbClr val="000000"/>
                </a:solidFill>
                <a:latin typeface="맑은 고딕"/>
                <a:ea typeface="맑은 고딕"/>
              </a:rPr>
              <a:t> 움직인다. 응집이 낮은 경계는 </a:t>
            </a:r>
            <a:r>
              <a:rPr sz="1800" b="1">
                <a:solidFill>
                  <a:srgbClr val="000000"/>
                </a:solidFill>
                <a:latin typeface="맑은 고딕"/>
                <a:ea typeface="맑은 고딕"/>
              </a:rPr>
              <a:t>여러 이유</a:t>
            </a:r>
            <a:r>
              <a:rPr sz="1800" b="0">
                <a:solidFill>
                  <a:srgbClr val="000000"/>
                </a:solidFill>
                <a:latin typeface="맑은 고딕"/>
                <a:ea typeface="맑은 고딕"/>
              </a:rPr>
              <a:t>로 바뀌고, 그 변경이 결합을 따라 번진다.</a:t>
            </a:r>
          </a:p>
        </p:txBody>
      </p:sp>
    </p:spTree>
    <p:extLst>
      <p:ext uri="{BB962C8B-B14F-4D97-AF65-F5344CB8AC3E}">
        <p14:creationId xmlns:p14="http://schemas.microsoft.com/office/powerpoint/2010/main" val="35554366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30. 변경 파급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88986" y="1842998"/>
          <a:ext cx="5552440" cy="3873500"/>
        </p:xfrm>
        <a:graphic>
          <a:graphicData uri="http://schemas.openxmlformats.org/drawingml/2006/table">
            <a:tbl>
              <a:tblPr/>
              <a:tblGrid>
                <a:gridCol w="1673860"/>
                <a:gridCol w="2120900"/>
                <a:gridCol w="17576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변경</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바뀌는 경계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그대로인 경계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대행사 교체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통보 형식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전 취소 허용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주문(상태 기계·취소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전부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판매가 정책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주문(단가는 확정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변경 시나리오를 하나씩 적용해 </a:t>
            </a:r>
            <a:r>
              <a:rPr sz="1800" b="1">
                <a:solidFill>
                  <a:srgbClr val="000000"/>
                </a:solidFill>
                <a:latin typeface="맑은 고딕"/>
                <a:ea typeface="맑은 고딕"/>
              </a:rPr>
              <a:t>어느 경계가 바뀌는지</a:t>
            </a:r>
            <a:r>
              <a:rPr sz="1800" b="0">
                <a:solidFill>
                  <a:srgbClr val="000000"/>
                </a:solidFill>
                <a:latin typeface="맑은 고딕"/>
                <a:ea typeface="맑은 고딕"/>
              </a:rPr>
              <a:t> 확인한다. 바뀌는 경계가 적을수록 구조가 변경을 잘 가둔다.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- 33 -</a:t>
            </a:r>
          </a:p>
        </p:txBody>
      </p:sp>
    </p:spTree>
    <p:extLst>
      <p:ext uri="{BB962C8B-B14F-4D97-AF65-F5344CB8AC3E}">
        <p14:creationId xmlns:p14="http://schemas.microsoft.com/office/powerpoint/2010/main" val="27895694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31. 방향에 따른 파급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90256" y="1842998"/>
          <a:ext cx="5549900" cy="3873500"/>
        </p:xfrm>
        <a:graphic>
          <a:graphicData uri="http://schemas.openxmlformats.org/drawingml/2006/table">
            <a:tbl>
              <a:tblPr/>
              <a:tblGrid>
                <a:gridCol w="889000"/>
                <a:gridCol w="2819400"/>
                <a:gridCol w="18415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배송 연동이 바뀌면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다시 확인할 경계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초안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배송이 바뀌고, 순환을 따라 주문까지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연동, 배송,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상세화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연동 안에서 끝난다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변경도 </a:t>
            </a:r>
            <a:r>
              <a:rPr sz="1800" b="1">
                <a:solidFill>
                  <a:srgbClr val="000000"/>
                </a:solidFill>
                <a:latin typeface="맑은 고딕"/>
                <a:ea typeface="맑은 고딕"/>
              </a:rPr>
              <a:t>의존 방향</a:t>
            </a:r>
            <a:r>
              <a:rPr sz="1800" b="0">
                <a:solidFill>
                  <a:srgbClr val="000000"/>
                </a:solidFill>
                <a:latin typeface="맑은 고딕"/>
                <a:ea typeface="맑은 고딕"/>
              </a:rPr>
              <a:t>에 따라 번지는 범위가 다르다. 배송 대행사를 바꾸는 경우를 비교한다.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- 34 -</a:t>
            </a:r>
          </a:p>
        </p:txBody>
      </p:sp>
    </p:spTree>
    <p:extLst>
      <p:ext uri="{BB962C8B-B14F-4D97-AF65-F5344CB8AC3E}">
        <p14:creationId xmlns:p14="http://schemas.microsoft.com/office/powerpoint/2010/main" val="27895694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32. 구조적 제약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객체 설계 전에 </a:t>
            </a:r>
            <a:r>
              <a:rPr sz="1800" b="1">
                <a:solidFill>
                  <a:srgbClr val="000000"/>
                </a:solidFill>
                <a:latin typeface="맑은 고딕"/>
                <a:ea typeface="맑은 고딕"/>
              </a:rPr>
              <a:t>지켜야 할 구조의 규칙</a:t>
            </a:r>
            <a:r>
              <a:rPr sz="1800" b="0">
                <a:solidFill>
                  <a:srgbClr val="000000"/>
                </a:solidFill>
                <a:latin typeface="맑은 고딕"/>
                <a:ea typeface="맑은 고딕"/>
              </a:rPr>
              <a:t>을 명시한다. 제약은 이후 모든 설계 판단의 전제다.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방향</a:t>
            </a:r>
            <a:r>
              <a:rPr sz="1800" b="0">
                <a:solidFill>
                  <a:srgbClr val="000000"/>
                </a:solidFill>
                <a:latin typeface="맑은 고딕"/>
                <a:ea typeface="맑은 고딕"/>
              </a:rPr>
              <a:t> —</a:t>
            </a:r>
            <a:r>
              <a:rPr sz="1600" b="0">
                <a:solidFill>
                  <a:srgbClr val="000000"/>
                </a:solidFill>
                <a:latin typeface="맑은 고딕"/>
                <a:ea typeface="맑은 고딕"/>
              </a:rPr>
              <a:t> 업무 경계는 연동 경계에 의존하지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순환 없음</a:t>
            </a:r>
            <a:r>
              <a:rPr sz="1800" b="0">
                <a:solidFill>
                  <a:srgbClr val="000000"/>
                </a:solidFill>
                <a:latin typeface="맑은 고딕"/>
                <a:ea typeface="맑은 고딕"/>
              </a:rPr>
              <a:t> —</a:t>
            </a:r>
            <a:r>
              <a:rPr sz="1600" b="0">
                <a:solidFill>
                  <a:srgbClr val="000000"/>
                </a:solidFill>
                <a:latin typeface="맑은 고딕"/>
                <a:ea typeface="맑은 고딕"/>
              </a:rPr>
              <a:t> 패키지 의존에 순환이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약속의 소유</a:t>
            </a:r>
            <a:r>
              <a:rPr sz="1800" b="0">
                <a:solidFill>
                  <a:srgbClr val="000000"/>
                </a:solidFill>
                <a:latin typeface="맑은 고딕"/>
                <a:ea typeface="맑은 고딕"/>
              </a:rPr>
              <a:t> —</a:t>
            </a:r>
            <a:r>
              <a:rPr sz="1600" b="0">
                <a:solidFill>
                  <a:srgbClr val="000000"/>
                </a:solidFill>
                <a:latin typeface="맑은 고딕"/>
                <a:ea typeface="맑은 고딕"/>
              </a:rPr>
              <a:t> 외부에 대한 요청의 약속은 </a:t>
            </a:r>
            <a:r>
              <a:rPr sz="1600" b="1">
                <a:solidFill>
                  <a:srgbClr val="000000"/>
                </a:solidFill>
                <a:latin typeface="맑은 고딕"/>
                <a:ea typeface="맑은 고딕"/>
              </a:rPr>
              <a:t>업무 경계</a:t>
            </a:r>
            <a:r>
              <a:rPr sz="1600" b="0">
                <a:solidFill>
                  <a:srgbClr val="000000"/>
                </a:solidFill>
                <a:latin typeface="맑은 고딕"/>
                <a:ea typeface="맑은 고딕"/>
              </a:rPr>
              <a:t>가 소유한다.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외부 형식</a:t>
            </a:r>
            <a:r>
              <a:rPr sz="1800" b="0">
                <a:solidFill>
                  <a:srgbClr val="000000"/>
                </a:solidFill>
                <a:latin typeface="맑은 고딕"/>
                <a:ea typeface="맑은 고딕"/>
              </a:rPr>
              <a:t> —</a:t>
            </a:r>
            <a:r>
              <a:rPr sz="1600" b="0">
                <a:solidFill>
                  <a:srgbClr val="000000"/>
                </a:solidFill>
                <a:latin typeface="맑은 고딕"/>
                <a:ea typeface="맑은 고딕"/>
              </a:rPr>
              <a:t> 외부의 이름·형식·상태 코드는 </a:t>
            </a:r>
            <a:r>
              <a:rPr sz="1600" b="1">
                <a:solidFill>
                  <a:srgbClr val="000000"/>
                </a:solidFill>
                <a:latin typeface="맑은 고딕"/>
                <a:ea typeface="맑은 고딕"/>
              </a:rPr>
              <a:t>연동 밖으로</a:t>
            </a:r>
            <a:r>
              <a:rPr sz="1600" b="0">
                <a:solidFill>
                  <a:srgbClr val="000000"/>
                </a:solidFill>
                <a:latin typeface="맑은 고딕"/>
                <a:ea typeface="맑은 고딕"/>
              </a:rPr>
              <a:t> 나가지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상태의 소유</a:t>
            </a:r>
            <a:r>
              <a:rPr sz="1800" b="0">
                <a:solidFill>
                  <a:srgbClr val="000000"/>
                </a:solidFill>
                <a:latin typeface="맑은 고딕"/>
                <a:ea typeface="맑은 고딕"/>
              </a:rPr>
              <a:t> —</a:t>
            </a:r>
            <a:r>
              <a:rPr sz="1600" b="0">
                <a:solidFill>
                  <a:srgbClr val="000000"/>
                </a:solidFill>
                <a:latin typeface="맑은 고딕"/>
                <a:ea typeface="맑은 고딕"/>
              </a:rPr>
              <a:t> 주문 상태는 </a:t>
            </a:r>
            <a:r>
              <a:rPr sz="1600" b="1">
                <a:solidFill>
                  <a:srgbClr val="000000"/>
                </a:solidFill>
                <a:latin typeface="맑은 고딕"/>
                <a:ea typeface="맑은 고딕"/>
              </a:rPr>
              <a:t>주문 경계만</a:t>
            </a:r>
            <a:r>
              <a:rPr sz="1600" b="0">
                <a:solidFill>
                  <a:srgbClr val="000000"/>
                </a:solidFill>
                <a:latin typeface="맑은 고딕"/>
                <a:ea typeface="맑은 고딕"/>
              </a:rPr>
              <a:t> 바꾼다. 연동은 통보를 전할 뿐이다.</a:t>
            </a:r>
          </a:p>
        </p:txBody>
      </p:sp>
    </p:spTree>
    <p:extLst>
      <p:ext uri="{BB962C8B-B14F-4D97-AF65-F5344CB8AC3E}">
        <p14:creationId xmlns:p14="http://schemas.microsoft.com/office/powerpoint/2010/main" val="35554366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33. 제약의 검증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55355" y="1842998"/>
          <a:ext cx="5219700" cy="3873500"/>
        </p:xfrm>
        <a:graphic>
          <a:graphicData uri="http://schemas.openxmlformats.org/drawingml/2006/table">
            <a:tbl>
              <a:tblPr/>
              <a:tblGrid>
                <a:gridCol w="1310640"/>
                <a:gridCol w="39090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제약</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 방법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방향·순환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패키지 다이어그램 리뷰, 업무 패키지의 import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약속의 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인터페이스가 업무 패키지에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코드 문자열이 연동 밖에 없는가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상태의 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상태를 바꾸는 메서드가 주문에만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구조적 제약은 </a:t>
            </a:r>
            <a:r>
              <a:rPr sz="1800" b="1">
                <a:solidFill>
                  <a:srgbClr val="000000"/>
                </a:solidFill>
                <a:latin typeface="맑은 고딕"/>
                <a:ea typeface="맑은 고딕"/>
              </a:rPr>
              <a:t>리뷰와 코드</a:t>
            </a:r>
            <a:r>
              <a:rPr sz="1800" b="0">
                <a:solidFill>
                  <a:srgbClr val="000000"/>
                </a:solidFill>
                <a:latin typeface="맑은 고딕"/>
                <a:ea typeface="맑은 고딕"/>
              </a:rPr>
              <a:t>로 확인한다. 말로만 두면 코드가 자라며 어긋난다.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- 36 -</a:t>
            </a:r>
          </a:p>
        </p:txBody>
      </p:sp>
    </p:spTree>
    <p:extLst>
      <p:ext uri="{BB962C8B-B14F-4D97-AF65-F5344CB8AC3E}">
        <p14:creationId xmlns:p14="http://schemas.microsoft.com/office/powerpoint/2010/main" val="278956947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34. 잘못된 관행 — 기술 계층 분할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73035" y="1842998"/>
          <a:ext cx="6784340" cy="3873500"/>
        </p:xfrm>
        <a:graphic>
          <a:graphicData uri="http://schemas.openxmlformats.org/drawingml/2006/table">
            <a:tbl>
              <a:tblPr/>
              <a:tblGrid>
                <a:gridCol w="3964940"/>
                <a:gridCol w="28194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controller·service·repository 패키지가 첫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업무의 변경 이유로 먼저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규칙이 서비스·저장소에 흩어짐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규칙은 주문 경계 안에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계층 간 의존만 보고 업무 간 의존은 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경계 사이의 방향을 먼저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경계를 </a:t>
            </a:r>
            <a:r>
              <a:rPr sz="1800" b="1">
                <a:solidFill>
                  <a:srgbClr val="000000"/>
                </a:solidFill>
                <a:latin typeface="맑은 고딕"/>
                <a:ea typeface="맑은 고딕"/>
              </a:rPr>
              <a:t>화면·서비스·저장소</a:t>
            </a:r>
            <a:r>
              <a:rPr sz="1800" b="0">
                <a:solidFill>
                  <a:srgbClr val="000000"/>
                </a:solidFill>
                <a:latin typeface="맑은 고딕"/>
                <a:ea typeface="맑은 고딕"/>
              </a:rPr>
              <a:t> 같은 기술 계층으로 먼저 나누면, 업무 규칙 하나의 변경이 </a:t>
            </a:r>
            <a:r>
              <a:rPr sz="1800" b="1">
                <a:solidFill>
                  <a:srgbClr val="000000"/>
                </a:solidFill>
                <a:latin typeface="맑은 고딕"/>
                <a:ea typeface="맑은 고딕"/>
              </a:rPr>
              <a:t>모든 계층</a:t>
            </a:r>
            <a:r>
              <a:rPr sz="1800" b="0">
                <a:solidFill>
                  <a:srgbClr val="000000"/>
                </a:solidFill>
                <a:latin typeface="맑은 고딕"/>
                <a:ea typeface="맑은 고딕"/>
              </a:rPr>
              <a:t>에 번진다.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- 37 -</a:t>
            </a:r>
          </a:p>
        </p:txBody>
      </p:sp>
    </p:spTree>
    <p:extLst>
      <p:ext uri="{BB962C8B-B14F-4D97-AF65-F5344CB8AC3E}">
        <p14:creationId xmlns:p14="http://schemas.microsoft.com/office/powerpoint/2010/main" val="27895694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35. 잘못된 관행 — 공용 패키지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40676" y="1842998"/>
          <a:ext cx="6449060" cy="3873500"/>
        </p:xfrm>
        <a:graphic>
          <a:graphicData uri="http://schemas.openxmlformats.org/drawingml/2006/table">
            <a:tbl>
              <a:tblPr/>
              <a:tblGrid>
                <a:gridCol w="3042920"/>
                <a:gridCol w="34061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금액·주소·상태 코드를 common에 모은다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값의 의미를 소유한 경계에 둔다(금액은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순환을 끊으려고 공용 패키지를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약속의 소유자를 바꿔 방향을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common·util·shared</a:t>
            </a:r>
            <a:r>
              <a:rPr sz="1800" b="0">
                <a:solidFill>
                  <a:srgbClr val="000000"/>
                </a:solidFill>
                <a:latin typeface="맑은 고딕"/>
                <a:ea typeface="맑은 고딕"/>
              </a:rPr>
              <a:t> 같은 공용 패키지는 모두가 의존하는 곳이 되고, 서로 다른 이유로 바뀌는 것이 모여 </a:t>
            </a:r>
            <a:r>
              <a:rPr sz="1800" b="1">
                <a:solidFill>
                  <a:srgbClr val="000000"/>
                </a:solidFill>
                <a:latin typeface="맑은 고딕"/>
                <a:ea typeface="맑은 고딕"/>
              </a:rPr>
              <a:t>응집이 무너진다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- 38 -</a:t>
            </a:r>
          </a:p>
        </p:txBody>
      </p:sp>
    </p:spTree>
    <p:extLst>
      <p:ext uri="{BB962C8B-B14F-4D97-AF65-F5344CB8AC3E}">
        <p14:creationId xmlns:p14="http://schemas.microsoft.com/office/powerpoint/2010/main" val="27895694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36. 잘못된 관행 — 외부 모델 누수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36256" y="1842998"/>
          <a:ext cx="6057900" cy="3873500"/>
        </p:xfrm>
        <a:graphic>
          <a:graphicData uri="http://schemas.openxmlformats.org/drawingml/2006/table">
            <a:tbl>
              <a:tblPr/>
              <a:tblGrid>
                <a:gridCol w="3182620"/>
                <a:gridCol w="2875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상태에 PICKING·PACKED를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상태는 주문의 사건으로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주문이 DISPATCHED 문자열을 비교한다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연동이 배송 시작 통보로 옮긴다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대행 응답 객체를 주문이 필드로 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경계의 기록으로 옮긴다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외부 시스템의 </a:t>
            </a:r>
            <a:r>
              <a:rPr sz="1800" b="1">
                <a:solidFill>
                  <a:srgbClr val="000000"/>
                </a:solidFill>
                <a:latin typeface="맑은 고딕"/>
                <a:ea typeface="맑은 고딕"/>
              </a:rPr>
              <a:t>상태·코드·이름</a:t>
            </a:r>
            <a:r>
              <a:rPr sz="1800" b="0">
                <a:solidFill>
                  <a:srgbClr val="000000"/>
                </a:solidFill>
                <a:latin typeface="맑은 고딕"/>
                <a:ea typeface="맑은 고딕"/>
              </a:rPr>
              <a:t>을 주문 시스템 안에서 그대로 쓰면, 외부가 바뀔 때 </a:t>
            </a:r>
            <a:r>
              <a:rPr sz="1800" b="1">
                <a:solidFill>
                  <a:srgbClr val="000000"/>
                </a:solidFill>
                <a:latin typeface="맑은 고딕"/>
                <a:ea typeface="맑은 고딕"/>
              </a:rPr>
              <a:t>주문의 규칙이 바뀐다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- 39 -</a:t>
            </a:r>
          </a:p>
        </p:txBody>
      </p:sp>
    </p:spTree>
    <p:extLst>
      <p:ext uri="{BB962C8B-B14F-4D97-AF65-F5344CB8AC3E}">
        <p14:creationId xmlns:p14="http://schemas.microsoft.com/office/powerpoint/2010/main" val="278956947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37. 패키지와 코드</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- 40 -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203187"/>
            <a:ext cx="8412480" cy="11557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package 배송;</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배송 경계가 소유하는 요청 인터페이스. 배송 연동이 구현한다.</a:t>
            </a:r>
          </a:p>
          <a:p>
            <a:pPr marL="0" indent="0" algn="l">
              <a:lnSpc>
                <a:spcPts val="1150"/>
              </a:lnSpc>
              <a:spcBef>
                <a:spcPts val="0"/>
              </a:spcBef>
              <a:spcAft>
                <a:spcPts val="0"/>
              </a:spcAft>
              <a:buNone/>
            </a:pPr>
            <a:r>
              <a:rPr sz="1000" b="0">
                <a:solidFill>
                  <a:srgbClr val="000000"/>
                </a:solidFill>
                <a:latin typeface="Consolas"/>
                <a:ea typeface="맑은 고딕"/>
              </a:rPr>
              <a:t>public interface </a:t>
            </a:r>
            <a:r>
              <a:rPr sz="1000" b="1">
                <a:solidFill>
                  <a:srgbClr val="000000"/>
                </a:solidFill>
                <a:latin typeface="Consolas"/>
                <a:ea typeface="맑은 고딕"/>
              </a:rPr>
              <a:t>배송시스템</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boolean </a:t>
            </a:r>
            <a:r>
              <a:rPr sz="1000" b="1">
                <a:solidFill>
                  <a:srgbClr val="000000"/>
                </a:solidFill>
                <a:latin typeface="Consolas"/>
                <a:ea typeface="맑은 고딕"/>
              </a:rPr>
              <a:t>출고중단을요청한다</a:t>
            </a:r>
            <a:r>
              <a:rPr sz="1000" b="0">
                <a:solidFill>
                  <a:srgbClr val="000000"/>
                </a:solidFill>
                <a:latin typeface="Consolas"/>
                <a:ea typeface="맑은 고딕"/>
              </a:rPr>
              <a:t>(String 배송번호);</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패키지는 자바의 </a:t>
            </a:r>
            <a:r>
              <a:rPr sz="1800" b="1">
                <a:solidFill>
                  <a:srgbClr val="000000"/>
                </a:solidFill>
                <a:latin typeface="맑은 고딕"/>
                <a:ea typeface="맑은 고딕"/>
              </a:rPr>
              <a:t>package</a:t>
            </a:r>
            <a:r>
              <a:rPr sz="1800" b="0">
                <a:solidFill>
                  <a:srgbClr val="000000"/>
                </a:solidFill>
                <a:latin typeface="맑은 고딕"/>
                <a:ea typeface="맑은 고딕"/>
              </a:rPr>
              <a:t>, 의존은 </a:t>
            </a:r>
            <a:r>
              <a:rPr sz="1800" b="1">
                <a:solidFill>
                  <a:srgbClr val="000000"/>
                </a:solidFill>
                <a:latin typeface="맑은 고딕"/>
                <a:ea typeface="맑은 고딕"/>
              </a:rPr>
              <a:t>import</a:t>
            </a:r>
            <a:r>
              <a:rPr sz="1800" b="0">
                <a:solidFill>
                  <a:srgbClr val="000000"/>
                </a:solidFill>
                <a:latin typeface="맑은 고딕"/>
                <a:ea typeface="맑은 고딕"/>
              </a:rPr>
              <a:t>, 약속은 업무 패키지의 </a:t>
            </a:r>
            <a:r>
              <a:rPr sz="1800" b="1">
                <a:solidFill>
                  <a:srgbClr val="000000"/>
                </a:solidFill>
                <a:latin typeface="맑은 고딕"/>
                <a:ea typeface="맑은 고딕"/>
              </a:rPr>
              <a:t>interface</a:t>
            </a:r>
            <a:r>
              <a:rPr sz="1800" b="0">
                <a:solidFill>
                  <a:srgbClr val="000000"/>
                </a:solidFill>
                <a:latin typeface="맑은 고딕"/>
                <a:ea typeface="맑은 고딕"/>
              </a:rPr>
              <a:t>가 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365760" y="4468615"/>
            <a:ext cx="8412480" cy="16510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package 배송연동;</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import 배송.배송시스템;</a:t>
            </a:r>
          </a:p>
          <a:p>
            <a:pPr marL="0" indent="0" algn="l">
              <a:lnSpc>
                <a:spcPts val="1150"/>
              </a:lnSpc>
              <a:spcBef>
                <a:spcPts val="0"/>
              </a:spcBef>
              <a:spcAft>
                <a:spcPts val="0"/>
              </a:spcAft>
              <a:buNone/>
            </a:pPr>
            <a:r>
              <a:rPr sz="1000" b="0">
                <a:solidFill>
                  <a:srgbClr val="000000"/>
                </a:solidFill>
                <a:latin typeface="Consolas"/>
                <a:ea typeface="맑은 고딕"/>
              </a:rPr>
              <a:t>import 주문.주문;</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배송 시스템과 주고받는 형식을 주문 시스템의 의미로 옮긴다.</a:t>
            </a:r>
          </a:p>
          <a:p>
            <a:pPr marL="0" indent="0" algn="l">
              <a:lnSpc>
                <a:spcPts val="1150"/>
              </a:lnSpc>
              <a:spcBef>
                <a:spcPts val="0"/>
              </a:spcBef>
              <a:spcAft>
                <a:spcPts val="0"/>
              </a:spcAft>
              <a:buNone/>
            </a:pPr>
            <a:r>
              <a:rPr sz="1000" b="0">
                <a:solidFill>
                  <a:srgbClr val="000000"/>
                </a:solidFill>
                <a:latin typeface="Consolas"/>
                <a:ea typeface="맑은 고딕"/>
              </a:rPr>
              <a:t>public final class </a:t>
            </a:r>
            <a:r>
              <a:rPr sz="1000" b="1">
                <a:solidFill>
                  <a:srgbClr val="000000"/>
                </a:solidFill>
                <a:latin typeface="Consolas"/>
                <a:ea typeface="맑은 고딕"/>
              </a:rPr>
              <a:t>배송연동</a:t>
            </a:r>
            <a:r>
              <a:rPr sz="1000" b="0">
                <a:solidFill>
                  <a:srgbClr val="000000"/>
                </a:solidFill>
                <a:latin typeface="Consolas"/>
                <a:ea typeface="맑은 고딕"/>
              </a:rPr>
              <a:t> implements 배송시스템 {</a:t>
            </a:r>
          </a:p>
          <a:p>
            <a:pPr marL="0" indent="0" algn="l">
              <a:lnSpc>
                <a:spcPts val="1150"/>
              </a:lnSpc>
              <a:spcBef>
                <a:spcPts val="0"/>
              </a:spcBef>
              <a:spcAft>
                <a:spcPts val="0"/>
              </a:spcAft>
              <a:buNone/>
            </a:pPr>
            <a:r>
              <a:rPr sz="1000" b="0">
                <a:solidFill>
                  <a:srgbClr val="000000"/>
                </a:solidFill>
                <a:latin typeface="Consolas"/>
                <a:ea typeface="맑은 고딕"/>
              </a:rPr>
              <a:t>    // ... 필드·생성자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pic>
        <p:nvPicPr>
          <p:cNvPr id="34" name="plantuml Diagram 7"/>
          <p:cNvPicPr>
            <a:picLocks noChangeAspect="1"/>
          </p:cNvPicPr>
          <p:nvPr/>
        </p:nvPicPr>
        <p:blipFill>
          <a:blip r:embed="plantumlImage7"/>
          <a:stretch>
            <a:fillRect/>
          </a:stretch>
        </p:blipFill>
        <p:spPr>
          <a:xfrm>
            <a:off x="3477846" y="1842998"/>
            <a:ext cx="2188308" cy="12504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38. 의존 방향과 테스트</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393687"/>
            <a:ext cx="8412480" cy="28803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 1. 연동 없이 주문 규칙을 검증한다 — 가짜 결제·배송 시스템</a:t>
            </a:r>
          </a:p>
          <a:p>
            <a:pPr marL="0" indent="0" algn="l">
              <a:lnSpc>
                <a:spcPts val="1080"/>
              </a:lnSpc>
              <a:spcBef>
                <a:spcPts val="0"/>
              </a:spcBef>
              <a:spcAft>
                <a:spcPts val="0"/>
              </a:spcAft>
              <a:buNone/>
            </a:pPr>
            <a:r>
              <a:rPr sz="900" b="0">
                <a:solidFill>
                  <a:srgbClr val="000000"/>
                </a:solidFill>
                <a:latin typeface="Consolas"/>
                <a:ea typeface="맑은 고딕"/>
              </a:rPr>
              <a:t>        var 요청 = new ArrayList&lt;String&gt;();</a:t>
            </a:r>
          </a:p>
          <a:p>
            <a:pPr marL="0" indent="0" algn="l">
              <a:lnSpc>
                <a:spcPts val="1080"/>
              </a:lnSpc>
              <a:spcBef>
                <a:spcPts val="0"/>
              </a:spcBef>
              <a:spcAft>
                <a:spcPts val="0"/>
              </a:spcAft>
              <a:buNone/>
            </a:pPr>
            <a:r>
              <a:rPr sz="900" b="0">
                <a:solidFill>
                  <a:srgbClr val="000000"/>
                </a:solidFill>
                <a:latin typeface="Consolas"/>
                <a:ea typeface="맑은 고딕"/>
              </a:rPr>
              <a:t>        결제시스템 가짜결제 = 금액 -&gt; 요청.add("환불 " + 금액.원());</a:t>
            </a:r>
          </a:p>
          <a:p>
            <a:pPr marL="0" indent="0" algn="l">
              <a:lnSpc>
                <a:spcPts val="1080"/>
              </a:lnSpc>
              <a:spcBef>
                <a:spcPts val="0"/>
              </a:spcBef>
              <a:spcAft>
                <a:spcPts val="0"/>
              </a:spcAft>
              <a:buNone/>
            </a:pPr>
            <a:r>
              <a:rPr sz="900" b="0">
                <a:solidFill>
                  <a:srgbClr val="000000"/>
                </a:solidFill>
                <a:latin typeface="Consolas"/>
                <a:ea typeface="맑은 고딕"/>
              </a:rPr>
              <a:t>        배송시스템 가짜배송 = 번호 -&gt; { 요청.add("출고 중단"); return true; };</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var 주문 = new 주문();</a:t>
            </a:r>
          </a:p>
          <a:p>
            <a:pPr marL="0" indent="0" algn="l">
              <a:lnSpc>
                <a:spcPts val="1080"/>
              </a:lnSpc>
              <a:spcBef>
                <a:spcPts val="0"/>
              </a:spcBef>
              <a:spcAft>
                <a:spcPts val="0"/>
              </a:spcAft>
              <a:buNone/>
            </a:pPr>
            <a:r>
              <a:rPr sz="900" b="0">
                <a:solidFill>
                  <a:srgbClr val="000000"/>
                </a:solidFill>
                <a:latin typeface="Consolas"/>
                <a:ea typeface="맑은 고딕"/>
              </a:rPr>
              <a:t>        주문.결제되었다(new 결제(new 금액(2000), 가짜결제), new 배송("배송-1", 가짜배송));</a:t>
            </a:r>
          </a:p>
          <a:p>
            <a:pPr marL="0" indent="0" algn="l">
              <a:lnSpc>
                <a:spcPts val="1080"/>
              </a:lnSpc>
              <a:spcBef>
                <a:spcPts val="0"/>
              </a:spcBef>
              <a:spcAft>
                <a:spcPts val="0"/>
              </a:spcAft>
              <a:buNone/>
            </a:pPr>
            <a:r>
              <a:rPr sz="900" b="0">
                <a:solidFill>
                  <a:srgbClr val="000000"/>
                </a:solidFill>
                <a:latin typeface="Consolas"/>
                <a:ea typeface="맑은 고딕"/>
              </a:rPr>
              <a:t>        주문.취소한다();</a:t>
            </a:r>
          </a:p>
          <a:p>
            <a:pPr marL="0" indent="0" algn="l">
              <a:lnSpc>
                <a:spcPts val="1080"/>
              </a:lnSpc>
              <a:spcBef>
                <a:spcPts val="0"/>
              </a:spcBef>
              <a:spcAft>
                <a:spcPts val="0"/>
              </a:spcAft>
              <a:buNone/>
            </a:pPr>
            <a:r>
              <a:rPr sz="900" b="0">
                <a:solidFill>
                  <a:srgbClr val="000000"/>
                </a:solidFill>
                <a:latin typeface="Consolas"/>
                <a:ea typeface="맑은 고딕"/>
              </a:rPr>
              <a:t>        확인(주문.상태() == 주문상태.취소처리중);</a:t>
            </a:r>
          </a:p>
          <a:p>
            <a:pPr marL="0" indent="0" algn="l">
              <a:lnSpc>
                <a:spcPts val="1080"/>
              </a:lnSpc>
              <a:spcBef>
                <a:spcPts val="0"/>
              </a:spcBef>
              <a:spcAft>
                <a:spcPts val="0"/>
              </a:spcAft>
              <a:buNone/>
            </a:pPr>
            <a:r>
              <a:rPr sz="900" b="0">
                <a:solidFill>
                  <a:srgbClr val="000000"/>
                </a:solidFill>
                <a:latin typeface="Consolas"/>
                <a:ea typeface="맑은 고딕"/>
              </a:rPr>
              <a:t>        확인(요청.equals(List.of("출고 중단", "환불 2000")));</a:t>
            </a:r>
          </a:p>
          <a:p>
            <a:pPr marL="0" indent="0" algn="l">
              <a:lnSpc>
                <a:spcPts val="1080"/>
              </a:lnSpc>
              <a:spcBef>
                <a:spcPts val="0"/>
              </a:spcBef>
              <a:spcAft>
                <a:spcPts val="0"/>
              </a:spcAft>
              <a:buNone/>
            </a:pPr>
            <a:r>
              <a:rPr sz="900" b="0">
                <a:solidFill>
                  <a:srgbClr val="000000"/>
                </a:solidFill>
                <a:latin typeface="Consolas"/>
                <a:ea typeface="맑은 고딕"/>
              </a:rPr>
              <a:t>        // ... 연동 확인 생략</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 3. 구조 제약 — 업무 패키지는 연동 패키지를 import하지 않는다</a:t>
            </a:r>
          </a:p>
          <a:p>
            <a:pPr marL="0" indent="0" algn="l">
              <a:lnSpc>
                <a:spcPts val="1080"/>
              </a:lnSpc>
              <a:spcBef>
                <a:spcPts val="0"/>
              </a:spcBef>
              <a:spcAft>
                <a:spcPts val="0"/>
              </a:spcAft>
              <a:buNone/>
            </a:pPr>
            <a:r>
              <a:rPr sz="900" b="0">
                <a:solidFill>
                  <a:srgbClr val="000000"/>
                </a:solidFill>
                <a:latin typeface="Consolas"/>
                <a:ea typeface="맑은 고딕"/>
              </a:rPr>
              <a:t>        for (String 업무 : List.of("주문", "결제", "배송"))</a:t>
            </a:r>
          </a:p>
          <a:p>
            <a:pPr marL="0" indent="0" algn="l">
              <a:lnSpc>
                <a:spcPts val="1080"/>
              </a:lnSpc>
              <a:spcBef>
                <a:spcPts val="0"/>
              </a:spcBef>
              <a:spcAft>
                <a:spcPts val="0"/>
              </a:spcAft>
              <a:buNone/>
            </a:pPr>
            <a:r>
              <a:rPr sz="900" b="0">
                <a:solidFill>
                  <a:srgbClr val="000000"/>
                </a:solidFill>
                <a:latin typeface="Consolas"/>
                <a:ea typeface="맑은 고딕"/>
              </a:rPr>
              <a:t>            try (var 파일들 = Files.list(Path.of(업무))) {</a:t>
            </a:r>
          </a:p>
          <a:p>
            <a:pPr marL="0" indent="0" algn="l">
              <a:lnSpc>
                <a:spcPts val="1080"/>
              </a:lnSpc>
              <a:spcBef>
                <a:spcPts val="0"/>
              </a:spcBef>
              <a:spcAft>
                <a:spcPts val="0"/>
              </a:spcAft>
              <a:buNone/>
            </a:pPr>
            <a:r>
              <a:rPr sz="900" b="0">
                <a:solidFill>
                  <a:srgbClr val="000000"/>
                </a:solidFill>
                <a:latin typeface="Consolas"/>
                <a:ea typeface="맑은 고딕"/>
              </a:rPr>
              <a:t>                for (Path 파일 : 파일들.toList()) {</a:t>
            </a:r>
          </a:p>
          <a:p>
            <a:pPr marL="0" indent="0" algn="l">
              <a:lnSpc>
                <a:spcPts val="1080"/>
              </a:lnSpc>
              <a:spcBef>
                <a:spcPts val="0"/>
              </a:spcBef>
              <a:spcAft>
                <a:spcPts val="0"/>
              </a:spcAft>
              <a:buNone/>
            </a:pPr>
            <a:r>
              <a:rPr sz="900" b="0">
                <a:solidFill>
                  <a:srgbClr val="000000"/>
                </a:solidFill>
                <a:latin typeface="Consolas"/>
                <a:ea typeface="맑은 고딕"/>
              </a:rPr>
              <a:t>                    String 원본 = Files.readString(파일);</a:t>
            </a:r>
          </a:p>
          <a:p>
            <a:pPr marL="0" indent="0" algn="l">
              <a:lnSpc>
                <a:spcPts val="1080"/>
              </a:lnSpc>
              <a:spcBef>
                <a:spcPts val="0"/>
              </a:spcBef>
              <a:spcAft>
                <a:spcPts val="0"/>
              </a:spcAft>
              <a:buNone/>
            </a:pPr>
            <a:r>
              <a:rPr sz="900" b="0">
                <a:solidFill>
                  <a:srgbClr val="000000"/>
                </a:solidFill>
                <a:latin typeface="Consolas"/>
                <a:ea typeface="맑은 고딕"/>
              </a:rPr>
              <a:t>                    확인(!원본.contains("import 결제연동") &amp;&amp; !원본.contains("import 배송연동"));</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업무 경계가 약속을 소유하면, 연동 없이 </a:t>
            </a:r>
            <a:r>
              <a:rPr sz="1800" b="1">
                <a:solidFill>
                  <a:srgbClr val="000000"/>
                </a:solidFill>
                <a:latin typeface="맑은 고딕"/>
                <a:ea typeface="맑은 고딕"/>
              </a:rPr>
              <a:t>가짜 약속</a:t>
            </a:r>
            <a:r>
              <a:rPr sz="1800" b="0">
                <a:solidFill>
                  <a:srgbClr val="000000"/>
                </a:solidFill>
                <a:latin typeface="맑은 고딕"/>
                <a:ea typeface="맑은 고딕"/>
              </a:rPr>
              <a:t>으로 주문 규칙을 시험할 수 있다.</a:t>
            </a:r>
          </a:p>
        </p:txBody>
      </p:sp>
      <p:pic>
        <p:nvPicPr>
          <p:cNvPr id="33" name="plantuml Diagram 8"/>
          <p:cNvPicPr>
            <a:picLocks noChangeAspect="1"/>
          </p:cNvPicPr>
          <p:nvPr/>
        </p:nvPicPr>
        <p:blipFill>
          <a:blip r:embed="plantumlImage8"/>
          <a:stretch>
            <a:fillRect/>
          </a:stretch>
        </p:blipFill>
        <p:spPr>
          <a:xfrm>
            <a:off x="3486394" y="1842998"/>
            <a:ext cx="2171212" cy="14409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39. 옮기기 코드</a:t>
            </a:r>
          </a:p>
          <a:p>
            <a:r>
              <a:rPr sz="1100" b="1">
                <a:solidFill>
                  <a:srgbClr val="000000"/>
                </a:solidFill>
                <a:latin typeface="맑은 고딕"/>
                <a:ea typeface="맑은 고딕"/>
              </a:rPr>
              <a:t>시퀀스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- 42 -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408341"/>
            <a:ext cx="8412480" cy="990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배송 시스템의 통보를 주문의 사건으로 옮긴다.</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통보를받는다</a:t>
            </a:r>
            <a:r>
              <a:rPr sz="1000" b="0">
                <a:solidFill>
                  <a:srgbClr val="000000"/>
                </a:solidFill>
                <a:latin typeface="Consolas"/>
                <a:ea typeface="맑은 고딕"/>
              </a:rPr>
              <a:t>(String 상태코드, 주문 주문) {</a:t>
            </a:r>
          </a:p>
          <a:p>
            <a:pPr marL="0" indent="0" algn="l">
              <a:lnSpc>
                <a:spcPts val="1150"/>
              </a:lnSpc>
              <a:spcBef>
                <a:spcPts val="0"/>
              </a:spcBef>
              <a:spcAft>
                <a:spcPts val="0"/>
              </a:spcAft>
              <a:buNone/>
            </a:pPr>
            <a:r>
              <a:rPr sz="1000" b="0">
                <a:solidFill>
                  <a:srgbClr val="000000"/>
                </a:solidFill>
                <a:latin typeface="Consolas"/>
                <a:ea typeface="맑은 고딕"/>
              </a:rPr>
              <a:t>        if (상태코드.equals("DISPATCHED")) 주문.배송시작통보();</a:t>
            </a:r>
          </a:p>
          <a:p>
            <a:pPr marL="0" indent="0" algn="l">
              <a:lnSpc>
                <a:spcPts val="1150"/>
              </a:lnSpc>
              <a:spcBef>
                <a:spcPts val="0"/>
              </a:spcBef>
              <a:spcAft>
                <a:spcPts val="0"/>
              </a:spcAft>
              <a:buNone/>
            </a:pPr>
            <a:r>
              <a:rPr sz="1000" b="0">
                <a:solidFill>
                  <a:srgbClr val="000000"/>
                </a:solidFill>
                <a:latin typeface="Consolas"/>
                <a:ea typeface="맑은 고딕"/>
              </a:rPr>
              <a:t>        // PICKING·PACKED 같은 배송 시스템 내부 상태는 주문으로 옮기지 않는다.</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연동은 외부의 상태 코드를 읽어 </a:t>
            </a:r>
            <a:r>
              <a:rPr sz="1800" b="1">
                <a:solidFill>
                  <a:srgbClr val="000000"/>
                </a:solidFill>
                <a:latin typeface="맑은 고딕"/>
                <a:ea typeface="맑은 고딕"/>
              </a:rPr>
              <a:t>주문의 사건</a:t>
            </a:r>
            <a:r>
              <a:rPr sz="1800" b="0">
                <a:solidFill>
                  <a:srgbClr val="000000"/>
                </a:solidFill>
                <a:latin typeface="맑은 고딕"/>
                <a:ea typeface="맑은 고딕"/>
              </a:rPr>
              <a:t>으로 옮기고, 배송 시스템의 내부 상태는 옮기지 않는다.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365760" y="4508669"/>
            <a:ext cx="8412480" cy="825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연동.통보를받는다("PICKING", 배송될주문);</a:t>
            </a:r>
          </a:p>
          <a:p>
            <a:pPr marL="0" indent="0" algn="l">
              <a:lnSpc>
                <a:spcPts val="1150"/>
              </a:lnSpc>
              <a:spcBef>
                <a:spcPts val="0"/>
              </a:spcBef>
              <a:spcAft>
                <a:spcPts val="0"/>
              </a:spcAft>
              <a:buNone/>
            </a:pPr>
            <a:r>
              <a:rPr sz="1000" b="0">
                <a:solidFill>
                  <a:srgbClr val="000000"/>
                </a:solidFill>
                <a:latin typeface="Consolas"/>
                <a:ea typeface="맑은 고딕"/>
              </a:rPr>
              <a:t>        확인(배송될주문.상태() == 주문상태.결제완료);</a:t>
            </a:r>
          </a:p>
          <a:p>
            <a:pPr marL="0" indent="0" algn="l">
              <a:lnSpc>
                <a:spcPts val="1150"/>
              </a:lnSpc>
              <a:spcBef>
                <a:spcPts val="0"/>
              </a:spcBef>
              <a:spcAft>
                <a:spcPts val="0"/>
              </a:spcAft>
              <a:buNone/>
            </a:pPr>
            <a:r>
              <a:rPr sz="1000" b="0">
                <a:solidFill>
                  <a:srgbClr val="000000"/>
                </a:solidFill>
                <a:latin typeface="Consolas"/>
                <a:ea typeface="맑은 고딕"/>
              </a:rPr>
              <a:t>        연동.통보를받는다("DISPATCHED", 배송될주문);</a:t>
            </a:r>
          </a:p>
          <a:p>
            <a:pPr marL="0" indent="0" algn="l">
              <a:lnSpc>
                <a:spcPts val="1150"/>
              </a:lnSpc>
              <a:spcBef>
                <a:spcPts val="0"/>
              </a:spcBef>
              <a:spcAft>
                <a:spcPts val="0"/>
              </a:spcAft>
              <a:buNone/>
            </a:pPr>
            <a:r>
              <a:rPr sz="1000" b="0">
                <a:solidFill>
                  <a:srgbClr val="000000"/>
                </a:solidFill>
                <a:latin typeface="Consolas"/>
                <a:ea typeface="맑은 고딕"/>
              </a:rPr>
              <a:t>        확인(배송될주문.상태() == 주문상태.배송중);</a:t>
            </a:r>
          </a:p>
        </p:txBody>
      </p:sp>
      <p:pic>
        <p:nvPicPr>
          <p:cNvPr id="34" name="plantuml Diagram 9"/>
          <p:cNvPicPr>
            <a:picLocks noChangeAspect="1"/>
          </p:cNvPicPr>
          <p:nvPr/>
        </p:nvPicPr>
        <p:blipFill>
          <a:blip r:embed="plantumlImage9"/>
          <a:stretch>
            <a:fillRect/>
          </a:stretch>
        </p:blipFill>
        <p:spPr>
          <a:xfrm>
            <a:off x="3137144" y="1842998"/>
            <a:ext cx="2869712" cy="1455615"/>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40. 적정 구조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경계는 </a:t>
            </a:r>
            <a:r>
              <a:rPr sz="1800" b="1">
                <a:solidFill>
                  <a:srgbClr val="000000"/>
                </a:solidFill>
                <a:latin typeface="맑은 고딕"/>
                <a:ea typeface="맑은 고딕"/>
              </a:rPr>
              <a:t>변경을 가둘 만큼만</a:t>
            </a:r>
            <a:r>
              <a:rPr sz="1800" b="0">
                <a:solidFill>
                  <a:srgbClr val="000000"/>
                </a:solidFill>
                <a:latin typeface="맑은 고딕"/>
                <a:ea typeface="맑은 고딕"/>
              </a:rPr>
              <a:t> 나눈다. 바뀔 이유가 확인되지 않은 곳까지 나누면 약속과 연동만 늘어난다.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나눌 때</a:t>
            </a:r>
            <a:r>
              <a:rPr sz="1800" b="0">
                <a:solidFill>
                  <a:srgbClr val="000000"/>
                </a:solidFill>
                <a:latin typeface="맑은 고딕"/>
                <a:ea typeface="맑은 고딕"/>
              </a:rPr>
              <a:t> —</a:t>
            </a:r>
            <a:r>
              <a:rPr sz="1600" b="0">
                <a:solidFill>
                  <a:srgbClr val="000000"/>
                </a:solidFill>
                <a:latin typeface="맑은 고딕"/>
                <a:ea typeface="맑은 고딕"/>
              </a:rPr>
              <a:t> 변경 이유가 다르고, 한쪽의 변경이 실제로 번질 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합칠 때</a:t>
            </a:r>
            <a:r>
              <a:rPr sz="1800" b="0">
                <a:solidFill>
                  <a:srgbClr val="000000"/>
                </a:solidFill>
                <a:latin typeface="맑은 고딕"/>
                <a:ea typeface="맑은 고딕"/>
              </a:rPr>
              <a:t> —</a:t>
            </a:r>
            <a:r>
              <a:rPr sz="1600" b="0">
                <a:solidFill>
                  <a:srgbClr val="000000"/>
                </a:solidFill>
                <a:latin typeface="맑은 고딕"/>
                <a:ea typeface="맑은 고딕"/>
              </a:rPr>
              <a:t> 늘 함께 바뀌고, 약속이 형식적일 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외부 시스템</a:t>
            </a:r>
            <a:r>
              <a:rPr sz="1800" b="0">
                <a:solidFill>
                  <a:srgbClr val="000000"/>
                </a:solidFill>
                <a:latin typeface="맑은 고딕"/>
                <a:ea typeface="맑은 고딕"/>
              </a:rPr>
              <a:t> —</a:t>
            </a:r>
            <a:r>
              <a:rPr sz="1600" b="0">
                <a:solidFill>
                  <a:srgbClr val="000000"/>
                </a:solidFill>
                <a:latin typeface="맑은 고딕"/>
                <a:ea typeface="맑은 고딕"/>
              </a:rPr>
              <a:t> 우리가 통제하지 못하는 변경이라 처음부터 </a:t>
            </a:r>
            <a:r>
              <a:rPr sz="1600" b="1">
                <a:solidFill>
                  <a:srgbClr val="000000"/>
                </a:solidFill>
                <a:latin typeface="맑은 고딕"/>
                <a:ea typeface="맑은 고딕"/>
              </a:rPr>
              <a:t>연동으로 가둔다</a:t>
            </a:r>
          </a:p>
        </p:txBody>
      </p:sp>
    </p:spTree>
    <p:extLst>
      <p:ext uri="{BB962C8B-B14F-4D97-AF65-F5344CB8AC3E}">
        <p14:creationId xmlns:p14="http://schemas.microsoft.com/office/powerpoint/2010/main" val="355543667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41. 실습 — 경계와 의존성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622792" cy="5522976"/>
          </a:xfrm>
        </p:spPr>
        <p:txBody>
          <a:bodyPr>
            <a:normAutofit/>
          </a:bodyPr>
          <a:lstStyle/>
          <a:p>
            <a:pPr marL="0" indent="0">
              <a:spcBef>
                <a:spcPts val="300"/>
              </a:spcBef>
              <a:spcAft>
                <a:spcPts val="300"/>
              </a:spcAft>
              <a:buNone/>
            </a:pPr>
            <a:r>
              <a:rPr sz="1600" b="0">
                <a:solidFill>
                  <a:srgbClr val="000000"/>
                </a:solidFill>
                <a:latin typeface="맑은 고딕"/>
                <a:ea typeface="맑은 고딕"/>
              </a:rPr>
              <a:t>도메인 모델과 동적 모델을 LLM에 제공하여 </a:t>
            </a:r>
            <a:r>
              <a:rPr sz="1600" b="1">
                <a:solidFill>
                  <a:srgbClr val="000000"/>
                </a:solidFill>
                <a:latin typeface="맑은 고딕"/>
                <a:ea typeface="맑은 고딕"/>
              </a:rPr>
              <a:t>패키지 다이어그램</a:t>
            </a:r>
            <a:r>
              <a:rPr sz="1600" b="0">
                <a:solidFill>
                  <a:srgbClr val="000000"/>
                </a:solidFill>
                <a:latin typeface="맑은 고딕"/>
                <a:ea typeface="맑은 고딕"/>
              </a:rPr>
              <a:t>을 초안과 상세 두 단계로 만들고,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투입물</a:t>
            </a:r>
          </a:p>
          <a:p>
            <a:pPr lvl="3" marL="723900" indent="0">
              <a:spcBef>
                <a:spcPts val="300"/>
              </a:spcBef>
              <a:spcAft>
                <a:spcPts val="300"/>
              </a:spcAft>
              <a:buNone/>
            </a:pPr>
            <a:r>
              <a:rPr sz="1600" b="0">
                <a:solidFill>
                  <a:srgbClr val="000000"/>
                </a:solidFill>
                <a:latin typeface="맑은 고딕"/>
                <a:ea typeface="맑은 고딕"/>
              </a:rPr>
              <a:t>실습 3의 </a:t>
            </a:r>
            <a:r>
              <a:rPr sz="1600" b="1">
                <a:solidFill>
                  <a:srgbClr val="000000"/>
                </a:solidFill>
                <a:latin typeface="맑은 고딕"/>
                <a:ea typeface="맑은 고딕"/>
              </a:rPr>
              <a:t>도메인 모델 상세</a:t>
            </a:r>
            <a:r>
              <a:rPr sz="1600" b="0">
                <a:solidFill>
                  <a:srgbClr val="000000"/>
                </a:solidFill>
                <a:latin typeface="맑은 고딕"/>
                <a:ea typeface="맑은 고딕"/>
              </a:rPr>
              <a:t>와 실습 4의 </a:t>
            </a:r>
            <a:r>
              <a:rPr sz="1600" b="1">
                <a:solidFill>
                  <a:srgbClr val="000000"/>
                </a:solidFill>
                <a:latin typeface="맑은 고딕"/>
                <a:ea typeface="맑은 고딕"/>
              </a:rPr>
              <a:t>시퀀스 다이어그램</a:t>
            </a:r>
            <a:r>
              <a:rPr sz="1600" b="0">
                <a:solidFill>
                  <a:srgbClr val="000000"/>
                </a:solidFill>
                <a:latin typeface="맑은 고딕"/>
                <a:ea typeface="맑은 고딕"/>
              </a:rPr>
              <a:t> —</a:t>
            </a:r>
            <a:r>
              <a:rPr sz="1050" b="0">
                <a:solidFill>
                  <a:srgbClr val="000000"/>
                </a:solidFill>
                <a:latin typeface="맑은 고딕"/>
                <a:ea typeface="맑은 고딕"/>
              </a:rPr>
              <a:t> 실제로는 여러분의 결과물을 이어 씁니다.</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프롬프트</a:t>
            </a:r>
          </a:p>
          <a:p>
            <a:pPr lvl="3" marL="723900" indent="0">
              <a:spcBef>
                <a:spcPts val="300"/>
              </a:spcBef>
              <a:spcAft>
                <a:spcPts val="300"/>
              </a:spcAft>
              <a:buNone/>
            </a:pPr>
            <a:r>
              <a:rPr sz="1600" b="0">
                <a:solidFill>
                  <a:srgbClr val="000000"/>
                </a:solidFill>
                <a:latin typeface="맑은 고딕"/>
                <a:ea typeface="맑은 고딕"/>
              </a:rPr>
              <a:t>① "위 도메인 모델의 클래스를 </a:t>
            </a:r>
            <a:r>
              <a:rPr sz="1600" b="1">
                <a:solidFill>
                  <a:srgbClr val="000000"/>
                </a:solidFill>
                <a:latin typeface="맑은 고딕"/>
                <a:ea typeface="맑은 고딕"/>
              </a:rPr>
              <a:t>변경 이유</a:t>
            </a:r>
            <a:r>
              <a:rPr sz="1600" b="0">
                <a:solidFill>
                  <a:srgbClr val="000000"/>
                </a:solidFill>
                <a:latin typeface="맑은 고딕"/>
                <a:ea typeface="맑은 고딕"/>
              </a:rPr>
              <a:t>로 묶어 PlantUML </a:t>
            </a:r>
            <a:r>
              <a:rPr sz="1600" b="1">
                <a:solidFill>
                  <a:srgbClr val="000000"/>
                </a:solidFill>
                <a:latin typeface="맑은 고딕"/>
                <a:ea typeface="맑은 고딕"/>
              </a:rPr>
              <a:t>패키지 다이어그램 초안</a:t>
            </a:r>
            <a:r>
              <a:rPr sz="1600" b="0">
                <a:solidFill>
                  <a:srgbClr val="000000"/>
                </a:solidFill>
                <a:latin typeface="맑은 고딕"/>
                <a:ea typeface="맑은 고딕"/>
              </a:rPr>
              <a:t>을 그려줘. 의존을 표시하고, 클래스는 이름만 보여줘."</a:t>
            </a:r>
          </a:p>
          <a:p>
            <a:pPr lvl="3" marL="723900" indent="0">
              <a:spcBef>
                <a:spcPts val="300"/>
              </a:spcBef>
              <a:spcAft>
                <a:spcPts val="300"/>
              </a:spcAft>
              <a:buNone/>
            </a:pPr>
            <a:r>
              <a:rPr sz="1600" b="0">
                <a:solidFill>
                  <a:srgbClr val="000000"/>
                </a:solidFill>
                <a:latin typeface="맑은 고딕"/>
                <a:ea typeface="맑은 고딕"/>
              </a:rPr>
              <a:t>② "외부 시스템 연동을 분리하고 </a:t>
            </a:r>
            <a:r>
              <a:rPr sz="1600" b="1">
                <a:solidFill>
                  <a:srgbClr val="000000"/>
                </a:solidFill>
                <a:latin typeface="맑은 고딕"/>
                <a:ea typeface="맑은 고딕"/>
              </a:rPr>
              <a:t>순환 의존</a:t>
            </a:r>
            <a:r>
              <a:rPr sz="1600" b="0">
                <a:solidFill>
                  <a:srgbClr val="000000"/>
                </a:solidFill>
                <a:latin typeface="맑은 고딕"/>
                <a:ea typeface="맑은 고딕"/>
              </a:rPr>
              <a:t>을 없애 </a:t>
            </a:r>
            <a:r>
              <a:rPr sz="1600" b="1">
                <a:solidFill>
                  <a:srgbClr val="000000"/>
                </a:solidFill>
                <a:latin typeface="맑은 고딕"/>
                <a:ea typeface="맑은 고딕"/>
              </a:rPr>
              <a:t>상세 패키지 다이어그램</a:t>
            </a:r>
            <a:r>
              <a:rPr sz="1600" b="0">
                <a:solidFill>
                  <a:srgbClr val="000000"/>
                </a:solidFill>
                <a:latin typeface="맑은 고딕"/>
                <a:ea typeface="맑은 고딕"/>
              </a:rPr>
              <a:t>으로 바꿔줘."</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점검 항목</a:t>
            </a:r>
          </a:p>
          <a:p>
            <a:pPr lvl="3" marL="947420" indent="-223520">
              <a:spcBef>
                <a:spcPts val="300"/>
              </a:spcBef>
              <a:spcAft>
                <a:spcPts val="300"/>
              </a:spcAft>
              <a:buNone/>
            </a:pPr>
            <a:r>
              <a:rPr sz="1600" b="0">
                <a:solidFill>
                  <a:srgbClr val="000000"/>
                </a:solidFill>
                <a:latin typeface="맑은 고딕"/>
                <a:ea typeface="맑은 고딕"/>
              </a:rPr>
              <a:t>1. </a:t>
            </a:r>
            <a:r>
              <a:rPr sz="1600" b="1">
                <a:solidFill>
                  <a:srgbClr val="000000"/>
                </a:solidFill>
                <a:latin typeface="맑은 고딕"/>
                <a:ea typeface="맑은 고딕"/>
              </a:rPr>
              <a:t>묶는 기준</a:t>
            </a:r>
            <a:r>
              <a:rPr sz="1600" b="0">
                <a:solidFill>
                  <a:srgbClr val="000000"/>
                </a:solidFill>
                <a:latin typeface="맑은 고딕"/>
                <a:ea typeface="맑은 고딕"/>
              </a:rPr>
              <a:t> —</a:t>
            </a:r>
            <a:r>
              <a:rPr sz="1050" b="0">
                <a:solidFill>
                  <a:srgbClr val="000000"/>
                </a:solidFill>
                <a:latin typeface="맑은 고딕"/>
                <a:ea typeface="맑은 고딕"/>
              </a:rPr>
              <a:t> 기술 계층이 아닌 </a:t>
            </a:r>
            <a:r>
              <a:rPr sz="1050" b="1">
                <a:solidFill>
                  <a:srgbClr val="000000"/>
                </a:solidFill>
                <a:latin typeface="맑은 고딕"/>
                <a:ea typeface="맑은 고딕"/>
              </a:rPr>
              <a:t>변경 이유</a:t>
            </a:r>
            <a:r>
              <a:rPr sz="1050" b="0">
                <a:solidFill>
                  <a:srgbClr val="000000"/>
                </a:solidFill>
                <a:latin typeface="맑은 고딕"/>
                <a:ea typeface="맑은 고딕"/>
              </a:rPr>
              <a:t>로 묶었는가?</a:t>
            </a:r>
          </a:p>
          <a:p>
            <a:pPr lvl="3" marL="947420" indent="-223520">
              <a:spcBef>
                <a:spcPts val="300"/>
              </a:spcBef>
              <a:spcAft>
                <a:spcPts val="300"/>
              </a:spcAft>
              <a:buNone/>
            </a:pPr>
            <a:r>
              <a:rPr sz="1600" b="0">
                <a:solidFill>
                  <a:srgbClr val="000000"/>
                </a:solidFill>
                <a:latin typeface="맑은 고딕"/>
                <a:ea typeface="맑은 고딕"/>
              </a:rPr>
              <a:t>2. </a:t>
            </a:r>
            <a:r>
              <a:rPr sz="1600" b="1">
                <a:solidFill>
                  <a:srgbClr val="000000"/>
                </a:solidFill>
                <a:latin typeface="맑은 고딕"/>
                <a:ea typeface="맑은 고딕"/>
              </a:rPr>
              <a:t>순환 의존</a:t>
            </a:r>
            <a:r>
              <a:rPr sz="1600" b="0">
                <a:solidFill>
                  <a:srgbClr val="000000"/>
                </a:solidFill>
                <a:latin typeface="맑은 고딕"/>
                <a:ea typeface="맑은 고딕"/>
              </a:rPr>
              <a:t> —</a:t>
            </a:r>
            <a:r>
              <a:rPr sz="1050" b="0">
                <a:solidFill>
                  <a:srgbClr val="000000"/>
                </a:solidFill>
                <a:latin typeface="맑은 고딕"/>
                <a:ea typeface="맑은 고딕"/>
              </a:rPr>
              <a:t> 패키지 의존에 순환이 없는가?</a:t>
            </a:r>
          </a:p>
          <a:p>
            <a:pPr lvl="3" marL="947420" indent="-223520">
              <a:spcBef>
                <a:spcPts val="300"/>
              </a:spcBef>
              <a:spcAft>
                <a:spcPts val="300"/>
              </a:spcAft>
              <a:buNone/>
            </a:pPr>
            <a:r>
              <a:rPr sz="1600" b="0">
                <a:solidFill>
                  <a:srgbClr val="000000"/>
                </a:solidFill>
                <a:latin typeface="맑은 고딕"/>
                <a:ea typeface="맑은 고딕"/>
              </a:rPr>
              <a:t>3. </a:t>
            </a:r>
            <a:r>
              <a:rPr sz="1600" b="1">
                <a:solidFill>
                  <a:srgbClr val="000000"/>
                </a:solidFill>
                <a:latin typeface="맑은 고딕"/>
                <a:ea typeface="맑은 고딕"/>
              </a:rPr>
              <a:t>연동 분리</a:t>
            </a:r>
            <a:r>
              <a:rPr sz="1600" b="0">
                <a:solidFill>
                  <a:srgbClr val="000000"/>
                </a:solidFill>
                <a:latin typeface="맑은 고딕"/>
                <a:ea typeface="맑은 고딕"/>
              </a:rPr>
              <a:t> —</a:t>
            </a:r>
            <a:r>
              <a:rPr sz="1050" b="0">
                <a:solidFill>
                  <a:srgbClr val="000000"/>
                </a:solidFill>
                <a:latin typeface="맑은 고딕"/>
                <a:ea typeface="맑은 고딕"/>
              </a:rPr>
              <a:t> 외부 시스템과의 연동을 별도 패키지로 뺐는가?</a:t>
            </a:r>
          </a:p>
          <a:p>
            <a:pPr lvl="3" marL="947420" indent="-223520">
              <a:spcBef>
                <a:spcPts val="300"/>
              </a:spcBef>
              <a:spcAft>
                <a:spcPts val="300"/>
              </a:spcAft>
              <a:buNone/>
            </a:pPr>
            <a:r>
              <a:rPr sz="1600" b="0">
                <a:solidFill>
                  <a:srgbClr val="000000"/>
                </a:solidFill>
                <a:latin typeface="맑은 고딕"/>
                <a:ea typeface="맑은 고딕"/>
              </a:rPr>
              <a:t>4. </a:t>
            </a:r>
            <a:r>
              <a:rPr sz="1600" b="1">
                <a:solidFill>
                  <a:srgbClr val="000000"/>
                </a:solidFill>
                <a:latin typeface="맑은 고딕"/>
                <a:ea typeface="맑은 고딕"/>
              </a:rPr>
              <a:t>의존 방향</a:t>
            </a:r>
            <a:r>
              <a:rPr sz="1600" b="0">
                <a:solidFill>
                  <a:srgbClr val="000000"/>
                </a:solidFill>
                <a:latin typeface="맑은 고딕"/>
                <a:ea typeface="맑은 고딕"/>
              </a:rPr>
              <a:t> —</a:t>
            </a:r>
            <a:r>
              <a:rPr sz="1050" b="0">
                <a:solidFill>
                  <a:srgbClr val="000000"/>
                </a:solidFill>
                <a:latin typeface="맑은 고딕"/>
                <a:ea typeface="맑은 고딕"/>
              </a:rPr>
              <a:t> 업무 패키지가 연동 패키지에 의존하지 않는가?</a:t>
            </a:r>
          </a:p>
          <a:p>
            <a:pPr lvl="3" marL="947420" indent="-223520">
              <a:spcBef>
                <a:spcPts val="300"/>
              </a:spcBef>
              <a:spcAft>
                <a:spcPts val="300"/>
              </a:spcAft>
              <a:buNone/>
            </a:pPr>
            <a:r>
              <a:rPr sz="1600" b="0">
                <a:solidFill>
                  <a:srgbClr val="000000"/>
                </a:solidFill>
                <a:latin typeface="맑은 고딕"/>
                <a:ea typeface="맑은 고딕"/>
              </a:rPr>
              <a:t>5. </a:t>
            </a:r>
            <a:r>
              <a:rPr sz="1600" b="1">
                <a:solidFill>
                  <a:srgbClr val="000000"/>
                </a:solidFill>
                <a:latin typeface="맑은 고딕"/>
                <a:ea typeface="맑은 고딕"/>
              </a:rPr>
              <a:t>약속의 소유</a:t>
            </a:r>
            <a:r>
              <a:rPr sz="1600" b="0">
                <a:solidFill>
                  <a:srgbClr val="000000"/>
                </a:solidFill>
                <a:latin typeface="맑은 고딕"/>
                <a:ea typeface="맑은 고딕"/>
              </a:rPr>
              <a:t> —</a:t>
            </a:r>
            <a:r>
              <a:rPr sz="1050" b="0">
                <a:solidFill>
                  <a:srgbClr val="000000"/>
                </a:solidFill>
                <a:latin typeface="맑은 고딕"/>
                <a:ea typeface="맑은 고딕"/>
              </a:rPr>
              <a:t> 결제·배송 요청의 </a:t>
            </a:r>
            <a:r>
              <a:rPr sz="1050" b="1">
                <a:solidFill>
                  <a:srgbClr val="000000"/>
                </a:solidFill>
                <a:latin typeface="맑은 고딕"/>
                <a:ea typeface="맑은 고딕"/>
              </a:rPr>
              <a:t>인터페이스</a:t>
            </a:r>
            <a:r>
              <a:rPr sz="1050" b="0">
                <a:solidFill>
                  <a:srgbClr val="000000"/>
                </a:solidFill>
                <a:latin typeface="맑은 고딕"/>
                <a:ea typeface="맑은 고딕"/>
              </a:rPr>
              <a:t>를 업무 패키지가 갖는가?</a:t>
            </a:r>
          </a:p>
          <a:p>
            <a:pPr lvl="3" marL="947420" indent="-223520">
              <a:spcBef>
                <a:spcPts val="300"/>
              </a:spcBef>
              <a:spcAft>
                <a:spcPts val="300"/>
              </a:spcAft>
              <a:buNone/>
            </a:pPr>
            <a:r>
              <a:rPr sz="1600" b="0">
                <a:solidFill>
                  <a:srgbClr val="000000"/>
                </a:solidFill>
                <a:latin typeface="맑은 고딕"/>
                <a:ea typeface="맑은 고딕"/>
              </a:rPr>
              <a:t>6. </a:t>
            </a:r>
            <a:r>
              <a:rPr sz="1600" b="1">
                <a:solidFill>
                  <a:srgbClr val="000000"/>
                </a:solidFill>
                <a:latin typeface="맑은 고딕"/>
                <a:ea typeface="맑은 고딕"/>
              </a:rPr>
              <a:t>공용 패키지</a:t>
            </a:r>
            <a:r>
              <a:rPr sz="1600" b="0">
                <a:solidFill>
                  <a:srgbClr val="000000"/>
                </a:solidFill>
                <a:latin typeface="맑은 고딕"/>
                <a:ea typeface="맑은 고딕"/>
              </a:rPr>
              <a:t> —</a:t>
            </a:r>
            <a:r>
              <a:rPr sz="1050" b="0">
                <a:solidFill>
                  <a:srgbClr val="000000"/>
                </a:solidFill>
                <a:latin typeface="맑은 고딕"/>
                <a:ea typeface="맑은 고딕"/>
              </a:rPr>
              <a:t> 이것저것 모은 공용</a:t>
            </a:r>
            <a:r>
              <a:rPr sz="850" b="0">
                <a:solidFill>
                  <a:srgbClr val="000000"/>
                </a:solidFill>
                <a:latin typeface="맑은 고딕"/>
                <a:ea typeface="맑은 고딕"/>
              </a:rPr>
              <a:t>(common)</a:t>
            </a:r>
            <a:r>
              <a:rPr sz="1050" b="0">
                <a:solidFill>
                  <a:srgbClr val="000000"/>
                </a:solidFill>
                <a:latin typeface="맑은 고딕"/>
                <a:ea typeface="맑은 고딕"/>
              </a:rPr>
              <a:t> 패키지가 없는가?</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결과물</a:t>
            </a:r>
            <a:r>
              <a:rPr sz="1800" b="0">
                <a:solidFill>
                  <a:srgbClr val="000000"/>
                </a:solidFill>
                <a:latin typeface="맑은 고딕"/>
                <a:ea typeface="맑은 고딕"/>
              </a:rPr>
              <a:t> —</a:t>
            </a:r>
            <a:r>
              <a:rPr sz="1050" b="0">
                <a:solidFill>
                  <a:srgbClr val="000000"/>
                </a:solidFill>
                <a:latin typeface="맑은 고딕"/>
                <a:ea typeface="맑은 고딕"/>
              </a:rPr>
              <a:t> 패키지 다이어그램 초안과 상세. 객체 설계의 입력이 됩니다.</a:t>
            </a:r>
          </a:p>
        </p:txBody>
      </p:sp>
    </p:spTree>
    <p:extLst>
      <p:ext uri="{BB962C8B-B14F-4D97-AF65-F5344CB8AC3E}">
        <p14:creationId xmlns:p14="http://schemas.microsoft.com/office/powerpoint/2010/main" val="355543667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42. 패키지 다이어그램 초안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도메인 개념을 </a:t>
            </a:r>
            <a:r>
              <a:rPr sz="1400" b="1">
                <a:solidFill>
                  <a:srgbClr val="000000"/>
                </a:solidFill>
                <a:latin typeface="맑은 고딕"/>
                <a:ea typeface="맑은 고딕"/>
              </a:rPr>
              <a:t>변경 이유</a:t>
            </a:r>
            <a:r>
              <a:rPr sz="1400" b="0">
                <a:solidFill>
                  <a:srgbClr val="000000"/>
                </a:solidFill>
                <a:latin typeface="맑은 고딕"/>
                <a:ea typeface="맑은 고딕"/>
              </a:rPr>
              <a:t>로 묶었다. 장바구니가 정기배송을 만들고 정기배송이 고객을 알아서 </a:t>
            </a:r>
            <a:r>
              <a:rPr sz="1400" b="1">
                <a:solidFill>
                  <a:srgbClr val="000000"/>
                </a:solidFill>
                <a:latin typeface="맑은 고딕"/>
                <a:ea typeface="맑은 고딕"/>
              </a:rPr>
              <a:t>고객 ↔ 정기배송</a:t>
            </a:r>
            <a:r>
              <a:rPr sz="1400" b="0">
                <a:solidFill>
                  <a:srgbClr val="000000"/>
                </a:solidFill>
                <a:latin typeface="맑은 고딕"/>
                <a:ea typeface="맑은 고딕"/>
              </a:rPr>
              <a:t>에 순환이 생긴다.</a:t>
            </a:r>
          </a:p>
        </p:txBody>
      </p:sp>
      <p:pic>
        <p:nvPicPr>
          <p:cNvPr id="9" name="plantuml Diagram 10"/>
          <p:cNvPicPr>
            <a:picLocks noChangeAspect="1"/>
          </p:cNvPicPr>
          <p:nvPr/>
        </p:nvPicPr>
        <p:blipFill>
          <a:blip r:embed="plantumlImage10"/>
          <a:stretch>
            <a:fillRect/>
          </a:stretch>
        </p:blipFill>
        <p:spPr>
          <a:xfrm>
            <a:off x="861646" y="3341627"/>
            <a:ext cx="7420708" cy="12924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43. 패키지 다이어그램 상세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장바구니를 정기배송으로 옮겨 </a:t>
            </a:r>
            <a:r>
              <a:rPr sz="1400" b="1">
                <a:solidFill>
                  <a:srgbClr val="000000"/>
                </a:solidFill>
                <a:latin typeface="맑은 고딕"/>
                <a:ea typeface="맑은 고딕"/>
              </a:rPr>
              <a:t>순환을 끊고</a:t>
            </a:r>
            <a:r>
              <a:rPr sz="1400" b="0">
                <a:solidFill>
                  <a:srgbClr val="000000"/>
                </a:solidFill>
                <a:latin typeface="맑은 고딕"/>
                <a:ea typeface="맑은 고딕"/>
              </a:rPr>
              <a:t>, 외부 연동을 </a:t>
            </a:r>
            <a:r>
              <a:rPr sz="1400" b="1">
                <a:solidFill>
                  <a:srgbClr val="000000"/>
                </a:solidFill>
                <a:latin typeface="맑은 고딕"/>
                <a:ea typeface="맑은 고딕"/>
              </a:rPr>
              <a:t>연동 패키지</a:t>
            </a:r>
            <a:r>
              <a:rPr sz="1400" b="0">
                <a:solidFill>
                  <a:srgbClr val="000000"/>
                </a:solidFill>
                <a:latin typeface="맑은 고딕"/>
                <a:ea typeface="맑은 고딕"/>
              </a:rPr>
              <a:t>로 분리했다. 요청의 약속은 </a:t>
            </a:r>
            <a:r>
              <a:rPr sz="1400" b="1">
                <a:solidFill>
                  <a:srgbClr val="000000"/>
                </a:solidFill>
                <a:latin typeface="맑은 고딕"/>
                <a:ea typeface="맑은 고딕"/>
              </a:rPr>
              <a:t>업무 패키지</a:t>
            </a:r>
            <a:r>
              <a:rPr sz="1400" b="0">
                <a:solidFill>
                  <a:srgbClr val="000000"/>
                </a:solidFill>
                <a:latin typeface="맑은 고딕"/>
                <a:ea typeface="맑은 고딕"/>
              </a:rPr>
              <a:t>가 갖는다.</a:t>
            </a:r>
          </a:p>
        </p:txBody>
      </p:sp>
      <p:pic>
        <p:nvPicPr>
          <p:cNvPr id="9" name="plantuml Diagram 11"/>
          <p:cNvPicPr>
            <a:picLocks noChangeAspect="1"/>
          </p:cNvPicPr>
          <p:nvPr/>
        </p:nvPicPr>
        <p:blipFill>
          <a:blip r:embed="plantumlImage11"/>
          <a:stretch>
            <a:fillRect/>
          </a:stretch>
        </p:blipFill>
        <p:spPr>
          <a:xfrm>
            <a:off x="466481" y="2473631"/>
            <a:ext cx="8211038" cy="302846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44. 구조 보완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도메인 모델</a:t>
            </a:r>
            <a:r>
              <a:rPr sz="1000" b="0">
                <a:solidFill>
                  <a:srgbClr val="000000"/>
                </a:solidFill>
                <a:latin typeface="맑은 고딕"/>
                <a:ea typeface="맑은 고딕"/>
              </a:rPr>
              <a:t>(실습 3)</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연관 방향</a:t>
            </a:r>
            <a:r>
              <a:rPr sz="1200" b="0">
                <a:solidFill>
                  <a:srgbClr val="000000"/>
                </a:solidFill>
                <a:latin typeface="맑은 고딕"/>
                <a:ea typeface="맑은 고딕"/>
              </a:rPr>
              <a:t> —</a:t>
            </a:r>
            <a:r>
              <a:rPr sz="1000" b="0">
                <a:solidFill>
                  <a:srgbClr val="000000"/>
                </a:solidFill>
                <a:latin typeface="맑은 고딕"/>
                <a:ea typeface="맑은 고딕"/>
              </a:rPr>
              <a:t> 고객–정기배송 연관은 </a:t>
            </a:r>
            <a:r>
              <a:rPr sz="1000" b="1">
                <a:solidFill>
                  <a:srgbClr val="000000"/>
                </a:solidFill>
                <a:latin typeface="맑은 고딕"/>
                <a:ea typeface="맑은 고딕"/>
              </a:rPr>
              <a:t>정기배송 → 고객</a:t>
            </a:r>
            <a:r>
              <a:rPr sz="1000" b="0">
                <a:solidFill>
                  <a:srgbClr val="000000"/>
                </a:solidFill>
                <a:latin typeface="맑은 고딕"/>
                <a:ea typeface="맑은 고딕"/>
              </a:rPr>
              <a:t> 한 방향이다. 고객은 정기배송 목록을 직접 갖지 않는다.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장바구니 소속</a:t>
            </a:r>
            <a:r>
              <a:rPr sz="1200" b="0">
                <a:solidFill>
                  <a:srgbClr val="000000"/>
                </a:solidFill>
                <a:latin typeface="맑은 고딕"/>
                <a:ea typeface="맑은 고딕"/>
              </a:rPr>
              <a:t> —</a:t>
            </a:r>
            <a:r>
              <a:rPr sz="1000" b="0">
                <a:solidFill>
                  <a:srgbClr val="000000"/>
                </a:solidFill>
                <a:latin typeface="맑은 고딕"/>
                <a:ea typeface="맑은 고딕"/>
              </a:rPr>
              <a:t> 장바구니는 고객이 아닌 </a:t>
            </a:r>
            <a:r>
              <a:rPr sz="1000" b="1">
                <a:solidFill>
                  <a:srgbClr val="000000"/>
                </a:solidFill>
                <a:latin typeface="맑은 고딕"/>
                <a:ea typeface="맑은 고딕"/>
              </a:rPr>
              <a:t>정기배송 신청</a:t>
            </a:r>
            <a:r>
              <a:rPr sz="1000" b="0">
                <a:solidFill>
                  <a:srgbClr val="000000"/>
                </a:solidFill>
                <a:latin typeface="맑은 고딕"/>
                <a:ea typeface="맑은 고딕"/>
              </a:rPr>
              <a:t>의 개념이다.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패키지를 나누며 발견한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동적 모델</a:t>
            </a:r>
            <a:r>
              <a:rPr sz="1000" b="0">
                <a:solidFill>
                  <a:srgbClr val="000000"/>
                </a:solidFill>
                <a:latin typeface="맑은 고딕"/>
                <a:ea typeface="맑은 고딕"/>
              </a:rPr>
              <a:t>(실습 4)</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외부 요청</a:t>
            </a:r>
            <a:r>
              <a:rPr sz="1200" b="0">
                <a:solidFill>
                  <a:srgbClr val="000000"/>
                </a:solidFill>
                <a:latin typeface="맑은 고딕"/>
                <a:ea typeface="맑은 고딕"/>
              </a:rPr>
              <a:t> —</a:t>
            </a:r>
            <a:r>
              <a:rPr sz="1000" b="0">
                <a:solidFill>
                  <a:srgbClr val="000000"/>
                </a:solidFill>
                <a:latin typeface="맑은 고딕"/>
                <a:ea typeface="맑은 고딕"/>
              </a:rPr>
              <a:t> 결제·배송 요청은 업무 패키지의 </a:t>
            </a:r>
            <a:r>
              <a:rPr sz="1000" b="1">
                <a:solidFill>
                  <a:srgbClr val="000000"/>
                </a:solidFill>
                <a:latin typeface="맑은 고딕"/>
                <a:ea typeface="맑은 고딕"/>
              </a:rPr>
              <a:t>인터페이스</a:t>
            </a:r>
            <a:r>
              <a:rPr sz="800" b="0">
                <a:solidFill>
                  <a:srgbClr val="000000"/>
                </a:solidFill>
                <a:latin typeface="맑은 고딕"/>
                <a:ea typeface="맑은 고딕"/>
              </a:rPr>
              <a:t>(결제 시스템·배송 시스템)</a:t>
            </a:r>
            <a:r>
              <a:rPr sz="1000" b="0">
                <a:solidFill>
                  <a:srgbClr val="000000"/>
                </a:solidFill>
                <a:latin typeface="맑은 고딕"/>
                <a:ea typeface="맑은 고딕"/>
              </a:rPr>
              <a:t>로 보낸다.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연관 방향, 장바구니 소속, 요청 인터페이스. 객체 설계와 코드의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시퀀스 다이어그램의 외부 참여자 표기.</a:t>
            </a:r>
          </a:p>
        </p:txBody>
      </p:sp>
    </p:spTree>
    <p:extLst>
      <p:ext uri="{BB962C8B-B14F-4D97-AF65-F5344CB8AC3E}">
        <p14:creationId xmlns:p14="http://schemas.microsoft.com/office/powerpoint/2010/main" val="355543667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45.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분석 결과를 바탕으로 책임이 놓일 </a:t>
            </a:r>
            <a:r>
              <a:rPr sz="1800" b="1">
                <a:solidFill>
                  <a:srgbClr val="000000"/>
                </a:solidFill>
                <a:latin typeface="맑은 고딕"/>
                <a:ea typeface="맑은 고딕"/>
              </a:rPr>
              <a:t>구조적 경계</a:t>
            </a:r>
            <a:r>
              <a:rPr sz="1800" b="0">
                <a:solidFill>
                  <a:srgbClr val="000000"/>
                </a:solidFill>
                <a:latin typeface="맑은 고딕"/>
                <a:ea typeface="맑은 고딕"/>
              </a:rPr>
              <a:t>와 변경이 번지는 </a:t>
            </a:r>
            <a:r>
              <a:rPr sz="1800" b="1">
                <a:solidFill>
                  <a:srgbClr val="000000"/>
                </a:solidFill>
                <a:latin typeface="맑은 고딕"/>
                <a:ea typeface="맑은 고딕"/>
              </a:rPr>
              <a:t>의존 방향</a:t>
            </a:r>
            <a:r>
              <a:rPr sz="1800" b="0">
                <a:solidFill>
                  <a:srgbClr val="000000"/>
                </a:solidFill>
                <a:latin typeface="맑은 고딕"/>
                <a:ea typeface="맑은 고딕"/>
              </a:rPr>
              <a:t>을 정했다.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구조적 경계와 의존성의 핵심</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경계</a:t>
            </a:r>
            <a:r>
              <a:rPr sz="1600" b="0">
                <a:solidFill>
                  <a:srgbClr val="000000"/>
                </a:solidFill>
                <a:latin typeface="맑은 고딕"/>
                <a:ea typeface="맑은 고딕"/>
              </a:rPr>
              <a:t> —</a:t>
            </a:r>
            <a:r>
              <a:rPr sz="1400" b="0">
                <a:solidFill>
                  <a:srgbClr val="000000"/>
                </a:solidFill>
                <a:latin typeface="맑은 고딕"/>
                <a:ea typeface="맑은 고딕"/>
              </a:rPr>
              <a:t> 함께 바뀌는 상태와 규칙의 묶음</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묶는 기준</a:t>
            </a:r>
            <a:r>
              <a:rPr sz="1600" b="0">
                <a:solidFill>
                  <a:srgbClr val="000000"/>
                </a:solidFill>
                <a:latin typeface="맑은 고딕"/>
                <a:ea typeface="맑은 고딕"/>
              </a:rPr>
              <a:t> —</a:t>
            </a:r>
            <a:r>
              <a:rPr sz="1400" b="0">
                <a:solidFill>
                  <a:srgbClr val="000000"/>
                </a:solidFill>
                <a:latin typeface="맑은 고딕"/>
                <a:ea typeface="맑은 고딕"/>
              </a:rPr>
              <a:t> 합성·소유·변경 이유·함께 쓰임·외부 통제</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의존</a:t>
            </a:r>
            <a:r>
              <a:rPr sz="1600" b="0">
                <a:solidFill>
                  <a:srgbClr val="000000"/>
                </a:solidFill>
                <a:latin typeface="맑은 고딕"/>
                <a:ea typeface="맑은 고딕"/>
              </a:rPr>
              <a:t> —</a:t>
            </a:r>
            <a:r>
              <a:rPr sz="1400" b="0">
                <a:solidFill>
                  <a:srgbClr val="000000"/>
                </a:solidFill>
                <a:latin typeface="맑은 고딕"/>
                <a:ea typeface="맑은 고딕"/>
              </a:rPr>
              <a:t> 쓰는 쪽 → 쓰이는 쪽. 변경은 반대 방향으로 번진다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방향</a:t>
            </a:r>
            <a:r>
              <a:rPr sz="1600" b="0">
                <a:solidFill>
                  <a:srgbClr val="000000"/>
                </a:solidFill>
                <a:latin typeface="맑은 고딕"/>
                <a:ea typeface="맑은 고딕"/>
              </a:rPr>
              <a:t> —</a:t>
            </a:r>
            <a:r>
              <a:rPr sz="1400" b="0">
                <a:solidFill>
                  <a:srgbClr val="000000"/>
                </a:solidFill>
                <a:latin typeface="맑은 고딕"/>
                <a:ea typeface="맑은 고딕"/>
              </a:rPr>
              <a:t> 덜 바뀌는 업무 쪽으로. 약속은 업무 경계가 소유하고 연동이 통보를 옮긴다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패키지 원칙</a:t>
            </a:r>
            <a:r>
              <a:rPr sz="1600" b="0">
                <a:solidFill>
                  <a:srgbClr val="000000"/>
                </a:solidFill>
                <a:latin typeface="맑은 고딕"/>
                <a:ea typeface="맑은 고딕"/>
              </a:rPr>
              <a:t> —</a:t>
            </a:r>
            <a:r>
              <a:rPr sz="1400" b="0">
                <a:solidFill>
                  <a:srgbClr val="000000"/>
                </a:solidFill>
                <a:latin typeface="맑은 고딕"/>
                <a:ea typeface="맑은 고딕"/>
              </a:rPr>
              <a:t> 응집</a:t>
            </a:r>
            <a:r>
              <a:rPr sz="1000" b="0">
                <a:solidFill>
                  <a:srgbClr val="000000"/>
                </a:solidFill>
                <a:latin typeface="맑은 고딕"/>
                <a:ea typeface="맑은 고딕"/>
              </a:rPr>
              <a:t>(REP·CCP·CRP)</a:t>
            </a:r>
            <a:r>
              <a:rPr sz="1400" b="0">
                <a:solidFill>
                  <a:srgbClr val="000000"/>
                </a:solidFill>
                <a:latin typeface="맑은 고딕"/>
                <a:ea typeface="맑은 고딕"/>
              </a:rPr>
              <a:t>과 결합</a:t>
            </a:r>
            <a:r>
              <a:rPr sz="1000" b="0">
                <a:solidFill>
                  <a:srgbClr val="000000"/>
                </a:solidFill>
                <a:latin typeface="맑은 고딕"/>
                <a:ea typeface="맑은 고딕"/>
              </a:rPr>
              <a:t>(ADP·SDP·SAP)</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제약</a:t>
            </a:r>
            <a:r>
              <a:rPr sz="1600" b="0">
                <a:solidFill>
                  <a:srgbClr val="000000"/>
                </a:solidFill>
                <a:latin typeface="맑은 고딕"/>
                <a:ea typeface="맑은 고딕"/>
              </a:rPr>
              <a:t> —</a:t>
            </a:r>
            <a:r>
              <a:rPr sz="1400" b="0">
                <a:solidFill>
                  <a:srgbClr val="000000"/>
                </a:solidFill>
                <a:latin typeface="맑은 고딕"/>
                <a:ea typeface="맑은 고딕"/>
              </a:rPr>
              <a:t> 객체 설계 전에 명시하고 코드·테스트·변경 시나리오로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다음 세션</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a:t>
            </a:r>
            <a:r>
              <a:rPr sz="1600" b="1">
                <a:solidFill>
                  <a:srgbClr val="000000"/>
                </a:solidFill>
                <a:latin typeface="맑은 고딕"/>
                <a:ea typeface="맑은 고딕"/>
              </a:rPr>
              <a:t>06. 분석 모델에서 설계 모델로</a:t>
            </a:r>
            <a:r>
              <a:rPr sz="1600" b="0">
                <a:solidFill>
                  <a:srgbClr val="000000"/>
                </a:solidFill>
                <a:latin typeface="맑은 고딕"/>
                <a:ea typeface="맑은 고딕"/>
              </a:rPr>
              <a:t>" —</a:t>
            </a:r>
            <a:r>
              <a:rPr sz="1400" b="0">
                <a:solidFill>
                  <a:srgbClr val="000000"/>
                </a:solidFill>
                <a:latin typeface="맑은 고딕"/>
                <a:ea typeface="맑은 고딕"/>
              </a:rPr>
              <a:t> 분석 개념을 기계적으로 변환하지 않고 의미를 보존하며 설계 모델로 전환한다.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48</Slides>
  <Notes>45</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48</vt:i4>
      </vt:variant>
    </vt:vector>
  </HeadingPairs>
  <TitlesOfParts>
    <vt:vector size="52" baseType="lpstr">
      <vt:lpstr>맑은 고딕</vt:lpstr>
      <vt:lpstr>Arial</vt:lpstr>
      <vt:lpstr>Wingdings</vt:lpstr>
      <vt:lpstr>4_Office 테마</vt:lpstr>
      <vt:lpstr>05. 구조적 경계와 의존성 목차 (1/2)</vt:lpstr>
      <vt:lpstr>05. 구조적 경계와 의존성 목차 (2/2)</vt:lpstr>
      <vt:lpstr>01. 세션 목표</vt:lpstr>
      <vt:lpstr>02. 분석에서 구조로</vt:lpstr>
      <vt:lpstr>03. 클래스에서 패키지로 패키지 다이어그램</vt:lpstr>
      <vt:lpstr>04. 구조적 경계</vt:lpstr>
      <vt:lpstr>05. 의존성</vt:lpstr>
      <vt:lpstr>06. 경계와 의존의 결정</vt:lpstr>
      <vt:lpstr>07. 패키지 다이어그램</vt:lpstr>
      <vt:lpstr>08. 묶는 기준</vt:lpstr>
      <vt:lpstr>09. 합성과 불변 조건</vt:lpstr>
      <vt:lpstr>10. 규칙과 상태의 소유</vt:lpstr>
      <vt:lpstr>11. 변경 이유</vt:lpstr>
      <vt:lpstr>12. 함께 쓰임</vt:lpstr>
      <vt:lpstr>13. 연동 분리</vt:lpstr>
      <vt:lpstr>14. 묶기 절차 (1/2) 패키지 다이어그램</vt:lpstr>
      <vt:lpstr>14. 묶기 절차 (2/2) 패키지 다이어그램</vt:lpstr>
      <vt:lpstr>15. 경계 후보</vt:lpstr>
      <vt:lpstr>16. 외부 시스템 의존</vt:lpstr>
      <vt:lpstr>17. 동기 요청</vt:lpstr>
      <vt:lpstr>18. 비동기 통보</vt:lpstr>
      <vt:lpstr>19. 경계에서 옮기기</vt:lpstr>
      <vt:lpstr>20. 주문 시스템 패키지 — 초안 패키지 다이어그램</vt:lpstr>
      <vt:lpstr>21. 의존 화살표 읽기</vt:lpstr>
      <vt:lpstr>22. 경계의 책임</vt:lpstr>
      <vt:lpstr>23. 의존 방향</vt:lpstr>
      <vt:lpstr>24. 순환 의존</vt:lpstr>
      <vt:lpstr>25. 요청과 통보의 방향</vt:lpstr>
      <vt:lpstr>26. 주문 시스템 패키지 — 상세화 패키지 다이어그램</vt:lpstr>
      <vt:lpstr>27. 패키지 원칙</vt:lpstr>
      <vt:lpstr>28. 구조의 진화</vt:lpstr>
      <vt:lpstr>29. 결합도와 응집도</vt:lpstr>
      <vt:lpstr>30. 변경 파급</vt:lpstr>
      <vt:lpstr>31. 방향에 따른 파급</vt:lpstr>
      <vt:lpstr>32. 구조적 제약</vt:lpstr>
      <vt:lpstr>33. 제약의 검증</vt:lpstr>
      <vt:lpstr>34. 잘못된 관행 — 기술 계층 분할</vt:lpstr>
      <vt:lpstr>35. 잘못된 관행 — 공용 패키지</vt:lpstr>
      <vt:lpstr>36. 잘못된 관행 — 외부 모델 누수</vt:lpstr>
      <vt:lpstr>37. 패키지와 코드 패키지 다이어그램</vt:lpstr>
      <vt:lpstr>38. 의존 방향과 테스트 패키지 다이어그램</vt:lpstr>
      <vt:lpstr>39. 옮기기 코드 시퀀스 다이어그램</vt:lpstr>
      <vt:lpstr>40. 적정 구조 설계</vt:lpstr>
      <vt:lpstr>41. 실습 — 경계와 의존성</vt:lpstr>
      <vt:lpstr>42. 패키지 다이어그램 초안 (안)</vt:lpstr>
      <vt:lpstr>43. 패키지 다이어그램 상세 (안)</vt:lpstr>
      <vt:lpstr>44. 구조 보완 (안)</vt:lpstr>
      <vt:lpstr>45.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05. 구조적 경계와 의존성</dc:title>
  <dc:creator>Kim YoungSan</dc:creator>
  <cp:lastModifiedBy>Youngon Kim</cp:lastModifiedBy>
  <cp:revision>42</cp:revision>
  <dcterms:created xsi:type="dcterms:W3CDTF">2021-02-25T22:04:20Z</dcterms:created>
  <dcterms:modified xsi:type="dcterms:W3CDTF">2026-09-21T23:10:41Z</dcterms:modified>
</cp:coreProperties>
</file>