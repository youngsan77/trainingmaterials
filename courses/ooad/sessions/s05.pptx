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이 세션은 주문 시스템 안의 경계를 다룬다. 클래스 수준의 책임 배치는 "06. 분석 모델에서 설계 모델로"·"07.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상태"는 주문 시스템이 외부에 보내는 요청과 받는 통보를 남겼다. 이 세션은 그 질문(주문 시스템이 배송 시스템을 아는가, 통보를 받는가?)에 답한다.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「48. 도메인 모델 — 패키지별」을 경계를 넘는 연관만 남겨 줄인 것이다(장바구니 항목·환불은 생략). 분석 패키지의 기준(주제 영역·클래스 계층·유스케이스·강한 연관)은 "03. 정적 모델 — 도메인 개념과 관계"의 「47. 패키지 기준」에서 다뤘다.</a:t>
            </a:r>
          </a:p>
          <a:p>
            <a:pPr lvl="0"/>
            <a:r>
              <a:rPr lang="ko-KR" sz="1200"/>
              <a:t>분석 패키지를 구조 패키지로 그대로 쓸 수 있는지는 설계의 기준으로 다시 확인한다(「09. 묶는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"01. OOAD 개요"의 「21. 책임과 경계」에서 경계를 "함께 변경되어야 할 상태와 행위의 묶음"으로 미리 보였다. 이 세션은 그것을 주문 시스템에 적용한다.</a:t>
            </a:r>
          </a:p>
          <a:p>
            <a:pPr lvl="0"/>
            <a:r>
              <a:rPr lang="ko-KR" sz="1200"/>
              <a:t>이 세션의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Unified Modeling Language 2.5.1(2017-12), §7.7 Dependencies 원문 확인.</a:t>
            </a:r>
          </a:p>
          <a:p>
            <a:pPr lvl="0"/>
            <a:r>
              <a:rPr lang="ko-KR" sz="1200"/>
              <a:t>의존 방향을 정하는 일은 곧 변경이 어디로 번질지를 정하는 일이다. 이 세션의 판단은 모두 이 한 문장에서 나온다.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용어집과 영문명은 "02. 요구 분석과 유스케이스"의 「18. 용어집」에서 정의하고 "03. 정적 모델 — 도메인 개념과 관계"의 「42. 용어집 정제」에서 정제했다. 전체 목록과 명명 규칙은 과정 설계의 "영한 용어집과 명명 규칙"이 원천이다.</a:t>
            </a:r>
          </a:p>
          <a:p>
            <a:pPr lvl="0"/>
            <a:r>
              <a:rPr lang="ko-KR" sz="1200"/>
              <a:t>앞 세션들의 예시 코드는 분석 모델을 옮긴 것이라 한글 식별자였다. 이 세션부터의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이 세션의 「03. 클래스에서 패키지로」와 「15. 묶기 절차」는 분석 패키지를 다시 보는 도식이라 한글이다.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 §12 Packages, §7.7 Dependencies, §10.4 Interfaces.</a:t>
            </a:r>
          </a:p>
          <a:p>
            <a:pPr lvl="0"/>
            <a:r>
              <a:rPr lang="ko-KR" sz="1200"/>
              <a:t>"03. 정적 모델 — 도메인 개념과 관계"의 「46. 개념의 묶음 — 패키지」는 개념의 묶음까지 다뤘다. 이 세션은 의존 화살표와 인터페이스를 더한다.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앞의 두 기준은 함께 두어야 할 것을, 뒤의 세 기준은 나눠야 할 것을 찾는다. 기준이 부딪히면 변경 이유가 우선한다.</a:t>
            </a:r>
          </a:p>
          <a:p>
            <a:pPr lvl="0"/>
            <a:r>
              <a:rPr lang="ko-KR" sz="1200"/>
              <a:t>기능 목록(주문 관리 기능, 결제 기능)이나 기술 계층은 기준이 아니다(「35. 잘못된 관행 — 기술 계층 분할」).</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합성과 다중성은 "03. 정적 모델 — 도메인 개념과 관계"의 「45. 도메인 모델 — 상세화」와 같다.</a:t>
            </a:r>
          </a:p>
          <a:p>
            <a:pPr lvl="0"/>
            <a:r>
              <a:rPr lang="ko-KR" sz="1200"/>
              <a:t>합성은 "함께 만들어지고 함께 사라지는 부분"이다. 연관의 강도가 약할수록 경계를 둘 후보가 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"04. 동적 모델 — 상호작용과 상태"의 「33. 주문 상태 기계」와 「26. 주문 취소 시퀀스」.</a:t>
            </a:r>
          </a:p>
          <a:p>
            <a:pPr lvl="0"/>
            <a:r>
              <a:rPr lang="ko-KR" sz="1200"/>
              <a:t>규칙이 상태와 다른 경계에 있으면, 상태를 바꿀 때마다 두 경계가 함께 바뀐다. 규칙의 소유는 "03. 정적 모델 — 도메인 개념과 관계"의 「24. 규칙의 소유」와 같은 생각을 패키지 수준에 적용한 것이다.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Parnas, "On the Criteria To Be Used in Decomposing Systems into Modules", *Communications of the ACM*(1972) 원문은 확인하지 못했다(www). 재인용처: Adrian Colyer, *the morning paper*(2016-09-05)의 해설에서 문장을 확인했다.</a:t>
            </a:r>
          </a:p>
          <a:p>
            <a:pPr lvl="0"/>
            <a:r>
              <a:rPr lang="ko-KR" sz="1200"/>
              <a:t>CCP 인용 근거: Robert C. Martin, "Design Principles and Design Patterns"(2000), The Common Closure Principle 원문 확인.</a:t>
            </a:r>
          </a:p>
          <a:p>
            <a:pPr lvl="0"/>
            <a:r>
              <a:rPr lang="ko-KR" sz="1200"/>
              <a:t>Parnas는 각 모듈이 그런 결정 하나를 다른 모듈에 감추도록 설계하라고 이어 말한다. 이 세션의 "변경을 가둔다"와 같은 생각이다.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Common Reuse Principle 원문 확인.</a:t>
            </a:r>
          </a:p>
          <a:p>
            <a:pPr lvl="0"/>
            <a:r>
              <a:rPr lang="ko-KR" sz="1200"/>
              <a:t>장바구니와 결제는 한 이벤트에서도 함께 쓰이지 않는다. 한 패키지에 두면 장바구니 편의 기능의 변경이 결제까지 다시 확인하게 만든다.</a:t>
            </a:r>
          </a:p>
          <a:p>
            <a:pPr lvl="0"/>
            <a:r>
              <a:rPr lang="ko-KR" sz="1200"/>
              <a:t>이벤트 이름은 "02. 요구 분석과 유스케이스"의 공통 전제와 같다.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 시스템 목록과 동기·비동기는 과정의 공통 전제와 같다("02. 요구 분석과 유스케이스"의 「44. 정제된 SSD」).</a:t>
            </a:r>
          </a:p>
          <a:p>
            <a:pPr lvl="0"/>
            <a:r>
              <a:rPr lang="ko-KR" sz="1200"/>
              <a:t>연동 경계는 외부 시스템마다 하나다: 결제 연동, 상품 연동, 배송 연동, 회계 연동.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절차의 순서는 판단의 순서다. 먼저 함께 둘 것을 붙이고, 그다음 나눌 것을 나눈다.</a:t>
            </a:r>
          </a:p>
          <a:p>
            <a:pPr lvl="0"/>
            <a:r>
              <a:rPr lang="ko-KR" sz="1200"/>
              <a:t>분석 패키지와 결과가 같은 것은 우연이 아니라 "03. 정적 모델 — 도메인 개념과 관계"가 업무 의미로 묶었기 때문이다. 기술 계층으로 묶었다면 결과가 달랐을 것이다.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연동 경계는 외부 시스템마다 하나다: 결제 연동, 상품 연동, 배송 연동, 회계 연동. 이 이름은 과정의 공통 전제에 더한다.</a:t>
            </a:r>
          </a:p>
          <a:p>
            <a:pPr lvl="0"/>
            <a:r>
              <a:rPr lang="ko-KR" sz="1200"/>
              <a:t>업무 경계의 이름은 분석 패키지와 같다. 이름을 바꾸면 모델이 바뀐 것이다.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 시스템과 요청의 동기·비동기는 과정의 공통 전제와 같다("02. 요구 분석과 유스케이스"의 「44. 정제된 SSD」).</a:t>
            </a:r>
          </a:p>
          <a:p>
            <a:pPr lvl="0"/>
            <a:r>
              <a:rPr lang="ko-KR" sz="1200"/>
              <a:t>외부 시스템 자체는 바꿀 수 없다. 우리가 정할 수 있는 것은 주문 시스템 안에서 누가 외부를 아는가다.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동기·비동기의 구분 기준은 반환값이 아니라 완료를 기다리는가다("04. 동적 모델 — 상호작용과 상태"의 「51. 동적 모델에서 코드로」).</a:t>
            </a:r>
          </a:p>
          <a:p>
            <a:pPr lvl="0"/>
            <a:r>
              <a:rPr lang="ko-KR" sz="1200"/>
              <a:t>약속과 그 실현(외부 호출)을 나누면, 실현이 바뀌어도 약속에 의존하는 쪽은 바뀌지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상태"가 남긴 질문의 답이다. 주문은 통보를 받지만, 배송 시스템을 알지 않는다.</a:t>
            </a:r>
          </a:p>
          <a:p>
            <a:pPr lvl="0"/>
            <a:r>
              <a:rPr lang="ko-KR" sz="1200"/>
              <a:t>통보를 옮기는 연동이 주문을 알고, 주문은 연동을 모른다. 방향의 근거는 「24. 의존 방향」에서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 코드는 이해를 돕기 위한 교육용 가정이다. 실제 형식은 외부 시스템의 계약으로 확인한다.</a:t>
            </a:r>
          </a:p>
          <a:p>
            <a:pPr lvl="0"/>
            <a:r>
              <a:rPr lang="ko-KR" sz="1200"/>
              <a:t>판매가도 같다. 상품 시스템의 판매가는 주문 시점에 주문 항목의 단가로 옮겨 확정한다("03. 정적 모델 — 도메인 개념과 관계"의 현재 값과 확정 값).</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초안의 문제를 먼저 보이고 「25. 순환 의존」·「27. 주문 시스템 패키지 — 상세화」에서 고친다.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화살표를 셀 때는 변경이 어디서 시작될 가능성이 큰가를 함께 본다. 외부 시스템은 우리가 통제하지 못하는 변경의 출발점이다.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"제공하는 약속"은 오퍼레이션 이름 수준이다. 매개변수와 계약의 정제는 "07. 책임·협력·계약"에서 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a:p>
            <a:pPr lvl="0"/>
            <a:r>
              <a:rPr lang="ko-KR" sz="1200"/>
              <a:t>안정은 "좋다"가 아니라 "바꾸기 어렵다"는 뜻이다. 그래서 바꾸기 어려운 곳에는 자주 바뀌는 세부를 두지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 원문 확인. "betwen"은 원문의 표기다.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Dependency Inversion Principle 원문 확인.</a:t>
            </a:r>
          </a:p>
          <a:p>
            <a:pPr lvl="0"/>
            <a:r>
              <a:rPr lang="ko-KR" sz="1200"/>
              <a:t>이 시퀀스의 참여자는 설계 객체(배송 연동)를 포함한다. 분석 시퀀스가 아니라 구조 설계의 확인용이라 용어집의 영문명으로 그렸다. DeliverySystemApi는 외부 배송 시스템의 형식을 나타낸다.</a:t>
            </a:r>
          </a:p>
          <a:p>
            <a:pPr lvl="0"/>
            <a:r>
              <a:rPr lang="ko-KR" sz="1200"/>
              <a:t>요청과 통보는 서로 다른 시점의 상호작용이다. 한 그림에 모은 것은 방향 비교를 위해서다.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약속을, 결제가 회계 시스템 약속을 소유하고 각 연동이 실현한다.</a:t>
            </a:r>
          </a:p>
          <a:p>
            <a:pPr lvl="0"/>
            <a:r>
              <a:rPr lang="ko-KR" sz="1200"/>
              <a:t>이 구조에 이름을 붙이는 일(아키텍처 스타일)은 "13. OOAD에서 전문영역으로 — Architecture · DDD · MSA"에서 한다. 여기서는 판단의 근거만 본다.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Release Reuse Equivalency Principle 원문 확인. 뒤의 책 *Clean Architecture*(2017)에서는 컴포넌트 원칙이라 부른다.</a:t>
            </a:r>
          </a:p>
          <a:p>
            <a:pPr lvl="0"/>
            <a:r>
              <a:rPr lang="ko-KR" sz="1200"/>
              <a:t>이 세션의 적용: CCP는 「12. 변경 이유」, CRP는 「13. 함께 쓰임」, SDP는 「24. 의존 방향」, ADP는 「25. 순환 의존」, SAP는 「27. 주문 시스템 패키지 — 상세화」.</a:t>
            </a:r>
          </a:p>
          <a:p>
            <a:pPr lvl="0"/>
            <a:r>
              <a:rPr lang="ko-KR" sz="1200"/>
              <a:t>REP는 여러 팀·배포 단위로 나눌 때 중요하다. 한 시스템 안의 패키지에서는 CCP·CRP가 먼저다.</a:t>
            </a:r>
          </a:p>
          <a:p>
            <a:pPr lvl="0"/>
            <a:r>
              <a:rPr lang="ko-KR" sz="1200"/>
              <a:t>SOLID가 클래스(벽돌)를 배치하는 원칙이라면, 패키지 원칙은 컴포넌트(방)를 배치하는 원칙이다. CCP는 SRP를, CRP는 ISP를 컴포넌트 수준으로 옮긴 것이다(Robert C. Martin, *Clean Architecture*, 2017의 요지 — 재인용처: Yannick Grenzinger, "Summary of 'Clean Architecture'"). SOLID는 "07. 책임·협력·계약"·"08. 변화 대응과 변이 설계"에서 다룬다.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Robert C. Martin, *Clean Architecture*(2017) 14장의 문장이다. 원서는 확인하지 못했다(www). 재인용처: GitHub "thzt/book-excerpt"의 *Clean Architecture* 발췌에서 문장을 확인했다. 국역본은 송준이 옮김, 인사이트, 2019다.</a:t>
            </a:r>
          </a:p>
          <a:p>
            <a:pPr lvl="0"/>
            <a:r>
              <a:rPr lang="ko-KR" sz="1200"/>
              <a:t>같은 장은 패키지 의존 그림이 기능이 아니라 빌드와 유지보수의 지도라고 설명한다(재인용처: Yannick Grenzinger의 요약).</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이 세션은 패키지 수준에 적용한다.</a:t>
            </a:r>
          </a:p>
          <a:p>
            <a:pPr lvl="0"/>
            <a:r>
              <a:rPr lang="ko-KR" sz="1200"/>
              <a:t>객체 수준의 결합·응집은 "07. 책임·협력·계약"에서 다룬다.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전 취소는 "04. 동적 모델 — 상호작용과 상태"의 「35. 가드와 금지된 전이」에서 미정으로 남긴 요구다. 정해지면 주문 경계 안에서 끝난다.</a:t>
            </a:r>
          </a:p>
          <a:p>
            <a:pPr lvl="0"/>
            <a:r>
              <a:rPr lang="ko-KR" sz="1200"/>
              <a:t>시나리오는 교육용 예다. 실제 검토는 바뀔 가능성이 큰 것부터 고른다(「12. 변경 이유」).</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상세화에서도 배송 연동은 주문과 배송에 의존한다. 그래서 주문이 바뀌면 연동이 바뀔 수 있다. 변경이 자주 일어나는 쪽(연동)이 덜 바뀌는 쪽(주문)에 기대는 것이 방향 판단의 핵심이다.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예제는 import 검사를 테스트로 둔다(「39. 의존 방향과 테스트」). 실제 프로젝트에서는 빌드 도구의 모듈 경계나 아키텍처 검사 도구를 쓸 수 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 계층이 틀렸다는 뜻이 아니다. 계층은 경계 안의 구성 방식이 될 수 있다. 문제는 계층을 첫 번째 경계로 삼는 것이다.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여러 경계가 같은 값을 쓰면 그 값을 소유한 경계에 의존한다. 정말 업무 의미가 없는 기술 도구(날짜 계산 등)만 공용으로 둔다.</a:t>
            </a:r>
          </a:p>
          <a:p>
            <a:pPr lvl="0"/>
            <a:r>
              <a:rPr lang="ko-KR" sz="1200"/>
              <a:t>예제 코드에서 Money(금액)는 payment 패키지에 있다(「38. 패키지와 코드」).</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"04. 동적 모델 — 상호작용과 상태"에서 출고 준비 중·출고됨을 주문 상태에 넣지 않은 것과 같은 판단이다.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"04. 동적 모델 — 상호작용과 상태"의 분석 코드 배송시스템·출고중단을요청한다가 용어집의 영문명 DeliverySystem·requestDispatchStop이 되었다. 이 세션에서는 그 인터페이스가 delivery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약속으로 취소하면 요청은 어떤 순서로 기록되는가?</a:t>
            </a:r>
          </a:p>
          <a:p>
            <a:pPr lvl="0"/>
            <a:r>
              <a:rPr lang="ko-KR" sz="1200"/>
              <a:t>요청의 순서(출고 중단 → 환불)는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 코드는 「20. 경계에서 옮기기」의 교육용 가정이다. 배송 시작을 IN_TRANSIT으로 둔 것은 용어집의 출고(dispatch)와 섞지 않기 위해서다.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의존은 클래스 사이의 연관·생성에서 나온다 — 장바구니가 정기배송을 만들고(고객 → 정기배송), 정기배송이 고객을 참조한다(정기배송 → 고객).</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옮긴 근거 — 장바구니는 정기배송 신청과 함께 쓰이고 함께 바뀐다. 고객은 정기배송을 모르므로 의존은 정기배송 → 고객 한 방향이다.</a:t>
            </a:r>
          </a:p>
          <a:p>
            <a:pPr lvl="0"/>
            <a:r>
              <a:rPr lang="ko-KR" sz="1200"/>
              <a:t>연동은 업무 패키지의 인터페이스를 실현한다(의존 역전). 결제 시스템의 형식은 결제 연동 밖으로 나가지 않는다.</a:t>
            </a:r>
          </a:p>
          <a:p>
            <a:pPr lvl="0"/>
            <a:r>
              <a:rPr lang="ko-KR" sz="1200"/>
              <a:t>장바구니 항목·정기배송 항목은 소속만 같아 생략했다.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순환 의존은 대개 연관 방향을 정하지 않은 데서 온다. 패키지를 나누면 연관 방향을 결정해야 한다.</a:t>
            </a:r>
          </a:p>
          <a:p>
            <a:pPr lvl="0"/>
            <a:r>
              <a:rPr lang="ko-KR" sz="1200"/>
              <a:t>고객의 정기배송 목록이 필요하면 정기배송 쪽의 조회로 푼다 — 객체 설계에서 다룬다.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구조적 제약(「33. 구조적 제약」)은 다음 세션에서 분석 개념을 설계 클래스로 옮길 때의 경계가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클래스에서 패키지로</a:t>
            </a:r>
          </a:p>
          <a:p>
            <a:pPr lvl="1" marL="355600" indent="0">
              <a:spcBef>
                <a:spcPts val="300"/>
              </a:spcBef>
              <a:spcAft>
                <a:spcPts val="300"/>
              </a:spcAft>
              <a:buNone/>
            </a:pPr>
            <a:r>
              <a:rPr sz="1600" b="0">
                <a:solidFill>
                  <a:srgbClr val="000000"/>
                </a:solidFill>
                <a:latin typeface="맑은 고딕"/>
                <a:ea typeface="맑은 고딕"/>
              </a:rPr>
              <a:t>04. 구조적 경계</a:t>
            </a:r>
          </a:p>
          <a:p>
            <a:pPr lvl="1" marL="355600" indent="0">
              <a:spcBef>
                <a:spcPts val="300"/>
              </a:spcBef>
              <a:spcAft>
                <a:spcPts val="300"/>
              </a:spcAft>
              <a:buNone/>
            </a:pPr>
            <a:r>
              <a:rPr sz="1600" b="0">
                <a:solidFill>
                  <a:srgbClr val="000000"/>
                </a:solidFill>
                <a:latin typeface="맑은 고딕"/>
                <a:ea typeface="맑은 고딕"/>
              </a:rPr>
              <a:t>05. 의존성</a:t>
            </a:r>
          </a:p>
          <a:p>
            <a:pPr lvl="1" marL="355600" indent="0">
              <a:spcBef>
                <a:spcPts val="300"/>
              </a:spcBef>
              <a:spcAft>
                <a:spcPts val="300"/>
              </a:spcAft>
              <a:buNone/>
            </a:pPr>
            <a:r>
              <a:rPr sz="1600" b="0">
                <a:solidFill>
                  <a:srgbClr val="000000"/>
                </a:solidFill>
                <a:latin typeface="맑은 고딕"/>
                <a:ea typeface="맑은 고딕"/>
              </a:rPr>
              <a:t>06. 경계와 의존의 결정</a:t>
            </a:r>
          </a:p>
          <a:p>
            <a:pPr lvl="1" marL="355600" indent="0">
              <a:spcBef>
                <a:spcPts val="300"/>
              </a:spcBef>
              <a:spcAft>
                <a:spcPts val="300"/>
              </a:spcAft>
              <a:buNone/>
            </a:pPr>
            <a:r>
              <a:rPr sz="1600" b="0">
                <a:solidFill>
                  <a:srgbClr val="000000"/>
                </a:solidFill>
                <a:latin typeface="맑은 고딕"/>
                <a:ea typeface="맑은 고딕"/>
              </a:rPr>
              <a:t>07. 설계의 이름</a:t>
            </a:r>
          </a:p>
          <a:p>
            <a:pPr lvl="1" marL="355600" indent="0">
              <a:spcBef>
                <a:spcPts val="300"/>
              </a:spcBef>
              <a:spcAft>
                <a:spcPts val="300"/>
              </a:spcAft>
              <a:buNone/>
            </a:pPr>
            <a:r>
              <a:rPr sz="1600" b="0">
                <a:solidFill>
                  <a:srgbClr val="000000"/>
                </a:solidFill>
                <a:latin typeface="맑은 고딕"/>
                <a:ea typeface="맑은 고딕"/>
              </a:rPr>
              <a:t>08. 패키지 다이어그램</a:t>
            </a:r>
          </a:p>
          <a:p>
            <a:pPr lvl="1" marL="355600" indent="0">
              <a:spcBef>
                <a:spcPts val="300"/>
              </a:spcBef>
              <a:spcAft>
                <a:spcPts val="300"/>
              </a:spcAft>
              <a:buNone/>
            </a:pPr>
            <a:r>
              <a:rPr sz="1600" b="0">
                <a:solidFill>
                  <a:srgbClr val="000000"/>
                </a:solidFill>
                <a:latin typeface="맑은 고딕"/>
                <a:ea typeface="맑은 고딕"/>
              </a:rPr>
              <a:t>09. 묶는 기준</a:t>
            </a:r>
          </a:p>
          <a:p>
            <a:pPr lvl="1" marL="355600" indent="0">
              <a:spcBef>
                <a:spcPts val="300"/>
              </a:spcBef>
              <a:spcAft>
                <a:spcPts val="300"/>
              </a:spcAft>
              <a:buNone/>
            </a:pPr>
            <a:r>
              <a:rPr sz="1600" b="0">
                <a:solidFill>
                  <a:srgbClr val="000000"/>
                </a:solidFill>
                <a:latin typeface="맑은 고딕"/>
                <a:ea typeface="맑은 고딕"/>
              </a:rPr>
              <a:t>10. 합성과 불변 조건</a:t>
            </a:r>
          </a:p>
          <a:p>
            <a:pPr lvl="1" marL="355600" indent="0">
              <a:spcBef>
                <a:spcPts val="300"/>
              </a:spcBef>
              <a:spcAft>
                <a:spcPts val="300"/>
              </a:spcAft>
              <a:buNone/>
            </a:pPr>
            <a:r>
              <a:rPr sz="1600" b="0">
                <a:solidFill>
                  <a:srgbClr val="000000"/>
                </a:solidFill>
                <a:latin typeface="맑은 고딕"/>
                <a:ea typeface="맑은 고딕"/>
              </a:rPr>
              <a:t>11. 규칙과 상태의 소유</a:t>
            </a:r>
          </a:p>
          <a:p>
            <a:pPr lvl="1" marL="355600" indent="0">
              <a:spcBef>
                <a:spcPts val="300"/>
              </a:spcBef>
              <a:spcAft>
                <a:spcPts val="300"/>
              </a:spcAft>
              <a:buNone/>
            </a:pPr>
            <a:r>
              <a:rPr sz="1600" b="0">
                <a:solidFill>
                  <a:srgbClr val="000000"/>
                </a:solidFill>
                <a:latin typeface="맑은 고딕"/>
                <a:ea typeface="맑은 고딕"/>
              </a:rPr>
              <a:t>12. 변경 이유</a:t>
            </a:r>
          </a:p>
          <a:p>
            <a:pPr lvl="1" marL="355600" indent="0">
              <a:spcBef>
                <a:spcPts val="300"/>
              </a:spcBef>
              <a:spcAft>
                <a:spcPts val="300"/>
              </a:spcAft>
              <a:buNone/>
            </a:pPr>
            <a:r>
              <a:rPr sz="1600" b="0">
                <a:solidFill>
                  <a:srgbClr val="000000"/>
                </a:solidFill>
                <a:latin typeface="맑은 고딕"/>
                <a:ea typeface="맑은 고딕"/>
              </a:rPr>
              <a:t>13. 함께 쓰임</a:t>
            </a:r>
          </a:p>
          <a:p>
            <a:pPr lvl="1" marL="355600" indent="0">
              <a:spcBef>
                <a:spcPts val="300"/>
              </a:spcBef>
              <a:spcAft>
                <a:spcPts val="300"/>
              </a:spcAft>
              <a:buNone/>
            </a:pPr>
            <a:r>
              <a:rPr sz="1600" b="0">
                <a:solidFill>
                  <a:srgbClr val="000000"/>
                </a:solidFill>
                <a:latin typeface="맑은 고딕"/>
                <a:ea typeface="맑은 고딕"/>
              </a:rPr>
              <a:t>14. 연동 분리</a:t>
            </a:r>
          </a:p>
          <a:p>
            <a:pPr lvl="1" marL="355600" indent="0">
              <a:spcBef>
                <a:spcPts val="300"/>
              </a:spcBef>
              <a:spcAft>
                <a:spcPts val="300"/>
              </a:spcAft>
              <a:buNone/>
            </a:pPr>
            <a:r>
              <a:rPr sz="1600" b="0">
                <a:solidFill>
                  <a:srgbClr val="000000"/>
                </a:solidFill>
                <a:latin typeface="맑은 고딕"/>
                <a:ea typeface="맑은 고딕"/>
              </a:rPr>
              <a:t>15. 묶기 절차</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경계 후보</a:t>
            </a:r>
          </a:p>
          <a:p>
            <a:pPr lvl="1" marL="355600" indent="0">
              <a:spcBef>
                <a:spcPts val="300"/>
              </a:spcBef>
              <a:spcAft>
                <a:spcPts val="300"/>
              </a:spcAft>
              <a:buNone/>
            </a:pPr>
            <a:r>
              <a:rPr sz="1600" b="0">
                <a:solidFill>
                  <a:srgbClr val="000000"/>
                </a:solidFill>
                <a:latin typeface="맑은 고딕"/>
                <a:ea typeface="맑은 고딕"/>
              </a:rPr>
              <a:t>17. 외부 시스템 의존</a:t>
            </a:r>
          </a:p>
          <a:p>
            <a:pPr lvl="1" marL="355600" indent="0">
              <a:spcBef>
                <a:spcPts val="300"/>
              </a:spcBef>
              <a:spcAft>
                <a:spcPts val="300"/>
              </a:spcAft>
              <a:buNone/>
            </a:pPr>
            <a:r>
              <a:rPr sz="1600" b="0">
                <a:solidFill>
                  <a:srgbClr val="000000"/>
                </a:solidFill>
                <a:latin typeface="맑은 고딕"/>
                <a:ea typeface="맑은 고딕"/>
              </a:rPr>
              <a:t>18. 동기 요청</a:t>
            </a:r>
          </a:p>
          <a:p>
            <a:pPr lvl="1" marL="355600" indent="0">
              <a:spcBef>
                <a:spcPts val="300"/>
              </a:spcBef>
              <a:spcAft>
                <a:spcPts val="300"/>
              </a:spcAft>
              <a:buNone/>
            </a:pPr>
            <a:r>
              <a:rPr sz="1600" b="0">
                <a:solidFill>
                  <a:srgbClr val="000000"/>
                </a:solidFill>
                <a:latin typeface="맑은 고딕"/>
                <a:ea typeface="맑은 고딕"/>
              </a:rPr>
              <a:t>19. 비동기 통보</a:t>
            </a:r>
          </a:p>
          <a:p>
            <a:pPr lvl="1" marL="355600" indent="0">
              <a:spcBef>
                <a:spcPts val="300"/>
              </a:spcBef>
              <a:spcAft>
                <a:spcPts val="300"/>
              </a:spcAft>
              <a:buNone/>
            </a:pPr>
            <a:r>
              <a:rPr sz="1600" b="0">
                <a:solidFill>
                  <a:srgbClr val="000000"/>
                </a:solidFill>
                <a:latin typeface="맑은 고딕"/>
                <a:ea typeface="맑은 고딕"/>
              </a:rPr>
              <a:t>20. 경계에서 옮기기</a:t>
            </a:r>
          </a:p>
          <a:p>
            <a:pPr lvl="1" marL="355600" indent="0">
              <a:spcBef>
                <a:spcPts val="300"/>
              </a:spcBef>
              <a:spcAft>
                <a:spcPts val="300"/>
              </a:spcAft>
              <a:buNone/>
            </a:pPr>
            <a:r>
              <a:rPr sz="1600" b="0">
                <a:solidFill>
                  <a:srgbClr val="000000"/>
                </a:solidFill>
                <a:latin typeface="맑은 고딕"/>
                <a:ea typeface="맑은 고딕"/>
              </a:rPr>
              <a:t>21. 주문 시스템 패키지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22. 의존 화살표 읽기</a:t>
            </a:r>
          </a:p>
          <a:p>
            <a:pPr lvl="1" marL="355600" indent="0">
              <a:spcBef>
                <a:spcPts val="300"/>
              </a:spcBef>
              <a:spcAft>
                <a:spcPts val="300"/>
              </a:spcAft>
              <a:buNone/>
            </a:pPr>
            <a:r>
              <a:rPr sz="1600" b="0">
                <a:solidFill>
                  <a:srgbClr val="000000"/>
                </a:solidFill>
                <a:latin typeface="맑은 고딕"/>
                <a:ea typeface="맑은 고딕"/>
              </a:rPr>
              <a:t>23. 경계의 책임</a:t>
            </a:r>
          </a:p>
          <a:p>
            <a:pPr lvl="1" marL="355600" indent="0">
              <a:spcBef>
                <a:spcPts val="300"/>
              </a:spcBef>
              <a:spcAft>
                <a:spcPts val="300"/>
              </a:spcAft>
              <a:buNone/>
            </a:pPr>
            <a:r>
              <a:rPr sz="1600" b="0">
                <a:solidFill>
                  <a:srgbClr val="000000"/>
                </a:solidFill>
                <a:latin typeface="맑은 고딕"/>
                <a:ea typeface="맑은 고딕"/>
              </a:rPr>
              <a:t>24. 의존 방향</a:t>
            </a:r>
          </a:p>
          <a:p>
            <a:pPr lvl="1" marL="355600" indent="0">
              <a:spcBef>
                <a:spcPts val="300"/>
              </a:spcBef>
              <a:spcAft>
                <a:spcPts val="300"/>
              </a:spcAft>
              <a:buNone/>
            </a:pPr>
            <a:r>
              <a:rPr sz="1600" b="0">
                <a:solidFill>
                  <a:srgbClr val="000000"/>
                </a:solidFill>
                <a:latin typeface="맑은 고딕"/>
                <a:ea typeface="맑은 고딕"/>
              </a:rPr>
              <a:t>25. 순환 의존</a:t>
            </a:r>
          </a:p>
          <a:p>
            <a:pPr lvl="1" marL="355600" indent="0">
              <a:spcBef>
                <a:spcPts val="300"/>
              </a:spcBef>
              <a:spcAft>
                <a:spcPts val="300"/>
              </a:spcAft>
              <a:buNone/>
            </a:pPr>
            <a:r>
              <a:rPr sz="1600" b="0">
                <a:solidFill>
                  <a:srgbClr val="000000"/>
                </a:solidFill>
                <a:latin typeface="맑은 고딕"/>
                <a:ea typeface="맑은 고딕"/>
              </a:rPr>
              <a:t>26. 요청과 통보의 방향</a:t>
            </a:r>
          </a:p>
          <a:p>
            <a:pPr lvl="1" marL="355600" indent="0">
              <a:spcBef>
                <a:spcPts val="300"/>
              </a:spcBef>
              <a:spcAft>
                <a:spcPts val="300"/>
              </a:spcAft>
              <a:buNone/>
            </a:pPr>
            <a:r>
              <a:rPr sz="1600" b="0">
                <a:solidFill>
                  <a:srgbClr val="000000"/>
                </a:solidFill>
                <a:latin typeface="맑은 고딕"/>
                <a:ea typeface="맑은 고딕"/>
              </a:rPr>
              <a:t>27. 주문 시스템 패키지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28. 패키지 원칙</a:t>
            </a:r>
          </a:p>
          <a:p>
            <a:pPr lvl="1" marL="355600" indent="0">
              <a:spcBef>
                <a:spcPts val="300"/>
              </a:spcBef>
              <a:spcAft>
                <a:spcPts val="300"/>
              </a:spcAft>
              <a:buNone/>
            </a:pPr>
            <a:r>
              <a:rPr sz="1600" b="0">
                <a:solidFill>
                  <a:srgbClr val="000000"/>
                </a:solidFill>
                <a:latin typeface="맑은 고딕"/>
                <a:ea typeface="맑은 고딕"/>
              </a:rPr>
              <a:t>29. 구조의 진화</a:t>
            </a:r>
          </a:p>
          <a:p>
            <a:pPr lvl="1" marL="355600" indent="0">
              <a:spcBef>
                <a:spcPts val="300"/>
              </a:spcBef>
              <a:spcAft>
                <a:spcPts val="300"/>
              </a:spcAft>
              <a:buNone/>
            </a:pPr>
            <a:r>
              <a:rPr sz="1600" b="0">
                <a:solidFill>
                  <a:srgbClr val="000000"/>
                </a:solidFill>
                <a:latin typeface="맑은 고딕"/>
                <a:ea typeface="맑은 고딕"/>
              </a:rPr>
              <a:t>30. 결합도와 응집도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변경 파급</a:t>
            </a:r>
          </a:p>
          <a:p>
            <a:pPr lvl="1" marL="355600" indent="0">
              <a:spcBef>
                <a:spcPts val="300"/>
              </a:spcBef>
              <a:spcAft>
                <a:spcPts val="300"/>
              </a:spcAft>
              <a:buNone/>
            </a:pPr>
            <a:r>
              <a:rPr sz="1600" b="0">
                <a:solidFill>
                  <a:srgbClr val="000000"/>
                </a:solidFill>
                <a:latin typeface="맑은 고딕"/>
                <a:ea typeface="맑은 고딕"/>
              </a:rPr>
              <a:t>32. 방향에 따른 파급</a:t>
            </a:r>
          </a:p>
          <a:p>
            <a:pPr lvl="1" marL="355600" indent="0">
              <a:spcBef>
                <a:spcPts val="300"/>
              </a:spcBef>
              <a:spcAft>
                <a:spcPts val="300"/>
              </a:spcAft>
              <a:buNone/>
            </a:pPr>
            <a:r>
              <a:rPr sz="1600" b="0">
                <a:solidFill>
                  <a:srgbClr val="000000"/>
                </a:solidFill>
                <a:latin typeface="맑은 고딕"/>
                <a:ea typeface="맑은 고딕"/>
              </a:rPr>
              <a:t>33. 구조적 제약</a:t>
            </a:r>
          </a:p>
          <a:p>
            <a:pPr lvl="1" marL="355600" indent="0">
              <a:spcBef>
                <a:spcPts val="300"/>
              </a:spcBef>
              <a:spcAft>
                <a:spcPts val="300"/>
              </a:spcAft>
              <a:buNone/>
            </a:pPr>
            <a:r>
              <a:rPr sz="1600" b="0">
                <a:solidFill>
                  <a:srgbClr val="000000"/>
                </a:solidFill>
                <a:latin typeface="맑은 고딕"/>
                <a:ea typeface="맑은 고딕"/>
              </a:rPr>
              <a:t>34. 제약의 검증</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기술 계층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공용 패키지</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외부 모델 누수</a:t>
            </a:r>
          </a:p>
          <a:p>
            <a:pPr lvl="1" marL="355600" indent="0">
              <a:spcBef>
                <a:spcPts val="300"/>
              </a:spcBef>
              <a:spcAft>
                <a:spcPts val="300"/>
              </a:spcAft>
              <a:buNone/>
            </a:pPr>
            <a:r>
              <a:rPr sz="1600" b="0">
                <a:solidFill>
                  <a:srgbClr val="000000"/>
                </a:solidFill>
                <a:latin typeface="맑은 고딕"/>
                <a:ea typeface="맑은 고딕"/>
              </a:rPr>
              <a:t>38. 패키지와 코드</a:t>
            </a:r>
          </a:p>
          <a:p>
            <a:pPr lvl="1" marL="355600" indent="0">
              <a:spcBef>
                <a:spcPts val="300"/>
              </a:spcBef>
              <a:spcAft>
                <a:spcPts val="300"/>
              </a:spcAft>
              <a:buNone/>
            </a:pPr>
            <a:r>
              <a:rPr sz="1600" b="0">
                <a:solidFill>
                  <a:srgbClr val="000000"/>
                </a:solidFill>
                <a:latin typeface="맑은 고딕"/>
                <a:ea typeface="맑은 고딕"/>
              </a:rPr>
              <a:t>39. 의존 방향과 테스트</a:t>
            </a:r>
          </a:p>
          <a:p>
            <a:pPr lvl="1" marL="355600" indent="0">
              <a:spcBef>
                <a:spcPts val="300"/>
              </a:spcBef>
              <a:spcAft>
                <a:spcPts val="300"/>
              </a:spcAft>
              <a:buNone/>
            </a:pPr>
            <a:r>
              <a:rPr sz="1600" b="0">
                <a:solidFill>
                  <a:srgbClr val="000000"/>
                </a:solidFill>
                <a:latin typeface="맑은 고딕"/>
                <a:ea typeface="맑은 고딕"/>
              </a:rPr>
              <a:t>40. 옮기기 코드</a:t>
            </a:r>
          </a:p>
          <a:p>
            <a:pPr lvl="1" marL="355600" indent="0">
              <a:spcBef>
                <a:spcPts val="300"/>
              </a:spcBef>
              <a:spcAft>
                <a:spcPts val="300"/>
              </a:spcAft>
              <a:buNone/>
            </a:pPr>
            <a:r>
              <a:rPr sz="1600" b="0">
                <a:solidFill>
                  <a:srgbClr val="000000"/>
                </a:solidFill>
                <a:latin typeface="맑은 고딕"/>
                <a:ea typeface="맑은 고딕"/>
              </a:rPr>
              <a:t>41. 적정 구조 설계</a:t>
            </a:r>
          </a:p>
          <a:p>
            <a:pPr lvl="1" marL="355600" indent="0">
              <a:spcBef>
                <a:spcPts val="300"/>
              </a:spcBef>
              <a:spcAft>
                <a:spcPts val="300"/>
              </a:spcAft>
              <a:buNone/>
            </a:pPr>
            <a:r>
              <a:rPr sz="1600" b="0">
                <a:solidFill>
                  <a:srgbClr val="000000"/>
                </a:solidFill>
                <a:latin typeface="맑은 고딕"/>
                <a:ea typeface="맑은 고딕"/>
              </a:rPr>
              <a:t>42. 실습 —</a:t>
            </a:r>
            <a:r>
              <a:rPr sz="1400" b="0">
                <a:solidFill>
                  <a:srgbClr val="000000"/>
                </a:solidFill>
                <a:latin typeface="맑은 고딕"/>
                <a:ea typeface="맑은 고딕"/>
              </a:rPr>
              <a:t> 경계와 의존성</a:t>
            </a:r>
          </a:p>
          <a:p>
            <a:pPr lvl="1" marL="355600" indent="0">
              <a:spcBef>
                <a:spcPts val="300"/>
              </a:spcBef>
              <a:spcAft>
                <a:spcPts val="300"/>
              </a:spcAft>
              <a:buNone/>
            </a:pPr>
            <a:r>
              <a:rPr sz="1600" b="0">
                <a:solidFill>
                  <a:srgbClr val="000000"/>
                </a:solidFill>
                <a:latin typeface="맑은 고딕"/>
                <a:ea typeface="맑은 고딕"/>
              </a:rPr>
              <a:t>43. 패키지 다이어그램 초안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44. 패키지 다이어그램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45. 구조 보완 </a:t>
            </a:r>
            <a:r>
              <a:rPr sz="1200" b="0">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a:t>
            </a:r>
            <a:r>
              <a:rPr sz="1800" b="1">
                <a:solidFill>
                  <a:srgbClr val="000000"/>
                </a:solidFill>
                <a:latin typeface="맑은 고딕"/>
                <a:ea typeface="맑은 고딕"/>
              </a:rPr>
              <a:t>묶는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표현하고(설계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1842998"/>
          <a:ext cx="7340600" cy="3873500"/>
        </p:xfrm>
        <a:graphic>
          <a:graphicData uri="http://schemas.openxmlformats.org/drawingml/2006/table">
            <a:tbl>
              <a:tblPr/>
              <a:tblGrid>
                <a:gridCol w="947420"/>
                <a:gridCol w="298704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오퍼레이션 계약,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"03. 정적 모델 — 도메인 개념과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연관, 분석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"04. 동적 모델 — 상호작용과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상태의 소유, 요청과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pic>
        <p:nvPicPr>
          <p:cNvPr id="14" name="mermaid Diagram 1"/>
          <p:cNvPicPr>
            <a:picLocks noChangeAspect="1"/>
          </p:cNvPicPr>
          <p:nvPr/>
        </p:nvPicPr>
        <p:blipFill>
          <a:blip r:embed="mermaidImage1"/>
          <a:stretch>
            <a:fillRect/>
          </a:stretch>
        </p:blipFill>
        <p:spPr>
          <a:xfrm>
            <a:off x="1453706" y="4373062"/>
            <a:ext cx="6223000" cy="698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클래스에서 패키지로</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39238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묶는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개념을 읽기 쉽게 묶는</a:t>
            </a:r>
            <a:r>
              <a:rPr sz="1800" b="0">
                <a:solidFill>
                  <a:srgbClr val="000000"/>
                </a:solidFill>
                <a:latin typeface="맑은 고딕"/>
                <a:ea typeface="맑은 고딕"/>
              </a:rPr>
              <a:t> 데서 시작해, 이 세션에서는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pic>
        <p:nvPicPr>
          <p:cNvPr id="14" name="plantuml Diagram 1"/>
          <p:cNvPicPr>
            <a:picLocks noChangeAspect="1"/>
          </p:cNvPicPr>
          <p:nvPr/>
        </p:nvPicPr>
        <p:blipFill>
          <a:blip r:embed="plantumlImage1"/>
          <a:stretch>
            <a:fillRect/>
          </a:stretch>
        </p:blipFill>
        <p:spPr>
          <a:xfrm>
            <a:off x="2748129" y="210003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구조적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약속한 방식으로만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경계와 의존의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1842998"/>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경계와 의존 방향은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이다.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1842998"/>
          <a:ext cx="6921500" cy="3873500"/>
        </p:xfrm>
        <a:graphic>
          <a:graphicData uri="http://schemas.openxmlformats.org/drawingml/2006/table">
            <a:tbl>
              <a:tblPr/>
              <a:tblGrid>
                <a:gridCol w="1729740"/>
                <a:gridCol w="189738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 PENDING_PAYMENT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경계가 소유한 요청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이 세션의 패키지 다이어그램부터 설계 도식과 코드는 영문이다.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명명 규칙</a:t>
            </a:r>
            <a:r>
              <a:rPr sz="1800" b="0">
                <a:solidFill>
                  <a:srgbClr val="000000"/>
                </a:solidFill>
                <a:latin typeface="맑은 고딕"/>
                <a:ea typeface="맑은 고딕"/>
              </a:rPr>
              <a:t> —</a:t>
            </a:r>
            <a:r>
              <a:rPr sz="1600" b="0">
                <a:solidFill>
                  <a:srgbClr val="000000"/>
                </a:solidFill>
                <a:latin typeface="맑은 고딕"/>
                <a:ea typeface="맑은 고딕"/>
              </a:rPr>
              <a:t> 타입 </a:t>
            </a:r>
            <a:r>
              <a:rPr sz="1600" b="0">
                <a:solidFill>
                  <a:srgbClr val="000000"/>
                </a:solidFill>
                <a:latin typeface="맑은 고딕"/>
                <a:ea typeface="맑은 고딕"/>
              </a:rPr>
              <a:t>PascalCase</a:t>
            </a:r>
            <a:r>
              <a:rPr sz="1600" b="0">
                <a:solidFill>
                  <a:srgbClr val="000000"/>
                </a:solidFill>
                <a:latin typeface="맑은 고딕"/>
                <a:ea typeface="맑은 고딕"/>
              </a:rPr>
              <a:t>, 필드·메서드 </a:t>
            </a:r>
            <a:r>
              <a:rPr sz="1600" b="0">
                <a:solidFill>
                  <a:srgbClr val="000000"/>
                </a:solidFill>
                <a:latin typeface="맑은 고딕"/>
                <a:ea typeface="맑은 고딕"/>
              </a:rPr>
              <a:t>camelCase</a:t>
            </a:r>
            <a:r>
              <a:rPr sz="1600" b="0">
                <a:solidFill>
                  <a:srgbClr val="000000"/>
                </a:solidFill>
                <a:latin typeface="맑은 고딕"/>
                <a:ea typeface="맑은 고딕"/>
              </a:rPr>
              <a:t>(통보는 </a:t>
            </a:r>
            <a:r>
              <a:rPr sz="1600" b="0">
                <a:solidFill>
                  <a:srgbClr val="000000"/>
                </a:solidFill>
                <a:latin typeface="맑은 고딕"/>
                <a:ea typeface="맑은 고딕"/>
              </a:rPr>
              <a:t>on</a:t>
            </a:r>
            <a:r>
              <a:rPr sz="1600" b="0">
                <a:solidFill>
                  <a:srgbClr val="000000"/>
                </a:solidFill>
                <a:latin typeface="맑은 고딕"/>
                <a:ea typeface="맑은 고딕"/>
              </a:rPr>
              <a:t>), enum 값 </a:t>
            </a:r>
            <a:r>
              <a:rPr sz="1600" b="0">
                <a:solidFill>
                  <a:srgbClr val="000000"/>
                </a:solidFill>
                <a:latin typeface="맑은 고딕"/>
                <a:ea typeface="맑은 고딕"/>
              </a:rPr>
              <a:t>UPPER_SNAKE</a:t>
            </a:r>
            <a:r>
              <a:rPr sz="1600" b="0">
                <a:solidFill>
                  <a:srgbClr val="000000"/>
                </a:solidFill>
                <a:latin typeface="맑은 고딕"/>
                <a:ea typeface="맑은 고딕"/>
              </a:rPr>
              <a:t>, 패키지는 소문자 단수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이름</a:t>
            </a:r>
            <a:r>
              <a:rPr sz="1800" b="0">
                <a:solidFill>
                  <a:srgbClr val="000000"/>
                </a:solidFill>
                <a:latin typeface="맑은 고딕"/>
                <a:ea typeface="맑은 고딕"/>
              </a:rPr>
              <a:t> —</a:t>
            </a:r>
            <a:r>
              <a:rPr sz="1600" b="0">
                <a:solidFill>
                  <a:srgbClr val="000000"/>
                </a:solidFill>
                <a:latin typeface="맑은 고딕"/>
                <a:ea typeface="맑은 고딕"/>
              </a:rPr>
              <a:t> 용어집에 없는 업무 용어는 코드에서 먼저 만들지 않고 </a:t>
            </a:r>
            <a:r>
              <a:rPr sz="1600" b="1">
                <a:solidFill>
                  <a:srgbClr val="000000"/>
                </a:solidFill>
                <a:latin typeface="맑은 고딕"/>
                <a:ea typeface="맑은 고딕"/>
              </a:rPr>
              <a:t>용어집에 먼저</a:t>
            </a:r>
            <a:r>
              <a:rPr sz="1600" b="0">
                <a:solidFill>
                  <a:srgbClr val="000000"/>
                </a:solidFill>
                <a:latin typeface="맑은 고딕"/>
                <a:ea typeface="맑은 고딕"/>
              </a:rPr>
              <a:t> 더한다.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1346" y="3916149"/>
          <a:ext cx="5887720" cy="3873500"/>
        </p:xfrm>
        <a:graphic>
          <a:graphicData uri="http://schemas.openxmlformats.org/drawingml/2006/table">
            <a:tbl>
              <a:tblPr/>
              <a:tblGrid>
                <a:gridCol w="1841500"/>
                <a:gridCol w="18135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약속과 그 실현을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약속을 소유한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030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plantuml Diagram 2"/>
          <p:cNvPicPr>
            <a:picLocks noChangeAspect="1"/>
          </p:cNvPicPr>
          <p:nvPr/>
        </p:nvPicPr>
        <p:blipFill>
          <a:blip r:embed="plantumlImage2"/>
          <a:stretch>
            <a:fillRect/>
          </a:stretch>
        </p:blipFill>
        <p:spPr>
          <a:xfrm>
            <a:off x="2469706" y="1842998"/>
            <a:ext cx="4191000"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묶는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묶는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합성과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으로 묶인 전체와 부분은 </a:t>
            </a:r>
            <a:r>
              <a:rPr sz="1800" b="1">
                <a:solidFill>
                  <a:srgbClr val="000000"/>
                </a:solidFill>
                <a:latin typeface="맑은 고딕"/>
                <a:ea typeface="맑은 고딕"/>
              </a:rPr>
              <a:t>같은 패키지</a:t>
            </a:r>
            <a:r>
              <a:rPr sz="1800" b="0">
                <a:solidFill>
                  <a:srgbClr val="000000"/>
                </a:solidFill>
                <a:latin typeface="맑은 고딕"/>
                <a:ea typeface="맑은 고딕"/>
              </a:rPr>
              <a:t>에 둔다. 전체가 부분의 규칙을 지키므로, 떼어 놓으면 규칙이 경계를 넘는다.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주문–주문 항목</a:t>
            </a:r>
            <a:r>
              <a:rPr sz="1800" b="0">
                <a:solidFill>
                  <a:srgbClr val="000000"/>
                </a:solidFill>
                <a:latin typeface="맑은 고딕"/>
                <a:ea typeface="맑은 고딕"/>
              </a:rPr>
              <a:t> —</a:t>
            </a:r>
            <a:r>
              <a:rPr sz="1600" b="0">
                <a:solidFill>
                  <a:srgbClr val="000000"/>
                </a:solidFill>
                <a:latin typeface="맑은 고딕"/>
                <a:ea typeface="맑은 고딕"/>
              </a:rPr>
              <a:t> 주문 항목은 </a:t>
            </a:r>
            <a:r>
              <a:rPr sz="1600" b="1">
                <a:solidFill>
                  <a:srgbClr val="000000"/>
                </a:solidFill>
                <a:latin typeface="맑은 고딕"/>
                <a:ea typeface="맑은 고딕"/>
              </a:rPr>
              <a:t>1개 이상</a:t>
            </a:r>
            <a:r>
              <a:rPr sz="1600" b="0">
                <a:solidFill>
                  <a:srgbClr val="000000"/>
                </a:solidFill>
                <a:latin typeface="맑은 고딕"/>
                <a:ea typeface="맑은 고딕"/>
              </a:rPr>
              <a:t>이다</a:t>
            </a:r>
            <a:r>
              <a:rPr sz="1200" b="0">
                <a:solidFill>
                  <a:srgbClr val="000000"/>
                </a:solidFill>
                <a:latin typeface="맑은 고딕"/>
                <a:ea typeface="맑은 고딕"/>
              </a:rPr>
              <a:t>(빈 주문 거절)</a:t>
            </a:r>
            <a:r>
              <a:rPr sz="1600" b="0">
                <a:solidFill>
                  <a:srgbClr val="000000"/>
                </a:solidFill>
                <a:latin typeface="맑은 고딕"/>
                <a:ea typeface="맑은 고딕"/>
              </a:rPr>
              <a:t>. 주문 항목만 따로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장바구니–장바구니 항목</a:t>
            </a:r>
            <a:r>
              <a:rPr sz="1800" b="0">
                <a:solidFill>
                  <a:srgbClr val="000000"/>
                </a:solidFill>
                <a:latin typeface="맑은 고딕"/>
                <a:ea typeface="맑은 고딕"/>
              </a:rPr>
              <a:t> —</a:t>
            </a:r>
            <a:r>
              <a:rPr sz="1600" b="0">
                <a:solidFill>
                  <a:srgbClr val="000000"/>
                </a:solidFill>
                <a:latin typeface="맑은 고딕"/>
                <a:ea typeface="맑은 고딕"/>
              </a:rPr>
              <a:t> 담기·빼기는 장바구니의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a:t>
            </a:r>
            <a:r>
              <a:rPr sz="1800" b="0">
                <a:solidFill>
                  <a:srgbClr val="000000"/>
                </a:solidFill>
                <a:latin typeface="맑은 고딕"/>
                <a:ea typeface="맑은 고딕"/>
              </a:rPr>
              <a:t>은 다르다. 주문과 결제는 연관이라 </a:t>
            </a:r>
            <a:r>
              <a:rPr sz="1800" b="1">
                <a:solidFill>
                  <a:srgbClr val="000000"/>
                </a:solidFill>
                <a:latin typeface="맑은 고딕"/>
                <a:ea typeface="맑은 고딕"/>
              </a:rPr>
              <a:t>나눌 수 있다</a:t>
            </a:r>
            <a:r>
              <a:rPr sz="1800" b="0">
                <a:solidFill>
                  <a:srgbClr val="000000"/>
                </a:solidFill>
                <a:latin typeface="맑은 고딕"/>
                <a:ea typeface="맑은 고딕"/>
              </a:rPr>
              <a:t> —</a:t>
            </a:r>
            <a:r>
              <a:rPr sz="1600" b="0">
                <a:solidFill>
                  <a:srgbClr val="000000"/>
                </a:solidFill>
                <a:latin typeface="맑은 고딕"/>
                <a:ea typeface="맑은 고딕"/>
              </a:rPr>
              <a:t> 결제는 자기 규칙</a:t>
            </a:r>
            <a:r>
              <a:rPr sz="1200" b="0">
                <a:solidFill>
                  <a:srgbClr val="000000"/>
                </a:solidFill>
                <a:latin typeface="맑은 고딕"/>
                <a:ea typeface="맑은 고딕"/>
              </a:rPr>
              <a:t>(환불 금액 ≤ 결제 금액)</a:t>
            </a:r>
            <a:r>
              <a:rPr sz="1600" b="0">
                <a:solidFill>
                  <a:srgbClr val="000000"/>
                </a:solidFill>
                <a:latin typeface="맑은 고딕"/>
                <a:ea typeface="맑은 고딕"/>
              </a:rPr>
              <a:t>을 가진다.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규칙과 상태의 소유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2288540"/>
                <a:gridCol w="10871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상태(결제 대기~취소됨)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규칙(환불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바꾸는 쪽</a:t>
            </a:r>
            <a:r>
              <a:rPr sz="1800" b="0">
                <a:solidFill>
                  <a:srgbClr val="000000"/>
                </a:solidFill>
                <a:latin typeface="맑은 고딕"/>
                <a:ea typeface="맑은 고딕"/>
              </a:rPr>
              <a:t>이 그 상태의 경계다. 규칙은 그 규칙이 지키는 </a:t>
            </a:r>
            <a:r>
              <a:rPr sz="1800" b="1">
                <a:solidFill>
                  <a:srgbClr val="000000"/>
                </a:solidFill>
                <a:latin typeface="맑은 고딕"/>
                <a:ea typeface="맑은 고딕"/>
              </a:rPr>
              <a:t>상태와 같은 곳</a:t>
            </a:r>
            <a:r>
              <a:rPr sz="1800" b="0">
                <a:solidFill>
                  <a:srgbClr val="000000"/>
                </a:solidFill>
                <a:latin typeface="맑은 고딕"/>
                <a:ea typeface="맑은 고딕"/>
              </a:rPr>
              <a:t>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변경 이유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3350174"/>
          <a:ext cx="3931920" cy="3873500"/>
        </p:xfrm>
        <a:graphic>
          <a:graphicData uri="http://schemas.openxmlformats.org/drawingml/2006/table">
            <a:tbl>
              <a:tblPr/>
              <a:tblGrid>
                <a:gridCol w="1394460"/>
                <a:gridCol w="15900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바뀔 수 있는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가둘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따로 바뀌는 것</a:t>
            </a:r>
            <a:r>
              <a:rPr sz="1800" b="0">
                <a:solidFill>
                  <a:srgbClr val="000000"/>
                </a:solidFill>
                <a:latin typeface="맑은 고딕"/>
                <a:ea typeface="맑은 고딕"/>
              </a:rPr>
              <a:t>을 나눈다. 묶는 기준은 기능 목록이 아니라 </a:t>
            </a:r>
            <a:r>
              <a:rPr sz="1800" b="1">
                <a:solidFill>
                  <a:srgbClr val="000000"/>
                </a:solidFill>
                <a:latin typeface="맑은 고딕"/>
                <a:ea typeface="맑은 고딕"/>
              </a:rPr>
              <a:t>변경 이유</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"대신 </a:t>
            </a:r>
            <a:r>
              <a:rPr sz="1800" b="1">
                <a:solidFill>
                  <a:srgbClr val="000000"/>
                </a:solidFill>
                <a:latin typeface="맑은 고딕"/>
                <a:ea typeface="맑은 고딕"/>
              </a:rPr>
              <a:t>어렵거나 바뀔 가능성이 큰 설계 결정</a:t>
            </a:r>
            <a:r>
              <a:rPr sz="1800" b="0">
                <a:solidFill>
                  <a:srgbClr val="000000"/>
                </a:solidFill>
                <a:latin typeface="맑은 고딕"/>
                <a:ea typeface="맑은 고딕"/>
              </a:rPr>
              <a:t>의 목록에서 시작하기를 제안한다"</a:t>
            </a:r>
            <a:r>
              <a:rPr sz="1000" b="0">
                <a:solidFill>
                  <a:srgbClr val="000000"/>
                </a:solidFill>
                <a:latin typeface="맑은 고딕"/>
                <a:ea typeface="맑은 고딕"/>
              </a:rPr>
              <a:t>, </a:t>
            </a:r>
            <a:r>
              <a:rPr sz="1000" b="0">
                <a:solidFill>
                  <a:srgbClr val="000000"/>
                </a:solidFill>
                <a:latin typeface="맑은 고딕"/>
                <a:ea typeface="맑은 고딕"/>
              </a:rPr>
              <a:t>"We propose instead that one begins with a list of difficult design decisions or design decisions which are likely to change."</a:t>
            </a:r>
            <a:r>
              <a:rPr sz="1000" b="0">
                <a:solidFill>
                  <a:srgbClr val="000000"/>
                </a:solidFill>
                <a:latin typeface="맑은 고딕"/>
                <a:ea typeface="맑은 고딕"/>
              </a:rPr>
              <a:t>, </a:t>
            </a:r>
            <a:r>
              <a:rPr sz="1000" b="0">
                <a:solidFill>
                  <a:srgbClr val="000000"/>
                </a:solidFill>
                <a:latin typeface="맑은 고딕"/>
                <a:ea typeface="맑은 고딕"/>
              </a:rPr>
              <a:t>David L. Parnas, 1972,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바뀌는</a:t>
            </a:r>
            <a:r>
              <a:rPr sz="18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함께 쓰임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17636" y="2392124"/>
          <a:ext cx="4295140" cy="3873500"/>
        </p:xfrm>
        <a:graphic>
          <a:graphicData uri="http://schemas.openxmlformats.org/drawingml/2006/table">
            <a:tbl>
              <a:tblPr/>
              <a:tblGrid>
                <a:gridCol w="1506220"/>
                <a:gridCol w="147828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쓰는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쓰지 않는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늘 </a:t>
            </a:r>
            <a:r>
              <a:rPr sz="1800" b="1">
                <a:solidFill>
                  <a:srgbClr val="000000"/>
                </a:solidFill>
                <a:latin typeface="맑은 고딕"/>
                <a:ea typeface="맑은 고딕"/>
              </a:rPr>
              <a:t>함께 쓰이지 않는</a:t>
            </a:r>
            <a:r>
              <a:rPr sz="1800" b="0">
                <a:solidFill>
                  <a:srgbClr val="000000"/>
                </a:solidFill>
                <a:latin typeface="맑은 고딕"/>
                <a:ea typeface="맑은 고딕"/>
              </a:rPr>
              <a:t> 클래스는 한 패키지에 두지 않는다. 한쪽만 쓰는 곳도 다른 쪽의 변경에 영향을 받기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재사용되지 않는</a:t>
            </a:r>
            <a:r>
              <a:rPr sz="18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연동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외부 시스템</a:t>
            </a:r>
            <a:r>
              <a:rPr sz="1800" b="0">
                <a:solidFill>
                  <a:srgbClr val="000000"/>
                </a:solidFill>
                <a:latin typeface="맑은 고딕"/>
                <a:ea typeface="맑은 고딕"/>
              </a:rPr>
              <a:t>과 주고받는 형식은 우리가 통제하지 못한다. 외부마다 </a:t>
            </a:r>
            <a:r>
              <a:rPr sz="1800" b="1">
                <a:solidFill>
                  <a:srgbClr val="000000"/>
                </a:solidFill>
                <a:latin typeface="맑은 고딕"/>
                <a:ea typeface="맑은 고딕"/>
              </a:rPr>
              <a:t>연동 경계</a:t>
            </a:r>
            <a:r>
              <a:rPr sz="1800" b="0">
                <a:solidFill>
                  <a:srgbClr val="000000"/>
                </a:solidFill>
                <a:latin typeface="맑은 고딕"/>
                <a:ea typeface="맑은 고딕"/>
              </a:rPr>
              <a:t>를 따로 둬 그 변경을 가둔다.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통제 밖</a:t>
            </a:r>
            <a:r>
              <a:rPr sz="1800" b="0">
                <a:solidFill>
                  <a:srgbClr val="000000"/>
                </a:solidFill>
                <a:latin typeface="맑은 고딕"/>
                <a:ea typeface="맑은 고딕"/>
              </a:rPr>
              <a:t> —</a:t>
            </a:r>
            <a:r>
              <a:rPr sz="1600" b="0">
                <a:solidFill>
                  <a:srgbClr val="000000"/>
                </a:solidFill>
                <a:latin typeface="맑은 고딕"/>
                <a:ea typeface="맑은 고딕"/>
              </a:rPr>
              <a:t> 결제 대행 계약, 배송사의 통보 형식은 외부의 결정으로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따로 바뀜</a:t>
            </a:r>
            <a:r>
              <a:rPr sz="1800" b="0">
                <a:solidFill>
                  <a:srgbClr val="000000"/>
                </a:solidFill>
                <a:latin typeface="맑은 고딕"/>
                <a:ea typeface="맑은 고딕"/>
              </a:rPr>
              <a:t> —</a:t>
            </a:r>
            <a:r>
              <a:rPr sz="1600" b="0">
                <a:solidFill>
                  <a:srgbClr val="000000"/>
                </a:solidFill>
                <a:latin typeface="맑은 고딕"/>
                <a:ea typeface="맑은 고딕"/>
              </a:rPr>
              <a:t> 결제 시스템과 배송 시스템은 </a:t>
            </a:r>
            <a:r>
              <a:rPr sz="1600" b="1">
                <a:solidFill>
                  <a:srgbClr val="000000"/>
                </a:solidFill>
                <a:latin typeface="맑은 고딕"/>
                <a:ea typeface="맑은 고딕"/>
              </a:rPr>
              <a:t>서로 다른 이유</a:t>
            </a:r>
            <a:r>
              <a:rPr sz="1600" b="0">
                <a:solidFill>
                  <a:srgbClr val="000000"/>
                </a:solidFill>
                <a:latin typeface="맑은 고딕"/>
                <a:ea typeface="맑은 고딕"/>
              </a:rPr>
              <a:t>로 바뀌므로 연동도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업무와 분리</a:t>
            </a:r>
            <a:r>
              <a:rPr sz="1800" b="0">
                <a:solidFill>
                  <a:srgbClr val="000000"/>
                </a:solidFill>
                <a:latin typeface="맑은 고딕"/>
                <a:ea typeface="맑은 고딕"/>
              </a:rPr>
              <a:t> —</a:t>
            </a:r>
            <a:r>
              <a:rPr sz="1600" b="0">
                <a:solidFill>
                  <a:srgbClr val="000000"/>
                </a:solidFill>
                <a:latin typeface="맑은 고딕"/>
                <a:ea typeface="맑은 고딕"/>
              </a:rPr>
              <a:t> 연동이 바뀌어도 주문의 규칙은 바뀌지 않아야 한다.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묶기 절차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"03. 정적 모델 —</a:t>
            </a:r>
            <a:r>
              <a:rPr sz="1600" b="0">
                <a:solidFill>
                  <a:srgbClr val="000000"/>
                </a:solidFill>
                <a:latin typeface="맑은 고딕"/>
                <a:ea typeface="맑은 고딕"/>
              </a:rPr>
              <a:t> 도메인 개념과 관계"의 「48. 도메인 모델 — 패키지별」을 </a:t>
            </a:r>
            <a:r>
              <a:rPr sz="1600" b="1">
                <a:solidFill>
                  <a:srgbClr val="000000"/>
                </a:solidFill>
                <a:latin typeface="맑은 고딕"/>
                <a:ea typeface="맑은 고딕"/>
              </a:rPr>
              <a:t>설계의 기준 순서대로</a:t>
            </a:r>
            <a:r>
              <a:rPr sz="1600" b="0">
                <a:solidFill>
                  <a:srgbClr val="000000"/>
                </a:solidFill>
                <a:latin typeface="맑은 고딕"/>
                <a:ea typeface="맑은 고딕"/>
              </a:rPr>
              <a:t> 다시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합성</a:t>
            </a:r>
            <a:r>
              <a:rPr sz="1800" b="0">
                <a:solidFill>
                  <a:srgbClr val="000000"/>
                </a:solidFill>
                <a:latin typeface="맑은 고딕"/>
                <a:ea typeface="맑은 고딕"/>
              </a:rPr>
              <a:t>으로 묶인 부분을 전체에 붙인다</a:t>
            </a:r>
            <a:r>
              <a:rPr sz="1400" b="0">
                <a:solidFill>
                  <a:srgbClr val="000000"/>
                </a:solidFill>
                <a:latin typeface="맑은 고딕"/>
                <a:ea typeface="맑은 고딕"/>
              </a:rPr>
              <a:t>(주문 항목 → 주문, 장바구니 항목 → 장바구니)</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2. 상태·규칙의 </a:t>
            </a:r>
            <a:r>
              <a:rPr sz="1800" b="1">
                <a:solidFill>
                  <a:srgbClr val="000000"/>
                </a:solidFill>
                <a:latin typeface="맑은 고딕"/>
                <a:ea typeface="맑은 고딕"/>
              </a:rPr>
              <a:t>소유자</a:t>
            </a:r>
            <a:r>
              <a:rPr sz="1800" b="0">
                <a:solidFill>
                  <a:srgbClr val="000000"/>
                </a:solidFill>
                <a:latin typeface="맑은 고딕"/>
                <a:ea typeface="맑은 고딕"/>
              </a:rPr>
              <a:t>에 모은다</a:t>
            </a:r>
            <a:r>
              <a:rPr sz="1400" b="0">
                <a:solidFill>
                  <a:srgbClr val="000000"/>
                </a:solidFill>
                <a:latin typeface="맑은 고딕"/>
                <a:ea typeface="맑은 고딕"/>
              </a:rPr>
              <a:t>(환불 → 결제)</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가 다르면 나눈다</a:t>
            </a:r>
            <a:r>
              <a:rPr sz="1400" b="0">
                <a:solidFill>
                  <a:srgbClr val="000000"/>
                </a:solidFill>
                <a:latin typeface="맑은 고딕"/>
                <a:ea typeface="맑은 고딕"/>
              </a:rPr>
              <a:t>(배송 기록은 주문 규칙과 따로 바뀐다)</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함께 쓰이지 않으면</a:t>
            </a:r>
            <a:r>
              <a:rPr sz="1800" b="0">
                <a:solidFill>
                  <a:srgbClr val="000000"/>
                </a:solidFill>
                <a:latin typeface="맑은 고딕"/>
                <a:ea typeface="맑은 고딕"/>
              </a:rPr>
              <a:t> 나눈다</a:t>
            </a:r>
            <a:r>
              <a:rPr sz="1400" b="0">
                <a:solidFill>
                  <a:srgbClr val="000000"/>
                </a:solidFill>
                <a:latin typeface="맑은 고딕"/>
                <a:ea typeface="맑은 고딕"/>
              </a:rPr>
              <a:t>(장바구니와 결제)</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외부 시스템</a:t>
            </a:r>
            <a:r>
              <a:rPr sz="1800" b="0">
                <a:solidFill>
                  <a:srgbClr val="000000"/>
                </a:solidFill>
                <a:latin typeface="맑은 고딕"/>
                <a:ea typeface="맑은 고딕"/>
              </a:rPr>
              <a:t>마다 연동을 둔다.</a:t>
            </a:r>
          </a:p>
          <a:p>
            <a:pPr lvl="2" marL="607060" indent="-251460">
              <a:spcBef>
                <a:spcPts val="600"/>
              </a:spcBef>
              <a:spcAft>
                <a:spcPts val="600"/>
              </a:spcAft>
              <a:buNone/>
            </a:pPr>
            <a:r>
              <a:rPr sz="1800" b="0">
                <a:solidFill>
                  <a:srgbClr val="000000"/>
                </a:solidFill>
                <a:latin typeface="맑은 고딕"/>
                <a:ea typeface="맑은 고딕"/>
              </a:rPr>
              <a:t>6. 경계를 넘는 연관의 </a:t>
            </a:r>
            <a:r>
              <a:rPr sz="1800" b="1">
                <a:solidFill>
                  <a:srgbClr val="000000"/>
                </a:solidFill>
                <a:latin typeface="맑은 고딕"/>
                <a:ea typeface="맑은 고딕"/>
              </a:rPr>
              <a:t>방향</a:t>
            </a:r>
            <a:r>
              <a:rPr sz="1800" b="0">
                <a:solidFill>
                  <a:srgbClr val="000000"/>
                </a:solidFill>
                <a:latin typeface="맑은 고딕"/>
                <a:ea typeface="맑은 고딕"/>
              </a:rPr>
              <a:t>을 정하고 순환을 검사한다(「21. 주문 시스템 패키지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묶기 절차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사례에서는 분석 패키지가 기준을 통과해 </a:t>
            </a:r>
            <a:r>
              <a:rPr sz="1800" b="1">
                <a:solidFill>
                  <a:srgbClr val="000000"/>
                </a:solidFill>
                <a:latin typeface="맑은 고딕"/>
                <a:ea typeface="맑은 고딕"/>
              </a:rPr>
              <a:t>업무 경계</a:t>
            </a:r>
            <a:r>
              <a:rPr sz="1800" b="0">
                <a:solidFill>
                  <a:srgbClr val="000000"/>
                </a:solidFill>
                <a:latin typeface="맑은 고딕"/>
                <a:ea typeface="맑은 고딕"/>
              </a:rPr>
              <a:t>가 된다. 연동 경계 넷을 더한다.</a:t>
            </a:r>
          </a:p>
        </p:txBody>
      </p:sp>
      <p:pic>
        <p:nvPicPr>
          <p:cNvPr id="9" name="plantuml Diagram 3"/>
          <p:cNvPicPr>
            <a:picLocks noChangeAspect="1"/>
          </p:cNvPicPr>
          <p:nvPr/>
        </p:nvPicPr>
        <p:blipFill>
          <a:blip r:embed="plantumlImage3"/>
          <a:stretch>
            <a:fillRect/>
          </a:stretch>
        </p:blipFill>
        <p:spPr>
          <a:xfrm>
            <a:off x="3458308" y="2093340"/>
            <a:ext cx="2227385" cy="4005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경계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3926" y="1842998"/>
          <a:ext cx="5242560" cy="3873500"/>
        </p:xfrm>
        <a:graphic>
          <a:graphicData uri="http://schemas.openxmlformats.org/drawingml/2006/table">
            <a:tbl>
              <a:tblPr/>
              <a:tblGrid>
                <a:gridCol w="889000"/>
                <a:gridCol w="276352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소유하는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변경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회원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담긴 상품·수량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구매 편의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 항목·주문 상태·취소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시스템이 기억하는 상품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기록과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 주고받는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시스템의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단서와 변경 이유로 주문 시스템의 </a:t>
            </a:r>
            <a:r>
              <a:rPr sz="1800" b="1">
                <a:solidFill>
                  <a:srgbClr val="000000"/>
                </a:solidFill>
                <a:latin typeface="맑은 고딕"/>
                <a:ea typeface="맑은 고딕"/>
              </a:rPr>
              <a:t>경계 후보</a:t>
            </a:r>
            <a:r>
              <a:rPr sz="1800" b="0">
                <a:solidFill>
                  <a:srgbClr val="000000"/>
                </a:solidFill>
                <a:latin typeface="맑은 고딕"/>
                <a:ea typeface="맑은 고딕"/>
              </a:rPr>
              <a:t>를 정리한다. </a:t>
            </a:r>
            <a:r>
              <a:rPr sz="1800" b="1">
                <a:solidFill>
                  <a:srgbClr val="000000"/>
                </a:solidFill>
                <a:latin typeface="맑은 고딕"/>
                <a:ea typeface="맑은 고딕"/>
              </a:rPr>
              <a:t>업무 경계</a:t>
            </a:r>
            <a:r>
              <a:rPr sz="1800" b="0">
                <a:solidFill>
                  <a:srgbClr val="000000"/>
                </a:solidFill>
                <a:latin typeface="맑은 고딕"/>
                <a:ea typeface="맑은 고딕"/>
              </a:rPr>
              <a:t>는 분석 패키지를 따르고, 외부 시스템마다 </a:t>
            </a:r>
            <a:r>
              <a:rPr sz="1800" b="1">
                <a:solidFill>
                  <a:srgbClr val="000000"/>
                </a:solidFill>
                <a:latin typeface="맑은 고딕"/>
                <a:ea typeface="맑은 고딕"/>
              </a:rPr>
              <a:t>연동 경계</a:t>
            </a:r>
            <a:r>
              <a:rPr sz="1800" b="0">
                <a:solidFill>
                  <a:srgbClr val="000000"/>
                </a:solidFill>
                <a:latin typeface="맑은 고딕"/>
                <a:ea typeface="맑은 고딕"/>
              </a:rPr>
              <a:t>를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외부 시스템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네 외부 시스템과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 요청의 종류가 의존의 성격을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동기 요청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동기 요청</a:t>
            </a:r>
            <a:r>
              <a:rPr sz="1800" b="0">
                <a:solidFill>
                  <a:srgbClr val="000000"/>
                </a:solidFill>
                <a:latin typeface="맑은 고딕"/>
                <a:ea typeface="맑은 고딕"/>
              </a:rPr>
              <a:t>은 결과를 기다리는 요청이다. 요청하는 쪽은 받는 쪽의 </a:t>
            </a:r>
            <a:r>
              <a:rPr sz="1800" b="1">
                <a:solidFill>
                  <a:srgbClr val="000000"/>
                </a:solidFill>
                <a:latin typeface="맑은 고딕"/>
                <a:ea typeface="맑은 고딕"/>
              </a:rPr>
              <a:t>약속</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 요청은 결과</a:t>
            </a:r>
            <a:r>
              <a:rPr sz="1400" b="0">
                <a:solidFill>
                  <a:srgbClr val="000000"/>
                </a:solidFill>
                <a:latin typeface="맑은 고딕"/>
                <a:ea typeface="맑은 고딕"/>
              </a:rPr>
              <a:t>(중단됨·이미 출고됨)</a:t>
            </a:r>
            <a:r>
              <a:rPr sz="1800" b="0">
                <a:solidFill>
                  <a:srgbClr val="000000"/>
                </a:solidFill>
                <a:latin typeface="맑은 고딕"/>
                <a:ea typeface="맑은 고딕"/>
              </a:rPr>
              <a:t>를 </a:t>
            </a:r>
            <a:r>
              <a:rPr sz="1800" b="1">
                <a:solidFill>
                  <a:srgbClr val="000000"/>
                </a:solidFill>
                <a:latin typeface="맑은 고딕"/>
                <a:ea typeface="맑은 고딕"/>
              </a:rPr>
              <a:t>받아야</a:t>
            </a:r>
            <a:r>
              <a:rPr sz="1800" b="0">
                <a:solidFill>
                  <a:srgbClr val="000000"/>
                </a:solidFill>
                <a:latin typeface="맑은 고딕"/>
                <a:ea typeface="맑은 고딕"/>
              </a:rPr>
              <a:t> 다음 행동을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이때 주문이 아는 것은 "출고 중단을 요청할 수 있다"는 </a:t>
            </a:r>
            <a:r>
              <a:rPr sz="1800" b="1">
                <a:solidFill>
                  <a:srgbClr val="000000"/>
                </a:solidFill>
                <a:latin typeface="맑은 고딕"/>
                <a:ea typeface="맑은 고딕"/>
              </a:rPr>
              <a:t>약속</a:t>
            </a:r>
            <a:r>
              <a:rPr sz="1800" b="0">
                <a:solidFill>
                  <a:srgbClr val="000000"/>
                </a:solidFill>
                <a:latin typeface="맑은 고딕"/>
                <a:ea typeface="맑은 고딕"/>
              </a:rPr>
              <a:t>이면 충분하다. 배송 시스템의 주소·형식까지 알 필요는 없다.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비동기 통보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비동기 통보</a:t>
            </a:r>
            <a:r>
              <a:rPr sz="1800" b="0">
                <a:solidFill>
                  <a:srgbClr val="000000"/>
                </a:solidFill>
                <a:latin typeface="맑은 고딕"/>
                <a:ea typeface="맑은 고딕"/>
              </a:rPr>
              <a:t>는 외부가 나중에 알려 오는 사건이다. 통보는 </a:t>
            </a:r>
            <a:r>
              <a:rPr sz="1800" b="1">
                <a:solidFill>
                  <a:srgbClr val="000000"/>
                </a:solidFill>
                <a:latin typeface="맑은 고딕"/>
                <a:ea typeface="맑은 고딕"/>
              </a:rPr>
              <a:t>주문 시스템 쪽으로</a:t>
            </a:r>
            <a:r>
              <a:rPr sz="1800" b="0">
                <a:solidFill>
                  <a:srgbClr val="000000"/>
                </a:solidFill>
                <a:latin typeface="맑은 고딕"/>
                <a:ea typeface="맑은 고딕"/>
              </a:rPr>
              <a:t> 들어오지만, 의존 방향은 우리가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주문이 배송 시스템을 알아야 통보를 받을 수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a:t>
            </a:r>
            <a:r>
              <a:rPr sz="1800" b="0">
                <a:solidFill>
                  <a:srgbClr val="000000"/>
                </a:solidFill>
                <a:latin typeface="맑은 고딕"/>
                <a:ea typeface="맑은 고딕"/>
              </a:rPr>
              <a:t> —</a:t>
            </a:r>
            <a:r>
              <a:rPr sz="1600" b="0">
                <a:solidFill>
                  <a:srgbClr val="000000"/>
                </a:solidFill>
                <a:latin typeface="맑은 고딕"/>
                <a:ea typeface="맑은 고딕"/>
              </a:rPr>
              <a:t> 아니다. 주문은 "배송이 시작되었다"는 </a:t>
            </a:r>
            <a:r>
              <a:rPr sz="1600" b="1">
                <a:solidFill>
                  <a:srgbClr val="000000"/>
                </a:solidFill>
                <a:latin typeface="맑은 고딕"/>
                <a:ea typeface="맑은 고딕"/>
              </a:rPr>
              <a:t>자기 사건</a:t>
            </a:r>
            <a:r>
              <a:rPr sz="1600" b="0">
                <a:solidFill>
                  <a:srgbClr val="000000"/>
                </a:solidFill>
                <a:latin typeface="맑은 고딕"/>
                <a:ea typeface="맑은 고딕"/>
              </a:rPr>
              <a:t>만 안다. 배송 시스템의 형식을 읽어 그 사건으로 바꾸는 일은 </a:t>
            </a:r>
            <a:r>
              <a:rPr sz="1600" b="1">
                <a:solidFill>
                  <a:srgbClr val="000000"/>
                </a:solidFill>
                <a:latin typeface="맑은 고딕"/>
                <a:ea typeface="맑은 고딕"/>
              </a:rPr>
              <a:t>연동</a:t>
            </a:r>
            <a:r>
              <a:rPr sz="1600" b="0">
                <a:solidFill>
                  <a:srgbClr val="000000"/>
                </a:solidFill>
                <a:latin typeface="맑은 고딕"/>
                <a:ea typeface="맑은 고딕"/>
              </a:rPr>
              <a:t>이 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경계에서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220472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연동이 옮긴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 상태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PICKING·PACKED 상태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내부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결과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STOP·ACCEPTED 명령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요청과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외부의 이름·형식·상태는 </a:t>
            </a:r>
            <a:r>
              <a:rPr sz="1800" b="1">
                <a:solidFill>
                  <a:srgbClr val="000000"/>
                </a:solidFill>
                <a:latin typeface="맑은 고딕"/>
                <a:ea typeface="맑은 고딕"/>
              </a:rPr>
              <a:t>경계에서 주문 시스템의 의미로 옮긴다</a:t>
            </a:r>
            <a:r>
              <a:rPr sz="1800" b="0">
                <a:solidFill>
                  <a:srgbClr val="000000"/>
                </a:solidFill>
                <a:latin typeface="맑은 고딕"/>
                <a:ea typeface="맑은 고딕"/>
              </a:rPr>
              <a:t>. 옮기지 않으면 외부의 변경이 안으로 번진다.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주문 시스템 패키지 — 초안</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경로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p>
        </p:txBody>
      </p:sp>
      <p:pic>
        <p:nvPicPr>
          <p:cNvPr id="9" name="plantuml Diagram 4"/>
          <p:cNvPicPr>
            <a:picLocks noChangeAspect="1"/>
          </p:cNvPicPr>
          <p:nvPr/>
        </p:nvPicPr>
        <p:blipFill>
          <a:blip r:embed="plantumlImage4"/>
          <a:stretch>
            <a:fillRect/>
          </a:stretch>
        </p:blipFill>
        <p:spPr>
          <a:xfrm>
            <a:off x="2476500" y="3600195"/>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의존 화살표 읽기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delivery</a:t>
            </a:r>
            <a:r>
              <a:rPr sz="1800" b="1">
                <a:solidFill>
                  <a:srgbClr val="000000"/>
                </a:solidFill>
                <a:latin typeface="맑은 고딕"/>
                <a:ea typeface="맑은 고딕"/>
              </a:rPr>
              <a:t> ..&gt; </a:t>
            </a:r>
            <a:r>
              <a:rPr sz="1800" b="1">
                <a:solidFill>
                  <a:srgbClr val="000000"/>
                </a:solidFill>
                <a:latin typeface="맑은 고딕"/>
                <a:ea typeface="맑은 고딕"/>
              </a:rPr>
              <a:t>deliveryadapter</a:t>
            </a:r>
            <a:r>
              <a:rPr sz="1800" b="0">
                <a:solidFill>
                  <a:srgbClr val="000000"/>
                </a:solidFill>
                <a:latin typeface="맑은 고딕"/>
                <a:ea typeface="맑은 고딕"/>
              </a:rPr>
              <a:t> —</a:t>
            </a:r>
            <a:r>
              <a:rPr sz="1600" b="0">
                <a:solidFill>
                  <a:srgbClr val="000000"/>
                </a:solidFill>
                <a:latin typeface="맑은 고딕"/>
                <a:ea typeface="맑은 고딕"/>
              </a:rPr>
              <a:t> 배송 연동이 바뀌면</a:t>
            </a:r>
            <a:r>
              <a:rPr sz="1200" b="0">
                <a:solidFill>
                  <a:srgbClr val="000000"/>
                </a:solidFill>
                <a:latin typeface="맑은 고딕"/>
                <a:ea typeface="맑은 고딕"/>
              </a:rPr>
              <a:t>(배송 대행사 교체)</a:t>
            </a:r>
            <a:r>
              <a:rPr sz="1600" b="0">
                <a:solidFill>
                  <a:srgbClr val="000000"/>
                </a:solidFill>
                <a:latin typeface="맑은 고딕"/>
                <a:ea typeface="맑은 고딕"/>
              </a:rPr>
              <a:t> </a:t>
            </a:r>
            <a:r>
              <a:rPr sz="1600" b="1">
                <a:solidFill>
                  <a:srgbClr val="000000"/>
                </a:solidFill>
                <a:latin typeface="맑은 고딕"/>
                <a:ea typeface="맑은 고딕"/>
              </a:rPr>
              <a:t>배송</a:t>
            </a:r>
            <a:r>
              <a:rPr sz="1600" b="0">
                <a:solidFill>
                  <a:srgbClr val="000000"/>
                </a:solidFill>
                <a:latin typeface="맑은 고딕"/>
                <a:ea typeface="맑은 고딕"/>
              </a:rPr>
              <a:t>이 바뀔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deliveryadapter</a:t>
            </a:r>
            <a:r>
              <a:rPr sz="1800" b="1">
                <a:solidFill>
                  <a:srgbClr val="000000"/>
                </a:solidFill>
                <a:latin typeface="맑은 고딕"/>
                <a:ea typeface="맑은 고딕"/>
              </a:rPr>
              <a:t> ..&gt; </a:t>
            </a: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주문이 바뀌면 배송 연동이 바뀔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초안에서는 외부 형식의 변경이 연동 → 배송 → </a:t>
            </a:r>
            <a:r>
              <a:rPr sz="1800" b="1">
                <a:solidFill>
                  <a:srgbClr val="000000"/>
                </a:solidFill>
                <a:latin typeface="맑은 고딕"/>
                <a:ea typeface="맑은 고딕"/>
              </a:rPr>
              <a:t>주문까지</a:t>
            </a:r>
            <a:r>
              <a:rPr sz="1800" b="0">
                <a:solidFill>
                  <a:srgbClr val="000000"/>
                </a:solidFill>
                <a:latin typeface="맑은 고딕"/>
                <a:ea typeface="맑은 고딕"/>
              </a:rPr>
              <a:t> 번질 수 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경계의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4676" y="1842998"/>
          <a:ext cx="5941060" cy="3873500"/>
        </p:xfrm>
        <a:graphic>
          <a:graphicData uri="http://schemas.openxmlformats.org/drawingml/2006/table">
            <a:tbl>
              <a:tblPr/>
              <a:tblGrid>
                <a:gridCol w="947420"/>
                <a:gridCol w="1673860"/>
                <a:gridCol w="228854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소유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제공하는 약속</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 cancel, 통보 수신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PaymentSystem의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경계마다 </a:t>
            </a:r>
            <a:r>
              <a:rPr sz="1800" b="1">
                <a:solidFill>
                  <a:srgbClr val="000000"/>
                </a:solidFill>
                <a:latin typeface="맑은 고딕"/>
                <a:ea typeface="맑은 고딕"/>
              </a:rPr>
              <a:t>소유하는 것, 제공하는 약속, 의존하는 것</a:t>
            </a:r>
            <a:r>
              <a:rPr sz="1800" b="0">
                <a:solidFill>
                  <a:srgbClr val="000000"/>
                </a:solidFill>
                <a:latin typeface="맑은 고딕"/>
                <a:ea typeface="맑은 고딕"/>
              </a:rPr>
              <a:t>을 적으면 방향을 판단할 근거가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순환 의존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아는 상태다. 순환 안의 요소는 </a:t>
            </a:r>
            <a:r>
              <a:rPr sz="1800" b="1">
                <a:solidFill>
                  <a:srgbClr val="000000"/>
                </a:solidFill>
                <a:latin typeface="맑은 고딕"/>
                <a:ea typeface="맑은 고딕"/>
              </a:rPr>
              <a:t>따로 바꾸거나 따로 시험할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요청의 약속을 누가 소유하는지가 그 화살표다.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요청과 통보의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요청의 약속을 업무 경계가 소유</a:t>
            </a:r>
            <a:r>
              <a:rPr sz="1800" b="0">
                <a:solidFill>
                  <a:srgbClr val="000000"/>
                </a:solidFill>
                <a:latin typeface="맑은 고딕"/>
                <a:ea typeface="맑은 고딕"/>
              </a:rPr>
              <a:t>하면 순환이 끊긴다. 연동은 그 약속을 실현하고, 통보를 주문에 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추상</a:t>
            </a:r>
            <a:r>
              <a:rPr sz="18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800" b="0">
                <a:solidFill>
                  <a:srgbClr val="000000"/>
                </a:solidFill>
                <a:latin typeface="맑은 고딕"/>
                <a:ea typeface="맑은 고딕"/>
              </a:rPr>
              <a:t> —</a:t>
            </a:r>
            <a:r>
              <a:rPr sz="1600" b="0">
                <a:solidFill>
                  <a:srgbClr val="000000"/>
                </a:solidFill>
                <a:latin typeface="맑은 고딕"/>
                <a:ea typeface="맑은 고딕"/>
              </a:rPr>
              <a:t> 배송은 자기 약속 </a:t>
            </a:r>
            <a:r>
              <a:rPr sz="1600" b="1">
                <a:solidFill>
                  <a:srgbClr val="000000"/>
                </a:solidFill>
                <a:latin typeface="맑은 고딕"/>
                <a:ea typeface="맑은 고딕"/>
              </a:rPr>
              <a:t>DeliverySystem</a:t>
            </a:r>
            <a:r>
              <a:rPr sz="1600" b="0">
                <a:solidFill>
                  <a:srgbClr val="000000"/>
                </a:solidFill>
                <a:latin typeface="맑은 고딕"/>
                <a:ea typeface="맑은 고딕"/>
              </a:rPr>
              <a:t>을 부르고, 실현은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800" b="0">
                <a:solidFill>
                  <a:srgbClr val="000000"/>
                </a:solidFill>
                <a:latin typeface="맑은 고딕"/>
                <a:ea typeface="맑은 고딕"/>
              </a:rPr>
              <a:t> —</a:t>
            </a:r>
            <a:r>
              <a:rPr sz="1600" b="0">
                <a:solidFill>
                  <a:srgbClr val="000000"/>
                </a:solidFill>
                <a:latin typeface="맑은 고딕"/>
                <a:ea typeface="맑은 고딕"/>
              </a:rPr>
              <a:t> 배송 연동이 외부 형식을 </a:t>
            </a:r>
            <a:r>
              <a:rPr sz="1600" b="1">
                <a:solidFill>
                  <a:srgbClr val="000000"/>
                </a:solidFill>
                <a:latin typeface="맑은 고딕"/>
                <a:ea typeface="맑은 고딕"/>
              </a:rPr>
              <a:t>배송 시작 통보</a:t>
            </a:r>
            <a:r>
              <a:rPr sz="1600" b="0">
                <a:solidFill>
                  <a:srgbClr val="000000"/>
                </a:solidFill>
                <a:latin typeface="맑은 고딕"/>
                <a:ea typeface="맑은 고딕"/>
              </a:rPr>
              <a:t>로 옮긴다.</a:t>
            </a:r>
          </a:p>
        </p:txBody>
      </p:sp>
      <p:pic>
        <p:nvPicPr>
          <p:cNvPr id="9" name="plantuml Diagram 5"/>
          <p:cNvPicPr>
            <a:picLocks noChangeAspect="1"/>
          </p:cNvPicPr>
          <p:nvPr/>
        </p:nvPicPr>
        <p:blipFill>
          <a:blip r:embed="plantumlImage5"/>
          <a:stretch>
            <a:fillRect/>
          </a:stretch>
        </p:blipFill>
        <p:spPr>
          <a:xfrm>
            <a:off x="1561856" y="3810038"/>
            <a:ext cx="6020288" cy="2178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주문 시스템 패키지 — 상세화</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요청의 약속을 업무 경계가 소유하게 바꾼 </a:t>
            </a:r>
            <a:r>
              <a:rPr sz="1800" b="1">
                <a:solidFill>
                  <a:srgbClr val="000000"/>
                </a:solidFill>
                <a:latin typeface="맑은 고딕"/>
                <a:ea typeface="맑은 고딕"/>
              </a:rPr>
              <a:t>상세화</a:t>
            </a:r>
            <a:r>
              <a:rPr sz="1800" b="0">
                <a:solidFill>
                  <a:srgbClr val="000000"/>
                </a:solidFill>
                <a:latin typeface="맑은 고딕"/>
                <a:ea typeface="맑은 고딕"/>
              </a:rPr>
              <a:t>다. 모든 화살표가 </a:t>
            </a:r>
            <a:r>
              <a:rPr sz="1800" b="1">
                <a:solidFill>
                  <a:srgbClr val="000000"/>
                </a:solidFill>
                <a:latin typeface="맑은 고딕"/>
                <a:ea typeface="맑은 고딕"/>
              </a:rPr>
              <a:t>업무 쪽으로</a:t>
            </a:r>
            <a:r>
              <a:rPr sz="1800" b="0">
                <a:solidFill>
                  <a:srgbClr val="000000"/>
                </a:solidFill>
                <a:latin typeface="맑은 고딕"/>
                <a:ea typeface="맑은 고딕"/>
              </a:rPr>
              <a:t> 향하고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많이 의존받는 결제·배송이 </a:t>
            </a:r>
            <a:r>
              <a:rPr sz="1800" b="1">
                <a:solidFill>
                  <a:srgbClr val="000000"/>
                </a:solidFill>
                <a:latin typeface="맑은 고딕"/>
                <a:ea typeface="맑은 고딕"/>
              </a:rPr>
              <a:t>약속</a:t>
            </a:r>
            <a:r>
              <a:rPr sz="1400" b="1">
                <a:solidFill>
                  <a:srgbClr val="000000"/>
                </a:solidFill>
                <a:latin typeface="맑은 고딕"/>
                <a:ea typeface="맑은 고딕"/>
              </a:rPr>
              <a:t>(인터페이스)</a:t>
            </a:r>
            <a:r>
              <a:rPr sz="1800" b="0">
                <a:solidFill>
                  <a:srgbClr val="000000"/>
                </a:solidFill>
                <a:latin typeface="맑은 고딕"/>
                <a:ea typeface="맑은 고딕"/>
              </a:rPr>
              <a:t>을 소유하고, 실현은 연동이 맡는다.</a:t>
            </a:r>
          </a:p>
        </p:txBody>
      </p:sp>
      <p:pic>
        <p:nvPicPr>
          <p:cNvPr id="9" name="plantuml Diagram 6"/>
          <p:cNvPicPr>
            <a:picLocks noChangeAspect="1"/>
          </p:cNvPicPr>
          <p:nvPr/>
        </p:nvPicPr>
        <p:blipFill>
          <a:blip r:embed="plantumlImage6"/>
          <a:stretch>
            <a:fillRect/>
          </a:stretch>
        </p:blipFill>
        <p:spPr>
          <a:xfrm>
            <a:off x="2706077" y="3462449"/>
            <a:ext cx="3731846"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392124"/>
          <a:ext cx="5130800" cy="3873500"/>
        </p:xfrm>
        <a:graphic>
          <a:graphicData uri="http://schemas.openxmlformats.org/drawingml/2006/table">
            <a:tbl>
              <a:tblPr/>
              <a:tblGrid>
                <a:gridCol w="889000"/>
                <a:gridCol w="1925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REP 재사용·릴리스 등가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CCP 공통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CRP 공통 재사용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ADP 비순환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SDP 안정된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SAP 안정된 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재사용의 단위</a:t>
            </a:r>
            <a:r>
              <a:rPr sz="1800" b="0">
                <a:solidFill>
                  <a:srgbClr val="000000"/>
                </a:solidFill>
                <a:latin typeface="맑은 고딕"/>
                <a:ea typeface="맑은 고딕"/>
              </a:rPr>
              <a:t>는 릴리스의 단위다"</a:t>
            </a:r>
            <a:r>
              <a:rPr sz="1000" b="0">
                <a:solidFill>
                  <a:srgbClr val="000000"/>
                </a:solidFill>
                <a:latin typeface="맑은 고딕"/>
                <a:ea typeface="맑은 고딕"/>
              </a:rPr>
              <a:t>, </a:t>
            </a:r>
            <a:r>
              <a:rPr sz="1000" b="0">
                <a:solidFill>
                  <a:srgbClr val="000000"/>
                </a:solidFill>
                <a:latin typeface="맑은 고딕"/>
                <a:ea typeface="맑은 고딕"/>
              </a:rPr>
              <a:t>"The granule of reuse is the granule of release."</a:t>
            </a:r>
            <a:r>
              <a:rPr sz="1000" b="0">
                <a:solidFill>
                  <a:srgbClr val="000000"/>
                </a:solidFill>
                <a:latin typeface="맑은 고딕"/>
                <a:ea typeface="맑은 고딕"/>
              </a:rPr>
              <a:t>, </a:t>
            </a:r>
            <a:r>
              <a:rPr sz="1000" b="0">
                <a:solidFill>
                  <a:srgbClr val="000000"/>
                </a:solidFill>
                <a:latin typeface="맑은 고딕"/>
                <a:ea typeface="맑은 고딕"/>
              </a:rPr>
              <a:t>Robert C. 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이 세션의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Robert C. Martin, 2017, www</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결합도와 응집도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서로에게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하나의 이유로 모여 있는가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약속뿐이다.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둘은 </a:t>
            </a:r>
            <a:r>
              <a:rPr sz="1800" b="1">
                <a:solidFill>
                  <a:srgbClr val="000000"/>
                </a:solidFill>
                <a:latin typeface="맑은 고딕"/>
                <a:ea typeface="맑은 고딕"/>
              </a:rPr>
              <a:t>함께</a:t>
            </a:r>
            <a:r>
              <a:rPr sz="1800" b="0">
                <a:solidFill>
                  <a:srgbClr val="000000"/>
                </a:solidFill>
                <a:latin typeface="맑은 고딕"/>
                <a:ea typeface="맑은 고딕"/>
              </a:rPr>
              <a:t> 움직인다. 응집이 낮은 경계는 </a:t>
            </a:r>
            <a:r>
              <a:rPr sz="1800" b="1">
                <a:solidFill>
                  <a:srgbClr val="000000"/>
                </a:solidFill>
                <a:latin typeface="맑은 고딕"/>
                <a:ea typeface="맑은 고딕"/>
              </a:rPr>
              <a:t>여러 이유</a:t>
            </a:r>
            <a:r>
              <a:rPr sz="1800" b="0">
                <a:solidFill>
                  <a:srgbClr val="000000"/>
                </a:solidFill>
                <a:latin typeface="맑은 고딕"/>
                <a:ea typeface="맑은 고딕"/>
              </a:rPr>
              <a:t>로 바뀌고, 그 변경이 결합을 따라 번진다.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변경 파급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1842998"/>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변경 시나리오를 하나씩 적용해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 바뀌는 경계가 적을수록 구조가 변경을 잘 가둔다.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방향에 따른 파급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1842998"/>
          <a:ext cx="5549900" cy="3873500"/>
        </p:xfrm>
        <a:graphic>
          <a:graphicData uri="http://schemas.openxmlformats.org/drawingml/2006/table">
            <a:tbl>
              <a:tblPr/>
              <a:tblGrid>
                <a:gridCol w="889000"/>
                <a:gridCol w="28194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배송 연동이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확인할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바뀌고, 순환을 따라 주문까지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배송,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상세화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안에서 끝난다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변경도 </a:t>
            </a:r>
            <a:r>
              <a:rPr sz="1800" b="1">
                <a:solidFill>
                  <a:srgbClr val="000000"/>
                </a:solidFill>
                <a:latin typeface="맑은 고딕"/>
                <a:ea typeface="맑은 고딕"/>
              </a:rPr>
              <a:t>의존 방향</a:t>
            </a:r>
            <a:r>
              <a:rPr sz="1800" b="0">
                <a:solidFill>
                  <a:srgbClr val="000000"/>
                </a:solidFill>
                <a:latin typeface="맑은 고딕"/>
                <a:ea typeface="맑은 고딕"/>
              </a:rPr>
              <a:t>에 따라 번지는 범위가 다르다. 배송 대행사를 바꾸는 경우를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약속의 소유</a:t>
            </a:r>
            <a:r>
              <a:rPr sz="1800" b="0">
                <a:solidFill>
                  <a:srgbClr val="000000"/>
                </a:solidFill>
                <a:latin typeface="맑은 고딕"/>
                <a:ea typeface="맑은 고딕"/>
              </a:rPr>
              <a:t> —</a:t>
            </a:r>
            <a:r>
              <a:rPr sz="1600" b="0">
                <a:solidFill>
                  <a:srgbClr val="000000"/>
                </a:solidFill>
                <a:latin typeface="맑은 고딕"/>
                <a:ea typeface="맑은 고딕"/>
              </a:rPr>
              <a:t> 외부에 대한 요청의 약속은 </a:t>
            </a:r>
            <a:r>
              <a:rPr sz="1600" b="1">
                <a:solidFill>
                  <a:srgbClr val="000000"/>
                </a:solidFill>
                <a:latin typeface="맑은 고딕"/>
                <a:ea typeface="맑은 고딕"/>
              </a:rPr>
              <a:t>업무 경계</a:t>
            </a:r>
            <a:r>
              <a:rPr sz="1600" b="0">
                <a:solidFill>
                  <a:srgbClr val="000000"/>
                </a:solidFill>
                <a:latin typeface="맑은 고딕"/>
                <a:ea typeface="맑은 고딕"/>
              </a:rPr>
              <a:t>가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제약의 검증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5355" y="1842998"/>
          <a:ext cx="5219700" cy="3873500"/>
        </p:xfrm>
        <a:graphic>
          <a:graphicData uri="http://schemas.openxmlformats.org/drawingml/2006/table">
            <a:tbl>
              <a:tblPr/>
              <a:tblGrid>
                <a:gridCol w="1310640"/>
                <a:gridCol w="3909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 리뷰, 업무 패키지의 import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인터페이스가 업무 패키지에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코드 문자열이 연동 밖에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바꾸는 메서드가 주문에만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제약은 </a:t>
            </a:r>
            <a:r>
              <a:rPr sz="1800" b="1">
                <a:solidFill>
                  <a:srgbClr val="000000"/>
                </a:solidFill>
                <a:latin typeface="맑은 고딕"/>
                <a:ea typeface="맑은 고딕"/>
              </a:rPr>
              <a:t>리뷰와 코드</a:t>
            </a:r>
            <a:r>
              <a:rPr sz="1800" b="0">
                <a:solidFill>
                  <a:srgbClr val="000000"/>
                </a:solidFill>
                <a:latin typeface="맑은 고딕"/>
                <a:ea typeface="맑은 고딕"/>
              </a:rPr>
              <a:t>로 확인한다. 말로만 두면 코드가 자라며 어긋난다.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기술 계층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3035" y="1842998"/>
          <a:ext cx="6784340" cy="3873500"/>
        </p:xfrm>
        <a:graphic>
          <a:graphicData uri="http://schemas.openxmlformats.org/drawingml/2006/table">
            <a:tbl>
              <a:tblPr/>
              <a:tblGrid>
                <a:gridCol w="396494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controller·service·repository 패키지가 첫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변경 이유로 먼저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규칙이 서비스·저장소에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규칙은 주문 경계 안에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 간 의존만 보고 업무 간 의존은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 사이의 방향을 먼저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 같은 기술 계층으로 먼저 나누면, 업무 규칙 하나의 변경이 </a:t>
            </a:r>
            <a:r>
              <a:rPr sz="1800" b="1">
                <a:solidFill>
                  <a:srgbClr val="000000"/>
                </a:solidFill>
                <a:latin typeface="맑은 고딕"/>
                <a:ea typeface="맑은 고딕"/>
              </a:rPr>
              <a:t>모든 계층</a:t>
            </a:r>
            <a:r>
              <a:rPr sz="1800" b="0">
                <a:solidFill>
                  <a:srgbClr val="000000"/>
                </a:solidFill>
                <a:latin typeface="맑은 고딕"/>
                <a:ea typeface="맑은 고딕"/>
              </a:rPr>
              <a:t>에 번진다.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공용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6" y="1842998"/>
          <a:ext cx="6449060" cy="3873500"/>
        </p:xfrm>
        <a:graphic>
          <a:graphicData uri="http://schemas.openxmlformats.org/drawingml/2006/table">
            <a:tbl>
              <a:tblPr/>
              <a:tblGrid>
                <a:gridCol w="30429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금액·주소·상태 코드를 common에 모은다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의미를 소유한 경계에 둔다(금액은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순환을 끊으려고 공용 패키지를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약속의 소유자를 바꿔 방향을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common·util·shared</a:t>
            </a:r>
            <a:r>
              <a:rPr sz="1800" b="0">
                <a:solidFill>
                  <a:srgbClr val="000000"/>
                </a:solidFill>
                <a:latin typeface="맑은 고딕"/>
                <a:ea typeface="맑은 고딕"/>
              </a:rPr>
              <a:t> 같은 공용 패키지는 모두가 의존하는 곳이 되고, 서로 다른 이유로 바뀌는 것이 모여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외부 모델 누수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318262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상태에 PICKING·PACKED를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상태는 주문의 사건으로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주문이 IN_TRANSIT 문자열을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 통보로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응답 객체를 주문이 필드로 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경계의 기록으로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38. 패키지와 코드</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03187"/>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경계가 소유하는 요청 약속.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DeliverySystem</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약속은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46861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delivery.DeliverySystem;</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옮긴다.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DeliverySystem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pic>
        <p:nvPicPr>
          <p:cNvPr id="34" name="plantuml Diagram 7"/>
          <p:cNvPicPr>
            <a:picLocks noChangeAspect="1"/>
          </p:cNvPicPr>
          <p:nvPr/>
        </p:nvPicPr>
        <p:blipFill>
          <a:blip r:embed="plantumlImage7"/>
          <a:stretch>
            <a:fillRect/>
          </a:stretch>
        </p:blipFill>
        <p:spPr>
          <a:xfrm>
            <a:off x="3175000" y="1842998"/>
            <a:ext cx="2794000"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39. 의존 방향과 테스트</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3687"/>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PaymentSystem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DeliverySystem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 경계가 약속을 소유하면, 연동 없이 </a:t>
            </a:r>
            <a:r>
              <a:rPr sz="1800" b="1">
                <a:solidFill>
                  <a:srgbClr val="000000"/>
                </a:solidFill>
                <a:latin typeface="맑은 고딕"/>
                <a:ea typeface="맑은 고딕"/>
              </a:rPr>
              <a:t>가짜 약속</a:t>
            </a:r>
            <a:r>
              <a:rPr sz="1800" b="0">
                <a:solidFill>
                  <a:srgbClr val="000000"/>
                </a:solidFill>
                <a:latin typeface="맑은 고딕"/>
                <a:ea typeface="맑은 고딕"/>
              </a:rPr>
              <a:t>으로 주문 규칙을 시험할 수 있다.</a:t>
            </a:r>
          </a:p>
        </p:txBody>
      </p:sp>
      <p:pic>
        <p:nvPicPr>
          <p:cNvPr id="33" name="plantuml Diagram 8"/>
          <p:cNvPicPr>
            <a:picLocks noChangeAspect="1"/>
          </p:cNvPicPr>
          <p:nvPr/>
        </p:nvPicPr>
        <p:blipFill>
          <a:blip r:embed="plantumlImage8"/>
          <a:stretch>
            <a:fillRect/>
          </a:stretch>
        </p:blipFill>
        <p:spPr>
          <a:xfrm>
            <a:off x="3283683" y="1842998"/>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40. 옮기기 코드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083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옮기지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연동은 외부의 상태 코드를 읽어 </a:t>
            </a:r>
            <a:r>
              <a:rPr sz="1800" b="1">
                <a:solidFill>
                  <a:srgbClr val="000000"/>
                </a:solidFill>
                <a:latin typeface="맑은 고딕"/>
                <a:ea typeface="맑은 고딕"/>
              </a:rPr>
              <a:t>주문의 사건</a:t>
            </a:r>
            <a:r>
              <a:rPr sz="1800" b="0">
                <a:solidFill>
                  <a:srgbClr val="000000"/>
                </a:solidFill>
                <a:latin typeface="맑은 고딕"/>
                <a:ea typeface="맑은 고딕"/>
              </a:rPr>
              <a:t>으로 옮기고, 배송 시스템의 내부 상태는 옮기지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508669"/>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adapter.receiveNotice("PICKING", shipped);</a:t>
            </a:r>
          </a:p>
          <a:p>
            <a:pPr marL="0" indent="0" algn="l">
              <a:lnSpc>
                <a:spcPts val="1150"/>
              </a:lnSpc>
              <a:spcBef>
                <a:spcPts val="0"/>
              </a:spcBef>
              <a:spcAft>
                <a:spcPts val="0"/>
              </a:spcAft>
              <a:buNone/>
            </a:pPr>
            <a:r>
              <a:rPr sz="1000" b="0">
                <a:solidFill>
                  <a:srgbClr val="000000"/>
                </a:solidFill>
                <a:latin typeface="Consolas"/>
                <a:ea typeface="맑은 고딕"/>
              </a:rPr>
              <a:t>        check(shipped.status() == OrderStatus.PAID);</a:t>
            </a:r>
          </a:p>
          <a:p>
            <a:pPr marL="0" indent="0" algn="l">
              <a:lnSpc>
                <a:spcPts val="1150"/>
              </a:lnSpc>
              <a:spcBef>
                <a:spcPts val="0"/>
              </a:spcBef>
              <a:spcAft>
                <a:spcPts val="0"/>
              </a:spcAft>
              <a:buNone/>
            </a:pPr>
            <a:r>
              <a:rPr sz="1000" b="0">
                <a:solidFill>
                  <a:srgbClr val="000000"/>
                </a:solidFill>
                <a:latin typeface="Consolas"/>
                <a:ea typeface="맑은 고딕"/>
              </a:rPr>
              <a:t>        adapter.receiveNotice("IN_TRANSIT", shipped);</a:t>
            </a:r>
          </a:p>
          <a:p>
            <a:pPr marL="0" indent="0" algn="l">
              <a:lnSpc>
                <a:spcPts val="1150"/>
              </a:lnSpc>
              <a:spcBef>
                <a:spcPts val="0"/>
              </a:spcBef>
              <a:spcAft>
                <a:spcPts val="0"/>
              </a:spcAft>
              <a:buNone/>
            </a:pPr>
            <a:r>
              <a:rPr sz="1000" b="0">
                <a:solidFill>
                  <a:srgbClr val="000000"/>
                </a:solidFill>
                <a:latin typeface="Consolas"/>
                <a:ea typeface="맑은 고딕"/>
              </a:rPr>
              <a:t>        check(shipped.status() == OrderStatus.IN_DELIVERY);</a:t>
            </a:r>
          </a:p>
        </p:txBody>
      </p:sp>
      <p:pic>
        <p:nvPicPr>
          <p:cNvPr id="34" name="plantuml Diagram 9"/>
          <p:cNvPicPr>
            <a:picLocks noChangeAspect="1"/>
          </p:cNvPicPr>
          <p:nvPr/>
        </p:nvPicPr>
        <p:blipFill>
          <a:blip r:embed="plantumlImage9"/>
          <a:stretch>
            <a:fillRect/>
          </a:stretch>
        </p:blipFill>
        <p:spPr>
          <a:xfrm>
            <a:off x="2443529" y="1842998"/>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약속과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약속이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실습 — 경계와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묶는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약속의 소유</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패키지 다이어그램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묶었다. 장바구니가 정기배송을 만들고 정기배송이 고객을 알아서 </a:t>
            </a:r>
            <a:r>
              <a:rPr sz="1400" b="1">
                <a:solidFill>
                  <a:srgbClr val="000000"/>
                </a:solidFill>
                <a:latin typeface="맑은 고딕"/>
                <a:ea typeface="맑은 고딕"/>
              </a:rPr>
              <a:t>고객 ↔ 정기배송</a:t>
            </a:r>
            <a:r>
              <a:rPr sz="1400" b="0">
                <a:solidFill>
                  <a:srgbClr val="000000"/>
                </a:solidFill>
                <a:latin typeface="맑은 고딕"/>
                <a:ea typeface="맑은 고딕"/>
              </a:rPr>
              <a:t>에 순환이 생긴다.</a:t>
            </a:r>
          </a:p>
        </p:txBody>
      </p:sp>
      <p:pic>
        <p:nvPicPr>
          <p:cNvPr id="9" name="plantuml Diagram 10"/>
          <p:cNvPicPr>
            <a:picLocks noChangeAspect="1"/>
          </p:cNvPicPr>
          <p:nvPr/>
        </p:nvPicPr>
        <p:blipFill>
          <a:blip r:embed="plantumlImage10"/>
          <a:stretch>
            <a:fillRect/>
          </a:stretch>
        </p:blipFill>
        <p:spPr>
          <a:xfrm>
            <a:off x="831362" y="3543362"/>
            <a:ext cx="7481277" cy="889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패키지 다이어그램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장바구니를 정기배송으로 옮겨 </a:t>
            </a:r>
            <a:r>
              <a:rPr sz="1400" b="1">
                <a:solidFill>
                  <a:srgbClr val="000000"/>
                </a:solidFill>
                <a:latin typeface="맑은 고딕"/>
                <a:ea typeface="맑은 고딕"/>
              </a:rPr>
              <a:t>순환을 끊고</a:t>
            </a:r>
            <a:r>
              <a:rPr sz="1400" b="0">
                <a:solidFill>
                  <a:srgbClr val="000000"/>
                </a:solidFill>
                <a:latin typeface="맑은 고딕"/>
                <a:ea typeface="맑은 고딕"/>
              </a:rPr>
              <a:t>, 외부 연동을 </a:t>
            </a:r>
            <a:r>
              <a:rPr sz="1400" b="1">
                <a:solidFill>
                  <a:srgbClr val="000000"/>
                </a:solidFill>
                <a:latin typeface="맑은 고딕"/>
                <a:ea typeface="맑은 고딕"/>
              </a:rPr>
              <a:t>연동 패키지</a:t>
            </a:r>
            <a:r>
              <a:rPr sz="1400" b="0">
                <a:solidFill>
                  <a:srgbClr val="000000"/>
                </a:solidFill>
                <a:latin typeface="맑은 고딕"/>
                <a:ea typeface="맑은 고딕"/>
              </a:rPr>
              <a:t>로 분리했다. 요청의 약속은 </a:t>
            </a:r>
            <a:r>
              <a:rPr sz="1400" b="1">
                <a:solidFill>
                  <a:srgbClr val="000000"/>
                </a:solidFill>
                <a:latin typeface="맑은 고딕"/>
                <a:ea typeface="맑은 고딕"/>
              </a:rPr>
              <a:t>업무 패키지</a:t>
            </a:r>
            <a:r>
              <a:rPr sz="1400" b="0">
                <a:solidFill>
                  <a:srgbClr val="000000"/>
                </a:solidFill>
                <a:latin typeface="맑은 고딕"/>
                <a:ea typeface="맑은 고딕"/>
              </a:rPr>
              <a:t>가 갖는다.</a:t>
            </a:r>
          </a:p>
        </p:txBody>
      </p:sp>
      <p:pic>
        <p:nvPicPr>
          <p:cNvPr id="9" name="plantuml Diagram 11"/>
          <p:cNvPicPr>
            <a:picLocks noChangeAspect="1"/>
          </p:cNvPicPr>
          <p:nvPr/>
        </p:nvPicPr>
        <p:blipFill>
          <a:blip r:embed="plantumlImage11"/>
          <a:stretch>
            <a:fillRect/>
          </a:stretch>
        </p:blipFill>
        <p:spPr>
          <a:xfrm>
            <a:off x="898037" y="2927900"/>
            <a:ext cx="7347927" cy="2119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구조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연관 방향</a:t>
            </a:r>
            <a:r>
              <a:rPr sz="1200" b="0">
                <a:solidFill>
                  <a:srgbClr val="000000"/>
                </a:solidFill>
                <a:latin typeface="맑은 고딕"/>
                <a:ea typeface="맑은 고딕"/>
              </a:rPr>
              <a:t> —</a:t>
            </a:r>
            <a:r>
              <a:rPr sz="1000" b="0">
                <a:solidFill>
                  <a:srgbClr val="000000"/>
                </a:solidFill>
                <a:latin typeface="맑은 고딕"/>
                <a:ea typeface="맑은 고딕"/>
              </a:rPr>
              <a:t> 고객–정기배송 연관은 </a:t>
            </a:r>
            <a:r>
              <a:rPr sz="1000" b="1">
                <a:solidFill>
                  <a:srgbClr val="000000"/>
                </a:solidFill>
                <a:latin typeface="맑은 고딕"/>
                <a:ea typeface="맑은 고딕"/>
              </a:rPr>
              <a:t>정기배송 → 고객</a:t>
            </a:r>
            <a:r>
              <a:rPr sz="1000" b="0">
                <a:solidFill>
                  <a:srgbClr val="000000"/>
                </a:solidFill>
                <a:latin typeface="맑은 고딕"/>
                <a:ea typeface="맑은 고딕"/>
              </a:rPr>
              <a:t> 한 방향이다. 고객은 정기배송 목록을 직접 갖지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장바구니 소속</a:t>
            </a:r>
            <a:r>
              <a:rPr sz="1200" b="0">
                <a:solidFill>
                  <a:srgbClr val="000000"/>
                </a:solidFill>
                <a:latin typeface="맑은 고딕"/>
                <a:ea typeface="맑은 고딕"/>
              </a:rPr>
              <a:t> —</a:t>
            </a:r>
            <a:r>
              <a:rPr sz="1000" b="0">
                <a:solidFill>
                  <a:srgbClr val="000000"/>
                </a:solidFill>
                <a:latin typeface="맑은 고딕"/>
                <a:ea typeface="맑은 고딕"/>
              </a:rPr>
              <a:t> 장바구니는 고객이 아닌 </a:t>
            </a:r>
            <a:r>
              <a:rPr sz="1000" b="1">
                <a:solidFill>
                  <a:srgbClr val="000000"/>
                </a:solidFill>
                <a:latin typeface="맑은 고딕"/>
                <a:ea typeface="맑은 고딕"/>
              </a:rPr>
              <a:t>정기배송 신청</a:t>
            </a:r>
            <a:r>
              <a:rPr sz="1000" b="0">
                <a:solidFill>
                  <a:srgbClr val="000000"/>
                </a:solidFill>
                <a:latin typeface="맑은 고딕"/>
                <a:ea typeface="맑은 고딕"/>
              </a:rPr>
              <a:t>의 개념이다.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요청</a:t>
            </a:r>
            <a:r>
              <a:rPr sz="1200" b="0">
                <a:solidFill>
                  <a:srgbClr val="000000"/>
                </a:solidFill>
                <a:latin typeface="맑은 고딕"/>
                <a:ea typeface="맑은 고딕"/>
              </a:rPr>
              <a:t> —</a:t>
            </a:r>
            <a:r>
              <a:rPr sz="1000" b="0">
                <a:solidFill>
                  <a:srgbClr val="000000"/>
                </a:solidFill>
                <a:latin typeface="맑은 고딕"/>
                <a:ea typeface="맑은 고딕"/>
              </a:rPr>
              <a:t> 결제·배송 요청은 업무 패키지의 </a:t>
            </a:r>
            <a:r>
              <a:rPr sz="1000" b="1">
                <a:solidFill>
                  <a:srgbClr val="000000"/>
                </a:solidFill>
                <a:latin typeface="맑은 고딕"/>
                <a:ea typeface="맑은 고딕"/>
              </a:rPr>
              <a:t>인터페이스</a:t>
            </a:r>
            <a:r>
              <a:rPr sz="1000" b="0">
                <a:solidFill>
                  <a:srgbClr val="000000"/>
                </a:solidFill>
                <a:latin typeface="맑은 고딕"/>
                <a:ea typeface="맑은 고딕"/>
              </a:rPr>
              <a:t>(</a:t>
            </a:r>
            <a:r>
              <a:rPr sz="1000" b="0">
                <a:solidFill>
                  <a:srgbClr val="000000"/>
                </a:solidFill>
                <a:latin typeface="맑은 고딕"/>
                <a:ea typeface="맑은 고딕"/>
              </a:rPr>
              <a:t>PaymentSystem</a:t>
            </a:r>
            <a:r>
              <a:rPr sz="1000" b="0">
                <a:solidFill>
                  <a:srgbClr val="000000"/>
                </a:solidFill>
                <a:latin typeface="맑은 고딕"/>
                <a:ea typeface="맑은 고딕"/>
              </a:rPr>
              <a:t>·</a:t>
            </a:r>
            <a:r>
              <a:rPr sz="1000" b="0">
                <a:solidFill>
                  <a:srgbClr val="000000"/>
                </a:solidFill>
                <a:latin typeface="맑은 고딕"/>
                <a:ea typeface="맑은 고딕"/>
              </a:rPr>
              <a:t>DeliverySystem</a:t>
            </a:r>
            <a:r>
              <a:rPr sz="1000" b="0">
                <a:solidFill>
                  <a:srgbClr val="000000"/>
                </a:solidFill>
                <a:latin typeface="맑은 고딕"/>
                <a:ea typeface="맑은 고딕"/>
              </a:rPr>
              <a:t>)로 보낸다.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연관 방향, 장바구니 소속, 요청 인터페이스. 객체 설계와 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시퀀스 다이어그램의 외부 참여자 표기.</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a:t>
            </a:r>
            <a:r>
              <a:rPr sz="1600" b="0">
                <a:solidFill>
                  <a:srgbClr val="000000"/>
                </a:solidFill>
                <a:latin typeface="맑은 고딕"/>
                <a:ea typeface="맑은 고딕"/>
              </a:rPr>
              <a:t> —</a:t>
            </a:r>
            <a:r>
              <a:rPr sz="1400" b="0">
                <a:solidFill>
                  <a:srgbClr val="000000"/>
                </a:solidFill>
                <a:latin typeface="맑은 고딕"/>
                <a:ea typeface="맑은 고딕"/>
              </a:rPr>
              <a:t> 함께 바뀌는 상태와 규칙의 묶음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묶는 기준</a:t>
            </a:r>
            <a:r>
              <a:rPr sz="1600" b="0">
                <a:solidFill>
                  <a:srgbClr val="000000"/>
                </a:solidFill>
                <a:latin typeface="맑은 고딕"/>
                <a:ea typeface="맑은 고딕"/>
              </a:rPr>
              <a:t> —</a:t>
            </a:r>
            <a:r>
              <a:rPr sz="1400" b="0">
                <a:solidFill>
                  <a:srgbClr val="000000"/>
                </a:solidFill>
                <a:latin typeface="맑은 고딕"/>
                <a:ea typeface="맑은 고딕"/>
              </a:rPr>
              <a:t> 합성·소유·변경 이유·함께 쓰임·외부 통제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a:t>
            </a:r>
            <a:r>
              <a:rPr sz="1600" b="0">
                <a:solidFill>
                  <a:srgbClr val="000000"/>
                </a:solidFill>
                <a:latin typeface="맑은 고딕"/>
                <a:ea typeface="맑은 고딕"/>
              </a:rPr>
              <a:t> —</a:t>
            </a:r>
            <a:r>
              <a:rPr sz="1400" b="0">
                <a:solidFill>
                  <a:srgbClr val="000000"/>
                </a:solidFill>
                <a:latin typeface="맑은 고딕"/>
                <a:ea typeface="맑은 고딕"/>
              </a:rPr>
              <a:t> 쓰는 쪽 → 쓰이는 쪽. 변경은 반대 방향으로 번진다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방향</a:t>
            </a:r>
            <a:r>
              <a:rPr sz="1600" b="0">
                <a:solidFill>
                  <a:srgbClr val="000000"/>
                </a:solidFill>
                <a:latin typeface="맑은 고딕"/>
                <a:ea typeface="맑은 고딕"/>
              </a:rPr>
              <a:t> —</a:t>
            </a:r>
            <a:r>
              <a:rPr sz="1400" b="0">
                <a:solidFill>
                  <a:srgbClr val="000000"/>
                </a:solidFill>
                <a:latin typeface="맑은 고딕"/>
                <a:ea typeface="맑은 고딕"/>
              </a:rPr>
              <a:t> 덜 바뀌는 업무 쪽으로. 약속은 업무 경계가 소유하고 연동이 통보를 옮긴다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패키지 원칙</a:t>
            </a:r>
            <a:r>
              <a:rPr sz="1600" b="0">
                <a:solidFill>
                  <a:srgbClr val="000000"/>
                </a:solidFill>
                <a:latin typeface="맑은 고딕"/>
                <a:ea typeface="맑은 고딕"/>
              </a:rPr>
              <a:t> —</a:t>
            </a:r>
            <a:r>
              <a:rPr sz="1400" b="0">
                <a:solidFill>
                  <a:srgbClr val="000000"/>
                </a:solidFill>
                <a:latin typeface="맑은 고딕"/>
                <a:ea typeface="맑은 고딕"/>
              </a:rPr>
              <a:t> 응집</a:t>
            </a:r>
            <a:r>
              <a:rPr sz="1000" b="0">
                <a:solidFill>
                  <a:srgbClr val="000000"/>
                </a:solidFill>
                <a:latin typeface="맑은 고딕"/>
                <a:ea typeface="맑은 고딕"/>
              </a:rPr>
              <a:t>(REP·CCP·CRP)</a:t>
            </a:r>
            <a:r>
              <a:rPr sz="1400" b="0">
                <a:solidFill>
                  <a:srgbClr val="000000"/>
                </a:solidFill>
                <a:latin typeface="맑은 고딕"/>
                <a:ea typeface="맑은 고딕"/>
              </a:rPr>
              <a:t>과 결합</a:t>
            </a:r>
            <a:r>
              <a:rPr sz="1000" b="0">
                <a:solidFill>
                  <a:srgbClr val="000000"/>
                </a:solidFill>
                <a:latin typeface="맑은 고딕"/>
                <a:ea typeface="맑은 고딕"/>
              </a:rPr>
              <a:t>(ADP·SDP·SAP)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설계의 이름</a:t>
            </a:r>
            <a:r>
              <a:rPr sz="1600" b="0">
                <a:solidFill>
                  <a:srgbClr val="000000"/>
                </a:solidFill>
                <a:latin typeface="맑은 고딕"/>
                <a:ea typeface="맑은 고딕"/>
              </a:rPr>
              <a:t> —</a:t>
            </a:r>
            <a:r>
              <a:rPr sz="1400" b="0">
                <a:solidFill>
                  <a:srgbClr val="000000"/>
                </a:solidFill>
                <a:latin typeface="맑은 고딕"/>
                <a:ea typeface="맑은 고딕"/>
              </a:rPr>
              <a:t> 분석은 한글 용어, 설계는 용어집의 영문명과 명명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제약</a:t>
            </a:r>
            <a:r>
              <a:rPr sz="1600" b="0">
                <a:solidFill>
                  <a:srgbClr val="000000"/>
                </a:solidFill>
                <a:latin typeface="맑은 고딕"/>
                <a:ea typeface="맑은 고딕"/>
              </a:rPr>
              <a:t> —</a:t>
            </a:r>
            <a:r>
              <a:rPr sz="1400" b="0">
                <a:solidFill>
                  <a:srgbClr val="000000"/>
                </a:solidFill>
                <a:latin typeface="맑은 고딕"/>
                <a:ea typeface="맑은 고딕"/>
              </a:rPr>
              <a:t> 객체 설계 전에 명시하고 코드·테스트·변경 시나리오로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06. 분석 모델에서 설계 모델로</a:t>
            </a:r>
            <a:r>
              <a:rPr sz="1600" b="0">
                <a:solidFill>
                  <a:srgbClr val="000000"/>
                </a:solidFill>
                <a:latin typeface="맑은 고딕"/>
                <a:ea typeface="맑은 고딕"/>
              </a:rPr>
              <a:t>" —</a:t>
            </a:r>
            <a:r>
              <a:rPr sz="1400" b="0">
                <a:solidFill>
                  <a:srgbClr val="000000"/>
                </a:solidFill>
                <a:latin typeface="맑은 고딕"/>
                <a:ea typeface="맑은 고딕"/>
              </a:rPr>
              <a:t> 분석 개념을 기계적으로 변환하지 않고 의미를 보존하며 설계 모델로 전환한다.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49</Slides>
  <Notes>46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49</vt:i4>
      </vt:variant>
    </vt:vector>
  </HeadingPairs>
  <TitlesOfParts>
    <vt:vector size="53" baseType="lpstr">
      <vt:lpstr>맑은 고딕</vt:lpstr>
      <vt:lpstr>Arial</vt:lpstr>
      <vt:lpstr>Wingdings</vt:lpstr>
      <vt:lpstr>4_Office 테마</vt:lpstr>
      <vt:lpstr>05. 구조적 경계와 의존성 목차 (1/2)</vt:lpstr>
      <vt:lpstr>05. 구조적 경계와 의존성 목차 (2/2)</vt:lpstr>
      <vt:lpstr>01. 세션 목표</vt:lpstr>
      <vt:lpstr>02. 분석에서 구조로</vt:lpstr>
      <vt:lpstr>03. 클래스에서 패키지로 패키지 다이어그램</vt:lpstr>
      <vt:lpstr>04. 구조적 경계</vt:lpstr>
      <vt:lpstr>05. 의존성</vt:lpstr>
      <vt:lpstr>06. 경계와 의존의 결정</vt:lpstr>
      <vt:lpstr>07. 설계의 이름</vt:lpstr>
      <vt:lpstr>08. 패키지 다이어그램</vt:lpstr>
      <vt:lpstr>09. 묶는 기준</vt:lpstr>
      <vt:lpstr>10. 합성과 불변 조건</vt:lpstr>
      <vt:lpstr>11. 규칙과 상태의 소유</vt:lpstr>
      <vt:lpstr>12. 변경 이유</vt:lpstr>
      <vt:lpstr>13. 함께 쓰임</vt:lpstr>
      <vt:lpstr>14. 연동 분리</vt:lpstr>
      <vt:lpstr>15. 묶기 절차 (1/2) 패키지 다이어그램</vt:lpstr>
      <vt:lpstr>15. 묶기 절차 (2/2) 패키지 다이어그램</vt:lpstr>
      <vt:lpstr>16. 경계 후보</vt:lpstr>
      <vt:lpstr>17. 외부 시스템 의존</vt:lpstr>
      <vt:lpstr>18. 동기 요청</vt:lpstr>
      <vt:lpstr>19. 비동기 통보</vt:lpstr>
      <vt:lpstr>20. 경계에서 옮기기</vt:lpstr>
      <vt:lpstr>21. 주문 시스템 패키지 — 초안 패키지 다이어그램</vt:lpstr>
      <vt:lpstr>22. 의존 화살표 읽기</vt:lpstr>
      <vt:lpstr>23. 경계의 책임</vt:lpstr>
      <vt:lpstr>24. 의존 방향</vt:lpstr>
      <vt:lpstr>25. 순환 의존</vt:lpstr>
      <vt:lpstr>26. 요청과 통보의 방향</vt:lpstr>
      <vt:lpstr>27. 주문 시스템 패키지 — 상세화 패키지 다이어그램</vt:lpstr>
      <vt:lpstr>28. 패키지 원칙</vt:lpstr>
      <vt:lpstr>29. 구조의 진화</vt:lpstr>
      <vt:lpstr>30. 결합도와 응집도</vt:lpstr>
      <vt:lpstr>31. 변경 파급</vt:lpstr>
      <vt:lpstr>32. 방향에 따른 파급</vt:lpstr>
      <vt:lpstr>33. 구조적 제약</vt:lpstr>
      <vt:lpstr>34. 제약의 검증</vt:lpstr>
      <vt:lpstr>35. 잘못된 관행 — 기술 계층 분할</vt:lpstr>
      <vt:lpstr>36. 잘못된 관행 — 공용 패키지</vt:lpstr>
      <vt:lpstr>37. 잘못된 관행 — 외부 모델 누수</vt:lpstr>
      <vt:lpstr>38. 패키지와 코드 패키지 다이어그램</vt:lpstr>
      <vt:lpstr>39. 의존 방향과 테스트 패키지 다이어그램</vt:lpstr>
      <vt:lpstr>40. 옮기기 코드 시퀀스 다이어그램</vt:lpstr>
      <vt:lpstr>41. 적정 구조 설계</vt:lpstr>
      <vt:lpstr>42. 실습 — 경계와 의존성</vt:lpstr>
      <vt:lpstr>43. 패키지 다이어그램 초안 (안)</vt:lpstr>
      <vt:lpstr>44. 패키지 다이어그램 상세 (안)</vt:lpstr>
      <vt:lpstr>45. 구조 보완 (안)</vt:lpstr>
      <vt:lpstr>46.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