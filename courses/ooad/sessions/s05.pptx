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 id="285" r:id="javaLecture30"/>
    <p:sldId id="286" r:id="javaLecture31"/>
    <p:sldId id="287" r:id="javaLecture32"/>
    <p:sldId id="288" r:id="javaLecture33"/>
    <p:sldId id="289" r:id="javaLecture34"/>
    <p:sldId id="290" r:id="javaLecture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 Id="javaLecture30" Type="http://schemas.openxmlformats.org/officeDocument/2006/relationships/slide" Target="slides/slide30.xml"/><Relationship Id="javaLecture31" Type="http://schemas.openxmlformats.org/officeDocument/2006/relationships/slide" Target="slides/slide31.xml"/><Relationship Id="javaLecture32" Type="http://schemas.openxmlformats.org/officeDocument/2006/relationships/slide" Target="slides/slide32.xml"/><Relationship Id="javaLecture33" Type="http://schemas.openxmlformats.org/officeDocument/2006/relationships/slide" Target="slides/slide33.xml"/><Relationship Id="javaLecture34" Type="http://schemas.openxmlformats.org/officeDocument/2006/relationships/slide" Target="slides/slide34.xml"/><Relationship Id="javaLecture35"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시스템 전체의 경계(무엇이 주문 시스템의 책임인가)는 "02. 요구 분석과 유스케이스"에서 정했다. 구조적 경계는 주문 시스템 안의 책임 범위를 다룬다. 클래스 수준의 책임 배치는 "06. 분석 모델에서 설계 모델로"·"07. 책임·협력·계약"에서 다룬다.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입력 — 요구("02. 요구 분석과 유스케이스")의 시스템 이벤트·오퍼레이션 계약·외부 시스템, 정적 모델("03. 정적 모델 — 도메인 개념과 관계")의 개념·연관·분석 패키지, 동적 모델("04. 동적 모델 — 상호작용과 상태")의 상호작용·상태의 소유·요청과 통보.</a:t>
            </a:r>
          </a:p>
          <a:p>
            <a:pPr lvl="0"/>
            <a:r>
              <a:rPr lang="ko-KR" sz="1200"/>
              <a:t>"04. 동적 모델 — 상호작용과 상태"는 주문 시스템이 외부에 보내는 요청과 받는 통보를 남겼다. 구조 설계는 누가 외부 시스템을 알고 통보를 받는지 결정한다.</a:t>
            </a:r>
          </a:p>
          <a:p>
            <a:pPr lvl="0"/>
            <a:r>
              <a:rPr lang="ko-KR" sz="1200"/>
              <a:t>사례의 전제(결제 완료·배송 시작 전 전체 취소, 출고 전 배송지 변경)는 그대로 유지한다.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도식은 "03. 정적 모델 — 도메인 개념과 관계"의 「15. 패키지」의 「패키지별 도메인 모델」을 경계를 넘는 연관만 남겨 줄인 것이다(장바구니 항목·환불은 생략). 분석 패키지의 기준(주제 영역·클래스 계층·유스케이스·강한 연관)은 "03. 정적 모델 — 도메인 개념과 관계"의 「15. 패키지」의 「패키지 기준」에서 다뤘다.</a:t>
            </a:r>
          </a:p>
          <a:p>
            <a:pPr lvl="0"/>
            <a:r>
              <a:rPr lang="ko-KR" sz="1200"/>
              <a:t>분석 패키지를 구조 패키지로 그대로 쓸 수 있는지는 설계의 기준으로 다시 확인한다(「07. 경계 후보」).</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분석은 의미를 밝히고, 설계는 그 의미를 지킬 책임과 협력을 새로 판단한다. 경계는 분석 모델을 그대로 옮긴 결과가 아니다.</a:t>
            </a:r>
          </a:p>
          <a:p>
            <a:pPr lvl="0"/>
            <a:r>
              <a:rPr lang="ko-KR" sz="1200"/>
              <a:t>구조의 결정은 되돌리기 어렵다. 그래서 객체 설계 전에 확인한다(sw-engineering-principles.md의 YAGNI — 되돌리기 어려운 결정은 지금 확인한다).</a:t>
            </a:r>
          </a:p>
          <a:p>
            <a:pPr lvl="0"/>
            <a:r>
              <a:rPr lang="ko-KR" sz="1200"/>
              <a:t>"01. OOAD 개요"의 「취소 판단의 책임」에서 경계를 "함께 변경되어야 할 상태와 행위의 묶음"으로 미리 보였다. 구조적 경계는 그 판단을 주문 시스템 안에 적용한다.</a:t>
            </a:r>
          </a:p>
          <a:p>
            <a:pPr lvl="0"/>
            <a:r>
              <a:rPr lang="ko-KR" sz="1200"/>
              <a:t>구조적 경계는 주문 시스템 안의 구조다. 여러 시스템으로 나누는 판단(서비스 경계)은 "13. OOAD에서 전문영역으로 — Architecture · DDD · MSA"에서 다룬다.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OMG UML 2.5.1(2017) 원문 확인(Dependencies의 정의).</a:t>
            </a:r>
          </a:p>
          <a:p>
            <a:pPr lvl="0"/>
            <a:r>
              <a:rPr lang="ko-KR" sz="1200"/>
              <a:t>의존 방향을 정하는 일은 곧 변경이 어디로 번질지를 정하는 일이다. 공급자의 변경이 클라이언트에 미치는 영향이 경계와 방향을 판단하는 기준이다.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한 용어, 한 이름 — 용어집에 없는 업무 용어는 코드에서 먼저 만들지 않고 용어집에 먼저 더한다. 다른 예: 주문 상태 OrderStatus(값 PENDING_PAYMENT ~ CANCELLED), 출고 중단을 요청한다 requestDispatchStop.</a:t>
            </a:r>
          </a:p>
          <a:p>
            <a:pPr lvl="0"/>
            <a:r>
              <a:rPr lang="ko-KR" sz="1200"/>
              <a:t>용어집과 영문명은 "02. 요구 분석과 유스케이스"의 「18. 용어집」에서 정의하고 "03. 정적 모델 — 도메인 개념과 관계"의 「13. 용어 정렬」의 「용어집 정제」에서 정제했다. 전체 목록과 명명 규칙은 과정 설계의 "영한 용어집과 명명 규칙"이 원천이다.</a:t>
            </a:r>
          </a:p>
          <a:p>
            <a:pPr lvl="0"/>
            <a:r>
              <a:rPr lang="ko-KR" sz="1200"/>
              <a:t>앞 세션들의 예시 코드는 분석 모델을 옮긴 것이라 한글 식별자였다. 설계 코드는 개발 도구·라이브러리·협업의 관례를 따라 영문으로 쓴다. 뜻은 용어집이 잇는다 — OrderStatus.CANCELLING은 "취소 처리 중"이다.</a:t>
            </a:r>
          </a:p>
          <a:p>
            <a:pPr lvl="0"/>
            <a:r>
              <a:rPr lang="ko-KR" sz="1200"/>
              <a:t>개발자마다 다른 영어로 옮기면 한 용어가 여러 이름이 된다(예: 주문 항목을 OrderLine·OrderItem·OrderDetail로). 용어집의 영문명이 이를 막는다.</a:t>
            </a:r>
          </a:p>
          <a:p>
            <a:pPr lvl="0"/>
            <a:r>
              <a:rPr lang="ko-KR" sz="1200"/>
              <a:t>「02. 분석에서 구조로」의 「클래스에서 패키지로」와 「07. 경계 후보」의 「업무 경계」는 분석 모델을 다시 보는 도식이라 한글이다.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표기 기준: OMG UML 2.5.1의 Packages·Dependencies·Interfaces.</a:t>
            </a:r>
          </a:p>
          <a:p>
            <a:pPr lvl="0"/>
            <a:r>
              <a:rPr lang="ko-KR" sz="1200"/>
              <a:t>"03. 정적 모델 — 도메인 개념과 관계"의 「15. 패키지」의 「패키지 표기」는 개념의 묶음까지 다뤘다. 패키지 다이어그램은 의존 화살표와 인터페이스를 더한다.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CCP·CRP 인용 근거: Robert C. Martin, "Design Principles and Design Patterns"(2000), The Common Closure Principle·The Common Reuse Principle 원문 확인.</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도메인 모델은 "03. 정적 모델 — 도메인 개념과 관계"의 것이다. 환불 규칙은 환불 ≤ 결제 금액, 출고 준비 중·출고됨은 배송 시스템의 상태라 주문 시스템 밖이다.</a:t>
            </a:r>
          </a:p>
          <a:p>
            <a:pPr lvl="0"/>
            <a:r>
              <a:rPr lang="ko-KR" sz="1200"/>
              <a:t>근거: "03. 정적 모델 — 도메인 개념과 관계"의 「상세화」·「패키지별 도메인 모델」, "04. 동적 모델 — 상호작용과 상태"의 「08. 상태 기계 다이어그램」의 「주문 상태 기계」.</a:t>
            </a:r>
          </a:p>
          <a:p>
            <a:pPr lvl="0"/>
            <a:r>
              <a:rPr lang="ko-KR" sz="1200"/>
              <a:t>결과가 분석 패키지와 같은 것은 우연이 아니다. "03. 정적 모델 — 도메인 개념과 관계"가 업무 의미로 묶었기 때문이다. 기술 계층으로 묶었다면 결과가 달랐을 것이다.</a:t>
            </a:r>
          </a:p>
          <a:p>
            <a:pPr lvl="0"/>
            <a:r>
              <a:rPr lang="ko-KR" sz="1200"/>
              <a:t>외부 시스템마다 둘 연동 넷은 「08. 업무 경계와 연동 경계」에서 더한다.</a:t>
            </a:r>
          </a:p>
          <a:p>
            <a:pPr lvl="0"/>
            <a:r>
              <a:rPr lang="ko-KR" sz="1200"/>
              <a:t>업무 경계의 이름은 분석 패키지와 같다. 이름을 바꾸면 모델이 바뀐 것이다. 분석 모델을 다시 보는 도식이라 한글로 그렸다.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외부마다 연동 경계를 따로 둬 통제할 수 없는 변경을 가둔다.</a:t>
            </a:r>
          </a:p>
          <a:p>
            <a:pPr lvl="0"/>
            <a:r>
              <a:rPr lang="ko-KR" sz="1200"/>
              <a:t>외부 시스템 목록과 동기·비동기는 과정의 공통 전제와 같다("02. 요구 분석과 유스케이스"의 「44. 정제된 SSD」). 동기·비동기의 기준은 반환값이 아니라 완료를 기다리는가다("04. 동적 모델 — 상호작용과 상태"의 「12. 동적 모델에서 코드로」).</a:t>
            </a:r>
          </a:p>
          <a:p>
            <a:pPr lvl="0"/>
            <a:r>
              <a:rPr lang="ko-KR" sz="1200"/>
              <a:t>외부 코드(STOP·IN_TRANSIT)는 연동 안에서만 쓰이고, PICKING 같은 배송 시스템 내부 상태는 주문으로 바꾸지 않는다. 상태 코드는 교육용 가정이다. 실제 형식은 외부 시스템의 계약으로 확인한다. DeliverySystemApi는 외부 배송 시스템의 형식을 나타낸다.</a:t>
            </a:r>
          </a:p>
          <a:p>
            <a:pPr lvl="0"/>
            <a:r>
              <a:rPr lang="ko-KR" sz="1200"/>
              <a:t>도식은 무엇이 오가는지만 본다. 누가 누구를 아는가 — 인터페이스를 어느 패키지에 두는가 — 는 「11. 순환 제거」에서 정한다.</a:t>
            </a:r>
          </a:p>
          <a:p>
            <a:pPr lvl="0"/>
            <a:r>
              <a:rPr lang="ko-KR" sz="1200"/>
              <a:t>연동 경계는 외부 시스템마다 하나다: 결제 연동, 상품 연동, 배송 연동, 회계 연동.</a:t>
            </a:r>
          </a:p>
          <a:p>
            <a:pPr lvl="0"/>
            <a:r>
              <a:rPr lang="ko-KR" sz="1200"/>
              <a:t>상품 시스템의 판매가도 주문 시점에 주문 항목의 단가로 옮겨 확정한다("03. 정적 모델 — 도메인 개념과 관계"의 현재 값과 확정 값).</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고객·상품·상품 연동·회계 연동은 같은 방식이라 생략했다.</a:t>
            </a:r>
          </a:p>
          <a:p>
            <a:pPr lvl="0"/>
            <a:r>
              <a:rPr lang="ko-KR" sz="1200"/>
              <a:t>읽기의 예 — delivery ..&gt; deliveryadapter는 배송 연동이 바뀌면 배송이 바뀔 수 있다는 뜻이다.</a:t>
            </a:r>
          </a:p>
          <a:p>
            <a:pPr lvl="0"/>
            <a:r>
              <a:rPr lang="ko-KR" sz="1200"/>
              <a:t>화살표를 셀 때는 변경이 어디서 시작될 가능성이 큰가를 함께 본다. 외부 시스템은 우리가 통제하지 못하는 변경의 출발점이다.</a:t>
            </a:r>
          </a:p>
          <a:p>
            <a:pPr lvl="0"/>
            <a:r>
              <a:rPr lang="ko-KR" sz="1200"/>
              <a:t>초안의 문제를 먼저 보이고 「11. 순환 제거」·「12. 안정성과 추상성」에서 고친다.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Robert C. Martin, "Design Principles and Design Patterns"(2000), The Stable Dependencies Principle 원문 확인.</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Robert C. Martin, "Design Principles and Design Patterns"(2000), The Acyclic Dependencies Principle·The Dependency Inversion Principle 원문 확인. "betwen"은 원문의 표기다.</a:t>
            </a:r>
          </a:p>
          <a:p>
            <a:pPr lvl="0"/>
            <a:r>
              <a:rPr lang="ko-KR" sz="1200"/>
              <a:t>설계 요소(배송 연동)를 포함한 구조 설계의 확인용 도식이라 용어집의 영문명으로 그렸다.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초안의 delivery → deliveryadapter 의존이 반대로 바뀌었다. 결제도 같다 — 초안과 나란히 보여 준다.</a:t>
            </a:r>
          </a:p>
          <a:p>
            <a:pPr lvl="0"/>
            <a:r>
              <a:rPr lang="ko-KR" sz="1200"/>
              <a:t>SAP 인용 근거: Robert C. Martin, "Design Principles and Design Patterns"(2000), The Stable Abstractions Principle 원문 확인.</a:t>
            </a:r>
          </a:p>
          <a:p>
            <a:pPr lvl="0"/>
            <a:r>
              <a:rPr lang="ko-KR" sz="1200"/>
              <a:t>고객·상품과 상품 연동·회계 연동은 같은 원칙이다: 상품이 상품 시스템 인터페이스를, 결제가 회계 시스템 인터페이스를 갖고 각 연동이 실현한다.</a:t>
            </a:r>
          </a:p>
          <a:p>
            <a:pPr lvl="0"/>
            <a:r>
              <a:rPr lang="ko-KR" sz="1200"/>
              <a:t>이 구조에 이름을 붙이는 일(아키텍처 스타일)은 "13. OOAD에서 전문영역으로 — Architecture · DDD · MSA"에서 한다. 구조의 이름보다 경계와 방향의 판단 근거를 먼저 확인한다.</a:t>
            </a:r>
          </a:p>
          <a:p>
            <a:pPr lvl="0"/>
            <a:r>
              <a:rPr lang="ko-KR" sz="1200"/>
              <a:t>경계별 소유·인터페이스·의존 — 주문(주문 상태·취소 규칙, onPaid·cancel·통보 수신, 결제·배송에 의존), 결제(결제·환불 기록, requestRefund), 배송(배송 기록, requestDispatchStop), 결제·배송 연동(외부 형식, 인터페이스 구현, 업무 경계에 의존).</a:t>
            </a:r>
          </a:p>
          <a:p>
            <a:pPr lvl="0"/>
            <a:r>
              <a:rPr lang="ko-KR" sz="1200"/>
              <a:t>인터페이스는 오퍼레이션 이름 수준이다. 매개변수와 계약의 정제는 "07. 책임·협력·계약"에서 한다.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Robert C. Martin, "Design Principles and Design Patterns"(2000). 여섯 원칙의 정의와 인용은 각 원칙을 적용한 topic에 있다. *Clean Architecture*(2017)는 같은 원칙을 컴포넌트 원칙으로 다시 정리했다.</a:t>
            </a:r>
          </a:p>
          <a:p>
            <a:pPr lvl="0"/>
            <a:r>
              <a:rPr lang="ko-KR" sz="1200"/>
              <a:t>클래스 수준의 원칙(SRP·OCP·LSP·ISP·DIP)은 "07. 책임·협력·계약"·"08. 변화 대응과 변이 설계"에서 다룬다. 패키지 원칙은 그 위의 묶음과 방향을 다룬다.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Robert C. Martin, *Clean Architecture*, 「Component Coupling」의 “Top-Down Design” 원문 확인.</a:t>
            </a:r>
          </a:p>
          <a:p>
            <a:pPr lvl="0"/>
            <a:r>
              <a:rPr lang="ko-KR" sz="1200"/>
              <a:t>같은 곳은 컴포넌트 의존 구조를 시스템 기능의 분해가 아니라 빌드와 유지보수의 지도라고 설명한다.</a:t>
            </a:r>
          </a:p>
          <a:p>
            <a:pPr lvl="0"/>
            <a:r>
              <a:rPr lang="ko-KR" sz="1200"/>
              <a:t>반복·점진 개발에서 구조도 함께 자란다. sw-engineering-principles.md의 결정–검증–되돌림이 구조에도 적용된다.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결합도·응집도는 Stevens·Myers·Constantine의 "Structured Design"(IBM Systems Journal, 1974)이 모듈 설계의 기준으로 제시한 개념이다. 변경 파급 검토는 이를 패키지 수준에 적용한다. 객체 수준의 결합·응집은 "07. 책임·협력·계약"에서 다룬다.</a:t>
            </a:r>
          </a:p>
          <a:p>
            <a:pPr lvl="0"/>
            <a:r>
              <a:rPr lang="ko-KR" sz="1200"/>
              <a:t>결제 전 취소는 "04. 동적 모델 — 상호작용과 상태"의 「08. 상태 기계 다이어그램」의 「가드와 금지된 전이」에서 미정으로 남긴 요구다. 정해지면 주문 경계 안에서 끝난다.</a:t>
            </a:r>
          </a:p>
          <a:p>
            <a:pPr lvl="0"/>
            <a:r>
              <a:rPr lang="ko-KR" sz="1200"/>
              <a:t>상세화에서도 연동은 주문에 기댄다. 자주 바뀌는 쪽이 덜 바뀌는 쪽에 기대는 것이 방향의 핵심이다.</a:t>
            </a:r>
          </a:p>
          <a:p>
            <a:pPr lvl="0"/>
            <a:r>
              <a:rPr lang="ko-KR" sz="1200"/>
              <a:t>시나리오는 교육용 예다. 실제 검토는 바뀔 가능성이 큰 것부터 고른다(「07. 경계 후보」).</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제약은 "06. 분석 모델에서 설계 모델로"·"07. 책임·협력·계약"에서 클래스와 책임을 정할 때의 입력이다.</a:t>
            </a:r>
          </a:p>
          <a:p>
            <a:pPr lvl="0"/>
            <a:r>
              <a:rPr lang="ko-KR" sz="1200"/>
              <a:t>제약은 적을수록 좋다. 지키지 않으면 변경이 번지는 것만 적는다.</a:t>
            </a:r>
          </a:p>
          <a:p>
            <a:pPr lvl="0"/>
            <a:r>
              <a:rPr lang="ko-KR" sz="1200"/>
              <a:t>말로만 두면 코드가 자라며 어긋난다. 인터페이스의 위치, 상태 코드 문자열, 상태를 바꾸는 메서드의 위치는 리뷰로 확인한다. 실제 프로젝트에서는 빌드 도구의 모듈 경계나 아키텍처 검사 도구를 쓸 수 있다.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코드는 모두 code/s05/의 패키지별 원본에서 발췌했으며, 컴파일·실행해 확인한다. "04. 동적 모델 — 상호작용과 상태"의 분석 코드 배송시스템·출고중단을요청한다가 용어집의 영문명 DeliveryGateway·requestDispatchStop이 되었다. 이 세션에서는 그 인터페이스가 delivery 패키지에 놓인다.</a:t>
            </a:r>
          </a:p>
          <a:p>
            <a:pPr lvl="0"/>
            <a:r>
              <a:rPr lang="ko-KR" sz="1200"/>
              <a:t>코드가 보장하는 것은 import의 방향뿐이다. 클래스의 책임과 협력은 "07. 책임·협력·계약"에서 정한다.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결과를 먼저 예측하게 한다: 가짜 구현으로 취소하면 요청은 어떤 순서로 기록되는가?</a:t>
            </a:r>
          </a:p>
          <a:p>
            <a:pPr lvl="0"/>
            <a:r>
              <a:rPr lang="ko-KR" sz="1200"/>
              <a:t>요청의 순서(출고 중단 → 환불)는 "04. 동적 모델 — 상호작용과 상태"의 테스트와 같다. 경계를 나누고 이름을 영문으로 바꿔도 업무의 의미는 그대로다 — CANCELLING은 용어집의 "취소 처리 중"이다.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테스트(code/s05/test/BoundaryTest.java) — PICKING을 받아도 주문은 결제 완료(PAID) 그대로이고, IN_TRANSIT을 받으면 배송 중(IN_DELIVERY)이 된다.</a:t>
            </a:r>
          </a:p>
          <a:p>
            <a:pPr lvl="0"/>
            <a:r>
              <a:rPr lang="ko-KR" sz="1200"/>
              <a:t>상태 코드는 「08. 업무 경계와 연동 경계」의 교육용 가정이다. 배송 시작을 IN_TRANSIT으로 둔 것은 용어집의 출고(dispatch)와 섞지 않기 위해서다.</a:t>
            </a:r>
          </a:p>
          <a:p>
            <a:pPr lvl="0"/>
            <a:r>
              <a:rPr lang="ko-KR" sz="1200"/>
              <a:t>통보를 받는 방식(메시지 큐·웹훅 등)은 생략했다. 전달 기술은 "10. 기술 제약과 도메인 의미 보존"에서 다룬다.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왼쪽 구조는 LLM이 패키지를 나눌 때 흔히 내놓는 답이다(실습의 점검 항목 1).</a:t>
            </a:r>
          </a:p>
          <a:p>
            <a:pPr lvl="0"/>
            <a:r>
              <a:rPr lang="ko-KR" sz="1200"/>
              <a:t>경계 안의 구성 방식은 "13. OOAD에서 전문영역으로 — Architecture · DDD · MSA"의 포트와 어댑터로 이어진다.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공용 패키지에는 서로 다른 이유로 바뀌는 것이 모인다. 여러 경계가 같은 값을 쓰면 그 값을 소유한 경계에 의존한다. 정말 업무 의미가 없는 기술 도구(날짜 계산 등)만 공용으로 둔다.</a:t>
            </a:r>
          </a:p>
          <a:p>
            <a:pPr lvl="0"/>
            <a:r>
              <a:rPr lang="ko-KR" sz="1200"/>
              <a:t>예제 코드에서 Money(금액)는 payment 패키지에 있다(code/s05/payment/Money.java).</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결제도 같다. 결제 대행 응답 객체를 주문이 필드로 들지 않고 결제 경계의 기록으로 변환한다.</a:t>
            </a:r>
          </a:p>
          <a:p>
            <a:pPr lvl="0"/>
            <a:r>
              <a:rPr lang="ko-KR" sz="1200"/>
              <a:t>"04. 동적 모델 — 상호작용과 상태"에서 출고 준비 중·출고됨을 주문 상태에 넣지 않은 것과 같은 판단이다.</a:t>
            </a:r>
          </a:p>
          <a:p>
            <a:pPr lvl="0"/>
            <a:r>
              <a:rPr lang="ko-KR" sz="1200"/>
              <a:t>도식의 OrderStatus는 비교에 필요한 값만 보였다(나머지 값 생략).</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사례는 업무 경계 6개와 연동 4개로 충분했다. 작은 시스템은 패키지 몇 개와 방향 규칙 하나로 시작해도 된다.</a:t>
            </a:r>
          </a:p>
          <a:p>
            <a:pPr lvl="0"/>
            <a:r>
              <a:rPr lang="ko-KR" sz="1200"/>
              <a:t>판단 기준은 sw-engineering-principles.md의 적정 수준과 KISS·YAGNI다.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LLM은 화면·서비스·저장소 같은 기술 계층으로 나누거나, 장바구니를 고객 패키지에 넣어 순환을 만들기 쉽다.</a:t>
            </a:r>
          </a:p>
          <a:p>
            <a:pPr lvl="0"/>
            <a:r>
              <a:rPr lang="ko-KR" sz="1200"/>
              <a:t>영문으로 그리게 하면 LLM은 용어집과 다른 영어를 지어내기 쉽다(예: 정기배송을 RegularDelivery, 해지를 cancel로). 용어집의 영문명을 투입물로 함께 준다.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「16. 구조적 제약」은 다음 세션에서 분석 개념을 설계 클래스로 옮길 때의 경계가 된다.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장바구니를 고객이나 정기배송에 합치지 않는다. 분석 패키지를 그대로 확정하는 것도, 순환을 만들기 위해 임의로 옮기는 것도 구조 판단의 근거가 아니다.</a:t>
            </a:r>
          </a:p>
          <a:p>
            <a:pPr lvl="0"/>
            <a:r>
              <a:rPr lang="ko-KR" sz="1200"/>
              <a:t>배송 회차는 정기배송의 합성이고 같은 생애로 바뀌므로 subscription에 둔다. 배송 시스템 자체는 외부이며 deliveryadapter로 가둔다.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업무 패키지는 연동을 모르며 외부 형식은 연동 안에 머문다. 고객–장바구니, 정기배송–고객·상품·결제의 의미와 배송 회차의 소유는 바꾸지 않았다.</a:t>
            </a:r>
          </a:p>
          <a:p>
            <a:pPr lvl="0"/>
            <a:r>
              <a:rPr lang="ko-KR" sz="1200"/>
              <a:t>각 연동 클래스(ProductAdapter 등)는 도식에 생략한 실현 관계로 ProductGateway·PaymentGateway·DeliveryGateway를 구현한다.</a:t>
            </a:r>
          </a:p>
          <a:p>
            <a:pPr lvl="0"/>
            <a:r>
              <a:rPr lang="ko-KR" sz="1200"/>
              <a:t>인터페이스의 매개변수와 객체 책임은 "06. 분석 모델에서 설계 모델로"와 "07. 책임·협력·계약"에서 정제한다.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구조 설계의 결과는 분석 모델의 개념을 옮겨 놓은 표가 아니라, 다음 설계가 지켜야 할 경계와 방향이다.</a:t>
            </a:r>
          </a:p>
          <a:p>
            <a:pPr lvl="0"/>
            <a:r>
              <a:rPr lang="ko-KR" sz="1200"/>
              <a:t>실습 4에서 정기배송 상태를 발견한 것과 달리, 이 실습은 분석 의미의 누락을 찾지 않았다. 발견이 없으면 앞 모델을 억지로 고치지 않는다.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mermaidImage1" Type="http://schemas.openxmlformats.org/officeDocument/2006/relationships/image" Target="../media/mermaid-1.png"/><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plantumlImage3" Type="http://schemas.openxmlformats.org/officeDocument/2006/relationships/image" Target="../media/plantuml-3.png"/><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plantumlImage4" Type="http://schemas.openxmlformats.org/officeDocument/2006/relationships/image" Target="../media/plantuml-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plantumlImage5" Type="http://schemas.openxmlformats.org/officeDocument/2006/relationships/image" Target="../media/plantuml-5.png"/><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plantumlImage6" Type="http://schemas.openxmlformats.org/officeDocument/2006/relationships/image" Target="../media/plantuml-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plantumlImage7" Type="http://schemas.openxmlformats.org/officeDocument/2006/relationships/image" Target="../media/plantuml-7.png"/><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speakerNotes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plantumlImage8" Type="http://schemas.openxmlformats.org/officeDocument/2006/relationships/image" Target="../media/plantuml-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plantumlImage9" Type="http://schemas.openxmlformats.org/officeDocument/2006/relationships/image" Target="../media/plantuml-9.png"/><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plantumlImage10" Type="http://schemas.openxmlformats.org/officeDocument/2006/relationships/image" Target="../media/plantuml-10.png"/><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plantumlImage11" Type="http://schemas.openxmlformats.org/officeDocument/2006/relationships/image" Target="../media/plantuml-11.png"/><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plantumlImage12" Type="http://schemas.openxmlformats.org/officeDocument/2006/relationships/image" Target="../media/plantuml-12.png"/><Relationship Id="speakerNotes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plantumlImage13" Type="http://schemas.openxmlformats.org/officeDocument/2006/relationships/image" Target="../media/plantuml-13.png"/><Relationship Id="speakerNotes2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plantumlImage14" Type="http://schemas.openxmlformats.org/officeDocument/2006/relationships/image" Target="../media/plantuml-14.png"/><Relationship Id="speakerNotes2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speakerNotes3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speakerNotes3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speakerNotes3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plantumlImage15" Type="http://schemas.openxmlformats.org/officeDocument/2006/relationships/image" Target="../media/plantuml-15.png"/><Relationship Id="speakerNotes3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plantumlImage16" Type="http://schemas.openxmlformats.org/officeDocument/2006/relationships/image" Target="../media/plantuml-16.png"/><Relationship Id="speakerNotes3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speakerNotes35"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05. 구조적 경계와 의존성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분석에서 구조로</a:t>
            </a:r>
          </a:p>
          <a:p>
            <a:pPr lvl="1" marL="355600" indent="0">
              <a:spcBef>
                <a:spcPts val="300"/>
              </a:spcBef>
              <a:spcAft>
                <a:spcPts val="300"/>
              </a:spcAft>
              <a:buNone/>
            </a:pPr>
            <a:r>
              <a:rPr sz="1600" b="0">
                <a:solidFill>
                  <a:srgbClr val="000000"/>
                </a:solidFill>
                <a:latin typeface="맑은 고딕"/>
                <a:ea typeface="맑은 고딕"/>
              </a:rPr>
              <a:t>03. 구조적 경계</a:t>
            </a:r>
          </a:p>
          <a:p>
            <a:pPr lvl="1" marL="355600" indent="0">
              <a:spcBef>
                <a:spcPts val="300"/>
              </a:spcBef>
              <a:spcAft>
                <a:spcPts val="300"/>
              </a:spcAft>
              <a:buNone/>
            </a:pPr>
            <a:r>
              <a:rPr sz="1600" b="0">
                <a:solidFill>
                  <a:srgbClr val="000000"/>
                </a:solidFill>
                <a:latin typeface="맑은 고딕"/>
                <a:ea typeface="맑은 고딕"/>
              </a:rPr>
              <a:t>04. 의존성</a:t>
            </a:r>
          </a:p>
          <a:p>
            <a:pPr lvl="1" marL="355600" indent="0">
              <a:spcBef>
                <a:spcPts val="300"/>
              </a:spcBef>
              <a:spcAft>
                <a:spcPts val="300"/>
              </a:spcAft>
              <a:buNone/>
            </a:pPr>
            <a:r>
              <a:rPr sz="1600" b="0">
                <a:solidFill>
                  <a:srgbClr val="000000"/>
                </a:solidFill>
                <a:latin typeface="맑은 고딕"/>
                <a:ea typeface="맑은 고딕"/>
              </a:rPr>
              <a:t>05. 설계의 이름</a:t>
            </a:r>
          </a:p>
          <a:p>
            <a:pPr lvl="1" marL="355600" indent="0">
              <a:spcBef>
                <a:spcPts val="300"/>
              </a:spcBef>
              <a:spcAft>
                <a:spcPts val="300"/>
              </a:spcAft>
              <a:buNone/>
            </a:pPr>
            <a:r>
              <a:rPr sz="1600" b="0">
                <a:solidFill>
                  <a:srgbClr val="000000"/>
                </a:solidFill>
                <a:latin typeface="맑은 고딕"/>
                <a:ea typeface="맑은 고딕"/>
              </a:rPr>
              <a:t>06. 패키지 다이어그램</a:t>
            </a:r>
          </a:p>
          <a:p>
            <a:pPr lvl="1" marL="355600" indent="0">
              <a:spcBef>
                <a:spcPts val="300"/>
              </a:spcBef>
              <a:spcAft>
                <a:spcPts val="300"/>
              </a:spcAft>
              <a:buNone/>
            </a:pPr>
            <a:r>
              <a:rPr sz="1600" b="0">
                <a:solidFill>
                  <a:srgbClr val="000000"/>
                </a:solidFill>
                <a:latin typeface="맑은 고딕"/>
                <a:ea typeface="맑은 고딕"/>
              </a:rPr>
              <a:t>07. 경계 후보</a:t>
            </a:r>
          </a:p>
          <a:p>
            <a:pPr lvl="1" marL="355600" indent="0">
              <a:spcBef>
                <a:spcPts val="300"/>
              </a:spcBef>
              <a:spcAft>
                <a:spcPts val="300"/>
              </a:spcAft>
              <a:buNone/>
            </a:pPr>
            <a:r>
              <a:rPr sz="1600" b="0">
                <a:solidFill>
                  <a:srgbClr val="000000"/>
                </a:solidFill>
                <a:latin typeface="맑은 고딕"/>
                <a:ea typeface="맑은 고딕"/>
              </a:rPr>
              <a:t>08. 업무 경계와 연동 경계</a:t>
            </a:r>
          </a:p>
          <a:p>
            <a:pPr lvl="1" marL="355600" indent="0">
              <a:spcBef>
                <a:spcPts val="300"/>
              </a:spcBef>
              <a:spcAft>
                <a:spcPts val="300"/>
              </a:spcAft>
              <a:buNone/>
            </a:pPr>
            <a:r>
              <a:rPr sz="1600" b="0">
                <a:solidFill>
                  <a:srgbClr val="000000"/>
                </a:solidFill>
                <a:latin typeface="맑은 고딕"/>
                <a:ea typeface="맑은 고딕"/>
              </a:rPr>
              <a:t>09. 패키지 구조 초안</a:t>
            </a:r>
          </a:p>
          <a:p>
            <a:pPr lvl="1" marL="355600" indent="0">
              <a:spcBef>
                <a:spcPts val="300"/>
              </a:spcBef>
              <a:spcAft>
                <a:spcPts val="300"/>
              </a:spcAft>
              <a:buNone/>
            </a:pPr>
            <a:r>
              <a:rPr sz="1600" b="0">
                <a:solidFill>
                  <a:srgbClr val="000000"/>
                </a:solidFill>
                <a:latin typeface="맑은 고딕"/>
                <a:ea typeface="맑은 고딕"/>
              </a:rPr>
              <a:t>10. 의존 방향</a:t>
            </a:r>
          </a:p>
          <a:p>
            <a:pPr lvl="1" marL="355600" indent="0">
              <a:spcBef>
                <a:spcPts val="300"/>
              </a:spcBef>
              <a:spcAft>
                <a:spcPts val="300"/>
              </a:spcAft>
              <a:buNone/>
            </a:pPr>
            <a:r>
              <a:rPr sz="1600" b="0">
                <a:solidFill>
                  <a:srgbClr val="000000"/>
                </a:solidFill>
                <a:latin typeface="맑은 고딕"/>
                <a:ea typeface="맑은 고딕"/>
              </a:rPr>
              <a:t>11. 순환 제거</a:t>
            </a:r>
          </a:p>
          <a:p>
            <a:pPr lvl="1" marL="355600" indent="0">
              <a:spcBef>
                <a:spcPts val="300"/>
              </a:spcBef>
              <a:spcAft>
                <a:spcPts val="300"/>
              </a:spcAft>
              <a:buNone/>
            </a:pPr>
            <a:r>
              <a:rPr sz="1600" b="0">
                <a:solidFill>
                  <a:srgbClr val="000000"/>
                </a:solidFill>
                <a:latin typeface="맑은 고딕"/>
                <a:ea typeface="맑은 고딕"/>
              </a:rPr>
              <a:t>12. 안정성과 추상성</a:t>
            </a:r>
          </a:p>
          <a:p>
            <a:pPr lvl="1" marL="355600" indent="0">
              <a:spcBef>
                <a:spcPts val="300"/>
              </a:spcBef>
              <a:spcAft>
                <a:spcPts val="300"/>
              </a:spcAft>
              <a:buNone/>
            </a:pPr>
            <a:r>
              <a:rPr sz="1600" b="0">
                <a:solidFill>
                  <a:srgbClr val="000000"/>
                </a:solidFill>
                <a:latin typeface="맑은 고딕"/>
                <a:ea typeface="맑은 고딕"/>
              </a:rPr>
              <a:t>13. 패키지 원칙</a:t>
            </a:r>
          </a:p>
          <a:p>
            <a:pPr lvl="1" marL="355600" indent="0">
              <a:spcBef>
                <a:spcPts val="300"/>
              </a:spcBef>
              <a:spcAft>
                <a:spcPts val="300"/>
              </a:spcAft>
              <a:buNone/>
            </a:pPr>
            <a:r>
              <a:rPr sz="1600" b="0">
                <a:solidFill>
                  <a:srgbClr val="000000"/>
                </a:solidFill>
                <a:latin typeface="맑은 고딕"/>
                <a:ea typeface="맑은 고딕"/>
              </a:rPr>
              <a:t>14. 구조의 진화</a:t>
            </a:r>
          </a:p>
          <a:p>
            <a:pPr lvl="1" marL="355600" indent="0">
              <a:spcBef>
                <a:spcPts val="300"/>
              </a:spcBef>
              <a:spcAft>
                <a:spcPts val="300"/>
              </a:spcAft>
              <a:buNone/>
            </a:pPr>
            <a:r>
              <a:rPr sz="1600" b="0">
                <a:solidFill>
                  <a:srgbClr val="000000"/>
                </a:solidFill>
                <a:latin typeface="맑은 고딕"/>
                <a:ea typeface="맑은 고딕"/>
              </a:rPr>
              <a:t>15. 변경 파급</a:t>
            </a:r>
          </a:p>
          <a:p>
            <a:pPr lvl="1" marL="355600" indent="0">
              <a:spcBef>
                <a:spcPts val="300"/>
              </a:spcBef>
              <a:spcAft>
                <a:spcPts val="300"/>
              </a:spcAft>
              <a:buNone/>
            </a:pPr>
            <a:r>
              <a:rPr sz="1600" b="0">
                <a:solidFill>
                  <a:srgbClr val="000000"/>
                </a:solidFill>
                <a:latin typeface="맑은 고딕"/>
                <a:ea typeface="맑은 고딕"/>
              </a:rPr>
              <a:t>16. 구조적 제약</a:t>
            </a:r>
          </a:p>
          <a:p>
            <a:pPr lvl="1" marL="355600" indent="0">
              <a:spcBef>
                <a:spcPts val="300"/>
              </a:spcBef>
              <a:spcAft>
                <a:spcPts val="300"/>
              </a:spcAft>
              <a:buNone/>
            </a:pPr>
            <a:r>
              <a:rPr sz="1600" b="0">
                <a:solidFill>
                  <a:srgbClr val="000000"/>
                </a:solidFill>
                <a:latin typeface="맑은 고딕"/>
                <a:ea typeface="맑은 고딕"/>
              </a:rPr>
              <a:t>17. 코드와 검사</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18. 잘못된 관행</a:t>
            </a:r>
          </a:p>
          <a:p>
            <a:pPr lvl="1" marL="355600" indent="0">
              <a:spcBef>
                <a:spcPts val="300"/>
              </a:spcBef>
              <a:spcAft>
                <a:spcPts val="300"/>
              </a:spcAft>
              <a:buNone/>
            </a:pPr>
            <a:r>
              <a:rPr sz="1600" b="0">
                <a:solidFill>
                  <a:srgbClr val="000000"/>
                </a:solidFill>
                <a:latin typeface="맑은 고딕"/>
                <a:ea typeface="맑은 고딕"/>
              </a:rPr>
              <a:t>19. 적정 구조 설계</a:t>
            </a:r>
          </a:p>
          <a:p>
            <a:pPr lvl="1" marL="355600" indent="0">
              <a:spcBef>
                <a:spcPts val="300"/>
              </a:spcBef>
              <a:spcAft>
                <a:spcPts val="300"/>
              </a:spcAft>
              <a:buNone/>
            </a:pPr>
            <a:r>
              <a:rPr sz="1600" b="0">
                <a:solidFill>
                  <a:srgbClr val="000000"/>
                </a:solidFill>
                <a:latin typeface="맑은 고딕"/>
                <a:ea typeface="맑은 고딕"/>
              </a:rPr>
              <a:t>20. 실습 —</a:t>
            </a:r>
            <a:r>
              <a:rPr sz="1400" b="0">
                <a:solidFill>
                  <a:srgbClr val="000000"/>
                </a:solidFill>
                <a:latin typeface="맑은 고딕"/>
                <a:ea typeface="맑은 고딕"/>
              </a:rPr>
              <a:t> 패키지 다이어그램</a:t>
            </a:r>
          </a:p>
          <a:p>
            <a:pPr lvl="1" marL="355600" indent="0">
              <a:spcBef>
                <a:spcPts val="300"/>
              </a:spcBef>
              <a:spcAft>
                <a:spcPts val="300"/>
              </a:spcAft>
              <a:buNone/>
            </a:pPr>
            <a:r>
              <a:rPr sz="1600" b="0">
                <a:solidFill>
                  <a:srgbClr val="000000"/>
                </a:solidFill>
                <a:latin typeface="맑은 고딕"/>
                <a:ea typeface="맑은 고딕"/>
              </a:rPr>
              <a:t>21. 요약</a:t>
            </a:r>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구조 설계는 요구·정적·동적 모델을 바탕으로 책임이 놓일 </a:t>
            </a:r>
            <a:r>
              <a:rPr sz="1800" b="1">
                <a:solidFill>
                  <a:srgbClr val="000000"/>
                </a:solidFill>
                <a:latin typeface="맑은 고딕"/>
                <a:ea typeface="맑은 고딕"/>
              </a:rPr>
              <a:t>구조적 경계</a:t>
            </a:r>
            <a:r>
              <a:rPr sz="1800" b="0">
                <a:solidFill>
                  <a:srgbClr val="000000"/>
                </a:solidFill>
                <a:latin typeface="맑은 고딕"/>
                <a:ea typeface="맑은 고딕"/>
              </a:rPr>
              <a:t>와 </a:t>
            </a:r>
            <a:r>
              <a:rPr sz="1800" b="1">
                <a:solidFill>
                  <a:srgbClr val="000000"/>
                </a:solidFill>
                <a:latin typeface="맑은 고딕"/>
                <a:ea typeface="맑은 고딕"/>
              </a:rPr>
              <a:t>의존성 방향</a:t>
            </a:r>
            <a:r>
              <a:rPr sz="1800" b="0">
                <a:solidFill>
                  <a:srgbClr val="000000"/>
                </a:solidFill>
                <a:latin typeface="맑은 고딕"/>
                <a:ea typeface="맑은 고딕"/>
              </a:rPr>
              <a:t>을 판단한다.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구조적 경계와 의존성이 </a:t>
            </a:r>
            <a:r>
              <a:rPr sz="1800" b="1">
                <a:solidFill>
                  <a:srgbClr val="000000"/>
                </a:solidFill>
                <a:latin typeface="맑은 고딕"/>
                <a:ea typeface="맑은 고딕"/>
              </a:rPr>
              <a:t>변경의 범위와 전파 방향</a:t>
            </a:r>
            <a:r>
              <a:rPr sz="1800" b="0">
                <a:solidFill>
                  <a:srgbClr val="000000"/>
                </a:solidFill>
                <a:latin typeface="맑은 고딕"/>
                <a:ea typeface="맑은 고딕"/>
              </a:rPr>
              <a:t>을 정한다는 것을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클래스를 패키지로 나누는 </a:t>
            </a:r>
            <a:r>
              <a:rPr sz="1800" b="1">
                <a:solidFill>
                  <a:srgbClr val="000000"/>
                </a:solidFill>
                <a:latin typeface="맑은 고딕"/>
                <a:ea typeface="맑은 고딕"/>
              </a:rPr>
              <a:t>패키지 기준</a:t>
            </a:r>
            <a:r>
              <a:rPr sz="1400" b="0">
                <a:solidFill>
                  <a:srgbClr val="000000"/>
                </a:solidFill>
                <a:latin typeface="맑은 고딕"/>
                <a:ea typeface="맑은 고딕"/>
              </a:rPr>
              <a:t>(합성·소유·변경 이유·함께 쓰임·외부)</a:t>
            </a:r>
            <a:r>
              <a:rPr sz="1800" b="0">
                <a:solidFill>
                  <a:srgbClr val="000000"/>
                </a:solidFill>
                <a:latin typeface="맑은 고딕"/>
                <a:ea typeface="맑은 고딕"/>
              </a:rPr>
              <a:t>을 적용해 경계 후보를 정한다.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외부 시스템에 대한 </a:t>
            </a:r>
            <a:r>
              <a:rPr sz="1800" b="1">
                <a:solidFill>
                  <a:srgbClr val="000000"/>
                </a:solidFill>
                <a:latin typeface="맑은 고딕"/>
                <a:ea typeface="맑은 고딕"/>
              </a:rPr>
              <a:t>요청과 통보</a:t>
            </a:r>
            <a:r>
              <a:rPr sz="1800" b="0">
                <a:solidFill>
                  <a:srgbClr val="000000"/>
                </a:solidFill>
                <a:latin typeface="맑은 고딕"/>
                <a:ea typeface="맑은 고딕"/>
              </a:rPr>
              <a:t>의 의존 방향을 판단한다.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패키지 다이어그램</a:t>
            </a:r>
            <a:r>
              <a:rPr sz="1800" b="0">
                <a:solidFill>
                  <a:srgbClr val="000000"/>
                </a:solidFill>
                <a:latin typeface="맑은 고딕"/>
                <a:ea typeface="맑은 고딕"/>
              </a:rPr>
              <a:t>으로 경계와 의존성을 표현하고</a:t>
            </a:r>
            <a:r>
              <a:rPr sz="1400" b="0">
                <a:solidFill>
                  <a:srgbClr val="000000"/>
                </a:solidFill>
                <a:latin typeface="맑은 고딕"/>
                <a:ea typeface="맑은 고딕"/>
              </a:rPr>
              <a:t>(설계 이름은 </a:t>
            </a:r>
            <a:r>
              <a:rPr sz="1400" b="1">
                <a:solidFill>
                  <a:srgbClr val="000000"/>
                </a:solidFill>
                <a:latin typeface="맑은 고딕"/>
                <a:ea typeface="맑은 고딕"/>
              </a:rPr>
              <a:t>용어집의 영문명</a:t>
            </a:r>
            <a:r>
              <a:rPr sz="1400" b="0">
                <a:solidFill>
                  <a:srgbClr val="000000"/>
                </a:solidFill>
                <a:latin typeface="맑은 고딕"/>
                <a:ea typeface="맑은 고딕"/>
              </a:rPr>
              <a:t>)</a:t>
            </a:r>
            <a:r>
              <a:rPr sz="1800" b="0">
                <a:solidFill>
                  <a:srgbClr val="000000"/>
                </a:solidFill>
                <a:latin typeface="맑은 고딕"/>
                <a:ea typeface="맑은 고딕"/>
              </a:rPr>
              <a:t>, </a:t>
            </a:r>
            <a:r>
              <a:rPr sz="1800" b="1">
                <a:solidFill>
                  <a:srgbClr val="000000"/>
                </a:solidFill>
                <a:latin typeface="맑은 고딕"/>
                <a:ea typeface="맑은 고딕"/>
              </a:rPr>
              <a:t>패키지 원칙</a:t>
            </a:r>
            <a:r>
              <a:rPr sz="1800" b="0">
                <a:solidFill>
                  <a:srgbClr val="000000"/>
                </a:solidFill>
                <a:latin typeface="맑은 고딕"/>
                <a:ea typeface="맑은 고딕"/>
              </a:rPr>
              <a:t>으로 순환 없는 방향을 정한다.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변경 시나리오로 </a:t>
            </a:r>
            <a:r>
              <a:rPr sz="1800" b="1">
                <a:solidFill>
                  <a:srgbClr val="000000"/>
                </a:solidFill>
                <a:latin typeface="맑은 고딕"/>
                <a:ea typeface="맑은 고딕"/>
              </a:rPr>
              <a:t>결합도와 변경 파급</a:t>
            </a:r>
            <a:r>
              <a:rPr sz="1800" b="0">
                <a:solidFill>
                  <a:srgbClr val="000000"/>
                </a:solidFill>
                <a:latin typeface="맑은 고딕"/>
                <a:ea typeface="맑은 고딕"/>
              </a:rPr>
              <a:t>을 검토한다.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객체 설계 전에 지킬 </a:t>
            </a:r>
            <a:r>
              <a:rPr sz="1800" b="1">
                <a:solidFill>
                  <a:srgbClr val="000000"/>
                </a:solidFill>
                <a:latin typeface="맑은 고딕"/>
                <a:ea typeface="맑은 고딕"/>
              </a:rPr>
              <a:t>구조적 제약</a:t>
            </a:r>
            <a:r>
              <a:rPr sz="1800" b="0">
                <a:solidFill>
                  <a:srgbClr val="000000"/>
                </a:solidFill>
                <a:latin typeface="맑은 고딕"/>
                <a:ea typeface="맑은 고딕"/>
              </a:rPr>
              <a:t>을 명시하고 자바 코드·테스트로 확인한다.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02. 분석에서 구조로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분석은 </a:t>
            </a:r>
            <a:r>
              <a:rPr sz="1800" b="1">
                <a:solidFill>
                  <a:srgbClr val="000000"/>
                </a:solidFill>
                <a:latin typeface="맑은 고딕"/>
                <a:ea typeface="맑은 고딕"/>
              </a:rPr>
              <a:t>무엇이 존재하고 무엇이 일어나는지</a:t>
            </a:r>
            <a:r>
              <a:rPr sz="1800" b="0">
                <a:solidFill>
                  <a:srgbClr val="000000"/>
                </a:solidFill>
                <a:latin typeface="맑은 고딕"/>
                <a:ea typeface="맑은 고딕"/>
              </a:rPr>
              <a:t>를 밝혔다. 이제 그 의미를 지킬 책임이 </a:t>
            </a:r>
            <a:r>
              <a:rPr sz="1800" b="1">
                <a:solidFill>
                  <a:srgbClr val="000000"/>
                </a:solidFill>
                <a:latin typeface="맑은 고딕"/>
                <a:ea typeface="맑은 고딕"/>
              </a:rPr>
              <a:t>어디에 놓일지</a:t>
            </a:r>
            <a:r>
              <a:rPr sz="1800" b="0">
                <a:solidFill>
                  <a:srgbClr val="000000"/>
                </a:solidFill>
                <a:latin typeface="맑은 고딕"/>
                <a:ea typeface="맑은 고딕"/>
              </a:rPr>
              <a:t> 판단한다.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맨 위의 </a:t>
            </a:r>
            <a:r>
              <a:rPr sz="1800" b="1">
                <a:solidFill>
                  <a:srgbClr val="000000"/>
                </a:solidFill>
                <a:latin typeface="맑은 고딕"/>
                <a:ea typeface="맑은 고딕"/>
              </a:rPr>
              <a:t>요구·정적·동적 모델</a:t>
            </a:r>
            <a:r>
              <a:rPr sz="1800" b="0">
                <a:solidFill>
                  <a:srgbClr val="000000"/>
                </a:solidFill>
                <a:latin typeface="맑은 고딕"/>
                <a:ea typeface="맑은 고딕"/>
              </a:rPr>
              <a:t>이 입력이다. 그림의 순서대로 </a:t>
            </a:r>
            <a:r>
              <a:rPr sz="1800" b="1">
                <a:solidFill>
                  <a:srgbClr val="000000"/>
                </a:solidFill>
                <a:latin typeface="맑은 고딕"/>
                <a:ea typeface="맑은 고딕"/>
              </a:rPr>
              <a:t>경계 후보</a:t>
            </a:r>
            <a:r>
              <a:rPr sz="1800" b="0">
                <a:solidFill>
                  <a:srgbClr val="000000"/>
                </a:solidFill>
                <a:latin typeface="맑은 고딕"/>
                <a:ea typeface="맑은 고딕"/>
              </a:rPr>
              <a:t> → </a:t>
            </a:r>
            <a:r>
              <a:rPr sz="1800" b="1">
                <a:solidFill>
                  <a:srgbClr val="000000"/>
                </a:solidFill>
                <a:latin typeface="맑은 고딕"/>
                <a:ea typeface="맑은 고딕"/>
              </a:rPr>
              <a:t>의존 방향</a:t>
            </a:r>
            <a:r>
              <a:rPr sz="1800" b="0">
                <a:solidFill>
                  <a:srgbClr val="000000"/>
                </a:solidFill>
                <a:latin typeface="맑은 고딕"/>
                <a:ea typeface="맑은 고딕"/>
              </a:rPr>
              <a:t> → </a:t>
            </a:r>
            <a:r>
              <a:rPr sz="1800" b="1">
                <a:solidFill>
                  <a:srgbClr val="000000"/>
                </a:solidFill>
                <a:latin typeface="맑은 고딕"/>
                <a:ea typeface="맑은 고딕"/>
              </a:rPr>
              <a:t>구조적 제약</a:t>
            </a:r>
            <a:r>
              <a:rPr sz="1800" b="0">
                <a:solidFill>
                  <a:srgbClr val="000000"/>
                </a:solidFill>
                <a:latin typeface="맑은 고딕"/>
                <a:ea typeface="맑은 고딕"/>
              </a:rPr>
              <a:t>을 정해 객체 설계에 넘긴다.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점선은 </a:t>
            </a:r>
            <a:r>
              <a:rPr sz="1800" b="1">
                <a:solidFill>
                  <a:srgbClr val="000000"/>
                </a:solidFill>
                <a:latin typeface="맑은 고딕"/>
                <a:ea typeface="맑은 고딕"/>
              </a:rPr>
              <a:t>변경 파급</a:t>
            </a:r>
            <a:r>
              <a:rPr sz="1800" b="0">
                <a:solidFill>
                  <a:srgbClr val="000000"/>
                </a:solidFill>
                <a:latin typeface="맑은 고딕"/>
                <a:ea typeface="맑은 고딕"/>
              </a:rPr>
              <a:t>을 검토하며 경계 후보로 되돌아가는 길이다.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862072"/>
            <a:ext cx="8412480" cy="201168"/>
          </a:xfrm>
          <a:prstGeom prst="rect">
            <a:avLst/>
          </a:prstGeom>
          <a:noFill/>
        </p:spPr>
        <p:txBody>
          <a:bodyPr wrap="square">
            <a:spAutoFit/>
          </a:bodyPr>
          <a:lstStyle/>
          <a:p>
            <a:pPr algn="ctr"/>
            <a:r>
              <a:rPr sz="1400" b="1">
                <a:solidFill>
                  <a:srgbClr val="000000"/>
                </a:solidFill>
                <a:latin typeface="맑은 고딕"/>
                <a:ea typeface="맑은 고딕"/>
              </a:rPr>
              <a:t>구조 설계의 흐름</a:t>
            </a:r>
          </a:p>
        </p:txBody>
      </p:sp>
      <p:pic>
        <p:nvPicPr>
          <p:cNvPr id="10" name="mermaid Diagram 1"/>
          <p:cNvPicPr>
            <a:picLocks noChangeAspect="1"/>
          </p:cNvPicPr>
          <p:nvPr/>
        </p:nvPicPr>
        <p:blipFill>
          <a:blip r:embed="mermaidImage1"/>
          <a:stretch>
            <a:fillRect/>
          </a:stretch>
        </p:blipFill>
        <p:spPr>
          <a:xfrm>
            <a:off x="3649663" y="3099816"/>
            <a:ext cx="1844675" cy="270033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클래스에서 패키지로</a:t>
            </a:r>
          </a:p>
          <a:p>
            <a:r>
              <a:rPr sz="1100" b="1">
                <a:solidFill>
                  <a:srgbClr val="000000"/>
                </a:solidFill>
                <a:latin typeface="맑은 고딕"/>
                <a:ea typeface="맑은 고딕"/>
              </a:rPr>
              <a:t>02. 분석에서 구조로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389696" y="4951984"/>
          <a:ext cx="4351020" cy="3873500"/>
        </p:xfrm>
        <a:graphic>
          <a:graphicData uri="http://schemas.openxmlformats.org/drawingml/2006/table">
            <a:tbl>
              <a:tblPr/>
              <a:tblGrid>
                <a:gridCol w="947420"/>
                <a:gridCol w="1366520"/>
                <a:gridCol w="20370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분석 패키지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구조 패키지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목적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개념을 이해한다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변경을 가둔다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관계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방향 없는 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방향 있는 의존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판단 기준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의미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소유·변경 이유·함께 쓰임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도메인 모델이 커지면 클래스 다이어그램 한 장으로는 읽기도 바꾸기도 어렵다. 패키지는 </a:t>
            </a:r>
            <a:r>
              <a:rPr sz="1800" b="1">
                <a:solidFill>
                  <a:srgbClr val="000000"/>
                </a:solidFill>
                <a:latin typeface="맑은 고딕"/>
                <a:ea typeface="맑은 고딕"/>
              </a:rPr>
              <a:t>변경의 단위</a:t>
            </a:r>
            <a:r>
              <a:rPr sz="1800" b="0">
                <a:solidFill>
                  <a:srgbClr val="000000"/>
                </a:solidFill>
                <a:latin typeface="맑은 고딕"/>
                <a:ea typeface="맑은 고딕"/>
              </a:rPr>
              <a:t>가 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653534"/>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분석 패키지와 구조 패키지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1886712"/>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분석 패키지</a:t>
            </a:r>
          </a:p>
        </p:txBody>
      </p:sp>
      <p:pic>
        <p:nvPicPr>
          <p:cNvPr id="16" name="plantuml Diagram 1"/>
          <p:cNvPicPr>
            <a:picLocks noChangeAspect="1"/>
          </p:cNvPicPr>
          <p:nvPr/>
        </p:nvPicPr>
        <p:blipFill>
          <a:blip r:embed="plantumlImage1"/>
          <a:stretch>
            <a:fillRect/>
          </a:stretch>
        </p:blipFill>
        <p:spPr>
          <a:xfrm>
            <a:off x="2748129" y="2124456"/>
            <a:ext cx="3634154" cy="2190750"/>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03. 구조적 경계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25766" y="4337050"/>
          <a:ext cx="6278880" cy="3873500"/>
        </p:xfrm>
        <a:graphic>
          <a:graphicData uri="http://schemas.openxmlformats.org/drawingml/2006/table">
            <a:tbl>
              <a:tblPr/>
              <a:tblGrid>
                <a:gridCol w="1087120"/>
                <a:gridCol w="2819400"/>
                <a:gridCol w="23723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결정</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다루는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시스템 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이 시스템의 책임인가?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"02. 요구 분석과 유스케이스"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구조적 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안의 어느 묶음이 책임지는가?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"05. 구조적 경계와 의존성"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의존 방향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어느 묶음이 어느 묶음을 아는가?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"05. 구조적 경계와 의존성"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객체 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어느 객체가 판단하고 협력하는가?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"07. 책임·협력·계약"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3141351"/>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구조적 경계</a:t>
            </a:r>
            <a:r>
              <a:rPr sz="1800" b="0">
                <a:solidFill>
                  <a:srgbClr val="000000"/>
                </a:solidFill>
                <a:latin typeface="맑은 고딕"/>
                <a:ea typeface="맑은 고딕"/>
              </a:rPr>
              <a:t>는 함께 바뀌는 </a:t>
            </a:r>
            <a:r>
              <a:rPr sz="1800" b="1">
                <a:solidFill>
                  <a:srgbClr val="000000"/>
                </a:solidFill>
                <a:latin typeface="맑은 고딕"/>
                <a:ea typeface="맑은 고딕"/>
              </a:rPr>
              <a:t>상태와 규칙</a:t>
            </a:r>
            <a:r>
              <a:rPr sz="1800" b="0">
                <a:solidFill>
                  <a:srgbClr val="000000"/>
                </a:solidFill>
                <a:latin typeface="맑은 고딕"/>
                <a:ea typeface="맑은 고딕"/>
              </a:rPr>
              <a:t>을 묶어, 책임이 놓일 범위를 정하는 선이다.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안</a:t>
            </a:r>
            <a:r>
              <a:rPr sz="1800" b="0">
                <a:solidFill>
                  <a:srgbClr val="000000"/>
                </a:solidFill>
                <a:latin typeface="맑은 고딕"/>
                <a:ea typeface="맑은 고딕"/>
              </a:rPr>
              <a:t> —</a:t>
            </a:r>
            <a:r>
              <a:rPr sz="1600" b="0">
                <a:solidFill>
                  <a:srgbClr val="000000"/>
                </a:solidFill>
                <a:latin typeface="맑은 고딕"/>
                <a:ea typeface="맑은 고딕"/>
              </a:rPr>
              <a:t> 경계가 소유하는 상태와 그 상태를 바꾸는 규칙</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밖</a:t>
            </a:r>
            <a:r>
              <a:rPr sz="1800" b="0">
                <a:solidFill>
                  <a:srgbClr val="000000"/>
                </a:solidFill>
                <a:latin typeface="맑은 고딕"/>
                <a:ea typeface="맑은 고딕"/>
              </a:rPr>
              <a:t> —</a:t>
            </a:r>
            <a:r>
              <a:rPr sz="1600" b="0">
                <a:solidFill>
                  <a:srgbClr val="000000"/>
                </a:solidFill>
                <a:latin typeface="맑은 고딕"/>
                <a:ea typeface="맑은 고딕"/>
              </a:rPr>
              <a:t> 경계가 알 필요 없는 세부. 경계를 넘을 때는 인터페이스로만 주고받는다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목적</a:t>
            </a:r>
            <a:r>
              <a:rPr sz="1800" b="0">
                <a:solidFill>
                  <a:srgbClr val="000000"/>
                </a:solidFill>
                <a:latin typeface="맑은 고딕"/>
                <a:ea typeface="맑은 고딕"/>
              </a:rPr>
              <a:t> —</a:t>
            </a:r>
            <a:r>
              <a:rPr sz="1600" b="0">
                <a:solidFill>
                  <a:srgbClr val="000000"/>
                </a:solidFill>
                <a:latin typeface="맑은 고딕"/>
                <a:ea typeface="맑은 고딕"/>
              </a:rPr>
              <a:t> 한 곳의 변경이 </a:t>
            </a:r>
            <a:r>
              <a:rPr sz="1600" b="1">
                <a:solidFill>
                  <a:srgbClr val="000000"/>
                </a:solidFill>
                <a:latin typeface="맑은 고딕"/>
                <a:ea typeface="맑은 고딕"/>
              </a:rPr>
              <a:t>다른 곳으로 번지지 않게</a:t>
            </a:r>
            <a:r>
              <a:rPr sz="1600" b="0">
                <a:solidFill>
                  <a:srgbClr val="000000"/>
                </a:solidFill>
                <a:latin typeface="맑은 고딕"/>
                <a:ea typeface="맑은 고딕"/>
              </a:rPr>
              <a:t> 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경계는 폴더 정리가 아니라 </a:t>
            </a:r>
            <a:r>
              <a:rPr sz="1800" b="1">
                <a:solidFill>
                  <a:srgbClr val="000000"/>
                </a:solidFill>
                <a:latin typeface="맑은 고딕"/>
                <a:ea typeface="맑은 고딕"/>
              </a:rPr>
              <a:t>변경을 가두는 결정</a:t>
            </a:r>
            <a:r>
              <a:rPr sz="1800" b="0">
                <a:solidFill>
                  <a:srgbClr val="000000"/>
                </a:solidFill>
                <a:latin typeface="맑은 고딕"/>
                <a:ea typeface="맑은 고딕"/>
              </a:rPr>
              <a:t>이다. 요구·분석과 다른 </a:t>
            </a:r>
            <a:r>
              <a:rPr sz="1800" b="1">
                <a:solidFill>
                  <a:srgbClr val="000000"/>
                </a:solidFill>
                <a:latin typeface="맑은 고딕"/>
                <a:ea typeface="맑은 고딕"/>
              </a:rPr>
              <a:t>구조 설계의 결정</a:t>
            </a:r>
            <a:r>
              <a:rPr sz="1800" b="0">
                <a:solidFill>
                  <a:srgbClr val="000000"/>
                </a:solidFill>
                <a:latin typeface="맑은 고딕"/>
                <a:ea typeface="맑은 고딕"/>
              </a:rPr>
              <a:t>으로, 앞의 결정을 입력으로 쓰고 뒤의 결정을 제약한다.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03860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경계와 의존의 결정</a:t>
            </a:r>
          </a:p>
        </p:txBody>
      </p:sp>
    </p:spTree>
    <p:extLst>
      <p:ext uri="{BB962C8B-B14F-4D97-AF65-F5344CB8AC3E}">
        <p14:creationId xmlns:p14="http://schemas.microsoft.com/office/powerpoint/2010/main" val="2789569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04. 의존성</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의존성</a:t>
            </a:r>
            <a:r>
              <a:rPr sz="1800" b="0">
                <a:solidFill>
                  <a:srgbClr val="000000"/>
                </a:solidFill>
                <a:latin typeface="맑은 고딕"/>
                <a:ea typeface="맑은 고딕"/>
              </a:rPr>
              <a:t>은 한 요소가 다른 요소를 </a:t>
            </a:r>
            <a:r>
              <a:rPr sz="1800" b="1">
                <a:solidFill>
                  <a:srgbClr val="000000"/>
                </a:solidFill>
                <a:latin typeface="맑은 고딕"/>
                <a:ea typeface="맑은 고딕"/>
              </a:rPr>
              <a:t>알고 쓰는</a:t>
            </a:r>
            <a:r>
              <a:rPr sz="1800" b="0">
                <a:solidFill>
                  <a:srgbClr val="000000"/>
                </a:solidFill>
                <a:latin typeface="맑은 고딕"/>
                <a:ea typeface="맑은 고딕"/>
              </a:rPr>
              <a:t> 관계다. 쓰는 쪽은 쓰이는 쪽이 바뀌면 </a:t>
            </a:r>
            <a:r>
              <a:rPr sz="1800" b="1">
                <a:solidFill>
                  <a:srgbClr val="000000"/>
                </a:solidFill>
                <a:latin typeface="맑은 고딕"/>
                <a:ea typeface="맑은 고딕"/>
              </a:rPr>
              <a:t>함께 바뀔 수 있다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"의존은 공급자를 바꾸면 클라이언트 요소가 영향을 받을 수 있는, 모델 요소 사이의 </a:t>
            </a:r>
            <a:r>
              <a:rPr sz="1800" b="1">
                <a:solidFill>
                  <a:srgbClr val="000000"/>
                </a:solidFill>
                <a:latin typeface="맑은 고딕"/>
                <a:ea typeface="맑은 고딕"/>
              </a:rPr>
              <a:t>공급자/클라이언트</a:t>
            </a:r>
            <a:r>
              <a:rPr sz="1800" b="0">
                <a:solidFill>
                  <a:srgbClr val="000000"/>
                </a:solidFill>
                <a:latin typeface="맑은 고딕"/>
                <a:ea typeface="맑은 고딕"/>
              </a:rPr>
              <a:t> 관계다"</a:t>
            </a:r>
            <a:r>
              <a:rPr sz="1000" b="0">
                <a:solidFill>
                  <a:srgbClr val="000000"/>
                </a:solidFill>
                <a:latin typeface="맑은 고딕"/>
                <a:ea typeface="맑은 고딕"/>
              </a:rPr>
              <a:t>, </a:t>
            </a:r>
            <a:r>
              <a:rPr sz="1000" b="0">
                <a:solidFill>
                  <a:srgbClr val="000000"/>
                </a:solidFill>
                <a:latin typeface="맑은 고딕"/>
                <a:ea typeface="맑은 고딕"/>
              </a:rPr>
              <a:t>"A Dependency signifies a supplier/client relationship between model elements where the modification of a supplier may impact the client model elements."</a:t>
            </a:r>
            <a:r>
              <a:rPr sz="1000" b="0">
                <a:solidFill>
                  <a:srgbClr val="000000"/>
                </a:solidFill>
                <a:latin typeface="맑은 고딕"/>
                <a:ea typeface="맑은 고딕"/>
              </a:rPr>
              <a:t>, </a:t>
            </a:r>
            <a:r>
              <a:rPr sz="1000" b="0">
                <a:solidFill>
                  <a:srgbClr val="000000"/>
                </a:solidFill>
                <a:latin typeface="맑은 고딕"/>
                <a:ea typeface="맑은 고딕"/>
              </a:rPr>
              <a:t>[OMG 2017]</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방향</a:t>
            </a:r>
            <a:r>
              <a:rPr sz="1800" b="0">
                <a:solidFill>
                  <a:srgbClr val="000000"/>
                </a:solidFill>
                <a:latin typeface="맑은 고딕"/>
                <a:ea typeface="맑은 고딕"/>
              </a:rPr>
              <a:t> —</a:t>
            </a:r>
            <a:r>
              <a:rPr sz="1600" b="0">
                <a:solidFill>
                  <a:srgbClr val="000000"/>
                </a:solidFill>
                <a:latin typeface="맑은 고딕"/>
                <a:ea typeface="맑은 고딕"/>
              </a:rPr>
              <a:t> 화살표는 쓰는 쪽</a:t>
            </a:r>
            <a:r>
              <a:rPr sz="1200" b="0">
                <a:solidFill>
                  <a:srgbClr val="000000"/>
                </a:solidFill>
                <a:latin typeface="맑은 고딕"/>
                <a:ea typeface="맑은 고딕"/>
              </a:rPr>
              <a:t>(클라이언트)</a:t>
            </a:r>
            <a:r>
              <a:rPr sz="1600" b="0">
                <a:solidFill>
                  <a:srgbClr val="000000"/>
                </a:solidFill>
                <a:latin typeface="맑은 고딕"/>
                <a:ea typeface="맑은 고딕"/>
              </a:rPr>
              <a:t>에서 쓰이는 쪽</a:t>
            </a:r>
            <a:r>
              <a:rPr sz="1200" b="0">
                <a:solidFill>
                  <a:srgbClr val="000000"/>
                </a:solidFill>
                <a:latin typeface="맑은 고딕"/>
                <a:ea typeface="맑은 고딕"/>
              </a:rPr>
              <a:t>(공급자)</a:t>
            </a:r>
            <a:r>
              <a:rPr sz="1600" b="0">
                <a:solidFill>
                  <a:srgbClr val="000000"/>
                </a:solidFill>
                <a:latin typeface="맑은 고딕"/>
                <a:ea typeface="맑은 고딕"/>
              </a:rPr>
              <a:t>으로 향한다.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전파</a:t>
            </a:r>
            <a:r>
              <a:rPr sz="1800" b="0">
                <a:solidFill>
                  <a:srgbClr val="000000"/>
                </a:solidFill>
                <a:latin typeface="맑은 고딕"/>
                <a:ea typeface="맑은 고딕"/>
              </a:rPr>
              <a:t> —</a:t>
            </a:r>
            <a:r>
              <a:rPr sz="1600" b="0">
                <a:solidFill>
                  <a:srgbClr val="000000"/>
                </a:solidFill>
                <a:latin typeface="맑은 고딕"/>
                <a:ea typeface="맑은 고딕"/>
              </a:rPr>
              <a:t> 변경은 화살표의 </a:t>
            </a:r>
            <a:r>
              <a:rPr sz="1600" b="1">
                <a:solidFill>
                  <a:srgbClr val="000000"/>
                </a:solidFill>
                <a:latin typeface="맑은 고딕"/>
                <a:ea typeface="맑은 고딕"/>
              </a:rPr>
              <a:t>반대 방향</a:t>
            </a:r>
            <a:r>
              <a:rPr sz="1600" b="0">
                <a:solidFill>
                  <a:srgbClr val="000000"/>
                </a:solidFill>
                <a:latin typeface="맑은 고딕"/>
                <a:ea typeface="맑은 고딕"/>
              </a:rPr>
              <a:t>으로 번진다. 공급자가 바뀌면 클라이언트가 영향을 받는다.</a:t>
            </a:r>
          </a:p>
        </p:txBody>
      </p:sp>
    </p:spTree>
    <p:extLst>
      <p:ext uri="{BB962C8B-B14F-4D97-AF65-F5344CB8AC3E}">
        <p14:creationId xmlns:p14="http://schemas.microsoft.com/office/powerpoint/2010/main" val="3555436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05. 설계의 이름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49286" y="2112010"/>
          <a:ext cx="5831840" cy="3873500"/>
        </p:xfrm>
        <a:graphic>
          <a:graphicData uri="http://schemas.openxmlformats.org/drawingml/2006/table">
            <a:tbl>
              <a:tblPr/>
              <a:tblGrid>
                <a:gridCol w="1366520"/>
                <a:gridCol w="1729740"/>
                <a:gridCol w="27355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용어집</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영문명</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설계에서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클래스, 패키지 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게이트웨이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DeliveryGateway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시스템에 요청하는 인터페이스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DeliveryAdapter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 배송 시스템과 통신하는 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시작 통보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onDeliveryStarted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메서드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분석</a:t>
            </a:r>
            <a:r>
              <a:rPr sz="1800" b="0">
                <a:solidFill>
                  <a:srgbClr val="000000"/>
                </a:solidFill>
                <a:latin typeface="맑은 고딕"/>
                <a:ea typeface="맑은 고딕"/>
              </a:rPr>
              <a:t>은 용어집의 </a:t>
            </a:r>
            <a:r>
              <a:rPr sz="1800" b="1">
                <a:solidFill>
                  <a:srgbClr val="000000"/>
                </a:solidFill>
                <a:latin typeface="맑은 고딕"/>
                <a:ea typeface="맑은 고딕"/>
              </a:rPr>
              <a:t>한글 용어</a:t>
            </a:r>
            <a:r>
              <a:rPr sz="1800" b="0">
                <a:solidFill>
                  <a:srgbClr val="000000"/>
                </a:solidFill>
                <a:latin typeface="맑은 고딕"/>
                <a:ea typeface="맑은 고딕"/>
              </a:rPr>
              <a:t>로, </a:t>
            </a:r>
            <a:r>
              <a:rPr sz="1800" b="1">
                <a:solidFill>
                  <a:srgbClr val="000000"/>
                </a:solidFill>
                <a:latin typeface="맑은 고딕"/>
                <a:ea typeface="맑은 고딕"/>
              </a:rPr>
              <a:t>설계</a:t>
            </a:r>
            <a:r>
              <a:rPr sz="1800" b="0">
                <a:solidFill>
                  <a:srgbClr val="000000"/>
                </a:solidFill>
                <a:latin typeface="맑은 고딕"/>
                <a:ea typeface="맑은 고딕"/>
              </a:rPr>
              <a:t>는 같은 용어의 </a:t>
            </a:r>
            <a:r>
              <a:rPr sz="1800" b="1">
                <a:solidFill>
                  <a:srgbClr val="000000"/>
                </a:solidFill>
                <a:latin typeface="맑은 고딕"/>
                <a:ea typeface="맑은 고딕"/>
              </a:rPr>
              <a:t>영문명</a:t>
            </a:r>
            <a:r>
              <a:rPr sz="1800" b="0">
                <a:solidFill>
                  <a:srgbClr val="000000"/>
                </a:solidFill>
                <a:latin typeface="맑은 고딕"/>
                <a:ea typeface="맑은 고딕"/>
              </a:rPr>
              <a:t>으로 그린다. 패키지 다이어그램부터 설계 도식과 코드는 영문명을 사용한다.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용어집에서 설계 이름으로</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780610"/>
            <a:ext cx="8412480" cy="157575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이름 쓰는 법</a:t>
            </a:r>
            <a:r>
              <a:rPr sz="1800" b="0">
                <a:solidFill>
                  <a:srgbClr val="000000"/>
                </a:solidFill>
                <a:latin typeface="맑은 고딕"/>
                <a:ea typeface="맑은 고딕"/>
              </a:rPr>
              <a:t> —</a:t>
            </a:r>
            <a:r>
              <a:rPr sz="1600" b="0">
                <a:solidFill>
                  <a:srgbClr val="000000"/>
                </a:solidFill>
                <a:latin typeface="맑은 고딕"/>
                <a:ea typeface="맑은 고딕"/>
              </a:rPr>
              <a:t> 표의 이름처럼 쓴다.</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클래스·인터페이스</a:t>
            </a:r>
            <a:r>
              <a:rPr sz="1600" b="0">
                <a:solidFill>
                  <a:srgbClr val="000000"/>
                </a:solidFill>
                <a:latin typeface="맑은 고딕"/>
                <a:ea typeface="맑은 고딕"/>
              </a:rPr>
              <a:t>는 단어 첫 글자를 대문자로(</a:t>
            </a:r>
            <a:r>
              <a:rPr sz="1600" b="0">
                <a:solidFill>
                  <a:srgbClr val="000000"/>
                </a:solidFill>
                <a:latin typeface="맑은 고딕"/>
                <a:ea typeface="맑은 고딕"/>
              </a:rPr>
              <a:t>DeliveryGateway</a:t>
            </a:r>
            <a:r>
              <a:rPr sz="1600" b="0">
                <a:solidFill>
                  <a:srgbClr val="000000"/>
                </a:solidFill>
                <a:latin typeface="맑은 고딕"/>
                <a:ea typeface="맑은 고딕"/>
              </a:rPr>
              <a:t>), </a:t>
            </a:r>
            <a:r>
              <a:rPr sz="1600" b="1">
                <a:solidFill>
                  <a:srgbClr val="000000"/>
                </a:solidFill>
                <a:latin typeface="맑은 고딕"/>
                <a:ea typeface="맑은 고딕"/>
              </a:rPr>
              <a:t>메서드</a:t>
            </a:r>
            <a:r>
              <a:rPr sz="1600" b="0">
                <a:solidFill>
                  <a:srgbClr val="000000"/>
                </a:solidFill>
                <a:latin typeface="맑은 고딕"/>
                <a:ea typeface="맑은 고딕"/>
              </a:rPr>
              <a:t>는 첫 단어만 소문자로(</a:t>
            </a:r>
            <a:r>
              <a:rPr sz="1600" b="0">
                <a:solidFill>
                  <a:srgbClr val="000000"/>
                </a:solidFill>
                <a:latin typeface="맑은 고딕"/>
                <a:ea typeface="맑은 고딕"/>
              </a:rPr>
              <a:t>onDeliveryStarted</a:t>
            </a:r>
            <a:r>
              <a:rPr sz="1600" b="0">
                <a:solidFill>
                  <a:srgbClr val="000000"/>
                </a:solidFill>
                <a:latin typeface="맑은 고딕"/>
                <a:ea typeface="맑은 고딕"/>
              </a:rPr>
              <a:t>)</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상태 값</a:t>
            </a:r>
            <a:r>
              <a:rPr sz="1600" b="0">
                <a:solidFill>
                  <a:srgbClr val="000000"/>
                </a:solidFill>
                <a:latin typeface="맑은 고딕"/>
                <a:ea typeface="맑은 고딕"/>
              </a:rPr>
              <a:t>은 대문자와 밑줄로(</a:t>
            </a:r>
            <a:r>
              <a:rPr sz="1600" b="0">
                <a:solidFill>
                  <a:srgbClr val="000000"/>
                </a:solidFill>
                <a:latin typeface="맑은 고딕"/>
                <a:ea typeface="맑은 고딕"/>
              </a:rPr>
              <a:t>PENDING_PAYMENT</a:t>
            </a:r>
            <a:r>
              <a:rPr sz="1600" b="0">
                <a:solidFill>
                  <a:srgbClr val="000000"/>
                </a:solidFill>
                <a:latin typeface="맑은 고딕"/>
                <a:ea typeface="맑은 고딕"/>
              </a:rPr>
              <a:t>), </a:t>
            </a:r>
            <a:r>
              <a:rPr sz="1600" b="1">
                <a:solidFill>
                  <a:srgbClr val="000000"/>
                </a:solidFill>
                <a:latin typeface="맑은 고딕"/>
                <a:ea typeface="맑은 고딕"/>
              </a:rPr>
              <a:t>패키지</a:t>
            </a:r>
            <a:r>
              <a:rPr sz="1600" b="0">
                <a:solidFill>
                  <a:srgbClr val="000000"/>
                </a:solidFill>
                <a:latin typeface="맑은 고딕"/>
                <a:ea typeface="맑은 고딕"/>
              </a:rPr>
              <a:t>는 소문자로(</a:t>
            </a:r>
            <a:r>
              <a:rPr sz="1600" b="0">
                <a:solidFill>
                  <a:srgbClr val="000000"/>
                </a:solidFill>
                <a:latin typeface="맑은 고딕"/>
                <a:ea typeface="맑은 고딕"/>
              </a:rPr>
              <a:t>order</a:t>
            </a:r>
            <a:r>
              <a:rPr sz="1600" b="0">
                <a:solidFill>
                  <a:srgbClr val="000000"/>
                </a:solidFill>
                <a:latin typeface="맑은 고딕"/>
                <a:ea typeface="맑은 고딕"/>
              </a:rPr>
              <a:t>)</a:t>
            </a:r>
          </a:p>
        </p:txBody>
      </p:sp>
    </p:spTree>
    <p:extLst>
      <p:ext uri="{BB962C8B-B14F-4D97-AF65-F5344CB8AC3E}">
        <p14:creationId xmlns:p14="http://schemas.microsoft.com/office/powerpoint/2010/main" val="278956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06. 패키지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69886" y="4106946"/>
          <a:ext cx="6390640" cy="3873500"/>
        </p:xfrm>
        <a:graphic>
          <a:graphicData uri="http://schemas.openxmlformats.org/drawingml/2006/table">
            <a:tbl>
              <a:tblPr/>
              <a:tblGrid>
                <a:gridCol w="1841500"/>
                <a:gridCol w="1813560"/>
                <a:gridCol w="27355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패키지 — 탭 달린 폴더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경계의 이름 있는 묶음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변경 이유로 이름 짓는다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의존 — 점선 화살표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쓰는 쪽 → 쓰이는 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경계를 넘는 사용마다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실현 — 점선·빈 삼각형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인터페이스를 구현한다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인터페이스와 구현 클래스를 잇는다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«interface»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구현 없는 메서드 목록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그 인터페이스를 쓰는 패키지에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패키지 다이어그램</a:t>
            </a:r>
            <a:r>
              <a:rPr sz="1800" b="0">
                <a:solidFill>
                  <a:srgbClr val="000000"/>
                </a:solidFill>
                <a:latin typeface="맑은 고딕"/>
                <a:ea typeface="맑은 고딕"/>
              </a:rPr>
              <a:t>은 패키지와 그 사이의 </a:t>
            </a:r>
            <a:r>
              <a:rPr sz="1800" b="1">
                <a:solidFill>
                  <a:srgbClr val="000000"/>
                </a:solidFill>
                <a:latin typeface="맑은 고딕"/>
                <a:ea typeface="맑은 고딕"/>
              </a:rPr>
              <a:t>의존</a:t>
            </a:r>
            <a:r>
              <a:rPr sz="1800" b="0">
                <a:solidFill>
                  <a:srgbClr val="000000"/>
                </a:solidFill>
                <a:latin typeface="맑은 고딕"/>
                <a:ea typeface="맑은 고딕"/>
              </a:rPr>
              <a:t>을 보여 준다. 경계와 의존 방향을 한눈에 검토하는 도구다.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80849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표기와 사용법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1886712"/>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패키지 다이어그램의 예</a:t>
            </a:r>
          </a:p>
        </p:txBody>
      </p:sp>
      <p:pic>
        <p:nvPicPr>
          <p:cNvPr id="16" name="plantuml Diagram 2"/>
          <p:cNvPicPr>
            <a:picLocks noChangeAspect="1"/>
          </p:cNvPicPr>
          <p:nvPr/>
        </p:nvPicPr>
        <p:blipFill>
          <a:blip r:embed="plantumlImage2"/>
          <a:stretch>
            <a:fillRect/>
          </a:stretch>
        </p:blipFill>
        <p:spPr>
          <a:xfrm>
            <a:off x="2425744" y="2124456"/>
            <a:ext cx="4278923" cy="1345712"/>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07. 경계 후보 </a:t>
            </a:r>
            <a:r>
              <a:rPr sz="2000" b="1">
                <a:solidFill>
                  <a:srgbClr val="000000"/>
                </a:solidFill>
                <a:latin typeface="맑은 고딕"/>
                <a:ea typeface="맑은 고딕"/>
              </a:rPr>
              <a:t>(1/2)</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07376" y="2112010"/>
          <a:ext cx="5915660" cy="3873500"/>
        </p:xfrm>
        <a:graphic>
          <a:graphicData uri="http://schemas.openxmlformats.org/drawingml/2006/table">
            <a:tbl>
              <a:tblPr/>
              <a:tblGrid>
                <a:gridCol w="1310640"/>
                <a:gridCol w="2540000"/>
                <a:gridCol w="20650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모델의 단서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합성·불변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함께 있어야 규칙이 지켜지는가?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정적 모델의 합성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소유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누가 그 상태와 규칙을 바꾸는가?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동적 모델의 상태 기계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변경 이유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같은 이유로 바뀌는가?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요구의 규칙·정책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함께 쓰임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늘 함께 쓰이는가?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요구의 시스템 이벤트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통제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우리가 바꿀 수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정제된 SSD의 외부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클래스를 패키지로 나누는 기준은 </a:t>
            </a:r>
            <a:r>
              <a:rPr sz="1800" b="1">
                <a:solidFill>
                  <a:srgbClr val="000000"/>
                </a:solidFill>
                <a:latin typeface="맑은 고딕"/>
                <a:ea typeface="맑은 고딕"/>
              </a:rPr>
              <a:t>다섯 가지 질문</a:t>
            </a:r>
            <a:r>
              <a:rPr sz="1800" b="0">
                <a:solidFill>
                  <a:srgbClr val="000000"/>
                </a:solidFill>
                <a:latin typeface="맑은 고딕"/>
                <a:ea typeface="맑은 고딕"/>
              </a:rPr>
              <a:t>이다. 각 질문의 단서는 앞 세션의 모델에 이미 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패키지 기준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6861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앞의 두 기준은 </a:t>
            </a:r>
            <a:r>
              <a:rPr sz="1800" b="1">
                <a:solidFill>
                  <a:srgbClr val="000000"/>
                </a:solidFill>
                <a:latin typeface="맑은 고딕"/>
                <a:ea typeface="맑은 고딕"/>
              </a:rPr>
              <a:t>함께 둘 것</a:t>
            </a:r>
            <a:r>
              <a:rPr sz="1800" b="0">
                <a:solidFill>
                  <a:srgbClr val="000000"/>
                </a:solidFill>
                <a:latin typeface="맑은 고딕"/>
                <a:ea typeface="맑은 고딕"/>
              </a:rPr>
              <a:t>을, 뒤의 세 기준은 </a:t>
            </a:r>
            <a:r>
              <a:rPr sz="1800" b="1">
                <a:solidFill>
                  <a:srgbClr val="000000"/>
                </a:solidFill>
                <a:latin typeface="맑은 고딕"/>
                <a:ea typeface="맑은 고딕"/>
              </a:rPr>
              <a:t>나눌 것</a:t>
            </a:r>
            <a:r>
              <a:rPr sz="1800" b="0">
                <a:solidFill>
                  <a:srgbClr val="000000"/>
                </a:solidFill>
                <a:latin typeface="맑은 고딕"/>
                <a:ea typeface="맑은 고딕"/>
              </a:rPr>
              <a:t>을 찾는다. 기준이 부딪히면 </a:t>
            </a:r>
            <a:r>
              <a:rPr sz="1800" b="1">
                <a:solidFill>
                  <a:srgbClr val="000000"/>
                </a:solidFill>
                <a:latin typeface="맑은 고딕"/>
                <a:ea typeface="맑은 고딕"/>
              </a:rPr>
              <a:t>변경 이유</a:t>
            </a:r>
            <a:r>
              <a:rPr sz="1800" b="0">
                <a:solidFill>
                  <a:srgbClr val="000000"/>
                </a:solidFill>
                <a:latin typeface="맑은 고딕"/>
                <a:ea typeface="맑은 고딕"/>
              </a:rPr>
              <a:t>가 우선한다.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기능 목록</a:t>
            </a:r>
            <a:r>
              <a:rPr sz="1400" b="0">
                <a:solidFill>
                  <a:srgbClr val="000000"/>
                </a:solidFill>
                <a:latin typeface="맑은 고딕"/>
                <a:ea typeface="맑은 고딕"/>
              </a:rPr>
              <a:t>(주문 관리 기능, 결제 기능)</a:t>
            </a:r>
            <a:r>
              <a:rPr sz="1800" b="0">
                <a:solidFill>
                  <a:srgbClr val="000000"/>
                </a:solidFill>
                <a:latin typeface="맑은 고딕"/>
                <a:ea typeface="맑은 고딕"/>
              </a:rPr>
              <a:t>이나 </a:t>
            </a:r>
            <a:r>
              <a:rPr sz="1800" b="1">
                <a:solidFill>
                  <a:srgbClr val="000000"/>
                </a:solidFill>
                <a:latin typeface="맑은 고딕"/>
                <a:ea typeface="맑은 고딕"/>
              </a:rPr>
              <a:t>기술 계층</a:t>
            </a:r>
            <a:r>
              <a:rPr sz="1800" b="0">
                <a:solidFill>
                  <a:srgbClr val="000000"/>
                </a:solidFill>
                <a:latin typeface="맑은 고딕"/>
                <a:ea typeface="맑은 고딕"/>
              </a:rPr>
              <a:t>은 기준이 아니다</a:t>
            </a:r>
            <a:r>
              <a:rPr sz="1400" b="0">
                <a:solidFill>
                  <a:srgbClr val="000000"/>
                </a:solidFill>
                <a:latin typeface="맑은 고딕"/>
                <a:ea typeface="맑은 고딕"/>
              </a:rPr>
              <a:t>(「18. 잘못된 관행」의 「기술 계층 분할」)</a:t>
            </a:r>
            <a:r>
              <a:rPr sz="1800" b="0">
                <a:solidFill>
                  <a:srgbClr val="000000"/>
                </a:solidFill>
                <a:latin typeface="맑은 고딕"/>
                <a:ea typeface="맑은 고딕"/>
              </a:rPr>
              <a:t>.</a:t>
            </a:r>
          </a:p>
        </p:txBody>
      </p:sp>
    </p:spTree>
    <p:extLst>
      <p:ext uri="{BB962C8B-B14F-4D97-AF65-F5344CB8AC3E}">
        <p14:creationId xmlns:p14="http://schemas.microsoft.com/office/powerpoint/2010/main" val="2789569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07. 경계 후보 </a:t>
            </a:r>
            <a:r>
              <a:rPr sz="2000" b="1">
                <a:solidFill>
                  <a:srgbClr val="000000"/>
                </a:solidFill>
                <a:latin typeface="맑은 고딕"/>
                <a:ea typeface="맑은 고딕"/>
              </a:rPr>
              <a:t>(2/2)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경계는 </a:t>
            </a:r>
            <a:r>
              <a:rPr sz="1800" b="1">
                <a:solidFill>
                  <a:srgbClr val="000000"/>
                </a:solidFill>
                <a:latin typeface="맑은 고딕"/>
                <a:ea typeface="맑은 고딕"/>
              </a:rPr>
              <a:t>함께 바뀌는 것</a:t>
            </a:r>
            <a:r>
              <a:rPr sz="1800" b="0">
                <a:solidFill>
                  <a:srgbClr val="000000"/>
                </a:solidFill>
                <a:latin typeface="맑은 고딕"/>
                <a:ea typeface="맑은 고딕"/>
              </a:rPr>
              <a:t>을 묶고, </a:t>
            </a:r>
            <a:r>
              <a:rPr sz="1800" b="1">
                <a:solidFill>
                  <a:srgbClr val="000000"/>
                </a:solidFill>
                <a:latin typeface="맑은 고딕"/>
                <a:ea typeface="맑은 고딕"/>
              </a:rPr>
              <a:t>함께 쓰이지 않는 것</a:t>
            </a:r>
            <a:r>
              <a:rPr sz="1800" b="0">
                <a:solidFill>
                  <a:srgbClr val="000000"/>
                </a:solidFill>
                <a:latin typeface="맑은 고딕"/>
                <a:ea typeface="맑은 고딕"/>
              </a:rPr>
              <a:t>은 나눈다.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공통 폐쇄 원칙</a:t>
            </a:r>
            <a:r>
              <a:rPr sz="1400" b="1">
                <a:solidFill>
                  <a:srgbClr val="000000"/>
                </a:solidFill>
                <a:latin typeface="맑은 고딕"/>
                <a:ea typeface="맑은 고딕"/>
              </a:rPr>
              <a:t>(Common Closure Principle, CCP)</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a:t>
            </a:r>
            <a:r>
              <a:rPr sz="1600" b="1">
                <a:solidFill>
                  <a:srgbClr val="000000"/>
                </a:solidFill>
                <a:latin typeface="맑은 고딕"/>
                <a:ea typeface="맑은 고딕"/>
              </a:rPr>
              <a:t>함께 바뀌는</a:t>
            </a:r>
            <a:r>
              <a:rPr sz="1600" b="0">
                <a:solidFill>
                  <a:srgbClr val="000000"/>
                </a:solidFill>
                <a:latin typeface="맑은 고딕"/>
                <a:ea typeface="맑은 고딕"/>
              </a:rPr>
              <a:t> 클래스는 함께 둔다"</a:t>
            </a:r>
            <a:r>
              <a:rPr sz="1000" b="0">
                <a:solidFill>
                  <a:srgbClr val="000000"/>
                </a:solidFill>
                <a:latin typeface="맑은 고딕"/>
                <a:ea typeface="맑은 고딕"/>
              </a:rPr>
              <a:t>, </a:t>
            </a:r>
            <a:r>
              <a:rPr sz="1000" b="0">
                <a:solidFill>
                  <a:srgbClr val="000000"/>
                </a:solidFill>
                <a:latin typeface="맑은 고딕"/>
                <a:ea typeface="맑은 고딕"/>
              </a:rPr>
              <a:t>"Classes that change together, belong together."</a:t>
            </a:r>
            <a:r>
              <a:rPr sz="1000" b="0">
                <a:solidFill>
                  <a:srgbClr val="000000"/>
                </a:solidFill>
                <a:latin typeface="맑은 고딕"/>
                <a:ea typeface="맑은 고딕"/>
              </a:rPr>
              <a:t>, </a:t>
            </a:r>
            <a:r>
              <a:rPr sz="1000" b="0">
                <a:solidFill>
                  <a:srgbClr val="000000"/>
                </a:solidFill>
                <a:latin typeface="맑은 고딕"/>
                <a:ea typeface="맑은 고딕"/>
              </a:rPr>
              <a:t>[Martin 2000]</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공통 재사용 원칙</a:t>
            </a:r>
            <a:r>
              <a:rPr sz="1400" b="1">
                <a:solidFill>
                  <a:srgbClr val="000000"/>
                </a:solidFill>
                <a:latin typeface="맑은 고딕"/>
                <a:ea typeface="맑은 고딕"/>
              </a:rPr>
              <a:t>(Common Reuse Principle, CRP)</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a:t>
            </a:r>
            <a:r>
              <a:rPr sz="1600" b="1">
                <a:solidFill>
                  <a:srgbClr val="000000"/>
                </a:solidFill>
                <a:latin typeface="맑은 고딕"/>
                <a:ea typeface="맑은 고딕"/>
              </a:rPr>
              <a:t>함께 재사용되지 않는</a:t>
            </a:r>
            <a:r>
              <a:rPr sz="1600" b="0">
                <a:solidFill>
                  <a:srgbClr val="000000"/>
                </a:solidFill>
                <a:latin typeface="맑은 고딕"/>
                <a:ea typeface="맑은 고딕"/>
              </a:rPr>
              <a:t> 클래스는 함께 묶지 않는다"</a:t>
            </a:r>
            <a:r>
              <a:rPr sz="1000" b="0">
                <a:solidFill>
                  <a:srgbClr val="000000"/>
                </a:solidFill>
                <a:latin typeface="맑은 고딕"/>
                <a:ea typeface="맑은 고딕"/>
              </a:rPr>
              <a:t>, </a:t>
            </a:r>
            <a:r>
              <a:rPr sz="1000" b="0">
                <a:solidFill>
                  <a:srgbClr val="000000"/>
                </a:solidFill>
                <a:latin typeface="맑은 고딕"/>
                <a:ea typeface="맑은 고딕"/>
              </a:rPr>
              <a:t>"Classes that aren’t reused together should not be grouped together."</a:t>
            </a:r>
            <a:r>
              <a:rPr sz="1000" b="0">
                <a:solidFill>
                  <a:srgbClr val="000000"/>
                </a:solidFill>
                <a:latin typeface="맑은 고딕"/>
                <a:ea typeface="맑은 고딕"/>
              </a:rPr>
              <a:t>, </a:t>
            </a:r>
            <a:r>
              <a:rPr sz="1000" b="0">
                <a:solidFill>
                  <a:srgbClr val="000000"/>
                </a:solidFill>
                <a:latin typeface="맑은 고딕"/>
                <a:ea typeface="맑은 고딕"/>
              </a:rPr>
              <a:t>[Martin 2000]</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취소 규칙</a:t>
            </a:r>
            <a:r>
              <a:rPr sz="1400" b="0">
                <a:solidFill>
                  <a:srgbClr val="000000"/>
                </a:solidFill>
                <a:latin typeface="맑은 고딕"/>
                <a:ea typeface="맑은 고딕"/>
              </a:rPr>
              <a:t>(업무 정책)</a:t>
            </a:r>
            <a:r>
              <a:rPr sz="1800" b="0">
                <a:solidFill>
                  <a:srgbClr val="000000"/>
                </a:solidFill>
                <a:latin typeface="맑은 고딕"/>
                <a:ea typeface="맑은 고딕"/>
              </a:rPr>
              <a:t>과 결제 대행 방식</a:t>
            </a:r>
            <a:r>
              <a:rPr sz="1400" b="0">
                <a:solidFill>
                  <a:srgbClr val="000000"/>
                </a:solidFill>
                <a:latin typeface="맑은 고딕"/>
                <a:ea typeface="맑은 고딕"/>
              </a:rPr>
              <a:t>(외부 계약)</a:t>
            </a:r>
            <a:r>
              <a:rPr sz="1800" b="0">
                <a:solidFill>
                  <a:srgbClr val="000000"/>
                </a:solidFill>
                <a:latin typeface="맑은 고딕"/>
                <a:ea typeface="맑은 고딕"/>
              </a:rPr>
              <a:t>은 </a:t>
            </a:r>
            <a:r>
              <a:rPr sz="1800" b="1">
                <a:solidFill>
                  <a:srgbClr val="000000"/>
                </a:solidFill>
                <a:latin typeface="맑은 고딕"/>
                <a:ea typeface="맑은 고딕"/>
              </a:rPr>
              <a:t>바뀌는 이유</a:t>
            </a:r>
            <a:r>
              <a:rPr sz="1800" b="0">
                <a:solidFill>
                  <a:srgbClr val="000000"/>
                </a:solidFill>
                <a:latin typeface="맑은 고딕"/>
                <a:ea typeface="맑은 고딕"/>
              </a:rPr>
              <a:t>가 달라 다른 경계에 둔다.</a:t>
            </a:r>
          </a:p>
        </p:txBody>
      </p:sp>
    </p:spTree>
    <p:extLst>
      <p:ext uri="{BB962C8B-B14F-4D97-AF65-F5344CB8AC3E}">
        <p14:creationId xmlns:p14="http://schemas.microsoft.com/office/powerpoint/2010/main" val="3555436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업무 경계</a:t>
            </a:r>
          </a:p>
          <a:p>
            <a:r>
              <a:rPr sz="1100" b="1">
                <a:solidFill>
                  <a:srgbClr val="000000"/>
                </a:solidFill>
                <a:latin typeface="맑은 고딕"/>
                <a:ea typeface="맑은 고딕"/>
              </a:rPr>
              <a:t>07. 경계 후보</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도메인 모델에 </a:t>
            </a:r>
            <a:r>
              <a:rPr sz="1800" b="1">
                <a:solidFill>
                  <a:srgbClr val="000000"/>
                </a:solidFill>
                <a:latin typeface="맑은 고딕"/>
                <a:ea typeface="맑은 고딕"/>
              </a:rPr>
              <a:t>패키지 기준</a:t>
            </a:r>
            <a:r>
              <a:rPr sz="1800" b="0">
                <a:solidFill>
                  <a:srgbClr val="000000"/>
                </a:solidFill>
                <a:latin typeface="맑은 고딕"/>
                <a:ea typeface="맑은 고딕"/>
              </a:rPr>
              <a:t>을 적용하면 </a:t>
            </a:r>
            <a:r>
              <a:rPr sz="1800" b="1">
                <a:solidFill>
                  <a:srgbClr val="000000"/>
                </a:solidFill>
                <a:latin typeface="맑은 고딕"/>
                <a:ea typeface="맑은 고딕"/>
              </a:rPr>
              <a:t>업무 패키지 여섯</a:t>
            </a:r>
            <a:r>
              <a:rPr sz="1800" b="0">
                <a:solidFill>
                  <a:srgbClr val="000000"/>
                </a:solidFill>
                <a:latin typeface="맑은 고딕"/>
                <a:ea typeface="맑은 고딕"/>
              </a:rPr>
              <a:t>이 나온다.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합성·소유</a:t>
            </a:r>
            <a:r>
              <a:rPr sz="1800" b="0">
                <a:solidFill>
                  <a:srgbClr val="000000"/>
                </a:solidFill>
                <a:latin typeface="맑은 고딕"/>
                <a:ea typeface="맑은 고딕"/>
              </a:rPr>
              <a:t> —</a:t>
            </a:r>
            <a:r>
              <a:rPr sz="1600" b="0">
                <a:solidFill>
                  <a:srgbClr val="000000"/>
                </a:solidFill>
                <a:latin typeface="맑은 고딕"/>
                <a:ea typeface="맑은 고딕"/>
              </a:rPr>
              <a:t> 주문 항목은 주문에 붙이고, 환불은 환불 규칙을 지키는 </a:t>
            </a:r>
            <a:r>
              <a:rPr sz="1600" b="1">
                <a:solidFill>
                  <a:srgbClr val="000000"/>
                </a:solidFill>
                <a:latin typeface="맑은 고딕"/>
                <a:ea typeface="맑은 고딕"/>
              </a:rPr>
              <a:t>결제</a:t>
            </a:r>
            <a:r>
              <a:rPr sz="1600" b="0">
                <a:solidFill>
                  <a:srgbClr val="000000"/>
                </a:solidFill>
                <a:latin typeface="맑은 고딕"/>
                <a:ea typeface="맑은 고딕"/>
              </a:rPr>
              <a:t>에 모은다.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변경 이유·함께 쓰임</a:t>
            </a:r>
            <a:r>
              <a:rPr sz="1800" b="0">
                <a:solidFill>
                  <a:srgbClr val="000000"/>
                </a:solidFill>
                <a:latin typeface="맑은 고딕"/>
                <a:ea typeface="맑은 고딕"/>
              </a:rPr>
              <a:t> —</a:t>
            </a:r>
            <a:r>
              <a:rPr sz="1600" b="0">
                <a:solidFill>
                  <a:srgbClr val="000000"/>
                </a:solidFill>
                <a:latin typeface="맑은 고딕"/>
                <a:ea typeface="맑은 고딕"/>
              </a:rPr>
              <a:t> 배송은 취소 규칙과 따로 바뀌고, 장바구니와 결제는 함께 쓰이지 않아 </a:t>
            </a:r>
            <a:r>
              <a:rPr sz="1600" b="1">
                <a:solidFill>
                  <a:srgbClr val="000000"/>
                </a:solidFill>
                <a:latin typeface="맑은 고딕"/>
                <a:ea typeface="맑은 고딕"/>
              </a:rPr>
              <a:t>나눈다</a:t>
            </a:r>
            <a:r>
              <a:rPr sz="1600" b="0">
                <a:solidFill>
                  <a:srgbClr val="000000"/>
                </a:solidFill>
                <a:latin typeface="맑은 고딕"/>
                <a:ea typeface="맑은 고딕"/>
              </a:rPr>
              <a:t>.</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862072"/>
            <a:ext cx="8412480" cy="201168"/>
          </a:xfrm>
          <a:prstGeom prst="rect">
            <a:avLst/>
          </a:prstGeom>
          <a:noFill/>
        </p:spPr>
        <p:txBody>
          <a:bodyPr wrap="square">
            <a:spAutoFit/>
          </a:bodyPr>
          <a:lstStyle/>
          <a:p>
            <a:pPr algn="ctr"/>
            <a:r>
              <a:rPr sz="1400" b="1">
                <a:solidFill>
                  <a:srgbClr val="000000"/>
                </a:solidFill>
                <a:latin typeface="맑은 고딕"/>
                <a:ea typeface="맑은 고딕"/>
              </a:rPr>
              <a:t>업무 패키지 도출</a:t>
            </a:r>
          </a:p>
        </p:txBody>
      </p:sp>
      <p:pic>
        <p:nvPicPr>
          <p:cNvPr id="10" name="plantuml Diagram 3"/>
          <p:cNvPicPr>
            <a:picLocks noChangeAspect="1"/>
          </p:cNvPicPr>
          <p:nvPr/>
        </p:nvPicPr>
        <p:blipFill>
          <a:blip r:embed="plantumlImage3"/>
          <a:stretch>
            <a:fillRect/>
          </a:stretch>
        </p:blipFill>
        <p:spPr>
          <a:xfrm>
            <a:off x="2344615" y="3099816"/>
            <a:ext cx="4454769" cy="267676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08. 업무 경계와 연동 경계 </a:t>
            </a:r>
            <a:r>
              <a:rPr sz="2000" b="1">
                <a:solidFill>
                  <a:srgbClr val="000000"/>
                </a:solidFill>
                <a:latin typeface="맑은 고딕"/>
                <a:ea typeface="맑은 고딕"/>
              </a:rPr>
              <a:t>(1/2)</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49286" y="1837690"/>
          <a:ext cx="5831840" cy="3873500"/>
        </p:xfrm>
        <a:graphic>
          <a:graphicData uri="http://schemas.openxmlformats.org/drawingml/2006/table">
            <a:tbl>
              <a:tblPr/>
              <a:tblGrid>
                <a:gridCol w="1087120"/>
                <a:gridCol w="3070860"/>
                <a:gridCol w="16738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외부 시스템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 시스템 → 외부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외부 → 주문 시스템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승인(동기), 환불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완료 통보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 정보·재고 차감(동기)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회계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입금 처리·영수증 발행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요청, 배송지 변경·출고 중단(동기)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시작·완료 통보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524240"/>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주문 시스템은 외부 시스템 넷과 </a:t>
            </a:r>
            <a:r>
              <a:rPr sz="1800" b="1">
                <a:solidFill>
                  <a:srgbClr val="000000"/>
                </a:solidFill>
                <a:latin typeface="맑은 고딕"/>
                <a:ea typeface="맑은 고딕"/>
              </a:rPr>
              <a:t>요청과 통보</a:t>
            </a:r>
            <a:r>
              <a:rPr sz="1800" b="0">
                <a:solidFill>
                  <a:srgbClr val="000000"/>
                </a:solidFill>
                <a:latin typeface="맑은 고딕"/>
                <a:ea typeface="맑은 고딕"/>
              </a:rPr>
              <a:t>를 주고받는다.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53924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외부 시스템과의 요청·통보</a:t>
            </a:r>
          </a:p>
        </p:txBody>
      </p:sp>
    </p:spTree>
    <p:extLst>
      <p:ext uri="{BB962C8B-B14F-4D97-AF65-F5344CB8AC3E}">
        <p14:creationId xmlns:p14="http://schemas.microsoft.com/office/powerpoint/2010/main" val="2789569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08. 업무 경계와 연동 경계 </a:t>
            </a:r>
            <a:r>
              <a:rPr sz="2000" b="1">
                <a:solidFill>
                  <a:srgbClr val="000000"/>
                </a:solidFill>
                <a:latin typeface="맑은 고딕"/>
                <a:ea typeface="맑은 고딕"/>
              </a:rPr>
              <a:t>(2/2)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요청</a:t>
            </a:r>
            <a:r>
              <a:rPr sz="1400" b="1">
                <a:solidFill>
                  <a:srgbClr val="000000"/>
                </a:solidFill>
                <a:latin typeface="맑은 고딕"/>
                <a:ea typeface="맑은 고딕"/>
              </a:rPr>
              <a:t>(위·동기)</a:t>
            </a:r>
            <a:r>
              <a:rPr sz="1800" b="0">
                <a:solidFill>
                  <a:srgbClr val="000000"/>
                </a:solidFill>
                <a:latin typeface="맑은 고딕"/>
                <a:ea typeface="맑은 고딕"/>
              </a:rPr>
              <a:t> —</a:t>
            </a:r>
            <a:r>
              <a:rPr sz="1600" b="0">
                <a:solidFill>
                  <a:srgbClr val="000000"/>
                </a:solidFill>
                <a:latin typeface="맑은 고딕"/>
                <a:ea typeface="맑은 고딕"/>
              </a:rPr>
              <a:t> 출고 중단 요청 </a:t>
            </a:r>
            <a:r>
              <a:rPr sz="1600" b="0">
                <a:solidFill>
                  <a:srgbClr val="000000"/>
                </a:solidFill>
                <a:latin typeface="맑은 고딕"/>
                <a:ea typeface="맑은 고딕"/>
              </a:rPr>
              <a:t>requestDispatchStop()</a:t>
            </a:r>
            <a:r>
              <a:rPr sz="1600" b="0">
                <a:solidFill>
                  <a:srgbClr val="000000"/>
                </a:solidFill>
                <a:latin typeface="맑은 고딕"/>
                <a:ea typeface="맑은 고딕"/>
              </a:rPr>
              <a:t>을 </a:t>
            </a:r>
            <a:r>
              <a:rPr sz="1600" b="0">
                <a:solidFill>
                  <a:srgbClr val="000000"/>
                </a:solidFill>
                <a:latin typeface="맑은 고딕"/>
                <a:ea typeface="맑은 고딕"/>
              </a:rPr>
              <a:t>DeliveryAdapter</a:t>
            </a:r>
            <a:r>
              <a:rPr sz="1600" b="0">
                <a:solidFill>
                  <a:srgbClr val="000000"/>
                </a:solidFill>
                <a:latin typeface="맑은 고딕"/>
                <a:ea typeface="맑은 고딕"/>
              </a:rPr>
              <a:t>가 </a:t>
            </a:r>
            <a:r>
              <a:rPr sz="1600" b="0">
                <a:solidFill>
                  <a:srgbClr val="000000"/>
                </a:solidFill>
                <a:latin typeface="맑은 고딕"/>
                <a:ea typeface="맑은 고딕"/>
              </a:rPr>
              <a:t>STOP</a:t>
            </a:r>
            <a:r>
              <a:rPr sz="1600" b="0">
                <a:solidFill>
                  <a:srgbClr val="000000"/>
                </a:solidFill>
                <a:latin typeface="맑은 고딕"/>
                <a:ea typeface="맑은 고딕"/>
              </a:rPr>
              <a:t>으로 보내고, </a:t>
            </a:r>
            <a:r>
              <a:rPr sz="1600" b="0">
                <a:solidFill>
                  <a:srgbClr val="000000"/>
                </a:solidFill>
                <a:latin typeface="맑은 고딕"/>
                <a:ea typeface="맑은 고딕"/>
              </a:rPr>
              <a:t>ACCEPTED</a:t>
            </a:r>
            <a:r>
              <a:rPr sz="1600" b="0">
                <a:solidFill>
                  <a:srgbClr val="000000"/>
                </a:solidFill>
                <a:latin typeface="맑은 고딕"/>
                <a:ea typeface="맑은 고딕"/>
              </a:rPr>
              <a:t>를 </a:t>
            </a:r>
            <a:r>
              <a:rPr sz="1600" b="0">
                <a:solidFill>
                  <a:srgbClr val="000000"/>
                </a:solidFill>
                <a:latin typeface="맑은 고딕"/>
                <a:ea typeface="맑은 고딕"/>
              </a:rPr>
              <a:t>true</a:t>
            </a:r>
            <a:r>
              <a:rPr sz="1600" b="0">
                <a:solidFill>
                  <a:srgbClr val="000000"/>
                </a:solidFill>
                <a:latin typeface="맑은 고딕"/>
                <a:ea typeface="맑은 고딕"/>
              </a:rPr>
              <a:t>로 돌려준다.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통보</a:t>
            </a:r>
            <a:r>
              <a:rPr sz="1400" b="1">
                <a:solidFill>
                  <a:srgbClr val="000000"/>
                </a:solidFill>
                <a:latin typeface="맑은 고딕"/>
                <a:ea typeface="맑은 고딕"/>
              </a:rPr>
              <a:t>(아래·비동기)</a:t>
            </a:r>
            <a:r>
              <a:rPr sz="1800" b="0">
                <a:solidFill>
                  <a:srgbClr val="000000"/>
                </a:solidFill>
                <a:latin typeface="맑은 고딕"/>
                <a:ea typeface="맑은 고딕"/>
              </a:rPr>
              <a:t> —</a:t>
            </a:r>
            <a:r>
              <a:rPr sz="1600" b="0">
                <a:solidFill>
                  <a:srgbClr val="000000"/>
                </a:solidFill>
                <a:latin typeface="맑은 고딕"/>
                <a:ea typeface="맑은 고딕"/>
              </a:rPr>
              <a:t> 배송 시작 </a:t>
            </a:r>
            <a:r>
              <a:rPr sz="1600" b="0">
                <a:solidFill>
                  <a:srgbClr val="000000"/>
                </a:solidFill>
                <a:latin typeface="맑은 고딕"/>
                <a:ea typeface="맑은 고딕"/>
              </a:rPr>
              <a:t>IN_TRANSIT</a:t>
            </a:r>
            <a:r>
              <a:rPr sz="1600" b="0">
                <a:solidFill>
                  <a:srgbClr val="000000"/>
                </a:solidFill>
                <a:latin typeface="맑은 고딕"/>
                <a:ea typeface="맑은 고딕"/>
              </a:rPr>
              <a:t>을 </a:t>
            </a:r>
            <a:r>
              <a:rPr sz="1600" b="0">
                <a:solidFill>
                  <a:srgbClr val="000000"/>
                </a:solidFill>
                <a:latin typeface="맑은 고딕"/>
                <a:ea typeface="맑은 고딕"/>
              </a:rPr>
              <a:t>DeliveryAdapter</a:t>
            </a:r>
            <a:r>
              <a:rPr sz="1600" b="0">
                <a:solidFill>
                  <a:srgbClr val="000000"/>
                </a:solidFill>
                <a:latin typeface="맑은 고딕"/>
                <a:ea typeface="맑은 고딕"/>
              </a:rPr>
              <a:t>가 배송 시작 통보 </a:t>
            </a:r>
            <a:r>
              <a:rPr sz="1600" b="0">
                <a:solidFill>
                  <a:srgbClr val="000000"/>
                </a:solidFill>
                <a:latin typeface="맑은 고딕"/>
                <a:ea typeface="맑은 고딕"/>
              </a:rPr>
              <a:t>onDeliveryStarted()</a:t>
            </a:r>
            <a:r>
              <a:rPr sz="1600" b="0">
                <a:solidFill>
                  <a:srgbClr val="000000"/>
                </a:solidFill>
                <a:latin typeface="맑은 고딕"/>
                <a:ea typeface="맑은 고딕"/>
              </a:rPr>
              <a:t>로 </a:t>
            </a:r>
            <a:r>
              <a:rPr sz="1600" b="1">
                <a:solidFill>
                  <a:srgbClr val="000000"/>
                </a:solidFill>
                <a:latin typeface="맑은 고딕"/>
                <a:ea typeface="맑은 고딕"/>
              </a:rPr>
              <a:t>바꿔</a:t>
            </a:r>
            <a:r>
              <a:rPr sz="1600" b="0">
                <a:solidFill>
                  <a:srgbClr val="000000"/>
                </a:solidFill>
                <a:latin typeface="맑은 고딕"/>
                <a:ea typeface="맑은 고딕"/>
              </a:rPr>
              <a:t> 전한다.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511552"/>
            <a:ext cx="8412480" cy="201168"/>
          </a:xfrm>
          <a:prstGeom prst="rect">
            <a:avLst/>
          </a:prstGeom>
          <a:noFill/>
        </p:spPr>
        <p:txBody>
          <a:bodyPr wrap="square">
            <a:spAutoFit/>
          </a:bodyPr>
          <a:lstStyle/>
          <a:p>
            <a:pPr algn="ctr"/>
            <a:r>
              <a:rPr sz="1400" b="1">
                <a:solidFill>
                  <a:srgbClr val="000000"/>
                </a:solidFill>
                <a:latin typeface="맑은 고딕"/>
                <a:ea typeface="맑은 고딕"/>
              </a:rPr>
              <a:t>배송 시스템과의 요청과 통보</a:t>
            </a:r>
          </a:p>
        </p:txBody>
      </p:sp>
      <p:pic>
        <p:nvPicPr>
          <p:cNvPr id="10" name="plantuml Diagram 4"/>
          <p:cNvPicPr>
            <a:picLocks noChangeAspect="1"/>
          </p:cNvPicPr>
          <p:nvPr/>
        </p:nvPicPr>
        <p:blipFill>
          <a:blip r:embed="plantumlImage4"/>
          <a:stretch>
            <a:fillRect/>
          </a:stretch>
        </p:blipFill>
        <p:spPr>
          <a:xfrm>
            <a:off x="2359269" y="2749296"/>
            <a:ext cx="4425462" cy="231530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09. 패키지 구조 초안</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연관을 따라 의존을 그리고, 외부 호출을 쓰는 곳에서 연동을 </a:t>
            </a:r>
            <a:r>
              <a:rPr sz="1800" b="1">
                <a:solidFill>
                  <a:srgbClr val="000000"/>
                </a:solidFill>
                <a:latin typeface="맑은 고딕"/>
                <a:ea typeface="맑은 고딕"/>
              </a:rPr>
              <a:t>직접 부르는</a:t>
            </a:r>
            <a:r>
              <a:rPr sz="1800" b="0">
                <a:solidFill>
                  <a:srgbClr val="000000"/>
                </a:solidFill>
                <a:latin typeface="맑은 고딕"/>
                <a:ea typeface="맑은 고딕"/>
              </a:rPr>
              <a:t> 초안이다.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의존 화살표는 </a:t>
            </a:r>
            <a:r>
              <a:rPr sz="1800" b="1">
                <a:solidFill>
                  <a:srgbClr val="000000"/>
                </a:solidFill>
                <a:latin typeface="맑은 고딕"/>
                <a:ea typeface="맑은 고딕"/>
              </a:rPr>
              <a:t>"이것이 바뀌면 저것이 바뀔 수 있다"</a:t>
            </a:r>
            <a:r>
              <a:rPr sz="1800" b="0">
                <a:solidFill>
                  <a:srgbClr val="000000"/>
                </a:solidFill>
                <a:latin typeface="맑은 고딕"/>
                <a:ea typeface="맑은 고딕"/>
              </a:rPr>
              <a:t>로 거꾸로 읽는다.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결제·배송이 연동을 부르고 연동이 통보를 주문에 전해 </a:t>
            </a:r>
            <a:r>
              <a:rPr sz="1800" b="1">
                <a:solidFill>
                  <a:srgbClr val="000000"/>
                </a:solidFill>
                <a:latin typeface="맑은 고딕"/>
                <a:ea typeface="맑은 고딕"/>
              </a:rPr>
              <a:t>순환</a:t>
            </a:r>
            <a:r>
              <a:rPr sz="1800" b="0">
                <a:solidFill>
                  <a:srgbClr val="000000"/>
                </a:solidFill>
                <a:latin typeface="맑은 고딕"/>
                <a:ea typeface="맑은 고딕"/>
              </a:rPr>
              <a:t>이 생긴다: </a:t>
            </a:r>
            <a:r>
              <a:rPr sz="1800" b="0">
                <a:solidFill>
                  <a:srgbClr val="000000"/>
                </a:solidFill>
                <a:latin typeface="맑은 고딕"/>
                <a:ea typeface="맑은 고딕"/>
              </a:rPr>
              <a:t>order</a:t>
            </a:r>
            <a:r>
              <a:rPr sz="1800" b="0">
                <a:solidFill>
                  <a:srgbClr val="000000"/>
                </a:solidFill>
                <a:latin typeface="맑은 고딕"/>
                <a:ea typeface="맑은 고딕"/>
              </a:rPr>
              <a:t> → </a:t>
            </a:r>
            <a:r>
              <a:rPr sz="1800" b="0">
                <a:solidFill>
                  <a:srgbClr val="000000"/>
                </a:solidFill>
                <a:latin typeface="맑은 고딕"/>
                <a:ea typeface="맑은 고딕"/>
              </a:rPr>
              <a:t>delivery</a:t>
            </a:r>
            <a:r>
              <a:rPr sz="1800" b="0">
                <a:solidFill>
                  <a:srgbClr val="000000"/>
                </a:solidFill>
                <a:latin typeface="맑은 고딕"/>
                <a:ea typeface="맑은 고딕"/>
              </a:rPr>
              <a:t> → </a:t>
            </a:r>
            <a:r>
              <a:rPr sz="1800" b="0">
                <a:solidFill>
                  <a:srgbClr val="000000"/>
                </a:solidFill>
                <a:latin typeface="맑은 고딕"/>
                <a:ea typeface="맑은 고딕"/>
              </a:rPr>
              <a:t>deliveryadapter</a:t>
            </a:r>
            <a:r>
              <a:rPr sz="1800" b="0">
                <a:solidFill>
                  <a:srgbClr val="000000"/>
                </a:solidFill>
                <a:latin typeface="맑은 고딕"/>
                <a:ea typeface="맑은 고딕"/>
              </a:rPr>
              <a:t> → </a:t>
            </a:r>
            <a:r>
              <a:rPr sz="1800" b="0">
                <a:solidFill>
                  <a:srgbClr val="000000"/>
                </a:solidFill>
                <a:latin typeface="맑은 고딕"/>
                <a:ea typeface="맑은 고딕"/>
              </a:rPr>
              <a:t>order</a:t>
            </a:r>
            <a:r>
              <a:rPr sz="1800" b="0">
                <a:solidFill>
                  <a:srgbClr val="000000"/>
                </a:solidFill>
                <a:latin typeface="맑은 고딕"/>
                <a:ea typeface="맑은 고딕"/>
              </a:rPr>
              <a:t>.</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86207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시스템 패키지(초안)</a:t>
            </a:r>
          </a:p>
        </p:txBody>
      </p:sp>
      <p:pic>
        <p:nvPicPr>
          <p:cNvPr id="10" name="plantuml Diagram 5"/>
          <p:cNvPicPr>
            <a:picLocks noChangeAspect="1"/>
          </p:cNvPicPr>
          <p:nvPr/>
        </p:nvPicPr>
        <p:blipFill>
          <a:blip r:embed="plantumlImage5"/>
          <a:stretch>
            <a:fillRect/>
          </a:stretch>
        </p:blipFill>
        <p:spPr>
          <a:xfrm>
            <a:off x="2476500" y="3099816"/>
            <a:ext cx="4191000" cy="194163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10. 의존 방향</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안정된 의존 원칙</a:t>
            </a:r>
            <a:r>
              <a:rPr sz="1400" b="0">
                <a:solidFill>
                  <a:srgbClr val="000000"/>
                </a:solidFill>
                <a:latin typeface="맑은 고딕"/>
                <a:ea typeface="맑은 고딕"/>
              </a:rPr>
              <a:t>(Stable Dependencies Principle, </a:t>
            </a:r>
            <a:r>
              <a:rPr sz="1400" b="1">
                <a:solidFill>
                  <a:srgbClr val="000000"/>
                </a:solidFill>
                <a:latin typeface="맑은 고딕"/>
                <a:ea typeface="맑은 고딕"/>
              </a:rPr>
              <a:t>SDP</a:t>
            </a:r>
            <a:r>
              <a:rPr sz="1400" b="0">
                <a:solidFill>
                  <a:srgbClr val="000000"/>
                </a:solidFill>
                <a:latin typeface="맑은 고딕"/>
                <a:ea typeface="맑은 고딕"/>
              </a:rPr>
              <a:t>)</a:t>
            </a:r>
            <a:r>
              <a:rPr sz="1800" b="0">
                <a:solidFill>
                  <a:srgbClr val="000000"/>
                </a:solidFill>
                <a:latin typeface="맑은 고딕"/>
                <a:ea typeface="맑은 고딕"/>
              </a:rPr>
              <a:t>에 따라 의존은 </a:t>
            </a:r>
            <a:r>
              <a:rPr sz="1800" b="1">
                <a:solidFill>
                  <a:srgbClr val="000000"/>
                </a:solidFill>
                <a:latin typeface="맑은 고딕"/>
                <a:ea typeface="맑은 고딕"/>
              </a:rPr>
              <a:t>덜 바뀌는 쪽</a:t>
            </a:r>
            <a:r>
              <a:rPr sz="1800" b="0">
                <a:solidFill>
                  <a:srgbClr val="000000"/>
                </a:solidFill>
                <a:latin typeface="맑은 고딕"/>
                <a:ea typeface="맑은 고딕"/>
              </a:rPr>
              <a:t>을 향해야 한다. 업무 규칙은 외부 연동보다 덜 바뀌므로, </a:t>
            </a:r>
            <a:r>
              <a:rPr sz="1800" b="1">
                <a:solidFill>
                  <a:srgbClr val="000000"/>
                </a:solidFill>
                <a:latin typeface="맑은 고딕"/>
                <a:ea typeface="맑은 고딕"/>
              </a:rPr>
              <a:t>연동이 업무에 의존</a:t>
            </a:r>
            <a:r>
              <a:rPr sz="1800" b="0">
                <a:solidFill>
                  <a:srgbClr val="000000"/>
                </a:solidFill>
                <a:latin typeface="맑은 고딕"/>
                <a:ea typeface="맑은 고딕"/>
              </a:rPr>
              <a:t>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안정된 방향</a:t>
            </a:r>
            <a:r>
              <a:rPr sz="1800" b="0">
                <a:solidFill>
                  <a:srgbClr val="000000"/>
                </a:solidFill>
                <a:latin typeface="맑은 고딕"/>
                <a:ea typeface="맑은 고딕"/>
              </a:rPr>
              <a:t>으로 의존하라"</a:t>
            </a:r>
            <a:r>
              <a:rPr sz="1000" b="0">
                <a:solidFill>
                  <a:srgbClr val="000000"/>
                </a:solidFill>
                <a:latin typeface="맑은 고딕"/>
                <a:ea typeface="맑은 고딕"/>
              </a:rPr>
              <a:t>, </a:t>
            </a:r>
            <a:r>
              <a:rPr sz="1000" b="0">
                <a:solidFill>
                  <a:srgbClr val="000000"/>
                </a:solidFill>
                <a:latin typeface="맑은 고딕"/>
                <a:ea typeface="맑은 고딕"/>
              </a:rPr>
              <a:t>"Depend in the direction of stability."</a:t>
            </a:r>
            <a:r>
              <a:rPr sz="1000" b="0">
                <a:solidFill>
                  <a:srgbClr val="000000"/>
                </a:solidFill>
                <a:latin typeface="맑은 고딕"/>
                <a:ea typeface="맑은 고딕"/>
              </a:rPr>
              <a:t>, </a:t>
            </a:r>
            <a:r>
              <a:rPr sz="1000" b="0">
                <a:solidFill>
                  <a:srgbClr val="000000"/>
                </a:solidFill>
                <a:latin typeface="맑은 고딕"/>
                <a:ea typeface="맑은 고딕"/>
              </a:rPr>
              <a:t>[Martin 2000]</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안정</a:t>
            </a:r>
            <a:r>
              <a:rPr sz="1800" b="0">
                <a:solidFill>
                  <a:srgbClr val="000000"/>
                </a:solidFill>
                <a:latin typeface="맑은 고딕"/>
                <a:ea typeface="맑은 고딕"/>
              </a:rPr>
              <a:t> —</a:t>
            </a:r>
            <a:r>
              <a:rPr sz="1600" b="0">
                <a:solidFill>
                  <a:srgbClr val="000000"/>
                </a:solidFill>
                <a:latin typeface="맑은 고딕"/>
                <a:ea typeface="맑은 고딕"/>
              </a:rPr>
              <a:t> 많은 쪽이 의존하고, 바꾸기 어렵고, 바뀔 이유가 적다</a:t>
            </a:r>
            <a:r>
              <a:rPr sz="1200" b="0">
                <a:solidFill>
                  <a:srgbClr val="000000"/>
                </a:solidFill>
                <a:latin typeface="맑은 고딕"/>
                <a:ea typeface="맑은 고딕"/>
              </a:rPr>
              <a:t>(주문의 규칙)</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불안정</a:t>
            </a:r>
            <a:r>
              <a:rPr sz="1800" b="0">
                <a:solidFill>
                  <a:srgbClr val="000000"/>
                </a:solidFill>
                <a:latin typeface="맑은 고딕"/>
                <a:ea typeface="맑은 고딕"/>
              </a:rPr>
              <a:t> —</a:t>
            </a:r>
            <a:r>
              <a:rPr sz="1600" b="0">
                <a:solidFill>
                  <a:srgbClr val="000000"/>
                </a:solidFill>
                <a:latin typeface="맑은 고딕"/>
                <a:ea typeface="맑은 고딕"/>
              </a:rPr>
              <a:t> 외부 계약·기술 때문에 자주 바뀐다</a:t>
            </a:r>
            <a:r>
              <a:rPr sz="1200" b="0">
                <a:solidFill>
                  <a:srgbClr val="000000"/>
                </a:solidFill>
                <a:latin typeface="맑은 고딕"/>
                <a:ea typeface="맑은 고딕"/>
              </a:rPr>
              <a:t>(결제 대행, 배송 형식)</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안정은 "좋다"가 아니라 </a:t>
            </a:r>
            <a:r>
              <a:rPr sz="1800" b="1">
                <a:solidFill>
                  <a:srgbClr val="000000"/>
                </a:solidFill>
                <a:latin typeface="맑은 고딕"/>
                <a:ea typeface="맑은 고딕"/>
              </a:rPr>
              <a:t>"바꾸기 어렵다"</a:t>
            </a:r>
            <a:r>
              <a:rPr sz="1800" b="0">
                <a:solidFill>
                  <a:srgbClr val="000000"/>
                </a:solidFill>
                <a:latin typeface="맑은 고딕"/>
                <a:ea typeface="맑은 고딕"/>
              </a:rPr>
              <a:t>는 뜻이다. 그래서 바꾸기 어려운 곳에 </a:t>
            </a:r>
            <a:r>
              <a:rPr sz="1800" b="1">
                <a:solidFill>
                  <a:srgbClr val="000000"/>
                </a:solidFill>
                <a:latin typeface="맑은 고딕"/>
                <a:ea typeface="맑은 고딕"/>
              </a:rPr>
              <a:t>자주 바뀌는 세부</a:t>
            </a:r>
            <a:r>
              <a:rPr sz="1800" b="0">
                <a:solidFill>
                  <a:srgbClr val="000000"/>
                </a:solidFill>
                <a:latin typeface="맑은 고딕"/>
                <a:ea typeface="맑은 고딕"/>
              </a:rPr>
              <a:t>를 두지 않는다.</a:t>
            </a:r>
          </a:p>
        </p:txBody>
      </p:sp>
    </p:spTree>
    <p:extLst>
      <p:ext uri="{BB962C8B-B14F-4D97-AF65-F5344CB8AC3E}">
        <p14:creationId xmlns:p14="http://schemas.microsoft.com/office/powerpoint/2010/main" val="3555436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11. 순환 제거 </a:t>
            </a:r>
            <a:r>
              <a:rPr sz="2000" b="1">
                <a:solidFill>
                  <a:srgbClr val="000000"/>
                </a:solidFill>
                <a:latin typeface="맑은 고딕"/>
                <a:ea typeface="맑은 고딕"/>
              </a:rPr>
              <a:t>(1/2)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비순환 의존 원칙</a:t>
            </a:r>
            <a:r>
              <a:rPr sz="1400" b="0">
                <a:solidFill>
                  <a:srgbClr val="000000"/>
                </a:solidFill>
                <a:latin typeface="맑은 고딕"/>
                <a:ea typeface="맑은 고딕"/>
              </a:rPr>
              <a:t>(Acyclic Dependencies Principle, </a:t>
            </a:r>
            <a:r>
              <a:rPr sz="1400" b="1">
                <a:solidFill>
                  <a:srgbClr val="000000"/>
                </a:solidFill>
                <a:latin typeface="맑은 고딕"/>
                <a:ea typeface="맑은 고딕"/>
              </a:rPr>
              <a:t>ADP</a:t>
            </a:r>
            <a:r>
              <a:rPr sz="1400" b="0">
                <a:solidFill>
                  <a:srgbClr val="000000"/>
                </a:solidFill>
                <a:latin typeface="맑은 고딕"/>
                <a:ea typeface="맑은 고딕"/>
              </a:rPr>
              <a:t>)</a:t>
            </a:r>
            <a:r>
              <a:rPr sz="1800" b="0">
                <a:solidFill>
                  <a:srgbClr val="000000"/>
                </a:solidFill>
                <a:latin typeface="맑은 고딕"/>
                <a:ea typeface="맑은 고딕"/>
              </a:rPr>
              <a:t>은 순환을 금지한다. </a:t>
            </a:r>
            <a:r>
              <a:rPr sz="1800" b="1">
                <a:solidFill>
                  <a:srgbClr val="000000"/>
                </a:solidFill>
                <a:latin typeface="맑은 고딕"/>
                <a:ea typeface="맑은 고딕"/>
              </a:rPr>
              <a:t>순환 의존</a:t>
            </a:r>
            <a:r>
              <a:rPr sz="1800" b="0">
                <a:solidFill>
                  <a:srgbClr val="000000"/>
                </a:solidFill>
                <a:latin typeface="맑은 고딕"/>
                <a:ea typeface="맑은 고딕"/>
              </a:rPr>
              <a:t>은 서로가 서로를 알아 </a:t>
            </a:r>
            <a:r>
              <a:rPr sz="1800" b="1">
                <a:solidFill>
                  <a:srgbClr val="000000"/>
                </a:solidFill>
                <a:latin typeface="맑은 고딕"/>
                <a:ea typeface="맑은 고딕"/>
              </a:rPr>
              <a:t>따로 바꾸거나 시험할 수 없는</a:t>
            </a:r>
            <a:r>
              <a:rPr sz="1800" b="0">
                <a:solidFill>
                  <a:srgbClr val="000000"/>
                </a:solidFill>
                <a:latin typeface="맑은 고딕"/>
                <a:ea typeface="맑은 고딕"/>
              </a:rPr>
              <a:t> 상태다.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"패키지 사이의 의존은 </a:t>
            </a:r>
            <a:r>
              <a:rPr sz="1800" b="1">
                <a:solidFill>
                  <a:srgbClr val="000000"/>
                </a:solidFill>
                <a:latin typeface="맑은 고딕"/>
                <a:ea typeface="맑은 고딕"/>
              </a:rPr>
              <a:t>순환</a:t>
            </a:r>
            <a:r>
              <a:rPr sz="1800" b="0">
                <a:solidFill>
                  <a:srgbClr val="000000"/>
                </a:solidFill>
                <a:latin typeface="맑은 고딕"/>
                <a:ea typeface="맑은 고딕"/>
              </a:rPr>
              <a:t>을 이루어서는 안 된다"</a:t>
            </a:r>
            <a:r>
              <a:rPr sz="1000" b="0">
                <a:solidFill>
                  <a:srgbClr val="000000"/>
                </a:solidFill>
                <a:latin typeface="맑은 고딕"/>
                <a:ea typeface="맑은 고딕"/>
              </a:rPr>
              <a:t>, </a:t>
            </a:r>
            <a:r>
              <a:rPr sz="1000" b="0">
                <a:solidFill>
                  <a:srgbClr val="000000"/>
                </a:solidFill>
                <a:latin typeface="맑은 고딕"/>
                <a:ea typeface="맑은 고딕"/>
              </a:rPr>
              <a:t>"The dependencies betwen packages must not form cycles."</a:t>
            </a:r>
            <a:r>
              <a:rPr sz="1000" b="0">
                <a:solidFill>
                  <a:srgbClr val="000000"/>
                </a:solidFill>
                <a:latin typeface="맑은 고딕"/>
                <a:ea typeface="맑은 고딕"/>
              </a:rPr>
              <a:t>, </a:t>
            </a:r>
            <a:r>
              <a:rPr sz="1000" b="0">
                <a:solidFill>
                  <a:srgbClr val="000000"/>
                </a:solidFill>
                <a:latin typeface="맑은 고딕"/>
                <a:ea typeface="맑은 고딕"/>
              </a:rPr>
              <a:t>[Martin 2000]</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초안의 </a:t>
            </a:r>
            <a:r>
              <a:rPr sz="1800" b="1">
                <a:solidFill>
                  <a:srgbClr val="000000"/>
                </a:solidFill>
                <a:latin typeface="맑은 고딕"/>
                <a:ea typeface="맑은 고딕"/>
              </a:rPr>
              <a:t>order</a:t>
            </a:r>
            <a:r>
              <a:rPr sz="1800" b="1">
                <a:solidFill>
                  <a:srgbClr val="000000"/>
                </a:solidFill>
                <a:latin typeface="맑은 고딕"/>
                <a:ea typeface="맑은 고딕"/>
              </a:rPr>
              <a:t> → </a:t>
            </a:r>
            <a:r>
              <a:rPr sz="1800" b="1">
                <a:solidFill>
                  <a:srgbClr val="000000"/>
                </a:solidFill>
                <a:latin typeface="맑은 고딕"/>
                <a:ea typeface="맑은 고딕"/>
              </a:rPr>
              <a:t>delivery</a:t>
            </a:r>
            <a:r>
              <a:rPr sz="1800" b="1">
                <a:solidFill>
                  <a:srgbClr val="000000"/>
                </a:solidFill>
                <a:latin typeface="맑은 고딕"/>
                <a:ea typeface="맑은 고딕"/>
              </a:rPr>
              <a:t> → </a:t>
            </a:r>
            <a:r>
              <a:rPr sz="1800" b="1">
                <a:solidFill>
                  <a:srgbClr val="000000"/>
                </a:solidFill>
                <a:latin typeface="맑은 고딕"/>
                <a:ea typeface="맑은 고딕"/>
              </a:rPr>
              <a:t>deliveryadapter</a:t>
            </a:r>
            <a:r>
              <a:rPr sz="1800" b="1">
                <a:solidFill>
                  <a:srgbClr val="000000"/>
                </a:solidFill>
                <a:latin typeface="맑은 고딕"/>
                <a:ea typeface="맑은 고딕"/>
              </a:rPr>
              <a:t> → </a:t>
            </a:r>
            <a:r>
              <a:rPr sz="1800" b="1">
                <a:solidFill>
                  <a:srgbClr val="000000"/>
                </a:solidFill>
                <a:latin typeface="맑은 고딕"/>
                <a:ea typeface="맑은 고딕"/>
              </a:rPr>
              <a:t>order</a:t>
            </a:r>
            <a:r>
              <a:rPr sz="1800" b="0">
                <a:solidFill>
                  <a:srgbClr val="000000"/>
                </a:solidFill>
                <a:latin typeface="맑은 고딕"/>
                <a:ea typeface="맑은 고딕"/>
              </a:rPr>
              <a:t>는 순환이다. 배송 연동을 바꾸면 세 경계를 모두 다시 확인해야 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순환은 </a:t>
            </a:r>
            <a:r>
              <a:rPr sz="1800" b="1">
                <a:solidFill>
                  <a:srgbClr val="000000"/>
                </a:solidFill>
                <a:latin typeface="맑은 고딕"/>
                <a:ea typeface="맑은 고딕"/>
              </a:rPr>
              <a:t>화살표 하나의 방향</a:t>
            </a:r>
            <a:r>
              <a:rPr sz="1800" b="0">
                <a:solidFill>
                  <a:srgbClr val="000000"/>
                </a:solidFill>
                <a:latin typeface="맑은 고딕"/>
                <a:ea typeface="맑은 고딕"/>
              </a:rPr>
              <a:t>을 바꿔 끊는다. 요청 인터페이스를 어느 패키지에 두는지가 그 화살표다.</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의존 역전 원칙</a:t>
            </a:r>
            <a:r>
              <a:rPr sz="1200" b="1">
                <a:solidFill>
                  <a:srgbClr val="000000"/>
                </a:solidFill>
                <a:latin typeface="맑은 고딕"/>
                <a:ea typeface="맑은 고딕"/>
              </a:rPr>
              <a:t>(Dependency Inversion Principle, DIP)</a:t>
            </a:r>
          </a:p>
          <a:p>
            <a:pPr lvl="4" marL="1433513" indent="-355600">
              <a:spcBef>
                <a:spcPts val="600"/>
              </a:spcBef>
              <a:spcAft>
                <a:spcPts val="600"/>
              </a:spcAft>
              <a:buFont typeface="Wingdings" pitchFamily="2" charset="2"/>
              <a:buChar char="l"/>
            </a:pPr>
            <a:r>
              <a:rPr sz="1400" b="0">
                <a:solidFill>
                  <a:srgbClr val="000000"/>
                </a:solidFill>
                <a:latin typeface="맑은 고딕"/>
                <a:ea typeface="맑은 고딕"/>
              </a:rPr>
              <a:t>"</a:t>
            </a:r>
            <a:r>
              <a:rPr sz="1400" b="1">
                <a:solidFill>
                  <a:srgbClr val="000000"/>
                </a:solidFill>
                <a:latin typeface="맑은 고딕"/>
                <a:ea typeface="맑은 고딕"/>
              </a:rPr>
              <a:t>추상</a:t>
            </a:r>
            <a:r>
              <a:rPr sz="1400" b="0">
                <a:solidFill>
                  <a:srgbClr val="000000"/>
                </a:solidFill>
                <a:latin typeface="맑은 고딕"/>
                <a:ea typeface="맑은 고딕"/>
              </a:rPr>
              <a:t>에 의존하라. 구체에 의존하지 마라"</a:t>
            </a:r>
            <a:r>
              <a:rPr sz="1000" b="0">
                <a:solidFill>
                  <a:srgbClr val="000000"/>
                </a:solidFill>
                <a:latin typeface="맑은 고딕"/>
                <a:ea typeface="맑은 고딕"/>
              </a:rPr>
              <a:t>, </a:t>
            </a:r>
            <a:r>
              <a:rPr sz="1000" b="0">
                <a:solidFill>
                  <a:srgbClr val="000000"/>
                </a:solidFill>
                <a:latin typeface="맑은 고딕"/>
                <a:ea typeface="맑은 고딕"/>
              </a:rPr>
              <a:t>"Depend upon Abstractions. Do not depend upon concretions."</a:t>
            </a:r>
            <a:r>
              <a:rPr sz="1000" b="0">
                <a:solidFill>
                  <a:srgbClr val="000000"/>
                </a:solidFill>
                <a:latin typeface="맑은 고딕"/>
                <a:ea typeface="맑은 고딕"/>
              </a:rPr>
              <a:t>, </a:t>
            </a:r>
            <a:r>
              <a:rPr sz="1000" b="0">
                <a:solidFill>
                  <a:srgbClr val="000000"/>
                </a:solidFill>
                <a:latin typeface="맑은 고딕"/>
                <a:ea typeface="맑은 고딕"/>
              </a:rPr>
              <a:t>[Martin 2000]</a:t>
            </a:r>
          </a:p>
        </p:txBody>
      </p:sp>
    </p:spTree>
    <p:extLst>
      <p:ext uri="{BB962C8B-B14F-4D97-AF65-F5344CB8AC3E}">
        <p14:creationId xmlns:p14="http://schemas.microsoft.com/office/powerpoint/2010/main" val="3555436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11. 순환 제거 </a:t>
            </a:r>
            <a:r>
              <a:rPr sz="2000" b="1">
                <a:solidFill>
                  <a:srgbClr val="000000"/>
                </a:solidFill>
                <a:latin typeface="맑은 고딕"/>
                <a:ea typeface="맑은 고딕"/>
              </a:rPr>
              <a:t>(2/2)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요청 인터페이스를 업무 패키지에 둔다</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Delivery</a:t>
            </a:r>
            <a:r>
              <a:rPr sz="1600" b="0">
                <a:solidFill>
                  <a:srgbClr val="000000"/>
                </a:solidFill>
                <a:latin typeface="맑은 고딕"/>
                <a:ea typeface="맑은 고딕"/>
              </a:rPr>
              <a:t>는 같은 패키지의 인터페이스 </a:t>
            </a:r>
            <a:r>
              <a:rPr sz="1600" b="0">
                <a:solidFill>
                  <a:srgbClr val="000000"/>
                </a:solidFill>
                <a:latin typeface="맑은 고딕"/>
                <a:ea typeface="맑은 고딕"/>
              </a:rPr>
              <a:t>DeliveryGateway</a:t>
            </a:r>
            <a:r>
              <a:rPr sz="1600" b="0">
                <a:solidFill>
                  <a:srgbClr val="000000"/>
                </a:solidFill>
                <a:latin typeface="맑은 고딕"/>
                <a:ea typeface="맑은 고딕"/>
              </a:rPr>
              <a:t>만 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DeliveryAdapter</a:t>
            </a:r>
            <a:r>
              <a:rPr sz="1800" b="0">
                <a:solidFill>
                  <a:srgbClr val="000000"/>
                </a:solidFill>
                <a:latin typeface="맑은 고딕"/>
                <a:ea typeface="맑은 고딕"/>
              </a:rPr>
              <a:t>가 그 인터페이스를 </a:t>
            </a:r>
            <a:r>
              <a:rPr sz="1800" b="1">
                <a:solidFill>
                  <a:srgbClr val="000000"/>
                </a:solidFill>
                <a:latin typeface="맑은 고딕"/>
                <a:ea typeface="맑은 고딕"/>
              </a:rPr>
              <a:t>구현</a:t>
            </a:r>
            <a:r>
              <a:rPr sz="1800" b="0">
                <a:solidFill>
                  <a:srgbClr val="000000"/>
                </a:solidFill>
                <a:latin typeface="맑은 고딕"/>
                <a:ea typeface="맑은 고딕"/>
              </a:rPr>
              <a:t>하고</a:t>
            </a:r>
            <a:r>
              <a:rPr sz="1400" b="0">
                <a:solidFill>
                  <a:srgbClr val="000000"/>
                </a:solidFill>
                <a:latin typeface="맑은 고딕"/>
                <a:ea typeface="맑은 고딕"/>
              </a:rPr>
              <a:t>(빈 삼각형)</a:t>
            </a:r>
            <a:r>
              <a:rPr sz="1800" b="0">
                <a:solidFill>
                  <a:srgbClr val="000000"/>
                </a:solidFill>
                <a:latin typeface="맑은 고딕"/>
                <a:ea typeface="맑은 고딕"/>
              </a:rPr>
              <a:t> 통보를 </a:t>
            </a:r>
            <a:r>
              <a:rPr sz="1800" b="0">
                <a:solidFill>
                  <a:srgbClr val="000000"/>
                </a:solidFill>
                <a:latin typeface="맑은 고딕"/>
                <a:ea typeface="맑은 고딕"/>
              </a:rPr>
              <a:t>Order</a:t>
            </a:r>
            <a:r>
              <a:rPr sz="1800" b="0">
                <a:solidFill>
                  <a:srgbClr val="000000"/>
                </a:solidFill>
                <a:latin typeface="맑은 고딕"/>
                <a:ea typeface="맑은 고딕"/>
              </a:rPr>
              <a:t>에 전한다 —</a:t>
            </a:r>
            <a:r>
              <a:rPr sz="1600" b="0">
                <a:solidFill>
                  <a:srgbClr val="000000"/>
                </a:solidFill>
                <a:latin typeface="맑은 고딕"/>
                <a:ea typeface="맑은 고딕"/>
              </a:rPr>
              <a:t> 화살표가 모두 </a:t>
            </a:r>
            <a:r>
              <a:rPr sz="1600" b="1">
                <a:solidFill>
                  <a:srgbClr val="000000"/>
                </a:solidFill>
                <a:latin typeface="맑은 고딕"/>
                <a:ea typeface="맑은 고딕"/>
              </a:rPr>
              <a:t>업무 쪽</a:t>
            </a:r>
            <a:r>
              <a:rPr sz="1600" b="0">
                <a:solidFill>
                  <a:srgbClr val="000000"/>
                </a:solidFill>
                <a:latin typeface="맑은 고딕"/>
                <a:ea typeface="맑은 고딕"/>
              </a:rPr>
              <a:t>을 향해 순환이 끊긴다.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511552"/>
            <a:ext cx="8412480" cy="201168"/>
          </a:xfrm>
          <a:prstGeom prst="rect">
            <a:avLst/>
          </a:prstGeom>
          <a:noFill/>
        </p:spPr>
        <p:txBody>
          <a:bodyPr wrap="square">
            <a:spAutoFit/>
          </a:bodyPr>
          <a:lstStyle/>
          <a:p>
            <a:pPr algn="ctr"/>
            <a:r>
              <a:rPr sz="1400" b="1">
                <a:solidFill>
                  <a:srgbClr val="000000"/>
                </a:solidFill>
                <a:latin typeface="맑은 고딕"/>
                <a:ea typeface="맑은 고딕"/>
              </a:rPr>
              <a:t>인터페이스를 가진 배송, 구현하는 연동</a:t>
            </a:r>
          </a:p>
        </p:txBody>
      </p:sp>
      <p:pic>
        <p:nvPicPr>
          <p:cNvPr id="10" name="plantuml Diagram 6"/>
          <p:cNvPicPr>
            <a:picLocks noChangeAspect="1"/>
          </p:cNvPicPr>
          <p:nvPr/>
        </p:nvPicPr>
        <p:blipFill>
          <a:blip r:embed="plantumlImage6"/>
          <a:stretch>
            <a:fillRect/>
          </a:stretch>
        </p:blipFill>
        <p:spPr>
          <a:xfrm>
            <a:off x="1768231" y="2749296"/>
            <a:ext cx="5607538" cy="197338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12. 안정성과 추상성</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안정된 추상 원칙</a:t>
            </a:r>
            <a:r>
              <a:rPr sz="1400" b="0">
                <a:solidFill>
                  <a:srgbClr val="000000"/>
                </a:solidFill>
                <a:latin typeface="맑은 고딕"/>
                <a:ea typeface="맑은 고딕"/>
              </a:rPr>
              <a:t>(Stable Abstractions Principle, </a:t>
            </a:r>
            <a:r>
              <a:rPr sz="1400" b="1">
                <a:solidFill>
                  <a:srgbClr val="000000"/>
                </a:solidFill>
                <a:latin typeface="맑은 고딕"/>
                <a:ea typeface="맑은 고딕"/>
              </a:rPr>
              <a:t>SAP</a:t>
            </a:r>
            <a:r>
              <a:rPr sz="1400" b="0">
                <a:solidFill>
                  <a:srgbClr val="000000"/>
                </a:solidFill>
                <a:latin typeface="맑은 고딕"/>
                <a:ea typeface="맑은 고딕"/>
              </a:rPr>
              <a:t>)</a:t>
            </a:r>
            <a:r>
              <a:rPr sz="1800" b="0">
                <a:solidFill>
                  <a:srgbClr val="000000"/>
                </a:solidFill>
                <a:latin typeface="맑은 고딕"/>
                <a:ea typeface="맑은 고딕"/>
              </a:rPr>
              <a:t>에 따라 요청 인터페이스를 업무 패키지에 둔 </a:t>
            </a:r>
            <a:r>
              <a:rPr sz="1800" b="1">
                <a:solidFill>
                  <a:srgbClr val="000000"/>
                </a:solidFill>
                <a:latin typeface="맑은 고딕"/>
                <a:ea typeface="맑은 고딕"/>
              </a:rPr>
              <a:t>상세화</a:t>
            </a:r>
            <a:r>
              <a:rPr sz="1800" b="0">
                <a:solidFill>
                  <a:srgbClr val="000000"/>
                </a:solidFill>
                <a:latin typeface="맑은 고딕"/>
                <a:ea typeface="맑은 고딕"/>
              </a:rPr>
              <a:t>다. 순환이 없다.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안정된 패키지</a:t>
            </a:r>
            <a:r>
              <a:rPr sz="1800" b="0">
                <a:solidFill>
                  <a:srgbClr val="000000"/>
                </a:solidFill>
                <a:latin typeface="맑은 고딕"/>
                <a:ea typeface="맑은 고딕"/>
              </a:rPr>
              <a:t>는 추상 패키지여야 한다"</a:t>
            </a:r>
            <a:r>
              <a:rPr sz="1000" b="0">
                <a:solidFill>
                  <a:srgbClr val="000000"/>
                </a:solidFill>
                <a:latin typeface="맑은 고딕"/>
                <a:ea typeface="맑은 고딕"/>
              </a:rPr>
              <a:t>, </a:t>
            </a:r>
            <a:r>
              <a:rPr sz="1000" b="0">
                <a:solidFill>
                  <a:srgbClr val="000000"/>
                </a:solidFill>
                <a:latin typeface="맑은 고딕"/>
                <a:ea typeface="맑은 고딕"/>
              </a:rPr>
              <a:t>"Stable packages should be abstract packages."</a:t>
            </a:r>
            <a:r>
              <a:rPr sz="1000" b="0">
                <a:solidFill>
                  <a:srgbClr val="000000"/>
                </a:solidFill>
                <a:latin typeface="맑은 고딕"/>
                <a:ea typeface="맑은 고딕"/>
              </a:rPr>
              <a:t>, </a:t>
            </a:r>
            <a:r>
              <a:rPr sz="1000" b="0">
                <a:solidFill>
                  <a:srgbClr val="000000"/>
                </a:solidFill>
                <a:latin typeface="맑은 고딕"/>
                <a:ea typeface="맑은 고딕"/>
              </a:rPr>
              <a:t>[Martin 2000]</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payment</a:t>
            </a:r>
            <a:r>
              <a:rPr sz="1800" b="0">
                <a:solidFill>
                  <a:srgbClr val="000000"/>
                </a:solidFill>
                <a:latin typeface="맑은 고딕"/>
                <a:ea typeface="맑은 고딕"/>
              </a:rPr>
              <a:t>·</a:t>
            </a:r>
            <a:r>
              <a:rPr sz="1800" b="0">
                <a:solidFill>
                  <a:srgbClr val="000000"/>
                </a:solidFill>
                <a:latin typeface="맑은 고딕"/>
                <a:ea typeface="맑은 고딕"/>
              </a:rPr>
              <a:t>delivery</a:t>
            </a:r>
            <a:r>
              <a:rPr sz="1800" b="0">
                <a:solidFill>
                  <a:srgbClr val="000000"/>
                </a:solidFill>
                <a:latin typeface="맑은 고딕"/>
                <a:ea typeface="맑은 고딕"/>
              </a:rPr>
              <a:t>가 인터페이스를 갖고 연동이 </a:t>
            </a:r>
            <a:r>
              <a:rPr sz="1800" b="1">
                <a:solidFill>
                  <a:srgbClr val="000000"/>
                </a:solidFill>
                <a:latin typeface="맑은 고딕"/>
                <a:ea typeface="맑은 고딕"/>
              </a:rPr>
              <a:t>구현</a:t>
            </a:r>
            <a:r>
              <a:rPr sz="1800" b="0">
                <a:solidFill>
                  <a:srgbClr val="000000"/>
                </a:solidFill>
                <a:latin typeface="맑은 고딕"/>
                <a:ea typeface="맑은 고딕"/>
              </a:rPr>
              <a:t>한다 —</a:t>
            </a:r>
            <a:r>
              <a:rPr sz="1600" b="0">
                <a:solidFill>
                  <a:srgbClr val="000000"/>
                </a:solidFill>
                <a:latin typeface="맑은 고딕"/>
                <a:ea typeface="맑은 고딕"/>
              </a:rPr>
              <a:t> 연동의 점선이 모두 </a:t>
            </a:r>
            <a:r>
              <a:rPr sz="1600" b="1">
                <a:solidFill>
                  <a:srgbClr val="000000"/>
                </a:solidFill>
                <a:latin typeface="맑은 고딕"/>
                <a:ea typeface="맑은 고딕"/>
              </a:rPr>
              <a:t>업무 패키지</a:t>
            </a:r>
            <a:r>
              <a:rPr sz="1600" b="0">
                <a:solidFill>
                  <a:srgbClr val="000000"/>
                </a:solidFill>
                <a:latin typeface="맑은 고딕"/>
                <a:ea typeface="맑은 고딕"/>
              </a:rPr>
              <a:t>로 향한다.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024170"/>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시스템 패키지(상세화)</a:t>
            </a:r>
          </a:p>
        </p:txBody>
      </p:sp>
      <p:pic>
        <p:nvPicPr>
          <p:cNvPr id="10" name="plantuml Diagram 7"/>
          <p:cNvPicPr>
            <a:picLocks noChangeAspect="1"/>
          </p:cNvPicPr>
          <p:nvPr/>
        </p:nvPicPr>
        <p:blipFill>
          <a:blip r:embed="plantumlImage7"/>
          <a:stretch>
            <a:fillRect/>
          </a:stretch>
        </p:blipFill>
        <p:spPr>
          <a:xfrm>
            <a:off x="2667000" y="3261914"/>
            <a:ext cx="3810000" cy="2706077"/>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13. 패키지 원칙</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3873500"/>
        </p:xfrm>
        <a:graphic>
          <a:graphicData uri="http://schemas.openxmlformats.org/drawingml/2006/table">
            <a:tbl>
              <a:tblPr/>
              <a:tblGrid>
                <a:gridCol w="889000"/>
                <a:gridCol w="5100320"/>
                <a:gridCol w="23164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원칙</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요지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응집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재사용·릴리스 등가 원칙(Reuse/Release Equivalence Principle, REP)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함께 배포하는 단위로 묶는다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응집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공통 폐쇄 원칙(Common Closure Principle, CCP)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함께 바뀌는 것을 묶는다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응집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공통 재사용 원칙(Common Reuse Principle, CRP)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함께 쓰이지 않는 것은 나눈다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비순환 의존 원칙(Acyclic Dependencies Principle, ADP)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순환을 만들지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안정된 의존 원칙(Stable Dependencies Principle, SDP)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안정된 쪽으로 의존한다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안정된 추상 원칙(Stable Abstractions Principle, SAP)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안정된 패키지는 추상적이다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Robert C. Martin은 패키지를 묶는 </a:t>
            </a:r>
            <a:r>
              <a:rPr sz="1800" b="1">
                <a:solidFill>
                  <a:srgbClr val="000000"/>
                </a:solidFill>
                <a:latin typeface="맑은 고딕"/>
                <a:ea typeface="맑은 고딕"/>
              </a:rPr>
              <a:t>응집</a:t>
            </a:r>
            <a:r>
              <a:rPr sz="1800" b="0">
                <a:solidFill>
                  <a:srgbClr val="000000"/>
                </a:solidFill>
                <a:latin typeface="맑은 고딕"/>
                <a:ea typeface="맑은 고딕"/>
              </a:rPr>
              <a:t> 원칙 셋과 패키지 사이의 </a:t>
            </a:r>
            <a:r>
              <a:rPr sz="1800" b="1">
                <a:solidFill>
                  <a:srgbClr val="000000"/>
                </a:solidFill>
                <a:latin typeface="맑은 고딕"/>
                <a:ea typeface="맑은 고딕"/>
              </a:rPr>
              <a:t>결합</a:t>
            </a:r>
            <a:r>
              <a:rPr sz="1800" b="0">
                <a:solidFill>
                  <a:srgbClr val="000000"/>
                </a:solidFill>
                <a:latin typeface="맑은 고딕"/>
                <a:ea typeface="맑은 고딕"/>
              </a:rPr>
              <a:t> 원칙 셋을 정리했다.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패키지 원칙</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35661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적용한 곳</a:t>
            </a:r>
            <a:r>
              <a:rPr sz="1800" b="0">
                <a:solidFill>
                  <a:srgbClr val="000000"/>
                </a:solidFill>
                <a:latin typeface="맑은 고딕"/>
                <a:ea typeface="맑은 고딕"/>
              </a:rPr>
              <a:t> —</a:t>
            </a:r>
            <a:r>
              <a:rPr sz="1600" b="0">
                <a:solidFill>
                  <a:srgbClr val="000000"/>
                </a:solidFill>
                <a:latin typeface="맑은 고딕"/>
                <a:ea typeface="맑은 고딕"/>
              </a:rPr>
              <a:t> CCP·CRP는 「07. 경계 후보」, SDP는 「10. 의존 방향」, ADP는 「11. 순환 제거」, SAP는 「12. 안정성과 추상성」.</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REP는 여러 팀·배포 단위로 나눌 때 중요하다. 한 시스템 안의 패키지에서는 </a:t>
            </a:r>
            <a:r>
              <a:rPr sz="1800" b="1">
                <a:solidFill>
                  <a:srgbClr val="000000"/>
                </a:solidFill>
                <a:latin typeface="맑은 고딕"/>
                <a:ea typeface="맑은 고딕"/>
              </a:rPr>
              <a:t>CCP·CRP</a:t>
            </a:r>
            <a:r>
              <a:rPr sz="1800" b="0">
                <a:solidFill>
                  <a:srgbClr val="000000"/>
                </a:solidFill>
                <a:latin typeface="맑은 고딕"/>
                <a:ea typeface="맑은 고딕"/>
              </a:rPr>
              <a:t>가 먼저다.</a:t>
            </a:r>
          </a:p>
        </p:txBody>
      </p:sp>
      <p:sp>
        <p:nvSpPr>
          <p:cNvPr id="16" name="TextBox 12">
            <a:extLst>
              <a:ext uri="{FF2B5EF4-FFF2-40B4-BE49-F238E27FC236}">
                <a16:creationId xmlns:a16="http://schemas.microsoft.com/office/drawing/2014/main" id="{654EDDB4-901F-3D48-A715-17D163E8A7AC}"/>
              </a:ext>
            </a:extLst>
          </p:cNvPr>
          <p:cNvSpPr txBox="1"/>
          <p:nvPr/>
        </p:nvSpPr>
        <p:spPr>
          <a:xfrm>
            <a:off x="365760" y="6065577"/>
            <a:ext cx="8412480" cy="347472"/>
          </a:xfrm>
          <a:prstGeom prst="rect">
            <a:avLst/>
          </a:prstGeom>
          <a:noFill/>
        </p:spPr>
        <p:txBody>
          <a:bodyPr wrap="square" anchor="b">
            <a:spAutoFit/>
          </a:bodyPr>
          <a:lstStyle/>
          <a:p>
            <a:r>
              <a:rPr sz="800" b="0">
                <a:solidFill>
                  <a:srgbClr val="000000"/>
                </a:solidFill>
                <a:latin typeface="맑은 고딕"/>
                <a:ea typeface="맑은 고딕"/>
              </a:rPr>
              <a:t>REP — Reuse/Release Equivalence Principle · CCP — Common Closure Principle · CRP — Common Reuse Principle · ADP — Acyclic Dependencies Principle · SDP — Stable Dependencies Principle · SAP — Stable Abstractions Principle</a:t>
            </a:r>
          </a:p>
        </p:txBody>
      </p:sp>
    </p:spTree>
    <p:extLst>
      <p:ext uri="{BB962C8B-B14F-4D97-AF65-F5344CB8AC3E}">
        <p14:creationId xmlns:p14="http://schemas.microsoft.com/office/powerpoint/2010/main" val="2789569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14. 구조의 진화</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패키지 구조는 처음에 완성하지 않는다. 처음 정한 경계는 </a:t>
            </a:r>
            <a:r>
              <a:rPr sz="1800" b="1">
                <a:solidFill>
                  <a:srgbClr val="000000"/>
                </a:solidFill>
                <a:latin typeface="맑은 고딕"/>
                <a:ea typeface="맑은 고딕"/>
              </a:rPr>
              <a:t>첫 구조</a:t>
            </a:r>
            <a:r>
              <a:rPr sz="1800" b="0">
                <a:solidFill>
                  <a:srgbClr val="000000"/>
                </a:solidFill>
                <a:latin typeface="맑은 고딕"/>
                <a:ea typeface="맑은 고딕"/>
              </a:rPr>
              <a:t>이며, 클래스 설계와 변경을 거치며 </a:t>
            </a:r>
            <a:r>
              <a:rPr sz="1800" b="1">
                <a:solidFill>
                  <a:srgbClr val="000000"/>
                </a:solidFill>
                <a:latin typeface="맑은 고딕"/>
                <a:ea typeface="맑은 고딕"/>
              </a:rPr>
              <a:t>다시 조정된다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"컴포넌트 구조는 </a:t>
            </a:r>
            <a:r>
              <a:rPr sz="1800" b="1">
                <a:solidFill>
                  <a:srgbClr val="000000"/>
                </a:solidFill>
                <a:latin typeface="맑은 고딕"/>
                <a:ea typeface="맑은 고딕"/>
              </a:rPr>
              <a:t>하향식으로 설계할 수 없다</a:t>
            </a:r>
            <a:r>
              <a:rPr sz="1800" b="0">
                <a:solidFill>
                  <a:srgbClr val="000000"/>
                </a:solidFill>
                <a:latin typeface="맑은 고딕"/>
                <a:ea typeface="맑은 고딕"/>
              </a:rPr>
              <a:t>. 시스템에서 가장 먼저 설계하는 것이 아니라, 시스템이 자라고 바뀌면서 진화한다"</a:t>
            </a:r>
            <a:r>
              <a:rPr sz="1000" b="0">
                <a:solidFill>
                  <a:srgbClr val="000000"/>
                </a:solidFill>
                <a:latin typeface="맑은 고딕"/>
                <a:ea typeface="맑은 고딕"/>
              </a:rPr>
              <a:t>, </a:t>
            </a:r>
            <a:r>
              <a:rPr sz="1000" b="0">
                <a:solidFill>
                  <a:srgbClr val="000000"/>
                </a:solidFill>
                <a:latin typeface="맑은 고딕"/>
                <a:ea typeface="맑은 고딕"/>
              </a:rPr>
              <a:t>"The component structure cannot be designed from the top down. It is not one of the first things about the system that is designed, but rather evolves as the system grows and changes."</a:t>
            </a:r>
            <a:r>
              <a:rPr sz="1000" b="0">
                <a:solidFill>
                  <a:srgbClr val="000000"/>
                </a:solidFill>
                <a:latin typeface="맑은 고딕"/>
                <a:ea typeface="맑은 고딕"/>
              </a:rPr>
              <a:t>, </a:t>
            </a:r>
            <a:r>
              <a:rPr sz="1000" b="0">
                <a:solidFill>
                  <a:srgbClr val="000000"/>
                </a:solidFill>
                <a:latin typeface="맑은 고딕"/>
                <a:ea typeface="맑은 고딕"/>
              </a:rPr>
              <a:t>[Martin 2018]</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지금</a:t>
            </a:r>
            <a:r>
              <a:rPr sz="1800" b="0">
                <a:solidFill>
                  <a:srgbClr val="000000"/>
                </a:solidFill>
                <a:latin typeface="맑은 고딕"/>
                <a:ea typeface="맑은 고딕"/>
              </a:rPr>
              <a:t> —</a:t>
            </a:r>
            <a:r>
              <a:rPr sz="1600" b="0">
                <a:solidFill>
                  <a:srgbClr val="000000"/>
                </a:solidFill>
                <a:latin typeface="맑은 고딕"/>
                <a:ea typeface="맑은 고딕"/>
              </a:rPr>
              <a:t> 요구·분석 모델에서 드러난 변경 이유로 </a:t>
            </a:r>
            <a:r>
              <a:rPr sz="1600" b="1">
                <a:solidFill>
                  <a:srgbClr val="000000"/>
                </a:solidFill>
                <a:latin typeface="맑은 고딕"/>
                <a:ea typeface="맑은 고딕"/>
              </a:rPr>
              <a:t>첫 경계</a:t>
            </a:r>
            <a:r>
              <a:rPr sz="1600" b="0">
                <a:solidFill>
                  <a:srgbClr val="000000"/>
                </a:solidFill>
                <a:latin typeface="맑은 고딕"/>
                <a:ea typeface="맑은 고딕"/>
              </a:rPr>
              <a:t>와 방향을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다음</a:t>
            </a:r>
            <a:r>
              <a:rPr sz="1800" b="0">
                <a:solidFill>
                  <a:srgbClr val="000000"/>
                </a:solidFill>
                <a:latin typeface="맑은 고딕"/>
                <a:ea typeface="맑은 고딕"/>
              </a:rPr>
              <a:t> —</a:t>
            </a:r>
            <a:r>
              <a:rPr sz="1600" b="0">
                <a:solidFill>
                  <a:srgbClr val="000000"/>
                </a:solidFill>
                <a:latin typeface="맑은 고딕"/>
                <a:ea typeface="맑은 고딕"/>
              </a:rPr>
              <a:t> 클래스의 책임을 정하면</a:t>
            </a:r>
            <a:r>
              <a:rPr sz="1200" b="0">
                <a:solidFill>
                  <a:srgbClr val="000000"/>
                </a:solidFill>
                <a:latin typeface="맑은 고딕"/>
                <a:ea typeface="맑은 고딕"/>
              </a:rPr>
              <a:t>("07. 책임·협력·계약")</a:t>
            </a:r>
            <a:r>
              <a:rPr sz="1600" b="0">
                <a:solidFill>
                  <a:srgbClr val="000000"/>
                </a:solidFill>
                <a:latin typeface="맑은 고딕"/>
                <a:ea typeface="맑은 고딕"/>
              </a:rPr>
              <a:t> 경계가 맞는지 </a:t>
            </a:r>
            <a:r>
              <a:rPr sz="1600" b="1">
                <a:solidFill>
                  <a:srgbClr val="000000"/>
                </a:solidFill>
                <a:latin typeface="맑은 고딕"/>
                <a:ea typeface="맑은 고딕"/>
              </a:rPr>
              <a:t>다시 확인</a:t>
            </a:r>
            <a:r>
              <a:rPr sz="1600" b="0">
                <a:solidFill>
                  <a:srgbClr val="000000"/>
                </a:solidFill>
                <a:latin typeface="맑은 고딕"/>
                <a:ea typeface="맑은 고딕"/>
              </a:rPr>
              <a:t>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변경 후</a:t>
            </a:r>
            <a:r>
              <a:rPr sz="1800" b="0">
                <a:solidFill>
                  <a:srgbClr val="000000"/>
                </a:solidFill>
                <a:latin typeface="맑은 고딕"/>
                <a:ea typeface="맑은 고딕"/>
              </a:rPr>
              <a:t> —</a:t>
            </a:r>
            <a:r>
              <a:rPr sz="1600" b="0">
                <a:solidFill>
                  <a:srgbClr val="000000"/>
                </a:solidFill>
                <a:latin typeface="맑은 고딕"/>
                <a:ea typeface="맑은 고딕"/>
              </a:rPr>
              <a:t> 실제 변경이 여러 경계에 번지면 </a:t>
            </a:r>
            <a:r>
              <a:rPr sz="1600" b="1">
                <a:solidFill>
                  <a:srgbClr val="000000"/>
                </a:solidFill>
                <a:latin typeface="맑은 고딕"/>
                <a:ea typeface="맑은 고딕"/>
              </a:rPr>
              <a:t>경계를 되돌려</a:t>
            </a:r>
            <a:r>
              <a:rPr sz="1600" b="0">
                <a:solidFill>
                  <a:srgbClr val="000000"/>
                </a:solidFill>
                <a:latin typeface="맑은 고딕"/>
                <a:ea typeface="맑은 고딕"/>
              </a:rPr>
              <a:t> 고친다.</a:t>
            </a:r>
          </a:p>
        </p:txBody>
      </p:sp>
    </p:spTree>
    <p:extLst>
      <p:ext uri="{BB962C8B-B14F-4D97-AF65-F5344CB8AC3E}">
        <p14:creationId xmlns:p14="http://schemas.microsoft.com/office/powerpoint/2010/main" val="3555436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15. 변경 파급 </a:t>
            </a:r>
            <a:r>
              <a:rPr sz="2000" b="1">
                <a:solidFill>
                  <a:srgbClr val="000000"/>
                </a:solidFill>
                <a:latin typeface="맑은 고딕"/>
                <a:ea typeface="맑은 고딕"/>
              </a:rPr>
              <a:t>(1/2)</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88986" y="3437890"/>
          <a:ext cx="5552440" cy="3873500"/>
        </p:xfrm>
        <a:graphic>
          <a:graphicData uri="http://schemas.openxmlformats.org/drawingml/2006/table">
            <a:tbl>
              <a:tblPr/>
              <a:tblGrid>
                <a:gridCol w="1673860"/>
                <a:gridCol w="2120900"/>
                <a:gridCol w="17576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변경</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바뀌는 경계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그대로인 경계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대행사 교체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통보 형식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전 취소 허용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주문(상태 기계·취소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 전부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판매가 정책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주문(단가는 확정 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230036"/>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결합도</a:t>
            </a:r>
            <a:r>
              <a:rPr sz="1800" b="0">
                <a:solidFill>
                  <a:srgbClr val="000000"/>
                </a:solidFill>
                <a:latin typeface="맑은 고딕"/>
                <a:ea typeface="맑은 고딕"/>
              </a:rPr>
              <a:t>는 경계 사이가 </a:t>
            </a:r>
            <a:r>
              <a:rPr sz="1800" b="1">
                <a:solidFill>
                  <a:srgbClr val="000000"/>
                </a:solidFill>
                <a:latin typeface="맑은 고딕"/>
                <a:ea typeface="맑은 고딕"/>
              </a:rPr>
              <a:t>얼마나 기대는가</a:t>
            </a:r>
            <a:r>
              <a:rPr sz="1800" b="0">
                <a:solidFill>
                  <a:srgbClr val="000000"/>
                </a:solidFill>
                <a:latin typeface="맑은 고딕"/>
                <a:ea typeface="맑은 고딕"/>
              </a:rPr>
              <a:t>, </a:t>
            </a:r>
            <a:r>
              <a:rPr sz="1800" b="1">
                <a:solidFill>
                  <a:srgbClr val="000000"/>
                </a:solidFill>
                <a:latin typeface="맑은 고딕"/>
                <a:ea typeface="맑은 고딕"/>
              </a:rPr>
              <a:t>응집도</a:t>
            </a:r>
            <a:r>
              <a:rPr sz="1800" b="0">
                <a:solidFill>
                  <a:srgbClr val="000000"/>
                </a:solidFill>
                <a:latin typeface="맑은 고딕"/>
                <a:ea typeface="맑은 고딕"/>
              </a:rPr>
              <a:t>는 경계 안이 </a:t>
            </a:r>
            <a:r>
              <a:rPr sz="1800" b="1">
                <a:solidFill>
                  <a:srgbClr val="000000"/>
                </a:solidFill>
                <a:latin typeface="맑은 고딕"/>
                <a:ea typeface="맑은 고딕"/>
              </a:rPr>
              <a:t>한 이유로 모였는가</a:t>
            </a:r>
            <a:r>
              <a:rPr sz="18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낮은 결합</a:t>
            </a:r>
            <a:r>
              <a:rPr sz="1800" b="0">
                <a:solidFill>
                  <a:srgbClr val="000000"/>
                </a:solidFill>
                <a:latin typeface="맑은 고딕"/>
                <a:ea typeface="맑은 고딕"/>
              </a:rPr>
              <a:t> —</a:t>
            </a:r>
            <a:r>
              <a:rPr sz="1600" b="0">
                <a:solidFill>
                  <a:srgbClr val="000000"/>
                </a:solidFill>
                <a:latin typeface="맑은 고딕"/>
                <a:ea typeface="맑은 고딕"/>
              </a:rPr>
              <a:t> 경계를 넘는 것은 인터페이스뿐이다. 한쪽의 세부가 바뀌어도 다른 쪽은 그대로다.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높은 응집</a:t>
            </a:r>
            <a:r>
              <a:rPr sz="1800" b="0">
                <a:solidFill>
                  <a:srgbClr val="000000"/>
                </a:solidFill>
                <a:latin typeface="맑은 고딕"/>
                <a:ea typeface="맑은 고딕"/>
              </a:rPr>
              <a:t> —</a:t>
            </a:r>
            <a:r>
              <a:rPr sz="1600" b="0">
                <a:solidFill>
                  <a:srgbClr val="000000"/>
                </a:solidFill>
                <a:latin typeface="맑은 고딕"/>
                <a:ea typeface="맑은 고딕"/>
              </a:rPr>
              <a:t> 경계 안의 것은 </a:t>
            </a:r>
            <a:r>
              <a:rPr sz="1600" b="1">
                <a:solidFill>
                  <a:srgbClr val="000000"/>
                </a:solidFill>
                <a:latin typeface="맑은 고딕"/>
                <a:ea typeface="맑은 고딕"/>
              </a:rPr>
              <a:t>같은 변경 이유</a:t>
            </a:r>
            <a:r>
              <a:rPr sz="1600" b="0">
                <a:solidFill>
                  <a:srgbClr val="000000"/>
                </a:solidFill>
                <a:latin typeface="맑은 고딕"/>
                <a:ea typeface="맑은 고딕"/>
              </a:rPr>
              <a:t>로 함께 바뀐다.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변경 시나리오를 하나씩 대어 </a:t>
            </a:r>
            <a:r>
              <a:rPr sz="1800" b="1">
                <a:solidFill>
                  <a:srgbClr val="000000"/>
                </a:solidFill>
                <a:latin typeface="맑은 고딕"/>
                <a:ea typeface="맑은 고딕"/>
              </a:rPr>
              <a:t>어느 경계가 바뀌는지</a:t>
            </a:r>
            <a:r>
              <a:rPr sz="1800" b="0">
                <a:solidFill>
                  <a:srgbClr val="000000"/>
                </a:solidFill>
                <a:latin typeface="맑은 고딕"/>
                <a:ea typeface="맑은 고딕"/>
              </a:rPr>
              <a:t> 확인한다.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13944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변경 시나리오별 파급</a:t>
            </a:r>
          </a:p>
        </p:txBody>
      </p:sp>
    </p:spTree>
    <p:extLst>
      <p:ext uri="{BB962C8B-B14F-4D97-AF65-F5344CB8AC3E}">
        <p14:creationId xmlns:p14="http://schemas.microsoft.com/office/powerpoint/2010/main" val="2789569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15. 변경 파급 </a:t>
            </a:r>
            <a:r>
              <a:rPr sz="2000" b="1">
                <a:solidFill>
                  <a:srgbClr val="000000"/>
                </a:solidFill>
                <a:latin typeface="맑은 고딕"/>
                <a:ea typeface="맑은 고딕"/>
              </a:rPr>
              <a:t>(2/2)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왼쪽</a:t>
            </a:r>
            <a:r>
              <a:rPr sz="1400" b="1">
                <a:solidFill>
                  <a:srgbClr val="000000"/>
                </a:solidFill>
                <a:latin typeface="맑은 고딕"/>
                <a:ea typeface="맑은 고딕"/>
              </a:rPr>
              <a:t>(초안)</a:t>
            </a:r>
            <a:r>
              <a:rPr sz="1800" b="0">
                <a:solidFill>
                  <a:srgbClr val="000000"/>
                </a:solidFill>
                <a:latin typeface="맑은 고딕"/>
                <a:ea typeface="맑은 고딕"/>
              </a:rPr>
              <a:t> —</a:t>
            </a:r>
            <a:r>
              <a:rPr sz="1600" b="0">
                <a:solidFill>
                  <a:srgbClr val="000000"/>
                </a:solidFill>
                <a:latin typeface="맑은 고딕"/>
                <a:ea typeface="맑은 고딕"/>
              </a:rPr>
              <a:t> 화살표가 </a:t>
            </a:r>
            <a:r>
              <a:rPr sz="1600" b="0">
                <a:solidFill>
                  <a:srgbClr val="000000"/>
                </a:solidFill>
                <a:latin typeface="맑은 고딕"/>
                <a:ea typeface="맑은 고딕"/>
              </a:rPr>
              <a:t>order</a:t>
            </a:r>
            <a:r>
              <a:rPr sz="1600" b="0">
                <a:solidFill>
                  <a:srgbClr val="000000"/>
                </a:solidFill>
                <a:latin typeface="맑은 고딕"/>
                <a:ea typeface="맑은 고딕"/>
              </a:rPr>
              <a:t> → </a:t>
            </a:r>
            <a:r>
              <a:rPr sz="1600" b="0">
                <a:solidFill>
                  <a:srgbClr val="000000"/>
                </a:solidFill>
                <a:latin typeface="맑은 고딕"/>
                <a:ea typeface="맑은 고딕"/>
              </a:rPr>
              <a:t>delivery</a:t>
            </a:r>
            <a:r>
              <a:rPr sz="1600" b="0">
                <a:solidFill>
                  <a:srgbClr val="000000"/>
                </a:solidFill>
                <a:latin typeface="맑은 고딕"/>
                <a:ea typeface="맑은 고딕"/>
              </a:rPr>
              <a:t> → </a:t>
            </a:r>
            <a:r>
              <a:rPr sz="1600" b="0">
                <a:solidFill>
                  <a:srgbClr val="000000"/>
                </a:solidFill>
                <a:latin typeface="맑은 고딕"/>
                <a:ea typeface="맑은 고딕"/>
              </a:rPr>
              <a:t>deliveryadapter</a:t>
            </a:r>
            <a:r>
              <a:rPr sz="1600" b="0">
                <a:solidFill>
                  <a:srgbClr val="000000"/>
                </a:solidFill>
                <a:latin typeface="맑은 고딕"/>
                <a:ea typeface="맑은 고딕"/>
              </a:rPr>
              <a:t> → </a:t>
            </a:r>
            <a:r>
              <a:rPr sz="1600" b="0">
                <a:solidFill>
                  <a:srgbClr val="000000"/>
                </a:solidFill>
                <a:latin typeface="맑은 고딕"/>
                <a:ea typeface="맑은 고딕"/>
              </a:rPr>
              <a:t>order</a:t>
            </a:r>
            <a:r>
              <a:rPr sz="1600" b="0">
                <a:solidFill>
                  <a:srgbClr val="000000"/>
                </a:solidFill>
                <a:latin typeface="맑은 고딕"/>
                <a:ea typeface="맑은 고딕"/>
              </a:rPr>
              <a:t>로 돈다. 연동이 바뀌면 </a:t>
            </a:r>
            <a:r>
              <a:rPr sz="1600" b="1">
                <a:solidFill>
                  <a:srgbClr val="000000"/>
                </a:solidFill>
                <a:latin typeface="맑은 고딕"/>
                <a:ea typeface="맑은 고딕"/>
              </a:rPr>
              <a:t>order</a:t>
            </a:r>
            <a:r>
              <a:rPr sz="1600" b="1">
                <a:solidFill>
                  <a:srgbClr val="000000"/>
                </a:solidFill>
                <a:latin typeface="맑은 고딕"/>
                <a:ea typeface="맑은 고딕"/>
              </a:rPr>
              <a:t>까지</a:t>
            </a:r>
            <a:r>
              <a:rPr sz="1600" b="0">
                <a:solidFill>
                  <a:srgbClr val="000000"/>
                </a:solidFill>
                <a:latin typeface="맑은 고딕"/>
                <a:ea typeface="맑은 고딕"/>
              </a:rPr>
              <a:t> 다시 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오른쪽</a:t>
            </a:r>
            <a:r>
              <a:rPr sz="1400" b="1">
                <a:solidFill>
                  <a:srgbClr val="000000"/>
                </a:solidFill>
                <a:latin typeface="맑은 고딕"/>
                <a:ea typeface="맑은 고딕"/>
              </a:rPr>
              <a:t>(상세화)</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deliveryadapter</a:t>
            </a:r>
            <a:r>
              <a:rPr sz="1600" b="0">
                <a:solidFill>
                  <a:srgbClr val="000000"/>
                </a:solidFill>
                <a:latin typeface="맑은 고딕"/>
                <a:ea typeface="맑은 고딕"/>
              </a:rPr>
              <a:t>로 들어오는 화살표가 없어 변경이 </a:t>
            </a:r>
            <a:r>
              <a:rPr sz="1600" b="1">
                <a:solidFill>
                  <a:srgbClr val="000000"/>
                </a:solidFill>
                <a:latin typeface="맑은 고딕"/>
                <a:ea typeface="맑은 고딕"/>
              </a:rPr>
              <a:t>그 안에서</a:t>
            </a:r>
            <a:r>
              <a:rPr sz="1600" b="0">
                <a:solidFill>
                  <a:srgbClr val="000000"/>
                </a:solidFill>
                <a:latin typeface="맑은 고딕"/>
                <a:ea typeface="맑은 고딕"/>
              </a:rPr>
              <a:t> 끝난다.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511552"/>
            <a:ext cx="8412480" cy="201168"/>
          </a:xfrm>
          <a:prstGeom prst="rect">
            <a:avLst/>
          </a:prstGeom>
          <a:noFill/>
        </p:spPr>
        <p:txBody>
          <a:bodyPr wrap="square">
            <a:spAutoFit/>
          </a:bodyPr>
          <a:lstStyle/>
          <a:p>
            <a:pPr algn="ctr"/>
            <a:r>
              <a:rPr sz="1400" b="1">
                <a:solidFill>
                  <a:srgbClr val="000000"/>
                </a:solidFill>
                <a:latin typeface="맑은 고딕"/>
                <a:ea typeface="맑은 고딕"/>
              </a:rPr>
              <a:t>초안과 상세화의 파급 비교</a:t>
            </a:r>
          </a:p>
        </p:txBody>
      </p:sp>
      <p:pic>
        <p:nvPicPr>
          <p:cNvPr id="10" name="plantuml Diagram 8"/>
          <p:cNvPicPr>
            <a:picLocks noChangeAspect="1"/>
          </p:cNvPicPr>
          <p:nvPr/>
        </p:nvPicPr>
        <p:blipFill>
          <a:blip r:embed="plantumlImage8"/>
          <a:stretch>
            <a:fillRect/>
          </a:stretch>
        </p:blipFill>
        <p:spPr>
          <a:xfrm>
            <a:off x="3048000" y="2749296"/>
            <a:ext cx="3048000" cy="262792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16. 구조적 제약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객체 설계 전에 </a:t>
            </a:r>
            <a:r>
              <a:rPr sz="1800" b="1">
                <a:solidFill>
                  <a:srgbClr val="000000"/>
                </a:solidFill>
                <a:latin typeface="맑은 고딕"/>
                <a:ea typeface="맑은 고딕"/>
              </a:rPr>
              <a:t>지켜야 할 구조의 규칙</a:t>
            </a:r>
            <a:r>
              <a:rPr sz="1800" b="0">
                <a:solidFill>
                  <a:srgbClr val="000000"/>
                </a:solidFill>
                <a:latin typeface="맑은 고딕"/>
                <a:ea typeface="맑은 고딕"/>
              </a:rPr>
              <a:t>을 명시한다. 제약은 이후 모든 설계 판단의 전제다.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방향</a:t>
            </a:r>
            <a:r>
              <a:rPr sz="1800" b="0">
                <a:solidFill>
                  <a:srgbClr val="000000"/>
                </a:solidFill>
                <a:latin typeface="맑은 고딕"/>
                <a:ea typeface="맑은 고딕"/>
              </a:rPr>
              <a:t> —</a:t>
            </a:r>
            <a:r>
              <a:rPr sz="1600" b="0">
                <a:solidFill>
                  <a:srgbClr val="000000"/>
                </a:solidFill>
                <a:latin typeface="맑은 고딕"/>
                <a:ea typeface="맑은 고딕"/>
              </a:rPr>
              <a:t> 업무 경계는 연동 경계에 의존하지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순환 없음</a:t>
            </a:r>
            <a:r>
              <a:rPr sz="1800" b="0">
                <a:solidFill>
                  <a:srgbClr val="000000"/>
                </a:solidFill>
                <a:latin typeface="맑은 고딕"/>
                <a:ea typeface="맑은 고딕"/>
              </a:rPr>
              <a:t> —</a:t>
            </a:r>
            <a:r>
              <a:rPr sz="1600" b="0">
                <a:solidFill>
                  <a:srgbClr val="000000"/>
                </a:solidFill>
                <a:latin typeface="맑은 고딕"/>
                <a:ea typeface="맑은 고딕"/>
              </a:rPr>
              <a:t> 패키지 의존에 순환이 없다.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인터페이스의 위치</a:t>
            </a:r>
            <a:r>
              <a:rPr sz="1800" b="0">
                <a:solidFill>
                  <a:srgbClr val="000000"/>
                </a:solidFill>
                <a:latin typeface="맑은 고딕"/>
                <a:ea typeface="맑은 고딕"/>
              </a:rPr>
              <a:t> —</a:t>
            </a:r>
            <a:r>
              <a:rPr sz="1600" b="0">
                <a:solidFill>
                  <a:srgbClr val="000000"/>
                </a:solidFill>
                <a:latin typeface="맑은 고딕"/>
                <a:ea typeface="맑은 고딕"/>
              </a:rPr>
              <a:t> 외부에 대한 요청 인터페이스는 </a:t>
            </a:r>
            <a:r>
              <a:rPr sz="1600" b="1">
                <a:solidFill>
                  <a:srgbClr val="000000"/>
                </a:solidFill>
                <a:latin typeface="맑은 고딕"/>
                <a:ea typeface="맑은 고딕"/>
              </a:rPr>
              <a:t>업무 패키지</a:t>
            </a:r>
            <a:r>
              <a:rPr sz="1600" b="0">
                <a:solidFill>
                  <a:srgbClr val="000000"/>
                </a:solidFill>
                <a:latin typeface="맑은 고딕"/>
                <a:ea typeface="맑은 고딕"/>
              </a:rPr>
              <a:t>에 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외부 형식</a:t>
            </a:r>
            <a:r>
              <a:rPr sz="1800" b="0">
                <a:solidFill>
                  <a:srgbClr val="000000"/>
                </a:solidFill>
                <a:latin typeface="맑은 고딕"/>
                <a:ea typeface="맑은 고딕"/>
              </a:rPr>
              <a:t> —</a:t>
            </a:r>
            <a:r>
              <a:rPr sz="1600" b="0">
                <a:solidFill>
                  <a:srgbClr val="000000"/>
                </a:solidFill>
                <a:latin typeface="맑은 고딕"/>
                <a:ea typeface="맑은 고딕"/>
              </a:rPr>
              <a:t> 외부의 이름·형식·상태 코드는 </a:t>
            </a:r>
            <a:r>
              <a:rPr sz="1600" b="1">
                <a:solidFill>
                  <a:srgbClr val="000000"/>
                </a:solidFill>
                <a:latin typeface="맑은 고딕"/>
                <a:ea typeface="맑은 고딕"/>
              </a:rPr>
              <a:t>연동 밖으로</a:t>
            </a:r>
            <a:r>
              <a:rPr sz="1600" b="0">
                <a:solidFill>
                  <a:srgbClr val="000000"/>
                </a:solidFill>
                <a:latin typeface="맑은 고딕"/>
                <a:ea typeface="맑은 고딕"/>
              </a:rPr>
              <a:t> 나가지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상태의 소유</a:t>
            </a:r>
            <a:r>
              <a:rPr sz="1800" b="0">
                <a:solidFill>
                  <a:srgbClr val="000000"/>
                </a:solidFill>
                <a:latin typeface="맑은 고딕"/>
                <a:ea typeface="맑은 고딕"/>
              </a:rPr>
              <a:t> —</a:t>
            </a:r>
            <a:r>
              <a:rPr sz="1600" b="0">
                <a:solidFill>
                  <a:srgbClr val="000000"/>
                </a:solidFill>
                <a:latin typeface="맑은 고딕"/>
                <a:ea typeface="맑은 고딕"/>
              </a:rPr>
              <a:t> 주문 상태는 </a:t>
            </a:r>
            <a:r>
              <a:rPr sz="1600" b="1">
                <a:solidFill>
                  <a:srgbClr val="000000"/>
                </a:solidFill>
                <a:latin typeface="맑은 고딕"/>
                <a:ea typeface="맑은 고딕"/>
              </a:rPr>
              <a:t>주문 경계만</a:t>
            </a:r>
            <a:r>
              <a:rPr sz="1600" b="0">
                <a:solidFill>
                  <a:srgbClr val="000000"/>
                </a:solidFill>
                <a:latin typeface="맑은 고딕"/>
                <a:ea typeface="맑은 고딕"/>
              </a:rPr>
              <a:t> 바꾼다. 연동은 통보를 전할 뿐이다.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확인</a:t>
            </a:r>
            <a:r>
              <a:rPr sz="1800" b="0">
                <a:solidFill>
                  <a:srgbClr val="000000"/>
                </a:solidFill>
                <a:latin typeface="맑은 고딕"/>
                <a:ea typeface="맑은 고딕"/>
              </a:rPr>
              <a:t> —</a:t>
            </a:r>
            <a:r>
              <a:rPr sz="1600" b="0">
                <a:solidFill>
                  <a:srgbClr val="000000"/>
                </a:solidFill>
                <a:latin typeface="맑은 고딕"/>
                <a:ea typeface="맑은 고딕"/>
              </a:rPr>
              <a:t> 리뷰와 코드로 본다. 업무 패키지의 </a:t>
            </a:r>
            <a:r>
              <a:rPr sz="1600" b="1">
                <a:solidFill>
                  <a:srgbClr val="000000"/>
                </a:solidFill>
                <a:latin typeface="맑은 고딕"/>
                <a:ea typeface="맑은 고딕"/>
              </a:rPr>
              <a:t>import 검사</a:t>
            </a:r>
            <a:r>
              <a:rPr sz="1600" b="0">
                <a:solidFill>
                  <a:srgbClr val="000000"/>
                </a:solidFill>
                <a:latin typeface="맑은 고딕"/>
                <a:ea typeface="맑은 고딕"/>
              </a:rPr>
              <a:t>는 「17. 코드와 검사」의 「의존 방향 검사」의 테스트다.</a:t>
            </a:r>
          </a:p>
        </p:txBody>
      </p:sp>
    </p:spTree>
    <p:extLst>
      <p:ext uri="{BB962C8B-B14F-4D97-AF65-F5344CB8AC3E}">
        <p14:creationId xmlns:p14="http://schemas.microsoft.com/office/powerpoint/2010/main" val="3555436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패키지와 코드</a:t>
            </a:r>
          </a:p>
          <a:p>
            <a:r>
              <a:rPr sz="1100" b="1">
                <a:solidFill>
                  <a:srgbClr val="000000"/>
                </a:solidFill>
                <a:latin typeface="맑은 고딕"/>
                <a:ea typeface="맑은 고딕"/>
              </a:rPr>
              <a:t>17. 코드와 검사</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- 24 -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623811"/>
            <a:ext cx="8412480" cy="11557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package delivery;</a:t>
            </a:r>
          </a:p>
          <a:p>
            <a:pPr marL="0" indent="0" algn="l">
              <a:lnSpc>
                <a:spcPts val="1150"/>
              </a:lnSpc>
              <a:spcBef>
                <a:spcPts val="0"/>
              </a:spcBef>
              <a:spcAft>
                <a:spcPts val="0"/>
              </a:spcAft>
              <a:buNone/>
            </a:pPr>
          </a:p>
          <a:p>
            <a:pPr marL="0" indent="0" algn="l">
              <a:lnSpc>
                <a:spcPts val="1150"/>
              </a:lnSpc>
              <a:spcBef>
                <a:spcPts val="0"/>
              </a:spcBef>
              <a:spcAft>
                <a:spcPts val="0"/>
              </a:spcAft>
              <a:buNone/>
            </a:pPr>
            <a:r>
              <a:rPr sz="1000" b="0">
                <a:solidFill>
                  <a:srgbClr val="000000"/>
                </a:solidFill>
                <a:latin typeface="Consolas"/>
                <a:ea typeface="맑은 고딕"/>
              </a:rPr>
              <a:t>// 배송 패키지가 가진 요청 인터페이스. 배송 연동이 구현한다.</a:t>
            </a:r>
          </a:p>
          <a:p>
            <a:pPr marL="0" indent="0" algn="l">
              <a:lnSpc>
                <a:spcPts val="1150"/>
              </a:lnSpc>
              <a:spcBef>
                <a:spcPts val="0"/>
              </a:spcBef>
              <a:spcAft>
                <a:spcPts val="0"/>
              </a:spcAft>
              <a:buNone/>
            </a:pPr>
            <a:r>
              <a:rPr sz="1000" b="0">
                <a:solidFill>
                  <a:srgbClr val="000000"/>
                </a:solidFill>
                <a:latin typeface="Consolas"/>
                <a:ea typeface="맑은 고딕"/>
              </a:rPr>
              <a:t>public interface </a:t>
            </a:r>
            <a:r>
              <a:rPr sz="1000" b="1">
                <a:solidFill>
                  <a:srgbClr val="000000"/>
                </a:solidFill>
                <a:latin typeface="Consolas"/>
                <a:ea typeface="맑은 고딕"/>
              </a:rPr>
              <a:t>DeliveryGateway</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boolean </a:t>
            </a:r>
            <a:r>
              <a:rPr sz="1000" b="1">
                <a:solidFill>
                  <a:srgbClr val="000000"/>
                </a:solidFill>
                <a:latin typeface="Consolas"/>
                <a:ea typeface="맑은 고딕"/>
              </a:rPr>
              <a:t>requestDispatchStop</a:t>
            </a:r>
            <a:r>
              <a:rPr sz="1000" b="0">
                <a:solidFill>
                  <a:srgbClr val="000000"/>
                </a:solidFill>
                <a:latin typeface="Consolas"/>
                <a:ea typeface="맑은 고딕"/>
              </a:rPr>
              <a:t>(String deliveryNumber);</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패키지는 자바의 </a:t>
            </a:r>
            <a:r>
              <a:rPr sz="1800" b="1">
                <a:solidFill>
                  <a:srgbClr val="000000"/>
                </a:solidFill>
                <a:latin typeface="맑은 고딕"/>
                <a:ea typeface="맑은 고딕"/>
              </a:rPr>
              <a:t>package</a:t>
            </a:r>
            <a:r>
              <a:rPr sz="1800" b="0">
                <a:solidFill>
                  <a:srgbClr val="000000"/>
                </a:solidFill>
                <a:latin typeface="맑은 고딕"/>
                <a:ea typeface="맑은 고딕"/>
              </a:rPr>
              <a:t>, 의존은 </a:t>
            </a:r>
            <a:r>
              <a:rPr sz="1800" b="1">
                <a:solidFill>
                  <a:srgbClr val="000000"/>
                </a:solidFill>
                <a:latin typeface="맑은 고딕"/>
                <a:ea typeface="맑은 고딕"/>
              </a:rPr>
              <a:t>import</a:t>
            </a:r>
            <a:r>
              <a:rPr sz="1800" b="0">
                <a:solidFill>
                  <a:srgbClr val="000000"/>
                </a:solidFill>
                <a:latin typeface="맑은 고딕"/>
                <a:ea typeface="맑은 고딕"/>
              </a:rPr>
              <a:t>, 요청 인터페이스는 업무 패키지의 </a:t>
            </a:r>
            <a:r>
              <a:rPr sz="1800" b="1">
                <a:solidFill>
                  <a:srgbClr val="000000"/>
                </a:solidFill>
                <a:latin typeface="맑은 고딕"/>
                <a:ea typeface="맑은 고딕"/>
              </a:rPr>
              <a:t>interface</a:t>
            </a:r>
            <a:r>
              <a:rPr sz="1800" b="0">
                <a:solidFill>
                  <a:srgbClr val="000000"/>
                </a:solidFill>
                <a:latin typeface="맑은 고딕"/>
                <a:ea typeface="맑은 고딕"/>
              </a:rPr>
              <a:t>가 된다. 이름은 </a:t>
            </a:r>
            <a:r>
              <a:rPr sz="1800" b="1">
                <a:solidFill>
                  <a:srgbClr val="000000"/>
                </a:solidFill>
                <a:latin typeface="맑은 고딕"/>
                <a:ea typeface="맑은 고딕"/>
              </a:rPr>
              <a:t>용어집의 영문명</a:t>
            </a:r>
            <a:r>
              <a:rPr sz="1800" b="0">
                <a:solidFill>
                  <a:srgbClr val="000000"/>
                </a:solidFill>
                <a:latin typeface="맑은 고딕"/>
                <a:ea typeface="맑은 고딕"/>
              </a:rPr>
              <a:t>이다.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365760" y="4889239"/>
            <a:ext cx="8412480" cy="16510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package deliveryadapter;</a:t>
            </a:r>
          </a:p>
          <a:p>
            <a:pPr marL="0" indent="0" algn="l">
              <a:lnSpc>
                <a:spcPts val="1150"/>
              </a:lnSpc>
              <a:spcBef>
                <a:spcPts val="0"/>
              </a:spcBef>
              <a:spcAft>
                <a:spcPts val="0"/>
              </a:spcAft>
              <a:buNone/>
            </a:pPr>
          </a:p>
          <a:p>
            <a:pPr marL="0" indent="0" algn="l">
              <a:lnSpc>
                <a:spcPts val="1150"/>
              </a:lnSpc>
              <a:spcBef>
                <a:spcPts val="0"/>
              </a:spcBef>
              <a:spcAft>
                <a:spcPts val="0"/>
              </a:spcAft>
              <a:buNone/>
            </a:pPr>
            <a:r>
              <a:rPr sz="1000" b="0">
                <a:solidFill>
                  <a:srgbClr val="000000"/>
                </a:solidFill>
                <a:latin typeface="Consolas"/>
                <a:ea typeface="맑은 고딕"/>
              </a:rPr>
              <a:t>import delivery.DeliveryGateway;</a:t>
            </a:r>
          </a:p>
          <a:p>
            <a:pPr marL="0" indent="0" algn="l">
              <a:lnSpc>
                <a:spcPts val="1150"/>
              </a:lnSpc>
              <a:spcBef>
                <a:spcPts val="0"/>
              </a:spcBef>
              <a:spcAft>
                <a:spcPts val="0"/>
              </a:spcAft>
              <a:buNone/>
            </a:pPr>
            <a:r>
              <a:rPr sz="1000" b="0">
                <a:solidFill>
                  <a:srgbClr val="000000"/>
                </a:solidFill>
                <a:latin typeface="Consolas"/>
                <a:ea typeface="맑은 고딕"/>
              </a:rPr>
              <a:t>import order.Order;</a:t>
            </a:r>
          </a:p>
          <a:p>
            <a:pPr marL="0" indent="0" algn="l">
              <a:lnSpc>
                <a:spcPts val="1150"/>
              </a:lnSpc>
              <a:spcBef>
                <a:spcPts val="0"/>
              </a:spcBef>
              <a:spcAft>
                <a:spcPts val="0"/>
              </a:spcAft>
              <a:buNone/>
            </a:pPr>
          </a:p>
          <a:p>
            <a:pPr marL="0" indent="0" algn="l">
              <a:lnSpc>
                <a:spcPts val="1150"/>
              </a:lnSpc>
              <a:spcBef>
                <a:spcPts val="0"/>
              </a:spcBef>
              <a:spcAft>
                <a:spcPts val="0"/>
              </a:spcAft>
              <a:buNone/>
            </a:pPr>
            <a:r>
              <a:rPr sz="1000" b="0">
                <a:solidFill>
                  <a:srgbClr val="000000"/>
                </a:solidFill>
                <a:latin typeface="Consolas"/>
                <a:ea typeface="맑은 고딕"/>
              </a:rPr>
              <a:t>// 배송 시스템과 주고받는 형식을 주문 시스템의 의미로 변환한다.</a:t>
            </a:r>
          </a:p>
          <a:p>
            <a:pPr marL="0" indent="0" algn="l">
              <a:lnSpc>
                <a:spcPts val="1150"/>
              </a:lnSpc>
              <a:spcBef>
                <a:spcPts val="0"/>
              </a:spcBef>
              <a:spcAft>
                <a:spcPts val="0"/>
              </a:spcAft>
              <a:buNone/>
            </a:pPr>
            <a:r>
              <a:rPr sz="1000" b="0">
                <a:solidFill>
                  <a:srgbClr val="000000"/>
                </a:solidFill>
                <a:latin typeface="Consolas"/>
                <a:ea typeface="맑은 고딕"/>
              </a:rPr>
              <a:t>public final class </a:t>
            </a:r>
            <a:r>
              <a:rPr sz="1000" b="1">
                <a:solidFill>
                  <a:srgbClr val="000000"/>
                </a:solidFill>
                <a:latin typeface="Consolas"/>
                <a:ea typeface="맑은 고딕"/>
              </a:rPr>
              <a:t>DeliveryAdapter</a:t>
            </a:r>
            <a:r>
              <a:rPr sz="1000" b="0">
                <a:solidFill>
                  <a:srgbClr val="000000"/>
                </a:solidFill>
                <a:latin typeface="Consolas"/>
                <a:ea typeface="맑은 고딕"/>
              </a:rPr>
              <a:t> implements DeliveryGateway {</a:t>
            </a:r>
          </a:p>
          <a:p>
            <a:pPr marL="0" indent="0" algn="l">
              <a:lnSpc>
                <a:spcPts val="1150"/>
              </a:lnSpc>
              <a:spcBef>
                <a:spcPts val="0"/>
              </a:spcBef>
              <a:spcAft>
                <a:spcPts val="0"/>
              </a:spcAft>
              <a:buNone/>
            </a:pPr>
            <a:r>
              <a:rPr sz="1000" b="0">
                <a:solidFill>
                  <a:srgbClr val="000000"/>
                </a:solidFill>
                <a:latin typeface="Consolas"/>
                <a:ea typeface="맑은 고딕"/>
              </a:rPr>
              <a:t>    // ... 필드·생성자 생략</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191615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배송 인터페이스와 연동</a:t>
            </a:r>
          </a:p>
        </p:txBody>
      </p:sp>
      <p:pic>
        <p:nvPicPr>
          <p:cNvPr id="35" name="plantuml Diagram 9"/>
          <p:cNvPicPr>
            <a:picLocks noChangeAspect="1"/>
          </p:cNvPicPr>
          <p:nvPr/>
        </p:nvPicPr>
        <p:blipFill>
          <a:blip r:embed="plantumlImage9"/>
          <a:stretch>
            <a:fillRect/>
          </a:stretch>
        </p:blipFill>
        <p:spPr>
          <a:xfrm>
            <a:off x="3145692" y="2153894"/>
            <a:ext cx="2852615" cy="1250462"/>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의존 방향 검사</a:t>
            </a:r>
          </a:p>
          <a:p>
            <a:r>
              <a:rPr sz="1100" b="1">
                <a:solidFill>
                  <a:srgbClr val="000000"/>
                </a:solidFill>
                <a:latin typeface="맑은 고딕"/>
                <a:ea typeface="맑은 고딕"/>
              </a:rPr>
              <a:t>17. 코드와 검사</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- 25 -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814311"/>
            <a:ext cx="8412480" cy="288036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        // 1. 연동 없이 주문 규칙을 검증한다 — 가짜 결제·배송 시스템</a:t>
            </a:r>
          </a:p>
          <a:p>
            <a:pPr marL="0" indent="0" algn="l">
              <a:lnSpc>
                <a:spcPts val="1080"/>
              </a:lnSpc>
              <a:spcBef>
                <a:spcPts val="0"/>
              </a:spcBef>
              <a:spcAft>
                <a:spcPts val="0"/>
              </a:spcAft>
              <a:buNone/>
            </a:pPr>
            <a:r>
              <a:rPr sz="900" b="0">
                <a:solidFill>
                  <a:srgbClr val="000000"/>
                </a:solidFill>
                <a:latin typeface="Consolas"/>
                <a:ea typeface="맑은 고딕"/>
              </a:rPr>
              <a:t>        var requests = new ArrayList&lt;String&gt;();</a:t>
            </a:r>
          </a:p>
          <a:p>
            <a:pPr marL="0" indent="0" algn="l">
              <a:lnSpc>
                <a:spcPts val="1080"/>
              </a:lnSpc>
              <a:spcBef>
                <a:spcPts val="0"/>
              </a:spcBef>
              <a:spcAft>
                <a:spcPts val="0"/>
              </a:spcAft>
              <a:buNone/>
            </a:pPr>
            <a:r>
              <a:rPr sz="900" b="0">
                <a:solidFill>
                  <a:srgbClr val="000000"/>
                </a:solidFill>
                <a:latin typeface="Consolas"/>
                <a:ea typeface="맑은 고딕"/>
              </a:rPr>
              <a:t>        PaymentGateway fakePayment = amount -&gt; requests.add("환불 " + amount.won());</a:t>
            </a:r>
          </a:p>
          <a:p>
            <a:pPr marL="0" indent="0" algn="l">
              <a:lnSpc>
                <a:spcPts val="1080"/>
              </a:lnSpc>
              <a:spcBef>
                <a:spcPts val="0"/>
              </a:spcBef>
              <a:spcAft>
                <a:spcPts val="0"/>
              </a:spcAft>
              <a:buNone/>
            </a:pPr>
            <a:r>
              <a:rPr sz="900" b="0">
                <a:solidFill>
                  <a:srgbClr val="000000"/>
                </a:solidFill>
                <a:latin typeface="Consolas"/>
                <a:ea typeface="맑은 고딕"/>
              </a:rPr>
              <a:t>        DeliveryGateway fakeDelivery = number -&gt; { requests.add("출고 중단"); return true; };</a:t>
            </a:r>
          </a:p>
          <a:p>
            <a:pPr marL="0" indent="0" algn="l">
              <a:lnSpc>
                <a:spcPts val="1080"/>
              </a:lnSpc>
              <a:spcBef>
                <a:spcPts val="0"/>
              </a:spcBef>
              <a:spcAft>
                <a:spcPts val="0"/>
              </a:spcAft>
              <a:buNone/>
            </a:pPr>
          </a:p>
          <a:p>
            <a:pPr marL="0" indent="0" algn="l">
              <a:lnSpc>
                <a:spcPts val="1080"/>
              </a:lnSpc>
              <a:spcBef>
                <a:spcPts val="0"/>
              </a:spcBef>
              <a:spcAft>
                <a:spcPts val="0"/>
              </a:spcAft>
              <a:buNone/>
            </a:pPr>
            <a:r>
              <a:rPr sz="900" b="0">
                <a:solidFill>
                  <a:srgbClr val="000000"/>
                </a:solidFill>
                <a:latin typeface="Consolas"/>
                <a:ea typeface="맑은 고딕"/>
              </a:rPr>
              <a:t>        var order = new Order();</a:t>
            </a:r>
          </a:p>
          <a:p>
            <a:pPr marL="0" indent="0" algn="l">
              <a:lnSpc>
                <a:spcPts val="1080"/>
              </a:lnSpc>
              <a:spcBef>
                <a:spcPts val="0"/>
              </a:spcBef>
              <a:spcAft>
                <a:spcPts val="0"/>
              </a:spcAft>
              <a:buNone/>
            </a:pPr>
            <a:r>
              <a:rPr sz="900" b="0">
                <a:solidFill>
                  <a:srgbClr val="000000"/>
                </a:solidFill>
                <a:latin typeface="Consolas"/>
                <a:ea typeface="맑은 고딕"/>
              </a:rPr>
              <a:t>        order.onPaid(new Payment(new Money(2000), fakePayment), new Delivery("D-1", fakeDelivery));</a:t>
            </a:r>
          </a:p>
          <a:p>
            <a:pPr marL="0" indent="0" algn="l">
              <a:lnSpc>
                <a:spcPts val="1080"/>
              </a:lnSpc>
              <a:spcBef>
                <a:spcPts val="0"/>
              </a:spcBef>
              <a:spcAft>
                <a:spcPts val="0"/>
              </a:spcAft>
              <a:buNone/>
            </a:pPr>
            <a:r>
              <a:rPr sz="900" b="0">
                <a:solidFill>
                  <a:srgbClr val="000000"/>
                </a:solidFill>
                <a:latin typeface="Consolas"/>
                <a:ea typeface="맑은 고딕"/>
              </a:rPr>
              <a:t>        order.cancel();</a:t>
            </a:r>
          </a:p>
          <a:p>
            <a:pPr marL="0" indent="0" algn="l">
              <a:lnSpc>
                <a:spcPts val="1080"/>
              </a:lnSpc>
              <a:spcBef>
                <a:spcPts val="0"/>
              </a:spcBef>
              <a:spcAft>
                <a:spcPts val="0"/>
              </a:spcAft>
              <a:buNone/>
            </a:pPr>
            <a:r>
              <a:rPr sz="900" b="0">
                <a:solidFill>
                  <a:srgbClr val="000000"/>
                </a:solidFill>
                <a:latin typeface="Consolas"/>
                <a:ea typeface="맑은 고딕"/>
              </a:rPr>
              <a:t>        check(order.status() == OrderStatus.CANCELLING);</a:t>
            </a:r>
          </a:p>
          <a:p>
            <a:pPr marL="0" indent="0" algn="l">
              <a:lnSpc>
                <a:spcPts val="1080"/>
              </a:lnSpc>
              <a:spcBef>
                <a:spcPts val="0"/>
              </a:spcBef>
              <a:spcAft>
                <a:spcPts val="0"/>
              </a:spcAft>
              <a:buNone/>
            </a:pPr>
            <a:r>
              <a:rPr sz="900" b="0">
                <a:solidFill>
                  <a:srgbClr val="000000"/>
                </a:solidFill>
                <a:latin typeface="Consolas"/>
                <a:ea typeface="맑은 고딕"/>
              </a:rPr>
              <a:t>        check(requests.equals(List.of("출고 중단", "환불 2000")));</a:t>
            </a:r>
          </a:p>
          <a:p>
            <a:pPr marL="0" indent="0" algn="l">
              <a:lnSpc>
                <a:spcPts val="1080"/>
              </a:lnSpc>
              <a:spcBef>
                <a:spcPts val="0"/>
              </a:spcBef>
              <a:spcAft>
                <a:spcPts val="0"/>
              </a:spcAft>
              <a:buNone/>
            </a:pPr>
            <a:r>
              <a:rPr sz="900" b="0">
                <a:solidFill>
                  <a:srgbClr val="000000"/>
                </a:solidFill>
                <a:latin typeface="Consolas"/>
                <a:ea typeface="맑은 고딕"/>
              </a:rPr>
              <a:t>        // ... 연동 확인 생략</a:t>
            </a:r>
          </a:p>
          <a:p>
            <a:pPr marL="0" indent="0" algn="l">
              <a:lnSpc>
                <a:spcPts val="1080"/>
              </a:lnSpc>
              <a:spcBef>
                <a:spcPts val="0"/>
              </a:spcBef>
              <a:spcAft>
                <a:spcPts val="0"/>
              </a:spcAft>
              <a:buNone/>
            </a:pPr>
          </a:p>
          <a:p>
            <a:pPr marL="0" indent="0" algn="l">
              <a:lnSpc>
                <a:spcPts val="1080"/>
              </a:lnSpc>
              <a:spcBef>
                <a:spcPts val="0"/>
              </a:spcBef>
              <a:spcAft>
                <a:spcPts val="0"/>
              </a:spcAft>
              <a:buNone/>
            </a:pPr>
            <a:r>
              <a:rPr sz="900" b="0">
                <a:solidFill>
                  <a:srgbClr val="000000"/>
                </a:solidFill>
                <a:latin typeface="Consolas"/>
                <a:ea typeface="맑은 고딕"/>
              </a:rPr>
              <a:t>        // 3. 구조 제약 — 업무 패키지는 연동 패키지를 import하지 않는다</a:t>
            </a:r>
          </a:p>
          <a:p>
            <a:pPr marL="0" indent="0" algn="l">
              <a:lnSpc>
                <a:spcPts val="1080"/>
              </a:lnSpc>
              <a:spcBef>
                <a:spcPts val="0"/>
              </a:spcBef>
              <a:spcAft>
                <a:spcPts val="0"/>
              </a:spcAft>
              <a:buNone/>
            </a:pPr>
            <a:r>
              <a:rPr sz="900" b="0">
                <a:solidFill>
                  <a:srgbClr val="000000"/>
                </a:solidFill>
                <a:latin typeface="Consolas"/>
                <a:ea typeface="맑은 고딕"/>
              </a:rPr>
              <a:t>        for (String business : List.of("order", "payment", "delivery"))</a:t>
            </a:r>
          </a:p>
          <a:p>
            <a:pPr marL="0" indent="0" algn="l">
              <a:lnSpc>
                <a:spcPts val="1080"/>
              </a:lnSpc>
              <a:spcBef>
                <a:spcPts val="0"/>
              </a:spcBef>
              <a:spcAft>
                <a:spcPts val="0"/>
              </a:spcAft>
              <a:buNone/>
            </a:pPr>
            <a:r>
              <a:rPr sz="900" b="0">
                <a:solidFill>
                  <a:srgbClr val="000000"/>
                </a:solidFill>
                <a:latin typeface="Consolas"/>
                <a:ea typeface="맑은 고딕"/>
              </a:rPr>
              <a:t>            try (var files = Files.list(Path.of(business))) {</a:t>
            </a:r>
          </a:p>
          <a:p>
            <a:pPr marL="0" indent="0" algn="l">
              <a:lnSpc>
                <a:spcPts val="1080"/>
              </a:lnSpc>
              <a:spcBef>
                <a:spcPts val="0"/>
              </a:spcBef>
              <a:spcAft>
                <a:spcPts val="0"/>
              </a:spcAft>
              <a:buNone/>
            </a:pPr>
            <a:r>
              <a:rPr sz="900" b="0">
                <a:solidFill>
                  <a:srgbClr val="000000"/>
                </a:solidFill>
                <a:latin typeface="Consolas"/>
                <a:ea typeface="맑은 고딕"/>
              </a:rPr>
              <a:t>                for (Path file : files.toList()) {</a:t>
            </a:r>
          </a:p>
          <a:p>
            <a:pPr marL="0" indent="0" algn="l">
              <a:lnSpc>
                <a:spcPts val="1080"/>
              </a:lnSpc>
              <a:spcBef>
                <a:spcPts val="0"/>
              </a:spcBef>
              <a:spcAft>
                <a:spcPts val="0"/>
              </a:spcAft>
              <a:buNone/>
            </a:pPr>
            <a:r>
              <a:rPr sz="900" b="0">
                <a:solidFill>
                  <a:srgbClr val="000000"/>
                </a:solidFill>
                <a:latin typeface="Consolas"/>
                <a:ea typeface="맑은 고딕"/>
              </a:rPr>
              <a:t>                    String source = Files.readString(file);</a:t>
            </a:r>
          </a:p>
          <a:p>
            <a:pPr marL="0" indent="0" algn="l">
              <a:lnSpc>
                <a:spcPts val="1080"/>
              </a:lnSpc>
              <a:spcBef>
                <a:spcPts val="0"/>
              </a:spcBef>
              <a:spcAft>
                <a:spcPts val="0"/>
              </a:spcAft>
              <a:buNone/>
            </a:pPr>
            <a:r>
              <a:rPr sz="900" b="0">
                <a:solidFill>
                  <a:srgbClr val="000000"/>
                </a:solidFill>
                <a:latin typeface="Consolas"/>
                <a:ea typeface="맑은 고딕"/>
              </a:rPr>
              <a:t>                    check(!source.contains("import paymentadapter") &amp;&amp; !source.contains("import deliveryadapter"));</a:t>
            </a:r>
          </a:p>
          <a:p>
            <a:pPr marL="0" indent="0" algn="l">
              <a:lnSpc>
                <a:spcPts val="1080"/>
              </a:lnSpc>
              <a:spcBef>
                <a:spcPts val="0"/>
              </a:spcBef>
              <a:spcAft>
                <a:spcPts val="0"/>
              </a:spcAft>
              <a:buNone/>
            </a:pP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요청 인터페이스가 업무 패키지에 있으면, 연동 없이 </a:t>
            </a:r>
            <a:r>
              <a:rPr sz="1800" b="1">
                <a:solidFill>
                  <a:srgbClr val="000000"/>
                </a:solidFill>
                <a:latin typeface="맑은 고딕"/>
                <a:ea typeface="맑은 고딕"/>
              </a:rPr>
              <a:t>가짜 구현</a:t>
            </a:r>
            <a:r>
              <a:rPr sz="1800" b="0">
                <a:solidFill>
                  <a:srgbClr val="000000"/>
                </a:solidFill>
                <a:latin typeface="맑은 고딕"/>
                <a:ea typeface="맑은 고딕"/>
              </a:rPr>
              <a:t>으로 주문 규칙을 시험할 수 있다.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191615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시험할 때의 의존</a:t>
            </a:r>
          </a:p>
        </p:txBody>
      </p:sp>
      <p:pic>
        <p:nvPicPr>
          <p:cNvPr id="34" name="plantuml Diagram 10"/>
          <p:cNvPicPr>
            <a:picLocks noChangeAspect="1"/>
          </p:cNvPicPr>
          <p:nvPr/>
        </p:nvPicPr>
        <p:blipFill>
          <a:blip r:embed="plantumlImage10"/>
          <a:stretch>
            <a:fillRect/>
          </a:stretch>
        </p:blipFill>
        <p:spPr>
          <a:xfrm>
            <a:off x="3283683" y="2153894"/>
            <a:ext cx="2576635" cy="1440962"/>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통보 변환 코드</a:t>
            </a:r>
          </a:p>
          <a:p>
            <a:r>
              <a:rPr sz="1100" b="1">
                <a:solidFill>
                  <a:srgbClr val="000000"/>
                </a:solidFill>
                <a:latin typeface="맑은 고딕"/>
                <a:ea typeface="맑은 고딕"/>
              </a:rPr>
              <a:t>17. 코드와 검사</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- 26 -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828965"/>
            <a:ext cx="8412480" cy="9906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 배송 시스템의 통보를 주문의 사건으로 변환한다.</a:t>
            </a:r>
          </a:p>
          <a:p>
            <a:pPr marL="0" indent="0" algn="l">
              <a:lnSpc>
                <a:spcPts val="1150"/>
              </a:lnSpc>
              <a:spcBef>
                <a:spcPts val="0"/>
              </a:spcBef>
              <a:spcAft>
                <a:spcPts val="0"/>
              </a:spcAft>
              <a:buNone/>
            </a:pPr>
            <a:r>
              <a:rPr sz="1000" b="0">
                <a:solidFill>
                  <a:srgbClr val="000000"/>
                </a:solidFill>
                <a:latin typeface="Consolas"/>
                <a:ea typeface="맑은 고딕"/>
              </a:rPr>
              <a:t>    public void </a:t>
            </a:r>
            <a:r>
              <a:rPr sz="1000" b="1">
                <a:solidFill>
                  <a:srgbClr val="000000"/>
                </a:solidFill>
                <a:latin typeface="Consolas"/>
                <a:ea typeface="맑은 고딕"/>
              </a:rPr>
              <a:t>receiveNotice</a:t>
            </a:r>
            <a:r>
              <a:rPr sz="1000" b="0">
                <a:solidFill>
                  <a:srgbClr val="000000"/>
                </a:solidFill>
                <a:latin typeface="Consolas"/>
                <a:ea typeface="맑은 고딕"/>
              </a:rPr>
              <a:t>(String statusCode, Order order) {</a:t>
            </a:r>
          </a:p>
          <a:p>
            <a:pPr marL="0" indent="0" algn="l">
              <a:lnSpc>
                <a:spcPts val="1150"/>
              </a:lnSpc>
              <a:spcBef>
                <a:spcPts val="0"/>
              </a:spcBef>
              <a:spcAft>
                <a:spcPts val="0"/>
              </a:spcAft>
              <a:buNone/>
            </a:pPr>
            <a:r>
              <a:rPr sz="1000" b="0">
                <a:solidFill>
                  <a:srgbClr val="000000"/>
                </a:solidFill>
                <a:latin typeface="Consolas"/>
                <a:ea typeface="맑은 고딕"/>
              </a:rPr>
              <a:t>        if (statusCode.equals("IN_TRANSIT")) order.onDeliveryStarted();</a:t>
            </a:r>
          </a:p>
          <a:p>
            <a:pPr marL="0" indent="0" algn="l">
              <a:lnSpc>
                <a:spcPts val="1150"/>
              </a:lnSpc>
              <a:spcBef>
                <a:spcPts val="0"/>
              </a:spcBef>
              <a:spcAft>
                <a:spcPts val="0"/>
              </a:spcAft>
              <a:buNone/>
            </a:pPr>
            <a:r>
              <a:rPr sz="1000" b="0">
                <a:solidFill>
                  <a:srgbClr val="000000"/>
                </a:solidFill>
                <a:latin typeface="Consolas"/>
                <a:ea typeface="맑은 고딕"/>
              </a:rPr>
              <a:t>        // PICKING·PACKED 같은 배송 시스템 내부 상태는 주문으로 변환하지 않는다.</a:t>
            </a:r>
          </a:p>
          <a:p>
            <a:pPr marL="0" indent="0" algn="l">
              <a:lnSpc>
                <a:spcPts val="1150"/>
              </a:lnSpc>
              <a:spcBef>
                <a:spcPts val="0"/>
              </a:spcBef>
              <a:spcAft>
                <a:spcPts val="0"/>
              </a:spcAft>
              <a:buNone/>
            </a:pPr>
            <a:r>
              <a:rPr sz="1000" b="0">
                <a:solidFill>
                  <a:srgbClr val="000000"/>
                </a:solidFill>
                <a:latin typeface="Consolas"/>
                <a:ea typeface="맑은 고딕"/>
              </a:rPr>
              <a:t>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DeliveryAdapter</a:t>
            </a:r>
            <a:r>
              <a:rPr sz="1800" b="0">
                <a:solidFill>
                  <a:srgbClr val="000000"/>
                </a:solidFill>
                <a:latin typeface="맑은 고딕"/>
                <a:ea typeface="맑은 고딕"/>
              </a:rPr>
              <a:t>는 </a:t>
            </a:r>
            <a:r>
              <a:rPr sz="1800" b="0">
                <a:solidFill>
                  <a:srgbClr val="000000"/>
                </a:solidFill>
                <a:latin typeface="맑은 고딕"/>
                <a:ea typeface="맑은 고딕"/>
              </a:rPr>
              <a:t>IN_TRANSIT</a:t>
            </a:r>
            <a:r>
              <a:rPr sz="1800" b="0">
                <a:solidFill>
                  <a:srgbClr val="000000"/>
                </a:solidFill>
                <a:latin typeface="맑은 고딕"/>
                <a:ea typeface="맑은 고딕"/>
              </a:rPr>
              <a:t>만 배송 시작 통보 </a:t>
            </a:r>
            <a:r>
              <a:rPr sz="1800" b="0">
                <a:solidFill>
                  <a:srgbClr val="000000"/>
                </a:solidFill>
                <a:latin typeface="맑은 고딕"/>
                <a:ea typeface="맑은 고딕"/>
              </a:rPr>
              <a:t>onDeliveryStarted()</a:t>
            </a:r>
            <a:r>
              <a:rPr sz="1800" b="0">
                <a:solidFill>
                  <a:srgbClr val="000000"/>
                </a:solidFill>
                <a:latin typeface="맑은 고딕"/>
                <a:ea typeface="맑은 고딕"/>
              </a:rPr>
              <a:t>로 </a:t>
            </a:r>
            <a:r>
              <a:rPr sz="1800" b="1">
                <a:solidFill>
                  <a:srgbClr val="000000"/>
                </a:solidFill>
                <a:latin typeface="맑은 고딕"/>
                <a:ea typeface="맑은 고딕"/>
              </a:rPr>
              <a:t>변환</a:t>
            </a:r>
            <a:r>
              <a:rPr sz="1800" b="0">
                <a:solidFill>
                  <a:srgbClr val="000000"/>
                </a:solidFill>
                <a:latin typeface="맑은 고딕"/>
                <a:ea typeface="맑은 고딕"/>
              </a:rPr>
              <a:t>하고, </a:t>
            </a:r>
            <a:r>
              <a:rPr sz="1800" b="0">
                <a:solidFill>
                  <a:srgbClr val="000000"/>
                </a:solidFill>
                <a:latin typeface="맑은 고딕"/>
                <a:ea typeface="맑은 고딕"/>
              </a:rPr>
              <a:t>PICKING</a:t>
            </a:r>
            <a:r>
              <a:rPr sz="1800" b="0">
                <a:solidFill>
                  <a:srgbClr val="000000"/>
                </a:solidFill>
                <a:latin typeface="맑은 고딕"/>
                <a:ea typeface="맑은 고딕"/>
              </a:rPr>
              <a:t>은 버린다.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191615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상태 코드를 주문의 사건으로 변환</a:t>
            </a:r>
          </a:p>
        </p:txBody>
      </p:sp>
      <p:pic>
        <p:nvPicPr>
          <p:cNvPr id="34" name="plantuml Diagram 11"/>
          <p:cNvPicPr>
            <a:picLocks noChangeAspect="1"/>
          </p:cNvPicPr>
          <p:nvPr/>
        </p:nvPicPr>
        <p:blipFill>
          <a:blip r:embed="plantumlImage11"/>
          <a:stretch>
            <a:fillRect/>
          </a:stretch>
        </p:blipFill>
        <p:spPr>
          <a:xfrm>
            <a:off x="2443529" y="2153894"/>
            <a:ext cx="4256942" cy="1455615"/>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기술 계층 분할</a:t>
            </a:r>
          </a:p>
          <a:p>
            <a:r>
              <a:rPr sz="1100" b="1">
                <a:solidFill>
                  <a:srgbClr val="000000"/>
                </a:solidFill>
                <a:latin typeface="맑은 고딕"/>
                <a:ea typeface="맑은 고딕"/>
              </a:rPr>
              <a:t>18. 잘못된 관행</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경계를 </a:t>
            </a:r>
            <a:r>
              <a:rPr sz="1800" b="1">
                <a:solidFill>
                  <a:srgbClr val="000000"/>
                </a:solidFill>
                <a:latin typeface="맑은 고딕"/>
                <a:ea typeface="맑은 고딕"/>
              </a:rPr>
              <a:t>화면·서비스·저장소</a:t>
            </a:r>
            <a:r>
              <a:rPr sz="1800" b="0">
                <a:solidFill>
                  <a:srgbClr val="000000"/>
                </a:solidFill>
                <a:latin typeface="맑은 고딕"/>
                <a:ea typeface="맑은 고딕"/>
              </a:rPr>
              <a:t>로 먼저 나누면 취소 규칙이 </a:t>
            </a:r>
            <a:r>
              <a:rPr sz="1800" b="1">
                <a:solidFill>
                  <a:srgbClr val="000000"/>
                </a:solidFill>
                <a:latin typeface="맑은 고딕"/>
                <a:ea typeface="맑은 고딕"/>
              </a:rPr>
              <a:t>모든 계층</a:t>
            </a:r>
            <a:r>
              <a:rPr sz="1800" b="0">
                <a:solidFill>
                  <a:srgbClr val="000000"/>
                </a:solidFill>
                <a:latin typeface="맑은 고딕"/>
                <a:ea typeface="맑은 고딕"/>
              </a:rPr>
              <a:t>에 흩어진다.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왼쪽에서 취소 규칙이 바뀌면 </a:t>
            </a:r>
            <a:r>
              <a:rPr sz="1800" b="1">
                <a:solidFill>
                  <a:srgbClr val="000000"/>
                </a:solidFill>
                <a:latin typeface="맑은 고딕"/>
                <a:ea typeface="맑은 고딕"/>
              </a:rPr>
              <a:t>세 계층</a:t>
            </a:r>
            <a:r>
              <a:rPr sz="1800" b="0">
                <a:solidFill>
                  <a:srgbClr val="000000"/>
                </a:solidFill>
                <a:latin typeface="맑은 고딕"/>
                <a:ea typeface="맑은 고딕"/>
              </a:rPr>
              <a:t>을 모두 고친다. 업무 사이의 의존</a:t>
            </a:r>
            <a:r>
              <a:rPr sz="1400" b="0">
                <a:solidFill>
                  <a:srgbClr val="000000"/>
                </a:solidFill>
                <a:latin typeface="맑은 고딕"/>
                <a:ea typeface="맑은 고딕"/>
              </a:rPr>
              <a:t>(주문 → 결제)</a:t>
            </a:r>
            <a:r>
              <a:rPr sz="1800" b="0">
                <a:solidFill>
                  <a:srgbClr val="000000"/>
                </a:solidFill>
                <a:latin typeface="맑은 고딕"/>
                <a:ea typeface="맑은 고딕"/>
              </a:rPr>
              <a:t>은 보이지 않는다.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오른쪽은 </a:t>
            </a:r>
            <a:r>
              <a:rPr sz="1800" b="1">
                <a:solidFill>
                  <a:srgbClr val="000000"/>
                </a:solidFill>
                <a:latin typeface="맑은 고딕"/>
                <a:ea typeface="맑은 고딕"/>
              </a:rPr>
              <a:t>변경 이유</a:t>
            </a:r>
            <a:r>
              <a:rPr sz="1800" b="0">
                <a:solidFill>
                  <a:srgbClr val="000000"/>
                </a:solidFill>
                <a:latin typeface="맑은 고딕"/>
                <a:ea typeface="맑은 고딕"/>
              </a:rPr>
              <a:t>로 나눠 취소 규칙이 </a:t>
            </a:r>
            <a:r>
              <a:rPr sz="1800" b="0">
                <a:solidFill>
                  <a:srgbClr val="000000"/>
                </a:solidFill>
                <a:latin typeface="맑은 고딕"/>
                <a:ea typeface="맑은 고딕"/>
              </a:rPr>
              <a:t>order</a:t>
            </a:r>
            <a:r>
              <a:rPr sz="1800" b="0">
                <a:solidFill>
                  <a:srgbClr val="000000"/>
                </a:solidFill>
                <a:latin typeface="맑은 고딕"/>
                <a:ea typeface="맑은 고딕"/>
              </a:rPr>
              <a:t> 안에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계층이 틀린 것은 아니다. 계층은 경계 </a:t>
            </a:r>
            <a:r>
              <a:rPr sz="1800" b="1">
                <a:solidFill>
                  <a:srgbClr val="000000"/>
                </a:solidFill>
                <a:latin typeface="맑은 고딕"/>
                <a:ea typeface="맑은 고딕"/>
              </a:rPr>
              <a:t>안의</a:t>
            </a:r>
            <a:r>
              <a:rPr sz="1800" b="0">
                <a:solidFill>
                  <a:srgbClr val="000000"/>
                </a:solidFill>
                <a:latin typeface="맑은 고딕"/>
                <a:ea typeface="맑은 고딕"/>
              </a:rPr>
              <a:t> 구성 방식이 될 수 있다.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212592"/>
            <a:ext cx="8412480" cy="201168"/>
          </a:xfrm>
          <a:prstGeom prst="rect">
            <a:avLst/>
          </a:prstGeom>
          <a:noFill/>
        </p:spPr>
        <p:txBody>
          <a:bodyPr wrap="square">
            <a:spAutoFit/>
          </a:bodyPr>
          <a:lstStyle/>
          <a:p>
            <a:pPr algn="ctr"/>
            <a:r>
              <a:rPr sz="1400" b="1">
                <a:solidFill>
                  <a:srgbClr val="000000"/>
                </a:solidFill>
                <a:latin typeface="맑은 고딕"/>
                <a:ea typeface="맑은 고딕"/>
              </a:rPr>
              <a:t>기술 계층 분할과 변경 이유 분할</a:t>
            </a:r>
          </a:p>
        </p:txBody>
      </p:sp>
      <p:pic>
        <p:nvPicPr>
          <p:cNvPr id="10" name="plantuml Diagram 12"/>
          <p:cNvPicPr>
            <a:picLocks noChangeAspect="1"/>
          </p:cNvPicPr>
          <p:nvPr/>
        </p:nvPicPr>
        <p:blipFill>
          <a:blip r:embed="plantumlImage12"/>
          <a:stretch>
            <a:fillRect/>
          </a:stretch>
        </p:blipFill>
        <p:spPr>
          <a:xfrm>
            <a:off x="3008923" y="3450336"/>
            <a:ext cx="3126154" cy="262792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공용 패키지</a:t>
            </a:r>
          </a:p>
          <a:p>
            <a:r>
              <a:rPr sz="1100" b="1">
                <a:solidFill>
                  <a:srgbClr val="000000"/>
                </a:solidFill>
                <a:latin typeface="맑은 고딕"/>
                <a:ea typeface="맑은 고딕"/>
              </a:rPr>
              <a:t>18. 잘못된 관행</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1">
                <a:solidFill>
                  <a:srgbClr val="000000"/>
                </a:solidFill>
                <a:latin typeface="맑은 고딕"/>
                <a:ea typeface="맑은 고딕"/>
              </a:rPr>
              <a:t>공용 패키지</a:t>
            </a:r>
            <a:r>
              <a:rPr sz="1400" b="0">
                <a:solidFill>
                  <a:srgbClr val="000000"/>
                </a:solidFill>
                <a:latin typeface="맑은 고딕"/>
                <a:ea typeface="맑은 고딕"/>
              </a:rPr>
              <a:t>(common·util)</a:t>
            </a:r>
            <a:r>
              <a:rPr sz="1800" b="0">
                <a:solidFill>
                  <a:srgbClr val="000000"/>
                </a:solidFill>
                <a:latin typeface="맑은 고딕"/>
                <a:ea typeface="맑은 고딕"/>
              </a:rPr>
              <a:t>는 모두가 의존해 </a:t>
            </a:r>
            <a:r>
              <a:rPr sz="1800" b="1">
                <a:solidFill>
                  <a:srgbClr val="000000"/>
                </a:solidFill>
                <a:latin typeface="맑은 고딕"/>
                <a:ea typeface="맑은 고딕"/>
              </a:rPr>
              <a:t>응집이 무너진다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왼쪽은 금액 규칙만 고쳐도 주소를 쓰는 곳까지 </a:t>
            </a:r>
            <a:r>
              <a:rPr sz="1800" b="1">
                <a:solidFill>
                  <a:srgbClr val="000000"/>
                </a:solidFill>
                <a:latin typeface="맑은 고딕"/>
                <a:ea typeface="맑은 고딕"/>
              </a:rPr>
              <a:t>다시 확인</a:t>
            </a:r>
            <a:r>
              <a:rPr sz="1800" b="0">
                <a:solidFill>
                  <a:srgbClr val="000000"/>
                </a:solidFill>
                <a:latin typeface="맑은 고딕"/>
                <a:ea typeface="맑은 고딕"/>
              </a:rPr>
              <a:t>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오른쪽은 값을 </a:t>
            </a:r>
            <a:r>
              <a:rPr sz="1800" b="1">
                <a:solidFill>
                  <a:srgbClr val="000000"/>
                </a:solidFill>
                <a:latin typeface="맑은 고딕"/>
                <a:ea typeface="맑은 고딕"/>
              </a:rPr>
              <a:t>의미를 소유한 경계</a:t>
            </a:r>
            <a:r>
              <a:rPr sz="1800" b="0">
                <a:solidFill>
                  <a:srgbClr val="000000"/>
                </a:solidFill>
                <a:latin typeface="맑은 고딕"/>
                <a:ea typeface="맑은 고딕"/>
              </a:rPr>
              <a:t>에 둔다 —</a:t>
            </a:r>
            <a:r>
              <a:rPr sz="1600" b="0">
                <a:solidFill>
                  <a:srgbClr val="000000"/>
                </a:solidFill>
                <a:latin typeface="맑은 고딕"/>
                <a:ea typeface="맑은 고딕"/>
              </a:rPr>
              <a:t> 금액은 </a:t>
            </a:r>
            <a:r>
              <a:rPr sz="1600" b="0">
                <a:solidFill>
                  <a:srgbClr val="000000"/>
                </a:solidFill>
                <a:latin typeface="맑은 고딕"/>
                <a:ea typeface="맑은 고딕"/>
              </a:rPr>
              <a:t>payment</a:t>
            </a:r>
            <a:r>
              <a:rPr sz="1600" b="0">
                <a:solidFill>
                  <a:srgbClr val="000000"/>
                </a:solidFill>
                <a:latin typeface="맑은 고딕"/>
                <a:ea typeface="맑은 고딕"/>
              </a:rPr>
              <a:t>, 주소는 </a:t>
            </a:r>
            <a:r>
              <a:rPr sz="1600" b="0">
                <a:solidFill>
                  <a:srgbClr val="000000"/>
                </a:solidFill>
                <a:latin typeface="맑은 고딕"/>
                <a:ea typeface="맑은 고딕"/>
              </a:rPr>
              <a:t>order</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순환을 끊으려고 공용 패키지를 만들지 않는다. 인터페이스를 </a:t>
            </a:r>
            <a:r>
              <a:rPr sz="1800" b="1">
                <a:solidFill>
                  <a:srgbClr val="000000"/>
                </a:solidFill>
                <a:latin typeface="맑은 고딕"/>
                <a:ea typeface="맑은 고딕"/>
              </a:rPr>
              <a:t>두는 패키지</a:t>
            </a:r>
            <a:r>
              <a:rPr sz="1800" b="0">
                <a:solidFill>
                  <a:srgbClr val="000000"/>
                </a:solidFill>
                <a:latin typeface="맑은 고딕"/>
                <a:ea typeface="맑은 고딕"/>
              </a:rPr>
              <a:t>를 바꿔 방향을 바꾼다</a:t>
            </a:r>
            <a:r>
              <a:rPr sz="1400" b="0">
                <a:solidFill>
                  <a:srgbClr val="000000"/>
                </a:solidFill>
                <a:latin typeface="맑은 고딕"/>
                <a:ea typeface="맑은 고딕"/>
              </a:rPr>
              <a:t>(「11. 순환 제거」)</a:t>
            </a:r>
            <a:r>
              <a:rPr sz="1800" b="0">
                <a:solidFill>
                  <a:srgbClr val="000000"/>
                </a:solidFill>
                <a:latin typeface="맑은 고딕"/>
                <a:ea typeface="맑은 고딕"/>
              </a:rPr>
              <a:t>.</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212592"/>
            <a:ext cx="8412480" cy="201168"/>
          </a:xfrm>
          <a:prstGeom prst="rect">
            <a:avLst/>
          </a:prstGeom>
          <a:noFill/>
        </p:spPr>
        <p:txBody>
          <a:bodyPr wrap="square">
            <a:spAutoFit/>
          </a:bodyPr>
          <a:lstStyle/>
          <a:p>
            <a:pPr algn="ctr"/>
            <a:r>
              <a:rPr sz="1400" b="1">
                <a:solidFill>
                  <a:srgbClr val="000000"/>
                </a:solidFill>
                <a:latin typeface="맑은 고딕"/>
                <a:ea typeface="맑은 고딕"/>
              </a:rPr>
              <a:t>공용 패키지와 의미 소유</a:t>
            </a:r>
          </a:p>
        </p:txBody>
      </p:sp>
      <p:pic>
        <p:nvPicPr>
          <p:cNvPr id="10" name="plantuml Diagram 13"/>
          <p:cNvPicPr>
            <a:picLocks noChangeAspect="1"/>
          </p:cNvPicPr>
          <p:nvPr/>
        </p:nvPicPr>
        <p:blipFill>
          <a:blip r:embed="plantumlImage13"/>
          <a:stretch>
            <a:fillRect/>
          </a:stretch>
        </p:blipFill>
        <p:spPr>
          <a:xfrm>
            <a:off x="2149231" y="3450336"/>
            <a:ext cx="4845538" cy="19050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외부 모델 누수</a:t>
            </a:r>
          </a:p>
          <a:p>
            <a:r>
              <a:rPr sz="1100" b="1">
                <a:solidFill>
                  <a:srgbClr val="000000"/>
                </a:solidFill>
                <a:latin typeface="맑은 고딕"/>
                <a:ea typeface="맑은 고딕"/>
              </a:rPr>
              <a:t>18. 잘못된 관행</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외부 시스템의 </a:t>
            </a:r>
            <a:r>
              <a:rPr sz="1800" b="1">
                <a:solidFill>
                  <a:srgbClr val="000000"/>
                </a:solidFill>
                <a:latin typeface="맑은 고딕"/>
                <a:ea typeface="맑은 고딕"/>
              </a:rPr>
              <a:t>상태·코드·이름</a:t>
            </a:r>
            <a:r>
              <a:rPr sz="1800" b="0">
                <a:solidFill>
                  <a:srgbClr val="000000"/>
                </a:solidFill>
                <a:latin typeface="맑은 고딕"/>
                <a:ea typeface="맑은 고딕"/>
              </a:rPr>
              <a:t>을 주문 시스템 안에서 그대로 쓰면, 외부가 바뀔 때 </a:t>
            </a:r>
            <a:r>
              <a:rPr sz="1800" b="1">
                <a:solidFill>
                  <a:srgbClr val="000000"/>
                </a:solidFill>
                <a:latin typeface="맑은 고딕"/>
                <a:ea typeface="맑은 고딕"/>
              </a:rPr>
              <a:t>주문의 규칙이 바뀐다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왼쪽은 배송 시스템의 상태 코드 </a:t>
            </a:r>
            <a:r>
              <a:rPr sz="1800" b="0">
                <a:solidFill>
                  <a:srgbClr val="000000"/>
                </a:solidFill>
                <a:latin typeface="맑은 고딕"/>
                <a:ea typeface="맑은 고딕"/>
              </a:rPr>
              <a:t>PICKING</a:t>
            </a:r>
            <a:r>
              <a:rPr sz="1800" b="0">
                <a:solidFill>
                  <a:srgbClr val="000000"/>
                </a:solidFill>
                <a:latin typeface="맑은 고딕"/>
                <a:ea typeface="맑은 고딕"/>
              </a:rPr>
              <a:t>·</a:t>
            </a:r>
            <a:r>
              <a:rPr sz="1800" b="0">
                <a:solidFill>
                  <a:srgbClr val="000000"/>
                </a:solidFill>
                <a:latin typeface="맑은 고딕"/>
                <a:ea typeface="맑은 고딕"/>
              </a:rPr>
              <a:t>PACKED</a:t>
            </a:r>
            <a:r>
              <a:rPr sz="1800" b="0">
                <a:solidFill>
                  <a:srgbClr val="000000"/>
                </a:solidFill>
                <a:latin typeface="맑은 고딕"/>
                <a:ea typeface="맑은 고딕"/>
              </a:rPr>
              <a:t>가 </a:t>
            </a:r>
            <a:r>
              <a:rPr sz="1800" b="1">
                <a:solidFill>
                  <a:srgbClr val="000000"/>
                </a:solidFill>
                <a:latin typeface="맑은 고딕"/>
                <a:ea typeface="맑은 고딕"/>
              </a:rPr>
              <a:t>주문 상태</a:t>
            </a:r>
            <a:r>
              <a:rPr sz="1800" b="0">
                <a:solidFill>
                  <a:srgbClr val="000000"/>
                </a:solidFill>
                <a:latin typeface="맑은 고딕"/>
                <a:ea typeface="맑은 고딕"/>
              </a:rPr>
              <a:t>가 됐다. 배송 시스템이 코드를 바꾸면 주문의 규칙이 바뀐다.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오른쪽은 주문 상태를 </a:t>
            </a:r>
            <a:r>
              <a:rPr sz="1800" b="1">
                <a:solidFill>
                  <a:srgbClr val="000000"/>
                </a:solidFill>
                <a:latin typeface="맑은 고딕"/>
                <a:ea typeface="맑은 고딕"/>
              </a:rPr>
              <a:t>주문의 사건</a:t>
            </a:r>
            <a:r>
              <a:rPr sz="1800" b="0">
                <a:solidFill>
                  <a:srgbClr val="000000"/>
                </a:solidFill>
                <a:latin typeface="맑은 고딕"/>
                <a:ea typeface="맑은 고딕"/>
              </a:rPr>
              <a:t>으로 정하고, 연동이 </a:t>
            </a:r>
            <a:r>
              <a:rPr sz="1800" b="0">
                <a:solidFill>
                  <a:srgbClr val="000000"/>
                </a:solidFill>
                <a:latin typeface="맑은 고딕"/>
                <a:ea typeface="맑은 고딕"/>
              </a:rPr>
              <a:t>IN_TRANSIT</a:t>
            </a:r>
            <a:r>
              <a:rPr sz="1800" b="0">
                <a:solidFill>
                  <a:srgbClr val="000000"/>
                </a:solidFill>
                <a:latin typeface="맑은 고딕"/>
                <a:ea typeface="맑은 고딕"/>
              </a:rPr>
              <a:t>을 배송 시작 통보로 변환한다.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136392"/>
            <a:ext cx="8412480" cy="201168"/>
          </a:xfrm>
          <a:prstGeom prst="rect">
            <a:avLst/>
          </a:prstGeom>
          <a:noFill/>
        </p:spPr>
        <p:txBody>
          <a:bodyPr wrap="square">
            <a:spAutoFit/>
          </a:bodyPr>
          <a:lstStyle/>
          <a:p>
            <a:pPr algn="ctr"/>
            <a:r>
              <a:rPr sz="1400" b="1">
                <a:solidFill>
                  <a:srgbClr val="000000"/>
                </a:solidFill>
                <a:latin typeface="맑은 고딕"/>
                <a:ea typeface="맑은 고딕"/>
              </a:rPr>
              <a:t>외부 형식의 누수와 번역</a:t>
            </a:r>
          </a:p>
        </p:txBody>
      </p:sp>
      <p:pic>
        <p:nvPicPr>
          <p:cNvPr id="10" name="plantuml Diagram 14"/>
          <p:cNvPicPr>
            <a:picLocks noChangeAspect="1"/>
          </p:cNvPicPr>
          <p:nvPr/>
        </p:nvPicPr>
        <p:blipFill>
          <a:blip r:embed="plantumlImage14"/>
          <a:stretch>
            <a:fillRect/>
          </a:stretch>
        </p:blipFill>
        <p:spPr>
          <a:xfrm>
            <a:off x="2614780" y="3374136"/>
            <a:ext cx="3914439" cy="3002337"/>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19. 적정 구조 설계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경계는 </a:t>
            </a:r>
            <a:r>
              <a:rPr sz="1800" b="1">
                <a:solidFill>
                  <a:srgbClr val="000000"/>
                </a:solidFill>
                <a:latin typeface="맑은 고딕"/>
                <a:ea typeface="맑은 고딕"/>
              </a:rPr>
              <a:t>변경을 가둘 만큼만</a:t>
            </a:r>
            <a:r>
              <a:rPr sz="1800" b="0">
                <a:solidFill>
                  <a:srgbClr val="000000"/>
                </a:solidFill>
                <a:latin typeface="맑은 고딕"/>
                <a:ea typeface="맑은 고딕"/>
              </a:rPr>
              <a:t> 나눈다. 바뀔 이유가 확인되지 않은 곳까지 나누면 인터페이스와 연동만 늘어난다.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나눌 때</a:t>
            </a:r>
            <a:r>
              <a:rPr sz="1800" b="0">
                <a:solidFill>
                  <a:srgbClr val="000000"/>
                </a:solidFill>
                <a:latin typeface="맑은 고딕"/>
                <a:ea typeface="맑은 고딕"/>
              </a:rPr>
              <a:t> —</a:t>
            </a:r>
            <a:r>
              <a:rPr sz="1600" b="0">
                <a:solidFill>
                  <a:srgbClr val="000000"/>
                </a:solidFill>
                <a:latin typeface="맑은 고딕"/>
                <a:ea typeface="맑은 고딕"/>
              </a:rPr>
              <a:t> 변경 이유가 다르고, 한쪽의 변경이 실제로 번질 때</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합칠 때</a:t>
            </a:r>
            <a:r>
              <a:rPr sz="1800" b="0">
                <a:solidFill>
                  <a:srgbClr val="000000"/>
                </a:solidFill>
                <a:latin typeface="맑은 고딕"/>
                <a:ea typeface="맑은 고딕"/>
              </a:rPr>
              <a:t> —</a:t>
            </a:r>
            <a:r>
              <a:rPr sz="1600" b="0">
                <a:solidFill>
                  <a:srgbClr val="000000"/>
                </a:solidFill>
                <a:latin typeface="맑은 고딕"/>
                <a:ea typeface="맑은 고딕"/>
              </a:rPr>
              <a:t> 늘 함께 바뀌고, 인터페이스가 형식적일 때</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외부 시스템</a:t>
            </a:r>
            <a:r>
              <a:rPr sz="1800" b="0">
                <a:solidFill>
                  <a:srgbClr val="000000"/>
                </a:solidFill>
                <a:latin typeface="맑은 고딕"/>
                <a:ea typeface="맑은 고딕"/>
              </a:rPr>
              <a:t> —</a:t>
            </a:r>
            <a:r>
              <a:rPr sz="1600" b="0">
                <a:solidFill>
                  <a:srgbClr val="000000"/>
                </a:solidFill>
                <a:latin typeface="맑은 고딕"/>
                <a:ea typeface="맑은 고딕"/>
              </a:rPr>
              <a:t> 우리가 통제하지 못하는 변경이라 처음부터 </a:t>
            </a:r>
            <a:r>
              <a:rPr sz="1600" b="1">
                <a:solidFill>
                  <a:srgbClr val="000000"/>
                </a:solidFill>
                <a:latin typeface="맑은 고딕"/>
                <a:ea typeface="맑은 고딕"/>
              </a:rPr>
              <a:t>연동으로 가둔다</a:t>
            </a:r>
          </a:p>
        </p:txBody>
      </p:sp>
    </p:spTree>
    <p:extLst>
      <p:ext uri="{BB962C8B-B14F-4D97-AF65-F5344CB8AC3E}">
        <p14:creationId xmlns:p14="http://schemas.microsoft.com/office/powerpoint/2010/main" val="3555436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20. 실습 — 패키지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600" b="0">
                <a:solidFill>
                  <a:srgbClr val="000000"/>
                </a:solidFill>
                <a:latin typeface="맑은 고딕"/>
                <a:ea typeface="맑은 고딕"/>
              </a:rPr>
              <a:t>도메인 모델과 동적 모델을 LLM에 제공하여 </a:t>
            </a:r>
            <a:r>
              <a:rPr sz="1600" b="1">
                <a:solidFill>
                  <a:srgbClr val="000000"/>
                </a:solidFill>
                <a:latin typeface="맑은 고딕"/>
                <a:ea typeface="맑은 고딕"/>
              </a:rPr>
              <a:t>패키지 다이어그램</a:t>
            </a:r>
            <a:r>
              <a:rPr sz="1600" b="0">
                <a:solidFill>
                  <a:srgbClr val="000000"/>
                </a:solidFill>
                <a:latin typeface="맑은 고딕"/>
                <a:ea typeface="맑은 고딕"/>
              </a:rPr>
              <a:t>을 초안과 상세 두 단계로 만들고, 점검 항목으로 </a:t>
            </a:r>
            <a:r>
              <a:rPr sz="1600" b="1">
                <a:solidFill>
                  <a:srgbClr val="000000"/>
                </a:solidFill>
                <a:latin typeface="맑은 고딕"/>
                <a:ea typeface="맑은 고딕"/>
              </a:rPr>
              <a:t>피드백</a:t>
            </a:r>
            <a:r>
              <a:rPr sz="1600" b="0">
                <a:solidFill>
                  <a:srgbClr val="000000"/>
                </a:solidFill>
                <a:latin typeface="맑은 고딕"/>
                <a:ea typeface="맑은 고딕"/>
              </a:rPr>
              <a:t>하여 완성하십시오.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투입물</a:t>
            </a:r>
          </a:p>
          <a:p>
            <a:pPr lvl="3" marL="723900" indent="0">
              <a:spcBef>
                <a:spcPts val="300"/>
              </a:spcBef>
              <a:spcAft>
                <a:spcPts val="300"/>
              </a:spcAft>
              <a:buNone/>
            </a:pPr>
            <a:r>
              <a:rPr sz="1400" b="0">
                <a:solidFill>
                  <a:srgbClr val="000000"/>
                </a:solidFill>
                <a:latin typeface="맑은 고딕"/>
                <a:ea typeface="맑은 고딕"/>
              </a:rPr>
              <a:t>실습 3의 </a:t>
            </a:r>
            <a:r>
              <a:rPr sz="1400" b="1">
                <a:solidFill>
                  <a:srgbClr val="000000"/>
                </a:solidFill>
                <a:latin typeface="맑은 고딕"/>
                <a:ea typeface="맑은 고딕"/>
              </a:rPr>
              <a:t>도메인 모델 상세</a:t>
            </a:r>
            <a:r>
              <a:rPr sz="1400" b="0">
                <a:solidFill>
                  <a:srgbClr val="000000"/>
                </a:solidFill>
                <a:latin typeface="맑은 고딕"/>
                <a:ea typeface="맑은 고딕"/>
              </a:rPr>
              <a:t>, 실습 4의 </a:t>
            </a:r>
            <a:r>
              <a:rPr sz="1400" b="1">
                <a:solidFill>
                  <a:srgbClr val="000000"/>
                </a:solidFill>
                <a:latin typeface="맑은 고딕"/>
                <a:ea typeface="맑은 고딕"/>
              </a:rPr>
              <a:t>시퀀스 다이어그램</a:t>
            </a:r>
            <a:r>
              <a:rPr sz="1400" b="0">
                <a:solidFill>
                  <a:srgbClr val="000000"/>
                </a:solidFill>
                <a:latin typeface="맑은 고딕"/>
                <a:ea typeface="맑은 고딕"/>
              </a:rPr>
              <a:t>, 실습 2의 </a:t>
            </a:r>
            <a:r>
              <a:rPr sz="1400" b="1">
                <a:solidFill>
                  <a:srgbClr val="000000"/>
                </a:solidFill>
                <a:latin typeface="맑은 고딕"/>
                <a:ea typeface="맑은 고딕"/>
              </a:rPr>
              <a:t>용어집</a:t>
            </a:r>
            <a:r>
              <a:rPr sz="1000" b="0">
                <a:solidFill>
                  <a:srgbClr val="000000"/>
                </a:solidFill>
                <a:latin typeface="맑은 고딕"/>
                <a:ea typeface="맑은 고딕"/>
              </a:rPr>
              <a:t>(보완 포함)</a:t>
            </a:r>
            <a:r>
              <a:rPr sz="1400" b="0">
                <a:solidFill>
                  <a:srgbClr val="000000"/>
                </a:solidFill>
                <a:latin typeface="맑은 고딕"/>
                <a:ea typeface="맑은 고딕"/>
              </a:rPr>
              <a:t> —</a:t>
            </a:r>
            <a:r>
              <a:rPr sz="1200" b="0">
                <a:solidFill>
                  <a:srgbClr val="000000"/>
                </a:solidFill>
                <a:latin typeface="맑은 고딕"/>
                <a:ea typeface="맑은 고딕"/>
              </a:rPr>
              <a:t> 실제로는 여러분의 결과물을 이어 씁니다.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프롬프트</a:t>
            </a:r>
          </a:p>
          <a:p>
            <a:pPr lvl="3" marL="723900" indent="0">
              <a:spcBef>
                <a:spcPts val="300"/>
              </a:spcBef>
              <a:spcAft>
                <a:spcPts val="300"/>
              </a:spcAft>
              <a:buNone/>
            </a:pPr>
            <a:r>
              <a:rPr sz="1400" b="0">
                <a:solidFill>
                  <a:srgbClr val="000000"/>
                </a:solidFill>
                <a:latin typeface="맑은 고딕"/>
                <a:ea typeface="맑은 고딕"/>
              </a:rPr>
              <a:t>① "위 도메인 모델의 클래스를 </a:t>
            </a:r>
            <a:r>
              <a:rPr sz="1400" b="1">
                <a:solidFill>
                  <a:srgbClr val="000000"/>
                </a:solidFill>
                <a:latin typeface="맑은 고딕"/>
                <a:ea typeface="맑은 고딕"/>
              </a:rPr>
              <a:t>변경 이유</a:t>
            </a:r>
            <a:r>
              <a:rPr sz="1400" b="0">
                <a:solidFill>
                  <a:srgbClr val="000000"/>
                </a:solidFill>
                <a:latin typeface="맑은 고딕"/>
                <a:ea typeface="맑은 고딕"/>
              </a:rPr>
              <a:t>로 묶어 PlantUML </a:t>
            </a:r>
            <a:r>
              <a:rPr sz="1400" b="1">
                <a:solidFill>
                  <a:srgbClr val="000000"/>
                </a:solidFill>
                <a:latin typeface="맑은 고딕"/>
                <a:ea typeface="맑은 고딕"/>
              </a:rPr>
              <a:t>패키지 다이어그램 초안</a:t>
            </a:r>
            <a:r>
              <a:rPr sz="1400" b="0">
                <a:solidFill>
                  <a:srgbClr val="000000"/>
                </a:solidFill>
                <a:latin typeface="맑은 고딕"/>
                <a:ea typeface="맑은 고딕"/>
              </a:rPr>
              <a:t>을 그려줘. 의존을 표시하고, 클래스는 이름만 보여줘. 패키지·클래스 이름은 </a:t>
            </a:r>
            <a:r>
              <a:rPr sz="1400" b="1">
                <a:solidFill>
                  <a:srgbClr val="000000"/>
                </a:solidFill>
                <a:latin typeface="맑은 고딕"/>
                <a:ea typeface="맑은 고딕"/>
              </a:rPr>
              <a:t>용어집의 영문명</a:t>
            </a:r>
            <a:r>
              <a:rPr sz="1400" b="0">
                <a:solidFill>
                  <a:srgbClr val="000000"/>
                </a:solidFill>
                <a:latin typeface="맑은 고딕"/>
                <a:ea typeface="맑은 고딕"/>
              </a:rPr>
              <a:t>으로 써줘."</a:t>
            </a:r>
          </a:p>
          <a:p>
            <a:pPr lvl="3" marL="723900" indent="0">
              <a:spcBef>
                <a:spcPts val="300"/>
              </a:spcBef>
              <a:spcAft>
                <a:spcPts val="300"/>
              </a:spcAft>
              <a:buNone/>
            </a:pPr>
            <a:r>
              <a:rPr sz="1400" b="0">
                <a:solidFill>
                  <a:srgbClr val="000000"/>
                </a:solidFill>
                <a:latin typeface="맑은 고딕"/>
                <a:ea typeface="맑은 고딕"/>
              </a:rPr>
              <a:t>② "외부 시스템 연동을 분리하고 </a:t>
            </a:r>
            <a:r>
              <a:rPr sz="1400" b="1">
                <a:solidFill>
                  <a:srgbClr val="000000"/>
                </a:solidFill>
                <a:latin typeface="맑은 고딕"/>
                <a:ea typeface="맑은 고딕"/>
              </a:rPr>
              <a:t>순환 의존</a:t>
            </a:r>
            <a:r>
              <a:rPr sz="1400" b="0">
                <a:solidFill>
                  <a:srgbClr val="000000"/>
                </a:solidFill>
                <a:latin typeface="맑은 고딕"/>
                <a:ea typeface="맑은 고딕"/>
              </a:rPr>
              <a:t>을 없애 </a:t>
            </a:r>
            <a:r>
              <a:rPr sz="1400" b="1">
                <a:solidFill>
                  <a:srgbClr val="000000"/>
                </a:solidFill>
                <a:latin typeface="맑은 고딕"/>
                <a:ea typeface="맑은 고딕"/>
              </a:rPr>
              <a:t>상세 패키지 다이어그램</a:t>
            </a:r>
            <a:r>
              <a:rPr sz="1400" b="0">
                <a:solidFill>
                  <a:srgbClr val="000000"/>
                </a:solidFill>
                <a:latin typeface="맑은 고딕"/>
                <a:ea typeface="맑은 고딕"/>
              </a:rPr>
              <a:t>으로 바꿔줘."</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점검 항목</a:t>
            </a:r>
          </a:p>
          <a:p>
            <a:pPr lvl="3" marL="947420" indent="-223520">
              <a:spcBef>
                <a:spcPts val="300"/>
              </a:spcBef>
              <a:spcAft>
                <a:spcPts val="300"/>
              </a:spcAft>
              <a:buNone/>
            </a:pPr>
            <a:r>
              <a:rPr sz="1400" b="0">
                <a:solidFill>
                  <a:srgbClr val="000000"/>
                </a:solidFill>
                <a:latin typeface="맑은 고딕"/>
                <a:ea typeface="맑은 고딕"/>
              </a:rPr>
              <a:t>1. </a:t>
            </a:r>
            <a:r>
              <a:rPr sz="1400" b="1">
                <a:solidFill>
                  <a:srgbClr val="000000"/>
                </a:solidFill>
                <a:latin typeface="맑은 고딕"/>
                <a:ea typeface="맑은 고딕"/>
              </a:rPr>
              <a:t>패키지 기준</a:t>
            </a:r>
            <a:r>
              <a:rPr sz="1400" b="0">
                <a:solidFill>
                  <a:srgbClr val="000000"/>
                </a:solidFill>
                <a:latin typeface="맑은 고딕"/>
                <a:ea typeface="맑은 고딕"/>
              </a:rPr>
              <a:t> —</a:t>
            </a:r>
            <a:r>
              <a:rPr sz="1200" b="0">
                <a:solidFill>
                  <a:srgbClr val="000000"/>
                </a:solidFill>
                <a:latin typeface="맑은 고딕"/>
                <a:ea typeface="맑은 고딕"/>
              </a:rPr>
              <a:t> 기술 계층이나 공용</a:t>
            </a:r>
            <a:r>
              <a:rPr sz="1000" b="0">
                <a:solidFill>
                  <a:srgbClr val="000000"/>
                </a:solidFill>
                <a:latin typeface="맑은 고딕"/>
                <a:ea typeface="맑은 고딕"/>
              </a:rPr>
              <a:t>(common)</a:t>
            </a:r>
            <a:r>
              <a:rPr sz="1200" b="0">
                <a:solidFill>
                  <a:srgbClr val="000000"/>
                </a:solidFill>
                <a:latin typeface="맑은 고딕"/>
                <a:ea typeface="맑은 고딕"/>
              </a:rPr>
              <a:t> 패키지가 아닌 </a:t>
            </a:r>
            <a:r>
              <a:rPr sz="1200" b="1">
                <a:solidFill>
                  <a:srgbClr val="000000"/>
                </a:solidFill>
                <a:latin typeface="맑은 고딕"/>
                <a:ea typeface="맑은 고딕"/>
              </a:rPr>
              <a:t>변경 이유</a:t>
            </a:r>
            <a:r>
              <a:rPr sz="1200" b="0">
                <a:solidFill>
                  <a:srgbClr val="000000"/>
                </a:solidFill>
                <a:latin typeface="맑은 고딕"/>
                <a:ea typeface="맑은 고딕"/>
              </a:rPr>
              <a:t>로 묶었는가?</a:t>
            </a:r>
          </a:p>
          <a:p>
            <a:pPr lvl="3" marL="947420" indent="-223520">
              <a:spcBef>
                <a:spcPts val="300"/>
              </a:spcBef>
              <a:spcAft>
                <a:spcPts val="300"/>
              </a:spcAft>
              <a:buNone/>
            </a:pPr>
            <a:r>
              <a:rPr sz="1400" b="0">
                <a:solidFill>
                  <a:srgbClr val="000000"/>
                </a:solidFill>
                <a:latin typeface="맑은 고딕"/>
                <a:ea typeface="맑은 고딕"/>
              </a:rPr>
              <a:t>2. </a:t>
            </a:r>
            <a:r>
              <a:rPr sz="1400" b="1">
                <a:solidFill>
                  <a:srgbClr val="000000"/>
                </a:solidFill>
                <a:latin typeface="맑은 고딕"/>
                <a:ea typeface="맑은 고딕"/>
              </a:rPr>
              <a:t>순환 의존</a:t>
            </a:r>
            <a:r>
              <a:rPr sz="1400" b="0">
                <a:solidFill>
                  <a:srgbClr val="000000"/>
                </a:solidFill>
                <a:latin typeface="맑은 고딕"/>
                <a:ea typeface="맑은 고딕"/>
              </a:rPr>
              <a:t> —</a:t>
            </a:r>
            <a:r>
              <a:rPr sz="1200" b="0">
                <a:solidFill>
                  <a:srgbClr val="000000"/>
                </a:solidFill>
                <a:latin typeface="맑은 고딕"/>
                <a:ea typeface="맑은 고딕"/>
              </a:rPr>
              <a:t> 패키지 의존에 순환이 없는가?</a:t>
            </a:r>
          </a:p>
          <a:p>
            <a:pPr lvl="3" marL="947420" indent="-223520">
              <a:spcBef>
                <a:spcPts val="300"/>
              </a:spcBef>
              <a:spcAft>
                <a:spcPts val="300"/>
              </a:spcAft>
              <a:buNone/>
            </a:pPr>
            <a:r>
              <a:rPr sz="1400" b="0">
                <a:solidFill>
                  <a:srgbClr val="000000"/>
                </a:solidFill>
                <a:latin typeface="맑은 고딕"/>
                <a:ea typeface="맑은 고딕"/>
              </a:rPr>
              <a:t>3. </a:t>
            </a:r>
            <a:r>
              <a:rPr sz="1400" b="1">
                <a:solidFill>
                  <a:srgbClr val="000000"/>
                </a:solidFill>
                <a:latin typeface="맑은 고딕"/>
                <a:ea typeface="맑은 고딕"/>
              </a:rPr>
              <a:t>연동 분리</a:t>
            </a:r>
            <a:r>
              <a:rPr sz="1400" b="0">
                <a:solidFill>
                  <a:srgbClr val="000000"/>
                </a:solidFill>
                <a:latin typeface="맑은 고딕"/>
                <a:ea typeface="맑은 고딕"/>
              </a:rPr>
              <a:t> —</a:t>
            </a:r>
            <a:r>
              <a:rPr sz="1200" b="0">
                <a:solidFill>
                  <a:srgbClr val="000000"/>
                </a:solidFill>
                <a:latin typeface="맑은 고딕"/>
                <a:ea typeface="맑은 고딕"/>
              </a:rPr>
              <a:t> 외부 시스템과의 연동을 별도 패키지로 뺐는가?</a:t>
            </a:r>
          </a:p>
          <a:p>
            <a:pPr lvl="3" marL="947420" indent="-223520">
              <a:spcBef>
                <a:spcPts val="300"/>
              </a:spcBef>
              <a:spcAft>
                <a:spcPts val="300"/>
              </a:spcAft>
              <a:buNone/>
            </a:pPr>
            <a:r>
              <a:rPr sz="1400" b="0">
                <a:solidFill>
                  <a:srgbClr val="000000"/>
                </a:solidFill>
                <a:latin typeface="맑은 고딕"/>
                <a:ea typeface="맑은 고딕"/>
              </a:rPr>
              <a:t>4. </a:t>
            </a:r>
            <a:r>
              <a:rPr sz="1400" b="1">
                <a:solidFill>
                  <a:srgbClr val="000000"/>
                </a:solidFill>
                <a:latin typeface="맑은 고딕"/>
                <a:ea typeface="맑은 고딕"/>
              </a:rPr>
              <a:t>의존 방향</a:t>
            </a:r>
            <a:r>
              <a:rPr sz="1400" b="0">
                <a:solidFill>
                  <a:srgbClr val="000000"/>
                </a:solidFill>
                <a:latin typeface="맑은 고딕"/>
                <a:ea typeface="맑은 고딕"/>
              </a:rPr>
              <a:t> —</a:t>
            </a:r>
            <a:r>
              <a:rPr sz="1200" b="0">
                <a:solidFill>
                  <a:srgbClr val="000000"/>
                </a:solidFill>
                <a:latin typeface="맑은 고딕"/>
                <a:ea typeface="맑은 고딕"/>
              </a:rPr>
              <a:t> 업무 패키지가 연동 패키지에 의존하지 않는가?</a:t>
            </a:r>
          </a:p>
          <a:p>
            <a:pPr lvl="3" marL="947420" indent="-223520">
              <a:spcBef>
                <a:spcPts val="300"/>
              </a:spcBef>
              <a:spcAft>
                <a:spcPts val="300"/>
              </a:spcAft>
              <a:buNone/>
            </a:pPr>
            <a:r>
              <a:rPr sz="1400" b="0">
                <a:solidFill>
                  <a:srgbClr val="000000"/>
                </a:solidFill>
                <a:latin typeface="맑은 고딕"/>
                <a:ea typeface="맑은 고딕"/>
              </a:rPr>
              <a:t>5. </a:t>
            </a:r>
            <a:r>
              <a:rPr sz="1400" b="1">
                <a:solidFill>
                  <a:srgbClr val="000000"/>
                </a:solidFill>
                <a:latin typeface="맑은 고딕"/>
                <a:ea typeface="맑은 고딕"/>
              </a:rPr>
              <a:t>인터페이스의 위치</a:t>
            </a:r>
            <a:r>
              <a:rPr sz="1400" b="0">
                <a:solidFill>
                  <a:srgbClr val="000000"/>
                </a:solidFill>
                <a:latin typeface="맑은 고딕"/>
                <a:ea typeface="맑은 고딕"/>
              </a:rPr>
              <a:t> —</a:t>
            </a:r>
            <a:r>
              <a:rPr sz="1200" b="0">
                <a:solidFill>
                  <a:srgbClr val="000000"/>
                </a:solidFill>
                <a:latin typeface="맑은 고딕"/>
                <a:ea typeface="맑은 고딕"/>
              </a:rPr>
              <a:t> 결제·배송 요청의 </a:t>
            </a:r>
            <a:r>
              <a:rPr sz="1200" b="1">
                <a:solidFill>
                  <a:srgbClr val="000000"/>
                </a:solidFill>
                <a:latin typeface="맑은 고딕"/>
                <a:ea typeface="맑은 고딕"/>
              </a:rPr>
              <a:t>인터페이스</a:t>
            </a:r>
            <a:r>
              <a:rPr sz="1200" b="0">
                <a:solidFill>
                  <a:srgbClr val="000000"/>
                </a:solidFill>
                <a:latin typeface="맑은 고딕"/>
                <a:ea typeface="맑은 고딕"/>
              </a:rPr>
              <a:t>를 업무 패키지가 갖는가?</a:t>
            </a:r>
          </a:p>
          <a:p>
            <a:pPr lvl="3" marL="947420" indent="-223520">
              <a:spcBef>
                <a:spcPts val="300"/>
              </a:spcBef>
              <a:spcAft>
                <a:spcPts val="300"/>
              </a:spcAft>
              <a:buNone/>
            </a:pPr>
            <a:r>
              <a:rPr sz="1400" b="0">
                <a:solidFill>
                  <a:srgbClr val="000000"/>
                </a:solidFill>
                <a:latin typeface="맑은 고딕"/>
                <a:ea typeface="맑은 고딕"/>
              </a:rPr>
              <a:t>6. </a:t>
            </a:r>
            <a:r>
              <a:rPr sz="1400" b="1">
                <a:solidFill>
                  <a:srgbClr val="000000"/>
                </a:solidFill>
                <a:latin typeface="맑은 고딕"/>
                <a:ea typeface="맑은 고딕"/>
              </a:rPr>
              <a:t>설계 이름</a:t>
            </a:r>
            <a:r>
              <a:rPr sz="1400" b="0">
                <a:solidFill>
                  <a:srgbClr val="000000"/>
                </a:solidFill>
                <a:latin typeface="맑은 고딕"/>
                <a:ea typeface="맑은 고딕"/>
              </a:rPr>
              <a:t> —</a:t>
            </a:r>
            <a:r>
              <a:rPr sz="1200" b="0">
                <a:solidFill>
                  <a:srgbClr val="000000"/>
                </a:solidFill>
                <a:latin typeface="맑은 고딕"/>
                <a:ea typeface="맑은 고딕"/>
              </a:rPr>
              <a:t> 패키지·클래스 이름이 용어집의 영문명과 명명 규칙을 따르는가?</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결과물</a:t>
            </a:r>
            <a:r>
              <a:rPr sz="1600" b="0">
                <a:solidFill>
                  <a:srgbClr val="000000"/>
                </a:solidFill>
                <a:latin typeface="맑은 고딕"/>
                <a:ea typeface="맑은 고딕"/>
              </a:rPr>
              <a:t> —</a:t>
            </a:r>
            <a:r>
              <a:rPr sz="1400" b="0">
                <a:solidFill>
                  <a:srgbClr val="000000"/>
                </a:solidFill>
                <a:latin typeface="맑은 고딕"/>
                <a:ea typeface="맑은 고딕"/>
              </a:rPr>
              <a:t> 패키지 다이어그램 초안과 상세. 객체 설계의 입력이 됩니다.</a:t>
            </a:r>
          </a:p>
        </p:txBody>
      </p:sp>
    </p:spTree>
    <p:extLst>
      <p:ext uri="{BB962C8B-B14F-4D97-AF65-F5344CB8AC3E}">
        <p14:creationId xmlns:p14="http://schemas.microsoft.com/office/powerpoint/2010/main" val="3555436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21.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구조 설계는 분석 결과를 바탕으로 책임이 놓일 </a:t>
            </a:r>
            <a:r>
              <a:rPr sz="1800" b="1">
                <a:solidFill>
                  <a:srgbClr val="000000"/>
                </a:solidFill>
                <a:latin typeface="맑은 고딕"/>
                <a:ea typeface="맑은 고딕"/>
              </a:rPr>
              <a:t>구조적 경계</a:t>
            </a:r>
            <a:r>
              <a:rPr sz="1800" b="0">
                <a:solidFill>
                  <a:srgbClr val="000000"/>
                </a:solidFill>
                <a:latin typeface="맑은 고딕"/>
                <a:ea typeface="맑은 고딕"/>
              </a:rPr>
              <a:t>와 변경이 번지는 </a:t>
            </a:r>
            <a:r>
              <a:rPr sz="1800" b="1">
                <a:solidFill>
                  <a:srgbClr val="000000"/>
                </a:solidFill>
                <a:latin typeface="맑은 고딕"/>
                <a:ea typeface="맑은 고딕"/>
              </a:rPr>
              <a:t>의존 방향</a:t>
            </a:r>
            <a:r>
              <a:rPr sz="1800" b="0">
                <a:solidFill>
                  <a:srgbClr val="000000"/>
                </a:solidFill>
                <a:latin typeface="맑은 고딕"/>
                <a:ea typeface="맑은 고딕"/>
              </a:rPr>
              <a:t>을 정한다.</a:t>
            </a:r>
          </a:p>
          <a:p>
            <a:pPr marL="342900" indent="0">
              <a:spcBef>
                <a:spcPts val="600"/>
              </a:spcBef>
              <a:spcAft>
                <a:spcPts val="600"/>
              </a:spcAft>
              <a:buNone/>
            </a:pPr>
            <a:r>
              <a:rPr sz="1800" b="1">
                <a:solidFill>
                  <a:srgbClr val="000000"/>
                </a:solidFill>
                <a:latin typeface="맑은 고딕"/>
                <a:ea typeface="맑은 고딕"/>
              </a:rPr>
              <a:t>구조적 경계와 의존성의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경계</a:t>
            </a:r>
            <a:r>
              <a:rPr sz="1800" b="0">
                <a:solidFill>
                  <a:srgbClr val="000000"/>
                </a:solidFill>
                <a:latin typeface="맑은 고딕"/>
                <a:ea typeface="맑은 고딕"/>
              </a:rPr>
              <a:t> —</a:t>
            </a:r>
            <a:r>
              <a:rPr sz="1600" b="0">
                <a:solidFill>
                  <a:srgbClr val="000000"/>
                </a:solidFill>
                <a:latin typeface="맑은 고딕"/>
                <a:ea typeface="맑은 고딕"/>
              </a:rPr>
              <a:t> 함께 바뀌는 상태와 규칙의 묶음</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패키지 기준</a:t>
            </a:r>
            <a:r>
              <a:rPr sz="1800" b="0">
                <a:solidFill>
                  <a:srgbClr val="000000"/>
                </a:solidFill>
                <a:latin typeface="맑은 고딕"/>
                <a:ea typeface="맑은 고딕"/>
              </a:rPr>
              <a:t> —</a:t>
            </a:r>
            <a:r>
              <a:rPr sz="1600" b="0">
                <a:solidFill>
                  <a:srgbClr val="000000"/>
                </a:solidFill>
                <a:latin typeface="맑은 고딕"/>
                <a:ea typeface="맑은 고딕"/>
              </a:rPr>
              <a:t> 합성·소유·변경 이유·함께 쓰임·외부 통제</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의존</a:t>
            </a:r>
            <a:r>
              <a:rPr sz="1800" b="0">
                <a:solidFill>
                  <a:srgbClr val="000000"/>
                </a:solidFill>
                <a:latin typeface="맑은 고딕"/>
                <a:ea typeface="맑은 고딕"/>
              </a:rPr>
              <a:t> —</a:t>
            </a:r>
            <a:r>
              <a:rPr sz="1600" b="0">
                <a:solidFill>
                  <a:srgbClr val="000000"/>
                </a:solidFill>
                <a:latin typeface="맑은 고딕"/>
                <a:ea typeface="맑은 고딕"/>
              </a:rPr>
              <a:t> 쓰는 쪽 → 쓰이는 쪽. 변경은 반대 방향으로 번진다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방향</a:t>
            </a:r>
            <a:r>
              <a:rPr sz="1800" b="0">
                <a:solidFill>
                  <a:srgbClr val="000000"/>
                </a:solidFill>
                <a:latin typeface="맑은 고딕"/>
                <a:ea typeface="맑은 고딕"/>
              </a:rPr>
              <a:t> —</a:t>
            </a:r>
            <a:r>
              <a:rPr sz="1600" b="0">
                <a:solidFill>
                  <a:srgbClr val="000000"/>
                </a:solidFill>
                <a:latin typeface="맑은 고딕"/>
                <a:ea typeface="맑은 고딕"/>
              </a:rPr>
              <a:t> 덜 바뀌는 업무 쪽으로. 요청 인터페이스는 업무 패키지에 두고, 연동이 통보를 변환한다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패키지 원칙</a:t>
            </a:r>
            <a:r>
              <a:rPr sz="1800" b="0">
                <a:solidFill>
                  <a:srgbClr val="000000"/>
                </a:solidFill>
                <a:latin typeface="맑은 고딕"/>
                <a:ea typeface="맑은 고딕"/>
              </a:rPr>
              <a:t> —</a:t>
            </a:r>
            <a:r>
              <a:rPr sz="1600" b="0">
                <a:solidFill>
                  <a:srgbClr val="000000"/>
                </a:solidFill>
                <a:latin typeface="맑은 고딕"/>
                <a:ea typeface="맑은 고딕"/>
              </a:rPr>
              <a:t> 응집</a:t>
            </a:r>
            <a:r>
              <a:rPr sz="1200" b="0">
                <a:solidFill>
                  <a:srgbClr val="000000"/>
                </a:solidFill>
                <a:latin typeface="맑은 고딕"/>
                <a:ea typeface="맑은 고딕"/>
              </a:rPr>
              <a:t>(REP·CCP·CRP)</a:t>
            </a:r>
            <a:r>
              <a:rPr sz="1600" b="0">
                <a:solidFill>
                  <a:srgbClr val="000000"/>
                </a:solidFill>
                <a:latin typeface="맑은 고딕"/>
                <a:ea typeface="맑은 고딕"/>
              </a:rPr>
              <a:t>과 결합</a:t>
            </a:r>
            <a:r>
              <a:rPr sz="1200" b="0">
                <a:solidFill>
                  <a:srgbClr val="000000"/>
                </a:solidFill>
                <a:latin typeface="맑은 고딕"/>
                <a:ea typeface="맑은 고딕"/>
              </a:rPr>
              <a:t>(ADP·SDP·SAP)</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설계의 이름</a:t>
            </a:r>
            <a:r>
              <a:rPr sz="1800" b="0">
                <a:solidFill>
                  <a:srgbClr val="000000"/>
                </a:solidFill>
                <a:latin typeface="맑은 고딕"/>
                <a:ea typeface="맑은 고딕"/>
              </a:rPr>
              <a:t> —</a:t>
            </a:r>
            <a:r>
              <a:rPr sz="1600" b="0">
                <a:solidFill>
                  <a:srgbClr val="000000"/>
                </a:solidFill>
                <a:latin typeface="맑은 고딕"/>
                <a:ea typeface="맑은 고딕"/>
              </a:rPr>
              <a:t> 분석은 한글 용어, 설계는 용어집의 영문명과 명명 규칙</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제약</a:t>
            </a:r>
            <a:r>
              <a:rPr sz="1800" b="0">
                <a:solidFill>
                  <a:srgbClr val="000000"/>
                </a:solidFill>
                <a:latin typeface="맑은 고딕"/>
                <a:ea typeface="맑은 고딕"/>
              </a:rPr>
              <a:t> —</a:t>
            </a:r>
            <a:r>
              <a:rPr sz="1600" b="0">
                <a:solidFill>
                  <a:srgbClr val="000000"/>
                </a:solidFill>
                <a:latin typeface="맑은 고딕"/>
                <a:ea typeface="맑은 고딕"/>
              </a:rPr>
              <a:t> 객체 설계 전에 명시하고 코드·테스트·변경 시나리오로 확인한다</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06. 분석 모델에서 설계 모델로</a:t>
            </a:r>
            <a:r>
              <a:rPr sz="1800" b="0">
                <a:solidFill>
                  <a:srgbClr val="000000"/>
                </a:solidFill>
                <a:latin typeface="맑은 고딕"/>
                <a:ea typeface="맑은 고딕"/>
              </a:rPr>
              <a:t>" —</a:t>
            </a:r>
            <a:r>
              <a:rPr sz="1600" b="0">
                <a:solidFill>
                  <a:srgbClr val="000000"/>
                </a:solidFill>
                <a:latin typeface="맑은 고딕"/>
                <a:ea typeface="맑은 고딕"/>
              </a:rPr>
              <a:t> 분석 개념을 기계적으로 변환하지 않고 의미를 보존하며 설계 모델로 전환한다.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6065577"/>
            <a:ext cx="8412480" cy="347472"/>
          </a:xfrm>
          <a:prstGeom prst="rect">
            <a:avLst/>
          </a:prstGeom>
          <a:noFill/>
        </p:spPr>
        <p:txBody>
          <a:bodyPr wrap="square" anchor="b">
            <a:spAutoFit/>
          </a:bodyPr>
          <a:lstStyle/>
          <a:p>
            <a:r>
              <a:rPr sz="800" b="0">
                <a:solidFill>
                  <a:srgbClr val="000000"/>
                </a:solidFill>
                <a:latin typeface="맑은 고딕"/>
                <a:ea typeface="맑은 고딕"/>
              </a:rPr>
              <a:t>REP — Reuse/Release Equivalence Principle · CCP — Common Closure Principle · CRP — Common Reuse Principle · ADP — Acyclic Dependencies Principle · SDP — Stable Dependencies Principle · SAP — Stable Abstractions Principle</a:t>
            </a:r>
          </a:p>
        </p:txBody>
      </p:sp>
    </p:spTree>
    <p:extLst>
      <p:ext uri="{BB962C8B-B14F-4D97-AF65-F5344CB8AC3E}">
        <p14:creationId xmlns:p14="http://schemas.microsoft.com/office/powerpoint/2010/main" val="3555436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패키지 다이어그램 초안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도메인 개념을 </a:t>
            </a:r>
            <a:r>
              <a:rPr sz="1400" b="1">
                <a:solidFill>
                  <a:srgbClr val="000000"/>
                </a:solidFill>
                <a:latin typeface="맑은 고딕"/>
                <a:ea typeface="맑은 고딕"/>
              </a:rPr>
              <a:t>변경 이유</a:t>
            </a:r>
            <a:r>
              <a:rPr sz="1400" b="0">
                <a:solidFill>
                  <a:srgbClr val="000000"/>
                </a:solidFill>
                <a:latin typeface="맑은 고딕"/>
                <a:ea typeface="맑은 고딕"/>
              </a:rPr>
              <a:t>로 묶고 외부 호출을 사용하는 업무 패키지에서 연동을 직접 부른 초안이다. 업무 패키지가 연동에 의존해 외부 형식의 변경이 안으로 전파된다.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업무 경계</a:t>
            </a:r>
            <a:r>
              <a:rPr sz="1400" b="0">
                <a:solidFill>
                  <a:srgbClr val="000000"/>
                </a:solidFill>
                <a:latin typeface="맑은 고딕"/>
                <a:ea typeface="맑은 고딕"/>
              </a:rPr>
              <a:t> —</a:t>
            </a:r>
            <a:r>
              <a:rPr sz="1200" b="0">
                <a:solidFill>
                  <a:srgbClr val="000000"/>
                </a:solidFill>
                <a:latin typeface="맑은 고딕"/>
                <a:ea typeface="맑은 고딕"/>
              </a:rPr>
              <a:t> 고객·장바구니·정기배송·상품·결제를 실습 3의 개념과 변경 이유대로 유지한다.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문제</a:t>
            </a:r>
            <a:r>
              <a:rPr sz="1400" b="0">
                <a:solidFill>
                  <a:srgbClr val="000000"/>
                </a:solidFill>
                <a:latin typeface="맑은 고딕"/>
                <a:ea typeface="맑은 고딕"/>
              </a:rPr>
              <a:t> —</a:t>
            </a:r>
            <a:r>
              <a:rPr sz="1200" b="0">
                <a:solidFill>
                  <a:srgbClr val="000000"/>
                </a:solidFill>
                <a:latin typeface="맑은 고딕"/>
                <a:ea typeface="맑은 고딕"/>
              </a:rPr>
              <a:t> </a:t>
            </a:r>
            <a:r>
              <a:rPr sz="1200" b="0">
                <a:solidFill>
                  <a:srgbClr val="000000"/>
                </a:solidFill>
                <a:latin typeface="맑은 고딕"/>
                <a:ea typeface="맑은 고딕"/>
              </a:rPr>
              <a:t>product</a:t>
            </a:r>
            <a:r>
              <a:rPr sz="1200" b="0">
                <a:solidFill>
                  <a:srgbClr val="000000"/>
                </a:solidFill>
                <a:latin typeface="맑은 고딕"/>
                <a:ea typeface="맑은 고딕"/>
              </a:rPr>
              <a:t>·</a:t>
            </a:r>
            <a:r>
              <a:rPr sz="1200" b="0">
                <a:solidFill>
                  <a:srgbClr val="000000"/>
                </a:solidFill>
                <a:latin typeface="맑은 고딕"/>
                <a:ea typeface="맑은 고딕"/>
              </a:rPr>
              <a:t>payment</a:t>
            </a:r>
            <a:r>
              <a:rPr sz="1200" b="0">
                <a:solidFill>
                  <a:srgbClr val="000000"/>
                </a:solidFill>
                <a:latin typeface="맑은 고딕"/>
                <a:ea typeface="맑은 고딕"/>
              </a:rPr>
              <a:t>·</a:t>
            </a:r>
            <a:r>
              <a:rPr sz="1200" b="0">
                <a:solidFill>
                  <a:srgbClr val="000000"/>
                </a:solidFill>
                <a:latin typeface="맑은 고딕"/>
                <a:ea typeface="맑은 고딕"/>
              </a:rPr>
              <a:t>subscription</a:t>
            </a:r>
            <a:r>
              <a:rPr sz="1200" b="0">
                <a:solidFill>
                  <a:srgbClr val="000000"/>
                </a:solidFill>
                <a:latin typeface="맑은 고딕"/>
                <a:ea typeface="맑은 고딕"/>
              </a:rPr>
              <a:t>이 외부 연동을 직접 알아, 외부 계약이 바뀌면 업무 패키지도 영향을 받는다.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125854"/>
            <a:ext cx="8412480" cy="201168"/>
          </a:xfrm>
          <a:prstGeom prst="rect">
            <a:avLst/>
          </a:prstGeom>
          <a:noFill/>
        </p:spPr>
        <p:txBody>
          <a:bodyPr wrap="square">
            <a:spAutoFit/>
          </a:bodyPr>
          <a:lstStyle/>
          <a:p>
            <a:pPr algn="ctr"/>
            <a:r>
              <a:rPr sz="1400" b="1">
                <a:solidFill>
                  <a:srgbClr val="000000"/>
                </a:solidFill>
                <a:latin typeface="맑은 고딕"/>
                <a:ea typeface="맑은 고딕"/>
              </a:rPr>
              <a:t>정기배송 패키지(초안)</a:t>
            </a:r>
          </a:p>
        </p:txBody>
      </p:sp>
      <p:pic>
        <p:nvPicPr>
          <p:cNvPr id="10" name="plantuml Diagram 15"/>
          <p:cNvPicPr>
            <a:picLocks noChangeAspect="1"/>
          </p:cNvPicPr>
          <p:nvPr/>
        </p:nvPicPr>
        <p:blipFill>
          <a:blip r:embed="plantumlImage15"/>
          <a:stretch>
            <a:fillRect/>
          </a:stretch>
        </p:blipFill>
        <p:spPr>
          <a:xfrm>
            <a:off x="1572018" y="2363598"/>
            <a:ext cx="5999965" cy="401287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패키지 다이어그램 상세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요청 인터페이스를 </a:t>
            </a:r>
            <a:r>
              <a:rPr sz="1400" b="1">
                <a:solidFill>
                  <a:srgbClr val="000000"/>
                </a:solidFill>
                <a:latin typeface="맑은 고딕"/>
                <a:ea typeface="맑은 고딕"/>
              </a:rPr>
              <a:t>업무 패키지</a:t>
            </a:r>
            <a:r>
              <a:rPr sz="1400" b="0">
                <a:solidFill>
                  <a:srgbClr val="000000"/>
                </a:solidFill>
                <a:latin typeface="맑은 고딕"/>
                <a:ea typeface="맑은 고딕"/>
              </a:rPr>
              <a:t>가 소유하고 연동이 구현하도록 의존 방향을 바꿨다.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방향</a:t>
            </a:r>
            <a:r>
              <a:rPr sz="1400" b="0">
                <a:solidFill>
                  <a:srgbClr val="000000"/>
                </a:solidFill>
                <a:latin typeface="맑은 고딕"/>
                <a:ea typeface="맑은 고딕"/>
              </a:rPr>
              <a:t> —</a:t>
            </a:r>
            <a:r>
              <a:rPr sz="1200" b="0">
                <a:solidFill>
                  <a:srgbClr val="000000"/>
                </a:solidFill>
                <a:latin typeface="맑은 고딕"/>
                <a:ea typeface="맑은 고딕"/>
              </a:rPr>
              <a:t> 상품·결제·배송 연동이 각각 </a:t>
            </a:r>
            <a:r>
              <a:rPr sz="1200" b="0">
                <a:solidFill>
                  <a:srgbClr val="000000"/>
                </a:solidFill>
                <a:latin typeface="맑은 고딕"/>
                <a:ea typeface="맑은 고딕"/>
              </a:rPr>
              <a:t>product</a:t>
            </a:r>
            <a:r>
              <a:rPr sz="1200" b="0">
                <a:solidFill>
                  <a:srgbClr val="000000"/>
                </a:solidFill>
                <a:latin typeface="맑은 고딕"/>
                <a:ea typeface="맑은 고딕"/>
              </a:rPr>
              <a:t>·</a:t>
            </a:r>
            <a:r>
              <a:rPr sz="1200" b="0">
                <a:solidFill>
                  <a:srgbClr val="000000"/>
                </a:solidFill>
                <a:latin typeface="맑은 고딕"/>
                <a:ea typeface="맑은 고딕"/>
              </a:rPr>
              <a:t>payment</a:t>
            </a:r>
            <a:r>
              <a:rPr sz="1200" b="0">
                <a:solidFill>
                  <a:srgbClr val="000000"/>
                </a:solidFill>
                <a:latin typeface="맑은 고딕"/>
                <a:ea typeface="맑은 고딕"/>
              </a:rPr>
              <a:t>·</a:t>
            </a:r>
            <a:r>
              <a:rPr sz="1200" b="0">
                <a:solidFill>
                  <a:srgbClr val="000000"/>
                </a:solidFill>
                <a:latin typeface="맑은 고딕"/>
                <a:ea typeface="맑은 고딕"/>
              </a:rPr>
              <a:t>subscription</a:t>
            </a:r>
            <a:r>
              <a:rPr sz="1200" b="0">
                <a:solidFill>
                  <a:srgbClr val="000000"/>
                </a:solidFill>
                <a:latin typeface="맑은 고딕"/>
                <a:ea typeface="맑은 고딕"/>
              </a:rPr>
              <a:t>의 요청 인터페이스에 의존한다.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1694112"/>
            <a:ext cx="8412480" cy="201168"/>
          </a:xfrm>
          <a:prstGeom prst="rect">
            <a:avLst/>
          </a:prstGeom>
          <a:noFill/>
        </p:spPr>
        <p:txBody>
          <a:bodyPr wrap="square">
            <a:spAutoFit/>
          </a:bodyPr>
          <a:lstStyle/>
          <a:p>
            <a:pPr algn="ctr"/>
            <a:r>
              <a:rPr sz="1400" b="1">
                <a:solidFill>
                  <a:srgbClr val="000000"/>
                </a:solidFill>
                <a:latin typeface="맑은 고딕"/>
                <a:ea typeface="맑은 고딕"/>
              </a:rPr>
              <a:t>정기배송 패키지(상세)</a:t>
            </a:r>
          </a:p>
        </p:txBody>
      </p:sp>
      <p:pic>
        <p:nvPicPr>
          <p:cNvPr id="10" name="plantuml Diagram 16"/>
          <p:cNvPicPr>
            <a:picLocks noChangeAspect="1"/>
          </p:cNvPicPr>
          <p:nvPr/>
        </p:nvPicPr>
        <p:blipFill>
          <a:blip r:embed="plantumlImage16"/>
          <a:stretch>
            <a:fillRect/>
          </a:stretch>
        </p:blipFill>
        <p:spPr>
          <a:xfrm>
            <a:off x="1660769" y="1931856"/>
            <a:ext cx="5822462" cy="436098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구조 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05. 구조적 경계와 의존성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구조적 제약</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방향</a:t>
            </a:r>
            <a:r>
              <a:rPr sz="1200" b="0">
                <a:solidFill>
                  <a:srgbClr val="000000"/>
                </a:solidFill>
                <a:latin typeface="맑은 고딕"/>
                <a:ea typeface="맑은 고딕"/>
              </a:rPr>
              <a:t> —</a:t>
            </a:r>
            <a:r>
              <a:rPr sz="1000" b="0">
                <a:solidFill>
                  <a:srgbClr val="000000"/>
                </a:solidFill>
                <a:latin typeface="맑은 고딕"/>
                <a:ea typeface="맑은 고딕"/>
              </a:rPr>
              <a:t> 업무 패키지는 </a:t>
            </a:r>
            <a:r>
              <a:rPr sz="1000" b="0">
                <a:solidFill>
                  <a:srgbClr val="000000"/>
                </a:solidFill>
                <a:latin typeface="맑은 고딕"/>
                <a:ea typeface="맑은 고딕"/>
              </a:rPr>
              <a:t>productadapter</a:t>
            </a:r>
            <a:r>
              <a:rPr sz="1000" b="0">
                <a:solidFill>
                  <a:srgbClr val="000000"/>
                </a:solidFill>
                <a:latin typeface="맑은 고딕"/>
                <a:ea typeface="맑은 고딕"/>
              </a:rPr>
              <a:t>·</a:t>
            </a:r>
            <a:r>
              <a:rPr sz="1000" b="0">
                <a:solidFill>
                  <a:srgbClr val="000000"/>
                </a:solidFill>
                <a:latin typeface="맑은 고딕"/>
                <a:ea typeface="맑은 고딕"/>
              </a:rPr>
              <a:t>paymentadapter</a:t>
            </a:r>
            <a:r>
              <a:rPr sz="1000" b="0">
                <a:solidFill>
                  <a:srgbClr val="000000"/>
                </a:solidFill>
                <a:latin typeface="맑은 고딕"/>
                <a:ea typeface="맑은 고딕"/>
              </a:rPr>
              <a:t>·</a:t>
            </a:r>
            <a:r>
              <a:rPr sz="1000" b="0">
                <a:solidFill>
                  <a:srgbClr val="000000"/>
                </a:solidFill>
                <a:latin typeface="맑은 고딕"/>
                <a:ea typeface="맑은 고딕"/>
              </a:rPr>
              <a:t>deliveryadapter</a:t>
            </a:r>
            <a:r>
              <a:rPr sz="1000" b="0">
                <a:solidFill>
                  <a:srgbClr val="000000"/>
                </a:solidFill>
                <a:latin typeface="맑은 고딕"/>
                <a:ea typeface="맑은 고딕"/>
              </a:rPr>
              <a:t>에 의존하지 않는다.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인터페이스의 위치</a:t>
            </a:r>
            <a:r>
              <a:rPr sz="1200" b="0">
                <a:solidFill>
                  <a:srgbClr val="000000"/>
                </a:solidFill>
                <a:latin typeface="맑은 고딕"/>
                <a:ea typeface="맑은 고딕"/>
              </a:rPr>
              <a:t> —</a:t>
            </a:r>
            <a:r>
              <a:rPr sz="1000" b="0">
                <a:solidFill>
                  <a:srgbClr val="000000"/>
                </a:solidFill>
                <a:latin typeface="맑은 고딕"/>
                <a:ea typeface="맑은 고딕"/>
              </a:rPr>
              <a:t> 상품·결제·배송 요청 인터페이스는 그 의미를 소유한 업무 패키지에 둔다.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외부 형식</a:t>
            </a:r>
            <a:r>
              <a:rPr sz="1200" b="0">
                <a:solidFill>
                  <a:srgbClr val="000000"/>
                </a:solidFill>
                <a:latin typeface="맑은 고딕"/>
                <a:ea typeface="맑은 고딕"/>
              </a:rPr>
              <a:t> —</a:t>
            </a:r>
            <a:r>
              <a:rPr sz="1000" b="0">
                <a:solidFill>
                  <a:srgbClr val="000000"/>
                </a:solidFill>
                <a:latin typeface="맑은 고딕"/>
                <a:ea typeface="맑은 고딕"/>
              </a:rPr>
              <a:t> 외부 시스템의 상태 코드와 요청 형식은 연동 패키지 밖으로 내보내지 않는다.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용어집</a:t>
            </a:r>
            <a:r>
              <a:rPr sz="1000" b="0">
                <a:solidFill>
                  <a:srgbClr val="000000"/>
                </a:solidFill>
                <a:latin typeface="맑은 고딕"/>
                <a:ea typeface="맑은 고딕"/>
              </a:rPr>
              <a:t>(실습 2)</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게이트웨이</a:t>
            </a:r>
            <a:r>
              <a:rPr sz="1200" b="0">
                <a:solidFill>
                  <a:srgbClr val="000000"/>
                </a:solidFill>
                <a:latin typeface="맑은 고딕"/>
                <a:ea typeface="맑은 고딕"/>
              </a:rPr>
              <a:t> —</a:t>
            </a:r>
            <a:r>
              <a:rPr sz="1000" b="0">
                <a:solidFill>
                  <a:srgbClr val="000000"/>
                </a:solidFill>
                <a:latin typeface="맑은 고딕"/>
                <a:ea typeface="맑은 고딕"/>
              </a:rPr>
              <a:t> 상품 </a:t>
            </a:r>
            <a:r>
              <a:rPr sz="1000" b="0">
                <a:solidFill>
                  <a:srgbClr val="000000"/>
                </a:solidFill>
                <a:latin typeface="맑은 고딕"/>
                <a:ea typeface="맑은 고딕"/>
              </a:rPr>
              <a:t>ProductGateway</a:t>
            </a:r>
            <a:r>
              <a:rPr sz="1000" b="0">
                <a:solidFill>
                  <a:srgbClr val="000000"/>
                </a:solidFill>
                <a:latin typeface="맑은 고딕"/>
                <a:ea typeface="맑은 고딕"/>
              </a:rPr>
              <a:t>, 결제 </a:t>
            </a:r>
            <a:r>
              <a:rPr sz="1000" b="0">
                <a:solidFill>
                  <a:srgbClr val="000000"/>
                </a:solidFill>
                <a:latin typeface="맑은 고딕"/>
                <a:ea typeface="맑은 고딕"/>
              </a:rPr>
              <a:t>PaymentGateway</a:t>
            </a:r>
            <a:r>
              <a:rPr sz="1000" b="0">
                <a:solidFill>
                  <a:srgbClr val="000000"/>
                </a:solidFill>
                <a:latin typeface="맑은 고딕"/>
                <a:ea typeface="맑은 고딕"/>
              </a:rPr>
              <a:t>, 배송 </a:t>
            </a:r>
            <a:r>
              <a:rPr sz="1000" b="0">
                <a:solidFill>
                  <a:srgbClr val="000000"/>
                </a:solidFill>
                <a:latin typeface="맑은 고딕"/>
                <a:ea typeface="맑은 고딕"/>
              </a:rPr>
              <a:t>DeliveryGateway</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연동</a:t>
            </a:r>
            <a:r>
              <a:rPr sz="1200" b="0">
                <a:solidFill>
                  <a:srgbClr val="000000"/>
                </a:solidFill>
                <a:latin typeface="맑은 고딕"/>
                <a:ea typeface="맑은 고딕"/>
              </a:rPr>
              <a:t> —</a:t>
            </a:r>
            <a:r>
              <a:rPr sz="1000" b="0">
                <a:solidFill>
                  <a:srgbClr val="000000"/>
                </a:solidFill>
                <a:latin typeface="맑은 고딕"/>
                <a:ea typeface="맑은 고딕"/>
              </a:rPr>
              <a:t> 상품 </a:t>
            </a:r>
            <a:r>
              <a:rPr sz="1000" b="0">
                <a:solidFill>
                  <a:srgbClr val="000000"/>
                </a:solidFill>
                <a:latin typeface="맑은 고딕"/>
                <a:ea typeface="맑은 고딕"/>
              </a:rPr>
              <a:t>ProductAdapter</a:t>
            </a:r>
            <a:r>
              <a:rPr sz="1000" b="0">
                <a:solidFill>
                  <a:srgbClr val="000000"/>
                </a:solidFill>
                <a:latin typeface="맑은 고딕"/>
                <a:ea typeface="맑은 고딕"/>
              </a:rPr>
              <a:t>, 결제 </a:t>
            </a:r>
            <a:r>
              <a:rPr sz="1000" b="0">
                <a:solidFill>
                  <a:srgbClr val="000000"/>
                </a:solidFill>
                <a:latin typeface="맑은 고딕"/>
                <a:ea typeface="맑은 고딕"/>
              </a:rPr>
              <a:t>PaymentAdapter</a:t>
            </a:r>
            <a:r>
              <a:rPr sz="1000" b="0">
                <a:solidFill>
                  <a:srgbClr val="000000"/>
                </a:solidFill>
                <a:latin typeface="맑은 고딕"/>
                <a:ea typeface="맑은 고딕"/>
              </a:rPr>
              <a:t>, 배송 </a:t>
            </a:r>
            <a:r>
              <a:rPr sz="1000" b="0">
                <a:solidFill>
                  <a:srgbClr val="000000"/>
                </a:solidFill>
                <a:latin typeface="맑은 고딕"/>
                <a:ea typeface="맑은 고딕"/>
              </a:rPr>
              <a:t>DeliveryAdapter</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패키지를 나누며 발견한 것은 </a:t>
            </a:r>
            <a:r>
              <a:rPr sz="1400" b="1">
                <a:solidFill>
                  <a:srgbClr val="000000"/>
                </a:solidFill>
                <a:latin typeface="맑은 고딕"/>
                <a:ea typeface="맑은 고딕"/>
              </a:rPr>
              <a:t>후속 작업에 영향을 미치는 경우에만</a:t>
            </a:r>
            <a:r>
              <a:rPr sz="1400" b="0">
                <a:solidFill>
                  <a:srgbClr val="000000"/>
                </a:solidFill>
                <a:latin typeface="맑은 고딕"/>
                <a:ea typeface="맑은 고딕"/>
              </a:rPr>
              <a:t> 앞 산출물과 다음 설계의 입력에 반영한다.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도메인 모델·동적 모델</a:t>
            </a:r>
            <a:r>
              <a:rPr sz="1000" b="0">
                <a:solidFill>
                  <a:srgbClr val="000000"/>
                </a:solidFill>
                <a:latin typeface="맑은 고딕"/>
                <a:ea typeface="맑은 고딕"/>
              </a:rPr>
              <a:t>(실습 3·4)</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그대로</a:t>
            </a:r>
            <a:r>
              <a:rPr sz="1200" b="0">
                <a:solidFill>
                  <a:srgbClr val="000000"/>
                </a:solidFill>
                <a:latin typeface="맑은 고딕"/>
                <a:ea typeface="맑은 고딕"/>
              </a:rPr>
              <a:t> —</a:t>
            </a:r>
            <a:r>
              <a:rPr sz="1000" b="0">
                <a:solidFill>
                  <a:srgbClr val="000000"/>
                </a:solidFill>
                <a:latin typeface="맑은 고딕"/>
                <a:ea typeface="맑은 고딕"/>
              </a:rPr>
              <a:t> 개념·연관·합성과 요청의 의미는 바꾸지 않는다. 구조 때문에 분석 의미를 바꾸지 않는다.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 현행화 기준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반영</a:t>
            </a:r>
            <a:r>
              <a:rPr sz="1200" b="0">
                <a:solidFill>
                  <a:srgbClr val="000000"/>
                </a:solidFill>
                <a:latin typeface="맑은 고딕"/>
                <a:ea typeface="맑은 고딕"/>
              </a:rPr>
              <a:t> —</a:t>
            </a:r>
            <a:r>
              <a:rPr sz="1000" b="0">
                <a:solidFill>
                  <a:srgbClr val="000000"/>
                </a:solidFill>
                <a:latin typeface="맑은 고딕"/>
                <a:ea typeface="맑은 고딕"/>
              </a:rPr>
              <a:t> 패키지 경계, 인터페이스 소유, 허용·금지 의존. 실습 6의 설계 시퀀스 입력이 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기록만</a:t>
            </a:r>
            <a:r>
              <a:rPr sz="1200" b="0">
                <a:solidFill>
                  <a:srgbClr val="000000"/>
                </a:solidFill>
                <a:latin typeface="맑은 고딕"/>
                <a:ea typeface="맑은 고딕"/>
              </a:rPr>
              <a:t> —</a:t>
            </a:r>
            <a:r>
              <a:rPr sz="1000" b="0">
                <a:solidFill>
                  <a:srgbClr val="000000"/>
                </a:solidFill>
                <a:latin typeface="맑은 고딕"/>
                <a:ea typeface="맑은 고딕"/>
              </a:rPr>
              <a:t> 연동 클래스 이름. 객체의 책임과 협력은 다음 설계에서 확정한다.</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35</Slides>
  <Notes>30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Wingdings</vt:lpstr>
      <vt:lpstr>4_Office 테마</vt:lpstr>
      <vt:lpstr>05. 구조적 경계와 의존성 목차</vt:lpstr>
      <vt:lpstr>01. 세션 목표</vt:lpstr>
      <vt:lpstr>02. 분석에서 구조로</vt:lpstr>
      <vt:lpstr>클래스에서 패키지로 02. 분석에서 구조로</vt:lpstr>
      <vt:lpstr>03. 구조적 경계</vt:lpstr>
      <vt:lpstr>04. 의존성</vt:lpstr>
      <vt:lpstr>05. 설계의 이름</vt:lpstr>
      <vt:lpstr>06. 패키지 다이어그램</vt:lpstr>
      <vt:lpstr>07. 경계 후보 (1/2)</vt:lpstr>
      <vt:lpstr>07. 경계 후보 (2/2)</vt:lpstr>
      <vt:lpstr>업무 경계 07. 경계 후보</vt:lpstr>
      <vt:lpstr>08. 업무 경계와 연동 경계 (1/2)</vt:lpstr>
      <vt:lpstr>08. 업무 경계와 연동 경계 (2/2)</vt:lpstr>
      <vt:lpstr>09. 패키지 구조 초안</vt:lpstr>
      <vt:lpstr>10. 의존 방향</vt:lpstr>
      <vt:lpstr>11. 순환 제거 (1/2)</vt:lpstr>
      <vt:lpstr>11. 순환 제거 (2/2)</vt:lpstr>
      <vt:lpstr>12. 안정성과 추상성</vt:lpstr>
      <vt:lpstr>13. 패키지 원칙</vt:lpstr>
      <vt:lpstr>14. 구조의 진화</vt:lpstr>
      <vt:lpstr>15. 변경 파급 (1/2)</vt:lpstr>
      <vt:lpstr>15. 변경 파급 (2/2)</vt:lpstr>
      <vt:lpstr>16. 구조적 제약</vt:lpstr>
      <vt:lpstr>패키지와 코드 17. 코드와 검사</vt:lpstr>
      <vt:lpstr>의존 방향 검사 17. 코드와 검사</vt:lpstr>
      <vt:lpstr>통보 변환 코드 17. 코드와 검사</vt:lpstr>
      <vt:lpstr>기술 계층 분할 18. 잘못된 관행</vt:lpstr>
      <vt:lpstr>공용 패키지 18. 잘못된 관행</vt:lpstr>
      <vt:lpstr>외부 모델 누수 18. 잘못된 관행</vt:lpstr>
      <vt:lpstr>19. 적정 구조 설계</vt:lpstr>
      <vt:lpstr>20. 실습 — 패키지 다이어그램</vt:lpstr>
      <vt:lpstr>21. 요약</vt:lpstr>
      <vt:lpstr>패키지 다이어그램 초안 (안) 별첨. 실습 답</vt:lpstr>
      <vt:lpstr>패키지 다이어그램 상세 (안) 별첨. 실습 답</vt:lpstr>
      <vt:lpstr>구조 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05. 구조적 경계와 의존성</dc:title>
  <dc:creator>Kim YoungSan</dc:creator>
  <cp:lastModifiedBy>Youngon Kim</cp:lastModifiedBy>
  <cp:revision>42</cp:revision>
  <dcterms:created xsi:type="dcterms:W3CDTF">2021-02-25T22:04:20Z</dcterms:created>
  <dcterms:modified xsi:type="dcterms:W3CDTF">2026-09-21T23:10:41Z</dcterms:modified>
</cp:coreProperties>
</file>