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구조적 경계는 주문 시스템 안의 책임 범위를 다룬다. 클래스 수준의 책임 배치는 "06. 분석 모델에서 설계 모델로"·"07.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요구("02. 요구 분석과 유스케이스")의 시스템 이벤트·오퍼레이션 계약·외부 시스템, 정적 모델("03. 정적 모델 — 도메인 개념과 관계")의 개념·연관·분석 패키지, 동적 모델("04. 동적 모델 — 상호작용과 상태")의 상호작용·상태의 소유·요청과 통보.</a:t>
            </a:r>
          </a:p>
          <a:p>
            <a:pPr lvl="0"/>
            <a:r>
              <a:rPr lang="ko-KR" sz="1200"/>
              <a:t>"04. 동적 모델 — 상호작용과 상태"는 주문 시스템이 외부에 보내는 요청과 받는 통보를 남겼다. 구조 설계는 누가 외부 시스템을 알고 통보를 받는지 결정한다.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「15. 패키지」의 「패키지별 도메인 모델」을 경계를 넘는 연관만 남겨 줄인 것이다(장바구니 항목·환불은 생략). 분석 패키지의 기준(주제 영역·클래스 계층·유스케이스·강한 연관)은 "03. 정적 모델 — 도메인 개념과 관계"의 「15. 패키지」의 「패키지 기준」에서 다뤘다.</a:t>
            </a:r>
          </a:p>
          <a:p>
            <a:pPr lvl="0"/>
            <a:r>
              <a:rPr lang="ko-KR" sz="1200"/>
              <a:t>분석 패키지를 구조 패키지로 그대로 쓸 수 있는지는 설계의 기준으로 다시 확인한다(「07. 경계 후보」).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"01. OOAD 개요"의 「취소 판단의 책임」에서 경계를 "함께 변경되어야 할 상태와 행위의 묶음"으로 미리 보였다. 구조적 경계는 그 판단을 주문 시스템 안에 적용한다.</a:t>
            </a:r>
          </a:p>
          <a:p>
            <a:pPr lvl="0"/>
            <a:r>
              <a:rPr lang="ko-KR" sz="1200"/>
              <a:t>구조적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2.5.1(2017) 원문 확인(Dependencies의 정의).</a:t>
            </a:r>
          </a:p>
          <a:p>
            <a:pPr lvl="0"/>
            <a:r>
              <a:rPr lang="ko-KR" sz="1200"/>
              <a:t>의존 방향을 정하는 일은 곧 변경이 어디로 번질지를 정하는 일이다. 공급자의 변경이 클라이언트에 미치는 영향이 경계와 방향을 판단하는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"02. 요구 분석과 유스케이스"의 「18. 용어집」에서 정의하고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「02. 분석에서 구조로」의 「클래스에서 패키지로」와 「07. 경계 후보」의 「업무 경계」는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2.5.1의 Packages·Dependencies·Interfaces.</a:t>
            </a:r>
          </a:p>
          <a:p>
            <a:pPr lvl="0"/>
            <a:r>
              <a:rPr lang="ko-KR" sz="1200"/>
              <a:t>"03. 정적 모델 — 도메인 개념과 관계"의 「15. 패키지」의 「패키지 표기」는 개념의 묶음까지 다뤘다. 패키지 다이어그램은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"03. 정적 모델 — 도메인 개념과 관계"의 것이다. 환불 규칙은 환불 ≤ 결제 금액, 출고 준비 중·출고됨은 배송 시스템의 상태라 주문 시스템 밖이다.</a:t>
            </a:r>
          </a:p>
          <a:p>
            <a:pPr lvl="0"/>
            <a:r>
              <a:rPr lang="ko-KR" sz="1200"/>
              <a:t>근거: "03. 정적 모델 — 도메인 개념과 관계"의 「상세화」·「패키지별 도메인 모델」, "04. 동적 모델 — 상호작용과 상태"의 「08. 상태 기계 다이어그램」의 「주문 상태 기계」.</a:t>
            </a:r>
          </a:p>
          <a:p>
            <a:pPr lvl="0"/>
            <a:r>
              <a:rPr lang="ko-KR" sz="1200"/>
              <a:t>결과가 분석 패키지와 같은 것은 우연이 아니다. "03. 정적 모델 — 도메인 개념과 관계"가 업무 의미로 묶었기 때문이다. 기술 계층으로 묶었다면 결과가 달랐을 것이다.</a:t>
            </a:r>
          </a:p>
          <a:p>
            <a:pPr lvl="0"/>
            <a:r>
              <a:rPr lang="ko-KR" sz="1200"/>
              <a:t>외부 시스템마다 둘 연동 넷은 「08. 업무 경계와 연동 경계」에서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같다("02. 요구 분석과 유스케이스"의 「44. 정제된 SSD」). 동기·비동기의 기준은 반환값이 아니라 완료를 기다리는가다("04.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「11. 순환 제거」에서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「11. 순환 제거」·「12. 안정성과 추상성」에서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"13. OOAD에서 전문영역으로 — Architecture · DDD · MSA"에서 한다. 구조의 이름보다 경계와 방향의 판단 근거를 먼저 확인한다.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Robert C. Martin, "Design Principles and Design Patterns"(2000). 여섯 원칙의 정의와 인용은 각 원칙을 적용한 topic에 있다. *Clean Architecture*(2017)는 같은 원칙을 컴포넌트 원칙으로 다시 정리했다.</a:t>
            </a:r>
          </a:p>
          <a:p>
            <a:pPr lvl="0"/>
            <a:r>
              <a:rPr lang="ko-KR" sz="1200"/>
              <a:t>클래스 수준의 원칙(SRP·OCP·LSP·ISP·DIP)은 "07. 책임·협력·계약"·"08. 변화 대응과 변이 설계"에서 다룬다. 패키지 원칙은 그 위의 묶음과 방향을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*Clean Architecture*, 「Component Coupling」의 “Top-Down Design” 원문 확인.</a:t>
            </a:r>
          </a:p>
          <a:p>
            <a:pPr lvl="0"/>
            <a:r>
              <a:rPr lang="ko-KR" sz="1200"/>
              <a:t>같은 곳은 컴포넌트 의존 구조를 시스템 기능의 분해가 아니라 빌드와 유지보수의 지도라고 설명한다.</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변경 파급 검토는 이를 패키지 수준에 적용한다. 객체 수준의 결합·응집은 "07. 책임·협력·계약"에서 다룬다.</a:t>
            </a:r>
          </a:p>
          <a:p>
            <a:pPr lvl="0"/>
            <a:r>
              <a:rPr lang="ko-KR" sz="1200"/>
              <a:t>결제 전 취소는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고른다(「07. 경계 후보」).</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「08. 업무 경계와 연동 경계」의 교육용 가정이다. 배송 시작을 IN_TRANSIT으로 둔 것은 용어집의 출고(dispatch)와 섞지 않기 위해서다.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"13. OOAD에서 전문영역으로 — Architecture · DDD · MSA"의 포트와 어댑터로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「16. 구조적 제약」은 다음 세션에서 분석 개념을 설계 클래스로 옮길 때의 경계가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고객이나 정기배송에 합치지 않는다. 분석 패키지를 그대로 확정하는 것도, 순환을 만들기 위해 임의로 옮기는 것도 구조 판단의 근거가 아니다.</a:t>
            </a:r>
          </a:p>
          <a:p>
            <a:pPr lvl="0"/>
            <a:r>
              <a:rPr lang="ko-KR" sz="1200"/>
              <a:t>배송 회차는 정기배송의 합성이고 같은 생애로 바뀌므로 subscription에 둔다. 배송 시스템 자체는 외부이며 deliveryadapter로 가둔다.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패키지는 연동을 모르며 외부 형식은 연동 안에 머문다. 고객–장바구니, 정기배송–고객·상품·결제의 의미와 배송 회차의 소유는 바꾸지 않았다.</a:t>
            </a:r>
          </a:p>
          <a:p>
            <a:pPr lvl="0"/>
            <a:r>
              <a:rPr lang="ko-KR" sz="1200"/>
              <a:t>각 연동 클래스(ProductAdapter 등)는 도식에 생략한 실현 관계로 ProductGateway·PaymentGateway·DeliveryGateway를 구현한다.</a:t>
            </a:r>
          </a:p>
          <a:p>
            <a:pPr lvl="0"/>
            <a:r>
              <a:rPr lang="ko-KR" sz="1200"/>
              <a:t>인터페이스의 매개변수와 객체 책임은 "06. 분석 모델에서 설계 모델로"와 "07. 책임·협력·계약"에서 정제한다.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구조 설계의 결과는 분석 모델의 개념을 옮겨 놓은 표가 아니라, 다음 설계가 지켜야 할 경계와 방향이다.</a:t>
            </a:r>
          </a:p>
          <a:p>
            <a:pPr lvl="0"/>
            <a:r>
              <a:rPr lang="ko-KR" sz="1200"/>
              <a:t>실습 4에서 정기배송 상태를 발견한 것과 달리, 이 실습은 분석 의미의 누락을 찾지 않았다. 발견이 없으면 앞 모델을 억지로 고치지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구조적 경계</a:t>
            </a:r>
          </a:p>
          <a:p>
            <a:pPr lvl="1" marL="355600" indent="0">
              <a:spcBef>
                <a:spcPts val="300"/>
              </a:spcBef>
              <a:spcAft>
                <a:spcPts val="300"/>
              </a:spcAft>
              <a:buNone/>
            </a:pPr>
            <a:r>
              <a:rPr sz="1600" b="0">
                <a:solidFill>
                  <a:srgbClr val="000000"/>
                </a:solidFill>
                <a:latin typeface="맑은 고딕"/>
                <a:ea typeface="맑은 고딕"/>
              </a:rPr>
              <a:t>04. 의존성</a:t>
            </a:r>
          </a:p>
          <a:p>
            <a:pPr lvl="1" marL="355600" indent="0">
              <a:spcBef>
                <a:spcPts val="300"/>
              </a:spcBef>
              <a:spcAft>
                <a:spcPts val="300"/>
              </a:spcAft>
              <a:buNone/>
            </a:pPr>
            <a:r>
              <a:rPr sz="1600" b="0">
                <a:solidFill>
                  <a:srgbClr val="000000"/>
                </a:solidFill>
                <a:latin typeface="맑은 고딕"/>
                <a:ea typeface="맑은 고딕"/>
              </a:rPr>
              <a:t>05. 설계의 이름</a:t>
            </a:r>
          </a:p>
          <a:p>
            <a:pPr lvl="1" marL="355600" indent="0">
              <a:spcBef>
                <a:spcPts val="300"/>
              </a:spcBef>
              <a:spcAft>
                <a:spcPts val="300"/>
              </a:spcAft>
              <a:buNone/>
            </a:pPr>
            <a:r>
              <a:rPr sz="1600" b="0">
                <a:solidFill>
                  <a:srgbClr val="000000"/>
                </a:solidFill>
                <a:latin typeface="맑은 고딕"/>
                <a:ea typeface="맑은 고딕"/>
              </a:rPr>
              <a:t>06. 패키지 다이어그램</a:t>
            </a:r>
          </a:p>
          <a:p>
            <a:pPr lvl="1" marL="355600" indent="0">
              <a:spcBef>
                <a:spcPts val="300"/>
              </a:spcBef>
              <a:spcAft>
                <a:spcPts val="300"/>
              </a:spcAft>
              <a:buNone/>
            </a:pPr>
            <a:r>
              <a:rPr sz="1600" b="0">
                <a:solidFill>
                  <a:srgbClr val="000000"/>
                </a:solidFill>
                <a:latin typeface="맑은 고딕"/>
                <a:ea typeface="맑은 고딕"/>
              </a:rPr>
              <a:t>07. 경계 후보</a:t>
            </a:r>
          </a:p>
          <a:p>
            <a:pPr lvl="1" marL="355600" indent="0">
              <a:spcBef>
                <a:spcPts val="300"/>
              </a:spcBef>
              <a:spcAft>
                <a:spcPts val="300"/>
              </a:spcAft>
              <a:buNone/>
            </a:pPr>
            <a:r>
              <a:rPr sz="1600" b="0">
                <a:solidFill>
                  <a:srgbClr val="000000"/>
                </a:solidFill>
                <a:latin typeface="맑은 고딕"/>
                <a:ea typeface="맑은 고딕"/>
              </a:rPr>
              <a:t>08. 업무 경계와 연동 경계</a:t>
            </a:r>
          </a:p>
          <a:p>
            <a:pPr lvl="1" marL="355600" indent="0">
              <a:spcBef>
                <a:spcPts val="300"/>
              </a:spcBef>
              <a:spcAft>
                <a:spcPts val="300"/>
              </a:spcAft>
              <a:buNone/>
            </a:pPr>
            <a:r>
              <a:rPr sz="1600" b="0">
                <a:solidFill>
                  <a:srgbClr val="000000"/>
                </a:solidFill>
                <a:latin typeface="맑은 고딕"/>
                <a:ea typeface="맑은 고딕"/>
              </a:rPr>
              <a:t>09. 패키지 구조 초안</a:t>
            </a:r>
          </a:p>
          <a:p>
            <a:pPr lvl="1" marL="355600" indent="0">
              <a:spcBef>
                <a:spcPts val="300"/>
              </a:spcBef>
              <a:spcAft>
                <a:spcPts val="300"/>
              </a:spcAft>
              <a:buNone/>
            </a:pPr>
            <a:r>
              <a:rPr sz="1600" b="0">
                <a:solidFill>
                  <a:srgbClr val="000000"/>
                </a:solidFill>
                <a:latin typeface="맑은 고딕"/>
                <a:ea typeface="맑은 고딕"/>
              </a:rPr>
              <a:t>10. 의존 방향</a:t>
            </a:r>
          </a:p>
          <a:p>
            <a:pPr lvl="1" marL="355600" indent="0">
              <a:spcBef>
                <a:spcPts val="300"/>
              </a:spcBef>
              <a:spcAft>
                <a:spcPts val="300"/>
              </a:spcAft>
              <a:buNone/>
            </a:pPr>
            <a:r>
              <a:rPr sz="1600" b="0">
                <a:solidFill>
                  <a:srgbClr val="000000"/>
                </a:solidFill>
                <a:latin typeface="맑은 고딕"/>
                <a:ea typeface="맑은 고딕"/>
              </a:rPr>
              <a:t>11. 순환 제거</a:t>
            </a:r>
          </a:p>
          <a:p>
            <a:pPr lvl="1" marL="355600" indent="0">
              <a:spcBef>
                <a:spcPts val="300"/>
              </a:spcBef>
              <a:spcAft>
                <a:spcPts val="300"/>
              </a:spcAft>
              <a:buNone/>
            </a:pPr>
            <a:r>
              <a:rPr sz="1600" b="0">
                <a:solidFill>
                  <a:srgbClr val="000000"/>
                </a:solidFill>
                <a:latin typeface="맑은 고딕"/>
                <a:ea typeface="맑은 고딕"/>
              </a:rPr>
              <a:t>12. 안정성과 추상성</a:t>
            </a:r>
          </a:p>
          <a:p>
            <a:pPr lvl="1" marL="355600" indent="0">
              <a:spcBef>
                <a:spcPts val="300"/>
              </a:spcBef>
              <a:spcAft>
                <a:spcPts val="300"/>
              </a:spcAft>
              <a:buNone/>
            </a:pPr>
            <a:r>
              <a:rPr sz="1600" b="0">
                <a:solidFill>
                  <a:srgbClr val="000000"/>
                </a:solidFill>
                <a:latin typeface="맑은 고딕"/>
                <a:ea typeface="맑은 고딕"/>
              </a:rPr>
              <a:t>13. 패키지 원칙</a:t>
            </a:r>
          </a:p>
          <a:p>
            <a:pPr lvl="1" marL="355600" indent="0">
              <a:spcBef>
                <a:spcPts val="300"/>
              </a:spcBef>
              <a:spcAft>
                <a:spcPts val="300"/>
              </a:spcAft>
              <a:buNone/>
            </a:pPr>
            <a:r>
              <a:rPr sz="1600" b="0">
                <a:solidFill>
                  <a:srgbClr val="000000"/>
                </a:solidFill>
                <a:latin typeface="맑은 고딕"/>
                <a:ea typeface="맑은 고딕"/>
              </a:rPr>
              <a:t>14. 구조의 진화</a:t>
            </a:r>
          </a:p>
          <a:p>
            <a:pPr lvl="1" marL="355600" indent="0">
              <a:spcBef>
                <a:spcPts val="300"/>
              </a:spcBef>
              <a:spcAft>
                <a:spcPts val="300"/>
              </a:spcAft>
              <a:buNone/>
            </a:pPr>
            <a:r>
              <a:rPr sz="1600" b="0">
                <a:solidFill>
                  <a:srgbClr val="000000"/>
                </a:solidFill>
                <a:latin typeface="맑은 고딕"/>
                <a:ea typeface="맑은 고딕"/>
              </a:rPr>
              <a:t>15. 변경 파급</a:t>
            </a:r>
          </a:p>
          <a:p>
            <a:pPr lvl="1" marL="355600" indent="0">
              <a:spcBef>
                <a:spcPts val="300"/>
              </a:spcBef>
              <a:spcAft>
                <a:spcPts val="300"/>
              </a:spcAft>
              <a:buNone/>
            </a:pPr>
            <a:r>
              <a:rPr sz="1600" b="0">
                <a:solidFill>
                  <a:srgbClr val="000000"/>
                </a:solidFill>
                <a:latin typeface="맑은 고딕"/>
                <a:ea typeface="맑은 고딕"/>
              </a:rPr>
              <a:t>16. 구조적 제약</a:t>
            </a:r>
          </a:p>
          <a:p>
            <a:pPr lvl="1" marL="355600" indent="0">
              <a:spcBef>
                <a:spcPts val="300"/>
              </a:spcBef>
              <a:spcAft>
                <a:spcPts val="300"/>
              </a:spcAft>
              <a:buNone/>
            </a:pPr>
            <a:r>
              <a:rPr sz="1600" b="0">
                <a:solidFill>
                  <a:srgbClr val="000000"/>
                </a:solidFill>
                <a:latin typeface="맑은 고딕"/>
                <a:ea typeface="맑은 고딕"/>
              </a:rPr>
              <a:t>17. 코드와 검사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잘못된 관행</a:t>
            </a:r>
          </a:p>
          <a:p>
            <a:pPr lvl="1" marL="355600" indent="0">
              <a:spcBef>
                <a:spcPts val="300"/>
              </a:spcBef>
              <a:spcAft>
                <a:spcPts val="300"/>
              </a:spcAft>
              <a:buNone/>
            </a:pPr>
            <a:r>
              <a:rPr sz="1600" b="0">
                <a:solidFill>
                  <a:srgbClr val="000000"/>
                </a:solidFill>
                <a:latin typeface="맑은 고딕"/>
                <a:ea typeface="맑은 고딕"/>
              </a:rPr>
              <a:t>19. 적정 구조 설계</a:t>
            </a:r>
          </a:p>
          <a:p>
            <a:pPr lvl="1" marL="355600" indent="0">
              <a:spcBef>
                <a:spcPts val="300"/>
              </a:spcBef>
              <a:spcAft>
                <a:spcPts val="300"/>
              </a:spcAft>
              <a:buNone/>
            </a:pPr>
            <a:r>
              <a:rPr sz="1600" b="0">
                <a:solidFill>
                  <a:srgbClr val="000000"/>
                </a:solidFill>
                <a:latin typeface="맑은 고딕"/>
                <a:ea typeface="맑은 고딕"/>
              </a:rPr>
              <a:t>20.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21.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514"/>
            <a:ext cx="8412480" cy="274320"/>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49663" y="3648834"/>
            <a:ext cx="1844675" cy="2700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클래스에서 패키지로</a:t>
            </a:r>
          </a:p>
          <a:p>
            <a:r>
              <a:rPr sz="11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81784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193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17318"/>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4501521"/>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30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41448"/>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패키지 다이어그램부터 설계 도식과 코드는 영문명을 사용한다.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72807"/>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43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17318"/>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4144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(「18. 잘못된 관행」의 「기술 계층 분할」)</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폐쇄 원칙</a:t>
            </a:r>
            <a:r>
              <a:rPr sz="1400" b="1">
                <a:solidFill>
                  <a:srgbClr val="000000"/>
                </a:solidFill>
                <a:latin typeface="맑은 고딕"/>
                <a:ea typeface="맑은 고딕"/>
              </a:rPr>
              <a:t>(Common Closure Principle, CCP)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바뀌는</a:t>
            </a:r>
            <a:r>
              <a:rPr sz="16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재사용 원칙</a:t>
            </a:r>
            <a:r>
              <a:rPr sz="1400" b="1">
                <a:solidFill>
                  <a:srgbClr val="000000"/>
                </a:solidFill>
                <a:latin typeface="맑은 고딕"/>
                <a:ea typeface="맑은 고딕"/>
              </a:rPr>
              <a:t>(Common Reuse Principle, CRP)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재사용되지 않는</a:t>
            </a:r>
            <a:r>
              <a:rPr sz="16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경계</a:t>
            </a:r>
          </a:p>
          <a:p>
            <a:r>
              <a:rPr sz="1100" b="1">
                <a:solidFill>
                  <a:srgbClr val="000000"/>
                </a:solidFill>
                <a:latin typeface="맑은 고딕"/>
                <a:ea typeface="맑은 고딕"/>
              </a:rPr>
              <a:t>07. 경계 후보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6298"/>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66061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8441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29539"/>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3603859"/>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패키지 구조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5386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4028185"/>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의존 원칙</a:t>
            </a:r>
            <a:r>
              <a:rPr sz="1400" b="0">
                <a:solidFill>
                  <a:srgbClr val="000000"/>
                </a:solidFill>
                <a:latin typeface="맑은 고딕"/>
                <a:ea typeface="맑은 고딕"/>
              </a:rPr>
              <a:t>(Stable Dependencies Principle, </a:t>
            </a:r>
            <a:r>
              <a:rPr sz="1400" b="1">
                <a:solidFill>
                  <a:srgbClr val="000000"/>
                </a:solidFill>
                <a:latin typeface="맑은 고딕"/>
                <a:ea typeface="맑은 고딕"/>
              </a:rPr>
              <a:t>SDP</a:t>
            </a:r>
            <a:r>
              <a:rPr sz="1400" b="0">
                <a:solidFill>
                  <a:srgbClr val="000000"/>
                </a:solidFill>
                <a:latin typeface="맑은 고딕"/>
                <a:ea typeface="맑은 고딕"/>
              </a:rPr>
              <a:t>)</a:t>
            </a:r>
            <a:r>
              <a:rPr sz="1800" b="0">
                <a:solidFill>
                  <a:srgbClr val="000000"/>
                </a:solidFill>
                <a:latin typeface="맑은 고딕"/>
                <a:ea typeface="맑은 고딕"/>
              </a:rPr>
              <a:t>에 따라 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비순환 의존 원칙</a:t>
            </a:r>
            <a:r>
              <a:rPr sz="1400" b="0">
                <a:solidFill>
                  <a:srgbClr val="000000"/>
                </a:solidFill>
                <a:latin typeface="맑은 고딕"/>
                <a:ea typeface="맑은 고딕"/>
              </a:rPr>
              <a:t>(Acyclic Dependencies Principle, </a:t>
            </a:r>
            <a:r>
              <a:rPr sz="1400" b="1">
                <a:solidFill>
                  <a:srgbClr val="000000"/>
                </a:solidFill>
                <a:latin typeface="맑은 고딕"/>
                <a:ea typeface="맑은 고딕"/>
              </a:rPr>
              <a:t>ADP</a:t>
            </a:r>
            <a:r>
              <a:rPr sz="1400" b="0">
                <a:solidFill>
                  <a:srgbClr val="000000"/>
                </a:solidFill>
                <a:latin typeface="맑은 고딕"/>
                <a:ea typeface="맑은 고딕"/>
              </a:rPr>
              <a:t>)</a:t>
            </a:r>
            <a:r>
              <a:rPr sz="1800" b="0">
                <a:solidFill>
                  <a:srgbClr val="000000"/>
                </a:solidFill>
                <a:latin typeface="맑은 고딕"/>
                <a:ea typeface="맑은 고딕"/>
              </a:rPr>
              <a:t>은 순환을 금지한다. </a:t>
            </a: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 역전 원칙</a:t>
            </a:r>
            <a:r>
              <a:rPr sz="1200" b="1">
                <a:solidFill>
                  <a:srgbClr val="000000"/>
                </a:solidFill>
                <a:latin typeface="맑은 고딕"/>
                <a:ea typeface="맑은 고딕"/>
              </a:rPr>
              <a:t>(Dependency Inversion Principle, DIP)</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a:t>
            </a:r>
            <a:r>
              <a:rPr sz="1400" b="1">
                <a:solidFill>
                  <a:srgbClr val="000000"/>
                </a:solidFill>
                <a:latin typeface="맑은 고딕"/>
                <a:ea typeface="맑은 고딕"/>
              </a:rPr>
              <a:t>추상</a:t>
            </a:r>
            <a:r>
              <a:rPr sz="14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00500"/>
            <a:ext cx="8412480" cy="274320"/>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3774820"/>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안정성과 추상성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추상 원칙</a:t>
            </a:r>
            <a:r>
              <a:rPr sz="1400" b="0">
                <a:solidFill>
                  <a:srgbClr val="000000"/>
                </a:solidFill>
                <a:latin typeface="맑은 고딕"/>
                <a:ea typeface="맑은 고딕"/>
              </a:rPr>
              <a:t>(Stable Abstractions Principle, </a:t>
            </a:r>
            <a:r>
              <a:rPr sz="1400" b="1">
                <a:solidFill>
                  <a:srgbClr val="000000"/>
                </a:solidFill>
                <a:latin typeface="맑은 고딕"/>
                <a:ea typeface="맑은 고딕"/>
              </a:rPr>
              <a:t>SAP</a:t>
            </a:r>
            <a:r>
              <a:rPr sz="1400" b="0">
                <a:solidFill>
                  <a:srgbClr val="000000"/>
                </a:solidFill>
                <a:latin typeface="맑은 고딕"/>
                <a:ea typeface="맑은 고딕"/>
              </a:rPr>
              <a:t>)</a:t>
            </a:r>
            <a:r>
              <a:rPr sz="1800" b="0">
                <a:solidFill>
                  <a:srgbClr val="000000"/>
                </a:solidFill>
                <a:latin typeface="맑은 고딕"/>
                <a:ea typeface="맑은 고딕"/>
              </a:rPr>
              <a:t>에 따라 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2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713725" y="3736769"/>
            <a:ext cx="3716551" cy="26397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5100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재사용·릴리스 등가 원칙(Reuse/Release Equivalence Principle, REP)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폐쇄 원칙(Common Closure Principle, CCP)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재사용 원칙(Common Reuse Principle, CRP)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비순환 의존 원칙(Acyclic Dependencies Principle, ADP)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의존 원칙(Stable Dependencies Principle, SDP)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추상 원칙(Stable Abstractions Principle, SAP)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「07. 경계 후보」, SDP는 「10. 의존 방향」, ADP는 「11. 순환 제거」, SAP는 「12. 안정성과 추상성」.</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처음 정한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590206"/>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3231"/>
            <a:ext cx="8412480" cy="274320"/>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3447551"/>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「17. 코드와 검사」의 「의존 방향 검사」의 테스트다.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패키지와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87235"/>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52663"/>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9"/>
          <p:cNvPicPr>
            <a:picLocks noChangeAspect="1"/>
          </p:cNvPicPr>
          <p:nvPr/>
        </p:nvPicPr>
        <p:blipFill>
          <a:blip r:embed="plantumlImage9"/>
          <a:stretch>
            <a:fillRect/>
          </a:stretch>
        </p:blipFill>
        <p:spPr>
          <a:xfrm>
            <a:off x="3145692" y="2117318"/>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 방향 검사</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7773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0"/>
          <p:cNvPicPr>
            <a:picLocks noChangeAspect="1"/>
          </p:cNvPicPr>
          <p:nvPr/>
        </p:nvPicPr>
        <p:blipFill>
          <a:blip r:embed="plantumlImage10"/>
          <a:stretch>
            <a:fillRect/>
          </a:stretch>
        </p:blipFill>
        <p:spPr>
          <a:xfrm>
            <a:off x="3283683" y="2117318"/>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통보 변환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92389"/>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1"/>
          <p:cNvPicPr>
            <a:picLocks noChangeAspect="1"/>
          </p:cNvPicPr>
          <p:nvPr/>
        </p:nvPicPr>
        <p:blipFill>
          <a:blip r:embed="plantumlImage11"/>
          <a:stretch>
            <a:fillRect/>
          </a:stretch>
        </p:blipFill>
        <p:spPr>
          <a:xfrm>
            <a:off x="2443529" y="2117318"/>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계층 분할</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규칙이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8211"/>
            <a:ext cx="8412480" cy="274320"/>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12"/>
          <p:cNvPicPr>
            <a:picLocks noChangeAspect="1"/>
          </p:cNvPicPr>
          <p:nvPr/>
        </p:nvPicPr>
        <p:blipFill>
          <a:blip r:embed="plantumlImage12"/>
          <a:stretch>
            <a:fillRect/>
          </a:stretch>
        </p:blipFill>
        <p:spPr>
          <a:xfrm>
            <a:off x="3112406" y="3922531"/>
            <a:ext cx="2919188" cy="24539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공용 패키지</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(「11. 순환 제거」)</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09673"/>
            <a:ext cx="8412480" cy="274320"/>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3"/>
          <p:cNvPicPr>
            <a:picLocks noChangeAspect="1"/>
          </p:cNvPicPr>
          <p:nvPr/>
        </p:nvPicPr>
        <p:blipFill>
          <a:blip r:embed="plantumlImage13"/>
          <a:stretch>
            <a:fillRect/>
          </a:stretch>
        </p:blipFill>
        <p:spPr>
          <a:xfrm>
            <a:off x="2149231" y="4283993"/>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외부 모델 누수</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9168"/>
            <a:ext cx="8412480" cy="274320"/>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4"/>
          <p:cNvPicPr>
            <a:picLocks noChangeAspect="1"/>
          </p:cNvPicPr>
          <p:nvPr/>
        </p:nvPicPr>
        <p:blipFill>
          <a:blip r:embed="plantumlImage14"/>
          <a:stretch>
            <a:fillRect/>
          </a:stretch>
        </p:blipFill>
        <p:spPr>
          <a:xfrm>
            <a:off x="2868598" y="3763488"/>
            <a:ext cx="3406803" cy="2612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정한다.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코드·테스트·변경 시나리오로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묶고 외부 호출을 사용하는 업무 패키지에서 연동을 직접 부른 초안이다. 업무 패키지가 연동에 의존해 외부 형식의 변경이 안으로 전파된다.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경계</a:t>
            </a:r>
            <a:r>
              <a:rPr sz="1400" b="0">
                <a:solidFill>
                  <a:srgbClr val="000000"/>
                </a:solidFill>
                <a:latin typeface="맑은 고딕"/>
                <a:ea typeface="맑은 고딕"/>
              </a:rPr>
              <a:t> —</a:t>
            </a:r>
            <a:r>
              <a:rPr sz="1200" b="0">
                <a:solidFill>
                  <a:srgbClr val="000000"/>
                </a:solidFill>
                <a:latin typeface="맑은 고딕"/>
                <a:ea typeface="맑은 고딕"/>
              </a:rPr>
              <a:t> 고객·장바구니·정기배송·상품·결제를 실습 3의 개념과 변경 이유대로 유지한다.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문제</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이 외부 연동을 직접 알아, 외부 계약이 바뀌면 업무 패키지도 영향을 받는다.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39393"/>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패키지(초안)</a:t>
            </a:r>
          </a:p>
        </p:txBody>
      </p:sp>
      <p:pic>
        <p:nvPicPr>
          <p:cNvPr id="10" name="plantuml Diagram 15"/>
          <p:cNvPicPr>
            <a:picLocks noChangeAspect="1"/>
          </p:cNvPicPr>
          <p:nvPr/>
        </p:nvPicPr>
        <p:blipFill>
          <a:blip r:embed="plantumlImage15"/>
          <a:stretch>
            <a:fillRect/>
          </a:stretch>
        </p:blipFill>
        <p:spPr>
          <a:xfrm>
            <a:off x="1921241" y="2813713"/>
            <a:ext cx="5301517" cy="35457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요청 인터페이스를 </a:t>
            </a:r>
            <a:r>
              <a:rPr sz="1400" b="1">
                <a:solidFill>
                  <a:srgbClr val="000000"/>
                </a:solidFill>
                <a:latin typeface="맑은 고딕"/>
                <a:ea typeface="맑은 고딕"/>
              </a:rPr>
              <a:t>업무 패키지</a:t>
            </a:r>
            <a:r>
              <a:rPr sz="1400" b="0">
                <a:solidFill>
                  <a:srgbClr val="000000"/>
                </a:solidFill>
                <a:latin typeface="맑은 고딕"/>
                <a:ea typeface="맑은 고딕"/>
              </a:rPr>
              <a:t>가 소유하고 연동이 구현하도록 의존 방향을 바꿨다.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방향</a:t>
            </a:r>
            <a:r>
              <a:rPr sz="1400" b="0">
                <a:solidFill>
                  <a:srgbClr val="000000"/>
                </a:solidFill>
                <a:latin typeface="맑은 고딕"/>
                <a:ea typeface="맑은 고딕"/>
              </a:rPr>
              <a:t> —</a:t>
            </a:r>
            <a:r>
              <a:rPr sz="1200" b="0">
                <a:solidFill>
                  <a:srgbClr val="000000"/>
                </a:solidFill>
                <a:latin typeface="맑은 고딕"/>
                <a:ea typeface="맑은 고딕"/>
              </a:rPr>
              <a:t> 상품·결제·배송 연동이 각각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의 요청 인터페이스에 의존한다.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48782"/>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패키지(상세)</a:t>
            </a:r>
          </a:p>
        </p:txBody>
      </p:sp>
      <p:pic>
        <p:nvPicPr>
          <p:cNvPr id="10" name="plantuml Diagram 16"/>
          <p:cNvPicPr>
            <a:picLocks noChangeAspect="1"/>
          </p:cNvPicPr>
          <p:nvPr/>
        </p:nvPicPr>
        <p:blipFill>
          <a:blip r:embed="plantumlImage16"/>
          <a:stretch>
            <a:fillRect/>
          </a:stretch>
        </p:blipFill>
        <p:spPr>
          <a:xfrm>
            <a:off x="1732608" y="2123102"/>
            <a:ext cx="5678783" cy="42533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구조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구조적 제약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방향</a:t>
            </a:r>
            <a:r>
              <a:rPr sz="1200" b="0">
                <a:solidFill>
                  <a:srgbClr val="000000"/>
                </a:solidFill>
                <a:latin typeface="맑은 고딕"/>
                <a:ea typeface="맑은 고딕"/>
              </a:rPr>
              <a:t> —</a:t>
            </a:r>
            <a:r>
              <a:rPr sz="1000" b="0">
                <a:solidFill>
                  <a:srgbClr val="000000"/>
                </a:solidFill>
                <a:latin typeface="맑은 고딕"/>
                <a:ea typeface="맑은 고딕"/>
              </a:rPr>
              <a:t> 업무 패키지는 </a:t>
            </a:r>
            <a:r>
              <a:rPr sz="1000" b="0">
                <a:solidFill>
                  <a:srgbClr val="000000"/>
                </a:solidFill>
                <a:latin typeface="맑은 고딕"/>
                <a:ea typeface="맑은 고딕"/>
              </a:rPr>
              <a:t>productadapter</a:t>
            </a:r>
            <a:r>
              <a:rPr sz="1000" b="0">
                <a:solidFill>
                  <a:srgbClr val="000000"/>
                </a:solidFill>
                <a:latin typeface="맑은 고딕"/>
                <a:ea typeface="맑은 고딕"/>
              </a:rPr>
              <a:t>·</a:t>
            </a:r>
            <a:r>
              <a:rPr sz="1000" b="0">
                <a:solidFill>
                  <a:srgbClr val="000000"/>
                </a:solidFill>
                <a:latin typeface="맑은 고딕"/>
                <a:ea typeface="맑은 고딕"/>
              </a:rPr>
              <a:t>paymentadapter</a:t>
            </a:r>
            <a:r>
              <a:rPr sz="1000" b="0">
                <a:solidFill>
                  <a:srgbClr val="000000"/>
                </a:solidFill>
                <a:latin typeface="맑은 고딕"/>
                <a:ea typeface="맑은 고딕"/>
              </a:rPr>
              <a:t>·</a:t>
            </a:r>
            <a:r>
              <a:rPr sz="1000" b="0">
                <a:solidFill>
                  <a:srgbClr val="000000"/>
                </a:solidFill>
                <a:latin typeface="맑은 고딕"/>
                <a:ea typeface="맑은 고딕"/>
              </a:rPr>
              <a:t>deliveryadapter</a:t>
            </a:r>
            <a:r>
              <a:rPr sz="1000" b="0">
                <a:solidFill>
                  <a:srgbClr val="000000"/>
                </a:solidFill>
                <a:latin typeface="맑은 고딕"/>
                <a:ea typeface="맑은 고딕"/>
              </a:rPr>
              <a:t>에 의존하지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인터페이스의 위치</a:t>
            </a:r>
            <a:r>
              <a:rPr sz="1200" b="0">
                <a:solidFill>
                  <a:srgbClr val="000000"/>
                </a:solidFill>
                <a:latin typeface="맑은 고딕"/>
                <a:ea typeface="맑은 고딕"/>
              </a:rPr>
              <a:t> —</a:t>
            </a:r>
            <a:r>
              <a:rPr sz="1000" b="0">
                <a:solidFill>
                  <a:srgbClr val="000000"/>
                </a:solidFill>
                <a:latin typeface="맑은 고딕"/>
                <a:ea typeface="맑은 고딕"/>
              </a:rPr>
              <a:t> 상품·결제·배송 요청 인터페이스는 그 의미를 소유한 업무 패키지에 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형식</a:t>
            </a:r>
            <a:r>
              <a:rPr sz="1200" b="0">
                <a:solidFill>
                  <a:srgbClr val="000000"/>
                </a:solidFill>
                <a:latin typeface="맑은 고딕"/>
                <a:ea typeface="맑은 고딕"/>
              </a:rPr>
              <a:t> —</a:t>
            </a:r>
            <a:r>
              <a:rPr sz="1000" b="0">
                <a:solidFill>
                  <a:srgbClr val="000000"/>
                </a:solidFill>
                <a:latin typeface="맑은 고딕"/>
                <a:ea typeface="맑은 고딕"/>
              </a:rPr>
              <a:t> 외부 시스템의 상태 코드와 요청 형식은 연동 패키지 밖으로 내보내지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게이트웨이</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ProductGateway</a:t>
            </a:r>
            <a:r>
              <a:rPr sz="1000" b="0">
                <a:solidFill>
                  <a:srgbClr val="000000"/>
                </a:solidFill>
                <a:latin typeface="맑은 고딕"/>
                <a:ea typeface="맑은 고딕"/>
              </a:rPr>
              <a:t>, 결제 </a:t>
            </a:r>
            <a:r>
              <a:rPr sz="1000" b="0">
                <a:solidFill>
                  <a:srgbClr val="000000"/>
                </a:solidFill>
                <a:latin typeface="맑은 고딕"/>
                <a:ea typeface="맑은 고딕"/>
              </a:rPr>
              <a:t>PaymentGateway</a:t>
            </a:r>
            <a:r>
              <a:rPr sz="1000" b="0">
                <a:solidFill>
                  <a:srgbClr val="000000"/>
                </a:solidFill>
                <a:latin typeface="맑은 고딕"/>
                <a:ea typeface="맑은 고딕"/>
              </a:rPr>
              <a:t>, 배송 </a:t>
            </a:r>
            <a:r>
              <a:rPr sz="1000" b="0">
                <a:solidFill>
                  <a:srgbClr val="000000"/>
                </a:solidFill>
                <a:latin typeface="맑은 고딕"/>
                <a:ea typeface="맑은 고딕"/>
              </a:rPr>
              <a:t>DeliveryGateway</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연동</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ProductAdapter</a:t>
            </a:r>
            <a:r>
              <a:rPr sz="1000" b="0">
                <a:solidFill>
                  <a:srgbClr val="000000"/>
                </a:solidFill>
                <a:latin typeface="맑은 고딕"/>
                <a:ea typeface="맑은 고딕"/>
              </a:rPr>
              <a:t>, 결제 </a:t>
            </a:r>
            <a:r>
              <a:rPr sz="1000" b="0">
                <a:solidFill>
                  <a:srgbClr val="000000"/>
                </a:solidFill>
                <a:latin typeface="맑은 고딕"/>
                <a:ea typeface="맑은 고딕"/>
              </a:rPr>
              <a:t>PaymentAdapter</a:t>
            </a:r>
            <a:r>
              <a:rPr sz="1000" b="0">
                <a:solidFill>
                  <a:srgbClr val="000000"/>
                </a:solidFill>
                <a:latin typeface="맑은 고딕"/>
                <a:ea typeface="맑은 고딕"/>
              </a:rPr>
              <a:t>, 배송 </a:t>
            </a:r>
            <a:r>
              <a:rPr sz="1000" b="0">
                <a:solidFill>
                  <a:srgbClr val="000000"/>
                </a:solidFill>
                <a:latin typeface="맑은 고딕"/>
                <a:ea typeface="맑은 고딕"/>
              </a:rPr>
              <a:t>DeliveryAdapter</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앞 산출물과 다음 설계의 입력에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모델·동적 모델</a:t>
            </a:r>
            <a:r>
              <a:rPr sz="1000" b="0">
                <a:solidFill>
                  <a:srgbClr val="000000"/>
                </a:solidFill>
                <a:latin typeface="맑은 고딕"/>
                <a:ea typeface="맑은 고딕"/>
              </a:rPr>
              <a:t>(실습 3·4)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그대로</a:t>
            </a:r>
            <a:r>
              <a:rPr sz="1200" b="0">
                <a:solidFill>
                  <a:srgbClr val="000000"/>
                </a:solidFill>
                <a:latin typeface="맑은 고딕"/>
                <a:ea typeface="맑은 고딕"/>
              </a:rPr>
              <a:t> —</a:t>
            </a:r>
            <a:r>
              <a:rPr sz="1000" b="0">
                <a:solidFill>
                  <a:srgbClr val="000000"/>
                </a:solidFill>
                <a:latin typeface="맑은 고딕"/>
                <a:ea typeface="맑은 고딕"/>
              </a:rPr>
              <a:t> 개념·연관·합성과 요청의 의미는 바꾸지 않는다. 구조 때문에 분석 의미를 바꾸지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패키지 경계, 인터페이스 소유, 허용·금지 의존. 실습 6의 설계 시퀀스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연동 클래스 이름. 객체의 책임과 협력은 다음 설계에서 확정한다.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05. 구조적 경계와 의존성 목차</vt:lpstr>
      <vt:lpstr>01. 세션 목표</vt:lpstr>
      <vt:lpstr>02. 분석에서 구조로</vt:lpstr>
      <vt:lpstr>클래스에서 패키지로 02. 분석에서 구조로</vt:lpstr>
      <vt:lpstr>03. 구조적 경계</vt:lpstr>
      <vt:lpstr>04. 의존성</vt:lpstr>
      <vt:lpstr>05. 설계의 이름</vt:lpstr>
      <vt:lpstr>06. 패키지 다이어그램</vt:lpstr>
      <vt:lpstr>07. 경계 후보 (1/2)</vt:lpstr>
      <vt:lpstr>07. 경계 후보 (2/2)</vt:lpstr>
      <vt:lpstr>업무 경계 07. 경계 후보</vt:lpstr>
      <vt:lpstr>08. 업무 경계와 연동 경계 (1/2)</vt:lpstr>
      <vt:lpstr>08. 업무 경계와 연동 경계 (2/2)</vt:lpstr>
      <vt:lpstr>09. 패키지 구조 초안</vt:lpstr>
      <vt:lpstr>10. 의존 방향</vt:lpstr>
      <vt:lpstr>11. 순환 제거 (1/2)</vt:lpstr>
      <vt:lpstr>11. 순환 제거 (2/2)</vt:lpstr>
      <vt:lpstr>12. 안정성과 추상성</vt:lpstr>
      <vt:lpstr>13. 패키지 원칙</vt:lpstr>
      <vt:lpstr>14. 구조의 진화</vt:lpstr>
      <vt:lpstr>15. 변경 파급 (1/2)</vt:lpstr>
      <vt:lpstr>15. 변경 파급 (2/2)</vt:lpstr>
      <vt:lpstr>16. 구조적 제약</vt:lpstr>
      <vt:lpstr>패키지와 코드 17. 코드와 검사</vt:lpstr>
      <vt:lpstr>의존 방향 검사 17. 코드와 검사</vt:lpstr>
      <vt:lpstr>통보 변환 코드 17. 코드와 검사</vt:lpstr>
      <vt:lpstr>기술 계층 분할 18. 잘못된 관행</vt:lpstr>
      <vt:lpstr>공용 패키지 18. 잘못된 관행</vt:lpstr>
      <vt:lpstr>외부 모델 누수 18. 잘못된 관행</vt:lpstr>
      <vt:lpstr>19. 적정 구조 설계</vt:lpstr>
      <vt:lpstr>20. 실습 — 패키지 다이어그램</vt:lpstr>
      <vt:lpstr>21. 요약</vt:lpstr>
      <vt:lpstr>패키지 다이어그램 초안 (안) 별첨. 실습 답</vt:lpstr>
      <vt:lpstr>패키지 다이어그램 상세 (안) 별첨. 실습 답</vt:lpstr>
      <vt:lpstr>구조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