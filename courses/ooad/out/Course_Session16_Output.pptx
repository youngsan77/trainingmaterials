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정본: ddd-tactics-source.md §D~F. 배분 3분.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정본: ddd-tactics-source.md §D 도입. 배분 4분.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정본: ddd-tactics-source.md §D(Domain Service). concept-ownership-map.md §DDD 전술 경계와 일치. 배분 5분.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정본: ddd-tactics-source.md §D(Repository). 재료: order-domain-definition.md §8. 배분 5분.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정본: ddd-tactics-source.md §E(Factory). 교시9 B-2(Creator) 한계와 직접 연결. 배분 4분.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정본: ddd-tactics-source.md §F. Domain Event는 curriculum 요구로 존재만 추가(정본에 없던 한 줄, 소소한 보완). 배분 5분.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정본: ddd-tactics-source.md §F(닫기). concept-ownership-map.md §선수 체인(OOAD→아키텍처)과 일치. OOAD 16교시 완결. 배분 5분.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16. Domain Service·Repository·Factory (OOAD 종합) 목차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16. Domain Service·Repository·Factory (OOAD 종합)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480564" y="1024128"/>
            <a:ext cx="3102610" cy="5138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목표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메서드도 아닌 로직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Domain Service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Repository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Factory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여섯 개념, 하나의 계보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학습 목표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16. Domain Service·Repository·Factory (OOAD 종합)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Domain Service·Repository·Factory를 설명하고 OOAD 16교시를 회수할 수 있다.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교시가 끝나면 무엇을 할 수 있는가?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도달점: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경계(Aggregate) 안팎에서 애매한 로직·저장·복잡 생성을 누가 맡는지 설명하고, OOAD 전체를 회수할 수 있다.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227832"/>
            <a:ext cx="7955280" cy="1195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Service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엔티티에 안 맞는 로직을 어디에 두는지 안다.</a:t>
            </a:r>
            <a:endParaRPr lang="en-US" sz="1400" dirty="0"/>
          </a:p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Repository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저장을 도메인 뒤로 숨기는 방법을 안다.</a:t>
            </a:r>
            <a:endParaRPr lang="en-US" sz="1400" dirty="0"/>
          </a:p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종합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OOAD 16교시가 다음 부(아키텍처)로 어떻게 이어지는지 안다.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출발점: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부5 마지막이자 OOAD 전체 마지막 교시다 — 종합을 겸한다.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누구의 메서드도 아닌 로직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16. Domain Service·Repository·Factory (OOAD 종합)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[현상]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계좌 간 이체는 어느 계좌의 메서드인가?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객체에 넣기 애매한 로직은 어디에 두는가?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from.transfer(to)면 to를 왜 from이 알아야 하나, to.receiveFrom(from)이면 반대다 — 어느 쪽도 자연스럽지 않다.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404616"/>
            <a:ext cx="4160520" cy="84191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40461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없을 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788664"/>
            <a:ext cx="4160520" cy="45787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억지로 한쪽에 욱여넣거나 유틸 함수로 흩뿌린다.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404616"/>
            <a:ext cx="4160520" cy="84191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40461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것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3788664"/>
            <a:ext cx="4160520" cy="45787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엔티티가 아닌, 로직만 담는 자리.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991B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동기: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Aggregate 경계를 정했어도, 경계에 안 맞는 로직은 여전히 남는다.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Domain Service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16. Domain Service·Repository·Factory (OOAD 종합)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[원칙]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도메인 로직이지만 한 엔티티·VO에 안 맞는 것 — 무상태.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이체 로직은 어디에 사는가?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탈신비화: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애매한 연산은 늘 있었다. ② 이름이 없어 아무 데나 욱여넣었다. ③ 에반스가 "Domain Service"로 명명했다 — 관계의 로직만 담는 무상태 자리.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275076"/>
            <a:ext cx="4160520" cy="11009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27507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659124"/>
            <a:ext cx="4160520" cy="7169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TransferService.transfer(from, to, amt)</a:t>
            </a:r>
            <a:endParaRPr lang="en-US" sz="1200" dirty="0"/>
          </a:p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어느 계좌도 아닌 관계 자체가 로직을 갖는다.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275076"/>
            <a:ext cx="4160520" cy="11009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27507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forward-ref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3659124"/>
            <a:ext cx="4160520" cy="7169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Domain Service ≠ Application Service(유스케이스 층) — 이 구분은 아키텍처 과정에서 재정박된다.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Domain Service는 도메인 로직만 담는다 — 유스케이스 조율(트랜잭션 시작 등)은 다른 층의 몫이다.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Repository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16. Domain Service·Repository·Factory (OOAD 종합)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애그리거트를 메모리 컬렉션처럼 다루는 인터페이스.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저장을 도메인이 몰라도 되게 하려면?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탈신비화: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저장·조회는 DAO·매퍼로 늘 해 왔다. ② 도메인이 SQL을 직접 알거나 계층이 제각각이었다. ③ 에반스가 "Repository"로 명명 — 영속성을 도메인 뒤로 숨긴다.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275076"/>
            <a:ext cx="4160520" cy="11009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27507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659124"/>
            <a:ext cx="4160520" cy="7169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OrderRepository.save(order) · findById(id)</a:t>
            </a:r>
            <a:endParaRPr lang="en-US" sz="1200" dirty="0"/>
          </a:p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Order는 SQL·연결을 모른다.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275076"/>
            <a:ext cx="4160520" cy="11009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27507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forward-ref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3659124"/>
            <a:ext cx="4160520" cy="7169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인터페이스/구현 분리와 레이어링(어디에 둘지)은 아키텍처 과정이 확정한다.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OrderRepository는 새로 짓지 않았다 — order-domain-definition.md §8이 이미 정의한 그 포트다.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Factory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16. Domain Service·Repository·Factory (OOAD 종합)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복잡한 생성을 캡슐화한다 — Creator의 한계가 부른 것.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생성이 복잡해지면 Creator만으로 충분한가?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회수: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교시9에서 이미 복선을 남겼다 — Creator가 억지가 될 때(생성 로직이 복잡하거나 재료가 흩어질 때) Factory로 간다.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304032"/>
            <a:ext cx="4114800" cy="1043087"/>
          </a:xfrm>
          <a:prstGeom prst="rect">
            <a:avLst/>
          </a:prstGeom>
          <a:solidFill>
            <a:srgbClr val="FFFFFF"/>
          </a:solidFill>
          <a:ln w="15875">
            <a:solidFill>
              <a:srgbClr val="991B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304032"/>
            <a:ext cx="4114800" cy="402336"/>
          </a:xfrm>
          <a:prstGeom prst="rect">
            <a:avLst/>
          </a:prstGeom>
          <a:solidFill>
            <a:srgbClr val="991B1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Creator만(한계)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706368"/>
            <a:ext cx="411480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52400" indent="-1524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 로직이 복잡하거나 재료가 흩어지면 억지가 된다(교시9 회수).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3304032"/>
            <a:ext cx="4114800" cy="1043087"/>
          </a:xfrm>
          <a:prstGeom prst="rect">
            <a:avLst/>
          </a:prstGeom>
          <a:solidFill>
            <a:srgbClr val="FFFFFF"/>
          </a:solidFill>
          <a:ln w="15875">
            <a:solidFill>
              <a:srgbClr val="0079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3304032"/>
            <a:ext cx="4114800" cy="402336"/>
          </a:xfrm>
          <a:prstGeom prst="rect">
            <a:avLst/>
          </a:prstGeom>
          <a:solidFill>
            <a:srgbClr val="007965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Factory로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3706368"/>
            <a:ext cx="411480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52400" indent="-1524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복잡한 조립 절차 자체를 별도 객체로 캡슐화한다.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Factory는 새 원칙이 아니다 — 교시9에서 예고된 GRASP Creator의 한계가 여기서 이름을 받은 것이다.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여섯 개념, 하나의 계보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16. Domain Service·Repository·Factory (OOAD 종합)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Larman이 안 준 것을 에반스가 얹었다 — 전부 이미 하던 판단의 이름이다.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여섯 개념을 한 줄로 정리하면?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총괄: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Entity·VO·Aggregate·Domain Service·Repository·Factory 전부 "개발자가 이미 풀던 문제"에 에반스가 붙인 이름이다.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313176"/>
            <a:ext cx="27127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313176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경계·값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697224"/>
            <a:ext cx="27127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Entity·VO·Aggregate — 무엇이 하나의 단위인가.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15640" y="3313176"/>
            <a:ext cx="27127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5640" y="3313176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로직·저장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15640" y="3697224"/>
            <a:ext cx="27127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Domain Service·Repository — 경계 안팎의 역할.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11240" y="3313176"/>
            <a:ext cx="27127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1240" y="3313176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11240" y="3697224"/>
            <a:ext cx="27127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Factory — 복잡한 조립을 캡슐화.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forward-ref: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Domain Event(도메인 안에서 벌어진 일의 알림)는 존재만 여기서 언급한다 — 인프로세스 처리는 아키텍처·MSA의 몫이다.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요약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16. Domain Service·Repository·Factory (OOAD 종합)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절차의 한계에서 시작해, 책임(GRASP)·내구성(SOLID)·경계(DDD)까지 왔다.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16교시를 가지고 다음 과정으로 무엇을 들고 가는가?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회수: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부0(동기·자세) → 부1(모델) → 부2(이름) → 부3(배치) → 부4(내구성·안전망) → 부5(경계) — 전 부가 한 방향으로 쌓였다.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2754721"/>
            <a:ext cx="8503920" cy="640751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754721"/>
            <a:ext cx="2606040" cy="640751"/>
          </a:xfrm>
          <a:prstGeom prst="rect">
            <a:avLst/>
          </a:prstGeom>
          <a:solidFill>
            <a:srgbClr val="EBF1F8"/>
          </a:solidFill>
          <a:ln/>
        </p:spPr>
        <p:txBody>
          <a:bodyPr wrap="square" lIns="72009" tIns="72009" rIns="72009" bIns="72009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개념까지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2754721"/>
            <a:ext cx="589788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ctr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DDD 전술은 여기서 개념까지 — craft(경계 설계)는 DDD 1일 과정.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505200"/>
            <a:ext cx="8503920" cy="640751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505200"/>
            <a:ext cx="2606040" cy="640751"/>
          </a:xfrm>
          <a:prstGeom prst="rect">
            <a:avLst/>
          </a:prstGeom>
          <a:solidFill>
            <a:srgbClr val="EBF1F8"/>
          </a:solidFill>
          <a:ln/>
        </p:spPr>
        <p:txBody>
          <a:bodyPr wrap="square" lIns="72009" tIns="72009" rIns="72009" bIns="72009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DIP·전술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6080" y="3505200"/>
            <a:ext cx="589788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ctr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본 경계·포트가 리치 도메인의 재료다 — 다음은 그 재료를 레이어로 조립한다.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4255679"/>
            <a:ext cx="8503920" cy="640751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255679"/>
            <a:ext cx="2606040" cy="640751"/>
          </a:xfrm>
          <a:prstGeom prst="rect">
            <a:avLst/>
          </a:prstGeom>
          <a:solidFill>
            <a:srgbClr val="EBF1F8"/>
          </a:solidFill>
          <a:ln/>
        </p:spPr>
        <p:txBody>
          <a:bodyPr wrap="square" lIns="72009" tIns="72009" rIns="72009" bIns="72009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판단은 항구적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6080" y="4255679"/>
            <a:ext cx="589788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ctr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용어는 새로워도(부0 명제) 판단은 여전히 사람의 몫이다.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OOAD가 준 개념(책임·경계)을 레이어로 조립하는 것이 SW 아키텍처 과정이다 — OOAD는 그 강제 선수다.</a:t>
            </a:r>
            <a:endParaRPr lang="en-US" sz="14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다음: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본 포트(PaymentPort 등)와 리치 도메인이 실제 레이어에서 어떻게 조립되는가.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2026-08-08T20:59:41Z</dcterms:created>
  <dcterms:modified xsi:type="dcterms:W3CDTF">2026-08-08T20:59:41Z</dcterms:modified>
</cp:coreProperties>
</file>