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tdd-source.md §A. 부4 마지막 교시. 배분 3분.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tdd-source.md §A.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tdd-source.md §B 도입부.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tdd-source.md §B(코드 축자).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tdd-source.md §B(코드 축자), "Green→Refactor를 codepair 2벌로" 지침대로 배치.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tdd-source.md §C — 이 교시의 핵심 장. 배분 6분.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정본: tdd-source.md §D. 배분 5분.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연결은 ooad-curriculum-2day.md 부 5(교시 15 "구성요소 개관·Entity·VO·Aggregate")로 이어진다. 배분 4분.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TDD로 설계 압력 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TDD로 설계 압력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434336" y="1024128"/>
            <a:ext cx="3218180" cy="513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TDD는 테스트 기법이 아니다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Red-Green-Refactor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→ Green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 → Refactor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리팩터의 나침반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TDD가 못 하는 것</a:t>
            </a:r>
            <a:endParaRPr lang="en-US" sz="1400" dirty="0"/>
          </a:p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학습 목표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TDD로 설계 압력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TDD가 설계 기법임을 알고, 리팩터의 방향을 원칙으로 설명할 수 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교시가 끝나면 무엇을 할 수 있는가?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도달점: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Red-Green-Refactor 한 사이클을 cancel()에 적용하고, Refactor의 방향을 GRASP·SOLID로 설명할 수 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227832"/>
            <a:ext cx="7955280" cy="119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교정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TDD가 테스트 기법이 아니라 설계 기법임을 안다.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사이클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Red-Green-Refactor 한 바퀴를 코드로 본다.</a:t>
            </a:r>
            <a:endParaRPr lang="en-US" sz="1400" dirty="0"/>
          </a:p>
          <a:p>
            <a:pPr algn="l" marL="177800" indent="-1778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나침반 — </a:t>
            </a:r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리팩터 방향은 원칙이 주고, 테스트는 안전망임을 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출발점: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교시13(SOLID)의 판단 도구가 오늘 리팩터의 나침반으로 다시 쓰인다.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TDD는 테스트 기법이 아니다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TDD로 설계 압력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[현상]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테스트는 부산물이다 — TDD가 정하는 것은 설계다.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TDD가 남기는 것은 테스트인가, 설계 판단인가?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교정: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테스트를 먼저 쓰면 구현 전에 "무엇이 있어야 하고 무엇을 던져야 하나"라는 계약이 먼저 선다 — 이게 설계 압력이다.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TDD = 커버리지를 위한 테스트 작성법.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404616"/>
            <a:ext cx="4160520" cy="84191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404616"/>
            <a:ext cx="41605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788664"/>
            <a:ext cx="416052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TDD = 구현보다 계약을 먼저 정하는 설계 절차.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기법으로만 보면 "왜 먼저 쓰나"를 놓친다 — 계약이 구현보다 먼저 서는 것이 핵심이다.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Red-Green-Refactor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TDD로 설계 압력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[원칙]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→ 최소 통과 → 원칙이 가리키는 방향으로 정리, 한 사이클.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단계는 각각 무엇을 정하는가?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Red(계약을 실패로 선언) → Green(딱 통과할 만큼만) → Refactor(원칙이 가리키는 구조로 정리).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없는 동작의 계약을 테스트로 먼저 던진다.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통과만 목표 — 인라인이어도, 못생겨도 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3313176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3313176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Refactor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697224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초록을 유지하며 원칙이 가리키는 구조로 옮긴다.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규율: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Green에서 미리 다듬지 않는다 — 다듬는 건 Refactor의 몫이다(단계를 섞지 않는다).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Red → Green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TDD로 설계 압력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실패하는 계약을 먼저 쓰고, 통과만 목표로 최소 구현한다.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전에 무엇이 먼저 정해지는가?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R5(취소 조건)·R6(전이 규칙)를 시연 규칙으로 쓴다 — 교시3·12에서 이미 다룬 그 규칙이다.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957149"/>
            <a:ext cx="4160520" cy="115163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957149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213181"/>
            <a:ext cx="4014216" cy="822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void cannotCancelAfterShipped()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 o = anOrder(); o.pay(); o.ship();</a:t>
            </a:r>
            <a:endParaRPr lang="en-US" sz="10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계약이 구현보다 먼저 선다 </a:t>
            </a:r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assertThrows(CancelNotAllowed.class, o::cancel);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957149"/>
            <a:ext cx="4160520" cy="115163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57149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213181"/>
            <a:ext cx="4014216" cy="822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cancel() {</a:t>
            </a:r>
            <a:endParaRPr lang="en-US" sz="10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인라인 조건 — 통과만 목표 </a:t>
            </a:r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(status == SHIPPED || status == DELIVERED)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CancelNotAllowed(status);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this.status = CANCELLED;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4200225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계약이 구현보다 먼저 서는가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cancel() 존재·CancelNotAllowed 던지는 계약이 Red에서 이미 정해졌다 — Green은 그 계약을 어기지 않은 채로만, 아름답지 않아도 통과만 한다.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Green → Refactor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TDD로 설계 압력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초록을 유지하며, 인라인 조건을 transitionTo로 뽑아낸다.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초록을 유지한 채 무엇이 바뀌는가?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동작은 그대로다 — 전이 조건을 흩어진 인라인에서 한 메서드(transitionTo)로 모은다.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2919684"/>
            <a:ext cx="4160520" cy="122656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919684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3175716"/>
            <a:ext cx="4014216" cy="8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cancel() {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인라인 조건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(status == SHIPPED || status == DELIVERED)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CancelNotAllowed(status);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this.status = CANCELLED;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919684"/>
            <a:ext cx="4160520" cy="1226566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919684"/>
            <a:ext cx="4160520" cy="25603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Refactor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6592" y="3175716"/>
            <a:ext cx="4014216" cy="897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cancel() { transitionTo(CANCELLED); }</a:t>
            </a:r>
            <a:endParaRPr lang="en-US" sz="11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transitionTo로 추출 </a:t>
            </a:r>
            <a:pPr algn="l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transitionTo(OrderStatus next) 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(!ALLOWED.get(status).contains(next))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new IllegalTransition(status, next); 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23769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물음: 전이 규칙이 어디에서 어디로 갔나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짚기: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테스트(Red)가 초록인 채로 옮겨졌다 — 깨지면 즉시 안다. 이 이동이 안전했는지는 테스트가, 이 방향이 맞는지는 다음 장의 원칙이 답한다.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리팩터의 나침반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TDD로 설계 압력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리팩터할지는 TDD가 아니라 GRASP·SOLID가 정한다.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transitionTo로 옮긴 방향은 무엇이 정했나?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분업: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TDD는 그 이동을 겁 없이 하게 하는 안전망이다 — 방향 자체는 원칙이 준다.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185160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18516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 Cohesion·Expert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569208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 규칙을 상태를 가진 Order 한 곳에 모은다.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15640" y="3185160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5640" y="318516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OCP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15640" y="3569208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전이가 생겨도 cancel()·pay()는 안 고친다.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11240" y="3185160"/>
            <a:ext cx="2712720" cy="1024799"/>
          </a:xfrm>
          <a:prstGeom prst="rect">
            <a:avLst/>
          </a:prstGeom>
          <a:solidFill>
            <a:srgbClr val="FFFFFF"/>
          </a:solidFill>
          <a:ln w="15875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1240" y="3185160"/>
            <a:ext cx="271272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1240" y="3569208"/>
            <a:ext cx="2712720" cy="64075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27000" indent="-1270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테스트가 초록인 채로 옮겼다 — 깨지면 즉시 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분업(원칙=방향, 테스트=안전망)이 없으면 "언제 멈추고 뭘 고칠지"를 감으로 하게 된다.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TDD가 못 하는 것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TDD로 설계 압력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[적용] </a:t>
            </a:r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테스트도 방향이 없으면 나쁜 설계를 못 막는다.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747431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TDD만으로 충분한가?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도구는 판단을 대체하지 않는다(부0 자세) — TDD는 안전망이지 판단 그 자체가 아니다.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67456"/>
            <a:ext cx="4114800" cy="860207"/>
          </a:xfrm>
          <a:prstGeom prst="rect">
            <a:avLst/>
          </a:prstGeom>
          <a:solidFill>
            <a:srgbClr val="FFFFFF"/>
          </a:solidFill>
          <a:ln w="15875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67456"/>
            <a:ext cx="4114800" cy="402336"/>
          </a:xfrm>
          <a:prstGeom prst="rect">
            <a:avLst/>
          </a:prstGeom>
          <a:solidFill>
            <a:srgbClr val="991B1B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TDD가 주는 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69792"/>
            <a:ext cx="411480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겁 없이 옮길 안전망(초록 유지 확인).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267456"/>
            <a:ext cx="4114800" cy="860207"/>
          </a:xfrm>
          <a:prstGeom prst="rect">
            <a:avLst/>
          </a:prstGeom>
          <a:solidFill>
            <a:srgbClr val="FFFFFF"/>
          </a:solidFill>
          <a:ln w="15875">
            <a:solidFill>
              <a:srgbClr val="0079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267456"/>
            <a:ext cx="4114800" cy="402336"/>
          </a:xfrm>
          <a:prstGeom prst="rect">
            <a:avLst/>
          </a:prstGeom>
          <a:solidFill>
            <a:srgbClr val="007965"/>
          </a:solidFill>
          <a:ln/>
        </p:spPr>
        <p:txBody>
          <a:bodyPr wrap="square" lIns="72009" tIns="72009" rIns="72009" bIns="72009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TDD가 못 주는 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669792"/>
            <a:ext cx="4114800" cy="457871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t"/>
          <a:lstStyle/>
          <a:p>
            <a:pPr marL="152400" indent="-152400">
              <a:spcBef>
                <a:spcPts val="300"/>
              </a:spcBef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옮길지의 판단(원칙의 몫).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forward-ref: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"원칙=방향, 테스트=안전망" 구도는 아키텍처 과정의 스파게티→TS→리치 리팩토링에서 그대로 재등장한다.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요약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731520"/>
            <a:ext cx="85039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922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37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 TDD로 설계 압력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0" y="6537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653796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Generated by Claude | Concepts, Requirements and feedback: Youngon Kim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테스트는 안전망, 방향은 원칙 — 이 분업이 부4의 결론이다.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25880"/>
            <a:ext cx="8503920" cy="1003463"/>
          </a:xfrm>
          <a:prstGeom prst="rect">
            <a:avLst/>
          </a:prstGeom>
          <a:solidFill>
            <a:srgbClr val="EBF1F8"/>
          </a:solidFill>
          <a:ln w="9525">
            <a:solidFill>
              <a:srgbClr val="CBD5E1"/>
            </a:solidFill>
          </a:ln>
        </p:spPr>
        <p:txBody>
          <a:bodyPr wrap="square" lIns="72009" tIns="72009" rIns="72009" bIns="72009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가지고 다음 부로 가는가?</a:t>
            </a:r>
            <a:endParaRPr lang="en-US" sz="1400" dirty="0"/>
          </a:p>
          <a:p>
            <a:pPr algn="l"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회수: </a:t>
            </a:r>
            <a:pPr algn="l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부3(GRASP)의 배치, 부4(SOLID·TDD)의 내구성·안전망을 거쳐, 다음은 그 배치의 "경계"를 정하는 DDD 전술이다.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002615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02615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교정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002615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TDD는 설계 기법이다 — 테스트는 부산물이다.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587831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587831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분업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587831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방향은 GRASP·SOLID, 안전망은 테스트.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4173047"/>
            <a:ext cx="850392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173047"/>
            <a:ext cx="2606040" cy="475488"/>
          </a:xfrm>
          <a:prstGeom prst="rect">
            <a:avLst/>
          </a:prstGeom>
          <a:solidFill>
            <a:srgbClr val="EBF1F8"/>
          </a:solidFill>
          <a:ln/>
        </p:spPr>
        <p:txBody>
          <a:bodyPr wrap="square" lIns="72009" tIns="72009" rIns="72009" bIns="72009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한계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173047"/>
            <a:ext cx="5897880" cy="475488"/>
          </a:xfrm>
          <a:prstGeom prst="rect">
            <a:avLst/>
          </a:prstGeom>
          <a:noFill/>
          <a:ln/>
        </p:spPr>
        <p:txBody>
          <a:bodyPr wrap="square" lIns="72009" tIns="72009" rIns="72009" bIns="72009" rtlCol="0" anchor="ctr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도구는 판단을 대체하지 않는다(부0 자세).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85039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39496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책임을 어디 둘지(GRASP)는 정했다 — 이제 무엇을 하나의 모델 경계로 볼지를 본다.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0796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다음: </a:t>
            </a:r>
            <a:pPr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Order라는 경계 자체는 무엇이 정하는가 — Entity·VO·Aggregate는 무엇이 다른가.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2026-08-08T20:59:40Z</dcterms:created>
  <dcterms:modified xsi:type="dcterms:W3CDTF">2026-08-08T20:59:40Z</dcterms:modified>
</cp:coreProperties>
</file>