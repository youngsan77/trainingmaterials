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교시9(GRASP 강의)를 아직 안 만들어 이 교시 03번 장이 정의를 짧게 재도입한다. 배분 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 0의 "절차지향의 한계"를 GRASP 렌즈로 다시 연다 — 같은 현상, 더 정밀한 어휘. 배분 4분.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정의는 짧게만 던진다(교시9에서 정식으로 다룰 자리). 여기서는 "질문 도구"라는 프레임만 세운다. 배분 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정본: ooad-lab-design.md 쌍 O-1(축자). 손가락으로 "누가 라인을 순회하나"를 짚게 한다. 배분 6분.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쌍 O-1은 lab-design.md 축자, 이 코드는 그 설명("절차: 바깥에서 new OrderLine 조립 → 객체: Order.addLine이 생성·검증 소유")에서 이번에 지었다. 배분 6분.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정본: ooad-lab-design.md 쌍 O-3의 설명에서 이번에 코드를 지었다(원문엔 코드가 없었다). 다음 교시(11)의 통짜 대조(PlaceOrder 2벌)가 이 세 쌍을 한 유스케이스로 합친다. 배분 6분.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연결은 ooad-lab-design.md 부3 (b) 통짜 대조(PlaceOrder 2벌)로 이어진다(교시 11 예정). 배분 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 목차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622804" y="1024128"/>
            <a:ext cx="2747010" cy="513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책임이 잘못 놓인 코드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 개관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계산의 책임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생성의 책임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결합과 응집</a:t>
            </a:r>
            <a:endParaRPr lang="en-US" sz="1400" dirty="0"/>
          </a:p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07.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학습 목표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절차적 코드를 여러 번 객체 협력으로 옮겨 보고, 책임이 어디로 가는지 손으로 짚는다.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1003463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교시가 끝나면 무엇을 할 수 있는가?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도달점: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Information Expert·Creator·Low Coupling·High Cohesion 네 원칙으로 코드 두 벌을 보고 책임이 어디로 갔는지 짚을 수 있다.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227832"/>
            <a:ext cx="7955280" cy="1195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 코드에서 책임이 실제로 어디 놓여 있는지 짚는다.</a:t>
            </a:r>
            <a:endParaRPr lang="en-US" sz="1400" dirty="0"/>
          </a:p>
          <a:p>
            <a:pPr algn="l" marL="177800" indent="-1778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원칙 —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 네 원칙의 이름과 뜻을 안다.</a:t>
            </a:r>
            <a:endParaRPr lang="en-US" sz="1400" dirty="0"/>
          </a:p>
          <a:p>
            <a:pPr algn="l" marL="177800" indent="-1778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쌍의 코드 대조에서 책임 이동을 손가락으로 짚는다.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출발점: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 0에서 세운 동기(데이터와 규칙을 한 곳에)를 손으로 확인하는 자리다.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책임이 잘못 놓인 코드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[현상] </a:t>
            </a:r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계산도 생성도 역할 구분도 전부 바깥 코드가 떠맡는다.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1003463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코드에서 "누가 담당인지"를 어떻게 알 수 있는가?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가진 객체가 스스로 하지 않으면, 그 데이터를 아는 모든 바깥 코드가 각자 다시 그 일을 한다.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275076"/>
            <a:ext cx="4160520" cy="1100999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275076"/>
            <a:ext cx="4160520" cy="384048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계산이 바깥에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659124"/>
            <a:ext cx="4160520" cy="716951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t"/>
          <a:lstStyle/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합계를 서비스 함수가 라인을 순회하며 계산한다.</a:t>
            </a:r>
            <a:endParaRPr lang="en-US" sz="1200" dirty="0"/>
          </a:p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로직이 필요한 곳마다 복제된다.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3275076"/>
            <a:ext cx="4160520" cy="1100999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275076"/>
            <a:ext cx="4160520" cy="384048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역할이 안 나뉨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3659124"/>
            <a:ext cx="4160520" cy="716951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t"/>
          <a:lstStyle/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클래스가 주문·결제·배송을 전부 안다.</a:t>
            </a:r>
            <a:endParaRPr lang="en-US" sz="1200" dirty="0"/>
          </a:p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고치면 나머지도 흔들린다.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991B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셋(계산·생성·역할)은 부 3에서 그대로 세 쌍의 대조가 된다.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GRASP 개관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[원칙] </a:t>
            </a:r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책임을 어디 둘지는 네 가지 질문으로 정한다.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747431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책임은 누가 맡아야 하는가?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GRASP는 책임 배치를 위한 질문 모음이다 — 정답표가 아니라 판단 도구다.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185160"/>
            <a:ext cx="2712720" cy="1024799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185160"/>
            <a:ext cx="2712720" cy="384048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Information Expert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569208"/>
            <a:ext cx="2712720" cy="640751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t"/>
          <a:lstStyle/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데이터를 가진 자가 그 일을 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15640" y="3185160"/>
            <a:ext cx="2712720" cy="1024799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5640" y="3185160"/>
            <a:ext cx="2712720" cy="384048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Creator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15640" y="3569208"/>
            <a:ext cx="2712720" cy="640751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t"/>
          <a:lstStyle/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조립에 필요한 데이터를 가장 많이 가진 자가 생성한다.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11240" y="3185160"/>
            <a:ext cx="2712720" cy="1024799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240" y="3185160"/>
            <a:ext cx="2712720" cy="384048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Coupling / High Cohesion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11240" y="3569208"/>
            <a:ext cx="2712720" cy="640751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t"/>
          <a:lstStyle/>
          <a:p>
            <a:pPr marL="127000" indent="-127000">
              <a:spcBef>
                <a:spcPts val="300"/>
              </a:spcBef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알수록 낮은 결합, 한 가지만 하면 높은 응집.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세 장에서 이 네 원칙을 실제 코드 두 벌씩 대조해 확인한다.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합계 계산의 책임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[적용] </a:t>
            </a:r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가진 자가 스스로 계산하게 한다.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747431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합계를 누가 계산해야 하는가?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Information Expert — 필요한 데이터를 가장 잘 아는 객체가 그 일을 한다.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002107"/>
            <a:ext cx="4160520" cy="1061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002107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" y="3258139"/>
            <a:ext cx="401421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 total = Money.ZERO;</a:t>
            </a:r>
            <a:endParaRPr lang="en-US" sz="11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데이터 순회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(var line : order.getLines())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total.add(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line.getPrice().times(line.getQty()));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002107"/>
            <a:ext cx="4160520" cy="1061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002107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3258139"/>
            <a:ext cx="401421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Information Expert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 total = order.total();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Order.total():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lines가 스스로 subtotal을 알고 합산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0040" y="4155267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물음: 계산 책임이 어디에서 어디로 갔나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짚기: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절차가 라인을 순회하던 계산이 order.total() 하나로 줄었다 — 계산 지식이 데이터를 가진 쪽으로 옮겨갔다.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생성의 책임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[적용] </a:t>
            </a:r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조립에 필요한 데이터를 가장 많이 가진 자가 만든다.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747431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라인은 누가 만들고 검증해야 하는가?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Creator — Order가 자기 라인의 구성·검증 규칙을 가장 잘 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919684"/>
            <a:ext cx="4160520" cy="1226566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919684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" y="3175716"/>
            <a:ext cx="4014216" cy="897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(qty &lt; 1)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IllegalArgumentException("qty");</a:t>
            </a:r>
            <a:endParaRPr lang="en-US" sz="11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조립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OrderLine line =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OrderLine(productId, qty, price);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order.getLines().add(line);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2919684"/>
            <a:ext cx="4160520" cy="1226566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919684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3175716"/>
            <a:ext cx="4014216" cy="897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Creator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order.addLine(productId, qty, price);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Order.addLine():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검증 + 생성을 한곳에서 소유(Creator)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0040" y="423769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물음: 생성·검증 책임이 어디에서 어디로 갔나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짚기: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검증과 생성이 바깥 두 줄에서 order.addLine() 하나로 — 잘못된 라인을 만들 방법이 사라졌다.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결합과 응집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[적용] </a:t>
            </a:r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클래스가 다 아는 것과, 각자 하나만 아는 것의 차이.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747431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클래스가 주문·결제·배송을 다 알아야 하는가?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GRASP: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Coupling·High Cohesion — 적게 알수록 결합이 낮고, 한 가지만 하면 응집이 높다.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919684"/>
            <a:ext cx="4160520" cy="1226566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919684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" y="3175716"/>
            <a:ext cx="4014216" cy="897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저응집·고결합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OrderManager {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placeOrder(...) { ... }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chargePayment(...) { ... }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arrangeShipping(...) { ... }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2919684"/>
            <a:ext cx="4160520" cy="1226566"/>
          </a:xfrm>
          <a:prstGeom prst="rect">
            <a:avLst/>
          </a:prstGeom>
          <a:solidFill>
            <a:srgbClr val="FFFFFF"/>
          </a:solidFill>
          <a:ln w="15875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919684"/>
            <a:ext cx="4160520" cy="256032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lIns="72009" tIns="72009" rIns="72009" bIns="72009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3175716"/>
            <a:ext cx="4014216" cy="897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Cohesion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Order { void addLine(...) {..} }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Coupling </a:t>
            </a:r>
            <a:pPr algn="l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PaymentPort { Result charge(...) {..} }</a:t>
            </a:r>
            <a:endParaRPr lang="en-US" sz="9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ShippingPort { void ship(...) {..} 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0040" y="423769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물음: 역할이 왜 나뉘어야 하나 — 결제 방식이 바뀌면 어느 쪽이 덜 흔들리나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짚기: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클래스가 셋을 다 알던 것이 셋으로 나뉘었다 — 결제 방식이 바뀌어도 PaymentPort만 흔들린다.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07. 요약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731520"/>
            <a:ext cx="850392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4922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5379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책임 분배 실습 (GRASP 1)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0" y="65379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653796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Generated by Claude | Concepts, Requirements and feedback: Youngon Kim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8686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책임은 데이터를 가장 잘 아는 자에게 간다 — 계산도, 생성도, 역할도.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25880"/>
            <a:ext cx="8503920" cy="1003463"/>
          </a:xfrm>
          <a:prstGeom prst="rect">
            <a:avLst/>
          </a:prstGeom>
          <a:solidFill>
            <a:srgbClr val="EBF1F8"/>
          </a:solidFill>
          <a:ln w="9525">
            <a:solidFill>
              <a:srgbClr val="CBD5E1"/>
            </a:solidFill>
          </a:ln>
        </p:spPr>
        <p:txBody>
          <a:bodyPr wrap="square" lIns="72009" tIns="72009" rIns="72009" bIns="72009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가지고 다음 교시로 가는가?</a:t>
            </a:r>
            <a:endParaRPr lang="en-US" sz="14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회수: </a:t>
            </a:r>
            <a:pPr algn="l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교시에서 짚은 세 쌍(계산·생성·응집)을 다음 교시의 통짜 대조에서 한 유스케이스로 합친다.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002615"/>
            <a:ext cx="8503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002615"/>
            <a:ext cx="2606040" cy="475488"/>
          </a:xfrm>
          <a:prstGeom prst="rect">
            <a:avLst/>
          </a:prstGeom>
          <a:solidFill>
            <a:srgbClr val="EBF1F8"/>
          </a:solidFill>
          <a:ln/>
        </p:spPr>
        <p:txBody>
          <a:bodyPr wrap="square" lIns="72009" tIns="72009" rIns="72009" bIns="72009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Information Expert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3002615"/>
            <a:ext cx="5897880" cy="475488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ctr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합계는 order.total()이 스스로 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587831"/>
            <a:ext cx="8503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587831"/>
            <a:ext cx="2606040" cy="475488"/>
          </a:xfrm>
          <a:prstGeom prst="rect">
            <a:avLst/>
          </a:prstGeom>
          <a:solidFill>
            <a:srgbClr val="EBF1F8"/>
          </a:solidFill>
          <a:ln/>
        </p:spPr>
        <p:txBody>
          <a:bodyPr wrap="square" lIns="72009" tIns="72009" rIns="72009" bIns="72009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Creator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26080" y="3587831"/>
            <a:ext cx="5897880" cy="475488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ctr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라인 생성·검증은 order.addLine()이 함께 갖는다.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173047"/>
            <a:ext cx="8503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4173047"/>
            <a:ext cx="2606040" cy="475488"/>
          </a:xfrm>
          <a:prstGeom prst="rect">
            <a:avLst/>
          </a:prstGeom>
          <a:solidFill>
            <a:srgbClr val="EBF1F8"/>
          </a:solidFill>
          <a:ln/>
        </p:spPr>
        <p:txBody>
          <a:bodyPr wrap="square" lIns="72009" tIns="72009" rIns="72009" bIns="72009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Low Coupling·High Cohesion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4173047"/>
            <a:ext cx="5897880" cy="475488"/>
          </a:xfrm>
          <a:prstGeom prst="rect">
            <a:avLst/>
          </a:prstGeom>
          <a:noFill/>
          <a:ln/>
        </p:spPr>
        <p:txBody>
          <a:bodyPr wrap="square" lIns="72009" tIns="72009" rIns="72009" bIns="72009" rtlCol="0" anchor="ctr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주문·결제·배송은 각자의 클래스로 나뉜다.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5212080"/>
            <a:ext cx="850392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53949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A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다음: 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쌍을 한 유스케이스(PlaceOrder)로 합쳐서 통짜로 대조한다.</a:t>
            </a:r>
            <a:endParaRPr lang="en-US" sz="14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007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다음: </a:t>
            </a:r>
            <a:pPr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 버전과 객체 협력 버전, PlaceOrder 하나를 통짜로 대조하면 무엇이 다른가.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2026-08-08T20:59:39Z</dcterms:created>
  <dcterms:modified xsi:type="dcterms:W3CDTF">2026-08-08T20:59:39Z</dcterms:modified>
</cp:coreProperties>
</file>