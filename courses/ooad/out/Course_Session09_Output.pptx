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9144000" cy="6858000"/>
  <p:notesSz cx="68580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정본: grasp-source.md §A~D. 배분 3분.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정본: grasp-source.md §A-1. 배분 4분.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정본: grasp-source.md §A-2. 배분 4분.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정본: grasp-source.md §A-3. 배분 4분.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정본: grasp-source.md §B-1(코드 축자, 3클래스 협력을 압축). 배분 6분.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정본: grasp-source.md §B-2(코드는 산문 "Sale이 makeLineItem() 책임"에서 옮김). 배분 6분.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정본: grasp-source.md §B-3(Register 코드 축자). 배분 6분.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정본: grasp-source.md §B-4(코드 없음 — 산문 추론을 코드로 옮김). 배분 5분.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정본: grasp-source.md §B-5(코드 없음 — 산문 추론을 코드로 옮김). 배분 5분.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정본: grasp-source.md §B-6(코드 축자). 배분 5분.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정본: grasp-source.md §C-1~C-3. 배분 6분.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정본: grasp-source.md §D. 다음 연결은 교시10(책임 분배 실습)으로 이어진다 — 도메인만 바뀐다(NewPOS→Order), 추론 절차는 같다. 배분 5분.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20040" y="182880"/>
            <a:ext cx="8503920" cy="457200"/>
          </a:xfrm>
          <a:prstGeom prst="rect">
            <a:avLst/>
          </a:prstGeom>
          <a:noFill/>
          <a:ln/>
        </p:spPr>
        <p:txBody>
          <a:bodyPr wrap="square" lIns="0" tIns="0" rIns="0" bIns="0" rtlCol="0" anchor="ctr"/>
          <a:lstStyle/>
          <a:p>
            <a:pPr algn="l" indent="0" marL="0">
              <a:buNone/>
            </a:pPr>
            <a:r>
              <a:rPr lang="en-US" sz="2200" b="1" dirty="0">
                <a:solidFill>
                  <a:srgbClr val="1B3A6B"/>
                </a:solidFill>
                <a:latin typeface="맑은 고딕" pitchFamily="34" charset="0"/>
                <a:ea typeface="맑은 고딕" pitchFamily="34" charset="-122"/>
                <a:cs typeface="맑은 고딕" pitchFamily="34" charset="-120"/>
              </a:rPr>
              <a:t>9. 책임 주도 설계(GRASP) 강의 목차</a:t>
            </a:r>
            <a:endParaRPr lang="en-US" sz="2200" dirty="0"/>
          </a:p>
        </p:txBody>
      </p:sp>
      <p:sp>
        <p:nvSpPr>
          <p:cNvPr id="3" name="Shape 1"/>
          <p:cNvSpPr/>
          <p:nvPr/>
        </p:nvSpPr>
        <p:spPr>
          <a:xfrm>
            <a:off x="320040" y="731520"/>
            <a:ext cx="8503920" cy="0"/>
          </a:xfrm>
          <a:prstGeom prst="line">
            <a:avLst/>
          </a:prstGeom>
          <a:noFill/>
          <a:ln w="19050">
            <a:solidFill>
              <a:srgbClr val="1B3A6B"/>
            </a:solidFill>
            <a:prstDash val="solid"/>
          </a:ln>
        </p:spPr>
      </p:sp>
      <p:sp>
        <p:nvSpPr>
          <p:cNvPr id="4" name="Shape 2"/>
          <p:cNvSpPr/>
          <p:nvPr/>
        </p:nvSpPr>
        <p:spPr>
          <a:xfrm>
            <a:off x="320040" y="6492240"/>
            <a:ext cx="8503920" cy="0"/>
          </a:xfrm>
          <a:prstGeom prst="line">
            <a:avLst/>
          </a:prstGeom>
          <a:noFill/>
          <a:ln w="6350">
            <a:solidFill>
              <a:srgbClr val="CBD5E1"/>
            </a:solidFill>
            <a:prstDash val="solid"/>
          </a:ln>
        </p:spPr>
      </p:sp>
      <p:sp>
        <p:nvSpPr>
          <p:cNvPr id="5" name="Text 3"/>
          <p:cNvSpPr/>
          <p:nvPr/>
        </p:nvSpPr>
        <p:spPr>
          <a:xfrm>
            <a:off x="320040" y="6537960"/>
            <a:ext cx="3657600" cy="182880"/>
          </a:xfrm>
          <a:prstGeom prst="rect">
            <a:avLst/>
          </a:prstGeom>
          <a:noFill/>
          <a:ln/>
        </p:spPr>
        <p:txBody>
          <a:bodyPr wrap="square" lIns="0" tIns="0" rIns="0" bIns="0" rtlCol="0" anchor="ctr"/>
          <a:lstStyle/>
          <a:p>
            <a:pPr indent="0" marL="0">
              <a:buNone/>
            </a:pPr>
            <a:r>
              <a:rPr lang="en-US" sz="800" dirty="0">
                <a:solidFill>
                  <a:srgbClr val="6B7280"/>
                </a:solidFill>
                <a:latin typeface="맑은 고딕" pitchFamily="34" charset="0"/>
                <a:ea typeface="맑은 고딕" pitchFamily="34" charset="-122"/>
                <a:cs typeface="맑은 고딕" pitchFamily="34" charset="-120"/>
              </a:rPr>
              <a:t>9. 책임 주도 설계(GRASP) 강의</a:t>
            </a:r>
            <a:endParaRPr lang="en-US" sz="800" dirty="0"/>
          </a:p>
        </p:txBody>
      </p:sp>
      <p:sp>
        <p:nvSpPr>
          <p:cNvPr id="6" name="Text 4"/>
          <p:cNvSpPr/>
          <p:nvPr/>
        </p:nvSpPr>
        <p:spPr>
          <a:xfrm>
            <a:off x="4114800" y="6537960"/>
            <a:ext cx="914400" cy="182880"/>
          </a:xfrm>
          <a:prstGeom prst="rect">
            <a:avLst/>
          </a:prstGeom>
          <a:noFill/>
          <a:ln/>
        </p:spPr>
        <p:txBody>
          <a:bodyPr wrap="square" lIns="0" tIns="0" rIns="0" bIns="0" rtlCol="0" anchor="ctr"/>
          <a:lstStyle/>
          <a:p>
            <a:pPr algn="ctr" indent="0" marL="0">
              <a:buNone/>
            </a:pPr>
            <a:r>
              <a:rPr lang="en-US" sz="800" dirty="0">
                <a:solidFill>
                  <a:srgbClr val="6B7280"/>
                </a:solidFill>
                <a:latin typeface="맑은 고딕" pitchFamily="34" charset="0"/>
                <a:ea typeface="맑은 고딕" pitchFamily="34" charset="-122"/>
                <a:cs typeface="맑은 고딕" pitchFamily="34" charset="-120"/>
              </a:rPr>
              <a:t>1</a:t>
            </a:r>
            <a:endParaRPr lang="en-US" sz="800" dirty="0"/>
          </a:p>
        </p:txBody>
      </p:sp>
      <p:sp>
        <p:nvSpPr>
          <p:cNvPr id="7" name="Text 5"/>
          <p:cNvSpPr/>
          <p:nvPr/>
        </p:nvSpPr>
        <p:spPr>
          <a:xfrm>
            <a:off x="4572000" y="6537960"/>
            <a:ext cx="4251960" cy="182880"/>
          </a:xfrm>
          <a:prstGeom prst="rect">
            <a:avLst/>
          </a:prstGeom>
          <a:noFill/>
          <a:ln/>
        </p:spPr>
        <p:txBody>
          <a:bodyPr wrap="square" lIns="0" tIns="0" rIns="0" bIns="0" rtlCol="0" anchor="ctr"/>
          <a:lstStyle/>
          <a:p>
            <a:pPr algn="r" indent="0" marL="0">
              <a:buNone/>
            </a:pPr>
            <a:r>
              <a:rPr lang="en-US" sz="800" dirty="0">
                <a:solidFill>
                  <a:srgbClr val="6B7280"/>
                </a:solidFill>
                <a:latin typeface="맑은 고딕" pitchFamily="34" charset="0"/>
                <a:ea typeface="맑은 고딕" pitchFamily="34" charset="-122"/>
                <a:cs typeface="맑은 고딕" pitchFamily="34" charset="-120"/>
              </a:rPr>
              <a:t>Generated by Claude | Concepts, Requirements and feedback: Youngon Kim</a:t>
            </a:r>
            <a:endParaRPr lang="en-US" sz="800" dirty="0"/>
          </a:p>
        </p:txBody>
      </p:sp>
      <p:sp>
        <p:nvSpPr>
          <p:cNvPr id="8" name="Text 6"/>
          <p:cNvSpPr/>
          <p:nvPr/>
        </p:nvSpPr>
        <p:spPr>
          <a:xfrm>
            <a:off x="2174748" y="1024128"/>
            <a:ext cx="3867150" cy="5138928"/>
          </a:xfrm>
          <a:prstGeom prst="rect">
            <a:avLst/>
          </a:prstGeom>
          <a:noFill/>
          <a:ln/>
        </p:spPr>
        <p:txBody>
          <a:bodyPr wrap="square" lIns="0" tIns="0" rIns="0" bIns="0" rtlCol="0" anchor="t"/>
          <a:lstStyle/>
          <a:p>
            <a:pPr algn="l" indent="0" marL="0">
              <a:spcBef>
                <a:spcPts val="300"/>
              </a:spcBef>
              <a:spcAft>
                <a:spcPts val="300"/>
              </a:spcAft>
              <a:buNone/>
            </a:pPr>
            <a:r>
              <a:rPr lang="en-US" sz="1400" b="1" dirty="0">
                <a:solidFill>
                  <a:srgbClr val="1B3A6B"/>
                </a:solidFill>
                <a:latin typeface="맑은 고딕" pitchFamily="34" charset="0"/>
                <a:ea typeface="맑은 고딕" pitchFamily="34" charset="-122"/>
                <a:cs typeface="맑은 고딕" pitchFamily="34" charset="-120"/>
              </a:rPr>
              <a:t>01. </a:t>
            </a:r>
            <a:pPr algn="l" indent="0" marL="0">
              <a:spcBef>
                <a:spcPts val="300"/>
              </a:spcBef>
              <a:spcAft>
                <a:spcPts val="300"/>
              </a:spcAft>
              <a:buNone/>
            </a:pPr>
            <a:r>
              <a:rPr lang="en-US" sz="1400" dirty="0">
                <a:solidFill>
                  <a:srgbClr val="2D3748"/>
                </a:solidFill>
                <a:latin typeface="맑은 고딕" pitchFamily="34" charset="0"/>
                <a:ea typeface="맑은 고딕" pitchFamily="34" charset="-122"/>
                <a:cs typeface="맑은 고딕" pitchFamily="34" charset="-120"/>
              </a:rPr>
              <a:t>학습 목표</a:t>
            </a:r>
            <a:endParaRPr lang="en-US" sz="1400" dirty="0"/>
          </a:p>
          <a:p>
            <a:pPr algn="l" indent="0" marL="0">
              <a:spcBef>
                <a:spcPts val="300"/>
              </a:spcBef>
              <a:spcAft>
                <a:spcPts val="300"/>
              </a:spcAft>
              <a:buNone/>
            </a:pPr>
            <a:r>
              <a:rPr lang="en-US" sz="1400" b="1" dirty="0">
                <a:solidFill>
                  <a:srgbClr val="1B3A6B"/>
                </a:solidFill>
                <a:latin typeface="맑은 고딕" pitchFamily="34" charset="0"/>
                <a:ea typeface="맑은 고딕" pitchFamily="34" charset="-122"/>
                <a:cs typeface="맑은 고딕" pitchFamily="34" charset="-120"/>
              </a:rPr>
              <a:t>02. </a:t>
            </a:r>
            <a:pPr algn="l" indent="0" marL="0">
              <a:spcBef>
                <a:spcPts val="300"/>
              </a:spcBef>
              <a:spcAft>
                <a:spcPts val="300"/>
              </a:spcAft>
              <a:buNone/>
            </a:pPr>
            <a:r>
              <a:rPr lang="en-US" sz="1400" dirty="0">
                <a:solidFill>
                  <a:srgbClr val="2D3748"/>
                </a:solidFill>
                <a:latin typeface="맑은 고딕" pitchFamily="34" charset="0"/>
                <a:ea typeface="맑은 고딕" pitchFamily="34" charset="-122"/>
                <a:cs typeface="맑은 고딕" pitchFamily="34" charset="-120"/>
              </a:rPr>
              <a:t>설계란 무엇인가</a:t>
            </a:r>
            <a:endParaRPr lang="en-US" sz="1400" dirty="0"/>
          </a:p>
          <a:p>
            <a:pPr algn="l" indent="0" marL="0">
              <a:spcBef>
                <a:spcPts val="300"/>
              </a:spcBef>
              <a:spcAft>
                <a:spcPts val="300"/>
              </a:spcAft>
              <a:buNone/>
            </a:pPr>
            <a:r>
              <a:rPr lang="en-US" sz="1400" b="1" dirty="0">
                <a:solidFill>
                  <a:srgbClr val="1B3A6B"/>
                </a:solidFill>
                <a:latin typeface="맑은 고딕" pitchFamily="34" charset="0"/>
                <a:ea typeface="맑은 고딕" pitchFamily="34" charset="-122"/>
                <a:cs typeface="맑은 고딕" pitchFamily="34" charset="-120"/>
              </a:rPr>
              <a:t>03. </a:t>
            </a:r>
            <a:pPr algn="l" indent="0" marL="0">
              <a:spcBef>
                <a:spcPts val="300"/>
              </a:spcBef>
              <a:spcAft>
                <a:spcPts val="300"/>
              </a:spcAft>
              <a:buNone/>
            </a:pPr>
            <a:r>
              <a:rPr lang="en-US" sz="1400" dirty="0">
                <a:solidFill>
                  <a:srgbClr val="2D3748"/>
                </a:solidFill>
                <a:latin typeface="맑은 고딕" pitchFamily="34" charset="0"/>
                <a:ea typeface="맑은 고딕" pitchFamily="34" charset="-122"/>
                <a:cs typeface="맑은 고딕" pitchFamily="34" charset="-120"/>
              </a:rPr>
              <a:t>왜 책임이 설계의 단위인가</a:t>
            </a:r>
            <a:endParaRPr lang="en-US" sz="1400" dirty="0"/>
          </a:p>
          <a:p>
            <a:pPr algn="l" indent="0" marL="0">
              <a:spcBef>
                <a:spcPts val="300"/>
              </a:spcBef>
              <a:spcAft>
                <a:spcPts val="300"/>
              </a:spcAft>
              <a:buNone/>
            </a:pPr>
            <a:r>
              <a:rPr lang="en-US" sz="1400" b="1" dirty="0">
                <a:solidFill>
                  <a:srgbClr val="1B3A6B"/>
                </a:solidFill>
                <a:latin typeface="맑은 고딕" pitchFamily="34" charset="0"/>
                <a:ea typeface="맑은 고딕" pitchFamily="34" charset="-122"/>
                <a:cs typeface="맑은 고딕" pitchFamily="34" charset="-120"/>
              </a:rPr>
              <a:t>04. </a:t>
            </a:r>
            <a:pPr algn="l" indent="0" marL="0">
              <a:spcBef>
                <a:spcPts val="300"/>
              </a:spcBef>
              <a:spcAft>
                <a:spcPts val="300"/>
              </a:spcAft>
              <a:buNone/>
            </a:pPr>
            <a:r>
              <a:rPr lang="en-US" sz="1400" dirty="0">
                <a:solidFill>
                  <a:srgbClr val="2D3748"/>
                </a:solidFill>
                <a:latin typeface="맑은 고딕" pitchFamily="34" charset="0"/>
                <a:ea typeface="맑은 고딕" pitchFamily="34" charset="-122"/>
                <a:cs typeface="맑은 고딕" pitchFamily="34" charset="-120"/>
              </a:rPr>
              <a:t>책임 주도 설계를 돕는 도구들</a:t>
            </a:r>
            <a:endParaRPr lang="en-US" sz="1400" dirty="0"/>
          </a:p>
          <a:p>
            <a:pPr algn="l" indent="0" marL="0">
              <a:spcBef>
                <a:spcPts val="300"/>
              </a:spcBef>
              <a:spcAft>
                <a:spcPts val="300"/>
              </a:spcAft>
              <a:buNone/>
            </a:pPr>
            <a:r>
              <a:rPr lang="en-US" sz="1400" b="1" dirty="0">
                <a:solidFill>
                  <a:srgbClr val="1B3A6B"/>
                </a:solidFill>
                <a:latin typeface="맑은 고딕" pitchFamily="34" charset="0"/>
                <a:ea typeface="맑은 고딕" pitchFamily="34" charset="-122"/>
                <a:cs typeface="맑은 고딕" pitchFamily="34" charset="-120"/>
              </a:rPr>
              <a:t>05. </a:t>
            </a:r>
            <a:pPr algn="l" indent="0" marL="0">
              <a:spcBef>
                <a:spcPts val="300"/>
              </a:spcBef>
              <a:spcAft>
                <a:spcPts val="300"/>
              </a:spcAft>
              <a:buNone/>
            </a:pPr>
            <a:r>
              <a:rPr lang="en-US" sz="1400" dirty="0">
                <a:solidFill>
                  <a:srgbClr val="2D3748"/>
                </a:solidFill>
                <a:latin typeface="맑은 고딕" pitchFamily="34" charset="0"/>
                <a:ea typeface="맑은 고딕" pitchFamily="34" charset="-122"/>
                <a:cs typeface="맑은 고딕" pitchFamily="34" charset="-120"/>
              </a:rPr>
              <a:t>정보 전문가(Information Expert)</a:t>
            </a:r>
            <a:endParaRPr lang="en-US" sz="1400" dirty="0"/>
          </a:p>
          <a:p>
            <a:pPr algn="l" indent="0" marL="0">
              <a:spcBef>
                <a:spcPts val="300"/>
              </a:spcBef>
              <a:spcAft>
                <a:spcPts val="300"/>
              </a:spcAft>
              <a:buNone/>
            </a:pPr>
            <a:r>
              <a:rPr lang="en-US" sz="1400" b="1" dirty="0">
                <a:solidFill>
                  <a:srgbClr val="1B3A6B"/>
                </a:solidFill>
                <a:latin typeface="맑은 고딕" pitchFamily="34" charset="0"/>
                <a:ea typeface="맑은 고딕" pitchFamily="34" charset="-122"/>
                <a:cs typeface="맑은 고딕" pitchFamily="34" charset="-120"/>
              </a:rPr>
              <a:t>06. </a:t>
            </a:r>
            <a:pPr algn="l" indent="0" marL="0">
              <a:spcBef>
                <a:spcPts val="300"/>
              </a:spcBef>
              <a:spcAft>
                <a:spcPts val="300"/>
              </a:spcAft>
              <a:buNone/>
            </a:pPr>
            <a:r>
              <a:rPr lang="en-US" sz="1400" dirty="0">
                <a:solidFill>
                  <a:srgbClr val="2D3748"/>
                </a:solidFill>
                <a:latin typeface="맑은 고딕" pitchFamily="34" charset="0"/>
                <a:ea typeface="맑은 고딕" pitchFamily="34" charset="-122"/>
                <a:cs typeface="맑은 고딕" pitchFamily="34" charset="-120"/>
              </a:rPr>
              <a:t>창조자(Creator)</a:t>
            </a:r>
            <a:endParaRPr lang="en-US" sz="1400" dirty="0"/>
          </a:p>
          <a:p>
            <a:pPr algn="l" indent="0" marL="0">
              <a:spcBef>
                <a:spcPts val="300"/>
              </a:spcBef>
              <a:spcAft>
                <a:spcPts val="300"/>
              </a:spcAft>
              <a:buNone/>
            </a:pPr>
            <a:r>
              <a:rPr lang="en-US" sz="1400" b="1" dirty="0">
                <a:solidFill>
                  <a:srgbClr val="1B3A6B"/>
                </a:solidFill>
                <a:latin typeface="맑은 고딕" pitchFamily="34" charset="0"/>
                <a:ea typeface="맑은 고딕" pitchFamily="34" charset="-122"/>
                <a:cs typeface="맑은 고딕" pitchFamily="34" charset="-120"/>
              </a:rPr>
              <a:t>07. </a:t>
            </a:r>
            <a:pPr algn="l" indent="0" marL="0">
              <a:spcBef>
                <a:spcPts val="300"/>
              </a:spcBef>
              <a:spcAft>
                <a:spcPts val="300"/>
              </a:spcAft>
              <a:buNone/>
            </a:pPr>
            <a:r>
              <a:rPr lang="en-US" sz="1400" dirty="0">
                <a:solidFill>
                  <a:srgbClr val="2D3748"/>
                </a:solidFill>
                <a:latin typeface="맑은 고딕" pitchFamily="34" charset="0"/>
                <a:ea typeface="맑은 고딕" pitchFamily="34" charset="-122"/>
                <a:cs typeface="맑은 고딕" pitchFamily="34" charset="-120"/>
              </a:rPr>
              <a:t>제어자(Controller)</a:t>
            </a:r>
            <a:endParaRPr lang="en-US" sz="1400" dirty="0"/>
          </a:p>
          <a:p>
            <a:pPr algn="l" indent="0" marL="0">
              <a:spcBef>
                <a:spcPts val="300"/>
              </a:spcBef>
              <a:spcAft>
                <a:spcPts val="300"/>
              </a:spcAft>
              <a:buNone/>
            </a:pPr>
            <a:r>
              <a:rPr lang="en-US" sz="1400" b="1" dirty="0">
                <a:solidFill>
                  <a:srgbClr val="1B3A6B"/>
                </a:solidFill>
                <a:latin typeface="맑은 고딕" pitchFamily="34" charset="0"/>
                <a:ea typeface="맑은 고딕" pitchFamily="34" charset="-122"/>
                <a:cs typeface="맑은 고딕" pitchFamily="34" charset="-120"/>
              </a:rPr>
              <a:t>08. </a:t>
            </a:r>
            <a:pPr algn="l" indent="0" marL="0">
              <a:spcBef>
                <a:spcPts val="300"/>
              </a:spcBef>
              <a:spcAft>
                <a:spcPts val="300"/>
              </a:spcAft>
              <a:buNone/>
            </a:pPr>
            <a:r>
              <a:rPr lang="en-US" sz="1400" dirty="0">
                <a:solidFill>
                  <a:srgbClr val="2D3748"/>
                </a:solidFill>
                <a:latin typeface="맑은 고딕" pitchFamily="34" charset="0"/>
                <a:ea typeface="맑은 고딕" pitchFamily="34" charset="-122"/>
                <a:cs typeface="맑은 고딕" pitchFamily="34" charset="-120"/>
              </a:rPr>
              <a:t>낮은 결합도(Low Coupling)</a:t>
            </a:r>
            <a:endParaRPr lang="en-US" sz="1400" dirty="0"/>
          </a:p>
          <a:p>
            <a:pPr algn="l" indent="0" marL="0">
              <a:spcBef>
                <a:spcPts val="300"/>
              </a:spcBef>
              <a:spcAft>
                <a:spcPts val="300"/>
              </a:spcAft>
              <a:buNone/>
            </a:pPr>
            <a:r>
              <a:rPr lang="en-US" sz="1400" b="1" dirty="0">
                <a:solidFill>
                  <a:srgbClr val="1B3A6B"/>
                </a:solidFill>
                <a:latin typeface="맑은 고딕" pitchFamily="34" charset="0"/>
                <a:ea typeface="맑은 고딕" pitchFamily="34" charset="-122"/>
                <a:cs typeface="맑은 고딕" pitchFamily="34" charset="-120"/>
              </a:rPr>
              <a:t>09. </a:t>
            </a:r>
            <a:pPr algn="l" indent="0" marL="0">
              <a:spcBef>
                <a:spcPts val="300"/>
              </a:spcBef>
              <a:spcAft>
                <a:spcPts val="300"/>
              </a:spcAft>
              <a:buNone/>
            </a:pPr>
            <a:r>
              <a:rPr lang="en-US" sz="1400" dirty="0">
                <a:solidFill>
                  <a:srgbClr val="2D3748"/>
                </a:solidFill>
                <a:latin typeface="맑은 고딕" pitchFamily="34" charset="0"/>
                <a:ea typeface="맑은 고딕" pitchFamily="34" charset="-122"/>
                <a:cs typeface="맑은 고딕" pitchFamily="34" charset="-120"/>
              </a:rPr>
              <a:t>높은 응집도(High Cohesion)</a:t>
            </a:r>
            <a:endParaRPr lang="en-US" sz="1400" dirty="0"/>
          </a:p>
          <a:p>
            <a:pPr algn="l" indent="0" marL="0">
              <a:spcBef>
                <a:spcPts val="300"/>
              </a:spcBef>
              <a:spcAft>
                <a:spcPts val="300"/>
              </a:spcAft>
              <a:buNone/>
            </a:pPr>
            <a:r>
              <a:rPr lang="en-US" sz="1400" b="1" dirty="0">
                <a:solidFill>
                  <a:srgbClr val="1B3A6B"/>
                </a:solidFill>
                <a:latin typeface="맑은 고딕" pitchFamily="34" charset="0"/>
                <a:ea typeface="맑은 고딕" pitchFamily="34" charset="-122"/>
                <a:cs typeface="맑은 고딕" pitchFamily="34" charset="-120"/>
              </a:rPr>
              <a:t>10. </a:t>
            </a:r>
            <a:pPr algn="l" indent="0" marL="0">
              <a:spcBef>
                <a:spcPts val="300"/>
              </a:spcBef>
              <a:spcAft>
                <a:spcPts val="300"/>
              </a:spcAft>
              <a:buNone/>
            </a:pPr>
            <a:r>
              <a:rPr lang="en-US" sz="1400" dirty="0">
                <a:solidFill>
                  <a:srgbClr val="2D3748"/>
                </a:solidFill>
                <a:latin typeface="맑은 고딕" pitchFamily="34" charset="0"/>
                <a:ea typeface="맑은 고딕" pitchFamily="34" charset="-122"/>
                <a:cs typeface="맑은 고딕" pitchFamily="34" charset="-120"/>
              </a:rPr>
              <a:t>다형성(Polymorphism)</a:t>
            </a:r>
            <a:endParaRPr lang="en-US" sz="1400" dirty="0"/>
          </a:p>
          <a:p>
            <a:pPr algn="l" indent="0" marL="0">
              <a:spcBef>
                <a:spcPts val="300"/>
              </a:spcBef>
              <a:spcAft>
                <a:spcPts val="300"/>
              </a:spcAft>
              <a:buNone/>
            </a:pPr>
            <a:r>
              <a:rPr lang="en-US" sz="1400" b="1" dirty="0">
                <a:solidFill>
                  <a:srgbClr val="1B3A6B"/>
                </a:solidFill>
                <a:latin typeface="맑은 고딕" pitchFamily="34" charset="0"/>
                <a:ea typeface="맑은 고딕" pitchFamily="34" charset="-122"/>
                <a:cs typeface="맑은 고딕" pitchFamily="34" charset="-120"/>
              </a:rPr>
              <a:t>11. </a:t>
            </a:r>
            <a:pPr algn="l" indent="0" marL="0">
              <a:spcBef>
                <a:spcPts val="300"/>
              </a:spcBef>
              <a:spcAft>
                <a:spcPts val="300"/>
              </a:spcAft>
              <a:buNone/>
            </a:pPr>
            <a:r>
              <a:rPr lang="en-US" sz="1400" dirty="0">
                <a:solidFill>
                  <a:srgbClr val="2D3748"/>
                </a:solidFill>
                <a:latin typeface="맑은 고딕" pitchFamily="34" charset="0"/>
                <a:ea typeface="맑은 고딕" pitchFamily="34" charset="-122"/>
                <a:cs typeface="맑은 고딕" pitchFamily="34" charset="-120"/>
              </a:rPr>
              <a:t>원칙을 의도적으로 거스르는 세 원칙</a:t>
            </a:r>
            <a:endParaRPr lang="en-US" sz="1400" dirty="0"/>
          </a:p>
          <a:p>
            <a:pPr algn="l" indent="0" marL="0">
              <a:spcBef>
                <a:spcPts val="300"/>
              </a:spcBef>
              <a:spcAft>
                <a:spcPts val="300"/>
              </a:spcAft>
              <a:buNone/>
            </a:pPr>
            <a:r>
              <a:rPr lang="en-US" sz="1400" b="1" dirty="0">
                <a:solidFill>
                  <a:srgbClr val="1B3A6B"/>
                </a:solidFill>
                <a:latin typeface="맑은 고딕" pitchFamily="34" charset="0"/>
                <a:ea typeface="맑은 고딕" pitchFamily="34" charset="-122"/>
                <a:cs typeface="맑은 고딕" pitchFamily="34" charset="-120"/>
              </a:rPr>
              <a:t>12. </a:t>
            </a:r>
            <a:pPr algn="l" indent="0" marL="0">
              <a:spcBef>
                <a:spcPts val="300"/>
              </a:spcBef>
              <a:spcAft>
                <a:spcPts val="300"/>
              </a:spcAft>
              <a:buNone/>
            </a:pPr>
            <a:r>
              <a:rPr lang="en-US" sz="1400" dirty="0">
                <a:solidFill>
                  <a:srgbClr val="2D3748"/>
                </a:solidFill>
                <a:latin typeface="맑은 고딕" pitchFamily="34" charset="0"/>
                <a:ea typeface="맑은 고딕" pitchFamily="34" charset="-122"/>
                <a:cs typeface="맑은 고딕" pitchFamily="34" charset="-120"/>
              </a:rPr>
              <a:t>요약</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20040" y="182880"/>
            <a:ext cx="8503920" cy="457200"/>
          </a:xfrm>
          <a:prstGeom prst="rect">
            <a:avLst/>
          </a:prstGeom>
          <a:noFill/>
          <a:ln/>
        </p:spPr>
        <p:txBody>
          <a:bodyPr wrap="square" lIns="0" tIns="0" rIns="0" bIns="0" rtlCol="0" anchor="ctr"/>
          <a:lstStyle/>
          <a:p>
            <a:pPr algn="l" indent="0" marL="0">
              <a:buNone/>
            </a:pPr>
            <a:r>
              <a:rPr lang="en-US" sz="2200" b="1" dirty="0">
                <a:solidFill>
                  <a:srgbClr val="1B3A6B"/>
                </a:solidFill>
                <a:latin typeface="맑은 고딕" pitchFamily="34" charset="0"/>
                <a:ea typeface="맑은 고딕" pitchFamily="34" charset="-122"/>
                <a:cs typeface="맑은 고딕" pitchFamily="34" charset="-120"/>
              </a:rPr>
              <a:t>01. 학습 목표</a:t>
            </a:r>
            <a:endParaRPr lang="en-US" sz="2200" dirty="0"/>
          </a:p>
        </p:txBody>
      </p:sp>
      <p:sp>
        <p:nvSpPr>
          <p:cNvPr id="3" name="Shape 1"/>
          <p:cNvSpPr/>
          <p:nvPr/>
        </p:nvSpPr>
        <p:spPr>
          <a:xfrm>
            <a:off x="320040" y="731520"/>
            <a:ext cx="8503920" cy="0"/>
          </a:xfrm>
          <a:prstGeom prst="line">
            <a:avLst/>
          </a:prstGeom>
          <a:noFill/>
          <a:ln w="19050">
            <a:solidFill>
              <a:srgbClr val="1B3A6B"/>
            </a:solidFill>
            <a:prstDash val="solid"/>
          </a:ln>
        </p:spPr>
      </p:sp>
      <p:sp>
        <p:nvSpPr>
          <p:cNvPr id="4" name="Shape 2"/>
          <p:cNvSpPr/>
          <p:nvPr/>
        </p:nvSpPr>
        <p:spPr>
          <a:xfrm>
            <a:off x="320040" y="6492240"/>
            <a:ext cx="8503920" cy="0"/>
          </a:xfrm>
          <a:prstGeom prst="line">
            <a:avLst/>
          </a:prstGeom>
          <a:noFill/>
          <a:ln w="6350">
            <a:solidFill>
              <a:srgbClr val="CBD5E1"/>
            </a:solidFill>
            <a:prstDash val="solid"/>
          </a:ln>
        </p:spPr>
      </p:sp>
      <p:sp>
        <p:nvSpPr>
          <p:cNvPr id="5" name="Text 3"/>
          <p:cNvSpPr/>
          <p:nvPr/>
        </p:nvSpPr>
        <p:spPr>
          <a:xfrm>
            <a:off x="320040" y="6537960"/>
            <a:ext cx="3657600" cy="182880"/>
          </a:xfrm>
          <a:prstGeom prst="rect">
            <a:avLst/>
          </a:prstGeom>
          <a:noFill/>
          <a:ln/>
        </p:spPr>
        <p:txBody>
          <a:bodyPr wrap="square" lIns="0" tIns="0" rIns="0" bIns="0" rtlCol="0" anchor="ctr"/>
          <a:lstStyle/>
          <a:p>
            <a:pPr indent="0" marL="0">
              <a:buNone/>
            </a:pPr>
            <a:r>
              <a:rPr lang="en-US" sz="800" dirty="0">
                <a:solidFill>
                  <a:srgbClr val="6B7280"/>
                </a:solidFill>
                <a:latin typeface="맑은 고딕" pitchFamily="34" charset="0"/>
                <a:ea typeface="맑은 고딕" pitchFamily="34" charset="-122"/>
                <a:cs typeface="맑은 고딕" pitchFamily="34" charset="-120"/>
              </a:rPr>
              <a:t>9. 책임 주도 설계(GRASP) 강의</a:t>
            </a:r>
            <a:endParaRPr lang="en-US" sz="800" dirty="0"/>
          </a:p>
        </p:txBody>
      </p:sp>
      <p:sp>
        <p:nvSpPr>
          <p:cNvPr id="6" name="Text 4"/>
          <p:cNvSpPr/>
          <p:nvPr/>
        </p:nvSpPr>
        <p:spPr>
          <a:xfrm>
            <a:off x="4114800" y="6537960"/>
            <a:ext cx="914400" cy="182880"/>
          </a:xfrm>
          <a:prstGeom prst="rect">
            <a:avLst/>
          </a:prstGeom>
          <a:noFill/>
          <a:ln/>
        </p:spPr>
        <p:txBody>
          <a:bodyPr wrap="square" lIns="0" tIns="0" rIns="0" bIns="0" rtlCol="0" anchor="ctr"/>
          <a:lstStyle/>
          <a:p>
            <a:pPr algn="ctr" indent="0" marL="0">
              <a:buNone/>
            </a:pPr>
            <a:r>
              <a:rPr lang="en-US" sz="800" dirty="0">
                <a:solidFill>
                  <a:srgbClr val="6B7280"/>
                </a:solidFill>
                <a:latin typeface="맑은 고딕" pitchFamily="34" charset="0"/>
                <a:ea typeface="맑은 고딕" pitchFamily="34" charset="-122"/>
                <a:cs typeface="맑은 고딕" pitchFamily="34" charset="-120"/>
              </a:rPr>
              <a:t>2</a:t>
            </a:r>
            <a:endParaRPr lang="en-US" sz="800" dirty="0"/>
          </a:p>
        </p:txBody>
      </p:sp>
      <p:sp>
        <p:nvSpPr>
          <p:cNvPr id="7" name="Text 5"/>
          <p:cNvSpPr/>
          <p:nvPr/>
        </p:nvSpPr>
        <p:spPr>
          <a:xfrm>
            <a:off x="4572000" y="6537960"/>
            <a:ext cx="4251960" cy="182880"/>
          </a:xfrm>
          <a:prstGeom prst="rect">
            <a:avLst/>
          </a:prstGeom>
          <a:noFill/>
          <a:ln/>
        </p:spPr>
        <p:txBody>
          <a:bodyPr wrap="square" lIns="0" tIns="0" rIns="0" bIns="0" rtlCol="0" anchor="ctr"/>
          <a:lstStyle/>
          <a:p>
            <a:pPr algn="r" indent="0" marL="0">
              <a:buNone/>
            </a:pPr>
            <a:r>
              <a:rPr lang="en-US" sz="800" dirty="0">
                <a:solidFill>
                  <a:srgbClr val="6B7280"/>
                </a:solidFill>
                <a:latin typeface="맑은 고딕" pitchFamily="34" charset="0"/>
                <a:ea typeface="맑은 고딕" pitchFamily="34" charset="-122"/>
                <a:cs typeface="맑은 고딕" pitchFamily="34" charset="-120"/>
              </a:rPr>
              <a:t>Generated by Claude | Concepts, Requirements and feedback: Youngon Kim</a:t>
            </a:r>
            <a:endParaRPr lang="en-US" sz="800" dirty="0"/>
          </a:p>
        </p:txBody>
      </p:sp>
      <p:sp>
        <p:nvSpPr>
          <p:cNvPr id="8" name="Text 6"/>
          <p:cNvSpPr/>
          <p:nvPr/>
        </p:nvSpPr>
        <p:spPr>
          <a:xfrm>
            <a:off x="320040" y="868680"/>
            <a:ext cx="8503920" cy="274320"/>
          </a:xfrm>
          <a:prstGeom prst="rect">
            <a:avLst/>
          </a:prstGeom>
          <a:noFill/>
          <a:ln/>
        </p:spPr>
        <p:txBody>
          <a:bodyPr wrap="square" lIns="0" tIns="0" rIns="0" bIns="0" rtlCol="0" anchor="ctr"/>
          <a:lstStyle/>
          <a:p>
            <a:pPr algn="ctr" indent="0" marL="0">
              <a:buNone/>
            </a:pPr>
            <a:r>
              <a:rPr lang="en-US" sz="1400" b="1" dirty="0">
                <a:solidFill>
                  <a:srgbClr val="2D3748"/>
                </a:solidFill>
                <a:latin typeface="맑은 고딕" pitchFamily="34" charset="0"/>
                <a:ea typeface="맑은 고딕" pitchFamily="34" charset="-122"/>
                <a:cs typeface="맑은 고딕" pitchFamily="34" charset="-120"/>
              </a:rPr>
              <a:t>책임을 어디 둘지 판단하는 도구를 정보 소재 추론으로 쓸 수 있다.</a:t>
            </a:r>
            <a:endParaRPr lang="en-US" sz="1400" dirty="0"/>
          </a:p>
        </p:txBody>
      </p:sp>
      <p:sp>
        <p:nvSpPr>
          <p:cNvPr id="9" name="Shape 7"/>
          <p:cNvSpPr/>
          <p:nvPr/>
        </p:nvSpPr>
        <p:spPr>
          <a:xfrm>
            <a:off x="320040" y="1234440"/>
            <a:ext cx="8503920" cy="0"/>
          </a:xfrm>
          <a:prstGeom prst="line">
            <a:avLst/>
          </a:prstGeom>
          <a:noFill/>
          <a:ln w="6350">
            <a:solidFill>
              <a:srgbClr val="CBD5E1"/>
            </a:solidFill>
            <a:prstDash val="solid"/>
          </a:ln>
        </p:spPr>
      </p:sp>
      <p:sp>
        <p:nvSpPr>
          <p:cNvPr id="10" name="Text 8"/>
          <p:cNvSpPr/>
          <p:nvPr/>
        </p:nvSpPr>
        <p:spPr>
          <a:xfrm>
            <a:off x="320040" y="1325880"/>
            <a:ext cx="8503920" cy="1003463"/>
          </a:xfrm>
          <a:prstGeom prst="rect">
            <a:avLst/>
          </a:prstGeom>
          <a:solidFill>
            <a:srgbClr val="EBF1F8"/>
          </a:solidFill>
          <a:ln w="9525">
            <a:solidFill>
              <a:srgbClr val="CBD5E1"/>
            </a:solidFill>
          </a:ln>
        </p:spPr>
        <p:txBody>
          <a:bodyPr wrap="square" lIns="72009" tIns="72009" rIns="72009" bIns="72009" rtlCol="0" anchor="ctr"/>
          <a:lstStyle/>
          <a:p>
            <a:pPr algn="l" indent="0" marL="0">
              <a:spcAft>
                <a:spcPts val="300"/>
              </a:spcAft>
              <a:buNone/>
            </a:pPr>
            <a:r>
              <a:rPr lang="en-US" sz="1400" b="1" dirty="0">
                <a:solidFill>
                  <a:srgbClr val="1B3A6B"/>
                </a:solidFill>
                <a:latin typeface="맑은 고딕" pitchFamily="34" charset="0"/>
                <a:ea typeface="맑은 고딕" pitchFamily="34" charset="-122"/>
                <a:cs typeface="맑은 고딕" pitchFamily="34" charset="-120"/>
              </a:rPr>
              <a:t>이 교시가 끝나면 무엇을 할 수 있는가?</a:t>
            </a:r>
            <a:endParaRPr lang="en-US" sz="1400" dirty="0"/>
          </a:p>
          <a:p>
            <a:pPr algn="l" indent="0" marL="0">
              <a:spcBef>
                <a:spcPts val="300"/>
              </a:spcBef>
              <a:buNone/>
            </a:pPr>
            <a:r>
              <a:rPr lang="en-US" sz="1400" b="1" dirty="0">
                <a:solidFill>
                  <a:srgbClr val="007965"/>
                </a:solidFill>
                <a:latin typeface="맑은 고딕" pitchFamily="34" charset="0"/>
                <a:ea typeface="맑은 고딕" pitchFamily="34" charset="-122"/>
                <a:cs typeface="맑은 고딕" pitchFamily="34" charset="-120"/>
              </a:rPr>
              <a:t>도달점: </a:t>
            </a:r>
            <a:pPr algn="l" indent="0" marL="0">
              <a:spcBef>
                <a:spcPts val="300"/>
              </a:spcBef>
              <a:buNone/>
            </a:pPr>
            <a:r>
              <a:rPr lang="en-US" sz="1400" dirty="0">
                <a:solidFill>
                  <a:srgbClr val="2D3748"/>
                </a:solidFill>
                <a:latin typeface="맑은 고딕" pitchFamily="34" charset="0"/>
                <a:ea typeface="맑은 고딕" pitchFamily="34" charset="-122"/>
                <a:cs typeface="맑은 고딕" pitchFamily="34" charset="-120"/>
              </a:rPr>
              <a:t>책임 주도 설계(Responsibility-Driven Design, RDD)가 왜 필요한지 설명하고, 그 도구인 GRASP 여섯 원칙을 NewPOS 예로 설명할 수 있다.</a:t>
            </a:r>
            <a:endParaRPr lang="en-US" sz="1400" dirty="0"/>
          </a:p>
        </p:txBody>
      </p:sp>
      <p:sp>
        <p:nvSpPr>
          <p:cNvPr id="11" name="Text 9"/>
          <p:cNvSpPr/>
          <p:nvPr/>
        </p:nvSpPr>
        <p:spPr>
          <a:xfrm>
            <a:off x="594360" y="3227832"/>
            <a:ext cx="7955280" cy="1195487"/>
          </a:xfrm>
          <a:prstGeom prst="rect">
            <a:avLst/>
          </a:prstGeom>
          <a:noFill/>
          <a:ln/>
        </p:spPr>
        <p:txBody>
          <a:bodyPr wrap="square" lIns="0" tIns="0" rIns="0" bIns="0" rtlCol="0" anchor="t"/>
          <a:lstStyle/>
          <a:p>
            <a:pPr algn="l" marL="177800" indent="-177800">
              <a:spcBef>
                <a:spcPts val="300"/>
              </a:spcBef>
              <a:spcAft>
                <a:spcPts val="300"/>
              </a:spcAft>
              <a:buSzPct val="100000"/>
              <a:buChar char="•"/>
            </a:pPr>
            <a:r>
              <a:rPr lang="en-US" sz="1400" b="1" dirty="0">
                <a:solidFill>
                  <a:srgbClr val="1B3A6B"/>
                </a:solidFill>
                <a:latin typeface="맑은 고딕" pitchFamily="34" charset="0"/>
                <a:ea typeface="맑은 고딕" pitchFamily="34" charset="-122"/>
                <a:cs typeface="맑은 고딕" pitchFamily="34" charset="-120"/>
              </a:rPr>
              <a:t>본체 — </a:t>
            </a:r>
            <a:pPr algn="l" indent="0" marL="0">
              <a:spcBef>
                <a:spcPts val="300"/>
              </a:spcBef>
              <a:spcAft>
                <a:spcPts val="300"/>
              </a:spcAft>
              <a:buNone/>
            </a:pPr>
            <a:r>
              <a:rPr lang="en-US" sz="1400" dirty="0">
                <a:solidFill>
                  <a:srgbClr val="2D3748"/>
                </a:solidFill>
                <a:latin typeface="맑은 고딕" pitchFamily="34" charset="0"/>
                <a:ea typeface="맑은 고딕" pitchFamily="34" charset="-122"/>
                <a:cs typeface="맑은 고딕" pitchFamily="34" charset="-120"/>
              </a:rPr>
              <a:t>설계가 곧 책임 배치이며, RDD가 그 판단의 이름임을 안다.</a:t>
            </a:r>
            <a:endParaRPr lang="en-US" sz="1400" dirty="0"/>
          </a:p>
          <a:p>
            <a:pPr algn="l" marL="177800" indent="-177800">
              <a:spcBef>
                <a:spcPts val="300"/>
              </a:spcBef>
              <a:spcAft>
                <a:spcPts val="300"/>
              </a:spcAft>
              <a:buSzPct val="100000"/>
              <a:buChar char="•"/>
            </a:pPr>
            <a:r>
              <a:rPr lang="en-US" sz="1400" b="1" dirty="0">
                <a:solidFill>
                  <a:srgbClr val="1B3A6B"/>
                </a:solidFill>
                <a:latin typeface="맑은 고딕" pitchFamily="34" charset="0"/>
                <a:ea typeface="맑은 고딕" pitchFamily="34" charset="-122"/>
                <a:cs typeface="맑은 고딕" pitchFamily="34" charset="-120"/>
              </a:rPr>
              <a:t>추론 — </a:t>
            </a:r>
            <a:pPr algn="l" indent="0" marL="0">
              <a:spcBef>
                <a:spcPts val="300"/>
              </a:spcBef>
              <a:spcAft>
                <a:spcPts val="300"/>
              </a:spcAft>
              <a:buNone/>
            </a:pPr>
            <a:r>
              <a:rPr lang="en-US" sz="1400" dirty="0">
                <a:solidFill>
                  <a:srgbClr val="2D3748"/>
                </a:solidFill>
                <a:latin typeface="맑은 고딕" pitchFamily="34" charset="0"/>
                <a:ea typeface="맑은 고딕" pitchFamily="34" charset="-122"/>
                <a:cs typeface="맑은 고딕" pitchFamily="34" charset="-120"/>
              </a:rPr>
              <a:t>정보가 어디에 있는지 추적해 책임을 배치하는 절차를 문장으로 설명한다.</a:t>
            </a:r>
            <a:endParaRPr lang="en-US" sz="1400" dirty="0"/>
          </a:p>
          <a:p>
            <a:pPr algn="l" marL="177800" indent="-177800">
              <a:spcBef>
                <a:spcPts val="300"/>
              </a:spcBef>
              <a:spcAft>
                <a:spcPts val="300"/>
              </a:spcAft>
              <a:buSzPct val="100000"/>
              <a:buChar char="•"/>
            </a:pPr>
            <a:r>
              <a:rPr lang="en-US" sz="1400" b="1" dirty="0">
                <a:solidFill>
                  <a:srgbClr val="1B3A6B"/>
                </a:solidFill>
                <a:latin typeface="맑은 고딕" pitchFamily="34" charset="0"/>
                <a:ea typeface="맑은 고딕" pitchFamily="34" charset="-122"/>
                <a:cs typeface="맑은 고딕" pitchFamily="34" charset="-120"/>
              </a:rPr>
              <a:t>한계 — </a:t>
            </a:r>
            <a:pPr algn="l" indent="0" marL="0">
              <a:spcBef>
                <a:spcPts val="300"/>
              </a:spcBef>
              <a:spcAft>
                <a:spcPts val="300"/>
              </a:spcAft>
              <a:buNone/>
            </a:pPr>
            <a:r>
              <a:rPr lang="en-US" sz="1400" dirty="0">
                <a:solidFill>
                  <a:srgbClr val="2D3748"/>
                </a:solidFill>
                <a:latin typeface="맑은 고딕" pitchFamily="34" charset="0"/>
                <a:ea typeface="맑은 고딕" pitchFamily="34" charset="-122"/>
                <a:cs typeface="맑은 고딕" pitchFamily="34" charset="-120"/>
              </a:rPr>
              <a:t>각 원칙이 언제 억지가 되는지, 그 한계가 다음 원칙을 어떻게 부르는지 안다.</a:t>
            </a:r>
            <a:endParaRPr lang="en-US" sz="1400" dirty="0"/>
          </a:p>
        </p:txBody>
      </p:sp>
      <p:sp>
        <p:nvSpPr>
          <p:cNvPr id="12" name="Shape 10"/>
          <p:cNvSpPr/>
          <p:nvPr/>
        </p:nvSpPr>
        <p:spPr>
          <a:xfrm>
            <a:off x="320040" y="5212080"/>
            <a:ext cx="8503920" cy="0"/>
          </a:xfrm>
          <a:prstGeom prst="line">
            <a:avLst/>
          </a:prstGeom>
          <a:noFill/>
          <a:ln w="6350">
            <a:solidFill>
              <a:srgbClr val="CBD5E1"/>
            </a:solidFill>
            <a:prstDash val="solid"/>
          </a:ln>
        </p:spPr>
      </p:sp>
      <p:sp>
        <p:nvSpPr>
          <p:cNvPr id="13" name="Text 11"/>
          <p:cNvSpPr/>
          <p:nvPr/>
        </p:nvSpPr>
        <p:spPr>
          <a:xfrm>
            <a:off x="320040" y="5394960"/>
            <a:ext cx="8503920" cy="914400"/>
          </a:xfrm>
          <a:prstGeom prst="rect">
            <a:avLst/>
          </a:prstGeom>
          <a:noFill/>
          <a:ln/>
        </p:spPr>
        <p:txBody>
          <a:bodyPr wrap="square" lIns="0" tIns="0" rIns="0" bIns="0" rtlCol="0" anchor="t"/>
          <a:lstStyle/>
          <a:p>
            <a:pPr indent="0" marL="0">
              <a:spcBef>
                <a:spcPts val="300"/>
              </a:spcBef>
              <a:spcAft>
                <a:spcPts val="300"/>
              </a:spcAft>
              <a:buNone/>
            </a:pPr>
            <a:r>
              <a:rPr lang="en-US" sz="1400" b="1" dirty="0">
                <a:solidFill>
                  <a:srgbClr val="1B3A6B"/>
                </a:solidFill>
                <a:latin typeface="맑은 고딕" pitchFamily="34" charset="0"/>
                <a:ea typeface="맑은 고딕" pitchFamily="34" charset="-122"/>
                <a:cs typeface="맑은 고딕" pitchFamily="34" charset="-120"/>
              </a:rPr>
              <a:t>출발점:  </a:t>
            </a:r>
            <a:pPr indent="0" marL="0">
              <a:spcBef>
                <a:spcPts val="300"/>
              </a:spcBef>
              <a:spcAft>
                <a:spcPts val="300"/>
              </a:spcAft>
              <a:buNone/>
            </a:pPr>
            <a:r>
              <a:rPr lang="en-US" sz="1400" dirty="0">
                <a:solidFill>
                  <a:srgbClr val="2D3748"/>
                </a:solidFill>
                <a:latin typeface="맑은 고딕" pitchFamily="34" charset="0"/>
                <a:ea typeface="맑은 고딕" pitchFamily="34" charset="-122"/>
                <a:cs typeface="맑은 고딕" pitchFamily="34" charset="-120"/>
              </a:rPr>
              <a:t>교시2~7(분석)에서 만든 모델에 이제 책임을 배치한다 — OOAD의 진짜 난관이 시작된다.</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20040" y="182880"/>
            <a:ext cx="8503920" cy="457200"/>
          </a:xfrm>
          <a:prstGeom prst="rect">
            <a:avLst/>
          </a:prstGeom>
          <a:noFill/>
          <a:ln/>
        </p:spPr>
        <p:txBody>
          <a:bodyPr wrap="square" lIns="0" tIns="0" rIns="0" bIns="0" rtlCol="0" anchor="ctr"/>
          <a:lstStyle/>
          <a:p>
            <a:pPr algn="l" indent="0" marL="0">
              <a:buNone/>
            </a:pPr>
            <a:r>
              <a:rPr lang="en-US" sz="2200" b="1" dirty="0">
                <a:solidFill>
                  <a:srgbClr val="1B3A6B"/>
                </a:solidFill>
                <a:latin typeface="맑은 고딕" pitchFamily="34" charset="0"/>
                <a:ea typeface="맑은 고딕" pitchFamily="34" charset="-122"/>
                <a:cs typeface="맑은 고딕" pitchFamily="34" charset="-120"/>
              </a:rPr>
              <a:t>02. 설계란 무엇인가</a:t>
            </a:r>
            <a:endParaRPr lang="en-US" sz="2200" dirty="0"/>
          </a:p>
        </p:txBody>
      </p:sp>
      <p:sp>
        <p:nvSpPr>
          <p:cNvPr id="3" name="Shape 1"/>
          <p:cNvSpPr/>
          <p:nvPr/>
        </p:nvSpPr>
        <p:spPr>
          <a:xfrm>
            <a:off x="320040" y="731520"/>
            <a:ext cx="8503920" cy="0"/>
          </a:xfrm>
          <a:prstGeom prst="line">
            <a:avLst/>
          </a:prstGeom>
          <a:noFill/>
          <a:ln w="19050">
            <a:solidFill>
              <a:srgbClr val="1B3A6B"/>
            </a:solidFill>
            <a:prstDash val="solid"/>
          </a:ln>
        </p:spPr>
      </p:sp>
      <p:sp>
        <p:nvSpPr>
          <p:cNvPr id="4" name="Shape 2"/>
          <p:cNvSpPr/>
          <p:nvPr/>
        </p:nvSpPr>
        <p:spPr>
          <a:xfrm>
            <a:off x="320040" y="6492240"/>
            <a:ext cx="8503920" cy="0"/>
          </a:xfrm>
          <a:prstGeom prst="line">
            <a:avLst/>
          </a:prstGeom>
          <a:noFill/>
          <a:ln w="6350">
            <a:solidFill>
              <a:srgbClr val="CBD5E1"/>
            </a:solidFill>
            <a:prstDash val="solid"/>
          </a:ln>
        </p:spPr>
      </p:sp>
      <p:sp>
        <p:nvSpPr>
          <p:cNvPr id="5" name="Text 3"/>
          <p:cNvSpPr/>
          <p:nvPr/>
        </p:nvSpPr>
        <p:spPr>
          <a:xfrm>
            <a:off x="320040" y="6537960"/>
            <a:ext cx="3657600" cy="182880"/>
          </a:xfrm>
          <a:prstGeom prst="rect">
            <a:avLst/>
          </a:prstGeom>
          <a:noFill/>
          <a:ln/>
        </p:spPr>
        <p:txBody>
          <a:bodyPr wrap="square" lIns="0" tIns="0" rIns="0" bIns="0" rtlCol="0" anchor="ctr"/>
          <a:lstStyle/>
          <a:p>
            <a:pPr indent="0" marL="0">
              <a:buNone/>
            </a:pPr>
            <a:r>
              <a:rPr lang="en-US" sz="800" dirty="0">
                <a:solidFill>
                  <a:srgbClr val="6B7280"/>
                </a:solidFill>
                <a:latin typeface="맑은 고딕" pitchFamily="34" charset="0"/>
                <a:ea typeface="맑은 고딕" pitchFamily="34" charset="-122"/>
                <a:cs typeface="맑은 고딕" pitchFamily="34" charset="-120"/>
              </a:rPr>
              <a:t>9. 책임 주도 설계(GRASP) 강의</a:t>
            </a:r>
            <a:endParaRPr lang="en-US" sz="800" dirty="0"/>
          </a:p>
        </p:txBody>
      </p:sp>
      <p:sp>
        <p:nvSpPr>
          <p:cNvPr id="6" name="Text 4"/>
          <p:cNvSpPr/>
          <p:nvPr/>
        </p:nvSpPr>
        <p:spPr>
          <a:xfrm>
            <a:off x="4114800" y="6537960"/>
            <a:ext cx="914400" cy="182880"/>
          </a:xfrm>
          <a:prstGeom prst="rect">
            <a:avLst/>
          </a:prstGeom>
          <a:noFill/>
          <a:ln/>
        </p:spPr>
        <p:txBody>
          <a:bodyPr wrap="square" lIns="0" tIns="0" rIns="0" bIns="0" rtlCol="0" anchor="ctr"/>
          <a:lstStyle/>
          <a:p>
            <a:pPr algn="ctr" indent="0" marL="0">
              <a:buNone/>
            </a:pPr>
            <a:r>
              <a:rPr lang="en-US" sz="800" dirty="0">
                <a:solidFill>
                  <a:srgbClr val="6B7280"/>
                </a:solidFill>
                <a:latin typeface="맑은 고딕" pitchFamily="34" charset="0"/>
                <a:ea typeface="맑은 고딕" pitchFamily="34" charset="-122"/>
                <a:cs typeface="맑은 고딕" pitchFamily="34" charset="-120"/>
              </a:rPr>
              <a:t>3</a:t>
            </a:r>
            <a:endParaRPr lang="en-US" sz="800" dirty="0"/>
          </a:p>
        </p:txBody>
      </p:sp>
      <p:sp>
        <p:nvSpPr>
          <p:cNvPr id="7" name="Text 5"/>
          <p:cNvSpPr/>
          <p:nvPr/>
        </p:nvSpPr>
        <p:spPr>
          <a:xfrm>
            <a:off x="4572000" y="6537960"/>
            <a:ext cx="4251960" cy="182880"/>
          </a:xfrm>
          <a:prstGeom prst="rect">
            <a:avLst/>
          </a:prstGeom>
          <a:noFill/>
          <a:ln/>
        </p:spPr>
        <p:txBody>
          <a:bodyPr wrap="square" lIns="0" tIns="0" rIns="0" bIns="0" rtlCol="0" anchor="ctr"/>
          <a:lstStyle/>
          <a:p>
            <a:pPr algn="r" indent="0" marL="0">
              <a:buNone/>
            </a:pPr>
            <a:r>
              <a:rPr lang="en-US" sz="800" dirty="0">
                <a:solidFill>
                  <a:srgbClr val="6B7280"/>
                </a:solidFill>
                <a:latin typeface="맑은 고딕" pitchFamily="34" charset="0"/>
                <a:ea typeface="맑은 고딕" pitchFamily="34" charset="-122"/>
                <a:cs typeface="맑은 고딕" pitchFamily="34" charset="-120"/>
              </a:rPr>
              <a:t>Generated by Claude | Concepts, Requirements and feedback: Youngon Kim</a:t>
            </a:r>
            <a:endParaRPr lang="en-US" sz="800" dirty="0"/>
          </a:p>
        </p:txBody>
      </p:sp>
      <p:sp>
        <p:nvSpPr>
          <p:cNvPr id="8" name="Text 6"/>
          <p:cNvSpPr/>
          <p:nvPr/>
        </p:nvSpPr>
        <p:spPr>
          <a:xfrm>
            <a:off x="320040" y="868680"/>
            <a:ext cx="8503920" cy="274320"/>
          </a:xfrm>
          <a:prstGeom prst="rect">
            <a:avLst/>
          </a:prstGeom>
          <a:noFill/>
          <a:ln/>
        </p:spPr>
        <p:txBody>
          <a:bodyPr wrap="square" lIns="0" tIns="0" rIns="0" bIns="0" rtlCol="0" anchor="ctr"/>
          <a:lstStyle/>
          <a:p>
            <a:pPr algn="ctr" indent="0" marL="0">
              <a:buNone/>
            </a:pPr>
            <a:r>
              <a:rPr lang="en-US" sz="1400" b="1" dirty="0">
                <a:solidFill>
                  <a:srgbClr val="6B7280"/>
                </a:solidFill>
                <a:latin typeface="맑은 고딕" pitchFamily="34" charset="0"/>
                <a:ea typeface="맑은 고딕" pitchFamily="34" charset="-122"/>
                <a:cs typeface="맑은 고딕" pitchFamily="34" charset="-120"/>
              </a:rPr>
              <a:t>[현상] </a:t>
            </a:r>
            <a:pPr algn="ctr" indent="0" marL="0">
              <a:buNone/>
            </a:pPr>
            <a:r>
              <a:rPr lang="en-US" sz="1400" b="1" dirty="0">
                <a:solidFill>
                  <a:srgbClr val="2D3748"/>
                </a:solidFill>
                <a:latin typeface="맑은 고딕" pitchFamily="34" charset="0"/>
                <a:ea typeface="맑은 고딕" pitchFamily="34" charset="-122"/>
                <a:cs typeface="맑은 고딕" pitchFamily="34" charset="-120"/>
              </a:rPr>
              <a:t>설계는 데이터 구조가 아니라 책임을 배치하는 일이다.</a:t>
            </a:r>
            <a:endParaRPr lang="en-US" sz="1400" dirty="0"/>
          </a:p>
        </p:txBody>
      </p:sp>
      <p:sp>
        <p:nvSpPr>
          <p:cNvPr id="9" name="Shape 7"/>
          <p:cNvSpPr/>
          <p:nvPr/>
        </p:nvSpPr>
        <p:spPr>
          <a:xfrm>
            <a:off x="320040" y="1234440"/>
            <a:ext cx="8503920" cy="0"/>
          </a:xfrm>
          <a:prstGeom prst="line">
            <a:avLst/>
          </a:prstGeom>
          <a:noFill/>
          <a:ln w="6350">
            <a:solidFill>
              <a:srgbClr val="CBD5E1"/>
            </a:solidFill>
            <a:prstDash val="solid"/>
          </a:ln>
        </p:spPr>
      </p:sp>
      <p:sp>
        <p:nvSpPr>
          <p:cNvPr id="10" name="Text 8"/>
          <p:cNvSpPr/>
          <p:nvPr/>
        </p:nvSpPr>
        <p:spPr>
          <a:xfrm>
            <a:off x="320040" y="1325880"/>
            <a:ext cx="8503920" cy="1003463"/>
          </a:xfrm>
          <a:prstGeom prst="rect">
            <a:avLst/>
          </a:prstGeom>
          <a:solidFill>
            <a:srgbClr val="EBF1F8"/>
          </a:solidFill>
          <a:ln w="9525">
            <a:solidFill>
              <a:srgbClr val="CBD5E1"/>
            </a:solidFill>
          </a:ln>
        </p:spPr>
        <p:txBody>
          <a:bodyPr wrap="square" lIns="72009" tIns="72009" rIns="72009" bIns="72009" rtlCol="0" anchor="ctr"/>
          <a:lstStyle/>
          <a:p>
            <a:pPr algn="l" indent="0" marL="0">
              <a:spcAft>
                <a:spcPts val="300"/>
              </a:spcAft>
              <a:buNone/>
            </a:pPr>
            <a:r>
              <a:rPr lang="en-US" sz="1400" b="1" dirty="0">
                <a:solidFill>
                  <a:srgbClr val="1B3A6B"/>
                </a:solidFill>
                <a:latin typeface="맑은 고딕" pitchFamily="34" charset="0"/>
                <a:ea typeface="맑은 고딕" pitchFamily="34" charset="-122"/>
                <a:cs typeface="맑은 고딕" pitchFamily="34" charset="-120"/>
              </a:rPr>
              <a:t>객체 설계에서 정말로 정하는 것은 무엇인가?</a:t>
            </a:r>
            <a:endParaRPr lang="en-US" sz="1400" dirty="0"/>
          </a:p>
          <a:p>
            <a:pPr algn="l" indent="0" marL="0">
              <a:spcBef>
                <a:spcPts val="300"/>
              </a:spcBef>
              <a:buNone/>
            </a:pPr>
            <a:r>
              <a:rPr lang="en-US" sz="1400" b="1" dirty="0">
                <a:solidFill>
                  <a:srgbClr val="007965"/>
                </a:solidFill>
                <a:latin typeface="맑은 고딕" pitchFamily="34" charset="0"/>
                <a:ea typeface="맑은 고딕" pitchFamily="34" charset="-122"/>
                <a:cs typeface="맑은 고딕" pitchFamily="34" charset="-120"/>
              </a:rPr>
              <a:t>정의: </a:t>
            </a:r>
            <a:pPr algn="l" indent="0" marL="0">
              <a:spcBef>
                <a:spcPts val="300"/>
              </a:spcBef>
              <a:buNone/>
            </a:pPr>
            <a:r>
              <a:rPr lang="en-US" sz="1400" dirty="0">
                <a:solidFill>
                  <a:srgbClr val="2D3748"/>
                </a:solidFill>
                <a:latin typeface="맑은 고딕" pitchFamily="34" charset="0"/>
                <a:ea typeface="맑은 고딕" pitchFamily="34" charset="-122"/>
                <a:cs typeface="맑은 고딕" pitchFamily="34" charset="-120"/>
              </a:rPr>
              <a:t>객체 설계란 각 역할(객체)에게 책임을 나눠 주고, 그 책임을 완수하도록 서로 협력하는 방식을 짜는 일이다 — 데이터 구조를 그리는 일이 아니라 책임을 배치하는 일이다.</a:t>
            </a:r>
            <a:endParaRPr lang="en-US" sz="1400" dirty="0"/>
          </a:p>
        </p:txBody>
      </p:sp>
      <p:sp>
        <p:nvSpPr>
          <p:cNvPr id="11" name="Shape 9"/>
          <p:cNvSpPr/>
          <p:nvPr/>
        </p:nvSpPr>
        <p:spPr>
          <a:xfrm>
            <a:off x="320040" y="3313176"/>
            <a:ext cx="4160520" cy="1024799"/>
          </a:xfrm>
          <a:prstGeom prst="rect">
            <a:avLst/>
          </a:prstGeom>
          <a:solidFill>
            <a:srgbClr val="FFFFFF"/>
          </a:solidFill>
          <a:ln w="15875">
            <a:solidFill>
              <a:srgbClr val="1B3A6B"/>
            </a:solidFill>
            <a:prstDash val="solid"/>
          </a:ln>
        </p:spPr>
      </p:sp>
      <p:sp>
        <p:nvSpPr>
          <p:cNvPr id="12" name="Text 10"/>
          <p:cNvSpPr/>
          <p:nvPr/>
        </p:nvSpPr>
        <p:spPr>
          <a:xfrm>
            <a:off x="320040" y="3313176"/>
            <a:ext cx="4160520" cy="384048"/>
          </a:xfrm>
          <a:prstGeom prst="rect">
            <a:avLst/>
          </a:prstGeom>
          <a:solidFill>
            <a:srgbClr val="1B3A6B"/>
          </a:solidFill>
          <a:ln/>
        </p:spPr>
        <p:txBody>
          <a:bodyPr wrap="square" lIns="72009" tIns="72009" rIns="72009" bIns="72009" rtlCol="0" anchor="ctr"/>
          <a:lstStyle/>
          <a:p>
            <a:pPr algn="ctr" indent="0" marL="0">
              <a:buNone/>
            </a:pPr>
            <a:r>
              <a:rPr lang="en-US" sz="1200" b="1" dirty="0">
                <a:solidFill>
                  <a:srgbClr val="FFFFFF"/>
                </a:solidFill>
                <a:latin typeface="맑은 고딕" pitchFamily="34" charset="0"/>
                <a:ea typeface="맑은 고딕" pitchFamily="34" charset="-122"/>
                <a:cs typeface="맑은 고딕" pitchFamily="34" charset="-120"/>
              </a:rPr>
              <a:t>doing 책임</a:t>
            </a:r>
            <a:endParaRPr lang="en-US" sz="1200" dirty="0"/>
          </a:p>
        </p:txBody>
      </p:sp>
      <p:sp>
        <p:nvSpPr>
          <p:cNvPr id="13" name="Text 11"/>
          <p:cNvSpPr/>
          <p:nvPr/>
        </p:nvSpPr>
        <p:spPr>
          <a:xfrm>
            <a:off x="320040" y="3697224"/>
            <a:ext cx="4160520" cy="640751"/>
          </a:xfrm>
          <a:prstGeom prst="rect">
            <a:avLst/>
          </a:prstGeom>
          <a:noFill/>
          <a:ln/>
        </p:spPr>
        <p:txBody>
          <a:bodyPr wrap="square" lIns="72009" tIns="72009" rIns="72009" bIns="72009" rtlCol="0" anchor="t"/>
          <a:lstStyle/>
          <a:p>
            <a:pPr marL="127000" indent="-127000">
              <a:spcBef>
                <a:spcPts val="300"/>
              </a:spcBef>
              <a:spcAft>
                <a:spcPts val="300"/>
              </a:spcAft>
              <a:buSzPct val="100000"/>
              <a:buChar char="•"/>
            </a:pPr>
            <a:r>
              <a:rPr lang="en-US" sz="1200" dirty="0">
                <a:solidFill>
                  <a:srgbClr val="2D3748"/>
                </a:solidFill>
                <a:latin typeface="맑은 고딕" pitchFamily="34" charset="0"/>
                <a:ea typeface="맑은 고딕" pitchFamily="34" charset="-122"/>
                <a:cs typeface="맑은 고딕" pitchFamily="34" charset="-120"/>
              </a:rPr>
              <a:t>스스로 어떤 일을 하거나, 그 일을 다른 객체에게 시키는 책임이다.</a:t>
            </a:r>
            <a:endParaRPr lang="en-US" sz="1200" dirty="0"/>
          </a:p>
        </p:txBody>
      </p:sp>
      <p:sp>
        <p:nvSpPr>
          <p:cNvPr id="14" name="Shape 12"/>
          <p:cNvSpPr/>
          <p:nvPr/>
        </p:nvSpPr>
        <p:spPr>
          <a:xfrm>
            <a:off x="4663440" y="3313176"/>
            <a:ext cx="4160520" cy="1024799"/>
          </a:xfrm>
          <a:prstGeom prst="rect">
            <a:avLst/>
          </a:prstGeom>
          <a:solidFill>
            <a:srgbClr val="FFFFFF"/>
          </a:solidFill>
          <a:ln w="15875">
            <a:solidFill>
              <a:srgbClr val="1B3A6B"/>
            </a:solidFill>
            <a:prstDash val="solid"/>
          </a:ln>
        </p:spPr>
      </p:sp>
      <p:sp>
        <p:nvSpPr>
          <p:cNvPr id="15" name="Text 13"/>
          <p:cNvSpPr/>
          <p:nvPr/>
        </p:nvSpPr>
        <p:spPr>
          <a:xfrm>
            <a:off x="4663440" y="3313176"/>
            <a:ext cx="4160520" cy="384048"/>
          </a:xfrm>
          <a:prstGeom prst="rect">
            <a:avLst/>
          </a:prstGeom>
          <a:solidFill>
            <a:srgbClr val="1B3A6B"/>
          </a:solidFill>
          <a:ln/>
        </p:spPr>
        <p:txBody>
          <a:bodyPr wrap="square" lIns="72009" tIns="72009" rIns="72009" bIns="72009" rtlCol="0" anchor="ctr"/>
          <a:lstStyle/>
          <a:p>
            <a:pPr algn="ctr" indent="0" marL="0">
              <a:buNone/>
            </a:pPr>
            <a:r>
              <a:rPr lang="en-US" sz="1200" b="1" dirty="0">
                <a:solidFill>
                  <a:srgbClr val="FFFFFF"/>
                </a:solidFill>
                <a:latin typeface="맑은 고딕" pitchFamily="34" charset="0"/>
                <a:ea typeface="맑은 고딕" pitchFamily="34" charset="-122"/>
                <a:cs typeface="맑은 고딕" pitchFamily="34" charset="-120"/>
              </a:rPr>
              <a:t>knowing 책임</a:t>
            </a:r>
            <a:endParaRPr lang="en-US" sz="1200" dirty="0"/>
          </a:p>
        </p:txBody>
      </p:sp>
      <p:sp>
        <p:nvSpPr>
          <p:cNvPr id="16" name="Text 14"/>
          <p:cNvSpPr/>
          <p:nvPr/>
        </p:nvSpPr>
        <p:spPr>
          <a:xfrm>
            <a:off x="4663440" y="3697224"/>
            <a:ext cx="4160520" cy="640751"/>
          </a:xfrm>
          <a:prstGeom prst="rect">
            <a:avLst/>
          </a:prstGeom>
          <a:noFill/>
          <a:ln/>
        </p:spPr>
        <p:txBody>
          <a:bodyPr wrap="square" lIns="72009" tIns="72009" rIns="72009" bIns="72009" rtlCol="0" anchor="t"/>
          <a:lstStyle/>
          <a:p>
            <a:pPr marL="127000" indent="-127000">
              <a:spcBef>
                <a:spcPts val="300"/>
              </a:spcBef>
              <a:spcAft>
                <a:spcPts val="300"/>
              </a:spcAft>
              <a:buSzPct val="100000"/>
              <a:buChar char="•"/>
            </a:pPr>
            <a:r>
              <a:rPr lang="en-US" sz="1200" dirty="0">
                <a:solidFill>
                  <a:srgbClr val="2D3748"/>
                </a:solidFill>
                <a:latin typeface="맑은 고딕" pitchFamily="34" charset="0"/>
                <a:ea typeface="맑은 고딕" pitchFamily="34" charset="-122"/>
                <a:cs typeface="맑은 고딕" pitchFamily="34" charset="-120"/>
              </a:rPr>
              <a:t>자기 자신의 데이터와 거기서 파생되는 값, 다른 객체와의 관계를 아는 책임이다.</a:t>
            </a:r>
            <a:endParaRPr lang="en-US" sz="1200" dirty="0"/>
          </a:p>
        </p:txBody>
      </p:sp>
      <p:sp>
        <p:nvSpPr>
          <p:cNvPr id="17" name="Shape 15"/>
          <p:cNvSpPr/>
          <p:nvPr/>
        </p:nvSpPr>
        <p:spPr>
          <a:xfrm>
            <a:off x="320040" y="5212080"/>
            <a:ext cx="8503920" cy="0"/>
          </a:xfrm>
          <a:prstGeom prst="line">
            <a:avLst/>
          </a:prstGeom>
          <a:noFill/>
          <a:ln w="6350">
            <a:solidFill>
              <a:srgbClr val="CBD5E1"/>
            </a:solidFill>
            <a:prstDash val="solid"/>
          </a:ln>
        </p:spPr>
      </p:sp>
      <p:sp>
        <p:nvSpPr>
          <p:cNvPr id="18" name="Text 16"/>
          <p:cNvSpPr/>
          <p:nvPr/>
        </p:nvSpPr>
        <p:spPr>
          <a:xfrm>
            <a:off x="320040" y="5394960"/>
            <a:ext cx="8503920" cy="914400"/>
          </a:xfrm>
          <a:prstGeom prst="rect">
            <a:avLst/>
          </a:prstGeom>
          <a:noFill/>
          <a:ln/>
        </p:spPr>
        <p:txBody>
          <a:bodyPr wrap="square" lIns="0" tIns="0" rIns="0" bIns="0" rtlCol="0" anchor="t"/>
          <a:lstStyle/>
          <a:p>
            <a:pPr indent="0" marL="0">
              <a:spcBef>
                <a:spcPts val="300"/>
              </a:spcBef>
              <a:spcAft>
                <a:spcPts val="300"/>
              </a:spcAft>
              <a:buNone/>
            </a:pPr>
            <a:r>
              <a:rPr lang="en-US" sz="1400" b="1" dirty="0">
                <a:solidFill>
                  <a:srgbClr val="1B3A6B"/>
                </a:solidFill>
                <a:latin typeface="맑은 고딕" pitchFamily="34" charset="0"/>
                <a:ea typeface="맑은 고딕" pitchFamily="34" charset="-122"/>
                <a:cs typeface="맑은 고딕" pitchFamily="34" charset="-120"/>
              </a:rPr>
              <a:t>질문:  </a:t>
            </a:r>
            <a:pPr indent="0" marL="0">
              <a:spcBef>
                <a:spcPts val="300"/>
              </a:spcBef>
              <a:spcAft>
                <a:spcPts val="300"/>
              </a:spcAft>
              <a:buNone/>
            </a:pPr>
            <a:r>
              <a:rPr lang="en-US" sz="1400" dirty="0">
                <a:solidFill>
                  <a:srgbClr val="2D3748"/>
                </a:solidFill>
                <a:latin typeface="맑은 고딕" pitchFamily="34" charset="0"/>
                <a:ea typeface="맑은 고딕" pitchFamily="34" charset="-122"/>
                <a:cs typeface="맑은 고딕" pitchFamily="34" charset="-120"/>
              </a:rPr>
              <a:t>그래서 설계의 질문은 "어떤 클래스가 있는가"가 아니라 "이 책임은 누가 지는가"이다.</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20040" y="182880"/>
            <a:ext cx="8503920" cy="457200"/>
          </a:xfrm>
          <a:prstGeom prst="rect">
            <a:avLst/>
          </a:prstGeom>
          <a:noFill/>
          <a:ln/>
        </p:spPr>
        <p:txBody>
          <a:bodyPr wrap="square" lIns="0" tIns="0" rIns="0" bIns="0" rtlCol="0" anchor="ctr"/>
          <a:lstStyle/>
          <a:p>
            <a:pPr algn="l" indent="0" marL="0">
              <a:buNone/>
            </a:pPr>
            <a:r>
              <a:rPr lang="en-US" sz="2200" b="1" dirty="0">
                <a:solidFill>
                  <a:srgbClr val="1B3A6B"/>
                </a:solidFill>
                <a:latin typeface="맑은 고딕" pitchFamily="34" charset="0"/>
                <a:ea typeface="맑은 고딕" pitchFamily="34" charset="-122"/>
                <a:cs typeface="맑은 고딕" pitchFamily="34" charset="-120"/>
              </a:rPr>
              <a:t>03. 왜 책임이 설계의 단위인가</a:t>
            </a:r>
            <a:endParaRPr lang="en-US" sz="2200" dirty="0"/>
          </a:p>
        </p:txBody>
      </p:sp>
      <p:sp>
        <p:nvSpPr>
          <p:cNvPr id="3" name="Shape 1"/>
          <p:cNvSpPr/>
          <p:nvPr/>
        </p:nvSpPr>
        <p:spPr>
          <a:xfrm>
            <a:off x="320040" y="731520"/>
            <a:ext cx="8503920" cy="0"/>
          </a:xfrm>
          <a:prstGeom prst="line">
            <a:avLst/>
          </a:prstGeom>
          <a:noFill/>
          <a:ln w="19050">
            <a:solidFill>
              <a:srgbClr val="1B3A6B"/>
            </a:solidFill>
            <a:prstDash val="solid"/>
          </a:ln>
        </p:spPr>
      </p:sp>
      <p:sp>
        <p:nvSpPr>
          <p:cNvPr id="4" name="Shape 2"/>
          <p:cNvSpPr/>
          <p:nvPr/>
        </p:nvSpPr>
        <p:spPr>
          <a:xfrm>
            <a:off x="320040" y="6492240"/>
            <a:ext cx="8503920" cy="0"/>
          </a:xfrm>
          <a:prstGeom prst="line">
            <a:avLst/>
          </a:prstGeom>
          <a:noFill/>
          <a:ln w="6350">
            <a:solidFill>
              <a:srgbClr val="CBD5E1"/>
            </a:solidFill>
            <a:prstDash val="solid"/>
          </a:ln>
        </p:spPr>
      </p:sp>
      <p:sp>
        <p:nvSpPr>
          <p:cNvPr id="5" name="Text 3"/>
          <p:cNvSpPr/>
          <p:nvPr/>
        </p:nvSpPr>
        <p:spPr>
          <a:xfrm>
            <a:off x="320040" y="6537960"/>
            <a:ext cx="3657600" cy="182880"/>
          </a:xfrm>
          <a:prstGeom prst="rect">
            <a:avLst/>
          </a:prstGeom>
          <a:noFill/>
          <a:ln/>
        </p:spPr>
        <p:txBody>
          <a:bodyPr wrap="square" lIns="0" tIns="0" rIns="0" bIns="0" rtlCol="0" anchor="ctr"/>
          <a:lstStyle/>
          <a:p>
            <a:pPr indent="0" marL="0">
              <a:buNone/>
            </a:pPr>
            <a:r>
              <a:rPr lang="en-US" sz="800" dirty="0">
                <a:solidFill>
                  <a:srgbClr val="6B7280"/>
                </a:solidFill>
                <a:latin typeface="맑은 고딕" pitchFamily="34" charset="0"/>
                <a:ea typeface="맑은 고딕" pitchFamily="34" charset="-122"/>
                <a:cs typeface="맑은 고딕" pitchFamily="34" charset="-120"/>
              </a:rPr>
              <a:t>9. 책임 주도 설계(GRASP) 강의</a:t>
            </a:r>
            <a:endParaRPr lang="en-US" sz="800" dirty="0"/>
          </a:p>
        </p:txBody>
      </p:sp>
      <p:sp>
        <p:nvSpPr>
          <p:cNvPr id="6" name="Text 4"/>
          <p:cNvSpPr/>
          <p:nvPr/>
        </p:nvSpPr>
        <p:spPr>
          <a:xfrm>
            <a:off x="4114800" y="6537960"/>
            <a:ext cx="914400" cy="182880"/>
          </a:xfrm>
          <a:prstGeom prst="rect">
            <a:avLst/>
          </a:prstGeom>
          <a:noFill/>
          <a:ln/>
        </p:spPr>
        <p:txBody>
          <a:bodyPr wrap="square" lIns="0" tIns="0" rIns="0" bIns="0" rtlCol="0" anchor="ctr"/>
          <a:lstStyle/>
          <a:p>
            <a:pPr algn="ctr" indent="0" marL="0">
              <a:buNone/>
            </a:pPr>
            <a:r>
              <a:rPr lang="en-US" sz="800" dirty="0">
                <a:solidFill>
                  <a:srgbClr val="6B7280"/>
                </a:solidFill>
                <a:latin typeface="맑은 고딕" pitchFamily="34" charset="0"/>
                <a:ea typeface="맑은 고딕" pitchFamily="34" charset="-122"/>
                <a:cs typeface="맑은 고딕" pitchFamily="34" charset="-120"/>
              </a:rPr>
              <a:t>4</a:t>
            </a:r>
            <a:endParaRPr lang="en-US" sz="800" dirty="0"/>
          </a:p>
        </p:txBody>
      </p:sp>
      <p:sp>
        <p:nvSpPr>
          <p:cNvPr id="7" name="Text 5"/>
          <p:cNvSpPr/>
          <p:nvPr/>
        </p:nvSpPr>
        <p:spPr>
          <a:xfrm>
            <a:off x="4572000" y="6537960"/>
            <a:ext cx="4251960" cy="182880"/>
          </a:xfrm>
          <a:prstGeom prst="rect">
            <a:avLst/>
          </a:prstGeom>
          <a:noFill/>
          <a:ln/>
        </p:spPr>
        <p:txBody>
          <a:bodyPr wrap="square" lIns="0" tIns="0" rIns="0" bIns="0" rtlCol="0" anchor="ctr"/>
          <a:lstStyle/>
          <a:p>
            <a:pPr algn="r" indent="0" marL="0">
              <a:buNone/>
            </a:pPr>
            <a:r>
              <a:rPr lang="en-US" sz="800" dirty="0">
                <a:solidFill>
                  <a:srgbClr val="6B7280"/>
                </a:solidFill>
                <a:latin typeface="맑은 고딕" pitchFamily="34" charset="0"/>
                <a:ea typeface="맑은 고딕" pitchFamily="34" charset="-122"/>
                <a:cs typeface="맑은 고딕" pitchFamily="34" charset="-120"/>
              </a:rPr>
              <a:t>Generated by Claude | Concepts, Requirements and feedback: Youngon Kim</a:t>
            </a:r>
            <a:endParaRPr lang="en-US" sz="800" dirty="0"/>
          </a:p>
        </p:txBody>
      </p:sp>
      <p:sp>
        <p:nvSpPr>
          <p:cNvPr id="8" name="Text 6"/>
          <p:cNvSpPr/>
          <p:nvPr/>
        </p:nvSpPr>
        <p:spPr>
          <a:xfrm>
            <a:off x="320040" y="868680"/>
            <a:ext cx="8503920" cy="274320"/>
          </a:xfrm>
          <a:prstGeom prst="rect">
            <a:avLst/>
          </a:prstGeom>
          <a:noFill/>
          <a:ln/>
        </p:spPr>
        <p:txBody>
          <a:bodyPr wrap="square" lIns="0" tIns="0" rIns="0" bIns="0" rtlCol="0" anchor="ctr"/>
          <a:lstStyle/>
          <a:p>
            <a:pPr algn="ctr" indent="0" marL="0">
              <a:buNone/>
            </a:pPr>
            <a:r>
              <a:rPr lang="en-US" sz="1400" b="1" dirty="0">
                <a:solidFill>
                  <a:srgbClr val="6B7280"/>
                </a:solidFill>
                <a:latin typeface="맑은 고딕" pitchFamily="34" charset="0"/>
                <a:ea typeface="맑은 고딕" pitchFamily="34" charset="-122"/>
                <a:cs typeface="맑은 고딕" pitchFamily="34" charset="-120"/>
              </a:rPr>
              <a:t>[원칙] </a:t>
            </a:r>
            <a:pPr algn="ctr" indent="0" marL="0">
              <a:buNone/>
            </a:pPr>
            <a:r>
              <a:rPr lang="en-US" sz="1400" b="1" dirty="0">
                <a:solidFill>
                  <a:srgbClr val="2D3748"/>
                </a:solidFill>
                <a:latin typeface="맑은 고딕" pitchFamily="34" charset="0"/>
                <a:ea typeface="맑은 고딕" pitchFamily="34" charset="-122"/>
                <a:cs typeface="맑은 고딕" pitchFamily="34" charset="-120"/>
              </a:rPr>
              <a:t>책임을 어디 두느냐로 설계 전체의 성격이 갈린다.</a:t>
            </a:r>
            <a:endParaRPr lang="en-US" sz="1400" dirty="0"/>
          </a:p>
        </p:txBody>
      </p:sp>
      <p:sp>
        <p:nvSpPr>
          <p:cNvPr id="9" name="Shape 7"/>
          <p:cNvSpPr/>
          <p:nvPr/>
        </p:nvSpPr>
        <p:spPr>
          <a:xfrm>
            <a:off x="320040" y="1234440"/>
            <a:ext cx="8503920" cy="0"/>
          </a:xfrm>
          <a:prstGeom prst="line">
            <a:avLst/>
          </a:prstGeom>
          <a:noFill/>
          <a:ln w="6350">
            <a:solidFill>
              <a:srgbClr val="CBD5E1"/>
            </a:solidFill>
            <a:prstDash val="solid"/>
          </a:ln>
        </p:spPr>
      </p:sp>
      <p:sp>
        <p:nvSpPr>
          <p:cNvPr id="10" name="Text 8"/>
          <p:cNvSpPr/>
          <p:nvPr/>
        </p:nvSpPr>
        <p:spPr>
          <a:xfrm>
            <a:off x="320040" y="1325880"/>
            <a:ext cx="8503920" cy="1259495"/>
          </a:xfrm>
          <a:prstGeom prst="rect">
            <a:avLst/>
          </a:prstGeom>
          <a:solidFill>
            <a:srgbClr val="EBF1F8"/>
          </a:solidFill>
          <a:ln w="9525">
            <a:solidFill>
              <a:srgbClr val="CBD5E1"/>
            </a:solidFill>
          </a:ln>
        </p:spPr>
        <p:txBody>
          <a:bodyPr wrap="square" lIns="72009" tIns="72009" rIns="72009" bIns="72009" rtlCol="0" anchor="ctr"/>
          <a:lstStyle/>
          <a:p>
            <a:pPr algn="l" indent="0" marL="0">
              <a:spcAft>
                <a:spcPts val="300"/>
              </a:spcAft>
              <a:buNone/>
            </a:pPr>
            <a:r>
              <a:rPr lang="en-US" sz="1400" b="1" dirty="0">
                <a:solidFill>
                  <a:srgbClr val="1B3A6B"/>
                </a:solidFill>
                <a:latin typeface="맑은 고딕" pitchFamily="34" charset="0"/>
                <a:ea typeface="맑은 고딕" pitchFamily="34" charset="-122"/>
                <a:cs typeface="맑은 고딕" pitchFamily="34" charset="-120"/>
              </a:rPr>
              <a:t>같은 요구를 받아도 왜 설계가 서로 달라지는가?</a:t>
            </a:r>
            <a:endParaRPr lang="en-US" sz="1400" dirty="0"/>
          </a:p>
          <a:p>
            <a:pPr algn="l" indent="0" marL="0">
              <a:spcBef>
                <a:spcPts val="300"/>
              </a:spcBef>
              <a:buNone/>
            </a:pPr>
            <a:r>
              <a:rPr lang="en-US" sz="1400" b="1" dirty="0">
                <a:solidFill>
                  <a:srgbClr val="007965"/>
                </a:solidFill>
                <a:latin typeface="맑은 고딕" pitchFamily="34" charset="0"/>
                <a:ea typeface="맑은 고딕" pitchFamily="34" charset="-122"/>
                <a:cs typeface="맑은 고딕" pitchFamily="34" charset="-120"/>
              </a:rPr>
              <a:t>관찰: </a:t>
            </a:r>
            <a:pPr algn="l" indent="0" marL="0">
              <a:spcBef>
                <a:spcPts val="300"/>
              </a:spcBef>
              <a:buNone/>
            </a:pPr>
            <a:r>
              <a:rPr lang="en-US" sz="1400" dirty="0">
                <a:solidFill>
                  <a:srgbClr val="2D3748"/>
                </a:solidFill>
                <a:latin typeface="맑은 고딕" pitchFamily="34" charset="0"/>
                <a:ea typeface="맑은 고딕" pitchFamily="34" charset="-122"/>
                <a:cs typeface="맑은 고딕" pitchFamily="34" charset="-120"/>
              </a:rPr>
              <a:t>같은 요구사항이라도 책임을 어디에 두느냐에 따라 설계가 달라진다 — 총액 계산 책임을 바깥의 서비스 함수에 두면 절차적인 설계가 되고, 데이터를 가진 Sale 객체에 두면 객체지향적인 설계가 된다.</a:t>
            </a:r>
            <a:endParaRPr lang="en-US" sz="1400" dirty="0"/>
          </a:p>
        </p:txBody>
      </p:sp>
      <p:sp>
        <p:nvSpPr>
          <p:cNvPr id="11" name="Shape 9"/>
          <p:cNvSpPr/>
          <p:nvPr/>
        </p:nvSpPr>
        <p:spPr>
          <a:xfrm>
            <a:off x="320040" y="3441192"/>
            <a:ext cx="4160520" cy="1024799"/>
          </a:xfrm>
          <a:prstGeom prst="rect">
            <a:avLst/>
          </a:prstGeom>
          <a:solidFill>
            <a:srgbClr val="FFFFFF"/>
          </a:solidFill>
          <a:ln w="15875">
            <a:solidFill>
              <a:srgbClr val="1B3A6B"/>
            </a:solidFill>
            <a:prstDash val="solid"/>
          </a:ln>
        </p:spPr>
      </p:sp>
      <p:sp>
        <p:nvSpPr>
          <p:cNvPr id="12" name="Text 10"/>
          <p:cNvSpPr/>
          <p:nvPr/>
        </p:nvSpPr>
        <p:spPr>
          <a:xfrm>
            <a:off x="320040" y="3441192"/>
            <a:ext cx="4160520" cy="384048"/>
          </a:xfrm>
          <a:prstGeom prst="rect">
            <a:avLst/>
          </a:prstGeom>
          <a:solidFill>
            <a:srgbClr val="1B3A6B"/>
          </a:solidFill>
          <a:ln/>
        </p:spPr>
        <p:txBody>
          <a:bodyPr wrap="square" lIns="72009" tIns="72009" rIns="72009" bIns="72009" rtlCol="0" anchor="ctr"/>
          <a:lstStyle/>
          <a:p>
            <a:pPr algn="ctr" indent="0" marL="0">
              <a:buNone/>
            </a:pPr>
            <a:r>
              <a:rPr lang="en-US" sz="1200" b="1" dirty="0">
                <a:solidFill>
                  <a:srgbClr val="FFFFFF"/>
                </a:solidFill>
                <a:latin typeface="맑은 고딕" pitchFamily="34" charset="0"/>
                <a:ea typeface="맑은 고딕" pitchFamily="34" charset="-122"/>
                <a:cs typeface="맑은 고딕" pitchFamily="34" charset="-120"/>
              </a:rPr>
              <a:t>바깥 서비스에 두면</a:t>
            </a:r>
            <a:endParaRPr lang="en-US" sz="1200" dirty="0"/>
          </a:p>
        </p:txBody>
      </p:sp>
      <p:sp>
        <p:nvSpPr>
          <p:cNvPr id="13" name="Text 11"/>
          <p:cNvSpPr/>
          <p:nvPr/>
        </p:nvSpPr>
        <p:spPr>
          <a:xfrm>
            <a:off x="320040" y="3825240"/>
            <a:ext cx="4160520" cy="640751"/>
          </a:xfrm>
          <a:prstGeom prst="rect">
            <a:avLst/>
          </a:prstGeom>
          <a:noFill/>
          <a:ln/>
        </p:spPr>
        <p:txBody>
          <a:bodyPr wrap="square" lIns="72009" tIns="72009" rIns="72009" bIns="72009" rtlCol="0" anchor="t"/>
          <a:lstStyle/>
          <a:p>
            <a:pPr marL="127000" indent="-127000">
              <a:spcBef>
                <a:spcPts val="300"/>
              </a:spcBef>
              <a:spcAft>
                <a:spcPts val="300"/>
              </a:spcAft>
              <a:buSzPct val="100000"/>
              <a:buChar char="•"/>
            </a:pPr>
            <a:r>
              <a:rPr lang="en-US" sz="1200" dirty="0">
                <a:solidFill>
                  <a:srgbClr val="2D3748"/>
                </a:solidFill>
                <a:latin typeface="맑은 고딕" pitchFamily="34" charset="0"/>
                <a:ea typeface="맑은 고딕" pitchFamily="34" charset="-122"/>
                <a:cs typeface="맑은 고딕" pitchFamily="34" charset="-120"/>
              </a:rPr>
              <a:t>절차적인 설계가 된다 — 데이터를 가진 객체와 그것을 다루는 로직이 따로 논다.</a:t>
            </a:r>
            <a:endParaRPr lang="en-US" sz="1200" dirty="0"/>
          </a:p>
        </p:txBody>
      </p:sp>
      <p:sp>
        <p:nvSpPr>
          <p:cNvPr id="14" name="Shape 12"/>
          <p:cNvSpPr/>
          <p:nvPr/>
        </p:nvSpPr>
        <p:spPr>
          <a:xfrm>
            <a:off x="4663440" y="3441192"/>
            <a:ext cx="4160520" cy="1024799"/>
          </a:xfrm>
          <a:prstGeom prst="rect">
            <a:avLst/>
          </a:prstGeom>
          <a:solidFill>
            <a:srgbClr val="FFFFFF"/>
          </a:solidFill>
          <a:ln w="15875">
            <a:solidFill>
              <a:srgbClr val="1B3A6B"/>
            </a:solidFill>
            <a:prstDash val="solid"/>
          </a:ln>
        </p:spPr>
      </p:sp>
      <p:sp>
        <p:nvSpPr>
          <p:cNvPr id="15" name="Text 13"/>
          <p:cNvSpPr/>
          <p:nvPr/>
        </p:nvSpPr>
        <p:spPr>
          <a:xfrm>
            <a:off x="4663440" y="3441192"/>
            <a:ext cx="4160520" cy="384048"/>
          </a:xfrm>
          <a:prstGeom prst="rect">
            <a:avLst/>
          </a:prstGeom>
          <a:solidFill>
            <a:srgbClr val="1B3A6B"/>
          </a:solidFill>
          <a:ln/>
        </p:spPr>
        <p:txBody>
          <a:bodyPr wrap="square" lIns="72009" tIns="72009" rIns="72009" bIns="72009" rtlCol="0" anchor="ctr"/>
          <a:lstStyle/>
          <a:p>
            <a:pPr algn="ctr" indent="0" marL="0">
              <a:buNone/>
            </a:pPr>
            <a:r>
              <a:rPr lang="en-US" sz="1200" b="1" dirty="0">
                <a:solidFill>
                  <a:srgbClr val="FFFFFF"/>
                </a:solidFill>
                <a:latin typeface="맑은 고딕" pitchFamily="34" charset="0"/>
                <a:ea typeface="맑은 고딕" pitchFamily="34" charset="-122"/>
                <a:cs typeface="맑은 고딕" pitchFamily="34" charset="-120"/>
              </a:rPr>
              <a:t>Sale 객체에 두면</a:t>
            </a:r>
            <a:endParaRPr lang="en-US" sz="1200" dirty="0"/>
          </a:p>
        </p:txBody>
      </p:sp>
      <p:sp>
        <p:nvSpPr>
          <p:cNvPr id="16" name="Text 14"/>
          <p:cNvSpPr/>
          <p:nvPr/>
        </p:nvSpPr>
        <p:spPr>
          <a:xfrm>
            <a:off x="4663440" y="3825240"/>
            <a:ext cx="4160520" cy="640751"/>
          </a:xfrm>
          <a:prstGeom prst="rect">
            <a:avLst/>
          </a:prstGeom>
          <a:noFill/>
          <a:ln/>
        </p:spPr>
        <p:txBody>
          <a:bodyPr wrap="square" lIns="72009" tIns="72009" rIns="72009" bIns="72009" rtlCol="0" anchor="t"/>
          <a:lstStyle/>
          <a:p>
            <a:pPr marL="127000" indent="-127000">
              <a:spcBef>
                <a:spcPts val="300"/>
              </a:spcBef>
              <a:spcAft>
                <a:spcPts val="300"/>
              </a:spcAft>
              <a:buSzPct val="100000"/>
              <a:buChar char="•"/>
            </a:pPr>
            <a:r>
              <a:rPr lang="en-US" sz="1200" dirty="0">
                <a:solidFill>
                  <a:srgbClr val="2D3748"/>
                </a:solidFill>
                <a:latin typeface="맑은 고딕" pitchFamily="34" charset="0"/>
                <a:ea typeface="맑은 고딕" pitchFamily="34" charset="-122"/>
                <a:cs typeface="맑은 고딕" pitchFamily="34" charset="-120"/>
              </a:rPr>
              <a:t>객체지향적인 설계가 된다 — 데이터와 그것을 다루는 로직이 한곳에 산다.</a:t>
            </a:r>
            <a:endParaRPr lang="en-US" sz="1200" dirty="0"/>
          </a:p>
        </p:txBody>
      </p:sp>
      <p:sp>
        <p:nvSpPr>
          <p:cNvPr id="17" name="Shape 15"/>
          <p:cNvSpPr/>
          <p:nvPr/>
        </p:nvSpPr>
        <p:spPr>
          <a:xfrm>
            <a:off x="320040" y="5212080"/>
            <a:ext cx="8503920" cy="0"/>
          </a:xfrm>
          <a:prstGeom prst="line">
            <a:avLst/>
          </a:prstGeom>
          <a:noFill/>
          <a:ln w="6350">
            <a:solidFill>
              <a:srgbClr val="CBD5E1"/>
            </a:solidFill>
            <a:prstDash val="solid"/>
          </a:ln>
        </p:spPr>
      </p:sp>
      <p:sp>
        <p:nvSpPr>
          <p:cNvPr id="18" name="Text 16"/>
          <p:cNvSpPr/>
          <p:nvPr/>
        </p:nvSpPr>
        <p:spPr>
          <a:xfrm>
            <a:off x="320040" y="5394960"/>
            <a:ext cx="8503920" cy="914400"/>
          </a:xfrm>
          <a:prstGeom prst="rect">
            <a:avLst/>
          </a:prstGeom>
          <a:noFill/>
          <a:ln/>
        </p:spPr>
        <p:txBody>
          <a:bodyPr wrap="square" lIns="0" tIns="0" rIns="0" bIns="0" rtlCol="0" anchor="t"/>
          <a:lstStyle/>
          <a:p>
            <a:pPr indent="0" marL="0">
              <a:spcBef>
                <a:spcPts val="300"/>
              </a:spcBef>
              <a:spcAft>
                <a:spcPts val="300"/>
              </a:spcAft>
              <a:buNone/>
            </a:pPr>
            <a:r>
              <a:rPr lang="en-US" sz="1400" b="1" dirty="0">
                <a:solidFill>
                  <a:srgbClr val="1B3A6B"/>
                </a:solidFill>
                <a:latin typeface="맑은 고딕" pitchFamily="34" charset="0"/>
                <a:ea typeface="맑은 고딕" pitchFamily="34" charset="-122"/>
                <a:cs typeface="맑은 고딕" pitchFamily="34" charset="-120"/>
              </a:rPr>
              <a:t>판단:  </a:t>
            </a:r>
            <a:pPr indent="0" marL="0">
              <a:spcBef>
                <a:spcPts val="300"/>
              </a:spcBef>
              <a:spcAft>
                <a:spcPts val="300"/>
              </a:spcAft>
              <a:buNone/>
            </a:pPr>
            <a:r>
              <a:rPr lang="en-US" sz="1400" dirty="0">
                <a:solidFill>
                  <a:srgbClr val="2D3748"/>
                </a:solidFill>
                <a:latin typeface="맑은 고딕" pitchFamily="34" charset="0"/>
                <a:ea typeface="맑은 고딕" pitchFamily="34" charset="-122"/>
                <a:cs typeface="맑은 고딕" pitchFamily="34" charset="-120"/>
              </a:rPr>
              <a:t>책임 배치에는 미리 정해진 정답표가 없다 — 그래서 이 판단을 도울 도구가 필요하다.</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20040" y="182880"/>
            <a:ext cx="8503920" cy="457200"/>
          </a:xfrm>
          <a:prstGeom prst="rect">
            <a:avLst/>
          </a:prstGeom>
          <a:noFill/>
          <a:ln/>
        </p:spPr>
        <p:txBody>
          <a:bodyPr wrap="square" lIns="0" tIns="0" rIns="0" bIns="0" rtlCol="0" anchor="ctr"/>
          <a:lstStyle/>
          <a:p>
            <a:pPr algn="l" indent="0" marL="0">
              <a:buNone/>
            </a:pPr>
            <a:r>
              <a:rPr lang="en-US" sz="2200" b="1" dirty="0">
                <a:solidFill>
                  <a:srgbClr val="1B3A6B"/>
                </a:solidFill>
                <a:latin typeface="맑은 고딕" pitchFamily="34" charset="0"/>
                <a:ea typeface="맑은 고딕" pitchFamily="34" charset="-122"/>
                <a:cs typeface="맑은 고딕" pitchFamily="34" charset="-120"/>
              </a:rPr>
              <a:t>04. 책임 주도 설계를 돕는 도구들</a:t>
            </a:r>
            <a:endParaRPr lang="en-US" sz="2200" dirty="0"/>
          </a:p>
        </p:txBody>
      </p:sp>
      <p:sp>
        <p:nvSpPr>
          <p:cNvPr id="3" name="Shape 1"/>
          <p:cNvSpPr/>
          <p:nvPr/>
        </p:nvSpPr>
        <p:spPr>
          <a:xfrm>
            <a:off x="320040" y="731520"/>
            <a:ext cx="8503920" cy="0"/>
          </a:xfrm>
          <a:prstGeom prst="line">
            <a:avLst/>
          </a:prstGeom>
          <a:noFill/>
          <a:ln w="19050">
            <a:solidFill>
              <a:srgbClr val="1B3A6B"/>
            </a:solidFill>
            <a:prstDash val="solid"/>
          </a:ln>
        </p:spPr>
      </p:sp>
      <p:sp>
        <p:nvSpPr>
          <p:cNvPr id="4" name="Shape 2"/>
          <p:cNvSpPr/>
          <p:nvPr/>
        </p:nvSpPr>
        <p:spPr>
          <a:xfrm>
            <a:off x="320040" y="6492240"/>
            <a:ext cx="8503920" cy="0"/>
          </a:xfrm>
          <a:prstGeom prst="line">
            <a:avLst/>
          </a:prstGeom>
          <a:noFill/>
          <a:ln w="6350">
            <a:solidFill>
              <a:srgbClr val="CBD5E1"/>
            </a:solidFill>
            <a:prstDash val="solid"/>
          </a:ln>
        </p:spPr>
      </p:sp>
      <p:sp>
        <p:nvSpPr>
          <p:cNvPr id="5" name="Text 3"/>
          <p:cNvSpPr/>
          <p:nvPr/>
        </p:nvSpPr>
        <p:spPr>
          <a:xfrm>
            <a:off x="320040" y="6537960"/>
            <a:ext cx="3657600" cy="182880"/>
          </a:xfrm>
          <a:prstGeom prst="rect">
            <a:avLst/>
          </a:prstGeom>
          <a:noFill/>
          <a:ln/>
        </p:spPr>
        <p:txBody>
          <a:bodyPr wrap="square" lIns="0" tIns="0" rIns="0" bIns="0" rtlCol="0" anchor="ctr"/>
          <a:lstStyle/>
          <a:p>
            <a:pPr indent="0" marL="0">
              <a:buNone/>
            </a:pPr>
            <a:r>
              <a:rPr lang="en-US" sz="800" dirty="0">
                <a:solidFill>
                  <a:srgbClr val="6B7280"/>
                </a:solidFill>
                <a:latin typeface="맑은 고딕" pitchFamily="34" charset="0"/>
                <a:ea typeface="맑은 고딕" pitchFamily="34" charset="-122"/>
                <a:cs typeface="맑은 고딕" pitchFamily="34" charset="-120"/>
              </a:rPr>
              <a:t>9. 책임 주도 설계(GRASP) 강의</a:t>
            </a:r>
            <a:endParaRPr lang="en-US" sz="800" dirty="0"/>
          </a:p>
        </p:txBody>
      </p:sp>
      <p:sp>
        <p:nvSpPr>
          <p:cNvPr id="6" name="Text 4"/>
          <p:cNvSpPr/>
          <p:nvPr/>
        </p:nvSpPr>
        <p:spPr>
          <a:xfrm>
            <a:off x="4114800" y="6537960"/>
            <a:ext cx="914400" cy="182880"/>
          </a:xfrm>
          <a:prstGeom prst="rect">
            <a:avLst/>
          </a:prstGeom>
          <a:noFill/>
          <a:ln/>
        </p:spPr>
        <p:txBody>
          <a:bodyPr wrap="square" lIns="0" tIns="0" rIns="0" bIns="0" rtlCol="0" anchor="ctr"/>
          <a:lstStyle/>
          <a:p>
            <a:pPr algn="ctr" indent="0" marL="0">
              <a:buNone/>
            </a:pPr>
            <a:r>
              <a:rPr lang="en-US" sz="800" dirty="0">
                <a:solidFill>
                  <a:srgbClr val="6B7280"/>
                </a:solidFill>
                <a:latin typeface="맑은 고딕" pitchFamily="34" charset="0"/>
                <a:ea typeface="맑은 고딕" pitchFamily="34" charset="-122"/>
                <a:cs typeface="맑은 고딕" pitchFamily="34" charset="-120"/>
              </a:rPr>
              <a:t>5</a:t>
            </a:r>
            <a:endParaRPr lang="en-US" sz="800" dirty="0"/>
          </a:p>
        </p:txBody>
      </p:sp>
      <p:sp>
        <p:nvSpPr>
          <p:cNvPr id="7" name="Text 5"/>
          <p:cNvSpPr/>
          <p:nvPr/>
        </p:nvSpPr>
        <p:spPr>
          <a:xfrm>
            <a:off x="4572000" y="6537960"/>
            <a:ext cx="4251960" cy="182880"/>
          </a:xfrm>
          <a:prstGeom prst="rect">
            <a:avLst/>
          </a:prstGeom>
          <a:noFill/>
          <a:ln/>
        </p:spPr>
        <p:txBody>
          <a:bodyPr wrap="square" lIns="0" tIns="0" rIns="0" bIns="0" rtlCol="0" anchor="ctr"/>
          <a:lstStyle/>
          <a:p>
            <a:pPr algn="r" indent="0" marL="0">
              <a:buNone/>
            </a:pPr>
            <a:r>
              <a:rPr lang="en-US" sz="800" dirty="0">
                <a:solidFill>
                  <a:srgbClr val="6B7280"/>
                </a:solidFill>
                <a:latin typeface="맑은 고딕" pitchFamily="34" charset="0"/>
                <a:ea typeface="맑은 고딕" pitchFamily="34" charset="-122"/>
                <a:cs typeface="맑은 고딕" pitchFamily="34" charset="-120"/>
              </a:rPr>
              <a:t>Generated by Claude | Concepts, Requirements and feedback: Youngon Kim</a:t>
            </a:r>
            <a:endParaRPr lang="en-US" sz="800" dirty="0"/>
          </a:p>
        </p:txBody>
      </p:sp>
      <p:sp>
        <p:nvSpPr>
          <p:cNvPr id="8" name="Text 6"/>
          <p:cNvSpPr/>
          <p:nvPr/>
        </p:nvSpPr>
        <p:spPr>
          <a:xfrm>
            <a:off x="320040" y="868680"/>
            <a:ext cx="8503920" cy="274320"/>
          </a:xfrm>
          <a:prstGeom prst="rect">
            <a:avLst/>
          </a:prstGeom>
          <a:noFill/>
          <a:ln/>
        </p:spPr>
        <p:txBody>
          <a:bodyPr wrap="square" lIns="0" tIns="0" rIns="0" bIns="0" rtlCol="0" anchor="ctr"/>
          <a:lstStyle/>
          <a:p>
            <a:pPr algn="ctr" indent="0" marL="0">
              <a:buNone/>
            </a:pPr>
            <a:r>
              <a:rPr lang="en-US" sz="1400" b="1" dirty="0">
                <a:solidFill>
                  <a:srgbClr val="6B7280"/>
                </a:solidFill>
                <a:latin typeface="맑은 고딕" pitchFamily="34" charset="0"/>
                <a:ea typeface="맑은 고딕" pitchFamily="34" charset="-122"/>
                <a:cs typeface="맑은 고딕" pitchFamily="34" charset="-120"/>
              </a:rPr>
              <a:t>[원칙] </a:t>
            </a:r>
            <a:pPr algn="ctr" indent="0" marL="0">
              <a:buNone/>
            </a:pPr>
            <a:r>
              <a:rPr lang="en-US" sz="1400" b="1" dirty="0">
                <a:solidFill>
                  <a:srgbClr val="2D3748"/>
                </a:solidFill>
                <a:latin typeface="맑은 고딕" pitchFamily="34" charset="0"/>
                <a:ea typeface="맑은 고딕" pitchFamily="34" charset="-122"/>
                <a:cs typeface="맑은 고딕" pitchFamily="34" charset="-120"/>
              </a:rPr>
              <a:t>GRASP·SOLID·계약에 의한 설계, 세 도구가 책임 배치를 돕는다.</a:t>
            </a:r>
            <a:endParaRPr lang="en-US" sz="1400" dirty="0"/>
          </a:p>
        </p:txBody>
      </p:sp>
      <p:sp>
        <p:nvSpPr>
          <p:cNvPr id="9" name="Shape 7"/>
          <p:cNvSpPr/>
          <p:nvPr/>
        </p:nvSpPr>
        <p:spPr>
          <a:xfrm>
            <a:off x="320040" y="1234440"/>
            <a:ext cx="8503920" cy="0"/>
          </a:xfrm>
          <a:prstGeom prst="line">
            <a:avLst/>
          </a:prstGeom>
          <a:noFill/>
          <a:ln w="6350">
            <a:solidFill>
              <a:srgbClr val="CBD5E1"/>
            </a:solidFill>
            <a:prstDash val="solid"/>
          </a:ln>
        </p:spPr>
      </p:sp>
      <p:sp>
        <p:nvSpPr>
          <p:cNvPr id="10" name="Text 8"/>
          <p:cNvSpPr/>
          <p:nvPr/>
        </p:nvSpPr>
        <p:spPr>
          <a:xfrm>
            <a:off x="320040" y="1325880"/>
            <a:ext cx="8503920" cy="1259495"/>
          </a:xfrm>
          <a:prstGeom prst="rect">
            <a:avLst/>
          </a:prstGeom>
          <a:solidFill>
            <a:srgbClr val="EBF1F8"/>
          </a:solidFill>
          <a:ln w="9525">
            <a:solidFill>
              <a:srgbClr val="CBD5E1"/>
            </a:solidFill>
          </a:ln>
        </p:spPr>
        <p:txBody>
          <a:bodyPr wrap="square" lIns="72009" tIns="72009" rIns="72009" bIns="72009" rtlCol="0" anchor="ctr"/>
          <a:lstStyle/>
          <a:p>
            <a:pPr algn="l" indent="0" marL="0">
              <a:spcAft>
                <a:spcPts val="300"/>
              </a:spcAft>
              <a:buNone/>
            </a:pPr>
            <a:r>
              <a:rPr lang="en-US" sz="1400" b="1" dirty="0">
                <a:solidFill>
                  <a:srgbClr val="1B3A6B"/>
                </a:solidFill>
                <a:latin typeface="맑은 고딕" pitchFamily="34" charset="0"/>
                <a:ea typeface="맑은 고딕" pitchFamily="34" charset="-122"/>
                <a:cs typeface="맑은 고딕" pitchFamily="34" charset="-120"/>
              </a:rPr>
              <a:t>책임 배치를 판단할 때 무엇에 기댈 수 있는가?</a:t>
            </a:r>
            <a:endParaRPr lang="en-US" sz="1400" dirty="0"/>
          </a:p>
          <a:p>
            <a:pPr algn="l" indent="0" marL="0">
              <a:spcBef>
                <a:spcPts val="300"/>
              </a:spcBef>
              <a:buNone/>
            </a:pPr>
            <a:r>
              <a:rPr lang="en-US" sz="1400" b="1" dirty="0">
                <a:solidFill>
                  <a:srgbClr val="007965"/>
                </a:solidFill>
                <a:latin typeface="맑은 고딕" pitchFamily="34" charset="0"/>
                <a:ea typeface="맑은 고딕" pitchFamily="34" charset="-122"/>
                <a:cs typeface="맑은 고딕" pitchFamily="34" charset="-120"/>
              </a:rPr>
              <a:t>관계: </a:t>
            </a:r>
            <a:pPr algn="l" indent="0" marL="0">
              <a:spcBef>
                <a:spcPts val="300"/>
              </a:spcBef>
              <a:buNone/>
            </a:pPr>
            <a:r>
              <a:rPr lang="en-US" sz="1400" dirty="0">
                <a:solidFill>
                  <a:srgbClr val="2D3748"/>
                </a:solidFill>
                <a:latin typeface="맑은 고딕" pitchFamily="34" charset="0"/>
                <a:ea typeface="맑은 고딕" pitchFamily="34" charset="-122"/>
                <a:cs typeface="맑은 고딕" pitchFamily="34" charset="-120"/>
              </a:rPr>
              <a:t>일반 책임 할당 소프트웨어 패턴(General Responsibility Assignment Software Patterns, GRASP)은 책임 할당 판단을 돕는 아홉 가지 관점이다. SOLID처럼 하나로 정돈된 틀이지만 유일한 정답은 아니다 — 그래도 책임을 명료하게 사고하도록 검증된 렌즈다.</a:t>
            </a:r>
            <a:endParaRPr lang="en-US" sz="1400" dirty="0"/>
          </a:p>
        </p:txBody>
      </p:sp>
      <p:sp>
        <p:nvSpPr>
          <p:cNvPr id="11" name="Shape 9"/>
          <p:cNvSpPr/>
          <p:nvPr/>
        </p:nvSpPr>
        <p:spPr>
          <a:xfrm>
            <a:off x="320040" y="3220212"/>
            <a:ext cx="2712720" cy="1466759"/>
          </a:xfrm>
          <a:prstGeom prst="rect">
            <a:avLst/>
          </a:prstGeom>
          <a:solidFill>
            <a:srgbClr val="FFFFFF"/>
          </a:solidFill>
          <a:ln w="15875">
            <a:solidFill>
              <a:srgbClr val="1B3A6B"/>
            </a:solidFill>
            <a:prstDash val="solid"/>
          </a:ln>
        </p:spPr>
      </p:sp>
      <p:sp>
        <p:nvSpPr>
          <p:cNvPr id="12" name="Text 10"/>
          <p:cNvSpPr/>
          <p:nvPr/>
        </p:nvSpPr>
        <p:spPr>
          <a:xfrm>
            <a:off x="320040" y="3220212"/>
            <a:ext cx="2712720" cy="384048"/>
          </a:xfrm>
          <a:prstGeom prst="rect">
            <a:avLst/>
          </a:prstGeom>
          <a:solidFill>
            <a:srgbClr val="1B3A6B"/>
          </a:solidFill>
          <a:ln/>
        </p:spPr>
        <p:txBody>
          <a:bodyPr wrap="square" lIns="72009" tIns="72009" rIns="72009" bIns="72009" rtlCol="0" anchor="ctr"/>
          <a:lstStyle/>
          <a:p>
            <a:pPr algn="ctr" indent="0" marL="0">
              <a:buNone/>
            </a:pPr>
            <a:r>
              <a:rPr lang="en-US" sz="1200" b="1" dirty="0">
                <a:solidFill>
                  <a:srgbClr val="FFFFFF"/>
                </a:solidFill>
                <a:latin typeface="맑은 고딕" pitchFamily="34" charset="0"/>
                <a:ea typeface="맑은 고딕" pitchFamily="34" charset="-122"/>
                <a:cs typeface="맑은 고딕" pitchFamily="34" charset="-120"/>
              </a:rPr>
              <a:t>GRASP</a:t>
            </a:r>
            <a:endParaRPr lang="en-US" sz="1200" dirty="0"/>
          </a:p>
        </p:txBody>
      </p:sp>
      <p:sp>
        <p:nvSpPr>
          <p:cNvPr id="13" name="Text 11"/>
          <p:cNvSpPr/>
          <p:nvPr/>
        </p:nvSpPr>
        <p:spPr>
          <a:xfrm>
            <a:off x="320040" y="3604260"/>
            <a:ext cx="2712720" cy="1082711"/>
          </a:xfrm>
          <a:prstGeom prst="rect">
            <a:avLst/>
          </a:prstGeom>
          <a:noFill/>
          <a:ln/>
        </p:spPr>
        <p:txBody>
          <a:bodyPr wrap="square" lIns="72009" tIns="72009" rIns="72009" bIns="72009" rtlCol="0" anchor="t"/>
          <a:lstStyle/>
          <a:p>
            <a:pPr marL="127000" indent="-127000">
              <a:spcBef>
                <a:spcPts val="300"/>
              </a:spcBef>
              <a:spcAft>
                <a:spcPts val="300"/>
              </a:spcAft>
              <a:buSzPct val="100000"/>
              <a:buChar char="•"/>
            </a:pPr>
            <a:r>
              <a:rPr lang="en-US" sz="1200" dirty="0">
                <a:solidFill>
                  <a:srgbClr val="2D3748"/>
                </a:solidFill>
                <a:latin typeface="맑은 고딕" pitchFamily="34" charset="0"/>
                <a:ea typeface="맑은 고딕" pitchFamily="34" charset="-122"/>
                <a:cs typeface="맑은 고딕" pitchFamily="34" charset="-120"/>
              </a:rPr>
              <a:t>책임을 "어디에" 둘지 판단하도록 돕는 아홉 가지 관점이다.</a:t>
            </a:r>
            <a:endParaRPr lang="en-US" sz="1200" dirty="0"/>
          </a:p>
        </p:txBody>
      </p:sp>
      <p:sp>
        <p:nvSpPr>
          <p:cNvPr id="14" name="Shape 12"/>
          <p:cNvSpPr/>
          <p:nvPr/>
        </p:nvSpPr>
        <p:spPr>
          <a:xfrm>
            <a:off x="3215640" y="3220212"/>
            <a:ext cx="2712720" cy="1466759"/>
          </a:xfrm>
          <a:prstGeom prst="rect">
            <a:avLst/>
          </a:prstGeom>
          <a:solidFill>
            <a:srgbClr val="FFFFFF"/>
          </a:solidFill>
          <a:ln w="15875">
            <a:solidFill>
              <a:srgbClr val="1B3A6B"/>
            </a:solidFill>
            <a:prstDash val="solid"/>
          </a:ln>
        </p:spPr>
      </p:sp>
      <p:sp>
        <p:nvSpPr>
          <p:cNvPr id="15" name="Text 13"/>
          <p:cNvSpPr/>
          <p:nvPr/>
        </p:nvSpPr>
        <p:spPr>
          <a:xfrm>
            <a:off x="3215640" y="3220212"/>
            <a:ext cx="2712720" cy="384048"/>
          </a:xfrm>
          <a:prstGeom prst="rect">
            <a:avLst/>
          </a:prstGeom>
          <a:solidFill>
            <a:srgbClr val="1B3A6B"/>
          </a:solidFill>
          <a:ln/>
        </p:spPr>
        <p:txBody>
          <a:bodyPr wrap="square" lIns="72009" tIns="72009" rIns="72009" bIns="72009" rtlCol="0" anchor="ctr"/>
          <a:lstStyle/>
          <a:p>
            <a:pPr algn="ctr" indent="0" marL="0">
              <a:buNone/>
            </a:pPr>
            <a:r>
              <a:rPr lang="en-US" sz="1200" b="1" dirty="0">
                <a:solidFill>
                  <a:srgbClr val="FFFFFF"/>
                </a:solidFill>
                <a:latin typeface="맑은 고딕" pitchFamily="34" charset="0"/>
                <a:ea typeface="맑은 고딕" pitchFamily="34" charset="-122"/>
                <a:cs typeface="맑은 고딕" pitchFamily="34" charset="-120"/>
              </a:rPr>
              <a:t>SOLID</a:t>
            </a:r>
            <a:endParaRPr lang="en-US" sz="1200" dirty="0"/>
          </a:p>
        </p:txBody>
      </p:sp>
      <p:sp>
        <p:nvSpPr>
          <p:cNvPr id="16" name="Text 14"/>
          <p:cNvSpPr/>
          <p:nvPr/>
        </p:nvSpPr>
        <p:spPr>
          <a:xfrm>
            <a:off x="3215640" y="3604260"/>
            <a:ext cx="2712720" cy="1082711"/>
          </a:xfrm>
          <a:prstGeom prst="rect">
            <a:avLst/>
          </a:prstGeom>
          <a:noFill/>
          <a:ln/>
        </p:spPr>
        <p:txBody>
          <a:bodyPr wrap="square" lIns="72009" tIns="72009" rIns="72009" bIns="72009" rtlCol="0" anchor="t"/>
          <a:lstStyle/>
          <a:p>
            <a:pPr marL="127000" indent="-127000">
              <a:spcBef>
                <a:spcPts val="300"/>
              </a:spcBef>
              <a:spcAft>
                <a:spcPts val="300"/>
              </a:spcAft>
              <a:buSzPct val="100000"/>
              <a:buChar char="•"/>
            </a:pPr>
            <a:r>
              <a:rPr lang="en-US" sz="1200" dirty="0">
                <a:solidFill>
                  <a:srgbClr val="2D3748"/>
                </a:solidFill>
                <a:latin typeface="맑은 고딕" pitchFamily="34" charset="0"/>
                <a:ea typeface="맑은 고딕" pitchFamily="34" charset="-122"/>
                <a:cs typeface="맑은 고딕" pitchFamily="34" charset="-120"/>
              </a:rPr>
              <a:t>그 배치가 변화에 견디는지 보는 원칙이다.</a:t>
            </a:r>
            <a:endParaRPr lang="en-US" sz="1200" dirty="0"/>
          </a:p>
          <a:p>
            <a:pPr marL="127000" indent="-127000">
              <a:spcBef>
                <a:spcPts val="300"/>
              </a:spcBef>
              <a:spcAft>
                <a:spcPts val="300"/>
              </a:spcAft>
              <a:buSzPct val="100000"/>
              <a:buChar char="•"/>
            </a:pPr>
            <a:r>
              <a:rPr lang="en-US" sz="1200" dirty="0">
                <a:solidFill>
                  <a:srgbClr val="2D3748"/>
                </a:solidFill>
                <a:latin typeface="맑은 고딕" pitchFamily="34" charset="0"/>
                <a:ea typeface="맑은 고딕" pitchFamily="34" charset="-122"/>
                <a:cs typeface="맑은 고딕" pitchFamily="34" charset="-120"/>
              </a:rPr>
              <a:t>특히 단일 책임 원칙·의존관계 역전 원칙.</a:t>
            </a:r>
            <a:endParaRPr lang="en-US" sz="1200" dirty="0"/>
          </a:p>
        </p:txBody>
      </p:sp>
      <p:sp>
        <p:nvSpPr>
          <p:cNvPr id="17" name="Shape 15"/>
          <p:cNvSpPr/>
          <p:nvPr/>
        </p:nvSpPr>
        <p:spPr>
          <a:xfrm>
            <a:off x="6111240" y="3220212"/>
            <a:ext cx="2712720" cy="1466759"/>
          </a:xfrm>
          <a:prstGeom prst="rect">
            <a:avLst/>
          </a:prstGeom>
          <a:solidFill>
            <a:srgbClr val="FFFFFF"/>
          </a:solidFill>
          <a:ln w="15875">
            <a:solidFill>
              <a:srgbClr val="1B3A6B"/>
            </a:solidFill>
            <a:prstDash val="solid"/>
          </a:ln>
        </p:spPr>
      </p:sp>
      <p:sp>
        <p:nvSpPr>
          <p:cNvPr id="18" name="Text 16"/>
          <p:cNvSpPr/>
          <p:nvPr/>
        </p:nvSpPr>
        <p:spPr>
          <a:xfrm>
            <a:off x="6111240" y="3220212"/>
            <a:ext cx="2712720" cy="384048"/>
          </a:xfrm>
          <a:prstGeom prst="rect">
            <a:avLst/>
          </a:prstGeom>
          <a:solidFill>
            <a:srgbClr val="1B3A6B"/>
          </a:solidFill>
          <a:ln/>
        </p:spPr>
        <p:txBody>
          <a:bodyPr wrap="square" lIns="72009" tIns="72009" rIns="72009" bIns="72009" rtlCol="0" anchor="ctr"/>
          <a:lstStyle/>
          <a:p>
            <a:pPr algn="ctr" indent="0" marL="0">
              <a:buNone/>
            </a:pPr>
            <a:r>
              <a:rPr lang="en-US" sz="1200" b="1" dirty="0">
                <a:solidFill>
                  <a:srgbClr val="FFFFFF"/>
                </a:solidFill>
                <a:latin typeface="맑은 고딕" pitchFamily="34" charset="0"/>
                <a:ea typeface="맑은 고딕" pitchFamily="34" charset="-122"/>
                <a:cs typeface="맑은 고딕" pitchFamily="34" charset="-120"/>
              </a:rPr>
              <a:t>계약에 의한 설계(Design by Contract, DbC)</a:t>
            </a:r>
            <a:endParaRPr lang="en-US" sz="1200" dirty="0"/>
          </a:p>
        </p:txBody>
      </p:sp>
      <p:sp>
        <p:nvSpPr>
          <p:cNvPr id="19" name="Text 17"/>
          <p:cNvSpPr/>
          <p:nvPr/>
        </p:nvSpPr>
        <p:spPr>
          <a:xfrm>
            <a:off x="6111240" y="3604260"/>
            <a:ext cx="2712720" cy="1082711"/>
          </a:xfrm>
          <a:prstGeom prst="rect">
            <a:avLst/>
          </a:prstGeom>
          <a:noFill/>
          <a:ln/>
        </p:spPr>
        <p:txBody>
          <a:bodyPr wrap="square" lIns="72009" tIns="72009" rIns="72009" bIns="72009" rtlCol="0" anchor="t"/>
          <a:lstStyle/>
          <a:p>
            <a:pPr marL="127000" indent="-127000">
              <a:spcBef>
                <a:spcPts val="300"/>
              </a:spcBef>
              <a:spcAft>
                <a:spcPts val="300"/>
              </a:spcAft>
              <a:buSzPct val="100000"/>
              <a:buChar char="•"/>
            </a:pPr>
            <a:r>
              <a:rPr lang="en-US" sz="1200" dirty="0">
                <a:solidFill>
                  <a:srgbClr val="2D3748"/>
                </a:solidFill>
                <a:latin typeface="맑은 고딕" pitchFamily="34" charset="0"/>
                <a:ea typeface="맑은 고딕" pitchFamily="34" charset="-122"/>
                <a:cs typeface="맑은 고딕" pitchFamily="34" charset="-120"/>
              </a:rPr>
              <a:t>책임에는 사전조건과 사후조건이라는 계약이 따른다는 관점이다.</a:t>
            </a:r>
            <a:endParaRPr lang="en-US" sz="1200" dirty="0"/>
          </a:p>
        </p:txBody>
      </p:sp>
      <p:sp>
        <p:nvSpPr>
          <p:cNvPr id="20" name="Shape 18"/>
          <p:cNvSpPr/>
          <p:nvPr/>
        </p:nvSpPr>
        <p:spPr>
          <a:xfrm>
            <a:off x="320040" y="5212080"/>
            <a:ext cx="8503920" cy="0"/>
          </a:xfrm>
          <a:prstGeom prst="line">
            <a:avLst/>
          </a:prstGeom>
          <a:noFill/>
          <a:ln w="6350">
            <a:solidFill>
              <a:srgbClr val="CBD5E1"/>
            </a:solidFill>
            <a:prstDash val="solid"/>
          </a:ln>
        </p:spPr>
      </p:sp>
      <p:sp>
        <p:nvSpPr>
          <p:cNvPr id="21" name="Text 19"/>
          <p:cNvSpPr/>
          <p:nvPr/>
        </p:nvSpPr>
        <p:spPr>
          <a:xfrm>
            <a:off x="320040" y="5394960"/>
            <a:ext cx="8503920" cy="914400"/>
          </a:xfrm>
          <a:prstGeom prst="rect">
            <a:avLst/>
          </a:prstGeom>
          <a:noFill/>
          <a:ln/>
        </p:spPr>
        <p:txBody>
          <a:bodyPr wrap="square" lIns="0" tIns="0" rIns="0" bIns="0" rtlCol="0" anchor="t"/>
          <a:lstStyle/>
          <a:p>
            <a:pPr indent="0" marL="0">
              <a:spcBef>
                <a:spcPts val="300"/>
              </a:spcBef>
              <a:spcAft>
                <a:spcPts val="300"/>
              </a:spcAft>
              <a:buNone/>
            </a:pPr>
            <a:r>
              <a:rPr lang="en-US" sz="1400" b="1" dirty="0">
                <a:solidFill>
                  <a:srgbClr val="1B3A6B"/>
                </a:solidFill>
                <a:latin typeface="맑은 고딕" pitchFamily="34" charset="0"/>
                <a:ea typeface="맑은 고딕" pitchFamily="34" charset="-122"/>
                <a:cs typeface="맑은 고딕" pitchFamily="34" charset="-120"/>
              </a:rPr>
              <a:t>규율:  </a:t>
            </a:r>
            <a:pPr indent="0" marL="0">
              <a:spcBef>
                <a:spcPts val="300"/>
              </a:spcBef>
              <a:spcAft>
                <a:spcPts val="300"/>
              </a:spcAft>
              <a:buNone/>
            </a:pPr>
            <a:r>
              <a:rPr lang="en-US" sz="1400" dirty="0">
                <a:solidFill>
                  <a:srgbClr val="2D3748"/>
                </a:solidFill>
                <a:latin typeface="맑은 고딕" pitchFamily="34" charset="0"/>
                <a:ea typeface="맑은 고딕" pitchFamily="34" charset="-122"/>
                <a:cs typeface="맑은 고딕" pitchFamily="34" charset="-120"/>
              </a:rPr>
              <a:t>GRASP는 정답표가 아니다 — 이제부터 여섯 원칙을 정보 소재 추론으로 하나씩 확인한다.</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20040" y="182880"/>
            <a:ext cx="8503920" cy="457200"/>
          </a:xfrm>
          <a:prstGeom prst="rect">
            <a:avLst/>
          </a:prstGeom>
          <a:noFill/>
          <a:ln/>
        </p:spPr>
        <p:txBody>
          <a:bodyPr wrap="square" lIns="0" tIns="0" rIns="0" bIns="0" rtlCol="0" anchor="ctr"/>
          <a:lstStyle/>
          <a:p>
            <a:pPr algn="l" indent="0" marL="0">
              <a:buNone/>
            </a:pPr>
            <a:r>
              <a:rPr lang="en-US" sz="2200" b="1" dirty="0">
                <a:solidFill>
                  <a:srgbClr val="1B3A6B"/>
                </a:solidFill>
                <a:latin typeface="맑은 고딕" pitchFamily="34" charset="0"/>
                <a:ea typeface="맑은 고딕" pitchFamily="34" charset="-122"/>
                <a:cs typeface="맑은 고딕" pitchFamily="34" charset="-120"/>
              </a:rPr>
              <a:t>05. 정보 전문가(Information Expert)</a:t>
            </a:r>
            <a:endParaRPr lang="en-US" sz="2200" dirty="0"/>
          </a:p>
        </p:txBody>
      </p:sp>
      <p:sp>
        <p:nvSpPr>
          <p:cNvPr id="3" name="Shape 1"/>
          <p:cNvSpPr/>
          <p:nvPr/>
        </p:nvSpPr>
        <p:spPr>
          <a:xfrm>
            <a:off x="320040" y="731520"/>
            <a:ext cx="8503920" cy="0"/>
          </a:xfrm>
          <a:prstGeom prst="line">
            <a:avLst/>
          </a:prstGeom>
          <a:noFill/>
          <a:ln w="19050">
            <a:solidFill>
              <a:srgbClr val="1B3A6B"/>
            </a:solidFill>
            <a:prstDash val="solid"/>
          </a:ln>
        </p:spPr>
      </p:sp>
      <p:sp>
        <p:nvSpPr>
          <p:cNvPr id="4" name="Shape 2"/>
          <p:cNvSpPr/>
          <p:nvPr/>
        </p:nvSpPr>
        <p:spPr>
          <a:xfrm>
            <a:off x="320040" y="6492240"/>
            <a:ext cx="8503920" cy="0"/>
          </a:xfrm>
          <a:prstGeom prst="line">
            <a:avLst/>
          </a:prstGeom>
          <a:noFill/>
          <a:ln w="6350">
            <a:solidFill>
              <a:srgbClr val="CBD5E1"/>
            </a:solidFill>
            <a:prstDash val="solid"/>
          </a:ln>
        </p:spPr>
      </p:sp>
      <p:sp>
        <p:nvSpPr>
          <p:cNvPr id="5" name="Text 3"/>
          <p:cNvSpPr/>
          <p:nvPr/>
        </p:nvSpPr>
        <p:spPr>
          <a:xfrm>
            <a:off x="320040" y="6537960"/>
            <a:ext cx="3657600" cy="182880"/>
          </a:xfrm>
          <a:prstGeom prst="rect">
            <a:avLst/>
          </a:prstGeom>
          <a:noFill/>
          <a:ln/>
        </p:spPr>
        <p:txBody>
          <a:bodyPr wrap="square" lIns="0" tIns="0" rIns="0" bIns="0" rtlCol="0" anchor="ctr"/>
          <a:lstStyle/>
          <a:p>
            <a:pPr indent="0" marL="0">
              <a:buNone/>
            </a:pPr>
            <a:r>
              <a:rPr lang="en-US" sz="800" dirty="0">
                <a:solidFill>
                  <a:srgbClr val="6B7280"/>
                </a:solidFill>
                <a:latin typeface="맑은 고딕" pitchFamily="34" charset="0"/>
                <a:ea typeface="맑은 고딕" pitchFamily="34" charset="-122"/>
                <a:cs typeface="맑은 고딕" pitchFamily="34" charset="-120"/>
              </a:rPr>
              <a:t>9. 책임 주도 설계(GRASP) 강의</a:t>
            </a:r>
            <a:endParaRPr lang="en-US" sz="800" dirty="0"/>
          </a:p>
        </p:txBody>
      </p:sp>
      <p:sp>
        <p:nvSpPr>
          <p:cNvPr id="6" name="Text 4"/>
          <p:cNvSpPr/>
          <p:nvPr/>
        </p:nvSpPr>
        <p:spPr>
          <a:xfrm>
            <a:off x="4114800" y="6537960"/>
            <a:ext cx="914400" cy="182880"/>
          </a:xfrm>
          <a:prstGeom prst="rect">
            <a:avLst/>
          </a:prstGeom>
          <a:noFill/>
          <a:ln/>
        </p:spPr>
        <p:txBody>
          <a:bodyPr wrap="square" lIns="0" tIns="0" rIns="0" bIns="0" rtlCol="0" anchor="ctr"/>
          <a:lstStyle/>
          <a:p>
            <a:pPr algn="ctr" indent="0" marL="0">
              <a:buNone/>
            </a:pPr>
            <a:r>
              <a:rPr lang="en-US" sz="800" dirty="0">
                <a:solidFill>
                  <a:srgbClr val="6B7280"/>
                </a:solidFill>
                <a:latin typeface="맑은 고딕" pitchFamily="34" charset="0"/>
                <a:ea typeface="맑은 고딕" pitchFamily="34" charset="-122"/>
                <a:cs typeface="맑은 고딕" pitchFamily="34" charset="-120"/>
              </a:rPr>
              <a:t>6</a:t>
            </a:r>
            <a:endParaRPr lang="en-US" sz="800" dirty="0"/>
          </a:p>
        </p:txBody>
      </p:sp>
      <p:sp>
        <p:nvSpPr>
          <p:cNvPr id="7" name="Text 5"/>
          <p:cNvSpPr/>
          <p:nvPr/>
        </p:nvSpPr>
        <p:spPr>
          <a:xfrm>
            <a:off x="4572000" y="6537960"/>
            <a:ext cx="4251960" cy="182880"/>
          </a:xfrm>
          <a:prstGeom prst="rect">
            <a:avLst/>
          </a:prstGeom>
          <a:noFill/>
          <a:ln/>
        </p:spPr>
        <p:txBody>
          <a:bodyPr wrap="square" lIns="0" tIns="0" rIns="0" bIns="0" rtlCol="0" anchor="ctr"/>
          <a:lstStyle/>
          <a:p>
            <a:pPr algn="r" indent="0" marL="0">
              <a:buNone/>
            </a:pPr>
            <a:r>
              <a:rPr lang="en-US" sz="800" dirty="0">
                <a:solidFill>
                  <a:srgbClr val="6B7280"/>
                </a:solidFill>
                <a:latin typeface="맑은 고딕" pitchFamily="34" charset="0"/>
                <a:ea typeface="맑은 고딕" pitchFamily="34" charset="-122"/>
                <a:cs typeface="맑은 고딕" pitchFamily="34" charset="-120"/>
              </a:rPr>
              <a:t>Generated by Claude | Concepts, Requirements and feedback: Youngon Kim</a:t>
            </a:r>
            <a:endParaRPr lang="en-US" sz="800" dirty="0"/>
          </a:p>
        </p:txBody>
      </p:sp>
      <p:sp>
        <p:nvSpPr>
          <p:cNvPr id="8" name="Text 6"/>
          <p:cNvSpPr/>
          <p:nvPr/>
        </p:nvSpPr>
        <p:spPr>
          <a:xfrm>
            <a:off x="320040" y="868680"/>
            <a:ext cx="8503920" cy="274320"/>
          </a:xfrm>
          <a:prstGeom prst="rect">
            <a:avLst/>
          </a:prstGeom>
          <a:noFill/>
          <a:ln/>
        </p:spPr>
        <p:txBody>
          <a:bodyPr wrap="square" lIns="0" tIns="0" rIns="0" bIns="0" rtlCol="0" anchor="ctr"/>
          <a:lstStyle/>
          <a:p>
            <a:pPr algn="ctr" indent="0" marL="0">
              <a:buNone/>
            </a:pPr>
            <a:r>
              <a:rPr lang="en-US" sz="1400" b="1" dirty="0">
                <a:solidFill>
                  <a:srgbClr val="6B7280"/>
                </a:solidFill>
                <a:latin typeface="맑은 고딕" pitchFamily="34" charset="0"/>
                <a:ea typeface="맑은 고딕" pitchFamily="34" charset="-122"/>
                <a:cs typeface="맑은 고딕" pitchFamily="34" charset="-120"/>
              </a:rPr>
              <a:t>[적용] </a:t>
            </a:r>
            <a:pPr algn="ctr" indent="0" marL="0">
              <a:buNone/>
            </a:pPr>
            <a:r>
              <a:rPr lang="en-US" sz="1400" b="1" dirty="0">
                <a:solidFill>
                  <a:srgbClr val="2D3748"/>
                </a:solidFill>
                <a:latin typeface="맑은 고딕" pitchFamily="34" charset="0"/>
                <a:ea typeface="맑은 고딕" pitchFamily="34" charset="-122"/>
                <a:cs typeface="맑은 고딕" pitchFamily="34" charset="-120"/>
              </a:rPr>
              <a:t>필요한 정보를 가장 잘 아는 클래스에게 그 책임을 준다.</a:t>
            </a:r>
            <a:endParaRPr lang="en-US" sz="1400" dirty="0"/>
          </a:p>
        </p:txBody>
      </p:sp>
      <p:sp>
        <p:nvSpPr>
          <p:cNvPr id="9" name="Shape 7"/>
          <p:cNvSpPr/>
          <p:nvPr/>
        </p:nvSpPr>
        <p:spPr>
          <a:xfrm>
            <a:off x="320040" y="1234440"/>
            <a:ext cx="8503920" cy="0"/>
          </a:xfrm>
          <a:prstGeom prst="line">
            <a:avLst/>
          </a:prstGeom>
          <a:noFill/>
          <a:ln w="6350">
            <a:solidFill>
              <a:srgbClr val="CBD5E1"/>
            </a:solidFill>
            <a:prstDash val="solid"/>
          </a:ln>
        </p:spPr>
      </p:sp>
      <p:sp>
        <p:nvSpPr>
          <p:cNvPr id="10" name="Text 8"/>
          <p:cNvSpPr/>
          <p:nvPr/>
        </p:nvSpPr>
        <p:spPr>
          <a:xfrm>
            <a:off x="320040" y="1325880"/>
            <a:ext cx="8503920" cy="1515527"/>
          </a:xfrm>
          <a:prstGeom prst="rect">
            <a:avLst/>
          </a:prstGeom>
          <a:solidFill>
            <a:srgbClr val="EBF1F8"/>
          </a:solidFill>
          <a:ln w="9525">
            <a:solidFill>
              <a:srgbClr val="CBD5E1"/>
            </a:solidFill>
          </a:ln>
        </p:spPr>
        <p:txBody>
          <a:bodyPr wrap="square" lIns="72009" tIns="72009" rIns="72009" bIns="72009" rtlCol="0" anchor="ctr"/>
          <a:lstStyle/>
          <a:p>
            <a:pPr algn="l" indent="0" marL="0">
              <a:spcAft>
                <a:spcPts val="300"/>
              </a:spcAft>
              <a:buNone/>
            </a:pPr>
            <a:r>
              <a:rPr lang="en-US" sz="1400" b="1" dirty="0">
                <a:solidFill>
                  <a:srgbClr val="1B3A6B"/>
                </a:solidFill>
                <a:latin typeface="맑은 고딕" pitchFamily="34" charset="0"/>
                <a:ea typeface="맑은 고딕" pitchFamily="34" charset="-122"/>
                <a:cs typeface="맑은 고딕" pitchFamily="34" charset="-120"/>
              </a:rPr>
              <a:t>Sale의 총액(grand total)은 누가 계산해야 하는가?</a:t>
            </a:r>
            <a:endParaRPr lang="en-US" sz="1400" dirty="0"/>
          </a:p>
          <a:p>
            <a:pPr algn="l" indent="0" marL="0">
              <a:spcBef>
                <a:spcPts val="300"/>
              </a:spcBef>
              <a:buNone/>
            </a:pPr>
            <a:r>
              <a:rPr lang="en-US" sz="1400" b="1" dirty="0">
                <a:solidFill>
                  <a:srgbClr val="007965"/>
                </a:solidFill>
                <a:latin typeface="맑은 고딕" pitchFamily="34" charset="0"/>
                <a:ea typeface="맑은 고딕" pitchFamily="34" charset="-122"/>
                <a:cs typeface="맑은 고딕" pitchFamily="34" charset="-120"/>
              </a:rPr>
              <a:t>정보 소재 추론: </a:t>
            </a:r>
            <a:pPr algn="l" indent="0" marL="0">
              <a:spcBef>
                <a:spcPts val="300"/>
              </a:spcBef>
              <a:buNone/>
            </a:pPr>
            <a:r>
              <a:rPr lang="en-US" sz="1400" dirty="0">
                <a:solidFill>
                  <a:srgbClr val="2D3748"/>
                </a:solidFill>
                <a:latin typeface="맑은 고딕" pitchFamily="34" charset="0"/>
                <a:ea typeface="맑은 고딕" pitchFamily="34" charset="-122"/>
                <a:cs typeface="맑은 고딕" pitchFamily="34" charset="-120"/>
              </a:rPr>
              <a:t>필요한 정보를 하나씩 따라가 보면 배치가 드러난다. 모든 판매 항목을 아는 것은 Sale이므로 총액 책임은 Sale이 진다. 수량을 아는 것은 SalesLineItem이므로 소계 책임은 그쪽이 진다. 단가를 아는 것은 ProductDescription이므로 가격 제공 책임은 거기가 진다. 셋은 각자 아는 만큼만 나눠 맡고 서로 협력한다 — 코드는 이 추론의 결론일 뿐이다.</a:t>
            </a:r>
            <a:endParaRPr lang="en-US" sz="1400" dirty="0"/>
          </a:p>
        </p:txBody>
      </p:sp>
      <p:sp>
        <p:nvSpPr>
          <p:cNvPr id="11" name="Shape 9"/>
          <p:cNvSpPr/>
          <p:nvPr/>
        </p:nvSpPr>
        <p:spPr>
          <a:xfrm>
            <a:off x="320040" y="3386155"/>
            <a:ext cx="4160520" cy="1061720"/>
          </a:xfrm>
          <a:prstGeom prst="rect">
            <a:avLst/>
          </a:prstGeom>
          <a:solidFill>
            <a:srgbClr val="FFFFFF"/>
          </a:solidFill>
          <a:ln w="15875">
            <a:solidFill>
              <a:srgbClr val="1B3A6B"/>
            </a:solidFill>
            <a:prstDash val="solid"/>
          </a:ln>
        </p:spPr>
      </p:sp>
      <p:sp>
        <p:nvSpPr>
          <p:cNvPr id="12" name="Text 10"/>
          <p:cNvSpPr/>
          <p:nvPr/>
        </p:nvSpPr>
        <p:spPr>
          <a:xfrm>
            <a:off x="320040" y="3386155"/>
            <a:ext cx="4160520" cy="256032"/>
          </a:xfrm>
          <a:prstGeom prst="rect">
            <a:avLst/>
          </a:prstGeom>
          <a:solidFill>
            <a:srgbClr val="1B3A6B"/>
          </a:solidFill>
          <a:ln/>
        </p:spPr>
        <p:txBody>
          <a:bodyPr wrap="square" lIns="72009" tIns="72009" rIns="72009" bIns="72009" rtlCol="0" anchor="ctr"/>
          <a:lstStyle/>
          <a:p>
            <a:pPr algn="ctr" indent="0" marL="0">
              <a:buNone/>
            </a:pPr>
            <a:r>
              <a:rPr lang="en-US" sz="1200" b="1" dirty="0">
                <a:solidFill>
                  <a:srgbClr val="FFFFFF"/>
                </a:solidFill>
                <a:latin typeface="맑은 고딕" pitchFamily="34" charset="0"/>
                <a:ea typeface="맑은 고딕" pitchFamily="34" charset="-122"/>
                <a:cs typeface="맑은 고딕" pitchFamily="34" charset="-120"/>
              </a:rPr>
              <a:t>절차</a:t>
            </a:r>
            <a:endParaRPr lang="en-US" sz="1200" dirty="0"/>
          </a:p>
        </p:txBody>
      </p:sp>
      <p:sp>
        <p:nvSpPr>
          <p:cNvPr id="13" name="Text 11"/>
          <p:cNvSpPr/>
          <p:nvPr/>
        </p:nvSpPr>
        <p:spPr>
          <a:xfrm>
            <a:off x="393192" y="3642187"/>
            <a:ext cx="4014216" cy="732536"/>
          </a:xfrm>
          <a:prstGeom prst="rect">
            <a:avLst/>
          </a:prstGeom>
          <a:noFill/>
          <a:ln/>
        </p:spPr>
        <p:txBody>
          <a:bodyPr wrap="square" lIns="0" tIns="0" rIns="0" bIns="0" rtlCol="0" anchor="t"/>
          <a:lstStyle/>
          <a:p>
            <a:pPr algn="l" indent="0" marL="0">
              <a:buNone/>
            </a:pPr>
            <a:r>
              <a:rPr lang="en-US" sz="1100" dirty="0">
                <a:solidFill>
                  <a:srgbClr val="2D3748"/>
                </a:solidFill>
                <a:latin typeface="Consolas" pitchFamily="34" charset="0"/>
                <a:ea typeface="Consolas" pitchFamily="34" charset="-122"/>
                <a:cs typeface="Consolas" pitchFamily="34" charset="-120"/>
              </a:rPr>
              <a:t>Money total = Money.ZERO;</a:t>
            </a:r>
            <a:endParaRPr lang="en-US" sz="1100" dirty="0"/>
          </a:p>
          <a:p>
            <a:pPr algn="l" indent="0" marL="0">
              <a:buNone/>
            </a:pPr>
            <a:r>
              <a:rPr lang="en-US" sz="900" b="1" dirty="0">
                <a:solidFill>
                  <a:srgbClr val="007965"/>
                </a:solidFill>
                <a:latin typeface="맑은 고딕" pitchFamily="34" charset="0"/>
                <a:ea typeface="맑은 고딕" pitchFamily="34" charset="-122"/>
                <a:cs typeface="맑은 고딕" pitchFamily="34" charset="-120"/>
              </a:rPr>
              <a:t>남의 데이터를 순회한다 </a:t>
            </a:r>
            <a:pPr algn="l" indent="0" marL="0">
              <a:buNone/>
            </a:pPr>
            <a:r>
              <a:rPr lang="en-US" sz="1100" b="1" dirty="0">
                <a:solidFill>
                  <a:srgbClr val="1B3A6B"/>
                </a:solidFill>
                <a:latin typeface="Consolas" pitchFamily="34" charset="0"/>
                <a:ea typeface="Consolas" pitchFamily="34" charset="-122"/>
                <a:cs typeface="Consolas" pitchFamily="34" charset="-120"/>
              </a:rPr>
              <a:t>for (var li : sale.getLineItems())</a:t>
            </a:r>
            <a:endParaRPr lang="en-US" sz="1100" dirty="0"/>
          </a:p>
          <a:p>
            <a:pPr algn="l" indent="0" marL="0">
              <a:buNone/>
            </a:pPr>
            <a:r>
              <a:rPr lang="en-US" sz="1100" dirty="0">
                <a:solidFill>
                  <a:srgbClr val="2D3748"/>
                </a:solidFill>
                <a:latin typeface="Consolas" pitchFamily="34" charset="0"/>
                <a:ea typeface="Consolas" pitchFamily="34" charset="-122"/>
                <a:cs typeface="Consolas" pitchFamily="34" charset="-120"/>
              </a:rPr>
              <a:t>    total = total.add(</a:t>
            </a:r>
            <a:endParaRPr lang="en-US" sz="1100" dirty="0"/>
          </a:p>
          <a:p>
            <a:pPr algn="l" indent="0" marL="0">
              <a:buNone/>
            </a:pPr>
            <a:r>
              <a:rPr lang="en-US" sz="1100" dirty="0">
                <a:solidFill>
                  <a:srgbClr val="2D3748"/>
                </a:solidFill>
                <a:latin typeface="Consolas" pitchFamily="34" charset="0"/>
                <a:ea typeface="Consolas" pitchFamily="34" charset="-122"/>
                <a:cs typeface="Consolas" pitchFamily="34" charset="-120"/>
              </a:rPr>
              <a:t>        li.getQty() * li.getPrice());</a:t>
            </a:r>
            <a:endParaRPr lang="en-US" sz="1100" dirty="0"/>
          </a:p>
        </p:txBody>
      </p:sp>
      <p:sp>
        <p:nvSpPr>
          <p:cNvPr id="14" name="Shape 12"/>
          <p:cNvSpPr/>
          <p:nvPr/>
        </p:nvSpPr>
        <p:spPr>
          <a:xfrm>
            <a:off x="4663440" y="3386155"/>
            <a:ext cx="4160520" cy="1061720"/>
          </a:xfrm>
          <a:prstGeom prst="rect">
            <a:avLst/>
          </a:prstGeom>
          <a:solidFill>
            <a:srgbClr val="FFFFFF"/>
          </a:solidFill>
          <a:ln w="15875">
            <a:solidFill>
              <a:srgbClr val="1B3A6B"/>
            </a:solidFill>
            <a:prstDash val="solid"/>
          </a:ln>
        </p:spPr>
      </p:sp>
      <p:sp>
        <p:nvSpPr>
          <p:cNvPr id="15" name="Text 13"/>
          <p:cNvSpPr/>
          <p:nvPr/>
        </p:nvSpPr>
        <p:spPr>
          <a:xfrm>
            <a:off x="4663440" y="3386155"/>
            <a:ext cx="4160520" cy="256032"/>
          </a:xfrm>
          <a:prstGeom prst="rect">
            <a:avLst/>
          </a:prstGeom>
          <a:solidFill>
            <a:srgbClr val="1B3A6B"/>
          </a:solidFill>
          <a:ln/>
        </p:spPr>
        <p:txBody>
          <a:bodyPr wrap="square" lIns="72009" tIns="72009" rIns="72009" bIns="72009" rtlCol="0" anchor="ctr"/>
          <a:lstStyle/>
          <a:p>
            <a:pPr algn="ctr" indent="0" marL="0">
              <a:buNone/>
            </a:pPr>
            <a:r>
              <a:rPr lang="en-US" sz="1200" b="1" dirty="0">
                <a:solidFill>
                  <a:srgbClr val="FFFFFF"/>
                </a:solidFill>
                <a:latin typeface="맑은 고딕" pitchFamily="34" charset="0"/>
                <a:ea typeface="맑은 고딕" pitchFamily="34" charset="-122"/>
                <a:cs typeface="맑은 고딕" pitchFamily="34" charset="-120"/>
              </a:rPr>
              <a:t>적용</a:t>
            </a:r>
            <a:endParaRPr lang="en-US" sz="1200" dirty="0"/>
          </a:p>
        </p:txBody>
      </p:sp>
      <p:sp>
        <p:nvSpPr>
          <p:cNvPr id="16" name="Text 14"/>
          <p:cNvSpPr/>
          <p:nvPr/>
        </p:nvSpPr>
        <p:spPr>
          <a:xfrm>
            <a:off x="4736592" y="3642187"/>
            <a:ext cx="4014216" cy="732536"/>
          </a:xfrm>
          <a:prstGeom prst="rect">
            <a:avLst/>
          </a:prstGeom>
          <a:noFill/>
          <a:ln/>
        </p:spPr>
        <p:txBody>
          <a:bodyPr wrap="square" lIns="0" tIns="0" rIns="0" bIns="0" rtlCol="0" anchor="t"/>
          <a:lstStyle/>
          <a:p>
            <a:pPr algn="l" indent="0" marL="0">
              <a:buNone/>
            </a:pPr>
            <a:r>
              <a:rPr lang="en-US" sz="900" b="1" dirty="0">
                <a:solidFill>
                  <a:srgbClr val="007965"/>
                </a:solidFill>
                <a:latin typeface="맑은 고딕" pitchFamily="34" charset="0"/>
                <a:ea typeface="맑은 고딕" pitchFamily="34" charset="-122"/>
                <a:cs typeface="맑은 고딕" pitchFamily="34" charset="-120"/>
              </a:rPr>
              <a:t>정보 전문가(Information Expert) </a:t>
            </a:r>
            <a:pPr algn="l" indent="0" marL="0">
              <a:buNone/>
            </a:pPr>
            <a:r>
              <a:rPr lang="en-US" sz="1100" b="1" dirty="0">
                <a:solidFill>
                  <a:srgbClr val="1B3A6B"/>
                </a:solidFill>
                <a:latin typeface="Consolas" pitchFamily="34" charset="0"/>
                <a:ea typeface="Consolas" pitchFamily="34" charset="-122"/>
                <a:cs typeface="Consolas" pitchFamily="34" charset="-120"/>
              </a:rPr>
              <a:t>Money total = sale.getTotal();</a:t>
            </a:r>
            <a:endParaRPr lang="en-US" sz="900" dirty="0"/>
          </a:p>
          <a:p>
            <a:pPr algn="l" indent="0" marL="0">
              <a:buNone/>
            </a:pPr>
            <a:r>
              <a:rPr lang="en-US" sz="1100" dirty="0">
                <a:solidFill>
                  <a:srgbClr val="2D3748"/>
                </a:solidFill>
                <a:latin typeface="Consolas" pitchFamily="34" charset="0"/>
                <a:ea typeface="Consolas" pitchFamily="34" charset="-122"/>
                <a:cs typeface="Consolas" pitchFamily="34" charset="-120"/>
              </a:rPr>
              <a:t>// Sale.getTotal(): 각 라인에 subtotal을 묻는다</a:t>
            </a:r>
            <a:endParaRPr lang="en-US" sz="900" dirty="0"/>
          </a:p>
          <a:p>
            <a:pPr algn="l" indent="0" marL="0">
              <a:buNone/>
            </a:pPr>
            <a:r>
              <a:rPr lang="en-US" sz="1100" dirty="0">
                <a:solidFill>
                  <a:srgbClr val="2D3748"/>
                </a:solidFill>
                <a:latin typeface="Consolas" pitchFamily="34" charset="0"/>
                <a:ea typeface="Consolas" pitchFamily="34" charset="-122"/>
                <a:cs typeface="Consolas" pitchFamily="34" charset="-120"/>
              </a:rPr>
              <a:t>// SalesLineItem.getSubtotal(): qty×price</a:t>
            </a:r>
            <a:endParaRPr lang="en-US" sz="900" dirty="0"/>
          </a:p>
        </p:txBody>
      </p:sp>
      <p:sp>
        <p:nvSpPr>
          <p:cNvPr id="17" name="Text 15"/>
          <p:cNvSpPr/>
          <p:nvPr/>
        </p:nvSpPr>
        <p:spPr>
          <a:xfrm>
            <a:off x="320040" y="4539315"/>
            <a:ext cx="8503920" cy="237744"/>
          </a:xfrm>
          <a:prstGeom prst="rect">
            <a:avLst/>
          </a:prstGeom>
          <a:noFill/>
          <a:ln/>
        </p:spPr>
        <p:txBody>
          <a:bodyPr wrap="square" lIns="0" tIns="0" rIns="0" bIns="0" rtlCol="0" anchor="t"/>
          <a:lstStyle/>
          <a:p>
            <a:pPr algn="ctr" indent="0" marL="0">
              <a:buNone/>
            </a:pPr>
            <a:r>
              <a:rPr lang="en-US" sz="1200" i="1" dirty="0">
                <a:solidFill>
                  <a:srgbClr val="6B7280"/>
                </a:solidFill>
                <a:latin typeface="맑은 고딕" pitchFamily="34" charset="0"/>
                <a:ea typeface="맑은 고딕" pitchFamily="34" charset="-122"/>
                <a:cs typeface="맑은 고딕" pitchFamily="34" charset="-120"/>
              </a:rPr>
              <a:t>물음: 계산 책임이 어디에서 어디로 갔나</a:t>
            </a:r>
            <a:endParaRPr lang="en-US" sz="1200" dirty="0"/>
          </a:p>
        </p:txBody>
      </p:sp>
      <p:sp>
        <p:nvSpPr>
          <p:cNvPr id="18" name="Shape 16"/>
          <p:cNvSpPr/>
          <p:nvPr/>
        </p:nvSpPr>
        <p:spPr>
          <a:xfrm>
            <a:off x="320040" y="5212080"/>
            <a:ext cx="8503920" cy="0"/>
          </a:xfrm>
          <a:prstGeom prst="line">
            <a:avLst/>
          </a:prstGeom>
          <a:noFill/>
          <a:ln w="6350">
            <a:solidFill>
              <a:srgbClr val="CBD5E1"/>
            </a:solidFill>
            <a:prstDash val="solid"/>
          </a:ln>
        </p:spPr>
      </p:sp>
      <p:sp>
        <p:nvSpPr>
          <p:cNvPr id="19" name="Text 17"/>
          <p:cNvSpPr/>
          <p:nvPr/>
        </p:nvSpPr>
        <p:spPr>
          <a:xfrm>
            <a:off x="320040" y="5394960"/>
            <a:ext cx="8503920" cy="914400"/>
          </a:xfrm>
          <a:prstGeom prst="rect">
            <a:avLst/>
          </a:prstGeom>
          <a:noFill/>
          <a:ln/>
        </p:spPr>
        <p:txBody>
          <a:bodyPr wrap="square" lIns="0" tIns="0" rIns="0" bIns="0" rtlCol="0" anchor="t"/>
          <a:lstStyle/>
          <a:p>
            <a:pPr indent="0" marL="0">
              <a:spcBef>
                <a:spcPts val="300"/>
              </a:spcBef>
              <a:spcAft>
                <a:spcPts val="300"/>
              </a:spcAft>
              <a:buNone/>
            </a:pPr>
            <a:r>
              <a:rPr lang="en-US" sz="1400" b="1" dirty="0">
                <a:solidFill>
                  <a:srgbClr val="991B1B"/>
                </a:solidFill>
                <a:latin typeface="맑은 고딕" pitchFamily="34" charset="0"/>
                <a:ea typeface="맑은 고딕" pitchFamily="34" charset="-122"/>
                <a:cs typeface="맑은 고딕" pitchFamily="34" charset="-120"/>
              </a:rPr>
              <a:t>한계:  </a:t>
            </a:r>
            <a:pPr indent="0" marL="0">
              <a:spcBef>
                <a:spcPts val="300"/>
              </a:spcBef>
              <a:spcAft>
                <a:spcPts val="300"/>
              </a:spcAft>
              <a:buNone/>
            </a:pPr>
            <a:r>
              <a:rPr lang="en-US" sz="1400" dirty="0">
                <a:solidFill>
                  <a:srgbClr val="2D3748"/>
                </a:solidFill>
                <a:latin typeface="맑은 고딕" pitchFamily="34" charset="0"/>
                <a:ea typeface="맑은 고딕" pitchFamily="34" charset="-122"/>
                <a:cs typeface="맑은 고딕" pitchFamily="34" charset="-120"/>
              </a:rPr>
              <a:t>정보를 가졌다고 늘 책임을 주면 안 된다 — 데이터베이스 저장 책임을 Sale에 주면 Sale이 SQL과 트랜잭션을 알게 되어 응집이 무너지고 도메인이 인프라에 결합된다. 이 한계가 다음 순수 창작물(Pure Fabrication)을 부른다.</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20040" y="182880"/>
            <a:ext cx="8503920" cy="457200"/>
          </a:xfrm>
          <a:prstGeom prst="rect">
            <a:avLst/>
          </a:prstGeom>
          <a:noFill/>
          <a:ln/>
        </p:spPr>
        <p:txBody>
          <a:bodyPr wrap="square" lIns="0" tIns="0" rIns="0" bIns="0" rtlCol="0" anchor="ctr"/>
          <a:lstStyle/>
          <a:p>
            <a:pPr algn="l" indent="0" marL="0">
              <a:buNone/>
            </a:pPr>
            <a:r>
              <a:rPr lang="en-US" sz="2200" b="1" dirty="0">
                <a:solidFill>
                  <a:srgbClr val="1B3A6B"/>
                </a:solidFill>
                <a:latin typeface="맑은 고딕" pitchFamily="34" charset="0"/>
                <a:ea typeface="맑은 고딕" pitchFamily="34" charset="-122"/>
                <a:cs typeface="맑은 고딕" pitchFamily="34" charset="-120"/>
              </a:rPr>
              <a:t>06. 창조자(Creator)</a:t>
            </a:r>
            <a:endParaRPr lang="en-US" sz="2200" dirty="0"/>
          </a:p>
        </p:txBody>
      </p:sp>
      <p:sp>
        <p:nvSpPr>
          <p:cNvPr id="3" name="Shape 1"/>
          <p:cNvSpPr/>
          <p:nvPr/>
        </p:nvSpPr>
        <p:spPr>
          <a:xfrm>
            <a:off x="320040" y="731520"/>
            <a:ext cx="8503920" cy="0"/>
          </a:xfrm>
          <a:prstGeom prst="line">
            <a:avLst/>
          </a:prstGeom>
          <a:noFill/>
          <a:ln w="19050">
            <a:solidFill>
              <a:srgbClr val="1B3A6B"/>
            </a:solidFill>
            <a:prstDash val="solid"/>
          </a:ln>
        </p:spPr>
      </p:sp>
      <p:sp>
        <p:nvSpPr>
          <p:cNvPr id="4" name="Shape 2"/>
          <p:cNvSpPr/>
          <p:nvPr/>
        </p:nvSpPr>
        <p:spPr>
          <a:xfrm>
            <a:off x="320040" y="6492240"/>
            <a:ext cx="8503920" cy="0"/>
          </a:xfrm>
          <a:prstGeom prst="line">
            <a:avLst/>
          </a:prstGeom>
          <a:noFill/>
          <a:ln w="6350">
            <a:solidFill>
              <a:srgbClr val="CBD5E1"/>
            </a:solidFill>
            <a:prstDash val="solid"/>
          </a:ln>
        </p:spPr>
      </p:sp>
      <p:sp>
        <p:nvSpPr>
          <p:cNvPr id="5" name="Text 3"/>
          <p:cNvSpPr/>
          <p:nvPr/>
        </p:nvSpPr>
        <p:spPr>
          <a:xfrm>
            <a:off x="320040" y="6537960"/>
            <a:ext cx="3657600" cy="182880"/>
          </a:xfrm>
          <a:prstGeom prst="rect">
            <a:avLst/>
          </a:prstGeom>
          <a:noFill/>
          <a:ln/>
        </p:spPr>
        <p:txBody>
          <a:bodyPr wrap="square" lIns="0" tIns="0" rIns="0" bIns="0" rtlCol="0" anchor="ctr"/>
          <a:lstStyle/>
          <a:p>
            <a:pPr indent="0" marL="0">
              <a:buNone/>
            </a:pPr>
            <a:r>
              <a:rPr lang="en-US" sz="800" dirty="0">
                <a:solidFill>
                  <a:srgbClr val="6B7280"/>
                </a:solidFill>
                <a:latin typeface="맑은 고딕" pitchFamily="34" charset="0"/>
                <a:ea typeface="맑은 고딕" pitchFamily="34" charset="-122"/>
                <a:cs typeface="맑은 고딕" pitchFamily="34" charset="-120"/>
              </a:rPr>
              <a:t>9. 책임 주도 설계(GRASP) 강의</a:t>
            </a:r>
            <a:endParaRPr lang="en-US" sz="800" dirty="0"/>
          </a:p>
        </p:txBody>
      </p:sp>
      <p:sp>
        <p:nvSpPr>
          <p:cNvPr id="6" name="Text 4"/>
          <p:cNvSpPr/>
          <p:nvPr/>
        </p:nvSpPr>
        <p:spPr>
          <a:xfrm>
            <a:off x="4114800" y="6537960"/>
            <a:ext cx="914400" cy="182880"/>
          </a:xfrm>
          <a:prstGeom prst="rect">
            <a:avLst/>
          </a:prstGeom>
          <a:noFill/>
          <a:ln/>
        </p:spPr>
        <p:txBody>
          <a:bodyPr wrap="square" lIns="0" tIns="0" rIns="0" bIns="0" rtlCol="0" anchor="ctr"/>
          <a:lstStyle/>
          <a:p>
            <a:pPr algn="ctr" indent="0" marL="0">
              <a:buNone/>
            </a:pPr>
            <a:r>
              <a:rPr lang="en-US" sz="800" dirty="0">
                <a:solidFill>
                  <a:srgbClr val="6B7280"/>
                </a:solidFill>
                <a:latin typeface="맑은 고딕" pitchFamily="34" charset="0"/>
                <a:ea typeface="맑은 고딕" pitchFamily="34" charset="-122"/>
                <a:cs typeface="맑은 고딕" pitchFamily="34" charset="-120"/>
              </a:rPr>
              <a:t>7</a:t>
            </a:r>
            <a:endParaRPr lang="en-US" sz="800" dirty="0"/>
          </a:p>
        </p:txBody>
      </p:sp>
      <p:sp>
        <p:nvSpPr>
          <p:cNvPr id="7" name="Text 5"/>
          <p:cNvSpPr/>
          <p:nvPr/>
        </p:nvSpPr>
        <p:spPr>
          <a:xfrm>
            <a:off x="4572000" y="6537960"/>
            <a:ext cx="4251960" cy="182880"/>
          </a:xfrm>
          <a:prstGeom prst="rect">
            <a:avLst/>
          </a:prstGeom>
          <a:noFill/>
          <a:ln/>
        </p:spPr>
        <p:txBody>
          <a:bodyPr wrap="square" lIns="0" tIns="0" rIns="0" bIns="0" rtlCol="0" anchor="ctr"/>
          <a:lstStyle/>
          <a:p>
            <a:pPr algn="r" indent="0" marL="0">
              <a:buNone/>
            </a:pPr>
            <a:r>
              <a:rPr lang="en-US" sz="800" dirty="0">
                <a:solidFill>
                  <a:srgbClr val="6B7280"/>
                </a:solidFill>
                <a:latin typeface="맑은 고딕" pitchFamily="34" charset="0"/>
                <a:ea typeface="맑은 고딕" pitchFamily="34" charset="-122"/>
                <a:cs typeface="맑은 고딕" pitchFamily="34" charset="-120"/>
              </a:rPr>
              <a:t>Generated by Claude | Concepts, Requirements and feedback: Youngon Kim</a:t>
            </a:r>
            <a:endParaRPr lang="en-US" sz="800" dirty="0"/>
          </a:p>
        </p:txBody>
      </p:sp>
      <p:sp>
        <p:nvSpPr>
          <p:cNvPr id="8" name="Text 6"/>
          <p:cNvSpPr/>
          <p:nvPr/>
        </p:nvSpPr>
        <p:spPr>
          <a:xfrm>
            <a:off x="320040" y="868680"/>
            <a:ext cx="8503920" cy="274320"/>
          </a:xfrm>
          <a:prstGeom prst="rect">
            <a:avLst/>
          </a:prstGeom>
          <a:noFill/>
          <a:ln/>
        </p:spPr>
        <p:txBody>
          <a:bodyPr wrap="square" lIns="0" tIns="0" rIns="0" bIns="0" rtlCol="0" anchor="ctr"/>
          <a:lstStyle/>
          <a:p>
            <a:pPr algn="ctr" indent="0" marL="0">
              <a:buNone/>
            </a:pPr>
            <a:r>
              <a:rPr lang="en-US" sz="1400" b="1" dirty="0">
                <a:solidFill>
                  <a:srgbClr val="6B7280"/>
                </a:solidFill>
                <a:latin typeface="맑은 고딕" pitchFamily="34" charset="0"/>
                <a:ea typeface="맑은 고딕" pitchFamily="34" charset="-122"/>
                <a:cs typeface="맑은 고딕" pitchFamily="34" charset="-120"/>
              </a:rPr>
              <a:t>[적용] </a:t>
            </a:r>
            <a:pPr algn="ctr" indent="0" marL="0">
              <a:buNone/>
            </a:pPr>
            <a:r>
              <a:rPr lang="en-US" sz="1400" b="1" dirty="0">
                <a:solidFill>
                  <a:srgbClr val="2D3748"/>
                </a:solidFill>
                <a:latin typeface="맑은 고딕" pitchFamily="34" charset="0"/>
                <a:ea typeface="맑은 고딕" pitchFamily="34" charset="-122"/>
                <a:cs typeface="맑은 고딕" pitchFamily="34" charset="-120"/>
              </a:rPr>
              <a:t>조립·집약·초기화에 필요한 정보를 가장 많이 가진 자가 생성한다.</a:t>
            </a:r>
            <a:endParaRPr lang="en-US" sz="1400" dirty="0"/>
          </a:p>
        </p:txBody>
      </p:sp>
      <p:sp>
        <p:nvSpPr>
          <p:cNvPr id="9" name="Shape 7"/>
          <p:cNvSpPr/>
          <p:nvPr/>
        </p:nvSpPr>
        <p:spPr>
          <a:xfrm>
            <a:off x="320040" y="1234440"/>
            <a:ext cx="8503920" cy="0"/>
          </a:xfrm>
          <a:prstGeom prst="line">
            <a:avLst/>
          </a:prstGeom>
          <a:noFill/>
          <a:ln w="6350">
            <a:solidFill>
              <a:srgbClr val="CBD5E1"/>
            </a:solidFill>
            <a:prstDash val="solid"/>
          </a:ln>
        </p:spPr>
      </p:sp>
      <p:sp>
        <p:nvSpPr>
          <p:cNvPr id="10" name="Text 8"/>
          <p:cNvSpPr/>
          <p:nvPr/>
        </p:nvSpPr>
        <p:spPr>
          <a:xfrm>
            <a:off x="320040" y="1325880"/>
            <a:ext cx="8503920" cy="1259495"/>
          </a:xfrm>
          <a:prstGeom prst="rect">
            <a:avLst/>
          </a:prstGeom>
          <a:solidFill>
            <a:srgbClr val="EBF1F8"/>
          </a:solidFill>
          <a:ln w="9525">
            <a:solidFill>
              <a:srgbClr val="CBD5E1"/>
            </a:solidFill>
          </a:ln>
        </p:spPr>
        <p:txBody>
          <a:bodyPr wrap="square" lIns="72009" tIns="72009" rIns="72009" bIns="72009" rtlCol="0" anchor="ctr"/>
          <a:lstStyle/>
          <a:p>
            <a:pPr algn="l" indent="0" marL="0">
              <a:spcAft>
                <a:spcPts val="300"/>
              </a:spcAft>
              <a:buNone/>
            </a:pPr>
            <a:r>
              <a:rPr lang="en-US" sz="1400" b="1" dirty="0">
                <a:solidFill>
                  <a:srgbClr val="1B3A6B"/>
                </a:solidFill>
                <a:latin typeface="맑은 고딕" pitchFamily="34" charset="0"/>
                <a:ea typeface="맑은 고딕" pitchFamily="34" charset="-122"/>
                <a:cs typeface="맑은 고딕" pitchFamily="34" charset="-120"/>
              </a:rPr>
              <a:t>SalesLineItem을 누가 생성해야 하는가?</a:t>
            </a:r>
            <a:endParaRPr lang="en-US" sz="1400" dirty="0"/>
          </a:p>
          <a:p>
            <a:pPr algn="l" indent="0" marL="0">
              <a:spcBef>
                <a:spcPts val="300"/>
              </a:spcBef>
              <a:buNone/>
            </a:pPr>
            <a:r>
              <a:rPr lang="en-US" sz="1400" b="1" dirty="0">
                <a:solidFill>
                  <a:srgbClr val="007965"/>
                </a:solidFill>
                <a:latin typeface="맑은 고딕" pitchFamily="34" charset="0"/>
                <a:ea typeface="맑은 고딕" pitchFamily="34" charset="-122"/>
                <a:cs typeface="맑은 고딕" pitchFamily="34" charset="-120"/>
              </a:rPr>
              <a:t>정보 소재 추론: </a:t>
            </a:r>
            <a:pPr algn="l" indent="0" marL="0">
              <a:spcBef>
                <a:spcPts val="300"/>
              </a:spcBef>
              <a:buNone/>
            </a:pPr>
            <a:r>
              <a:rPr lang="en-US" sz="1400" dirty="0">
                <a:solidFill>
                  <a:srgbClr val="2D3748"/>
                </a:solidFill>
                <a:latin typeface="맑은 고딕" pitchFamily="34" charset="0"/>
                <a:ea typeface="맑은 고딕" pitchFamily="34" charset="-122"/>
                <a:cs typeface="맑은 고딕" pitchFamily="34" charset="-120"/>
              </a:rPr>
              <a:t>B(SalesLineItem)를 생성할 책임은 B를 담거나 집약하거나 긴밀히 쓰거나 초기화 정보를 가진 A에게 간다. Sale이 SalesLineItem을 집약하고 생성에 필요한 정보를 이미 알고 있으므로, 생성 책임은 Sale이 진다. 바깥이 대신 조립하면 Sale 내부의 구성 규칙이 밖으로 새어 나간다.</a:t>
            </a:r>
            <a:endParaRPr lang="en-US" sz="1400" dirty="0"/>
          </a:p>
        </p:txBody>
      </p:sp>
      <p:sp>
        <p:nvSpPr>
          <p:cNvPr id="11" name="Shape 9"/>
          <p:cNvSpPr/>
          <p:nvPr/>
        </p:nvSpPr>
        <p:spPr>
          <a:xfrm>
            <a:off x="320040" y="3258139"/>
            <a:ext cx="4160520" cy="1061720"/>
          </a:xfrm>
          <a:prstGeom prst="rect">
            <a:avLst/>
          </a:prstGeom>
          <a:solidFill>
            <a:srgbClr val="FFFFFF"/>
          </a:solidFill>
          <a:ln w="15875">
            <a:solidFill>
              <a:srgbClr val="1B3A6B"/>
            </a:solidFill>
            <a:prstDash val="solid"/>
          </a:ln>
        </p:spPr>
      </p:sp>
      <p:sp>
        <p:nvSpPr>
          <p:cNvPr id="12" name="Text 10"/>
          <p:cNvSpPr/>
          <p:nvPr/>
        </p:nvSpPr>
        <p:spPr>
          <a:xfrm>
            <a:off x="320040" y="3258139"/>
            <a:ext cx="4160520" cy="256032"/>
          </a:xfrm>
          <a:prstGeom prst="rect">
            <a:avLst/>
          </a:prstGeom>
          <a:solidFill>
            <a:srgbClr val="1B3A6B"/>
          </a:solidFill>
          <a:ln/>
        </p:spPr>
        <p:txBody>
          <a:bodyPr wrap="square" lIns="72009" tIns="72009" rIns="72009" bIns="72009" rtlCol="0" anchor="ctr"/>
          <a:lstStyle/>
          <a:p>
            <a:pPr algn="ctr" indent="0" marL="0">
              <a:buNone/>
            </a:pPr>
            <a:r>
              <a:rPr lang="en-US" sz="1200" b="1" dirty="0">
                <a:solidFill>
                  <a:srgbClr val="FFFFFF"/>
                </a:solidFill>
                <a:latin typeface="맑은 고딕" pitchFamily="34" charset="0"/>
                <a:ea typeface="맑은 고딕" pitchFamily="34" charset="-122"/>
                <a:cs typeface="맑은 고딕" pitchFamily="34" charset="-120"/>
              </a:rPr>
              <a:t>절차</a:t>
            </a:r>
            <a:endParaRPr lang="en-US" sz="1200" dirty="0"/>
          </a:p>
        </p:txBody>
      </p:sp>
      <p:sp>
        <p:nvSpPr>
          <p:cNvPr id="13" name="Text 11"/>
          <p:cNvSpPr/>
          <p:nvPr/>
        </p:nvSpPr>
        <p:spPr>
          <a:xfrm>
            <a:off x="393192" y="3514171"/>
            <a:ext cx="4014216" cy="732536"/>
          </a:xfrm>
          <a:prstGeom prst="rect">
            <a:avLst/>
          </a:prstGeom>
          <a:noFill/>
          <a:ln/>
        </p:spPr>
        <p:txBody>
          <a:bodyPr wrap="square" lIns="0" tIns="0" rIns="0" bIns="0" rtlCol="0" anchor="t"/>
          <a:lstStyle/>
          <a:p>
            <a:pPr algn="l" indent="0" marL="0">
              <a:buNone/>
            </a:pPr>
            <a:r>
              <a:rPr lang="en-US" sz="1100" dirty="0">
                <a:solidFill>
                  <a:srgbClr val="2D3748"/>
                </a:solidFill>
                <a:latin typeface="Consolas" pitchFamily="34" charset="0"/>
                <a:ea typeface="Consolas" pitchFamily="34" charset="-122"/>
                <a:cs typeface="Consolas" pitchFamily="34" charset="-120"/>
              </a:rPr>
              <a:t>ProductDescription d = catalog.find(id);</a:t>
            </a:r>
            <a:endParaRPr lang="en-US" sz="1100" dirty="0"/>
          </a:p>
          <a:p>
            <a:pPr algn="l" indent="0" marL="0">
              <a:buNone/>
            </a:pPr>
            <a:r>
              <a:rPr lang="en-US" sz="900" b="1" dirty="0">
                <a:solidFill>
                  <a:srgbClr val="007965"/>
                </a:solidFill>
                <a:latin typeface="맑은 고딕" pitchFamily="34" charset="0"/>
                <a:ea typeface="맑은 고딕" pitchFamily="34" charset="-122"/>
                <a:cs typeface="맑은 고딕" pitchFamily="34" charset="-120"/>
              </a:rPr>
              <a:t>바깥에서 조립한다 </a:t>
            </a:r>
            <a:pPr algn="l" indent="0" marL="0">
              <a:buNone/>
            </a:pPr>
            <a:r>
              <a:rPr lang="en-US" sz="1100" b="1" dirty="0">
                <a:solidFill>
                  <a:srgbClr val="1B3A6B"/>
                </a:solidFill>
                <a:latin typeface="Consolas" pitchFamily="34" charset="0"/>
                <a:ea typeface="Consolas" pitchFamily="34" charset="-122"/>
                <a:cs typeface="Consolas" pitchFamily="34" charset="-120"/>
              </a:rPr>
              <a:t>SalesLineItem li =</a:t>
            </a:r>
            <a:endParaRPr lang="en-US" sz="1100" dirty="0"/>
          </a:p>
          <a:p>
            <a:pPr algn="l" indent="0" marL="0">
              <a:buNone/>
            </a:pPr>
            <a:r>
              <a:rPr lang="en-US" sz="1100" dirty="0">
                <a:solidFill>
                  <a:srgbClr val="2D3748"/>
                </a:solidFill>
                <a:latin typeface="Consolas" pitchFamily="34" charset="0"/>
                <a:ea typeface="Consolas" pitchFamily="34" charset="-122"/>
                <a:cs typeface="Consolas" pitchFamily="34" charset="-120"/>
              </a:rPr>
              <a:t>    new SalesLineItem(d, qty);</a:t>
            </a:r>
            <a:endParaRPr lang="en-US" sz="1100" dirty="0"/>
          </a:p>
          <a:p>
            <a:pPr algn="l" indent="0" marL="0">
              <a:buNone/>
            </a:pPr>
            <a:r>
              <a:rPr lang="en-US" sz="1100" dirty="0">
                <a:solidFill>
                  <a:srgbClr val="2D3748"/>
                </a:solidFill>
                <a:latin typeface="Consolas" pitchFamily="34" charset="0"/>
                <a:ea typeface="Consolas" pitchFamily="34" charset="-122"/>
                <a:cs typeface="Consolas" pitchFamily="34" charset="-120"/>
              </a:rPr>
              <a:t>sale.getLineItems().add(li);</a:t>
            </a:r>
            <a:endParaRPr lang="en-US" sz="1100" dirty="0"/>
          </a:p>
        </p:txBody>
      </p:sp>
      <p:sp>
        <p:nvSpPr>
          <p:cNvPr id="14" name="Shape 12"/>
          <p:cNvSpPr/>
          <p:nvPr/>
        </p:nvSpPr>
        <p:spPr>
          <a:xfrm>
            <a:off x="4663440" y="3258139"/>
            <a:ext cx="4160520" cy="1061720"/>
          </a:xfrm>
          <a:prstGeom prst="rect">
            <a:avLst/>
          </a:prstGeom>
          <a:solidFill>
            <a:srgbClr val="FFFFFF"/>
          </a:solidFill>
          <a:ln w="15875">
            <a:solidFill>
              <a:srgbClr val="1B3A6B"/>
            </a:solidFill>
            <a:prstDash val="solid"/>
          </a:ln>
        </p:spPr>
      </p:sp>
      <p:sp>
        <p:nvSpPr>
          <p:cNvPr id="15" name="Text 13"/>
          <p:cNvSpPr/>
          <p:nvPr/>
        </p:nvSpPr>
        <p:spPr>
          <a:xfrm>
            <a:off x="4663440" y="3258139"/>
            <a:ext cx="4160520" cy="256032"/>
          </a:xfrm>
          <a:prstGeom prst="rect">
            <a:avLst/>
          </a:prstGeom>
          <a:solidFill>
            <a:srgbClr val="1B3A6B"/>
          </a:solidFill>
          <a:ln/>
        </p:spPr>
        <p:txBody>
          <a:bodyPr wrap="square" lIns="72009" tIns="72009" rIns="72009" bIns="72009" rtlCol="0" anchor="ctr"/>
          <a:lstStyle/>
          <a:p>
            <a:pPr algn="ctr" indent="0" marL="0">
              <a:buNone/>
            </a:pPr>
            <a:r>
              <a:rPr lang="en-US" sz="1200" b="1" dirty="0">
                <a:solidFill>
                  <a:srgbClr val="FFFFFF"/>
                </a:solidFill>
                <a:latin typeface="맑은 고딕" pitchFamily="34" charset="0"/>
                <a:ea typeface="맑은 고딕" pitchFamily="34" charset="-122"/>
                <a:cs typeface="맑은 고딕" pitchFamily="34" charset="-120"/>
              </a:rPr>
              <a:t>적용</a:t>
            </a:r>
            <a:endParaRPr lang="en-US" sz="1200" dirty="0"/>
          </a:p>
        </p:txBody>
      </p:sp>
      <p:sp>
        <p:nvSpPr>
          <p:cNvPr id="16" name="Text 14"/>
          <p:cNvSpPr/>
          <p:nvPr/>
        </p:nvSpPr>
        <p:spPr>
          <a:xfrm>
            <a:off x="4736592" y="3514171"/>
            <a:ext cx="4014216" cy="732536"/>
          </a:xfrm>
          <a:prstGeom prst="rect">
            <a:avLst/>
          </a:prstGeom>
          <a:noFill/>
          <a:ln/>
        </p:spPr>
        <p:txBody>
          <a:bodyPr wrap="square" lIns="0" tIns="0" rIns="0" bIns="0" rtlCol="0" anchor="t"/>
          <a:lstStyle/>
          <a:p>
            <a:pPr algn="l" indent="0" marL="0">
              <a:buNone/>
            </a:pPr>
            <a:r>
              <a:rPr lang="en-US" sz="900" b="1" dirty="0">
                <a:solidFill>
                  <a:srgbClr val="007965"/>
                </a:solidFill>
                <a:latin typeface="맑은 고딕" pitchFamily="34" charset="0"/>
                <a:ea typeface="맑은 고딕" pitchFamily="34" charset="-122"/>
                <a:cs typeface="맑은 고딕" pitchFamily="34" charset="-120"/>
              </a:rPr>
              <a:t>창조자(Creator) </a:t>
            </a:r>
            <a:pPr algn="l" indent="0" marL="0">
              <a:buNone/>
            </a:pPr>
            <a:r>
              <a:rPr lang="en-US" sz="1100" b="1" dirty="0">
                <a:solidFill>
                  <a:srgbClr val="1B3A6B"/>
                </a:solidFill>
                <a:latin typeface="Consolas" pitchFamily="34" charset="0"/>
                <a:ea typeface="Consolas" pitchFamily="34" charset="-122"/>
                <a:cs typeface="Consolas" pitchFamily="34" charset="-120"/>
              </a:rPr>
              <a:t>sale.makeLineItem(id, qty);</a:t>
            </a:r>
            <a:endParaRPr lang="en-US" sz="900" dirty="0"/>
          </a:p>
          <a:p>
            <a:pPr algn="l" indent="0" marL="0">
              <a:buNone/>
            </a:pPr>
            <a:r>
              <a:rPr lang="en-US" sz="1100" dirty="0">
                <a:solidFill>
                  <a:srgbClr val="2D3748"/>
                </a:solidFill>
                <a:latin typeface="Consolas" pitchFamily="34" charset="0"/>
                <a:ea typeface="Consolas" pitchFamily="34" charset="-122"/>
                <a:cs typeface="Consolas" pitchFamily="34" charset="-120"/>
              </a:rPr>
              <a:t>// Sale.makeLineItem():</a:t>
            </a:r>
            <a:endParaRPr lang="en-US" sz="900" dirty="0"/>
          </a:p>
          <a:p>
            <a:pPr algn="l" indent="0" marL="0">
              <a:buNone/>
            </a:pPr>
            <a:r>
              <a:rPr lang="en-US" sz="1100" dirty="0">
                <a:solidFill>
                  <a:srgbClr val="2D3748"/>
                </a:solidFill>
                <a:latin typeface="Consolas" pitchFamily="34" charset="0"/>
                <a:ea typeface="Consolas" pitchFamily="34" charset="-122"/>
                <a:cs typeface="Consolas" pitchFamily="34" charset="-120"/>
              </a:rPr>
              <a:t>// 집약 정보로 생성 책임을 가짐</a:t>
            </a:r>
            <a:endParaRPr lang="en-US" sz="900" dirty="0"/>
          </a:p>
        </p:txBody>
      </p:sp>
      <p:sp>
        <p:nvSpPr>
          <p:cNvPr id="17" name="Text 15"/>
          <p:cNvSpPr/>
          <p:nvPr/>
        </p:nvSpPr>
        <p:spPr>
          <a:xfrm>
            <a:off x="320040" y="4411299"/>
            <a:ext cx="8503920" cy="237744"/>
          </a:xfrm>
          <a:prstGeom prst="rect">
            <a:avLst/>
          </a:prstGeom>
          <a:noFill/>
          <a:ln/>
        </p:spPr>
        <p:txBody>
          <a:bodyPr wrap="square" lIns="0" tIns="0" rIns="0" bIns="0" rtlCol="0" anchor="t"/>
          <a:lstStyle/>
          <a:p>
            <a:pPr algn="ctr" indent="0" marL="0">
              <a:buNone/>
            </a:pPr>
            <a:r>
              <a:rPr lang="en-US" sz="1200" i="1" dirty="0">
                <a:solidFill>
                  <a:srgbClr val="6B7280"/>
                </a:solidFill>
                <a:latin typeface="맑은 고딕" pitchFamily="34" charset="0"/>
                <a:ea typeface="맑은 고딕" pitchFamily="34" charset="-122"/>
                <a:cs typeface="맑은 고딕" pitchFamily="34" charset="-120"/>
              </a:rPr>
              <a:t>물음: 생성 책임이 어디에서 어디로 갔나</a:t>
            </a:r>
            <a:endParaRPr lang="en-US" sz="1200" dirty="0"/>
          </a:p>
        </p:txBody>
      </p:sp>
      <p:sp>
        <p:nvSpPr>
          <p:cNvPr id="18" name="Shape 16"/>
          <p:cNvSpPr/>
          <p:nvPr/>
        </p:nvSpPr>
        <p:spPr>
          <a:xfrm>
            <a:off x="320040" y="5212080"/>
            <a:ext cx="8503920" cy="0"/>
          </a:xfrm>
          <a:prstGeom prst="line">
            <a:avLst/>
          </a:prstGeom>
          <a:noFill/>
          <a:ln w="6350">
            <a:solidFill>
              <a:srgbClr val="CBD5E1"/>
            </a:solidFill>
            <a:prstDash val="solid"/>
          </a:ln>
        </p:spPr>
      </p:sp>
      <p:sp>
        <p:nvSpPr>
          <p:cNvPr id="19" name="Text 17"/>
          <p:cNvSpPr/>
          <p:nvPr/>
        </p:nvSpPr>
        <p:spPr>
          <a:xfrm>
            <a:off x="320040" y="5394960"/>
            <a:ext cx="8503920" cy="914400"/>
          </a:xfrm>
          <a:prstGeom prst="rect">
            <a:avLst/>
          </a:prstGeom>
          <a:noFill/>
          <a:ln/>
        </p:spPr>
        <p:txBody>
          <a:bodyPr wrap="square" lIns="0" tIns="0" rIns="0" bIns="0" rtlCol="0" anchor="t"/>
          <a:lstStyle/>
          <a:p>
            <a:pPr indent="0" marL="0">
              <a:spcBef>
                <a:spcPts val="300"/>
              </a:spcBef>
              <a:spcAft>
                <a:spcPts val="300"/>
              </a:spcAft>
              <a:buNone/>
            </a:pPr>
            <a:r>
              <a:rPr lang="en-US" sz="1400" b="1" dirty="0">
                <a:solidFill>
                  <a:srgbClr val="991B1B"/>
                </a:solidFill>
                <a:latin typeface="맑은 고딕" pitchFamily="34" charset="0"/>
                <a:ea typeface="맑은 고딕" pitchFamily="34" charset="-122"/>
                <a:cs typeface="맑은 고딕" pitchFamily="34" charset="-120"/>
              </a:rPr>
              <a:t>한계:  </a:t>
            </a:r>
            <a:pPr indent="0" marL="0">
              <a:spcBef>
                <a:spcPts val="300"/>
              </a:spcBef>
              <a:spcAft>
                <a:spcPts val="300"/>
              </a:spcAft>
              <a:buNone/>
            </a:pPr>
            <a:r>
              <a:rPr lang="en-US" sz="1400" dirty="0">
                <a:solidFill>
                  <a:srgbClr val="2D3748"/>
                </a:solidFill>
                <a:latin typeface="맑은 고딕" pitchFamily="34" charset="0"/>
                <a:ea typeface="맑은 고딕" pitchFamily="34" charset="-122"/>
                <a:cs typeface="맑은 고딕" pitchFamily="34" charset="-120"/>
              </a:rPr>
              <a:t>생성 로직이 복잡하거나(조건에 따라 타입을 골라야 하거나) 필요한 재료가 여러 곳에 흩어져 있으면 창조자(Creator) 배치가 억지가 된다 — 그럴 때는 복잡한 생성을 전담하는 팩토리(Factory) 패턴으로 넘어간다. GRASP가 디자인 패턴을 부르는 첫 지점이다.</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20040" y="182880"/>
            <a:ext cx="8503920" cy="457200"/>
          </a:xfrm>
          <a:prstGeom prst="rect">
            <a:avLst/>
          </a:prstGeom>
          <a:noFill/>
          <a:ln/>
        </p:spPr>
        <p:txBody>
          <a:bodyPr wrap="square" lIns="0" tIns="0" rIns="0" bIns="0" rtlCol="0" anchor="ctr"/>
          <a:lstStyle/>
          <a:p>
            <a:pPr algn="l" indent="0" marL="0">
              <a:buNone/>
            </a:pPr>
            <a:r>
              <a:rPr lang="en-US" sz="2200" b="1" dirty="0">
                <a:solidFill>
                  <a:srgbClr val="1B3A6B"/>
                </a:solidFill>
                <a:latin typeface="맑은 고딕" pitchFamily="34" charset="0"/>
                <a:ea typeface="맑은 고딕" pitchFamily="34" charset="-122"/>
                <a:cs typeface="맑은 고딕" pitchFamily="34" charset="-120"/>
              </a:rPr>
              <a:t>07. 제어자(Controller)</a:t>
            </a:r>
            <a:endParaRPr lang="en-US" sz="2200" dirty="0"/>
          </a:p>
        </p:txBody>
      </p:sp>
      <p:sp>
        <p:nvSpPr>
          <p:cNvPr id="3" name="Shape 1"/>
          <p:cNvSpPr/>
          <p:nvPr/>
        </p:nvSpPr>
        <p:spPr>
          <a:xfrm>
            <a:off x="320040" y="731520"/>
            <a:ext cx="8503920" cy="0"/>
          </a:xfrm>
          <a:prstGeom prst="line">
            <a:avLst/>
          </a:prstGeom>
          <a:noFill/>
          <a:ln w="19050">
            <a:solidFill>
              <a:srgbClr val="1B3A6B"/>
            </a:solidFill>
            <a:prstDash val="solid"/>
          </a:ln>
        </p:spPr>
      </p:sp>
      <p:sp>
        <p:nvSpPr>
          <p:cNvPr id="4" name="Shape 2"/>
          <p:cNvSpPr/>
          <p:nvPr/>
        </p:nvSpPr>
        <p:spPr>
          <a:xfrm>
            <a:off x="320040" y="6492240"/>
            <a:ext cx="8503920" cy="0"/>
          </a:xfrm>
          <a:prstGeom prst="line">
            <a:avLst/>
          </a:prstGeom>
          <a:noFill/>
          <a:ln w="6350">
            <a:solidFill>
              <a:srgbClr val="CBD5E1"/>
            </a:solidFill>
            <a:prstDash val="solid"/>
          </a:ln>
        </p:spPr>
      </p:sp>
      <p:sp>
        <p:nvSpPr>
          <p:cNvPr id="5" name="Text 3"/>
          <p:cNvSpPr/>
          <p:nvPr/>
        </p:nvSpPr>
        <p:spPr>
          <a:xfrm>
            <a:off x="320040" y="6537960"/>
            <a:ext cx="3657600" cy="182880"/>
          </a:xfrm>
          <a:prstGeom prst="rect">
            <a:avLst/>
          </a:prstGeom>
          <a:noFill/>
          <a:ln/>
        </p:spPr>
        <p:txBody>
          <a:bodyPr wrap="square" lIns="0" tIns="0" rIns="0" bIns="0" rtlCol="0" anchor="ctr"/>
          <a:lstStyle/>
          <a:p>
            <a:pPr indent="0" marL="0">
              <a:buNone/>
            </a:pPr>
            <a:r>
              <a:rPr lang="en-US" sz="800" dirty="0">
                <a:solidFill>
                  <a:srgbClr val="6B7280"/>
                </a:solidFill>
                <a:latin typeface="맑은 고딕" pitchFamily="34" charset="0"/>
                <a:ea typeface="맑은 고딕" pitchFamily="34" charset="-122"/>
                <a:cs typeface="맑은 고딕" pitchFamily="34" charset="-120"/>
              </a:rPr>
              <a:t>9. 책임 주도 설계(GRASP) 강의</a:t>
            </a:r>
            <a:endParaRPr lang="en-US" sz="800" dirty="0"/>
          </a:p>
        </p:txBody>
      </p:sp>
      <p:sp>
        <p:nvSpPr>
          <p:cNvPr id="6" name="Text 4"/>
          <p:cNvSpPr/>
          <p:nvPr/>
        </p:nvSpPr>
        <p:spPr>
          <a:xfrm>
            <a:off x="4114800" y="6537960"/>
            <a:ext cx="914400" cy="182880"/>
          </a:xfrm>
          <a:prstGeom prst="rect">
            <a:avLst/>
          </a:prstGeom>
          <a:noFill/>
          <a:ln/>
        </p:spPr>
        <p:txBody>
          <a:bodyPr wrap="square" lIns="0" tIns="0" rIns="0" bIns="0" rtlCol="0" anchor="ctr"/>
          <a:lstStyle/>
          <a:p>
            <a:pPr algn="ctr" indent="0" marL="0">
              <a:buNone/>
            </a:pPr>
            <a:r>
              <a:rPr lang="en-US" sz="800" dirty="0">
                <a:solidFill>
                  <a:srgbClr val="6B7280"/>
                </a:solidFill>
                <a:latin typeface="맑은 고딕" pitchFamily="34" charset="0"/>
                <a:ea typeface="맑은 고딕" pitchFamily="34" charset="-122"/>
                <a:cs typeface="맑은 고딕" pitchFamily="34" charset="-120"/>
              </a:rPr>
              <a:t>8</a:t>
            </a:r>
            <a:endParaRPr lang="en-US" sz="800" dirty="0"/>
          </a:p>
        </p:txBody>
      </p:sp>
      <p:sp>
        <p:nvSpPr>
          <p:cNvPr id="7" name="Text 5"/>
          <p:cNvSpPr/>
          <p:nvPr/>
        </p:nvSpPr>
        <p:spPr>
          <a:xfrm>
            <a:off x="4572000" y="6537960"/>
            <a:ext cx="4251960" cy="182880"/>
          </a:xfrm>
          <a:prstGeom prst="rect">
            <a:avLst/>
          </a:prstGeom>
          <a:noFill/>
          <a:ln/>
        </p:spPr>
        <p:txBody>
          <a:bodyPr wrap="square" lIns="0" tIns="0" rIns="0" bIns="0" rtlCol="0" anchor="ctr"/>
          <a:lstStyle/>
          <a:p>
            <a:pPr algn="r" indent="0" marL="0">
              <a:buNone/>
            </a:pPr>
            <a:r>
              <a:rPr lang="en-US" sz="800" dirty="0">
                <a:solidFill>
                  <a:srgbClr val="6B7280"/>
                </a:solidFill>
                <a:latin typeface="맑은 고딕" pitchFamily="34" charset="0"/>
                <a:ea typeface="맑은 고딕" pitchFamily="34" charset="-122"/>
                <a:cs typeface="맑은 고딕" pitchFamily="34" charset="-120"/>
              </a:rPr>
              <a:t>Generated by Claude | Concepts, Requirements and feedback: Youngon Kim</a:t>
            </a:r>
            <a:endParaRPr lang="en-US" sz="800" dirty="0"/>
          </a:p>
        </p:txBody>
      </p:sp>
      <p:sp>
        <p:nvSpPr>
          <p:cNvPr id="8" name="Text 6"/>
          <p:cNvSpPr/>
          <p:nvPr/>
        </p:nvSpPr>
        <p:spPr>
          <a:xfrm>
            <a:off x="320040" y="868680"/>
            <a:ext cx="8503920" cy="274320"/>
          </a:xfrm>
          <a:prstGeom prst="rect">
            <a:avLst/>
          </a:prstGeom>
          <a:noFill/>
          <a:ln/>
        </p:spPr>
        <p:txBody>
          <a:bodyPr wrap="square" lIns="0" tIns="0" rIns="0" bIns="0" rtlCol="0" anchor="ctr"/>
          <a:lstStyle/>
          <a:p>
            <a:pPr algn="ctr" indent="0" marL="0">
              <a:buNone/>
            </a:pPr>
            <a:r>
              <a:rPr lang="en-US" sz="1400" b="1" dirty="0">
                <a:solidFill>
                  <a:srgbClr val="6B7280"/>
                </a:solidFill>
                <a:latin typeface="맑은 고딕" pitchFamily="34" charset="0"/>
                <a:ea typeface="맑은 고딕" pitchFamily="34" charset="-122"/>
                <a:cs typeface="맑은 고딕" pitchFamily="34" charset="-120"/>
              </a:rPr>
              <a:t>[적용] </a:t>
            </a:r>
            <a:pPr algn="ctr" indent="0" marL="0">
              <a:buNone/>
            </a:pPr>
            <a:r>
              <a:rPr lang="en-US" sz="1400" b="1" dirty="0">
                <a:solidFill>
                  <a:srgbClr val="2D3748"/>
                </a:solidFill>
                <a:latin typeface="맑은 고딕" pitchFamily="34" charset="0"/>
                <a:ea typeface="맑은 고딕" pitchFamily="34" charset="-122"/>
                <a:cs typeface="맑은 고딕" pitchFamily="34" charset="-120"/>
              </a:rPr>
              <a:t>시스템 이벤트를 받는 첫 객체는 UI가 아니라 도메인 경계의 제어자다.</a:t>
            </a:r>
            <a:endParaRPr lang="en-US" sz="1400" dirty="0"/>
          </a:p>
        </p:txBody>
      </p:sp>
      <p:sp>
        <p:nvSpPr>
          <p:cNvPr id="9" name="Shape 7"/>
          <p:cNvSpPr/>
          <p:nvPr/>
        </p:nvSpPr>
        <p:spPr>
          <a:xfrm>
            <a:off x="320040" y="1234440"/>
            <a:ext cx="8503920" cy="0"/>
          </a:xfrm>
          <a:prstGeom prst="line">
            <a:avLst/>
          </a:prstGeom>
          <a:noFill/>
          <a:ln w="6350">
            <a:solidFill>
              <a:srgbClr val="CBD5E1"/>
            </a:solidFill>
            <a:prstDash val="solid"/>
          </a:ln>
        </p:spPr>
      </p:sp>
      <p:sp>
        <p:nvSpPr>
          <p:cNvPr id="10" name="Text 8"/>
          <p:cNvSpPr/>
          <p:nvPr/>
        </p:nvSpPr>
        <p:spPr>
          <a:xfrm>
            <a:off x="320040" y="1325880"/>
            <a:ext cx="8503920" cy="1515527"/>
          </a:xfrm>
          <a:prstGeom prst="rect">
            <a:avLst/>
          </a:prstGeom>
          <a:solidFill>
            <a:srgbClr val="EBF1F8"/>
          </a:solidFill>
          <a:ln w="9525">
            <a:solidFill>
              <a:srgbClr val="CBD5E1"/>
            </a:solidFill>
          </a:ln>
        </p:spPr>
        <p:txBody>
          <a:bodyPr wrap="square" lIns="72009" tIns="72009" rIns="72009" bIns="72009" rtlCol="0" anchor="ctr"/>
          <a:lstStyle/>
          <a:p>
            <a:pPr algn="l" indent="0" marL="0">
              <a:spcAft>
                <a:spcPts val="300"/>
              </a:spcAft>
              <a:buNone/>
            </a:pPr>
            <a:r>
              <a:rPr lang="en-US" sz="1400" b="1" dirty="0">
                <a:solidFill>
                  <a:srgbClr val="1B3A6B"/>
                </a:solidFill>
                <a:latin typeface="맑은 고딕" pitchFamily="34" charset="0"/>
                <a:ea typeface="맑은 고딕" pitchFamily="34" charset="-122"/>
                <a:cs typeface="맑은 고딕" pitchFamily="34" charset="-120"/>
              </a:rPr>
              <a:t>enterItem 같은 시스템 연산은 누가 받아야 하는가?</a:t>
            </a:r>
            <a:endParaRPr lang="en-US" sz="1400" dirty="0"/>
          </a:p>
          <a:p>
            <a:pPr algn="l" indent="0" marL="0">
              <a:spcBef>
                <a:spcPts val="300"/>
              </a:spcBef>
              <a:buNone/>
            </a:pPr>
            <a:r>
              <a:rPr lang="en-US" sz="1400" b="1" dirty="0">
                <a:solidFill>
                  <a:srgbClr val="007965"/>
                </a:solidFill>
                <a:latin typeface="맑은 고딕" pitchFamily="34" charset="0"/>
                <a:ea typeface="맑은 고딕" pitchFamily="34" charset="-122"/>
                <a:cs typeface="맑은 고딕" pitchFamily="34" charset="-120"/>
              </a:rPr>
              <a:t>정보 소재 추론: </a:t>
            </a:r>
            <a:pPr algn="l" indent="0" marL="0">
              <a:spcBef>
                <a:spcPts val="300"/>
              </a:spcBef>
              <a:buNone/>
            </a:pPr>
            <a:r>
              <a:rPr lang="en-US" sz="1400" dirty="0">
                <a:solidFill>
                  <a:srgbClr val="2D3748"/>
                </a:solidFill>
                <a:latin typeface="맑은 고딕" pitchFamily="34" charset="0"/>
                <a:ea typeface="맑은 고딕" pitchFamily="34" charset="-122"/>
                <a:cs typeface="맑은 고딕" pitchFamily="34" charset="-120"/>
              </a:rPr>
              <a:t>UI가 시스템 이벤트를 직접 받아 도메인 객체를 헤집으면, 업무 로직이 UI 코드 안으로 새어 들어간다. Register(또는 유스케이스 처리기)가 이벤트를 받아 도메인에 위임하는 제어자(Controller) 역할을 맡으면, UI와 도메인이 분리된다 — 전체 시스템을 대표하는 객체이거나 유스케이스 하나를 처리하는 객체다.</a:t>
            </a:r>
            <a:endParaRPr lang="en-US" sz="1400" dirty="0"/>
          </a:p>
        </p:txBody>
      </p:sp>
      <p:sp>
        <p:nvSpPr>
          <p:cNvPr id="11" name="Shape 9"/>
          <p:cNvSpPr/>
          <p:nvPr/>
        </p:nvSpPr>
        <p:spPr>
          <a:xfrm>
            <a:off x="320040" y="3221309"/>
            <a:ext cx="4160520" cy="1391412"/>
          </a:xfrm>
          <a:prstGeom prst="rect">
            <a:avLst/>
          </a:prstGeom>
          <a:solidFill>
            <a:srgbClr val="FFFFFF"/>
          </a:solidFill>
          <a:ln w="15875">
            <a:solidFill>
              <a:srgbClr val="1B3A6B"/>
            </a:solidFill>
            <a:prstDash val="solid"/>
          </a:ln>
        </p:spPr>
      </p:sp>
      <p:sp>
        <p:nvSpPr>
          <p:cNvPr id="12" name="Text 10"/>
          <p:cNvSpPr/>
          <p:nvPr/>
        </p:nvSpPr>
        <p:spPr>
          <a:xfrm>
            <a:off x="320040" y="3221309"/>
            <a:ext cx="4160520" cy="256032"/>
          </a:xfrm>
          <a:prstGeom prst="rect">
            <a:avLst/>
          </a:prstGeom>
          <a:solidFill>
            <a:srgbClr val="1B3A6B"/>
          </a:solidFill>
          <a:ln/>
        </p:spPr>
        <p:txBody>
          <a:bodyPr wrap="square" lIns="72009" tIns="72009" rIns="72009" bIns="72009" rtlCol="0" anchor="ctr"/>
          <a:lstStyle/>
          <a:p>
            <a:pPr algn="ctr" indent="0" marL="0">
              <a:buNone/>
            </a:pPr>
            <a:r>
              <a:rPr lang="en-US" sz="1200" b="1" dirty="0">
                <a:solidFill>
                  <a:srgbClr val="FFFFFF"/>
                </a:solidFill>
                <a:latin typeface="맑은 고딕" pitchFamily="34" charset="0"/>
                <a:ea typeface="맑은 고딕" pitchFamily="34" charset="-122"/>
                <a:cs typeface="맑은 고딕" pitchFamily="34" charset="-120"/>
              </a:rPr>
              <a:t>절차</a:t>
            </a:r>
            <a:endParaRPr lang="en-US" sz="1200" dirty="0"/>
          </a:p>
        </p:txBody>
      </p:sp>
      <p:sp>
        <p:nvSpPr>
          <p:cNvPr id="13" name="Text 11"/>
          <p:cNvSpPr/>
          <p:nvPr/>
        </p:nvSpPr>
        <p:spPr>
          <a:xfrm>
            <a:off x="393192" y="3477341"/>
            <a:ext cx="4014216" cy="1062228"/>
          </a:xfrm>
          <a:prstGeom prst="rect">
            <a:avLst/>
          </a:prstGeom>
          <a:noFill/>
          <a:ln/>
        </p:spPr>
        <p:txBody>
          <a:bodyPr wrap="square" lIns="0" tIns="0" rIns="0" bIns="0" rtlCol="0" anchor="t"/>
          <a:lstStyle/>
          <a:p>
            <a:pPr algn="l" indent="0" marL="0">
              <a:buNone/>
            </a:pPr>
            <a:r>
              <a:rPr lang="en-US" sz="1100" dirty="0">
                <a:solidFill>
                  <a:srgbClr val="2D3748"/>
                </a:solidFill>
                <a:latin typeface="Consolas" pitchFamily="34" charset="0"/>
                <a:ea typeface="Consolas" pitchFamily="34" charset="-122"/>
                <a:cs typeface="Consolas" pitchFamily="34" charset="-120"/>
              </a:rPr>
              <a:t>// UI 이벤트 핸들러</a:t>
            </a:r>
            <a:endParaRPr lang="en-US" sz="1100" dirty="0"/>
          </a:p>
          <a:p>
            <a:pPr algn="l" indent="0" marL="0">
              <a:buNone/>
            </a:pPr>
            <a:r>
              <a:rPr lang="en-US" sz="1100" dirty="0">
                <a:solidFill>
                  <a:srgbClr val="2D3748"/>
                </a:solidFill>
                <a:latin typeface="Consolas" pitchFamily="34" charset="0"/>
                <a:ea typeface="Consolas" pitchFamily="34" charset="-122"/>
                <a:cs typeface="Consolas" pitchFamily="34" charset="-120"/>
              </a:rPr>
              <a:t>ProductDescription d = catalog.find(id);</a:t>
            </a:r>
            <a:endParaRPr lang="en-US" sz="1100" dirty="0"/>
          </a:p>
          <a:p>
            <a:pPr algn="l" indent="0" marL="0">
              <a:buNone/>
            </a:pPr>
            <a:r>
              <a:rPr lang="en-US" sz="900" b="1" dirty="0">
                <a:solidFill>
                  <a:srgbClr val="007965"/>
                </a:solidFill>
                <a:latin typeface="맑은 고딕" pitchFamily="34" charset="0"/>
                <a:ea typeface="맑은 고딕" pitchFamily="34" charset="-122"/>
                <a:cs typeface="맑은 고딕" pitchFamily="34" charset="-120"/>
              </a:rPr>
              <a:t>UI가 업무 로직을 대신 갖는다 </a:t>
            </a:r>
            <a:pPr algn="l" indent="0" marL="0">
              <a:buNone/>
            </a:pPr>
            <a:r>
              <a:rPr lang="en-US" sz="1100" b="1" dirty="0">
                <a:solidFill>
                  <a:srgbClr val="1B3A6B"/>
                </a:solidFill>
                <a:latin typeface="Consolas" pitchFamily="34" charset="0"/>
                <a:ea typeface="Consolas" pitchFamily="34" charset="-122"/>
                <a:cs typeface="Consolas" pitchFamily="34" charset="-120"/>
              </a:rPr>
              <a:t>sale.makeLineItem(d, qty);   // UI가 직접 조작</a:t>
            </a:r>
            <a:endParaRPr lang="en-US" sz="1100" dirty="0"/>
          </a:p>
        </p:txBody>
      </p:sp>
      <p:sp>
        <p:nvSpPr>
          <p:cNvPr id="14" name="Shape 12"/>
          <p:cNvSpPr/>
          <p:nvPr/>
        </p:nvSpPr>
        <p:spPr>
          <a:xfrm>
            <a:off x="4663440" y="3221309"/>
            <a:ext cx="4160520" cy="1391412"/>
          </a:xfrm>
          <a:prstGeom prst="rect">
            <a:avLst/>
          </a:prstGeom>
          <a:solidFill>
            <a:srgbClr val="FFFFFF"/>
          </a:solidFill>
          <a:ln w="15875">
            <a:solidFill>
              <a:srgbClr val="1B3A6B"/>
            </a:solidFill>
            <a:prstDash val="solid"/>
          </a:ln>
        </p:spPr>
      </p:sp>
      <p:sp>
        <p:nvSpPr>
          <p:cNvPr id="15" name="Text 13"/>
          <p:cNvSpPr/>
          <p:nvPr/>
        </p:nvSpPr>
        <p:spPr>
          <a:xfrm>
            <a:off x="4663440" y="3221309"/>
            <a:ext cx="4160520" cy="256032"/>
          </a:xfrm>
          <a:prstGeom prst="rect">
            <a:avLst/>
          </a:prstGeom>
          <a:solidFill>
            <a:srgbClr val="1B3A6B"/>
          </a:solidFill>
          <a:ln/>
        </p:spPr>
        <p:txBody>
          <a:bodyPr wrap="square" lIns="72009" tIns="72009" rIns="72009" bIns="72009" rtlCol="0" anchor="ctr"/>
          <a:lstStyle/>
          <a:p>
            <a:pPr algn="ctr" indent="0" marL="0">
              <a:buNone/>
            </a:pPr>
            <a:r>
              <a:rPr lang="en-US" sz="1200" b="1" dirty="0">
                <a:solidFill>
                  <a:srgbClr val="FFFFFF"/>
                </a:solidFill>
                <a:latin typeface="맑은 고딕" pitchFamily="34" charset="0"/>
                <a:ea typeface="맑은 고딕" pitchFamily="34" charset="-122"/>
                <a:cs typeface="맑은 고딕" pitchFamily="34" charset="-120"/>
              </a:rPr>
              <a:t>적용</a:t>
            </a:r>
            <a:endParaRPr lang="en-US" sz="1200" dirty="0"/>
          </a:p>
        </p:txBody>
      </p:sp>
      <p:sp>
        <p:nvSpPr>
          <p:cNvPr id="16" name="Text 14"/>
          <p:cNvSpPr/>
          <p:nvPr/>
        </p:nvSpPr>
        <p:spPr>
          <a:xfrm>
            <a:off x="4736592" y="3477341"/>
            <a:ext cx="4014216" cy="1062228"/>
          </a:xfrm>
          <a:prstGeom prst="rect">
            <a:avLst/>
          </a:prstGeom>
          <a:noFill/>
          <a:ln/>
        </p:spPr>
        <p:txBody>
          <a:bodyPr wrap="square" lIns="0" tIns="0" rIns="0" bIns="0" rtlCol="0" anchor="t"/>
          <a:lstStyle/>
          <a:p>
            <a:pPr algn="l" indent="0" marL="0">
              <a:buNone/>
            </a:pPr>
            <a:r>
              <a:rPr lang="en-US" sz="900" b="1" dirty="0">
                <a:solidFill>
                  <a:srgbClr val="007965"/>
                </a:solidFill>
                <a:latin typeface="맑은 고딕" pitchFamily="34" charset="0"/>
                <a:ea typeface="맑은 고딕" pitchFamily="34" charset="-122"/>
                <a:cs typeface="맑은 고딕" pitchFamily="34" charset="-120"/>
              </a:rPr>
              <a:t>제어자(Controller) </a:t>
            </a:r>
            <a:pPr algn="l" indent="0" marL="0">
              <a:buNone/>
            </a:pPr>
            <a:r>
              <a:rPr lang="en-US" sz="1100" b="1" dirty="0">
                <a:solidFill>
                  <a:srgbClr val="1B3A6B"/>
                </a:solidFill>
                <a:latin typeface="Consolas" pitchFamily="34" charset="0"/>
                <a:ea typeface="Consolas" pitchFamily="34" charset="-122"/>
                <a:cs typeface="Consolas" pitchFamily="34" charset="-120"/>
              </a:rPr>
              <a:t>class Register {              // Controller</a:t>
            </a:r>
            <a:endParaRPr lang="en-US" sz="900" dirty="0"/>
          </a:p>
          <a:p>
            <a:pPr algn="l" indent="0" marL="0">
              <a:buNone/>
            </a:pPr>
            <a:r>
              <a:rPr lang="en-US" sz="1100" dirty="0">
                <a:solidFill>
                  <a:srgbClr val="2D3748"/>
                </a:solidFill>
                <a:latin typeface="Consolas" pitchFamily="34" charset="0"/>
                <a:ea typeface="Consolas" pitchFamily="34" charset="-122"/>
                <a:cs typeface="Consolas" pitchFamily="34" charset="-120"/>
              </a:rPr>
              <a:t>  void enterItem(ItemID id, int qty) {</a:t>
            </a:r>
            <a:endParaRPr lang="en-US" sz="900" dirty="0"/>
          </a:p>
          <a:p>
            <a:pPr algn="l" indent="0" marL="0">
              <a:buNone/>
            </a:pPr>
            <a:r>
              <a:rPr lang="en-US" sz="1100" dirty="0">
                <a:solidFill>
                  <a:srgbClr val="2D3748"/>
                </a:solidFill>
                <a:latin typeface="Consolas" pitchFamily="34" charset="0"/>
                <a:ea typeface="Consolas" pitchFamily="34" charset="-122"/>
                <a:cs typeface="Consolas" pitchFamily="34" charset="-120"/>
              </a:rPr>
              <a:t>    var d = catalog.find(id);</a:t>
            </a:r>
            <a:endParaRPr lang="en-US" sz="900" dirty="0"/>
          </a:p>
          <a:p>
            <a:pPr algn="l" indent="0" marL="0">
              <a:buNone/>
            </a:pPr>
            <a:r>
              <a:rPr lang="en-US" sz="1100" dirty="0">
                <a:solidFill>
                  <a:srgbClr val="2D3748"/>
                </a:solidFill>
                <a:latin typeface="Consolas" pitchFamily="34" charset="0"/>
                <a:ea typeface="Consolas" pitchFamily="34" charset="-122"/>
                <a:cs typeface="Consolas" pitchFamily="34" charset="-120"/>
              </a:rPr>
              <a:t>    currentSale.makeLineItem(d, qty);</a:t>
            </a:r>
            <a:endParaRPr lang="en-US" sz="900" dirty="0"/>
          </a:p>
          <a:p>
            <a:pPr algn="l" indent="0" marL="0">
              <a:buNone/>
            </a:pPr>
            <a:r>
              <a:rPr lang="en-US" sz="1100" dirty="0">
                <a:solidFill>
                  <a:srgbClr val="2D3748"/>
                </a:solidFill>
                <a:latin typeface="Consolas" pitchFamily="34" charset="0"/>
                <a:ea typeface="Consolas" pitchFamily="34" charset="-122"/>
                <a:cs typeface="Consolas" pitchFamily="34" charset="-120"/>
              </a:rPr>
              <a:t>  }</a:t>
            </a:r>
            <a:endParaRPr lang="en-US" sz="900" dirty="0"/>
          </a:p>
          <a:p>
            <a:pPr algn="l" indent="0" marL="0">
              <a:buNone/>
            </a:pPr>
            <a:r>
              <a:rPr lang="en-US" sz="1100" dirty="0">
                <a:solidFill>
                  <a:srgbClr val="2D3748"/>
                </a:solidFill>
                <a:latin typeface="Consolas" pitchFamily="34" charset="0"/>
                <a:ea typeface="Consolas" pitchFamily="34" charset="-122"/>
                <a:cs typeface="Consolas" pitchFamily="34" charset="-120"/>
              </a:rPr>
              <a:t>}</a:t>
            </a:r>
            <a:endParaRPr lang="en-US" sz="900" dirty="0"/>
          </a:p>
        </p:txBody>
      </p:sp>
      <p:sp>
        <p:nvSpPr>
          <p:cNvPr id="17" name="Text 15"/>
          <p:cNvSpPr/>
          <p:nvPr/>
        </p:nvSpPr>
        <p:spPr>
          <a:xfrm>
            <a:off x="320040" y="4704161"/>
            <a:ext cx="8503920" cy="237744"/>
          </a:xfrm>
          <a:prstGeom prst="rect">
            <a:avLst/>
          </a:prstGeom>
          <a:noFill/>
          <a:ln/>
        </p:spPr>
        <p:txBody>
          <a:bodyPr wrap="square" lIns="0" tIns="0" rIns="0" bIns="0" rtlCol="0" anchor="t"/>
          <a:lstStyle/>
          <a:p>
            <a:pPr algn="ctr" indent="0" marL="0">
              <a:buNone/>
            </a:pPr>
            <a:r>
              <a:rPr lang="en-US" sz="1200" i="1" dirty="0">
                <a:solidFill>
                  <a:srgbClr val="6B7280"/>
                </a:solidFill>
                <a:latin typeface="맑은 고딕" pitchFamily="34" charset="0"/>
                <a:ea typeface="맑은 고딕" pitchFamily="34" charset="-122"/>
                <a:cs typeface="맑은 고딕" pitchFamily="34" charset="-120"/>
              </a:rPr>
              <a:t>물음: 이벤트 처리 책임이 어디에서 어디로 갔나</a:t>
            </a:r>
            <a:endParaRPr lang="en-US" sz="1200" dirty="0"/>
          </a:p>
        </p:txBody>
      </p:sp>
      <p:sp>
        <p:nvSpPr>
          <p:cNvPr id="18" name="Shape 16"/>
          <p:cNvSpPr/>
          <p:nvPr/>
        </p:nvSpPr>
        <p:spPr>
          <a:xfrm>
            <a:off x="320040" y="5212080"/>
            <a:ext cx="8503920" cy="0"/>
          </a:xfrm>
          <a:prstGeom prst="line">
            <a:avLst/>
          </a:prstGeom>
          <a:noFill/>
          <a:ln w="6350">
            <a:solidFill>
              <a:srgbClr val="CBD5E1"/>
            </a:solidFill>
            <a:prstDash val="solid"/>
          </a:ln>
        </p:spPr>
      </p:sp>
      <p:sp>
        <p:nvSpPr>
          <p:cNvPr id="19" name="Text 17"/>
          <p:cNvSpPr/>
          <p:nvPr/>
        </p:nvSpPr>
        <p:spPr>
          <a:xfrm>
            <a:off x="320040" y="5394960"/>
            <a:ext cx="8503920" cy="914400"/>
          </a:xfrm>
          <a:prstGeom prst="rect">
            <a:avLst/>
          </a:prstGeom>
          <a:noFill/>
          <a:ln/>
        </p:spPr>
        <p:txBody>
          <a:bodyPr wrap="square" lIns="0" tIns="0" rIns="0" bIns="0" rtlCol="0" anchor="t"/>
          <a:lstStyle/>
          <a:p>
            <a:pPr indent="0" marL="0">
              <a:spcBef>
                <a:spcPts val="300"/>
              </a:spcBef>
              <a:spcAft>
                <a:spcPts val="300"/>
              </a:spcAft>
              <a:buNone/>
            </a:pPr>
            <a:r>
              <a:rPr lang="en-US" sz="1400" b="1" dirty="0">
                <a:solidFill>
                  <a:srgbClr val="991B1B"/>
                </a:solidFill>
                <a:latin typeface="맑은 고딕" pitchFamily="34" charset="0"/>
                <a:ea typeface="맑은 고딕" pitchFamily="34" charset="-122"/>
                <a:cs typeface="맑은 고딕" pitchFamily="34" charset="-120"/>
              </a:rPr>
              <a:t>한계:  </a:t>
            </a:r>
            <a:pPr indent="0" marL="0">
              <a:spcBef>
                <a:spcPts val="300"/>
              </a:spcBef>
              <a:spcAft>
                <a:spcPts val="300"/>
              </a:spcAft>
              <a:buNone/>
            </a:pPr>
            <a:r>
              <a:rPr lang="en-US" sz="1400" dirty="0">
                <a:solidFill>
                  <a:srgbClr val="2D3748"/>
                </a:solidFill>
                <a:latin typeface="맑은 고딕" pitchFamily="34" charset="0"/>
                <a:ea typeface="맑은 고딕" pitchFamily="34" charset="-122"/>
                <a:cs typeface="맑은 고딕" pitchFamily="34" charset="-120"/>
              </a:rPr>
              <a:t>한 제어자가 모든 연산을 받으면 비대해진다 — 책임이 뒤섞여 응집도가 낮아진다. 그럴 때는 유스케이스별로 제어자를 나눈다. 이 나뉜 자리가 아키텍처 과정의 유스케이스 처리기(Use Case Interactor)로 다시 자리 잡는다.</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20040" y="182880"/>
            <a:ext cx="8503920" cy="457200"/>
          </a:xfrm>
          <a:prstGeom prst="rect">
            <a:avLst/>
          </a:prstGeom>
          <a:noFill/>
          <a:ln/>
        </p:spPr>
        <p:txBody>
          <a:bodyPr wrap="square" lIns="0" tIns="0" rIns="0" bIns="0" rtlCol="0" anchor="ctr"/>
          <a:lstStyle/>
          <a:p>
            <a:pPr algn="l" indent="0" marL="0">
              <a:buNone/>
            </a:pPr>
            <a:r>
              <a:rPr lang="en-US" sz="2200" b="1" dirty="0">
                <a:solidFill>
                  <a:srgbClr val="1B3A6B"/>
                </a:solidFill>
                <a:latin typeface="맑은 고딕" pitchFamily="34" charset="0"/>
                <a:ea typeface="맑은 고딕" pitchFamily="34" charset="-122"/>
                <a:cs typeface="맑은 고딕" pitchFamily="34" charset="-120"/>
              </a:rPr>
              <a:t>08. 낮은 결합도(Low Coupling)</a:t>
            </a:r>
            <a:endParaRPr lang="en-US" sz="2200" dirty="0"/>
          </a:p>
        </p:txBody>
      </p:sp>
      <p:sp>
        <p:nvSpPr>
          <p:cNvPr id="3" name="Shape 1"/>
          <p:cNvSpPr/>
          <p:nvPr/>
        </p:nvSpPr>
        <p:spPr>
          <a:xfrm>
            <a:off x="320040" y="731520"/>
            <a:ext cx="8503920" cy="0"/>
          </a:xfrm>
          <a:prstGeom prst="line">
            <a:avLst/>
          </a:prstGeom>
          <a:noFill/>
          <a:ln w="19050">
            <a:solidFill>
              <a:srgbClr val="1B3A6B"/>
            </a:solidFill>
            <a:prstDash val="solid"/>
          </a:ln>
        </p:spPr>
      </p:sp>
      <p:sp>
        <p:nvSpPr>
          <p:cNvPr id="4" name="Shape 2"/>
          <p:cNvSpPr/>
          <p:nvPr/>
        </p:nvSpPr>
        <p:spPr>
          <a:xfrm>
            <a:off x="320040" y="6492240"/>
            <a:ext cx="8503920" cy="0"/>
          </a:xfrm>
          <a:prstGeom prst="line">
            <a:avLst/>
          </a:prstGeom>
          <a:noFill/>
          <a:ln w="6350">
            <a:solidFill>
              <a:srgbClr val="CBD5E1"/>
            </a:solidFill>
            <a:prstDash val="solid"/>
          </a:ln>
        </p:spPr>
      </p:sp>
      <p:sp>
        <p:nvSpPr>
          <p:cNvPr id="5" name="Text 3"/>
          <p:cNvSpPr/>
          <p:nvPr/>
        </p:nvSpPr>
        <p:spPr>
          <a:xfrm>
            <a:off x="320040" y="6537960"/>
            <a:ext cx="3657600" cy="182880"/>
          </a:xfrm>
          <a:prstGeom prst="rect">
            <a:avLst/>
          </a:prstGeom>
          <a:noFill/>
          <a:ln/>
        </p:spPr>
        <p:txBody>
          <a:bodyPr wrap="square" lIns="0" tIns="0" rIns="0" bIns="0" rtlCol="0" anchor="ctr"/>
          <a:lstStyle/>
          <a:p>
            <a:pPr indent="0" marL="0">
              <a:buNone/>
            </a:pPr>
            <a:r>
              <a:rPr lang="en-US" sz="800" dirty="0">
                <a:solidFill>
                  <a:srgbClr val="6B7280"/>
                </a:solidFill>
                <a:latin typeface="맑은 고딕" pitchFamily="34" charset="0"/>
                <a:ea typeface="맑은 고딕" pitchFamily="34" charset="-122"/>
                <a:cs typeface="맑은 고딕" pitchFamily="34" charset="-120"/>
              </a:rPr>
              <a:t>9. 책임 주도 설계(GRASP) 강의</a:t>
            </a:r>
            <a:endParaRPr lang="en-US" sz="800" dirty="0"/>
          </a:p>
        </p:txBody>
      </p:sp>
      <p:sp>
        <p:nvSpPr>
          <p:cNvPr id="6" name="Text 4"/>
          <p:cNvSpPr/>
          <p:nvPr/>
        </p:nvSpPr>
        <p:spPr>
          <a:xfrm>
            <a:off x="4114800" y="6537960"/>
            <a:ext cx="914400" cy="182880"/>
          </a:xfrm>
          <a:prstGeom prst="rect">
            <a:avLst/>
          </a:prstGeom>
          <a:noFill/>
          <a:ln/>
        </p:spPr>
        <p:txBody>
          <a:bodyPr wrap="square" lIns="0" tIns="0" rIns="0" bIns="0" rtlCol="0" anchor="ctr"/>
          <a:lstStyle/>
          <a:p>
            <a:pPr algn="ctr" indent="0" marL="0">
              <a:buNone/>
            </a:pPr>
            <a:r>
              <a:rPr lang="en-US" sz="800" dirty="0">
                <a:solidFill>
                  <a:srgbClr val="6B7280"/>
                </a:solidFill>
                <a:latin typeface="맑은 고딕" pitchFamily="34" charset="0"/>
                <a:ea typeface="맑은 고딕" pitchFamily="34" charset="-122"/>
                <a:cs typeface="맑은 고딕" pitchFamily="34" charset="-120"/>
              </a:rPr>
              <a:t>9</a:t>
            </a:r>
            <a:endParaRPr lang="en-US" sz="800" dirty="0"/>
          </a:p>
        </p:txBody>
      </p:sp>
      <p:sp>
        <p:nvSpPr>
          <p:cNvPr id="7" name="Text 5"/>
          <p:cNvSpPr/>
          <p:nvPr/>
        </p:nvSpPr>
        <p:spPr>
          <a:xfrm>
            <a:off x="4572000" y="6537960"/>
            <a:ext cx="4251960" cy="182880"/>
          </a:xfrm>
          <a:prstGeom prst="rect">
            <a:avLst/>
          </a:prstGeom>
          <a:noFill/>
          <a:ln/>
        </p:spPr>
        <p:txBody>
          <a:bodyPr wrap="square" lIns="0" tIns="0" rIns="0" bIns="0" rtlCol="0" anchor="ctr"/>
          <a:lstStyle/>
          <a:p>
            <a:pPr algn="r" indent="0" marL="0">
              <a:buNone/>
            </a:pPr>
            <a:r>
              <a:rPr lang="en-US" sz="800" dirty="0">
                <a:solidFill>
                  <a:srgbClr val="6B7280"/>
                </a:solidFill>
                <a:latin typeface="맑은 고딕" pitchFamily="34" charset="0"/>
                <a:ea typeface="맑은 고딕" pitchFamily="34" charset="-122"/>
                <a:cs typeface="맑은 고딕" pitchFamily="34" charset="-120"/>
              </a:rPr>
              <a:t>Generated by Claude | Concepts, Requirements and feedback: Youngon Kim</a:t>
            </a:r>
            <a:endParaRPr lang="en-US" sz="800" dirty="0"/>
          </a:p>
        </p:txBody>
      </p:sp>
      <p:sp>
        <p:nvSpPr>
          <p:cNvPr id="8" name="Text 6"/>
          <p:cNvSpPr/>
          <p:nvPr/>
        </p:nvSpPr>
        <p:spPr>
          <a:xfrm>
            <a:off x="320040" y="868680"/>
            <a:ext cx="8503920" cy="274320"/>
          </a:xfrm>
          <a:prstGeom prst="rect">
            <a:avLst/>
          </a:prstGeom>
          <a:noFill/>
          <a:ln/>
        </p:spPr>
        <p:txBody>
          <a:bodyPr wrap="square" lIns="0" tIns="0" rIns="0" bIns="0" rtlCol="0" anchor="ctr"/>
          <a:lstStyle/>
          <a:p>
            <a:pPr algn="ctr" indent="0" marL="0">
              <a:buNone/>
            </a:pPr>
            <a:r>
              <a:rPr lang="en-US" sz="1400" b="1" dirty="0">
                <a:solidFill>
                  <a:srgbClr val="6B7280"/>
                </a:solidFill>
                <a:latin typeface="맑은 고딕" pitchFamily="34" charset="0"/>
                <a:ea typeface="맑은 고딕" pitchFamily="34" charset="-122"/>
                <a:cs typeface="맑은 고딕" pitchFamily="34" charset="-120"/>
              </a:rPr>
              <a:t>[적용] </a:t>
            </a:r>
            <a:pPr algn="ctr" indent="0" marL="0">
              <a:buNone/>
            </a:pPr>
            <a:r>
              <a:rPr lang="en-US" sz="1400" b="1" dirty="0">
                <a:solidFill>
                  <a:srgbClr val="2D3748"/>
                </a:solidFill>
                <a:latin typeface="맑은 고딕" pitchFamily="34" charset="0"/>
                <a:ea typeface="맑은 고딕" pitchFamily="34" charset="-122"/>
                <a:cs typeface="맑은 고딕" pitchFamily="34" charset="-120"/>
              </a:rPr>
              <a:t>요소 사이의 의존을 낮게 유지해, 한 곳의 변화가 번지지 않게 한다.</a:t>
            </a:r>
            <a:endParaRPr lang="en-US" sz="1400" dirty="0"/>
          </a:p>
        </p:txBody>
      </p:sp>
      <p:sp>
        <p:nvSpPr>
          <p:cNvPr id="9" name="Shape 7"/>
          <p:cNvSpPr/>
          <p:nvPr/>
        </p:nvSpPr>
        <p:spPr>
          <a:xfrm>
            <a:off x="320040" y="1234440"/>
            <a:ext cx="8503920" cy="0"/>
          </a:xfrm>
          <a:prstGeom prst="line">
            <a:avLst/>
          </a:prstGeom>
          <a:noFill/>
          <a:ln w="6350">
            <a:solidFill>
              <a:srgbClr val="CBD5E1"/>
            </a:solidFill>
            <a:prstDash val="solid"/>
          </a:ln>
        </p:spPr>
      </p:sp>
      <p:sp>
        <p:nvSpPr>
          <p:cNvPr id="10" name="Text 8"/>
          <p:cNvSpPr/>
          <p:nvPr/>
        </p:nvSpPr>
        <p:spPr>
          <a:xfrm>
            <a:off x="320040" y="1325880"/>
            <a:ext cx="8503920" cy="1259495"/>
          </a:xfrm>
          <a:prstGeom prst="rect">
            <a:avLst/>
          </a:prstGeom>
          <a:solidFill>
            <a:srgbClr val="EBF1F8"/>
          </a:solidFill>
          <a:ln w="9525">
            <a:solidFill>
              <a:srgbClr val="CBD5E1"/>
            </a:solidFill>
          </a:ln>
        </p:spPr>
        <p:txBody>
          <a:bodyPr wrap="square" lIns="72009" tIns="72009" rIns="72009" bIns="72009" rtlCol="0" anchor="ctr"/>
          <a:lstStyle/>
          <a:p>
            <a:pPr algn="l" indent="0" marL="0">
              <a:spcAft>
                <a:spcPts val="300"/>
              </a:spcAft>
              <a:buNone/>
            </a:pPr>
            <a:r>
              <a:rPr lang="en-US" sz="1400" b="1" dirty="0">
                <a:solidFill>
                  <a:srgbClr val="1B3A6B"/>
                </a:solidFill>
                <a:latin typeface="맑은 고딕" pitchFamily="34" charset="0"/>
                <a:ea typeface="맑은 고딕" pitchFamily="34" charset="-122"/>
                <a:cs typeface="맑은 고딕" pitchFamily="34" charset="-120"/>
              </a:rPr>
              <a:t>결제 구현이 바뀌면 Sale도 함께 흔들려야 하는가?</a:t>
            </a:r>
            <a:endParaRPr lang="en-US" sz="1400" dirty="0"/>
          </a:p>
          <a:p>
            <a:pPr algn="l" indent="0" marL="0">
              <a:spcBef>
                <a:spcPts val="300"/>
              </a:spcBef>
              <a:buNone/>
            </a:pPr>
            <a:r>
              <a:rPr lang="en-US" sz="1400" b="1" dirty="0">
                <a:solidFill>
                  <a:srgbClr val="007965"/>
                </a:solidFill>
                <a:latin typeface="맑은 고딕" pitchFamily="34" charset="0"/>
                <a:ea typeface="맑은 고딕" pitchFamily="34" charset="-122"/>
                <a:cs typeface="맑은 고딕" pitchFamily="34" charset="-120"/>
              </a:rPr>
              <a:t>정보 소재 추론: </a:t>
            </a:r>
            <a:pPr algn="l" indent="0" marL="0">
              <a:spcBef>
                <a:spcPts val="300"/>
              </a:spcBef>
              <a:buNone/>
            </a:pPr>
            <a:r>
              <a:rPr lang="en-US" sz="1400" dirty="0">
                <a:solidFill>
                  <a:srgbClr val="2D3748"/>
                </a:solidFill>
                <a:latin typeface="맑은 고딕" pitchFamily="34" charset="0"/>
                <a:ea typeface="맑은 고딕" pitchFamily="34" charset="-122"/>
                <a:cs typeface="맑은 고딕" pitchFamily="34" charset="-120"/>
              </a:rPr>
              <a:t>Sale이 결제를 직접 특정 구현에 의존하면, 결제 방식이 바뀔 때마다 Sale도 함께 흔들린다. Sale이 결제의 역할(인터페이스)만 알고 구체적인 구현은 모르게 하면, 결제 구현을 통째로 교체해도 Sale은 영향을 받지 않는다.</a:t>
            </a:r>
            <a:endParaRPr lang="en-US" sz="1400" dirty="0"/>
          </a:p>
        </p:txBody>
      </p:sp>
      <p:sp>
        <p:nvSpPr>
          <p:cNvPr id="11" name="Shape 9"/>
          <p:cNvSpPr/>
          <p:nvPr/>
        </p:nvSpPr>
        <p:spPr>
          <a:xfrm>
            <a:off x="320040" y="3258139"/>
            <a:ext cx="4160520" cy="1061720"/>
          </a:xfrm>
          <a:prstGeom prst="rect">
            <a:avLst/>
          </a:prstGeom>
          <a:solidFill>
            <a:srgbClr val="FFFFFF"/>
          </a:solidFill>
          <a:ln w="15875">
            <a:solidFill>
              <a:srgbClr val="1B3A6B"/>
            </a:solidFill>
            <a:prstDash val="solid"/>
          </a:ln>
        </p:spPr>
      </p:sp>
      <p:sp>
        <p:nvSpPr>
          <p:cNvPr id="12" name="Text 10"/>
          <p:cNvSpPr/>
          <p:nvPr/>
        </p:nvSpPr>
        <p:spPr>
          <a:xfrm>
            <a:off x="320040" y="3258139"/>
            <a:ext cx="4160520" cy="256032"/>
          </a:xfrm>
          <a:prstGeom prst="rect">
            <a:avLst/>
          </a:prstGeom>
          <a:solidFill>
            <a:srgbClr val="1B3A6B"/>
          </a:solidFill>
          <a:ln/>
        </p:spPr>
        <p:txBody>
          <a:bodyPr wrap="square" lIns="72009" tIns="72009" rIns="72009" bIns="72009" rtlCol="0" anchor="ctr"/>
          <a:lstStyle/>
          <a:p>
            <a:pPr algn="ctr" indent="0" marL="0">
              <a:buNone/>
            </a:pPr>
            <a:r>
              <a:rPr lang="en-US" sz="1200" b="1" dirty="0">
                <a:solidFill>
                  <a:srgbClr val="FFFFFF"/>
                </a:solidFill>
                <a:latin typeface="맑은 고딕" pitchFamily="34" charset="0"/>
                <a:ea typeface="맑은 고딕" pitchFamily="34" charset="-122"/>
                <a:cs typeface="맑은 고딕" pitchFamily="34" charset="-120"/>
              </a:rPr>
              <a:t>절차</a:t>
            </a:r>
            <a:endParaRPr lang="en-US" sz="1200" dirty="0"/>
          </a:p>
        </p:txBody>
      </p:sp>
      <p:sp>
        <p:nvSpPr>
          <p:cNvPr id="13" name="Text 11"/>
          <p:cNvSpPr/>
          <p:nvPr/>
        </p:nvSpPr>
        <p:spPr>
          <a:xfrm>
            <a:off x="393192" y="3514171"/>
            <a:ext cx="4014216" cy="732536"/>
          </a:xfrm>
          <a:prstGeom prst="rect">
            <a:avLst/>
          </a:prstGeom>
          <a:noFill/>
          <a:ln/>
        </p:spPr>
        <p:txBody>
          <a:bodyPr wrap="square" lIns="0" tIns="0" rIns="0" bIns="0" rtlCol="0" anchor="t"/>
          <a:lstStyle/>
          <a:p>
            <a:pPr algn="l" indent="0" marL="0">
              <a:buNone/>
            </a:pPr>
            <a:r>
              <a:rPr lang="en-US" sz="1100" dirty="0">
                <a:solidFill>
                  <a:srgbClr val="2D3748"/>
                </a:solidFill>
                <a:latin typeface="Consolas" pitchFamily="34" charset="0"/>
                <a:ea typeface="Consolas" pitchFamily="34" charset="-122"/>
                <a:cs typeface="Consolas" pitchFamily="34" charset="-120"/>
              </a:rPr>
              <a:t>class Sale {</a:t>
            </a:r>
            <a:endParaRPr lang="en-US" sz="1100" dirty="0"/>
          </a:p>
          <a:p>
            <a:pPr algn="l" indent="0" marL="0">
              <a:buNone/>
            </a:pPr>
            <a:r>
              <a:rPr lang="en-US" sz="900" b="1" dirty="0">
                <a:solidFill>
                  <a:srgbClr val="007965"/>
                </a:solidFill>
                <a:latin typeface="맑은 고딕" pitchFamily="34" charset="0"/>
                <a:ea typeface="맑은 고딕" pitchFamily="34" charset="-122"/>
                <a:cs typeface="맑은 고딕" pitchFamily="34" charset="-120"/>
              </a:rPr>
              <a:t>구체적인 구현에 의존한다 </a:t>
            </a:r>
            <a:pPr algn="l" indent="0" marL="0">
              <a:buNone/>
            </a:pPr>
            <a:r>
              <a:rPr lang="en-US" sz="1100" b="1" dirty="0">
                <a:solidFill>
                  <a:srgbClr val="1B3A6B"/>
                </a:solidFill>
                <a:latin typeface="Consolas" pitchFamily="34" charset="0"/>
                <a:ea typeface="Consolas" pitchFamily="34" charset="-122"/>
                <a:cs typeface="Consolas" pitchFamily="34" charset="-120"/>
              </a:rPr>
              <a:t>  CreditCardGateway gateway;   // 구체 구현 의존</a:t>
            </a:r>
            <a:endParaRPr lang="en-US" sz="1100" dirty="0"/>
          </a:p>
          <a:p>
            <a:pPr algn="l" indent="0" marL="0">
              <a:buNone/>
            </a:pPr>
            <a:r>
              <a:rPr lang="en-US" sz="1100" dirty="0">
                <a:solidFill>
                  <a:srgbClr val="2D3748"/>
                </a:solidFill>
                <a:latin typeface="Consolas" pitchFamily="34" charset="0"/>
                <a:ea typeface="Consolas" pitchFamily="34" charset="-122"/>
                <a:cs typeface="Consolas" pitchFamily="34" charset="-120"/>
              </a:rPr>
              <a:t>  void pay() { gateway.charge(total); }</a:t>
            </a:r>
            <a:endParaRPr lang="en-US" sz="1100" dirty="0"/>
          </a:p>
          <a:p>
            <a:pPr algn="l" indent="0" marL="0">
              <a:buNone/>
            </a:pPr>
            <a:r>
              <a:rPr lang="en-US" sz="1100" dirty="0">
                <a:solidFill>
                  <a:srgbClr val="2D3748"/>
                </a:solidFill>
                <a:latin typeface="Consolas" pitchFamily="34" charset="0"/>
                <a:ea typeface="Consolas" pitchFamily="34" charset="-122"/>
                <a:cs typeface="Consolas" pitchFamily="34" charset="-120"/>
              </a:rPr>
              <a:t>}</a:t>
            </a:r>
            <a:endParaRPr lang="en-US" sz="1100" dirty="0"/>
          </a:p>
        </p:txBody>
      </p:sp>
      <p:sp>
        <p:nvSpPr>
          <p:cNvPr id="14" name="Shape 12"/>
          <p:cNvSpPr/>
          <p:nvPr/>
        </p:nvSpPr>
        <p:spPr>
          <a:xfrm>
            <a:off x="4663440" y="3258139"/>
            <a:ext cx="4160520" cy="1061720"/>
          </a:xfrm>
          <a:prstGeom prst="rect">
            <a:avLst/>
          </a:prstGeom>
          <a:solidFill>
            <a:srgbClr val="FFFFFF"/>
          </a:solidFill>
          <a:ln w="15875">
            <a:solidFill>
              <a:srgbClr val="1B3A6B"/>
            </a:solidFill>
            <a:prstDash val="solid"/>
          </a:ln>
        </p:spPr>
      </p:sp>
      <p:sp>
        <p:nvSpPr>
          <p:cNvPr id="15" name="Text 13"/>
          <p:cNvSpPr/>
          <p:nvPr/>
        </p:nvSpPr>
        <p:spPr>
          <a:xfrm>
            <a:off x="4663440" y="3258139"/>
            <a:ext cx="4160520" cy="256032"/>
          </a:xfrm>
          <a:prstGeom prst="rect">
            <a:avLst/>
          </a:prstGeom>
          <a:solidFill>
            <a:srgbClr val="1B3A6B"/>
          </a:solidFill>
          <a:ln/>
        </p:spPr>
        <p:txBody>
          <a:bodyPr wrap="square" lIns="72009" tIns="72009" rIns="72009" bIns="72009" rtlCol="0" anchor="ctr"/>
          <a:lstStyle/>
          <a:p>
            <a:pPr algn="ctr" indent="0" marL="0">
              <a:buNone/>
            </a:pPr>
            <a:r>
              <a:rPr lang="en-US" sz="1200" b="1" dirty="0">
                <a:solidFill>
                  <a:srgbClr val="FFFFFF"/>
                </a:solidFill>
                <a:latin typeface="맑은 고딕" pitchFamily="34" charset="0"/>
                <a:ea typeface="맑은 고딕" pitchFamily="34" charset="-122"/>
                <a:cs typeface="맑은 고딕" pitchFamily="34" charset="-120"/>
              </a:rPr>
              <a:t>적용</a:t>
            </a:r>
            <a:endParaRPr lang="en-US" sz="1200" dirty="0"/>
          </a:p>
        </p:txBody>
      </p:sp>
      <p:sp>
        <p:nvSpPr>
          <p:cNvPr id="16" name="Text 14"/>
          <p:cNvSpPr/>
          <p:nvPr/>
        </p:nvSpPr>
        <p:spPr>
          <a:xfrm>
            <a:off x="4736592" y="3514171"/>
            <a:ext cx="4014216" cy="732536"/>
          </a:xfrm>
          <a:prstGeom prst="rect">
            <a:avLst/>
          </a:prstGeom>
          <a:noFill/>
          <a:ln/>
        </p:spPr>
        <p:txBody>
          <a:bodyPr wrap="square" lIns="0" tIns="0" rIns="0" bIns="0" rtlCol="0" anchor="t"/>
          <a:lstStyle/>
          <a:p>
            <a:pPr algn="l" indent="0" marL="0">
              <a:buNone/>
            </a:pPr>
            <a:r>
              <a:rPr lang="en-US" sz="1100" dirty="0">
                <a:solidFill>
                  <a:srgbClr val="2D3748"/>
                </a:solidFill>
                <a:latin typeface="Consolas" pitchFamily="34" charset="0"/>
                <a:ea typeface="Consolas" pitchFamily="34" charset="-122"/>
                <a:cs typeface="Consolas" pitchFamily="34" charset="-120"/>
              </a:rPr>
              <a:t>class Sale {</a:t>
            </a:r>
            <a:endParaRPr lang="en-US" sz="1100" dirty="0"/>
          </a:p>
          <a:p>
            <a:pPr algn="l" indent="0" marL="0">
              <a:buNone/>
            </a:pPr>
            <a:r>
              <a:rPr lang="en-US" sz="900" b="1" dirty="0">
                <a:solidFill>
                  <a:srgbClr val="007965"/>
                </a:solidFill>
                <a:latin typeface="맑은 고딕" pitchFamily="34" charset="0"/>
                <a:ea typeface="맑은 고딕" pitchFamily="34" charset="-122"/>
                <a:cs typeface="맑은 고딕" pitchFamily="34" charset="-120"/>
              </a:rPr>
              <a:t>낮은 결합도(Low Coupling) </a:t>
            </a:r>
            <a:pPr algn="l" indent="0" marL="0">
              <a:buNone/>
            </a:pPr>
            <a:r>
              <a:rPr lang="en-US" sz="1100" b="1" dirty="0">
                <a:solidFill>
                  <a:srgbClr val="1B3A6B"/>
                </a:solidFill>
                <a:latin typeface="Consolas" pitchFamily="34" charset="0"/>
                <a:ea typeface="Consolas" pitchFamily="34" charset="-122"/>
                <a:cs typeface="Consolas" pitchFamily="34" charset="-120"/>
              </a:rPr>
              <a:t>  Payment payment;              // 역할만 의존</a:t>
            </a:r>
            <a:endParaRPr lang="en-US" sz="1100" dirty="0"/>
          </a:p>
          <a:p>
            <a:pPr algn="l" indent="0" marL="0">
              <a:buNone/>
            </a:pPr>
            <a:r>
              <a:rPr lang="en-US" sz="1100" dirty="0">
                <a:solidFill>
                  <a:srgbClr val="2D3748"/>
                </a:solidFill>
                <a:latin typeface="Consolas" pitchFamily="34" charset="0"/>
                <a:ea typeface="Consolas" pitchFamily="34" charset="-122"/>
                <a:cs typeface="Consolas" pitchFamily="34" charset="-120"/>
              </a:rPr>
              <a:t>  void pay() { payment.authorize(total); }</a:t>
            </a:r>
            <a:endParaRPr lang="en-US" sz="1100" dirty="0"/>
          </a:p>
          <a:p>
            <a:pPr algn="l" indent="0" marL="0">
              <a:buNone/>
            </a:pPr>
            <a:r>
              <a:rPr lang="en-US" sz="1100" dirty="0">
                <a:solidFill>
                  <a:srgbClr val="2D3748"/>
                </a:solidFill>
                <a:latin typeface="Consolas" pitchFamily="34" charset="0"/>
                <a:ea typeface="Consolas" pitchFamily="34" charset="-122"/>
                <a:cs typeface="Consolas" pitchFamily="34" charset="-120"/>
              </a:rPr>
              <a:t>}</a:t>
            </a:r>
            <a:endParaRPr lang="en-US" sz="1100" dirty="0"/>
          </a:p>
        </p:txBody>
      </p:sp>
      <p:sp>
        <p:nvSpPr>
          <p:cNvPr id="17" name="Text 15"/>
          <p:cNvSpPr/>
          <p:nvPr/>
        </p:nvSpPr>
        <p:spPr>
          <a:xfrm>
            <a:off x="320040" y="4411299"/>
            <a:ext cx="8503920" cy="237744"/>
          </a:xfrm>
          <a:prstGeom prst="rect">
            <a:avLst/>
          </a:prstGeom>
          <a:noFill/>
          <a:ln/>
        </p:spPr>
        <p:txBody>
          <a:bodyPr wrap="square" lIns="0" tIns="0" rIns="0" bIns="0" rtlCol="0" anchor="t"/>
          <a:lstStyle/>
          <a:p>
            <a:pPr algn="ctr" indent="0" marL="0">
              <a:buNone/>
            </a:pPr>
            <a:r>
              <a:rPr lang="en-US" sz="1200" i="1" dirty="0">
                <a:solidFill>
                  <a:srgbClr val="6B7280"/>
                </a:solidFill>
                <a:latin typeface="맑은 고딕" pitchFamily="34" charset="0"/>
                <a:ea typeface="맑은 고딕" pitchFamily="34" charset="-122"/>
                <a:cs typeface="맑은 고딕" pitchFamily="34" charset="-120"/>
              </a:rPr>
              <a:t>물음: 결제 의존이 어디에서 어디로 갔나</a:t>
            </a:r>
            <a:endParaRPr lang="en-US" sz="1200" dirty="0"/>
          </a:p>
        </p:txBody>
      </p:sp>
      <p:sp>
        <p:nvSpPr>
          <p:cNvPr id="18" name="Shape 16"/>
          <p:cNvSpPr/>
          <p:nvPr/>
        </p:nvSpPr>
        <p:spPr>
          <a:xfrm>
            <a:off x="320040" y="5212080"/>
            <a:ext cx="8503920" cy="0"/>
          </a:xfrm>
          <a:prstGeom prst="line">
            <a:avLst/>
          </a:prstGeom>
          <a:noFill/>
          <a:ln w="6350">
            <a:solidFill>
              <a:srgbClr val="CBD5E1"/>
            </a:solidFill>
            <a:prstDash val="solid"/>
          </a:ln>
        </p:spPr>
      </p:sp>
      <p:sp>
        <p:nvSpPr>
          <p:cNvPr id="19" name="Text 17"/>
          <p:cNvSpPr/>
          <p:nvPr/>
        </p:nvSpPr>
        <p:spPr>
          <a:xfrm>
            <a:off x="320040" y="5394960"/>
            <a:ext cx="8503920" cy="914400"/>
          </a:xfrm>
          <a:prstGeom prst="rect">
            <a:avLst/>
          </a:prstGeom>
          <a:noFill/>
          <a:ln/>
        </p:spPr>
        <p:txBody>
          <a:bodyPr wrap="square" lIns="0" tIns="0" rIns="0" bIns="0" rtlCol="0" anchor="t"/>
          <a:lstStyle/>
          <a:p>
            <a:pPr indent="0" marL="0">
              <a:spcBef>
                <a:spcPts val="300"/>
              </a:spcBef>
              <a:spcAft>
                <a:spcPts val="300"/>
              </a:spcAft>
              <a:buNone/>
            </a:pPr>
            <a:r>
              <a:rPr lang="en-US" sz="1400" b="1" dirty="0">
                <a:solidFill>
                  <a:srgbClr val="991B1B"/>
                </a:solidFill>
                <a:latin typeface="맑은 고딕" pitchFamily="34" charset="0"/>
                <a:ea typeface="맑은 고딕" pitchFamily="34" charset="-122"/>
                <a:cs typeface="맑은 고딕" pitchFamily="34" charset="-120"/>
              </a:rPr>
              <a:t>한계:  </a:t>
            </a:r>
            <a:pPr indent="0" marL="0">
              <a:spcBef>
                <a:spcPts val="300"/>
              </a:spcBef>
              <a:spcAft>
                <a:spcPts val="300"/>
              </a:spcAft>
              <a:buNone/>
            </a:pPr>
            <a:r>
              <a:rPr lang="en-US" sz="1400" dirty="0">
                <a:solidFill>
                  <a:srgbClr val="2D3748"/>
                </a:solidFill>
                <a:latin typeface="맑은 고딕" pitchFamily="34" charset="0"/>
                <a:ea typeface="맑은 고딕" pitchFamily="34" charset="-122"/>
                <a:cs typeface="맑은 고딕" pitchFamily="34" charset="-120"/>
              </a:rPr>
              <a:t>결합을 0으로 만들려고 하면 오히려 인공적인 중개 장치가 늘어나 이해하기 더 어려워진다 — 낮은 결합도는 정도의 문제이지 절대치가 아니다.</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20040" y="182880"/>
            <a:ext cx="8503920" cy="457200"/>
          </a:xfrm>
          <a:prstGeom prst="rect">
            <a:avLst/>
          </a:prstGeom>
          <a:noFill/>
          <a:ln/>
        </p:spPr>
        <p:txBody>
          <a:bodyPr wrap="square" lIns="0" tIns="0" rIns="0" bIns="0" rtlCol="0" anchor="ctr"/>
          <a:lstStyle/>
          <a:p>
            <a:pPr algn="l" indent="0" marL="0">
              <a:buNone/>
            </a:pPr>
            <a:r>
              <a:rPr lang="en-US" sz="2200" b="1" dirty="0">
                <a:solidFill>
                  <a:srgbClr val="1B3A6B"/>
                </a:solidFill>
                <a:latin typeface="맑은 고딕" pitchFamily="34" charset="0"/>
                <a:ea typeface="맑은 고딕" pitchFamily="34" charset="-122"/>
                <a:cs typeface="맑은 고딕" pitchFamily="34" charset="-120"/>
              </a:rPr>
              <a:t>09. 높은 응집도(High Cohesion)</a:t>
            </a:r>
            <a:endParaRPr lang="en-US" sz="2200" dirty="0"/>
          </a:p>
        </p:txBody>
      </p:sp>
      <p:sp>
        <p:nvSpPr>
          <p:cNvPr id="3" name="Shape 1"/>
          <p:cNvSpPr/>
          <p:nvPr/>
        </p:nvSpPr>
        <p:spPr>
          <a:xfrm>
            <a:off x="320040" y="731520"/>
            <a:ext cx="8503920" cy="0"/>
          </a:xfrm>
          <a:prstGeom prst="line">
            <a:avLst/>
          </a:prstGeom>
          <a:noFill/>
          <a:ln w="19050">
            <a:solidFill>
              <a:srgbClr val="1B3A6B"/>
            </a:solidFill>
            <a:prstDash val="solid"/>
          </a:ln>
        </p:spPr>
      </p:sp>
      <p:sp>
        <p:nvSpPr>
          <p:cNvPr id="4" name="Shape 2"/>
          <p:cNvSpPr/>
          <p:nvPr/>
        </p:nvSpPr>
        <p:spPr>
          <a:xfrm>
            <a:off x="320040" y="6492240"/>
            <a:ext cx="8503920" cy="0"/>
          </a:xfrm>
          <a:prstGeom prst="line">
            <a:avLst/>
          </a:prstGeom>
          <a:noFill/>
          <a:ln w="6350">
            <a:solidFill>
              <a:srgbClr val="CBD5E1"/>
            </a:solidFill>
            <a:prstDash val="solid"/>
          </a:ln>
        </p:spPr>
      </p:sp>
      <p:sp>
        <p:nvSpPr>
          <p:cNvPr id="5" name="Text 3"/>
          <p:cNvSpPr/>
          <p:nvPr/>
        </p:nvSpPr>
        <p:spPr>
          <a:xfrm>
            <a:off x="320040" y="6537960"/>
            <a:ext cx="3657600" cy="182880"/>
          </a:xfrm>
          <a:prstGeom prst="rect">
            <a:avLst/>
          </a:prstGeom>
          <a:noFill/>
          <a:ln/>
        </p:spPr>
        <p:txBody>
          <a:bodyPr wrap="square" lIns="0" tIns="0" rIns="0" bIns="0" rtlCol="0" anchor="ctr"/>
          <a:lstStyle/>
          <a:p>
            <a:pPr indent="0" marL="0">
              <a:buNone/>
            </a:pPr>
            <a:r>
              <a:rPr lang="en-US" sz="800" dirty="0">
                <a:solidFill>
                  <a:srgbClr val="6B7280"/>
                </a:solidFill>
                <a:latin typeface="맑은 고딕" pitchFamily="34" charset="0"/>
                <a:ea typeface="맑은 고딕" pitchFamily="34" charset="-122"/>
                <a:cs typeface="맑은 고딕" pitchFamily="34" charset="-120"/>
              </a:rPr>
              <a:t>9. 책임 주도 설계(GRASP) 강의</a:t>
            </a:r>
            <a:endParaRPr lang="en-US" sz="800" dirty="0"/>
          </a:p>
        </p:txBody>
      </p:sp>
      <p:sp>
        <p:nvSpPr>
          <p:cNvPr id="6" name="Text 4"/>
          <p:cNvSpPr/>
          <p:nvPr/>
        </p:nvSpPr>
        <p:spPr>
          <a:xfrm>
            <a:off x="4114800" y="6537960"/>
            <a:ext cx="914400" cy="182880"/>
          </a:xfrm>
          <a:prstGeom prst="rect">
            <a:avLst/>
          </a:prstGeom>
          <a:noFill/>
          <a:ln/>
        </p:spPr>
        <p:txBody>
          <a:bodyPr wrap="square" lIns="0" tIns="0" rIns="0" bIns="0" rtlCol="0" anchor="ctr"/>
          <a:lstStyle/>
          <a:p>
            <a:pPr algn="ctr" indent="0" marL="0">
              <a:buNone/>
            </a:pPr>
            <a:r>
              <a:rPr lang="en-US" sz="800" dirty="0">
                <a:solidFill>
                  <a:srgbClr val="6B7280"/>
                </a:solidFill>
                <a:latin typeface="맑은 고딕" pitchFamily="34" charset="0"/>
                <a:ea typeface="맑은 고딕" pitchFamily="34" charset="-122"/>
                <a:cs typeface="맑은 고딕" pitchFamily="34" charset="-120"/>
              </a:rPr>
              <a:t>10</a:t>
            </a:r>
            <a:endParaRPr lang="en-US" sz="800" dirty="0"/>
          </a:p>
        </p:txBody>
      </p:sp>
      <p:sp>
        <p:nvSpPr>
          <p:cNvPr id="7" name="Text 5"/>
          <p:cNvSpPr/>
          <p:nvPr/>
        </p:nvSpPr>
        <p:spPr>
          <a:xfrm>
            <a:off x="4572000" y="6537960"/>
            <a:ext cx="4251960" cy="182880"/>
          </a:xfrm>
          <a:prstGeom prst="rect">
            <a:avLst/>
          </a:prstGeom>
          <a:noFill/>
          <a:ln/>
        </p:spPr>
        <p:txBody>
          <a:bodyPr wrap="square" lIns="0" tIns="0" rIns="0" bIns="0" rtlCol="0" anchor="ctr"/>
          <a:lstStyle/>
          <a:p>
            <a:pPr algn="r" indent="0" marL="0">
              <a:buNone/>
            </a:pPr>
            <a:r>
              <a:rPr lang="en-US" sz="800" dirty="0">
                <a:solidFill>
                  <a:srgbClr val="6B7280"/>
                </a:solidFill>
                <a:latin typeface="맑은 고딕" pitchFamily="34" charset="0"/>
                <a:ea typeface="맑은 고딕" pitchFamily="34" charset="-122"/>
                <a:cs typeface="맑은 고딕" pitchFamily="34" charset="-120"/>
              </a:rPr>
              <a:t>Generated by Claude | Concepts, Requirements and feedback: Youngon Kim</a:t>
            </a:r>
            <a:endParaRPr lang="en-US" sz="800" dirty="0"/>
          </a:p>
        </p:txBody>
      </p:sp>
      <p:sp>
        <p:nvSpPr>
          <p:cNvPr id="8" name="Text 6"/>
          <p:cNvSpPr/>
          <p:nvPr/>
        </p:nvSpPr>
        <p:spPr>
          <a:xfrm>
            <a:off x="320040" y="868680"/>
            <a:ext cx="8503920" cy="274320"/>
          </a:xfrm>
          <a:prstGeom prst="rect">
            <a:avLst/>
          </a:prstGeom>
          <a:noFill/>
          <a:ln/>
        </p:spPr>
        <p:txBody>
          <a:bodyPr wrap="square" lIns="0" tIns="0" rIns="0" bIns="0" rtlCol="0" anchor="ctr"/>
          <a:lstStyle/>
          <a:p>
            <a:pPr algn="ctr" indent="0" marL="0">
              <a:buNone/>
            </a:pPr>
            <a:r>
              <a:rPr lang="en-US" sz="1400" b="1" dirty="0">
                <a:solidFill>
                  <a:srgbClr val="6B7280"/>
                </a:solidFill>
                <a:latin typeface="맑은 고딕" pitchFamily="34" charset="0"/>
                <a:ea typeface="맑은 고딕" pitchFamily="34" charset="-122"/>
                <a:cs typeface="맑은 고딕" pitchFamily="34" charset="-120"/>
              </a:rPr>
              <a:t>[적용] </a:t>
            </a:r>
            <a:pPr algn="ctr" indent="0" marL="0">
              <a:buNone/>
            </a:pPr>
            <a:r>
              <a:rPr lang="en-US" sz="1400" b="1" dirty="0">
                <a:solidFill>
                  <a:srgbClr val="2D3748"/>
                </a:solidFill>
                <a:latin typeface="맑은 고딕" pitchFamily="34" charset="0"/>
                <a:ea typeface="맑은 고딕" pitchFamily="34" charset="-122"/>
                <a:cs typeface="맑은 고딕" pitchFamily="34" charset="-120"/>
              </a:rPr>
              <a:t>한 요소는 밀접히 관련된 책임만 맡아, 한 가지를 잘하게 한다.</a:t>
            </a:r>
            <a:endParaRPr lang="en-US" sz="1400" dirty="0"/>
          </a:p>
        </p:txBody>
      </p:sp>
      <p:sp>
        <p:nvSpPr>
          <p:cNvPr id="9" name="Shape 7"/>
          <p:cNvSpPr/>
          <p:nvPr/>
        </p:nvSpPr>
        <p:spPr>
          <a:xfrm>
            <a:off x="320040" y="1234440"/>
            <a:ext cx="8503920" cy="0"/>
          </a:xfrm>
          <a:prstGeom prst="line">
            <a:avLst/>
          </a:prstGeom>
          <a:noFill/>
          <a:ln w="6350">
            <a:solidFill>
              <a:srgbClr val="CBD5E1"/>
            </a:solidFill>
            <a:prstDash val="solid"/>
          </a:ln>
        </p:spPr>
      </p:sp>
      <p:sp>
        <p:nvSpPr>
          <p:cNvPr id="10" name="Text 8"/>
          <p:cNvSpPr/>
          <p:nvPr/>
        </p:nvSpPr>
        <p:spPr>
          <a:xfrm>
            <a:off x="320040" y="1325880"/>
            <a:ext cx="8503920" cy="1259495"/>
          </a:xfrm>
          <a:prstGeom prst="rect">
            <a:avLst/>
          </a:prstGeom>
          <a:solidFill>
            <a:srgbClr val="EBF1F8"/>
          </a:solidFill>
          <a:ln w="9525">
            <a:solidFill>
              <a:srgbClr val="CBD5E1"/>
            </a:solidFill>
          </a:ln>
        </p:spPr>
        <p:txBody>
          <a:bodyPr wrap="square" lIns="72009" tIns="72009" rIns="72009" bIns="72009" rtlCol="0" anchor="ctr"/>
          <a:lstStyle/>
          <a:p>
            <a:pPr algn="l" indent="0" marL="0">
              <a:spcAft>
                <a:spcPts val="300"/>
              </a:spcAft>
              <a:buNone/>
            </a:pPr>
            <a:r>
              <a:rPr lang="en-US" sz="1400" b="1" dirty="0">
                <a:solidFill>
                  <a:srgbClr val="1B3A6B"/>
                </a:solidFill>
                <a:latin typeface="맑은 고딕" pitchFamily="34" charset="0"/>
                <a:ea typeface="맑은 고딕" pitchFamily="34" charset="-122"/>
                <a:cs typeface="맑은 고딕" pitchFamily="34" charset="-120"/>
              </a:rPr>
              <a:t>한 클래스가 주문·결제·배송을 다 맡아도 되는가?</a:t>
            </a:r>
            <a:endParaRPr lang="en-US" sz="1400" dirty="0"/>
          </a:p>
          <a:p>
            <a:pPr algn="l" indent="0" marL="0">
              <a:spcBef>
                <a:spcPts val="300"/>
              </a:spcBef>
              <a:buNone/>
            </a:pPr>
            <a:r>
              <a:rPr lang="en-US" sz="1400" b="1" dirty="0">
                <a:solidFill>
                  <a:srgbClr val="007965"/>
                </a:solidFill>
                <a:latin typeface="맑은 고딕" pitchFamily="34" charset="0"/>
                <a:ea typeface="맑은 고딕" pitchFamily="34" charset="-122"/>
                <a:cs typeface="맑은 고딕" pitchFamily="34" charset="-120"/>
              </a:rPr>
              <a:t>정보 소재 추론: </a:t>
            </a:r>
            <a:pPr algn="l" indent="0" marL="0">
              <a:spcBef>
                <a:spcPts val="300"/>
              </a:spcBef>
              <a:buNone/>
            </a:pPr>
            <a:r>
              <a:rPr lang="en-US" sz="1400" dirty="0">
                <a:solidFill>
                  <a:srgbClr val="2D3748"/>
                </a:solidFill>
                <a:latin typeface="맑은 고딕" pitchFamily="34" charset="0"/>
                <a:ea typeface="맑은 고딕" pitchFamily="34" charset="-122"/>
                <a:cs typeface="맑은 고딕" pitchFamily="34" charset="-120"/>
              </a:rPr>
              <a:t>낮은 결합도(Low Coupling)와 짝을 이루는 원칙이다. 책임을 응집 단위로 쪼개면 Sale은 주문만, Payment는 결제만, Shipment는 배송만 맡게 된다. 두 원칙은 보통 함께 좋아지고 함께 판단된다 — 결합이 낮아지면 응집도 함께 높아지는 경우가 많다.</a:t>
            </a:r>
            <a:endParaRPr lang="en-US" sz="1400" dirty="0"/>
          </a:p>
        </p:txBody>
      </p:sp>
      <p:sp>
        <p:nvSpPr>
          <p:cNvPr id="11" name="Shape 9"/>
          <p:cNvSpPr/>
          <p:nvPr/>
        </p:nvSpPr>
        <p:spPr>
          <a:xfrm>
            <a:off x="320040" y="3175716"/>
            <a:ext cx="4160520" cy="1226566"/>
          </a:xfrm>
          <a:prstGeom prst="rect">
            <a:avLst/>
          </a:prstGeom>
          <a:solidFill>
            <a:srgbClr val="FFFFFF"/>
          </a:solidFill>
          <a:ln w="15875">
            <a:solidFill>
              <a:srgbClr val="1B3A6B"/>
            </a:solidFill>
            <a:prstDash val="solid"/>
          </a:ln>
        </p:spPr>
      </p:sp>
      <p:sp>
        <p:nvSpPr>
          <p:cNvPr id="12" name="Text 10"/>
          <p:cNvSpPr/>
          <p:nvPr/>
        </p:nvSpPr>
        <p:spPr>
          <a:xfrm>
            <a:off x="320040" y="3175716"/>
            <a:ext cx="4160520" cy="256032"/>
          </a:xfrm>
          <a:prstGeom prst="rect">
            <a:avLst/>
          </a:prstGeom>
          <a:solidFill>
            <a:srgbClr val="1B3A6B"/>
          </a:solidFill>
          <a:ln/>
        </p:spPr>
        <p:txBody>
          <a:bodyPr wrap="square" lIns="72009" tIns="72009" rIns="72009" bIns="72009" rtlCol="0" anchor="ctr"/>
          <a:lstStyle/>
          <a:p>
            <a:pPr algn="ctr" indent="0" marL="0">
              <a:buNone/>
            </a:pPr>
            <a:r>
              <a:rPr lang="en-US" sz="1200" b="1" dirty="0">
                <a:solidFill>
                  <a:srgbClr val="FFFFFF"/>
                </a:solidFill>
                <a:latin typeface="맑은 고딕" pitchFamily="34" charset="0"/>
                <a:ea typeface="맑은 고딕" pitchFamily="34" charset="-122"/>
                <a:cs typeface="맑은 고딕" pitchFamily="34" charset="-120"/>
              </a:rPr>
              <a:t>절차</a:t>
            </a:r>
            <a:endParaRPr lang="en-US" sz="1200" dirty="0"/>
          </a:p>
        </p:txBody>
      </p:sp>
      <p:sp>
        <p:nvSpPr>
          <p:cNvPr id="13" name="Text 11"/>
          <p:cNvSpPr/>
          <p:nvPr/>
        </p:nvSpPr>
        <p:spPr>
          <a:xfrm>
            <a:off x="393192" y="3431748"/>
            <a:ext cx="4014216" cy="897382"/>
          </a:xfrm>
          <a:prstGeom prst="rect">
            <a:avLst/>
          </a:prstGeom>
          <a:noFill/>
          <a:ln/>
        </p:spPr>
        <p:txBody>
          <a:bodyPr wrap="square" lIns="0" tIns="0" rIns="0" bIns="0" rtlCol="0" anchor="t"/>
          <a:lstStyle/>
          <a:p>
            <a:pPr algn="l" indent="0" marL="0">
              <a:buNone/>
            </a:pPr>
            <a:r>
              <a:rPr lang="en-US" sz="900" b="1" dirty="0">
                <a:solidFill>
                  <a:srgbClr val="007965"/>
                </a:solidFill>
                <a:latin typeface="맑은 고딕" pitchFamily="34" charset="0"/>
                <a:ea typeface="맑은 고딕" pitchFamily="34" charset="-122"/>
                <a:cs typeface="맑은 고딕" pitchFamily="34" charset="-120"/>
              </a:rPr>
              <a:t>여러 책임이 뒤섞여 있다 </a:t>
            </a:r>
            <a:pPr algn="l" indent="0" marL="0">
              <a:buNone/>
            </a:pPr>
            <a:r>
              <a:rPr lang="en-US" sz="1100" b="1" dirty="0">
                <a:solidFill>
                  <a:srgbClr val="1B3A6B"/>
                </a:solidFill>
                <a:latin typeface="Consolas" pitchFamily="34" charset="0"/>
                <a:ea typeface="Consolas" pitchFamily="34" charset="-122"/>
                <a:cs typeface="Consolas" pitchFamily="34" charset="-120"/>
              </a:rPr>
              <a:t>class Sale {</a:t>
            </a:r>
            <a:endParaRPr lang="en-US" sz="900" dirty="0"/>
          </a:p>
          <a:p>
            <a:pPr algn="l" indent="0" marL="0">
              <a:buNone/>
            </a:pPr>
            <a:r>
              <a:rPr lang="en-US" sz="1100" dirty="0">
                <a:solidFill>
                  <a:srgbClr val="2D3748"/>
                </a:solidFill>
                <a:latin typeface="Consolas" pitchFamily="34" charset="0"/>
                <a:ea typeface="Consolas" pitchFamily="34" charset="-122"/>
                <a:cs typeface="Consolas" pitchFamily="34" charset="-120"/>
              </a:rPr>
              <a:t>  void placeOrder() {...}</a:t>
            </a:r>
            <a:endParaRPr lang="en-US" sz="900" dirty="0"/>
          </a:p>
          <a:p>
            <a:pPr algn="l" indent="0" marL="0">
              <a:buNone/>
            </a:pPr>
            <a:r>
              <a:rPr lang="en-US" sz="1100" dirty="0">
                <a:solidFill>
                  <a:srgbClr val="2D3748"/>
                </a:solidFill>
                <a:latin typeface="Consolas" pitchFamily="34" charset="0"/>
                <a:ea typeface="Consolas" pitchFamily="34" charset="-122"/>
                <a:cs typeface="Consolas" pitchFamily="34" charset="-120"/>
              </a:rPr>
              <a:t>  void processPayment() {...}</a:t>
            </a:r>
            <a:endParaRPr lang="en-US" sz="900" dirty="0"/>
          </a:p>
          <a:p>
            <a:pPr algn="l" indent="0" marL="0">
              <a:buNone/>
            </a:pPr>
            <a:r>
              <a:rPr lang="en-US" sz="1100" dirty="0">
                <a:solidFill>
                  <a:srgbClr val="2D3748"/>
                </a:solidFill>
                <a:latin typeface="Consolas" pitchFamily="34" charset="0"/>
                <a:ea typeface="Consolas" pitchFamily="34" charset="-122"/>
                <a:cs typeface="Consolas" pitchFamily="34" charset="-120"/>
              </a:rPr>
              <a:t>  void arrangeShipment() {...}</a:t>
            </a:r>
            <a:endParaRPr lang="en-US" sz="900" dirty="0"/>
          </a:p>
          <a:p>
            <a:pPr algn="l" indent="0" marL="0">
              <a:buNone/>
            </a:pPr>
            <a:r>
              <a:rPr lang="en-US" sz="1100" dirty="0">
                <a:solidFill>
                  <a:srgbClr val="2D3748"/>
                </a:solidFill>
                <a:latin typeface="Consolas" pitchFamily="34" charset="0"/>
                <a:ea typeface="Consolas" pitchFamily="34" charset="-122"/>
                <a:cs typeface="Consolas" pitchFamily="34" charset="-120"/>
              </a:rPr>
              <a:t>}</a:t>
            </a:r>
            <a:endParaRPr lang="en-US" sz="900" dirty="0"/>
          </a:p>
        </p:txBody>
      </p:sp>
      <p:sp>
        <p:nvSpPr>
          <p:cNvPr id="14" name="Shape 12"/>
          <p:cNvSpPr/>
          <p:nvPr/>
        </p:nvSpPr>
        <p:spPr>
          <a:xfrm>
            <a:off x="4663440" y="3175716"/>
            <a:ext cx="4160520" cy="1226566"/>
          </a:xfrm>
          <a:prstGeom prst="rect">
            <a:avLst/>
          </a:prstGeom>
          <a:solidFill>
            <a:srgbClr val="FFFFFF"/>
          </a:solidFill>
          <a:ln w="15875">
            <a:solidFill>
              <a:srgbClr val="1B3A6B"/>
            </a:solidFill>
            <a:prstDash val="solid"/>
          </a:ln>
        </p:spPr>
      </p:sp>
      <p:sp>
        <p:nvSpPr>
          <p:cNvPr id="15" name="Text 13"/>
          <p:cNvSpPr/>
          <p:nvPr/>
        </p:nvSpPr>
        <p:spPr>
          <a:xfrm>
            <a:off x="4663440" y="3175716"/>
            <a:ext cx="4160520" cy="256032"/>
          </a:xfrm>
          <a:prstGeom prst="rect">
            <a:avLst/>
          </a:prstGeom>
          <a:solidFill>
            <a:srgbClr val="1B3A6B"/>
          </a:solidFill>
          <a:ln/>
        </p:spPr>
        <p:txBody>
          <a:bodyPr wrap="square" lIns="72009" tIns="72009" rIns="72009" bIns="72009" rtlCol="0" anchor="ctr"/>
          <a:lstStyle/>
          <a:p>
            <a:pPr algn="ctr" indent="0" marL="0">
              <a:buNone/>
            </a:pPr>
            <a:r>
              <a:rPr lang="en-US" sz="1200" b="1" dirty="0">
                <a:solidFill>
                  <a:srgbClr val="FFFFFF"/>
                </a:solidFill>
                <a:latin typeface="맑은 고딕" pitchFamily="34" charset="0"/>
                <a:ea typeface="맑은 고딕" pitchFamily="34" charset="-122"/>
                <a:cs typeface="맑은 고딕" pitchFamily="34" charset="-120"/>
              </a:rPr>
              <a:t>적용</a:t>
            </a:r>
            <a:endParaRPr lang="en-US" sz="1200" dirty="0"/>
          </a:p>
        </p:txBody>
      </p:sp>
      <p:sp>
        <p:nvSpPr>
          <p:cNvPr id="16" name="Text 14"/>
          <p:cNvSpPr/>
          <p:nvPr/>
        </p:nvSpPr>
        <p:spPr>
          <a:xfrm>
            <a:off x="4736592" y="3431748"/>
            <a:ext cx="4014216" cy="897382"/>
          </a:xfrm>
          <a:prstGeom prst="rect">
            <a:avLst/>
          </a:prstGeom>
          <a:noFill/>
          <a:ln/>
        </p:spPr>
        <p:txBody>
          <a:bodyPr wrap="square" lIns="0" tIns="0" rIns="0" bIns="0" rtlCol="0" anchor="t"/>
          <a:lstStyle/>
          <a:p>
            <a:pPr algn="l" indent="0" marL="0">
              <a:buNone/>
            </a:pPr>
            <a:r>
              <a:rPr lang="en-US" sz="900" b="1" dirty="0">
                <a:solidFill>
                  <a:srgbClr val="007965"/>
                </a:solidFill>
                <a:latin typeface="맑은 고딕" pitchFamily="34" charset="0"/>
                <a:ea typeface="맑은 고딕" pitchFamily="34" charset="-122"/>
                <a:cs typeface="맑은 고딕" pitchFamily="34" charset="-120"/>
              </a:rPr>
              <a:t>높은 응집도(High Cohesion) </a:t>
            </a:r>
            <a:pPr algn="l" indent="0" marL="0">
              <a:buNone/>
            </a:pPr>
            <a:r>
              <a:rPr lang="en-US" sz="1100" b="1" dirty="0">
                <a:solidFill>
                  <a:srgbClr val="1B3A6B"/>
                </a:solidFill>
                <a:latin typeface="Consolas" pitchFamily="34" charset="0"/>
                <a:ea typeface="Consolas" pitchFamily="34" charset="-122"/>
                <a:cs typeface="Consolas" pitchFamily="34" charset="-120"/>
              </a:rPr>
              <a:t>class Sale { void placeOrder() {..} }</a:t>
            </a:r>
            <a:endParaRPr lang="en-US" sz="900" dirty="0"/>
          </a:p>
          <a:p>
            <a:pPr algn="l" indent="0" marL="0">
              <a:buNone/>
            </a:pPr>
            <a:r>
              <a:rPr lang="en-US" sz="1100" dirty="0">
                <a:solidFill>
                  <a:srgbClr val="2D3748"/>
                </a:solidFill>
                <a:latin typeface="Consolas" pitchFamily="34" charset="0"/>
                <a:ea typeface="Consolas" pitchFamily="34" charset="-122"/>
                <a:cs typeface="Consolas" pitchFamily="34" charset="-120"/>
              </a:rPr>
              <a:t>class Payment { void charge() {..} }</a:t>
            </a:r>
            <a:endParaRPr lang="en-US" sz="900" dirty="0"/>
          </a:p>
          <a:p>
            <a:pPr algn="l" indent="0" marL="0">
              <a:buNone/>
            </a:pPr>
            <a:r>
              <a:rPr lang="en-US" sz="1100" dirty="0">
                <a:solidFill>
                  <a:srgbClr val="2D3748"/>
                </a:solidFill>
                <a:latin typeface="Consolas" pitchFamily="34" charset="0"/>
                <a:ea typeface="Consolas" pitchFamily="34" charset="-122"/>
                <a:cs typeface="Consolas" pitchFamily="34" charset="-120"/>
              </a:rPr>
              <a:t>class Shipment { void ship() {..} }</a:t>
            </a:r>
            <a:endParaRPr lang="en-US" sz="900" dirty="0"/>
          </a:p>
        </p:txBody>
      </p:sp>
      <p:sp>
        <p:nvSpPr>
          <p:cNvPr id="17" name="Text 15"/>
          <p:cNvSpPr/>
          <p:nvPr/>
        </p:nvSpPr>
        <p:spPr>
          <a:xfrm>
            <a:off x="320040" y="4493722"/>
            <a:ext cx="8503920" cy="237744"/>
          </a:xfrm>
          <a:prstGeom prst="rect">
            <a:avLst/>
          </a:prstGeom>
          <a:noFill/>
          <a:ln/>
        </p:spPr>
        <p:txBody>
          <a:bodyPr wrap="square" lIns="0" tIns="0" rIns="0" bIns="0" rtlCol="0" anchor="t"/>
          <a:lstStyle/>
          <a:p>
            <a:pPr algn="ctr" indent="0" marL="0">
              <a:buNone/>
            </a:pPr>
            <a:r>
              <a:rPr lang="en-US" sz="1200" i="1" dirty="0">
                <a:solidFill>
                  <a:srgbClr val="6B7280"/>
                </a:solidFill>
                <a:latin typeface="맑은 고딕" pitchFamily="34" charset="0"/>
                <a:ea typeface="맑은 고딕" pitchFamily="34" charset="-122"/>
                <a:cs typeface="맑은 고딕" pitchFamily="34" charset="-120"/>
              </a:rPr>
              <a:t>물음: 역할이 왜 나뉘어야 하는가</a:t>
            </a:r>
            <a:endParaRPr lang="en-US" sz="1200" dirty="0"/>
          </a:p>
        </p:txBody>
      </p:sp>
      <p:sp>
        <p:nvSpPr>
          <p:cNvPr id="18" name="Shape 16"/>
          <p:cNvSpPr/>
          <p:nvPr/>
        </p:nvSpPr>
        <p:spPr>
          <a:xfrm>
            <a:off x="320040" y="5212080"/>
            <a:ext cx="8503920" cy="0"/>
          </a:xfrm>
          <a:prstGeom prst="line">
            <a:avLst/>
          </a:prstGeom>
          <a:noFill/>
          <a:ln w="6350">
            <a:solidFill>
              <a:srgbClr val="CBD5E1"/>
            </a:solidFill>
            <a:prstDash val="solid"/>
          </a:ln>
        </p:spPr>
      </p:sp>
      <p:sp>
        <p:nvSpPr>
          <p:cNvPr id="19" name="Text 17"/>
          <p:cNvSpPr/>
          <p:nvPr/>
        </p:nvSpPr>
        <p:spPr>
          <a:xfrm>
            <a:off x="320040" y="5394960"/>
            <a:ext cx="8503920" cy="914400"/>
          </a:xfrm>
          <a:prstGeom prst="rect">
            <a:avLst/>
          </a:prstGeom>
          <a:noFill/>
          <a:ln/>
        </p:spPr>
        <p:txBody>
          <a:bodyPr wrap="square" lIns="0" tIns="0" rIns="0" bIns="0" rtlCol="0" anchor="t"/>
          <a:lstStyle/>
          <a:p>
            <a:pPr indent="0" marL="0">
              <a:spcBef>
                <a:spcPts val="300"/>
              </a:spcBef>
              <a:spcAft>
                <a:spcPts val="300"/>
              </a:spcAft>
              <a:buNone/>
            </a:pPr>
            <a:r>
              <a:rPr lang="en-US" sz="1400" b="1" dirty="0">
                <a:solidFill>
                  <a:srgbClr val="991B1B"/>
                </a:solidFill>
                <a:latin typeface="맑은 고딕" pitchFamily="34" charset="0"/>
                <a:ea typeface="맑은 고딕" pitchFamily="34" charset="-122"/>
                <a:cs typeface="맑은 고딕" pitchFamily="34" charset="-120"/>
              </a:rPr>
              <a:t>한계:  </a:t>
            </a:r>
            <a:pPr indent="0" marL="0">
              <a:spcBef>
                <a:spcPts val="300"/>
              </a:spcBef>
              <a:spcAft>
                <a:spcPts val="300"/>
              </a:spcAft>
              <a:buNone/>
            </a:pPr>
            <a:r>
              <a:rPr lang="en-US" sz="1400" dirty="0">
                <a:solidFill>
                  <a:srgbClr val="2D3748"/>
                </a:solidFill>
                <a:latin typeface="맑은 고딕" pitchFamily="34" charset="0"/>
                <a:ea typeface="맑은 고딕" pitchFamily="34" charset="-122"/>
                <a:cs typeface="맑은 고딕" pitchFamily="34" charset="-120"/>
              </a:rPr>
              <a:t>지나치게 잘게 쪼개면 객체 수와 그들 사이의 간접 호출이 늘어 협력 비용이 커진다 — 응집도 역시 정도의 판단이다.</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20040" y="182880"/>
            <a:ext cx="8503920" cy="457200"/>
          </a:xfrm>
          <a:prstGeom prst="rect">
            <a:avLst/>
          </a:prstGeom>
          <a:noFill/>
          <a:ln/>
        </p:spPr>
        <p:txBody>
          <a:bodyPr wrap="square" lIns="0" tIns="0" rIns="0" bIns="0" rtlCol="0" anchor="ctr"/>
          <a:lstStyle/>
          <a:p>
            <a:pPr algn="l" indent="0" marL="0">
              <a:buNone/>
            </a:pPr>
            <a:r>
              <a:rPr lang="en-US" sz="2200" b="1" dirty="0">
                <a:solidFill>
                  <a:srgbClr val="1B3A6B"/>
                </a:solidFill>
                <a:latin typeface="맑은 고딕" pitchFamily="34" charset="0"/>
                <a:ea typeface="맑은 고딕" pitchFamily="34" charset="-122"/>
                <a:cs typeface="맑은 고딕" pitchFamily="34" charset="-120"/>
              </a:rPr>
              <a:t>10. 다형성(Polymorphism)</a:t>
            </a:r>
            <a:endParaRPr lang="en-US" sz="2200" dirty="0"/>
          </a:p>
        </p:txBody>
      </p:sp>
      <p:sp>
        <p:nvSpPr>
          <p:cNvPr id="3" name="Shape 1"/>
          <p:cNvSpPr/>
          <p:nvPr/>
        </p:nvSpPr>
        <p:spPr>
          <a:xfrm>
            <a:off x="320040" y="731520"/>
            <a:ext cx="8503920" cy="0"/>
          </a:xfrm>
          <a:prstGeom prst="line">
            <a:avLst/>
          </a:prstGeom>
          <a:noFill/>
          <a:ln w="19050">
            <a:solidFill>
              <a:srgbClr val="1B3A6B"/>
            </a:solidFill>
            <a:prstDash val="solid"/>
          </a:ln>
        </p:spPr>
      </p:sp>
      <p:sp>
        <p:nvSpPr>
          <p:cNvPr id="4" name="Shape 2"/>
          <p:cNvSpPr/>
          <p:nvPr/>
        </p:nvSpPr>
        <p:spPr>
          <a:xfrm>
            <a:off x="320040" y="6492240"/>
            <a:ext cx="8503920" cy="0"/>
          </a:xfrm>
          <a:prstGeom prst="line">
            <a:avLst/>
          </a:prstGeom>
          <a:noFill/>
          <a:ln w="6350">
            <a:solidFill>
              <a:srgbClr val="CBD5E1"/>
            </a:solidFill>
            <a:prstDash val="solid"/>
          </a:ln>
        </p:spPr>
      </p:sp>
      <p:sp>
        <p:nvSpPr>
          <p:cNvPr id="5" name="Text 3"/>
          <p:cNvSpPr/>
          <p:nvPr/>
        </p:nvSpPr>
        <p:spPr>
          <a:xfrm>
            <a:off x="320040" y="6537960"/>
            <a:ext cx="3657600" cy="182880"/>
          </a:xfrm>
          <a:prstGeom prst="rect">
            <a:avLst/>
          </a:prstGeom>
          <a:noFill/>
          <a:ln/>
        </p:spPr>
        <p:txBody>
          <a:bodyPr wrap="square" lIns="0" tIns="0" rIns="0" bIns="0" rtlCol="0" anchor="ctr"/>
          <a:lstStyle/>
          <a:p>
            <a:pPr indent="0" marL="0">
              <a:buNone/>
            </a:pPr>
            <a:r>
              <a:rPr lang="en-US" sz="800" dirty="0">
                <a:solidFill>
                  <a:srgbClr val="6B7280"/>
                </a:solidFill>
                <a:latin typeface="맑은 고딕" pitchFamily="34" charset="0"/>
                <a:ea typeface="맑은 고딕" pitchFamily="34" charset="-122"/>
                <a:cs typeface="맑은 고딕" pitchFamily="34" charset="-120"/>
              </a:rPr>
              <a:t>9. 책임 주도 설계(GRASP) 강의</a:t>
            </a:r>
            <a:endParaRPr lang="en-US" sz="800" dirty="0"/>
          </a:p>
        </p:txBody>
      </p:sp>
      <p:sp>
        <p:nvSpPr>
          <p:cNvPr id="6" name="Text 4"/>
          <p:cNvSpPr/>
          <p:nvPr/>
        </p:nvSpPr>
        <p:spPr>
          <a:xfrm>
            <a:off x="4114800" y="6537960"/>
            <a:ext cx="914400" cy="182880"/>
          </a:xfrm>
          <a:prstGeom prst="rect">
            <a:avLst/>
          </a:prstGeom>
          <a:noFill/>
          <a:ln/>
        </p:spPr>
        <p:txBody>
          <a:bodyPr wrap="square" lIns="0" tIns="0" rIns="0" bIns="0" rtlCol="0" anchor="ctr"/>
          <a:lstStyle/>
          <a:p>
            <a:pPr algn="ctr" indent="0" marL="0">
              <a:buNone/>
            </a:pPr>
            <a:r>
              <a:rPr lang="en-US" sz="800" dirty="0">
                <a:solidFill>
                  <a:srgbClr val="6B7280"/>
                </a:solidFill>
                <a:latin typeface="맑은 고딕" pitchFamily="34" charset="0"/>
                <a:ea typeface="맑은 고딕" pitchFamily="34" charset="-122"/>
                <a:cs typeface="맑은 고딕" pitchFamily="34" charset="-120"/>
              </a:rPr>
              <a:t>11</a:t>
            </a:r>
            <a:endParaRPr lang="en-US" sz="800" dirty="0"/>
          </a:p>
        </p:txBody>
      </p:sp>
      <p:sp>
        <p:nvSpPr>
          <p:cNvPr id="7" name="Text 5"/>
          <p:cNvSpPr/>
          <p:nvPr/>
        </p:nvSpPr>
        <p:spPr>
          <a:xfrm>
            <a:off x="4572000" y="6537960"/>
            <a:ext cx="4251960" cy="182880"/>
          </a:xfrm>
          <a:prstGeom prst="rect">
            <a:avLst/>
          </a:prstGeom>
          <a:noFill/>
          <a:ln/>
        </p:spPr>
        <p:txBody>
          <a:bodyPr wrap="square" lIns="0" tIns="0" rIns="0" bIns="0" rtlCol="0" anchor="ctr"/>
          <a:lstStyle/>
          <a:p>
            <a:pPr algn="r" indent="0" marL="0">
              <a:buNone/>
            </a:pPr>
            <a:r>
              <a:rPr lang="en-US" sz="800" dirty="0">
                <a:solidFill>
                  <a:srgbClr val="6B7280"/>
                </a:solidFill>
                <a:latin typeface="맑은 고딕" pitchFamily="34" charset="0"/>
                <a:ea typeface="맑은 고딕" pitchFamily="34" charset="-122"/>
                <a:cs typeface="맑은 고딕" pitchFamily="34" charset="-120"/>
              </a:rPr>
              <a:t>Generated by Claude | Concepts, Requirements and feedback: Youngon Kim</a:t>
            </a:r>
            <a:endParaRPr lang="en-US" sz="800" dirty="0"/>
          </a:p>
        </p:txBody>
      </p:sp>
      <p:sp>
        <p:nvSpPr>
          <p:cNvPr id="8" name="Text 6"/>
          <p:cNvSpPr/>
          <p:nvPr/>
        </p:nvSpPr>
        <p:spPr>
          <a:xfrm>
            <a:off x="320040" y="868680"/>
            <a:ext cx="8503920" cy="274320"/>
          </a:xfrm>
          <a:prstGeom prst="rect">
            <a:avLst/>
          </a:prstGeom>
          <a:noFill/>
          <a:ln/>
        </p:spPr>
        <p:txBody>
          <a:bodyPr wrap="square" lIns="0" tIns="0" rIns="0" bIns="0" rtlCol="0" anchor="ctr"/>
          <a:lstStyle/>
          <a:p>
            <a:pPr algn="ctr" indent="0" marL="0">
              <a:buNone/>
            </a:pPr>
            <a:r>
              <a:rPr lang="en-US" sz="1400" b="1" dirty="0">
                <a:solidFill>
                  <a:srgbClr val="6B7280"/>
                </a:solidFill>
                <a:latin typeface="맑은 고딕" pitchFamily="34" charset="0"/>
                <a:ea typeface="맑은 고딕" pitchFamily="34" charset="-122"/>
                <a:cs typeface="맑은 고딕" pitchFamily="34" charset="-120"/>
              </a:rPr>
              <a:t>[적용] </a:t>
            </a:r>
            <a:pPr algn="ctr" indent="0" marL="0">
              <a:buNone/>
            </a:pPr>
            <a:r>
              <a:rPr lang="en-US" sz="1400" b="1" dirty="0">
                <a:solidFill>
                  <a:srgbClr val="2D3748"/>
                </a:solidFill>
                <a:latin typeface="맑은 고딕" pitchFamily="34" charset="0"/>
                <a:ea typeface="맑은 고딕" pitchFamily="34" charset="-122"/>
                <a:cs typeface="맑은 고딕" pitchFamily="34" charset="-120"/>
              </a:rPr>
              <a:t>타입에 따라 동작이 달라질 때, 조건 분기 대신 다형성을 쓴다.</a:t>
            </a:r>
            <a:endParaRPr lang="en-US" sz="1400" dirty="0"/>
          </a:p>
        </p:txBody>
      </p:sp>
      <p:sp>
        <p:nvSpPr>
          <p:cNvPr id="9" name="Shape 7"/>
          <p:cNvSpPr/>
          <p:nvPr/>
        </p:nvSpPr>
        <p:spPr>
          <a:xfrm>
            <a:off x="320040" y="1234440"/>
            <a:ext cx="8503920" cy="0"/>
          </a:xfrm>
          <a:prstGeom prst="line">
            <a:avLst/>
          </a:prstGeom>
          <a:noFill/>
          <a:ln w="6350">
            <a:solidFill>
              <a:srgbClr val="CBD5E1"/>
            </a:solidFill>
            <a:prstDash val="solid"/>
          </a:ln>
        </p:spPr>
      </p:sp>
      <p:sp>
        <p:nvSpPr>
          <p:cNvPr id="10" name="Text 8"/>
          <p:cNvSpPr/>
          <p:nvPr/>
        </p:nvSpPr>
        <p:spPr>
          <a:xfrm>
            <a:off x="320040" y="1325880"/>
            <a:ext cx="8503920" cy="1515527"/>
          </a:xfrm>
          <a:prstGeom prst="rect">
            <a:avLst/>
          </a:prstGeom>
          <a:solidFill>
            <a:srgbClr val="EBF1F8"/>
          </a:solidFill>
          <a:ln w="9525">
            <a:solidFill>
              <a:srgbClr val="CBD5E1"/>
            </a:solidFill>
          </a:ln>
        </p:spPr>
        <p:txBody>
          <a:bodyPr wrap="square" lIns="72009" tIns="72009" rIns="72009" bIns="72009" rtlCol="0" anchor="ctr"/>
          <a:lstStyle/>
          <a:p>
            <a:pPr algn="l" indent="0" marL="0">
              <a:spcAft>
                <a:spcPts val="300"/>
              </a:spcAft>
              <a:buNone/>
            </a:pPr>
            <a:r>
              <a:rPr lang="en-US" sz="1400" b="1" dirty="0">
                <a:solidFill>
                  <a:srgbClr val="1B3A6B"/>
                </a:solidFill>
                <a:latin typeface="맑은 고딕" pitchFamily="34" charset="0"/>
                <a:ea typeface="맑은 고딕" pitchFamily="34" charset="-122"/>
                <a:cs typeface="맑은 고딕" pitchFamily="34" charset="-120"/>
              </a:rPr>
              <a:t>결제 수단마다 처리 방식이 다르면 무엇이 문제인가?</a:t>
            </a:r>
            <a:endParaRPr lang="en-US" sz="1400" dirty="0"/>
          </a:p>
          <a:p>
            <a:pPr algn="l" indent="0" marL="0">
              <a:spcBef>
                <a:spcPts val="300"/>
              </a:spcBef>
              <a:buNone/>
            </a:pPr>
            <a:r>
              <a:rPr lang="en-US" sz="1400" b="1" dirty="0">
                <a:solidFill>
                  <a:srgbClr val="007965"/>
                </a:solidFill>
                <a:latin typeface="맑은 고딕" pitchFamily="34" charset="0"/>
                <a:ea typeface="맑은 고딕" pitchFamily="34" charset="-122"/>
                <a:cs typeface="맑은 고딕" pitchFamily="34" charset="-120"/>
              </a:rPr>
              <a:t>정보 소재 추론: </a:t>
            </a:r>
            <a:pPr algn="l" indent="0" marL="0">
              <a:spcBef>
                <a:spcPts val="300"/>
              </a:spcBef>
              <a:buNone/>
            </a:pPr>
            <a:r>
              <a:rPr lang="en-US" sz="1400" dirty="0">
                <a:solidFill>
                  <a:srgbClr val="2D3748"/>
                </a:solidFill>
                <a:latin typeface="맑은 고딕" pitchFamily="34" charset="0"/>
                <a:ea typeface="맑은 고딕" pitchFamily="34" charset="-122"/>
                <a:cs typeface="맑은 고딕" pitchFamily="34" charset="-120"/>
              </a:rPr>
              <a:t>결제 수단(현금·카드·수표)마다 처리가 다르면, if-else 분기문이 코드 곳곳에 번진다. Payment를 다형 타입으로 만들어 CashPayment·CreditPayment가 각자 자신의 authorize() 메서드를 구현하게 하면, 새 결제 수단이 추가돼도 기존 분기문을 고치지 않고 새 타입만 추가하면 된다.</a:t>
            </a:r>
            <a:endParaRPr lang="en-US" sz="1400" dirty="0"/>
          </a:p>
        </p:txBody>
      </p:sp>
      <p:sp>
        <p:nvSpPr>
          <p:cNvPr id="11" name="Shape 9"/>
          <p:cNvSpPr/>
          <p:nvPr/>
        </p:nvSpPr>
        <p:spPr>
          <a:xfrm>
            <a:off x="320040" y="3303732"/>
            <a:ext cx="4160520" cy="1226566"/>
          </a:xfrm>
          <a:prstGeom prst="rect">
            <a:avLst/>
          </a:prstGeom>
          <a:solidFill>
            <a:srgbClr val="FFFFFF"/>
          </a:solidFill>
          <a:ln w="15875">
            <a:solidFill>
              <a:srgbClr val="1B3A6B"/>
            </a:solidFill>
            <a:prstDash val="solid"/>
          </a:ln>
        </p:spPr>
      </p:sp>
      <p:sp>
        <p:nvSpPr>
          <p:cNvPr id="12" name="Text 10"/>
          <p:cNvSpPr/>
          <p:nvPr/>
        </p:nvSpPr>
        <p:spPr>
          <a:xfrm>
            <a:off x="320040" y="3303732"/>
            <a:ext cx="4160520" cy="256032"/>
          </a:xfrm>
          <a:prstGeom prst="rect">
            <a:avLst/>
          </a:prstGeom>
          <a:solidFill>
            <a:srgbClr val="1B3A6B"/>
          </a:solidFill>
          <a:ln/>
        </p:spPr>
        <p:txBody>
          <a:bodyPr wrap="square" lIns="72009" tIns="72009" rIns="72009" bIns="72009" rtlCol="0" anchor="ctr"/>
          <a:lstStyle/>
          <a:p>
            <a:pPr algn="ctr" indent="0" marL="0">
              <a:buNone/>
            </a:pPr>
            <a:r>
              <a:rPr lang="en-US" sz="1200" b="1" dirty="0">
                <a:solidFill>
                  <a:srgbClr val="FFFFFF"/>
                </a:solidFill>
                <a:latin typeface="맑은 고딕" pitchFamily="34" charset="0"/>
                <a:ea typeface="맑은 고딕" pitchFamily="34" charset="-122"/>
                <a:cs typeface="맑은 고딕" pitchFamily="34" charset="-120"/>
              </a:rPr>
              <a:t>절차</a:t>
            </a:r>
            <a:endParaRPr lang="en-US" sz="1200" dirty="0"/>
          </a:p>
        </p:txBody>
      </p:sp>
      <p:sp>
        <p:nvSpPr>
          <p:cNvPr id="13" name="Text 11"/>
          <p:cNvSpPr/>
          <p:nvPr/>
        </p:nvSpPr>
        <p:spPr>
          <a:xfrm>
            <a:off x="393192" y="3559764"/>
            <a:ext cx="4014216" cy="897382"/>
          </a:xfrm>
          <a:prstGeom prst="rect">
            <a:avLst/>
          </a:prstGeom>
          <a:noFill/>
          <a:ln/>
        </p:spPr>
        <p:txBody>
          <a:bodyPr wrap="square" lIns="0" tIns="0" rIns="0" bIns="0" rtlCol="0" anchor="t"/>
          <a:lstStyle/>
          <a:p>
            <a:pPr algn="l" indent="0" marL="0">
              <a:buNone/>
            </a:pPr>
            <a:r>
              <a:rPr lang="en-US" sz="900" b="1" dirty="0">
                <a:solidFill>
                  <a:srgbClr val="007965"/>
                </a:solidFill>
                <a:latin typeface="맑은 고딕" pitchFamily="34" charset="0"/>
                <a:ea typeface="맑은 고딕" pitchFamily="34" charset="-122"/>
                <a:cs typeface="맑은 고딕" pitchFamily="34" charset="-120"/>
              </a:rPr>
              <a:t>조건 분기가 곳곳에 번진다 </a:t>
            </a:r>
            <a:pPr algn="l" indent="0" marL="0">
              <a:buNone/>
            </a:pPr>
            <a:r>
              <a:rPr lang="en-US" sz="1100" b="1" dirty="0">
                <a:solidFill>
                  <a:srgbClr val="1B3A6B"/>
                </a:solidFill>
                <a:latin typeface="Consolas" pitchFamily="34" charset="0"/>
                <a:ea typeface="Consolas" pitchFamily="34" charset="-122"/>
                <a:cs typeface="Consolas" pitchFamily="34" charset="-120"/>
              </a:rPr>
              <a:t>if (type == CASH) { ... }</a:t>
            </a:r>
            <a:endParaRPr lang="en-US" sz="900" dirty="0"/>
          </a:p>
          <a:p>
            <a:pPr algn="l" indent="0" marL="0">
              <a:buNone/>
            </a:pPr>
            <a:r>
              <a:rPr lang="en-US" sz="1100" dirty="0">
                <a:solidFill>
                  <a:srgbClr val="2D3748"/>
                </a:solidFill>
                <a:latin typeface="Consolas" pitchFamily="34" charset="0"/>
                <a:ea typeface="Consolas" pitchFamily="34" charset="-122"/>
                <a:cs typeface="Consolas" pitchFamily="34" charset="-120"/>
              </a:rPr>
              <a:t>else if (type == CREDIT) { ... }</a:t>
            </a:r>
            <a:endParaRPr lang="en-US" sz="900" dirty="0"/>
          </a:p>
          <a:p>
            <a:pPr algn="l" indent="0" marL="0">
              <a:buNone/>
            </a:pPr>
            <a:r>
              <a:rPr lang="en-US" sz="1100" dirty="0">
                <a:solidFill>
                  <a:srgbClr val="2D3748"/>
                </a:solidFill>
                <a:latin typeface="Consolas" pitchFamily="34" charset="0"/>
                <a:ea typeface="Consolas" pitchFamily="34" charset="-122"/>
                <a:cs typeface="Consolas" pitchFamily="34" charset="-120"/>
              </a:rPr>
              <a:t>// 새 결제 수단마다 분기 추가</a:t>
            </a:r>
            <a:endParaRPr lang="en-US" sz="900" dirty="0"/>
          </a:p>
        </p:txBody>
      </p:sp>
      <p:sp>
        <p:nvSpPr>
          <p:cNvPr id="14" name="Shape 12"/>
          <p:cNvSpPr/>
          <p:nvPr/>
        </p:nvSpPr>
        <p:spPr>
          <a:xfrm>
            <a:off x="4663440" y="3303732"/>
            <a:ext cx="4160520" cy="1226566"/>
          </a:xfrm>
          <a:prstGeom prst="rect">
            <a:avLst/>
          </a:prstGeom>
          <a:solidFill>
            <a:srgbClr val="FFFFFF"/>
          </a:solidFill>
          <a:ln w="15875">
            <a:solidFill>
              <a:srgbClr val="1B3A6B"/>
            </a:solidFill>
            <a:prstDash val="solid"/>
          </a:ln>
        </p:spPr>
      </p:sp>
      <p:sp>
        <p:nvSpPr>
          <p:cNvPr id="15" name="Text 13"/>
          <p:cNvSpPr/>
          <p:nvPr/>
        </p:nvSpPr>
        <p:spPr>
          <a:xfrm>
            <a:off x="4663440" y="3303732"/>
            <a:ext cx="4160520" cy="256032"/>
          </a:xfrm>
          <a:prstGeom prst="rect">
            <a:avLst/>
          </a:prstGeom>
          <a:solidFill>
            <a:srgbClr val="1B3A6B"/>
          </a:solidFill>
          <a:ln/>
        </p:spPr>
        <p:txBody>
          <a:bodyPr wrap="square" lIns="72009" tIns="72009" rIns="72009" bIns="72009" rtlCol="0" anchor="ctr"/>
          <a:lstStyle/>
          <a:p>
            <a:pPr algn="ctr" indent="0" marL="0">
              <a:buNone/>
            </a:pPr>
            <a:r>
              <a:rPr lang="en-US" sz="1200" b="1" dirty="0">
                <a:solidFill>
                  <a:srgbClr val="FFFFFF"/>
                </a:solidFill>
                <a:latin typeface="맑은 고딕" pitchFamily="34" charset="0"/>
                <a:ea typeface="맑은 고딕" pitchFamily="34" charset="-122"/>
                <a:cs typeface="맑은 고딕" pitchFamily="34" charset="-120"/>
              </a:rPr>
              <a:t>적용</a:t>
            </a:r>
            <a:endParaRPr lang="en-US" sz="1200" dirty="0"/>
          </a:p>
        </p:txBody>
      </p:sp>
      <p:sp>
        <p:nvSpPr>
          <p:cNvPr id="16" name="Text 14"/>
          <p:cNvSpPr/>
          <p:nvPr/>
        </p:nvSpPr>
        <p:spPr>
          <a:xfrm>
            <a:off x="4736592" y="3559764"/>
            <a:ext cx="4014216" cy="897382"/>
          </a:xfrm>
          <a:prstGeom prst="rect">
            <a:avLst/>
          </a:prstGeom>
          <a:noFill/>
          <a:ln/>
        </p:spPr>
        <p:txBody>
          <a:bodyPr wrap="square" lIns="0" tIns="0" rIns="0" bIns="0" rtlCol="0" anchor="t"/>
          <a:lstStyle/>
          <a:p>
            <a:pPr algn="l" indent="0" marL="0">
              <a:buNone/>
            </a:pPr>
            <a:r>
              <a:rPr lang="en-US" sz="900" b="1" dirty="0">
                <a:solidFill>
                  <a:srgbClr val="007965"/>
                </a:solidFill>
                <a:latin typeface="맑은 고딕" pitchFamily="34" charset="0"/>
                <a:ea typeface="맑은 고딕" pitchFamily="34" charset="-122"/>
                <a:cs typeface="맑은 고딕" pitchFamily="34" charset="-120"/>
              </a:rPr>
              <a:t>다형성(Polymorphism) </a:t>
            </a:r>
            <a:pPr algn="l" indent="0" marL="0">
              <a:buNone/>
            </a:pPr>
            <a:r>
              <a:rPr lang="en-US" sz="1100" b="1" dirty="0">
                <a:solidFill>
                  <a:srgbClr val="1B3A6B"/>
                </a:solidFill>
                <a:latin typeface="Consolas" pitchFamily="34" charset="0"/>
                <a:ea typeface="Consolas" pitchFamily="34" charset="-122"/>
                <a:cs typeface="Consolas" pitchFamily="34" charset="-120"/>
              </a:rPr>
              <a:t>interface Payment {</a:t>
            </a:r>
            <a:endParaRPr lang="en-US" sz="900" dirty="0"/>
          </a:p>
          <a:p>
            <a:pPr algn="l" indent="0" marL="0">
              <a:buNone/>
            </a:pPr>
            <a:r>
              <a:rPr lang="en-US" sz="1100" dirty="0">
                <a:solidFill>
                  <a:srgbClr val="2D3748"/>
                </a:solidFill>
                <a:latin typeface="Consolas" pitchFamily="34" charset="0"/>
                <a:ea typeface="Consolas" pitchFamily="34" charset="-122"/>
                <a:cs typeface="Consolas" pitchFamily="34" charset="-120"/>
              </a:rPr>
              <a:t>  AuthResult authorize(Money amt);</a:t>
            </a:r>
            <a:endParaRPr lang="en-US" sz="900" dirty="0"/>
          </a:p>
          <a:p>
            <a:pPr algn="l" indent="0" marL="0">
              <a:buNone/>
            </a:pPr>
            <a:r>
              <a:rPr lang="en-US" sz="1100" dirty="0">
                <a:solidFill>
                  <a:srgbClr val="2D3748"/>
                </a:solidFill>
                <a:latin typeface="Consolas" pitchFamily="34" charset="0"/>
                <a:ea typeface="Consolas" pitchFamily="34" charset="-122"/>
                <a:cs typeface="Consolas" pitchFamily="34" charset="-120"/>
              </a:rPr>
              <a:t>}</a:t>
            </a:r>
            <a:endParaRPr lang="en-US" sz="900" dirty="0"/>
          </a:p>
          <a:p>
            <a:pPr algn="l" indent="0" marL="0">
              <a:buNone/>
            </a:pPr>
            <a:r>
              <a:rPr lang="en-US" sz="1100" dirty="0">
                <a:solidFill>
                  <a:srgbClr val="2D3748"/>
                </a:solidFill>
                <a:latin typeface="Consolas" pitchFamily="34" charset="0"/>
                <a:ea typeface="Consolas" pitchFamily="34" charset="-122"/>
                <a:cs typeface="Consolas" pitchFamily="34" charset="-120"/>
              </a:rPr>
              <a:t>class CashPayment implements Payment {...}</a:t>
            </a:r>
            <a:endParaRPr lang="en-US" sz="900" dirty="0"/>
          </a:p>
          <a:p>
            <a:pPr algn="l" indent="0" marL="0">
              <a:buNone/>
            </a:pPr>
            <a:r>
              <a:rPr lang="en-US" sz="1100" dirty="0">
                <a:solidFill>
                  <a:srgbClr val="2D3748"/>
                </a:solidFill>
                <a:latin typeface="Consolas" pitchFamily="34" charset="0"/>
                <a:ea typeface="Consolas" pitchFamily="34" charset="-122"/>
                <a:cs typeface="Consolas" pitchFamily="34" charset="-120"/>
              </a:rPr>
              <a:t>class CreditPayment implements Payment {...}</a:t>
            </a:r>
            <a:endParaRPr lang="en-US" sz="900" dirty="0"/>
          </a:p>
        </p:txBody>
      </p:sp>
      <p:sp>
        <p:nvSpPr>
          <p:cNvPr id="17" name="Text 15"/>
          <p:cNvSpPr/>
          <p:nvPr/>
        </p:nvSpPr>
        <p:spPr>
          <a:xfrm>
            <a:off x="320040" y="4621738"/>
            <a:ext cx="8503920" cy="237744"/>
          </a:xfrm>
          <a:prstGeom prst="rect">
            <a:avLst/>
          </a:prstGeom>
          <a:noFill/>
          <a:ln/>
        </p:spPr>
        <p:txBody>
          <a:bodyPr wrap="square" lIns="0" tIns="0" rIns="0" bIns="0" rtlCol="0" anchor="t"/>
          <a:lstStyle/>
          <a:p>
            <a:pPr algn="ctr" indent="0" marL="0">
              <a:buNone/>
            </a:pPr>
            <a:r>
              <a:rPr lang="en-US" sz="1200" i="1" dirty="0">
                <a:solidFill>
                  <a:srgbClr val="6B7280"/>
                </a:solidFill>
                <a:latin typeface="맑은 고딕" pitchFamily="34" charset="0"/>
                <a:ea typeface="맑은 고딕" pitchFamily="34" charset="-122"/>
                <a:cs typeface="맑은 고딕" pitchFamily="34" charset="-120"/>
              </a:rPr>
              <a:t>물음: 수단별 분기가 어디에서 어디로 갔나</a:t>
            </a:r>
            <a:endParaRPr lang="en-US" sz="1200" dirty="0"/>
          </a:p>
        </p:txBody>
      </p:sp>
      <p:sp>
        <p:nvSpPr>
          <p:cNvPr id="18" name="Shape 16"/>
          <p:cNvSpPr/>
          <p:nvPr/>
        </p:nvSpPr>
        <p:spPr>
          <a:xfrm>
            <a:off x="320040" y="5212080"/>
            <a:ext cx="8503920" cy="0"/>
          </a:xfrm>
          <a:prstGeom prst="line">
            <a:avLst/>
          </a:prstGeom>
          <a:noFill/>
          <a:ln w="6350">
            <a:solidFill>
              <a:srgbClr val="CBD5E1"/>
            </a:solidFill>
            <a:prstDash val="solid"/>
          </a:ln>
        </p:spPr>
      </p:sp>
      <p:sp>
        <p:nvSpPr>
          <p:cNvPr id="19" name="Text 17"/>
          <p:cNvSpPr/>
          <p:nvPr/>
        </p:nvSpPr>
        <p:spPr>
          <a:xfrm>
            <a:off x="320040" y="5394960"/>
            <a:ext cx="8503920" cy="914400"/>
          </a:xfrm>
          <a:prstGeom prst="rect">
            <a:avLst/>
          </a:prstGeom>
          <a:noFill/>
          <a:ln/>
        </p:spPr>
        <p:txBody>
          <a:bodyPr wrap="square" lIns="0" tIns="0" rIns="0" bIns="0" rtlCol="0" anchor="t"/>
          <a:lstStyle/>
          <a:p>
            <a:pPr indent="0" marL="0">
              <a:spcBef>
                <a:spcPts val="300"/>
              </a:spcBef>
              <a:spcAft>
                <a:spcPts val="300"/>
              </a:spcAft>
              <a:buNone/>
            </a:pPr>
            <a:r>
              <a:rPr lang="en-US" sz="1400" b="1" dirty="0">
                <a:solidFill>
                  <a:srgbClr val="991B1B"/>
                </a:solidFill>
                <a:latin typeface="맑은 고딕" pitchFamily="34" charset="0"/>
                <a:ea typeface="맑은 고딕" pitchFamily="34" charset="-122"/>
                <a:cs typeface="맑은 고딕" pitchFamily="34" charset="-120"/>
              </a:rPr>
              <a:t>한계:  </a:t>
            </a:r>
            <a:pPr indent="0" marL="0">
              <a:spcBef>
                <a:spcPts val="300"/>
              </a:spcBef>
              <a:spcAft>
                <a:spcPts val="300"/>
              </a:spcAft>
              <a:buNone/>
            </a:pPr>
            <a:r>
              <a:rPr lang="en-US" sz="1400" dirty="0">
                <a:solidFill>
                  <a:srgbClr val="2D3748"/>
                </a:solidFill>
                <a:latin typeface="맑은 고딕" pitchFamily="34" charset="0"/>
                <a:ea typeface="맑은 고딕" pitchFamily="34" charset="-122"/>
                <a:cs typeface="맑은 고딕" pitchFamily="34" charset="-120"/>
              </a:rPr>
              <a:t>변형이 하나뿐이거나 앞으로도 늘지 않는다면 다형성은 오히려 불필요한 계층을 만드는 과잉이 된다.</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20040" y="182880"/>
            <a:ext cx="8503920" cy="457200"/>
          </a:xfrm>
          <a:prstGeom prst="rect">
            <a:avLst/>
          </a:prstGeom>
          <a:noFill/>
          <a:ln/>
        </p:spPr>
        <p:txBody>
          <a:bodyPr wrap="square" lIns="0" tIns="0" rIns="0" bIns="0" rtlCol="0" anchor="ctr"/>
          <a:lstStyle/>
          <a:p>
            <a:pPr algn="l" indent="0" marL="0">
              <a:buNone/>
            </a:pPr>
            <a:r>
              <a:rPr lang="en-US" sz="2200" b="1" dirty="0">
                <a:solidFill>
                  <a:srgbClr val="1B3A6B"/>
                </a:solidFill>
                <a:latin typeface="맑은 고딕" pitchFamily="34" charset="0"/>
                <a:ea typeface="맑은 고딕" pitchFamily="34" charset="-122"/>
                <a:cs typeface="맑은 고딕" pitchFamily="34" charset="-120"/>
              </a:rPr>
              <a:t>11. 원칙을 의도적으로 거스르는 세 원칙</a:t>
            </a:r>
            <a:endParaRPr lang="en-US" sz="2200" dirty="0"/>
          </a:p>
        </p:txBody>
      </p:sp>
      <p:sp>
        <p:nvSpPr>
          <p:cNvPr id="3" name="Shape 1"/>
          <p:cNvSpPr/>
          <p:nvPr/>
        </p:nvSpPr>
        <p:spPr>
          <a:xfrm>
            <a:off x="320040" y="731520"/>
            <a:ext cx="8503920" cy="0"/>
          </a:xfrm>
          <a:prstGeom prst="line">
            <a:avLst/>
          </a:prstGeom>
          <a:noFill/>
          <a:ln w="19050">
            <a:solidFill>
              <a:srgbClr val="1B3A6B"/>
            </a:solidFill>
            <a:prstDash val="solid"/>
          </a:ln>
        </p:spPr>
      </p:sp>
      <p:sp>
        <p:nvSpPr>
          <p:cNvPr id="4" name="Shape 2"/>
          <p:cNvSpPr/>
          <p:nvPr/>
        </p:nvSpPr>
        <p:spPr>
          <a:xfrm>
            <a:off x="320040" y="6492240"/>
            <a:ext cx="8503920" cy="0"/>
          </a:xfrm>
          <a:prstGeom prst="line">
            <a:avLst/>
          </a:prstGeom>
          <a:noFill/>
          <a:ln w="6350">
            <a:solidFill>
              <a:srgbClr val="CBD5E1"/>
            </a:solidFill>
            <a:prstDash val="solid"/>
          </a:ln>
        </p:spPr>
      </p:sp>
      <p:sp>
        <p:nvSpPr>
          <p:cNvPr id="5" name="Text 3"/>
          <p:cNvSpPr/>
          <p:nvPr/>
        </p:nvSpPr>
        <p:spPr>
          <a:xfrm>
            <a:off x="320040" y="6537960"/>
            <a:ext cx="3657600" cy="182880"/>
          </a:xfrm>
          <a:prstGeom prst="rect">
            <a:avLst/>
          </a:prstGeom>
          <a:noFill/>
          <a:ln/>
        </p:spPr>
        <p:txBody>
          <a:bodyPr wrap="square" lIns="0" tIns="0" rIns="0" bIns="0" rtlCol="0" anchor="ctr"/>
          <a:lstStyle/>
          <a:p>
            <a:pPr indent="0" marL="0">
              <a:buNone/>
            </a:pPr>
            <a:r>
              <a:rPr lang="en-US" sz="800" dirty="0">
                <a:solidFill>
                  <a:srgbClr val="6B7280"/>
                </a:solidFill>
                <a:latin typeface="맑은 고딕" pitchFamily="34" charset="0"/>
                <a:ea typeface="맑은 고딕" pitchFamily="34" charset="-122"/>
                <a:cs typeface="맑은 고딕" pitchFamily="34" charset="-120"/>
              </a:rPr>
              <a:t>9. 책임 주도 설계(GRASP) 강의</a:t>
            </a:r>
            <a:endParaRPr lang="en-US" sz="800" dirty="0"/>
          </a:p>
        </p:txBody>
      </p:sp>
      <p:sp>
        <p:nvSpPr>
          <p:cNvPr id="6" name="Text 4"/>
          <p:cNvSpPr/>
          <p:nvPr/>
        </p:nvSpPr>
        <p:spPr>
          <a:xfrm>
            <a:off x="4114800" y="6537960"/>
            <a:ext cx="914400" cy="182880"/>
          </a:xfrm>
          <a:prstGeom prst="rect">
            <a:avLst/>
          </a:prstGeom>
          <a:noFill/>
          <a:ln/>
        </p:spPr>
        <p:txBody>
          <a:bodyPr wrap="square" lIns="0" tIns="0" rIns="0" bIns="0" rtlCol="0" anchor="ctr"/>
          <a:lstStyle/>
          <a:p>
            <a:pPr algn="ctr" indent="0" marL="0">
              <a:buNone/>
            </a:pPr>
            <a:r>
              <a:rPr lang="en-US" sz="800" dirty="0">
                <a:solidFill>
                  <a:srgbClr val="6B7280"/>
                </a:solidFill>
                <a:latin typeface="맑은 고딕" pitchFamily="34" charset="0"/>
                <a:ea typeface="맑은 고딕" pitchFamily="34" charset="-122"/>
                <a:cs typeface="맑은 고딕" pitchFamily="34" charset="-120"/>
              </a:rPr>
              <a:t>12</a:t>
            </a:r>
            <a:endParaRPr lang="en-US" sz="800" dirty="0"/>
          </a:p>
        </p:txBody>
      </p:sp>
      <p:sp>
        <p:nvSpPr>
          <p:cNvPr id="7" name="Text 5"/>
          <p:cNvSpPr/>
          <p:nvPr/>
        </p:nvSpPr>
        <p:spPr>
          <a:xfrm>
            <a:off x="4572000" y="6537960"/>
            <a:ext cx="4251960" cy="182880"/>
          </a:xfrm>
          <a:prstGeom prst="rect">
            <a:avLst/>
          </a:prstGeom>
          <a:noFill/>
          <a:ln/>
        </p:spPr>
        <p:txBody>
          <a:bodyPr wrap="square" lIns="0" tIns="0" rIns="0" bIns="0" rtlCol="0" anchor="ctr"/>
          <a:lstStyle/>
          <a:p>
            <a:pPr algn="r" indent="0" marL="0">
              <a:buNone/>
            </a:pPr>
            <a:r>
              <a:rPr lang="en-US" sz="800" dirty="0">
                <a:solidFill>
                  <a:srgbClr val="6B7280"/>
                </a:solidFill>
                <a:latin typeface="맑은 고딕" pitchFamily="34" charset="0"/>
                <a:ea typeface="맑은 고딕" pitchFamily="34" charset="-122"/>
                <a:cs typeface="맑은 고딕" pitchFamily="34" charset="-120"/>
              </a:rPr>
              <a:t>Generated by Claude | Concepts, Requirements and feedback: Youngon Kim</a:t>
            </a:r>
            <a:endParaRPr lang="en-US" sz="800" dirty="0"/>
          </a:p>
        </p:txBody>
      </p:sp>
      <p:sp>
        <p:nvSpPr>
          <p:cNvPr id="8" name="Text 6"/>
          <p:cNvSpPr/>
          <p:nvPr/>
        </p:nvSpPr>
        <p:spPr>
          <a:xfrm>
            <a:off x="320040" y="868680"/>
            <a:ext cx="8503920" cy="274320"/>
          </a:xfrm>
          <a:prstGeom prst="rect">
            <a:avLst/>
          </a:prstGeom>
          <a:noFill/>
          <a:ln/>
        </p:spPr>
        <p:txBody>
          <a:bodyPr wrap="square" lIns="0" tIns="0" rIns="0" bIns="0" rtlCol="0" anchor="ctr"/>
          <a:lstStyle/>
          <a:p>
            <a:pPr algn="ctr" indent="0" marL="0">
              <a:buNone/>
            </a:pPr>
            <a:r>
              <a:rPr lang="en-US" sz="1400" b="1" dirty="0">
                <a:solidFill>
                  <a:srgbClr val="6B7280"/>
                </a:solidFill>
                <a:latin typeface="맑은 고딕" pitchFamily="34" charset="0"/>
                <a:ea typeface="맑은 고딕" pitchFamily="34" charset="-122"/>
                <a:cs typeface="맑은 고딕" pitchFamily="34" charset="-120"/>
              </a:rPr>
              <a:t>[적용] </a:t>
            </a:r>
            <a:pPr algn="ctr" indent="0" marL="0">
              <a:buNone/>
            </a:pPr>
            <a:r>
              <a:rPr lang="en-US" sz="1400" b="1" dirty="0">
                <a:solidFill>
                  <a:srgbClr val="2D3748"/>
                </a:solidFill>
                <a:latin typeface="맑은 고딕" pitchFamily="34" charset="0"/>
                <a:ea typeface="맑은 고딕" pitchFamily="34" charset="-122"/>
                <a:cs typeface="맑은 고딕" pitchFamily="34" charset="-120"/>
              </a:rPr>
              <a:t>정보를 충실히 따르는 배치가 결합·응집을 해칠 때, 일부러 인공물을 만든다.</a:t>
            </a:r>
            <a:endParaRPr lang="en-US" sz="1400" dirty="0"/>
          </a:p>
        </p:txBody>
      </p:sp>
      <p:sp>
        <p:nvSpPr>
          <p:cNvPr id="9" name="Shape 7"/>
          <p:cNvSpPr/>
          <p:nvPr/>
        </p:nvSpPr>
        <p:spPr>
          <a:xfrm>
            <a:off x="320040" y="1234440"/>
            <a:ext cx="8503920" cy="0"/>
          </a:xfrm>
          <a:prstGeom prst="line">
            <a:avLst/>
          </a:prstGeom>
          <a:noFill/>
          <a:ln w="6350">
            <a:solidFill>
              <a:srgbClr val="CBD5E1"/>
            </a:solidFill>
            <a:prstDash val="solid"/>
          </a:ln>
        </p:spPr>
      </p:sp>
      <p:sp>
        <p:nvSpPr>
          <p:cNvPr id="10" name="Text 8"/>
          <p:cNvSpPr/>
          <p:nvPr/>
        </p:nvSpPr>
        <p:spPr>
          <a:xfrm>
            <a:off x="320040" y="1325880"/>
            <a:ext cx="8503920" cy="1259495"/>
          </a:xfrm>
          <a:prstGeom prst="rect">
            <a:avLst/>
          </a:prstGeom>
          <a:solidFill>
            <a:srgbClr val="EBF1F8"/>
          </a:solidFill>
          <a:ln w="9525">
            <a:solidFill>
              <a:srgbClr val="CBD5E1"/>
            </a:solidFill>
          </a:ln>
        </p:spPr>
        <p:txBody>
          <a:bodyPr wrap="square" lIns="72009" tIns="72009" rIns="72009" bIns="72009" rtlCol="0" anchor="ctr"/>
          <a:lstStyle/>
          <a:p>
            <a:pPr algn="l" indent="0" marL="0">
              <a:spcAft>
                <a:spcPts val="300"/>
              </a:spcAft>
              <a:buNone/>
            </a:pPr>
            <a:r>
              <a:rPr lang="en-US" sz="1400" b="1" dirty="0">
                <a:solidFill>
                  <a:srgbClr val="1B3A6B"/>
                </a:solidFill>
                <a:latin typeface="맑은 고딕" pitchFamily="34" charset="0"/>
                <a:ea typeface="맑은 고딕" pitchFamily="34" charset="-122"/>
                <a:cs typeface="맑은 고딕" pitchFamily="34" charset="-120"/>
              </a:rPr>
              <a:t>앞의 여섯 원칙이 응집이나 결합을 해치면 어떻게 하는가?</a:t>
            </a:r>
            <a:endParaRPr lang="en-US" sz="1400" dirty="0"/>
          </a:p>
          <a:p>
            <a:pPr algn="l" indent="0" marL="0">
              <a:spcBef>
                <a:spcPts val="300"/>
              </a:spcBef>
              <a:buNone/>
            </a:pPr>
            <a:r>
              <a:rPr lang="en-US" sz="1400" b="1" dirty="0">
                <a:solidFill>
                  <a:srgbClr val="007965"/>
                </a:solidFill>
                <a:latin typeface="맑은 고딕" pitchFamily="34" charset="0"/>
                <a:ea typeface="맑은 고딕" pitchFamily="34" charset="-122"/>
                <a:cs typeface="맑은 고딕" pitchFamily="34" charset="-120"/>
              </a:rPr>
              <a:t>전환: </a:t>
            </a:r>
            <a:pPr algn="l" indent="0" marL="0">
              <a:spcBef>
                <a:spcPts val="300"/>
              </a:spcBef>
              <a:buNone/>
            </a:pPr>
            <a:r>
              <a:rPr lang="en-US" sz="1400" dirty="0">
                <a:solidFill>
                  <a:srgbClr val="2D3748"/>
                </a:solidFill>
                <a:latin typeface="맑은 고딕" pitchFamily="34" charset="0"/>
                <a:ea typeface="맑은 고딕" pitchFamily="34" charset="-122"/>
                <a:cs typeface="맑은 고딕" pitchFamily="34" charset="-120"/>
              </a:rPr>
              <a:t>지금까지 여섯 원칙은 정보가 있는 곳에 책임을 준다는 흐름을 따랐다. 이 세 원칙은 그 흐름을 일부러 거스른다 — 도메인에 없는 인공물이나 간접층을 의도적으로 만들어서라도 응집·재사용·낮은 결합을 지키려는 판단이다. 의존관계 역전 원칙(DIP)과 같은 성격의 조작이다.</a:t>
            </a:r>
            <a:endParaRPr lang="en-US" sz="1400" dirty="0"/>
          </a:p>
        </p:txBody>
      </p:sp>
      <p:sp>
        <p:nvSpPr>
          <p:cNvPr id="11" name="Text 9"/>
          <p:cNvSpPr/>
          <p:nvPr/>
        </p:nvSpPr>
        <p:spPr>
          <a:xfrm>
            <a:off x="594360" y="2944368"/>
            <a:ext cx="7955280" cy="2018447"/>
          </a:xfrm>
          <a:prstGeom prst="rect">
            <a:avLst/>
          </a:prstGeom>
          <a:noFill/>
          <a:ln/>
        </p:spPr>
        <p:txBody>
          <a:bodyPr wrap="square" lIns="0" tIns="0" rIns="0" bIns="0" rtlCol="0" anchor="t"/>
          <a:lstStyle/>
          <a:p>
            <a:pPr algn="l" marL="177800" indent="-177800">
              <a:spcBef>
                <a:spcPts val="300"/>
              </a:spcBef>
              <a:spcAft>
                <a:spcPts val="300"/>
              </a:spcAft>
              <a:buSzPct val="100000"/>
              <a:buChar char="•"/>
            </a:pPr>
            <a:r>
              <a:rPr lang="en-US" sz="1400" b="1" dirty="0">
                <a:solidFill>
                  <a:srgbClr val="1B3A6B"/>
                </a:solidFill>
                <a:latin typeface="맑은 고딕" pitchFamily="34" charset="0"/>
                <a:ea typeface="맑은 고딕" pitchFamily="34" charset="-122"/>
                <a:cs typeface="맑은 고딕" pitchFamily="34" charset="-120"/>
              </a:rPr>
              <a:t>순수 창작물(Pure Fabrication) — </a:t>
            </a:r>
            <a:pPr algn="l" indent="0" marL="0">
              <a:spcBef>
                <a:spcPts val="300"/>
              </a:spcBef>
              <a:spcAft>
                <a:spcPts val="300"/>
              </a:spcAft>
              <a:buNone/>
            </a:pPr>
            <a:r>
              <a:rPr lang="en-US" sz="1400" dirty="0">
                <a:solidFill>
                  <a:srgbClr val="2D3748"/>
                </a:solidFill>
                <a:latin typeface="맑은 고딕" pitchFamily="34" charset="0"/>
                <a:ea typeface="맑은 고딕" pitchFamily="34" charset="-122"/>
                <a:cs typeface="맑은 고딕" pitchFamily="34" charset="-120"/>
              </a:rPr>
              <a:t>도메인 개념이 아닌 인공 클래스를 지어 책임을 맡긴다 — 저장을 Sale에 두면 응집이 깨지므로 도메인 밖의 Repository에 맡긴다.</a:t>
            </a:r>
            <a:endParaRPr lang="en-US" sz="1400" dirty="0"/>
          </a:p>
          <a:p>
            <a:pPr algn="l" marL="177800" indent="-177800">
              <a:spcBef>
                <a:spcPts val="300"/>
              </a:spcBef>
              <a:spcAft>
                <a:spcPts val="300"/>
              </a:spcAft>
              <a:buSzPct val="100000"/>
              <a:buChar char="•"/>
            </a:pPr>
            <a:r>
              <a:rPr lang="en-US" sz="1400" b="1" dirty="0">
                <a:solidFill>
                  <a:srgbClr val="1B3A6B"/>
                </a:solidFill>
                <a:latin typeface="맑은 고딕" pitchFamily="34" charset="0"/>
                <a:ea typeface="맑은 고딕" pitchFamily="34" charset="-122"/>
                <a:cs typeface="맑은 고딕" pitchFamily="34" charset="-120"/>
              </a:rPr>
              <a:t>간접화(Indirection) — </a:t>
            </a:r>
            <a:pPr algn="l" indent="0" marL="0">
              <a:spcBef>
                <a:spcPts val="300"/>
              </a:spcBef>
              <a:spcAft>
                <a:spcPts val="300"/>
              </a:spcAft>
              <a:buNone/>
            </a:pPr>
            <a:r>
              <a:rPr lang="en-US" sz="1400" dirty="0">
                <a:solidFill>
                  <a:srgbClr val="2D3748"/>
                </a:solidFill>
                <a:latin typeface="맑은 고딕" pitchFamily="34" charset="0"/>
                <a:ea typeface="맑은 고딕" pitchFamily="34" charset="-122"/>
                <a:cs typeface="맑은 고딕" pitchFamily="34" charset="-120"/>
              </a:rPr>
              <a:t>두 요소의 직접 결합을 피하려고 중개자를 둔다 — 제어자(Controller)가 UI와 도메인 사이에, 어댑터가 도메인과 외부 API 사이에 선다.</a:t>
            </a:r>
            <a:endParaRPr lang="en-US" sz="1400" dirty="0"/>
          </a:p>
          <a:p>
            <a:pPr algn="l" marL="177800" indent="-177800">
              <a:spcBef>
                <a:spcPts val="300"/>
              </a:spcBef>
              <a:spcAft>
                <a:spcPts val="300"/>
              </a:spcAft>
              <a:buSzPct val="100000"/>
              <a:buChar char="•"/>
            </a:pPr>
            <a:r>
              <a:rPr lang="en-US" sz="1400" b="1" dirty="0">
                <a:solidFill>
                  <a:srgbClr val="1B3A6B"/>
                </a:solidFill>
                <a:latin typeface="맑은 고딕" pitchFamily="34" charset="0"/>
                <a:ea typeface="맑은 고딕" pitchFamily="34" charset="-122"/>
                <a:cs typeface="맑은 고딕" pitchFamily="34" charset="-120"/>
              </a:rPr>
              <a:t>보호된 변화(Protected Variations) — </a:t>
            </a:r>
            <a:pPr algn="l" indent="0" marL="0">
              <a:spcBef>
                <a:spcPts val="300"/>
              </a:spcBef>
              <a:spcAft>
                <a:spcPts val="300"/>
              </a:spcAft>
              <a:buNone/>
            </a:pPr>
            <a:r>
              <a:rPr lang="en-US" sz="1400" dirty="0">
                <a:solidFill>
                  <a:srgbClr val="2D3748"/>
                </a:solidFill>
                <a:latin typeface="맑은 고딕" pitchFamily="34" charset="0"/>
                <a:ea typeface="맑은 고딕" pitchFamily="34" charset="-122"/>
                <a:cs typeface="맑은 고딕" pitchFamily="34" charset="-120"/>
              </a:rPr>
              <a:t>변화가 예상되는 지점을 안정된 인터페이스로 감싸 밖으로 번지지 않게 한다 — 의존관계 역전 원칙과 뿌리가 같다.</a:t>
            </a:r>
            <a:endParaRPr lang="en-US" sz="1400" dirty="0"/>
          </a:p>
        </p:txBody>
      </p:sp>
      <p:sp>
        <p:nvSpPr>
          <p:cNvPr id="12" name="Shape 10"/>
          <p:cNvSpPr/>
          <p:nvPr/>
        </p:nvSpPr>
        <p:spPr>
          <a:xfrm>
            <a:off x="320040" y="5212080"/>
            <a:ext cx="8503920" cy="0"/>
          </a:xfrm>
          <a:prstGeom prst="line">
            <a:avLst/>
          </a:prstGeom>
          <a:noFill/>
          <a:ln w="6350">
            <a:solidFill>
              <a:srgbClr val="CBD5E1"/>
            </a:solidFill>
            <a:prstDash val="solid"/>
          </a:ln>
        </p:spPr>
      </p:sp>
      <p:sp>
        <p:nvSpPr>
          <p:cNvPr id="13" name="Text 11"/>
          <p:cNvSpPr/>
          <p:nvPr/>
        </p:nvSpPr>
        <p:spPr>
          <a:xfrm>
            <a:off x="320040" y="5394960"/>
            <a:ext cx="8503920" cy="914400"/>
          </a:xfrm>
          <a:prstGeom prst="rect">
            <a:avLst/>
          </a:prstGeom>
          <a:noFill/>
          <a:ln/>
        </p:spPr>
        <p:txBody>
          <a:bodyPr wrap="square" lIns="0" tIns="0" rIns="0" bIns="0" rtlCol="0" anchor="t"/>
          <a:lstStyle/>
          <a:p>
            <a:pPr indent="0" marL="0">
              <a:spcBef>
                <a:spcPts val="300"/>
              </a:spcBef>
              <a:spcAft>
                <a:spcPts val="300"/>
              </a:spcAft>
              <a:buNone/>
            </a:pPr>
            <a:r>
              <a:rPr lang="en-US" sz="1400" b="1" dirty="0">
                <a:solidFill>
                  <a:srgbClr val="1B3A6B"/>
                </a:solidFill>
                <a:latin typeface="맑은 고딕" pitchFamily="34" charset="0"/>
                <a:ea typeface="맑은 고딕" pitchFamily="34" charset="-122"/>
                <a:cs typeface="맑은 고딕" pitchFamily="34" charset="-120"/>
              </a:rPr>
              <a:t>연결:  </a:t>
            </a:r>
            <a:pPr indent="0" marL="0">
              <a:spcBef>
                <a:spcPts val="300"/>
              </a:spcBef>
              <a:spcAft>
                <a:spcPts val="300"/>
              </a:spcAft>
              <a:buNone/>
            </a:pPr>
            <a:r>
              <a:rPr lang="en-US" sz="1400" dirty="0">
                <a:solidFill>
                  <a:srgbClr val="2D3748"/>
                </a:solidFill>
                <a:latin typeface="맑은 고딕" pitchFamily="34" charset="0"/>
                <a:ea typeface="맑은 고딕" pitchFamily="34" charset="-122"/>
                <a:cs typeface="맑은 고딕" pitchFamily="34" charset="-120"/>
              </a:rPr>
              <a:t>보호된 변화(Protected Variations)는 아키텍처 과정의 의존성 규칙이 구조 수준에서 실현하는 바로 그 원칙이다.</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20040" y="182880"/>
            <a:ext cx="8503920" cy="457200"/>
          </a:xfrm>
          <a:prstGeom prst="rect">
            <a:avLst/>
          </a:prstGeom>
          <a:noFill/>
          <a:ln/>
        </p:spPr>
        <p:txBody>
          <a:bodyPr wrap="square" lIns="0" tIns="0" rIns="0" bIns="0" rtlCol="0" anchor="ctr"/>
          <a:lstStyle/>
          <a:p>
            <a:pPr algn="l" indent="0" marL="0">
              <a:buNone/>
            </a:pPr>
            <a:r>
              <a:rPr lang="en-US" sz="2200" b="1" dirty="0">
                <a:solidFill>
                  <a:srgbClr val="1B3A6B"/>
                </a:solidFill>
                <a:latin typeface="맑은 고딕" pitchFamily="34" charset="0"/>
                <a:ea typeface="맑은 고딕" pitchFamily="34" charset="-122"/>
                <a:cs typeface="맑은 고딕" pitchFamily="34" charset="-120"/>
              </a:rPr>
              <a:t>12. 요약</a:t>
            </a:r>
            <a:endParaRPr lang="en-US" sz="2200" dirty="0"/>
          </a:p>
        </p:txBody>
      </p:sp>
      <p:sp>
        <p:nvSpPr>
          <p:cNvPr id="3" name="Shape 1"/>
          <p:cNvSpPr/>
          <p:nvPr/>
        </p:nvSpPr>
        <p:spPr>
          <a:xfrm>
            <a:off x="320040" y="731520"/>
            <a:ext cx="8503920" cy="0"/>
          </a:xfrm>
          <a:prstGeom prst="line">
            <a:avLst/>
          </a:prstGeom>
          <a:noFill/>
          <a:ln w="19050">
            <a:solidFill>
              <a:srgbClr val="1B3A6B"/>
            </a:solidFill>
            <a:prstDash val="solid"/>
          </a:ln>
        </p:spPr>
      </p:sp>
      <p:sp>
        <p:nvSpPr>
          <p:cNvPr id="4" name="Shape 2"/>
          <p:cNvSpPr/>
          <p:nvPr/>
        </p:nvSpPr>
        <p:spPr>
          <a:xfrm>
            <a:off x="320040" y="6492240"/>
            <a:ext cx="8503920" cy="0"/>
          </a:xfrm>
          <a:prstGeom prst="line">
            <a:avLst/>
          </a:prstGeom>
          <a:noFill/>
          <a:ln w="6350">
            <a:solidFill>
              <a:srgbClr val="CBD5E1"/>
            </a:solidFill>
            <a:prstDash val="solid"/>
          </a:ln>
        </p:spPr>
      </p:sp>
      <p:sp>
        <p:nvSpPr>
          <p:cNvPr id="5" name="Text 3"/>
          <p:cNvSpPr/>
          <p:nvPr/>
        </p:nvSpPr>
        <p:spPr>
          <a:xfrm>
            <a:off x="320040" y="6537960"/>
            <a:ext cx="3657600" cy="182880"/>
          </a:xfrm>
          <a:prstGeom prst="rect">
            <a:avLst/>
          </a:prstGeom>
          <a:noFill/>
          <a:ln/>
        </p:spPr>
        <p:txBody>
          <a:bodyPr wrap="square" lIns="0" tIns="0" rIns="0" bIns="0" rtlCol="0" anchor="ctr"/>
          <a:lstStyle/>
          <a:p>
            <a:pPr indent="0" marL="0">
              <a:buNone/>
            </a:pPr>
            <a:r>
              <a:rPr lang="en-US" sz="800" dirty="0">
                <a:solidFill>
                  <a:srgbClr val="6B7280"/>
                </a:solidFill>
                <a:latin typeface="맑은 고딕" pitchFamily="34" charset="0"/>
                <a:ea typeface="맑은 고딕" pitchFamily="34" charset="-122"/>
                <a:cs typeface="맑은 고딕" pitchFamily="34" charset="-120"/>
              </a:rPr>
              <a:t>9. 책임 주도 설계(GRASP) 강의</a:t>
            </a:r>
            <a:endParaRPr lang="en-US" sz="800" dirty="0"/>
          </a:p>
        </p:txBody>
      </p:sp>
      <p:sp>
        <p:nvSpPr>
          <p:cNvPr id="6" name="Text 4"/>
          <p:cNvSpPr/>
          <p:nvPr/>
        </p:nvSpPr>
        <p:spPr>
          <a:xfrm>
            <a:off x="4114800" y="6537960"/>
            <a:ext cx="914400" cy="182880"/>
          </a:xfrm>
          <a:prstGeom prst="rect">
            <a:avLst/>
          </a:prstGeom>
          <a:noFill/>
          <a:ln/>
        </p:spPr>
        <p:txBody>
          <a:bodyPr wrap="square" lIns="0" tIns="0" rIns="0" bIns="0" rtlCol="0" anchor="ctr"/>
          <a:lstStyle/>
          <a:p>
            <a:pPr algn="ctr" indent="0" marL="0">
              <a:buNone/>
            </a:pPr>
            <a:r>
              <a:rPr lang="en-US" sz="800" dirty="0">
                <a:solidFill>
                  <a:srgbClr val="6B7280"/>
                </a:solidFill>
                <a:latin typeface="맑은 고딕" pitchFamily="34" charset="0"/>
                <a:ea typeface="맑은 고딕" pitchFamily="34" charset="-122"/>
                <a:cs typeface="맑은 고딕" pitchFamily="34" charset="-120"/>
              </a:rPr>
              <a:t>13</a:t>
            </a:r>
            <a:endParaRPr lang="en-US" sz="800" dirty="0"/>
          </a:p>
        </p:txBody>
      </p:sp>
      <p:sp>
        <p:nvSpPr>
          <p:cNvPr id="7" name="Text 5"/>
          <p:cNvSpPr/>
          <p:nvPr/>
        </p:nvSpPr>
        <p:spPr>
          <a:xfrm>
            <a:off x="4572000" y="6537960"/>
            <a:ext cx="4251960" cy="182880"/>
          </a:xfrm>
          <a:prstGeom prst="rect">
            <a:avLst/>
          </a:prstGeom>
          <a:noFill/>
          <a:ln/>
        </p:spPr>
        <p:txBody>
          <a:bodyPr wrap="square" lIns="0" tIns="0" rIns="0" bIns="0" rtlCol="0" anchor="ctr"/>
          <a:lstStyle/>
          <a:p>
            <a:pPr algn="r" indent="0" marL="0">
              <a:buNone/>
            </a:pPr>
            <a:r>
              <a:rPr lang="en-US" sz="800" dirty="0">
                <a:solidFill>
                  <a:srgbClr val="6B7280"/>
                </a:solidFill>
                <a:latin typeface="맑은 고딕" pitchFamily="34" charset="0"/>
                <a:ea typeface="맑은 고딕" pitchFamily="34" charset="-122"/>
                <a:cs typeface="맑은 고딕" pitchFamily="34" charset="-120"/>
              </a:rPr>
              <a:t>Generated by Claude | Concepts, Requirements and feedback: Youngon Kim</a:t>
            </a:r>
            <a:endParaRPr lang="en-US" sz="800" dirty="0"/>
          </a:p>
        </p:txBody>
      </p:sp>
      <p:sp>
        <p:nvSpPr>
          <p:cNvPr id="8" name="Text 6"/>
          <p:cNvSpPr/>
          <p:nvPr/>
        </p:nvSpPr>
        <p:spPr>
          <a:xfrm>
            <a:off x="320040" y="868680"/>
            <a:ext cx="8503920" cy="274320"/>
          </a:xfrm>
          <a:prstGeom prst="rect">
            <a:avLst/>
          </a:prstGeom>
          <a:noFill/>
          <a:ln/>
        </p:spPr>
        <p:txBody>
          <a:bodyPr wrap="square" lIns="0" tIns="0" rIns="0" bIns="0" rtlCol="0" anchor="ctr"/>
          <a:lstStyle/>
          <a:p>
            <a:pPr algn="ctr" indent="0" marL="0">
              <a:buNone/>
            </a:pPr>
            <a:r>
              <a:rPr lang="en-US" sz="1400" b="1" dirty="0">
                <a:solidFill>
                  <a:srgbClr val="2D3748"/>
                </a:solidFill>
                <a:latin typeface="맑은 고딕" pitchFamily="34" charset="0"/>
                <a:ea typeface="맑은 고딕" pitchFamily="34" charset="-122"/>
                <a:cs typeface="맑은 고딕" pitchFamily="34" charset="-120"/>
              </a:rPr>
              <a:t>원칙은 하나의 관점에서 보는 판단이다 — 여러 원칙의 긴장이 패턴이 된다.</a:t>
            </a:r>
            <a:endParaRPr lang="en-US" sz="1400" dirty="0"/>
          </a:p>
        </p:txBody>
      </p:sp>
      <p:sp>
        <p:nvSpPr>
          <p:cNvPr id="9" name="Shape 7"/>
          <p:cNvSpPr/>
          <p:nvPr/>
        </p:nvSpPr>
        <p:spPr>
          <a:xfrm>
            <a:off x="320040" y="1234440"/>
            <a:ext cx="8503920" cy="0"/>
          </a:xfrm>
          <a:prstGeom prst="line">
            <a:avLst/>
          </a:prstGeom>
          <a:noFill/>
          <a:ln w="6350">
            <a:solidFill>
              <a:srgbClr val="CBD5E1"/>
            </a:solidFill>
            <a:prstDash val="solid"/>
          </a:ln>
        </p:spPr>
      </p:sp>
      <p:sp>
        <p:nvSpPr>
          <p:cNvPr id="10" name="Text 8"/>
          <p:cNvSpPr/>
          <p:nvPr/>
        </p:nvSpPr>
        <p:spPr>
          <a:xfrm>
            <a:off x="320040" y="1325880"/>
            <a:ext cx="8503920" cy="2027591"/>
          </a:xfrm>
          <a:prstGeom prst="rect">
            <a:avLst/>
          </a:prstGeom>
          <a:solidFill>
            <a:srgbClr val="EBF1F8"/>
          </a:solidFill>
          <a:ln w="9525">
            <a:solidFill>
              <a:srgbClr val="CBD5E1"/>
            </a:solidFill>
          </a:ln>
        </p:spPr>
        <p:txBody>
          <a:bodyPr wrap="square" lIns="72009" tIns="72009" rIns="72009" bIns="72009" rtlCol="0" anchor="ctr"/>
          <a:lstStyle/>
          <a:p>
            <a:pPr algn="l" indent="0" marL="0">
              <a:spcAft>
                <a:spcPts val="300"/>
              </a:spcAft>
              <a:buNone/>
            </a:pPr>
            <a:r>
              <a:rPr lang="en-US" sz="1400" b="1" dirty="0">
                <a:solidFill>
                  <a:srgbClr val="1B3A6B"/>
                </a:solidFill>
                <a:latin typeface="맑은 고딕" pitchFamily="34" charset="0"/>
                <a:ea typeface="맑은 고딕" pitchFamily="34" charset="-122"/>
                <a:cs typeface="맑은 고딕" pitchFamily="34" charset="-120"/>
              </a:rPr>
              <a:t>무엇을 가지고 다음 교시로 가는가?</a:t>
            </a:r>
            <a:endParaRPr lang="en-US" sz="1400" dirty="0"/>
          </a:p>
          <a:p>
            <a:pPr algn="l" indent="0" marL="0">
              <a:spcBef>
                <a:spcPts val="300"/>
              </a:spcBef>
              <a:buNone/>
            </a:pPr>
            <a:r>
              <a:rPr lang="en-US" sz="1400" b="1" dirty="0">
                <a:solidFill>
                  <a:srgbClr val="007965"/>
                </a:solidFill>
                <a:latin typeface="맑은 고딕" pitchFamily="34" charset="0"/>
                <a:ea typeface="맑은 고딕" pitchFamily="34" charset="-122"/>
                <a:cs typeface="맑은 고딕" pitchFamily="34" charset="-120"/>
              </a:rPr>
              <a:t>원칙에서 패턴으로: </a:t>
            </a:r>
            <a:pPr algn="l" indent="0" marL="0">
              <a:spcBef>
                <a:spcPts val="300"/>
              </a:spcBef>
              <a:buNone/>
            </a:pPr>
            <a:r>
              <a:rPr lang="en-US" sz="1400" dirty="0">
                <a:solidFill>
                  <a:srgbClr val="2D3748"/>
                </a:solidFill>
                <a:latin typeface="맑은 고딕" pitchFamily="34" charset="0"/>
                <a:ea typeface="맑은 고딕" pitchFamily="34" charset="-122"/>
                <a:cs typeface="맑은 고딕" pitchFamily="34" charset="-120"/>
              </a:rPr>
              <a:t>원칙은 한 가지 관점에서 내리는 판단이다. 현실 문제는 여러 관점이 얽혀 있어 원칙 하나만으로는 풀리지 않는다. 그 여러 원칙 사이의 긴장을 상황에 맞게 조합한 정형화된 해법이 디자인 패턴이다 — 팩토리(Factory)는 복잡해진 창조자(Creator), 전략(Strategy)은 다형성(Polymorphism)과 보호된 변화(Protected Variations)의 조합, 어댑터(Adapter)는 간접화(Indirection)의 한 형태다. 더 큰 조합이 아키텍처 패턴이 된다. 원칙을 알면 패턴을 스스로 유도할 수 있고, 모르면 외워야 한다.</a:t>
            </a:r>
            <a:endParaRPr lang="en-US" sz="1400" dirty="0"/>
          </a:p>
        </p:txBody>
      </p:sp>
      <p:sp>
        <p:nvSpPr>
          <p:cNvPr id="11" name="Shape 9"/>
          <p:cNvSpPr/>
          <p:nvPr/>
        </p:nvSpPr>
        <p:spPr>
          <a:xfrm>
            <a:off x="320040" y="3514679"/>
            <a:ext cx="8503920" cy="475488"/>
          </a:xfrm>
          <a:prstGeom prst="rect">
            <a:avLst/>
          </a:prstGeom>
          <a:solidFill>
            <a:srgbClr val="FFFFFF"/>
          </a:solidFill>
          <a:ln w="9525">
            <a:solidFill>
              <a:srgbClr val="CBD5E1"/>
            </a:solidFill>
            <a:prstDash val="solid"/>
          </a:ln>
        </p:spPr>
      </p:sp>
      <p:sp>
        <p:nvSpPr>
          <p:cNvPr id="12" name="Text 10"/>
          <p:cNvSpPr/>
          <p:nvPr/>
        </p:nvSpPr>
        <p:spPr>
          <a:xfrm>
            <a:off x="320040" y="3514679"/>
            <a:ext cx="2606040" cy="475488"/>
          </a:xfrm>
          <a:prstGeom prst="rect">
            <a:avLst/>
          </a:prstGeom>
          <a:solidFill>
            <a:srgbClr val="EBF1F8"/>
          </a:solidFill>
          <a:ln/>
        </p:spPr>
        <p:txBody>
          <a:bodyPr wrap="square" lIns="72009" tIns="72009" rIns="72009" bIns="72009" rtlCol="0" anchor="ctr"/>
          <a:lstStyle/>
          <a:p>
            <a:pPr algn="l" indent="0" marL="0">
              <a:buNone/>
            </a:pPr>
            <a:r>
              <a:rPr lang="en-US" sz="1200" b="1" dirty="0">
                <a:solidFill>
                  <a:srgbClr val="1B3A6B"/>
                </a:solidFill>
                <a:latin typeface="맑은 고딕" pitchFamily="34" charset="0"/>
                <a:ea typeface="맑은 고딕" pitchFamily="34" charset="-122"/>
                <a:cs typeface="맑은 고딕" pitchFamily="34" charset="-120"/>
              </a:rPr>
              <a:t>1. 책임 주도 설계(RDD)가 주</a:t>
            </a:r>
            <a:endParaRPr lang="en-US" sz="1200" dirty="0"/>
          </a:p>
        </p:txBody>
      </p:sp>
      <p:sp>
        <p:nvSpPr>
          <p:cNvPr id="13" name="Text 11"/>
          <p:cNvSpPr/>
          <p:nvPr/>
        </p:nvSpPr>
        <p:spPr>
          <a:xfrm>
            <a:off x="2926080" y="3514679"/>
            <a:ext cx="5897880" cy="475488"/>
          </a:xfrm>
          <a:prstGeom prst="rect">
            <a:avLst/>
          </a:prstGeom>
          <a:noFill/>
          <a:ln/>
        </p:spPr>
        <p:txBody>
          <a:bodyPr wrap="square" lIns="72009" tIns="72009" rIns="72009" bIns="72009" rtlCol="0" anchor="ctr"/>
          <a:lstStyle/>
          <a:p>
            <a:pPr algn="l" indent="0" marL="0">
              <a:spcBef>
                <a:spcPts val="300"/>
              </a:spcBef>
              <a:spcAft>
                <a:spcPts val="300"/>
              </a:spcAft>
              <a:buNone/>
            </a:pPr>
            <a:r>
              <a:rPr lang="en-US" sz="1200" dirty="0">
                <a:solidFill>
                  <a:srgbClr val="2D3748"/>
                </a:solidFill>
                <a:latin typeface="맑은 고딕" pitchFamily="34" charset="0"/>
                <a:ea typeface="맑은 고딕" pitchFamily="34" charset="-122"/>
                <a:cs typeface="맑은 고딕" pitchFamily="34" charset="-120"/>
              </a:rPr>
              <a:t>GRASP·SOLID는 그 판단을 돕는 도구일 뿐이다.</a:t>
            </a:r>
            <a:endParaRPr lang="en-US" sz="1200" dirty="0"/>
          </a:p>
        </p:txBody>
      </p:sp>
      <p:sp>
        <p:nvSpPr>
          <p:cNvPr id="14" name="Shape 12"/>
          <p:cNvSpPr/>
          <p:nvPr/>
        </p:nvSpPr>
        <p:spPr>
          <a:xfrm>
            <a:off x="320040" y="4099895"/>
            <a:ext cx="8503920" cy="475488"/>
          </a:xfrm>
          <a:prstGeom prst="rect">
            <a:avLst/>
          </a:prstGeom>
          <a:solidFill>
            <a:srgbClr val="FFFFFF"/>
          </a:solidFill>
          <a:ln w="9525">
            <a:solidFill>
              <a:srgbClr val="CBD5E1"/>
            </a:solidFill>
            <a:prstDash val="solid"/>
          </a:ln>
        </p:spPr>
      </p:sp>
      <p:sp>
        <p:nvSpPr>
          <p:cNvPr id="15" name="Text 13"/>
          <p:cNvSpPr/>
          <p:nvPr/>
        </p:nvSpPr>
        <p:spPr>
          <a:xfrm>
            <a:off x="320040" y="4099895"/>
            <a:ext cx="2606040" cy="475488"/>
          </a:xfrm>
          <a:prstGeom prst="rect">
            <a:avLst/>
          </a:prstGeom>
          <a:solidFill>
            <a:srgbClr val="EBF1F8"/>
          </a:solidFill>
          <a:ln/>
        </p:spPr>
        <p:txBody>
          <a:bodyPr wrap="square" lIns="72009" tIns="72009" rIns="72009" bIns="72009" rtlCol="0" anchor="ctr"/>
          <a:lstStyle/>
          <a:p>
            <a:pPr algn="l" indent="0" marL="0">
              <a:buNone/>
            </a:pPr>
            <a:r>
              <a:rPr lang="en-US" sz="1200" b="1" dirty="0">
                <a:solidFill>
                  <a:srgbClr val="1B3A6B"/>
                </a:solidFill>
                <a:latin typeface="맑은 고딕" pitchFamily="34" charset="0"/>
                <a:ea typeface="맑은 고딕" pitchFamily="34" charset="-122"/>
                <a:cs typeface="맑은 고딕" pitchFamily="34" charset="-120"/>
              </a:rPr>
              <a:t>2. 정보 소재 추론</a:t>
            </a:r>
            <a:endParaRPr lang="en-US" sz="1200" dirty="0"/>
          </a:p>
        </p:txBody>
      </p:sp>
      <p:sp>
        <p:nvSpPr>
          <p:cNvPr id="16" name="Text 14"/>
          <p:cNvSpPr/>
          <p:nvPr/>
        </p:nvSpPr>
        <p:spPr>
          <a:xfrm>
            <a:off x="2926080" y="4099895"/>
            <a:ext cx="5897880" cy="475488"/>
          </a:xfrm>
          <a:prstGeom prst="rect">
            <a:avLst/>
          </a:prstGeom>
          <a:noFill/>
          <a:ln/>
        </p:spPr>
        <p:txBody>
          <a:bodyPr wrap="square" lIns="72009" tIns="72009" rIns="72009" bIns="72009" rtlCol="0" anchor="ctr"/>
          <a:lstStyle/>
          <a:p>
            <a:pPr algn="l" indent="0" marL="0">
              <a:spcBef>
                <a:spcPts val="300"/>
              </a:spcBef>
              <a:spcAft>
                <a:spcPts val="300"/>
              </a:spcAft>
              <a:buNone/>
            </a:pPr>
            <a:r>
              <a:rPr lang="en-US" sz="1200" dirty="0">
                <a:solidFill>
                  <a:srgbClr val="2D3748"/>
                </a:solidFill>
                <a:latin typeface="맑은 고딕" pitchFamily="34" charset="0"/>
                <a:ea typeface="맑은 고딕" pitchFamily="34" charset="-122"/>
                <a:cs typeface="맑은 고딕" pitchFamily="34" charset="-120"/>
              </a:rPr>
              <a:t>정보가 어디 있는지 문장으로 따라가면 책임이 드러난다.</a:t>
            </a:r>
            <a:endParaRPr lang="en-US" sz="1200" dirty="0"/>
          </a:p>
        </p:txBody>
      </p:sp>
      <p:sp>
        <p:nvSpPr>
          <p:cNvPr id="17" name="Shape 15"/>
          <p:cNvSpPr/>
          <p:nvPr/>
        </p:nvSpPr>
        <p:spPr>
          <a:xfrm>
            <a:off x="320040" y="4685111"/>
            <a:ext cx="8503920" cy="475488"/>
          </a:xfrm>
          <a:prstGeom prst="rect">
            <a:avLst/>
          </a:prstGeom>
          <a:solidFill>
            <a:srgbClr val="FFFFFF"/>
          </a:solidFill>
          <a:ln w="9525">
            <a:solidFill>
              <a:srgbClr val="CBD5E1"/>
            </a:solidFill>
            <a:prstDash val="solid"/>
          </a:ln>
        </p:spPr>
      </p:sp>
      <p:sp>
        <p:nvSpPr>
          <p:cNvPr id="18" name="Text 16"/>
          <p:cNvSpPr/>
          <p:nvPr/>
        </p:nvSpPr>
        <p:spPr>
          <a:xfrm>
            <a:off x="320040" y="4685111"/>
            <a:ext cx="2606040" cy="475488"/>
          </a:xfrm>
          <a:prstGeom prst="rect">
            <a:avLst/>
          </a:prstGeom>
          <a:solidFill>
            <a:srgbClr val="EBF1F8"/>
          </a:solidFill>
          <a:ln/>
        </p:spPr>
        <p:txBody>
          <a:bodyPr wrap="square" lIns="72009" tIns="72009" rIns="72009" bIns="72009" rtlCol="0" anchor="ctr"/>
          <a:lstStyle/>
          <a:p>
            <a:pPr algn="l" indent="0" marL="0">
              <a:buNone/>
            </a:pPr>
            <a:r>
              <a:rPr lang="en-US" sz="1200" b="1" dirty="0">
                <a:solidFill>
                  <a:srgbClr val="1B3A6B"/>
                </a:solidFill>
                <a:latin typeface="맑은 고딕" pitchFamily="34" charset="0"/>
                <a:ea typeface="맑은 고딕" pitchFamily="34" charset="-122"/>
                <a:cs typeface="맑은 고딕" pitchFamily="34" charset="-120"/>
              </a:rPr>
              <a:t>3. 도메인 주도 설계(DDD)로의 복선</a:t>
            </a:r>
            <a:endParaRPr lang="en-US" sz="1200" dirty="0"/>
          </a:p>
        </p:txBody>
      </p:sp>
      <p:sp>
        <p:nvSpPr>
          <p:cNvPr id="19" name="Text 17"/>
          <p:cNvSpPr/>
          <p:nvPr/>
        </p:nvSpPr>
        <p:spPr>
          <a:xfrm>
            <a:off x="2926080" y="4685111"/>
            <a:ext cx="5897880" cy="475488"/>
          </a:xfrm>
          <a:prstGeom prst="rect">
            <a:avLst/>
          </a:prstGeom>
          <a:noFill/>
          <a:ln/>
        </p:spPr>
        <p:txBody>
          <a:bodyPr wrap="square" lIns="72009" tIns="72009" rIns="72009" bIns="72009" rtlCol="0" anchor="ctr"/>
          <a:lstStyle/>
          <a:p>
            <a:pPr algn="l" indent="0" marL="0">
              <a:spcBef>
                <a:spcPts val="300"/>
              </a:spcBef>
              <a:spcAft>
                <a:spcPts val="300"/>
              </a:spcAft>
              <a:buNone/>
            </a:pPr>
            <a:r>
              <a:rPr lang="en-US" sz="1200" dirty="0">
                <a:solidFill>
                  <a:srgbClr val="2D3748"/>
                </a:solidFill>
                <a:latin typeface="맑은 고딕" pitchFamily="34" charset="0"/>
                <a:ea typeface="맑은 고딕" pitchFamily="34" charset="-122"/>
                <a:cs typeface="맑은 고딕" pitchFamily="34" charset="-120"/>
              </a:rPr>
              <a:t>경계는 안 준다 — 그 공백을 다음 부가 메운다.</a:t>
            </a:r>
            <a:endParaRPr lang="en-US" sz="1200" dirty="0"/>
          </a:p>
        </p:txBody>
      </p:sp>
      <p:sp>
        <p:nvSpPr>
          <p:cNvPr id="20" name="Shape 18"/>
          <p:cNvSpPr/>
          <p:nvPr/>
        </p:nvSpPr>
        <p:spPr>
          <a:xfrm>
            <a:off x="320040" y="5212080"/>
            <a:ext cx="8503920" cy="0"/>
          </a:xfrm>
          <a:prstGeom prst="line">
            <a:avLst/>
          </a:prstGeom>
          <a:noFill/>
          <a:ln w="6350">
            <a:solidFill>
              <a:srgbClr val="CBD5E1"/>
            </a:solidFill>
            <a:prstDash val="solid"/>
          </a:ln>
        </p:spPr>
      </p:sp>
      <p:sp>
        <p:nvSpPr>
          <p:cNvPr id="21" name="Text 19"/>
          <p:cNvSpPr/>
          <p:nvPr/>
        </p:nvSpPr>
        <p:spPr>
          <a:xfrm>
            <a:off x="320040" y="5394960"/>
            <a:ext cx="8503920" cy="914400"/>
          </a:xfrm>
          <a:prstGeom prst="rect">
            <a:avLst/>
          </a:prstGeom>
          <a:noFill/>
          <a:ln/>
        </p:spPr>
        <p:txBody>
          <a:bodyPr wrap="square" lIns="0" tIns="0" rIns="0" bIns="0" rtlCol="0" anchor="t"/>
          <a:lstStyle/>
          <a:p>
            <a:pPr indent="0" marL="0">
              <a:spcBef>
                <a:spcPts val="300"/>
              </a:spcBef>
              <a:spcAft>
                <a:spcPts val="300"/>
              </a:spcAft>
              <a:buNone/>
            </a:pPr>
            <a:r>
              <a:rPr lang="en-US" sz="1400" b="1" dirty="0">
                <a:solidFill>
                  <a:srgbClr val="1B3A6B"/>
                </a:solidFill>
                <a:latin typeface="맑은 고딕" pitchFamily="34" charset="0"/>
                <a:ea typeface="맑은 고딕" pitchFamily="34" charset="-122"/>
                <a:cs typeface="맑은 고딕" pitchFamily="34" charset="-120"/>
              </a:rPr>
              <a:t>다음:  </a:t>
            </a:r>
            <a:pPr indent="0" marL="0">
              <a:spcBef>
                <a:spcPts val="300"/>
              </a:spcBef>
              <a:spcAft>
                <a:spcPts val="300"/>
              </a:spcAft>
              <a:buNone/>
            </a:pPr>
            <a:r>
              <a:rPr lang="en-US" sz="1400" dirty="0">
                <a:solidFill>
                  <a:srgbClr val="2D3748"/>
                </a:solidFill>
                <a:latin typeface="맑은 고딕" pitchFamily="34" charset="0"/>
                <a:ea typeface="맑은 고딕" pitchFamily="34" charset="-122"/>
                <a:cs typeface="맑은 고딕" pitchFamily="34" charset="-120"/>
              </a:rPr>
              <a:t>오늘 NewPOS에서 본 정보 소재 추론을 Order 도메인에 적용한다 — 코드는 다르지만 추론 절차는 같다.</a:t>
            </a:r>
            <a:endParaRPr lang="en-US" sz="1400" dirty="0"/>
          </a:p>
          <a:p>
            <a:pPr indent="0" marL="0">
              <a:spcBef>
                <a:spcPts val="300"/>
              </a:spcBef>
              <a:buNone/>
            </a:pPr>
            <a:r>
              <a:rPr lang="en-US" sz="1400" b="1" dirty="0">
                <a:solidFill>
                  <a:srgbClr val="007965"/>
                </a:solidFill>
                <a:latin typeface="맑은 고딕" pitchFamily="34" charset="0"/>
                <a:ea typeface="맑은 고딕" pitchFamily="34" charset="-122"/>
                <a:cs typeface="맑은 고딕" pitchFamily="34" charset="-120"/>
              </a:rPr>
              <a:t>다음: </a:t>
            </a:r>
            <a:pPr indent="0" marL="0">
              <a:spcBef>
                <a:spcPts val="300"/>
              </a:spcBef>
              <a:spcAft>
                <a:spcPts val="300"/>
              </a:spcAft>
              <a:buNone/>
            </a:pPr>
            <a:r>
              <a:rPr lang="en-US" sz="1400" dirty="0">
                <a:solidFill>
                  <a:srgbClr val="2D3748"/>
                </a:solidFill>
                <a:latin typeface="맑은 고딕" pitchFamily="34" charset="0"/>
                <a:ea typeface="맑은 고딕" pitchFamily="34" charset="-122"/>
                <a:cs typeface="맑은 고딕" pitchFamily="34" charset="-120"/>
              </a:rPr>
              <a:t>오늘 본 정보 소재 추론을 Order에 적용하면 책임이 똑같은 방식으로 이동하는가.</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2026-08-09T02:54:21Z</dcterms:created>
  <dcterms:modified xsi:type="dcterms:W3CDTF">2026-08-09T02:54:21Z</dcterms:modified>
</cp:coreProperties>
</file>