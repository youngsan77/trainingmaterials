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§A~D. 배분 3분.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§A-1. 배분 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§A-2(책임 분류·역할 목록 모두 Wirfs-Brock). 배분 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§A-3. 배분 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§B-1(코드 축자, 3클래스 협력을 압축). 배분 6분.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§B-2(코드는 산문 "Sale이 makeLineItem() 책임"에서 옮김). 배분 6분.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§B-3(Register 코드 축자). 배분 6분.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§B-4(코드 없음 — 산문 추론을 코드로 옮김). 배분 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§B-5(코드 없음 — 산문 추론을 코드로 옮김). 배분 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§B-6(코드 축자). 배분 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§C-1~C-3. 배분 6분.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정본: grasp-source.md §D. 다음 연결은 교시10(책임 분배 실습)으로 이어진다 — 도메인만 바뀐다(NewPOS→Order), 추론 절차는 같다. 배분 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9. 책임 주도 설계(GRASP) 강의 목차</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2174748" y="1024128"/>
            <a:ext cx="3867150" cy="5138928"/>
          </a:xfrm>
          <a:prstGeom prst="rect">
            <a:avLst/>
          </a:prstGeom>
          <a:noFill/>
          <a:ln/>
        </p:spPr>
        <p:txBody>
          <a:bodyPr wrap="square" lIns="0" tIns="0" rIns="0" bIns="0" rtlCol="0" anchor="t"/>
          <a:lstStyle/>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01.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학습 목표</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02.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책임 주도 설계(RDD)란 무엇인가?</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03.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왜 책임이 설계의 단위인가?</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04.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책임 할당은 판단이다</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05.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정보 전문가(Information Expert)</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06.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창조자(Creator)</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07.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제어자(Controller)</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08.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낮은 결합도(Low Coupling)</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09.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높은 응집도(High Cohesion)</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10.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다형성(Polymorphism)</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11.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원칙을 의도적으로 거스르는 세 원칙</a:t>
            </a:r>
            <a:endParaRPr lang="en-US" sz="1400" dirty="0"/>
          </a:p>
          <a:p>
            <a:pPr algn="l"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12.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요약</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01. 학습 목표</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2</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2D3748"/>
                </a:solidFill>
                <a:latin typeface="맑은 고딕" pitchFamily="34" charset="0"/>
                <a:ea typeface="맑은 고딕" pitchFamily="34" charset="-122"/>
                <a:cs typeface="맑은 고딕" pitchFamily="34" charset="-120"/>
              </a:rPr>
              <a:t>책임을 어디 둘지 판단하는 도구를 정보 소재 추론으로 쓸 수 있다.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003463"/>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이 교시가 끝나면 무엇을 할 수 있는가?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도달점: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책임 주도 설계(Responsibility-Driven Design, RDD)가 왜 필요한지 설명하고, 그 도구인 GRASP 여섯 원칙을 NewPOS 예로 설명할 수 있다.</a:t>
            </a:r>
            <a:endParaRPr lang="en-US" sz="1400" dirty="0"/>
          </a:p>
        </p:txBody>
      </p:sp>
      <p:sp>
        <p:nvSpPr>
          <p:cNvPr id="11" name="Text 9"/>
          <p:cNvSpPr/>
          <p:nvPr/>
        </p:nvSpPr>
        <p:spPr>
          <a:xfrm>
            <a:off x="594360" y="3227832"/>
            <a:ext cx="7955280" cy="1195487"/>
          </a:xfrm>
          <a:prstGeom prst="rect">
            <a:avLst/>
          </a:prstGeom>
          <a:noFill/>
          <a:ln/>
        </p:spPr>
        <p:txBody>
          <a:bodyPr wrap="square" lIns="0" tIns="0" rIns="0" bIns="0" rtlCol="0" anchor="t"/>
          <a:lstStyle/>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본체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설계가 곧 책임 배치이며, RDD가 그 판단의 이름임을 안다.</a:t>
            </a:r>
            <a:endParaRPr lang="en-US" sz="1400" dirty="0"/>
          </a:p>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추론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정보가 어디에 있는지 추적해 책임을 배치하는 절차를 문장으로 설명한다.</a:t>
            </a:r>
            <a:endParaRPr lang="en-US" sz="1400" dirty="0"/>
          </a:p>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한계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각 원칙이 언제 억지가 되는지, 그 한계가 다음 원칙을 어떻게 부르는지 안다.</a:t>
            </a:r>
            <a:endParaRPr lang="en-US" sz="1400" dirty="0"/>
          </a:p>
        </p:txBody>
      </p:sp>
      <p:sp>
        <p:nvSpPr>
          <p:cNvPr id="12" name="Shape 10"/>
          <p:cNvSpPr/>
          <p:nvPr/>
        </p:nvSpPr>
        <p:spPr>
          <a:xfrm>
            <a:off x="320040" y="5212080"/>
            <a:ext cx="8503920" cy="0"/>
          </a:xfrm>
          <a:prstGeom prst="line">
            <a:avLst/>
          </a:prstGeom>
          <a:noFill/>
          <a:ln w="6350">
            <a:solidFill>
              <a:srgbClr val="CBD5E1"/>
            </a:solidFill>
            <a:prstDash val="solid"/>
          </a:ln>
        </p:spPr>
      </p:sp>
      <p:sp>
        <p:nvSpPr>
          <p:cNvPr id="13" name="Text 11"/>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출발점: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교시2~7(분석)에서 만든 모델에 이제 책임을 배치한다 — OOAD의 진짜 난관이 시작된다.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02. 책임 주도 설계(RDD)란 무엇인가?</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3</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6327648"/>
            <a:ext cx="8503920" cy="146304"/>
          </a:xfrm>
          <a:prstGeom prst="rect">
            <a:avLst/>
          </a:prstGeom>
          <a:noFill/>
          <a:ln/>
        </p:spPr>
        <p:txBody>
          <a:bodyPr wrap="square" lIns="0" tIns="0" rIns="0" bIns="0" rtlCol="0" anchor="t"/>
          <a:lstStyle/>
          <a:p>
            <a:pPr algn="ctr" indent="0" marL="0">
              <a:buNone/>
            </a:pPr>
            <a:r>
              <a:rPr lang="en-US" sz="900" dirty="0">
                <a:solidFill>
                  <a:srgbClr val="6B7280"/>
                </a:solidFill>
                <a:latin typeface="맑은 고딕" pitchFamily="34" charset="0"/>
                <a:ea typeface="맑은 고딕" pitchFamily="34" charset="-122"/>
                <a:cs typeface="맑은 고딕" pitchFamily="34" charset="-120"/>
              </a:rPr>
              <a:t>RDD: Rebecca Wirfs-Brock (Object Design: Roles, Responsibilities, and Collaborations, 2003)</a:t>
            </a:r>
            <a:endParaRPr lang="en-US" sz="900" dirty="0"/>
          </a:p>
        </p:txBody>
      </p:sp>
      <p:sp>
        <p:nvSpPr>
          <p:cNvPr id="9" name="Text 7"/>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[현상]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데이터가 아니라 책임으로 객체를 정의하는 설계 기법이다.</a:t>
            </a:r>
            <a:endParaRPr lang="en-US" sz="1400" dirty="0"/>
          </a:p>
        </p:txBody>
      </p:sp>
      <p:sp>
        <p:nvSpPr>
          <p:cNvPr id="10" name="Shape 8"/>
          <p:cNvSpPr/>
          <p:nvPr/>
        </p:nvSpPr>
        <p:spPr>
          <a:xfrm>
            <a:off x="320040" y="1234440"/>
            <a:ext cx="8503920" cy="0"/>
          </a:xfrm>
          <a:prstGeom prst="line">
            <a:avLst/>
          </a:prstGeom>
          <a:noFill/>
          <a:ln w="6350">
            <a:solidFill>
              <a:srgbClr val="CBD5E1"/>
            </a:solidFill>
            <a:prstDash val="solid"/>
          </a:ln>
        </p:spPr>
      </p:sp>
      <p:sp>
        <p:nvSpPr>
          <p:cNvPr id="11" name="Text 9"/>
          <p:cNvSpPr/>
          <p:nvPr/>
        </p:nvSpPr>
        <p:spPr>
          <a:xfrm>
            <a:off x="320040" y="1325880"/>
            <a:ext cx="8503920" cy="1515527"/>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책임 주도 설계는 무엇을 다르게 보는가?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정의: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책임 주도 설계(Responsibility-Driven Design, RDD)는 객체를 "데이터+알고리즘"이 아니라 "역할(role)+책임(responsibility)"으로 보고, 책임을 객체에 할당하며 협력을 설계하는 기법이다. Rebecca Wirfs-Brock이 1990년에 창시한, 객체 설계에 대한 최초의 행위 기반(behavioral) 접근이다.</a:t>
            </a:r>
            <a:endParaRPr lang="en-US" sz="1400" dirty="0"/>
          </a:p>
        </p:txBody>
      </p:sp>
      <p:sp>
        <p:nvSpPr>
          <p:cNvPr id="12" name="Shape 10"/>
          <p:cNvSpPr/>
          <p:nvPr/>
        </p:nvSpPr>
        <p:spPr>
          <a:xfrm>
            <a:off x="320040" y="3560064"/>
            <a:ext cx="4114800" cy="1043087"/>
          </a:xfrm>
          <a:prstGeom prst="rect">
            <a:avLst/>
          </a:prstGeom>
          <a:solidFill>
            <a:srgbClr val="FFFFFF"/>
          </a:solidFill>
          <a:ln w="15875">
            <a:solidFill>
              <a:srgbClr val="991B1B"/>
            </a:solidFill>
            <a:prstDash val="solid"/>
          </a:ln>
        </p:spPr>
      </p:sp>
      <p:sp>
        <p:nvSpPr>
          <p:cNvPr id="13" name="Text 11"/>
          <p:cNvSpPr/>
          <p:nvPr/>
        </p:nvSpPr>
        <p:spPr>
          <a:xfrm>
            <a:off x="320040" y="3560064"/>
            <a:ext cx="4114800" cy="402336"/>
          </a:xfrm>
          <a:prstGeom prst="rect">
            <a:avLst/>
          </a:prstGeom>
          <a:solidFill>
            <a:srgbClr val="991B1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데이터 주도 설계</a:t>
            </a:r>
            <a:endParaRPr lang="en-US" sz="1200" dirty="0"/>
          </a:p>
        </p:txBody>
      </p:sp>
      <p:sp>
        <p:nvSpPr>
          <p:cNvPr id="14" name="Text 12"/>
          <p:cNvSpPr/>
          <p:nvPr/>
        </p:nvSpPr>
        <p:spPr>
          <a:xfrm>
            <a:off x="320040" y="3962400"/>
            <a:ext cx="4114800" cy="640751"/>
          </a:xfrm>
          <a:prstGeom prst="rect">
            <a:avLst/>
          </a:prstGeom>
          <a:noFill/>
          <a:ln/>
        </p:spPr>
        <p:txBody>
          <a:bodyPr wrap="square" lIns="72009" tIns="72009" rIns="72009" bIns="72009" rtlCol="0" anchor="t"/>
          <a:lstStyle/>
          <a:p>
            <a:pPr marL="152400" indent="-1524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클래스의 행위를 그 클래스가 가진 데이터와 함께 정의한다.</a:t>
            </a:r>
            <a:endParaRPr lang="en-US" sz="1200" dirty="0"/>
          </a:p>
        </p:txBody>
      </p:sp>
      <p:sp>
        <p:nvSpPr>
          <p:cNvPr id="15" name="Shape 13"/>
          <p:cNvSpPr/>
          <p:nvPr/>
        </p:nvSpPr>
        <p:spPr>
          <a:xfrm>
            <a:off x="4709160" y="3560064"/>
            <a:ext cx="4114800" cy="1043087"/>
          </a:xfrm>
          <a:prstGeom prst="rect">
            <a:avLst/>
          </a:prstGeom>
          <a:solidFill>
            <a:srgbClr val="FFFFFF"/>
          </a:solidFill>
          <a:ln w="15875">
            <a:solidFill>
              <a:srgbClr val="007965"/>
            </a:solidFill>
            <a:prstDash val="solid"/>
          </a:ln>
        </p:spPr>
      </p:sp>
      <p:sp>
        <p:nvSpPr>
          <p:cNvPr id="16" name="Text 14"/>
          <p:cNvSpPr/>
          <p:nvPr/>
        </p:nvSpPr>
        <p:spPr>
          <a:xfrm>
            <a:off x="4709160" y="3560064"/>
            <a:ext cx="4114800" cy="402336"/>
          </a:xfrm>
          <a:prstGeom prst="rect">
            <a:avLst/>
          </a:prstGeom>
          <a:solidFill>
            <a:srgbClr val="007965"/>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책임 주도 설계(RDD)</a:t>
            </a:r>
            <a:endParaRPr lang="en-US" sz="1200" dirty="0"/>
          </a:p>
        </p:txBody>
      </p:sp>
      <p:sp>
        <p:nvSpPr>
          <p:cNvPr id="17" name="Text 15"/>
          <p:cNvSpPr/>
          <p:nvPr/>
        </p:nvSpPr>
        <p:spPr>
          <a:xfrm>
            <a:off x="4709160" y="3962400"/>
            <a:ext cx="4114800" cy="640751"/>
          </a:xfrm>
          <a:prstGeom prst="rect">
            <a:avLst/>
          </a:prstGeom>
          <a:noFill/>
          <a:ln/>
        </p:spPr>
        <p:txBody>
          <a:bodyPr wrap="square" lIns="72009" tIns="72009" rIns="72009" bIns="72009" rtlCol="0" anchor="t"/>
          <a:lstStyle/>
          <a:p>
            <a:pPr marL="152400" indent="-1524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무엇을 아는가가 아니라 무엇을 책임지는가로 객체를 정의한다.</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뿌리: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이 대비가 뒤에 나올 빈혈 도메인(데이터+외부 로직)과 리치 도메인(책임 가진 객체)의 뿌리다.</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03. 왜 책임이 설계의 단위인가?</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4</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[원칙]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설계 질문은 "이 책임을 누가 지는가?"이다.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왜 "책임"이 설계의 기본 단위인가?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두 종류의 책임: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Wirfs-Brock은 책임을 둘로 나눈다. 아는 책임(knowing)은 자기 데이터·파생값·관련 객체를 아는 책임이고, 하는 책임(doing)은 스스로 무언가를 하거나 다른 객체에게 시키거나 활동을 조정하는 책임이다. 객체는 단순한 데이터 묶음이 아니라 역할을 맡는다.</a:t>
            </a:r>
            <a:endParaRPr lang="en-US" sz="1400" dirty="0"/>
          </a:p>
        </p:txBody>
      </p:sp>
      <p:sp>
        <p:nvSpPr>
          <p:cNvPr id="11" name="Shape 9"/>
          <p:cNvSpPr/>
          <p:nvPr/>
        </p:nvSpPr>
        <p:spPr>
          <a:xfrm>
            <a:off x="320040" y="3441192"/>
            <a:ext cx="4160520" cy="1024799"/>
          </a:xfrm>
          <a:prstGeom prst="rect">
            <a:avLst/>
          </a:prstGeom>
          <a:solidFill>
            <a:srgbClr val="FFFFFF"/>
          </a:solidFill>
          <a:ln w="15875">
            <a:solidFill>
              <a:srgbClr val="1B3A6B"/>
            </a:solidFill>
            <a:prstDash val="solid"/>
          </a:ln>
        </p:spPr>
      </p:sp>
      <p:sp>
        <p:nvSpPr>
          <p:cNvPr id="12" name="Text 10"/>
          <p:cNvSpPr/>
          <p:nvPr/>
        </p:nvSpPr>
        <p:spPr>
          <a:xfrm>
            <a:off x="320040" y="3441192"/>
            <a:ext cx="41605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아는 책임(knowing)</a:t>
            </a:r>
            <a:endParaRPr lang="en-US" sz="1200" dirty="0"/>
          </a:p>
        </p:txBody>
      </p:sp>
      <p:sp>
        <p:nvSpPr>
          <p:cNvPr id="13" name="Text 11"/>
          <p:cNvSpPr/>
          <p:nvPr/>
        </p:nvSpPr>
        <p:spPr>
          <a:xfrm>
            <a:off x="320040" y="3825240"/>
            <a:ext cx="41605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자기 데이터·파생값·관련 객체를 아는 책임이다.</a:t>
            </a:r>
            <a:endParaRPr lang="en-US" sz="1200" dirty="0"/>
          </a:p>
        </p:txBody>
      </p:sp>
      <p:sp>
        <p:nvSpPr>
          <p:cNvPr id="14" name="Shape 12"/>
          <p:cNvSpPr/>
          <p:nvPr/>
        </p:nvSpPr>
        <p:spPr>
          <a:xfrm>
            <a:off x="4663440" y="3441192"/>
            <a:ext cx="4160520" cy="1024799"/>
          </a:xfrm>
          <a:prstGeom prst="rect">
            <a:avLst/>
          </a:prstGeom>
          <a:solidFill>
            <a:srgbClr val="FFFFFF"/>
          </a:solidFill>
          <a:ln w="15875">
            <a:solidFill>
              <a:srgbClr val="1B3A6B"/>
            </a:solidFill>
            <a:prstDash val="solid"/>
          </a:ln>
        </p:spPr>
      </p:sp>
      <p:sp>
        <p:nvSpPr>
          <p:cNvPr id="15" name="Text 13"/>
          <p:cNvSpPr/>
          <p:nvPr/>
        </p:nvSpPr>
        <p:spPr>
          <a:xfrm>
            <a:off x="4663440" y="3441192"/>
            <a:ext cx="41605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하는 책임(doing)</a:t>
            </a:r>
            <a:endParaRPr lang="en-US" sz="1200" dirty="0"/>
          </a:p>
        </p:txBody>
      </p:sp>
      <p:sp>
        <p:nvSpPr>
          <p:cNvPr id="16" name="Text 14"/>
          <p:cNvSpPr/>
          <p:nvPr/>
        </p:nvSpPr>
        <p:spPr>
          <a:xfrm>
            <a:off x="4663440" y="3825240"/>
            <a:ext cx="41605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스스로 하거나, 다른 객체에게 시키거나, 활동을 조정하는 책임이다.</a:t>
            </a:r>
            <a:endParaRPr lang="en-US" sz="1200" dirty="0"/>
          </a:p>
        </p:txBody>
      </p:sp>
      <p:sp>
        <p:nvSpPr>
          <p:cNvPr id="17" name="Shape 15"/>
          <p:cNvSpPr/>
          <p:nvPr/>
        </p:nvSpPr>
        <p:spPr>
          <a:xfrm>
            <a:off x="320040" y="5212080"/>
            <a:ext cx="8503920" cy="0"/>
          </a:xfrm>
          <a:prstGeom prst="line">
            <a:avLst/>
          </a:prstGeom>
          <a:noFill/>
          <a:ln w="6350">
            <a:solidFill>
              <a:srgbClr val="CBD5E1"/>
            </a:solidFill>
            <a:prstDash val="solid"/>
          </a:ln>
        </p:spPr>
      </p:sp>
      <p:sp>
        <p:nvSpPr>
          <p:cNvPr id="18" name="Text 16"/>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역할: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객체가 맡는 역할은 정보 보유자·서비스 제공자·조정자·제어자·구조화자·외부 인터페이스다 — 각자 자기 몫을 알고 해야 한다.</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04. 책임 할당은 판단이다</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5</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6327648"/>
            <a:ext cx="8503920" cy="146304"/>
          </a:xfrm>
          <a:prstGeom prst="rect">
            <a:avLst/>
          </a:prstGeom>
          <a:noFill/>
          <a:ln/>
        </p:spPr>
        <p:txBody>
          <a:bodyPr wrap="square" lIns="0" tIns="0" rIns="0" bIns="0" rtlCol="0" anchor="t"/>
          <a:lstStyle/>
          <a:p>
            <a:pPr algn="ctr" indent="0" marL="0">
              <a:buNone/>
            </a:pPr>
            <a:r>
              <a:rPr lang="en-US" sz="900" dirty="0">
                <a:solidFill>
                  <a:srgbClr val="6B7280"/>
                </a:solidFill>
                <a:latin typeface="맑은 고딕" pitchFamily="34" charset="0"/>
                <a:ea typeface="맑은 고딕" pitchFamily="34" charset="-122"/>
                <a:cs typeface="맑은 고딕" pitchFamily="34" charset="-120"/>
              </a:rPr>
              <a:t>GRASP: Craig Larman (Applying UML and Patterns, 3rd ed.) · SOLID: Robert C. Martin</a:t>
            </a:r>
            <a:endParaRPr lang="en-US" sz="900" dirty="0"/>
          </a:p>
        </p:txBody>
      </p:sp>
      <p:sp>
        <p:nvSpPr>
          <p:cNvPr id="9" name="Text 7"/>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[원칙]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정답표가 없어서, 그 판단을 돕는 도구가 필요하다.</a:t>
            </a:r>
            <a:endParaRPr lang="en-US" sz="1400" dirty="0"/>
          </a:p>
        </p:txBody>
      </p:sp>
      <p:sp>
        <p:nvSpPr>
          <p:cNvPr id="10" name="Shape 8"/>
          <p:cNvSpPr/>
          <p:nvPr/>
        </p:nvSpPr>
        <p:spPr>
          <a:xfrm>
            <a:off x="320040" y="1234440"/>
            <a:ext cx="8503920" cy="0"/>
          </a:xfrm>
          <a:prstGeom prst="line">
            <a:avLst/>
          </a:prstGeom>
          <a:noFill/>
          <a:ln w="6350">
            <a:solidFill>
              <a:srgbClr val="CBD5E1"/>
            </a:solidFill>
            <a:prstDash val="solid"/>
          </a:ln>
        </p:spPr>
      </p:sp>
      <p:sp>
        <p:nvSpPr>
          <p:cNvPr id="11" name="Text 9"/>
          <p:cNvSpPr/>
          <p:nvPr/>
        </p:nvSpPr>
        <p:spPr>
          <a:xfrm>
            <a:off x="320040" y="1325880"/>
            <a:ext cx="8503920" cy="1515527"/>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책임 배치를 판단할 때 무엇에 기댈 수 있는가?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도구: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같은 요구도 책임을 어디 두느냐로 설계가 갈린다 — 총액 계산을 바깥 서비스에 두면 절차적, Sale에 두면 객체적이다. 책임 배치엔 정답표가 없다. GRASP는 책임 할당을 사고하는 아홉 개 패턴이고, SOLID는 그 배치가 변화에 견디는지 보는 다섯 개 원칙이다 — 둘 다 유일 정답이 아니라 정돈된 틀이다.</a:t>
            </a:r>
            <a:endParaRPr lang="en-US" sz="1400" dirty="0"/>
          </a:p>
        </p:txBody>
      </p:sp>
      <p:sp>
        <p:nvSpPr>
          <p:cNvPr id="12" name="Shape 10"/>
          <p:cNvSpPr/>
          <p:nvPr/>
        </p:nvSpPr>
        <p:spPr>
          <a:xfrm>
            <a:off x="320040" y="3569208"/>
            <a:ext cx="2712720" cy="1024799"/>
          </a:xfrm>
          <a:prstGeom prst="rect">
            <a:avLst/>
          </a:prstGeom>
          <a:solidFill>
            <a:srgbClr val="FFFFFF"/>
          </a:solidFill>
          <a:ln w="15875">
            <a:solidFill>
              <a:srgbClr val="1B3A6B"/>
            </a:solidFill>
            <a:prstDash val="solid"/>
          </a:ln>
        </p:spPr>
      </p:sp>
      <p:sp>
        <p:nvSpPr>
          <p:cNvPr id="13" name="Text 11"/>
          <p:cNvSpPr/>
          <p:nvPr/>
        </p:nvSpPr>
        <p:spPr>
          <a:xfrm>
            <a:off x="320040" y="3569208"/>
            <a:ext cx="27127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일반 책임 할당 소프트웨어 패턴(GRASP)</a:t>
            </a:r>
            <a:endParaRPr lang="en-US" sz="1200" dirty="0"/>
          </a:p>
        </p:txBody>
      </p:sp>
      <p:sp>
        <p:nvSpPr>
          <p:cNvPr id="14" name="Text 12"/>
          <p:cNvSpPr/>
          <p:nvPr/>
        </p:nvSpPr>
        <p:spPr>
          <a:xfrm>
            <a:off x="320040" y="3953256"/>
            <a:ext cx="27127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책임 할당을 사고하는 아홉 개 패턴이다.</a:t>
            </a:r>
            <a:endParaRPr lang="en-US" sz="1200" dirty="0"/>
          </a:p>
        </p:txBody>
      </p:sp>
      <p:sp>
        <p:nvSpPr>
          <p:cNvPr id="15" name="Shape 13"/>
          <p:cNvSpPr/>
          <p:nvPr/>
        </p:nvSpPr>
        <p:spPr>
          <a:xfrm>
            <a:off x="3215640" y="3569208"/>
            <a:ext cx="2712720" cy="1024799"/>
          </a:xfrm>
          <a:prstGeom prst="rect">
            <a:avLst/>
          </a:prstGeom>
          <a:solidFill>
            <a:srgbClr val="FFFFFF"/>
          </a:solidFill>
          <a:ln w="15875">
            <a:solidFill>
              <a:srgbClr val="1B3A6B"/>
            </a:solidFill>
            <a:prstDash val="solid"/>
          </a:ln>
        </p:spPr>
      </p:sp>
      <p:sp>
        <p:nvSpPr>
          <p:cNvPr id="16" name="Text 14"/>
          <p:cNvSpPr/>
          <p:nvPr/>
        </p:nvSpPr>
        <p:spPr>
          <a:xfrm>
            <a:off x="3215640" y="3569208"/>
            <a:ext cx="27127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SOLID</a:t>
            </a:r>
            <a:endParaRPr lang="en-US" sz="1200" dirty="0"/>
          </a:p>
        </p:txBody>
      </p:sp>
      <p:sp>
        <p:nvSpPr>
          <p:cNvPr id="17" name="Text 15"/>
          <p:cNvSpPr/>
          <p:nvPr/>
        </p:nvSpPr>
        <p:spPr>
          <a:xfrm>
            <a:off x="3215640" y="3953256"/>
            <a:ext cx="27127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그 배치가 변화에 견디는지 보는 다섯 개 원칙이다.</a:t>
            </a:r>
            <a:endParaRPr lang="en-US" sz="1200" dirty="0"/>
          </a:p>
        </p:txBody>
      </p:sp>
      <p:sp>
        <p:nvSpPr>
          <p:cNvPr id="18" name="Shape 16"/>
          <p:cNvSpPr/>
          <p:nvPr/>
        </p:nvSpPr>
        <p:spPr>
          <a:xfrm>
            <a:off x="6111240" y="3569208"/>
            <a:ext cx="2712720" cy="1024799"/>
          </a:xfrm>
          <a:prstGeom prst="rect">
            <a:avLst/>
          </a:prstGeom>
          <a:solidFill>
            <a:srgbClr val="FFFFFF"/>
          </a:solidFill>
          <a:ln w="15875">
            <a:solidFill>
              <a:srgbClr val="1B3A6B"/>
            </a:solidFill>
            <a:prstDash val="solid"/>
          </a:ln>
        </p:spPr>
      </p:sp>
      <p:sp>
        <p:nvSpPr>
          <p:cNvPr id="19" name="Text 17"/>
          <p:cNvSpPr/>
          <p:nvPr/>
        </p:nvSpPr>
        <p:spPr>
          <a:xfrm>
            <a:off x="6111240" y="3569208"/>
            <a:ext cx="2712720" cy="384048"/>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계약에 의한 설계(Design by Contract, DbC)</a:t>
            </a:r>
            <a:endParaRPr lang="en-US" sz="1200" dirty="0"/>
          </a:p>
        </p:txBody>
      </p:sp>
      <p:sp>
        <p:nvSpPr>
          <p:cNvPr id="20" name="Text 18"/>
          <p:cNvSpPr/>
          <p:nvPr/>
        </p:nvSpPr>
        <p:spPr>
          <a:xfrm>
            <a:off x="6111240" y="3953256"/>
            <a:ext cx="2712720" cy="640751"/>
          </a:xfrm>
          <a:prstGeom prst="rect">
            <a:avLst/>
          </a:prstGeom>
          <a:noFill/>
          <a:ln/>
        </p:spPr>
        <p:txBody>
          <a:bodyPr wrap="square" lIns="72009" tIns="72009" rIns="72009" bIns="72009" rtlCol="0" anchor="t"/>
          <a:lstStyle/>
          <a:p>
            <a:pPr marL="127000" indent="-127000">
              <a:spcBef>
                <a:spcPts val="300"/>
              </a:spcBef>
              <a:spcAft>
                <a:spcPts val="300"/>
              </a:spcAft>
              <a:buSzPct val="100000"/>
              <a:buChar char="•"/>
            </a:pPr>
            <a:r>
              <a:rPr lang="en-US" sz="1200" dirty="0">
                <a:solidFill>
                  <a:srgbClr val="2D3748"/>
                </a:solidFill>
                <a:latin typeface="맑은 고딕" pitchFamily="34" charset="0"/>
                <a:ea typeface="맑은 고딕" pitchFamily="34" charset="-122"/>
                <a:cs typeface="맑은 고딕" pitchFamily="34" charset="-120"/>
              </a:rPr>
              <a:t>책임에는 사전조건과 사후조건이라는 계약이 따른다.</a:t>
            </a:r>
            <a:endParaRPr lang="en-US" sz="1200" dirty="0"/>
          </a:p>
        </p:txBody>
      </p:sp>
      <p:sp>
        <p:nvSpPr>
          <p:cNvPr id="21" name="Shape 19"/>
          <p:cNvSpPr/>
          <p:nvPr/>
        </p:nvSpPr>
        <p:spPr>
          <a:xfrm>
            <a:off x="320040" y="5212080"/>
            <a:ext cx="8503920" cy="0"/>
          </a:xfrm>
          <a:prstGeom prst="line">
            <a:avLst/>
          </a:prstGeom>
          <a:noFill/>
          <a:ln w="6350">
            <a:solidFill>
              <a:srgbClr val="CBD5E1"/>
            </a:solidFill>
            <a:prstDash val="solid"/>
          </a:ln>
        </p:spPr>
      </p:sp>
      <p:sp>
        <p:nvSpPr>
          <p:cNvPr id="22" name="Text 20"/>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규율: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GRASP·SOLID 둘 다 정답표가 아니다 — 이제부터 GRASP 여섯 원칙을 정보 소재 추론으로 하나씩 확인한다.</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05. 정보 전문가(Information Expert)</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6</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필요한 정보를 가장 잘 아는 클래스에게 그 책임을 준다.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515527"/>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Sale의 총액(grand total)은 누가 계산해야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필요한 정보를 하나씩 따라가 보면 배치가 드러난다. 모든 판매 항목을 아는 것은 Sale이므로 총액 책임은 Sale이 진다. 수량을 아는 것은 SalesLineItem이므로 소계 책임은 그쪽이 진다. 단가를 아는 것은 ProductDescription이므로 가격 제공 책임은 거기가 진다. 셋은 각자 아는 만큼만 나눠 맡고 서로 협력한다 — 코드는 이 추론의 결론일 뿐이다.</a:t>
            </a:r>
            <a:endParaRPr lang="en-US" sz="1400" dirty="0"/>
          </a:p>
        </p:txBody>
      </p:sp>
      <p:sp>
        <p:nvSpPr>
          <p:cNvPr id="11" name="Shape 9"/>
          <p:cNvSpPr/>
          <p:nvPr/>
        </p:nvSpPr>
        <p:spPr>
          <a:xfrm>
            <a:off x="320040" y="3386155"/>
            <a:ext cx="4160520" cy="1061720"/>
          </a:xfrm>
          <a:prstGeom prst="rect">
            <a:avLst/>
          </a:prstGeom>
          <a:solidFill>
            <a:srgbClr val="FFFFFF"/>
          </a:solidFill>
          <a:ln w="15875">
            <a:solidFill>
              <a:srgbClr val="1B3A6B"/>
            </a:solidFill>
            <a:prstDash val="solid"/>
          </a:ln>
        </p:spPr>
      </p:sp>
      <p:sp>
        <p:nvSpPr>
          <p:cNvPr id="12" name="Text 10"/>
          <p:cNvSpPr/>
          <p:nvPr/>
        </p:nvSpPr>
        <p:spPr>
          <a:xfrm>
            <a:off x="320040" y="3386155"/>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642187"/>
            <a:ext cx="4014216" cy="732536"/>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Money total = Money.ZERO;</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남의 데이터를 순회한다 </a:t>
            </a:r>
            <a:pPr algn="l" indent="0" marL="0">
              <a:buNone/>
            </a:pPr>
            <a:r>
              <a:rPr lang="en-US" sz="1100" b="1" dirty="0">
                <a:solidFill>
                  <a:srgbClr val="1B3A6B"/>
                </a:solidFill>
                <a:latin typeface="Consolas" pitchFamily="34" charset="0"/>
                <a:ea typeface="Consolas" pitchFamily="34" charset="-122"/>
                <a:cs typeface="Consolas" pitchFamily="34" charset="-120"/>
              </a:rPr>
              <a:t>for (var li : sale.getLineItems())</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total = total.add(</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li.getQty() * li.getPrice());</a:t>
            </a:r>
            <a:endParaRPr lang="en-US" sz="1100" dirty="0"/>
          </a:p>
        </p:txBody>
      </p:sp>
      <p:sp>
        <p:nvSpPr>
          <p:cNvPr id="14" name="Shape 12"/>
          <p:cNvSpPr/>
          <p:nvPr/>
        </p:nvSpPr>
        <p:spPr>
          <a:xfrm>
            <a:off x="4663440" y="3386155"/>
            <a:ext cx="4160520" cy="1061720"/>
          </a:xfrm>
          <a:prstGeom prst="rect">
            <a:avLst/>
          </a:prstGeom>
          <a:solidFill>
            <a:srgbClr val="FFFFFF"/>
          </a:solidFill>
          <a:ln w="15875">
            <a:solidFill>
              <a:srgbClr val="1B3A6B"/>
            </a:solidFill>
            <a:prstDash val="solid"/>
          </a:ln>
        </p:spPr>
      </p:sp>
      <p:sp>
        <p:nvSpPr>
          <p:cNvPr id="15" name="Text 13"/>
          <p:cNvSpPr/>
          <p:nvPr/>
        </p:nvSpPr>
        <p:spPr>
          <a:xfrm>
            <a:off x="4663440" y="3386155"/>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642187"/>
            <a:ext cx="4014216" cy="732536"/>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정보 전문가(Information Expert) </a:t>
            </a:r>
            <a:pPr algn="l" indent="0" marL="0">
              <a:buNone/>
            </a:pPr>
            <a:r>
              <a:rPr lang="en-US" sz="1100" b="1" dirty="0">
                <a:solidFill>
                  <a:srgbClr val="1B3A6B"/>
                </a:solidFill>
                <a:latin typeface="Consolas" pitchFamily="34" charset="0"/>
                <a:ea typeface="Consolas" pitchFamily="34" charset="-122"/>
                <a:cs typeface="Consolas" pitchFamily="34" charset="-120"/>
              </a:rPr>
              <a:t>Money total = sale.getTotal();</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Sale.getTotal(): 각 라인에 subtotal을 묻는다</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SalesLineItem.getSubtotal(): qty×price</a:t>
            </a:r>
            <a:endParaRPr lang="en-US" sz="900" dirty="0"/>
          </a:p>
        </p:txBody>
      </p:sp>
      <p:sp>
        <p:nvSpPr>
          <p:cNvPr id="17" name="Text 15"/>
          <p:cNvSpPr/>
          <p:nvPr/>
        </p:nvSpPr>
        <p:spPr>
          <a:xfrm>
            <a:off x="320040" y="4539315"/>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계산 책임이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정보를 가졌다고 늘 책임을 주면 안 된다 — 데이터베이스 저장 책임을 Sale에 주면 Sale이 SQL과 트랜잭션을 알게 되어 응집이 무너지고 도메인이 인프라에 결합된다. 이 한계가 다음 순수 창작물(Pure Fabrication)을 부른다.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06. 창조자(Creator)</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7</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조립·집약·초기화에 필요한 정보를 가장 많이 가진 자가 생성한다.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SalesLineItem을 누가 생성해야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B(SalesLineItem)를 생성할 책임은 B를 담거나 집약하거나 긴밀히 쓰거나 초기화 정보를 가진 A에게 간다. Sale이 SalesLineItem을 집약하고 생성에 필요한 정보를 이미 알고 있으므로, 생성 책임은 Sale이 진다. 바깥이 대신 조립하면 Sale 내부의 구성 규칙이 밖으로 새어 나간다.</a:t>
            </a:r>
            <a:endParaRPr lang="en-US" sz="1400" dirty="0"/>
          </a:p>
        </p:txBody>
      </p:sp>
      <p:sp>
        <p:nvSpPr>
          <p:cNvPr id="11" name="Shape 9"/>
          <p:cNvSpPr/>
          <p:nvPr/>
        </p:nvSpPr>
        <p:spPr>
          <a:xfrm>
            <a:off x="320040" y="3258139"/>
            <a:ext cx="4160520" cy="1061720"/>
          </a:xfrm>
          <a:prstGeom prst="rect">
            <a:avLst/>
          </a:prstGeom>
          <a:solidFill>
            <a:srgbClr val="FFFFFF"/>
          </a:solidFill>
          <a:ln w="15875">
            <a:solidFill>
              <a:srgbClr val="1B3A6B"/>
            </a:solidFill>
            <a:prstDash val="solid"/>
          </a:ln>
        </p:spPr>
      </p:sp>
      <p:sp>
        <p:nvSpPr>
          <p:cNvPr id="12" name="Text 10"/>
          <p:cNvSpPr/>
          <p:nvPr/>
        </p:nvSpPr>
        <p:spPr>
          <a:xfrm>
            <a:off x="320040" y="325813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514171"/>
            <a:ext cx="4014216" cy="732536"/>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ProductDescription d = catalog.find(id);</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바깥에서 조립한다 </a:t>
            </a:r>
            <a:pPr algn="l" indent="0" marL="0">
              <a:buNone/>
            </a:pPr>
            <a:r>
              <a:rPr lang="en-US" sz="1100" b="1" dirty="0">
                <a:solidFill>
                  <a:srgbClr val="1B3A6B"/>
                </a:solidFill>
                <a:latin typeface="Consolas" pitchFamily="34" charset="0"/>
                <a:ea typeface="Consolas" pitchFamily="34" charset="-122"/>
                <a:cs typeface="Consolas" pitchFamily="34" charset="-120"/>
              </a:rPr>
              <a:t>SalesLineItem li =</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new SalesLineItem(d, qty);</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sale.getLineItems().add(li);</a:t>
            </a:r>
            <a:endParaRPr lang="en-US" sz="1100" dirty="0"/>
          </a:p>
        </p:txBody>
      </p:sp>
      <p:sp>
        <p:nvSpPr>
          <p:cNvPr id="14" name="Shape 12"/>
          <p:cNvSpPr/>
          <p:nvPr/>
        </p:nvSpPr>
        <p:spPr>
          <a:xfrm>
            <a:off x="4663440" y="3258139"/>
            <a:ext cx="4160520" cy="1061720"/>
          </a:xfrm>
          <a:prstGeom prst="rect">
            <a:avLst/>
          </a:prstGeom>
          <a:solidFill>
            <a:srgbClr val="FFFFFF"/>
          </a:solidFill>
          <a:ln w="15875">
            <a:solidFill>
              <a:srgbClr val="1B3A6B"/>
            </a:solidFill>
            <a:prstDash val="solid"/>
          </a:ln>
        </p:spPr>
      </p:sp>
      <p:sp>
        <p:nvSpPr>
          <p:cNvPr id="15" name="Text 13"/>
          <p:cNvSpPr/>
          <p:nvPr/>
        </p:nvSpPr>
        <p:spPr>
          <a:xfrm>
            <a:off x="4663440" y="325813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514171"/>
            <a:ext cx="4014216" cy="732536"/>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창조자(Creator) </a:t>
            </a:r>
            <a:pPr algn="l" indent="0" marL="0">
              <a:buNone/>
            </a:pPr>
            <a:r>
              <a:rPr lang="en-US" sz="1100" b="1" dirty="0">
                <a:solidFill>
                  <a:srgbClr val="1B3A6B"/>
                </a:solidFill>
                <a:latin typeface="Consolas" pitchFamily="34" charset="0"/>
                <a:ea typeface="Consolas" pitchFamily="34" charset="-122"/>
                <a:cs typeface="Consolas" pitchFamily="34" charset="-120"/>
              </a:rPr>
              <a:t>sale.makeLineItem(id, qty);</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Sale.makeLineItem():</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집약 정보로 생성 책임을 가짐</a:t>
            </a:r>
            <a:endParaRPr lang="en-US" sz="900" dirty="0"/>
          </a:p>
        </p:txBody>
      </p:sp>
      <p:sp>
        <p:nvSpPr>
          <p:cNvPr id="17" name="Text 15"/>
          <p:cNvSpPr/>
          <p:nvPr/>
        </p:nvSpPr>
        <p:spPr>
          <a:xfrm>
            <a:off x="320040" y="4411299"/>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생성 책임이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생성 로직이 복잡하거나(조건에 따라 타입을 골라야 하거나) 필요한 재료가 여러 곳에 흩어져 있으면 창조자(Creator) 배치가 억지가 된다 — 그럴 때는 복잡한 생성을 전담하는 팩토리(Factory) 패턴으로 넘어간다. GRASP가 디자인 패턴을 부르는 첫 지점이다.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07. 제어자(Controller)</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8</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시스템 이벤트를 받는 첫 객체는 UI가 아니라 도메인 경계의 제어자다.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515527"/>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enterItem 같은 시스템 연산은 누가 받아야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UI가 시스템 이벤트를 직접 받아 도메인 객체를 헤집으면, 업무 로직이 UI 코드 안으로 새어 들어간다. Register(또는 유스케이스 처리기)가 이벤트를 받아 도메인에 위임하는 제어자(Controller) 역할을 맡으면, UI와 도메인이 분리된다 — 전체 시스템을 대표하는 객체이거나 유스케이스 하나를 처리하는 객체다.</a:t>
            </a:r>
            <a:endParaRPr lang="en-US" sz="1400" dirty="0"/>
          </a:p>
        </p:txBody>
      </p:sp>
      <p:sp>
        <p:nvSpPr>
          <p:cNvPr id="11" name="Shape 9"/>
          <p:cNvSpPr/>
          <p:nvPr/>
        </p:nvSpPr>
        <p:spPr>
          <a:xfrm>
            <a:off x="320040" y="3221309"/>
            <a:ext cx="4160520" cy="1391412"/>
          </a:xfrm>
          <a:prstGeom prst="rect">
            <a:avLst/>
          </a:prstGeom>
          <a:solidFill>
            <a:srgbClr val="FFFFFF"/>
          </a:solidFill>
          <a:ln w="15875">
            <a:solidFill>
              <a:srgbClr val="1B3A6B"/>
            </a:solidFill>
            <a:prstDash val="solid"/>
          </a:ln>
        </p:spPr>
      </p:sp>
      <p:sp>
        <p:nvSpPr>
          <p:cNvPr id="12" name="Text 10"/>
          <p:cNvSpPr/>
          <p:nvPr/>
        </p:nvSpPr>
        <p:spPr>
          <a:xfrm>
            <a:off x="320040" y="322130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477341"/>
            <a:ext cx="4014216" cy="1062228"/>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 UI 이벤트 핸들러</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ProductDescription d = catalog.find(id);</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UI가 업무 로직을 대신 갖는다 </a:t>
            </a:r>
            <a:pPr algn="l" indent="0" marL="0">
              <a:buNone/>
            </a:pPr>
            <a:r>
              <a:rPr lang="en-US" sz="1100" b="1" dirty="0">
                <a:solidFill>
                  <a:srgbClr val="1B3A6B"/>
                </a:solidFill>
                <a:latin typeface="Consolas" pitchFamily="34" charset="0"/>
                <a:ea typeface="Consolas" pitchFamily="34" charset="-122"/>
                <a:cs typeface="Consolas" pitchFamily="34" charset="-120"/>
              </a:rPr>
              <a:t>sale.makeLineItem(d, qty);   // UI가 직접 조작</a:t>
            </a:r>
            <a:endParaRPr lang="en-US" sz="1100" dirty="0"/>
          </a:p>
        </p:txBody>
      </p:sp>
      <p:sp>
        <p:nvSpPr>
          <p:cNvPr id="14" name="Shape 12"/>
          <p:cNvSpPr/>
          <p:nvPr/>
        </p:nvSpPr>
        <p:spPr>
          <a:xfrm>
            <a:off x="4663440" y="3221309"/>
            <a:ext cx="4160520" cy="1391412"/>
          </a:xfrm>
          <a:prstGeom prst="rect">
            <a:avLst/>
          </a:prstGeom>
          <a:solidFill>
            <a:srgbClr val="FFFFFF"/>
          </a:solidFill>
          <a:ln w="15875">
            <a:solidFill>
              <a:srgbClr val="1B3A6B"/>
            </a:solidFill>
            <a:prstDash val="solid"/>
          </a:ln>
        </p:spPr>
      </p:sp>
      <p:sp>
        <p:nvSpPr>
          <p:cNvPr id="15" name="Text 13"/>
          <p:cNvSpPr/>
          <p:nvPr/>
        </p:nvSpPr>
        <p:spPr>
          <a:xfrm>
            <a:off x="4663440" y="322130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477341"/>
            <a:ext cx="4014216" cy="1062228"/>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제어자(Controller) </a:t>
            </a:r>
            <a:pPr algn="l" indent="0" marL="0">
              <a:buNone/>
            </a:pPr>
            <a:r>
              <a:rPr lang="en-US" sz="1100" b="1" dirty="0">
                <a:solidFill>
                  <a:srgbClr val="1B3A6B"/>
                </a:solidFill>
                <a:latin typeface="Consolas" pitchFamily="34" charset="0"/>
                <a:ea typeface="Consolas" pitchFamily="34" charset="-122"/>
                <a:cs typeface="Consolas" pitchFamily="34" charset="-120"/>
              </a:rPr>
              <a:t>class Register {              // Controller</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void enterItem(ItemID id, int qty)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var d = catalog.find(id);</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currentSale.makeLineItem(d, qty);</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900" dirty="0"/>
          </a:p>
        </p:txBody>
      </p:sp>
      <p:sp>
        <p:nvSpPr>
          <p:cNvPr id="17" name="Text 15"/>
          <p:cNvSpPr/>
          <p:nvPr/>
        </p:nvSpPr>
        <p:spPr>
          <a:xfrm>
            <a:off x="320040" y="4704161"/>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이벤트 처리 책임이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한 제어자가 모든 연산을 받으면 비대해진다 — 책임이 뒤섞여 응집도가 낮아진다. 그럴 때는 유스케이스별로 제어자를 나눈다. 이 나뉜 자리가 아키텍처 과정의 유스케이스 처리기(Use Case Interactor)로 다시 자리 잡는다.</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08. 낮은 결합도(Low Coupling)</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9</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요소 사이의 의존을 낮게 유지해, 한 곳의 변화가 번지지 않게 한다.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결제 구현이 바뀌면 Sale도 함께 흔들려야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Sale이 결제를 직접 특정 구현에 의존하면, 결제 방식이 바뀔 때마다 Sale도 함께 흔들린다. Sale이 결제의 역할(인터페이스)만 알고 구체적인 구현은 모르게 하면, 결제 구현을 통째로 교체해도 Sale은 영향을 받지 않는다.</a:t>
            </a:r>
            <a:endParaRPr lang="en-US" sz="1400" dirty="0"/>
          </a:p>
        </p:txBody>
      </p:sp>
      <p:sp>
        <p:nvSpPr>
          <p:cNvPr id="11" name="Shape 9"/>
          <p:cNvSpPr/>
          <p:nvPr/>
        </p:nvSpPr>
        <p:spPr>
          <a:xfrm>
            <a:off x="320040" y="3258139"/>
            <a:ext cx="4160520" cy="1061720"/>
          </a:xfrm>
          <a:prstGeom prst="rect">
            <a:avLst/>
          </a:prstGeom>
          <a:solidFill>
            <a:srgbClr val="FFFFFF"/>
          </a:solidFill>
          <a:ln w="15875">
            <a:solidFill>
              <a:srgbClr val="1B3A6B"/>
            </a:solidFill>
            <a:prstDash val="solid"/>
          </a:ln>
        </p:spPr>
      </p:sp>
      <p:sp>
        <p:nvSpPr>
          <p:cNvPr id="12" name="Text 10"/>
          <p:cNvSpPr/>
          <p:nvPr/>
        </p:nvSpPr>
        <p:spPr>
          <a:xfrm>
            <a:off x="320040" y="325813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514171"/>
            <a:ext cx="4014216" cy="732536"/>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class Sale {</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구체적인 구현에 의존한다 </a:t>
            </a:r>
            <a:pPr algn="l" indent="0" marL="0">
              <a:buNone/>
            </a:pPr>
            <a:r>
              <a:rPr lang="en-US" sz="1100" b="1" dirty="0">
                <a:solidFill>
                  <a:srgbClr val="1B3A6B"/>
                </a:solidFill>
                <a:latin typeface="Consolas" pitchFamily="34" charset="0"/>
                <a:ea typeface="Consolas" pitchFamily="34" charset="-122"/>
                <a:cs typeface="Consolas" pitchFamily="34" charset="-120"/>
              </a:rPr>
              <a:t>  CreditCardGateway gateway;   // 구체 구현 의존</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void pay() { gateway.charge(total); }</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1100" dirty="0"/>
          </a:p>
        </p:txBody>
      </p:sp>
      <p:sp>
        <p:nvSpPr>
          <p:cNvPr id="14" name="Shape 12"/>
          <p:cNvSpPr/>
          <p:nvPr/>
        </p:nvSpPr>
        <p:spPr>
          <a:xfrm>
            <a:off x="4663440" y="3258139"/>
            <a:ext cx="4160520" cy="1061720"/>
          </a:xfrm>
          <a:prstGeom prst="rect">
            <a:avLst/>
          </a:prstGeom>
          <a:solidFill>
            <a:srgbClr val="FFFFFF"/>
          </a:solidFill>
          <a:ln w="15875">
            <a:solidFill>
              <a:srgbClr val="1B3A6B"/>
            </a:solidFill>
            <a:prstDash val="solid"/>
          </a:ln>
        </p:spPr>
      </p:sp>
      <p:sp>
        <p:nvSpPr>
          <p:cNvPr id="15" name="Text 13"/>
          <p:cNvSpPr/>
          <p:nvPr/>
        </p:nvSpPr>
        <p:spPr>
          <a:xfrm>
            <a:off x="4663440" y="3258139"/>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514171"/>
            <a:ext cx="4014216" cy="732536"/>
          </a:xfrm>
          <a:prstGeom prst="rect">
            <a:avLst/>
          </a:prstGeom>
          <a:noFill/>
          <a:ln/>
        </p:spPr>
        <p:txBody>
          <a:bodyPr wrap="square" lIns="0" tIns="0" rIns="0" bIns="0" rtlCol="0" anchor="t"/>
          <a:lstStyle/>
          <a:p>
            <a:pPr algn="l" indent="0" marL="0">
              <a:buNone/>
            </a:pPr>
            <a:r>
              <a:rPr lang="en-US" sz="1100" dirty="0">
                <a:solidFill>
                  <a:srgbClr val="2D3748"/>
                </a:solidFill>
                <a:latin typeface="Consolas" pitchFamily="34" charset="0"/>
                <a:ea typeface="Consolas" pitchFamily="34" charset="-122"/>
                <a:cs typeface="Consolas" pitchFamily="34" charset="-120"/>
              </a:rPr>
              <a:t>class Sale {</a:t>
            </a:r>
            <a:endParaRPr lang="en-US" sz="1100" dirty="0"/>
          </a:p>
          <a:p>
            <a:pPr algn="l" indent="0" marL="0">
              <a:buNone/>
            </a:pPr>
            <a:r>
              <a:rPr lang="en-US" sz="900" b="1" dirty="0">
                <a:solidFill>
                  <a:srgbClr val="007965"/>
                </a:solidFill>
                <a:latin typeface="맑은 고딕" pitchFamily="34" charset="0"/>
                <a:ea typeface="맑은 고딕" pitchFamily="34" charset="-122"/>
                <a:cs typeface="맑은 고딕" pitchFamily="34" charset="-120"/>
              </a:rPr>
              <a:t>낮은 결합도(Low Coupling) </a:t>
            </a:r>
            <a:pPr algn="l" indent="0" marL="0">
              <a:buNone/>
            </a:pPr>
            <a:r>
              <a:rPr lang="en-US" sz="1100" b="1" dirty="0">
                <a:solidFill>
                  <a:srgbClr val="1B3A6B"/>
                </a:solidFill>
                <a:latin typeface="Consolas" pitchFamily="34" charset="0"/>
                <a:ea typeface="Consolas" pitchFamily="34" charset="-122"/>
                <a:cs typeface="Consolas" pitchFamily="34" charset="-120"/>
              </a:rPr>
              <a:t>  Payment payment;              // 역할만 의존</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  void pay() { payment.authorize(total); }</a:t>
            </a:r>
            <a:endParaRPr lang="en-US" sz="11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1100" dirty="0"/>
          </a:p>
        </p:txBody>
      </p:sp>
      <p:sp>
        <p:nvSpPr>
          <p:cNvPr id="17" name="Text 15"/>
          <p:cNvSpPr/>
          <p:nvPr/>
        </p:nvSpPr>
        <p:spPr>
          <a:xfrm>
            <a:off x="320040" y="4411299"/>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결제 의존이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결합을 0으로 만들려고 하면 오히려 인공적인 중개 장치가 늘어나 이해하기 더 어려워진다 — 낮은 결합도는 정도의 문제이지 절대치가 아니다.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09. 높은 응집도(High Cohesion)</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10</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한 요소는 밀접히 관련된 책임만 맡아, 한 가지를 잘하게 한다.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한 클래스가 주문·결제·배송을 다 맡아도 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낮은 결합도(Low Coupling)와 짝을 이루는 원칙이다. 책임을 응집 단위로 쪼개면 Sale은 주문만, Payment는 결제만, Shipment는 배송만 맡게 된다. 두 원칙은 보통 함께 좋아지고 함께 판단된다 — 결합이 낮아지면 응집도 함께 높아지는 경우가 많다.</a:t>
            </a:r>
            <a:endParaRPr lang="en-US" sz="1400" dirty="0"/>
          </a:p>
        </p:txBody>
      </p:sp>
      <p:sp>
        <p:nvSpPr>
          <p:cNvPr id="11" name="Shape 9"/>
          <p:cNvSpPr/>
          <p:nvPr/>
        </p:nvSpPr>
        <p:spPr>
          <a:xfrm>
            <a:off x="320040" y="3175716"/>
            <a:ext cx="4160520" cy="1226566"/>
          </a:xfrm>
          <a:prstGeom prst="rect">
            <a:avLst/>
          </a:prstGeom>
          <a:solidFill>
            <a:srgbClr val="FFFFFF"/>
          </a:solidFill>
          <a:ln w="15875">
            <a:solidFill>
              <a:srgbClr val="1B3A6B"/>
            </a:solidFill>
            <a:prstDash val="solid"/>
          </a:ln>
        </p:spPr>
      </p:sp>
      <p:sp>
        <p:nvSpPr>
          <p:cNvPr id="12" name="Text 10"/>
          <p:cNvSpPr/>
          <p:nvPr/>
        </p:nvSpPr>
        <p:spPr>
          <a:xfrm>
            <a:off x="320040" y="3175716"/>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431748"/>
            <a:ext cx="4014216" cy="897382"/>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여러 책임이 뒤섞여 있다 </a:t>
            </a:r>
            <a:pPr algn="l" indent="0" marL="0">
              <a:buNone/>
            </a:pPr>
            <a:r>
              <a:rPr lang="en-US" sz="1100" b="1" dirty="0">
                <a:solidFill>
                  <a:srgbClr val="1B3A6B"/>
                </a:solidFill>
                <a:latin typeface="Consolas" pitchFamily="34" charset="0"/>
                <a:ea typeface="Consolas" pitchFamily="34" charset="-122"/>
                <a:cs typeface="Consolas" pitchFamily="34" charset="-120"/>
              </a:rPr>
              <a:t>class Sale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void placeOrder()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void processPayment()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void arrangeShipment()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900" dirty="0"/>
          </a:p>
        </p:txBody>
      </p:sp>
      <p:sp>
        <p:nvSpPr>
          <p:cNvPr id="14" name="Shape 12"/>
          <p:cNvSpPr/>
          <p:nvPr/>
        </p:nvSpPr>
        <p:spPr>
          <a:xfrm>
            <a:off x="4663440" y="3175716"/>
            <a:ext cx="4160520" cy="1226566"/>
          </a:xfrm>
          <a:prstGeom prst="rect">
            <a:avLst/>
          </a:prstGeom>
          <a:solidFill>
            <a:srgbClr val="FFFFFF"/>
          </a:solidFill>
          <a:ln w="15875">
            <a:solidFill>
              <a:srgbClr val="1B3A6B"/>
            </a:solidFill>
            <a:prstDash val="solid"/>
          </a:ln>
        </p:spPr>
      </p:sp>
      <p:sp>
        <p:nvSpPr>
          <p:cNvPr id="15" name="Text 13"/>
          <p:cNvSpPr/>
          <p:nvPr/>
        </p:nvSpPr>
        <p:spPr>
          <a:xfrm>
            <a:off x="4663440" y="3175716"/>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431748"/>
            <a:ext cx="4014216" cy="897382"/>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높은 응집도(High Cohesion) </a:t>
            </a:r>
            <a:pPr algn="l" indent="0" marL="0">
              <a:buNone/>
            </a:pPr>
            <a:r>
              <a:rPr lang="en-US" sz="1100" b="1" dirty="0">
                <a:solidFill>
                  <a:srgbClr val="1B3A6B"/>
                </a:solidFill>
                <a:latin typeface="Consolas" pitchFamily="34" charset="0"/>
                <a:ea typeface="Consolas" pitchFamily="34" charset="-122"/>
                <a:cs typeface="Consolas" pitchFamily="34" charset="-120"/>
              </a:rPr>
              <a:t>class Sale { void placeOrder() {..}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class Payment { void charge() {..}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class Shipment { void ship() {..} }</a:t>
            </a:r>
            <a:endParaRPr lang="en-US" sz="900" dirty="0"/>
          </a:p>
        </p:txBody>
      </p:sp>
      <p:sp>
        <p:nvSpPr>
          <p:cNvPr id="17" name="Text 15"/>
          <p:cNvSpPr/>
          <p:nvPr/>
        </p:nvSpPr>
        <p:spPr>
          <a:xfrm>
            <a:off x="320040" y="4493722"/>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역할이 왜 나뉘어야 하는가</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지나치게 잘게 쪼개면 객체 수와 그들 사이의 간접 호출이 늘어 협력 비용이 커진다 — 응집도 역시 정도의 판단이다.</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10. 다형성(Polymorphism)</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11</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타입에 따라 동작이 달라질 때, 조건 분기 대신 다형성을 쓴다.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515527"/>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결제 수단마다 처리 방식이 다르면 무엇이 문제인가?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정보 소재 추론: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결제 수단(현금·카드·수표)마다 처리가 다르면, if-else 분기문이 코드 곳곳에 번진다. Payment를 다형 타입으로 만들어 CashPayment·CreditPayment가 각자 자신의 authorize() 메서드를 구현하게 하면, 새 결제 수단이 추가돼도 기존 분기문을 고치지 않고 새 타입만 추가하면 된다.</a:t>
            </a:r>
            <a:endParaRPr lang="en-US" sz="1400" dirty="0"/>
          </a:p>
        </p:txBody>
      </p:sp>
      <p:sp>
        <p:nvSpPr>
          <p:cNvPr id="11" name="Shape 9"/>
          <p:cNvSpPr/>
          <p:nvPr/>
        </p:nvSpPr>
        <p:spPr>
          <a:xfrm>
            <a:off x="320040" y="3303732"/>
            <a:ext cx="4160520" cy="1226566"/>
          </a:xfrm>
          <a:prstGeom prst="rect">
            <a:avLst/>
          </a:prstGeom>
          <a:solidFill>
            <a:srgbClr val="FFFFFF"/>
          </a:solidFill>
          <a:ln w="15875">
            <a:solidFill>
              <a:srgbClr val="1B3A6B"/>
            </a:solidFill>
            <a:prstDash val="solid"/>
          </a:ln>
        </p:spPr>
      </p:sp>
      <p:sp>
        <p:nvSpPr>
          <p:cNvPr id="12" name="Text 10"/>
          <p:cNvSpPr/>
          <p:nvPr/>
        </p:nvSpPr>
        <p:spPr>
          <a:xfrm>
            <a:off x="320040" y="3303732"/>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절차</a:t>
            </a:r>
            <a:endParaRPr lang="en-US" sz="1200" dirty="0"/>
          </a:p>
        </p:txBody>
      </p:sp>
      <p:sp>
        <p:nvSpPr>
          <p:cNvPr id="13" name="Text 11"/>
          <p:cNvSpPr/>
          <p:nvPr/>
        </p:nvSpPr>
        <p:spPr>
          <a:xfrm>
            <a:off x="393192" y="3559764"/>
            <a:ext cx="4014216" cy="897382"/>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조건 분기가 곳곳에 번진다 </a:t>
            </a:r>
            <a:pPr algn="l" indent="0" marL="0">
              <a:buNone/>
            </a:pPr>
            <a:r>
              <a:rPr lang="en-US" sz="1100" b="1" dirty="0">
                <a:solidFill>
                  <a:srgbClr val="1B3A6B"/>
                </a:solidFill>
                <a:latin typeface="Consolas" pitchFamily="34" charset="0"/>
                <a:ea typeface="Consolas" pitchFamily="34" charset="-122"/>
                <a:cs typeface="Consolas" pitchFamily="34" charset="-120"/>
              </a:rPr>
              <a:t>if (type == CASH) { ...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else if (type == CREDIT) { ...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새 결제 수단마다 분기 추가</a:t>
            </a:r>
            <a:endParaRPr lang="en-US" sz="900" dirty="0"/>
          </a:p>
        </p:txBody>
      </p:sp>
      <p:sp>
        <p:nvSpPr>
          <p:cNvPr id="14" name="Shape 12"/>
          <p:cNvSpPr/>
          <p:nvPr/>
        </p:nvSpPr>
        <p:spPr>
          <a:xfrm>
            <a:off x="4663440" y="3303732"/>
            <a:ext cx="4160520" cy="1226566"/>
          </a:xfrm>
          <a:prstGeom prst="rect">
            <a:avLst/>
          </a:prstGeom>
          <a:solidFill>
            <a:srgbClr val="FFFFFF"/>
          </a:solidFill>
          <a:ln w="15875">
            <a:solidFill>
              <a:srgbClr val="1B3A6B"/>
            </a:solidFill>
            <a:prstDash val="solid"/>
          </a:ln>
        </p:spPr>
      </p:sp>
      <p:sp>
        <p:nvSpPr>
          <p:cNvPr id="15" name="Text 13"/>
          <p:cNvSpPr/>
          <p:nvPr/>
        </p:nvSpPr>
        <p:spPr>
          <a:xfrm>
            <a:off x="4663440" y="3303732"/>
            <a:ext cx="4160520" cy="256032"/>
          </a:xfrm>
          <a:prstGeom prst="rect">
            <a:avLst/>
          </a:prstGeom>
          <a:solidFill>
            <a:srgbClr val="1B3A6B"/>
          </a:solidFill>
          <a:ln/>
        </p:spPr>
        <p:txBody>
          <a:bodyPr wrap="square" lIns="72009" tIns="72009" rIns="72009" bIns="72009"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적용</a:t>
            </a:r>
            <a:endParaRPr lang="en-US" sz="1200" dirty="0"/>
          </a:p>
        </p:txBody>
      </p:sp>
      <p:sp>
        <p:nvSpPr>
          <p:cNvPr id="16" name="Text 14"/>
          <p:cNvSpPr/>
          <p:nvPr/>
        </p:nvSpPr>
        <p:spPr>
          <a:xfrm>
            <a:off x="4736592" y="3559764"/>
            <a:ext cx="4014216" cy="897382"/>
          </a:xfrm>
          <a:prstGeom prst="rect">
            <a:avLst/>
          </a:prstGeom>
          <a:noFill/>
          <a:ln/>
        </p:spPr>
        <p:txBody>
          <a:bodyPr wrap="square" lIns="0" tIns="0" rIns="0" bIns="0" rtlCol="0" anchor="t"/>
          <a:lstStyle/>
          <a:p>
            <a:pPr algn="l" indent="0" marL="0">
              <a:buNone/>
            </a:pPr>
            <a:r>
              <a:rPr lang="en-US" sz="900" b="1" dirty="0">
                <a:solidFill>
                  <a:srgbClr val="007965"/>
                </a:solidFill>
                <a:latin typeface="맑은 고딕" pitchFamily="34" charset="0"/>
                <a:ea typeface="맑은 고딕" pitchFamily="34" charset="-122"/>
                <a:cs typeface="맑은 고딕" pitchFamily="34" charset="-120"/>
              </a:rPr>
              <a:t>다형성(Polymorphism) </a:t>
            </a:r>
            <a:pPr algn="l" indent="0" marL="0">
              <a:buNone/>
            </a:pPr>
            <a:r>
              <a:rPr lang="en-US" sz="1100" b="1" dirty="0">
                <a:solidFill>
                  <a:srgbClr val="1B3A6B"/>
                </a:solidFill>
                <a:latin typeface="Consolas" pitchFamily="34" charset="0"/>
                <a:ea typeface="Consolas" pitchFamily="34" charset="-122"/>
                <a:cs typeface="Consolas" pitchFamily="34" charset="-120"/>
              </a:rPr>
              <a:t>interface Payment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  AuthResult authorize(Money amt);</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class CashPayment implements Payment {...}</a:t>
            </a:r>
            <a:endParaRPr lang="en-US" sz="900" dirty="0"/>
          </a:p>
          <a:p>
            <a:pPr algn="l" indent="0" marL="0">
              <a:buNone/>
            </a:pPr>
            <a:r>
              <a:rPr lang="en-US" sz="1100" dirty="0">
                <a:solidFill>
                  <a:srgbClr val="2D3748"/>
                </a:solidFill>
                <a:latin typeface="Consolas" pitchFamily="34" charset="0"/>
                <a:ea typeface="Consolas" pitchFamily="34" charset="-122"/>
                <a:cs typeface="Consolas" pitchFamily="34" charset="-120"/>
              </a:rPr>
              <a:t>class CreditPayment implements Payment {...}</a:t>
            </a:r>
            <a:endParaRPr lang="en-US" sz="900" dirty="0"/>
          </a:p>
        </p:txBody>
      </p:sp>
      <p:sp>
        <p:nvSpPr>
          <p:cNvPr id="17" name="Text 15"/>
          <p:cNvSpPr/>
          <p:nvPr/>
        </p:nvSpPr>
        <p:spPr>
          <a:xfrm>
            <a:off x="320040" y="4621738"/>
            <a:ext cx="8503920" cy="237744"/>
          </a:xfrm>
          <a:prstGeom prst="rect">
            <a:avLst/>
          </a:prstGeom>
          <a:noFill/>
          <a:ln/>
        </p:spPr>
        <p:txBody>
          <a:bodyPr wrap="square" lIns="0" tIns="0" rIns="0" bIns="0" rtlCol="0" anchor="t"/>
          <a:lstStyle/>
          <a:p>
            <a:pPr algn="ctr" indent="0" marL="0">
              <a:buNone/>
            </a:pPr>
            <a:r>
              <a:rPr lang="en-US" sz="1200" i="1" dirty="0">
                <a:solidFill>
                  <a:srgbClr val="6B7280"/>
                </a:solidFill>
                <a:latin typeface="맑은 고딕" pitchFamily="34" charset="0"/>
                <a:ea typeface="맑은 고딕" pitchFamily="34" charset="-122"/>
                <a:cs typeface="맑은 고딕" pitchFamily="34" charset="-120"/>
              </a:rPr>
              <a:t>물음: 수단별 분기가 어디에서 어디로 갔나</a:t>
            </a:r>
            <a:endParaRPr lang="en-US" sz="1200" dirty="0"/>
          </a:p>
        </p:txBody>
      </p:sp>
      <p:sp>
        <p:nvSpPr>
          <p:cNvPr id="18" name="Shape 16"/>
          <p:cNvSpPr/>
          <p:nvPr/>
        </p:nvSpPr>
        <p:spPr>
          <a:xfrm>
            <a:off x="320040" y="5212080"/>
            <a:ext cx="8503920" cy="0"/>
          </a:xfrm>
          <a:prstGeom prst="line">
            <a:avLst/>
          </a:prstGeom>
          <a:noFill/>
          <a:ln w="6350">
            <a:solidFill>
              <a:srgbClr val="CBD5E1"/>
            </a:solidFill>
            <a:prstDash val="solid"/>
          </a:ln>
        </p:spPr>
      </p:sp>
      <p:sp>
        <p:nvSpPr>
          <p:cNvPr id="19" name="Text 17"/>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991B1B"/>
                </a:solidFill>
                <a:latin typeface="맑은 고딕" pitchFamily="34" charset="0"/>
                <a:ea typeface="맑은 고딕" pitchFamily="34" charset="-122"/>
                <a:cs typeface="맑은 고딕" pitchFamily="34" charset="-120"/>
              </a:rPr>
              <a:t>한계: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변형이 하나뿐이거나 앞으로도 늘지 않는다면 다형성은 오히려 불필요한 계층을 만드는 과잉이 된다.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11. 원칙을 의도적으로 거스르는 세 원칙</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12</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6B7280"/>
                </a:solidFill>
                <a:latin typeface="맑은 고딕" pitchFamily="34" charset="0"/>
                <a:ea typeface="맑은 고딕" pitchFamily="34" charset="-122"/>
                <a:cs typeface="맑은 고딕" pitchFamily="34" charset="-120"/>
              </a:rPr>
              <a:t>[적용] </a:t>
            </a:r>
            <a:pPr algn="ctr" indent="0" marL="0">
              <a:buNone/>
            </a:pPr>
            <a:r>
              <a:rPr lang="en-US" sz="1400" b="1" dirty="0">
                <a:solidFill>
                  <a:srgbClr val="2D3748"/>
                </a:solidFill>
                <a:latin typeface="맑은 고딕" pitchFamily="34" charset="0"/>
                <a:ea typeface="맑은 고딕" pitchFamily="34" charset="-122"/>
                <a:cs typeface="맑은 고딕" pitchFamily="34" charset="-120"/>
              </a:rPr>
              <a:t>정보를 충실히 따르는 배치가 결합·응집을 해칠 때, 일부러 인공물을 만든다.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1259495"/>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앞의 여섯 원칙이 응집이나 결합을 해치면 어떻게 하는가?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전환: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지금까지 여섯 원칙은 정보가 있는 곳에 책임을 준다는 흐름을 따랐다. 이 세 원칙은 그 흐름을 일부러 거스른다 — 도메인에 없는 인공물이나 간접층을 의도적으로 만들어서라도 응집·재사용·낮은 결합을 지키려는 판단이다. 의존관계 역전 원칙(DIP)과 같은 성격의 조작이다.</a:t>
            </a:r>
            <a:endParaRPr lang="en-US" sz="1400" dirty="0"/>
          </a:p>
        </p:txBody>
      </p:sp>
      <p:sp>
        <p:nvSpPr>
          <p:cNvPr id="11" name="Text 9"/>
          <p:cNvSpPr/>
          <p:nvPr/>
        </p:nvSpPr>
        <p:spPr>
          <a:xfrm>
            <a:off x="594360" y="2944368"/>
            <a:ext cx="7955280" cy="2018447"/>
          </a:xfrm>
          <a:prstGeom prst="rect">
            <a:avLst/>
          </a:prstGeom>
          <a:noFill/>
          <a:ln/>
        </p:spPr>
        <p:txBody>
          <a:bodyPr wrap="square" lIns="0" tIns="0" rIns="0" bIns="0" rtlCol="0" anchor="t"/>
          <a:lstStyle/>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순수 창작물(Pure Fabrication)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도메인 개념이 아닌 인공 클래스를 지어 책임을 맡긴다 — 저장을 Sale에 두면 응집이 깨지므로 도메인 밖의 Repository에 맡긴다.</a:t>
            </a:r>
            <a:endParaRPr lang="en-US" sz="1400" dirty="0"/>
          </a:p>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간접화(Indirection)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두 요소의 직접 결합을 피하려고 중개자를 둔다 — 제어자(Controller)가 UI와 도메인 사이에, 어댑터가 도메인과 외부 API 사이에 선다.</a:t>
            </a:r>
            <a:endParaRPr lang="en-US" sz="1400" dirty="0"/>
          </a:p>
          <a:p>
            <a:pPr algn="l" marL="177800" indent="-177800">
              <a:spcBef>
                <a:spcPts val="300"/>
              </a:spcBef>
              <a:spcAft>
                <a:spcPts val="300"/>
              </a:spcAft>
              <a:buSzPct val="100000"/>
              <a:buChar char="•"/>
            </a:pPr>
            <a:r>
              <a:rPr lang="en-US" sz="1400" b="1" dirty="0">
                <a:solidFill>
                  <a:srgbClr val="1B3A6B"/>
                </a:solidFill>
                <a:latin typeface="맑은 고딕" pitchFamily="34" charset="0"/>
                <a:ea typeface="맑은 고딕" pitchFamily="34" charset="-122"/>
                <a:cs typeface="맑은 고딕" pitchFamily="34" charset="-120"/>
              </a:rPr>
              <a:t>보호된 변화(Protected Variations) — </a:t>
            </a:r>
            <a:pPr algn="l"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변화가 예상되는 지점을 안정된 인터페이스로 감싸 밖으로 번지지 않게 한다 — 의존관계 역전 원칙과 뿌리가 같다.</a:t>
            </a:r>
            <a:endParaRPr lang="en-US" sz="1400" dirty="0"/>
          </a:p>
        </p:txBody>
      </p:sp>
      <p:sp>
        <p:nvSpPr>
          <p:cNvPr id="12" name="Shape 10"/>
          <p:cNvSpPr/>
          <p:nvPr/>
        </p:nvSpPr>
        <p:spPr>
          <a:xfrm>
            <a:off x="320040" y="5212080"/>
            <a:ext cx="8503920" cy="0"/>
          </a:xfrm>
          <a:prstGeom prst="line">
            <a:avLst/>
          </a:prstGeom>
          <a:noFill/>
          <a:ln w="6350">
            <a:solidFill>
              <a:srgbClr val="CBD5E1"/>
            </a:solidFill>
            <a:prstDash val="solid"/>
          </a:ln>
        </p:spPr>
      </p:sp>
      <p:sp>
        <p:nvSpPr>
          <p:cNvPr id="13" name="Text 11"/>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연결: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보호된 변화(Protected Variations)는 아키텍처 과정의 의존성 규칙이 구조 수준에서 실현하는 바로 그 원칙이다.</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8503920" cy="457200"/>
          </a:xfrm>
          <a:prstGeom prst="rect">
            <a:avLst/>
          </a:prstGeom>
          <a:noFill/>
          <a:ln/>
        </p:spPr>
        <p:txBody>
          <a:bodyPr wrap="square" lIns="0" tIns="0" rIns="0" bIns="0" rtlCol="0" anchor="ctr"/>
          <a:lstStyle/>
          <a:p>
            <a:pPr algn="l" indent="0" marL="0">
              <a:buNone/>
            </a:pPr>
            <a:r>
              <a:rPr lang="en-US" sz="2200" b="1" dirty="0">
                <a:solidFill>
                  <a:srgbClr val="1B3A6B"/>
                </a:solidFill>
                <a:latin typeface="맑은 고딕" pitchFamily="34" charset="0"/>
                <a:ea typeface="맑은 고딕" pitchFamily="34" charset="-122"/>
                <a:cs typeface="맑은 고딕" pitchFamily="34" charset="-120"/>
              </a:rPr>
              <a:t>12. 요약</a:t>
            </a:r>
            <a:endParaRPr lang="en-US" sz="2200" dirty="0"/>
          </a:p>
        </p:txBody>
      </p:sp>
      <p:sp>
        <p:nvSpPr>
          <p:cNvPr id="3" name="Shape 1"/>
          <p:cNvSpPr/>
          <p:nvPr/>
        </p:nvSpPr>
        <p:spPr>
          <a:xfrm>
            <a:off x="320040" y="731520"/>
            <a:ext cx="8503920" cy="0"/>
          </a:xfrm>
          <a:prstGeom prst="line">
            <a:avLst/>
          </a:prstGeom>
          <a:noFill/>
          <a:ln w="19050">
            <a:solidFill>
              <a:srgbClr val="1B3A6B"/>
            </a:solidFill>
            <a:prstDash val="solid"/>
          </a:ln>
        </p:spPr>
      </p:sp>
      <p:sp>
        <p:nvSpPr>
          <p:cNvPr id="4" name="Shape 2"/>
          <p:cNvSpPr/>
          <p:nvPr/>
        </p:nvSpPr>
        <p:spPr>
          <a:xfrm>
            <a:off x="320040" y="6492240"/>
            <a:ext cx="8503920" cy="0"/>
          </a:xfrm>
          <a:prstGeom prst="line">
            <a:avLst/>
          </a:prstGeom>
          <a:noFill/>
          <a:ln w="6350">
            <a:solidFill>
              <a:srgbClr val="CBD5E1"/>
            </a:solidFill>
            <a:prstDash val="solid"/>
          </a:ln>
        </p:spPr>
      </p:sp>
      <p:sp>
        <p:nvSpPr>
          <p:cNvPr id="5" name="Text 3"/>
          <p:cNvSpPr/>
          <p:nvPr/>
        </p:nvSpPr>
        <p:spPr>
          <a:xfrm>
            <a:off x="320040" y="6537960"/>
            <a:ext cx="3657600" cy="182880"/>
          </a:xfrm>
          <a:prstGeom prst="rect">
            <a:avLst/>
          </a:prstGeom>
          <a:noFill/>
          <a:ln/>
        </p:spPr>
        <p:txBody>
          <a:bodyPr wrap="square" lIns="0" tIns="0" rIns="0" bIns="0" rtlCol="0" anchor="ctr"/>
          <a:lstStyle/>
          <a:p>
            <a:pPr indent="0" marL="0">
              <a:buNone/>
            </a:pPr>
            <a:r>
              <a:rPr lang="en-US" sz="800" dirty="0">
                <a:solidFill>
                  <a:srgbClr val="6B7280"/>
                </a:solidFill>
                <a:latin typeface="맑은 고딕" pitchFamily="34" charset="0"/>
                <a:ea typeface="맑은 고딕" pitchFamily="34" charset="-122"/>
                <a:cs typeface="맑은 고딕" pitchFamily="34" charset="-120"/>
              </a:rPr>
              <a:t>9. 책임 주도 설계(GRASP) 강의</a:t>
            </a:r>
            <a:endParaRPr lang="en-US" sz="800" dirty="0"/>
          </a:p>
        </p:txBody>
      </p:sp>
      <p:sp>
        <p:nvSpPr>
          <p:cNvPr id="6" name="Text 4"/>
          <p:cNvSpPr/>
          <p:nvPr/>
        </p:nvSpPr>
        <p:spPr>
          <a:xfrm>
            <a:off x="4114800" y="6537960"/>
            <a:ext cx="914400" cy="182880"/>
          </a:xfrm>
          <a:prstGeom prst="rect">
            <a:avLst/>
          </a:prstGeom>
          <a:noFill/>
          <a:ln/>
        </p:spPr>
        <p:txBody>
          <a:bodyPr wrap="square" lIns="0" tIns="0" rIns="0" bIns="0" rtlCol="0" anchor="ctr"/>
          <a:lstStyle/>
          <a:p>
            <a:pPr algn="ctr" indent="0" marL="0">
              <a:buNone/>
            </a:pPr>
            <a:r>
              <a:rPr lang="en-US" sz="800" dirty="0">
                <a:solidFill>
                  <a:srgbClr val="6B7280"/>
                </a:solidFill>
                <a:latin typeface="맑은 고딕" pitchFamily="34" charset="0"/>
                <a:ea typeface="맑은 고딕" pitchFamily="34" charset="-122"/>
                <a:cs typeface="맑은 고딕" pitchFamily="34" charset="-120"/>
              </a:rPr>
              <a:t>13</a:t>
            </a:r>
            <a:endParaRPr lang="en-US" sz="800" dirty="0"/>
          </a:p>
        </p:txBody>
      </p:sp>
      <p:sp>
        <p:nvSpPr>
          <p:cNvPr id="7" name="Text 5"/>
          <p:cNvSpPr/>
          <p:nvPr/>
        </p:nvSpPr>
        <p:spPr>
          <a:xfrm>
            <a:off x="4572000" y="6537960"/>
            <a:ext cx="4251960" cy="182880"/>
          </a:xfrm>
          <a:prstGeom prst="rect">
            <a:avLst/>
          </a:prstGeom>
          <a:noFill/>
          <a:ln/>
        </p:spPr>
        <p:txBody>
          <a:bodyPr wrap="square" lIns="0" tIns="0" rIns="0" bIns="0" rtlCol="0" anchor="ctr"/>
          <a:lstStyle/>
          <a:p>
            <a:pPr algn="r" indent="0" marL="0">
              <a:buNone/>
            </a:pPr>
            <a:r>
              <a:rPr lang="en-US" sz="800" dirty="0">
                <a:solidFill>
                  <a:srgbClr val="6B7280"/>
                </a:solidFill>
                <a:latin typeface="맑은 고딕" pitchFamily="34" charset="0"/>
                <a:ea typeface="맑은 고딕" pitchFamily="34" charset="-122"/>
                <a:cs typeface="맑은 고딕" pitchFamily="34" charset="-120"/>
              </a:rPr>
              <a:t>Generated by Claude | Concepts, Requirements and feedback: Youngon Kim</a:t>
            </a:r>
            <a:endParaRPr lang="en-US" sz="800" dirty="0"/>
          </a:p>
        </p:txBody>
      </p:sp>
      <p:sp>
        <p:nvSpPr>
          <p:cNvPr id="8" name="Text 6"/>
          <p:cNvSpPr/>
          <p:nvPr/>
        </p:nvSpPr>
        <p:spPr>
          <a:xfrm>
            <a:off x="320040" y="868680"/>
            <a:ext cx="8503920" cy="274320"/>
          </a:xfrm>
          <a:prstGeom prst="rect">
            <a:avLst/>
          </a:prstGeom>
          <a:noFill/>
          <a:ln/>
        </p:spPr>
        <p:txBody>
          <a:bodyPr wrap="square" lIns="0" tIns="0" rIns="0" bIns="0" rtlCol="0" anchor="ctr"/>
          <a:lstStyle/>
          <a:p>
            <a:pPr algn="ctr" indent="0" marL="0">
              <a:buNone/>
            </a:pPr>
            <a:r>
              <a:rPr lang="en-US" sz="1400" b="1" dirty="0">
                <a:solidFill>
                  <a:srgbClr val="2D3748"/>
                </a:solidFill>
                <a:latin typeface="맑은 고딕" pitchFamily="34" charset="0"/>
                <a:ea typeface="맑은 고딕" pitchFamily="34" charset="-122"/>
                <a:cs typeface="맑은 고딕" pitchFamily="34" charset="-120"/>
              </a:rPr>
              <a:t>원칙은 하나의 관점에서 보는 판단이다 — 여러 원칙의 긴장이 패턴이 된다.</a:t>
            </a:r>
            <a:endParaRPr lang="en-US" sz="1400" dirty="0"/>
          </a:p>
        </p:txBody>
      </p:sp>
      <p:sp>
        <p:nvSpPr>
          <p:cNvPr id="9" name="Shape 7"/>
          <p:cNvSpPr/>
          <p:nvPr/>
        </p:nvSpPr>
        <p:spPr>
          <a:xfrm>
            <a:off x="320040" y="1234440"/>
            <a:ext cx="8503920" cy="0"/>
          </a:xfrm>
          <a:prstGeom prst="line">
            <a:avLst/>
          </a:prstGeom>
          <a:noFill/>
          <a:ln w="6350">
            <a:solidFill>
              <a:srgbClr val="CBD5E1"/>
            </a:solidFill>
            <a:prstDash val="solid"/>
          </a:ln>
        </p:spPr>
      </p:sp>
      <p:sp>
        <p:nvSpPr>
          <p:cNvPr id="10" name="Text 8"/>
          <p:cNvSpPr/>
          <p:nvPr/>
        </p:nvSpPr>
        <p:spPr>
          <a:xfrm>
            <a:off x="320040" y="1325880"/>
            <a:ext cx="8503920" cy="2027591"/>
          </a:xfrm>
          <a:prstGeom prst="rect">
            <a:avLst/>
          </a:prstGeom>
          <a:solidFill>
            <a:srgbClr val="EBF1F8"/>
          </a:solidFill>
          <a:ln w="9525">
            <a:solidFill>
              <a:srgbClr val="CBD5E1"/>
            </a:solidFill>
          </a:ln>
        </p:spPr>
        <p:txBody>
          <a:bodyPr wrap="square" lIns="72009" tIns="72009" rIns="72009" bIns="72009" rtlCol="0" anchor="ctr"/>
          <a:lstStyle/>
          <a:p>
            <a:pPr algn="l" indent="0" marL="0">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무엇을 가지고 다음 교시로 가는가?</a:t>
            </a:r>
            <a:endParaRPr lang="en-US" sz="1400" dirty="0"/>
          </a:p>
          <a:p>
            <a:pPr algn="l"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원칙에서 패턴으로: </a:t>
            </a:r>
            <a:pPr algn="l" indent="0" marL="0">
              <a:spcBef>
                <a:spcPts val="300"/>
              </a:spcBef>
              <a:buNone/>
            </a:pPr>
            <a:r>
              <a:rPr lang="en-US" sz="1400" dirty="0">
                <a:solidFill>
                  <a:srgbClr val="2D3748"/>
                </a:solidFill>
                <a:latin typeface="맑은 고딕" pitchFamily="34" charset="0"/>
                <a:ea typeface="맑은 고딕" pitchFamily="34" charset="-122"/>
                <a:cs typeface="맑은 고딕" pitchFamily="34" charset="-120"/>
              </a:rPr>
              <a:t>원칙은 한 가지 관점에서 내리는 판단이다. 현실 문제는 여러 관점이 얽혀 있어 원칙 하나만으로는 풀리지 않는다. 그 여러 원칙 사이의 긴장을 상황에 맞게 조합한 정형화된 해법이 디자인 패턴이다 — 팩토리(Factory)는 복잡해진 창조자(Creator), 전략(Strategy)은 다형성(Polymorphism)과 보호된 변화(Protected Variations)의 조합, 어댑터(Adapter)는 간접화(Indirection)의 한 형태다. 더 큰 조합이 아키텍처 패턴이 된다. 원칙을 알면 패턴을 스스로 유도할 수 있고, 모르면 외워야 한다.</a:t>
            </a:r>
            <a:endParaRPr lang="en-US" sz="1400" dirty="0"/>
          </a:p>
        </p:txBody>
      </p:sp>
      <p:sp>
        <p:nvSpPr>
          <p:cNvPr id="11" name="Shape 9"/>
          <p:cNvSpPr/>
          <p:nvPr/>
        </p:nvSpPr>
        <p:spPr>
          <a:xfrm>
            <a:off x="320040" y="3514679"/>
            <a:ext cx="8503920" cy="475488"/>
          </a:xfrm>
          <a:prstGeom prst="rect">
            <a:avLst/>
          </a:prstGeom>
          <a:solidFill>
            <a:srgbClr val="FFFFFF"/>
          </a:solidFill>
          <a:ln w="9525">
            <a:solidFill>
              <a:srgbClr val="CBD5E1"/>
            </a:solidFill>
            <a:prstDash val="solid"/>
          </a:ln>
        </p:spPr>
      </p:sp>
      <p:sp>
        <p:nvSpPr>
          <p:cNvPr id="12" name="Text 10"/>
          <p:cNvSpPr/>
          <p:nvPr/>
        </p:nvSpPr>
        <p:spPr>
          <a:xfrm>
            <a:off x="320040" y="3514679"/>
            <a:ext cx="2606040" cy="475488"/>
          </a:xfrm>
          <a:prstGeom prst="rect">
            <a:avLst/>
          </a:prstGeom>
          <a:solidFill>
            <a:srgbClr val="EBF1F8"/>
          </a:solidFill>
          <a:ln/>
        </p:spPr>
        <p:txBody>
          <a:bodyPr wrap="square" lIns="72009" tIns="72009" rIns="72009" bIns="72009" rtlCol="0" anchor="ctr"/>
          <a:lstStyle/>
          <a:p>
            <a:pPr algn="l" indent="0" marL="0">
              <a:buNone/>
            </a:pPr>
            <a:r>
              <a:rPr lang="en-US" sz="1200" b="1" dirty="0">
                <a:solidFill>
                  <a:srgbClr val="1B3A6B"/>
                </a:solidFill>
                <a:latin typeface="맑은 고딕" pitchFamily="34" charset="0"/>
                <a:ea typeface="맑은 고딕" pitchFamily="34" charset="-122"/>
                <a:cs typeface="맑은 고딕" pitchFamily="34" charset="-120"/>
              </a:rPr>
              <a:t>1. 책임 주도 설계(RDD)가 주</a:t>
            </a:r>
            <a:endParaRPr lang="en-US" sz="1200" dirty="0"/>
          </a:p>
        </p:txBody>
      </p:sp>
      <p:sp>
        <p:nvSpPr>
          <p:cNvPr id="13" name="Text 11"/>
          <p:cNvSpPr/>
          <p:nvPr/>
        </p:nvSpPr>
        <p:spPr>
          <a:xfrm>
            <a:off x="2926080" y="3514679"/>
            <a:ext cx="5897880" cy="475488"/>
          </a:xfrm>
          <a:prstGeom prst="rect">
            <a:avLst/>
          </a:prstGeom>
          <a:noFill/>
          <a:ln/>
        </p:spPr>
        <p:txBody>
          <a:bodyPr wrap="square" lIns="72009" tIns="72009" rIns="72009" bIns="72009" rtlCol="0" anchor="ctr"/>
          <a:lstStyle/>
          <a:p>
            <a:pPr algn="l" indent="0" marL="0">
              <a:spcBef>
                <a:spcPts val="300"/>
              </a:spcBef>
              <a:spcAft>
                <a:spcPts val="300"/>
              </a:spcAft>
              <a:buNone/>
            </a:pPr>
            <a:r>
              <a:rPr lang="en-US" sz="1200" dirty="0">
                <a:solidFill>
                  <a:srgbClr val="2D3748"/>
                </a:solidFill>
                <a:latin typeface="맑은 고딕" pitchFamily="34" charset="0"/>
                <a:ea typeface="맑은 고딕" pitchFamily="34" charset="-122"/>
                <a:cs typeface="맑은 고딕" pitchFamily="34" charset="-120"/>
              </a:rPr>
              <a:t>GRASP·SOLID는 그 판단을 돕는 도구일 뿐이다.</a:t>
            </a:r>
            <a:endParaRPr lang="en-US" sz="1200" dirty="0"/>
          </a:p>
        </p:txBody>
      </p:sp>
      <p:sp>
        <p:nvSpPr>
          <p:cNvPr id="14" name="Shape 12"/>
          <p:cNvSpPr/>
          <p:nvPr/>
        </p:nvSpPr>
        <p:spPr>
          <a:xfrm>
            <a:off x="320040" y="4099895"/>
            <a:ext cx="8503920" cy="475488"/>
          </a:xfrm>
          <a:prstGeom prst="rect">
            <a:avLst/>
          </a:prstGeom>
          <a:solidFill>
            <a:srgbClr val="FFFFFF"/>
          </a:solidFill>
          <a:ln w="9525">
            <a:solidFill>
              <a:srgbClr val="CBD5E1"/>
            </a:solidFill>
            <a:prstDash val="solid"/>
          </a:ln>
        </p:spPr>
      </p:sp>
      <p:sp>
        <p:nvSpPr>
          <p:cNvPr id="15" name="Text 13"/>
          <p:cNvSpPr/>
          <p:nvPr/>
        </p:nvSpPr>
        <p:spPr>
          <a:xfrm>
            <a:off x="320040" y="4099895"/>
            <a:ext cx="2606040" cy="475488"/>
          </a:xfrm>
          <a:prstGeom prst="rect">
            <a:avLst/>
          </a:prstGeom>
          <a:solidFill>
            <a:srgbClr val="EBF1F8"/>
          </a:solidFill>
          <a:ln/>
        </p:spPr>
        <p:txBody>
          <a:bodyPr wrap="square" lIns="72009" tIns="72009" rIns="72009" bIns="72009" rtlCol="0" anchor="ctr"/>
          <a:lstStyle/>
          <a:p>
            <a:pPr algn="l" indent="0" marL="0">
              <a:buNone/>
            </a:pPr>
            <a:r>
              <a:rPr lang="en-US" sz="1200" b="1" dirty="0">
                <a:solidFill>
                  <a:srgbClr val="1B3A6B"/>
                </a:solidFill>
                <a:latin typeface="맑은 고딕" pitchFamily="34" charset="0"/>
                <a:ea typeface="맑은 고딕" pitchFamily="34" charset="-122"/>
                <a:cs typeface="맑은 고딕" pitchFamily="34" charset="-120"/>
              </a:rPr>
              <a:t>2. 정보 소재 추론</a:t>
            </a:r>
            <a:endParaRPr lang="en-US" sz="1200" dirty="0"/>
          </a:p>
        </p:txBody>
      </p:sp>
      <p:sp>
        <p:nvSpPr>
          <p:cNvPr id="16" name="Text 14"/>
          <p:cNvSpPr/>
          <p:nvPr/>
        </p:nvSpPr>
        <p:spPr>
          <a:xfrm>
            <a:off x="2926080" y="4099895"/>
            <a:ext cx="5897880" cy="475488"/>
          </a:xfrm>
          <a:prstGeom prst="rect">
            <a:avLst/>
          </a:prstGeom>
          <a:noFill/>
          <a:ln/>
        </p:spPr>
        <p:txBody>
          <a:bodyPr wrap="square" lIns="72009" tIns="72009" rIns="72009" bIns="72009" rtlCol="0" anchor="ctr"/>
          <a:lstStyle/>
          <a:p>
            <a:pPr algn="l" indent="0" marL="0">
              <a:spcBef>
                <a:spcPts val="300"/>
              </a:spcBef>
              <a:spcAft>
                <a:spcPts val="300"/>
              </a:spcAft>
              <a:buNone/>
            </a:pPr>
            <a:r>
              <a:rPr lang="en-US" sz="1200" dirty="0">
                <a:solidFill>
                  <a:srgbClr val="2D3748"/>
                </a:solidFill>
                <a:latin typeface="맑은 고딕" pitchFamily="34" charset="0"/>
                <a:ea typeface="맑은 고딕" pitchFamily="34" charset="-122"/>
                <a:cs typeface="맑은 고딕" pitchFamily="34" charset="-120"/>
              </a:rPr>
              <a:t>정보가 어디 있는지 문장으로 따라가면 책임이 드러난다.</a:t>
            </a:r>
            <a:endParaRPr lang="en-US" sz="1200" dirty="0"/>
          </a:p>
        </p:txBody>
      </p:sp>
      <p:sp>
        <p:nvSpPr>
          <p:cNvPr id="17" name="Shape 15"/>
          <p:cNvSpPr/>
          <p:nvPr/>
        </p:nvSpPr>
        <p:spPr>
          <a:xfrm>
            <a:off x="320040" y="4685111"/>
            <a:ext cx="8503920" cy="475488"/>
          </a:xfrm>
          <a:prstGeom prst="rect">
            <a:avLst/>
          </a:prstGeom>
          <a:solidFill>
            <a:srgbClr val="FFFFFF"/>
          </a:solidFill>
          <a:ln w="9525">
            <a:solidFill>
              <a:srgbClr val="CBD5E1"/>
            </a:solidFill>
            <a:prstDash val="solid"/>
          </a:ln>
        </p:spPr>
      </p:sp>
      <p:sp>
        <p:nvSpPr>
          <p:cNvPr id="18" name="Text 16"/>
          <p:cNvSpPr/>
          <p:nvPr/>
        </p:nvSpPr>
        <p:spPr>
          <a:xfrm>
            <a:off x="320040" y="4685111"/>
            <a:ext cx="2606040" cy="475488"/>
          </a:xfrm>
          <a:prstGeom prst="rect">
            <a:avLst/>
          </a:prstGeom>
          <a:solidFill>
            <a:srgbClr val="EBF1F8"/>
          </a:solidFill>
          <a:ln/>
        </p:spPr>
        <p:txBody>
          <a:bodyPr wrap="square" lIns="72009" tIns="72009" rIns="72009" bIns="72009" rtlCol="0" anchor="ctr"/>
          <a:lstStyle/>
          <a:p>
            <a:pPr algn="l" indent="0" marL="0">
              <a:buNone/>
            </a:pPr>
            <a:r>
              <a:rPr lang="en-US" sz="1200" b="1" dirty="0">
                <a:solidFill>
                  <a:srgbClr val="1B3A6B"/>
                </a:solidFill>
                <a:latin typeface="맑은 고딕" pitchFamily="34" charset="0"/>
                <a:ea typeface="맑은 고딕" pitchFamily="34" charset="-122"/>
                <a:cs typeface="맑은 고딕" pitchFamily="34" charset="-120"/>
              </a:rPr>
              <a:t>3. 도메인 주도 설계(DDD)로의 복선</a:t>
            </a:r>
            <a:endParaRPr lang="en-US" sz="1200" dirty="0"/>
          </a:p>
        </p:txBody>
      </p:sp>
      <p:sp>
        <p:nvSpPr>
          <p:cNvPr id="19" name="Text 17"/>
          <p:cNvSpPr/>
          <p:nvPr/>
        </p:nvSpPr>
        <p:spPr>
          <a:xfrm>
            <a:off x="2926080" y="4685111"/>
            <a:ext cx="5897880" cy="475488"/>
          </a:xfrm>
          <a:prstGeom prst="rect">
            <a:avLst/>
          </a:prstGeom>
          <a:noFill/>
          <a:ln/>
        </p:spPr>
        <p:txBody>
          <a:bodyPr wrap="square" lIns="72009" tIns="72009" rIns="72009" bIns="72009" rtlCol="0" anchor="ctr"/>
          <a:lstStyle/>
          <a:p>
            <a:pPr algn="l" indent="0" marL="0">
              <a:spcBef>
                <a:spcPts val="300"/>
              </a:spcBef>
              <a:spcAft>
                <a:spcPts val="300"/>
              </a:spcAft>
              <a:buNone/>
            </a:pPr>
            <a:r>
              <a:rPr lang="en-US" sz="1200" dirty="0">
                <a:solidFill>
                  <a:srgbClr val="2D3748"/>
                </a:solidFill>
                <a:latin typeface="맑은 고딕" pitchFamily="34" charset="0"/>
                <a:ea typeface="맑은 고딕" pitchFamily="34" charset="-122"/>
                <a:cs typeface="맑은 고딕" pitchFamily="34" charset="-120"/>
              </a:rPr>
              <a:t>경계는 안 준다 — 그 공백을 다음 부가 메운다.</a:t>
            </a:r>
            <a:endParaRPr lang="en-US" sz="1200" dirty="0"/>
          </a:p>
        </p:txBody>
      </p:sp>
      <p:sp>
        <p:nvSpPr>
          <p:cNvPr id="20" name="Shape 18"/>
          <p:cNvSpPr/>
          <p:nvPr/>
        </p:nvSpPr>
        <p:spPr>
          <a:xfrm>
            <a:off x="320040" y="5212080"/>
            <a:ext cx="8503920" cy="0"/>
          </a:xfrm>
          <a:prstGeom prst="line">
            <a:avLst/>
          </a:prstGeom>
          <a:noFill/>
          <a:ln w="6350">
            <a:solidFill>
              <a:srgbClr val="CBD5E1"/>
            </a:solidFill>
            <a:prstDash val="solid"/>
          </a:ln>
        </p:spPr>
      </p:sp>
      <p:sp>
        <p:nvSpPr>
          <p:cNvPr id="21" name="Text 19"/>
          <p:cNvSpPr/>
          <p:nvPr/>
        </p:nvSpPr>
        <p:spPr>
          <a:xfrm>
            <a:off x="320040" y="5394960"/>
            <a:ext cx="8503920" cy="914400"/>
          </a:xfrm>
          <a:prstGeom prst="rect">
            <a:avLst/>
          </a:prstGeom>
          <a:noFill/>
          <a:ln/>
        </p:spPr>
        <p:txBody>
          <a:bodyPr wrap="square" lIns="0" tIns="0" rIns="0" bIns="0" rtlCol="0" anchor="t"/>
          <a:lstStyle/>
          <a:p>
            <a:pPr indent="0" marL="0">
              <a:spcBef>
                <a:spcPts val="300"/>
              </a:spcBef>
              <a:spcAft>
                <a:spcPts val="300"/>
              </a:spcAft>
              <a:buNone/>
            </a:pPr>
            <a:r>
              <a:rPr lang="en-US" sz="1400" b="1" dirty="0">
                <a:solidFill>
                  <a:srgbClr val="1B3A6B"/>
                </a:solidFill>
                <a:latin typeface="맑은 고딕" pitchFamily="34" charset="0"/>
                <a:ea typeface="맑은 고딕" pitchFamily="34" charset="-122"/>
                <a:cs typeface="맑은 고딕" pitchFamily="34" charset="-120"/>
              </a:rPr>
              <a:t>다음: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오늘 NewPOS에서 본 정보 소재 추론을 Order 도메인에 적용한다 — 코드는 다르지만 추론 절차는 같다.</a:t>
            </a:r>
            <a:endParaRPr lang="en-US" sz="1400" dirty="0"/>
          </a:p>
          <a:p>
            <a:pPr indent="0" marL="0">
              <a:spcBef>
                <a:spcPts val="300"/>
              </a:spcBef>
              <a:buNone/>
            </a:pPr>
            <a:r>
              <a:rPr lang="en-US" sz="1400" b="1" dirty="0">
                <a:solidFill>
                  <a:srgbClr val="007965"/>
                </a:solidFill>
                <a:latin typeface="맑은 고딕" pitchFamily="34" charset="0"/>
                <a:ea typeface="맑은 고딕" pitchFamily="34" charset="-122"/>
                <a:cs typeface="맑은 고딕" pitchFamily="34" charset="-120"/>
              </a:rPr>
              <a:t>다음: </a:t>
            </a:r>
            <a:pPr indent="0" marL="0">
              <a:spcBef>
                <a:spcPts val="300"/>
              </a:spcBef>
              <a:spcAft>
                <a:spcPts val="300"/>
              </a:spcAft>
              <a:buNone/>
            </a:pPr>
            <a:r>
              <a:rPr lang="en-US" sz="1400" dirty="0">
                <a:solidFill>
                  <a:srgbClr val="2D3748"/>
                </a:solidFill>
                <a:latin typeface="맑은 고딕" pitchFamily="34" charset="0"/>
                <a:ea typeface="맑은 고딕" pitchFamily="34" charset="-122"/>
                <a:cs typeface="맑은 고딕" pitchFamily="34" charset="-120"/>
              </a:rPr>
              <a:t>오늘 본 정보 소재 추론을 Order에 적용하면 책임이 똑같은 방식으로 이동하는가.</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2026-08-09T08:20:10Z</dcterms:created>
  <dcterms:modified xsi:type="dcterms:W3CDTF">2026-08-09T08:20:10Z</dcterms:modified>
</cp:coreProperties>
</file>