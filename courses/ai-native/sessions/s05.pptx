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과정의 목적은 UML 작도 숙련이 아니라 업무 결정을 명시하고 AI 결과를 판정하는 것이다. 상세 표기법을 열거하지 않고 그림을 읽는 데 필요한 요소만 설명한다.</a:t>
            </a:r>
          </a:p>
          <a:p>
            <a:pPr lvl="0"/>
            <a:r>
              <a:rPr lang="ko-KR" sz="1200"/>
              <a:t>정상 승인·거절과 거절 뒤 재결제를 상세화한다. 배송 진행은 주문 생애주기의 맥락으로 보며, 주문한다의 요구 범위나 실습 구현 범위를 확대하지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04. 정적 모델"의 「02. 도메인 모델이 명시하는 것」에서 합의한 용례를 이어 받는다. 동적 모델을 새로운 독립 도메인 모델이나 설계의 동의어로 설명하지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커뮤니케이션은 시퀀스와 같은 상호작용을 연결 중심으로 표현한다. 액티비티와 DFD가 언제나 같은 정보를 담는다고 설명하지 않는다. DFD의 데이터 화살표만으로 제어 순서·가드를 확정할 수 없다.</a:t>
            </a:r>
          </a:p>
          <a:p>
            <a:pPr lvl="0"/>
            <a:r>
              <a:rPr lang="ko-KR" sz="1200"/>
              <a:t>클래스·ERD는 정적 구조의 표현이며, 상태·상호작용·활동·데이터 흐름은 그 구조를 서로 다른 질문으로 확인한다.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2015 원문을 tools/verify-quote.js로 확인했다. 도메인 이벤트 패턴의 전체 구현을 가르치는 인용이 아니라 활동을 사건으로 명시하는 관점에 적용한다.</a:t>
            </a:r>
          </a:p>
          <a:p>
            <a:pPr lvl="0"/>
            <a:r>
              <a:rPr lang="ko-KR" sz="1200"/>
              <a:t>도메인 사건이 곧 영속 이벤트·메시지·이벤트 소싱이라는 대응을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 두 인용 모두 원문 확인했다. 상태를 객체의 모든 필드 조합과 동일시하지 않고 업무가 구별하는 조건으로 추상화한다.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Pending 자기 전이는 거절 사건의 처리가 끝난 뒤에도 결제대기라는 업무 의미다. UML의 진입·진출 동작 차이와 같은 상세 표기법은 범위 밖이다.</a:t>
            </a:r>
          </a:p>
          <a:p>
            <a:pPr lvl="0"/>
            <a:r>
              <a:rPr lang="ko-KR" sz="1200"/>
              <a:t>배송완료에서 종료점으로 잇지 않는다. 이 도식 범위에서 후속 전이를 다루지 않는 것과 주문 객체의 생명 종료는 다르다.</a:t>
            </a:r>
          </a:p>
          <a:p>
            <a:pPr lvl="0"/>
            <a:r>
              <a:rPr lang="ko-KR" sz="1200"/>
              <a:t>같은 주문에 대한 확정 결과임을 전제로 한다. 중복·역순 통보·재시도의 운영 정책은 미정이며, 그림에 선이 없다는 사실만으로 처리 정책을 확정하지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생성 전은 주문의 정식 상태 값이 아니다. 상태 값과 생성 전 맥락을 구별한다. 배송 시작·완료는 생애주기 참고 범위다.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주문을 사건 순서대로 따라가며 상태만 본다. 고객·주문·결제·배송 시스템 사이에 사건이 어떤 순서로 전달되는지는 「06. 업무 상호작용」에서 시퀀스로 본다. 여기서 참여자를 그리면 아직 설명하지 않은 표기를 먼저 읽히게 된다.</a:t>
            </a:r>
          </a:p>
          <a:p>
            <a:pPr lvl="0"/>
            <a:r>
              <a:rPr lang="ko-KR" sz="1200"/>
              <a:t>승인·거절은 별도 업무 사건이며 구현의 반환값·콜백·메시지 중 무엇인지 정하지 않는다. 과정 공통 전제의 전달 방식 미정을 따른다.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강의에서 승인 뒤 배송 요청 실패는 "세션 11. 종합 실행"까지 미정으로 유지한다. 실패 뒤 PAID 유지·자동 취소·재시도 횟수 같은 기대값을 이번에 쓰지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요구사항 정의서의 수용 예를 같은 값으로 이어 받았다. 마지막 행의 1회는 거절과 승인 전체 실행의 합계다.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검토자는 정상 상태 값만 묻지 않고 "무슨 사건이 먼저 있었는가", "요청하지 않아야 할 때 정말 없었는가", "같은 대상인가"를 확인한다. 순서·금지·보존은 서로 다른 검사다.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인용은 시스템 수준 분석 표현의 범위다. 기술 반환 화살표를 가르치지 않으며 승인 사건을 업무 사건으로 명시했다. 동기·비동기는 과정 공통 전제에 따라 미정으로 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커뮤니케이션 다이어그램 설명을 원문 확인했다. 그래프 형태로 상호작용을 표현한다는 범위에 적용한다.</a:t>
            </a:r>
          </a:p>
          <a:p>
            <a:pPr lvl="0"/>
            <a:r>
              <a:rPr lang="ko-KR" sz="1200"/>
              <a:t>도식 왼쪽·오른쪽은 같은 정상 승인 장면이다. 번호는 사건 선후를 읽는 번호이며 메서드 중첩 호출 번호를 정하지 않는다. 분석의 시스템 경계를 비교하는 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A UML activity diagram shows sequential and parallel activities in a process. 원문 확인. 병렬 실행을 지원하는 표기가 있다고 업무에 병렬성이 있다는 뜻은 아니다.</a:t>
            </a:r>
          </a:p>
          <a:p>
            <a:pPr lvl="0"/>
            <a:r>
              <a:rPr lang="ko-KR" sz="1200"/>
              <a:t>응답 미확정의 처리 정책을 임의로 분기에 추가하지 않았다. stop은 이 대표 실행의 끝이며 주문 생명주기의 종료가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DFD는 정상 승인 경로에 필요한 대표 데이터의 논리적 흐름이다. 결제 요청에는 주문 식별·확정 금액·카드가, 배송 요청에는 주문 식별·확정 배송지가 들어간다. 배송 결과 통보와 주문 생성은 이 그림의 범위 밖이다.</a:t>
            </a:r>
          </a:p>
          <a:p>
            <a:pPr lvl="0"/>
            <a:r>
              <a:rPr lang="ko-KR" sz="1200"/>
              <a:t>Larman 2004의 DFD와 액티비티 데이터 흐름 비교를 원문 확인했다. UML이 DFD 표기를 포함한다는 뜻으로 설명하지 않는다. DFD의 주요 요소는 IBM의 설명도 대조했다. https://www.ibm.com/think/topics/data-flow-diagram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활동 다이어그램이 전통 DFD의 데이터 흐름 모델링 목적에도 사용될 수 있다는 설명을 확인했다. 활동 다이어그램과 DFD가 문법·의미 전체에서 동일하다고 일반화하지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아키텍처"는 경계·의존·연동 규격을, "세션 07. 설계 — 책임과 협력"은 책임 배치와 소프트웨어 협력을 다룬다. 이번 코드의 한 가지 순서 구현을 보편 설계로 확정하지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code/s05/dynamic-model/src/order/Order.java다. 값 타입·확정 단가·총액 계산은 세션 04의 예를 이어 받았다. 이 메서드 배치가 유일한 설계라는 뜻은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code/s05/dynamic-model/src/demo/PaymentExample.java다. PaymentDecision은 APPROVED·REJECTED만 가진 교육용 결과다. 미정 응답을 else로 거절 처리하는 실제 연동 계약으로 사용하지 않는다.</a:t>
            </a:r>
          </a:p>
          <a:p>
            <a:pPr lvl="0"/>
            <a:r>
              <a:rPr lang="ko-KR" sz="1200"/>
              <a:t>인터페이스 이름은 공통 전제를 따르되 매개변수·반환 형태는 이 독립 실행 예의 가정이다. 최종 인터페이스 설계는 후속 설계에서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events는 이 테스트의 관찰 기록이며 운영 이벤트 저장소가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발췌 밖의 retryPayment가 주문 식별과 금액을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루트에서 node courses/ai-native/sessions/code/s05/dynamic-model/run.mjs로 JDK 17 컴파일과 여섯 검사 묶음을 실행한다. 실행 증거는 checks/s05-production-check.md에 기록한다.</a:t>
            </a:r>
          </a:p>
          <a:p>
            <a:pPr lvl="0"/>
            <a:r>
              <a:rPr lang="ko-KR" sz="1200"/>
              <a:t>예제의 미등록 사건 거절은 구현 범위를 닫기 위한 동작이다. 실제 중복 통보·운영 복구 정책의 확정으로 설명하지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초안이 요구 범위에 따라 결제대기·결제완료만 그린 것은 누락 오류가 아니다. 배송 생애주기를 추가할 때는 추가 범위와 근거를 사람이 명시한다. 결과물의 장수나 상태 수로 품질을 판단하지 않는다.</a:t>
            </a:r>
          </a:p>
          <a:p>
            <a:pPr lvl="0"/>
            <a:r>
              <a:rPr lang="ko-KR" sz="1200"/>
              <a:t>구문이 맞는 도식의 의미가 어긋날 수 있다는 근거는 "세션 04. 정적 모델"의 「09. 모델을 만들 때 사람과 AI」의 「초안을 판단할 근거」에 있다. 상태와 전이가 늘어 도식이 커질 때 특히 그러므로, 판정은 도식이 아니라 전이와 금지된 순서의 목록으로 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잘못된 예는 업무 규칙을 대조하는 교육용 반례이며 실제 AI 응답이라고 제시하지 않는다. 실제 응답의 검토와 구별한다.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입력·응답·최종 파일은 code/s05/exercise-conversation/order에 보존한다. 대화 횟수는 실제 응답의 질문과 검토에 따라 정하며 ①~⑤는 진행 단계다.</a:t>
            </a:r>
          </a:p>
          <a:p>
            <a:pPr lvl="0"/>
            <a:r>
              <a:rPr lang="ko-KR" sz="1200"/>
              <a:t>배송 생애주기는 추가 입력으로 PAID→IN_DELIVERY→DELIVERED를 명시하고, 실습 3의 상세 요구 범위 밖인 맥락임을 보존한다. 수강생의 실습은 본인이 정한 범위를 따른다.</a:t>
            </a:r>
          </a:p>
          <a:p>
            <a:pPr lvl="0"/>
            <a:r>
              <a:rPr lang="ko-KR" sz="1200"/>
              <a:t>실제 CLI는 Mermaid 원본을 반환한다. 코드 표시를 도식 시각 검토로 보지 않고 Production의 실제 출력에서 별도로 확인한다.</a:t>
            </a:r>
          </a:p>
          <a:p>
            <a:pPr lvl="0"/>
            <a:r>
              <a:rPr lang="ko-KR" sz="1200"/>
              <a:t>※ 현행화 기준: 새로 합의한 사건·상태·전이·이름은 다음 실습의 입력인 도메인 모델에 반영한다. 실습 3의 상세 요구 범위를 자동 확대하지 않는다. 본인 확인·기한·재고·결제 응답 미확정·배송 요청 실패·별도 통지의 미정은 유지한다. 지난 실습의 응답 원본은 고치지 않고 진화와 되돌릴 판단을 기록한다.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결제대기의 거절 자기 전이, 승인 뒤 배송 요청, 배송 생애주기의 맥락, 금지된 순서와 대표 검사다. 승인 뒤 배송 요청 실패의 정책은 미정으로 유지한다.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code/s05/exercise-conversation/order/주문한다-동적모델.md이며 문장·도식·목록·원래 강조를 편집하지 않았다. 제목 단계와 도식 제목 표식을 Session Source 형식으로 바꾸고, 사용자 배치 요청으로 Mermaid에 direction LR 한 줄만 더해 상태를 가로로 놓았다.</a:t>
            </a:r>
          </a:p>
          <a:p>
            <a:pPr lvl="0"/>
            <a:r>
              <a:rPr lang="ko-KR" sz="1200"/>
              <a:t>표와 도식에는 제목 표식만 더했고 행·값·문장과 도식 원본은 편집하지 않았다. 「규칙의 대표 예」는 네 예의 전제·사건·결과와 유지되는 값을 예마다 한 줄씩 읽는다.</a:t>
            </a:r>
          </a:p>
          <a:p>
            <a:pPr lvl="0"/>
            <a:r>
              <a:rPr lang="ko-KR" sz="1200"/>
              <a:t>첫 ⑤의 5열 표는 칸마다 문장이 들어가 행을 훑어 읽을 수 없었다 — 그 응답은 finalization-rounds/01에 보존했다.</a:t>
            </a:r>
          </a:p>
          <a:p>
            <a:pPr lvl="0"/>
            <a:r>
              <a:rPr lang="ko-KR" sz="1200"/>
              <a:t>정상 승인 시퀀스의 마지막 3줄은 ④에서 사람이 지적해 고친 자리다 — 통지 주체를 확정한 결과 화살표와 주문 시스템의 자기 전이 화살표를 지운 근거가 응답 안에 남아 있다.</a:t>
            </a:r>
          </a:p>
          <a:p>
            <a:pPr lvl="0"/>
            <a:r>
              <a:rPr lang="ko-KR" sz="1200"/>
              <a:t>미정 목록의 다섯째 줄은 ④에서 도구가 되물은 질문을 사람이 미정으로 확정한 결과다.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MD를 통째로 붙여 14KB라 노트에는 앞머리까지만 싣는다 — 그대로 재현하려면 code/s05/exercise-conversation/order/prompt-01.txt~prompt-05.txt를 그 파일 그대로 입력으로 쓴다. ①에 붙인 두 파일은 같은 폴더의 input-s03.md(실습 3 최종 MD)와 input-s04.md(실습 4 최종 MD)이며 앞 실습의 원본과 바이트 단위로 같다.</a:t>
            </a:r>
          </a:p>
          <a:p>
            <a:pPr lvl="1"/>
            <a:r>
              <a:rPr lang="ko-KR" sz="1200"/>
              <a:t>1. 실제 프롬프트 1</a:t>
            </a:r>
          </a:p>
          <a:p>
            <a:pPr lvl="0">
              <a:buNone/>
            </a:pPr>
            <a:r>
              <a:rPr lang="ko-KR" sz="1200"/>
              <a:t>    실습 3의 요구사항 정의서와 실습 4의 정적 관점을 읽고, 같은 도메인 모델의 동적 관점 초안을 제안해라. 사건·상태·전이·업무 상호작용과 업무 규칙의 대표 예를 담아라. 상태 기계와 분석 수준 시퀀스 다이어그램을 Mermaid로 보여 주고 같은 내용을 목록으로 읽을 수 있게 해라. 근거 없는 정책·구현은 확정하지 말고 질문해라. 소프트웨어 서비스·저장소·기술 연동 설계는 만들지 마라.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2"/>
            <a:r>
              <a:rPr lang="ko-KR" sz="1200"/>
              <a:t>3. 배송지 지정: 배송지를 지정하면 주문 생성 시점의 판매가로 주문 금액을 확정하고 결제대기 주문을 생성한다.</a:t>
            </a:r>
          </a:p>
          <a:p>
            <a:pPr lvl="2"/>
            <a:r>
              <a:rPr lang="ko-KR" sz="1200"/>
              <a:t>4. 결제: 고객이 주문 금액으로 카드 승인을 요청한다.</a:t>
            </a:r>
          </a:p>
          <a:p>
            <a:pPr lvl="0">
              <a:buNone/>
            </a:pPr>
            <a:r>
              <a:rPr lang="ko-KR" sz="1200"/>
              <a:t>    ⟨이하 생략 — input-s03.md·input-s04.md의 전문이 이어진다. 이 프롬프트의 전문은 prompt-01.txt에 있다⟩</a:t>
            </a:r>
          </a:p>
          <a:p>
            <a:pPr lvl="1"/>
            <a:r>
              <a:rPr lang="ko-KR" sz="1200"/>
              <a:t>2. 실제 프롬프트 2</a:t>
            </a:r>
          </a:p>
          <a:p>
            <a:pPr lvl="0">
              <a:buNone/>
            </a:pPr>
            <a:r>
              <a:rPr lang="ko-KR" sz="1200"/>
              <a:t>    [앞선 질문에 대한 답] 실습 3·4의 미정 정책은 새로 결정하지 않는다. 본인 확인, 기한, 응답 미확정의 후속 처리, 재고 판단·부족 처리, 배송 요청 실패, 별도 통지 정책은 미정으로 유지해라. 정해진 정상 승인·거절의 대표 예를 모델링할 수 있으므로 이 미정 전체를 해결하려고 범위를 늘리지 마라. 정상 응답의 대표 예에서 배송 요청 1회는 기록한 업무 요청이 1번이라는 뜻이며 운영상 중복 방지·재시도 정책은 아직 정하지 않는다.</a:t>
            </a:r>
          </a:p>
          <a:p>
            <a:pPr lvl="0">
              <a:buNone/>
            </a:pPr>
            <a:r>
              <a:rPr lang="ko-KR" sz="1200"/>
              <a:t>    [추가 질문·수정 요청] 같은 주문 생애주기의 참고 범위를 확장하겠다. PAID에서 배송 시작 통보를 받으면 IN_DELIVERY, 배송중에 배송 완료 통보를 받으면 DELIVERED다. 이 두 상태와 전이는 주문한다의 요구 범위 밖인 생애주기 맥락으로 표시하고 실습 3 요구 범위 자체를 확대하지 마라. 취소는 범위 밖으로 유지해라. 상태 기계에서 카드 승인 거절은 PENDING_PAYMENT 자기 전이로 유지해라. 배송 요청은 PAID 상태에 진입하는 승인 사건의 반응이며 요청 자체로 IN_DELIVERY가 되지 않는다. 시퀀스는 고객·주문 시스템·결제 시스템·배송 시스템의 분석 수준으로 정상 승인 장면과 거절 뒤 재결제 장면을 나눠 보여라. 업무 사건의 선후 관계를 나타낼 뿐 동기·비동기 전달 방식을 정하지 않는다. 기술 객체·DB·재시도·복구 정책은 추가하지 마라. 펜 2개·확정 단가 1000원·총액 2000원·서울을 유지하고, 같은 주문의 식별·상품·수량·배송지·금액이 거절 뒤에도 유지됨을 명시해라. 이 조건으로 상태 기계·전이 목록·정상 승인 시퀀스·대표 예를 보완하고, 금지된 전이와 미정 정책의 차이를 짚어라. 전체 도메인 사건 목록을 발명하지 말고 범위 안의 대표 사건만 담아라.</a:t>
            </a:r>
          </a:p>
          <a:p>
            <a:pPr lvl="1"/>
            <a:r>
              <a:rPr lang="ko-KR" sz="1200"/>
              <a:t>3. 실제 프롬프트 3</a:t>
            </a:r>
          </a:p>
          <a:p>
            <a:pPr lvl="0">
              <a:buNone/>
            </a:pPr>
            <a:r>
              <a:rPr lang="ko-KR" sz="1200"/>
              <a:t>    [앞선 답 검토] 상태 기계에서 PAID를 두 composite 안에 중복 선언한 것은 같은 주문 상태를 서로 다른 상태로 오해하게 한다. 복합 상태 컨테이너를 제거하고 PENDING_PAYMENT·PAID·IN_DELIVERY·DELIVERED 네 상태를 한 번씩만 선언해라. 범위 차이는 도식 밖의 설명으로 명시해라. 상태 기계의 긴 노트는 목록에 두고 전이 라벨은 사건과 짧은 반응만 남겨라.</a:t>
            </a:r>
          </a:p>
          <a:p>
            <a:pPr lvl="0">
              <a:buNone/>
            </a:pPr>
            <a:r>
              <a:rPr lang="ko-KR" sz="1200"/>
              <a:t>    [추가 수정 요청] 최종 문서는 요구와 정적 관점을 반복하지 않고 이번에 보완한 동적 관점의 핵심만 담아라. 도입·상태 기계·전이 목록·정상 승인 시퀀스·규칙의 대표 예 및 금지·미정으로 구성해라. 시퀀스는 정상 승인 한 장면만 도식으로 남기고 거절 뒤 재결제는 대표 예에 넣어라. 상태 기계와 시퀀스 도식의 제목·라벨은 한글을 쓰고 상태 코드 값은 전이 목록에 함께 적어라. 시퀀스에 응답 점선·색 바탕·rect를 넣지 말고 사건의 선후 관계를 나타내는 실선 화살표로 통일해라. 동기·비동기 미정을 본문에 밝혀라. 네 대표 예(승인, 판매가 변경 뒤 승인, 거절, 거절 뒤 재결제)는 전제·사건·결과를 한 줄씩 읽을 수 있는 간결한 목록 또는 표로 담아라. 취소는 범위 밖, 기한·미확정 응답·재고·본인 확인·배송 요청 실패·별도 통지는 미정으로 보존해라. 금지 목록에 배송 요청 전 승인 필요와 요청만으로 배송중 전이 금지를 명시해라. 불필요한 중복 설명을 빼고 이번 합의의 빠짐·모순을 점검해라. 아직 최종 파일 생성 단계는 아니다.</a:t>
            </a:r>
          </a:p>
          <a:p>
            <a:pPr lvl="1"/>
            <a:r>
              <a:rPr lang="ko-KR" sz="1200"/>
              <a:t>4. 실제 프롬프트 4</a:t>
            </a:r>
          </a:p>
          <a:p>
            <a:pPr lvl="0">
              <a:buNone/>
            </a:pPr>
            <a:r>
              <a:rPr lang="ko-KR" sz="1200"/>
              <a:t>    [앞선 답 검토] 3가지가 합의한 범위를 넘었다.</a:t>
            </a:r>
          </a:p>
          <a:p>
            <a:pPr lvl="2"/>
            <a:r>
              <a:rPr lang="ko-KR" sz="1200"/>
              <a:t>1. 시퀀스의 마지막 화살표가 주문 시스템이 고객에게 결제 완료 결과를 보내는 것으로 그려졌다. 주문 결과의 별도 통지 여부와 담당 주체는 미정 항목이다. 미정을 도식으로 확정하지 마라. 고객이 주문 결과를 확인하는 사건으로 두거나, 통지 주체를 정하지 않는다는 점을 본문에 밝혀라.</a:t>
            </a:r>
          </a:p>
          <a:p>
            <a:pPr lvl="2"/>
            <a:r>
              <a:rPr lang="ko-KR" sz="1200"/>
              <a:t>2. 주문 시스템의 자기 화살표로 상태 전이를 그렸다. 이 도식은 참여자 사이에 전달되는 업무 사건을 보이는 자리다. 상태 변화는 사건의 반응으로 설명하고 전이는 상태 기계와 전이 목록이 맡게 해라.</a:t>
            </a:r>
          </a:p>
          <a:p>
            <a:pPr lvl="2"/>
            <a:r>
              <a:rPr lang="ko-KR" sz="1200"/>
              <a:t>3. "배송 요청 1회 기록"은 주문 시스템 안에 기록 구조를 두기로 정한 것으로 읽힌다. 배송 요청이라는 업무 사건이 한 번 발생한다는 뜻으로 고쳐라. 운영상의 중복 방지·재시도는 여전히 미정이다.</a:t>
            </a:r>
          </a:p>
          <a:p>
            <a:pPr lvl="0">
              <a:buNone/>
            </a:pPr>
            <a:r>
              <a:rPr lang="ko-KR" sz="1200"/>
              <a:t>    전이 목록 첫 행의 현재 상태 "주문 없음"은 상태가 아니다. 초기 상태로 진입하는 것임을 알 수 있게 적어라.</a:t>
            </a:r>
          </a:p>
          <a:p>
            <a:pPr lvl="0">
              <a:buNone/>
            </a:pPr>
            <a:r>
              <a:rPr lang="ko-KR" sz="1200"/>
              <a:t>    [추가 수정 요청] 거절 뒤 재결제가 같은 주문임을 전이 목록과 대표 예가 같은 값으로 말하는지 확인해라. 네 대표 예(승인, 판매가 변경 뒤 승인, 거절, 거절 뒤 재결제)에서 주문 식별·펜 2개·확정 단가 1,000원·총액 2,000원·배송지 서울이 어느 예에서도 바뀌지 않는지 한 줄씩 확인할 수 있게 해라. 금지 목록에서 확정된 요구에 근거한 금지와, 생애주기 참고 범위의 전이 조건을 구별해 적어라. 참고 범위의 조건을 실습 3의 확정된 요구로 승격하지 마라. 남은 빠짐과 모순을 점검해 보완안 전체를 다시 정리해라. 아직 최종 파일 생성 단계는 아니다.</a:t>
            </a:r>
          </a:p>
          <a:p>
            <a:pPr lvl="1"/>
            <a:r>
              <a:rPr lang="ko-KR" sz="1200"/>
              <a:t>5. 실제 프롬프트 5</a:t>
            </a:r>
          </a:p>
          <a:p>
            <a:pPr lvl="0">
              <a:buNone/>
            </a:pPr>
            <a:r>
              <a:rPr lang="ko-KR" sz="1200"/>
              <a:t>    [이전 MD 검토] 구성·값·도식·미정 판단은 그대로 간다. 두 표가 표로 읽히지 않는다.</a:t>
            </a:r>
          </a:p>
          <a:p>
            <a:pPr lvl="2"/>
            <a:r>
              <a:rPr lang="ko-KR" sz="1200"/>
              <a:t>1. 「규칙의 대표 예」를 표 하나에 몰아넣어 칸마다 문장이 들어갔다. 행을 훑어 비교할 수 없고 한 칸을 다 읽어야 뜻이 잡힌다. 표를 버리고 네 예를 각각 짧은 목록으로 적어라. 예마다 전제·사건·결과·유지되는 값을 한 줄씩 두고, 각 줄은 한 호흡에 읽히는 짧은 구로 끊어라.</a:t>
            </a:r>
          </a:p>
          <a:p>
            <a:pPr lvl="2"/>
            <a:r>
              <a:rPr lang="ko-KR" sz="1200"/>
              <a:t>2. 「전이 목록」은 표로 두되 현재 상태·사건·다음 상태·범위 4열로 줄여라. 반응은 표 아래 목록에 사건별로 적어라. 상태 칸에는 한글 이름만 쓰고 코드 값은 표 아래 한 줄로 모아라.</a:t>
            </a:r>
          </a:p>
          <a:p>
            <a:pPr lvl="2"/>
            <a:r>
              <a:rPr lang="ko-KR" sz="1200"/>
              <a:t>3. 2곳 모두 표의 칸에 문장을 넣지 말고 짧은 말로 끊어라.</a:t>
            </a:r>
          </a:p>
          <a:p>
            <a:pPr lvl="0">
              <a:buNone/>
            </a:pPr>
            <a:r>
              <a:rPr lang="ko-KR" sz="1200"/>
              <a:t>    [최종 파일 생성] 위를 고쳐 같은 동적 관점 문서를 다시 생성해라.</a:t>
            </a:r>
          </a:p>
          <a:p>
            <a:pPr lvl="2"/>
            <a:r>
              <a:rPr lang="ko-KR" sz="1200"/>
              <a:t>구성은 도입, 상태 기계, 전이 목록, 정상 승인 시퀀스, 규칙의 대표 예, 금지·참고 조건·미정·범위 밖이다.</a:t>
            </a:r>
          </a:p>
          <a:p>
            <a:pPr lvl="2"/>
            <a:r>
              <a:rPr lang="ko-KR" sz="1200"/>
              <a:t>상태 기계와 시퀀스는 Mermaid 원본을 그대로 보존한다. 금지 목록과 미정 목록의 문장도 보존한다.</a:t>
            </a:r>
          </a:p>
          <a:p>
            <a:pPr lvl="2"/>
            <a:r>
              <a:rPr lang="ko-KR" sz="1200"/>
              <a:t>네 예의 값(주문 A·펜 2개·확정 단가 1,000원·총액 2,000원·배송지 서울·배송 요청 횟수)과 전이 목록의 상태·사건·범위를 하나도 빼지 마라.</a:t>
            </a:r>
          </a:p>
          <a:p>
            <a:pPr lvl="2"/>
            <a:r>
              <a:rPr lang="ko-KR" sz="1200"/>
              <a:t>요구사항 정의서와 정적 관점을 다시 설명하지 않는다. 새 정책·새 상태·새 전이를 추가하지 마라. 미정은 미정으로 적는다.</a:t>
            </a:r>
          </a:p>
          <a:p>
            <a:pPr lvl="2"/>
            <a:r>
              <a:rPr lang="ko-KR" sz="1200"/>
              <a:t>대화 과정을 설명하는 절은 넣지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모델의 동적 관점</a:t>
            </a:r>
          </a:p>
          <a:p>
            <a:pPr lvl="1" marL="355600" indent="0">
              <a:spcBef>
                <a:spcPts val="300"/>
              </a:spcBef>
              <a:spcAft>
                <a:spcPts val="300"/>
              </a:spcAft>
              <a:buNone/>
            </a:pPr>
            <a:r>
              <a:rPr sz="1600" b="0">
                <a:solidFill>
                  <a:srgbClr val="000000"/>
                </a:solidFill>
                <a:latin typeface="맑은 고딕"/>
                <a:ea typeface="맑은 고딕"/>
              </a:rPr>
              <a:t>03. 사건과 상태·전이</a:t>
            </a:r>
          </a:p>
          <a:p>
            <a:pPr lvl="1" marL="355600" indent="0">
              <a:spcBef>
                <a:spcPts val="300"/>
              </a:spcBef>
              <a:spcAft>
                <a:spcPts val="300"/>
              </a:spcAft>
              <a:buNone/>
            </a:pPr>
            <a:r>
              <a:rPr sz="1600" b="0">
                <a:solidFill>
                  <a:srgbClr val="000000"/>
                </a:solidFill>
                <a:latin typeface="맑은 고딕"/>
                <a:ea typeface="맑은 고딕"/>
              </a:rPr>
              <a:t>04. 금지와 미정</a:t>
            </a:r>
          </a:p>
          <a:p>
            <a:pPr lvl="1" marL="355600" indent="0">
              <a:spcBef>
                <a:spcPts val="300"/>
              </a:spcBef>
              <a:spcAft>
                <a:spcPts val="300"/>
              </a:spcAft>
              <a:buNone/>
            </a:pPr>
            <a:r>
              <a:rPr sz="1600" b="0">
                <a:solidFill>
                  <a:srgbClr val="000000"/>
                </a:solidFill>
                <a:latin typeface="맑은 고딕"/>
                <a:ea typeface="맑은 고딕"/>
              </a:rPr>
              <a:t>05. 업무 규칙과 대표 예</a:t>
            </a:r>
          </a:p>
          <a:p>
            <a:pPr lvl="1" marL="355600" indent="0">
              <a:spcBef>
                <a:spcPts val="300"/>
              </a:spcBef>
              <a:spcAft>
                <a:spcPts val="300"/>
              </a:spcAft>
              <a:buNone/>
            </a:pPr>
            <a:r>
              <a:rPr sz="1600" b="0">
                <a:solidFill>
                  <a:srgbClr val="000000"/>
                </a:solidFill>
                <a:latin typeface="맑은 고딕"/>
                <a:ea typeface="맑은 고딕"/>
              </a:rPr>
              <a:t>06. 업무 상호작용</a:t>
            </a:r>
          </a:p>
          <a:p>
            <a:pPr lvl="1" marL="355600" indent="0">
              <a:spcBef>
                <a:spcPts val="300"/>
              </a:spcBef>
              <a:spcAft>
                <a:spcPts val="300"/>
              </a:spcAft>
              <a:buNone/>
            </a:pPr>
            <a:r>
              <a:rPr sz="1600" b="0">
                <a:solidFill>
                  <a:srgbClr val="000000"/>
                </a:solidFill>
                <a:latin typeface="맑은 고딕"/>
                <a:ea typeface="맑은 고딕"/>
              </a:rPr>
              <a:t>07. 업무 활동과 데이터 흐름</a:t>
            </a:r>
          </a:p>
          <a:p>
            <a:pPr lvl="1" marL="355600" indent="0">
              <a:spcBef>
                <a:spcPts val="300"/>
              </a:spcBef>
              <a:spcAft>
                <a:spcPts val="300"/>
              </a:spcAft>
              <a:buNone/>
            </a:pPr>
            <a:r>
              <a:rPr sz="1600" b="0">
                <a:solidFill>
                  <a:srgbClr val="000000"/>
                </a:solidFill>
                <a:latin typeface="맑은 고딕"/>
                <a:ea typeface="맑은 고딕"/>
              </a:rPr>
              <a:t>08. 상태 변경과 외부 요청</a:t>
            </a:r>
          </a:p>
          <a:p>
            <a:pPr lvl="1" marL="355600" indent="0">
              <a:spcBef>
                <a:spcPts val="300"/>
              </a:spcBef>
              <a:spcAft>
                <a:spcPts val="300"/>
              </a:spcAft>
              <a:buNone/>
            </a:pPr>
            <a:r>
              <a:rPr sz="1600" b="0">
                <a:solidFill>
                  <a:srgbClr val="000000"/>
                </a:solidFill>
                <a:latin typeface="맑은 고딕"/>
                <a:ea typeface="맑은 고딕"/>
              </a:rPr>
              <a:t>09. 코드와 검사로 연결하기</a:t>
            </a:r>
          </a:p>
          <a:p>
            <a:pPr lvl="1" marL="355600" indent="0">
              <a:spcBef>
                <a:spcPts val="300"/>
              </a:spcBef>
              <a:spcAft>
                <a:spcPts val="300"/>
              </a:spcAft>
              <a:buNone/>
            </a:pPr>
            <a:r>
              <a:rPr sz="1600" b="0">
                <a:solidFill>
                  <a:srgbClr val="000000"/>
                </a:solidFill>
                <a:latin typeface="맑은 고딕"/>
                <a:ea typeface="맑은 고딕"/>
              </a:rPr>
              <a:t>10. AI 초안 검토와 잘못된 관행</a:t>
            </a:r>
          </a:p>
          <a:p>
            <a:pPr lvl="1" marL="355600" indent="0">
              <a:spcBef>
                <a:spcPts val="300"/>
              </a:spcBef>
              <a:spcAft>
                <a:spcPts val="300"/>
              </a:spcAft>
              <a:buNone/>
            </a:pPr>
            <a:r>
              <a:rPr sz="1600" b="0">
                <a:solidFill>
                  <a:srgbClr val="000000"/>
                </a:solidFill>
                <a:latin typeface="맑은 고딕"/>
                <a:ea typeface="맑은 고딕"/>
              </a:rPr>
              <a:t>11. 실습 5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으로 사건·상태·전이·업무 상호작용을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다섯 도식</a:t>
            </a:r>
            <a:r>
              <a:rPr sz="1800" b="0">
                <a:solidFill>
                  <a:srgbClr val="000000"/>
                </a:solidFill>
                <a:latin typeface="맑은 고딕"/>
                <a:ea typeface="맑은 고딕"/>
              </a:rPr>
              <a:t>이 답하는 질문을 구별하고 필요한 표현을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시퀀스</a:t>
            </a:r>
            <a:r>
              <a:rPr sz="1800" b="0">
                <a:solidFill>
                  <a:srgbClr val="000000"/>
                </a:solidFill>
                <a:latin typeface="맑은 고딕"/>
                <a:ea typeface="맑은 고딕"/>
              </a:rPr>
              <a:t>를 읽고 규칙의 누락·모순을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허용·금지·미정</a:t>
            </a:r>
            <a:r>
              <a:rPr sz="1800" b="0">
                <a:solidFill>
                  <a:srgbClr val="000000"/>
                </a:solidFill>
                <a:latin typeface="맑은 고딕"/>
                <a:ea typeface="맑은 고딕"/>
              </a:rPr>
              <a:t>을 구별하고 업무 규칙을 대표 예로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전이와 순서</a:t>
            </a:r>
            <a:r>
              <a:rPr sz="1800" b="0">
                <a:solidFill>
                  <a:srgbClr val="000000"/>
                </a:solidFill>
                <a:latin typeface="맑은 고딕"/>
                <a:ea typeface="맑은 고딕"/>
              </a:rPr>
              <a:t>를 코드·검사의 기대값으로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AI의 초안</a:t>
            </a:r>
            <a:r>
              <a:rPr sz="1800" b="0">
                <a:solidFill>
                  <a:srgbClr val="000000"/>
                </a:solidFill>
                <a:latin typeface="맑은 고딕"/>
                <a:ea typeface="맑은 고딕"/>
              </a:rPr>
              <a:t>을 근거로 검토하고 고친 이유를 남긴다.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모델의 구조와 행위</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4337050"/>
          <a:ext cx="5946140" cy="1152000"/>
        </p:xfrm>
        <a:graphic>
          <a:graphicData uri="http://schemas.openxmlformats.org/drawingml/2006/table">
            <a:tbl>
              <a:tblPr/>
              <a:tblGrid>
                <a:gridCol w="262382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관점의 조건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동적 관점에서 확인할 순간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단가 × 수량의 합이 총액이다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요청·거절·재결제 뒤에도 2,000원인가?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확정 배송지를 가진다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서울로 배송을 요청하는가?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주문에는 현재 상태가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사건이 상태를 바꾸거나 유지하는가?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은 업무 사건에 따라 어떤 상태와 관계가 어떻게 변하는지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주문·항목·상품의 관계와 확정 단가·총액의 조건을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승인·거절에 따른 상태와 배송 요청의 순서를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서로 검증한다.</a:t>
            </a:r>
            <a:r>
              <a:rPr sz="1800" b="0">
                <a:solidFill>
                  <a:srgbClr val="000000"/>
                </a:solidFill>
                <a:latin typeface="맑은 고딕"/>
                <a:ea typeface="맑은 고딕"/>
              </a:rPr>
              <a:t> 거절 뒤에도 같은 주문을 다시 결제하려면 주문의 식별과 확정 값이 보존되어야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분석과 설계를 구별한다.</a:t>
            </a:r>
            <a:r>
              <a:rPr sz="1800" b="0">
                <a:solidFill>
                  <a:srgbClr val="000000"/>
                </a:solidFill>
                <a:latin typeface="맑은 고딕"/>
                <a:ea typeface="맑은 고딕"/>
              </a:rPr>
              <a:t> 업무 사건과 참여자의 상호작용을 정한 뒤, 소프트웨어의 책임·호출·연동 방식을 설계한다.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주문에서 확인하는 두 관점</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질문에 따라 도식을 고르기</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2696" y="2112010"/>
          <a:ext cx="7145020" cy="1728000"/>
        </p:xfrm>
        <a:graphic>
          <a:graphicData uri="http://schemas.openxmlformats.org/drawingml/2006/table">
            <a:tbl>
              <a:tblPr/>
              <a:tblGrid>
                <a:gridCol w="1143000"/>
                <a:gridCol w="34620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사례의 초점</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상태에서 사건에 어떻게 반응하는가?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승인·거절·배송 통보에 따른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사이의 사건은 어떤 순서인가?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연결되어 어떤 메시지를 주고받는가?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고객·주문·결제·배송의 연결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액티비티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활동은 어떤 조건으로 분기하고 이어지는가?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 뒤의 활동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데이터가 어디서 어디로 이동·변환되는가?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요청·결과·주문 정보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다이어그램은 모델을 표현하는 방법</a:t>
            </a:r>
            <a:r>
              <a:rPr sz="1800" b="0">
                <a:solidFill>
                  <a:srgbClr val="000000"/>
                </a:solidFill>
                <a:latin typeface="맑은 고딕"/>
                <a:ea typeface="맑은 고딕"/>
              </a:rPr>
              <a:t>이며, 그림마다 확인할 질문이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관점을 읽는 다섯 도식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를 주요 도식으로 검증하고, 나머지는 다른 질문이 생겼을 때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DFD는 UML 표기가 아니다.</a:t>
            </a:r>
            <a:r>
              <a:rPr sz="1800" b="0">
                <a:solidFill>
                  <a:srgbClr val="000000"/>
                </a:solidFill>
                <a:latin typeface="맑은 고딕"/>
                <a:ea typeface="맑은 고딕"/>
              </a:rPr>
              <a:t> 데이터 흐름을 읽는 비교 대상으로 함께 소개한다.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모든 그림이 필수는 아니다.</a:t>
            </a:r>
            <a:r>
              <a:rPr sz="1800" b="0">
                <a:solidFill>
                  <a:srgbClr val="000000"/>
                </a:solidFill>
                <a:latin typeface="맑은 고딕"/>
                <a:ea typeface="맑은 고딕"/>
              </a:rPr>
              <a:t> 같은 판단을 반복하면 하나의 원천으로 관리한다.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업무에서 의미 있는 사건</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4499148"/>
          <a:ext cx="5191760" cy="864000"/>
        </p:xfrm>
        <a:graphic>
          <a:graphicData uri="http://schemas.openxmlformats.org/drawingml/2006/table">
            <a:tbl>
              <a:tblPr/>
              <a:tblGrid>
                <a:gridCol w="23723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요청·활동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관찰할 사건·결과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승인이 완료되었다 / 거절되었다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 / 완료되었다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2932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a:t>
            </a:r>
            <a:r>
              <a:rPr sz="1800" b="0">
                <a:solidFill>
                  <a:srgbClr val="000000"/>
                </a:solidFill>
                <a:latin typeface="맑은 고딕"/>
                <a:ea typeface="맑은 고딕"/>
              </a:rPr>
              <a:t>은 업무에서 의미 있는 일이다. "카드 승인이 거절되었다"는 주문의 다음 행동을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결과를 구별한다.</a:t>
            </a:r>
            <a:r>
              <a:rPr sz="1800" b="0">
                <a:solidFill>
                  <a:srgbClr val="000000"/>
                </a:solidFill>
                <a:latin typeface="맑은 고딕"/>
                <a:ea typeface="맑은 고딕"/>
              </a:rPr>
              <a:t> "결제한다"는 승인 요청을 시작하지만, 요청했다는 사실만으로 결제완료가 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 이름과 데이터</a:t>
            </a:r>
            <a:r>
              <a:rPr sz="1800" b="0">
                <a:solidFill>
                  <a:srgbClr val="000000"/>
                </a:solidFill>
                <a:latin typeface="맑은 고딕"/>
                <a:ea typeface="맑은 고딕"/>
              </a:rPr>
              <a:t>를 함께 본다. 같은 주문의 어떤 승인 결과인지 알아야 전이를 적용할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전달 방식은 설계한다.</a:t>
            </a:r>
            <a:r>
              <a:rPr sz="1800" b="0">
                <a:solidFill>
                  <a:srgbClr val="000000"/>
                </a:solidFill>
                <a:latin typeface="맑은 고딕"/>
                <a:ea typeface="맑은 고딕"/>
              </a:rPr>
              <a:t> 업무 사건을 명시했다고 메시지 브로커·비동기 통신을 도입한 것은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06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주문에서 구별할 요청과 결과</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상태와 전이</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어느 시점에 객체가 놓인 조건</a:t>
            </a:r>
            <a:r>
              <a:rPr sz="1800" b="0">
                <a:solidFill>
                  <a:srgbClr val="000000"/>
                </a:solidFill>
                <a:latin typeface="맑은 고딕"/>
                <a:ea typeface="맑은 고딕"/>
              </a:rPr>
              <a:t>, 곧 사건 사이의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상태는 사건에 대한 반응을 구별한다.</a:t>
            </a:r>
            <a:r>
              <a:rPr sz="1800" b="0">
                <a:solidFill>
                  <a:srgbClr val="000000"/>
                </a:solidFill>
                <a:latin typeface="맑은 고딕"/>
                <a:ea typeface="맑은 고딕"/>
              </a:rPr>
              <a:t> 결제대기는 승인 결과를 받아 주문을 성립시킬 수 있고, 배송완료는 같은 방식으로 다시 결제하지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전이는 현재 상태·사건·조건·다음 상태와 반응</a:t>
            </a:r>
            <a:r>
              <a:rPr sz="1800" b="0">
                <a:solidFill>
                  <a:srgbClr val="000000"/>
                </a:solidFill>
                <a:latin typeface="맑은 고딕"/>
                <a:ea typeface="맑은 고딕"/>
              </a:rPr>
              <a:t>을 연결한다. 상태 값의 목록만으로는 허용되는 순서를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발생하면 객체가 </a:t>
            </a:r>
            <a:r>
              <a:rPr sz="1800" b="1">
                <a:solidFill>
                  <a:srgbClr val="000000"/>
                </a:solidFill>
                <a:latin typeface="맑은 고딕"/>
                <a:ea typeface="맑은 고딕"/>
              </a:rPr>
              <a:t>이전 상태에서 다음 상태로 이동함</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늘리는 기준</a:t>
            </a:r>
            <a:r>
              <a:rPr sz="1800" b="0">
                <a:solidFill>
                  <a:srgbClr val="000000"/>
                </a:solidFill>
                <a:latin typeface="맑은 고딕"/>
                <a:ea typeface="맑은 고딕"/>
              </a:rPr>
              <a:t>은 사건에 대한 반응의 차이다. 화면 탭·처리 플래그·메서드마다 상태를 만들지 않는다.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은 주문이 사건에 반응하며 허용된 상태를 거치는 방법을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상자는 상태, 화살표는 전이다. </a:t>
            </a:r>
            <a:r>
              <a:rPr sz="1600" b="0">
                <a:solidFill>
                  <a:srgbClr val="000000"/>
                </a:solidFill>
                <a:latin typeface="맑은 고딕"/>
                <a:ea typeface="맑은 고딕"/>
              </a:rPr>
              <a:t>사건 [가드] / 반응</a:t>
            </a:r>
            <a:r>
              <a:rPr sz="1600" b="0">
                <a:solidFill>
                  <a:srgbClr val="000000"/>
                </a:solidFill>
                <a:latin typeface="맑은 고딕"/>
                <a:ea typeface="맑은 고딕"/>
              </a:rPr>
              <a:t>에서 가드는 전이에 필요한 조건이며, 이 그림은 별도 가드를 생략했다.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뒤에도 결제완료</a:t>
            </a:r>
            <a:r>
              <a:rPr sz="1800" b="0">
                <a:solidFill>
                  <a:srgbClr val="000000"/>
                </a:solidFill>
                <a:latin typeface="맑은 고딕"/>
                <a:ea typeface="맑은 고딕"/>
              </a:rPr>
              <a:t>다. 배송 시작 통보를 받아야 배송중으로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생애주기 맥락</a:t>
            </a:r>
            <a:r>
              <a:rPr sz="1800" b="0">
                <a:solidFill>
                  <a:srgbClr val="000000"/>
                </a:solidFill>
                <a:latin typeface="맑은 고딕"/>
                <a:ea typeface="맑은 고딕"/>
              </a:rPr>
              <a:t>으로 배송 진행을 함께 보였다. "주문한다"의 상세 요구 범위는 주문 결과 확인까지다.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
          <p:cNvPicPr>
            <a:picLocks noChangeAspect="1"/>
          </p:cNvPicPr>
          <p:nvPr/>
        </p:nvPicPr>
        <p:blipFill>
          <a:blip r:embed="plantumlImage1"/>
          <a:stretch>
            <a:fillRect/>
          </a:stretch>
        </p:blipFill>
        <p:spPr>
          <a:xfrm>
            <a:off x="542925" y="3998976"/>
            <a:ext cx="8058150" cy="8176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전이를 목록으로 확인하기</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3366" y="2112010"/>
          <a:ext cx="6583680" cy="1728000"/>
        </p:xfrm>
        <a:graphic>
          <a:graphicData uri="http://schemas.openxmlformats.org/drawingml/2006/table">
            <a:tbl>
              <a:tblPr/>
              <a:tblGrid>
                <a:gridCol w="947420"/>
                <a:gridCol w="1310640"/>
                <a:gridCol w="94742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반응</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단가·총액·배송지를 확정한다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배송지로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유지하고 배송을 요청하지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전이 목록</a:t>
            </a:r>
            <a:r>
              <a:rPr sz="1800" b="0">
                <a:solidFill>
                  <a:srgbClr val="000000"/>
                </a:solidFill>
                <a:latin typeface="맑은 고딕"/>
                <a:ea typeface="맑은 고딕"/>
              </a:rPr>
              <a:t>은 그림의 화살표가 어떤 업무 판단을 뜻하는지 읽고 검토하는 근거다.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대표 전이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그림과 목록의 상태·사건 이름</a:t>
            </a:r>
            <a:r>
              <a:rPr sz="1800" b="0">
                <a:solidFill>
                  <a:srgbClr val="000000"/>
                </a:solidFill>
                <a:latin typeface="맑은 고딕"/>
                <a:ea typeface="맑은 고딕"/>
              </a:rPr>
              <a:t>을 맞춘다. 하나에서만 새 상태가 생기면 근거를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가드와 불변 조건</a:t>
            </a:r>
            <a:r>
              <a:rPr sz="1800" b="0">
                <a:solidFill>
                  <a:srgbClr val="000000"/>
                </a:solidFill>
                <a:latin typeface="맑은 고딕"/>
                <a:ea typeface="맑은 고딕"/>
              </a:rPr>
              <a:t>을 구별한다. 전이의 허용 조건과, 전후에 계속 지켜야 하는 금액 조건은 역할이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정상 전이의 선</a:t>
            </a:r>
            <a:r>
              <a:rPr sz="1800" b="0">
                <a:solidFill>
                  <a:srgbClr val="000000"/>
                </a:solidFill>
                <a:latin typeface="맑은 고딕"/>
                <a:ea typeface="맑은 고딕"/>
              </a:rPr>
              <a:t>은 미정 정책을 닫지 않는다. 확정할 수 없는 결제 응답은 승인·거절로 분류하지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거절과 재결제</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5456" y="2112010"/>
          <a:ext cx="6159500" cy="1152000"/>
        </p:xfrm>
        <a:graphic>
          <a:graphicData uri="http://schemas.openxmlformats.org/drawingml/2006/table">
            <a:tbl>
              <a:tblPr/>
              <a:tblGrid>
                <a:gridCol w="889000"/>
                <a:gridCol w="1478280"/>
                <a:gridCol w="1673860"/>
                <a:gridCol w="11709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 뒤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배송 요청</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전 → 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Y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카드 승인 거절은 같은 주문을 결제대기로 유지</a:t>
            </a:r>
            <a:r>
              <a:rPr sz="1800" b="0">
                <a:solidFill>
                  <a:srgbClr val="000000"/>
                </a:solidFill>
                <a:latin typeface="맑은 고딕"/>
                <a:ea typeface="맑은 고딕"/>
              </a:rPr>
              <a:t>하며 다른 카드로 다시 결제할 수 있게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주문이 거치는 사건과 상태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자기 전이는 되돌림이 아니다.</a:t>
            </a:r>
            <a:r>
              <a:rPr sz="1800" b="0">
                <a:solidFill>
                  <a:srgbClr val="000000"/>
                </a:solidFill>
                <a:latin typeface="맑은 고딕"/>
                <a:ea typeface="맑은 고딕"/>
              </a:rPr>
              <a:t> 거절 사건을 처리한 뒤에도 같은 상태라는 뜻이며, 2와 3 사이에 새 상태가 생기지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재결제는 새 전이가 아니다.</a:t>
            </a:r>
            <a:r>
              <a:rPr sz="1800" b="0">
                <a:solidFill>
                  <a:srgbClr val="000000"/>
                </a:solidFill>
                <a:latin typeface="맑은 고딕"/>
                <a:ea typeface="맑은 고딕"/>
              </a:rPr>
              <a:t> 결제대기 → 결제완료 전이가 다른 카드로 한 번 더 성립한다. 전이 목록에 줄을 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보존할 값</a:t>
            </a:r>
            <a:r>
              <a:rPr sz="1800" b="0">
                <a:solidFill>
                  <a:srgbClr val="000000"/>
                </a:solidFill>
                <a:latin typeface="맑은 고딕"/>
                <a:ea typeface="맑은 고딕"/>
              </a:rPr>
              <a:t>은 주문 식별·상품·수량·단가·배송지·총액이다. 3줄 모두 펜 2개·단가 1,000원·총액 2,000원·서울이며, 재결제 때문에 새 주문이나 새 가격을 만들지 않는다.</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금지와 미정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61606" y="2112010"/>
          <a:ext cx="6807200" cy="1440000"/>
        </p:xfrm>
        <a:graphic>
          <a:graphicData uri="http://schemas.openxmlformats.org/drawingml/2006/table">
            <a:tbl>
              <a:tblPr/>
              <a:tblGrid>
                <a:gridCol w="889000"/>
                <a:gridCol w="217678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 검사에서 할 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다른 카드로 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주문·금액으로 승인되는 예를 확인한다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요청이 발생하지 않음을 검사한다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영향만 남기고 복구 기대값을 만들지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상태·전이·구현을 추가하지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금지는 허용하지 않기로 한 결정</a:t>
            </a:r>
            <a:r>
              <a:rPr sz="1800" b="0">
                <a:solidFill>
                  <a:srgbClr val="000000"/>
                </a:solidFill>
                <a:latin typeface="맑은 고딕"/>
                <a:ea typeface="맑은 고딕"/>
              </a:rPr>
              <a:t>이고, 미정은 아직 업무 판단을 받지 못한 질문이다.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서로 다르게 다뤄야 하는 경계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요청은 전이가 아닌 반응</a:t>
            </a:r>
            <a:r>
              <a:rPr sz="1800" b="0">
                <a:solidFill>
                  <a:srgbClr val="000000"/>
                </a:solidFill>
                <a:latin typeface="맑은 고딕"/>
                <a:ea typeface="맑은 고딕"/>
              </a:rPr>
              <a:t>이다. "승인 전 배송 요청 금지"는 상태 기계의 선만으로 충분히 확인되지 않아 시퀀스·요청 기록도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 응답을 거절로 처리하면 정책이 생긴다.</a:t>
            </a:r>
            <a:r>
              <a:rPr sz="1800" b="0">
                <a:solidFill>
                  <a:srgbClr val="000000"/>
                </a:solidFill>
                <a:latin typeface="맑은 고딕"/>
                <a:ea typeface="맑은 고딕"/>
              </a:rPr>
              <a:t> 승인 여부를 모르는 상황에서 재결제를 허용할지 업무 확인이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그리지 않은 선</a:t>
            </a:r>
            <a:r>
              <a:rPr sz="1800" b="0">
                <a:solidFill>
                  <a:srgbClr val="000000"/>
                </a:solidFill>
                <a:latin typeface="맑은 고딕"/>
                <a:ea typeface="맑은 고딕"/>
              </a:rPr>
              <a:t>을 모두 금지로 해석하지 않는다. 도식의 범위와 확인 상태를 함께 읽는다.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전후의 상태와 값을 함께 확인하기</a:t>
            </a:r>
          </a:p>
          <a:p>
            <a:r>
              <a:rPr sz="1100" b="1">
                <a:solidFill>
                  <a:srgbClr val="000000"/>
                </a:solidFill>
                <a:latin typeface="맑은 고딕"/>
                <a:ea typeface="맑은 고딕"/>
              </a:rPr>
              <a:t>05. 업무 규칙과 대표 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7485" y="2112010"/>
          <a:ext cx="6695440" cy="1440000"/>
        </p:xfrm>
        <a:graphic>
          <a:graphicData uri="http://schemas.openxmlformats.org/drawingml/2006/table">
            <a:tbl>
              <a:tblPr/>
              <a:tblGrid>
                <a:gridCol w="3126740"/>
                <a:gridCol w="9474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이후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승인 요청 금액</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서울 배송 요청</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결제대기에서 카드 Y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1,200원으로 변경 뒤 카드 Y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 뒤 카드 Y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과정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대표 예는 사건 전후의 상태와 부수 효과, 보존할 값</a:t>
            </a:r>
            <a:r>
              <a:rPr sz="1800" b="0">
                <a:solidFill>
                  <a:srgbClr val="000000"/>
                </a:solidFill>
                <a:latin typeface="맑은 고딕"/>
                <a:ea typeface="맑은 고딕"/>
              </a:rPr>
              <a:t>을 함께 보여 업무 규칙을 검증한다.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4가지 대표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값</a:t>
            </a:r>
            <a:r>
              <a:rPr sz="1800" b="0">
                <a:solidFill>
                  <a:srgbClr val="000000"/>
                </a:solidFill>
                <a:latin typeface="맑은 고딕"/>
                <a:ea typeface="맑은 고딕"/>
              </a:rPr>
              <a:t>은 펜 2개·확정 단가 1,000원·총액 2,000원·배송지 서울이다.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업무 규칙</a:t>
            </a:r>
            <a:r>
              <a:rPr sz="1800" b="0">
                <a:solidFill>
                  <a:srgbClr val="000000"/>
                </a:solidFill>
                <a:latin typeface="맑은 고딕"/>
                <a:ea typeface="맑은 고딕"/>
              </a:rPr>
              <a:t>은 금액 확정, 승인 뒤 배송, 거절 뒤 재결제다. 요구·정적 관점·동적 관점을 같은 예로 대조한다.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1회</a:t>
            </a:r>
            <a:r>
              <a:rPr sz="1800" b="0">
                <a:solidFill>
                  <a:srgbClr val="000000"/>
                </a:solidFill>
                <a:latin typeface="맑은 고딕"/>
                <a:ea typeface="맑은 고딕"/>
              </a:rPr>
              <a:t>는 이 정상 실행 예의 관찰값이다. 통신 장애에서의 중복 방지 보장을 뜻하지 않는다.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대표 예로 모순 찾기</a:t>
            </a:r>
          </a:p>
          <a:p>
            <a:r>
              <a:rPr sz="1100" b="1">
                <a:solidFill>
                  <a:srgbClr val="000000"/>
                </a:solidFill>
                <a:latin typeface="맑은 고딕"/>
                <a:ea typeface="맑은 고딕"/>
              </a:rPr>
              <a:t>05. 업무 규칙과 대표 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상태만 맞아도 업무가 틀릴 수 있으므로</a:t>
            </a:r>
            <a:r>
              <a:rPr sz="1800" b="0">
                <a:solidFill>
                  <a:srgbClr val="000000"/>
                </a:solidFill>
                <a:latin typeface="맑은 고딕"/>
                <a:ea typeface="맑은 고딕"/>
              </a:rPr>
              <a:t> 요청의 순서와 횟수, 값의 보존까지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결제완료지만 배송 요청이 먼저 발생했다.</a:t>
            </a:r>
            <a:r>
              <a:rPr sz="1800" b="0">
                <a:solidFill>
                  <a:srgbClr val="000000"/>
                </a:solidFill>
                <a:latin typeface="맑은 고딕"/>
                <a:ea typeface="맑은 고딕"/>
              </a:rPr>
              <a:t> 최종 상태 검사만으로는 승인 전 배송을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결제대기지만 주문을 새로 만들었다.</a:t>
            </a:r>
            <a:r>
              <a:rPr sz="1800" b="0">
                <a:solidFill>
                  <a:srgbClr val="000000"/>
                </a:solidFill>
                <a:latin typeface="맑은 고딕"/>
                <a:ea typeface="맑은 고딕"/>
              </a:rPr>
              <a:t> 상태 값은 같아도 같은 주문의 재결제라는 의미를 잃었다.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현재 판매가로 다시 계산했다.</a:t>
            </a:r>
            <a:r>
              <a:rPr sz="1800" b="0">
                <a:solidFill>
                  <a:srgbClr val="000000"/>
                </a:solidFill>
                <a:latin typeface="맑은 고딕"/>
                <a:ea typeface="맑은 고딕"/>
              </a:rPr>
              <a:t> 2,400원 승인은 정적 관점의 확정 단가와 충돌한다.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요청을 보낸 즉시 배송중으로 바꿨다.</a:t>
            </a:r>
            <a:r>
              <a:rPr sz="1800" b="0">
                <a:solidFill>
                  <a:srgbClr val="000000"/>
                </a:solidFill>
                <a:latin typeface="맑은 고딕"/>
                <a:ea typeface="맑은 고딕"/>
              </a:rPr>
              <a:t> 요청과 배송 시작 통보를 혼동했다.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그림에 없는 실패를 임의로 취소 처리했다.</a:t>
            </a:r>
            <a:r>
              <a:rPr sz="1800" b="0">
                <a:solidFill>
                  <a:srgbClr val="000000"/>
                </a:solidFill>
                <a:latin typeface="맑은 고딕"/>
                <a:ea typeface="맑은 고딕"/>
              </a:rPr>
              <a:t> 미정 정책을 구현이 대신 결정했다.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다이어그램은 특정 유스케이스 시나리오의 </a:t>
            </a:r>
            <a:r>
              <a:rPr sz="1800" b="1">
                <a:solidFill>
                  <a:srgbClr val="000000"/>
                </a:solidFill>
                <a:latin typeface="맑은 고딕"/>
                <a:ea typeface="맑은 고딕"/>
              </a:rPr>
              <a:t>외부 사건과 그 순서, 시스템 간 사건</a:t>
            </a:r>
            <a:r>
              <a:rPr sz="1800" b="0">
                <a:solidFill>
                  <a:srgbClr val="000000"/>
                </a:solidFill>
                <a:latin typeface="맑은 고딕"/>
                <a:ea typeface="맑은 고딕"/>
              </a:rPr>
              <a:t>을 보여준다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내부는 감춘다.</a:t>
            </a:r>
            <a:r>
              <a:rPr sz="1800" b="0">
                <a:solidFill>
                  <a:srgbClr val="000000"/>
                </a:solidFill>
                <a:latin typeface="맑은 고딕"/>
                <a:ea typeface="맑은 고딕"/>
              </a:rPr>
              <a:t> 서비스·저장소·트랜잭션을 넣지 않고 업무 경계를 오가는 사건을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대조한다.</a:t>
            </a:r>
            <a:r>
              <a:rPr sz="1800" b="0">
                <a:solidFill>
                  <a:srgbClr val="000000"/>
                </a:solidFill>
                <a:latin typeface="맑은 고딕"/>
                <a:ea typeface="맑은 고딕"/>
              </a:rPr>
              <a:t> 3번 사건이 결제완료 전이를 만들고, 4번은 그 뒤의 반응이다.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시퀀스</a:t>
            </a:r>
          </a:p>
        </p:txBody>
      </p:sp>
      <p:pic>
        <p:nvPicPr>
          <p:cNvPr id="10" name="plantuml Diagram 2"/>
          <p:cNvPicPr>
            <a:picLocks noChangeAspect="1"/>
          </p:cNvPicPr>
          <p:nvPr/>
        </p:nvPicPr>
        <p:blipFill>
          <a:blip r:embed="plantumlImage2"/>
          <a:stretch>
            <a:fillRect/>
          </a:stretch>
        </p:blipFill>
        <p:spPr>
          <a:xfrm>
            <a:off x="2515577" y="3698332"/>
            <a:ext cx="4112846" cy="2242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시퀀스와 같은 메시지를 참여자의 연결과 번호로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메시지·같은 번호</a:t>
            </a:r>
            <a:r>
              <a:rPr sz="1800" b="0">
                <a:solidFill>
                  <a:srgbClr val="000000"/>
                </a:solidFill>
                <a:latin typeface="맑은 고딕"/>
                <a:ea typeface="맑은 고딕"/>
              </a:rPr>
              <a:t>다. 시퀀스는 세로 위치로 순서를, 커뮤니케이션은 번호로 순서를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연결을 읽는다.</a:t>
            </a:r>
            <a:r>
              <a:rPr sz="1800" b="0">
                <a:solidFill>
                  <a:srgbClr val="000000"/>
                </a:solidFill>
                <a:latin typeface="맑은 고딕"/>
                <a:ea typeface="맑은 고딕"/>
              </a:rPr>
              <a:t> 주문 시스템은 결제·배송 시스템과 상호작용하며, 결제 시스템이 배송 시스템에 직접 요청하지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설계에서도 사용할 수 있다.</a:t>
            </a:r>
            <a:r>
              <a:rPr sz="1800" b="0">
                <a:solidFill>
                  <a:srgbClr val="000000"/>
                </a:solidFill>
                <a:latin typeface="맑은 고딕"/>
                <a:ea typeface="맑은 고딕"/>
              </a:rPr>
              <a:t> 소프트웨어 객체를 참여자로 정하면 설계 모델의 협력이 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상호작용의 두 표현</a:t>
            </a:r>
          </a:p>
        </p:txBody>
      </p:sp>
      <p:pic>
        <p:nvPicPr>
          <p:cNvPr id="10" name="svg Diagram 1"/>
          <p:cNvPicPr>
            <a:picLocks noChangeAspect="1"/>
          </p:cNvPicPr>
          <p:nvPr/>
        </p:nvPicPr>
        <p:blipFill>
          <a:blip r:embed="svgImage1"/>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액티비티 다이어그램</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액티비티 다이어그램</a:t>
            </a:r>
            <a:r>
              <a:rPr sz="1800" b="0">
                <a:solidFill>
                  <a:srgbClr val="000000"/>
                </a:solidFill>
                <a:latin typeface="맑은 고딕"/>
                <a:ea typeface="맑은 고딕"/>
              </a:rPr>
              <a:t>은 업무 활동이 조건에 따라 분기하고 이어지는 흐름을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둥근 상자는 활동, 마름모와 조건은 분기다. 이 그림은 승인·거절이 확정된 정상 응답만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상태와 활동을 구별한다.</a:t>
            </a:r>
            <a:r>
              <a:rPr sz="1800" b="0">
                <a:solidFill>
                  <a:srgbClr val="000000"/>
                </a:solidFill>
                <a:latin typeface="맑은 고딕"/>
                <a:ea typeface="맑은 고딕"/>
              </a:rPr>
              <a:t> 결제완료는 주문이 놓인 조건이고, 배송 요청은 수행하는 활동이다.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병렬성은 근거가 있어야 한다.</a:t>
            </a:r>
            <a:r>
              <a:rPr sz="1800" b="0">
                <a:solidFill>
                  <a:srgbClr val="000000"/>
                </a:solidFill>
                <a:latin typeface="맑은 고딕"/>
                <a:ea typeface="맑은 고딕"/>
              </a:rPr>
              <a:t> 승인 요청과 배송 요청을 병렬로 두면 승인 뒤 배송이라는 규칙을 깨뜨린다.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결과에 따른 업무 활동</a:t>
            </a:r>
          </a:p>
        </p:txBody>
      </p:sp>
      <p:pic>
        <p:nvPicPr>
          <p:cNvPr id="10" name="svg Diagram 2"/>
          <p:cNvPicPr>
            <a:picLocks noChangeAspect="1"/>
          </p:cNvPicPr>
          <p:nvPr/>
        </p:nvPicPr>
        <p:blipFill>
          <a:blip r:embed="svgImage2"/>
          <a:stretch>
            <a:fillRect/>
          </a:stretch>
        </p:blipFill>
        <p:spPr>
          <a:xfrm>
            <a:off x="1170214" y="3998976"/>
            <a:ext cx="6803571" cy="17008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데이터 흐름도</a:t>
            </a:r>
            <a:r>
              <a:rPr sz="2000" b="1">
                <a:solidFill>
                  <a:srgbClr val="000000"/>
                </a:solidFill>
                <a:latin typeface="맑은 고딕"/>
                <a:ea typeface="맑은 고딕"/>
              </a:rPr>
              <a:t>(DFD)</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데이터 흐름도</a:t>
            </a:r>
            <a:r>
              <a:rPr sz="1400" b="1">
                <a:solidFill>
                  <a:srgbClr val="000000"/>
                </a:solidFill>
                <a:latin typeface="맑은 고딕"/>
                <a:ea typeface="맑은 고딕"/>
              </a:rPr>
              <a:t>(DFD)</a:t>
            </a:r>
            <a:r>
              <a:rPr sz="1800" b="0">
                <a:solidFill>
                  <a:srgbClr val="000000"/>
                </a:solidFill>
                <a:latin typeface="맑은 고딕"/>
                <a:ea typeface="맑은 고딕"/>
              </a:rPr>
              <a:t>는 처리·저장소·외부 개체 사이에 어떤 데이터가 오가는지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사각형은 외부 개체, 원은 처리, 평행선은 논리적 저장소다. 화살표 이름은 이동하는 데이터다.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정보는 논리적 저장소</a:t>
            </a:r>
            <a:r>
              <a:rPr sz="1800" b="0">
                <a:solidFill>
                  <a:srgbClr val="000000"/>
                </a:solidFill>
                <a:latin typeface="맑은 고딕"/>
                <a:ea typeface="맑은 고딕"/>
              </a:rPr>
              <a:t>다. DB 제품·테이블·저장 시점의 기술 설계를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순서와 허용 조건은 별도로 확인한다.</a:t>
            </a:r>
            <a:r>
              <a:rPr sz="1800" b="0">
                <a:solidFill>
                  <a:srgbClr val="000000"/>
                </a:solidFill>
                <a:latin typeface="맑은 고딕"/>
                <a:ea typeface="맑은 고딕"/>
              </a:rPr>
              <a:t> 배송 요청 정보가 나간다는 사실만으로 승인 뒤인지 판정할 수 없다.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처리의 논리적 DFD</a:t>
            </a:r>
          </a:p>
        </p:txBody>
      </p:sp>
      <p:pic>
        <p:nvPicPr>
          <p:cNvPr id="10" name="svg Diagram 3"/>
          <p:cNvPicPr>
            <a:picLocks noChangeAspect="1"/>
          </p:cNvPicPr>
          <p:nvPr/>
        </p:nvPicPr>
        <p:blipFill>
          <a:blip r:embed="svgImage3"/>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액티비티와 DFD를 구별해 읽기</a:t>
            </a:r>
          </a:p>
          <a:p>
            <a:r>
              <a:rPr sz="1100" b="1">
                <a:solidFill>
                  <a:srgbClr val="000000"/>
                </a:solidFill>
                <a:latin typeface="맑은 고딕"/>
                <a:ea typeface="맑은 고딕"/>
              </a:rPr>
              <a:t>07. 업무 활동과 데이터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1440000"/>
        </p:xfrm>
        <a:graphic>
          <a:graphicData uri="http://schemas.openxmlformats.org/drawingml/2006/table">
            <a:tbl>
              <a:tblPr/>
              <a:tblGrid>
                <a:gridCol w="1170940"/>
                <a:gridCol w="24561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구별할 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액티비티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수행할 활동과 제어 흐름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입력·처리·출력·저장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 조건과 다음 활동을 읽는다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결과라는 데이터가 흐른다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 활동에서 사용한다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정보에서 읽어 요청 데이터로 보낸다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배송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선후로 확인한다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선만으로 확인하지 못한다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활동의 선후와 데이터의 이동은 다른 질문</a:t>
            </a:r>
            <a:r>
              <a:rPr sz="1800" b="0">
                <a:solidFill>
                  <a:srgbClr val="000000"/>
                </a:solidFill>
                <a:latin typeface="맑은 고딕"/>
                <a:ea typeface="맑은 고딕"/>
              </a:rPr>
              <a:t>이며, 한쪽 그림으로 다른 쪽의 판단을 대신하지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결제 장면을 서로 다르게 읽기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누락도 다른 그림에서 드러난다.</a:t>
            </a:r>
            <a:r>
              <a:rPr sz="1800" b="0">
                <a:solidFill>
                  <a:srgbClr val="000000"/>
                </a:solidFill>
                <a:latin typeface="맑은 고딕"/>
                <a:ea typeface="맑은 고딕"/>
              </a:rPr>
              <a:t> DFD에 금액의 원천이 없으면 추측할 값을 찾고, 시퀀스에 승인 결과가 없으면 배송 근거를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액티비티에도 데이터 흐름을 표현할 수 있다.</a:t>
            </a:r>
            <a:r>
              <a:rPr sz="1800" b="0">
                <a:solidFill>
                  <a:srgbClr val="000000"/>
                </a:solidFill>
                <a:latin typeface="맑은 고딕"/>
                <a:ea typeface="맑은 고딕"/>
              </a:rPr>
              <a:t> 목적이 겹칠 때 두 도식을 모두 유지할 필요는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모델을 늘리는 기준</a:t>
            </a:r>
            <a:r>
              <a:rPr sz="1800" b="0">
                <a:solidFill>
                  <a:srgbClr val="000000"/>
                </a:solidFill>
                <a:latin typeface="맑은 고딕"/>
                <a:ea typeface="맑은 고딕"/>
              </a:rPr>
              <a:t>은 새로운 판단을 얻는가다. 실습의 필수 도식은 상태 기계와 시퀀스다.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상태 변경과 외부 요청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112010"/>
          <a:ext cx="5580380" cy="1152000"/>
        </p:xfrm>
        <a:graphic>
          <a:graphicData uri="http://schemas.openxmlformats.org/drawingml/2006/table">
            <a:tbl>
              <a:tblPr/>
              <a:tblGrid>
                <a:gridCol w="131064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내부의 변화</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외부에 보낼 요청</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결제대기에서 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서울로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결제완료에서 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새 요청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상태 변경과 외부 요청은 각각 확인할 결과</a:t>
            </a:r>
            <a:r>
              <a:rPr sz="1800" b="0">
                <a:solidFill>
                  <a:srgbClr val="000000"/>
                </a:solidFill>
                <a:latin typeface="맑은 고딕"/>
                <a:ea typeface="맑은 고딕"/>
              </a:rPr>
              <a:t>이며, 하나가 맞아도 다른 하나가 맞는다고 보장할 수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승인·거절에서 확인할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시점</a:t>
            </a:r>
            <a:r>
              <a:rPr sz="1800" b="0">
                <a:solidFill>
                  <a:srgbClr val="000000"/>
                </a:solidFill>
                <a:latin typeface="맑은 고딕"/>
                <a:ea typeface="맑은 고딕"/>
              </a:rPr>
              <a:t>을 정한다. 배송을 요청하는 순간에는 승인 결과를 이미 받았고 주문은 결제완료여야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실패의 틈이 남는다.</a:t>
            </a:r>
            <a:r>
              <a:rPr sz="1800" b="0">
                <a:solidFill>
                  <a:srgbClr val="000000"/>
                </a:solidFill>
                <a:latin typeface="맑은 고딕"/>
                <a:ea typeface="맑은 고딕"/>
              </a:rPr>
              <a:t> 결제완료로 바뀐 뒤 배송 요청이 실패할 때의 정책은 이 정상 흐름이 정해 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기술적 실현은 설계에서 추가한다.</a:t>
            </a:r>
            <a:r>
              <a:rPr sz="1800" b="0">
                <a:solidFill>
                  <a:srgbClr val="000000"/>
                </a:solidFill>
                <a:latin typeface="맑은 고딕"/>
                <a:ea typeface="맑은 고딕"/>
              </a:rPr>
              <a:t> 연동 방식·트랜잭션·재시도는 업무 정책과 기술 대안을 함께 검토한다.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변경을 코드로 표현하기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onPaid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onPaymentRejected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 거절 뒤에도 같은 주문의 확정 값을 유지한다.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requireState(OrderStatus.PAID);</a:t>
            </a:r>
          </a:p>
          <a:p>
            <a:pPr marL="0" indent="0" algn="l">
              <a:lnSpc>
                <a:spcPts val="1150"/>
              </a:lnSpc>
              <a:spcBef>
                <a:spcPts val="0"/>
              </a:spcBef>
              <a:spcAft>
                <a:spcPts val="0"/>
              </a:spcAft>
              <a:buNone/>
            </a:pPr>
            <a:r>
              <a:rPr sz="1000" b="0">
                <a:solidFill>
                  <a:srgbClr val="000000"/>
                </a:solidFill>
                <a:latin typeface="Consolas"/>
                <a:ea typeface="맑은 고딕"/>
              </a:rPr>
              <a:t>        status = OrderStatus.IN_DELIVERY;</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requireState(OrderStatus.IN_DELIVERY);</a:t>
            </a:r>
          </a:p>
          <a:p>
            <a:pPr marL="0" indent="0" algn="l">
              <a:lnSpc>
                <a:spcPts val="1150"/>
              </a:lnSpc>
              <a:spcBef>
                <a:spcPts val="0"/>
              </a:spcBef>
              <a:spcAft>
                <a:spcPts val="0"/>
              </a:spcAft>
              <a:buNone/>
            </a:pPr>
            <a:r>
              <a:rPr sz="1000" b="0">
                <a:solidFill>
                  <a:srgbClr val="000000"/>
                </a:solidFill>
                <a:latin typeface="Consolas"/>
                <a:ea typeface="맑은 고딕"/>
              </a:rPr>
              <a:t>        status = OrderStatus.DELIVERED;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변경 메서드</a:t>
            </a:r>
            <a:r>
              <a:rPr sz="1800" b="0">
                <a:solidFill>
                  <a:srgbClr val="000000"/>
                </a:solidFill>
                <a:latin typeface="맑은 고딕"/>
                <a:ea typeface="맑은 고딕"/>
              </a:rPr>
              <a:t>는 허용된 현재 상태를 확인한 뒤 다음 상태를 만든다.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8782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거절도 처리할 사건</a:t>
            </a:r>
            <a:r>
              <a:rPr sz="1800" b="0">
                <a:solidFill>
                  <a:srgbClr val="000000"/>
                </a:solidFill>
                <a:latin typeface="맑은 고딕"/>
                <a:ea typeface="맑은 고딕"/>
              </a:rPr>
              <a:t>이다. 상태 값이 변하지 않아도 금지된 배송이 없고 같은 주문이 유지되는지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값은 공통 용어집</a:t>
            </a:r>
            <a:r>
              <a:rPr sz="1800" b="0">
                <a:solidFill>
                  <a:srgbClr val="000000"/>
                </a:solidFill>
                <a:latin typeface="맑은 고딕"/>
                <a:ea typeface="맑은 고딕"/>
              </a:rPr>
              <a:t>을 따른다. 상태 이름을 코드에서 임의로 바꾸지 않는다.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승인 뒤 배송을 실행하기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static void pay(Order order, PaymentMethod method,</a:t>
            </a:r>
          </a:p>
          <a:p>
            <a:pPr marL="0" indent="0" algn="l">
              <a:lnSpc>
                <a:spcPts val="1150"/>
              </a:lnSpc>
              <a:spcBef>
                <a:spcPts val="0"/>
              </a:spcBef>
              <a:spcAft>
                <a:spcPts val="0"/>
              </a:spcAft>
              <a:buNone/>
            </a:pPr>
            <a:r>
              <a:rPr sz="1000" b="0">
                <a:solidFill>
                  <a:srgbClr val="000000"/>
                </a:solidFill>
                <a:latin typeface="Consolas"/>
                <a:ea typeface="맑은 고딕"/>
              </a:rPr>
              <a:t>                           PaymentGateway payment, DeliveryGateway delivery) {</a:t>
            </a:r>
          </a:p>
          <a:p>
            <a:pPr marL="0" indent="0" algn="l">
              <a:lnSpc>
                <a:spcPts val="1150"/>
              </a:lnSpc>
              <a:spcBef>
                <a:spcPts val="0"/>
              </a:spcBef>
              <a:spcAft>
                <a:spcPts val="0"/>
              </a:spcAft>
              <a:buNone/>
            </a:pPr>
            <a:r>
              <a:rPr sz="1000" b="0">
                <a:solidFill>
                  <a:srgbClr val="000000"/>
                </a:solidFill>
                <a:latin typeface="Consolas"/>
                <a:ea typeface="맑은 고딕"/>
              </a:rPr>
              <a:t>        if (order.status()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decision = payment.requestApproval(order.number(), order.totalAmount(), method);</a:t>
            </a:r>
          </a:p>
          <a:p>
            <a:pPr marL="0" indent="0" algn="l">
              <a:lnSpc>
                <a:spcPts val="1150"/>
              </a:lnSpc>
              <a:spcBef>
                <a:spcPts val="0"/>
              </a:spcBef>
              <a:spcAft>
                <a:spcPts val="0"/>
              </a:spcAft>
              <a:buNone/>
            </a:pPr>
            <a:r>
              <a:rPr sz="1000" b="0">
                <a:solidFill>
                  <a:srgbClr val="000000"/>
                </a:solidFill>
                <a:latin typeface="Consolas"/>
                <a:ea typeface="맑은 고딕"/>
              </a:rPr>
              <a:t>        if (decision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order.requireDeliveryAllowed();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order.onPaymentRejected();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실행 예는 승인 결과를 받은 뒤 상태를 바꾸고 배송을 요청</a:t>
            </a:r>
            <a:r>
              <a:rPr sz="1800" b="0">
                <a:solidFill>
                  <a:srgbClr val="000000"/>
                </a:solidFill>
                <a:latin typeface="맑은 고딕"/>
                <a:ea typeface="맑은 고딕"/>
              </a:rPr>
              <a:t>하여 업무 순서를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5480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주문·확정 금액·확정 배송지</a:t>
            </a:r>
            <a:r>
              <a:rPr sz="1800" b="0">
                <a:solidFill>
                  <a:srgbClr val="000000"/>
                </a:solidFill>
                <a:latin typeface="맑은 고딕"/>
                <a:ea typeface="맑은 고딕"/>
              </a:rPr>
              <a:t>를 사용한다. 현재 판매가를 다시 조회하지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동기 정상 응답만 재현한 교육용 예</a:t>
            </a:r>
            <a:r>
              <a:rPr sz="1800" b="0">
                <a:solidFill>
                  <a:srgbClr val="000000"/>
                </a:solidFill>
                <a:latin typeface="맑은 고딕"/>
                <a:ea typeface="맑은 고딕"/>
              </a:rPr>
              <a:t>다. 응답 미확정·통신 실패·동시 실행의 운영 정책은 구현하지 않았다.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요청하는 순간을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PaymentGateway payment = (number, amount, method) -&gt; {</a:t>
            </a:r>
          </a:p>
          <a:p>
            <a:pPr marL="0" indent="0" algn="l">
              <a:lnSpc>
                <a:spcPts val="1150"/>
              </a:lnSpc>
              <a:spcBef>
                <a:spcPts val="0"/>
              </a:spcBef>
              <a:spcAft>
                <a:spcPts val="0"/>
              </a:spcAft>
              <a:buNone/>
            </a:pPr>
            <a:r>
              <a:rPr sz="1000" b="0">
                <a:solidFill>
                  <a:srgbClr val="000000"/>
                </a:solidFill>
                <a:latin typeface="Consolas"/>
                <a:ea typeface="맑은 고딕"/>
              </a:rPr>
              <a:t>            check(amount.equals(new Money(2000)), "승인 요청 금액은 확정 금액 2000원");</a:t>
            </a:r>
          </a:p>
          <a:p>
            <a:pPr marL="0" indent="0" algn="l">
              <a:lnSpc>
                <a:spcPts val="1150"/>
              </a:lnSpc>
              <a:spcBef>
                <a:spcPts val="0"/>
              </a:spcBef>
              <a:spcAft>
                <a:spcPts val="0"/>
              </a:spcAft>
              <a:buNone/>
            </a:pPr>
            <a:r>
              <a:rPr sz="1000" b="0">
                <a:solidFill>
                  <a:srgbClr val="000000"/>
                </a:solidFill>
                <a:latin typeface="Consolas"/>
                <a:ea typeface="맑은 고딕"/>
              </a:rPr>
              <a:t>            events.add("승인 결과");</a:t>
            </a:r>
          </a:p>
          <a:p>
            <a:pPr marL="0" indent="0" algn="l">
              <a:lnSpc>
                <a:spcPts val="1150"/>
              </a:lnSpc>
              <a:spcBef>
                <a:spcPts val="0"/>
              </a:spcBef>
              <a:spcAft>
                <a:spcPts val="0"/>
              </a:spcAft>
              <a:buNone/>
            </a:pPr>
            <a:r>
              <a:rPr sz="1000" b="0">
                <a:solidFill>
                  <a:srgbClr val="000000"/>
                </a:solidFill>
                <a:latin typeface="Consolas"/>
                <a:ea typeface="맑은 고딕"/>
              </a:rPr>
              <a:t>            return PaymentDecision.APPROVED;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DeliveryGateway delivery = (number, address) -&gt; {</a:t>
            </a:r>
          </a:p>
          <a:p>
            <a:pPr marL="0" indent="0" algn="l">
              <a:lnSpc>
                <a:spcPts val="1150"/>
              </a:lnSpc>
              <a:spcBef>
                <a:spcPts val="0"/>
              </a:spcBef>
              <a:spcAft>
                <a:spcPts val="0"/>
              </a:spcAft>
              <a:buNone/>
            </a:pPr>
            <a:r>
              <a:rPr sz="1000" b="0">
                <a:solidFill>
                  <a:srgbClr val="000000"/>
                </a:solidFill>
                <a:latin typeface="Consolas"/>
                <a:ea typeface="맑은 고딕"/>
              </a:rPr>
              <a:t>            check(approved.status() == OrderStatus.PAID, "배송 요청 시점에는 결제완료");</a:t>
            </a:r>
          </a:p>
          <a:p>
            <a:pPr marL="0" indent="0" algn="l">
              <a:lnSpc>
                <a:spcPts val="1150"/>
              </a:lnSpc>
              <a:spcBef>
                <a:spcPts val="0"/>
              </a:spcBef>
              <a:spcAft>
                <a:spcPts val="0"/>
              </a:spcAft>
              <a:buNone/>
            </a:pPr>
            <a:r>
              <a:rPr sz="1000" b="0">
                <a:solidFill>
                  <a:srgbClr val="000000"/>
                </a:solidFill>
                <a:latin typeface="Consolas"/>
                <a:ea typeface="맑은 고딕"/>
              </a:rPr>
              <a:t>            check(address.equals(new Address("서울")), "확정 배송지 사용");</a:t>
            </a:r>
          </a:p>
          <a:p>
            <a:pPr marL="0" indent="0" algn="l">
              <a:lnSpc>
                <a:spcPts val="1150"/>
              </a:lnSpc>
              <a:spcBef>
                <a:spcPts val="0"/>
              </a:spcBef>
              <a:spcAft>
                <a:spcPts val="0"/>
              </a:spcAft>
              <a:buNone/>
            </a:pPr>
            <a:r>
              <a:rPr sz="1000" b="0">
                <a:solidFill>
                  <a:srgbClr val="000000"/>
                </a:solidFill>
                <a:latin typeface="Consolas"/>
                <a:ea typeface="맑은 고딕"/>
              </a:rPr>
              <a:t>            events.add("배송 요청");</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PaymentExample.pay(approved, new PaymentMethod("Y"), payment, delivery);</a:t>
            </a:r>
          </a:p>
          <a:p>
            <a:pPr marL="0" indent="0" algn="l">
              <a:lnSpc>
                <a:spcPts val="1150"/>
              </a:lnSpc>
              <a:spcBef>
                <a:spcPts val="0"/>
              </a:spcBef>
              <a:spcAft>
                <a:spcPts val="0"/>
              </a:spcAft>
              <a:buNone/>
            </a:pPr>
            <a:r>
              <a:rPr sz="1000" b="0">
                <a:solidFill>
                  <a:srgbClr val="000000"/>
                </a:solidFill>
                <a:latin typeface="Consolas"/>
                <a:ea typeface="맑은 고딕"/>
              </a:rPr>
              <a:t>        check(events.equals(List.of("승인 결과", "배송 요청")), "승인 뒤 배송 요청 1회");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순서 검사는 최종 상태뿐 아니라 요청 당시의 상태와 실행 기록</a:t>
            </a:r>
            <a:r>
              <a:rPr sz="1800" b="0">
                <a:solidFill>
                  <a:srgbClr val="000000"/>
                </a:solidFill>
                <a:latin typeface="맑은 고딕"/>
                <a:ea typeface="맑은 고딕"/>
              </a:rPr>
              <a:t>을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178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배송이 먼저 발생하면 실패</a:t>
            </a:r>
            <a:r>
              <a:rPr sz="1800" b="0">
                <a:solidFill>
                  <a:srgbClr val="000000"/>
                </a:solidFill>
                <a:latin typeface="맑은 고딕"/>
                <a:ea typeface="맑은 고딕"/>
              </a:rPr>
              <a:t>한다. 나중에 상태만 결제완료로 고쳐도 실행 기록의 순서는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대역은 관찰을 통제</a:t>
            </a:r>
            <a:r>
              <a:rPr sz="1800" b="0">
                <a:solidFill>
                  <a:srgbClr val="000000"/>
                </a:solidFill>
                <a:latin typeface="맑은 고딕"/>
                <a:ea typeface="맑은 고딕"/>
              </a:rPr>
              <a:t>한다. 실제 카드 승인·배송 접수를 호출하지 않고 요청 값과 순서를 확인한다.</a:t>
            </a:r>
          </a:p>
        </p:txBody>
      </p:sp>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재결제를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PaymentMethod("X"),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OrderStatus.PENDING_PAYMENT &amp;&amp; deliveries[0] == 0, "거절이면 결제대기·배송 0회");</a:t>
            </a:r>
          </a:p>
          <a:p>
            <a:pPr marL="0" indent="0" algn="l">
              <a:lnSpc>
                <a:spcPts val="1150"/>
              </a:lnSpc>
              <a:spcBef>
                <a:spcPts val="0"/>
              </a:spcBef>
              <a:spcAft>
                <a:spcPts val="0"/>
              </a:spcAft>
              <a:buNone/>
            </a:pPr>
            <a:r>
              <a:rPr sz="1000" b="0">
                <a:solidFill>
                  <a:srgbClr val="000000"/>
                </a:solidFill>
                <a:latin typeface="Consolas"/>
                <a:ea typeface="맑은 고딕"/>
              </a:rPr>
              <a:t>        check(retried.totalAmount().equals(new Money(2000)), "거절 뒤 금액 유지");</a:t>
            </a:r>
          </a:p>
          <a:p>
            <a:pPr marL="0" indent="0" algn="l">
              <a:lnSpc>
                <a:spcPts val="1150"/>
              </a:lnSpc>
              <a:spcBef>
                <a:spcPts val="0"/>
              </a:spcBef>
              <a:spcAft>
                <a:spcPts val="0"/>
              </a:spcAft>
              <a:buNone/>
            </a:pPr>
            <a:r>
              <a:rPr sz="1000" b="0">
                <a:solidFill>
                  <a:srgbClr val="000000"/>
                </a:solidFill>
                <a:latin typeface="Consolas"/>
                <a:ea typeface="맑은 고딕"/>
              </a:rPr>
              <a:t>        System.out.println("PASS 거절 뒤 같은 주문과 확정 값 유지·배송 없음");</a:t>
            </a:r>
          </a:p>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PaymentMethod("Y"),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OrderStatus.PAID &amp;&amp; deliveries[0] == 1, "다른 카드 승인 뒤 배송 총 1회");</a:t>
            </a:r>
          </a:p>
          <a:p>
            <a:pPr marL="0" indent="0" algn="l">
              <a:lnSpc>
                <a:spcPts val="1150"/>
              </a:lnSpc>
              <a:spcBef>
                <a:spcPts val="0"/>
              </a:spcBef>
              <a:spcAft>
                <a:spcPts val="0"/>
              </a:spcAft>
              <a:buNone/>
            </a:pPr>
            <a:r>
              <a:rPr sz="1000" b="0">
                <a:solidFill>
                  <a:srgbClr val="000000"/>
                </a:solidFill>
                <a:latin typeface="Consolas"/>
                <a:ea typeface="맑은 고딕"/>
              </a:rPr>
              <a:t>        check(cards.equals(List.of("X", "Y")), "거절 뒤 다른 카드");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재결제 검사는 같은 주문이 유지되고 배송 요청이 승인 뒤 한 번만 발생</a:t>
            </a:r>
            <a:r>
              <a:rPr sz="1800" b="0">
                <a:solidFill>
                  <a:srgbClr val="000000"/>
                </a:solidFill>
                <a:latin typeface="맑은 고딕"/>
                <a:ea typeface="맑은 고딕"/>
              </a:rPr>
              <a:t>하는지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기대값</a:t>
            </a:r>
            <a:r>
              <a:rPr sz="1800" b="0">
                <a:solidFill>
                  <a:srgbClr val="000000"/>
                </a:solidFill>
                <a:latin typeface="맑은 고딕"/>
                <a:ea typeface="맑은 고딕"/>
              </a:rPr>
              <a:t>은 카드 X·Y의 순서, 같은 주문 식별, 매번 2,000원, 거절 뒤 배송 0회·승인 뒤 총 1회다.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때 주문을 새로 만들거나 가격을 바꾸면 실패</a:t>
            </a:r>
            <a:r>
              <a:rPr sz="1800" b="0">
                <a:solidFill>
                  <a:srgbClr val="000000"/>
                </a:solidFill>
                <a:latin typeface="맑은 고딕"/>
                <a:ea typeface="맑은 고딕"/>
              </a:rPr>
              <a:t>하도록 대역이 식별과 요청 금액도 확인한다.</a:t>
            </a:r>
          </a:p>
        </p:txBody>
      </p:sp>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검사가 보장하는 범위</a:t>
            </a:r>
          </a:p>
          <a:p>
            <a:r>
              <a:rPr sz="1100" b="1">
                <a:solidFill>
                  <a:srgbClr val="000000"/>
                </a:solidFill>
                <a:latin typeface="맑은 고딕"/>
                <a:ea typeface="맑은 고딕"/>
              </a:rPr>
              <a:t>09. 코드와 검사로 연결하기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29626" y="2112010"/>
          <a:ext cx="5471160" cy="2016000"/>
        </p:xfrm>
        <a:graphic>
          <a:graphicData uri="http://schemas.openxmlformats.org/drawingml/2006/table">
            <a:tbl>
              <a:tblPr/>
              <a:tblGrid>
                <a:gridCol w="27635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실행한 검사</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상태·요청 순서·금액·배송지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 후 확정 값으로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 뒤 보존·배송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카드 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금액으로 승인 뒤 총 1회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 배송·배송 시작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허용되지 않은 순서 차단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생애주기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시작·완료의 대표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변경·승인 뒤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조건이 전이 뒤에도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통과한 검사는 작성한 대표 전이와 순서만 보장</a:t>
            </a:r>
            <a:r>
              <a:rPr sz="1800" b="0">
                <a:solidFill>
                  <a:srgbClr val="000000"/>
                </a:solidFill>
                <a:latin typeface="맑은 고딕"/>
                <a:ea typeface="맑은 고딕"/>
              </a:rPr>
              <a:t>하며, 아직 정하지 않은 정책까지 검증하지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실행한 검사와 남은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미검증</a:t>
            </a:r>
            <a:r>
              <a:rPr sz="1800" b="0">
                <a:solidFill>
                  <a:srgbClr val="000000"/>
                </a:solidFill>
                <a:latin typeface="맑은 고딕"/>
                <a:ea typeface="맑은 고딕"/>
              </a:rPr>
              <a:t>은 응답 미확정·중복·역순·동시 통보·승인 뒤 배송 요청 실패다. 복구 정책과 기대값을 합의한 뒤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되돌릴 곳</a:t>
            </a:r>
            <a:r>
              <a:rPr sz="1800" b="0">
                <a:solidFill>
                  <a:srgbClr val="000000"/>
                </a:solidFill>
                <a:latin typeface="맑은 고딕"/>
                <a:ea typeface="맑은 고딕"/>
              </a:rPr>
              <a:t>을 구별한다. 틀린 사건·규칙은 분석으로, 책임·연동·동시성 문제는 설계로 돌아간다.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초안에 근거를 묻기</a:t>
            </a:r>
          </a:p>
          <a:p>
            <a:r>
              <a:rPr sz="1100" b="1">
                <a:solidFill>
                  <a:srgbClr val="000000"/>
                </a:solidFill>
                <a:latin typeface="맑은 고딕"/>
                <a:ea typeface="맑은 고딕"/>
              </a:rPr>
              <a:t>10. AI 초안 검토와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 초안은 업무 근거와 대조할 가설</a:t>
            </a:r>
            <a:r>
              <a:rPr sz="1800" b="0">
                <a:solidFill>
                  <a:srgbClr val="000000"/>
                </a:solidFill>
                <a:latin typeface="맑은 고딕"/>
                <a:ea typeface="맑은 고딕"/>
              </a:rPr>
              <a:t>이며, 빈칸을 채운 문장이 합의된 정책은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사건의 근거</a:t>
            </a:r>
            <a:r>
              <a:rPr sz="1800" b="0">
                <a:solidFill>
                  <a:srgbClr val="000000"/>
                </a:solidFill>
                <a:latin typeface="맑은 고딕"/>
                <a:ea typeface="맑은 고딕"/>
              </a:rPr>
              <a:t>를 묻는다. 요구에서 확인한 사건인가, 도구가 상상한 편의 기능인가?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이유</a:t>
            </a:r>
            <a:r>
              <a:rPr sz="1800" b="0">
                <a:solidFill>
                  <a:srgbClr val="000000"/>
                </a:solidFill>
                <a:latin typeface="맑은 고딕"/>
                <a:ea typeface="맑은 고딕"/>
              </a:rPr>
              <a:t>를 묻는다. 같은 사건에 다르게 반응하는 업무 조건인가, 구현 중간 단계인가?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순서의 근거</a:t>
            </a:r>
            <a:r>
              <a:rPr sz="1800" b="0">
                <a:solidFill>
                  <a:srgbClr val="000000"/>
                </a:solidFill>
                <a:latin typeface="맑은 고딕"/>
                <a:ea typeface="맑은 고딕"/>
              </a:rPr>
              <a:t>를 묻는다. 승인 결과를 받기 전 배송하거나 결제 시스템이 배송을 직접 지시하지 않는가?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미정의 보존</a:t>
            </a:r>
            <a:r>
              <a:rPr sz="1800" b="0">
                <a:solidFill>
                  <a:srgbClr val="000000"/>
                </a:solidFill>
                <a:latin typeface="맑은 고딕"/>
                <a:ea typeface="맑은 고딕"/>
              </a:rPr>
              <a:t>을 묻는다. 승인 뒤 배송 요청 실패를 취소·재시도로 조용히 확정하지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관점과의 일치</a:t>
            </a:r>
            <a:r>
              <a:rPr sz="1800" b="0">
                <a:solidFill>
                  <a:srgbClr val="000000"/>
                </a:solidFill>
                <a:latin typeface="맑은 고딕"/>
                <a:ea typeface="맑은 고딕"/>
              </a:rPr>
              <a:t>를 묻는다. 거절 뒤 주문 식별·확정 단가·배송지가 보존되는가?</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10. AI 초안 검토와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6556" y="2112010"/>
          <a:ext cx="6337300" cy="2016000"/>
        </p:xfrm>
        <a:graphic>
          <a:graphicData uri="http://schemas.openxmlformats.org/drawingml/2006/table">
            <a:tbl>
              <a:tblPr/>
              <a:tblGrid>
                <a:gridCol w="29591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고칠 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취소 상태로 보낸다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주문의 결제대기 자기 전이로 보존한다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요청을 배송중 상태로 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통보와 요청을 구별한다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 화살표를 실행 순서로 읽는다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흐름과 제어·상호작용 순서를 구별한다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커뮤니케이션의 번호가 시퀀스와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장면의 같은 메시지로 맞춘다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플래그 조합을 상태로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대한 반응이 달라지는 조건을 고른다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정책을 코드의 예외 처리로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질문을 업무 담당자에게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도식의 모양보다 업무 의미의 일치</a:t>
            </a:r>
            <a:r>
              <a:rPr sz="1800" b="0">
                <a:solidFill>
                  <a:srgbClr val="000000"/>
                </a:solidFill>
                <a:latin typeface="맑은 고딕"/>
                <a:ea typeface="맑은 고딕"/>
              </a:rPr>
              <a:t>를 검토해야 그럴듯한 그림이 틀린 구현으로 이어지는 것을 막는다.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초안과 수정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그림만 고치지 않는다.</a:t>
            </a:r>
            <a:r>
              <a:rPr sz="1800" b="0">
                <a:solidFill>
                  <a:srgbClr val="000000"/>
                </a:solidFill>
                <a:latin typeface="맑은 고딕"/>
                <a:ea typeface="맑은 고딕"/>
              </a:rPr>
              <a:t> 전이 목록·대표 예·코드·검사에서 같은 판단을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설계로 넘어가도 업무 의미를 유지</a:t>
            </a:r>
            <a:r>
              <a:rPr sz="1800" b="0">
                <a:solidFill>
                  <a:srgbClr val="000000"/>
                </a:solidFill>
                <a:latin typeface="맑은 고딕"/>
                <a:ea typeface="맑은 고딕"/>
              </a:rPr>
              <a:t>한다. 기술 객체와 연동 방법이 추가되어도 승인 뒤 배송이라는 규칙은 바뀌지 않는다.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5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앞선 요구와 정적 관점을 LLM에 제공하고, </a:t>
            </a:r>
            <a:r>
              <a:rPr sz="1400" b="1">
                <a:solidFill>
                  <a:srgbClr val="000000"/>
                </a:solidFill>
                <a:latin typeface="맑은 고딕"/>
                <a:ea typeface="맑은 고딕"/>
              </a:rPr>
              <a:t>동적 관점의 초안</a:t>
            </a:r>
            <a:r>
              <a:rPr sz="1400" b="0">
                <a:solidFill>
                  <a:srgbClr val="000000"/>
                </a:solidFill>
                <a:latin typeface="맑은 고딕"/>
                <a:ea typeface="맑은 고딕"/>
              </a:rPr>
              <a:t>을 검토·보완해 최종 MD로 남긴다.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와 실습 4의 </a:t>
            </a:r>
            <a:r>
              <a:rPr sz="1200" b="1">
                <a:solidFill>
                  <a:srgbClr val="000000"/>
                </a:solidFill>
                <a:latin typeface="맑은 고딕"/>
                <a:ea typeface="맑은 고딕"/>
              </a:rPr>
              <a:t>도메인 모델 정적 관점</a:t>
            </a:r>
            <a:r>
              <a:rPr sz="12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"같은 도메인 모델의 </a:t>
            </a:r>
            <a:r>
              <a:rPr sz="1200" b="1">
                <a:solidFill>
                  <a:srgbClr val="000000"/>
                </a:solidFill>
                <a:latin typeface="맑은 고딕"/>
                <a:ea typeface="맑은 고딕"/>
              </a:rPr>
              <a:t>사건·상태·전이·업무 상호작용</a:t>
            </a:r>
            <a:r>
              <a:rPr sz="1200" b="0">
                <a:solidFill>
                  <a:srgbClr val="000000"/>
                </a:solidFill>
                <a:latin typeface="맑은 고딕"/>
                <a:ea typeface="맑은 고딕"/>
              </a:rPr>
              <a:t>을 제안해라. 상태 기계·분석 시퀀스와 읽을 수 있는 목록을 보여라. 근거 없는 정책은 질문하고 설계·구현은 추가하지 마라."</a:t>
            </a:r>
          </a:p>
          <a:p>
            <a:pPr lvl="3" marL="723900" indent="0">
              <a:spcBef>
                <a:spcPts val="300"/>
              </a:spcBef>
              <a:spcAft>
                <a:spcPts val="300"/>
              </a:spcAft>
              <a:buNone/>
            </a:pPr>
            <a:r>
              <a:rPr sz="1200" b="0">
                <a:solidFill>
                  <a:srgbClr val="000000"/>
                </a:solidFill>
                <a:latin typeface="맑은 고딕"/>
                <a:ea typeface="맑은 고딕"/>
              </a:rPr>
              <a:t>②~④ 앞선 질문에 대한 답과 추가 수정 요청을 함께 입력한다. "승인·거절·재결제와 </a:t>
            </a:r>
            <a:r>
              <a:rPr sz="1200" b="1">
                <a:solidFill>
                  <a:srgbClr val="000000"/>
                </a:solidFill>
                <a:latin typeface="맑은 고딕"/>
                <a:ea typeface="맑은 고딕"/>
              </a:rPr>
              <a:t>금지·미정</a:t>
            </a:r>
            <a:r>
              <a:rPr sz="1200" b="0">
                <a:solidFill>
                  <a:srgbClr val="000000"/>
                </a:solidFill>
                <a:latin typeface="맑은 고딕"/>
                <a:ea typeface="맑은 고딕"/>
              </a:rPr>
              <a:t>을 구별하고 같은 주문·확정 금액이 유지되는지 대표 예로 확인해라."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동적 관점을 Markdown 파일</a:t>
            </a:r>
            <a:r>
              <a:rPr sz="1200" b="0">
                <a:solidFill>
                  <a:srgbClr val="000000"/>
                </a:solidFill>
                <a:latin typeface="맑은 고딕"/>
                <a:ea typeface="맑은 고딕"/>
              </a:rPr>
              <a:t>로 생성해라. 상태 기계·시퀀스 원본, 전이·금지 목록, 규칙의 대표 예와 미정을 보존하고 새 정책은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요구와 범위에 없는 사건·상태를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전이</a:t>
            </a:r>
            <a:r>
              <a:rPr sz="1200" b="0">
                <a:solidFill>
                  <a:srgbClr val="000000"/>
                </a:solidFill>
                <a:latin typeface="맑은 고딕"/>
                <a:ea typeface="맑은 고딕"/>
              </a:rPr>
              <a:t> —</a:t>
            </a:r>
            <a:r>
              <a:rPr sz="1000" b="0">
                <a:solidFill>
                  <a:srgbClr val="000000"/>
                </a:solidFill>
                <a:latin typeface="맑은 고딕"/>
                <a:ea typeface="맑은 고딕"/>
              </a:rPr>
              <a:t> 거절 뒤 같은 주문이 재결제할 수 있는가?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승인 전 배송 요청을 금지했는가?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일치</a:t>
            </a:r>
            <a:r>
              <a:rPr sz="1200" b="0">
                <a:solidFill>
                  <a:srgbClr val="000000"/>
                </a:solidFill>
                <a:latin typeface="맑은 고딕"/>
                <a:ea typeface="맑은 고딕"/>
              </a:rPr>
              <a:t> —</a:t>
            </a:r>
            <a:r>
              <a:rPr sz="1000" b="0">
                <a:solidFill>
                  <a:srgbClr val="000000"/>
                </a:solidFill>
                <a:latin typeface="맑은 고딕"/>
                <a:ea typeface="맑은 고딕"/>
              </a:rPr>
              <a:t> 도식·목록·예의 상태와 값이 같은가?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배송 실패 등 미정 정책을 임의로 구현했는가?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주문한다-동적모델.md</a:t>
            </a:r>
            <a:r>
              <a:rPr sz="1200" b="0">
                <a:solidFill>
                  <a:srgbClr val="000000"/>
                </a:solidFill>
                <a:latin typeface="맑은 고딕"/>
                <a:ea typeface="맑은 고딕"/>
              </a:rPr>
              <a:t> —</a:t>
            </a:r>
            <a:r>
              <a:rPr sz="1000" b="0">
                <a:solidFill>
                  <a:srgbClr val="000000"/>
                </a:solidFill>
                <a:latin typeface="맑은 고딕"/>
                <a:ea typeface="맑은 고딕"/>
              </a:rPr>
              <a:t> 도메인 모델의 동적 관점을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6의 투입물</a:t>
            </a:r>
            <a:r>
              <a:rPr sz="1000" b="0">
                <a:solidFill>
                  <a:srgbClr val="000000"/>
                </a:solidFill>
                <a:latin typeface="맑은 고딕"/>
                <a:ea typeface="맑은 고딕"/>
              </a:rPr>
              <a:t>이며 요구·정적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사건·전이·순서의 근거를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같은 도메인 모델의 정적 조건과 서로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로 상태별 허용과 사건의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커뮤니케이션·액티비티·DFD</a:t>
            </a:r>
            <a:r>
              <a:rPr sz="1800" b="0">
                <a:solidFill>
                  <a:srgbClr val="000000"/>
                </a:solidFill>
                <a:latin typeface="맑은 고딕"/>
                <a:ea typeface="맑은 고딕"/>
              </a:rPr>
              <a:t>는 연결·활동·데이터의 질문에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자기 전이와 승인 뒤 배송</a:t>
            </a:r>
            <a:r>
              <a:rPr sz="1800" b="0">
                <a:solidFill>
                  <a:srgbClr val="000000"/>
                </a:solidFill>
                <a:latin typeface="맑은 고딕"/>
                <a:ea typeface="맑은 고딕"/>
              </a:rPr>
              <a:t>을 명시하고 대표 예로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금지·미정·범위 밖</a:t>
            </a:r>
            <a:r>
              <a:rPr sz="1800" b="0">
                <a:solidFill>
                  <a:srgbClr val="000000"/>
                </a:solidFill>
                <a:latin typeface="맑은 고딕"/>
                <a:ea typeface="맑은 고딕"/>
              </a:rPr>
              <a:t>을 구별해 AI가 정책을 대신 정하지 않게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06. 아키텍처"는 </a:t>
            </a:r>
            <a:r>
              <a:rPr sz="1800" b="1">
                <a:solidFill>
                  <a:srgbClr val="000000"/>
                </a:solidFill>
                <a:latin typeface="맑은 고딕"/>
                <a:ea typeface="맑은 고딕"/>
              </a:rPr>
              <a:t>업무 의미를 지킬 소프트웨어 경계·의존·연동 규격</a:t>
            </a:r>
            <a:r>
              <a:rPr sz="1800" b="0">
                <a:solidFill>
                  <a:srgbClr val="000000"/>
                </a:solidFill>
                <a:latin typeface="맑은 고딕"/>
                <a:ea typeface="맑은 고딕"/>
              </a:rPr>
              <a:t>을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모델은 실습 3의 요구 범위에서 같은 주문이 사건에 따라 어떻게 바뀌는지 보여 준다. 범위는 주문 생성, 카드 승인·거절, 같은 주문의 재결제, 승인 뒤의 배송 요청이다.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같은 주문의 생애주기를 이해하기 위한 </a:t>
            </a:r>
            <a:r>
              <a:rPr sz="1000" b="1">
                <a:solidFill>
                  <a:srgbClr val="000000"/>
                </a:solidFill>
                <a:latin typeface="맑은 고딕"/>
                <a:ea typeface="맑은 고딕"/>
              </a:rPr>
              <a:t>참고 상태</a:t>
            </a:r>
            <a:r>
              <a:rPr sz="1000" b="0">
                <a:solidFill>
                  <a:srgbClr val="000000"/>
                </a:solidFill>
                <a:latin typeface="맑은 고딕"/>
                <a:ea typeface="맑은 고딕"/>
              </a:rPr>
              <a:t>다. 이 두 상태를 넣었다고 실습 3의 요구 범위가 넓어지지는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취소는 범위 밖이다.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대표 예는 모두 같은 주문 A를 사용한다. 주문 A는 펜 2개, 확정 단가 1,000원, 총액 2,000원, 배송지 서울이다. "주문 A"는 예를 들기 위해 붙인 이름이며, 주문 번호 형식은 정하지 않는다.</a:t>
            </a:r>
          </a:p>
          <a:p>
            <a:pPr marL="182880" indent="0">
              <a:spcBef>
                <a:spcPts val="300"/>
              </a:spcBef>
              <a:spcAft>
                <a:spcPts val="300"/>
              </a:spcAft>
              <a:buNone/>
            </a:pPr>
            <a:r>
              <a:rPr sz="1000" b="1">
                <a:solidFill>
                  <a:srgbClr val="000000"/>
                </a:solidFill>
                <a:latin typeface="맑은 고딕"/>
                <a:ea typeface="맑은 고딕"/>
              </a:rPr>
              <a:t>상태 기계</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4193"/>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생애주기 상태 기계</a:t>
            </a:r>
          </a:p>
        </p:txBody>
      </p:sp>
      <p:pic>
        <p:nvPicPr>
          <p:cNvPr id="10" name="mermaid Diagram 1"/>
          <p:cNvPicPr>
            <a:picLocks noChangeAspect="1"/>
          </p:cNvPicPr>
          <p:nvPr/>
        </p:nvPicPr>
        <p:blipFill>
          <a:blip r:embed="mermaidImage1"/>
          <a:stretch>
            <a:fillRect/>
          </a:stretch>
        </p:blipFill>
        <p:spPr>
          <a:xfrm>
            <a:off x="498016" y="2901937"/>
            <a:ext cx="8147968" cy="10184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2531392"/>
          <a:ext cx="5605780" cy="1728000"/>
        </p:xfrm>
        <a:graphic>
          <a:graphicData uri="http://schemas.openxmlformats.org/drawingml/2006/table">
            <a:tbl>
              <a:tblPr/>
              <a:tblGrid>
                <a:gridCol w="2120900"/>
                <a:gridCol w="1310640"/>
                <a:gridCol w="9474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진입(이전 상태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118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와 </a:t>
            </a:r>
            <a:r>
              <a:rPr sz="1000" b="0">
                <a:solidFill>
                  <a:srgbClr val="000000"/>
                </a:solidFill>
                <a:latin typeface="맑은 고딕"/>
                <a:ea typeface="맑은 고딕"/>
              </a:rPr>
              <a:t>결제완료</a:t>
            </a:r>
            <a:r>
              <a:rPr sz="1000" b="0">
                <a:solidFill>
                  <a:srgbClr val="000000"/>
                </a:solidFill>
                <a:latin typeface="맑은 고딕"/>
                <a:ea typeface="맑은 고딕"/>
              </a:rPr>
              <a:t>는 실습 3의 요구 범위이고, </a:t>
            </a: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생애주기 참고 범위다.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사건에 대한 반응이다. 배송 요청 자체는 상태 전이가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없는 경우는 전이로 그리지 않는다. 승인이나 거절로 간주하지 않는다는 규칙만 정해졌고, 그 뒤의 처리는 정하지 않았다.</a:t>
            </a:r>
          </a:p>
          <a:p>
            <a:pPr marL="182880" indent="0">
              <a:spcBef>
                <a:spcPts val="300"/>
              </a:spcBef>
              <a:spcAft>
                <a:spcPts val="300"/>
              </a:spcAft>
              <a:buNone/>
            </a:pPr>
            <a:r>
              <a:rPr sz="1000" b="1">
                <a:solidFill>
                  <a:srgbClr val="000000"/>
                </a:solidFill>
                <a:latin typeface="맑은 고딕"/>
                <a:ea typeface="맑은 고딕"/>
              </a:rPr>
              <a:t>전이 목록</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3294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전이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7992"/>
            <a:ext cx="8412480" cy="1566333"/>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코드: 결제대기 </a:t>
            </a:r>
            <a:r>
              <a:rPr sz="1000" b="0">
                <a:solidFill>
                  <a:srgbClr val="000000"/>
                </a:solidFill>
                <a:latin typeface="맑은 고딕"/>
                <a:ea typeface="맑은 고딕"/>
              </a:rPr>
              <a:t>PENDING_PAYMENT</a:t>
            </a:r>
            <a:r>
              <a:rPr sz="1000" b="0">
                <a:solidFill>
                  <a:srgbClr val="000000"/>
                </a:solidFill>
                <a:latin typeface="맑은 고딕"/>
                <a:ea typeface="맑은 고딕"/>
              </a:rPr>
              <a:t>, 결제완료 </a:t>
            </a:r>
            <a:r>
              <a:rPr sz="1000" b="0">
                <a:solidFill>
                  <a:srgbClr val="000000"/>
                </a:solidFill>
                <a:latin typeface="맑은 고딕"/>
                <a:ea typeface="맑은 고딕"/>
              </a:rPr>
              <a:t>PAID</a:t>
            </a:r>
            <a:r>
              <a:rPr sz="1000" b="0">
                <a:solidFill>
                  <a:srgbClr val="000000"/>
                </a:solidFill>
                <a:latin typeface="맑은 고딕"/>
                <a:ea typeface="맑은 고딕"/>
              </a:rPr>
              <a:t>, 배송중 </a:t>
            </a:r>
            <a:r>
              <a:rPr sz="1000" b="0">
                <a:solidFill>
                  <a:srgbClr val="000000"/>
                </a:solidFill>
                <a:latin typeface="맑은 고딕"/>
                <a:ea typeface="맑은 고딕"/>
              </a:rPr>
              <a:t>IN_DELIVERY</a:t>
            </a:r>
            <a:r>
              <a:rPr sz="1000" b="0">
                <a:solidFill>
                  <a:srgbClr val="000000"/>
                </a:solidFill>
                <a:latin typeface="맑은 고딕"/>
                <a:ea typeface="맑은 고딕"/>
              </a:rPr>
              <a:t>, 배송완료 </a:t>
            </a:r>
            <a:r>
              <a:rPr sz="1000" b="0">
                <a:solidFill>
                  <a:srgbClr val="000000"/>
                </a:solidFill>
                <a:latin typeface="맑은 고딕"/>
                <a:ea typeface="맑은 고딕"/>
              </a:rPr>
              <a:t>DELIVERED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사건별 반응은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배송지 지정:</a:t>
            </a:r>
            <a:r>
              <a:rPr sz="1000" b="0">
                <a:solidFill>
                  <a:srgbClr val="000000"/>
                </a:solidFill>
                <a:latin typeface="맑은 고딕"/>
                <a:ea typeface="맑은 고딕"/>
              </a:rPr>
              <a:t> 주문 A 생성. 펜 2개·단가 1,000원·총액 2,000원·서울 확정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완료:</a:t>
            </a:r>
            <a:r>
              <a:rPr sz="1000" b="0">
                <a:solidFill>
                  <a:srgbClr val="000000"/>
                </a:solidFill>
                <a:latin typeface="맑은 고딕"/>
                <a:ea typeface="맑은 고딕"/>
              </a:rPr>
              <a:t> 서울로 배송 요청 1회 발생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거절:</a:t>
            </a:r>
            <a:r>
              <a:rPr sz="1000" b="0">
                <a:solidFill>
                  <a:srgbClr val="000000"/>
                </a:solidFill>
                <a:latin typeface="맑은 고딕"/>
                <a:ea typeface="맑은 고딕"/>
              </a:rPr>
              <a:t> 배송 요청 없음. 같은 주문 A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시작 통보, 배송 완료 통보:</a:t>
            </a:r>
            <a:r>
              <a:rPr sz="1000" b="0">
                <a:solidFill>
                  <a:srgbClr val="000000"/>
                </a:solidFill>
                <a:latin typeface="맑은 고딕"/>
                <a:ea typeface="맑은 고딕"/>
              </a:rPr>
              <a:t> 정한 반응 없음</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재결제가 승인되는 경우에 새로운 전이가 생기지는 않는다. 같은 주문 A에 둘째 행</a:t>
            </a:r>
            <a:r>
              <a:rPr sz="1000" b="0">
                <a:solidFill>
                  <a:srgbClr val="000000"/>
                </a:solidFill>
                <a:latin typeface="맑은 고딕"/>
                <a:ea typeface="맑은 고딕"/>
              </a:rPr>
              <a:t>(카드 승인 완료)</a:t>
            </a:r>
            <a:r>
              <a:rPr sz="1000" b="0">
                <a:solidFill>
                  <a:srgbClr val="000000"/>
                </a:solidFill>
                <a:latin typeface="맑은 고딕"/>
                <a:ea typeface="맑은 고딕"/>
              </a:rPr>
              <a:t>이 적용된다.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1회"는 배송 요청이라는 업무 사건이 한 번 일어난다는 뜻이다. 그 사건을 어디에 어떻게 남기는지, 운영상 중복을 막거나 다시 시도하는 기준은 정하지 않는다.</a:t>
            </a:r>
          </a:p>
          <a:p>
            <a:pPr marL="182880" indent="0">
              <a:spcBef>
                <a:spcPts val="300"/>
              </a:spcBef>
              <a:spcAft>
                <a:spcPts val="300"/>
              </a:spcAft>
              <a:buNone/>
            </a:pPr>
            <a:r>
              <a:rPr sz="1000" b="1">
                <a:solidFill>
                  <a:srgbClr val="000000"/>
                </a:solidFill>
                <a:latin typeface="맑은 고딕"/>
                <a:ea typeface="맑은 고딕"/>
              </a:rPr>
              <a:t>정상 승인 시퀀스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065616"/>
            <a:ext cx="8412480" cy="201168"/>
          </a:xfrm>
          <a:prstGeom prst="rect">
            <a:avLst/>
          </a:prstGeom>
          <a:noFill/>
        </p:spPr>
        <p:txBody>
          <a:bodyPr wrap="square">
            <a:spAutoFit/>
          </a:bodyPr>
          <a:lstStyle/>
          <a:p>
            <a:pPr algn="ctr"/>
            <a:r>
              <a:rPr sz="1400" b="1">
                <a:solidFill>
                  <a:srgbClr val="000000"/>
                </a:solidFill>
                <a:latin typeface="맑은 고딕"/>
                <a:ea typeface="맑은 고딕"/>
              </a:rPr>
              <a:t>카드 승인 완료와 배송 요청</a:t>
            </a:r>
          </a:p>
        </p:txBody>
      </p:sp>
      <p:pic>
        <p:nvPicPr>
          <p:cNvPr id="10" name="mermaid Diagram 2"/>
          <p:cNvPicPr>
            <a:picLocks noChangeAspect="1"/>
          </p:cNvPicPr>
          <p:nvPr/>
        </p:nvPicPr>
        <p:blipFill>
          <a:blip r:embed="mermaidImage2"/>
          <a:stretch>
            <a:fillRect/>
          </a:stretch>
        </p:blipFill>
        <p:spPr>
          <a:xfrm>
            <a:off x="877094" y="2303360"/>
            <a:ext cx="7389812" cy="220563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고객이 </a:t>
            </a:r>
            <a:r>
              <a:rPr sz="1000" b="0">
                <a:solidFill>
                  <a:srgbClr val="000000"/>
                </a:solidFill>
                <a:latin typeface="맑은 고딕"/>
                <a:ea typeface="맑은 고딕"/>
              </a:rPr>
              <a:t>결제대기</a:t>
            </a:r>
            <a:r>
              <a:rPr sz="1000" b="0">
                <a:solidFill>
                  <a:srgbClr val="000000"/>
                </a:solidFill>
                <a:latin typeface="맑은 고딕"/>
                <a:ea typeface="맑은 고딕"/>
              </a:rPr>
              <a:t>인 주문 A의 카드 결제를 요청한다.</a:t>
            </a:r>
          </a:p>
          <a:p>
            <a:pPr lvl="2" marL="551180" indent="-139700">
              <a:spcBef>
                <a:spcPts val="300"/>
              </a:spcBef>
              <a:spcAft>
                <a:spcPts val="300"/>
              </a:spcAft>
              <a:buNone/>
            </a:pPr>
            <a:r>
              <a:rPr sz="1000" b="0">
                <a:solidFill>
                  <a:srgbClr val="000000"/>
                </a:solidFill>
                <a:latin typeface="맑은 고딕"/>
                <a:ea typeface="맑은 고딕"/>
              </a:rPr>
              <a:t>2. 주문 시스템이 확정 총액 2,000원으로 카드 승인을 요청한다.</a:t>
            </a:r>
          </a:p>
          <a:p>
            <a:pPr lvl="2" marL="551180" indent="-139700">
              <a:spcBef>
                <a:spcPts val="300"/>
              </a:spcBef>
              <a:spcAft>
                <a:spcPts val="300"/>
              </a:spcAft>
              <a:buNone/>
            </a:pPr>
            <a:r>
              <a:rPr sz="1000" b="0">
                <a:solidFill>
                  <a:srgbClr val="000000"/>
                </a:solidFill>
                <a:latin typeface="맑은 고딕"/>
                <a:ea typeface="맑은 고딕"/>
              </a:rPr>
              <a:t>3. 카드 승인 완료가 주문 시스템에 전달된다.</a:t>
            </a:r>
          </a:p>
          <a:p>
            <a:pPr lvl="2" marL="551180" indent="-139700">
              <a:spcBef>
                <a:spcPts val="300"/>
              </a:spcBef>
              <a:spcAft>
                <a:spcPts val="300"/>
              </a:spcAft>
              <a:buNone/>
            </a:pPr>
            <a:r>
              <a:rPr sz="1000" b="0">
                <a:solidFill>
                  <a:srgbClr val="000000"/>
                </a:solidFill>
                <a:latin typeface="맑은 고딕"/>
                <a:ea typeface="맑은 고딕"/>
              </a:rPr>
              <a:t>4. 이 사건에 대한 반응으로 주문 A가 </a:t>
            </a:r>
            <a:r>
              <a:rPr sz="1000" b="0">
                <a:solidFill>
                  <a:srgbClr val="000000"/>
                </a:solidFill>
                <a:latin typeface="맑은 고딕"/>
                <a:ea typeface="맑은 고딕"/>
              </a:rPr>
              <a:t>결제완료</a:t>
            </a:r>
            <a:r>
              <a:rPr sz="1000" b="0">
                <a:solidFill>
                  <a:srgbClr val="000000"/>
                </a:solidFill>
                <a:latin typeface="맑은 고딕"/>
                <a:ea typeface="맑은 고딕"/>
              </a:rPr>
              <a:t>가 되고, 서울로 배송 요청이 한 번 일어난다.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도식에는 참여자 사이에 오가는 업무 사건만 그렸다.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화살표는 사건이 일어나는 순서만 나타낸다. 실선이라고 동기 호출을 뜻하지는 않으며, 동기·비동기 전달 방식은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변화는 상태 기계와 전이 목록에서 다룬다.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고객은 이후 주문 A의 결제완료 결과를 확인한다. 확인 경로, 별도 통지 여부, 통지 주체는 정하지 않았으므로 도식에 넣지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시작·완료 통보는 생애주기 참고 범위이므로 이 장면에 넣지 않았다.</a:t>
            </a:r>
          </a:p>
          <a:p>
            <a:pPr marL="182880" indent="0">
              <a:spcBef>
                <a:spcPts val="300"/>
              </a:spcBef>
              <a:spcAft>
                <a:spcPts val="300"/>
              </a:spcAft>
              <a:buNone/>
            </a:pPr>
            <a:r>
              <a:rPr sz="1000" b="1">
                <a:solidFill>
                  <a:srgbClr val="000000"/>
                </a:solidFill>
                <a:latin typeface="맑은 고딕"/>
                <a:ea typeface="맑은 고딕"/>
              </a:rPr>
              <a:t>규칙의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네 예 모두 주문 A의 식별, 펜 2개, 확정 단가 1,000원, 총액 2,000원, 배송지 서울이 바뀌지 않는다. 예마다 「유지되는 값」 줄에서 확인할 수 있다.</a:t>
            </a:r>
          </a:p>
          <a:p>
            <a:pPr marL="322580" indent="-139700">
              <a:spcBef>
                <a:spcPts val="300"/>
              </a:spcBef>
              <a:spcAft>
                <a:spcPts val="300"/>
              </a:spcAft>
              <a:buNone/>
            </a:pPr>
            <a:r>
              <a:rPr sz="1000" b="1">
                <a:solidFill>
                  <a:srgbClr val="000000"/>
                </a:solidFill>
                <a:latin typeface="맑은 고딕"/>
                <a:ea typeface="맑은 고딕"/>
              </a:rPr>
              <a:t>1.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결제완료</a:t>
            </a:r>
            <a:r>
              <a:rPr sz="1000" b="0">
                <a:solidFill>
                  <a:srgbClr val="000000"/>
                </a:solidFill>
                <a:latin typeface="맑은 고딕"/>
                <a:ea typeface="맑은 고딕"/>
              </a:rPr>
              <a:t>, 서울로 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2. 판매가 변경 뒤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r>
              <a:rPr sz="1000" b="0">
                <a:solidFill>
                  <a:srgbClr val="000000"/>
                </a:solidFill>
                <a:latin typeface="맑은 고딕"/>
                <a:ea typeface="맑은 고딕"/>
              </a:rPr>
              <a:t>, 현재 판매가 개당 1,200원</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승인 요청 금액 2,000원, </a:t>
            </a:r>
            <a:r>
              <a:rPr sz="1000" b="0">
                <a:solidFill>
                  <a:srgbClr val="000000"/>
                </a:solidFill>
                <a:latin typeface="맑은 고딕"/>
                <a:ea typeface="맑은 고딕"/>
              </a:rPr>
              <a:t>결제완료</a:t>
            </a:r>
            <a:r>
              <a:rPr sz="1000" b="0">
                <a:solidFill>
                  <a:srgbClr val="000000"/>
                </a:solidFill>
                <a:latin typeface="맑은 고딕"/>
                <a:ea typeface="맑은 고딕"/>
              </a:rPr>
              <a:t>, 배송 요청 1회</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a:t>
            </a:r>
            <a:r>
              <a:rPr sz="1000" b="0">
                <a:solidFill>
                  <a:srgbClr val="000000"/>
                </a:solidFill>
                <a:latin typeface="맑은 고딕"/>
                <a:ea typeface="맑은 고딕"/>
              </a:rPr>
              <a:t>(현재 판매가와 무관)</a:t>
            </a:r>
            <a:r>
              <a:rPr sz="1000" b="0">
                <a:solidFill>
                  <a:srgbClr val="000000"/>
                </a:solidFill>
                <a:latin typeface="맑은 고딕"/>
                <a:ea typeface="맑은 고딕"/>
              </a:rPr>
              <a:t> · 총액 2,000원 · 서울</a:t>
            </a:r>
          </a:p>
          <a:p>
            <a:pPr marL="322580" indent="-139700">
              <a:spcBef>
                <a:spcPts val="300"/>
              </a:spcBef>
              <a:spcAft>
                <a:spcPts val="300"/>
              </a:spcAft>
              <a:buNone/>
            </a:pPr>
            <a:r>
              <a:rPr sz="1000" b="1">
                <a:solidFill>
                  <a:srgbClr val="000000"/>
                </a:solidFill>
                <a:latin typeface="맑은 고딕"/>
                <a:ea typeface="맑은 고딕"/>
              </a:rPr>
              <a:t>3.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 승인 요청 →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결제대기</a:t>
            </a:r>
            <a:r>
              <a:rPr sz="1000" b="0">
                <a:solidFill>
                  <a:srgbClr val="000000"/>
                </a:solidFill>
                <a:latin typeface="맑은 고딕"/>
                <a:ea typeface="맑은 고딕"/>
              </a:rPr>
              <a:t> 자기 전이, 배송 요청 0회, 다른 카드로 재결제 가능</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4. 거절 뒤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X가 거절된 주문 A, </a:t>
            </a:r>
            <a:r>
              <a:rPr sz="1000" b="0">
                <a:solidFill>
                  <a:srgbClr val="000000"/>
                </a:solidFill>
                <a:latin typeface="맑은 고딕"/>
                <a:ea typeface="맑은 고딕"/>
              </a:rPr>
              <a:t>결제대기</a:t>
            </a:r>
            <a:r>
              <a:rPr sz="1000" b="0">
                <a:solidFill>
                  <a:srgbClr val="000000"/>
                </a:solidFill>
                <a:latin typeface="맑은 고딕"/>
                <a:ea typeface="맑은 고딕"/>
              </a:rPr>
              <a:t>, 배송 요청 0회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같은 주문 A를 카드 Y에 2,000원으로 다시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새 주문 없음, 주문 A가 </a:t>
            </a:r>
            <a:r>
              <a:rPr sz="1000" b="0">
                <a:solidFill>
                  <a:srgbClr val="000000"/>
                </a:solidFill>
                <a:latin typeface="맑은 고딕"/>
                <a:ea typeface="맑은 고딕"/>
              </a:rPr>
              <a:t>결제완료</a:t>
            </a:r>
            <a:r>
              <a:rPr sz="1000" b="0">
                <a:solidFill>
                  <a:srgbClr val="000000"/>
                </a:solidFill>
                <a:latin typeface="맑은 고딕"/>
                <a:ea typeface="맑은 고딕"/>
              </a:rPr>
              <a:t>, 카드 X 거절부터 카드 Y 승인까지 배송 요청 총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182880" indent="0">
              <a:spcBef>
                <a:spcPts val="300"/>
              </a:spcBef>
              <a:spcAft>
                <a:spcPts val="300"/>
              </a:spcAft>
              <a:buNone/>
            </a:pPr>
            <a:r>
              <a:rPr sz="1000" b="1">
                <a:solidFill>
                  <a:srgbClr val="000000"/>
                </a:solidFill>
                <a:latin typeface="맑은 고딕"/>
                <a:ea typeface="맑은 고딕"/>
              </a:rPr>
              <a:t>금지·참고 조건·미정·범위 밖</a:t>
            </a:r>
          </a:p>
          <a:p>
            <a:pPr marL="182880" indent="0">
              <a:spcBef>
                <a:spcPts val="300"/>
              </a:spcBef>
              <a:spcAft>
                <a:spcPts val="300"/>
              </a:spcAft>
              <a:buNone/>
            </a:pPr>
            <a:r>
              <a:rPr sz="1000" b="1">
                <a:solidFill>
                  <a:srgbClr val="000000"/>
                </a:solidFill>
                <a:latin typeface="맑은 고딕"/>
                <a:ea typeface="맑은 고딕"/>
              </a:rPr>
              <a:t>확정된 요구에 근거한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완료 없이 </a:t>
            </a:r>
            <a:r>
              <a:rPr sz="1000" b="0">
                <a:solidFill>
                  <a:srgbClr val="000000"/>
                </a:solidFill>
                <a:latin typeface="맑은 고딕"/>
                <a:ea typeface="맑은 고딕"/>
              </a:rPr>
              <a:t>결제대기</a:t>
            </a:r>
            <a:r>
              <a:rPr sz="1000" b="0">
                <a:solidFill>
                  <a:srgbClr val="000000"/>
                </a:solidFill>
                <a:latin typeface="맑은 고딕"/>
                <a:ea typeface="맑은 고딕"/>
              </a:rPr>
              <a:t>에서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완료로도, 거절로도 간주할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완료되기 전에는 배송을 요청할 수 없다. 거절되면 배송을 요청하지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 수량, 배송지는 바꿀 수 없다. 주문 생성 뒤 판매가가 바뀌어도 확정 단가, 총액,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재결제를 새 주문으로 대신할 수 없다.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생애주기 참고 범위의 전이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아래는 이번 모델에서 합의한 참고 조건이며, 실습 3의 요구나 수용 기준이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요청만으로는 </a:t>
            </a:r>
            <a:r>
              <a:rPr sz="1000" b="0">
                <a:solidFill>
                  <a:srgbClr val="000000"/>
                </a:solidFill>
                <a:latin typeface="맑은 고딕"/>
                <a:ea typeface="맑은 고딕"/>
              </a:rPr>
              <a:t>배송중</a:t>
            </a:r>
            <a:r>
              <a:rPr sz="1000" b="0">
                <a:solidFill>
                  <a:srgbClr val="000000"/>
                </a:solidFill>
                <a:latin typeface="맑은 고딕"/>
                <a:ea typeface="맑은 고딕"/>
              </a:rPr>
              <a:t>이 되지 않는다. </a:t>
            </a:r>
            <a:r>
              <a:rPr sz="1000" b="0">
                <a:solidFill>
                  <a:srgbClr val="000000"/>
                </a:solidFill>
                <a:latin typeface="맑은 고딕"/>
                <a:ea typeface="맑은 고딕"/>
              </a:rPr>
              <a:t>결제완료</a:t>
            </a:r>
            <a:r>
              <a:rPr sz="1000" b="0">
                <a:solidFill>
                  <a:srgbClr val="000000"/>
                </a:solidFill>
                <a:latin typeface="맑은 고딕"/>
                <a:ea typeface="맑은 고딕"/>
              </a:rPr>
              <a:t>에서 </a:t>
            </a:r>
            <a:r>
              <a:rPr sz="1000" b="0">
                <a:solidFill>
                  <a:srgbClr val="000000"/>
                </a:solidFill>
                <a:latin typeface="맑은 고딕"/>
                <a:ea typeface="맑은 고딕"/>
              </a:rPr>
              <a:t>배송중</a:t>
            </a:r>
            <a:r>
              <a:rPr sz="1000" b="0">
                <a:solidFill>
                  <a:srgbClr val="000000"/>
                </a:solidFill>
                <a:latin typeface="맑은 고딕"/>
                <a:ea typeface="맑은 고딕"/>
              </a:rPr>
              <a:t>으로 가려면 배송 시작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에서 </a:t>
            </a:r>
            <a:r>
              <a:rPr sz="1000" b="0">
                <a:solidFill>
                  <a:srgbClr val="000000"/>
                </a:solidFill>
                <a:latin typeface="맑은 고딕"/>
                <a:ea typeface="맑은 고딕"/>
              </a:rPr>
              <a:t>배송완료</a:t>
            </a:r>
            <a:r>
              <a:rPr sz="1000" b="0">
                <a:solidFill>
                  <a:srgbClr val="000000"/>
                </a:solidFill>
                <a:latin typeface="맑은 고딕"/>
                <a:ea typeface="맑은 고딕"/>
              </a:rPr>
              <a:t>로 가려면 배송 완료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통보가 오지 않거나 늦는 경우처럼 배송 진행 중의 다른 경우는 다루지 않는다.</a:t>
            </a:r>
          </a:p>
          <a:p>
            <a:pPr marL="182880" indent="0">
              <a:spcBef>
                <a:spcPts val="300"/>
              </a:spcBef>
              <a:spcAft>
                <a:spcPts val="300"/>
              </a:spcAft>
              <a:buNone/>
            </a:pPr>
            <a:r>
              <a:rPr sz="1000" b="1">
                <a:solidFill>
                  <a:srgbClr val="000000"/>
                </a:solidFill>
                <a:latin typeface="맑은 고딕"/>
                <a:ea typeface="맑은 고딕"/>
              </a:rPr>
              <a:t>결정하지 않고 남겨 두는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후속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전·후 재고 부족 시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회원·비회원 여부와 본인 확인 방법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조건이 카드 결제 요청에도 적용되는지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요청이 실패할 때의 처리, 운영상 중복 방지와 재시도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결과를 별도로 통지할지 여부와 담당 주체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금지는 이미 정해진 규칙에 어긋나는 변화다. 미정은 허용할지 금지할지 판단할 정책이 아직 없는 사안이다. 따라서 미정 사안을 새로운 상태나 전이로 메우지 않는다.</a:t>
            </a:r>
          </a:p>
          <a:p>
            <a:pPr marL="182880" indent="0">
              <a:spcBef>
                <a:spcPts val="300"/>
              </a:spcBef>
              <a:spcAft>
                <a:spcPts val="300"/>
              </a:spcAft>
              <a:buNone/>
            </a:pPr>
            <a:r>
              <a:rPr sz="1000" b="1">
                <a:solidFill>
                  <a:srgbClr val="000000"/>
                </a:solidFill>
                <a:latin typeface="맑은 고딕"/>
                <a:ea typeface="맑은 고딕"/>
              </a:rPr>
              <a:t>범위 밖</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 그리고 주문 성립 이후의 환불·반품·교환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33</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33</vt:i4>
      </vt:variant>
    </vt:vector>
  </HeadingPairs>
  <TitlesOfParts>
    <vt:vector size="37" baseType="lpstr">
      <vt:lpstr>맑은 고딕</vt:lpstr>
      <vt:lpstr>Arial</vt:lpstr>
      <vt:lpstr>Wingdings</vt:lpstr>
      <vt:lpstr>4_Office 테마</vt:lpstr>
      <vt:lpstr>05. 동적 모델 목차</vt:lpstr>
      <vt:lpstr>01. 세션 목표</vt:lpstr>
      <vt:lpstr>같은 모델의 구조와 행위 02. 도메인 모델의 동적 관점</vt:lpstr>
      <vt:lpstr>질문에 따라 도식을 고르기 02. 도메인 모델의 동적 관점</vt:lpstr>
      <vt:lpstr>업무에서 의미 있는 사건 03. 사건과 상태·전이</vt:lpstr>
      <vt:lpstr>상태와 전이 03. 사건과 상태·전이</vt:lpstr>
      <vt:lpstr>상태 기계 다이어그램 03. 사건과 상태·전이</vt:lpstr>
      <vt:lpstr>전이를 목록으로 확인하기 03. 사건과 상태·전이</vt:lpstr>
      <vt:lpstr>거절과 재결제 03. 사건과 상태·전이</vt:lpstr>
      <vt:lpstr>04. 금지와 미정</vt:lpstr>
      <vt:lpstr>전후의 상태와 값을 함께 확인하기 05. 업무 규칙과 대표 예</vt:lpstr>
      <vt:lpstr>대표 예로 모순 찾기 05. 업무 규칙과 대표 예</vt:lpstr>
      <vt:lpstr>시퀀스 다이어그램 06. 업무 상호작용</vt:lpstr>
      <vt:lpstr>커뮤니케이션 다이어그램 06. 업무 상호작용</vt:lpstr>
      <vt:lpstr>액티비티 다이어그램 07. 업무 활동과 데이터 흐름</vt:lpstr>
      <vt:lpstr>데이터 흐름도(DFD) 07. 업무 활동과 데이터 흐름</vt:lpstr>
      <vt:lpstr>액티비티와 DFD를 구별해 읽기 07. 업무 활동과 데이터 흐름</vt:lpstr>
      <vt:lpstr>08. 상태 변경과 외부 요청</vt:lpstr>
      <vt:lpstr>상태 변경을 코드로 표현하기 09. 코드와 검사로 연결하기</vt:lpstr>
      <vt:lpstr>승인 뒤 배송을 실행하기 09. 코드와 검사로 연결하기</vt:lpstr>
      <vt:lpstr>요청하는 순간을 검사하기 09. 코드와 검사로 연결하기</vt:lpstr>
      <vt:lpstr>거절 뒤 재결제를 검사하기 09. 코드와 검사로 연결하기</vt:lpstr>
      <vt:lpstr>검사가 보장하는 범위 09. 코드와 검사로 연결하기</vt:lpstr>
      <vt:lpstr>초안에 근거를 묻기 10. AI 초안 검토와 잘못된 관행</vt:lpstr>
      <vt:lpstr>잘못된 관행 10. AI 초안 검토와 잘못된 관행</vt:lpstr>
      <vt:lpstr>11. 실습 5 — 동적 모델</vt:lpstr>
      <vt:lpstr>12. 요약</vt:lpstr>
      <vt:lpstr>“주문한다” 동적 업무 모델 (1/6) 별첨. 실습 답</vt:lpstr>
      <vt:lpstr>“주문한다” 동적 업무 모델 (2/6) 별첨. 실습 답</vt:lpstr>
      <vt:lpstr>“주문한다” 동적 업무 모델 (3/6) 별첨. 실습 답</vt:lpstr>
      <vt:lpstr>“주문한다” 동적 업무 모델 (4/6) 별첨. 실습 답</vt:lpstr>
      <vt:lpstr>“주문한다” 동적 업무 모델 (5/6) 별첨. 실습 답</vt:lpstr>
      <vt:lpstr>“주문한다” 동적 업무 모델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동적 모델</dc:title>
  <dc:creator>Kim YoungSan</dc:creator>
  <cp:lastModifiedBy>Youngon Kim</cp:lastModifiedBy>
  <cp:revision>42</cp:revision>
  <dcterms:created xsi:type="dcterms:W3CDTF">2021-02-25T22:04:20Z</dcterms:created>
  <dcterms:modified xsi:type="dcterms:W3CDTF">2026-09-21T23:10:41Z</dcterms:modified>
</cp:coreProperties>
</file>