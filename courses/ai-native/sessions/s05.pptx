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"세션 02. 요구와 유저 스토리"의 요구사항 정의서, "세션 03. 도메인 모델"의 업무 의미, "세션 04. 아키텍처"의 의존 규칙이다.</a:t>
            </a:r>
          </a:p>
          <a:p>
            <a:pPr lvl="0"/>
            <a:r>
              <a:rPr lang="ko-KR" sz="1200"/>
              <a:t>도메인 규칙과 기대값을 정하는 책임은 사람에게 있다. 테스트 코드의 작성은 AI가 도울 수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02. 요구와 유저 스토리"에서 구분한 두 명세의 수명과 범위를 그대로 쓴다. 새로운 개발 단계나 새로운 전체 명세서를 만드는 것이 아니다.</a:t>
            </a:r>
          </a:p>
          <a:p>
            <a:pPr lvl="0"/>
            <a:r>
              <a:rPr lang="ko-KR" sz="1200"/>
              <a:t>구현 계획과 클래스 배치를 요구사항에 섞지 않는다. 작업 명세는 무엇을 충족해야 하는지 정한다.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문서 형식은 강의의 대표 작업 명세서다. 본문에 구현 클래스나 외부 API 주소를 넣지 않는다.</a:t>
            </a:r>
          </a:p>
          <a:p>
            <a:pPr lvl="0"/>
            <a:r>
              <a:rPr lang="ko-KR" sz="1200"/>
              <a:t>미정의 처리 정책을 테스트 기대값으로 만들지 않는다. 실제 출시 범위를 확정할 때까지 남겨 둘 수 있는 문제인지도 별도로 판단해야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Lopopolo, Harness engineering: leveraging Codex in an agent-first world(2026). 저장된 영문 원문으로 확인했다. 이 인용은 인간의 역할에 관한 해당 팀의 설명이지 모든 조직의 실측 결과가 아니다.</a:t>
            </a:r>
          </a:p>
          <a:p>
            <a:pPr lvl="0"/>
            <a:r>
              <a:rPr lang="ko-KR" sz="1200"/>
              <a:t>영어 원문 앞 쉼표와 한글 문장 안 쉼표는 구분한다. 한글은 모두 18pt로 검토한다.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예 네 가지와 구현 작업 네 가지는 개수가 같아도 같은 목록은 아니다. 가격 변경은 금액 확정 작업을 검증하는 예다.</a:t>
            </a:r>
          </a:p>
          <a:p>
            <a:pPr lvl="0"/>
            <a:r>
              <a:rPr lang="ko-KR" sz="1200"/>
              <a:t>모든 입력 조합을 이 네 예로 검증했다는 뜻이 아니다. 현재 확인한 업무 규칙의 대표 경로다.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 공식 BDD 문서의 정의와 Discovery·Formulation·Automation 설명을 확인했다. 그림은 그 세 활동을 이 사례에 적용한 것이다.</a:t>
            </a:r>
          </a:p>
          <a:p>
            <a:pPr lvl="0"/>
            <a:r>
              <a:rPr lang="ko-KR" sz="1200"/>
              <a:t>도식의 정식화는 다음 GWT 예, 자동화는 AcceptanceExamples의 실행 테스트로 연결한다. 구체 도구 선택은 BDD의 정의가 아니다.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Cucumber, Example Mapping 원문 확인. 원문의 스토리·규칙·예·질문 구분을 사용한다. 카드 색은 원문을 설명한 것이며 실습에서 색 카드 제작은 요구하지 않는다.</a:t>
            </a:r>
          </a:p>
          <a:p>
            <a:pPr lvl="0"/>
            <a:r>
              <a:rPr lang="ko-KR" sz="1200"/>
              <a:t>질문을 남겼다는 사실만으로 구현 위험이 해결되지는 않는다. 해당 기능을 출시할 수 있는지는 별도 판단한다.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Gherkin 블록은 학습자가 읽는 예이며 Cucumber 실행 환경을 설치했다는 뜻은 아니다. 다음 Java 테스트가 같은 예를 실행한다.</a:t>
            </a:r>
          </a:p>
          <a:p>
            <a:pPr lvl="0"/>
            <a:r>
              <a:rPr lang="ko-KR" sz="1200"/>
              <a:t>복잡한 클릭 순서나 DB 필드 갱신을 그대로 적지 않는다. 필요한 표현 수준은 업무의 수용 판단이 정한다.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원본: code/s05/AcceptanceExamples.java. main이 네 예를 각각 새로운 Fixture로 실행한다. 테스트 전용 equal은 불일치 시 AssertionError를 던지므로 -ea 옵션이 필요 없다.</a:t>
            </a:r>
          </a:p>
          <a:p>
            <a:pPr lvl="0"/>
            <a:r>
              <a:rPr lang="ko-KR" sz="1200"/>
              <a:t>도식의 전제는 Fixture·rejectedCards, 사건은 pay 두 호출, 결과는 equal 검사에 대응한다. 코드 실행 전에 결과를 예측하게 한다.</a:t>
            </a:r>
          </a:p>
          <a:p>
            <a:pPr lvl="0"/>
            <a:r>
              <a:rPr lang="ko-KR" sz="1200"/>
              <a:t>실제 외부 결제·배송과 저장소는 생략했다. 결제 결과와 배송 요청을 테스트 대역으로 통제한다.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테스트를 컴파일하고 실행했다. 실제 배송 요청이 호출될 때 FakeDelivery가 결제완료 상태인지도 확인한다.</a:t>
            </a:r>
          </a:p>
          <a:p>
            <a:pPr lvl="0"/>
            <a:r>
              <a:rPr lang="ko-KR" sz="1200"/>
              <a:t>주문 재생성 여부는 동일 Order 참조의 상태를 검사하는 이 예의 범위에서 확인한다. 운영 저장소의 식별 보존까지 검증한 것은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단위는 교육용 주문 사례의 분할이지 모든 프로젝트의 표준 단위가 아니다. 승인·거절은 같은 결제 흐름의 경로이며 코드를 네 벌 만드는 것이 아니다.</a:t>
            </a:r>
          </a:p>
          <a:p>
            <a:pPr lvl="0"/>
            <a:r>
              <a:rPr lang="ko-KR" sz="1200"/>
              <a:t>실습은 신청·금액 및 예정일 계산·승인과 회차 생성·거절과 재결제를 적정 크기로 나누게 한다. 결과가 같다면 분할의 개수 자체를 채점하지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Anthropic, Effective harnesses for long-running agents(2025)의 해당 팀 실행 방식에 관한 문장 일부를 원문 확인했다. 병렬 개발을 보편적으로 금지하는 규칙으로 확대하지 않는다.</a:t>
            </a:r>
          </a:p>
          <a:p>
            <a:pPr lvl="0"/>
            <a:r>
              <a:rPr lang="ko-KR" sz="1200"/>
              <a:t>실제 features.json은 code/s05/run.mjs가 javac·java 실행 및 네 PASS 결과 확인 후 작성한다. 예의 evidence는 실행 원본의 메서드다.</a:t>
            </a:r>
          </a:p>
          <a:p>
            <a:pPr lvl="0"/>
            <a:r>
              <a:rPr lang="ko-KR" sz="1200"/>
              <a:t>수강생에게 JSON 파일 자체를 실습 결과물로 추가 요구하지 않는다. 기능 목록은 진행을 남기는 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Simon Willison, Vibe engineering(2025-10-07). 자동 테스트를 논한 해당 문장을 원문 확인했다. 한글은 직역이 아닌 요약이다.</a:t>
            </a:r>
          </a:p>
          <a:p>
            <a:pPr lvl="0"/>
            <a:r>
              <a:rPr lang="ko-KR" sz="1200"/>
              <a:t>이 실행 예에서 의존 검사를 새로 수행했다는 뜻은 아니다. "세션 04. 아키텍처"에서 보여 준 구조 검사도 실제 변경 범위에 맞게 완료 증거로 요구한다는 설명이다.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원본: code/s04/demo-results/README.md, A와 B의 prompt.txt·result.json·diff·실행 로그. 현재 세션 번호와 다른 경로지만 기록 원본을 보존해 참조한다.</a:t>
            </a:r>
          </a:p>
          <a:p>
            <a:pPr lvl="0"/>
            <a:r>
              <a:rPr lang="ko-KR" sz="1200"/>
              <a:t>이 세션을 작성하며 새 LLM 실행을 한 것으로 소개하지 않는다. 화면에서는 저장된 프롬프트·diff·실행 로그를 열어 보여 준다.</a:t>
            </a:r>
          </a:p>
          <a:p>
            <a:pPr lvl="0"/>
            <a:r>
              <a:rPr lang="ko-KR" sz="1200"/>
              <a:t>두 실행은 과거 한 번의 기록이다. 비용·시간 차이의 일반화나 통계적 비교는 하지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 결과의 중복 결제 방지·새 주소는 저장된 실제 테스트와 diff에서 확인할 항목이다. 좋은 정책처럼 보여도 현재 합의와는 다른 판단이다.</a:t>
            </a:r>
          </a:p>
          <a:p>
            <a:pPr lvl="0"/>
            <a:r>
              <a:rPr lang="ko-KR" sz="1200"/>
              <a:t>모델과 테스트를 함께 보완하되 잘못된 구현에 맞춰 기대값을 낮추지 않는다.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기대값 변경 자체가 금지인 것은 아니다. 업무 결정이 바뀌었다는 근거와 모델 보완이 선행되어야 한다.</a:t>
            </a:r>
          </a:p>
          <a:p>
            <a:pPr lvl="0"/>
            <a:r>
              <a:rPr lang="ko-KR" sz="1200"/>
              <a:t>가격 보존 테스트의 2,000원을 2,400원으로 고쳐 통과시키는 예를 들고, 어느 결정으로 돌아가야 하는지 묻는다.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기존 정기배송 정의서와 상태·단가를 이어 쓴다. 다음 기간의 가격 정책이나 월별 청구를 새로 만들지 않는다.</a:t>
            </a:r>
          </a:p>
          <a:p>
            <a:pPr lvl="0"/>
            <a:r>
              <a:rPr lang="ko-KR" sz="1200"/>
              <a:t>결과물에 새 기능 목록 파일·추적표·별도 테스트 설계 문서를 추가 요구하지 않는다. 실제 테스트 코드는 후속 실행과 검증에서 연결할 수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사람은 기대값의 근거를 확인하고 AI는 예·코드·검사를 작성할 수 있다. 산출물 수보다 다음 작업자가 추측하지 않아도 되는지로 판단한다.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 1·2·3·5를 반영한 제출용 작업 명세서다. 미정 처리를 코드에서 추측하지 않도록 이번 구현의 경계를 대역 환경으로 명시했다.</a:t>
            </a:r>
          </a:p>
          <a:p>
            <a:pPr lvl="0"/>
            <a:r>
              <a:rPr lang="ko-KR" sz="1200"/>
              <a:t>“어떤 내용을 적어야 하는가”가 아니라 실제 업무 값·범위·담당·완료 조건을 설명한다.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 2·3의 완성 Given–When–Then 답안이다. 요약 표나 문형 설명으로 대체하지 않는다.</a:t>
            </a:r>
          </a:p>
          <a:p>
            <a:pPr lvl="0"/>
            <a:r>
              <a:rPr lang="ko-KR" sz="1200"/>
              <a:t>각 시나리오는 독립적인 전제에서 시작한다. 앞 시나리오의 실행 결과에 의존하지 않는다.</a:t>
            </a:r>
          </a:p>
          <a:p>
            <a:pPr lvl="0"/>
            <a:r>
              <a:rPr lang="ko-KR" sz="1200"/>
              <a:t>표기상의 반복을 줄이되 재현에 필요한 단가·기간·주기·예정일·금액을 생략하지 않았다.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 3·4·5를 충족하는 거절·재결제의 구체적 답이다. 통신 오류나 중복 승인이라는 다른 상황을 이 결과로 정의하지 않는다.</a:t>
            </a:r>
          </a:p>
          <a:p>
            <a:pPr lvl="0"/>
            <a:r>
              <a:rPr lang="ko-KR" sz="1200"/>
              <a:t>강사는 거절 시 0개와 승인 뒤 총 7개를 대비해 설명한다. 수강생에게 같은 점검 질문을 다시 제시하지 않는다.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 6의 완성 작업 분할이다. 수강생에게 나누는 방법을 설명한 목록이 아니라 실제 구현할 단위와 관찰 결과다.</a:t>
            </a:r>
          </a:p>
          <a:p>
            <a:pPr lvl="0"/>
            <a:r>
              <a:rPr lang="ko-KR" sz="1200"/>
              <a:t>실습 6에는 이 명세서·수용 예·작업 단위를 그대로 입력한다.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이번 실습에서 이미 반영한 결과와 보류한 결정을 보여 주는 답안이다. 보완 방법이나 점검 예제의 설명으로 대체하지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작업 명세와 수용 기준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BDD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기능 목록과 점진적 진행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작업 명세와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테스트의 기대값이 된다. 검증할 수 없는 작업은 맡길 수 없으므로, 구현할 범위와 받아들일 결과를 먼저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유저 스토리에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규칙·범위·제외·미정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붙여 작업 명세서로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수용 기준의 해석 차이와 빈칸을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Given–When–Then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전제·사건·기대 결과를 실행 테스트로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검증할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 기능 목록에 진행을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AI가 쓴 테스트의 기대값을 검토한다.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스토리 하나의 명세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25766" y="2112010"/>
          <a:ext cx="62788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담을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상품을 배송받기 위해 주문한다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규칙과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옳은 결과와 구체적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단가로 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 포함하거나 뺄 행동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요청 포함, 환불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전에는 구현하지 않을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 실패의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원천을 유지하는 다른 산출물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용어집·상태 기계·의존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스토리 하나에서 구현할 요구사항을 확인 가능한 수준으로 적은 문서다. 시스템 전체의 요구사항 정의서와 모델을 참조한다.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명세서에 적을 것과 참조할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작업용 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해당 작업의 구현과 검토에 쓴다. 오래 유지할 업무 규칙은 요구사항 정의서에서 관리한다.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중복을 줄인다.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모델과 아키텍처 전체를 붙여 넣지 않고 작업에 필요한 부분과 그 원천을 가리킨다.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명세서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규칙과 예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주문이 생길 때의 판매가를 항목 단가로 확정한다. 펜 2개 × 1,000원 = 2,000원.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 직전 판매가가 1,200원이 되어도 기존 주문은 2,000원으로 결제한다.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결제완료로 바꾼 뒤 서울로 배송을 1회 요청한다.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결제대기를 유지하고 배송을 요청하지 않는다. 다른 카드로 다시 결제할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포함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배송지 지정 때 주문 생성·금액 확정, 결제 승인 요청, 결과 반영, 승인 후 배송 요청.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고객은 장바구니의 상품을 결제해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주문하고 배송받고 싶다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이번 작업은 배송지 지정부터 결제 결과와 배송 요청까지다.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상품 탐색·장바구니, 취소·환불, 할인·배송비, 재고, 배송 이후 처리.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요청 실패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결제와 주문을 어떻게 처리할지 업무 담당자에게 확인한다. 이번 구현은 이 정책을 정하지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금액·배송 요청·결제 거절의 업무 규칙.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단가·주문 총액의 의미, 결제대기 자기 전이.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업무는 연동·영속 구현에 의존하지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결과를 받아들일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1385" y="2898948"/>
          <a:ext cx="524764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3741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모호한 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금액이 정확하다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바뀌어도 2,000원의 승인을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거절을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결제대기를 유지하고 배송 요청은 0회다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재시도가 가능하다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카드로 같은 주문을 결제하면 결제완료가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스토리가 충족되었다고 판단할 조건이다. “결제가 잘 된다” 대신 관찰할 금액·상태·외부 요청을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정하고,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옮기며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모호한 기준을 관찰 가능한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허용과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 거절 뒤 결제대기라는 상태만 확인하면 잘못 나간 배송 요청을 놓칠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담당자가 확인한 규칙이다. 코드가 낸 결과를 그대로 기대값으로 복사하지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대표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86066" y="2112010"/>
          <a:ext cx="65582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00300"/>
                <a:gridCol w="3210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전제·사건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주문을 카드로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요청, 결제완료 뒤 서울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후 판매가 1,200원,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1,000원, 승인 요청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X가 거절됨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결제대기·총액 2,000원 유지, 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주문이 결제완료,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규칙의 다른 결과를 드러내도록 고른다. 승인뿐 아니라 가격 변경·거절·재결제가 빠지면 첫 시도의 오류를 잡을 수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수용 예 네 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유지한다. 주문은 배송지 서울을 지정할 때 생기고, 그때 펜 2개의 단가가 확정된다.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추가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목적이 있을 때 넣는다. 아직 정하지 않은 중복 승인이나 배송 요청 실패를 임의의 기대값으로 채우지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업무와 개발이 예를 함께 논의한다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 담당자와 개발자가 구체적인 예로 기대 행동을 함께 이해하는 협업 방식이다. 테스트 문법을 쓰는 것만으로 완성되지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담당자와 기술 담당자 사이의 간극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줄이는 소프트웨어 팀의 협업 방식이다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가격이 어느 시점의 금액인지 묻는다.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정식화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판매가와 단가를 나눠 예를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뜻을 확인한다. 실행하다 규칙의 빈칸을 발견하면 논의로 돌아가며, 통과하도록 기대값부터 바꾸지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BDD — Behaviour-Driven Development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976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합의에서 실행 가능한 예로</a:t>
            </a:r>
          </a:p>
        </p:txBody>
      </p:sp>
      <p:pic>
        <p:nvPicPr>
          <p:cNvPr id="11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504156" y="4435394"/>
            <a:ext cx="6135688" cy="83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규칙·예·질문을 구분하기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BDD — 예로 명세하기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9696" y="2898948"/>
          <a:ext cx="68910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2664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행동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 생성 시점의 판매가다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용어와 모델을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1,200원이 되어도 2,000원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테스트의 기대값으로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요청이 실패하면 어떻게 하나?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담당자에게 처리 정책을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예시 매핑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스토리에 관련된 규칙·예·질문을 함께 정리해 범위를 확인하는 방법이다. 예로 설명되지 않는 규칙은 더 묻고, 답하지 못한 것은 질문으로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규칙을 설명하는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초록색 카드에 적는다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"Examples to illustrate these rules are written on a green card"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스토리의 규칙·예·질문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형식의 목적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뜻을 맞추는 것이다. 카드의 색을 도구로 재현하는 것보다 규칙과 예가 연결되는지가 중요하다.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미정과 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다르다. 환불은 이번 기능에서 제외했고, 승인 뒤 배송 요청 실패는 정책 자체가 미정이다.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Given–When–Then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BDD —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거절된 주문을 다른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펜 2개, 단가 1000원, 배송지 서울의 결제대기 주문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카드 X는 거절되고 카드 Y는 승인된다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카드 X로 결제한 뒤 카드 Y로 다시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같은 주문은 결제완료다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배송 요청은 모두 합해 1회다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Given–When–Then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전제·사건·기대 결과를 구분해 예를 쓰는 형식이다. 구현의 내부 순서 대신 업무가 관찰할 결과를 명확히 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272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결과를 재현할 상황이다. 카드마다 다른 결제 결과를 테스트 대역으로 준비한다.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고객의 행동이다.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상태와 외부 요청으로 확인하며 호출 횟수도 업무 규칙에서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문형의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있다. 세 칸을 채웠어도 미정 정책을 지어냈다면 좋은 명세가 아니다.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전제·사건·결과를 실행하기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932012"/>
            <a:ext cx="841248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static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Fixture f = new Fixture();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f.payment.rejectedCards = Set.of("카드 X");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f.service.pay(new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equal(OrderStatus.PENDING_PAYMENT, f.order.status, "재결제 전 상태");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equal(0, f.delivery.requests, "거절 뒤 배송 금지");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f.service.pay(new PaymentMethod("카드 Y"));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equal(OrderStatus.PAID, f.order.status, "같은 주문 재결제 상태");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equal(List.of("카드 X", "카드 Y"), f.payment.requestedCards, "다른 카드 사용");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equal(1, f.delivery.requests, "재결제 승인 뒤 배송 횟수");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System.out.println("PASS 재결제");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수용 기준을 실제 실행으로 확인한다. 준비·행동·검증이 각각 예의 전제·사건·기대 결과에 대응한다.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 예와 실행 코드의 연결</a:t>
            </a:r>
          </a:p>
        </p:txBody>
      </p:sp>
      <p:pic>
        <p:nvPicPr>
          <p:cNvPr id="34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039812" y="2153894"/>
            <a:ext cx="7064375" cy="55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잘못된 결과도 잡는 기대값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6" y="2112010"/>
          <a:ext cx="71729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8996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관찰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잡으려는 오류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 2,000원·결제완료 뒤 서울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금액·배송지·호출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단가 1,000원·요청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판매가로 과거 주문을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결제대기·총액 유지·배송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거절을 취소로 처리하거나 잘못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주문·다른 카드·배송 총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재시도 불가·주문 재생성·중복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서로 다른 오류를 드러내야 한다. 상태만 확인하지 않고 주문 금액·승인 요청 금액·배송 여부를 필요한 경로에서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네 테스트가 확인하는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검사의 독립성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기대값의 근거에서 시작한다. 구현과 테스트를 같은 AI가 써도 기대값이 합의한 예와 같은지 별도로 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네 대표 예다. 실제 API·동시성·중복 승인·미정인 실패 복구까지 통과했다고 해석하지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12010"/>
          <a:ext cx="61391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9591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구현할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확인할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항목에 단가를 보존하고 총액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변경 후에도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요청·결제완료·배송 요청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서울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상태·금액 유지, 배송 요청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결제대기·배송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주문을 다른 카드로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끝낸 뒤 수용 테스트로 결과를 확인할 수 있는 구현 범위다. 파일·계층만 나누기보다 고객의 행동과 규칙을 끝까지 연결한다.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기능을 검증 가능한 네 단위로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있다. 금액 확정을 바탕으로 승인을 구현하고, 거절 경로를 확인한 뒤 재결제를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테스트까지 잇는다는 뜻이다. “엔티티 작성 완료”만으로 고객 행동의 구현이 끝났다고 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 코드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뒤에는 앞 단위의 테스트도 실행한다. 새 작업의 통과가 이전 작업의 유지를 증명하지는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기능 목록과 점진적 진행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240238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"unit": "재결제",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"acceptance": "다른 카드로 같은 주문 재결제",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"evidence": "AcceptanceExamples.paidWithAnotherCard",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"passes": true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구현할 결과와 검증 상태를 남긴다. 시작할 작업은 테스트 가능한 크기로 고르고, 끝난 작업은 실행 증거로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하나씩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 on only one feature at a time"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2453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 표식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보고 문장이 아니다. 실행한 테스트와 그 결과를 확인한 뒤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진행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목록의 한 항목을 구현·검증한 다음 다음 항목으로 가는 방식이다. 공통 코드를 바꾸면 앞 항목도 다시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분명히 남긴다. 미정인 배송 요청 실패를 구현 완료 항목에 섞지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3173268"/>
          <a:ext cx="64465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623820"/>
                <a:gridCol w="25120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부족한 보고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충족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 네 가지의 실제 실행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“잘 동작함”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기능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작업 테스트의 실행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테스트 하나만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검사와 변경 파일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인터페이스를 썼다는 설명만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준수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제외·미정과 실제 변경의 대조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요청하지 않은 환불 정책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작업을 끝났다고 판단할 공통 조건이다. 수용 기준이 기능의 결과를 정한다면, 완료의 정의는 그 결과를 확인한 증거와 변경의 품질도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견고하고 충분하며 안정적인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묶음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 작업의 기반이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 보고에 필요한 증거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4186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검사하지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적는다. 테스트 대역의 통과와 실제 외부 연동 검증을 같은 완료 증거로 제시하지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남는다. 자동 검사로 판정할 수 없는 업무 해석과 미정 사항은 담당자에게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명세, 서로 다른 테스트 작성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58126" y="2112010"/>
          <a:ext cx="66141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311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A: 구현과 테스트 작성 요청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B: 사람의 수용 테스트 제공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명세서와 빈 결제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명세서와 출발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작성하라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제공한 수용 테스트는 바꾸지 마라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테스트 5개·수용 테스트 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밖 중복 결제 방지 규칙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해당 규칙을 추가하지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작성의 위임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기대값의 확인은 다른 일이다. 실제 실행 기록 두 건을 비교해 무엇을 사람이 검토해야 하는지 살펴본다.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저장된 실제 실행 두 건의 조건과 관찰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2026-10-08, Claude Code 2.1.293과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claude-opus-5-5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각 조건을 한 번씩 실행한 기록이며 일반적인 우열을 증명하지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같이 확인할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두 실행 모두 미정인 배송 요청 실패 정책을 정하지 않았다는 점이다. 테스트를 누가 썼는지만으로 결과를 예측할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통과한 테스트의 기대값 검토하기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1236" y="2112010"/>
          <a:ext cx="764794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5120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문제의 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중복 결제 방지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없던 업무 결정을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요구로 확인한 뒤 채택하거나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배송지의 새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서울 대신 “서울시 중구 1”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 사례와 테스트 데이터의 일치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확인한 네 규칙은 충족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정책과 추가 규칙까지 승인한 것은 아님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테스트가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해도 합의하지 않은 정책이 섞였을 수 있다. 새 기대값은 요구사항에 근거가 있는지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 실행에서 사람이 검토할 내용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쓴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유용하다. 경계 사례와 누락 후보를 제안하게 하되, 기대값은 확정 규칙과 질문으로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쓴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틀릴 수 있다. 누가 작성했는지보다 업무 규칙과 실제 실행의 증거를 대조한다.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제약은 명확히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준다. 확인한 기대값을 유지하고, 새 규칙이 필요하면 구현과 함께 확정하지 말고 질문하게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80936" y="2112010"/>
          <a:ext cx="736854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0929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 방향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결과를 기대값으로 복사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구현과 테스트의 같은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대표 예에서 기대값 도출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배송·재결제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허용과 금지 행동을 함께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통과를 위해 기준 완화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합의한 업무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원인을 규칙·모델·코드에서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예외 코드로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정해야 할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담당자 확인 전에는 질문으로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일을 파일별로만 나눔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행동의 끝까지 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 가능한 결과가 있는 작업으로 분할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기대값과 적절한 검증 범위가 있을 때 의미가 있다. 통과 수만으로 업무의 정확성을 판단하지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기준을 약하게 만드는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— 작업 명세와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앞 산출물을 LLM에 주고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명세·허용과 거절 예·작업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만든 뒤, 기대값의 근거와 범위를 검토한다.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의존 규칙·연동 규격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“정기배송 신청의 작업 명세서를 작성하고 허용·거절 예를 Given–When–Then으로 표현하라. 검증 가능한 작업으로 나누고, 기대값의 근거가 없으면 질문으로 남겨라.”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신청·일시불 결제·회차 생성과 제외할 기능이 구분되는가?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회차 금액 10,000원과 총 70,000원의 근거가 같은가?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승인 뒤 확정·7회 생성, 거절 뒤 결제 대기·0회를 확인하는가?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신청에서 다른 카드로 다시 결제하는 예가 있는가?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통신 오류·배송 요청 실패·환불을 추측으로 정하지 않았는가?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각 단위가 수용 예와 실행 가능한 완료 기준으로 끝나는가?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명세서·허용과 거절 예·작업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실습 6의 맥락 패키지 입력이다.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기준을 기대값으로, 실행 결과를 증거로 삼는다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스토리 하나의 규칙·범위·제외·미정을 적고 모델을 참조한다.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해석을 맞추고, 합의한 기대값을 테스트로 실행한다.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결과를 가지며 진행은 증거로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보완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예를 만들다 드러난 규칙의 빈칸을 원천에 반영하는 일이다.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06. 맥락 구성"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작업에 필요한 명세·모델·규칙을 에이전트가 찾아 읽을 수 있게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입력과 업무 규칙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휴지 1묶음, 신청 시 판매가 10,000원, 첫 배송 11/3, 주기 14일, 기간 3개월.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단가를 신청 때 확정한다. 회차 금액 10,000원을 해당 약정 동안 유지한다.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예정일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만료 2/2 안의 11/3·11/17·12/1·12/15·12/29·1/12·1/26, 총 7회다.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예정일 수로 계산한 70,000원을 일시불로 요청한다.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확정으로 바꾸고 예정 회차 7개를 생성한다.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거절·재결제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 대기·회차 0개를 유지하고 다른 카드로 같은 신청을 다시 결제한다.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고객은 생필품을 정해진 주기로 받기 위해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신청하고 일시불로 결제하고 싶다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이번 작업은 대역 환경에서 신청·금액 계산·결제·회차 생성을 구현한다.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범위와 제외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포함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신청, 단가 확정, 예정일·금액 계산, 승인·거절, 재결제, 회차 생성.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실제 외부 API 연결, 월별 청구, 배송지 변경, 해지·환불, 다음 약정 가격 정책.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통신 오류·중복 결제 결과·배송 접수 실패의 업무 처리. 담당자는 업무·연동 담당자이며 실제 연동 구현 전에 확정한다.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참조·완료 조건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실습 2 정의서, 실습 3의 용어·상태·회차 관계, 실습 4의 포트와 의존 규칙.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아래 수용 예 4개와 각 작업의 검사가 통과하고, 업무가 연동·영속 구현을 의존하지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금액 보존과 승인 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신청 후 판매가가 바뀌어도 확정 금액으로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휴지 1묶음을 단가 10000원, 14일 주기, 11월 3일부터 3개월 신청했다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만료일은 2월 2일이며 기간 내 예정일은 7개다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신청 후 상품의 판매가가 변경되었다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신청을 일시불로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승인 요청 금액은 70000원이다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해당 약정의 회차 금액은 10000원이다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신청 시 단가 보존과 승인 후 회차 생성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다음 두 시나리오로 수용한다. 금액 계산을 위한 예정일 산정은 회차 생성과 구분한다.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73526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승인되면 정기배송을 확정하고 예정 회차를 만든다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휴지 1묶음, 단가 10000원, 14일 주기, 첫 배송 11/3, 만료 2/2의 신청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결제 대기이며 회차는 0개다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70000원 결제가 승인된다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정기배송은 확정이다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예정 회차는 11/3, 11/17, 12/1, 12/15, 12/29, 1/12, 1/26의 7개다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각 회차 금액은 10000원이며 2월 9일 회차는 없다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거절과 재결제 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결제가 거절되면 신청을 유지하고 회차를 만들지 않는다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휴지 1묶음, 회차 10000원, 7회, 일시불 70000원의 결제 대기 신청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카드 X는 거절된다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카드 X로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같은 신청은 결제 대기이며 회차는 0개다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신청을 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다른 카드의 승인으로 확정한다. 거절만으로 회차를 만들거나 신청을 종료하지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943326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다른 카드로 같은 신청을 재결제한다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휴지 1묶음, 회차 10000원, 7회, 일시불 70000원의 신청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카드 X 결제가 거절되었다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같은 신청은 결제 대기이며 회차는 0개다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카드 Y는 승인된다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카드 Y로 같은 신청을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요청 금액은 70000원이고 같은 신청은 확정이다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해당 기간의 예정 회차는 모두 합해 7개이며 회차 금액은 10000원이다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1. 신청과 단가 확정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구현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 대기 신청이 생기고 휴지 1묶음의 단가가 10,000원으로 고정된다.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상품 판매가 변경 뒤에도 같은 신청의 회차 금액은 10,000원이다.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2. 예정일과 금액 계산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구현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만료일까지 예정일을 계산한다. 아직 회차 객체는 만들지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11/3부터 14일 간격의 지정된 7개 예정일, 일시불 70,000원, 회차 객체 0개다.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신청 기능을 다음 네 단위로 구현한다.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각 단위의 관찰 결과가 완료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이며 공통 코드 변경 뒤에는 앞 단위의 수용 예도 유지한다.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3. 승인과 회차 생성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구현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 대기 신청의 승인을 반영한다.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확정, 지정 예정일의 회차 7개, 각 회차 금액 10,000원. 만료일 뒤 회차는 없다.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4. 거절과 재결제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구현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거절 뒤 같은 신청에 다른 카드를 사용할 수 있다.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카드 X 거절 뒤 결제 대기·0개, 카드 Y 승인 뒤 같은 신청이 확정·총 7개다.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작업 명세와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정의서에 반영한 문장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계산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“결제 전 예정일 7개로 70,000원을 산정하지만 회차는 생성하지 않는다.”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“거절 뒤 같은 신청은 회차 0개이며 다른 카드 승인 후 총 7개가 된다.”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작업의 수용 예를 확정하면서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예정일 계산과 회차 생성의 시점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정의서·모델에 명시했다.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모델·아키텍처의 확정 결과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상태·관계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 자기 전이, 승인 후 확정과 회차 생성, 회차 다중성 0..*를 유지했다.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실제 외부 호출 대신 포트를 대역으로 연결한다. 통신 오류를 결제 거절에 포함하지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 문장·수용 예·검증 가능한 작업 단위를 다음 맥락 패키지에 포함했다.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장애 처리는 담당·확인 시점과 함께 보류했고 자동 환불 같은 추측은 제외했다.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Arial</vt:lpstr>
      <vt:lpstr>Wingdings</vt:lpstr>
      <vt:lpstr>4_Office 테마</vt:lpstr>
      <vt:lpstr>05. 작업 명세와 수용 기준 목차</vt:lpstr>
      <vt:lpstr>01. 세션 목표</vt:lpstr>
      <vt:lpstr>스토리 하나의 명세 02. 작업 명세서</vt:lpstr>
      <vt:lpstr>주문한다의 작업 명세서 02. 작업 명세서</vt:lpstr>
      <vt:lpstr>결과를 받아들일 조건 03. 수용 기준</vt:lpstr>
      <vt:lpstr>네 가지 대표 예 03. 수용 기준</vt:lpstr>
      <vt:lpstr>업무와 개발이 예를 함께 논의한다 04. BDD — 예로 명세하기</vt:lpstr>
      <vt:lpstr>규칙·예·질문을 구분하기 04. BDD — 예로 명세하기</vt:lpstr>
      <vt:lpstr>Given–When–Then 04. BDD — 예로 명세하기</vt:lpstr>
      <vt:lpstr>전제·사건·결과를 실행하기 05. 예시에서 테스트로</vt:lpstr>
      <vt:lpstr>잘못된 결과도 잡는 기대값 05. 예시에서 테스트로</vt:lpstr>
      <vt:lpstr>06. 작업 단위</vt:lpstr>
      <vt:lpstr>07. 기능 목록과 점진적 진행</vt:lpstr>
      <vt:lpstr>08. 완료의 정의와 증거</vt:lpstr>
      <vt:lpstr>같은 명세, 서로 다른 테스트 작성 방식 09. 시연 — 테스트는 누가 쓰는가?</vt:lpstr>
      <vt:lpstr>통과한 테스트의 기대값 검토하기 09. 시연 — 테스트는 누가 쓰는가?</vt:lpstr>
      <vt:lpstr>10. 잘못된 관행</vt:lpstr>
      <vt:lpstr>11. 실습 — 작업 명세와 수용 기준</vt:lpstr>
      <vt:lpstr>12. 요약</vt:lpstr>
      <vt:lpstr>작업 명세서 (안) 별첨. 실습 답</vt:lpstr>
      <vt:lpstr>금액 보존과 승인 예 (안) 별첨. 실습 답</vt:lpstr>
      <vt:lpstr>거절과 재결제 예 (안) 별첨. 실습 답</vt:lpstr>
      <vt:lpstr>작업 단위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 작업 명세와 수용 기준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