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"세션 02. 요구와 사용자 이야기"의 요구사항 정의서, "세션 03. 도메인 모델"의 업무 의미, "세션 04. 아키텍처"의 의존 규칙이다.</a:t>
            </a:r>
          </a:p>
          <a:p>
            <a:pPr lvl="0"/>
            <a:r>
              <a:rPr lang="ko-KR" sz="1200"/>
              <a:t>도메인 규칙과 기대값을 정하는 책임은 사람에게 있다. 테스트 코드의 작성은 AI가 도울 수 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02. 요구와 사용자 이야기"에서 구분한 두 명세의 수명과 범위를 그대로 쓴다. 새로운 개발 단계나 새로운 전체 명세서를 만드는 것이 아니다.</a:t>
            </a:r>
          </a:p>
          <a:p>
            <a:pPr lvl="0"/>
            <a:r>
              <a:rPr lang="ko-KR" sz="1200"/>
              <a:t>구현 계획과 클래스 배치를 요구사항에 섞지 않는다. 작업 명세는 무엇을 충족해야 하는지 정한다.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문서 형식은 강의의 대표 작업 명세서다. 본문에 구현 클래스나 외부 API 주소를 넣지 않는다.</a:t>
            </a:r>
          </a:p>
          <a:p>
            <a:pPr lvl="0"/>
            <a:r>
              <a:rPr lang="ko-KR" sz="1200"/>
              <a:t>미정의 처리 정책을 테스트 기대값으로 만들지 않는다. 실제 출시 범위를 확정할 때까지 남겨 둘 수 있는 문제인지도 별도로 판단해야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Lopopolo, Harness engineering: leveraging Codex in an agent-first world(2026). 저장된 영문 원문으로 확인했다. 이 인용은 인간의 역할에 관한 해당 팀의 설명이지 모든 조직의 실측 결과가 아니다.</a:t>
            </a:r>
          </a:p>
          <a:p>
            <a:pPr lvl="0"/>
            <a:r>
              <a:rPr lang="ko-KR" sz="1200"/>
              <a:t>영어 원문 앞 쉼표와 한글 문장 안 쉼표는 구분한다. 한글은 모두 18pt로 검토한다.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예 네 가지와 구현 작업 네 가지는 개수가 같아도 같은 목록은 아니다. 가격 변경은 금액 확정 작업을 검증하는 예다.</a:t>
            </a:r>
          </a:p>
          <a:p>
            <a:pPr lvl="0"/>
            <a:r>
              <a:rPr lang="ko-KR" sz="1200"/>
              <a:t>모든 입력 조합을 이 네 예로 검증했다는 뜻이 아니다. 현재 확인한 업무 규칙의 대표 경로다.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Cucumber 공식 BDD 문서의 정의와 Discovery·Formulation·Automation 설명을 확인했다. 그림은 그 세 활동을 이 사례에 적용한 것이다.</a:t>
            </a:r>
          </a:p>
          <a:p>
            <a:pPr lvl="0"/>
            <a:r>
              <a:rPr lang="ko-KR" sz="1200"/>
              <a:t>도식의 정식화는 다음 GWT 예, 자동화는 AcceptanceExamples의 실행 테스트로 연결한다. 구체 도구 선택은 BDD의 정의가 아니다.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Cucumber, Example Mapping 원문 확인. 원문의 스토리·규칙·예·질문 구분을 사용한다. 카드 색은 원문을 설명한 것이며 실습에서 색 카드 제작은 요구하지 않는다.</a:t>
            </a:r>
          </a:p>
          <a:p>
            <a:pPr lvl="0"/>
            <a:r>
              <a:rPr lang="ko-KR" sz="1200"/>
              <a:t>질문을 남겼다는 사실만으로 구현 위험이 해결되지는 않는다. 해당 기능을 출시할 수 있는지는 별도 판단한다.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Gherkin 블록은 학습자가 읽는 예이며 Cucumber 실행 환경을 설치했다는 뜻은 아니다. 다음 Java 테스트가 같은 예를 실행한다.</a:t>
            </a:r>
          </a:p>
          <a:p>
            <a:pPr lvl="0"/>
            <a:r>
              <a:rPr lang="ko-KR" sz="1200"/>
              <a:t>복잡한 클릭 순서나 DB 필드 갱신을 그대로 적지 않는다. 필요한 표현 수준은 업무의 수용 판단이 정한다.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원본: code/s05/AcceptanceExamples.java. main이 네 예를 각각 새로운 Fixture로 실행한다. 테스트 전용 equal은 불일치 시 AssertionError를 던지므로 -ea 옵션이 필요 없다.</a:t>
            </a:r>
          </a:p>
          <a:p>
            <a:pPr lvl="0"/>
            <a:r>
              <a:rPr lang="ko-KR" sz="1200"/>
              <a:t>도식의 전제는 Fixture·rejectedCards, 사건은 pay 두 호출, 결과는 equal 검사에 대응한다. 코드 실행 전에 결과를 예측하게 한다.</a:t>
            </a:r>
          </a:p>
          <a:p>
            <a:pPr lvl="0"/>
            <a:r>
              <a:rPr lang="ko-KR" sz="1200"/>
              <a:t>실제 외부 결제·배송과 저장소는 생략했다. 결제 결과와 배송 요청을 테스트 대역으로 통제한다.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테스트를 컴파일하고 실행했다. 실제 배송 요청이 호출될 때 FakeDelivery가 결제완료 상태인지도 확인한다.</a:t>
            </a:r>
          </a:p>
          <a:p>
            <a:pPr lvl="0"/>
            <a:r>
              <a:rPr lang="ko-KR" sz="1200"/>
              <a:t>주문 재생성 여부는 동일 Order 참조의 상태를 검사하는 이 예의 범위에서 확인한다. 운영 저장소의 식별 보존까지 검증한 것은 아니다.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단위는 교육용 주문 사례의 분할이지 모든 프로젝트의 표준 단위가 아니다. 승인·거절은 같은 결제 흐름의 경로이며 코드를 네 벌 만드는 것이 아니다.</a:t>
            </a:r>
          </a:p>
          <a:p>
            <a:pPr lvl="0"/>
            <a:r>
              <a:rPr lang="ko-KR" sz="1200"/>
              <a:t>실습은 고지·확정과 결제 결과·미확정 안내·반복 전달 응답을 적정 크기로 나누게 한다. 결과가 같다면 분할의 개수 자체를 채점하지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Anthropic, Effective harnesses for long-running agents(2025)의 해당 팀 실행 방식에 관한 문장 일부를 원문 확인했다. 병렬 개발을 보편적으로 금지하는 규칙으로 확대하지 않는다.</a:t>
            </a:r>
          </a:p>
          <a:p>
            <a:pPr lvl="0"/>
            <a:r>
              <a:rPr lang="ko-KR" sz="1200"/>
              <a:t>실제 features.json은 code/s05/run.mjs가 javac·java 실행 및 네 PASS 결과 확인 후 작성한다. 예의 evidence는 실행 원본의 메서드다.</a:t>
            </a:r>
          </a:p>
          <a:p>
            <a:pPr lvl="0"/>
            <a:r>
              <a:rPr lang="ko-KR" sz="1200"/>
              <a:t>수강생에게 JSON 파일 자체를 실습 결과물로 추가 요구하지 않는다. 기능 목록은 진행을 남기는 예다.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Simon Willison, Vibe engineering(2025-10-07). 자동 테스트를 논한 해당 문장을 원문 확인했다. 한글은 직역이 아닌 요약이다.</a:t>
            </a:r>
          </a:p>
          <a:p>
            <a:pPr lvl="0"/>
            <a:r>
              <a:rPr lang="ko-KR" sz="1200"/>
              <a:t>이 실행 예에서 의존 검사를 새로 수행했다는 뜻은 아니다. "세션 04. 아키텍처"에서 보여 준 구조 검사도 실제 변경 범위에 맞게 완료 증거로 요구한다는 설명이다.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실행 환경: 2026-10-08, Claude Code 2.1.293(비대화형), 모델 claude-opus-5-5. 각 조건을 한 번씩 실행했으므로 도구·모델의 일반적인 우열을 판단하는 자료가 아니다. 날짜와 버전은 기록을 재현·추적하기 위한 정보다.</a:t>
            </a:r>
          </a:p>
          <a:p>
            <a:pPr lvl="0"/>
            <a:r>
              <a:rPr lang="ko-KR" sz="1200"/>
              <a:t>실제 원본: code/s04/demo-results/README.md, A와 B의 prompt.txt·result.json·diff·실행 로그. 현재 세션 번호와 다른 경로지만 기록 원본을 보존해 참조한다.</a:t>
            </a:r>
          </a:p>
          <a:p>
            <a:pPr lvl="0"/>
            <a:r>
              <a:rPr lang="ko-KR" sz="1200"/>
              <a:t>이 세션을 작성하며 새 LLM 실행을 한 것으로 소개하지 않는다. 화면에서는 저장된 프롬프트·diff·실행 로그를 열어 보여 준다.</a:t>
            </a:r>
          </a:p>
          <a:p>
            <a:pPr lvl="0"/>
            <a:r>
              <a:rPr lang="ko-KR" sz="1200"/>
              <a:t>두 실행은 과거 한 번의 기록이다. 비용·시간 차이의 일반화나 통계적 비교는 하지 않는다.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구현과 테스트를 함께 맡긴 결과의 중복 결제 방지·새 주소는 저장된 실제 테스트와 diff에서 확인할 항목이다. 좋은 정책처럼 보여도 현재 합의와는 다른 판단이다.</a:t>
            </a:r>
          </a:p>
          <a:p>
            <a:pPr lvl="0"/>
            <a:r>
              <a:rPr lang="ko-KR" sz="1200"/>
              <a:t>모델과 테스트를 함께 보완하되 잘못된 구현에 맞춰 기대값을 낮추지 않는다.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기대값 변경 자체가 금지인 것은 아니다. 업무 결정이 바뀌었다는 근거와 모델 보완이 선행되어야 한다.</a:t>
            </a:r>
          </a:p>
          <a:p>
            <a:pPr lvl="0"/>
            <a:r>
              <a:rPr lang="ko-KR" sz="1200"/>
              <a:t>가격 보존 테스트의 2,000원을 2,400원으로 고쳐 통과시키는 예를 들고, 어느 결정으로 돌아가야 하는지 묻는다.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수강생이 만든 실습 2·3·4의 최종 MD를 첫 프롬프트에 붙인다. 강사 예시 입력은 code/s05/exercise-conversation/input-s02.md·input-s03.md·input-s04.md다.</a:t>
            </a:r>
          </a:p>
          <a:p>
            <a:pPr lvl="0"/>
            <a:r>
              <a:rPr lang="ko-KR" sz="1200"/>
              <a:t>②~④는 기본 문구만 입력하지 않는다. [앞선 질문에 대한 답]과 [추가 질문·수정 요청]을 함께 작성한다.</a:t>
            </a:r>
          </a:p>
          <a:p>
            <a:pPr lvl="0"/>
            <a:r>
              <a:rPr lang="ko-KR" sz="1200"/>
              <a:t>실제 입력·응답은 code/s05/exercise-conversation/에 보존한다. ①~③은 Codex로, ④~⑤는 Claude Code로 실행했다. ⑤는 내용을 그대로 두고 문체와 표 모양만 고쳐 두 번 요청했고 첫 회차는 finalization-rounds/01/에 있다.</a:t>
            </a:r>
          </a:p>
          <a:p>
            <a:pPr lvl="0"/>
            <a:r>
              <a:rPr lang="ko-KR" sz="1200"/>
              <a:t>첫 초안은 패키지마다 작업을 하나씩 둔 일곱 단위였다. ④에서 고객이 관찰할 결과로 다시 가르면 넷이 된다 — 분할의 기준을 묻는 자리다.</a:t>
            </a:r>
          </a:p>
          <a:p>
            <a:pPr lvl="0"/>
            <a:r>
              <a:rPr lang="ko-KR" sz="1200"/>
              <a:t>④가 수용 예의 세 곳을 되돌렸다. 두 번째 시도가 없는 예에서 “추가 결제 0회”를 관찰할 수 없고, 결제 요청과 결과 확인을 한 횟수로 세면 새 청구가 없었는지 판정할 수 없고, 전제에 넣은 누적값은 관찰값이 아니다.</a:t>
            </a:r>
          </a:p>
          <a:p>
            <a:pPr lvl="0"/>
            <a:r>
              <a:rPr lang="ko-KR" sz="1200"/>
              <a:t>앞 산출물에 되돌릴 것 — 반영: 신청일은 신청 절차를 시작한 날이고 첫 배송일 하한은 고지를 산출할 때 한 번 판정한다(요구사항 정의서), 결제 요청 식별 정보는 업무가 정한 값이고 제공자 형식으로 바꾸는 일은 연계가 맡는다(아키텍처의 첫 결제 계약).</a:t>
            </a:r>
          </a:p>
          <a:p>
            <a:pPr lvl="0"/>
            <a:r>
              <a:rPr lang="ko-KR" sz="1200"/>
              <a:t>앞 산출물에 되돌릴 것 — 기록만: 결과 확인 불가를 결과확인필요에서 다시 반영하면 상태 기계에 없는 자기 전이가 된다. 전이를 더하지 않고 작업 명세의 단위 3에 경계를 적었다. 실패 확정 뒤 재결제 경로가 없다는 사실도 도메인 모델에 이미 있어 명세의 제외로만 남겼다.</a:t>
            </a:r>
          </a:p>
          <a:p>
            <a:pPr lvl="0"/>
            <a:r>
              <a:rPr lang="ko-KR" sz="1200"/>
              <a:t>수강생의 답은 예의 개수와 단위의 이름이 다를 수 있다. 금지되는 결과를 숫자로 확인하는지와 미정을 지어내지 않았는지를 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사람은 기대값의 근거를 확인하고 AI는 예·코드·검사를 작성할 수 있다. 산출물 수보다 다음 작업자가 추측하지 않아도 되는지로 판단한다.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code/s05/exercise-conversation/정기배송-최초신청-작업명세.md의 1·2·3절이다. 문장은 수정하지 않았고, 범위·제외의 목록만 가운뎃점으로 이어 한 항목씩 붙였다.</a:t>
            </a:r>
          </a:p>
          <a:p>
            <a:pPr lvl="0"/>
            <a:r>
              <a:rPr lang="ko-KR" sz="1200"/>
              <a:t>원문 머리의 참조 세 줄은 이 장에서 생략했다 — 실습 2의 업무 규칙과 고지 항목, 실습 3의 상태 머신, 실습 4의 네 포트와 두 조건부 전이를 가리킨다.</a:t>
            </a:r>
          </a:p>
          <a:p>
            <a:pPr lvl="0"/>
            <a:r>
              <a:rPr lang="ko-KR" sz="1200"/>
              <a:t>대표 값 한 벌이 뒤의 수용 예·작업 단위를 모두 관통한다. 값이 흩어지면 예끼리 어긋난다는 점을 짚는다.</a:t>
            </a:r>
          </a:p>
          <a:p>
            <a:pPr lvl="0"/>
            <a:r>
              <a:rPr lang="ko-KR" sz="1200"/>
              <a:t>신청일 2027-10-28은 이 실습이 더한 교육용 값이다. 첫 배송일 하한을 판정할 기준이 필요해 ②에서 정했다.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최종 MD 4절의 머리글과 예 1·2다. 예의 제목은 ### 예 N. 소제목에서 블록의 Scenario 줄로 옮겼고 Given–When–Then의 문장은 원문 그대로다.</a:t>
            </a:r>
          </a:p>
          <a:p>
            <a:pPr lvl="0"/>
            <a:r>
              <a:rPr lang="ko-KR" sz="1200"/>
              <a:t>원문이 예마다 붙인 "잡는 오류" 줄은 슬라이드에서 뺐다. 예 1은 "종료일 포함, 회차 누락·추가, 일시불 고지, 고지 단계의 조기 결제", 예 2는 "부적합한 선택으로 금액을 산정하거나 결제를 시작하는 것"이다.</a:t>
            </a:r>
          </a:p>
          <a:p>
            <a:pPr lvl="0"/>
            <a:r>
              <a:rPr lang="ko-KR" sz="1200"/>
              <a:t>예 2 뒤의 "첫 배송일이 신청일에 3일을 더한 날보다 이른 경우도 결과가 같다"도 전문에 있다.</a:t>
            </a:r>
          </a:p>
          <a:p>
            <a:pPr lvl="0"/>
            <a:r>
              <a:rPr lang="ko-KR" sz="1200"/>
              <a:t>금액 산정 0회가 예 2의 핵심이다. 부적합을 안내하면서 금액은 이미 계산해 버리는 구현이 흔하다.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최종 MD 4절의 예 3·4다. 제목만 Scenario 줄로 옮겼고 문장은 원문 그대로다.</a:t>
            </a:r>
          </a:p>
          <a:p>
            <a:pPr lvl="0"/>
            <a:r>
              <a:rPr lang="ko-KR" sz="1200"/>
              <a:t>원문의 "잡는 오류" 줄 — 예 3은 "확정 시 재산정, 고지와 다른 계약 내용, 중복 계약, 일시불 청구", 예 4는 "실패한 신청의 계약 생성, 실패 결과의 오분류"다.</a:t>
            </a:r>
          </a:p>
          <a:p>
            <a:pPr lvl="0"/>
            <a:r>
              <a:rPr lang="ko-KR" sz="1200"/>
              <a:t>금액 산정 1회(고지 단계)가 두 예에 모두 있다. 확정할 때 금액을 다시 부르면 고지한 값과 청구한 값이 갈라진다.</a:t>
            </a:r>
          </a:p>
          <a:p>
            <a:pPr lvl="0"/>
            <a:r>
              <a:rPr lang="ko-KR" sz="1200"/>
              <a:t>예 4에 재결제 시도가 없는 이유를 묻는다. 신청미완료에서 나가는 전이가 없어 같은 신청의 재결제 경로 자체가 없다.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최종 MD 4절의 예 5·6이다. 제목만 Scenario 줄로 옮겼고 문장은 원문 그대로다.</a:t>
            </a:r>
          </a:p>
          <a:p>
            <a:pPr lvl="0"/>
            <a:r>
              <a:rPr lang="ko-KR" sz="1200"/>
              <a:t>원문의 "잡는 오류" 줄 — 예 5는 "미확정 결과를 성공·실패로 단정하는 것, 확인을 핑계로 다시 청구하는 것", 예 6은 "반복 전달로 인한 중복 청구·중복 계약·회차 중복"이다.</a:t>
            </a:r>
          </a:p>
          <a:p>
            <a:pPr lvl="0"/>
            <a:r>
              <a:rPr lang="ko-KR" sz="1200"/>
              <a:t>예 5의 "결제 요청 1회(결과 확인과 따로 셈)"는 ④의 지적으로 고친 자리다. 두 동작을 한 횟수로 세면 새 청구 없이 확인했는지 판정할 수 없다.</a:t>
            </a:r>
          </a:p>
          <a:p>
            <a:pPr lvl="0"/>
            <a:r>
              <a:rPr lang="ko-KR" sz="1200"/>
              <a:t>예 6의 전제도 ④에서 고쳤다. 누적값을 대역에 미리 넣으면 관찰한 값이 아니다.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최종 MD 5·6·7절이다. 단위의 항목 세 줄을 두 줄로 붙이고, 미정 표의 세 열을 한 줄씩 옮겼다. 문장은 바꾸지 않았다.</a:t>
            </a:r>
          </a:p>
          <a:p>
            <a:pPr lvl="0"/>
            <a:r>
              <a:rPr lang="ko-KR" sz="1200"/>
              <a:t>네 단위가 패키지가 아니라 고객이 관찰할 결과로 갈린다. 초안의 일곱 단위(패키지마다 하나)와 비교해 보인다.</a:t>
            </a:r>
          </a:p>
          <a:p>
            <a:pPr lvl="0"/>
            <a:r>
              <a:rPr lang="ko-KR" sz="1200"/>
              <a:t>미정을 남긴 것이 감점이 아니다. 확인할 담당과 그때까지 하지 않을 일이 적혀 있으면 다음 작업을 시작할 수 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작업 명세와 수용 기준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BDD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예로 명세하기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예시에서 테스트로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작업 단위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기능 목록과 점진적 진행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완료의 정의와 증거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테스트는 누가 쓰는가?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명세와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테스트의 기대값이 된다. 검증할 수 없는 작업은 맡길 수 없으므로, 구현할 범위와 받아들일 결과를 먼저 합의한다.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 이야기에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규칙·범위·제외·미정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붙여 작업 명세서로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수용 기준의 해석 차이와 빈칸을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Given–When–Then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전제·사건·기대 결과를 실행 테스트로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검증할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 기능 목록에 진행을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AI가 쓴 테스트의 기대값을 검토한다.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 하나의 명세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25766" y="2112010"/>
          <a:ext cx="62788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618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담을 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결과를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상품을 배송받기 위해 주문한다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옳은 결과와 구체적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단가로 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 포함하거나 뺄 행동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요청 포함, 환불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전에는 구현하지 않을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배송 요청 실패의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원천을 유지하는 다른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용어집·상태 기계·의존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스토리 하나에서 구현할 요구사항을 확인 가능한 수준으로 적은 문서다. 시스템 전체의 요구사항 정의서와 모델을 참조한다.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명세서에 적을 것과 참조할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작업용 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해당 작업의 구현과 검토에 쓴다. 오래 유지할 업무 규칙은 요구사항 정의서에서 관리한다.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중복을 줄인다.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모델과 아키텍처 전체를 붙여 넣지 않고 작업에 필요한 부분과 그 원천을 가리킨다.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명세서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주문이 생길 때의 판매가를 항목 단가로 확정한다. 펜 2개 × 1,000원 = 2,000원.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가격 변경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직전 판매가가 1,200원이 되어도 기존 주문은 2,000원으로 결제한다.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승인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결제완료로 바꾼 뒤 서울로 배송을 1회 요청한다.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결제대기를 유지하고 배송을 요청하지 않는다. 다른 카드로 다시 결제할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포함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 지정 때 주문 생성·금액 확정, 결제 승인 요청, 결과 반영, 승인 후 배송 요청.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 탐색·장바구니, 취소·환불, 할인·배송비, 재고, 배송 이후 처리.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 실패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승인된 결제와 주문을 어떻게 처리할지 업무 담당자에게 확인한다. 이번 구현은 이 정책을 정하지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금액·배송 요청·결제 거절의 업무 규칙.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단가·주문 총액의 의미, 결제대기 자기 전이.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업무는 연동·영속 구현에 의존하지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고객은 장바구니의 상품을 결제해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주문하고 배송받고 싶다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이번 작업은 배송지 지정부터 결제 결과와 배송 요청까지다.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결과를 받아들일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41385" y="2898948"/>
          <a:ext cx="524764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3741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모호한 표현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금액이 정확하다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바뀌어도 2,000원의 승인을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거절을 처리한다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결제대기를 유지하고 배송 요청은 0회다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재시도가 가능하다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카드로 같은 주문을 결제하면 결제완료가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스토리가 충족되었다고 판단할 조건이다. “결제가 잘 된다” 대신 관찰할 금액·상태·외부 요청을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일의 우선순위를 정하고,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옮기며 결과를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모호한 기준을 관찰 가능한 기준으로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허용과 금지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확인한다. 거절 뒤 결제대기라는 상태만 확인하면 잘못 나간 배송 요청을 놓칠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 담당자가 확인한 규칙이다. 코드가 낸 결과를 그대로 기대값으로 복사하지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가지 대표 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86066" y="2112010"/>
          <a:ext cx="65582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00300"/>
                <a:gridCol w="3210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전제·사건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 주문을 카드로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 요청, 결제완료 뒤 서울 배송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후 판매가 1,200원,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1,000원, 승인 요청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X가 거절됨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결제대기·총액 2,000원 유지, 배송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거절 뒤 카드 Y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주문이 결제완료, 배송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규칙의 다른 결과를 드러내도록 고른다. 승인뿐 아니라 가격 변경·거절·재결제가 빠지면 첫 시도의 오류를 잡을 수 없다.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수용 예 네 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전제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유지한다. 주문은 배송지 서울을 지정할 때 생기고, 그때 펜 2개의 단가가 확정된다.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추가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목적이 있을 때 넣는다. 아직 정하지 않은 중복 승인이나 배송 요청 실패를 임의의 기대값으로 채우지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업무와 개발이 예를 함께 논의한다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행위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업무 담당자와 개발자가 구체적인 예로 기대 행동을 함께 이해하는 협업 방식이다. 테스트 문법을 쓰는 것만으로 완성되지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담당자와 기술 담당자 사이의 간극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줄이는 소프트웨어 팀의 협업 방식이다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"BDD is a way for software teams to work that closes the gap between business people and technical people"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에서는 가격이 어느 시점의 금액인지 묻는다.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정식화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에서는 판매가와 단가를 나눠 예를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합의한 뜻을 확인한다. 실행하다 규칙의 빈칸을 발견하면 논의로 돌아가며, 통과하도록 기대값부터 바꾸지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BDD — Behaviour-Driven Development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976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합의에서 실행 가능한 예로</a:t>
            </a:r>
          </a:p>
        </p:txBody>
      </p:sp>
      <p:pic>
        <p:nvPicPr>
          <p:cNvPr id="11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504156" y="4435394"/>
            <a:ext cx="6135688" cy="83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규칙·예·질문을 구분하기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19696" y="2898948"/>
          <a:ext cx="68910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26644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행동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주문 생성 시점의 판매가다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공통 용어와 모델을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1,200원이 되어도 2,000원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테스트의 기대값으로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배송 요청이 실패하면 어떻게 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담당자에게 처리 정책을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예시 매핑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스토리에 관련된 규칙·예·질문을 함께 정리해 범위를 확인하는 방법이다. 예로 설명되지 않는 규칙은 더 묻고, 답하지 못한 것은 질문으로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규칙을 설명하는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초록색 카드에 적는다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"Examples to illustrate these rules are written on a green card"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[Cucumber: Example Mapping]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스토리의 규칙·예·질문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형식의 목적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뜻을 맞추는 것이다. 카드의 색을 도구로 재현하는 것보다 규칙과 예가 연결되는지가 중요하다.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미정과 제외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다르다. 환불은 이번 기능에서 제외했고, 승인 뒤 배송 요청 실패는 정책 자체가 미정이다.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Given–When–Then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거절된 주문을 다른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펜 2개, 단가 1000원, 배송지 서울의 결제대기 주문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카드 X는 거절되고 카드 Y는 승인된다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카드 X로 결제한 뒤 카드 Y로 다시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같은 주문은 결제완료다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배송 요청은 모두 합해 1회다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Given–When–Then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전제·사건·기대 결과를 구분해 예를 쓰는 형식이다. 구현의 내부 순서 대신 업무가 관찰할 결과를 명확히 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2729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결과를 재현할 상황이다. 카드마다 다른 결제 결과를 테스트 대역으로 준비한다.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고객의 행동이다.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상태와 외부 요청으로 확인하며 호출 횟수도 업무 규칙에서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문형의 한계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있다. 세 칸을 채웠어도 미정 정책을 지어냈다면 좋은 명세가 아니다.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전제·사건·결과를 실행하기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932012"/>
            <a:ext cx="8412480" cy="21463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static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paidWithAnotherCard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Fixture f = new Fixture();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f.payment.rejectedCards = Set.of("카드 X");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f.service.pay(new PaymentMethod("카드 X"));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equal(OrderStatus.PENDING_PAYMENT, f.order.status, "재결제 전 상태");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equal(0, f.delivery.requests, "거절 뒤 배송 금지");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f.service.pay(new PaymentMethod("카드 Y"));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equal(OrderStatus.PAID, f.order.status, "같은 주문 재결제 상태");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equal(List.of("카드 X", "카드 Y"), f.payment.requestedCards, "다른 카드 사용");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equal(1, f.delivery.requests, "재결제 승인 뒤 배송 횟수");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System.out.println("PASS 재결제");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합의한 수용 기준을 실제 실행으로 확인한다. 준비·행동·검증이 각각 예의 전제·사건·기대 결과에 대응한다.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161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 예와 실행 코드의 연결</a:t>
            </a:r>
          </a:p>
        </p:txBody>
      </p:sp>
      <p:pic>
        <p:nvPicPr>
          <p:cNvPr id="34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039812" y="2153894"/>
            <a:ext cx="7064375" cy="55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잘못된 결과도 잡는 기대값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예시에서 테스트로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8726" y="2112010"/>
          <a:ext cx="71729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48996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관찰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잡으려는 오류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요청 2,000원·결제완료 뒤 서울 배송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금액·배송지·호출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단가 1,000원·요청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현재 판매가로 과거 주문을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결제대기·총액 유지·배송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거절을 취소로 처리하거나 잘못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주문·다른 카드·배송 총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재시도 불가·주문 재생성·중복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서로 다른 오류를 드러내야 한다. 상태만 확인하지 않고 주문 금액·승인 요청 금액·배송 여부를 필요한 경로에서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네 테스트가 확인하는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검사의 독립성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기대값의 근거에서 시작한다. 구현과 테스트를 같은 AI가 써도 기대값이 합의한 예와 같은지 별도로 검토한다.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네 대표 예다. 실제 API·동시성·중복 승인·미정인 실패 복구까지 통과했다고 해석하지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작업 단위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2112010"/>
          <a:ext cx="61391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95910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구현할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완료를 확인할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항목에 단가를 보존하고 총액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변경 후에도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요청·결제완료·배송 요청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서울 배송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상태·금액 유지, 배송 요청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결제대기·배송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주문을 다른 카드로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카드 Y로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끝낸 뒤 수용 테스트로 결과를 확인할 수 있는 구현 범위다. 파일·계층만 나누기보다 고객의 행동과 규칙을 끝까지 연결한다.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기능을 검증 가능한 네 단위로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있다. 금액 확정을 바탕으로 승인을 구현하고, 거절 경로를 확인한 뒤 재결제를 검증한다.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작게 끝까지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테스트까지 잇는다는 뜻이다. “엔티티 작성 완료”만으로 고객 행동의 구현이 끝났다고 보지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 코드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뒤에는 앞 단위의 테스트도 실행한다. 새 작업의 통과가 이전 작업의 유지를 증명하지는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기능 목록과 점진적 진행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240238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"unit": "재결제",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"acceptance": "다른 카드로 같은 주문 재결제",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"evidence": "AcceptanceExamples.paidWithAnotherCard",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"passes": true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구현할 결과와 검증 상태를 남긴다. 시작할 작업은 테스트 가능한 크기로 고르고, 끝난 작업은 실행 증거로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하나씩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 on only one feature at a time"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2025d]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2453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 표식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보고 문장이 아니다. 실행한 테스트와 그 결과를 확인한 뒤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점진적 진행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목록의 한 항목을 구현·검증한 다음 다음 항목으로 가는 방식이다. 공통 코드를 바꾸면 앞 항목도 다시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분명히 남긴다. 미정인 배송 요청 실패를 구현 완료 항목에 섞지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완료의 정의와 증거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1946" y="3173268"/>
          <a:ext cx="644652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623820"/>
                <a:gridCol w="25120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부족한 보고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충족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예 네 가지의 실제 실행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“잘 동작함”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기능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작업 테스트의 실행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테스트 하나만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검사와 변경 파일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인터페이스를 썼다는 설명만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 준수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제외·미정과 실제 변경의 대조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요청하지 않은 환불 정책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작업을 끝났다고 판단할 공통 조건이다. 수용 기준이 기능의 결과를 정한다면, 완료의 정의는 그 결과를 확인한 증거와 변경의 품질도 묻는다.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견고하고 충분하며 안정적인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묶음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에이전트 작업의 기반이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project has a robust, comprehensive and stable test suite agentic coding tools can fly with it."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48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 보고에 필요한 증거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4186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검사하지 않은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적는다. 테스트 대역의 통과와 실제 외부 연동 검증을 같은 완료 증거로 제시하지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남는다. 자동 검사로 판정할 수 없는 업무 해석과 미정 사항은 담당자에게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명세, 서로 다른 테스트 작성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58126" y="2112010"/>
          <a:ext cx="66141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311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구현과 테스트 작성 요청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 제공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명세서와 빈 결제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명세서와 출발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작성하라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제공한 수용 테스트는 바꾸지 마라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테스트 5개·수용 테스트 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 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추가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밖 중복 결제 방지 규칙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해당 규칙을 추가하지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작성의 위임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기대값의 확인은 다른 일이다. 실제 실행 기록 두 건을 비교해 무엇을 사람이 검토해야 하는지 살펴본다.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저장된 실제 실행 두 건의 조건과 관찰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검토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테스트까지 맡긴 쪽은 명세에 없는 중복 결제 방지 예외도 추가했다. 통과 여부와 별개로 새 기대값의 업무 근거를 확인해야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같이 확인할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두 실행 모두 미정인 배송 요청 실패 정책을 정하지 않았다는 점이다. 테스트를 누가 썼는지만으로 결과를 예측할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통과한 테스트의 기대값 검토하기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41236" y="2112010"/>
          <a:ext cx="764794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51206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문제의 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중복 결제 방지 예외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명세에 없던 업무 결정을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요구로 확인한 뒤 채택하거나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배송지의 새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서울 대신 “서울시 중구 1” 사용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 사례와 테스트 데이터의 일치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수용 테스트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확인한 네 규칙은 충족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정책과 추가 규칙까지 승인한 것은 아님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테스트가 통과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해도 합의하지 않은 정책이 섞였을 수 있다. 새 기대값은 요구사항에 근거가 있는지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구현과 테스트를 함께 맡긴 결과의 검토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쓴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유용하다. 경계 사례와 누락 후보를 제안하게 하되, 기대값은 확정 규칙과 질문으로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쓴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틀릴 수 있다. 누가 작성했는지보다 업무 규칙과 실제 실행의 증거를 대조한다.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제약은 명확히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준다. 확인한 기대값을 유지하고, 새 규칙이 필요하면 구현과 함께 확정하지 말고 질문하게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80936" y="2112010"/>
          <a:ext cx="736854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209296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놓치는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보완 방향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결과를 기대값으로 복사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구현과 테스트의 같은 오류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대표 예에서 기대값 도출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승인만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배송·재결제 오류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허용과 금지 행동을 함께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통과를 위해 기준 완화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합의한 업무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실패의 원인을 규칙·모델·코드에서 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예외 코드로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정해야 할 정책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담당자 확인 전에는 질문으로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일을 파일별로만 나눔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 행동의 끝까지 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관찰 가능한 결과가 있는 작업으로 분할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통과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합의한 기대값과 적절한 검증 범위가 있을 때 의미가 있다. 통과 수만으로 업무의 정확성을 판단하지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기준을 약하게 만드는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실습 — 작업 명세와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“첨부한 실습 2의 요구사항 정의서·실습 3의 도메인 모델·실습 4의 아키텍처를 바탕으로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정기배송 최초 신청을 구현할 작업 명세서 초안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작성해라. 이번 작업에 포함할 범위, 제외할 것, 확인 전에는 구현하지 않을 미정을 구분하고, 명세를 확정하기 위해 내가 결정해야 할 사항은 질문해라. 구현 코드와 테스트 코드는 쓰지 마라.”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“아래 답과 수정 요청을 반영해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작업 명세서를 확정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해라. 스토리, 이번 작업이 지킬 업무 규칙과 그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대표 값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범위·제외, 미정과 확인할 담당, 참조할 앞 산출물을 적어라. 앞 산출물의 규칙을 옮겨 적지 말고 이번 작업에 필요한 것만 짚어라.”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3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“아래 답과 수정 요청을 반영해라. 확정한 범위의 수용 기준을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Given–When–Then 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써라. 허용되는 결과와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금지되는 결과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함께 확인하고, 관찰할 상태·계약 수·결제 요청 횟수·안내 결과를 기대값으로 적어라. 근거가 없는 기대값은 지어내지 말고 질문으로 남겨라.”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4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“아래 답과 수정 요청을 반영해라. 구현을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한 번에 검증할 작업 단위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나누고 단위마다 완료를 확인할 예를 짝지어라. 작업 명세·수용 예·작업 단위가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도메인 모델의 상태와 전이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아키텍처의 포트와 의존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과 어긋나지 않는지 검토하고 어긋난 곳은 어떻게 고치는지 적어라.”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5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“지금까지 합의한 작업 명세와 수용 기준을 다음 실습에 사용할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Markdown 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생성해라. 수강생이 함께 읽고 실습 6의 투입물로 쓸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핵심만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담고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슬라이드 다섯 장 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들어가게 줄여라. 스토리와 대표 값, 이번 작업이 지킬 업무 규칙, 범위·제외,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수용 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작업 단위와 완료를 확인할 예·의존 순서, 남은 미정을 포함해라. 수용 예는 대화창에서 합의한 Given–When–Then을 그대로 넣어라. 앞 산출물의 업무 규칙·날짜 계산·상태 전이는 반복하지 말고 참조해라. 남은 미정은 제목과 한 줄 이유에 확인 담당을 붙여 모아라.”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신청할 때 결제하는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첫 회차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까지가 이번 작업이고 이후 회차의 실제 결제는 제외되었는가?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신청 때 확정한 회차 금액을 쓰고, 회차 수를 곱한 금액을 한 번에 청구하지 않는가?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성공 확정·실패 확정·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결과 확인 불가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가 서로 다른 상태와 안내로 갈라지는가?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금지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예마다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계약 수와 결제 요청 횟수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를 숫자로 확인해 잘못 생긴 계약과 청구를 잡는가?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앞 산출물이 정한 상태와 전이만 쓰고 새 상태나 새 전이를 만들지 않았는가?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6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중복 승인 방지·결과 확인의 시작처럼 확인해야 할 결정을 기대값으로 지어내지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작업 명세서·수용 예·작업 단위를 담은 최종 MD 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마지막 합의를 확인하고 실습 6에 첨부한다.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기준을 기대값으로, 실행 결과를 증거로 삼는다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스토리 하나의 규칙·범위·제외·미정을 적고 모델을 참조한다.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해석을 맞추고, 합의한 기대값을 테스트로 실행한다.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한 번에 검증할 결과를 가지며 진행은 증거로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보완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예를 만들다 드러난 규칙의 빈칸을 원천에 반영하는 일이다.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"세션 06. 맥락 구성"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작업에 필요한 명세·모델·규칙을 에이전트가 찾아 읽을 수 있게 구성한다.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04056"/>
            <a:ext cx="4338828" cy="4908409"/>
          </a:xfrm>
        </p:spPr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1. 스토리와 대표 값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기존 회원으로서 반복 주문의 수고를 줄이고 싶다. 그래서 상품과 배송 조건을 고르고, 고지를 확인한 뒤 정기배송을 최초 신청한다. 첫 회차 결제 성공이 확인되어야 계약이 성립한다.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상품·수량: 휴지 1묶음 1개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신청일: 2027-10-28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배송일: 2027-11-03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계약기간·배송 주기: 3개월·2주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 종료일: 2028-02-03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(제외)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예정 회차: 7개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회차 결제금액: 10,000원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신청 시 결제: 첫 회차 10,000원만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2. 이번 작업이 지킬 업무 규칙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날짜: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신청일은 신청 절차를 시작한 날이다. 첫 배송일 하한은 Asia/Seoul 기준 달력 날짜로 고지를 산출할 때 판정하고, 그 결과를 확정 때까지 유지한다.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고지와 확정: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두 단계로 나눈다. 확정할 때는 선택 대상의 유효성·소유 관계만 다시 확인한다. 금액은 고지한 값을 쓰며 다시 산정하지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신청할 때는 첫 회차만 결제한다. 7회분 일시불은 없다. 이후 회차의 결제 예정일은 고지만 하고 결제하지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43936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업무 규칙·날짜 계산·상태 전이는 앞 산출물을 따른다. 이 문서에는 이번 작업에 필요한 결정만 적는다.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04056"/>
            <a:ext cx="4439412" cy="4908409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성공이 확인되면 고지한 일정·금액으로 계약 1건이 성립한다. 실패가 확정되면 계약을 만들지 않는다. 결과를 확인할 수 없거나 저장 전에 중단되면 결과 확인 필요로 안내한다.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동일 신청: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업무가 신청 식별자를 만들어 신청 저장 포트로 저장한다. 결제 시작 전이에 성공한 요청 하나만 결제를 부른다.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접근: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회원은 본인의 배송지·결제수단·신청만 쓴다. 표시 형식은 기존 쇼핑몰 형식을 따른다.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3. 범위와 제외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시작과 선택 검증 · 일정·금액 산정과 고지 정보 산출 · 확정 시 재확인과 첫 회차 결제 · 성공·실패·결과 확인 필요 처리와 저장 · 동일 신청 반복 전달에 대한 응답 · 결과 반영 업무 진입점의 자리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이후 회차의 실제 결제, 주문 생성·배송 운영, 첫 회차와 일반 주문의 연결 · 계약 변경·해지·자동 갱신, 배송 불가일 조정 · 실패가 확정된 같은 신청의 재결제 경로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(재신청은 별개의 신규 신청으로 시작)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· 결과 확인을 시작하는 콜백·폴링·재시도와 복구 운영 · 진입부 요청 형태, 새 보존·마스킹 정책, 별도 서비스·인프라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고지와 선택 확인의 수용 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754313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예 1. 대표 조건 고지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신청일 2027-10-28에 시작한 신청이 신청준비다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휴지 1묶음 1개, 첫 배송일 2027-11-03, 계약기간 3개월, 배송 주기 2주를 선택했다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선택 대상이 모두 유효하고 본인 소유이며 기존 정책 금액은 10,000원이다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회원이 고지 정보를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계약 종료일 2028-02-03(제외)과 예정 회차 7개가 고지된다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회차 결제금액 10,000원, 신청 시 결제할 금액은 첫 회차 10,000원으로 고지된다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상태는 신청준비이고 계약 0건, 결제 요청 0회, 금액 산정 1회다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But 7회분 합계 청구나 고지 단계의 결제·계약이 있어서는 안 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692593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고지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에서는 일정과 금액을 확정해 보이되 계약과 결제는 아직 0이다. 부적합한 선택은 금액 산정까지 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예는 독립된 신청 절차에서 시작한다. 횟수는 그 예 안에서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포트 대역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센 누적값이다. 첫 결제 포트 대역은 결제 요청과 결과 확인을 따로 센다.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515041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예 2. 본인 소유가 아닌 배송지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대표 값으로 시작한 신청이 신청준비다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선택한 등록 배송지가 다른 회원 소유다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회원이 고지 정보를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선택 내용 확인 요청을 안내하고 상태는 신청준비로 유지된다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계약 0건, 결제 요청 0회, 금액 산정 0회다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But 고지 정보 산출이나 결제가 진행되어서는 안 된다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결제 결과의 수용 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예 3. 첫 결제 성공 확정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대표 값으로 고지를 받고 확인한 신청이 신청준비다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확정 시 선택 대상이 유효하고 본인 소유다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첫 결제 결과는 성공 확정이다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회원이 신청을 확정한다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신청 완료와 계약 성립을 안내하고 상태는 신청완료다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계약 1건에 종료일 2028-02-03, 예정 회차 7개, 회차 결제금액 10,000원이 확정된다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결제 요청 1회, 청구 금액 10,000원, 금액 산정 1회(고지 단계)다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But 확정 시 재산정, 계약 2건 이상, 7회분 청구가 있어서는 안 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전제에서 결과만 갈린다.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성공이 확인되면 계약 1건이 생기고, 실패가 확정되면 0건이며 두 경우 모두 결제 요청은 1회다.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603726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예 4. 첫 결제 실패 확정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대표 값으로 고지를 받고 확인한 신청이 신청준비다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확정 시 선택 대상이 유효하고 본인 소유다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첫 결제 결과는 실패 확정이다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회원이 신청을 확정한다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신청 미완료를 안내하고 상태는 신청미완료다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계약 0건, 결제 요청 1회, 금액 산정 1회(고지 단계)다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But 신청 완료나 결과 확인 필요로 안내해서는 안 된다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미확정과 반복 전달의 수용 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예 5. 결제 결과 확인 불가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대표 값으로 고지를 받고 확인한 신청이 신청준비다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확정 시 선택 대상이 유효하고 본인 소유다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첫 결제 결과를 확인할 수 없다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회원이 신청을 확정한다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결과 확인 필요를 안내하고 상태는 결과확인필요다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계약 0건, 결제 요청 1회(결과 확인과 따로 셈), 금액 산정 1회(고지 단계)다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But 신청완료나 신청미완료로 처리하거나 새 결제를 요청해서는 안 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확정할 수 없는 결과는 실패가 아니다.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반복 전달도 상태를 바꾸지 않으며, 두 예 모두 청구가 늘지 않는지를 숫자로 확인한다.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38626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예 6. 동일 신청의 반복 전달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같은 예 안에서 대표 값으로 고지와 확정을 거쳐 첫 결제 성공이 확정되었다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상태는 신청완료다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같은 신청 식별자의 확정 요청이 다시 전달된다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저장된 신청 완료와 계약 결과를 안내하고 상태는 신청완료로 유지된다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반복 전달 동안 늘어난 것이 없어 계약·결제 요청·금액 산정의 누적이 각각 1이다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예정 회차는 7개로 유지된다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But 추가 청구, 추가 계약, 회차 추가, 재산정이 있어서는 안 된다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단위와 남은 미정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단위 1. 신청 전 고지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구현할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유효한 선택이면 일정·금액·첫 회차 결제 조건을 고지한다. 부적합하면 확인 요청만 안내한다. 신청 식별자는 신청 업무가 만든다.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완료 확인 예: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 1, 예 2 ·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쓰는 포트: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선택 확인, 금액 산정, 신청 저장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단위 2. 확정과 결과 확정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구현할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확정하면 유효성·소유 관계만 다시 확인하고 첫 회차만 결제한다. 성공이면 완료와 계약, 실패면 미완료다. 결제 요청 식별 정보는 업무가 정한 값이다. 제공자 형식으로 바꾸는 일은 쇼핑몰 연계가 맡는다.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완료 확인 예: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 3, 예 4 ·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쓰는 포트: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선택 확인, 첫 결제, 신청 저장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시작·결과 반영)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단위 3. 결과 미확정 안내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구현할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결과를 확인할 수 없으면 결과 확인 필요로 안내한다. 결과 확인 불가는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첫결제결과확인중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에서만 반영한다.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결과확인필요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에서는 성공·실패만 반영한다. 결과 반영 진입점은 자리까지만 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완료 확인 예: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 5 ·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쓰는 포트: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결제, 신청 저장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시작·결과 반영)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단위 4. 반복 전달 응답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구현할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같은 신청이 다시 오면 저장된 결과만 안내한다. 결제 시작 전이가 거부되므로 결제와 금액 산정은 부르지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완료 확인 예: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 6 ·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쓰는 포트: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저장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(조회·결제 시작 거부)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순서와 별도 검사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순서: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1 → 2 → 3·4 순서이며 3과 4는 서로 의존하지 않는다. 일정 계산, 상태 전이, 신청 저장 포트, 결제 응답 변환처럼 여러 단위가 함께 쓰는 코드를 바꾸면 앞 단위의 예까지 다시 실행한다.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구조: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네 단위를 모두 마친 뒤 정적 의존 검사로 실습 4의 허용·금지 의존과 순환이 없는지 확인한다.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성능: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실습 2의 품질 요구사항은 연계 환경에서 실측한 결과로만 판정한다. 대역 검증으로 충족을 선언하지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남은 미정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제공자의 멱등·조회·오류 규격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확인되기 전에는 실제 결제 연동을 완료로 볼 수 없다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(연동)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영속성 기반의 조건부 전이·원자적 반영·고유 제약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동시 경쟁과 원자성은 대역으로 입증할 수 없다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(저장)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신청 식별자 전달 방식과 DB 제약 구현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계약만 정했다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(업무·저장)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기존 기준 신청일의 취득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대표 신청일은 대역이 주는 값이다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(연동)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결과 확인의 시작 주체·저장 전 중단 시 복구·신청준비 유효기간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실습 4의 미결 사항으로 유지한다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(업무)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24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맑은 고딕</vt:lpstr>
      <vt:lpstr>Arial</vt:lpstr>
      <vt:lpstr>Wingdings</vt:lpstr>
      <vt:lpstr>4_Office 테마</vt:lpstr>
      <vt:lpstr>05. 작업 명세와 수용 기준 목차</vt:lpstr>
      <vt:lpstr>01. 세션 목표</vt:lpstr>
      <vt:lpstr>스토리 하나의 명세 02. 작업 명세서</vt:lpstr>
      <vt:lpstr>주문한다의 작업 명세서 02. 작업 명세서</vt:lpstr>
      <vt:lpstr>결과를 받아들일 조건 03. 수용 기준</vt:lpstr>
      <vt:lpstr>네 가지 대표 예 03. 수용 기준</vt:lpstr>
      <vt:lpstr>업무와 개발이 예를 함께 논의한다 04. BDD — 예로 명세하기</vt:lpstr>
      <vt:lpstr>규칙·예·질문을 구분하기 04. BDD — 예로 명세하기</vt:lpstr>
      <vt:lpstr>Given–When–Then 04. BDD — 예로 명세하기</vt:lpstr>
      <vt:lpstr>전제·사건·결과를 실행하기 05. 예시에서 테스트로</vt:lpstr>
      <vt:lpstr>잘못된 결과도 잡는 기대값 05. 예시에서 테스트로</vt:lpstr>
      <vt:lpstr>06. 작업 단위</vt:lpstr>
      <vt:lpstr>07. 기능 목록과 점진적 진행</vt:lpstr>
      <vt:lpstr>08. 완료의 정의와 증거</vt:lpstr>
      <vt:lpstr>같은 명세, 서로 다른 테스트 작성 방식 09. 시연 — 테스트는 누가 쓰는가?</vt:lpstr>
      <vt:lpstr>통과한 테스트의 기대값 검토하기 09. 시연 — 테스트는 누가 쓰는가?</vt:lpstr>
      <vt:lpstr>10. 잘못된 관행</vt:lpstr>
      <vt:lpstr>11. 실습 — 작업 명세와 수용 기준</vt:lpstr>
      <vt:lpstr>12. 요약</vt:lpstr>
      <vt:lpstr>작업 명세서 별첨. 실습 답</vt:lpstr>
      <vt:lpstr>고지와 선택 확인의 수용 예 별첨. 실습 답</vt:lpstr>
      <vt:lpstr>결제 결과의 수용 예 별첨. 실습 답</vt:lpstr>
      <vt:lpstr>미확정과 반복 전달의 수용 예 별첨. 실습 답</vt:lpstr>
      <vt:lpstr>작업 단위와 남은 미정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05. 작업 명세와 수용 기준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