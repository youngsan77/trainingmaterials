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  <p:sldId id="258" r:id="javaLecture3"/>
    <p:sldId id="259" r:id="javaLecture4"/>
    <p:sldId id="260" r:id="javaLecture5"/>
    <p:sldId id="261" r:id="javaLecture6"/>
    <p:sldId id="262" r:id="javaLecture7"/>
    <p:sldId id="263" r:id="javaLecture8"/>
    <p:sldId id="264" r:id="javaLecture9"/>
    <p:sldId id="265" r:id="javaLecture10"/>
    <p:sldId id="266" r:id="javaLecture11"/>
    <p:sldId id="267" r:id="javaLecture12"/>
    <p:sldId id="268" r:id="javaLecture13"/>
    <p:sldId id="269" r:id="javaLecture14"/>
    <p:sldId id="270" r:id="javaLecture15"/>
    <p:sldId id="271" r:id="javaLecture16"/>
    <p:sldId id="272" r:id="javaLecture17"/>
    <p:sldId id="273" r:id="javaLecture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Relationship Id="javaLecture3" Type="http://schemas.openxmlformats.org/officeDocument/2006/relationships/slide" Target="slides/slide3.xml"/><Relationship Id="javaLecture4" Type="http://schemas.openxmlformats.org/officeDocument/2006/relationships/slide" Target="slides/slide4.xml"/><Relationship Id="javaLecture5" Type="http://schemas.openxmlformats.org/officeDocument/2006/relationships/slide" Target="slides/slide5.xml"/><Relationship Id="javaLecture6" Type="http://schemas.openxmlformats.org/officeDocument/2006/relationships/slide" Target="slides/slide6.xml"/><Relationship Id="javaLecture7" Type="http://schemas.openxmlformats.org/officeDocument/2006/relationships/slide" Target="slides/slide7.xml"/><Relationship Id="javaLecture8" Type="http://schemas.openxmlformats.org/officeDocument/2006/relationships/slide" Target="slides/slide8.xml"/><Relationship Id="javaLecture9" Type="http://schemas.openxmlformats.org/officeDocument/2006/relationships/slide" Target="slides/slide9.xml"/><Relationship Id="javaLecture10" Type="http://schemas.openxmlformats.org/officeDocument/2006/relationships/slide" Target="slides/slide10.xml"/><Relationship Id="javaLecture11" Type="http://schemas.openxmlformats.org/officeDocument/2006/relationships/slide" Target="slides/slide11.xml"/><Relationship Id="javaLecture12" Type="http://schemas.openxmlformats.org/officeDocument/2006/relationships/slide" Target="slides/slide12.xml"/><Relationship Id="javaLecture13" Type="http://schemas.openxmlformats.org/officeDocument/2006/relationships/slide" Target="slides/slide13.xml"/><Relationship Id="javaLecture14" Type="http://schemas.openxmlformats.org/officeDocument/2006/relationships/slide" Target="slides/slide14.xml"/><Relationship Id="javaLecture15" Type="http://schemas.openxmlformats.org/officeDocument/2006/relationships/slide" Target="slides/slide15.xml"/><Relationship Id="javaLecture16" Type="http://schemas.openxmlformats.org/officeDocument/2006/relationships/slide" Target="slides/slide16.xml"/><Relationship Id="javaLecture17" Type="http://schemas.openxmlformats.org/officeDocument/2006/relationships/slide" Target="slides/slide17.xml"/><Relationship Id="javaLecture18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세션은 새 개념을 거의 더하지 않는다. 03~10이 만든 것을 한 번에 돌려 보는 자리다.</a:t>
            </a:r>
          </a:p>
          <a:p>
            <a:pPr lvl="0"/>
            <a:r>
              <a:rPr lang="ko-KR" sz="1200"/>
              <a:t>Anchor는 "위임 결과의 문제는 프롬프트가 아니라 원인이 된 결정에서 고친다"이다. 「07. 어느 결정이 비었나」가 그 자리다.</a:t>
            </a:r>
          </a:p>
          <a:p>
            <a:pPr lvl="0"/>
            <a:r>
              <a:rPr lang="ko-KR" sz="1200"/>
              <a:t>강의 사례의 실제 실행 기록은 code/s11/demo-results/에 있다. 과제·지시문, 출발과 끝의 검사 출력, 에이전트의 보고가 그대로 들어 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01. 사람의 일과 AI의 일"의 「02. 첫 시도」와 비교한다. 같은 기능을 같은 모델에게 맡기는데 결과가 달라지는 까닭은 저장소에 쌓인 기록이다.</a:t>
            </a:r>
          </a:p>
          <a:p>
            <a:pPr lvl="0"/>
            <a:r>
              <a:rPr lang="ko-KR" sz="1200"/>
              <a:t>각 기록을 정한 자리 — 업무 규칙과 수용 기준은 "세션 03. 요구와 수용 기준", 용어집은 "세션 04. 정적 모델", 상태와 전이는 "세션 05. 동적 모델", 의존 규칙은 "세션 06. 아키텍처", 작업 단위는 "세션 07. 설계 — 책임과 협력", 검사는 "세션 09. 검사 파이프라인"이다.</a:t>
            </a:r>
          </a:p>
          <a:p>
            <a:pPr lvl="0"/>
            <a:r>
              <a:rPr lang="ko-KR" sz="1200"/>
              <a:t>화살표는 쌓인 순서이며 고정된 개발 절차가 아니다.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실제 파일은 code/s11/order/다. 안내가 AGENTS.md, 나머지는 docs/ 아래에 있다. 이름과 위치는 과정이 그렇게 두기로 한 것이지 도구가 아는 규칙이 아니다. 안내 파일을 저장소에 두고 AGENTS.md로 부르는 것은 [AGENTS.md]의 관례를 따른 것이다.</a:t>
            </a:r>
          </a:p>
          <a:p>
            <a:pPr lvl="0"/>
            <a:r>
              <a:rPr lang="ko-KR" sz="1200"/>
              <a:t>점진적 공개는 "세션 08. 위임"의 「04. 맥락」에서 정했다. 여기서는 그 구성이 실제 실행에서 작동하는지 본다.</a:t>
            </a:r>
          </a:p>
          <a:p>
            <a:pPr lvl="0"/>
            <a:r>
              <a:rPr lang="ko-KR" sz="1200"/>
              <a:t>검사 명령과 금지 사항도 안내에 함께 적었다. 에이전트가 완료를 스스로 판정할 수 있어야 한다.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지시문 원본은 code/s11/demo-results/prompt.txt다. "세션 08. 위임"의 위임 계약 네 가지(지시문·맥락·권한·종료 조건)가 모두 들어 있다.</a:t>
            </a:r>
          </a:p>
          <a:p>
            <a:pPr lvl="0"/>
            <a:r>
              <a:rPr lang="ko-KR" sz="1200"/>
              <a:t>첫 위임의 지시문과 비교하면 맥락을 베껴 적은 곳이 없다. 전부 가리키기만 한다.</a:t>
            </a:r>
          </a:p>
          <a:p>
            <a:pPr lvl="0"/>
            <a:r>
              <a:rPr lang="ko-KR" sz="1200"/>
              <a:t>금지를 적는 것만으로 막히지 않는다는 것은 "세션 08. 위임"에서 보았다. 여기서는 권한 설정이 함께 있다는 전제로 진행한다.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보고 원문은 code/s11/demo-results/agent-report.md, 출발과 끝의 검사 출력은 같은 폴더의 check-before.txt·check-after.txt다. 실행은 Claude Opus 5.5로 2026-10-28에 1회다.</a:t>
            </a:r>
          </a:p>
          <a:p>
            <a:pPr lvl="0"/>
            <a:r>
              <a:rPr lang="ko-KR" sz="1200"/>
              <a:t>새 서비스를 만든 판단은 지시문이 금지한 것을 피한 결과다. 설계로는 논쟁의 여지가 있다 — 수강생에게 묻는다. 기존 테스트를 고칠 수 있었다면 더 나은 설계가 나왔을까?</a:t>
            </a:r>
          </a:p>
          <a:p>
            <a:pPr lvl="0"/>
            <a:r>
              <a:rPr lang="ko-KR" sz="1200"/>
              <a:t>돌아온 결과를 강사가 직접 다시 돌려 확인했다. 에이전트의 보고와 실제 출력이 같다.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[Lopopolo 2026] 원문 확인. 저자의 팀이 하네스를 갖춘 뒤의 경험이다.</a:t>
            </a:r>
          </a:p>
          <a:p>
            <a:pPr lvl="0"/>
            <a:r>
              <a:rPr lang="ko-KR" sz="1200"/>
              <a:t>자율성은 선언으로 올리지 않는다. "세션 02. LLM이라는 재료"의 자율성의 계단에서 올리는 조건이 증거였다. 여기서 그 증거가 검사 출력이다.</a:t>
            </a:r>
          </a:p>
          <a:p>
            <a:pPr lvl="0"/>
            <a:r>
              <a:rPr lang="ko-KR" sz="1200"/>
              <a:t>이번 실행이 100초였던 것은 과제가 작기 때문이다. 시간의 크기가 아니라 사람이 보는 양이 줄었다는 것이 요점이다.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출력 원본은 code/s11/demo-results/check-after.txt다. 슬라이드는 발췌이며 출발 상태는 check-before.txt에 있다.</a:t>
            </a:r>
          </a:p>
          <a:p>
            <a:pPr lvl="0"/>
            <a:r>
              <a:rPr lang="ko-KR" sz="1200"/>
              <a:t>결합도 15는 작업 단위 셋을 한 클래스에 넣은 결과다. "세션 09. 검사 파이프라인"의 실패 표에서 "한 클래스가 계속 커진다 → 작업 단위의 분할"로 적은 바로 그 자리다.</a:t>
            </a:r>
          </a:p>
          <a:p>
            <a:pPr lvl="0"/>
            <a:r>
              <a:rPr lang="ko-KR" sz="1200"/>
              <a:t>녹색을 먼저 읽지 말고 무엇이 녹색인지 읽게 한다. 수용 기준 넷과 규칙 하나다.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낡은 기록을 찾은 것은 검사가 아니라 에이전트의 보고다. 검사 대상이 아닌 파일은 녹색이 보장하지 않는다 — "세션 09. 검사 파이프라인"의 「08. 녹색이 보장하지 않는 것」과 같은 자리다.</a:t>
            </a:r>
          </a:p>
          <a:p>
            <a:pPr lvl="0"/>
            <a:r>
              <a:rPr lang="ko-KR" sz="1200"/>
              <a:t>사람이 볼 것 셋 중 둘(결합도·낡은 기록)은 다음 작업으로 미룰 수 있다. 질문 셋은 미룰 수 없다.</a:t>
            </a:r>
          </a:p>
          <a:p>
            <a:pPr lvl="0"/>
            <a:r>
              <a:rPr lang="ko-KR" sz="1200"/>
              <a:t>자동 검사가 놓치는 높은 수준의 문제(문제를 잘못 짚음·과한 설계·지시를 잘못 이해함)는 "세션 10. 비용과 평가"가 다뤘다. 여기서는 실제로 무엇이 남았는지 센다.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이것이 이 세션의 핵심 장면이다. 미정은 비어 있는 채로 남지 않는다. 코드는 어떤 식으로든 돌아가야 하므로 한 가지를 고르게 된다.</a:t>
            </a:r>
          </a:p>
          <a:p>
            <a:pPr lvl="0"/>
            <a:r>
              <a:rPr lang="ko-KR" sz="1200"/>
              <a:t>에이전트는 정직했다 — 주석으로 표시하고 질문으로 올렸다. 그래도 실행되는 동작은 이미 정해졌다.</a:t>
            </a:r>
          </a:p>
          <a:p>
            <a:pPr lvl="0"/>
            <a:r>
              <a:rPr lang="ko-KR" sz="1200"/>
              <a:t>확정 불가는 UnsupportedOperationException으로 멈춘다. 두 미정을 왜 다르게 다뤘는지 수강생에게 묻는다. 하나는 분기의 끝이고 하나는 정상 흐름의 중간이기 때문이다.</a:t>
            </a:r>
          </a:p>
          <a:p>
            <a:pPr lvl="0"/>
            <a:r>
              <a:rPr lang="ko-KR" sz="1200"/>
              <a:t>"세션 03. 요구와 수용 기준"에서 미정으로 남긴 그 항목이 여기서 거두어진다. 일곱 세션을 건너 돌아온 것이다.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09. 검사 파이프라인"의 「09. 실패가 가리키는 결정」과 같은 방법이다. 거기서는 실패한 검사가 출발점이었고, 여기서는 녹색인데 남은 질문이 출발점이다.</a:t>
            </a:r>
          </a:p>
          <a:p>
            <a:pPr lvl="0"/>
            <a:r>
              <a:rPr lang="ko-KR" sz="1200"/>
              <a:t>되돌릴 곳이 코드면 그 작업만 고쳐지고, 가이드면 다음 작업도 함께 고쳐진다.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표의 규칙은 교육용 결정이다. 실제 업무에서는 취소·재요청·보상 트랜잭션 중 무엇을 고를지 운영과 물류가 함께 정한다. 수강생에게 다른 답을 말하게 하고, 그 답이 아래 세 줄을 어떻게 바꾸는지 따라가게 한다.</a:t>
            </a:r>
          </a:p>
          <a:p>
            <a:pPr lvl="0"/>
            <a:r>
              <a:rPr lang="ko-KR" sz="1200"/>
              <a:t>확정 불가를 남긴 이유를 짚는다. 미정을 발견했다고 전부 그 자리에서 정하는 것이 아니다. 이번 작업이 닿은 것부터 정한다.</a:t>
            </a:r>
          </a:p>
          <a:p>
            <a:pPr lvl="0"/>
            <a:r>
              <a:rPr lang="ko-KR" sz="1200"/>
              <a:t>되돌림을 적는 자리는 실습의 기록이다. 코드만 고치면 다음 작업에서 같은 질문이 다시 온다.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능력 과제가 회귀 과제로 옮겨 가는 것은 "세션 10. 비용과 평가"의 「04. 평가의 구조」가 말한 과제의 이동이다. 실제로 일어나는 순간이 여기다.</a:t>
            </a:r>
          </a:p>
          <a:p>
            <a:pPr lvl="0"/>
            <a:r>
              <a:rPr lang="ko-KR" sz="1200"/>
              <a:t>전파를 사람이 손으로 확인한다. 문서 사이의 일치를 재는 검사는 아직 없다 — 그것을 만들지 말지가 다음 판단이다.</a:t>
            </a:r>
          </a:p>
          <a:p>
            <a:pPr lvl="0"/>
            <a:r>
              <a:rPr lang="ko-KR" sz="1200"/>
              <a:t>과정 전체에서 남는 것은 도메인 모델이라고 말해 온 이유가 여기서 보인다. 코드는 다시 만들 수 있지만 결정의 기록은 그렇지 않다.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끝났다는 말의 뜻을 분명히 한다 — 정한 것을 다 지켰다는 뜻이지 모든 경우를 처리했다는 뜻이 아니다.</a:t>
            </a:r>
          </a:p>
          <a:p>
            <a:pPr lvl="0"/>
            <a:r>
              <a:rPr lang="ko-KR" sz="1200"/>
              <a:t>다음 기능에서 다시 쓰는 것과 새로 쓰는 것의 구분이 "세션 10. 비용과 평가"의 중기·장기 판단과 이어진다. 투자는 오래 남는 것에 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[Willison 2025b] 원문 확인. 저자가 바이브 엔지니어링을 설명하며 든 첫 항목이다.</a:t>
            </a:r>
          </a:p>
          <a:p>
            <a:pPr lvl="0"/>
            <a:r>
              <a:rPr lang="ko-KR" sz="1200"/>
              <a:t>"세션 01. 사람의 일과 AI의 일"의 첫 시도로 돌아간다. 같은 모델, 같은 기능인데 결과가 달랐다. 달라진 것은 사람이 정한 것의 양이다.</a:t>
            </a:r>
          </a:p>
          <a:p>
            <a:pPr lvl="0"/>
            <a:r>
              <a:rPr lang="ko-KR" sz="1200"/>
              <a:t>과정의 마지막 장이다. 수강생에게 자기 팀에서 지금 비어 있는 결정이 무엇인지 하나만 말하게 한다.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강사의 실제 실행은 code/s11/demo-results/에 있다. 수강생의 결과가 달라도 된다 — 멈춰 물은 것과 조용히 지나간 자리를 찾았는지를 본다.</a:t>
            </a:r>
          </a:p>
          <a:p>
            <a:pPr lvl="0"/>
            <a:r>
              <a:rPr lang="ko-KR" sz="1200"/>
              <a:t>조용히 지나간 자리를 못 찾으면 ③을 다시 시킨다. 녹색만 보고 끝내는 것이 이 실습이 막으려는 습관이다.</a:t>
            </a:r>
          </a:p>
          <a:p>
            <a:pPr lvl="0"/>
            <a:r>
              <a:rPr lang="ko-KR" sz="1200"/>
              <a:t>시간이 모자라면 ④의 전파를 업무 규칙과 수용 기준까지만 해도 된다. 전파가 일어난다는 것을 보는 것이 목적이다.</a:t>
            </a:r>
          </a:p>
          <a:p>
            <a:pPr lvl="0"/>
            <a:r>
              <a:rPr lang="ko-KR" sz="1200"/>
              <a:t>수강생의 미정이 하나도 남지 않았다면 요구 단계에서 추측으로 채웠을 가능성이 크다. 실습 3의 미정 목록과 대조하게 한다.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모델에서 보완된 것 — 미정이던 배송 요청 실패의 정책이 정해지고, 검사가 보지 않아 낡아 있던 기록이 드러났다.</a:t>
            </a:r>
          </a:p>
          <a:p>
            <a:pPr lvl="0"/>
            <a:r>
              <a:rPr lang="ko-KR" sz="1200"/>
              <a:t>과정의 마지막 세션이라 다음 세션을 두지 않는다. 수강생이 가져갈 것은 자기 저장소와 거기 쌓인 기록이다.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별첨은 code/s11/demo-results/의 실제 실행(Claude Opus 5.5, 2026-10-28, 19턴)에서 읽은 것을 실습 결과물 형식으로 정리한 것이다. 에이전트의 보고 원문은 agent-report.md, 검사 출력은 check-after.txt다.</a:t>
            </a:r>
          </a:p>
          <a:p>
            <a:pPr lvl="0"/>
            <a:r>
              <a:rPr lang="ko-KR" sz="1200"/>
              <a:t>되돌린 결정의 내용은 교육용 결정이다. 에이전트가 정한 것이 아니라 업무 담당자 역할의 사람이 정한 것으로 둔다.</a:t>
            </a:r>
          </a:p>
          <a:p>
            <a:pPr lvl="0"/>
            <a:r>
              <a:rPr lang="ko-KR" sz="1200"/>
              <a:t>수강생의 기록에서 「조용히 지나간 자리」가 비어 있으면 아직 찾지 못한 것이다. 녹색인 채로 끝낸 실행에도 그런 자리는 있다.</a:t>
            </a:r>
          </a:p>
          <a:p>
            <a:pPr lvl="0"/>
            <a:r>
              <a:rPr lang="ko-KR" sz="1200"/>
              <a:t>실제로 실행한 프롬프트 — 아래 하나를 code/s11/order에서 보냈다. 본문 「11. 실습 11 — 종합 실행」의 ①~⑤는 수강생용으로 나눈 것이고, 강의 사례는 한 번에 맡겼다. 원본은 code/s11/demo-results/prompt.txt다.</a:t>
            </a:r>
          </a:p>
          <a:p>
            <a:pPr lvl="1"/>
            <a:r>
              <a:rPr lang="ko-KR" sz="1200"/>
              <a:t>1. 실제 프롬프트 1</a:t>
            </a:r>
          </a:p>
          <a:p>
            <a:pPr lvl="0">
              <a:buNone/>
            </a:pPr>
            <a:r>
              <a:rPr lang="ko-KR" sz="1200"/>
              <a:t>    이 저장소의 AGENTS.md를 먼저 읽고, 거기서 가리키는 문서만 필요할 때 찾아 읽어라.</a:t>
            </a:r>
          </a:p>
          <a:p>
            <a:pPr lvl="0">
              <a:buNone/>
            </a:pPr>
            <a:r>
              <a:rPr lang="ko-KR" sz="1200"/>
              <a:t>    docs/작업명세서.md가 정한 남은 작업 단위 셋(승인·거절·재결제)을 구현해라. 수용 기준 넷이 각각 테스트로 확인되어야 하고, ./gradlew check가 녹색이어야 끝난 것이다.</a:t>
            </a:r>
          </a:p>
          <a:p>
            <a:pPr lvl="0">
              <a:buNone/>
            </a:pPr>
            <a:r>
              <a:rPr lang="ko-KR" sz="1200"/>
              <a:t>    지켜야 할 것</a:t>
            </a:r>
          </a:p>
          <a:p>
            <a:pPr lvl="2"/>
            <a:r>
              <a:rPr lang="ko-KR" sz="1200"/>
              <a:t>문서를 고치지 마라. 기존 테스트와 build.gradle.kts도 고치지 마라.</a:t>
            </a:r>
          </a:p>
          <a:p>
            <a:pPr lvl="2"/>
            <a:r>
              <a:rPr lang="ko-KR" sz="1200"/>
              <a:t>문서가 정하지 않은 정책에 닿으면 멈추고 물어라. 추측으로 채우지 마라.</a:t>
            </a:r>
          </a:p>
          <a:p>
            <a:pPr lvl="2"/>
            <a:r>
              <a:rPr lang="ko-KR" sz="1200"/>
              <a:t>저장소 밖에 파일을 만들지 마라.</a:t>
            </a:r>
          </a:p>
          <a:p>
            <a:pPr lvl="0">
              <a:buNone/>
            </a:pPr>
            <a:r>
              <a:rPr lang="ko-KR" sz="1200"/>
              <a:t>    끝나면 다음을 적어 보고해라.</a:t>
            </a:r>
          </a:p>
          <a:p>
            <a:pPr lvl="2"/>
            <a:r>
              <a:rPr lang="ko-KR" sz="1200"/>
              <a:t>1. 만든 파일과 고친 파일의 목록</a:t>
            </a:r>
          </a:p>
          <a:p>
            <a:pPr lvl="2"/>
            <a:r>
              <a:rPr lang="ko-KR" sz="1200"/>
              <a:t>2. ./gradlew check의 실제 출력</a:t>
            </a:r>
          </a:p>
          <a:p>
            <a:pPr lvl="2"/>
            <a:r>
              <a:rPr lang="ko-KR" sz="1200"/>
              <a:t>3. 문서가 정하지 않아 멈추고 묻는 것이 있으면 그 질문</a:t>
            </a:r>
          </a:p>
          <a:p>
            <a:pPr lvl="0"/>
            <a:r>
              <a:rPr lang="ko-KR" sz="1200"/>
              <a:t>맥락으로 준 문서는 code/s11/order/AGENTS.md와 docs/ 다섯이다. 수강생이 같은 것을 재현하려면 그 여섯 파일과 위 프롬프트가 입력의 전부다.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1" Type="http://schemas.openxmlformats.org/officeDocument/2006/relationships/image" Target="../media/mermaid-1.png"/><Relationship Id="speakerNotes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8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2" Type="http://schemas.openxmlformats.org/officeDocument/2006/relationships/image" Target="../media/mermaid-2.png"/><Relationship Id="speakerNotes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5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7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11. 종합 실행 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02. 저장소가 자란 순서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03. 남은 단위를 맡긴다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04. 두 번째 위임이 첫 번째와 다른 점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05. 결과 검토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06. 미정이 드러나는 자리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07. 어느 결정이 비었나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08. 모델의 보완과 전파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09. 기능 하나가 끝났다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10. 사람이 남긴 결정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11. 실습 11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종합 실행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12. 요약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빈 저장소에서 시작해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기능 하나를 끝까지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맡긴다. 남는 것은 코드가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그 코드를 옳다고 말할 수 있게 한 기록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저장소에 쌓인 것을 되짚고,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위임 패키지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무엇으로 이루어지는지 말한다.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남은 작업 단위 셋을 같은 패키지로 맡기고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기능을 끝낸다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두 번째 위임이 첫 번째와 무엇이 달라졌는지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환경의 차이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설명한다.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검사가 준 증거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사람이 볼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구분해 결과를 검토한다.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녹색인데도 미정이 추측으로 채워진 자리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찾아낸다.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그 자리를 코드가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원인이 된 결정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되돌리고 모델에 전파한다.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빈 저장소에서 여기까지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저장소가 자란 순서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4846320" cy="52578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첫 시간의 저장소는 비어 있었다. 지금 그 안에는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코드보다 기록이 먼저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사람이 정한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업무 규칙과 용어, 상태와 전이, 의존 규칙은 회사가 정한다. 한 번 정하면 계속 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작업마다 쓰는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작업 명세서와 수용 기준만 작업 단위마다 새로 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코드가 마지막이다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기록이 없으면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무엇이 옳은 결과인지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아무도 말할 수 없다.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5349240" y="1931797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저장소가 자란 순서</a:t>
            </a:r>
          </a:p>
        </p:txBody>
      </p:sp>
      <p:pic>
        <p:nvPicPr>
          <p:cNvPr id="10" name="mermaid Diagram 1"/>
          <p:cNvPicPr>
            <a:picLocks noChangeAspect="1"/>
          </p:cNvPicPr>
          <p:nvPr/>
        </p:nvPicPr>
        <p:blipFill>
          <a:blip r:embed="mermaidImage1"/>
          <a:stretch>
            <a:fillRect/>
          </a:stretch>
        </p:blipFill>
        <p:spPr>
          <a:xfrm>
            <a:off x="6225705" y="2169541"/>
            <a:ext cx="1676069" cy="314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위임 패키지를 이루는 것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02. 저장소가 자란 순서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886776" y="2112010"/>
          <a:ext cx="535686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1953260"/>
                <a:gridCol w="23164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문서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답하는 질문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바뀌는 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안내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무엇을 먼저 읽는가?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저장소 구조가 바뀔 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무엇이라고 부르는가?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새 업무 용어가 생길 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무엇이 옳은 결과인가?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정책이 바뀔 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어떤 전이가 허용되는가?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담당자가 상태를 더할 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무엇을 몰라야 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아키텍처를 바꿀 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명세서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이번에 무엇을 만드는가?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단위마다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에이전트에게 주는 것은 프롬프트 한 줄이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저장소 전체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 그중 꼭 읽히는 것은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안내 하나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위임 패키지의 문서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35661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안내가 나머지를 가리킨다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꼭 읽는 것은 안내 하나이고 나머지는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찾아 읽는다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 점진적 공개다.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작업 명세서에 미정이 함께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범위·제외와 나란히 적힌 미정이 이번 실행의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관찰 지점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 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과제와 지시문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남은 단위를 맡긴다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1842998"/>
            <a:ext cx="8412480" cy="13208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AGENTS.md를 먼저 읽고, 거기서 가리키는 문서만 필요할 때 찾아 읽어라.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docs/작업명세서.md가 정한 남은 작업 단위 셋(승인·거절·재결제)을 구현해라.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수용 기준 넷이 각각 테스트로 확인되어야 하고, ./gradlew check가 녹색이어야 끝난 것이다.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- 문서를 고치지 마라. 기존 테스트와 build.gradle.kts도 고치지 마라.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- 문서가 정하지 않은 정책에 닿으면 멈추고 물어라. 추측으로 채우지 마라.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- 저장소 밖에 파일을 만들지 마라.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7812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맡기는 것은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남은 작업 단위 셋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지시문은 짧고, 가리키는 것이 많다.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392398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완료 조건이 명령 하나다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./gradlew check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가 녹색이면 끝이다. 에이전트가 스스로 판정한다.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고치면 안 되는 것을 적었다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문서와 검사와 빌드 구성이다. 검사를 고쳐 녹색을 만드는 길을 막는다.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에이전트가 한 일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03. 남은 단위를 맡긴다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829625" y="2112010"/>
          <a:ext cx="5471160" cy="3873500"/>
        </p:xfrm>
        <a:graphic>
          <a:graphicData uri="http://schemas.openxmlformats.org/drawingml/2006/table">
            <a:tbl>
              <a:tblPr/>
              <a:tblGrid>
                <a:gridCol w="1310640"/>
                <a:gridCol w="41605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내용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만든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서비스와 그 입출력 넷, 테스트 하나(수용 기준 넷)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고친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주문에 승인 전이 하나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고치지 않은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문서, 기존 테스트, 빌드 구성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멈추고 물은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셋 — 확정 불가, 배송 요청 실패, 없는 주문의 처리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19턴, 약 100초가 걸렸다.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검사는 녹색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이고 테스트는 셋에서 일곱이 되었다.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- 6 -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돌아온 결과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기존 코드를 건드리지 않으려 새 서비스를 만들었다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기존 테스트가 주문 서비스의 생성자를 쓰고 있어 그것을 고칠 수 없다고 판단했다.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질문을 남기고 멈췄다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문서가 정하지 않은 셋을 보고에 적었다.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04. 두 번째 위임이 첫 번째와 다른 점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319846" y="2112010"/>
          <a:ext cx="4490720" cy="3873500"/>
        </p:xfrm>
        <a:graphic>
          <a:graphicData uri="http://schemas.openxmlformats.org/drawingml/2006/table">
            <a:tbl>
              <a:tblPr/>
              <a:tblGrid>
                <a:gridCol w="1170940"/>
                <a:gridCol w="1506220"/>
                <a:gridCol w="18135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/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첫 위임(세션 08)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두 번째 위임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비어 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코드·문서·검사가 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완료의 판정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읽는다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명령 하나가 판정한다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맡긴 범위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단위 하나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단위 셋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본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만든 파일 전부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질문 셋과 검사 출력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같은 사람이 같은 모델에게 맡겼는데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사람이 볼 것이 줄었다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달라진 것은 환경이다.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첫 위임과 두 번째 위임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2112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환경이 자란 만큼 맡길 수 있는 범위가 커졌다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검사가 있어 에이전트가 스스로 고치고, 사람은 증거만 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사람이 자는 동안에도 실행 하나가 한 과제를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여섯 시간 넘게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붙들고 일하는 것을 자주 본다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"We regularly see single Codex runs work on a single task for upwards of six hours (often while the humans are sleeping)."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[Lopopolo 2026]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긴 실행을 가능하게 하는 것은 모델이 아니라 환경이다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스스로 판정할 검사가 없으면 길게 돌릴수록 어긋난다.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검사가 준 증거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05. 결과 검토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1842998"/>
            <a:ext cx="8412480" cy="24765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&gt; Task :coupling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결합도 — 가장 많이 아는 클래스 다섯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order.OrderPaymentService              15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order.OrderApplicationService          13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order.Order                             6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&gt; Task :dependencyRules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의존 규칙 통과: 업무의 연동·영속 의존 없음, 업무 간 허용 목록 준수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OrderPaymentServiceTest &gt; 결제대기 주문이 승인되면 결제완료가 되고 배송 요청이 1회 나간다 PASSED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OrderPaymentServiceTest &gt; 결제가 거절되면 주문은 결제대기로 남고 배송 요청은 0회다 PASSED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OrderPaymentServiceTest &gt; 거절된 주문을 다른 카드로 다시 결제해 승인되면 결제완료가 되고 배송 요청은 총 1회다 PASSED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BUILD SUCCESSFUL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7812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검사가 낸 것은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일곱 줄의 통과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와 규칙 하나의 판정, 그리고 신호 하나다.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548098"/>
            <a:ext cx="8412480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 기준 넷이 각각 한 줄로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확인된다. 완료의 주장이 아니라 증거다.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의존 규칙이 통과했다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새 서비스가 연동을 직접 조립하지 않았다.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결합도가 신호를 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새 결제 서비스가 15로 가장 높다. 합격선은 아니지만 다음 작업에서 볼 자리다.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사람이 보는 것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05. 결과 검토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597976" y="1837690"/>
          <a:ext cx="3934460" cy="3873500"/>
        </p:xfrm>
        <a:graphic>
          <a:graphicData uri="http://schemas.openxmlformats.org/drawingml/2006/table">
            <a:tbl>
              <a:tblPr/>
              <a:tblGrid>
                <a:gridCol w="975360"/>
                <a:gridCol w="29591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본 것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왜 검사가 못 잡았나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질문 셋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정책이 없어 기대값을 쓸 수 없었다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결합도 15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신호일 뿐 통과·실패를 구분하지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낡은 기록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검사가 보지 않는 파일이다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52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검사가 다 통과해도 사람이 볼 것이 남는다. 이번에는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셋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이었다.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53924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녹색 뒤에 남은 것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21829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질문이 가장 중요하다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에이전트가 멈춰 물은 것은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사람이 정하지 않은 것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의 목록이다.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낡은 기록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작업 단위의 검사 기록 파일이 "테스트 3개"로 남아 있었다. 에이전트가 그 사실을 보고에 적었다.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06. 미정이 드러나는 자리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1842998"/>
            <a:ext cx="8412480" cy="19812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// ... 주문 조회와 상태 검사, 승인 요청 생략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switch (result)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case APPROVED -&gt;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Order paid = order.approvePayment();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orderRepository.save(paid);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// 배송 요청이 실패했을 때의 처리는 정하지 않았다(docs/업무규칙.md). 복구하지 않고 그대로 전한다.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deliveryGateway.request(new DeliveryRequest(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    paid.orderNumber().value(), paid.shippingAddress().value()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return new PayOrderResult(paid, result);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7812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에이전트는 배송 요청 실패를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물었다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그런데 코드는 이미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한 가지 처리를 하고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052798"/>
            <a:ext cx="8412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결제완료를 먼저 저장하고 배송을 요청한다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배송이 실패하면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결제완료인데 배송이 없는 주문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 남는다.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검사는 녹색이다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수용 기준 넷 어디에도 이 경우가 없기 때문이다.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같은 미정인데 처리가 달랐다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확정 불가는 예외를 던져 멈췄고, 배송 요청 실패는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조용히 지나갔다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되돌리는 길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어느 결정이 비었나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문제를 본 자리에서 고치지 않는다.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그 결과를 낳은 결정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까지 거슬러 올라간다.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맨 끝이 업무 규칙이다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프롬프트를 다시 쓰거나 코드를 고쳐서는 같은 일이 다음 작업에서 또 생긴다.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중간을 건너뛰지 않는다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규칙을 정하면 상태 기계·수용 기준·검사가 차례로 채워진다.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13639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결과에서 결정으로</a:t>
            </a:r>
          </a:p>
        </p:txBody>
      </p:sp>
      <p:pic>
        <p:nvPicPr>
          <p:cNvPr id="10" name="mermaid Diagram 2"/>
          <p:cNvPicPr>
            <a:picLocks noChangeAspect="1"/>
          </p:cNvPicPr>
          <p:nvPr/>
        </p:nvPicPr>
        <p:blipFill>
          <a:blip r:embed="mermaidImage2"/>
          <a:stretch>
            <a:fillRect/>
          </a:stretch>
        </p:blipFill>
        <p:spPr>
          <a:xfrm>
            <a:off x="1335881" y="3374136"/>
            <a:ext cx="6472238" cy="54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이번 실행의 되돌림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07. 어느 결정이 비었나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648015" y="2112010"/>
          <a:ext cx="583438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48869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자리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채우는 내용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요청이 실패하면 주문은 결제완료로 두고 사람에게 알린다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결제완료에서 나가는 전이를 더하지 않는다. 실패는 통보로 처리한다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 기준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승인 뒤 배송 요청 실패 → 결제완료 유지, 통보 1회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 기대값을 재는 테스트 하나를 더한다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업무 담당자에게 물어 규칙을 정했다. 정한 뒤에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네 자리를 차례로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채운다.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- 12 -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정한 것과 채울 자리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상태를 더하지 않기로 한 것도 결정이다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비어 있던 자리가 "없음"으로 확정된다.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확정 불가는 아직 미정이다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한 번에 다 정하지 않는다. 남은 미정은 목록에 그대로 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모델의 보완과 전파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374456" y="2112010"/>
          <a:ext cx="438150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34340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고친 것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따라 바뀌는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기계, 수용 기준, 평가 세트의 능력 과제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코드의 타입·필드 이름, LLM 심사의 기준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의존 규칙 검사의 허용 목록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단위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명세서, 완료의 정의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한 곳을 고치면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그것을 읽는 모든 곳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따라 바뀐다. 전파를 확인하지 않으면 문서끼리 어긋난다.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- 13 -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하나를 고치면 따라 바뀌는 것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061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평가 세트도 바뀐다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"세션 10. 비용과 평가"에서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능력 과제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두었던 배송 요청 실패가 정책이 생기면서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회귀 과제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옮겨 간다.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낡은 기록을 함께 고친다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이번에 드러난 검사 기록 파일도 일곱으로 맞춘다.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09. 기능 하나가 끝났다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222056" y="1837690"/>
          <a:ext cx="468630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947420"/>
                <a:gridCol w="27914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작업 단위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맡긴 자리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완료의 증거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금액 확정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세션 08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판매가가 바뀌어도 총액 2,000원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승인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 세션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결제완료와 배송 요청 1회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 세션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결제대기 유지, 배송 요청 0회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재결제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 세션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다른 카드로 승인, 배송 요청 총 1회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52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작업 단위 넷이 모두 통과했다.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"주문한다"가 끝났다.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53924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네 단위의 끝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50629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남은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확정 불가의 처리, 배송 시작·완료의 통보, 연동의 실제 구현이다. 모두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미정이거나 범위 밖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으로 적혀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기능은 더 싸다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업무 규칙·용어집·상태 기계·의존 규칙·검사를 다시 쓰지 않는다. 작업 명세서와 수용 기준만 새로 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사람이 남긴 결정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627186" y="2112010"/>
          <a:ext cx="387604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9870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자리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정한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범위·제외·미정과 받아들일 조건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개념과 관계, 사건과 전이, 금지된 순서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책임의 자리와 계약, 작업 단위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위임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읽힐 범위와 열어 줄 권한, 멈출 조건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무엇을 통과로 볼 것인지의 기준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계속 맡길지와 되돌릴지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열한 세션 동안 AI가 한 일은 많았다. 그러나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옳은 결과가 무엇인지는 한 번도 AI가 정하지 않았다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- 15 -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1813560"/>
            <a:ext cx="8412480" cy="222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이 과정에서 사람이 정한 것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356610"/>
            <a:ext cx="8412480" cy="1924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AI 도구는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이미 가진 전문성을 증폭한다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 소프트웨어 엔지니어로서 기술과 경험이 많을수록 LLM과 코딩 에이전트에서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더 빠르고 더 좋은 결과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얻는다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"AI tools amplify existing expertise. The more skills and experience you have as a software engineer the faster and better the results you can get from working with LLMs and coding agents."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[Willison 2025b]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증폭에는 방향이 없다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결정이 비어 있으면 빈 채로, 검사가 없으면 없는 채로 빨라진다.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11. 실습 11 — 종합 실행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- 16 -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409700"/>
            <a:ext cx="4069080" cy="4808220"/>
          </a:xfrm>
        </p:spPr>
        <p:txBody>
          <a:bodyPr>
            <a:normAutofit/>
          </a:bodyPr>
          <a:lstStyle/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투입물</a:t>
            </a:r>
          </a:p>
          <a:p>
            <a:pPr lvl="2" marL="342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자기 저장소 전체와 실습 10의 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주문한다-평가기록.md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, 실습 7의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남은 작업 단위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프롬프트 —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 요청사항 포함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1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저장소의 안내 문서를 먼저 읽게 하고,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남은 작업 단위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를 구현해라. 수용 기준이 각각 테스트로 확인되어야 하고 검사 명령이 녹색이어야 끝이다. 문서와 검사와 빌드 구성은 고치지 마라.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2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[앞선 질문에 대한 답] [추가 질문·수정 요청] 문서가 정하지 않은 정책에 닿으면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멈추고 물어라.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무엇을 묻는지와 지금 코드가 그 자리에서 무엇을 하고 있는지 함께 적어라.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[앞선 질문에 대한 답] [추가 질문·수정 요청] 검사가 녹색인데도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기대값이 없어 그냥 지나간 자리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를 찾아 목록으로 적어라.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4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[앞선 질문에 대한 답] [추가 질문·수정 요청] 내가 정한 정책을 반영해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업무 규칙 → 상태 → 수용 기준 → 검사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순서로 채워라. 그 정책이 평가 세트의 과제를 어떻게 옮기는지도 적어라.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449580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①로 시작해 답·질문·수정 요청을 주고받는다.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②~④는 보완 예시다. ⑤로 MD를 만들고 필요하면 보완·재생성한다.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9160" y="1409700"/>
            <a:ext cx="4069080" cy="4808220"/>
          </a:xfrm>
        </p:spPr>
        <p:txBody>
          <a:bodyPr>
            <a:normAutofit/>
          </a:bodyPr>
          <a:lstStyle/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5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[앞선 질문에 대한 답] [추가 질문·수정 요청] 이번 실행을 MD 하나로 정리해라. 맡긴 단위와 결과, 검사 출력, 멈춰 물은 것, 되돌린 결정과 전파한 자리, 남은 미정으로 구성하고 새 결정을 추가하지 마라. 다섯 장을 넘지 않게 핵심만 남겨라.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1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완료의 증거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수용 기준마다 통과한 줄이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출력에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있는가?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2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멈춤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미정에 닿았을 때 추측으로 채우지 않고 물었는가?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조용히 지나간 자리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녹색인데 기대값이 없는 곳을 찾아냈는가?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4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되돌림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코드가 아니라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원인이 된 결정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을 고쳤는가?</a:t>
            </a:r>
          </a:p>
          <a:p>
            <a:pPr lvl="2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5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전파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고친 결정이 상태·수용 기준·검사·평가 세트까지 갔는가?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</a:p>
          <a:p>
            <a:pPr lvl="2" marL="342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주문한다-실행기록.md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과정의 마지막 산출물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이다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12. 요약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빈 저장소에서 기능 하나를 끝냈다. 남는 것은 코드가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결정과 그 결정을 확인하는 검사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종합 실행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환경이 자란 만큼 맡길 수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검사가 있어 사람이 보는 양이 줄었다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녹색은 쓴 검사만큼만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보장한다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기대값이 없는 자리는 조용히 지나간다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미정은 비어 있지 않다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정하지 않으면 코드가 한 가지를 고른다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되돌릴 곳은 코드가 아니라 결정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이고, 고친 결정은 상태·기준·검사로 전파된다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AI는 증폭한다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결정이 비어 있으면 빈 채로 빨라진다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주문한다 — 실행 기록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11. 종합 실행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122996" y="1887220"/>
          <a:ext cx="488442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39370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내용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맡긴 단위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승인 · 거절 · 재결제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만든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서비스와 입출력 넷, 테스트 하나(수용 기준 넷)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고친 것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주문에 승인 전이 하나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3 → 7, 의존 규칙 통과, 결합도 최고 15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825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남은 작업 단위 셋을 같은 위임 패키지로 맡겨 "주문한다"를 끝냈다. 검사는 녹색이고 수용 기준 넷이 각각 통과했다. 그러나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녹색 뒤에 질문 셋이 남았고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그중 하나는 코드가 이미 조용히 처리하고 있었다.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맡긴 것과 돌아온 것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- 18 -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555820"/>
            <a:ext cx="8412480" cy="2356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멈춰 물은 것과 조용히 지나간 자리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1. 결제가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확정 불가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로 돌아오면?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예외를 던져 멈춘다.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2. 승인 뒤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배송 요청이 실패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하면?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복구 없이 그대로 전한다.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3. 없는 주문·결제대기가 아닌 주문은?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오류로 보고 승인 요청을 보내지 않는다.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2번이 조용히 지나간 자리다.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결제완료를 먼저 저장하고 배송을 요청하므로, 배송이 실패하면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결제완료인데 배송이 없는 주문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이 남는다. 수용 기준에 이 경우가 없어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검사는 녹색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되돌린 결정과 남은 미정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업무 규칙에 "배송 요청 실패 시 결제완료를 유지하고 사람에게 알린다"를 더했다. 상태 기계는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전이를 더하지 않기로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확정하고, 수용 기준에 "결제완료 유지·통보 1회"를 더해 검사 하나를 추가한다. 평가 세트에서 이 과제는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능력에서 회귀로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옮겨 간다. 확정 불가 뒤의 처리는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그대로 미정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이다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이번 작업이 닿지 않았다.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Wingdings</vt:lpstr>
      <vt:lpstr>4_Office 테마</vt:lpstr>
      <vt:lpstr>11. 종합 실행 목차</vt:lpstr>
      <vt:lpstr>01. 세션 목표</vt:lpstr>
      <vt:lpstr>빈 저장소에서 여기까지 02. 저장소가 자란 순서</vt:lpstr>
      <vt:lpstr>위임 패키지를 이루는 것 02. 저장소가 자란 순서</vt:lpstr>
      <vt:lpstr>과제와 지시문 03. 남은 단위를 맡긴다</vt:lpstr>
      <vt:lpstr>에이전트가 한 일 03. 남은 단위를 맡긴다</vt:lpstr>
      <vt:lpstr>04. 두 번째 위임이 첫 번째와 다른 점</vt:lpstr>
      <vt:lpstr>검사가 준 증거 05. 결과 검토</vt:lpstr>
      <vt:lpstr>사람이 보는 것 05. 결과 검토</vt:lpstr>
      <vt:lpstr>06. 미정이 드러나는 자리</vt:lpstr>
      <vt:lpstr>되돌리는 길 07. 어느 결정이 비었나</vt:lpstr>
      <vt:lpstr>이번 실행의 되돌림 07. 어느 결정이 비었나</vt:lpstr>
      <vt:lpstr>08. 모델의 보완과 전파</vt:lpstr>
      <vt:lpstr>09. 기능 하나가 끝났다</vt:lpstr>
      <vt:lpstr>10. 사람이 남긴 결정</vt:lpstr>
      <vt:lpstr>11. 실습 11 — 종합 실행</vt:lpstr>
      <vt:lpstr>12. 요약</vt:lpstr>
      <vt:lpstr>주문한다 — 실행 기록 별첨. 실습 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11. 종합 실행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