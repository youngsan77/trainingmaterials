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Default Extension="png" ContentType="image/png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15"/>
  </p:notesMasterIdLst>
  <p:sldIdLst>
    <p:sldId id="256" r:id="javaLecture1"/>
    <p:sldId id="257" r:id="javaLecture2"/>
    <p:sldId id="258" r:id="javaLecture3"/>
    <p:sldId id="259" r:id="javaLecture4"/>
    <p:sldId id="260" r:id="javaLecture5"/>
    <p:sldId id="261" r:id="javaLecture6"/>
    <p:sldId id="262" r:id="javaLecture7"/>
    <p:sldId id="263" r:id="javaLecture8"/>
    <p:sldId id="264" r:id="javaLecture9"/>
    <p:sldId id="265" r:id="javaLecture10"/>
    <p:sldId id="266" r:id="javaLecture11"/>
    <p:sldId id="267" r:id="javaLecture12"/>
    <p:sldId id="268" r:id="javaLecture13"/>
    <p:sldId id="269" r:id="javaLecture14"/>
    <p:sldId id="270" r:id="javaLecture15"/>
    <p:sldId id="271" r:id="javaLecture16"/>
    <p:sldId id="272" r:id="javaLecture17"/>
    <p:sldId id="273" r:id="javaLecture18"/>
    <p:sldId id="274" r:id="javaLecture19"/>
    <p:sldId id="275" r:id="javaLecture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orient="horz" pos="890" userDrawn="1">
          <p15:clr>
            <a:srgbClr val="A4A3A4"/>
          </p15:clr>
        </p15:guide>
        <p15:guide id="5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41C14D-A5A2-2B4D-B033-1B776E74D04A}" v="40" dt="2026-09-12T11:52:04.6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62"/>
    <p:restoredTop sz="92496"/>
  </p:normalViewPr>
  <p:slideViewPr>
    <p:cSldViewPr snapToGrid="0">
      <p:cViewPr varScale="1">
        <p:scale>
          <a:sx n="106" d="100"/>
          <a:sy n="106" d="100"/>
        </p:scale>
        <p:origin x="1984" y="184"/>
      </p:cViewPr>
      <p:guideLst>
        <p:guide orient="horz" pos="89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8" d="100"/>
        <a:sy n="118" d="100"/>
      </p:scale>
      <p:origin x="0" y="0"/>
    </p:cViewPr>
  </p:sorterViewPr>
  <p:gridSpacing cx="76200" cy="76200"/>
</p:viewPr>
</file>

<file path=ppt/_rels/presentation.xml.rels><?xml version="1.0" encoding="UTF-8" standalone="yes"?>
<Relationships xmlns="http://schemas.openxmlformats.org/package/2006/relationships"><Relationship Id="rId18" Type="http://schemas.openxmlformats.org/officeDocument/2006/relationships/theme" Target="theme/theme1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15" Type="http://schemas.openxmlformats.org/officeDocument/2006/relationships/notesMaster" Target="notesMasters/notesMaster1.xml"/><Relationship Id="rId19" Type="http://schemas.openxmlformats.org/officeDocument/2006/relationships/tableStyles" Target="tableStyles.xml"/><Relationship Id="javaLecture1" Type="http://schemas.openxmlformats.org/officeDocument/2006/relationships/slide" Target="slides/slide1.xml"/><Relationship Id="javaLecture2" Type="http://schemas.openxmlformats.org/officeDocument/2006/relationships/slide" Target="slides/slide2.xml"/><Relationship Id="javaLecture3" Type="http://schemas.openxmlformats.org/officeDocument/2006/relationships/slide" Target="slides/slide3.xml"/><Relationship Id="javaLecture4" Type="http://schemas.openxmlformats.org/officeDocument/2006/relationships/slide" Target="slides/slide4.xml"/><Relationship Id="javaLecture5" Type="http://schemas.openxmlformats.org/officeDocument/2006/relationships/slide" Target="slides/slide5.xml"/><Relationship Id="javaLecture6" Type="http://schemas.openxmlformats.org/officeDocument/2006/relationships/slide" Target="slides/slide6.xml"/><Relationship Id="javaLecture7" Type="http://schemas.openxmlformats.org/officeDocument/2006/relationships/slide" Target="slides/slide7.xml"/><Relationship Id="javaLecture8" Type="http://schemas.openxmlformats.org/officeDocument/2006/relationships/slide" Target="slides/slide8.xml"/><Relationship Id="javaLecture9" Type="http://schemas.openxmlformats.org/officeDocument/2006/relationships/slide" Target="slides/slide9.xml"/><Relationship Id="javaLecture10" Type="http://schemas.openxmlformats.org/officeDocument/2006/relationships/slide" Target="slides/slide10.xml"/><Relationship Id="javaLecture11" Type="http://schemas.openxmlformats.org/officeDocument/2006/relationships/slide" Target="slides/slide11.xml"/><Relationship Id="javaLecture12" Type="http://schemas.openxmlformats.org/officeDocument/2006/relationships/slide" Target="slides/slide12.xml"/><Relationship Id="javaLecture13" Type="http://schemas.openxmlformats.org/officeDocument/2006/relationships/slide" Target="slides/slide13.xml"/><Relationship Id="javaLecture14" Type="http://schemas.openxmlformats.org/officeDocument/2006/relationships/slide" Target="slides/slide14.xml"/><Relationship Id="javaLecture15" Type="http://schemas.openxmlformats.org/officeDocument/2006/relationships/slide" Target="slides/slide15.xml"/><Relationship Id="javaLecture16" Type="http://schemas.openxmlformats.org/officeDocument/2006/relationships/slide" Target="slides/slide16.xml"/><Relationship Id="javaLecture17" Type="http://schemas.openxmlformats.org/officeDocument/2006/relationships/slide" Target="slides/slide17.xml"/><Relationship Id="javaLecture18" Type="http://schemas.openxmlformats.org/officeDocument/2006/relationships/slide" Target="slides/slide18.xml"/><Relationship Id="javaLecture19" Type="http://schemas.openxmlformats.org/officeDocument/2006/relationships/slide" Target="slides/slide19.xml"/><Relationship Id="javaLecture20" Type="http://schemas.openxmlformats.org/officeDocument/2006/relationships/slide" Target="slides/slide2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CE4FF0-A6B5-46CD-9CD3-2CF2AFF3AE5A}" type="datetimeFigureOut">
              <a:rPr lang="ko-KR" altLang="en-US" smtClean="0"/>
              <a:t>2026. 9. 22.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25E7E4-F626-4F14-BF5E-991C69F9D1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6618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"세션 06. 작업 위임과 도구·권한·상태의 경계"가 어디까지 맡길지 정하고, "세션 07. 워크플로·에이전트와 사람의 개입"이 사람이 판단할 자리를 정했다. 여기서는 경계가 글이 아니라 실행으로 지켜지게 만든다.</a:t>
            </a:r>
          </a:p>
          <a:p>
            <a:pPr lvl="0"/>
            <a:r>
              <a:rPr lang="ko-KR" sz="1200"/>
              <a:t>기준 원전은 [NIST 2023]이고, 위험 목록은 [OWASP 2025], 삼박자는 [Willison 2025a], 겹으로 쌓기는 [OpenAI 2025], 계산적 가이드는 [Böckeler 2026a], 환경의 경계는 [Anthropic 2026c]·[Thoughtworks 2026]으로 받친다.</a:t>
            </a:r>
          </a:p>
          <a:p>
            <a:pPr lvl="0"/>
            <a:r>
              <a:rPr lang="ko-KR" sz="1200"/>
              <a:t>예방(가드레일)과 탐지(센서)의 경계를 세션 내내 짚는다. 센서의 구성과 증거는 "세션 09. 검증 하네스·결과 점검·피드백", 막힌 뒤의 복구는 "세션 10. 실패 대응·재시도·복구"가 맡는다.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가드레일은 하네스의 가이드 중 실행 전에 강제되는 것을 가리키는 이 과정의 이름이다(course-design.md의 「원전 적용 결정」). [Böckeler 2026a]의 계산적 가이드가 그 근거이며, 가이드·센서의 전체 구조는 "세션 09. 검증 하네스·결과 점검·피드백"이 다룬다.</a:t>
            </a:r>
          </a:p>
          <a:p>
            <a:pPr lvl="0"/>
            <a:r>
              <a:rPr lang="ko-KR" sz="1200"/>
              <a:t>표의 네 수단이 정해지는 곳 — 멈출 조건은 "세션 06. 작업 위임과 도구·권한·상태의 경계"의 「07. 위임 계약」, 확인 지점은 "세션 07. 워크플로·에이전트와 사람의 개입"의 「07. 주문한다의 실행 흐름」이다.</a:t>
            </a:r>
          </a:p>
          <a:p>
            <a:pPr lvl="0"/>
            <a:r>
              <a:rPr lang="ko-KR" sz="1200"/>
              <a:t>첫 문장의 결제 호출 금지는 "세션 06. 작업 위임과 도구·권한·상태의 경계"의 「07. 위임 계약」의 「주문한다의 위임 계약」에 적어 둔 항목이다. 그 한 줄이 왜 호출을 막지 못하는지로 표를 연다.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인용 근거: NIST AI RMF 1.0(2023) 원문(PDF) 확인. 위험 허용 수준 문장은 조직의 법·규제 맥락을 든 부분을 생략하고 정의만 인용했다.</a:t>
            </a:r>
          </a:p>
          <a:p>
            <a:pPr lvl="0"/>
            <a:r>
              <a:rPr lang="ko-KR" sz="1200"/>
              <a:t>NIST는 위험을 식별·측정·관리하는 어휘로만 쓴다. 조직 거버넌스의 상세는 과정의 범위가 아니다.</a:t>
            </a:r>
          </a:p>
          <a:p>
            <a:pPr lvl="0"/>
            <a:r>
              <a:rPr lang="ko-KR" sz="1200"/>
              <a:t>확률·크기의 판정은 과제와 조직에 따라 달라진다. 수업에서는 값보다 등급을 정한 근거를 묻는다.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인용 근거: OWASP Gen AI Security Project, "OWASP Top 10 for Agentic Applications for 2026"(2025) 원문과 공개 발표 글에서 열 항목의 식별자와 이름을 확인했다 — Agent Goal Hijack, Tool Misuse, Identity &amp; Privilege Abuse, Agentic Supply Chain Vulnerabilities, Unexpected Code Execution, Memory &amp; Context Poisoning, Insecure Inter-Agent Communication, Cascading Failures, Human-Agent Trust Exploitation, Rogue Agents.</a:t>
            </a:r>
          </a:p>
          <a:p>
            <a:pPr lvl="0"/>
            <a:r>
              <a:rPr lang="ko-KR" sz="1200"/>
              <a:t>한글 이름은 과정의 번역이고, ASI01~ASI10은 OWASP가 붙인 식별자다. 오른쪽 열은 과정의 적용이며 원문의 예가 아니다.</a:t>
            </a:r>
          </a:p>
          <a:p>
            <a:pPr lvl="0"/>
            <a:r>
              <a:rPr lang="ko-KR" sz="1200"/>
              <a:t>ASI04의 도구 서버는 "세션 06. 작업 위임과 도구·권한·상태의 경계"의 「04. 도구 연결의 표준」에서 다룬 MCP 서버를 가리킨다. 닿지 않는 ASI07도 왜 닿지 않는지를 말해야 목록이 암기가 되지 않는다.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확률의 값은 교육용 가정이다. 테스트 비활성화를 높게 본 근거는 막힌 에이전트가 가장 쉽게 손대는 곳이 기대값이라는 점이며, 그 관행은 "세션 09. 검증 하네스·결과 점검·피드백"에서 다시 다룬다.</a:t>
            </a:r>
          </a:p>
          <a:p>
            <a:pPr lvl="0"/>
            <a:r>
              <a:rPr lang="ko-KR" sz="1200"/>
              <a:t>여섯 중 다섯은 "세션 06. 작업 위임과 도구·권한·상태의 경계"의 「07. 위임 계약」의 「주문한다의 위임 계약」이 금지로 적은 항목이다. 계약의 글을 실행의 제약으로 옮기는 것이 이 세션의 일이다. 숨은 지시만 새로 더해졌다.</a:t>
            </a:r>
          </a:p>
          <a:p>
            <a:pPr lvl="0"/>
            <a:r>
              <a:rPr lang="ko-KR" sz="1200"/>
              <a:t>등급을 바꿔 보게 한다 — 사내 테스트 결제 계정만 쓴다면 두 번째 위험의 크기가 달라진다.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인용 근거: Simon Willison, "The lethal trifecta for AI agents"(2025) 원문 확인. 세 능력의 이름과 정의가 원문의 것이다.</a:t>
            </a:r>
          </a:p>
          <a:p>
            <a:pPr lvl="0"/>
            <a:r>
              <a:rPr lang="ko-KR" sz="1200"/>
              <a:t>삼박자는 공격이 아니라 조건이다. 코딩 에이전트는 저장소를 읽고 외부 문서를 읽고 네트워크를 쓸 수 있으므로 기본 상태가 이미 셋을 갖춘 것임을 짚는다.</a:t>
            </a:r>
          </a:p>
          <a:p>
            <a:pPr lvl="0"/>
            <a:r>
              <a:rPr lang="ko-KR" sz="1200"/>
              <a:t>프롬프트 주입의 기법을 가르치지 않는다. 과정이 다루는 것은 셋 중 하나를 환경으로 끊는 결정이다.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인용 근거: [Willison 2025a] 원문 확인. 95%는 확률로 막는 방어의 한계를 말하는 비유이며 특정 제품의 측정값이 아니다.</a:t>
            </a:r>
          </a:p>
          <a:p>
            <a:pPr lvl="0"/>
            <a:r>
              <a:rPr lang="ko-KR" sz="1200"/>
              <a:t>읽을 범위를 좁히는 결정은 "세션 06. 작업 위임과 도구·권한·상태의 경계"의 「05. 최소 권한」의 「네 가지 권한」에서 이미 정했다. 여기서는 그것이 삼박자의 어느 고리인지 보인다.</a:t>
            </a:r>
          </a:p>
          <a:p>
            <a:pPr lvl="0"/>
            <a:r>
              <a:rPr lang="ko-KR" sz="1200"/>
              <a:t>수강생에게 묻는다 — 네트워크를 닫으면 못 하게 되는 일은 무엇인가? 의존성 받기와 규격 조회이며, 그래서 사람이 미리 받아 둔다.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인용 근거: OpenAI, "A practical guide to building agents"(2025) 원문 확인(받은 PDF). 겹으로 쌓는 방어라는 표현이 원문의 것이다.</a:t>
            </a:r>
          </a:p>
          <a:p>
            <a:pPr lvl="0"/>
            <a:r>
              <a:rPr lang="ko-KR" sz="1200"/>
              <a:t>원문은 입력·출력의 가드레일 종류(관련성, 안전, 개인정보, 도구 위험 등급 등)를 든다. 과정은 코딩 에이전트에 해당하는 네 자리로 정리해 쓴다.</a:t>
            </a:r>
          </a:p>
          <a:p>
            <a:pPr lvl="0"/>
            <a:r>
              <a:rPr lang="ko-KR" sz="1200"/>
              <a:t>네 자리가 모두 필요한 것은 아니다. "주문한다"는 입력·도구 호출·환경을 쓰고 출력은 커밋 전 검사 하나만 둔다(「07. 주문한다의 가드레일」).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계산적·추론적의 구분은 [Böckeler 2026a]의 것이며, 가이드·센서의 전체 구조는 "세션 09. 검증 하네스·결과 점검·피드백"에서 다룬다. 여기서는 가드레일이 계산적 가이드라는 점만 쓴다.</a:t>
            </a:r>
          </a:p>
          <a:p>
            <a:pPr lvl="0"/>
            <a:r>
              <a:rPr lang="ko-KR" sz="1200"/>
              <a:t>맥락이 길어지면 앞의 지시가 묻힌다. 그 이유는 "세션 05. 도메인·설계 지식과 맥락 구성"의 「03. 주의 예산과 맥락 부패」의 「맥락 부패」에 있다.</a:t>
            </a:r>
          </a:p>
          <a:p>
            <a:pPr lvl="0"/>
            <a:r>
              <a:rPr lang="ko-KR" sz="1200"/>
              <a:t>수강생에게 묻는다 — "기대값을 바꾸지 마"를 강제로 옮기면 어디에 두는가? 테스트 파일의 쓰기 금지다.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인용 근거: Anthropic, "How we contain Claude across products"(2026) 원문 확인. 피해 범위와 네 가지 제약 수단이 원문의 표현이다.</a:t>
            </a:r>
          </a:p>
          <a:p>
            <a:pPr lvl="0"/>
            <a:r>
              <a:rPr lang="ko-KR" sz="1200"/>
              <a:t>작업 공간(worktree·작업 브랜치)은 "세션 06. 작업 위임과 도구·권한·상태의 경계"의 「06. 상태와 되돌림」의 「변경마다 작업 공간」에서 정했다. 여기서는 그것이 피해 범위를 끊는 수단이라는 점을 더한다.</a:t>
            </a:r>
          </a:p>
          <a:p>
            <a:pPr lvl="0"/>
            <a:r>
              <a:rPr lang="ko-KR" sz="1200"/>
              <a:t>자격을 주지 않는 것이 가장 단순한 가드레일이다. 원격 반영은 사람이 실행한다.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인용 근거: Thoughtworks Technology Radar Vol. 34(2026-04)의 sandboxed execution for coding agents(Trial) 항목 원문 확인. 표의 세 기본값은 [Anthropic 2026c]가 적은 것과 같다 — "Reads are allowed, writes are allowed inside the workspace, but network is denied by default"(원문 확인).</a:t>
            </a:r>
          </a:p>
          <a:p>
            <a:pPr lvl="0"/>
            <a:r>
              <a:rPr lang="ko-KR" sz="1200"/>
              <a:t>84%도 [Anthropic 2026c]의 보고값이며, 비교 대상은 환경 제약을 도입하기 전의 권한 요청 수다. 일반 수치가 아니다.</a:t>
            </a:r>
          </a:p>
          <a:p>
            <a:pPr lvl="0"/>
            <a:r>
              <a:rPr lang="ko-KR" sz="1200"/>
              <a:t>승인 피로는 "세션 07. 워크플로·에이전트와 사람의 개입"의 「08. 잘못된 관행」의 「모든 단계의 형식적 승인」에서 다뤘다. 샌드박스는 그 문제의 처방이다.</a:t>
            </a:r>
          </a:p>
          <a:p>
            <a:pPr lvl="0"/>
            <a:r>
              <a:rPr lang="ko-KR" sz="1200"/>
              <a:t>샌드박스의 구현(컨테이너·가상 머신·OS 수준 격리)은 도구의 일이며 과정은 무엇을 기본값으로 둘지만 결정한다.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본문이 가리키는 네 자리는 「05. 가드레일의 자리」의 「겹으로 쌓는다」의 것이다. 같은 그림을 두 번 보이지 않고 값만 채웠다.</a:t>
            </a:r>
          </a:p>
          <a:p>
            <a:pPr lvl="0"/>
            <a:r>
              <a:rPr lang="ko-KR" sz="1200"/>
              <a:t>규격 문서를 넣어 두는 곳은 "세션 05. 도메인·설계 지식과 맥락 구성"의 「06. 맥락 파일」의 「주문한다의 맥락 파일」이 가리키는 저장소의 문서 폴더이며, 예를 들면 docs/다. 결제 연동 규격은 거기에 docs/external/payment-api.md로 들어 있다. 폴더 이름은 저장소마다 정하는 것이며 에이전트가 미리 아는 이름이 아니다.</a:t>
            </a:r>
          </a:p>
          <a:p>
            <a:pPr lvl="0"/>
            <a:r>
              <a:rPr lang="ko-KR" sz="1200"/>
              <a:t>출력 검사를 커밋 전 하나만 둔 이유를 짚는다 — 산출이 코드와 커밋뿐이고, 그 밖의 결과는 센서가 본다.</a:t>
            </a:r>
          </a:p>
          <a:p>
            <a:pPr lvl="0"/>
            <a:r>
              <a:rPr lang="ko-KR" sz="1200"/>
              <a:t>이 그림이 실습 8의 결과물 형식이다. 수강생은 같은 네 자리에 정기배송의 값을 채운다.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확인 지점 셋은 "세션 07. 워크플로·에이전트와 사람의 개입"의 「07. 주문한다의 실행 흐름」의 「활동 다이어그램」에서 정했다. 가드레일을 세운 덕분에 그 셋만으로 충분하다는 관계를 짚는다.</a:t>
            </a:r>
          </a:p>
          <a:p>
            <a:pPr lvl="0"/>
            <a:r>
              <a:rPr lang="ko-KR" sz="1200"/>
              <a:t>표의 여섯 줄은 「03. 위험의 식별」의 「주문한다의 위험」의 여섯과 순서까지 같다. 위험을 고르는 일과 가드레일을 세우는 일이 한 줄씩 이어지는 것을 보인다.</a:t>
            </a:r>
          </a:p>
          <a:p>
            <a:pPr lvl="0"/>
            <a:r>
              <a:rPr lang="ko-KR" sz="1200"/>
              <a:t>배치표는 저장소에 두고 맥락 파일이 가리킨다. 사람과 에이전트가 같은 표를 본다.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지시 비대는 "세션 05. 도메인·설계 지식과 맥락 구성"의 「11. 잘못된 관행」의 「지시 비대」에서 다룬 문제다. 같은 현상이 가드레일의 자리를 잘못 고를 때 생긴다.</a:t>
            </a:r>
          </a:p>
          <a:p>
            <a:pPr lvl="0"/>
            <a:r>
              <a:rPr lang="ko-KR" sz="1200"/>
              <a:t>수강생의 저장소 맥락 파일에서 금지문을 찾아보게 한다. 대부분 한두 줄은 환경으로 옮길 수 있다.</a:t>
            </a:r>
          </a:p>
          <a:p>
            <a:pPr lvl="0"/>
            <a:r>
              <a:rPr lang="ko-KR" sz="1200"/>
              <a:t>프롬프트의 금지가 쓸모없다는 말이 아니다. 강제가 불가능한 자리에서는 그것이 유일한 수단이다.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인용 근거: [Anthropic 2026c] 원문 확인. 같은 글은 확률적 방어를 결정적인 환경 제약과 함께 쓰는 이유로 이 문장을 든다.</a:t>
            </a:r>
          </a:p>
          <a:p>
            <a:pPr lvl="0"/>
            <a:r>
              <a:rPr lang="ko-KR" sz="1200"/>
              <a:t>예방과 탐지를 겹치는 구성이 "세션 09. 검증 하네스·결과 점검·피드백"의 하네스다. 가드레일만으로 완료를 받아들이지 않는다.</a:t>
            </a:r>
          </a:p>
          <a:p>
            <a:pPr lvl="0"/>
            <a:r>
              <a:rPr lang="ko-KR" sz="1200"/>
              <a:t>수강생에게 묻는다 — 가드레일이 모두 작동했는데 결과가 틀렸다. 무엇을 보고 알 수 있는가? 센서의 증거뿐이다. 예로 주문 금액을 2,000원이 아니라 결제 직전 판매가인 2,400원으로 계산한 경우를 든다.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정기배송의 위험은 회차 금액·만료일의 기대값과 결제 승인 호출에서 나온다. 모델 패키지는 code/s01/subscription/docs/에 있다.</a:t>
            </a:r>
          </a:p>
          <a:p>
            <a:pPr lvl="0"/>
            <a:r>
              <a:rPr lang="ko-KR" sz="1200"/>
              <a:t>LLM은 위험을 "환각"·"품질 저하"처럼 모델의 능력 문제로 적고, 가드레일을 프롬프트 문장으로 제안한다. 점검 1·3으로 되돌린다.</a:t>
            </a:r>
          </a:p>
          <a:p>
            <a:pPr lvl="0"/>
            <a:r>
              <a:rPr lang="ko-KR" sz="1200"/>
              <a:t>평가는 표의 완성도보다 자리를 고른 근거를 본다. 같은 위험을 다른 자리에서 막아도 판정 가능성으로 설명되면 맞는 답이다.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실습 8의 가드레일 배치가 실습 9의 하네스 배치의 입력이 된다. 가이드와 센서의 짝에서 가드레일이 가이드 쪽이다.</a:t>
            </a:r>
          </a:p>
          <a:p>
            <a:pPr lvl="0"/>
            <a:r>
              <a:rPr lang="ko-KR" sz="1200"/>
              <a:t>이 세션까지가 예방이다. 다음 세션은 같은 하네스의 탐지 쪽을 다룬다.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입력 자리의 한 행은 실습 7까지의 산출물에 없던 위험이다. 삼박자를 점검하면서 드러난다.</a:t>
            </a:r>
          </a:p>
          <a:p>
            <a:pPr lvl="0"/>
            <a:r>
              <a:rPr lang="ko-KR" sz="1200"/>
              <a:t>회차 7개와 만료일 2월 2일은 "세션 03. 요구의 구체화와 명세"의 실습 답에서 정한 값이다. 기대값을 지키는 것이 수용 기준을 지키는 것이다.</a:t>
            </a:r>
          </a:p>
          <a:p>
            <a:pPr lvl="0"/>
            <a:r>
              <a:rPr lang="ko-KR" sz="1200"/>
              <a:t>쓰기 금지와 "테스트를 고치지 마"라는 지시의 차이를 묻는다. 전자는 거절되고 후자는 막혔을 때 깨진다.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보완의 핵심은 같은 규칙을 두 곳에 적지 않는 것이다. 계약의 글과 환경의 설정이 어긋나면 어느 쪽도 신뢰할 수 없다.</a:t>
            </a:r>
          </a:p>
          <a:p>
            <a:pPr lvl="0"/>
            <a:r>
              <a:rPr lang="ko-KR" sz="1200"/>
              <a:t>맥락 파일에서 금지문을 지우는 것이 수강생에게 가장 낯선 결정이다. 지운 자리를 무엇이 대신하는지 말하게 한다.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8">
            <a:extLst>
              <a:ext uri="{FF2B5EF4-FFF2-40B4-BE49-F238E27FC236}">
                <a16:creationId xmlns:a16="http://schemas.microsoft.com/office/drawing/2014/main" id="{FF0E9F20-7865-40BF-831C-21A3A6DE669A}"/>
              </a:ext>
            </a:extLst>
          </p:cNvPr>
          <p:cNvCxnSpPr/>
          <p:nvPr userDrawn="1"/>
        </p:nvCxnSpPr>
        <p:spPr>
          <a:xfrm>
            <a:off x="370822" y="692696"/>
            <a:ext cx="842400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제목 1">
            <a:extLst>
              <a:ext uri="{FF2B5EF4-FFF2-40B4-BE49-F238E27FC236}">
                <a16:creationId xmlns:a16="http://schemas.microsoft.com/office/drawing/2014/main" id="{2094DC8E-CD32-4D9A-9DFC-F86395231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189" y="-38114"/>
            <a:ext cx="6300034" cy="720080"/>
          </a:xfrm>
          <a:prstGeom prst="rect">
            <a:avLst/>
          </a:prstGeom>
        </p:spPr>
        <p:txBody>
          <a:bodyPr anchor="ctr" anchorCtr="0"/>
          <a:lstStyle>
            <a:lvl1pPr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48BCF7E4-4941-4537-9EC8-57C44E02DB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  <a:prstGeom prst="rect">
            <a:avLst/>
          </a:prstGeom>
        </p:spPr>
        <p:txBody>
          <a:bodyPr/>
          <a:lstStyle>
            <a:lvl1pPr algn="ctr">
              <a:defRPr sz="80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r>
              <a:rPr lang="en-US" altLang="ko-KR" dirty="0">
                <a:solidFill>
                  <a:prstClr val="black"/>
                </a:solidFill>
              </a:rPr>
              <a:t>- </a:t>
            </a:r>
            <a:fld id="{A18F303B-5FF2-4BD3-899C-BAED341F6249}" type="slidenum">
              <a:rPr lang="ko-KR" alt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r>
              <a:rPr lang="ko-KR" altLang="en-US" dirty="0">
                <a:solidFill>
                  <a:prstClr val="black"/>
                </a:solidFill>
              </a:rPr>
              <a:t> </a:t>
            </a:r>
            <a:r>
              <a:rPr lang="en-US" altLang="ko-KR" dirty="0">
                <a:solidFill>
                  <a:prstClr val="black"/>
                </a:solidFill>
              </a:rPr>
              <a:t>-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F7FC7E0F-889C-4F19-8056-F2D1D63579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189" y="980728"/>
            <a:ext cx="8424000" cy="553086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"/>
              <a:defRPr sz="2000" b="1"/>
            </a:lvl1pPr>
            <a:lvl2pPr marL="723900" indent="-36830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  <a:defRPr sz="1800" b="0"/>
            </a:lvl2pPr>
            <a:lvl3pPr marL="1077913" indent="-354013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"/>
              <a:defRPr sz="1600" b="0"/>
            </a:lvl3pPr>
            <a:lvl4pPr marL="1433513" indent="-355600"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l"/>
              <a:defRPr sz="1400" b="0"/>
            </a:lvl4pPr>
            <a:lvl5pPr marL="1787525" indent="-354013"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  <a:defRPr sz="1400" b="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8" name="텍스트 개체 틀 2">
            <a:extLst>
              <a:ext uri="{FF2B5EF4-FFF2-40B4-BE49-F238E27FC236}">
                <a16:creationId xmlns:a16="http://schemas.microsoft.com/office/drawing/2014/main" id="{535D420B-3C82-4BF6-9CCA-F8DA0A133FB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76056" y="367445"/>
            <a:ext cx="3699901" cy="26473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spcBef>
                <a:spcPts val="0"/>
              </a:spcBef>
              <a:buFont typeface="Arial" panose="020B0604020202020204" pitchFamily="34" charset="0"/>
              <a:buNone/>
              <a:defRPr sz="18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0" indent="0">
              <a:spcBef>
                <a:spcPts val="0"/>
              </a:spcBef>
              <a:buNone/>
              <a:defRPr sz="1300" b="1">
                <a:latin typeface="+mn-ea"/>
                <a:ea typeface="+mn-ea"/>
              </a:defRPr>
            </a:lvl2pPr>
            <a:lvl3pPr marL="0" indent="0">
              <a:spcBef>
                <a:spcPts val="0"/>
              </a:spcBef>
              <a:buNone/>
              <a:defRPr sz="1300" b="1">
                <a:latin typeface="+mn-ea"/>
                <a:ea typeface="+mn-ea"/>
              </a:defRPr>
            </a:lvl3pPr>
            <a:lvl4pPr marL="0" indent="0">
              <a:spcBef>
                <a:spcPts val="0"/>
              </a:spcBef>
              <a:buNone/>
              <a:defRPr sz="1300" b="1">
                <a:latin typeface="+mn-ea"/>
                <a:ea typeface="+mn-ea"/>
              </a:defRPr>
            </a:lvl4pPr>
            <a:lvl5pPr marL="0" indent="0">
              <a:spcBef>
                <a:spcPts val="0"/>
              </a:spcBef>
              <a:buNone/>
              <a:defRPr sz="1300" b="1">
                <a:latin typeface="+mn-ea"/>
                <a:ea typeface="+mn-ea"/>
              </a:defRPr>
            </a:lvl5pPr>
          </a:lstStyle>
          <a:p>
            <a:pPr lvl="0"/>
            <a:r>
              <a:rPr lang="en-US" altLang="ko-KR"/>
              <a:t>Level #1</a:t>
            </a:r>
          </a:p>
        </p:txBody>
      </p:sp>
      <p:sp>
        <p:nvSpPr>
          <p:cNvPr id="11" name="텍스트 개체 틀 9">
            <a:extLst>
              <a:ext uri="{FF2B5EF4-FFF2-40B4-BE49-F238E27FC236}">
                <a16:creationId xmlns:a16="http://schemas.microsoft.com/office/drawing/2014/main" id="{2A28188B-9A75-4416-A436-43EDEDA960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60420" y="710786"/>
            <a:ext cx="2915537" cy="23827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None/>
              <a:defRPr lang="en-US" altLang="ko-KR" sz="1400" b="1" i="0" kern="120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Level #2</a:t>
            </a:r>
          </a:p>
        </p:txBody>
      </p:sp>
      <p:sp>
        <p:nvSpPr>
          <p:cNvPr id="2" name="텍스트 개체 틀 9">
            <a:extLst>
              <a:ext uri="{FF2B5EF4-FFF2-40B4-BE49-F238E27FC236}">
                <a16:creationId xmlns:a16="http://schemas.microsoft.com/office/drawing/2014/main" id="{B690A1C8-68B5-5F79-8C0D-DCD7EE5EA9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4367" y="6485290"/>
            <a:ext cx="6244438" cy="23827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lang="en-US" altLang="ko-KR" sz="600" b="0" i="0" kern="120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Level #3</a:t>
            </a:r>
          </a:p>
        </p:txBody>
      </p:sp>
    </p:spTree>
    <p:extLst>
      <p:ext uri="{BB962C8B-B14F-4D97-AF65-F5344CB8AC3E}">
        <p14:creationId xmlns:p14="http://schemas.microsoft.com/office/powerpoint/2010/main" val="6893852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05AE4B-11F0-DD96-DBC0-88B2F9E857D9}"/>
              </a:ext>
            </a:extLst>
          </p:cNvPr>
          <p:cNvSpPr txBox="1"/>
          <p:nvPr userDrawn="1"/>
        </p:nvSpPr>
        <p:spPr>
          <a:xfrm>
            <a:off x="1519279" y="6647902"/>
            <a:ext cx="612116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ko-KR" sz="600" dirty="0"/>
              <a:t>© 2026 </a:t>
            </a:r>
            <a:r>
              <a:rPr lang="ko-KR" altLang="ko-KR" sz="600" dirty="0" err="1"/>
              <a:t>Young</a:t>
            </a:r>
            <a:r>
              <a:rPr lang="ko-KR" altLang="ko-KR" sz="600" dirty="0"/>
              <a:t> </a:t>
            </a:r>
            <a:r>
              <a:rPr lang="ko-KR" altLang="ko-KR" sz="600" dirty="0" err="1"/>
              <a:t>On</a:t>
            </a:r>
            <a:r>
              <a:rPr lang="ko-KR" altLang="ko-KR" sz="600" dirty="0"/>
              <a:t> Kim. LLM-</a:t>
            </a:r>
            <a:r>
              <a:rPr lang="ko-KR" altLang="ko-KR" sz="600" dirty="0" err="1"/>
              <a:t>generated</a:t>
            </a:r>
            <a:r>
              <a:rPr lang="ko-KR" altLang="ko-KR" sz="600" dirty="0"/>
              <a:t> </a:t>
            </a:r>
            <a:r>
              <a:rPr lang="ko-KR" altLang="ko-KR" sz="600" dirty="0" err="1"/>
              <a:t>content</a:t>
            </a:r>
            <a:r>
              <a:rPr lang="ko-KR" altLang="ko-KR" sz="600" dirty="0"/>
              <a:t>, </a:t>
            </a:r>
            <a:r>
              <a:rPr lang="ko-KR" altLang="ko-KR" sz="600" dirty="0" err="1"/>
              <a:t>directed</a:t>
            </a:r>
            <a:r>
              <a:rPr lang="ko-KR" altLang="ko-KR" sz="600" dirty="0"/>
              <a:t>, </a:t>
            </a:r>
            <a:r>
              <a:rPr lang="ko-KR" altLang="ko-KR" sz="600" dirty="0" err="1"/>
              <a:t>reviewed</a:t>
            </a:r>
            <a:r>
              <a:rPr lang="ko-KR" altLang="ko-KR" sz="600" dirty="0"/>
              <a:t> and </a:t>
            </a:r>
            <a:r>
              <a:rPr lang="ko-KR" altLang="ko-KR" sz="600" dirty="0" err="1"/>
              <a:t>validated</a:t>
            </a:r>
            <a:r>
              <a:rPr lang="ko-KR" altLang="ko-KR" sz="600" dirty="0"/>
              <a:t> </a:t>
            </a:r>
            <a:r>
              <a:rPr lang="ko-KR" altLang="ko-KR" sz="600" dirty="0" err="1"/>
              <a:t>by</a:t>
            </a:r>
            <a:r>
              <a:rPr lang="ko-KR" altLang="ko-KR" sz="600" dirty="0"/>
              <a:t> </a:t>
            </a:r>
            <a:r>
              <a:rPr lang="ko-KR" altLang="ko-KR" sz="600" dirty="0" err="1"/>
              <a:t>the</a:t>
            </a:r>
            <a:r>
              <a:rPr lang="ko-KR" altLang="ko-KR" sz="600" dirty="0"/>
              <a:t> </a:t>
            </a:r>
            <a:r>
              <a:rPr lang="ko-KR" altLang="ko-KR" sz="600" dirty="0" err="1"/>
              <a:t>author</a:t>
            </a:r>
            <a:r>
              <a:rPr lang="ko-KR" altLang="ko-KR" sz="600" dirty="0"/>
              <a:t>; </a:t>
            </a:r>
            <a:r>
              <a:rPr lang="ko-KR" altLang="ko-KR" sz="600" dirty="0" err="1"/>
              <a:t>rendered</a:t>
            </a:r>
            <a:r>
              <a:rPr lang="ko-KR" altLang="ko-KR" sz="600" dirty="0"/>
              <a:t> </a:t>
            </a:r>
            <a:r>
              <a:rPr lang="ko-KR" altLang="ko-KR" sz="600" dirty="0" err="1"/>
              <a:t>by</a:t>
            </a:r>
            <a:r>
              <a:rPr lang="ko-KR" altLang="ko-KR" sz="600" dirty="0"/>
              <a:t> </a:t>
            </a:r>
            <a:r>
              <a:rPr lang="ko-KR" altLang="ko-KR" sz="600" dirty="0" err="1"/>
              <a:t>TrainingMaterials</a:t>
            </a:r>
            <a:r>
              <a:rPr lang="ko-KR" altLang="ko-KR" sz="600" dirty="0"/>
              <a:t>.</a:t>
            </a:r>
            <a:endParaRPr lang="ko-KR" altLang="en-US" sz="500" dirty="0">
              <a:solidFill>
                <a:prstClr val="black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377657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</p:sldLayoutIdLst>
  <p:hf hdr="0" ftr="0" dt="0"/>
  <p:txStyles>
    <p:titleStyle>
      <a:lvl1pPr algn="l" rtl="0" eaLnBrk="0" fontAlgn="base" latinLnBrk="0" hangingPunct="0">
        <a:spcBef>
          <a:spcPct val="0"/>
        </a:spcBef>
        <a:spcAft>
          <a:spcPct val="0"/>
        </a:spcAft>
        <a:defRPr sz="32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0" fontAlgn="base" latinLnBrk="0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latinLnBrk="0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latinLnBrk="0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latinLnBrk="0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0" hangingPunct="0">
        <a:spcBef>
          <a:spcPct val="20000"/>
        </a:spcBef>
        <a:spcAft>
          <a:spcPct val="0"/>
        </a:spcAft>
        <a:buFont typeface="Wingdings" pitchFamily="2" charset="2"/>
        <a:buChar char="u"/>
        <a:defRPr sz="20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rtl="0" eaLnBrk="0" fontAlgn="base" latinLnBrk="0" hangingPunct="0">
        <a:spcBef>
          <a:spcPct val="20000"/>
        </a:spcBef>
        <a:spcAft>
          <a:spcPct val="0"/>
        </a:spcAft>
        <a:buFont typeface="Wingdings" pitchFamily="2" charset="2"/>
        <a:buChar char="l"/>
        <a:defRPr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2pPr>
      <a:lvl3pPr marL="1143000" indent="-228600" algn="l" rtl="0" eaLnBrk="0" fontAlgn="base" latinLnBrk="0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16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3pPr>
      <a:lvl4pPr marL="1600200" indent="-228600" algn="l" rtl="0" eaLnBrk="0" fontAlgn="base" latinLnBrk="0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4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4pPr>
      <a:lvl5pPr marL="2057400" indent="-228600" algn="l" rtl="0" eaLnBrk="0" fontAlgn="base" latinLnBrk="0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4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3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4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5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6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7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8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mermaidImage1" Type="http://schemas.openxmlformats.org/officeDocument/2006/relationships/image" Target="../media/mermaid-1.png"/><Relationship Id="speakerNotes9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10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11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12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mermaidImage2" Type="http://schemas.openxmlformats.org/officeDocument/2006/relationships/image" Target="../media/mermaid-2.png"/><Relationship Id="speakerNotes13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14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15" Type="http://schemas.openxmlformats.org/officeDocument/2006/relationships/notesSlide" Target="../notesSlides/notesSlide1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16" Type="http://schemas.openxmlformats.org/officeDocument/2006/relationships/notesSlide" Target="../notesSlides/notesSlide1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17" Type="http://schemas.openxmlformats.org/officeDocument/2006/relationships/notesSlide" Target="../notesSlides/notesSlide17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18" Type="http://schemas.openxmlformats.org/officeDocument/2006/relationships/notesSlide" Target="../notesSlides/notesSlide18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19" Type="http://schemas.openxmlformats.org/officeDocument/2006/relationships/notesSlide" Target="../notesSlides/notesSlide19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20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BBD6A-BEC8-8565-421F-EBAC1ED42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A14CAC-1EBE-1F63-E3BA-E3EE686B2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08. 실행 제약과 가드레일의 역할 목차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9EEDA23-0B0A-564A-4691-C5337C3EB2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- 1 -</a:t>
            </a:r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F02C014B-77F1-D298-AF5D-A7FD2F69A4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822" y="949064"/>
            <a:ext cx="4580822" cy="5530862"/>
          </a:xfrm>
        </p:spPr>
        <p:txBody>
          <a:bodyPr>
            <a:normAutofit/>
          </a:bodyPr>
          <a:lstStyle/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01. 세션 목표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02. 가드레일이란?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03. 위험의 식별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04. 치명적 삼박자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05. 가드레일의 자리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06. 환경의 경계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07. 주문한다의 가드레일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08. 잘못된 관행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09. 실습 —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 가드레일 배치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10. 요약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D61A0BF-30A1-CFBA-B6DC-C8AB25F4C72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/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E4E919F-9032-122E-A91D-6BEFC90E256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336ED9B1-5AD1-2C46-246C-15655B38522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TOC 열 4">
            <a:extLst>
              <a:ext uri="{FF2B5EF4-FFF2-40B4-BE49-F238E27FC236}">
                <a16:creationId xmlns:a16="http://schemas.microsoft.com/office/drawing/2014/main" id="{F02C014B-77F1-D298-AF5D-A7FD2F69A4BB}"/>
              </a:ext>
            </a:extLst>
          </p:cNvPr>
          <p:cNvSpPr>
            <a:spLocks noGrp="1"/>
          </p:cNvSpPr>
          <p:nvPr/>
        </p:nvSpPr>
        <p:spPr>
          <a:xfrm>
            <a:off x="4426820" y="949064"/>
            <a:ext cx="4195811" cy="5530862"/>
          </a:xfrm>
        </p:spPr>
        <p:txBody>
          <a:bodyPr>
            <a:normAutofit/>
          </a:bodyPr>
          <a:lstStyle/>
          <a:p/>
        </p:txBody>
      </p:sp>
    </p:spTree>
    <p:extLst>
      <p:ext uri="{BB962C8B-B14F-4D97-AF65-F5344CB8AC3E}">
        <p14:creationId xmlns:p14="http://schemas.microsoft.com/office/powerpoint/2010/main" val="1198101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01. 세션 목표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- 2 -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08. 실행 제약과 가드레일의 역할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프롬프트에 "하지 마"라고 적어도 에이전트는 막히면 그 길로 간다. 가드레일은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환경과 도구가 그 행동을 거절하게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만드는 제약이다.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어긋난 실행을 막는 네 수단,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멈출 조건·확인 지점·가드레일·센서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를 구분한다.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위험을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확률과 크기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로 적고, 어디까지 감당할지로 막을 것을 고른다.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에이전트의 위험 10가지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(OWASP)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를 알고, 과제에 해당하는 것을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과제의 말로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적는다.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치명적 삼박자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비공개 데이터·신뢰할 수 없는 내용·외부 전송이 모이면 주입을 막을 수 없다. 고리 하나를 끊는다.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가드레일을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입력·도구 호출·출력·환경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네 자리에 겹으로 쌓는다.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기계가 판정할 수 있는 규칙은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강제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로 옮기고, 판정할 수 없는 것만 글로 남긴다.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샌드박스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의 기본값을 정해 어긋난 행동이 번지는 범위를 끊는다.</a:t>
            </a:r>
          </a:p>
        </p:txBody>
      </p:sp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02. 가드레일이란?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08. 실행 제약과 가드레일의 역할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1565466" y="2898948"/>
          <a:ext cx="5999480" cy="3873500"/>
        </p:xfrm>
        <a:graphic>
          <a:graphicData uri="http://schemas.openxmlformats.org/drawingml/2006/table">
            <a:tbl>
              <a:tblPr/>
              <a:tblGrid>
                <a:gridCol w="947420"/>
                <a:gridCol w="2232660"/>
                <a:gridCol w="281940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수단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작동하는 때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한계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멈출 조건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에이전트가 경계를 알아볼 때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경계로 보지 못하면 그냥 지나간다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확인 지점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사람이 그 단계를 볼 때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승인이 많아지면 읽지 않고 누른다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가드레일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행동이 일어나기 전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기계가 판정할 수 있는 규칙만 담는다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센서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행동이 끝난 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이미 일어난 뒤에야 보인다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15874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사람에게 "실제 결제 시스템은 부르지 마"는 지키면 되는 규칙이지만, 에이전트에게는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지켜질 확률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이다. 가드레일은 그 지시가 어긋나도 결과가 달라지지 않게 하는 제약이다.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"계산적 가이드는 결정적인 도구로 좋은 결과의 확률을 높인다"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"Computational guides increase the probability of good results with deterministic tooling"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[Böckeler 2026a]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- 3 -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2600498"/>
            <a:ext cx="8412480" cy="22225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어긋난 실행을 막는 네 수단</a:t>
            </a:r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4567548"/>
            <a:ext cx="8412480" cy="16925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지시는 세 가지로 깨진다. 맥락이 길어지면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앞의 금지가 묻히고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, 읽는 문서에 숨은 지시가 섞이면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목표가 바뀌며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, 막히면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다른 길을 찾는다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넷 중 가드레일만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모델의 협조에 기대지 않는다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. 결제 연동 설정과 자격을 에이전트의 환경에 주지 않으면, 호출하는 코드를 써도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실행되지 않는다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위험의 어휘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03. 위험의 식별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- 4 -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08. 실행 제약과 가드레일의 역할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무엇을 막고 무엇을 두고 볼지 고르려면 위험을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비교할 수 있는 말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로 적어야 한다. NIST는 그 말을 위험과 위험 허용 수준으로 정의한다.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"위험은 사건이 일어날 확률과 그 결과의 크기나 정도를 합친 척도를 뜻한다"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"Risk refers to the composite measure of an event's probability of occurring and the magnitude or degree of the consequences of the corresponding event"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[NIST 2023]</a:t>
            </a:r>
          </a:p>
          <a:p>
            <a:pPr lvl="3" marL="1077913" indent="-354013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"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위험 허용 수준은 조직이나 AI 관계자가 목표를 이루기 위해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위험을 감당할 준비가 된 정도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를 뜻한다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"Risk tolerance refers to the organization's or AI actor's … readiness to bear the risk in order to achieve its objectives"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[NIST 2023]</a:t>
            </a:r>
          </a:p>
          <a:p>
            <a:pPr lvl="3" marL="1077913" indent="-354013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"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부정적 위험을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완전히 없애려는 시도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는 실제로는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역효과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를 낼 수 있다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"Attempting to eliminate negative risk entirely can be counterproductive in practice"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[NIST 2023]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비밀 키 유출은 거의 일어나지 않지만 한 번 새면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되돌릴 수 없다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. 확률만 보면 뒤로 밀리고, 크기를 함께 적어야 앞으로 나온다.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모든 위험을 다 막으면 에이전트가 할 수 있는 일이 남지 않는다.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어디까지 감당할지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를 먼저 정하고 그 선을 넘는 것만 막는다.</a:t>
            </a:r>
          </a:p>
        </p:txBody>
      </p:sp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에이전트의 위험 목록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03. 위험의 식별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08. 실행 제약과 가드레일의 역할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698056" y="2386330"/>
          <a:ext cx="7734300" cy="3873500"/>
        </p:xfrm>
        <a:graphic>
          <a:graphicData uri="http://schemas.openxmlformats.org/drawingml/2006/table">
            <a:tbl>
              <a:tblPr/>
              <a:tblGrid>
                <a:gridCol w="2959100"/>
                <a:gridCol w="477520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위험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"주문한다"에서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ASI01 목표 가로채기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연동 규격 문서에 숨은 지시가 섞여 들어온다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ASI02 도구 오용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테스트를 지우거나 실제 결제 시스템을 부른다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ASI03 신원·권한 남용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비밀 키를 읽고 사람의 자격으로 원격 저장소에 쓴다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ASI09 사람·에이전트 신뢰 악용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기대값을 고쳐 통과시키고 완료라고 보고한다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ASI04 공급망 취약점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새 의존성은 사람이 미리 받아 둔 것만 쓴다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ASI05 예상치 못한 코드 실행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빌드가 샌드박스 안에서만 돈다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ASI06 메모리·맥락 오염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맥락 파일은 사람이 쓰고 에이전트는 고치지 않는다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ASI07 안전하지 않은 에이전트 간 통신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에이전트가 하나여서 통신이 없다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ASI08 연쇄 실패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잘못된 주문 금액이 결제·배송까지 번진다 — 수용 테스트가 잡는다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ASI10 통제를 벗어난 에이전트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같은 실패 3회에서 멈추고 사람에게 묻는다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1038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에이전트의 위험은 모델이 틀린 답을 내는 데서 오지 않고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행동할 수 있다는 데서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온다. 열 가지 중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목표 가로채기·도구 오용·신원 남용·신뢰 악용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넷이 "주문한다"에서 일어난다.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- 5 -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2087880"/>
            <a:ext cx="8412480" cy="22225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에이전트의 위험 10가지 (OWASP, 2025)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주문한다의 위험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03. 위험의 식별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08. 실행 제약과 가드레일의 역할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1013016" y="2112010"/>
          <a:ext cx="7104380" cy="3873500"/>
        </p:xfrm>
        <a:graphic>
          <a:graphicData uri="http://schemas.openxmlformats.org/drawingml/2006/table">
            <a:tbl>
              <a:tblPr/>
              <a:tblGrid>
                <a:gridCol w="2037080"/>
                <a:gridCol w="889000"/>
                <a:gridCol w="889000"/>
                <a:gridCol w="2400300"/>
                <a:gridCol w="88900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"주문한다"의 위험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목록에서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확률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크기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등급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비밀 키·연동 설정 유출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ASI03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낮다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매우 크다 — 되돌릴 수 없다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높음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실제 결제 시스템 호출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ASI02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중간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크다 — 고객의 돈이 움직인다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높음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테스트 비활성화·삭제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ASI02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높다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중간 — 완료의 증거가 사라진다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높음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숨은 지시가 섞인 문서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ASI01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낮다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크다 — 앞의 셋을 불러온다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높음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기대값 변경 후 완료 보고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ASI09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중간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중간 — 수용 기준이 흔들린다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중간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원격 저장소 반영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ASI03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낮다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크다 — 남이 받는다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중간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78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그 넷이 "주문한다"에서 하는 일은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여섯 가지 위험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이다. 등급은 확률이 아니라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되돌릴 수 있는가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가 가른다.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- 6 -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1813560"/>
            <a:ext cx="8412480" cy="22225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"주문한다"의 위험과 등급</a:t>
            </a:r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4356610"/>
            <a:ext cx="8412480" cy="16925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가장 자주 일어나는 테스트 삭제와 거의 일어나지 않는 비밀 키 유출이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같은 높음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이다. 확률이 아니라 되돌릴 수 있는지가 둘을 같은 자리에 놓았다.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높음 넷은 환경과 도구가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거절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하게 만들고, 중간 둘은 쓰기 범위를 좁히고 자격을 주지 않는 것으로 다룬다.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세 능력이 모일 때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04. 치명적 삼박자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- 7 -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08. 실행 제약과 가드레일의 역할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에이전트는 읽은 문서의 문장과 사람이 준 지시를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구분하지 못한다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. 그래서 아래 세 능력이 한자리에 모이면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(치명적 삼박자, lethal trifecta)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문서에 심어 둔 한 줄이 비밀 키를 밖으로 보내는 명령이 된다.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"에이전트가 이 세 가지 기능을 함께 가지면 공격자는 에이전트를 손쉽게 속여 비공개 데이터에 접근하게 하고 그것을 자기에게 보내게 만들 수 있다"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"If your agent combines these three features, an attacker can easily trick it into accessing your private data and sending it to that attacker"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[Willison 2025a]</a:t>
            </a:r>
          </a:p>
          <a:p>
            <a:pPr lvl="3" marL="1077913" indent="-354013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"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비공개 데이터 접근 — 애초에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도구를 쓰는 가장 흔한 목적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이다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"Access to your private data — one of the most common purposes of tools in the first place"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[Willison 2025a]</a:t>
            </a:r>
          </a:p>
          <a:p>
            <a:pPr lvl="3" marL="1077913" indent="-354013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"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신뢰할 수 없는 내용에의 노출 — 공격자가 통제하는 텍스트나 이미지가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LLM에 닿을 수 있는 모든 경로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다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"Exposure to untrusted content — any mechanism by which text (or images) controlled by a malicious attacker could become available to your LLM"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[Willison 2025a]</a:t>
            </a:r>
          </a:p>
          <a:p>
            <a:pPr lvl="3" marL="1077913" indent="-354013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"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"데이터를 빼내는 데 쓰일 수 있는 외부 전송 능력"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"The ability to externally communicate in a way that could be used to steal your data"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[Willison 2025a]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"주문한다"에도 셋이 다 있다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비밀 키와 연동 설정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(데이터)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, 결제·배송 시스템이 공개한 연동 규격 문서와 새 의존 패키지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(신뢰할 수 없는 내용)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, 결제 시스템 호출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(전송)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이다. 특별한 설정이 아니라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기본 상태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가 이미 셋이다.</a:t>
            </a:r>
          </a:p>
        </p:txBody>
      </p:sp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막을 수 없다는 전제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04. 치명적 삼박자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08. 실행 제약과 가드레일의 역할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517715" y="3137246"/>
          <a:ext cx="8094980" cy="3873500"/>
        </p:xfrm>
        <a:graphic>
          <a:graphicData uri="http://schemas.openxmlformats.org/drawingml/2006/table">
            <a:tbl>
              <a:tblPr/>
              <a:tblGrid>
                <a:gridCol w="1673860"/>
                <a:gridCol w="2232660"/>
                <a:gridCol w="418846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능력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끊는 방법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"주문한다"에서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비공개 데이터 접근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읽을 범위를 좁힌다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비밀 키·연동 설정을 작업 공간 밖에 둔다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신뢰할 수 없는 내용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사람이 확인한 사본만 준다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결제 연동 규격은 사람이 저장소에 넣어 둔 문서만 읽는다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외부 전송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밖으로 나가는 통신을 막는다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결제는 테스트 대역만, 외부 호출은 환경이 거절한다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1879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세 능력이 모인 상태에서 주입을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확실히 막는 방법은 없다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. 그래서 방어는 "막는다"가 아니라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고리 하나를 끊는다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가 된다.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"이것이 일어나는 것을 100% 확실하게 막는 방법은 아직 알지 못한다"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"we still don't know how to 100% reliably prevent this from happening"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[Willison 2025a]</a:t>
            </a:r>
          </a:p>
          <a:p>
            <a:pPr lvl="3" marL="1077913" indent="-354013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"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"웹 애플리케이션 보안에서 95%는 분명히 낙제 점수다"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"In web application security 95% is very much a failing grade"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[Willison 2025a]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- 8 -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2838796"/>
            <a:ext cx="8412480" cy="22225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세 능력을 끊는 자리</a:t>
            </a:r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4517846"/>
            <a:ext cx="8412480" cy="1038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셋 중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하나만 끊어도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삼박자가 성립하지 않는다. "주문한다"가 끊는 고리는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전송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이다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읽을 범위와 문서는 사람이 계속 관리해야 유지되지만, 통신은 기계가 막는다.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겹으로 쌓는다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05. 가드레일의 자리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- 9 -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08. 실행 제약과 가드레일의 역할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960120"/>
            <a:ext cx="8412480" cy="2788920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가드레일은 한 자리에서 다 막지 못한다. 과제가 들어와 커밋으로 나가는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경로 위 네 지점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에 나누어 두고 겹치게 한다.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가드레일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하나로는 충분한 보호가 되기 어려우므로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여러 전문화된 가드레일을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겹으로 쌓아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더 견고한 에이전트를 만든다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"Think of guardrails as a layered defense mechanism. While a single one is unlikely to provide sufficient protection, using multiple, specialized guardrails together creates more resilient agents.", [OpenAI 2025]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입력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함께 읽는 문서에서 지시처럼 보이는 문장을 걸러낸다.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도구 호출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위험 등급으로 가른다. 읽기는 통과, 쓰기는 범위 안, 외부 호출은 거절이다.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출력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커밋 전에 비밀 키나 기대값 변경이 섞였는지 본다.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환경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검사 셋을 감싼다. 검사를 빠져나간 행동도 여기서 막힌다.</a:t>
            </a:r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4512148"/>
            <a:ext cx="8412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가드레일의 네 자리</a:t>
            </a:r>
          </a:p>
        </p:txBody>
      </p:sp>
      <p:pic>
        <p:nvPicPr>
          <p:cNvPr id="10" name="mermaid Diagram 1"/>
          <p:cNvPicPr>
            <a:picLocks noChangeAspect="1"/>
          </p:cNvPicPr>
          <p:nvPr/>
        </p:nvPicPr>
        <p:blipFill>
          <a:blip r:embed="mermaidImage1"/>
          <a:stretch>
            <a:fillRect/>
          </a:stretch>
        </p:blipFill>
        <p:spPr>
          <a:xfrm>
            <a:off x="1460500" y="4749892"/>
            <a:ext cx="6223000" cy="12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계산적 강제와 지시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05. 가드레일의 자리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08. 실행 제약과 가드레일의 역할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992696" y="2112010"/>
          <a:ext cx="7145020" cy="3873500"/>
        </p:xfrm>
        <a:graphic>
          <a:graphicData uri="http://schemas.openxmlformats.org/drawingml/2006/table">
            <a:tbl>
              <a:tblPr/>
              <a:tblGrid>
                <a:gridCol w="2092960"/>
                <a:gridCol w="2316480"/>
                <a:gridCol w="273558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규칙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프롬프트의 지시로 두면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환경·도구로 강제하면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테스트를 바꾸지 않는다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막혔을 때 기대값을 고친다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테스트 파일 쓰기가 거절된다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실제 결제를 부르지 않는다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대역 대신 실제 주소를 적는다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밖으로 나가는 통신이 막혀 실패한다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비밀 키를 읽지 않는다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찾다가 읽어 맥락에 남는다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파일이 보이지 않아 읽을 수 없다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78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위임 계약이 금지로 적은 세 규칙은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프롬프트에만 있으면 어겨진다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. 같은 규칙을 환경·도구에 걸면 어길 경로가 사라진다.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- 10 -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1813560"/>
            <a:ext cx="8412480" cy="22225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같은 규칙을 지시로 둘 때와 강제로 둘 때</a:t>
            </a:r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3492610"/>
            <a:ext cx="8412480" cy="2089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강제할 수 있는 규칙은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기계가 판정할 수 있는 것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이다. 파일 경로와 네트워크 주소, 자격은 판정되지만 업무 규칙의 해석은 판정되지 않는다.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판정되지 않는 규칙은 멈출 조건으로 남겨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에이전트가 묻게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한다. 그 자리에서는 프롬프트의 문장이 유일한 수단이다.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거절된 호출은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기록으로 남긴다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. 기록이 없으면 에이전트가 막힌 뒤 다른 길로 돌아간 것도 보이지 않는다.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피해 범위를 끊는다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06. 환경의 경계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- 11 -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08. 실행 제약과 가드레일의 역할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가드레일이 뚫려도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번지는 범위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는 미리 좁혀 둘 수 있다. 그 범위를 피해 범위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(blast radius)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라 하고, 에이전트가 쓰는 환경의 경계가 그것을 정한다.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"공학의 질문은 피해 범위를 어떻게 제한하는가가 된다"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"The engineering question becomes how to cap the blast radius"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[Anthropic 2026c]</a:t>
            </a:r>
          </a:p>
          <a:p>
            <a:pPr lvl="3" marL="1077913" indent="-354013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"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프로세스 샌드박스, 가상 머신, 파일 시스템 경계, 외부 전송 통제로 에이전트가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어디서 무엇을 할 수 있는지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를 제약한다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"We constrain where and how an agent can act with process sandboxes, VMs, filesystem boundaries, and egress controls"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[Anthropic 2026c]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끊는 자리는 프로세스·파일 시스템·네트워크·자격 넷이다. "주문한다"는 가상 머신까지 가지 않고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파일 시스템·네트워크·자격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셋으로 끊는다.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작업 공간 안의 변경은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되돌리기 쉽다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. 그 안에서는 승인 없이 일하게 두고, 밖으로 나가는 길만 막는다.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읽고 쓸 범위는 과제의 크기에 맞춘다. 저장소 전체를 쓰게 열어 주면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경계가 없는 것과 같다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샌드박스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06. 환경의 경계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08. 실행 제약과 가드레일의 역할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2083626" y="2898948"/>
          <a:ext cx="4963160" cy="3873500"/>
        </p:xfrm>
        <a:graphic>
          <a:graphicData uri="http://schemas.openxmlformats.org/drawingml/2006/table">
            <a:tbl>
              <a:tblPr/>
              <a:tblGrid>
                <a:gridCol w="889000"/>
                <a:gridCol w="1450340"/>
                <a:gridCol w="262382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자원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기본값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예외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읽기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저장소 안은 허용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비밀 키·연동 설정은 작업 공간 밖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쓰기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작업 공간 안만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기대값·의존 규칙 파일은 금지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네트워크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차단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없음 — 결제는 테스트 대역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15874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샌드박스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(sandbox)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는 에이전트가 쓸 수 있는 자원을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미리 좁혀 둔 실행 환경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이다. "주문한다"는 읽기·쓰기·네트워크에 기본값을 두고 꼭 필요한 것만 예외로 연다.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"샌드박스는 선택적인 추가 장치가 아니라 합리적인 기본값으로 본다"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"We see sandboxing as a sensible default rather than an optional enhancement"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[Thoughtworks 2026]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- 12 -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2600498"/>
            <a:ext cx="8412480" cy="22225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"주문한다"의 샌드박스 기본값</a:t>
            </a:r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4279548"/>
            <a:ext cx="8412480" cy="1435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기본값이 거절이면 사람에게 물을 일도 준다. 환경 제약으로 바꾼 뒤 권한 요청이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84% 줄었다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(Anthropic 자사 코딩 도구)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네트워크를 닫으면 의존성 받기와 규격 조회가 막힌다. 그 둘은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사람이 미리 받아 둔다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배치의 그림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07. 주문한다의 가드레일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- 13 -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08. 실행 제약과 가드레일의 역할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960120"/>
            <a:ext cx="8412480" cy="2499360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"주문한다"는 네 자리 중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입력·도구 호출·환경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셋에 가드레일을 두고, 출력에는 커밋 전 검사 하나만 둔다.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입력의 검사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결제 시스템이 공개한 연동 규격을 에이전트가 직접 가져오지 않는다. 사람이 받아 저장소에 넣어 둔 규격 문서만 읽는다.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도구 호출의 검사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쓰기는 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order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패키지와 테스트 코드만, 외부 호출은 결제 테스트 대역만 통과한다.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환경의 테두리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네트워크가 닫혀 있고 원격 반영의 자격이 없다. 검사를 지나친 호출도 연결되지 않는다.</a:t>
            </a:r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3761232"/>
            <a:ext cx="8412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"주문한다"의 가드레일 배치</a:t>
            </a:r>
          </a:p>
        </p:txBody>
      </p:sp>
      <p:pic>
        <p:nvPicPr>
          <p:cNvPr id="10" name="mermaid Diagram 2"/>
          <p:cNvPicPr>
            <a:picLocks noChangeAspect="1"/>
          </p:cNvPicPr>
          <p:nvPr/>
        </p:nvPicPr>
        <p:blipFill>
          <a:blip r:embed="mermaidImage2"/>
          <a:stretch>
            <a:fillRect/>
          </a:stretch>
        </p:blipFill>
        <p:spPr>
          <a:xfrm>
            <a:off x="1460500" y="3998976"/>
            <a:ext cx="6223000" cy="2055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배치표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07. 주문한다의 가드레일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08. 실행 제약과 가드레일의 역할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546926" y="2112010"/>
          <a:ext cx="8036560" cy="3873500"/>
        </p:xfrm>
        <a:graphic>
          <a:graphicData uri="http://schemas.openxmlformats.org/drawingml/2006/table">
            <a:tbl>
              <a:tblPr/>
              <a:tblGrid>
                <a:gridCol w="2037080"/>
                <a:gridCol w="1310640"/>
                <a:gridCol w="2819400"/>
                <a:gridCol w="186944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위험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자리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방식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어긋나면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비밀 키·연동 설정 유출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환경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작업 공간 밖에 두고 읽기에서 뺀다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파일이 보이지 않는다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실제 결제 시스템 호출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환경·도구 호출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네트워크 차단, 결제는 테스트 대역만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호출이 연결되지 않는다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테스트 비활성화·삭제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도구 호출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테스트 파일은 쓰기 금지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쓰기가 거절된다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숨은 지시가 섞인 문서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입력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저장소에 넣어 둔 규격 문서만 읽힌다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원문에 닿지 못한다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기대값 변경 후 완료 보고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도구 호출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쓰기는 order와 테스트 코드만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쓰기가 거절된다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원격 저장소 반영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환경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자격을 주지 않는다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인증이 없어 실패한다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78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앞의 여섯 위험을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자리와 방식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으로 옮긴다. 어긋났을 때 무엇이 일어나는지까지 적어야 세운 것이 실제로 막는지 확인할 수 있다.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- 14 -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1813560"/>
            <a:ext cx="8412480" cy="22225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"주문한다"의 위험별 가드레일</a:t>
            </a:r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4356610"/>
            <a:ext cx="8412480" cy="16925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표에 못 들어간 것도 있다. "명세에 없는 업무 규칙을 정해야 할 때"는 기계가 판정할 수 없어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멈출 조건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으로 남고, 에이전트가 멈추고 사람에게 묻는다.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여섯을 환경과 도구가 거절해 주는 덕분에, 사람이 보는 자리는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계획·결제 관련 변경·병합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셋으로 줄었다.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모든 검사를 프롬프트에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08. 잘못된 관행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08. 실행 제약과 가드레일의 역할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1034606" y="2112010"/>
          <a:ext cx="7061200" cy="3873500"/>
        </p:xfrm>
        <a:graphic>
          <a:graphicData uri="http://schemas.openxmlformats.org/drawingml/2006/table">
            <a:tbl>
              <a:tblPr/>
              <a:tblGrid>
                <a:gridCol w="1981200"/>
                <a:gridCol w="2456180"/>
                <a:gridCol w="262382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프롬프트의 문장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어겨지는 모습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옮길 자리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"테스트는 지우지 마"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막히면 기대값부터 고친다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테스트 파일 쓰기 금지(도구 호출)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"실제 결제는 부르지 마"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대역 주소를 실제 주소로 바꾼다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네트워크 차단(환경)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"비밀 키는 보지 마"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찾다가 읽어 맥락에 남는다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작업 공간 밖에 둔다(환경)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78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프롬프트에 적은 금지는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읽히기를 바라는 글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이다. 자주 적는 세 문장은 막힌 에이전트 앞에서 모두 깨지고, 셋 다 옮겨 둘 자리가 있다.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- 15 -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1813560"/>
            <a:ext cx="8412480" cy="22225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프롬프트에 둔 검사와 옮길 자리</a:t>
            </a:r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3492610"/>
            <a:ext cx="8412480" cy="1435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사고가 날 때마다 금지문이 한 줄씩 쌓인다. 맥락이 길어지면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앞의 지시부터 묻힌다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글로 남길 것은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사람이 정할 결정과 판단의 기준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이다. 기계가 판정할 수 있는 것은 환경·도구로 옮긴다.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가드레일 과신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08. 잘못된 관행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- 16 -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08. 실행 제약과 가드레일의 역할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가드레일을 세우고 나면 결과도 안전하다고 여기기 쉽다.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막는 것과 보는 것은 다르다.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"확률적인 방어에는 놓치는 비율이 0이 아니다"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"Any probabilistic defense has a non-zero miss rate"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[Anthropic 2026c]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가드레일은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금지한 행동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만 막는다. 결과가 틀려도 금지된 행동이 아니어서 그대로 통과하고,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수용 테스트가 실패해야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드러난다.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업무 규칙의 해석이나 설계의 적절성은 가드레일이 판정하지 못한다. 그 자리는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사람의 판단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으로 남는다.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거절이 늘어 에이전트가 더 나아가지 못하면 막은 범위를 다시 본다. 다 막는 것은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아무것도 맡기지 않는 것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과 같다.</a:t>
            </a:r>
          </a:p>
        </p:txBody>
      </p:sp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09. 실습 — 가드레일 배치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- 17 -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08. 실행 제약과 가드레일의 역할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960120"/>
            <a:ext cx="8622792" cy="5352345"/>
          </a:xfrm>
        </p:spPr>
        <p:txBody>
          <a:bodyPr>
            <a:normAutofit/>
          </a:bodyPr>
          <a:lstStyle/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실습 6의 위임 계약과 실습 7의 실행 흐름을 LLM에 제공하여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"신청한다"의 가드레일 배치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를 만들고, 점검 항목으로 피드백하여 완성하십시오.</a:t>
            </a:r>
          </a:p>
          <a:p>
            <a:pPr lvl="2" marL="723900" indent="-36830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투입물</a:t>
            </a:r>
          </a:p>
          <a:p>
            <a:pPr lvl="3" marL="7239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실습 6의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위임 계약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, 실습 7의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실행 흐름과 확인 지점</a:t>
            </a:r>
          </a:p>
          <a:p>
            <a:pPr lvl="2" marL="723900" indent="-36830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프롬프트</a:t>
            </a:r>
          </a:p>
          <a:p>
            <a:pPr lvl="3" marL="7239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① "신청한다 과제의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위험을 확률과 크기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로 적고, 위험마다 가드레일을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입력·도구 호출·출력·환경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중 어디에 어떤 방식으로 둘지 표로 만들어줘."</a:t>
            </a:r>
          </a:p>
          <a:p>
            <a:pPr lvl="3" marL="7239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② "가드레일마다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어긋나면 무엇이 일어나는지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적고, 강제할 수 없어 지시나 멈출 조건으로 남기는 것을 구분해줘."</a:t>
            </a:r>
          </a:p>
          <a:p>
            <a:pPr lvl="2" marL="723900" indent="-36830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점검 항목</a:t>
            </a:r>
          </a:p>
          <a:p>
            <a:pPr lvl="3" marL="947420" indent="-22352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1.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위험의 범위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 모델의 오답이 아니라 </a:t>
            </a: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행동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(쓰기·외부 호출·자격)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이 만드는 위험을 적었는가?</a:t>
            </a:r>
          </a:p>
          <a:p>
            <a:pPr lvl="3" marL="947420" indent="-22352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2.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자리의 명시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 가드레일마다 입력·도구 호출·출력·환경 중 어디인지 적었는가?</a:t>
            </a:r>
          </a:p>
          <a:p>
            <a:pPr lvl="3" marL="947420" indent="-22352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3.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강제와 지시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 기계가 판정할 수 있는 규칙을 프롬프트의 금지문으로 남기지 않았는가?</a:t>
            </a:r>
          </a:p>
          <a:p>
            <a:pPr lvl="3" marL="947420" indent="-22352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4.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삼박자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 비공개 데이터·신뢰할 수 없는 내용·외부 전송 중 </a:t>
            </a: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끊은 고리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가 있는가?</a:t>
            </a:r>
          </a:p>
          <a:p>
            <a:pPr lvl="3" marL="947420" indent="-22352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5.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예방과 탐지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 센서가 할 일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(테스트·의존 규칙 검사)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을 가드레일로 적지 않았는가?</a:t>
            </a:r>
          </a:p>
          <a:p>
            <a:pPr lvl="3" marL="947420" indent="-22352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6.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일이 되는가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 모두 막아서 "신청한다" 개발이 진행되지 못하는 항목은 없는가?</a:t>
            </a:r>
          </a:p>
          <a:p>
            <a:pPr lvl="2" marL="723900" indent="-36830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결과물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"신청한다"의 가드레일 배치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(위험·자리·방식·어긋나면)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. 실습 9의 입력이 됩니다.</a:t>
            </a:r>
          </a:p>
        </p:txBody>
      </p:sp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10. 요약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- 18 -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08. 실행 제약과 가드레일의 역할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가드레일은 지켜 주기를 바라는 글이 아니라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실행 전에 환경과 도구가 거절하는 제약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이다.</a:t>
            </a:r>
          </a:p>
          <a:p>
            <a:pPr marL="34290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가드레일의 핵심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위험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확률과 크기를 합쳐 재고, 허용 수준을 넘는 것만 막는다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에이전트의 위험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모델의 오답이 아니라 행동에서 온다. OWASP의 열 가지에서 과제에 해당하는 것을 골라 과제의 말로 적는다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치명적 삼박자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비공개 데이터·신뢰할 수 없는 내용·외부 전송이 모이면 주입을 막을 수 없다. 고리 하나를 끊는다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네 자리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입력·도구 호출·출력에 검사를 두고, 환경이 그 셋을 감싼다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강제와 지시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기계가 판정할 수 있는 것은 환경·도구로, 판정할 수 없는 것만 글로 남긴다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막는 것과 보는 것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확률적 방어에는 틈이 있다. 가드레일은 센서와 겹쳐 둔다</a:t>
            </a:r>
          </a:p>
          <a:p>
            <a:pPr marL="34290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다음 세션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"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09. 검증 하네스·결과 점검·피드백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"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막는 것으로 끝나지 않는 결과를, 센서가 낸 증거로 받아들일지 판단한다.</a:t>
            </a:r>
          </a:p>
        </p:txBody>
      </p:sp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가드레일 배치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(안)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별첨. 실습 답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별첨: 08. 실행 제약과 가드레일의 역할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412306" y="2386330"/>
          <a:ext cx="8305800" cy="3873500"/>
        </p:xfrm>
        <a:graphic>
          <a:graphicData uri="http://schemas.openxmlformats.org/drawingml/2006/table">
            <a:tbl>
              <a:tblPr/>
              <a:tblGrid>
                <a:gridCol w="2014213"/>
                <a:gridCol w="1167791"/>
                <a:gridCol w="3458110"/>
                <a:gridCol w="1665686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위험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자리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방식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어긋나면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비밀 키·결제 연동 설정 유출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환경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작업 공간 밖에 두고 읽기에서 뺀다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파일이 보이지 않는다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실제 결제 승인 호출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환경·도구 호출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네트워크 차단, 결제는 테스트 대역만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호출이 연결되지 않는다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수용 기준의 기대값 변경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도구 호출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회차 7개·만료일 2월 2일의 기대값 파일은 쓰기 금지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쓰기가 거절된다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숨은 지시가 섞인 문서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입력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배송 연동 규격은 저장소에 넣어 둔 문서만 읽힌다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원문에 닿지 못한다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쓰기 범위 이탈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도구 호출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쓰기는 subscription과 테스트 코드만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쓰기가 거절된다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원격 저장소 반영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환경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자격을 주지 않는다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인증이 없어 실패한다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1038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"신청한다"의 위험도 여섯이고, 막는 자리는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환경에 셋·도구 호출에 둘·입력에 하나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다. 공휴일 규칙처럼 기계가 판정할 수 없는 것만 멈출 조건으로 남는다.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- 19 -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2087880"/>
            <a:ext cx="8412480" cy="22225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"신청한다"의 위험별 가드레일</a:t>
            </a:r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4630930"/>
            <a:ext cx="8412480" cy="1435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끊은 고리는 외부 전송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결제·배송 시스템 호출을 테스트 대역으로 돌리고 밖으로 나가는 통신을 막았다.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출력은 커밋 전 한 번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비밀 키와 기대값 변경이 섞였는지만 본다. 나머지 판정은 센서의 몫이다.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보완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(안)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별첨. 실습 답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- 20 -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별첨: 08. 실행 제약과 가드레일의 역할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172" y="1414318"/>
            <a:ext cx="4338828" cy="4898147"/>
          </a:xfrm>
        </p:spPr>
        <p:txBody>
          <a:bodyPr>
            <a:normAutofit/>
          </a:bodyPr>
          <a:lstStyle/>
          <a:p>
            <a:pPr lvl="2" marL="2286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위임 계약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(실습 6)</a:t>
            </a:r>
          </a:p>
          <a:p>
            <a:pPr lvl="3" marL="4572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"/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금지를 거절로 옮긴다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권한 항목의 "…는 금지한다"를 "환경이 거절한다"로 바꾸고, 어떤 설정이 그렇게 만드는지 한 줄로 적는다.</a:t>
            </a:r>
          </a:p>
          <a:p>
            <a:pPr lvl="3" marL="4572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"/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멈출 조건만 글로 남긴다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공휴일 규칙처럼 판정할 수 없는 것만 계약에 남긴다.</a:t>
            </a:r>
          </a:p>
          <a:p>
            <a:pPr lvl="2" marL="2286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실행 흐름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(실습 7)</a:t>
            </a:r>
          </a:p>
          <a:p>
            <a:pPr lvl="3" marL="4572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"/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환경이 거절하는 자리에는 확인 지점을 두지 않는다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원격 반영은 자격이 없어 실행되지 않으므로, 승인 대신 사람이 실행하는 단계다.</a:t>
            </a:r>
          </a:p>
        </p:txBody>
      </p:sp>
      <p:sp>
        <p:nvSpPr>
          <p:cNvPr id="9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172" y="960120"/>
            <a:ext cx="8778240" cy="454198"/>
          </a:xfrm>
        </p:spPr>
        <p:txBody>
          <a:bodyPr>
            <a:normAutofit/>
          </a:bodyPr>
          <a:lstStyle/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새로 발견한 것은 </a:t>
            </a: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후속 작업에 영향을 미치는 경우에만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 이전 산출물에 반영한다.</a:t>
            </a:r>
          </a:p>
        </p:txBody>
      </p:sp>
      <p:sp>
        <p:nvSpPr>
          <p:cNvPr id="10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0" y="1414318"/>
            <a:ext cx="4439412" cy="4898147"/>
          </a:xfrm>
        </p:spPr>
        <p:txBody>
          <a:bodyPr>
            <a:normAutofit/>
          </a:bodyPr>
          <a:lstStyle/>
          <a:p>
            <a:pPr lvl="2" marL="2286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맥락 패키지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(실습 5)</a:t>
            </a:r>
          </a:p>
          <a:p>
            <a:pPr lvl="3" marL="4572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"/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배치표를 가리킨다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맥락 파일에 가드레일 배치의 자리를 한 줄로 적고, 중복된 금지문은 지운다.</a:t>
            </a:r>
          </a:p>
          <a:p>
            <a:pPr lvl="3" marL="4572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"/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규격 문서의 출처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배송 시스템이 공개한 규격은 사람이 받아 저장소에 넣고, 맥락 파일이 그 문서를 가리킨다.</a:t>
            </a:r>
          </a:p>
          <a:p>
            <a:pPr lvl="2" marL="2286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※ 현행화 기준</a:t>
            </a:r>
          </a:p>
          <a:p>
            <a:pPr lvl="3" marL="4572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"/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반영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계약의 권한 항목과 맥락 파일의 한 줄. 실습 9의 입력이 된다.</a:t>
            </a:r>
          </a:p>
          <a:p>
            <a:pPr lvl="3" marL="4572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"/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기록만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위험과 등급의 표. 배치가 정해진 뒤에는 다시 쓰지 않는다.</a:t>
            </a:r>
          </a:p>
        </p:txBody>
      </p:sp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theme/theme1.xml><?xml version="1.0" encoding="utf-8"?>
<a:theme xmlns:a="http://schemas.openxmlformats.org/drawingml/2006/main" name="4_Office 테마">
  <a:themeElements>
    <a:clrScheme name="태양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/>
      </a:spPr>
      <a:bodyPr lIns="0" rIns="0" rtlCol="0" anchor="ctr"/>
      <a:lstStyle>
        <a:defPPr algn="ctr">
          <a:defRPr sz="1200" b="1" dirty="0" smtClean="0">
            <a:solidFill>
              <a:schemeClr val="bg1"/>
            </a:solidFill>
          </a:defRPr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Macintosh PowerPoint</Application>
  <PresentationFormat>화면 슬라이드 쇼(4:3)</PresentationFormat>
  <Paragraphs>0</Paragraphs>
  <Slides>20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4" baseType="lpstr">
      <vt:lpstr>맑은 고딕</vt:lpstr>
      <vt:lpstr>Arial</vt:lpstr>
      <vt:lpstr>Wingdings</vt:lpstr>
      <vt:lpstr>4_Office 테마</vt:lpstr>
      <vt:lpstr>08. 실행 제약과 가드레일의 역할 목차</vt:lpstr>
      <vt:lpstr>01. 세션 목표</vt:lpstr>
      <vt:lpstr>02. 가드레일이란?</vt:lpstr>
      <vt:lpstr>위험의 어휘 03. 위험의 식별</vt:lpstr>
      <vt:lpstr>에이전트의 위험 목록 03. 위험의 식별</vt:lpstr>
      <vt:lpstr>주문한다의 위험 03. 위험의 식별</vt:lpstr>
      <vt:lpstr>세 능력이 모일 때 04. 치명적 삼박자</vt:lpstr>
      <vt:lpstr>막을 수 없다는 전제 04. 치명적 삼박자</vt:lpstr>
      <vt:lpstr>겹으로 쌓는다 05. 가드레일의 자리</vt:lpstr>
      <vt:lpstr>계산적 강제와 지시 05. 가드레일의 자리</vt:lpstr>
      <vt:lpstr>피해 범위를 끊는다 06. 환경의 경계</vt:lpstr>
      <vt:lpstr>샌드박스 06. 환경의 경계</vt:lpstr>
      <vt:lpstr>배치의 그림 07. 주문한다의 가드레일</vt:lpstr>
      <vt:lpstr>배치표 07. 주문한다의 가드레일</vt:lpstr>
      <vt:lpstr>모든 검사를 프롬프트에 08. 잘못된 관행</vt:lpstr>
      <vt:lpstr>가드레일 과신 08. 잘못된 관행</vt:lpstr>
      <vt:lpstr>09. 실습 — 가드레일 배치</vt:lpstr>
      <vt:lpstr>10. 요약</vt:lpstr>
      <vt:lpstr>가드레일 배치 (안) 별첨. 실습 답</vt:lpstr>
      <vt:lpstr>보완 (안) 별첨. 실습 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08. 실행 제약과 가드레일의 역할</dc:title>
  <dc:creator>Kim YoungSan</dc:creator>
  <cp:lastModifiedBy>Youngon Kim</cp:lastModifiedBy>
  <cp:revision>42</cp:revision>
  <dcterms:created xsi:type="dcterms:W3CDTF">2021-02-25T22:04:20Z</dcterms:created>
  <dcterms:modified xsi:type="dcterms:W3CDTF">2026-09-21T23:10:41Z</dcterms:modified>
</cp:coreProperties>
</file>