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세션에서 실제로 구현을 맡긴다. "세션 07. 설계 — 책임과 협력"의 「10. 작업 단위」가 나눈 첫 단위 금액 확정이 대상이다.</a:t>
            </a:r>
          </a:p>
          <a:p>
            <a:pPr lvl="0"/>
            <a:r>
              <a:rPr lang="ko-KR" sz="1200"/>
              <a:t>기준 원전은 [Anthropic 2024](위임 형태와 확인 지점)와 [Anthropic 2025c](맥락)이며, 위험의 어휘는 [NIST 2023], 실행 시점의 위험은 [OWASP 2025]·[Willison 2025a], 환경의 경계는 [Anthropic 2026c]·[Thoughtworks 2026]으로 받친다.</a:t>
            </a:r>
          </a:p>
          <a:p>
            <a:pPr lvl="0"/>
            <a:r>
              <a:rPr lang="ko-KR" sz="1200"/>
              <a:t>막는 것과 탐지하는 것을 구분한다. 권한으로 미리 막는 것이 이 세션, 검사로 나중에 탐지하는 것이 "세션 09. 검사 파이프라인"이다.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가지의 이름은 과정의 구분이다. 도구·권한·상태를 따로 세는 분류도 있으나, 이 과정은 사람이 적어야 하는 것을 기준으로 넷으로 묶었다.</a:t>
            </a:r>
          </a:p>
          <a:p>
            <a:pPr lvl="0"/>
            <a:r>
              <a:rPr lang="ko-KR" sz="1200"/>
              <a:t>도식의 왼쪽 둘은 입력, 가운데는 실행, 오른쪽은 판정이다. 권한은 화살표가 아니라 에이전트를 감싼 테두리로 그렸다.</a:t>
            </a:r>
          </a:p>
          <a:p>
            <a:pPr lvl="0"/>
            <a:r>
              <a:rPr lang="ko-KR" sz="1200"/>
              <a:t>자율성을 올릴 조건은 "세션 02. LLM이라는 재료"의 「06. 자율성」의 「자율성의 계단」이 정했다. 여기서는 그 계단을 계약으로 적는다.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단위 넷과 완료를 확인할 예는 "세션 07. 설계 — 책임과 협력"의 「10. 작업 단위」의 「주문한다의 작업 단위 넷」에 있다.</a:t>
            </a:r>
          </a:p>
          <a:p>
            <a:pPr lvl="0"/>
            <a:r>
              <a:rPr lang="ko-KR" sz="1200"/>
              <a:t>수용 예의 원천은 "세션 03. 요구와 수용 기준"의 「06. 수용 기준」이다. 위임이 기대값을 새로 만들지 않는다.</a:t>
            </a:r>
          </a:p>
          <a:p>
            <a:pPr lvl="0"/>
            <a:r>
              <a:rPr lang="ko-KR" sz="1200"/>
              <a:t>남은 단위 셋을 맡기는 것은 "세션 11. 종합 실행"이다. 그때는 검사까지 갖춰져 있어 사람이 볼 것이 줄어든다.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[Effective context engineering for AI agents](https://www.anthropic.com/engineering/effective-context-engineering-for-ai-agents), 2025의 시스템 프롬프트 항목 원문 확인. 원문은 지나치게 구체적인 규칙 나열과 지나치게 모호한 지시를 양쪽 실패로 든다.</a:t>
            </a:r>
          </a:p>
          <a:p>
            <a:pPr lvl="0"/>
            <a:r>
              <a:rPr lang="ko-KR" sz="1200"/>
              <a:t>원문의 시스템 프롬프트는 에이전트 제품의 기본 지시를 가리킨다. 이 과정은 그 조언을 한 과제의 작업 지시문에 적용한다.</a:t>
            </a:r>
          </a:p>
          <a:p>
            <a:pPr lvl="0"/>
            <a:r>
              <a:rPr lang="ko-KR" sz="1200"/>
              <a:t>높이를 가늠하는 질문을 던진다 — 이 문장을 지우면 결과가 달라지는가, 아니면 모델이 알아서 하는 일인가.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산출물의 수명 구분은 "세션 03. 요구와 수용 기준"의 「09. 요구사항 정의서와 작업 명세서」가 정했다.</a:t>
            </a:r>
          </a:p>
          <a:p>
            <a:pPr lvl="0"/>
            <a:r>
              <a:rPr lang="ko-KR" sz="1200"/>
              <a:t>모델 패키지의 자리는 저장소 안이다. 폴더 이름은 과정이 정한 것이며, 예를 들면 docs/다.</a:t>
            </a:r>
          </a:p>
          <a:p>
            <a:pPr lvl="0"/>
            <a:r>
              <a:rPr lang="ko-KR" sz="1200"/>
              <a:t>베껴 쓴 지시문의 실패 장면을 하나 든다 — 용어집은 단가로 고쳤는데 지시문에 남은 가격을 에이전트가 필드 이름으로 쓴 경우다.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이것은 지시문의 형식 예시다. 실제 실행은 같은 네 절을 다섯 번의 프롬프트로 나누어 전달했고, 원본은 code/s08/exercise-conversation/order/prompt-01.txt~prompt-05.txt다.</a:t>
            </a:r>
          </a:p>
          <a:p>
            <a:pPr lvl="0"/>
            <a:r>
              <a:rPr lang="ko-KR" sz="1200"/>
              <a:t>네 절의 제목이 위임 계약의 네 가지와 같다. 계약의 빈칸을 찾는 틀로 쓰게 한다.</a:t>
            </a:r>
          </a:p>
          <a:p>
            <a:pPr lvl="0"/>
            <a:r>
              <a:rPr lang="ko-KR" sz="1200"/>
              <a:t>지시문에 업무 규칙을 다시 적지 않았다. 규칙은 요구 문서가 들고 있고 지시문은 이번 단위의 결과만 말한다.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[Effective context engineering for AI agents](https://www.anthropic.com/engineering/effective-context-engineering-for-ai-agents), 2025의 정의 원문 확인. 같은 글은 맥락을 수익이 줄어드는 유한한 자원으로 다루라고 덧붙인다.</a:t>
            </a:r>
          </a:p>
          <a:p>
            <a:pPr lvl="0"/>
            <a:r>
              <a:rPr lang="ko-KR" sz="1200"/>
              <a:t>맥락 창의 한계와 주의 예산은 "세션 02. LLM이라는 재료"의 「02. LLM의 성질」의 「맥락 창의 한계」가 다뤘다. 여기서는 그 한계 안에서 무엇을 고르는지를 정한다.</a:t>
            </a:r>
          </a:p>
          <a:p>
            <a:pPr lvl="0"/>
            <a:r>
              <a:rPr lang="ko-KR" sz="1200"/>
              <a:t>호출마다 맥락이 다시 들어가는 비용은 "세션 02. LLM이라는 재료"의 「03. 비용의 구조」의 「맥락은 호출마다 다시 들어간다」에 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[Harness engineering](https://openai.com/index/harness-engineering/), OpenAI, 2026의 문서 배치 항목 원문 확인(영문판 본문). 가벼운 식별자 인용은 [Anthropic 2025c]의 적시 검색 항목 원문 확인이다.</a:t>
            </a:r>
          </a:p>
          <a:p>
            <a:pPr lvl="0"/>
            <a:r>
              <a:rPr lang="ko-KR" sz="1200"/>
              <a:t>두 원문이 같은 방식을 서로 다른 말로 설명한다. 하나는 문서의 배치, 하나는 참조로 불러오기다.</a:t>
            </a:r>
          </a:p>
          <a:p>
            <a:pPr lvl="0"/>
            <a:r>
              <a:rPr lang="ko-KR" sz="1200"/>
              <a:t>입구 문서를 직접 보여 주고, 표의 한 줄이 "언제 읽나"인 이유를 묻는다 — 에이전트가 고를 근거가 거기 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[Effective harnesses for long-running agents](https://www.anthropic.com/engineering/effective-harnesses-for-long-running-agents), 2025의 세션 단절 항목과 [Anthropic 2025c]의 압축 항목 원문 확인.</a:t>
            </a:r>
          </a:p>
          <a:p>
            <a:pPr lvl="0"/>
            <a:r>
              <a:rPr lang="ko-KR" sz="1200"/>
              <a:t>첫 단위는 한 세션에 끝나므로 압축이 필요 없다. 왜 지금 배우는지 밝힌다 — 남은 단위를 함께 맡기는 "세션 11. 종합 실행"에서 쓰인다.</a:t>
            </a:r>
          </a:p>
          <a:p>
            <a:pPr lvl="0"/>
            <a:r>
              <a:rPr lang="ko-KR" sz="1200"/>
              <a:t>진행 기록의 파일 형식은 정하지 않는다. 기능 목록으로 남기는 예는 "세션 07. 설계 — 책임과 협력"의 「10. 작업 단위」의 「기능 목록과 점진적 진행」에 있다.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[How we contain Claude across products](https://www.anthropic.com/engineering/how-we-contain-claude), 2026의 기본 경계 항목 원문 확인. 원문은 제품의 기본값을 설명한 것이며 모든 환경의 표준이 아니다.</a:t>
            </a:r>
          </a:p>
          <a:p>
            <a:pPr lvl="0"/>
            <a:r>
              <a:rPr lang="ko-KR" sz="1200"/>
              <a:t>최소 권한은 AI 때문에 생긴 원칙이 아니다. 에이전트가 그 원칙을 다시 필요하게 만들었다는 점을 짚는다.</a:t>
            </a:r>
          </a:p>
          <a:p>
            <a:pPr lvl="0"/>
            <a:r>
              <a:rPr lang="ko-KR" sz="1200"/>
              <a:t>실습에서 수강생이 쓰는 코딩 에이전트의 권한 설정은 「08. 빈 저장소에서 시작하기」의 「권한을 설정한다」가 안내한다.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구분은 과정의 결정이다(course-design.md의 「원전 적용 결정」). 가드레일이라는 말은 이 세션에서 한 번 짚고 이후 쓰지 않는다.</a:t>
            </a:r>
          </a:p>
          <a:p>
            <a:pPr lvl="0"/>
            <a:r>
              <a:rPr lang="ko-KR" sz="1200"/>
              <a:t>사람에게는 규칙이지만 에이전트에게는 지켜질 확률이다. 같은 금지가 스무 번 중 한 번 깨지는 것이 문제다.</a:t>
            </a:r>
          </a:p>
          <a:p>
            <a:pPr lvl="0"/>
            <a:r>
              <a:rPr lang="ko-KR" sz="1200"/>
              <a:t>강제로 옮길 수 없는 금지의 예를 묻는다 — "업무 규칙을 바꾸지 마라"는 환경이 판정할 수 없고 검사가 탐지한다.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표가 실제 실행에 쓴 권한이다. 수강생 환경의 설정 파일로 옮기는 방법은 「08. 빈 저장소에서 시작하기」에 있다.</a:t>
            </a:r>
          </a:p>
          <a:p>
            <a:pPr lvl="0"/>
            <a:r>
              <a:rPr lang="ko-KR" sz="1200"/>
              <a:t>커밋 허용은 교육용 선택이다. 팀에 따라 커밋도 사람이 하는 기본값을 둘 수 있다.</a:t>
            </a:r>
          </a:p>
          <a:p>
            <a:pPr lvl="0"/>
            <a:r>
              <a:rPr lang="ko-KR" sz="1200"/>
              <a:t>문서 수정을 막았기 때문에 에이전트가 멈춰 묻는 일이 생긴다. 그 질문이 「09. 맡긴 결과 보기」의 입력이 된다.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[Writing effective tools for AI agents](https://www.anthropic.com/engineering/writing-tools-for-agents), 2025의 도구 정의와 [MCP 2025] 규격의 보안 항목 원문 확인. 규격의 같은 절은 사용자가 어떤 자료와 행동을 허용할지 통제를 유지해야 한다고 적는다.</a:t>
            </a:r>
          </a:p>
          <a:p>
            <a:pPr lvl="0"/>
            <a:r>
              <a:rPr lang="ko-KR" sz="1200"/>
              <a:t>개념까지만 다룬다. 서버를 만드는 방법과 제품별 설정은 범위 밖이다(course-design.md의 「3. 범위와 경계」).</a:t>
            </a:r>
          </a:p>
          <a:p>
            <a:pPr lvl="0"/>
            <a:r>
              <a:rPr lang="ko-KR" sz="1200"/>
              <a:t>도구를 과제의 말로 고르게 한다 — 이번 단위에 티켓 시스템 연결이 필요한지 물으면 답은 아니다.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[NIST 2023] AI RMF 1.0의 위험과 위험 허용 수준 정의 원문 확인. 같은 문서는 위험을 완전히 없애려는 시도가 실제로는 역효과일 수 있다고 적는다.</a:t>
            </a:r>
          </a:p>
          <a:p>
            <a:pPr lvl="0"/>
            <a:r>
              <a:rPr lang="ko-KR" sz="1200"/>
              <a:t>표의 위험은 [OWASP 2025]의 도구 오용·신원과 권한 남용·예기치 않은 코드 실행에 해당한다. 목록을 다 소개하지 않고 과제의 말로 적었다.</a:t>
            </a:r>
          </a:p>
          <a:p>
            <a:pPr lvl="0"/>
            <a:r>
              <a:rPr lang="ko-KR" sz="1200"/>
              <a:t>위험 관리의 조직 체계와 거버넌스는 범위 밖이다. 어휘만 쓴다.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Simon Willison, [The lethal trifecta for AI agents](https://simonwillison.net/2025/Jun/16/the-lethal-trifecta/), 2025 원문 확인. 세 능력의 이름은 원문의 비공개 데이터 접근·신뢰할 수 없는 내용에의 노출·외부 통신 수단이다.</a:t>
            </a:r>
          </a:p>
          <a:p>
            <a:pPr lvl="0"/>
            <a:r>
              <a:rPr lang="ko-KR" sz="1200"/>
              <a:t>셋 중 무엇을 끊을지는 과제가 정한다. 통신을 끊을 수 없는 과제라면 읽히는 내용을 통제한다.</a:t>
            </a:r>
          </a:p>
          <a:p>
            <a:pPr lvl="0"/>
            <a:r>
              <a:rPr lang="ko-KR" sz="1200"/>
              <a:t>실제 고객 데이터를 모델에 보내지 않는 판단은 "세션 10. 비용과 평가"가 운영의 위험으로 다룬다.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[Willison 2025a] 원문 확인. 같은 글은 모델이 내용 속 지시를 따른다는 점과, 웹 보안에서 95%는 낙제점이라는 말을 함께 적는다.</a:t>
            </a:r>
          </a:p>
          <a:p>
            <a:pPr lvl="0"/>
            <a:r>
              <a:rPr lang="ko-KR" sz="1200"/>
              <a:t>주입을 막는 제품 기능을 소개하지 않는다. 이 세션의 답은 권한과 피해 범위다.</a:t>
            </a:r>
          </a:p>
          <a:p>
            <a:pPr lvl="0"/>
            <a:r>
              <a:rPr lang="ko-KR" sz="1200"/>
              <a:t>탐지는 검사의 일이다. 막지 못한 것을 어떻게 알아채는지는 "세션 09. 검사 파이프라인"이 다룬다.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2026c]의 피해 범위 항목과 Thoughtworks, [Technology Radar](https://www.thoughtworks.com/radar), Vol. 34, 2026의 에이전트 샌드박스 실행 항목 원문 확인. Radar의 링은 기법이 업계에서 어느 단계인지 보여 주는 신호로만 쓴다.</a:t>
            </a:r>
          </a:p>
          <a:p>
            <a:pPr lvl="0"/>
            <a:r>
              <a:rPr lang="ko-KR" sz="1200"/>
              <a:t>샌드박스의 구현은 환경마다 다르다. 제품의 설정 이름을 가르치지 않고 무엇을 좁히는지를 가르친다.</a:t>
            </a:r>
          </a:p>
          <a:p>
            <a:pPr lvl="0"/>
            <a:r>
              <a:rPr lang="ko-KR" sz="1200"/>
              <a:t>되돌림을 실제로 해 보게 한다 — 브랜치를 버리면 어디까지 사라지고 무엇이 남는지 묻는다.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미정 둘은 과정 공통 전제가 정한 것이다. 배송 요청 실패는 "세션 11. 종합 실행"에서 거두어진다.</a:t>
            </a:r>
          </a:p>
          <a:p>
            <a:pPr lvl="0"/>
            <a:r>
              <a:rPr lang="ko-KR" sz="1200"/>
              <a:t>상한과 재시도는 「재시도와 상한」이 다룬다. 여기서는 멈춤의 종류만 구분한다.</a:t>
            </a:r>
          </a:p>
          <a:p>
            <a:pPr lvl="0"/>
            <a:r>
              <a:rPr lang="ko-KR" sz="1200"/>
              <a:t>에이전트가 미정을 추측으로 채운 경우를 어떻게 알아채는지 묻는다 — 검사는 녹색일 수 있다.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2024]의 확인 지점 항목, [OpenAI 2025]의 고위험 행동 항목(받은 PDF), [Anthropic 2026c]의 승인 피로 항목 원문 확인.</a:t>
            </a:r>
          </a:p>
          <a:p>
            <a:pPr lvl="0"/>
            <a:r>
              <a:rPr lang="ko-KR" sz="1200"/>
              <a:t>사람의 개입은 흐름 안에 둔 사람의 판단 자리다. [Blount 외 2026]은 걸린 것이 큰 작업에서 그 자리를 의도적인 멈춤으로 설명한다.</a:t>
            </a:r>
          </a:p>
          <a:p>
            <a:pPr lvl="0"/>
            <a:r>
              <a:rPr lang="ko-KR" sz="1200"/>
              <a:t>승인 피로를 수강생의 경험과 잇는다 — 전부 허용으로 바꾼 적이 있는지 묻고, 그때 무엇이 사라졌는지 짚는다.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[Thoughtworks 2026]의 에이전트 워크플로 내구성 항목과 Anthropic, [How we built our multi-agent research system](https://www.anthropic.com/engineering/multi-agent-research-system), 2025의 이어 가기 항목 원문 확인.</a:t>
            </a:r>
          </a:p>
          <a:p>
            <a:pPr lvl="0"/>
            <a:r>
              <a:rPr lang="ko-KR" sz="1200"/>
              <a:t>상한의 값은 과제가 정한다. 이번 단위는 같은 검사의 실패가 세 번 이어지면 멈추게 했다.</a:t>
            </a:r>
          </a:p>
          <a:p>
            <a:pPr lvl="0"/>
            <a:r>
              <a:rPr lang="ko-KR" sz="1200"/>
              <a:t>실패의 원인을 결정으로 되돌리는 일은 "세션 09. 검사 파이프라인"과 "세션 11. 종합 실행"이 맡는다. 여기서는 멈추고 남기는 것까지다.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01. 사람의 일과 AI의 일"의 「08. 실습 환경 준비」에서 저장소와 문서 폴더를 이미 만들었다. 여기서는 브랜치와 빌드 구성부터다.</a:t>
            </a:r>
          </a:p>
          <a:p>
            <a:pPr lvl="0"/>
            <a:r>
              <a:rPr lang="ko-KR" sz="1200"/>
              <a:t>Gradle로 묶는 검사 명령은 "세션 09. 검사 파이프라인"에서 만든다. 지금은 컴파일과 테스트가 도는 것까지다.</a:t>
            </a:r>
          </a:p>
          <a:p>
            <a:pPr lvl="0"/>
            <a:r>
              <a:rPr lang="ko-KR" sz="1200"/>
              <a:t>강의 저장소의 예제는 javac로 실행했다. 빌드 도구로 묶는 전환이 09의 작업이기 때문이다.</a:t>
            </a:r>
          </a:p>
          <a:p>
            <a:pPr lvl="0"/>
            <a:r>
              <a:rPr lang="ko-KR" sz="1200"/>
              <a:t>실습실에서 내려받기가 막히면 강사가 준비한 사본으로 바꾼다. 사내망에서 막히는 경우가 많으니 첫날에 확인하게 안내하고, 사본으로 바꿨다는 사실을 수강생이 알고 있어야 한다.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2026-10 기준으로 Claude Code는 .claude/settings.json의 permissions.allow·permissions.deny에 적는다. 제품 안내로 다시 확인한다.</a:t>
            </a:r>
          </a:p>
          <a:p>
            <a:pPr lvl="0"/>
            <a:r>
              <a:rPr lang="ko-KR" sz="1200"/>
              <a:t>설정의 문법을 가르치지 않는다. 무엇을 열고 무엇을 닫는지가 학습 내용이다.</a:t>
            </a:r>
          </a:p>
          <a:p>
            <a:pPr lvl="0"/>
            <a:r>
              <a:rPr lang="ko-KR" sz="1200"/>
              <a:t>전부 허용으로 두고 실습하지 않게 한다. 거절되는 경험이 이 세션의 핵심이다.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[Blount 외 2026] Introduction to Agents(받은 PDF)의 관측 가능성 항목 원문 확인.</a:t>
            </a:r>
          </a:p>
          <a:p>
            <a:pPr lvl="0"/>
            <a:r>
              <a:rPr lang="ko-KR" sz="1200"/>
              <a:t>실제 실행의 추적은 code/s08/exercise-conversation/order/codex-events-01.jsonl~05에 있다. 읽은 문서와 실행한 명령, 거절된 행동이 그 기록에서 나왔다.</a:t>
            </a:r>
          </a:p>
          <a:p>
            <a:pPr lvl="0"/>
            <a:r>
              <a:rPr lang="ko-KR" sz="1200"/>
              <a:t>추적을 보는 법을 시연한다 — 처음부터 읽지 않고 거절과 실패 줄부터 찾는다.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원본은 code/s08/exercise-conversation/order/주문한다-위임기록.md의 「거절된 행동과 멈춘 질문」이다. 명령과 출력은 실행 기록 그대로다.</a:t>
            </a:r>
          </a:p>
          <a:p>
            <a:pPr lvl="0"/>
            <a:r>
              <a:rPr lang="ko-KR" sz="1200"/>
              <a:t>코딩 에이전트의 샌드박스는 .git을 기본으로 보호한다. 커밋을 맡기려면 그 보호를 푸는 설정이 따로 필요하다는 것을 이 실행이 보여 준다.</a:t>
            </a:r>
          </a:p>
          <a:p>
            <a:pPr lvl="0"/>
            <a:r>
              <a:rPr lang="ko-KR" sz="1200"/>
              <a:t>모델에 되돌릴 것 — 계약에는 저장소 밖 쓰기 금지가 있었지만 환경 설정에는 그 자리가 없었다. 설정 파일에 그 경계를 더한다.</a:t>
            </a:r>
          </a:p>
          <a:p>
            <a:pPr lvl="0"/>
            <a:r>
              <a:rPr lang="ko-KR" sz="1200"/>
              <a:t>통과한 쓰기를 수강생이 직접 되돌리게 한다. 되돌릴 수 없는 자리를 만드는 것이 왜 위험한지 여기서 짚는다.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원본은 code/s08/delegation/src/main/java/order/OrderApplicationService.java이며 node courses/ai-native/sessions/code/s08/delegation/run.mjs로 컴파일과 검사를 확인했다. 슬라이드는 금액 확정 부분의 발췌다.</a:t>
            </a:r>
          </a:p>
          <a:p>
            <a:pPr lvl="0"/>
            <a:r>
              <a:rPr lang="ko-KR" sz="1200"/>
              <a:t>실행이 돌려준 OrderStatus는 첫 단위가 쓰는 둘만 선언했다. 예제 원본은 관통 사례의 상태 넷(PENDING_PAYMENT, PAID, IN_DELIVERY, DELIVERED)을 유지하도록 채웠다. 값이 줄면 다음 세션이 같은 이름을 다른 뜻으로 쓴다 — 이것도 결과 검토에서 찾을 자리다.</a:t>
            </a:r>
          </a:p>
          <a:p>
            <a:pPr lvl="0"/>
            <a:r>
              <a:rPr lang="ko-KR" sz="1200"/>
              <a:t>설계 시퀀스는 "세션 07. 설계 — 책임과 협력"의 「04. 협력과 인터페이스」의 「설계 시퀀스」와 같은 표기다. 그 세션이 그린 것은 결제한다 장면이다.</a:t>
            </a:r>
          </a:p>
          <a:p>
            <a:pPr lvl="0"/>
            <a:r>
              <a:rPr lang="ko-KR" sz="1200"/>
              <a:t>모델에 되돌릴 것 — 주문 요청 항목(OrderItemRequest)을 영한 용어집에 더한다. 확정 항목(PricedOrderItem)과 금액(Money)은 설계의 인터페이스 절이 이미 이름을 정했다.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2025d]의 긴 작업 하네스 항목 원문 확인. 원문은 그 경향을 막으려고 검사를 환경에 넣은 사례를 설명한다.</a:t>
            </a:r>
          </a:p>
          <a:p>
            <a:pPr lvl="0"/>
            <a:r>
              <a:rPr lang="ko-KR" sz="1200"/>
              <a:t>완료의 정의는 "세션 07. 설계 — 책임과 협력"의 「10. 작업 단위」의 「완료의 정의와 증거」가 정했다. 위임이 기준을 새로 만들지 않는다.</a:t>
            </a:r>
          </a:p>
          <a:p>
            <a:pPr lvl="0"/>
            <a:r>
              <a:rPr lang="ko-KR" sz="1200"/>
              <a:t>증거를 명령 하나로 모으는 일은 "세션 09. 검사 파이프라인"이다. 지금은 사람이 네 줄을 확인했다.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2025c]의 지시 작성 항목 원문 확인. 원문은 그렇게 쓴 프롬프트가 유지되지 않는다는 점을 함께 적는다.</a:t>
            </a:r>
          </a:p>
          <a:p>
            <a:pPr lvl="0"/>
            <a:r>
              <a:rPr lang="ko-KR" sz="1200"/>
              <a:t>긴 지시문을 보여 주고 세 줄로 줄일 곳을 찾게 한다 — 검사로 옮길 것, 권한으로 옮길 것, 산출물이 이미 든 것.</a:t>
            </a:r>
          </a:p>
          <a:p>
            <a:pPr lvl="0"/>
            <a:r>
              <a:rPr lang="ko-KR" sz="1200"/>
              <a:t>지시문의 길이 자체가 기준은 아니다. 기준은 그 문장이 결과를 바꾸는가다.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연결을 기본값으로 늘리는 관행은 [Thoughtworks 2026]이 주의 신호로 다룬다. 연결마다 늘어나는 것은 권한과 읽히는 내용이다.</a:t>
            </a:r>
          </a:p>
          <a:p>
            <a:pPr lvl="0"/>
            <a:r>
              <a:rPr lang="ko-KR" sz="1200"/>
              <a:t>승인 피로가 전부 허용으로 이어지는 길을 「07. 종료 조건과 확인 지점」의 「되돌리기 어려운 자리」와 이어 설명한다.</a:t>
            </a:r>
          </a:p>
          <a:p>
            <a:pPr lvl="0"/>
            <a:r>
              <a:rPr lang="ko-KR" sz="1200"/>
              <a:t>수강생의 현재 설정을 떠올리게 한다. 무엇이 켜져 있고 왜 켰는지 답하지 못하면 그것이 이 관행이다.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강사의 실제 실행 기록은 code/s08/exercise-conversation/order/에 있고, 별첨은 마지막 응답이 만든 주문한다-위임기록.md에서 발췌했다. 구현 원본은 code/s08/delegation/이다.</a:t>
            </a:r>
          </a:p>
          <a:p>
            <a:pPr lvl="0"/>
            <a:r>
              <a:rPr lang="ko-KR" sz="1200"/>
              <a:t>수강생의 작업 단위가 강의와 달라도 된다. 자기 설계가 나눈 첫 단위를 맡기는지, 그 단위의 수용 예를 종료 조건으로 썼는지를 본다.</a:t>
            </a:r>
          </a:p>
          <a:p>
            <a:pPr lvl="0"/>
            <a:r>
              <a:rPr lang="ko-KR" sz="1200"/>
              <a:t>내려받기가 막혀 빌드 구성이 끝나지 않으면 컴파일과 테스트를 javac로 돌리고 그 사실을 기록에 적게 한다.</a:t>
            </a:r>
          </a:p>
          <a:p>
            <a:pPr lvl="0"/>
            <a:r>
              <a:rPr lang="ko-KR" sz="1200"/>
              <a:t>전부 허용으로 실습하면 거절되는 경험이 없다. 설정을 먼저 적고, 시도해 확인하게 한다.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산출물은 위임 계약과 돌아온 구현 코드, 실행 기록이다. 저장소의 작업 브랜치에 커밋으로 남는다.</a:t>
            </a:r>
          </a:p>
          <a:p>
            <a:pPr lvl="0"/>
            <a:r>
              <a:rPr lang="ko-KR" sz="1200"/>
              <a:t>모델에서 보완된 것 — 금지해야 할 외부 호출이 외부 연동 규격에 명시되고, 주문 요청 항목과 주문한다가 영한 용어집에 올랐다.</a:t>
            </a:r>
          </a:p>
          <a:p>
            <a:pPr lvl="0"/>
            <a:r>
              <a:rPr lang="ko-KR" sz="1200"/>
              <a:t>다음 세션은 이 단위의 검사를 명령 하나로 묶는다. 사람이 네 줄을 확인한 자리가 그 명령으로 바뀐다.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최종 응답 주문한다-위임기록.md의 전문이다. 문장과 번호를 편집하지 않았다. 「검사 출력」은 명령과 출력 두 블록을 한 블록으로 이어 붙이고 명령:·출력: 표시 줄만 뺐다. 「거절된 행동과 멈춘 질문」은 코드 블록이 있는 저장소 밖 쓰기 항목을 앞에 모으고 질문 항목을 뒤로 옮겨 순서만 바꿨다.</a:t>
            </a:r>
          </a:p>
          <a:p>
            <a:pPr lvl="0"/>
            <a:r>
              <a:rPr lang="ko-KR" sz="1200"/>
              <a:t>네 항목은 이 세션의 네 가지와 대응한다 — 1은 지시문과 맥락, 2는 종료 조건, 3은 범위, 4는 권한이다. 계약을 네 절로 쓰지 않아도 네 가지가 다 들어 있는지 본다.</a:t>
            </a:r>
          </a:p>
          <a:p>
            <a:pPr lvl="0"/>
            <a:r>
              <a:rPr lang="ko-KR" sz="1200"/>
              <a:t>4의 "저장소 밖 쓰기는 금지됐다"가 실제로 지켜졌는지는 별첨의 「거절된 행동과 멈춘 질문」이 답한다.</a:t>
            </a:r>
          </a:p>
          <a:p>
            <a:pPr lvl="0"/>
            <a:r>
              <a:rPr lang="ko-KR" sz="1200"/>
              <a:t>「만든 파일」에서 패키지 골격 항목(.gitkeep)을 뺀 발췌다. 나머지는 문장 그대로다. 첫 단위의 결과가 업무 코드·포트 선언·테스트 셋으로 나뉜다. 포트는 선언뿐이고 어댑터는 없다. 파일 목록이 곧 범위다. 목록에 없는 파일이 작업 트리에 있으면 범위를 넘은 것이다.</a:t>
            </a:r>
          </a:p>
          <a:p>
            <a:pPr lvl="0"/>
            <a:r>
              <a:rPr lang="ko-KR" sz="1200"/>
              <a:t>세 줄이 모두 실행 출력이다. 주장과 증거를 구분하는 자리를 수강생과 확인한다. jdeps는 의존 규칙 검사의 대체가 아니다. 빌드 도구가 없어 컴파일된 클래스의 의존만 확인한 것이다.</a:t>
            </a:r>
          </a:p>
          <a:p>
            <a:pPr lvl="0"/>
            <a:r>
              <a:rPr lang="ko-KR" sz="1200"/>
              <a:t>앞의 두 결과가 반대 방향이다. 허용으로 적은 커밋은 환경이 막았고, 금지로 적은 저장소 밖 쓰기는 통과했다. 수강생에게 묻는다 — 이 실행에서 금지를 막은 것은 무엇인가? 답은 "아무것도 막지 않았다"다.</a:t>
            </a:r>
          </a:p>
          <a:p>
            <a:pPr lvl="0"/>
            <a:r>
              <a:rPr lang="ko-KR" sz="1200"/>
              <a:t>미정 둘을 그대로 남긴 것이 마지막 항목의 핵심이다. 추측으로 채운 답과 비교해 보게 한다. 질문을 남겼는지와 구현하지 않았는지를 함께 본다 — 질문만 하고 코드에 기대값을 넣으면 멈춘 것이 아니다.</a:t>
            </a:r>
          </a:p>
          <a:p>
            <a:pPr lvl="0"/>
            <a:r>
              <a:rPr lang="ko-KR" sz="1200"/>
              <a:t>실제로 실행한 프롬프트 — 아래가 이 별첨을 만든 입력 그대로다. 본문 실습의 ①~⑤는 수강생용 문구이고, 실제 실행은 앞 응답을 읽고 답한 내용이 붙어 길다. 원본은 code/s08/exercise-conversation/order/prompt-NN.txt다.</a:t>
            </a:r>
          </a:p>
          <a:p>
            <a:pPr lvl="1"/>
            <a:r>
              <a:rPr lang="ko-KR" sz="1200"/>
              <a:t>1. 실제 프롬프트 1</a:t>
            </a:r>
          </a:p>
          <a:p>
            <a:pPr lvl="0">
              <a:buNone/>
            </a:pPr>
            <a:r>
              <a:rPr lang="ko-KR" sz="1200"/>
              <a:t>    자바 17로 빌드되는 프로젝트 골격과 빌드 구성을 만들어라. 패키지는 내 의존 규칙 문서를 따르고, 테스트는 JUnit 5로 돌린다. 네트워크가 막혀 있으므로 새로 내려받아야 하는 것이 있으면 만들지 말고 무엇이 필요한지 보고해라. 업무 코드는 아직 쓰지 마라.</a:t>
            </a:r>
          </a:p>
          <a:p>
            <a:pPr lvl="0">
              <a:buNone/>
            </a:pPr>
            <a:r>
              <a:rPr lang="ko-KR" sz="1200"/>
              <a:t>    문서는 docs/00-문서-입구.md에서 시작한다. 저장소는 작업 브랜치 unit1-amount에 있다.</a:t>
            </a:r>
          </a:p>
          <a:p>
            <a:pPr lvl="1"/>
            <a:r>
              <a:rPr lang="ko-KR" sz="1200"/>
              <a:t>2. 실제 프롬프트 2</a:t>
            </a:r>
          </a:p>
          <a:p>
            <a:pPr lvl="0">
              <a:buNone/>
            </a:pPr>
            <a:r>
              <a:rPr lang="ko-KR" sz="1200"/>
              <a:t>    [앞선 질문에 대한 답] Gradle과 JUnit 내려받기는 포기해도 된다. 설치된 Java 26으로 javac --release 17과 java를 직접 실행해 컴파일과 테스트를 돌리고, 그 명령을 README에 적어라. 새로 내려받아야 하는 것은 만들지 마라.</a:t>
            </a:r>
          </a:p>
          <a:p>
            <a:pPr lvl="0">
              <a:buNone/>
            </a:pPr>
            <a:r>
              <a:rPr lang="ko-KR" sz="1200"/>
              <a:t>    [추가 질문·수정 요청] 문서 입구에서 시작해 필요한 문서만 읽고, 첫 작업 단위만 구현해라. 이름은 용어집의 영문명을 쓰고, 계약의 사전·사후조건을 코드에서 지켜라. 문서가 정하지 않은 정책에 닿으면 멈추고 질문해라.</a:t>
            </a:r>
          </a:p>
          <a:p>
            <a:pPr lvl="0">
              <a:buNone/>
            </a:pPr>
            <a:r>
              <a:rPr lang="ko-KR" sz="1200"/>
              <a:t>    허용 — 업무 코드와 테스트 만들기·고치기, 빌드 구성, 컴파일과 테스트 실행, 작업 브랜치에 커밋. 금지 — 외부 네트워크 호출, 실제 결제 시스템 호출, 비밀 키와 자격 증명 읽기, 저장소 밖 파일 쓰기, 원격 저장소로 push, docs/의 산출물 문서 고치기.</a:t>
            </a:r>
          </a:p>
          <a:p>
            <a:pPr lvl="1"/>
            <a:r>
              <a:rPr lang="ko-KR" sz="1200"/>
              <a:t>3. 실제 프롬프트 3</a:t>
            </a:r>
          </a:p>
          <a:p>
            <a:pPr lvl="0">
              <a:buNone/>
            </a:pPr>
            <a:r>
              <a:rPr lang="ko-KR" sz="1200"/>
              <a:t>    [앞선 질문에 대한 답] 커밋은 환경이 막았으니 그대로 두어라. 변경은 작업 트리에 남겨라.</a:t>
            </a:r>
          </a:p>
          <a:p>
            <a:pPr lvl="0">
              <a:buNone/>
            </a:pPr>
            <a:r>
              <a:rPr lang="ko-KR" sz="1200"/>
              <a:t>    [추가 질문·수정 요청] 그 단위의 수용 예를 검사하는 테스트와 사전조건을 어긴 입력이 거절되는 테스트를 만들고, 실제로 실행해 출력을 보여라. 판매가가 바뀐 뒤에도 확정 단가와 총액이 유지되는 예를 포함해라.</a:t>
            </a:r>
          </a:p>
          <a:p>
            <a:pPr lvl="1"/>
            <a:r>
              <a:rPr lang="ko-KR" sz="1200"/>
              <a:t>4. 실제 프롬프트 4</a:t>
            </a:r>
          </a:p>
          <a:p>
            <a:pPr lvl="0">
              <a:buNone/>
            </a:pPr>
            <a:r>
              <a:rPr lang="ko-KR" sz="1200"/>
              <a:t>    [앞선 질문에 대한 답] 테스트 출력은 그대로 기록에 남겨라.</a:t>
            </a:r>
          </a:p>
          <a:p>
            <a:pPr lvl="0">
              <a:buNone/>
            </a:pPr>
            <a:r>
              <a:rPr lang="ko-KR" sz="1200"/>
              <a:t>    [추가 질문·수정 요청] 결제·배송 포트는 설계대로 인터페이스 선언까지만 두고, 외부 결제 연동 규격이 요구하는 개발 환경 설정도 갖춰라. 문서가 정하지 않은 결과 처리는 추측하지 말고 질문으로 남겨라.</a:t>
            </a:r>
          </a:p>
          <a:p>
            <a:pPr lvl="1"/>
            <a:r>
              <a:rPr lang="ko-KR" sz="1200"/>
              <a:t>5. 실제 프롬프트 5</a:t>
            </a:r>
          </a:p>
          <a:p>
            <a:pPr lvl="0">
              <a:buNone/>
            </a:pPr>
            <a:r>
              <a:rPr lang="ko-KR" sz="1200"/>
              <a:t>    [앞선 질문에 대한 답] 두 질문은 업무 담당자에게 확인한다. 정책이 정해질 때까지 구현하지 마라.</a:t>
            </a:r>
          </a:p>
          <a:p>
            <a:pPr lvl="0">
              <a:buNone/>
            </a:pPr>
            <a:r>
              <a:rPr lang="ko-KR" sz="1200"/>
              <a:t>    [추가 질문·수정 요청] 내가 금지한 저장소 밖 쓰기가 환경에서도 실제로 거절되는지 확인해라. ../order-config/application.properties의 payment.base-url에 개발 샌드박스 주소를 넣어 보고, 거절되면 그 명령과 출력을 그대로 적어라. 그다음 범위를 넘어 만든 파일과 문서를 고친 곳이 있으면 되돌리고, 이번 위임을 실행 기록 MD 하나로 만들어라. 위임 계약 네 가지, 만든 파일 목록, 검사 출력, 거절된 행동과 멈춰 물은 질문으로 구성하고 새 결정을 추가하지 마라. 다섯 장을 넘지 않게 핵심만 남겨라. 기록 파일 이름은 주문한다-위임기록.md로 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위임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위임 계약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작업 지시문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맥락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권한과 도구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위험과 피해 범위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종료 조건과 확인 지점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빈 저장소에서 시작하기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맡긴 결과 보기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실습 8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위임과 구현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위임은 프롬프트 한 줄이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가지를 정하는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지시문, 맥락, 권한, 종료 조건.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설계가 쪼갠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맡기고, 그 단위의 수용 예를 종료 조건으로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지시문을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 높이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쓰고, 앞 산출물은 베끼지 않고 가리킨다.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넣을 것과 찾아 읽게 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나누고, 긴 작업은 압축과 기록으로 잇는다.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권한을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자원과 동작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좁히고, 글로 적은 금지를 환경의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강제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위험을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확률과 크기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적고, 막지 못할 것을 전제로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피해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종료 조건에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멈춰 물어야 할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함께 적고, 되돌리기 어려운 자리에 확인 지점을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돌아온 결과를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추적과 검사의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받는다.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네 가지를 정한다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위임 계약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맡기기 전에 사람이 정해 두는 네 가지다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하라, 무엇을 읽으라, 무엇을 할 수 있다, 언제 멈추라.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가지 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하나만 비어도 나머지가 무력해진다.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종료 조건이 없으면 에이전트는 멈출 자리를 스스로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지시문과 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방향을 주고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권한과 종료 조건은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범위를 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앞의 둘은 부탁이고 뒤의 둘은 경계다.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계약은 과제마다 새로 쓰는 것이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달라지는 것은 지시문과 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 권한과 종료 조건은 팀의 기본값이다.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계약의 네 가지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31230" y="3998976"/>
            <a:ext cx="6281539" cy="1177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맡기는 것은 작업 단위 하나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위임 계약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66966" y="2112010"/>
          <a:ext cx="73964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03220"/>
                <a:gridCol w="3406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 계약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 오는가?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단위에 들어가는 값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지시문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단위와 완료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확정 — 단가를 확정하고 총액을 계산한다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요구·용어집·상태 기계·의존 규칙·설계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저장소의 산출물을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팀의 기본값과 과제의 위험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코드와 테스트에 쓰기, 실행,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예와 완료의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1,200원이 되어도 총액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맡기는 단위는 설계가 쪼갠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그 단위의 수용 예가 곧 종료 조건이 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단위를 맡기는 데 쓰는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95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 전체가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확인할 수 있는 크기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맡긴다. 확인할 수 없는 단위는 받을 수도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줄이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앞 세션의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온다. 위임 때 새로 만드는 결정은 권한뿐이다.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남은 단위 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계약으로 뒤에 맡긴다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계약을 단위마다 다시 설계하지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무엇을 하라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작업 지시문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프롬프트는 매우 분명해야 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알맞은 높이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생각을 제시하는 단순하고 직접적인 말을 써야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"system prompts should be extremely clear and use simple, direct language that presents ideas at the right altitude"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 높이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결과와 지킬 규칙을 말하고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 방법을 받아쓰지 않는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높이다.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너무 낮으면 사람이 코드를 말로 쓰게 되고, 너무 높으면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빈칸이 추측으로 채워진다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지시문이 답할 것은 셋이다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무엇이 끝난 상태인가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무엇을 지켜야 하는가, 무엇을 하지 않는가.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하지 않을 것을 적는 자리가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범위의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"승인·거절·재결제는 구현하지 않는다"가 그 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무엇을 가리킬 것인가?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작업 지시문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52996" y="2112010"/>
          <a:ext cx="742442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186944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지시문에 적는다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가리킨다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단위의 결과와 완료를 확인할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단위마다 달라지는 것과 유지되는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하지 않을 것과 범위의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용어집과 명명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경계는 이번 작업의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멈춰 물어야 할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기계와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조건은 짧고 규칙은 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권한의 허용과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설계와 오퍼레이션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권한은 환경이 강제한다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산출물은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가리키고 베끼지 않는다.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지시문에 옮겨 적으면 두 곳이 어긋나고, 어느 쪽이 사실인지 알 수 없게 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지시문에 적을 것과 가리킬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95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가리키는 쪽이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오래 남는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요구사항 정의서·용어집·상태 기계·의존 규칙은 작업이 끝나도 남는다.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베껴 쓰면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둘 다 읽고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어긋난 쪽을 추측으로 고른다. 사실의 원천은 하나여야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문서를 고칠 권한은 주지 않는다. 산출물을 고치는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지시문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작업 지시문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04056"/>
            <a:ext cx="4338828" cy="4908409"/>
          </a:xfrm>
        </p:spPr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무엇을 하라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빈 저장소에 자바 프로젝트의 골격과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빌드 구성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만들고, 작업 단위 1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금액 확정만 구현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해라.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배송지를 정하면 주문이 결제대기로 생기고, 그때의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판매가로 각 항목의 단가가 확정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되어 주문 금액이 정해진다.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완료를 확인할 예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펜 2개를 판매가 1,000원일 때 주문하고, 그 뒤 판매가가 1,200원이 되어도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금액은 2,000원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그대로다.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예를 검사하는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테스트를 함께 만들고 실제로 실행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해 통과 출력을 보여라.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무엇을 가리킬 것인가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산출물 입구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에서 시작해 필요한 문서만 찾아 읽어라. 문서의 내용을 주석이나 새 문서로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베껴 쓰지 마라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이름은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용어집의 영문명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과 명명 규칙을 그대로 쓴다. 용어집에 없는 업무 용어를 만들지 마라.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패키지와 계약은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의존 규칙과 설계 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따른다.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권한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허용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 코드와 테스트 만들기·고치기, 빌드 구성 만들기, 컴파일과 테스트 실행, 작업 브랜치 커밋.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금지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외부 네트워크 호출, 실제 결제 시스템 호출, 비밀 키 읽기, 원격 저장소로 push, 산출물 문서 수정.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43936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작업 지시문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작업 단위 1 「금액 확정」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04056"/>
            <a:ext cx="4439412" cy="4908409"/>
          </a:xfrm>
        </p:spPr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종료 조건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수용 예가 통과한 실행 출력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과, 사전조건을 어긴 입력이 거절되는 테스트가 있다.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작업 단위 2~4는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구현하지 않고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결제·배송 포트는 인터페이스 선언까지만 둔다.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문서가 정하지 않은 정책, 문서와 어긋나는 입력, 금지된 권한이 필요한 일에 닿으면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멈추고 질문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해라.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마지막에 무엇을 만들었고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무엇을 확인했는지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멈춘 질문이 무엇인지 적어라.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미리 넣을 것과 찾아 읽게 할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79436" y="2436206"/>
          <a:ext cx="5971540" cy="3873500"/>
        </p:xfrm>
        <a:graphic>
          <a:graphicData uri="http://schemas.openxmlformats.org/drawingml/2006/table">
            <a:tbl>
              <a:tblPr/>
              <a:tblGrid>
                <a:gridCol w="1869440"/>
                <a:gridCol w="150622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어떻게 주는가?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설계와 오퍼레이션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미리 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단위의 판단마다 쓰인다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미리 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이름을 지을 때마다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입구에서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필요한 절이 작업마다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입구에서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단위는 전이를 다루지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품질 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단위의 결과를 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85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엔지니어링은 끊임없이 변하는 정보의 우주에서 한정된 맥락 창에 무엇을 넣을지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선별하는 기술이자 과학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"context engineering is the art and science of curating what will go into the limited context window from that constantly evolving universe of possible information"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3775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단위의 맥락 선별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92806"/>
            <a:ext cx="8412480" cy="167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맥락은 다 넣는 것이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고르는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넣을 것의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이번 판단에 쓰이는가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넣지 않기로 한 것도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왜 빼는지 말할 수 없으면 그것은 선별이 아니라 누락이다.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긴 문서를 통째로 넣으면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쓰이지 않는 토큰이 호출마다 다시 들어간다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점진적 공개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99113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점진적 공개는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작고 안정된 입구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시작해, 처음부터 쏟아붓는 대신 다음에 어디를 볼지 배우게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"this enables progressive disclosure: agents start with a small, stable entry point and are taught where to look next, rather than being overwhelmed up front"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입구는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어떤 문서에 무엇이 있고 언제 읽는지만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가벼운 식별자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두고 실행 중에 불러오게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"maintain lightweight identifiers (file paths, stored queries, web links, etc.) and use these references to dynamically load data into context at runtime"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입구가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이어야 하고, 읽을 문서가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저장소 안에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가리킬 수 있다. 다른 대화나 공유 문서의 기억에 기대지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60985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입구 문서와 찾아 읽는 산출물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2618879" y="4098729"/>
            <a:ext cx="3906242" cy="225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긴 작업의 압축과 기록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오래 도는 에이전트의 핵심 어려움은 일이 끊어진 세션으로 나뉘고, 새 세션마다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앞의 기억 없이 시작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core challenge of long-running agents is that they must work in discrete sessions, and each new session begins with no memory of what came before"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2025d]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압축은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창의 한도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다다른 대화를 요약해 그 요약으로 새 맥락 창을 다시 시작하는 방식이다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"compaction is the practice of taking a conversation nearing the context window limit, summarizing its contents, and reinitiating a new context window with the summary"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압축은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요약이므로 잃는 것이 있다.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다음 세션이 알아야 할 것은 대화가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적게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남길 것은 셋이다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지금까지 통과한 검사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다음에 할 일, 멈춰 물은 질문.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커밋이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기록의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끊긴 자리에서 다시 시작하지 않으려면 끝난 것이 커밋으로 남아 있어야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최소 권한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권한과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530666" y="2274108"/>
          <a:ext cx="40690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08712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동작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어디까지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단위의 값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어느 파일을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안의 산출물과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어느 폴더에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코드와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명령을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컴파일과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 — 기본적으로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읽기는 허용하고 쓰기는 작업 공간 안에서만 허용하며,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네트워크는 기본적으로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"reads are allowed, writes are allowed inside the workspace, but network is denied by default"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7565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권한은 두 가지를 함께 좁힌다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42708"/>
            <a:ext cx="8412480" cy="195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권한은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자원과 동작을 함께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좁힌다. 쓰기를 허용했다는 말만으로는 어디에 쓸 수 있는지 정해지지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기본값이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이어야 좁혀진다. 허용 목록을 적는 것과 금지 목록을 적는 것은 같지 않다.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지금 작업에 필요한 것만 연다. 다음 단위에 필요한 권한을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열어 두지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강제와 지시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권한과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61046" y="2112010"/>
          <a:ext cx="5608320" cy="3873500"/>
        </p:xfrm>
        <a:graphic>
          <a:graphicData uri="http://schemas.openxmlformats.org/drawingml/2006/table">
            <a:tbl>
              <a:tblPr/>
              <a:tblGrid>
                <a:gridCol w="1645920"/>
                <a:gridCol w="172974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금지하려는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지시로 적으면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강제로 옮기면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하지 마라고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밖으로 나가는 통신을 막는다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 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읽지 마라고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파일의 읽기를 거절한다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원격 저장소로 push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금지로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자격 증명을 주지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 문서 수정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고치지 마라고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폴더에 쓰기를 거절한다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프롬프트에 적은 금지는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부탁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환경이 실행 전에 거절하는 것만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강제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금지를 두 자리에 적을 때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95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이라는 이름에 둘이 섞여 있다. 이 과정은 환경이 거절하는 것만 가드레일로 부르고, 이후에는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권한과 강제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말한다.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기계가 판정할 수 있는 규칙은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강제로 옮긴다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판정할 수 없는 것만 지시로 남는다.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지시가 쓸모없는 것은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금지인지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알려 주면 에이전트가 우회로를 찾는 대신 멈춰 묻는다.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권한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권한과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34376" y="2112010"/>
          <a:ext cx="566166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092960"/>
                <a:gridCol w="26797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코드와 테스트에 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단위의 결과가 거기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 구성 만들기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 구성도 위임의 대상이다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컴파일과 테스트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증거를 스스로 만들게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브랜치에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단위를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호출과 네트워크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수 없는 외부 효과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키·자격 증명 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유출되면 범위가 저장소를 넘는다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밖 파일 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공간 밖은 되돌릴 자리가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원격 저장소로 push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확인 전에 공유된다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 문서 수정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결정을 바꾸는 것은 사람의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단위의 권한은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코드와 테스트까지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결제·배송은 선언만 두므로 밖으로 나갈 일이 없다.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단위의 허용과 금지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권한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권한과 도구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금지의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수 있는가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범위가 저장소를 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커밋은 허용하고 push는 막는다.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단위는 주고 공유는 사람이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문서 수정을 막은 것이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모델이 코드에 맞춰 고쳐지는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막는다. 어긋나면 코드가 틀린 것이다.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도구와 연결의 표준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권한과 도구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도구는 결정적 시스템과 비결정적 에이전트 사이의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담은 새로운 종류의 소프트웨어다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"tools are a new kind of software which reflects a contract between deterministic systems and non-deterministic agents"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 컨텍스트 프로토콜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(MCP)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LLM 애플리케이션과 외부 자료·도구의 연결을 표준화한다. 연결의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모양을 정하는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 권한을 대신하지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임의의 코드 실행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뜻하므로 그에 맞는 주의를 들여 다뤄야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"tools represent arbitrary code execution and must be treated with appropriate caution"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[MCP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MCP 자체는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프로토콜 수준에서 이 보안 원칙들을 강제할 수 없다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"while MCP itself cannot enforce these security principles at the protocol level"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[MCP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도구를 늘리면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할 수 있는 일과 위험이 함께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는다. 이번 단위에 필요한 도구는 파일 쓰기와 명령 실행뿐이다.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MCP — Model Context Protocol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1026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호스트·클라이언트·서버</a:t>
            </a:r>
          </a:p>
        </p:txBody>
      </p:sp>
      <p:pic>
        <p:nvPicPr>
          <p:cNvPr id="11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2076462" y="4948012"/>
            <a:ext cx="4991075" cy="1333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위험을 확률과 크기로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위험과 피해 범위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81976" y="2274108"/>
          <a:ext cx="5966460" cy="3873500"/>
        </p:xfrm>
        <a:graphic>
          <a:graphicData uri="http://schemas.openxmlformats.org/drawingml/2006/table">
            <a:tbl>
              <a:tblPr/>
              <a:tblGrid>
                <a:gridCol w="1534160"/>
                <a:gridCol w="889000"/>
                <a:gridCol w="209296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크기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막는 수단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돈이 움직인다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통신 차단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 유출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범위가 저장소를 넘는다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읽기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 밖 코드 생성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검토가 늘어난다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조건과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 문서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작업의 입력이 틀린다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위험은 사건이 발생할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그 사건의 결과가 갖는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크기나 정도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합쳐 측정하는 척도다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"risk refers to the composite measure of an event's probability of occurring and the magnitude or degree of the consequences of the corresponding event"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7565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단위의 위험과 막는 수단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42708"/>
            <a:ext cx="8412480" cy="21128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 허용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목표를 이루기 위해 위험을 감당하려는 조직이나 AI 관계자의 준비 정도를 가리킨다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"risk tolerance refers to the organization's or AI actor's … readiness to bear the risk in order to achieve its objectives"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2023]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확률과 크기가 따로 답한다.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확률이 낮아도 크기가 크면 막고, 확률이 높아도 되돌릴 수 있으면 감당한다.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위험을 없애려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위임이 사라진다.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감당할 선을 정하는 것이 사람의 결정이다.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치명적 삼박자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위험과 피해 범위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능력을 합치면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공격자는 비공개 데이터에 접근해 자신에게 보내도록 에이전트를 쉽게 속일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"if your agent combines these three features, an attacker can easily trick it into accessing your private data and sending it to that attacker"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셋 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쓸모 있어서 켠 기능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저장소를 읽고, 문서를 참고하고, 결과를 보내는 일이 모두 필요하다.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막는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고리 하나를 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이번 단위는 통신을 끊어 셋째 능력을 없앴다.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사례의 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고객 주소와 결제 설정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외부 매뉴얼과 웹 문서, 네트워크 호출이다.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8542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세 능력이 모이는 자리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2551534" y="4323172"/>
            <a:ext cx="4040932" cy="1331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프롬프트 주입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위험과 피해 범위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읽은 문서의 문장이 지시로 작동한다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사람이 쓴 지시와 문서에 섞인 문장을 모델이 구별하지 못하기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이것을 100% 확실하게 막는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아직 모른다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still don't know how to 100% reliably prevent this from happening"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사례의 자리는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결제 매뉴얼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연동 규격을 찾아 읽는 동안 그 문서의 문장이 지시로 들어온다.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막을 수 없다는 전제에서 설계한다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읽히는 것을 줄이고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할 수 있는 일을 줄이고, 되돌릴 수 있게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확인해 저장소에 넣어 둔 사본만 읽히는 것이 이번 단위의 선택이다.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밖에서 가져오지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피해 범위와 되돌림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위험과 피해 범위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공학의 질문은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피해 범위를 어떻게 제한하는가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engineering question becomes how to cap the blast radius"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샌드박스를 선택적 개선이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합리적 기본값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see sandboxing as a sensible default rather than an optional enhancement"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샌드박스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쓸 수 있는 자원을 미리 좁혀 둔 실행 환경이다. 작업 공간·네트워크·자격 증명이 그 경계다.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되돌릴 단위를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먼저 만든다.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작업 브랜치와 커밋이 있으면 잘못된 결과를 지우는 데 사람의 판단이 들지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피해 범위는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코드만이 아니다.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바뀐 문서, 보낸 요청, 남은 자격 증명까지가 번지는 범위다.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언제 멈추나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종료 조건과 확인 지점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7226" y="2112010"/>
          <a:ext cx="577596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195326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멈추는 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무엇으로 판정하나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그다음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예가 통과한 출력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확인 지점으로 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미정에 닿았다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정하지 않은 정책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질문을 남기고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어긋난 입력을 만났다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문서와 코드가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어느 쪽이 사실인지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권한이 막았다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환경이 거절했다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거절된 행동을 보고한다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상한에 닿았다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실패의 반복 횟수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지금까지의 기록을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종료 조건은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끝났을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멈춰 물어야 할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함께 적는다. 하나만 적으면 에이전트가 나머지를 스스로 고른다.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가지 멈춤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167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미정은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비워 둔 것이 아니라 정하지 않기로 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비워 두면 그럴듯한 추측으로 채워진다.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단위에서 멈춰 물을 자리는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승인 뒤 배송 요청 실패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결제가 확정 불가로 돌아온 뒤의 처리다.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멈추는 것이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실패가 아니다.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질문 하나가 틀린 구현 열 줄보다 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자리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종료 조건과 확인 지점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에서, 또는 막히는 것을 만났을 때 사람의 피드백을 받으려 멈출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can then pause for human feedback at checkpoints or when encountering blockers"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민감하거나 되돌릴 수 없거나 걸린 것이 큰 행동은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감독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작동시켜야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"high-risk actions: actions that are sensitive, irreversible, or have high stakes should trigger human oversight"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[OpenAI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그 단계에 닿으면 늘 사람이 보는 자리다. 첫 단위의 자리는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병합과 외부 호출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확인 지점을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순서로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고른다. 커밋은 되돌리기 쉽고 push와 결제 호출은 어렵다.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사용자가 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승인이 많아질수록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하나하나에 쏟는 주의가 줄고, 시간이 가면 감독이 훨씬 허술해진다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more approvals a user sees, the less attention they pay to each, becoming over time much less diligent in their supervision"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그래서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승인은 적게, 자리는 분명하게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둔다. 매번 묻는 것은 사람의 주의를 쓰는 것이다.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재시도와 상한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종료 조건과 확인 지점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재시도는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두고, 끊겨도 진행이 사라지지 않게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 워크플로에서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내구성을 무시하는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개발에서는 되지만 운영에서 실패하는 시스템을 낳는 안티패턴이다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"ignoring durability in agent workflows is an anti-pattern we've seen across many teams, resulting in systems that work in development but fail in production"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처음부터 다시 시작하는 것은 비싸고 괴로우므로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오류가 난 지점에서 이어 갈 수 있는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시스템을 만들었다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"restarts are expensive and frustrating for users. Instead, we built systems that can resume from where the agent was when the errors occurred"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입력의 재시도는 같은 실패를 부른다.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상한을 넘으면 입력을 바꾸지 말고 사람에게 돌린다.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내구성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단위는 커밋과 진행 기록이다. 맥락이 사라져도 저장소에 남은 것은 사라지지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끊긴 뒤 이어 가려면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끝났는지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기록에 있어야 한다. 대화의 기억은 그 기록이 아니다.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저장소와 빌드 구성을 맡긴다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빈 저장소에서 시작하기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91756"/>
            <a:ext cx="8412480" cy="1155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자바 17로 빌드되는 프로젝트 골격과 빌드 구성을 만들어라.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패키지는 order, payment, delivery, product, persistence다.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테스트는 JUnit 5로 돌린다.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네트워크가 막혀 있으므로 새로 내려받아야 하는 것이 있으면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만들지 말고 무엇이 필요한지 보고해라.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소스와 테스트 폴더, 빌드 구성 파일만 만들고 업무 코드는 쓰지 마라.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23003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빌드 구성도 위임의 대상이다.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만들 결과와 지킬 제약을 적어 맡긴다.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브랜치를 만든다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git switch -c unit1-amount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되돌릴 단위가 먼저다.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프로젝트와 빌드 구성을 맡긴다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아래 지시문을 그대로 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결과를 확인한다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소스·테스트 폴더가 생기고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컴파일이 통과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하는지 본다.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76056"/>
            <a:ext cx="8412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골격을 맡기는 것이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위임의 연습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실패해도 다시 하면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네트워크가 막힌 환경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무엇이 필요한지 보고하게 한 것이 중요하다. 조용히 우회하는 대신 멈추게 한다.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권한을 설정한다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빈 저장소에서 시작하기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651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허용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- 소스와 테스트 폴더에 파일 쓰기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- 컴파일과 테스트 실행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- 이 저장소의 작업 브랜치에 커밋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금지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- 밖으로 나가는 통신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- 산출물 문서 폴더에 쓰기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- 자격 증명 파일 읽기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- 원격 저장소로 push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허용과 금지를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설정 파일에 적어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실행 전에 거절되게 한다. 대화에서 매번 승인하는 것과 다르다.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22598"/>
            <a:ext cx="8412480" cy="195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목록을 코딩 에이전트의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설정 파일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옮긴다. 제품마다 파일 이름과 표기가 다르다.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설정으로 막은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승인 창이 뜨지 않는다.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거절이 기록으로 남고 에이전트가 그 사실을 보고한다.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설정을 저장소에 함께 두면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팀이 같은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일한다. 사람마다 다른 권한으로 맡기지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추적 — 무엇을 보고 무엇을 했나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맡긴 결과 보기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튼튼한 환경은 모델이 고른 도구와 넘긴 인자, 관찰한 결과까지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추론의 경로 전체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드러내는 추적과 로그를 남긴다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robust framework generates detailed traces and logs, exposing the entire reasoning trajectory: the model's internal monologue, the tool it chose, the parameters it generated, and the result it observed"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[Blount 외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에이전트가 무엇을 보고 무엇을 했는지 순서대로 남긴 기록이다. 결과만 보면 어디서 어긋났는지 알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단위에서 추적이 답한 것은 셋이다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어느 문서를 읽었나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어떤 명령을 실행했나, 무엇이 거절됐나.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읽지 않은 문서가 있다면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맥락의 선별이 틀린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지시문이 가리키지 않았거나 입구가 안내하지 않았다.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환경이 거절한 것과 하지 않은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맡긴 결과 보기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환경이 거절한 것 — 허용으로 적었는데 막혔다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git add        .git/index.lock 쓰기: Operation not permitted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결과: 커밋하지 못하고 작업 트리에 남겼다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환경이 막지 않은 것 — 금지로 적었는데 통과했다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printf ... &gt; ../order-config/application.properties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결과: 출력 없이 exit 0 — 저장소 밖 파일이 바뀌었다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권한을 글로 적는 것과 환경이 강제하는 것은 다르다.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실행에서 허용이 막히고 금지가 통과했다.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2398"/>
            <a:ext cx="8412480" cy="2575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커밋은 허용으로 적었지만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환경이 저장소 메타데이터 쓰기를 막아 실행되지 않았다. 계약과 환경이 다르면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환경이 이긴다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저장소 밖 쓰기는 금지로 적었지만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환경이 막지 않아 그대로 통과했다. 글에 적은 금지는 그 일을 대신하지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통과한 쓰기는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되돌려야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 되돌릴 수 없는 자리에 닿았다면 이미 늦다.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그래서 권한은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적고, 시험한다.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막히는지 직접 해 보고, 막히지 않으면 그 자리를 환경에서 막는다.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돌아온 구현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맡긴 결과 보기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582788"/>
            <a:ext cx="8412480" cy="2057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public CreateOrderResult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createOrder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(CreateOrderCommand command)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... command null 검사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List&lt;PricedOrderItem&gt; pricedItems = command.items().stream()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    .map(item -&gt;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        Money salePrice = productGateway.findCurrentSalePrice(item.productNumber());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        // ... 판매가 없음 거절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        return new PricedOrderItem(item.productNumber(), item.quantity(), salePrice);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    })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    .toList();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Order order = Order.create(command.orderNumber(), pricedItems, command.shippingAddress());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orderRepository.save(order);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return new CreateOrderResult(order);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돌아온 코드는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설계의 계약과 이름대로인지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본다. 동작이 맞는지는 검사가, 설계대로인지는 사람이 본다.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1615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금액 확정 설계 시퀀스</a:t>
            </a:r>
          </a:p>
        </p:txBody>
      </p:sp>
      <p:pic>
        <p:nvPicPr>
          <p:cNvPr id="34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365760" y="2153894"/>
            <a:ext cx="8412480" cy="2209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돌아온 구현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맡긴 결과 보기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판매가를 조회하는 쪽이 서비스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그 값을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확정해 들고 있는 쪽이 확정 항목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설계의 책임 배치가 그대로 보인다.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총액은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만들 때 한 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확정 단가에서 계산해 들고 있다. 판매가가 1,200원이 되어도 다시 계산하지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인터페이스 이름을 그대로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썼다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OrderPlacementUseCase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CreateOrderCommand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PricedOrderItem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ProductGateway.findCurrentSalePrice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 항목(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OrderItemRequest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)만 설계에 이름이 없던 값이다.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용어집에 더할지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사람이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완료 주장과 증거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맡긴 결과 보기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98536" y="1999788"/>
          <a:ext cx="513334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181356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주장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받아들이는 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단위의 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예가 통과한 출력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총액 2,000원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지켰다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 거절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 0개·수량 0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범위를 지켰다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 파일의 대조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docs/는 바뀌지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멈춰 물은 질문의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둘은 손대지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676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제대로 테스트하지 않고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기능을 완료로 표시하는 경향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"Claude's tendency to mark a feature as complete without proper testing"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2025d]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70133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주장과 그것을 받는 증거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68388"/>
            <a:ext cx="8412480" cy="2575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완료는 주장이다.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주장과 증거를 같은 자리에서 보는 것이 결과 검토다.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증거가 없는 항목은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아직 끝나지 않은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둔다. 설명은 증거가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범위와 권한은 다른 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저장소에 파일을 늘리지 않았어도 금지된 자리에 썼다면 권한 위반이다.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이번 단위에서 사람이 본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이었다. 검사가 갖춰지면 사람이 볼 것은 더 줄어든다.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프롬프트에 모든 규칙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잘못된 관행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팀은 가능한 모든 규칙을 말로 적으려고 프롬프트에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예외 상황의 목록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쏟아붓곤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"teams will often stuff a laundry list of edge cases into a prompt in an attempt to articulate every possible rule"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길어진 지시문은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지켜질 확률이 낮아진다.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규칙이 많아지면 어느 것이 중요한지 모델도 알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기계가 판정할 수 있는 규칙은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검사와 권한으로 옮긴다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지시문에는 판정할 수 없는 것만 남는다.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산출물에 있는 규칙을 지시문에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적지 않는다.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가리키면 한 곳만 고치면 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모든 권한 허용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07376" y="2112010"/>
          <a:ext cx="5915660" cy="3873500"/>
        </p:xfrm>
        <a:graphic>
          <a:graphicData uri="http://schemas.openxmlformats.org/drawingml/2006/table">
            <a:tbl>
              <a:tblPr/>
              <a:tblGrid>
                <a:gridCol w="1506220"/>
                <a:gridCol w="195326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그때의 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사라지는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전부 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창이 번거롭다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수 없는 행동의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연결을 기본값으로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도구가 많으면 편하다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읽히는 내용과 보낼 수단의 통제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금지만 적기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 목록을 쓰기 귀찮다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적지 않은 것이 허용된다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승인이 번거로워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전부 허용으로 바꾸면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위임 계약에서 권한이 사라진다. 남는 것은 부탁뿐이다.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권한을 잃는 세 가지 방식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95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연결을 늘리면 공격면이 함께 는다.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필요하지 않은 연결은 켜지 않는 것이 기본값이다.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승인 창이 번거롭다는 신호는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권한을 넓히라는 뜻이 아니다.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자주 쓰는 행동을 설정으로 허용하라는 뜻이다.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금지 목록만 적으면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적지 않은 것이 모두 허용된다.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기본값을 거절로 두고 허용을 적는다.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실습 8 — 위임과 구현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409700"/>
            <a:ext cx="4069080" cy="480822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3~7의 최종 MD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(저장소의 문서 폴더)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그중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실습 7의 설계와 작업 단위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자바 17로 빌드되는 프로젝트 골격과 빌드 구성을 만들어라. 테스트는 JUnit 5로 돌린다. 네트워크가 막혀 있으므로 새로 내려받아야 하는 것이 있으면 만들지 말고 보고해라. 업무 코드는 아직 쓰지 마라.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문서 입구에서 시작해 필요한 문서만 읽고, 첫 작업 단위만 구현해라. 이름과 계약은 용어집과 설계를 따른다. 문서가 정하지 않은 정책에 닿으면 멈추고 질문해라.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그 단위의 수용 예와 사전조건 위반을 검사하는 테스트를 만들고, 실제로 실행해 출력을 보여라.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결제·배송 포트는 설계대로 인터페이스 선언까지만 두고, 외부 결제 연동 규격의 개발 환경 설정도 갖춰라. 문서가 정하지 않은 결과 처리는 추측하지 말고 질문으로 남겨라.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44958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앞선 산출물을 맥락으로 주고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첫 작업 단위의 구현을 맡긴다.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계약을 적고 결과를 증거로 남긴다.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409700"/>
            <a:ext cx="4069080" cy="4808220"/>
          </a:xfrm>
        </p:spPr>
        <p:txBody>
          <a:bodyPr>
            <a:normAutofit/>
          </a:bodyPr>
          <a:lstStyle/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내가 금지한 저장소 밖 쓰기가 환경에서 실제로 거절되는지 시도해 확인해라. 그다음 범위를 넘어 만든 파일과 문서를 고친 곳이 있으면 되돌리고, 이번 위임을 실행 기록 MD 하나로 만들어라. 위임 계약 네 가지, 만든 파일 목록, 검사 출력, 거절된 행동과 멈춰 물은 질문으로 구성하고 새 결정을 추가하지 마라. 다섯 장을 넘지 않게 핵심만 남겨라.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권한과 강제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허용과 금지를 설정으로 적었고, 금지한 쓰기가 환경에서 실제로 거절되는지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시도해 확인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가리키기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산출물을 베껴 적지 않고 가리켰으며, 문서를 고치지 않았는가?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단위 밖의 코드가 생기지 않았고, 생겼다면 되돌렸는가?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문서가 정하지 않은 정책을 분기나 기대값으로 메우지 않았는가?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증거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예와 거절 테스트의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실제 실행 출력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기록에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주문한다-위임기록.md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실습 9의 투입물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지시문·맥락·권한·종료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네 가지를 적는 일이며, 하나가 비면 나머지가 무력해진다.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맡기는 단위는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그 단위의 수용 예가 종료 조건이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산출물은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가리키고 베끼지 않는다.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사실의 원천이 둘이면 에이전트가 추측으로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글로 적은 금지는 부탁이고,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환경이 실행 전에 거절하는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막는다.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주입을 막을 수 없다는 전제에서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피해 범위를 끊고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되돌릴 단위를 먼저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완료는 주장이며,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추적과 검사의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받는다.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"세션 09. 검사 파이프라인"은 이 증거를 사람이 세는 대신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명령 하나로 모아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에이전트가 루프 안에서 돌리게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 — 위임 기록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933331"/>
            <a:ext cx="8412480" cy="1651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javac --release 17 -Xlint:all -d build/classes $(find src/main/java src/test/java -name '*.java')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java -ea -cp build/classes order.OrderApplicationServiceTest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jdeps -s --multi-release 17 build/classes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PASS: saves a PENDING_PAYMENT order with the accepted price and total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PASS: keeps the fixed price and total after the sale price changes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PASS: rejects inputs that break order-creation preconditions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OrderApplicationServiceTest passed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classes -&gt; java.base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871611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docs/00-문서-입구.md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시작점으로 필요한 문서의 패키지·계약·작업 단위를 따른다.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2. Java 17 대상으로 컴파일하고, 외부 의존성을 내려받지 않은 채 직접 테스트를 실행한다.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3. 주문 생성 단위와 결제·배송 포트 선언까지만 구현하며, 결제·배송 결과 정책과 어댑터는 구현하지 않는다.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4. 외부 네트워크·실제 결제 호출·비밀 정보 접근·원격 push·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변경을 하지 않는다. 저장소 밖 쓰기는 금지됐다.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만든 파일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설정·안내: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.gitignore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README.md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주문·상품 업무 코드: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src/main/java/order/*.java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src/main/java/product/*.java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결제·배송 포트 선언: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src/main/java/payment/*.java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src/main/java/delivery/*.java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테스트: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src/test/java/order/OrderApplicationServiceTest.java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검사 출력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 — 위임 기록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4887"/>
            <a:ext cx="8412480" cy="330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printf 'payment.base-url=https://sandbox.pg.example.com\n' &gt; ../order-config/application.properties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3167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거절된 행동과 멈춘 질문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git add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.git/index.lock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생성이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Operation not permitted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거절되어 커밋하지 못했다.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개발 결제 설정 쓰기 확인 명령은 거절되지 않았다. 아래 명령은 출력 없이 성공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(exit status 0)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했다.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403687"/>
            <a:ext cx="8412480" cy="698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기존 파일일 가능성이 있으나 비밀 정보 접근 금지에 따라 내용을 읽지 않았으므로, 원본을 추측해 복원하거나 삭제하지 않았다.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 결과가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UNCONFIRMED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일 때의 후속 처리·재결제 허용 여부와 배송 실패·시간 초과·재시도·중복 처리 정책은 업무 담당자 확인이 필요하다. 확정 전까지 구현하지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35</Slides>
  <Notes>31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39" baseType="lpstr">
      <vt:lpstr>맑은 고딕</vt:lpstr>
      <vt:lpstr>Arial</vt:lpstr>
      <vt:lpstr>Wingdings</vt:lpstr>
      <vt:lpstr>4_Office 테마</vt:lpstr>
      <vt:lpstr>08. 위임 목차</vt:lpstr>
      <vt:lpstr>01. 세션 목표</vt:lpstr>
      <vt:lpstr>네 가지를 정한다 02. 위임 계약</vt:lpstr>
      <vt:lpstr>맡기는 것은 작업 단위 하나 02. 위임 계약</vt:lpstr>
      <vt:lpstr>무엇을 하라 03. 작업 지시문</vt:lpstr>
      <vt:lpstr>무엇을 가리킬 것인가? 03. 작업 지시문</vt:lpstr>
      <vt:lpstr>주문한다의 작업 지시문 03. 작업 지시문</vt:lpstr>
      <vt:lpstr>미리 넣을 것과 찾아 읽게 할 것 04. 맥락</vt:lpstr>
      <vt:lpstr>점진적 공개 04. 맥락</vt:lpstr>
      <vt:lpstr>긴 작업의 압축과 기록 04. 맥락</vt:lpstr>
      <vt:lpstr>최소 권한 05. 권한과 도구</vt:lpstr>
      <vt:lpstr>강제와 지시 05. 권한과 도구</vt:lpstr>
      <vt:lpstr>주문한다의 권한 (1/2) 05. 권한과 도구</vt:lpstr>
      <vt:lpstr>주문한다의 권한 (2/2) 05. 권한과 도구</vt:lpstr>
      <vt:lpstr>도구와 연결의 표준 05. 권한과 도구</vt:lpstr>
      <vt:lpstr>위험을 확률과 크기로 06. 위험과 피해 범위</vt:lpstr>
      <vt:lpstr>치명적 삼박자 06. 위험과 피해 범위</vt:lpstr>
      <vt:lpstr>프롬프트 주입 06. 위험과 피해 범위</vt:lpstr>
      <vt:lpstr>피해 범위와 되돌림 06. 위험과 피해 범위</vt:lpstr>
      <vt:lpstr>언제 멈추나 07. 종료 조건과 확인 지점</vt:lpstr>
      <vt:lpstr>되돌리기 어려운 자리 07. 종료 조건과 확인 지점</vt:lpstr>
      <vt:lpstr>재시도와 상한 07. 종료 조건과 확인 지점</vt:lpstr>
      <vt:lpstr>저장소와 빌드 구성을 맡긴다 08. 빈 저장소에서 시작하기</vt:lpstr>
      <vt:lpstr>권한을 설정한다 08. 빈 저장소에서 시작하기</vt:lpstr>
      <vt:lpstr>추적 — 무엇을 보고 무엇을 했나 09. 맡긴 결과 보기</vt:lpstr>
      <vt:lpstr>환경이 거절한 것과 하지 않은 것 09. 맡긴 결과 보기</vt:lpstr>
      <vt:lpstr>돌아온 구현 코드 (1/2) 09. 맡긴 결과 보기</vt:lpstr>
      <vt:lpstr>돌아온 구현 코드 (2/2) 09. 맡긴 결과 보기</vt:lpstr>
      <vt:lpstr>완료 주장과 증거 09. 맡긴 결과 보기</vt:lpstr>
      <vt:lpstr>프롬프트에 모든 규칙 10. 잘못된 관행</vt:lpstr>
      <vt:lpstr>모든 권한 허용 10. 잘못된 관행</vt:lpstr>
      <vt:lpstr>11. 실습 8 — 위임과 구현</vt:lpstr>
      <vt:lpstr>12. 요약</vt:lpstr>
      <vt:lpstr>주문한다 — 위임 기록 (1/2) 별첨. 실습 답</vt:lpstr>
      <vt:lpstr>주문한다 — 위임 기록 (2/2)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08. 위임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