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06. 작업 위임과 도구·권한·상태의 경계"가 어디까지 맡길지 정하고, "세션 07. 워크플로·에이전트와 사람의 개입"이 사람이 판단할 자리를 정했다. 여기서는 경계가 글이 아니라 실행으로 지켜지게 만든다.</a:t>
            </a:r>
          </a:p>
          <a:p>
            <a:pPr lvl="0"/>
            <a:r>
              <a:rPr lang="ko-KR" sz="1200"/>
              <a:t>기준 원전은 [NIST 2023]이고, 위험 목록은 [OWASP 2025], 삼박자는 [Willison 2025a], 겹으로 쌓기는 [OpenAI 2025], 계산적 가이드는 [Böckeler 2026a], 환경의 경계는 [Anthropic 2026c]·[Thoughtworks 2026]으로 받친다.</a:t>
            </a:r>
          </a:p>
          <a:p>
            <a:pPr lvl="0"/>
            <a:r>
              <a:rPr lang="ko-KR" sz="1200"/>
              <a:t>예방(가드레일)과 탐지(센서)의 경계를 세션 내내 짚는다. 센서의 구성과 증거는 "세션 09. 검증 하네스·결과 점검·피드백", 막힌 뒤의 복구는 "세션 10. 실패 대응·재시도·복구"가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가드레일은 하네스의 가이드 중 실행 전에 강제되는 것을 가리키는 이 과정의 이름이다(course-design.md의 「원전 적용 결정」). [Böckeler 2026a]의 계산적 가이드가 그 근거이며, 가이드·센서의 전체 구조는 "세션 09. 검증 하네스·결과 점검·피드백"이 다룬다.</a:t>
            </a:r>
          </a:p>
          <a:p>
            <a:pPr lvl="0"/>
            <a:r>
              <a:rPr lang="ko-KR" sz="1200"/>
              <a:t>표의 네 수단이 정해지는 곳 — 멈출 조건은 "세션 06. 작업 위임과 도구·권한·상태의 경계"의 「07. 위임 계약」, 확인 지점은 "세션 07. 워크플로·에이전트와 사람의 개입"의 「07. 주문한다의 실행 흐름」이다.</a:t>
            </a:r>
          </a:p>
          <a:p>
            <a:pPr lvl="0"/>
            <a:r>
              <a:rPr lang="ko-KR" sz="1200"/>
              <a:t>첫 문장의 결제 호출 금지는 "세션 06. 작업 위임과 도구·권한·상태의 경계"의 「07. 위임 계약」의 「주문한다의 위임 계약」에 적어 둔 항목이다. 그 한 줄이 왜 호출을 막지 못하는지로 표를 연다.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NIST AI RMF 1.0(2023) 원문(PDF) 확인. 위험 허용 수준 문장은 조직의 법·규제 맥락을 든 부분을 생략하고 정의만 인용했다.</a:t>
            </a:r>
          </a:p>
          <a:p>
            <a:pPr lvl="0"/>
            <a:r>
              <a:rPr lang="ko-KR" sz="1200"/>
              <a:t>NIST는 위험을 식별·측정·관리하는 어휘로만 쓴다. 조직 거버넌스의 상세는 과정의 범위가 아니다.</a:t>
            </a:r>
          </a:p>
          <a:p>
            <a:pPr lvl="0"/>
            <a:r>
              <a:rPr lang="ko-KR" sz="1200"/>
              <a:t>확률·크기의 판정은 과제와 조직에 따라 달라진다. 수업에서는 값보다 등급을 정한 근거를 묻는다.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OWASP Gen AI Security Project, "OWASP Top 10 for Agentic Applications for 2026"(2025) 원문과 공개 발표 글에서 열 항목의 식별자와 이름을 확인했다 — Agent Goal Hijack, Tool Misuse, Identity &amp; Privilege Abuse, Agentic Supply Chain Vulnerabilities, Unexpected Code Execution, Memory &amp; Context Poisoning, Insecure Inter-Agent Communication, Cascading Failures, Human-Agent Trust Exploitation, Rogue Agents.</a:t>
            </a:r>
          </a:p>
          <a:p>
            <a:pPr lvl="0"/>
            <a:r>
              <a:rPr lang="ko-KR" sz="1200"/>
              <a:t>한글 이름은 과정의 번역이고, ASI01~ASI10은 OWASP가 붙인 식별자다. 오른쪽 열은 과정의 적용이며 원문의 예가 아니다.</a:t>
            </a:r>
          </a:p>
          <a:p>
            <a:pPr lvl="0"/>
            <a:r>
              <a:rPr lang="ko-KR" sz="1200"/>
              <a:t>ASI04의 도구 서버는 "세션 06. 작업 위임과 도구·권한·상태의 경계"의 「04. 도구 연결의 표준」에서 다룬 MCP 서버를 가리킨다. 닿지 않는 ASI07도 왜 닿지 않는지를 말해야 목록이 암기가 되지 않는다.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확률의 값은 교육용 가정이다. 테스트 비활성화를 높게 본 근거는 막힌 에이전트가 가장 쉽게 손대는 곳이 기대값이라는 점이며, 그 관행은 "세션 09. 검증 하네스·결과 점검·피드백"에서 다시 다룬다.</a:t>
            </a:r>
          </a:p>
          <a:p>
            <a:pPr lvl="0"/>
            <a:r>
              <a:rPr lang="ko-KR" sz="1200"/>
              <a:t>여섯 중 다섯은 "세션 06. 작업 위임과 도구·권한·상태의 경계"의 「07. 위임 계약」의 「주문한다의 위임 계약」이 금지로 적은 항목이다. 계약의 글을 실행의 제약으로 옮기는 것이 이 세션의 일이다. 숨은 지시만 새로 더해졌다.</a:t>
            </a:r>
          </a:p>
          <a:p>
            <a:pPr lvl="0"/>
            <a:r>
              <a:rPr lang="ko-KR" sz="1200"/>
              <a:t>등급을 바꿔 보게 한다 — 사내 테스트 결제 계정만 쓴다면 두 번째 위험의 크기가 달라진다.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Simon Willison, "The lethal trifecta for AI agents"(2025) 원문 확인. 세 능력의 이름과 정의가 원문의 것이다.</a:t>
            </a:r>
          </a:p>
          <a:p>
            <a:pPr lvl="0"/>
            <a:r>
              <a:rPr lang="ko-KR" sz="1200"/>
              <a:t>삼박자는 공격이 아니라 조건이다. 코딩 에이전트는 저장소를 읽고 외부 문서를 읽고 네트워크를 쓸 수 있으므로 기본 상태가 이미 셋을 갖춘 것임을 짚는다.</a:t>
            </a:r>
          </a:p>
          <a:p>
            <a:pPr lvl="0"/>
            <a:r>
              <a:rPr lang="ko-KR" sz="1200"/>
              <a:t>프롬프트 주입의 기법을 가르치지 않는다. 과정이 다루는 것은 셋 중 하나를 환경으로 끊는 결정이다.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[Willison 2025a] 원문 확인. 95%는 확률로 막는 방어의 한계를 말하는 비유이며 특정 제품의 측정값이 아니다.</a:t>
            </a:r>
          </a:p>
          <a:p>
            <a:pPr lvl="0"/>
            <a:r>
              <a:rPr lang="ko-KR" sz="1200"/>
              <a:t>읽을 범위를 좁히는 결정은 "세션 06. 작업 위임과 도구·권한·상태의 경계"의 「05. 최소 권한」의 「네 가지 권한」에서 이미 정했다. 여기서는 그것이 삼박자의 어느 고리인지 보인다.</a:t>
            </a:r>
          </a:p>
          <a:p>
            <a:pPr lvl="0"/>
            <a:r>
              <a:rPr lang="ko-KR" sz="1200"/>
              <a:t>수강생에게 묻는다 — 네트워크를 닫으면 못 하게 되는 일은 무엇인가? 의존성 받기와 규격 조회이며, 그래서 사람이 미리 받아 둔다.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겹으로 쌓는 방어라는 표현이 원문의 것이다.</a:t>
            </a:r>
          </a:p>
          <a:p>
            <a:pPr lvl="0"/>
            <a:r>
              <a:rPr lang="ko-KR" sz="1200"/>
              <a:t>원문은 입력·출력의 가드레일 종류(관련성, 안전, 개인정보, 도구 위험 등급 등)를 든다. 과정은 코딩 에이전트에 해당하는 네 자리로 정리해 쓴다.</a:t>
            </a:r>
          </a:p>
          <a:p>
            <a:pPr lvl="0"/>
            <a:r>
              <a:rPr lang="ko-KR" sz="1200"/>
              <a:t>네 자리가 모두 필요한 것은 아니다. "주문한다"는 입력·도구 호출·환경을 쓰고 출력은 커밋 전 검사 하나만 둔다(「07. 주문한다의 가드레일」).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계산적·추론적의 구분은 [Böckeler 2026a]의 것이며, 가이드·센서의 전체 구조는 "세션 09. 검증 하네스·결과 점검·피드백"에서 다룬다. 여기서는 가드레일이 계산적 가이드라는 점만 쓴다.</a:t>
            </a:r>
          </a:p>
          <a:p>
            <a:pPr lvl="0"/>
            <a:r>
              <a:rPr lang="ko-KR" sz="1200"/>
              <a:t>맥락이 길어지면 앞의 지시가 묻힌다. 그 이유는 "세션 05. 도메인·설계 지식과 맥락 구성"의 「03. 주의 예산과 맥락 부패」의 「맥락 부패」에 있다.</a:t>
            </a:r>
          </a:p>
          <a:p>
            <a:pPr lvl="0"/>
            <a:r>
              <a:rPr lang="ko-KR" sz="1200"/>
              <a:t>수강생에게 묻는다 — "기대값을 바꾸지 마"를 강제로 옮기면 어디에 두는가? 테스트 파일의 쓰기 금지다.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"How we contain Claude across products"(2026) 원문 확인. 피해 범위와 네 가지 제약 수단이 원문의 표현이다.</a:t>
            </a:r>
          </a:p>
          <a:p>
            <a:pPr lvl="0"/>
            <a:r>
              <a:rPr lang="ko-KR" sz="1200"/>
              <a:t>작업 공간(worktree·작업 브랜치)은 "세션 06. 작업 위임과 도구·권한·상태의 경계"의 「06. 상태와 되돌림」의 「변경마다 작업 공간」에서 정했다. 여기서는 그것이 피해 범위를 끊는 수단이라는 점을 더한다.</a:t>
            </a:r>
          </a:p>
          <a:p>
            <a:pPr lvl="0"/>
            <a:r>
              <a:rPr lang="ko-KR" sz="1200"/>
              <a:t>자격을 주지 않는 것이 가장 단순한 가드레일이다. 원격 반영은 사람이 실행한다.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Thoughtworks Technology Radar Vol. 34(2026-04)의 sandboxed execution for coding agents(Trial) 항목 원문 확인. 표의 세 기본값은 [Anthropic 2026c]가 적은 것과 같다 — "Reads are allowed, writes are allowed inside the workspace, but network is denied by default"(원문 확인).</a:t>
            </a:r>
          </a:p>
          <a:p>
            <a:pPr lvl="0"/>
            <a:r>
              <a:rPr lang="ko-KR" sz="1200"/>
              <a:t>84%도 [Anthropic 2026c]의 보고값이며, 비교 대상은 환경 제약을 도입하기 전의 권한 요청 수다. 일반 수치가 아니다.</a:t>
            </a:r>
          </a:p>
          <a:p>
            <a:pPr lvl="0"/>
            <a:r>
              <a:rPr lang="ko-KR" sz="1200"/>
              <a:t>승인 피로는 "세션 07. 워크플로·에이전트와 사람의 개입"의 「08. 잘못된 관행」의 「모든 단계의 형식적 승인」에서 다뤘다. 샌드박스는 그 문제의 처방이다.</a:t>
            </a:r>
          </a:p>
          <a:p>
            <a:pPr lvl="0"/>
            <a:r>
              <a:rPr lang="ko-KR" sz="1200"/>
              <a:t>샌드박스의 구현(컨테이너·가상 머신·OS 수준 격리)은 도구의 일이며 과정은 무엇을 기본값으로 둘지만 결정한다.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본문이 가리키는 네 자리는 「05. 가드레일의 자리」의 「겹으로 쌓는다」의 것이다. 같은 그림을 두 번 보이지 않고 값만 채웠다.</a:t>
            </a:r>
          </a:p>
          <a:p>
            <a:pPr lvl="0"/>
            <a:r>
              <a:rPr lang="ko-KR" sz="1200"/>
              <a:t>규격 문서를 넣어 두는 곳은 "세션 05. 도메인·설계 지식과 맥락 구성"의 「06. 맥락 파일」의 「주문한다의 맥락 파일」이 가리키는 저장소의 문서 폴더이며, 예를 들면 docs/다. 결제 연동 규격은 거기에 docs/external/payment-api.md로 들어 있다. 폴더 이름은 저장소마다 정하는 것이며 에이전트가 미리 아는 이름이 아니다.</a:t>
            </a:r>
          </a:p>
          <a:p>
            <a:pPr lvl="0"/>
            <a:r>
              <a:rPr lang="ko-KR" sz="1200"/>
              <a:t>출력 검사를 커밋 전 하나만 둔 이유를 짚는다 — 산출이 코드와 커밋뿐이고, 그 밖의 결과는 센서가 본다.</a:t>
            </a:r>
          </a:p>
          <a:p>
            <a:pPr lvl="0"/>
            <a:r>
              <a:rPr lang="ko-KR" sz="1200"/>
              <a:t>이 그림이 실습 8의 결과물 형식이다. 수강생은 같은 네 자리에 정기배송의 값을 채운다.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확인 지점 셋은 "세션 07. 워크플로·에이전트와 사람의 개입"의 「07. 주문한다의 실행 흐름」의 「활동 다이어그램」에서 정했다. 가드레일을 세운 덕분에 그 셋만으로 충분하다는 관계를 짚는다.</a:t>
            </a:r>
          </a:p>
          <a:p>
            <a:pPr lvl="0"/>
            <a:r>
              <a:rPr lang="ko-KR" sz="1200"/>
              <a:t>표의 여섯 줄은 「03. 위험의 식별」의 「주문한다의 위험」의 여섯과 순서까지 같다. 위험을 고르는 일과 가드레일을 세우는 일이 한 줄씩 이어지는 것을 보인다.</a:t>
            </a:r>
          </a:p>
          <a:p>
            <a:pPr lvl="0"/>
            <a:r>
              <a:rPr lang="ko-KR" sz="1200"/>
              <a:t>배치표는 저장소에 두고 맥락 파일이 가리킨다. 사람과 에이전트가 같은 표를 본다.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지시 비대는 "세션 05. 도메인·설계 지식과 맥락 구성"의 「11. 잘못된 관행」의 「지시 비대」에서 다룬 문제다. 같은 현상이 가드레일의 자리를 잘못 고를 때 생긴다.</a:t>
            </a:r>
          </a:p>
          <a:p>
            <a:pPr lvl="0"/>
            <a:r>
              <a:rPr lang="ko-KR" sz="1200"/>
              <a:t>수강생의 저장소 맥락 파일에서 금지문을 찾아보게 한다. 대부분 한두 줄은 환경으로 옮길 수 있다.</a:t>
            </a:r>
          </a:p>
          <a:p>
            <a:pPr lvl="0"/>
            <a:r>
              <a:rPr lang="ko-KR" sz="1200"/>
              <a:t>프롬프트의 금지가 쓸모없다는 말이 아니다. 강제가 불가능한 자리에서는 그것이 유일한 수단이다.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[Anthropic 2026c] 원문 확인. 같은 글은 확률적 방어를 결정적인 환경 제약과 함께 쓰는 이유로 이 문장을 든다.</a:t>
            </a:r>
          </a:p>
          <a:p>
            <a:pPr lvl="0"/>
            <a:r>
              <a:rPr lang="ko-KR" sz="1200"/>
              <a:t>예방과 탐지를 겹치는 구성이 "세션 09. 검증 하네스·결과 점검·피드백"의 하네스다. 가드레일만으로 완료를 받아들이지 않는다.</a:t>
            </a:r>
          </a:p>
          <a:p>
            <a:pPr lvl="0"/>
            <a:r>
              <a:rPr lang="ko-KR" sz="1200"/>
              <a:t>수강생에게 묻는다 — 가드레일이 모두 작동했는데 결과가 틀렸다. 무엇을 보고 알 수 있는가? 센서의 증거뿐이다. 예로 주문 금액을 2,000원이 아니라 결제 직전 판매가인 2,400원으로 계산한 경우를 든다.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정기배송의 위험은 회차 금액·만료일의 기대값과 결제 승인 호출에서 나온다. 모델 패키지는 code/s01/subscription/docs/에 있다.</a:t>
            </a:r>
          </a:p>
          <a:p>
            <a:pPr lvl="0"/>
            <a:r>
              <a:rPr lang="ko-KR" sz="1200"/>
              <a:t>LLM은 위험을 "환각"·"품질 저하"처럼 모델의 능력 문제로 적고, 가드레일을 프롬프트 문장으로 제안한다. 점검 1·3으로 되돌린다.</a:t>
            </a:r>
          </a:p>
          <a:p>
            <a:pPr lvl="0"/>
            <a:r>
              <a:rPr lang="ko-KR" sz="1200"/>
              <a:t>평가는 표의 완성도보다 자리를 고른 근거를 본다. 같은 위험을 다른 자리에서 막아도 판정 가능성으로 설명되면 맞는 답이다.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8의 가드레일 배치가 실습 9의 하네스 배치의 입력이 된다. 가이드와 센서의 짝에서 가드레일이 가이드 쪽이다.</a:t>
            </a:r>
          </a:p>
          <a:p>
            <a:pPr lvl="0"/>
            <a:r>
              <a:rPr lang="ko-KR" sz="1200"/>
              <a:t>이 세션까지가 예방이다. 다음 세션은 같은 하네스의 탐지 쪽을 다룬다.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입력 자리의 한 행은 실습 7까지의 산출물에 없던 위험이다. 삼박자를 점검하면서 드러난다.</a:t>
            </a:r>
          </a:p>
          <a:p>
            <a:pPr lvl="0"/>
            <a:r>
              <a:rPr lang="ko-KR" sz="1200"/>
              <a:t>회차 7개와 만료일 2월 2일은 "세션 03. 요구의 구체화와 명세"의 실습 답에서 정한 값이다. 기대값을 지키는 것이 수용 기준을 지키는 것이다.</a:t>
            </a:r>
          </a:p>
          <a:p>
            <a:pPr lvl="0"/>
            <a:r>
              <a:rPr lang="ko-KR" sz="1200"/>
              <a:t>쓰기 금지와 "테스트를 고치지 마"라는 지시의 차이를 묻는다. 전자는 거절되고 후자는 막혔을 때 깨진다.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보완의 핵심은 같은 규칙을 두 곳에 적지 않는 것이다. 계약의 글과 환경의 설정이 어긋나면 어느 쪽도 신뢰할 수 없다.</a:t>
            </a:r>
          </a:p>
          <a:p>
            <a:pPr lvl="0"/>
            <a:r>
              <a:rPr lang="ko-KR" sz="1200"/>
              <a:t>맥락 파일에서 금지문을 지우는 것이 수강생에게 가장 낯선 결정이다. 지운 자리를 무엇이 대신하는지 말하게 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실행 제약과 가드레일의 역할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가드레일이란?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 배치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"하지 마"라고 적어도 에이전트는 막히면 그 길로 간다. 가드레일은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환경과 도구가 그 행동을 거절하게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만드는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어긋난 실행을 막는 네 수단,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조건·확인 지점·가드레일·센서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확률과 크기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적고, 어디까지 감당할지로 막을 것을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위험 10가지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(OWASP)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알고, 과제에 해당하는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과제의 말로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적는다.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전송이 모이면 주입을 막을 수 없다. 고리 하나를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호출·출력·환경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네 자리에 겹으로 쌓는다.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옮기고, 판정할 수 없는 것만 글로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기본값을 정해 어긋난 행동이 번지는 범위를 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가드레일이란?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65466" y="2898948"/>
          <a:ext cx="599948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8194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작동하는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멈출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경계를 알아볼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경계로 보지 못하면 그냥 지나간다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그 단계를 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승인이 많아지면 읽지 않고 누른다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일어나기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기계가 판정할 수 있는 규칙만 담는다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끝난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이미 일어난 뒤에야 보인다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사람에게 "실제 결제 시스템은 부르지 마"는 지키면 되는 규칙이지만, 에이전트에게는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지켜질 확률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가드레일은 그 지시가 어긋나도 결과가 달라지지 않게 하는 제약이다.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"계산적 가이드는 결정적인 도구로 좋은 결과의 확률을 높인다"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"Computational guides increase the probability of good results with deterministic tooling"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어긋난 실행을 막는 네 수단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67548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지시는 세 가지로 깨진다. 맥락이 길어지면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금지가 묻히고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읽는 문서에 숨은 지시가 섞이면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목표가 바뀌며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막히면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길을 찾는다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넷 중 가드레일만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모델의 협조에 기대지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결제 연동 설정과 자격을 에이전트의 환경에 주지 않으면, 호출하는 코드를 써도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위험의 어휘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무엇을 막고 무엇을 두고 볼지 고르려면 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비교할 수 있는 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적어야 한다. NIST는 그 말을 위험과 위험 허용 수준으로 정의한다.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"위험은 사건이 일어날 확률과 그 결과의 크기나 정도를 합친 척도를 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refers to the composite measure of an event's probability of occurring and the magnitude or degree of the consequences of the corresponding event"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위험 허용 수준은 조직이나 AI 관계자가 목표를 이루기 위해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위험을 감당할 준비가 된 정도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뜻한다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"Risk tolerance refers to the organization's or AI actor's … readiness to bear the risk in order to achieve its objectives"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부정적 위험을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완전히 없애려는 시도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실제로는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역효과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낼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"Attempting to eliminate negative risk entirely can be counterproductive in practice"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비밀 키 유출은 거의 일어나지 않지만 한 번 새면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확률만 보면 뒤로 밀리고, 크기를 함께 적어야 앞으로 나온다.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위험을 다 막으면 에이전트가 할 수 있는 일이 남지 않는다.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어디까지 감당할지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정하고 그 선을 넘는 것만 막는다.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 목록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8056" y="2386330"/>
          <a:ext cx="773430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4775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ASI01 목표 가로채기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규격 문서에 숨은 지시가 섞여 들어온다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 도구 오용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지우거나 실제 결제 시스템을 부른다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 신원·권한 남용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키를 읽고 사람의 자격으로 원격 저장소에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ASI09 사람·에이전트 신뢰 악용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통과시키고 완료라고 보고한다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ASI04 공급망 취약점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의존성은 사람이 미리 받아 둔 것만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ASI05 예상치 못한 코드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빌드가 샌드박스 안에서만 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ASI06 메모리·맥락 오염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파일은 사람이 쓰고 에이전트는 고치지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ASI07 안전하지 않은 에이전트 간 통신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하나여서 통신이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ASI08 연쇄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주문 금액이 결제·배송까지 번진다 — 수용 테스트가 잡는다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ASI10 통제를 벗어난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실패 3회에서 멈추고 사람에게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위험은 모델이 틀린 답을 내는 데서 오지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행동할 수 있다는 데서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온다. 열 가지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목표 가로채기·도구 오용·신원 남용·신뢰 악용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넷이 "주문한다"에서 일어난다.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 10가지 (OWASP,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위험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위험의 식별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13016" y="2112010"/>
          <a:ext cx="710438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889000"/>
                <a:gridCol w="889000"/>
                <a:gridCol w="2400300"/>
                <a:gridCol w="8890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"주문한다"의 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목록에서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등급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매우 크다 — 되돌릴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고객의 돈이 움직인다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비활성화·삭제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 — 완료의 증거가 사라진다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앞의 셋을 불러온다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높음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변경 후 완료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ASI09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 — 수용 기준이 흔들린다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ASI03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낮다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크다 — 남이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 넷이 "주문한다"에서 하는 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여섯 가지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등급은 확률이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되돌릴 수 있는가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가른다.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위험과 등급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가장 자주 일어나는 테스트 삭제와 거의 일어나지 않는 비밀 키 유출이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높음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확률이 아니라 되돌릴 수 있는지가 둘을 같은 자리에 놓았다.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높음 넷은 환경과 도구가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하게 만들고, 중간 둘은 쓰기 범위를 좁히고 자격을 주지 않는 것으로 다룬다.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세 능력이 모일 때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읽은 문서의 문장과 사람이 준 지시를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구분하지 못한다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아래 세 능력이 한자리에 모이면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(치명적 삼박자, lethal trifecta)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문서에 심어 둔 한 줄이 비밀 키를 밖으로 보내는 명령이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"에이전트가 이 세 가지 기능을 함께 가지면 공격자는 에이전트를 손쉽게 속여 비공개 데이터에 접근하게 하고 그것을 자기에게 보내게 만들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agent combines these three features, an attacker can easily trick it into accessing your private data and sending it to that attacker"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비공개 데이터 접근 — 애초에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도구를 쓰는 가장 흔한 목적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"Access to your private data — one of the most common purposes of tools in the first place"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신뢰할 수 없는 내용에의 노출 — 공격자가 통제하는 텍스트나 이미지가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LLM에 닿을 수 있는 모든 경로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"Exposure to untrusted content — any mechanism by which text (or images) controlled by a malicious attacker could become available to your LLM"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"데이터를 빼내는 데 쓰일 수 있는 외부 전송 능력"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ability to externally communicate in a way that could be used to steal your data"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"주문한다"에도 셋이 다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비밀 키와 연동 설정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(데이터)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결제·배송 시스템이 공개한 연동 규격 문서와 새 의존 패키지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(신뢰할 수 없는 내용)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결제 시스템 호출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(전송)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특별한 설정이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기본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이미 셋이다.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막을 수 없다는 전제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치명적 삼박자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17715" y="3137246"/>
          <a:ext cx="8094980" cy="3873500"/>
        </p:xfrm>
        <a:graphic>
          <a:graphicData uri="http://schemas.openxmlformats.org/drawingml/2006/table">
            <a:tbl>
              <a:tblPr/>
              <a:tblGrid>
                <a:gridCol w="1673860"/>
                <a:gridCol w="2232660"/>
                <a:gridCol w="41884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능력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끊는 방법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"주문한다"에서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비공개 데이터 접근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읽을 범위를 좁힌다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설정을 작업 공간 밖에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신뢰할 수 없는 내용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확인한 사본만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규격은 사람이 저장소에 넣어 둔 문서만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전송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통신을 막는다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결제는 테스트 대역만, 외부 호출은 환경이 거절한다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795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능력이 모인 상태에서 주입을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확실히 막는 방법은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그래서 방어는 "막는다"가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고리 하나를 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"이것이 일어나는 것을 100% 확실하게 막는 방법은 아직 알지 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still don't know how to 100% reliably prevent this from happening"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"웹 애플리케이션 보안에서 95%는 분명히 낙제 점수다"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web application security 95% is very much a failing grade"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879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세 능력을 끊는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7846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셋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하나만 끊어도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삼박자가 성립하지 않는다. "주문한다"가 끊는 고리는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읽을 범위와 문서는 사람이 계속 관리해야 유지되지만, 통신은 기계가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겹으로 쌓는다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한 자리에서 다 막지 못한다. 과제가 들어와 커밋으로 나가는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경로 위 네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나누어 두고 겹치게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하나로는 충분한 보호가 되기 어려우므로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여러 전문화된 가드레일을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겹으로 쌓아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더 견고한 에이전트를 만든다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"Think of guardrails as a layered defense mechanism. While a single one is unlikely to provide sufficient protection, using multiple, specialized guardrails together creates more resilient agents.", 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함께 읽는 문서에서 지시처럼 보이는 문장을 걸러낸다.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호출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위험 등급으로 가른다. 읽기는 통과, 쓰기는 범위 안, 외부 호출은 거절이다.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커밋 전에 비밀 키나 기대값 변경이 섞였는지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 셋을 감싼다. 검사를 빠져나간 행동도 여기서 막힌다.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121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가드레일의 네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28750" y="4749892"/>
            <a:ext cx="6286500" cy="161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계산적 강제와 지시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가드레일의 자리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2696" y="2112010"/>
          <a:ext cx="71450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316480"/>
                <a:gridCol w="27355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프롬프트의 지시로 두면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환경·도구로 강제하면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막혔을 때 기대값을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 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결제를 부르지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 대신 실제 주소를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밖으로 나가는 통신이 막혀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키를 읽지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찾다가 읽어 맥락에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않아 읽을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위임 계약이 금지로 적은 세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프롬프트에만 있으면 어겨진다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같은 규칙을 환경·도구에 걸면 어길 경로가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규칙을 지시로 둘 때와 강제로 둘 때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강제할 수 있는 규칙은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기계가 판정할 수 있는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파일 경로와 네트워크 주소, 자격은 판정되지만 업무 규칙의 해석은 판정되지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판정되지 않는 규칙은 멈출 조건으로 남겨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에이전트가 묻게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한다. 그 자리에서는 프롬프트의 문장이 유일한 수단이다.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거절된 호출은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기록으로 남긴다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기록이 없으면 에이전트가 막힌 뒤 다른 길로 돌아간 것도 보이지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피해 범위를 끊는다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가드레일이 뚫려도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번지는 범위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미리 좁혀 둘 수 있다. 그 범위를 피해 범위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(blast radius)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라 하고, 에이전트가 쓰는 환경의 경계가 그것을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"공학의 질문은 피해 범위를 어떻게 제한하는가가 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engineering question becomes how to cap the blast radius"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프로세스 샌드박스, 가상 머신, 파일 시스템 경계, 외부 전송 통제로 에이전트가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어디서 무엇을 할 수 있는지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제약한다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constrain where and how an agent can act with process sandboxes, VMs, filesystem boundaries, and egress controls"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끊는 자리는 프로세스·파일 시스템·네트워크·자격 넷이다. "주문한다"는 가상 머신까지 가지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파일 시스템·네트워크·자격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셋으로 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공간 안의 변경은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쉽다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 안에서는 승인 없이 일하게 두고, 밖으로 나가는 길만 막는다.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읽고 쓸 범위는 과제의 크기에 맞춘다. 저장소 전체를 쓰게 열어 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경계가 없는 것과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환경의 경계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83626" y="2898948"/>
          <a:ext cx="496316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45034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기본값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안은 허용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설정은 작업 공간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안만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기대값·의존 규칙 파일은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차단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 — 결제는 테스트 대역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샌드박스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(sandbox)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에이전트가 쓸 수 있는 자원을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미리 좁혀 둔 실행 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"주문한다"는 읽기·쓰기·네트워크에 기본값을 두고 꼭 필요한 것만 예외로 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"샌드박스는 선택적인 추가 장치가 아니라 합리적인 기본값으로 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see sandboxing as a sensible default rather than an optional enhancement"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샌드박스 기본값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기본값이 거절이면 사람에게 물을 일도 준다. 환경 제약으로 바꾼 뒤 권한 요청이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84% 줄었다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(Anthropic 자사 코딩 도구)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네트워크를 닫으면 의존성 받기와 규격 조회가 막힌다. 그 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미리 받아 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배치의 그림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"주문한다"는 네 자리 중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호출·환경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셋에 가드레일을 두고, 출력에는 커밋 전 검사 하나만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연동 규격을 에이전트가 직접 가져오지 않고,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사람이 저장소에 넣어 둔 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읽는다.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도구 호출의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쓰기는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패키지와 테스트 코드만, 외부 호출은 결제 테스트 대역만 통과한다.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환경의 테두리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네트워크가 닫히고 자격이 없어, 검사를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지나친 호출도 연결되지 않는다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가드레일 배치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523008" y="3998976"/>
            <a:ext cx="6097984" cy="154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배치표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주문한다의 가드레일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546926" y="2112010"/>
          <a:ext cx="8036560" cy="3873500"/>
        </p:xfrm>
        <a:graphic>
          <a:graphicData uri="http://schemas.openxmlformats.org/drawingml/2006/table">
            <a:tbl>
              <a:tblPr/>
              <a:tblGrid>
                <a:gridCol w="2037080"/>
                <a:gridCol w="1310640"/>
                <a:gridCol w="28194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두고 읽기에서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시스템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차단, 결제는 테스트 대역만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호출이 연결되지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비활성화·삭제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파일은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저장소에 넣어 둔 규격 문서만 읽힌다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원문에 닿지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 변경 후 완료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쓰기는 order와 테스트 코드만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인증이 없어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앞의 여섯 위험을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자리와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옮긴다. 어긋났을 때 무엇이 일어나는지까지 적어야 세운 것이 실제로 막는지 확인할 수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"주문한다"의 위험별 가드레일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표에 못 들어간 것도 있다. "명세에 없는 업무 규칙을 정해야 할 때"는 기계가 판정할 수 없어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멈출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남고, 에이전트가 멈추고 사람에게 묻는다.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여섯을 환경과 도구가 거절해 주는 덕분에, 사람이 보는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계획·결제 관련 변경·병합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셋으로 줄었다.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모든 검사를 프롬프트에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12010"/>
          <a:ext cx="7061200" cy="3873500"/>
        </p:xfrm>
        <a:graphic>
          <a:graphicData uri="http://schemas.openxmlformats.org/drawingml/2006/table">
            <a:tbl>
              <a:tblPr/>
              <a:tblGrid>
                <a:gridCol w="1981200"/>
                <a:gridCol w="245618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프롬프트의 문장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어겨지는 모습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옮길 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"테스트는 지우지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막히면 기대값부터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 쓰기 금지(도구 호출)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"실제 결제는 부르지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대역 주소를 실제 주소로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차단(환경)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"비밀 키는 보지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찾다가 읽어 맥락에 남는다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둔다(환경)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프롬프트에 적은 금지는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읽히기를 바라는 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자주 적는 세 문장은 막힌 에이전트 앞에서 모두 깨지고, 셋 다 옮겨 둘 자리가 있다.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프롬프트에 둔 검사와 옮길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사고가 날 때마다 금지문이 한 줄씩 쌓인다. 맥락이 길어지면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지시부터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글로 남길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정할 결정과 판단의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기계가 판정할 수 있는 것은 환경·도구로 옮긴다.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가드레일 과신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가드레일을 세우고 나면 결과도 안전하다고 여기기 쉽다.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막는 것과 보는 것은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"확률적인 방어에는 놓치는 비율이 0이 아니다"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probabilistic defense has a non-zero miss rate"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금지한 행동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막는다. 결과가 틀려도 금지된 행동이 아니어서 그대로 통과하고,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테스트가 실패해야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드러난다.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규칙의 해석이나 설계의 적절성은 가드레일이 판정하지 못한다. 그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거절이 늘어 에이전트가 더 나아가지 못하면 막은 범위를 다시 본다. 다 막는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아무것도 맡기지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같다.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가드레일 배치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6의 위임 계약과 실습 7의 실행 흐름을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"신청한다"의 가드레일 배치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6의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실습 7의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 흐름과 확인 지점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"신청한다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위험을 확률과 크기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적고, 위험마다 가드레일을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입력·도구 호출·출력·환경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중 어디에 어떤 방식으로 둘지 표로 만들어줘."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"가드레일마다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어긋나면 무엇이 일어나는지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적고, 강제할 수 없어 지시나 멈출 조건으로 남기는 것을 구분해줘."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위험의 범위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모델의 오답이 아니라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행동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(쓰기·외부 호출·자격)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이 만드는 위험을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자리의 명시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가드레일마다 입력·도구 호출·출력·환경 중 어디인지 적었는가?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기계가 판정할 수 있는 규칙을 프롬프트의 금지문으로 남기지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삼박자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 중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끊은 고리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예방과 탐지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센서가 할 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(테스트·의존 규칙 검사)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가드레일로 적지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일이 되는가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모두 막아서 "신청한다" 개발이 진행되지 못하는 항목은 없는가?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"신청한다"의 가드레일 배치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(위험·자리·방식·어긋나면)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실습 9의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지켜 주기를 바라는 글이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 전에 환경과 도구가 거절하는 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확률과 크기를 합쳐 재고, 허용 수준을 넘는 것만 막는다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에이전트의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모델의 오답이 아니라 행동에서 온다. OWASP의 열 가지에서 과제에 해당하는 것을 골라 과제의 말로 적는다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치명적 삼박자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비공개 데이터·신뢰할 수 없는 내용·외부 전송이 모이면 주입을 막을 수 없다. 고리 하나를 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네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입력·도구 호출·출력에 검사를 두고 환경이 감싼다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강제와 지시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기계가 판정할 수 있는 것은 환경·도구로, 판정할 수 없는 것만 글로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막는 것과 보는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확률적 방어에는 틈이 있어 센서와 겹쳐 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09. 검증 하네스·결과 점검·피드백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막는 것으로 끝나지 않는 결과를, 센서가 낸 증거로 받아들일지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가드레일 배치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386330"/>
          <a:ext cx="8305800" cy="3873500"/>
        </p:xfrm>
        <a:graphic>
          <a:graphicData uri="http://schemas.openxmlformats.org/drawingml/2006/table">
            <a:tbl>
              <a:tblPr/>
              <a:tblGrid>
                <a:gridCol w="2014213"/>
                <a:gridCol w="1167791"/>
                <a:gridCol w="3458110"/>
                <a:gridCol w="166568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위험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어긋나면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비밀 키·결제 연동 설정 유출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공간 밖에 두고 읽기에서 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파일이 보이지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 결제 승인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환경·도구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네트워크 차단, 결제는 테스트 대역만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호출이 연결되지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기대값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7개·만료일 2월 2일의 기대값 파일은 쓰기 금지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숨은 지시가 섞인 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연동 규격은 저장소에 넣어 둔 문서만 읽힌다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원문에 닿지 못한다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 범위 이탈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쓰기는 subscription과 테스트 코드만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쓰기가 거절된다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원격 저장소 반영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자격을 주지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인증이 없어 실패한다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"신청한다"의 위험도 여섯이고, 막는 자리는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환경에 셋·도구 호출에 둘·입력에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공휴일 규칙처럼 기계가 판정할 수 없는 것만 멈출 조건으로 남는다.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"신청한다"의 위험별 가드레일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30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끊은 고리는 외부 전송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결제·배송 시스템 호출을 테스트 대역으로 돌리고 밖으로 나가는 통신을 막았다.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출력은 커밋 전 한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비밀 키와 기대값 변경이 섞였는지만 본다. 나머지 판정은 센서의 몫이다.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08. 실행 제약과 가드레일의 역할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위임 계약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6)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금지를 거절로 옮긴다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권한 항목의 "…는 금지한다"를 "환경이 거절한다"로 바꾸고, 어떤 설정이 그렇게 만드는지 한 줄로 적는다.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멈출 조건만 글로 남긴다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공휴일 규칙처럼 판정할 수 없는 것만 계약에 남긴다.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실행 흐름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7)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환경이 거절하는 자리에는 확인 지점을 두지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원격 반영은 자격이 없어 실행되지 않으므로, 승인 대신 사람이 실행하는 단계다.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5)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배치표를 가리킨다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파일에 가드레일 배치의 자리를 한 줄로 적고, 중복된 금지문은 지운다.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규격 문서의 출처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배송 시스템이 공개한 규격은 사람이 받아 저장소에 넣고, 맥락 파일이 그 문서를 가리킨다.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계약의 권한 항목과 맥락 파일의 한 줄. 실습 9의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위험과 등급의 표. 배치가 정해진 뒤에는 다시 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20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Wingdings</vt:lpstr>
      <vt:lpstr>4_Office 테마</vt:lpstr>
      <vt:lpstr>08. 실행 제약과 가드레일의 역할 목차</vt:lpstr>
      <vt:lpstr>01. 세션 목표</vt:lpstr>
      <vt:lpstr>02. 가드레일이란?</vt:lpstr>
      <vt:lpstr>위험의 어휘 03. 위험의 식별</vt:lpstr>
      <vt:lpstr>에이전트의 위험 목록 03. 위험의 식별</vt:lpstr>
      <vt:lpstr>주문한다의 위험 03. 위험의 식별</vt:lpstr>
      <vt:lpstr>세 능력이 모일 때 04. 치명적 삼박자</vt:lpstr>
      <vt:lpstr>막을 수 없다는 전제 04. 치명적 삼박자</vt:lpstr>
      <vt:lpstr>겹으로 쌓는다 05. 가드레일의 자리</vt:lpstr>
      <vt:lpstr>계산적 강제와 지시 05. 가드레일의 자리</vt:lpstr>
      <vt:lpstr>피해 범위를 끊는다 06. 환경의 경계</vt:lpstr>
      <vt:lpstr>샌드박스 06. 환경의 경계</vt:lpstr>
      <vt:lpstr>배치의 그림 07. 주문한다의 가드레일</vt:lpstr>
      <vt:lpstr>배치표 07. 주문한다의 가드레일</vt:lpstr>
      <vt:lpstr>모든 검사를 프롬프트에 08. 잘못된 관행</vt:lpstr>
      <vt:lpstr>가드레일 과신 08. 잘못된 관행</vt:lpstr>
      <vt:lpstr>09. 실습 — 가드레일 배치</vt:lpstr>
      <vt:lpstr>10. 요약</vt:lpstr>
      <vt:lpstr>가드레일 배치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08. 실행 제약과 가드레일의 역할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