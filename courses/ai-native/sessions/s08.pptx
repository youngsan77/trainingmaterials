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slides/slide35.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 실제로 구현을 맡긴다. "세션 07. 설계 — 책임과 협력"의 「10. 작업 단위」가 나눈 첫 단위 금액 확정이 대상이다.</a:t>
            </a:r>
          </a:p>
          <a:p>
            <a:pPr lvl="0"/>
            <a:r>
              <a:rPr lang="ko-KR" sz="1200"/>
              <a:t>기준 원전은 [Anthropic 2024](위임 형태와 확인 지점)와 [Anthropic 2025c](맥락)이며, 위험의 어휘는 [NIST 2023], 실행 시점의 위험은 [OWASP 2025]·[Willison 2025a], 환경의 경계는 [Anthropic 2026c]·[Thoughtworks 2026]으로 받친다.</a:t>
            </a:r>
          </a:p>
          <a:p>
            <a:pPr lvl="0"/>
            <a:r>
              <a:rPr lang="ko-KR" sz="1200"/>
              <a:t>막는 것과 탐지하는 것을 구분한다. 권한으로 미리 막는 것이 이 세션, 검사로 나중에 탐지하는 것이 "세션 09. 검사 파이프라인"이다.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4가지의 이름은 과정의 구분이다. 도구·권한·상태를 따로 세는 분류도 있으나, 이 과정은 사람이 적어야 하는 것을 기준으로 넷으로 묶었다.</a:t>
            </a:r>
          </a:p>
          <a:p>
            <a:pPr lvl="0"/>
            <a:r>
              <a:rPr lang="ko-KR" sz="1200"/>
              <a:t>도식의 왼쪽 둘은 입력, 가운데는 실행, 오른쪽은 판정이다. 권한은 화살표가 아니라 에이전트를 감싼 테두리로 그렸다.</a:t>
            </a:r>
          </a:p>
          <a:p>
            <a:pPr lvl="0"/>
            <a:r>
              <a:rPr lang="ko-KR" sz="1200"/>
              <a:t>자율성을 올릴 조건은 "세션 02. LLM이라는 재료"의 「06. 자율성」의 「자율성의 계단」이 정했다. 여기서는 그 계단을 계약으로 적는다.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단위 넷과 완료를 확인할 예는 "세션 07. 설계 — 책임과 협력"의 「10. 작업 단위」의 「주문한다의 작업 단위 넷」에 있다.</a:t>
            </a:r>
          </a:p>
          <a:p>
            <a:pPr lvl="0"/>
            <a:r>
              <a:rPr lang="ko-KR" sz="1200"/>
              <a:t>수용 예의 원천은 "세션 03. 요구와 수용 기준"의 「06. 수용 기준」이다. 위임이 기대값을 새로 만들지 않는다.</a:t>
            </a:r>
          </a:p>
          <a:p>
            <a:pPr lvl="0"/>
            <a:r>
              <a:rPr lang="ko-KR" sz="1200"/>
              <a:t>남은 단위 셋을 맡기는 것은 "세션 11. 종합 실행"이다. 그때는 검사까지 갖춰져 있어 사람이 볼 것이 줄어든다.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[Effective context engineering for AI agents](https://www.anthropic.com/engineering/effective-context-engineering-for-ai-agents), 2025의 시스템 프롬프트 항목 원문 확인. 원문은 지나치게 구체적인 규칙 나열과 지나치게 모호한 지시를 양쪽 실패로 든다.</a:t>
            </a:r>
          </a:p>
          <a:p>
            <a:pPr lvl="0"/>
            <a:r>
              <a:rPr lang="ko-KR" sz="1200"/>
              <a:t>원문의 시스템 프롬프트는 에이전트 제품의 기본 지시를 가리킨다. 이 과정은 그 조언을 한 과제의 작업 지시문에 적용한다.</a:t>
            </a:r>
          </a:p>
          <a:p>
            <a:pPr lvl="0"/>
            <a:r>
              <a:rPr lang="ko-KR" sz="1200"/>
              <a:t>높이를 가늠하는 질문을 던진다 — 이 문장을 지우면 결과가 달라지는가, 아니면 모델이 알아서 하는 일인가.</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산출물의 수명 구분은 "세션 03. 요구와 수용 기준"의 「09. 요구사항 정의서와 작업 명세서」가 정했다.</a:t>
            </a:r>
          </a:p>
          <a:p>
            <a:pPr lvl="0"/>
            <a:r>
              <a:rPr lang="ko-KR" sz="1200"/>
              <a:t>모델 패키지의 자리는 저장소 안이다. 폴더 이름은 과정이 정한 것이며, 예를 들면 docs/다.</a:t>
            </a:r>
          </a:p>
          <a:p>
            <a:pPr lvl="0"/>
            <a:r>
              <a:rPr lang="ko-KR" sz="1200"/>
              <a:t>베껴 쓴 지시문의 실패 장면을 하나 든다 — 용어집은 단가로 고쳤는데 지시문에 남은 가격을 에이전트가 필드 이름으로 쓴 경우다.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이것은 지시문의 형식 예시다. 실제 실행은 같은 네 절을 다섯 번의 프롬프트로 나누어 전달했고, 원본은 code/s08/exercise-conversation/order/prompt-01.txt~prompt-05.txt다.</a:t>
            </a:r>
          </a:p>
          <a:p>
            <a:pPr lvl="0"/>
            <a:r>
              <a:rPr lang="ko-KR" sz="1200"/>
              <a:t>네 절의 제목이 위임 계약의 4가지와 같다. 계약의 빈칸을 찾는 틀로 쓰게 한다.</a:t>
            </a:r>
          </a:p>
          <a:p>
            <a:pPr lvl="0"/>
            <a:r>
              <a:rPr lang="ko-KR" sz="1200"/>
              <a:t>지시문에 업무 규칙을 다시 적지 않았다. 규칙은 요구 문서가 들고 있고 지시문은 이번 단위의 결과만 말한다.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[Effective context engineering for AI agents](https://www.anthropic.com/engineering/effective-context-engineering-for-ai-agents), 2025의 정의 원문 확인. 같은 글은 맥락을 수익이 줄어드는 유한한 자원으로 다루라고 덧붙인다.</a:t>
            </a:r>
          </a:p>
          <a:p>
            <a:pPr lvl="0"/>
            <a:r>
              <a:rPr lang="ko-KR" sz="1200"/>
              <a:t>맥락 창의 한계와 주의 예산은 "세션 02. LLM이라는 재료"의 「02. LLM의 성질」의 「맥락 창의 한계」가 다뤘다. 여기서는 그 한계 안에서 무엇을 고르는지를 정한다.</a:t>
            </a:r>
          </a:p>
          <a:p>
            <a:pPr lvl="0"/>
            <a:r>
              <a:rPr lang="ko-KR" sz="1200"/>
              <a:t>호출마다 맥락이 다시 들어가는 비용은 "세션 02. LLM이라는 재료"의 「03. 비용의 구조」의 「맥락은 호출마다 다시 들어간다」에 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Ryan Lopopolo, [Harness engineering](https://openai.com/index/harness-engineering/), OpenAI, 2026의 문서 배치 항목 원문 확인(영문판 본문). 가벼운 식별자 인용은 [Anthropic 2025c]의 적시 검색 항목 원문 확인이다.</a:t>
            </a:r>
          </a:p>
          <a:p>
            <a:pPr lvl="0"/>
            <a:r>
              <a:rPr lang="ko-KR" sz="1200"/>
              <a:t>두 원문이 같은 방식을 서로 다른 말로 설명한다. 하나는 문서의 배치, 하나는 참조로 불러오기다.</a:t>
            </a:r>
          </a:p>
          <a:p>
            <a:pPr lvl="0"/>
            <a:r>
              <a:rPr lang="ko-KR" sz="1200"/>
              <a:t>입구 문서를 직접 보여 주고, 표의 한 줄이 "언제 읽나"인 이유를 묻는다 — 에이전트가 고를 근거가 거기 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[Effective harnesses for long-running agents](https://www.anthropic.com/engineering/effective-harnesses-for-long-running-agents), 2025의 세션 단절 항목과 [Anthropic 2025c]의 압축 항목 원문 확인.</a:t>
            </a:r>
          </a:p>
          <a:p>
            <a:pPr lvl="0"/>
            <a:r>
              <a:rPr lang="ko-KR" sz="1200"/>
              <a:t>첫 단위는 한 세션에 끝나므로 압축이 필요 없다. 왜 지금 배우는지 밝힌다 — 남은 단위를 함께 맡기는 "세션 11. 종합 실행"에서 쓰인다.</a:t>
            </a:r>
          </a:p>
          <a:p>
            <a:pPr lvl="0"/>
            <a:r>
              <a:rPr lang="ko-KR" sz="1200"/>
              <a:t>진행 기록의 파일 형식은 정하지 않는다. 기능 목록으로 남기는 예는 "세션 07. 설계 — 책임과 협력"의 「10. 작업 단위」의 「기능 목록과 점진적 진행」에 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[How we contain Claude across products](https://www.anthropic.com/engineering/how-we-contain-claude), 2026의 기본 경계 항목 원문 확인. 원문은 제품의 기본값을 설명한 것이며 모든 환경의 표준이 아니다.</a:t>
            </a:r>
          </a:p>
          <a:p>
            <a:pPr lvl="0"/>
            <a:r>
              <a:rPr lang="ko-KR" sz="1200"/>
              <a:t>최소 권한은 AI 때문에 생긴 원칙이 아니다. 에이전트가 그 원칙을 다시 필요하게 만들었다는 점을 짚는다.</a:t>
            </a:r>
          </a:p>
          <a:p>
            <a:pPr lvl="0"/>
            <a:r>
              <a:rPr lang="ko-KR" sz="1200"/>
              <a:t>실습에서 수강생이 쓰는 코딩 에이전트의 권한 설정은 「08. 빈 저장소에서 시작하기」의 「권한을 설정한다」가 안내한다.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구분은 과정의 결정이다(course-design.md의 「원전 적용 결정」). 가드레일이라는 말은 이 세션에서 한 번 짚고 이후 쓰지 않는다.</a:t>
            </a:r>
          </a:p>
          <a:p>
            <a:pPr lvl="0"/>
            <a:r>
              <a:rPr lang="ko-KR" sz="1200"/>
              <a:t>사람에게는 규칙이지만 에이전트에게는 지켜질 확률이다. 같은 금지가 스무 번 중 한 번 깨지는 것이 문제다.</a:t>
            </a:r>
          </a:p>
          <a:p>
            <a:pPr lvl="0"/>
            <a:r>
              <a:rPr lang="ko-KR" sz="1200"/>
              <a:t>강제로 옮길 수 없는 금지의 예를 묻는다 — "업무 규칙을 바꾸지 마라"는 환경이 판정할 수 없고 검사가 탐지한다.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표가 실제 실행에 쓴 권한이다. 수강생 환경의 설정 파일로 옮기는 방법은 「08. 빈 저장소에서 시작하기」에 있다.</a:t>
            </a:r>
          </a:p>
          <a:p>
            <a:pPr lvl="0"/>
            <a:r>
              <a:rPr lang="ko-KR" sz="1200"/>
              <a:t>커밋 허용은 교육용 선택이다. 팀에 따라 커밋도 사람이 하는 기본값을 둘 수 있다.</a:t>
            </a:r>
          </a:p>
          <a:p>
            <a:pPr lvl="0"/>
            <a:r>
              <a:rPr lang="ko-KR" sz="1200"/>
              <a:t>문서 수정을 막았기 때문에 에이전트가 멈춰 묻는 일이 생긴다. 그 질문이 「09. 맡긴 결과 보기」의 입력이 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[Writing effective tools for AI agents](https://www.anthropic.com/engineering/writing-tools-for-agents), 2025의 도구 정의와 [MCP 2025] 규격의 보안 항목 원문 확인. 규격의 같은 절은 사용자가 어떤 자료와 행동을 허용할지 통제를 유지해야 한다고 적는다.</a:t>
            </a:r>
          </a:p>
          <a:p>
            <a:pPr lvl="0"/>
            <a:r>
              <a:rPr lang="ko-KR" sz="1200"/>
              <a:t>개념까지만 다룬다. 서버를 만드는 방법과 제품별 설정은 범위 밖이다(course-design.md의 「3. 범위와 경계」).</a:t>
            </a:r>
          </a:p>
          <a:p>
            <a:pPr lvl="0"/>
            <a:r>
              <a:rPr lang="ko-KR" sz="1200"/>
              <a:t>도구를 과제의 말로 고르게 한다 — 이번 단위에 티켓 시스템 연결이 필요한지 물으면 답은 아니다.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[NIST 2023] AI RMF 1.0의 위험과 위험 허용 수준 정의 원문 확인. 같은 문서는 위험을 완전히 없애려는 시도가 실제로는 역효과일 수 있다고 적는다.</a:t>
            </a:r>
          </a:p>
          <a:p>
            <a:pPr lvl="0"/>
            <a:r>
              <a:rPr lang="ko-KR" sz="1200"/>
              <a:t>표의 위험은 [OWASP 2025]의 도구 오용·신원과 권한 남용·예기치 않은 코드 실행에 해당한다. 목록을 다 소개하지 않고 과제의 말로 적었다.</a:t>
            </a:r>
          </a:p>
          <a:p>
            <a:pPr lvl="0"/>
            <a:r>
              <a:rPr lang="ko-KR" sz="1200"/>
              <a:t>위험 관리의 조직 체계와 거버넌스는 범위 밖이다. 어휘만 쓴다.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Simon Willison, [The lethal trifecta for AI agents](https://simonwillison.net/2025/Jun/16/the-lethal-trifecta/), 2025 원문 확인. 세 능력의 이름은 원문의 비공개 데이터 접근·신뢰할 수 없는 내용에의 노출·외부 통신 수단이다.</a:t>
            </a:r>
          </a:p>
          <a:p>
            <a:pPr lvl="0"/>
            <a:r>
              <a:rPr lang="ko-KR" sz="1200"/>
              <a:t>셋 중 무엇을 끊을지는 과제가 정한다. 통신을 끊을 수 없는 과제라면 읽히는 내용을 통제한다.</a:t>
            </a:r>
          </a:p>
          <a:p>
            <a:pPr lvl="0"/>
            <a:r>
              <a:rPr lang="ko-KR" sz="1200"/>
              <a:t>실제 고객 데이터를 모델에 보내지 않는 판단은 "세션 10. 비용과 평가"가 운영의 위험으로 다룬다.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[Willison 2025a] 원문 확인. 같은 글은 모델이 내용 속 지시를 따른다는 점과, 웹 보안에서 95%는 낙제점이라는 말을 함께 적는다.</a:t>
            </a:r>
          </a:p>
          <a:p>
            <a:pPr lvl="0"/>
            <a:r>
              <a:rPr lang="ko-KR" sz="1200"/>
              <a:t>주입을 막는 제품 기능을 소개하지 않는다. 이 세션의 답은 권한과 피해 범위다.</a:t>
            </a:r>
          </a:p>
          <a:p>
            <a:pPr lvl="0"/>
            <a:r>
              <a:rPr lang="ko-KR" sz="1200"/>
              <a:t>탐지는 검사의 일이다. 막지 못한 것을 어떻게 알아채는지는 "세션 09. 검사 파이프라인"이 다룬다.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2026c]의 피해 범위 항목과 Thoughtworks, [Technology Radar](https://www.thoughtworks.com/radar), Vol. 34, 2026의 에이전트 샌드박스 실행 항목 원문 확인. Radar의 링은 기법이 업계에서 어느 단계인지 보여 주는 신호로만 쓴다.</a:t>
            </a:r>
          </a:p>
          <a:p>
            <a:pPr lvl="0"/>
            <a:r>
              <a:rPr lang="ko-KR" sz="1200"/>
              <a:t>샌드박스의 구현은 환경마다 다르다. 제품의 설정 이름을 가르치지 않고 무엇을 좁히는지를 가르친다.</a:t>
            </a:r>
          </a:p>
          <a:p>
            <a:pPr lvl="0"/>
            <a:r>
              <a:rPr lang="ko-KR" sz="1200"/>
              <a:t>되돌림을 실제로 해 보게 한다 — 브랜치를 버리면 어디까지 사라지고 무엇이 남는지 묻는다.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미정 둘은 과정 공통 전제가 정한 것이다. 배송 요청 실패는 "세션 11. 종합 실행"에서 거두어진다.</a:t>
            </a:r>
          </a:p>
          <a:p>
            <a:pPr lvl="0"/>
            <a:r>
              <a:rPr lang="ko-KR" sz="1200"/>
              <a:t>상한과 재시도는 「재시도와 상한」이 다룬다. 여기서는 멈춤의 종류만 구분한다.</a:t>
            </a:r>
          </a:p>
          <a:p>
            <a:pPr lvl="0"/>
            <a:r>
              <a:rPr lang="ko-KR" sz="1200"/>
              <a:t>에이전트가 미정을 추측으로 채운 경우를 어떻게 알아채는지 묻는다 — 검사는 녹색일 수 있다.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2024]의 확인 지점 항목, [OpenAI 2025]의 고위험 행동 항목(받은 PDF), [Anthropic 2026c]의 승인 피로 항목 원문 확인.</a:t>
            </a:r>
          </a:p>
          <a:p>
            <a:pPr lvl="0"/>
            <a:r>
              <a:rPr lang="ko-KR" sz="1200"/>
              <a:t>사람의 개입은 흐름 안에 둔 사람의 판단 자리다. [Blount 외 2026]은 걸린 것이 큰 작업에서 그 자리를 의도적인 멈춤으로 설명한다.</a:t>
            </a:r>
          </a:p>
          <a:p>
            <a:pPr lvl="0"/>
            <a:r>
              <a:rPr lang="ko-KR" sz="1200"/>
              <a:t>승인 피로를 수강생의 경험과 잇는다 — 전부 허용으로 바꾼 적이 있는지 묻고, 그때 무엇이 사라졌는지 짚는다.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[Thoughtworks 2026]의 에이전트 워크플로 내구성 항목과 Anthropic, [How we built our multi-agent research system](https://www.anthropic.com/engineering/multi-agent-research-system), 2025의 이어 가기 항목 원문 확인.</a:t>
            </a:r>
          </a:p>
          <a:p>
            <a:pPr lvl="0"/>
            <a:r>
              <a:rPr lang="ko-KR" sz="1200"/>
              <a:t>상한의 값은 과제가 정한다. 이번 단위는 같은 검사의 실패가 세 번 이어지면 멈추게 했다.</a:t>
            </a:r>
          </a:p>
          <a:p>
            <a:pPr lvl="0"/>
            <a:r>
              <a:rPr lang="ko-KR" sz="1200"/>
              <a:t>실패의 원인을 결정으로 되돌리는 일은 "세션 09. 검사 파이프라인"과 "세션 11. 종합 실행"이 맡는다. 여기서는 멈추고 남기는 것까지다.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01. 사람의 일과 AI의 일"의 「08. 실습 환경 준비」에서 저장소와 문서 폴더를 이미 만들었다. 여기서는 브랜치와 빌드 구성부터다.</a:t>
            </a:r>
          </a:p>
          <a:p>
            <a:pPr lvl="0"/>
            <a:r>
              <a:rPr lang="ko-KR" sz="1200"/>
              <a:t>Gradle로 묶는 검사 명령은 "세션 09. 검사 파이프라인"에서 만든다. 지금은 컴파일과 테스트가 도는 것까지다.</a:t>
            </a:r>
          </a:p>
          <a:p>
            <a:pPr lvl="0"/>
            <a:r>
              <a:rPr lang="ko-KR" sz="1200"/>
              <a:t>강의 저장소의 예제는 javac로 실행했다. 빌드 도구로 묶는 전환이 09의 작업이기 때문이다.</a:t>
            </a:r>
          </a:p>
          <a:p>
            <a:pPr lvl="0"/>
            <a:r>
              <a:rPr lang="ko-KR" sz="1200"/>
              <a:t>실습실에서 내려받기가 막히면 강사가 준비한 사본으로 바꾼다. 사내망에서 막히는 경우가 많으니 첫날에 확인하게 안내하고, 사본으로 바꿨다는 사실을 수강생이 알고 있어야 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2026-10 기준으로 Claude Code는 .claude/settings.json의 permissions.allow·permissions.deny에 적는다. 제품 안내로 다시 확인한다.</a:t>
            </a:r>
          </a:p>
          <a:p>
            <a:pPr lvl="0"/>
            <a:r>
              <a:rPr lang="ko-KR" sz="1200"/>
              <a:t>설정의 문법을 가르치지 않는다. 무엇을 열고 무엇을 닫는지가 학습 내용이다.</a:t>
            </a:r>
          </a:p>
          <a:p>
            <a:pPr lvl="0"/>
            <a:r>
              <a:rPr lang="ko-KR" sz="1200"/>
              <a:t>전부 허용으로 두고 실습하지 않게 한다. 거절되는 경험이 이 세션의 핵심이다.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[Blount 외 2026] Introduction to Agents(받은 PDF)의 관측 가능성 항목 원문 확인.</a:t>
            </a:r>
          </a:p>
          <a:p>
            <a:pPr lvl="0"/>
            <a:r>
              <a:rPr lang="ko-KR" sz="1200"/>
              <a:t>실제 실행의 추적은 code/s08/exercise-conversation/order/codex-events-01.jsonl~05에 있다. 읽은 문서와 실행한 명령, 거절된 행동이 그 기록에서 나왔다.</a:t>
            </a:r>
          </a:p>
          <a:p>
            <a:pPr lvl="0"/>
            <a:r>
              <a:rPr lang="ko-KR" sz="1200"/>
              <a:t>추적을 보는 법을 시연한다 — 처음부터 읽지 않고 거절과 실패 줄부터 찾는다.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code/s08/exercise-conversation/order/주문한다-위임기록.md의 「거절된 행동과 멈춘 질문」이다. 명령과 출력은 실행 기록 그대로다.</a:t>
            </a:r>
          </a:p>
          <a:p>
            <a:pPr lvl="0"/>
            <a:r>
              <a:rPr lang="ko-KR" sz="1200"/>
              <a:t>코딩 에이전트의 샌드박스는 .git을 기본으로 보호한다. 커밋을 맡기려면 그 보호를 푸는 설정이 따로 필요하다는 것을 이 실행이 보여 준다.</a:t>
            </a:r>
          </a:p>
          <a:p>
            <a:pPr lvl="0"/>
            <a:r>
              <a:rPr lang="ko-KR" sz="1200"/>
              <a:t>모델에 되돌릴 것 — 계약에는 저장소 밖 쓰기 금지가 있었지만 환경 설정에는 그 자리가 없었다. 설정 파일에 그 경계를 더한다.</a:t>
            </a:r>
          </a:p>
          <a:p>
            <a:pPr lvl="0"/>
            <a:r>
              <a:rPr lang="ko-KR" sz="1200"/>
              <a:t>통과한 쓰기를 수강생이 직접 되돌리게 한다. 되돌릴 수 없는 자리를 만드는 것이 왜 위험한지 여기서 짚는다.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code/s08/delegation/src/main/java/order/OrderApplicationService.java이며 node courses/ai-native/sessions/code/s08/delegation/run.mjs로 컴파일과 검사를 확인했다. 슬라이드는 금액 확정 부분의 발췌다.</a:t>
            </a:r>
          </a:p>
          <a:p>
            <a:pPr lvl="0"/>
            <a:r>
              <a:rPr lang="ko-KR" sz="1200"/>
              <a:t>실행이 돌려준 OrderStatus는 첫 단위가 쓰는 둘만 선언했다. 예제 원본은 관통 사례의 상태 넷(PENDING_PAYMENT, PAID, IN_DELIVERY, DELIVERED)을 유지하도록 채웠다. 값이 줄면 다음 세션이 같은 이름을 다른 뜻으로 쓴다 — 이것도 결과 검토에서 찾을 자리다.</a:t>
            </a:r>
          </a:p>
          <a:p>
            <a:pPr lvl="0"/>
            <a:r>
              <a:rPr lang="ko-KR" sz="1200"/>
              <a:t>설계 시퀀스는 "세션 07. 설계 — 책임과 협력"의 「04. 협력과 인터페이스」의 「설계 시퀀스」와 같은 표기다. 그 세션이 그린 것은 결제한다 장면이다.</a:t>
            </a:r>
          </a:p>
          <a:p>
            <a:pPr lvl="0"/>
            <a:r>
              <a:rPr lang="ko-KR" sz="1200"/>
              <a:t>모델에 되돌릴 것 — 주문 요청 항목(OrderItemRequest)을 영한 용어집에 더한다. 확정 항목(PricedOrderItem)과 금액(Money)은 설계의 인터페이스 절이 이미 이름을 정했다.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2025d]의 긴 작업 하네스 항목 원문 확인. 원문은 그 경향을 막으려고 검사를 환경에 넣은 사례를 설명한다.</a:t>
            </a:r>
          </a:p>
          <a:p>
            <a:pPr lvl="0"/>
            <a:r>
              <a:rPr lang="ko-KR" sz="1200"/>
              <a:t>완료의 정의는 "세션 07. 설계 — 책임과 협력"의 「10. 작업 단위」의 「완료의 정의와 증거」가 정했다. 위임이 기준을 새로 만들지 않는다.</a:t>
            </a:r>
          </a:p>
          <a:p>
            <a:pPr lvl="0"/>
            <a:r>
              <a:rPr lang="ko-KR" sz="1200"/>
              <a:t>증거를 명령 하나로 모으는 일은 "세션 09. 검사 파이프라인"이다. 지금은 사람이 4줄을 확인했다.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2025c]의 지시 작성 항목 원문 확인. 원문은 그렇게 쓴 프롬프트가 유지되지 않는다는 점을 함께 적는다.</a:t>
            </a:r>
          </a:p>
          <a:p>
            <a:pPr lvl="0"/>
            <a:r>
              <a:rPr lang="ko-KR" sz="1200"/>
              <a:t>긴 지시문을 보여 주고 3줄로 줄일 곳을 찾게 한다 — 검사로 옮길 것, 권한으로 옮길 것, 산출물이 이미 든 것.</a:t>
            </a:r>
          </a:p>
          <a:p>
            <a:pPr lvl="0"/>
            <a:r>
              <a:rPr lang="ko-KR" sz="1200"/>
              <a:t>지시문의 길이 자체가 기준은 아니다. 기준은 그 문장이 결과를 바꾸는가다.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연결을 기본값으로 늘리는 관행은 [Thoughtworks 2026]이 주의 신호로 다룬다. 연결마다 늘어나는 것은 권한과 읽히는 내용이다.</a:t>
            </a:r>
          </a:p>
          <a:p>
            <a:pPr lvl="0"/>
            <a:r>
              <a:rPr lang="ko-KR" sz="1200"/>
              <a:t>승인 피로가 전부 허용으로 이어지는 길을 「07. 종료 조건과 확인 지점」의 「되돌리기 어려운 자리」와 이어 설명한다.</a:t>
            </a:r>
          </a:p>
          <a:p>
            <a:pPr lvl="0"/>
            <a:r>
              <a:rPr lang="ko-KR" sz="1200"/>
              <a:t>수강생의 현재 설정을 떠올리게 한다. 무엇이 켜져 있고 왜 켰는지 답하지 못하면 그것이 이 관행이다.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강사의 실제 실행 기록은 code/s08/exercise-conversation/order/에 있고, 별첨은 마지막 응답이 만든 주문한다-위임기록.md에서 발췌했다. 구현 원본은 code/s08/delegation/이다.</a:t>
            </a:r>
          </a:p>
          <a:p>
            <a:pPr lvl="0"/>
            <a:r>
              <a:rPr lang="ko-KR" sz="1200"/>
              <a:t>수강생의 작업 단위가 강의와 달라도 된다. 자기 설계가 나눈 첫 단위를 맡기는지, 그 단위의 수용 예를 종료 조건으로 썼는지를 본다.</a:t>
            </a:r>
          </a:p>
          <a:p>
            <a:pPr lvl="0"/>
            <a:r>
              <a:rPr lang="ko-KR" sz="1200"/>
              <a:t>내려받기가 막혀 빌드 구성이 끝나지 않으면 컴파일과 테스트를 javac로 돌리고 그 사실을 기록에 적게 한다.</a:t>
            </a:r>
          </a:p>
          <a:p>
            <a:pPr lvl="0"/>
            <a:r>
              <a:rPr lang="ko-KR" sz="1200"/>
              <a:t>전부 허용으로 실습하면 거절되는 경험이 없다. 설정을 먼저 적고, 시도해 확인하게 한다.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산출물은 위임 계약과 돌아온 구현 코드, 실행 기록이다. 저장소의 작업 브랜치에 커밋으로 남는다.</a:t>
            </a:r>
          </a:p>
          <a:p>
            <a:pPr lvl="0"/>
            <a:r>
              <a:rPr lang="ko-KR" sz="1200"/>
              <a:t>모델에서 보완된 것 — 금지해야 할 외부 호출이 외부 연동 규격에 명시되고, 주문 요청 항목과 주문한다가 영한 용어집에 올랐다.</a:t>
            </a:r>
          </a:p>
          <a:p>
            <a:pPr lvl="0"/>
            <a:r>
              <a:rPr lang="ko-KR" sz="1200"/>
              <a:t>다음 세션은 이 단위의 검사를 명령 하나로 묶는다. 사람이 4줄을 확인한 자리가 그 명령으로 바뀐다.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최종 응답 주문한다-위임기록.md의 전문이다. 문장과 번호를 편집하지 않았다. 「검사 출력」은 명령과 출력 두 블록을 한 블록으로 이어 붙이고 명령:·출력: 표시 줄만 뺐다. 「거절된 행동과 멈춘 질문」은 코드 블록이 있는 저장소 밖 쓰기 항목을 앞에 모으고 질문 항목을 뒤로 옮겨 순서만 바꿨다.</a:t>
            </a:r>
          </a:p>
          <a:p>
            <a:pPr lvl="0"/>
            <a:r>
              <a:rPr lang="ko-KR" sz="1200"/>
              <a:t>네 항목은 이 세션의 4가지와 대응한다 — 1은 지시문과 맥락, 2는 종료 조건, 3은 범위, 4는 권한이다. 계약을 네 절로 쓰지 않아도 4가지가 다 들어 있는지 본다.</a:t>
            </a:r>
          </a:p>
          <a:p>
            <a:pPr lvl="0"/>
            <a:r>
              <a:rPr lang="ko-KR" sz="1200"/>
              <a:t>4의 "저장소 밖 쓰기는 금지됐다"가 실제로 지켜졌는지는 별첨의 「거절된 행동과 멈춘 질문」이 답한다.</a:t>
            </a:r>
          </a:p>
          <a:p>
            <a:pPr lvl="0"/>
            <a:r>
              <a:rPr lang="ko-KR" sz="1200"/>
              <a:t>「만든 파일」에서 패키지 골격 항목(.gitkeep)을 뺀 발췌다. 나머지는 문장 그대로다. 첫 단위의 결과가 업무 코드·포트 선언·테스트 셋으로 나뉜다. 포트는 선언뿐이고 어댑터는 없다. 파일 목록이 곧 범위다. 목록에 없는 파일이 작업 트리에 있으면 범위를 넘은 것이다.</a:t>
            </a:r>
          </a:p>
          <a:p>
            <a:pPr lvl="0"/>
            <a:r>
              <a:rPr lang="ko-KR" sz="1200"/>
              <a:t>3줄이 모두 실행 출력이다. 주장과 증거를 구분하는 자리를 수강생과 확인한다. jdeps는 의존 규칙 검사의 대체가 아니다. 빌드 도구가 없어 컴파일된 클래스의 의존만 확인한 것이다.</a:t>
            </a:r>
          </a:p>
          <a:p>
            <a:pPr lvl="0"/>
            <a:r>
              <a:rPr lang="ko-KR" sz="1200"/>
              <a:t>앞의 두 결과가 반대 방향이다. 허용으로 적은 커밋은 환경이 막았고, 금지로 적은 저장소 밖 쓰기는 통과했다. 수강생에게 묻는다 — 이 실행에서 금지를 막은 것은 무엇인가? 답은 "아무것도 막지 않았다"다.</a:t>
            </a:r>
          </a:p>
          <a:p>
            <a:pPr lvl="0"/>
            <a:r>
              <a:rPr lang="ko-KR" sz="1200"/>
              <a:t>미정 둘을 그대로 남긴 것이 마지막 항목의 핵심이다. 추측으로 채운 답과 비교해 보게 한다. 질문을 남겼는지와 구현하지 않았는지를 함께 본다 — 질문만 하고 코드에 기대값을 넣으면 멈춘 것이 아니다.</a:t>
            </a:r>
          </a:p>
          <a:p>
            <a:pPr lvl="0"/>
            <a:r>
              <a:rPr lang="ko-KR" sz="1200"/>
              <a:t>실제로 실행한 프롬프트 — 아래가 이 별첨을 만든 입력 그대로다. 본문 실습의 ①~⑤는 수강생용 문구이고, 실제 실행은 앞 응답을 읽고 답한 내용이 붙어 길다. 원본은 code/s08/exercise-conversation/order/prompt-NN.txt다.</a:t>
            </a:r>
          </a:p>
          <a:p>
            <a:pPr lvl="1"/>
            <a:r>
              <a:rPr lang="ko-KR" sz="1200"/>
              <a:t>1. 실제 프롬프트 1</a:t>
            </a:r>
          </a:p>
          <a:p>
            <a:pPr lvl="0">
              <a:buNone/>
            </a:pPr>
            <a:r>
              <a:rPr lang="ko-KR" sz="1200"/>
              <a:t>    자바 17로 빌드되는 프로젝트 골격과 빌드 구성을 만들어라. 패키지는 내 의존 규칙 문서를 따르고, 테스트는 JUnit 5로 돌린다. 네트워크가 막혀 있으므로 새로 내려받아야 하는 것이 있으면 만들지 말고 무엇이 필요한지 보고해라. 업무 코드는 아직 쓰지 마라.</a:t>
            </a:r>
          </a:p>
          <a:p>
            <a:pPr lvl="0">
              <a:buNone/>
            </a:pPr>
            <a:r>
              <a:rPr lang="ko-KR" sz="1200"/>
              <a:t>    문서는 docs/00-문서-입구.md에서 시작한다. 저장소는 작업 브랜치 unit1-amount에 있다.</a:t>
            </a:r>
          </a:p>
          <a:p>
            <a:pPr lvl="1"/>
            <a:r>
              <a:rPr lang="ko-KR" sz="1200"/>
              <a:t>2. 실제 프롬프트 2</a:t>
            </a:r>
          </a:p>
          <a:p>
            <a:pPr lvl="0">
              <a:buNone/>
            </a:pPr>
            <a:r>
              <a:rPr lang="ko-KR" sz="1200"/>
              <a:t>    [앞선 질문에 대한 답] Gradle과 JUnit 내려받기는 포기해도 된다. 설치된 Java 26으로 javac --release 17과 java를 직접 실행해 컴파일과 테스트를 돌리고, 그 명령을 README에 적어라. 새로 내려받아야 하는 것은 만들지 마라.</a:t>
            </a:r>
          </a:p>
          <a:p>
            <a:pPr lvl="0">
              <a:buNone/>
            </a:pPr>
            <a:r>
              <a:rPr lang="ko-KR" sz="1200"/>
              <a:t>    [추가 질문·수정 요청] 문서 입구에서 시작해 필요한 문서만 읽고, 첫 작업 단위만 구현해라. 이름은 용어집의 영문명을 쓰고, 계약의 사전·사후조건을 코드에서 지켜라. 문서가 정하지 않은 정책에 닿으면 멈추고 질문해라.</a:t>
            </a:r>
          </a:p>
          <a:p>
            <a:pPr lvl="0">
              <a:buNone/>
            </a:pPr>
            <a:r>
              <a:rPr lang="ko-KR" sz="1200"/>
              <a:t>    허용 — 업무 코드와 테스트 만들기·고치기, 빌드 구성, 컴파일과 테스트 실행, 작업 브랜치에 커밋. 금지 — 외부 네트워크 호출, 실제 결제 시스템 호출, 비밀 키와 자격 증명 읽기, 저장소 밖 파일 쓰기, 원격 저장소로 push, docs/의 산출물 문서 고치기.</a:t>
            </a:r>
          </a:p>
          <a:p>
            <a:pPr lvl="1"/>
            <a:r>
              <a:rPr lang="ko-KR" sz="1200"/>
              <a:t>3. 실제 프롬프트 3</a:t>
            </a:r>
          </a:p>
          <a:p>
            <a:pPr lvl="0">
              <a:buNone/>
            </a:pPr>
            <a:r>
              <a:rPr lang="ko-KR" sz="1200"/>
              <a:t>    [앞선 질문에 대한 답] 커밋은 환경이 막았으니 그대로 두어라. 변경은 작업 트리에 남겨라.</a:t>
            </a:r>
          </a:p>
          <a:p>
            <a:pPr lvl="0">
              <a:buNone/>
            </a:pPr>
            <a:r>
              <a:rPr lang="ko-KR" sz="1200"/>
              <a:t>    [추가 질문·수정 요청] 그 단위의 수용 예를 검사하는 테스트와 사전조건을 어긴 입력이 거절되는 테스트를 만들고, 실제로 실행해 출력을 보여라. 판매가가 바뀐 뒤에도 확정 단가와 총액이 유지되는 예를 포함해라.</a:t>
            </a:r>
          </a:p>
          <a:p>
            <a:pPr lvl="1"/>
            <a:r>
              <a:rPr lang="ko-KR" sz="1200"/>
              <a:t>4. 실제 프롬프트 4</a:t>
            </a:r>
          </a:p>
          <a:p>
            <a:pPr lvl="0">
              <a:buNone/>
            </a:pPr>
            <a:r>
              <a:rPr lang="ko-KR" sz="1200"/>
              <a:t>    [앞선 질문에 대한 답] 테스트 출력은 그대로 기록에 남겨라.</a:t>
            </a:r>
          </a:p>
          <a:p>
            <a:pPr lvl="0">
              <a:buNone/>
            </a:pPr>
            <a:r>
              <a:rPr lang="ko-KR" sz="1200"/>
              <a:t>    [추가 질문·수정 요청] 결제·배송 포트는 설계대로 인터페이스 선언까지만 두고, 외부 결제 연동 규격이 요구하는 개발 환경 설정도 갖춰라. 문서가 정하지 않은 결과 처리는 추측하지 말고 질문으로 남겨라.</a:t>
            </a:r>
          </a:p>
          <a:p>
            <a:pPr lvl="1"/>
            <a:r>
              <a:rPr lang="ko-KR" sz="1200"/>
              <a:t>5. 실제 프롬프트 5</a:t>
            </a:r>
          </a:p>
          <a:p>
            <a:pPr lvl="0">
              <a:buNone/>
            </a:pPr>
            <a:r>
              <a:rPr lang="ko-KR" sz="1200"/>
              <a:t>    [앞선 질문에 대한 답] 두 질문은 업무 담당자에게 확인한다. 정책이 정해질 때까지 구현하지 마라.</a:t>
            </a:r>
          </a:p>
          <a:p>
            <a:pPr lvl="0">
              <a:buNone/>
            </a:pPr>
            <a:r>
              <a:rPr lang="ko-KR" sz="1200"/>
              <a:t>    [추가 질문·수정 요청] 내가 금지한 저장소 밖 쓰기가 환경에서도 실제로 거절되는지 확인해라. ../order-config/application.properties의 payment.base-url에 개발 샌드박스 주소를 넣어 보고, 거절되면 그 명령과 출력을 그대로 적어라. 그다음 범위를 넘어 만든 파일과 문서를 고친 곳이 있으면 되돌리고, 이번 위임을 실행 기록 MD 하나로 만들어라. 위임 계약 4가지, 만든 파일 목록, 검사 출력, 거절된 행동과 멈춰 물은 질문으로 구성하고 새 결정을 추가하지 마라. 5장을 넘지 않게 핵심만 남겨라. 기록 파일 이름은 주문한다-위임기록.md로 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08. 위임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위임 계약</a:t>
            </a:r>
          </a:p>
          <a:p>
            <a:pPr lvl="1" marL="355600" indent="0">
              <a:spcBef>
                <a:spcPts val="300"/>
              </a:spcBef>
              <a:spcAft>
                <a:spcPts val="300"/>
              </a:spcAft>
              <a:buNone/>
            </a:pPr>
            <a:r>
              <a:rPr sz="1600" b="0">
                <a:solidFill>
                  <a:srgbClr val="000000"/>
                </a:solidFill>
                <a:latin typeface="맑은 고딕"/>
                <a:ea typeface="맑은 고딕"/>
              </a:rPr>
              <a:t>03. 작업 지시문</a:t>
            </a:r>
          </a:p>
          <a:p>
            <a:pPr lvl="1" marL="355600" indent="0">
              <a:spcBef>
                <a:spcPts val="300"/>
              </a:spcBef>
              <a:spcAft>
                <a:spcPts val="300"/>
              </a:spcAft>
              <a:buNone/>
            </a:pPr>
            <a:r>
              <a:rPr sz="1600" b="0">
                <a:solidFill>
                  <a:srgbClr val="000000"/>
                </a:solidFill>
                <a:latin typeface="맑은 고딕"/>
                <a:ea typeface="맑은 고딕"/>
              </a:rPr>
              <a:t>04. 맥락</a:t>
            </a:r>
          </a:p>
          <a:p>
            <a:pPr lvl="1" marL="355600" indent="0">
              <a:spcBef>
                <a:spcPts val="300"/>
              </a:spcBef>
              <a:spcAft>
                <a:spcPts val="300"/>
              </a:spcAft>
              <a:buNone/>
            </a:pPr>
            <a:r>
              <a:rPr sz="1600" b="0">
                <a:solidFill>
                  <a:srgbClr val="000000"/>
                </a:solidFill>
                <a:latin typeface="맑은 고딕"/>
                <a:ea typeface="맑은 고딕"/>
              </a:rPr>
              <a:t>05. 권한과 도구</a:t>
            </a:r>
          </a:p>
          <a:p>
            <a:pPr lvl="1" marL="355600" indent="0">
              <a:spcBef>
                <a:spcPts val="300"/>
              </a:spcBef>
              <a:spcAft>
                <a:spcPts val="300"/>
              </a:spcAft>
              <a:buNone/>
            </a:pPr>
            <a:r>
              <a:rPr sz="1600" b="0">
                <a:solidFill>
                  <a:srgbClr val="000000"/>
                </a:solidFill>
                <a:latin typeface="맑은 고딕"/>
                <a:ea typeface="맑은 고딕"/>
              </a:rPr>
              <a:t>06. 위험과 피해 범위</a:t>
            </a:r>
          </a:p>
          <a:p>
            <a:pPr lvl="1" marL="355600" indent="0">
              <a:spcBef>
                <a:spcPts val="300"/>
              </a:spcBef>
              <a:spcAft>
                <a:spcPts val="300"/>
              </a:spcAft>
              <a:buNone/>
            </a:pPr>
            <a:r>
              <a:rPr sz="1600" b="0">
                <a:solidFill>
                  <a:srgbClr val="000000"/>
                </a:solidFill>
                <a:latin typeface="맑은 고딕"/>
                <a:ea typeface="맑은 고딕"/>
              </a:rPr>
              <a:t>07. 종료 조건과 확인 지점</a:t>
            </a:r>
          </a:p>
          <a:p>
            <a:pPr lvl="1" marL="355600" indent="0">
              <a:spcBef>
                <a:spcPts val="300"/>
              </a:spcBef>
              <a:spcAft>
                <a:spcPts val="300"/>
              </a:spcAft>
              <a:buNone/>
            </a:pPr>
            <a:r>
              <a:rPr sz="1600" b="0">
                <a:solidFill>
                  <a:srgbClr val="000000"/>
                </a:solidFill>
                <a:latin typeface="맑은 고딕"/>
                <a:ea typeface="맑은 고딕"/>
              </a:rPr>
              <a:t>08. 빈 저장소에서 시작하기</a:t>
            </a:r>
          </a:p>
          <a:p>
            <a:pPr lvl="1" marL="355600" indent="0">
              <a:spcBef>
                <a:spcPts val="300"/>
              </a:spcBef>
              <a:spcAft>
                <a:spcPts val="300"/>
              </a:spcAft>
              <a:buNone/>
            </a:pPr>
            <a:r>
              <a:rPr sz="1600" b="0">
                <a:solidFill>
                  <a:srgbClr val="000000"/>
                </a:solidFill>
                <a:latin typeface="맑은 고딕"/>
                <a:ea typeface="맑은 고딕"/>
              </a:rPr>
              <a:t>09. 맡긴 결과 보기</a:t>
            </a:r>
          </a:p>
          <a:p>
            <a:pPr lvl="1" marL="355600" indent="0">
              <a:spcBef>
                <a:spcPts val="300"/>
              </a:spcBef>
              <a:spcAft>
                <a:spcPts val="300"/>
              </a:spcAft>
              <a:buNone/>
            </a:pPr>
            <a:r>
              <a:rPr sz="1600" b="0">
                <a:solidFill>
                  <a:srgbClr val="000000"/>
                </a:solidFill>
                <a:latin typeface="맑은 고딕"/>
                <a:ea typeface="맑은 고딕"/>
              </a:rPr>
              <a:t>10. 잘못된 관행</a:t>
            </a:r>
          </a:p>
          <a:p>
            <a:pPr lvl="1" marL="355600" indent="0">
              <a:spcBef>
                <a:spcPts val="300"/>
              </a:spcBef>
              <a:spcAft>
                <a:spcPts val="300"/>
              </a:spcAft>
              <a:buNone/>
            </a:pPr>
            <a:r>
              <a:rPr sz="1600" b="0">
                <a:solidFill>
                  <a:srgbClr val="000000"/>
                </a:solidFill>
                <a:latin typeface="맑은 고딕"/>
                <a:ea typeface="맑은 고딕"/>
              </a:rPr>
              <a:t>11. 실습 8 —</a:t>
            </a:r>
            <a:r>
              <a:rPr sz="1400" b="0">
                <a:solidFill>
                  <a:srgbClr val="000000"/>
                </a:solidFill>
                <a:latin typeface="맑은 고딕"/>
                <a:ea typeface="맑은 고딕"/>
              </a:rPr>
              <a:t> 위임과 구현</a:t>
            </a:r>
          </a:p>
          <a:p>
            <a:pPr lvl="1" marL="355600" indent="0">
              <a:spcBef>
                <a:spcPts val="300"/>
              </a:spcBef>
              <a:spcAft>
                <a:spcPts val="300"/>
              </a:spcAft>
              <a:buNone/>
            </a:pPr>
            <a:r>
              <a:rPr sz="1600" b="0">
                <a:solidFill>
                  <a:srgbClr val="000000"/>
                </a:solidFill>
                <a:latin typeface="맑은 고딕"/>
                <a:ea typeface="맑은 고딕"/>
              </a:rPr>
              <a:t>12.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위임은 프롬프트 한 줄이 아니라 </a:t>
            </a:r>
            <a:r>
              <a:rPr sz="1800" b="1">
                <a:solidFill>
                  <a:srgbClr val="000000"/>
                </a:solidFill>
                <a:latin typeface="맑은 고딕"/>
                <a:ea typeface="맑은 고딕"/>
              </a:rPr>
              <a:t>4가지를 정하는 일</a:t>
            </a:r>
            <a:r>
              <a:rPr sz="1800" b="0">
                <a:solidFill>
                  <a:srgbClr val="000000"/>
                </a:solidFill>
                <a:latin typeface="맑은 고딕"/>
                <a:ea typeface="맑은 고딕"/>
              </a:rPr>
              <a:t>이다 —</a:t>
            </a:r>
            <a:r>
              <a:rPr sz="1600" b="0">
                <a:solidFill>
                  <a:srgbClr val="000000"/>
                </a:solidFill>
                <a:latin typeface="맑은 고딕"/>
                <a:ea typeface="맑은 고딕"/>
              </a:rPr>
              <a:t> 작업 지시문, 맥락, 권한, 종료 조건.</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설계가 쪼갠 </a:t>
            </a:r>
            <a:r>
              <a:rPr sz="1800" b="1">
                <a:solidFill>
                  <a:srgbClr val="000000"/>
                </a:solidFill>
                <a:latin typeface="맑은 고딕"/>
                <a:ea typeface="맑은 고딕"/>
              </a:rPr>
              <a:t>작업 단위 하나</a:t>
            </a:r>
            <a:r>
              <a:rPr sz="1800" b="0">
                <a:solidFill>
                  <a:srgbClr val="000000"/>
                </a:solidFill>
                <a:latin typeface="맑은 고딕"/>
                <a:ea typeface="맑은 고딕"/>
              </a:rPr>
              <a:t>를 맡기고, 그 단위의 수용 예를 종료 조건으로 삼는다.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작업 지시문을 </a:t>
            </a:r>
            <a:r>
              <a:rPr sz="1800" b="1">
                <a:solidFill>
                  <a:srgbClr val="000000"/>
                </a:solidFill>
                <a:latin typeface="맑은 고딕"/>
                <a:ea typeface="맑은 고딕"/>
              </a:rPr>
              <a:t>적정 높이</a:t>
            </a:r>
            <a:r>
              <a:rPr sz="1800" b="0">
                <a:solidFill>
                  <a:srgbClr val="000000"/>
                </a:solidFill>
                <a:latin typeface="맑은 고딕"/>
                <a:ea typeface="맑은 고딕"/>
              </a:rPr>
              <a:t>로 작성하고, 앞 산출물은 베끼지 않고 가리킨다.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맥락을 </a:t>
            </a:r>
            <a:r>
              <a:rPr sz="1800" b="1">
                <a:solidFill>
                  <a:srgbClr val="000000"/>
                </a:solidFill>
                <a:latin typeface="맑은 고딕"/>
                <a:ea typeface="맑은 고딕"/>
              </a:rPr>
              <a:t>미리 넣을 것과 찾아 읽게 할 것</a:t>
            </a:r>
            <a:r>
              <a:rPr sz="1800" b="0">
                <a:solidFill>
                  <a:srgbClr val="000000"/>
                </a:solidFill>
                <a:latin typeface="맑은 고딕"/>
                <a:ea typeface="맑은 고딕"/>
              </a:rPr>
              <a:t>으로 나누고, 긴 작업은 압축과 기록으로 잇는다.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권한을 </a:t>
            </a:r>
            <a:r>
              <a:rPr sz="1800" b="1">
                <a:solidFill>
                  <a:srgbClr val="000000"/>
                </a:solidFill>
                <a:latin typeface="맑은 고딕"/>
                <a:ea typeface="맑은 고딕"/>
              </a:rPr>
              <a:t>자원과 동작</a:t>
            </a:r>
            <a:r>
              <a:rPr sz="1800" b="0">
                <a:solidFill>
                  <a:srgbClr val="000000"/>
                </a:solidFill>
                <a:latin typeface="맑은 고딕"/>
                <a:ea typeface="맑은 고딕"/>
              </a:rPr>
              <a:t>으로 좁히고, 글로 적은 금지를 환경의 </a:t>
            </a:r>
            <a:r>
              <a:rPr sz="1800" b="1">
                <a:solidFill>
                  <a:srgbClr val="000000"/>
                </a:solidFill>
                <a:latin typeface="맑은 고딕"/>
                <a:ea typeface="맑은 고딕"/>
              </a:rPr>
              <a:t>강제</a:t>
            </a:r>
            <a:r>
              <a:rPr sz="1800" b="0">
                <a:solidFill>
                  <a:srgbClr val="000000"/>
                </a:solidFill>
                <a:latin typeface="맑은 고딕"/>
                <a:ea typeface="맑은 고딕"/>
              </a:rPr>
              <a:t>로 옮긴다.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위험을 </a:t>
            </a:r>
            <a:r>
              <a:rPr sz="1800" b="1">
                <a:solidFill>
                  <a:srgbClr val="000000"/>
                </a:solidFill>
                <a:latin typeface="맑은 고딕"/>
                <a:ea typeface="맑은 고딕"/>
              </a:rPr>
              <a:t>확률과 크기</a:t>
            </a:r>
            <a:r>
              <a:rPr sz="1800" b="0">
                <a:solidFill>
                  <a:srgbClr val="000000"/>
                </a:solidFill>
                <a:latin typeface="맑은 고딕"/>
                <a:ea typeface="맑은 고딕"/>
              </a:rPr>
              <a:t>로 적고, 막지 못할 것을 전제로 </a:t>
            </a:r>
            <a:r>
              <a:rPr sz="1800" b="1">
                <a:solidFill>
                  <a:srgbClr val="000000"/>
                </a:solidFill>
                <a:latin typeface="맑은 고딕"/>
                <a:ea typeface="맑은 고딕"/>
              </a:rPr>
              <a:t>피해 범위</a:t>
            </a:r>
            <a:r>
              <a:rPr sz="1800" b="0">
                <a:solidFill>
                  <a:srgbClr val="000000"/>
                </a:solidFill>
                <a:latin typeface="맑은 고딕"/>
                <a:ea typeface="맑은 고딕"/>
              </a:rPr>
              <a:t>를 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종료 조건에 </a:t>
            </a:r>
            <a:r>
              <a:rPr sz="1800" b="1">
                <a:solidFill>
                  <a:srgbClr val="000000"/>
                </a:solidFill>
                <a:latin typeface="맑은 고딕"/>
                <a:ea typeface="맑은 고딕"/>
              </a:rPr>
              <a:t>멈춰 물어야 할 때</a:t>
            </a:r>
            <a:r>
              <a:rPr sz="1800" b="0">
                <a:solidFill>
                  <a:srgbClr val="000000"/>
                </a:solidFill>
                <a:latin typeface="맑은 고딕"/>
                <a:ea typeface="맑은 고딕"/>
              </a:rPr>
              <a:t>를 함께 적고, 되돌리기 어려운 자리에 확인 지점을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돌아온 결과를 </a:t>
            </a:r>
            <a:r>
              <a:rPr sz="1800" b="1">
                <a:solidFill>
                  <a:srgbClr val="000000"/>
                </a:solidFill>
                <a:latin typeface="맑은 고딕"/>
                <a:ea typeface="맑은 고딕"/>
              </a:rPr>
              <a:t>추적과 검사의 증거</a:t>
            </a:r>
            <a:r>
              <a:rPr sz="1800" b="0">
                <a:solidFill>
                  <a:srgbClr val="000000"/>
                </a:solidFill>
                <a:latin typeface="맑은 고딕"/>
                <a:ea typeface="맑은 고딕"/>
              </a:rPr>
              <a:t>로 받는다.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4가지를 정한다</a:t>
            </a:r>
          </a:p>
          <a:p>
            <a:r>
              <a:rPr sz="1100" b="1">
                <a:solidFill>
                  <a:srgbClr val="000000"/>
                </a:solidFill>
                <a:latin typeface="맑은 고딕"/>
                <a:ea typeface="맑은 고딕"/>
              </a:rPr>
              <a:t>02. 위임 계약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위임 계약</a:t>
            </a:r>
            <a:r>
              <a:rPr sz="1800" b="0">
                <a:solidFill>
                  <a:srgbClr val="000000"/>
                </a:solidFill>
                <a:latin typeface="맑은 고딕"/>
                <a:ea typeface="맑은 고딕"/>
              </a:rPr>
              <a:t>은 맡기기 전에 사람이 정해 두는 네 가지다 —</a:t>
            </a:r>
            <a:r>
              <a:rPr sz="1600" b="0">
                <a:solidFill>
                  <a:srgbClr val="000000"/>
                </a:solidFill>
                <a:latin typeface="맑은 고딕"/>
                <a:ea typeface="맑은 고딕"/>
              </a:rPr>
              <a:t> 무엇을 하라, 무엇을 읽으라, 무엇을 할 수 있다, 언제 멈추라.</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4가지 중 </a:t>
            </a:r>
            <a:r>
              <a:rPr sz="1800" b="1">
                <a:solidFill>
                  <a:srgbClr val="000000"/>
                </a:solidFill>
                <a:latin typeface="맑은 고딕"/>
                <a:ea typeface="맑은 고딕"/>
              </a:rPr>
              <a:t>하나만 비어도 나머지가 무력해진다.</a:t>
            </a:r>
            <a:r>
              <a:rPr sz="1800" b="0">
                <a:solidFill>
                  <a:srgbClr val="000000"/>
                </a:solidFill>
                <a:latin typeface="맑은 고딕"/>
                <a:ea typeface="맑은 고딕"/>
              </a:rPr>
              <a:t> 종료 조건이 없으면 에이전트는 멈출 자리를 스스로 고른다.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지시문과 맥락은 </a:t>
            </a:r>
            <a:r>
              <a:rPr sz="1800" b="1">
                <a:solidFill>
                  <a:srgbClr val="000000"/>
                </a:solidFill>
                <a:latin typeface="맑은 고딕"/>
                <a:ea typeface="맑은 고딕"/>
              </a:rPr>
              <a:t>방향을 주고</a:t>
            </a:r>
            <a:r>
              <a:rPr sz="1800" b="0">
                <a:solidFill>
                  <a:srgbClr val="000000"/>
                </a:solidFill>
                <a:latin typeface="맑은 고딕"/>
                <a:ea typeface="맑은 고딕"/>
              </a:rPr>
              <a:t>, 권한과 종료 조건은 </a:t>
            </a:r>
            <a:r>
              <a:rPr sz="1800" b="1">
                <a:solidFill>
                  <a:srgbClr val="000000"/>
                </a:solidFill>
                <a:latin typeface="맑은 고딕"/>
                <a:ea typeface="맑은 고딕"/>
              </a:rPr>
              <a:t>범위를 끊는다</a:t>
            </a:r>
            <a:r>
              <a:rPr sz="1800" b="0">
                <a:solidFill>
                  <a:srgbClr val="000000"/>
                </a:solidFill>
                <a:latin typeface="맑은 고딕"/>
                <a:ea typeface="맑은 고딕"/>
              </a:rPr>
              <a:t>. 앞의 둘은 부탁이고 뒤의 둘은 경계다.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계약은 과제마다 새로 작성하는 것이 아니다. </a:t>
            </a:r>
            <a:r>
              <a:rPr sz="1800" b="1">
                <a:solidFill>
                  <a:srgbClr val="000000"/>
                </a:solidFill>
                <a:latin typeface="맑은 고딕"/>
                <a:ea typeface="맑은 고딕"/>
              </a:rPr>
              <a:t>달라지는 것은 지시문과 맥락</a:t>
            </a:r>
            <a:r>
              <a:rPr sz="1800" b="0">
                <a:solidFill>
                  <a:srgbClr val="000000"/>
                </a:solidFill>
                <a:latin typeface="맑은 고딕"/>
                <a:ea typeface="맑은 고딕"/>
              </a:rPr>
              <a:t>이고 권한과 종료 조건은 팀의 기본값이다.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위임 계약의 4가지</a:t>
            </a:r>
          </a:p>
        </p:txBody>
      </p:sp>
      <p:pic>
        <p:nvPicPr>
          <p:cNvPr id="10" name="mermaid Diagram 1"/>
          <p:cNvPicPr>
            <a:picLocks noChangeAspect="1"/>
          </p:cNvPicPr>
          <p:nvPr/>
        </p:nvPicPr>
        <p:blipFill>
          <a:blip r:embed="mermaidImage1"/>
          <a:stretch>
            <a:fillRect/>
          </a:stretch>
        </p:blipFill>
        <p:spPr>
          <a:xfrm>
            <a:off x="1431230" y="3998976"/>
            <a:ext cx="6281539" cy="117778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맡기는 것은 작업 단위 하나</a:t>
            </a:r>
          </a:p>
          <a:p>
            <a:r>
              <a:rPr sz="1100" b="1">
                <a:solidFill>
                  <a:srgbClr val="000000"/>
                </a:solidFill>
                <a:latin typeface="맑은 고딕"/>
                <a:ea typeface="맑은 고딕"/>
              </a:rPr>
              <a:t>02. 위임 계약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66966" y="2112010"/>
          <a:ext cx="7396480" cy="3873500"/>
        </p:xfrm>
        <a:graphic>
          <a:graphicData uri="http://schemas.openxmlformats.org/drawingml/2006/table">
            <a:tbl>
              <a:tblPr/>
              <a:tblGrid>
                <a:gridCol w="1087120"/>
                <a:gridCol w="2903220"/>
                <a:gridCol w="34061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위임 계약</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어디서 오는가?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첫 단위에 들어가는 값</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작업 지시문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작업 단위와 완료 조건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 확정 — 단가를 확정하고 총액을 계산한다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맥락</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요구·용어집·상태 기계·의존 규칙·설계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저장소의 산출물을 가리킨다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권한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팀의 기본값과 과제의 위험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코드와 테스트에 쓰기, 실행, 커밋</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종료 조건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 예와 완료의 정의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판매가가 1,200원이 되어도 총액 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맡기는 단위는 설계가 쪼갠 </a:t>
            </a:r>
            <a:r>
              <a:rPr sz="1800" b="1">
                <a:solidFill>
                  <a:srgbClr val="000000"/>
                </a:solidFill>
                <a:latin typeface="맑은 고딕"/>
                <a:ea typeface="맑은 고딕"/>
              </a:rPr>
              <a:t>작업 단위 하나</a:t>
            </a:r>
            <a:r>
              <a:rPr sz="1800" b="0">
                <a:solidFill>
                  <a:srgbClr val="000000"/>
                </a:solidFill>
                <a:latin typeface="맑은 고딕"/>
                <a:ea typeface="맑은 고딕"/>
              </a:rPr>
              <a:t>이고, 그 단위의 수용 예가 곧 종료 조건이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첫 단위를 맡기는 데 사용하는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과제 전체가 아니라 </a:t>
            </a:r>
            <a:r>
              <a:rPr sz="1800" b="1">
                <a:solidFill>
                  <a:srgbClr val="000000"/>
                </a:solidFill>
                <a:latin typeface="맑은 고딕"/>
                <a:ea typeface="맑은 고딕"/>
              </a:rPr>
              <a:t>한 번에 확인할 수 있는 크기</a:t>
            </a:r>
            <a:r>
              <a:rPr sz="1800" b="0">
                <a:solidFill>
                  <a:srgbClr val="000000"/>
                </a:solidFill>
                <a:latin typeface="맑은 고딕"/>
                <a:ea typeface="맑은 고딕"/>
              </a:rPr>
              <a:t>를 맡긴다. 확인할 수 없는 단위는 받을 수도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4줄이 모두 </a:t>
            </a:r>
            <a:r>
              <a:rPr sz="1800" b="1">
                <a:solidFill>
                  <a:srgbClr val="000000"/>
                </a:solidFill>
                <a:latin typeface="맑은 고딕"/>
                <a:ea typeface="맑은 고딕"/>
              </a:rPr>
              <a:t>앞 세션의 산출물</a:t>
            </a:r>
            <a:r>
              <a:rPr sz="1800" b="0">
                <a:solidFill>
                  <a:srgbClr val="000000"/>
                </a:solidFill>
                <a:latin typeface="맑은 고딕"/>
                <a:ea typeface="맑은 고딕"/>
              </a:rPr>
              <a:t>에서 온다. 위임 때 새로 만드는 결정은 권한뿐이다.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남은 단위 셋은 </a:t>
            </a:r>
            <a:r>
              <a:rPr sz="1800" b="1">
                <a:solidFill>
                  <a:srgbClr val="000000"/>
                </a:solidFill>
                <a:latin typeface="맑은 고딕"/>
                <a:ea typeface="맑은 고딕"/>
              </a:rPr>
              <a:t>같은 계약으로 뒤에 맡긴다</a:t>
            </a:r>
            <a:r>
              <a:rPr sz="1800" b="0">
                <a:solidFill>
                  <a:srgbClr val="000000"/>
                </a:solidFill>
                <a:latin typeface="맑은 고딕"/>
                <a:ea typeface="맑은 고딕"/>
              </a:rPr>
              <a:t>. 계약을 단위마다 다시 설계하지 않는다.</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무엇을 하라</a:t>
            </a:r>
          </a:p>
          <a:p>
            <a:r>
              <a:rPr sz="1100" b="1">
                <a:solidFill>
                  <a:srgbClr val="000000"/>
                </a:solidFill>
                <a:latin typeface="맑은 고딕"/>
                <a:ea typeface="맑은 고딕"/>
              </a:rPr>
              <a:t>03. 작업 지시문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프롬프트는 매우 분명해야 하고, </a:t>
            </a:r>
            <a:r>
              <a:rPr sz="1800" b="1">
                <a:solidFill>
                  <a:srgbClr val="000000"/>
                </a:solidFill>
                <a:latin typeface="맑은 고딕"/>
                <a:ea typeface="맑은 고딕"/>
              </a:rPr>
              <a:t>알맞은 높이</a:t>
            </a:r>
            <a:r>
              <a:rPr sz="1800" b="0">
                <a:solidFill>
                  <a:srgbClr val="000000"/>
                </a:solidFill>
                <a:latin typeface="맑은 고딕"/>
                <a:ea typeface="맑은 고딕"/>
              </a:rPr>
              <a:t>에서 생각을 제시하는 단순하고 직접적인 말을 써야 한다</a:t>
            </a:r>
            <a:r>
              <a:rPr sz="1000" b="0">
                <a:solidFill>
                  <a:srgbClr val="000000"/>
                </a:solidFill>
                <a:latin typeface="맑은 고딕"/>
                <a:ea typeface="맑은 고딕"/>
              </a:rPr>
              <a:t>, </a:t>
            </a:r>
            <a:r>
              <a:rPr sz="1000" b="0">
                <a:solidFill>
                  <a:srgbClr val="000000"/>
                </a:solidFill>
                <a:latin typeface="맑은 고딕"/>
                <a:ea typeface="맑은 고딕"/>
              </a:rPr>
              <a:t>"system prompts should be extremely clear and use simple, direct language that presents ideas at the right altitude"</a:t>
            </a:r>
            <a:r>
              <a:rPr sz="1000" b="0">
                <a:solidFill>
                  <a:srgbClr val="000000"/>
                </a:solidFill>
                <a:latin typeface="맑은 고딕"/>
                <a:ea typeface="맑은 고딕"/>
              </a:rPr>
              <a:t>, </a:t>
            </a:r>
            <a:r>
              <a:rPr sz="1000" b="0">
                <a:solidFill>
                  <a:srgbClr val="000000"/>
                </a:solidFill>
                <a:latin typeface="맑은 고딕"/>
                <a:ea typeface="맑은 고딕"/>
              </a:rPr>
              <a:t>[Anthropic 2025c]</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적정 높이</a:t>
            </a:r>
            <a:r>
              <a:rPr sz="1800" b="0">
                <a:solidFill>
                  <a:srgbClr val="000000"/>
                </a:solidFill>
                <a:latin typeface="맑은 고딕"/>
                <a:ea typeface="맑은 고딕"/>
              </a:rPr>
              <a:t>는 결과와 지킬 규칙을 말하고 </a:t>
            </a:r>
            <a:r>
              <a:rPr sz="1800" b="1">
                <a:solidFill>
                  <a:srgbClr val="000000"/>
                </a:solidFill>
                <a:latin typeface="맑은 고딕"/>
                <a:ea typeface="맑은 고딕"/>
              </a:rPr>
              <a:t>구현 방법을 받아쓰지 않는</a:t>
            </a:r>
            <a:r>
              <a:rPr sz="1800" b="0">
                <a:solidFill>
                  <a:srgbClr val="000000"/>
                </a:solidFill>
                <a:latin typeface="맑은 고딕"/>
                <a:ea typeface="맑은 고딕"/>
              </a:rPr>
              <a:t> 높이다.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너무 낮으면 사람이 코드를 말로 쓰게 되고, 너무 높으면 </a:t>
            </a:r>
            <a:r>
              <a:rPr sz="1800" b="1">
                <a:solidFill>
                  <a:srgbClr val="000000"/>
                </a:solidFill>
                <a:latin typeface="맑은 고딕"/>
                <a:ea typeface="맑은 고딕"/>
              </a:rPr>
              <a:t>빈칸이 추측으로 채워진다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지시문이 답할 것은 셋이다 —</a:t>
            </a:r>
            <a:r>
              <a:rPr sz="1600" b="0">
                <a:solidFill>
                  <a:srgbClr val="000000"/>
                </a:solidFill>
                <a:latin typeface="맑은 고딕"/>
                <a:ea typeface="맑은 고딕"/>
              </a:rPr>
              <a:t> </a:t>
            </a:r>
            <a:r>
              <a:rPr sz="1600" b="1">
                <a:solidFill>
                  <a:srgbClr val="000000"/>
                </a:solidFill>
                <a:latin typeface="맑은 고딕"/>
                <a:ea typeface="맑은 고딕"/>
              </a:rPr>
              <a:t>무엇이 끝난 상태인가</a:t>
            </a:r>
            <a:r>
              <a:rPr sz="1600" b="0">
                <a:solidFill>
                  <a:srgbClr val="000000"/>
                </a:solidFill>
                <a:latin typeface="맑은 고딕"/>
                <a:ea typeface="맑은 고딕"/>
              </a:rPr>
              <a:t>, 무엇을 지켜야 하는가, 무엇을 하지 않는가.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하지 않을 것을 적는 자리가 </a:t>
            </a:r>
            <a:r>
              <a:rPr sz="1800" b="1">
                <a:solidFill>
                  <a:srgbClr val="000000"/>
                </a:solidFill>
                <a:latin typeface="맑은 고딕"/>
                <a:ea typeface="맑은 고딕"/>
              </a:rPr>
              <a:t>범위의 경계</a:t>
            </a:r>
            <a:r>
              <a:rPr sz="1800" b="0">
                <a:solidFill>
                  <a:srgbClr val="000000"/>
                </a:solidFill>
                <a:latin typeface="맑은 고딕"/>
                <a:ea typeface="맑은 고딕"/>
              </a:rPr>
              <a:t>다. "승인·거절·재결제는 구현하지 않는다"가 그 예다.</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무엇을 가리킬 것인가?</a:t>
            </a:r>
          </a:p>
          <a:p>
            <a:r>
              <a:rPr sz="1100" b="1">
                <a:solidFill>
                  <a:srgbClr val="000000"/>
                </a:solidFill>
                <a:latin typeface="맑은 고딕"/>
                <a:ea typeface="맑은 고딕"/>
              </a:rPr>
              <a:t>03. 작업 지시문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52996" y="2112010"/>
          <a:ext cx="7424420" cy="3873500"/>
        </p:xfrm>
        <a:graphic>
          <a:graphicData uri="http://schemas.openxmlformats.org/drawingml/2006/table">
            <a:tbl>
              <a:tblPr/>
              <a:tblGrid>
                <a:gridCol w="2819400"/>
                <a:gridCol w="186944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지시문에 적는다</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가리킨다</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왜</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이번 단위의 결과와 완료를 확인할 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요구사항 정의서 전체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단위마다 달라지는 것과 유지되는 것</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하지 않을 것과 범위의 경계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용어집과 명명 규칙</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경계는 이번 작업의 결정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멈춰 물어야 할 조건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기계와 의존 규칙</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조건은 짧고 규칙은 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권한의 허용과 금지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설계와 오퍼레이션 계약</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권한은 환경이 강제한다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산출물은 </a:t>
            </a:r>
            <a:r>
              <a:rPr sz="1800" b="1">
                <a:solidFill>
                  <a:srgbClr val="000000"/>
                </a:solidFill>
                <a:latin typeface="맑은 고딕"/>
                <a:ea typeface="맑은 고딕"/>
              </a:rPr>
              <a:t>가리키고 베끼지 않는다.</a:t>
            </a:r>
            <a:r>
              <a:rPr sz="1800" b="0">
                <a:solidFill>
                  <a:srgbClr val="000000"/>
                </a:solidFill>
                <a:latin typeface="맑은 고딕"/>
                <a:ea typeface="맑은 고딕"/>
              </a:rPr>
              <a:t> 지시문에 옮겨 적으면 2곳이 어긋나고, 어느 쪽이 사실인지 알 수 없게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지시문에 적을 것과 가리킬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가리키는 쪽이 </a:t>
            </a:r>
            <a:r>
              <a:rPr sz="1800" b="1">
                <a:solidFill>
                  <a:srgbClr val="000000"/>
                </a:solidFill>
                <a:latin typeface="맑은 고딕"/>
                <a:ea typeface="맑은 고딕"/>
              </a:rPr>
              <a:t>오래 남는 산출물</a:t>
            </a:r>
            <a:r>
              <a:rPr sz="1800" b="0">
                <a:solidFill>
                  <a:srgbClr val="000000"/>
                </a:solidFill>
                <a:latin typeface="맑은 고딕"/>
                <a:ea typeface="맑은 고딕"/>
              </a:rPr>
              <a:t>이다. 요구사항 정의서·용어집·상태 기계·의존 규칙은 작업이 끝나도 남는다.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베껴 쓰면 </a:t>
            </a:r>
            <a:r>
              <a:rPr sz="1800" b="1">
                <a:solidFill>
                  <a:srgbClr val="000000"/>
                </a:solidFill>
                <a:latin typeface="맑은 고딕"/>
                <a:ea typeface="맑은 고딕"/>
              </a:rPr>
              <a:t>에이전트가 둘 다 읽고</a:t>
            </a:r>
            <a:r>
              <a:rPr sz="1800" b="0">
                <a:solidFill>
                  <a:srgbClr val="000000"/>
                </a:solidFill>
                <a:latin typeface="맑은 고딕"/>
                <a:ea typeface="맑은 고딕"/>
              </a:rPr>
              <a:t> 어긋난 쪽을 추측으로 고른다. 사실의 원천은 하나여야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문서를 고칠 권한은 주지 않는다. 산출물을 고치는 것은 </a:t>
            </a:r>
            <a:r>
              <a:rPr sz="1800" b="1">
                <a:solidFill>
                  <a:srgbClr val="000000"/>
                </a:solidFill>
                <a:latin typeface="맑은 고딕"/>
                <a:ea typeface="맑은 고딕"/>
              </a:rPr>
              <a:t>사람의 결정</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주문한다의 작업 지시문</a:t>
            </a:r>
          </a:p>
          <a:p>
            <a:r>
              <a:rPr sz="1100" b="1">
                <a:solidFill>
                  <a:srgbClr val="000000"/>
                </a:solidFill>
                <a:latin typeface="맑은 고딕"/>
                <a:ea typeface="맑은 고딕"/>
              </a:rPr>
              <a:t>03. 작업 지시문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04056"/>
            <a:ext cx="4338828" cy="4908409"/>
          </a:xfrm>
        </p:spPr>
        <p:txBody>
          <a:bodyPr>
            <a:normAutofit/>
          </a:bodyPr>
          <a:lstStyle/>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무엇을 하라</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빈 저장소에 자바 프로젝트의 골격과 </a:t>
            </a:r>
            <a:r>
              <a:rPr sz="1000" b="1">
                <a:solidFill>
                  <a:srgbClr val="000000"/>
                </a:solidFill>
                <a:latin typeface="맑은 고딕"/>
                <a:ea typeface="맑은 고딕"/>
              </a:rPr>
              <a:t>빌드 구성</a:t>
            </a:r>
            <a:r>
              <a:rPr sz="1000" b="0">
                <a:solidFill>
                  <a:srgbClr val="000000"/>
                </a:solidFill>
                <a:latin typeface="맑은 고딕"/>
                <a:ea typeface="맑은 고딕"/>
              </a:rPr>
              <a:t>을 만들고, 작업 단위 1 </a:t>
            </a:r>
            <a:r>
              <a:rPr sz="1000" b="1">
                <a:solidFill>
                  <a:srgbClr val="000000"/>
                </a:solidFill>
                <a:latin typeface="맑은 고딕"/>
                <a:ea typeface="맑은 고딕"/>
              </a:rPr>
              <a:t>금액 확정만 구현</a:t>
            </a:r>
            <a:r>
              <a:rPr sz="1000" b="0">
                <a:solidFill>
                  <a:srgbClr val="000000"/>
                </a:solidFill>
                <a:latin typeface="맑은 고딕"/>
                <a:ea typeface="맑은 고딕"/>
              </a:rPr>
              <a:t>해라.</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배송지를 정하면 주문이 결제대기로 생기고, 그때의 </a:t>
            </a:r>
            <a:r>
              <a:rPr sz="1000" b="1">
                <a:solidFill>
                  <a:srgbClr val="000000"/>
                </a:solidFill>
                <a:latin typeface="맑은 고딕"/>
                <a:ea typeface="맑은 고딕"/>
              </a:rPr>
              <a:t>판매가로 각 항목의 단가가 확정</a:t>
            </a:r>
            <a:r>
              <a:rPr sz="1000" b="0">
                <a:solidFill>
                  <a:srgbClr val="000000"/>
                </a:solidFill>
                <a:latin typeface="맑은 고딕"/>
                <a:ea typeface="맑은 고딕"/>
              </a:rPr>
              <a:t>되어 주문 금액이 정해진다.</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완료를 확인할 예</a:t>
            </a:r>
            <a:r>
              <a:rPr sz="1000" b="0">
                <a:solidFill>
                  <a:srgbClr val="000000"/>
                </a:solidFill>
                <a:latin typeface="맑은 고딕"/>
                <a:ea typeface="맑은 고딕"/>
              </a:rPr>
              <a:t> —</a:t>
            </a:r>
            <a:r>
              <a:rPr sz="1000" b="0">
                <a:solidFill>
                  <a:srgbClr val="000000"/>
                </a:solidFill>
                <a:latin typeface="맑은 고딕"/>
                <a:ea typeface="맑은 고딕"/>
              </a:rPr>
              <a:t> 펜 2개를 판매가 1,000원일 때 주문하고, 그 뒤 판매가가 1,200원이 되어도 </a:t>
            </a:r>
            <a:r>
              <a:rPr sz="1000" b="1">
                <a:solidFill>
                  <a:srgbClr val="000000"/>
                </a:solidFill>
                <a:latin typeface="맑은 고딕"/>
                <a:ea typeface="맑은 고딕"/>
              </a:rPr>
              <a:t>주문 금액은 2,000원</a:t>
            </a:r>
            <a:r>
              <a:rPr sz="1000" b="0">
                <a:solidFill>
                  <a:srgbClr val="000000"/>
                </a:solidFill>
                <a:latin typeface="맑은 고딕"/>
                <a:ea typeface="맑은 고딕"/>
              </a:rPr>
              <a:t> 그대로다.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이 예를 검사하는 </a:t>
            </a:r>
            <a:r>
              <a:rPr sz="1000" b="1">
                <a:solidFill>
                  <a:srgbClr val="000000"/>
                </a:solidFill>
                <a:latin typeface="맑은 고딕"/>
                <a:ea typeface="맑은 고딕"/>
              </a:rPr>
              <a:t>테스트를 함께 만들고 실제로 실행</a:t>
            </a:r>
            <a:r>
              <a:rPr sz="1000" b="0">
                <a:solidFill>
                  <a:srgbClr val="000000"/>
                </a:solidFill>
                <a:latin typeface="맑은 고딕"/>
                <a:ea typeface="맑은 고딕"/>
              </a:rPr>
              <a:t>해 통과 출력을 보여라.</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무엇을 가리킬 것인가</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산출물 입구</a:t>
            </a:r>
            <a:r>
              <a:rPr sz="1000" b="0">
                <a:solidFill>
                  <a:srgbClr val="000000"/>
                </a:solidFill>
                <a:latin typeface="맑은 고딕"/>
                <a:ea typeface="맑은 고딕"/>
              </a:rPr>
              <a:t>에서 시작해 필요한 문서만 찾아 읽어라. 문서의 내용을 주석이나 새 문서로 </a:t>
            </a:r>
            <a:r>
              <a:rPr sz="1000" b="1">
                <a:solidFill>
                  <a:srgbClr val="000000"/>
                </a:solidFill>
                <a:latin typeface="맑은 고딕"/>
                <a:ea typeface="맑은 고딕"/>
              </a:rPr>
              <a:t>베껴 쓰지 마라</a:t>
            </a:r>
            <a:r>
              <a:rPr sz="1000" b="0">
                <a:solidFill>
                  <a:srgbClr val="000000"/>
                </a:solidFill>
                <a:latin typeface="맑은 고딕"/>
                <a:ea typeface="맑은 고딕"/>
              </a:rPr>
              <a:t>.</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이름은 </a:t>
            </a:r>
            <a:r>
              <a:rPr sz="1000" b="1">
                <a:solidFill>
                  <a:srgbClr val="000000"/>
                </a:solidFill>
                <a:latin typeface="맑은 고딕"/>
                <a:ea typeface="맑은 고딕"/>
              </a:rPr>
              <a:t>용어집의 영문명</a:t>
            </a:r>
            <a:r>
              <a:rPr sz="1000" b="0">
                <a:solidFill>
                  <a:srgbClr val="000000"/>
                </a:solidFill>
                <a:latin typeface="맑은 고딕"/>
                <a:ea typeface="맑은 고딕"/>
              </a:rPr>
              <a:t>과 명명 규칙을 그대로 사용한다. 용어집에 없는 업무 용어를 만들지 마라.</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패키지와 계약은 </a:t>
            </a:r>
            <a:r>
              <a:rPr sz="1000" b="1">
                <a:solidFill>
                  <a:srgbClr val="000000"/>
                </a:solidFill>
                <a:latin typeface="맑은 고딕"/>
                <a:ea typeface="맑은 고딕"/>
              </a:rPr>
              <a:t>의존 규칙과 설계 문서</a:t>
            </a:r>
            <a:r>
              <a:rPr sz="1000" b="0">
                <a:solidFill>
                  <a:srgbClr val="000000"/>
                </a:solidFill>
                <a:latin typeface="맑은 고딕"/>
                <a:ea typeface="맑은 고딕"/>
              </a:rPr>
              <a:t>를 따른다.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권한</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허용</a:t>
            </a:r>
            <a:r>
              <a:rPr sz="1000" b="0">
                <a:solidFill>
                  <a:srgbClr val="000000"/>
                </a:solidFill>
                <a:latin typeface="맑은 고딕"/>
                <a:ea typeface="맑은 고딕"/>
              </a:rPr>
              <a:t> —</a:t>
            </a:r>
            <a:r>
              <a:rPr sz="1000" b="0">
                <a:solidFill>
                  <a:srgbClr val="000000"/>
                </a:solidFill>
                <a:latin typeface="맑은 고딕"/>
                <a:ea typeface="맑은 고딕"/>
              </a:rPr>
              <a:t> 업무 코드와 테스트 만들기·고치기, 빌드 구성 만들기, 컴파일과 테스트 실행, 작업 브랜치 커밋.</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금지</a:t>
            </a:r>
            <a:r>
              <a:rPr sz="1000" b="0">
                <a:solidFill>
                  <a:srgbClr val="000000"/>
                </a:solidFill>
                <a:latin typeface="맑은 고딕"/>
                <a:ea typeface="맑은 고딕"/>
              </a:rPr>
              <a:t> —</a:t>
            </a:r>
            <a:r>
              <a:rPr sz="1000" b="0">
                <a:solidFill>
                  <a:srgbClr val="000000"/>
                </a:solidFill>
                <a:latin typeface="맑은 고딕"/>
                <a:ea typeface="맑은 고딕"/>
              </a:rPr>
              <a:t> 외부 네트워크 호출, 실제 결제 시스템 호출, 비밀 키 읽기, 원격 저장소로 push, 산출물 문서 수정.</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43936"/>
          </a:xfrm>
        </p:spPr>
        <p:txBody>
          <a:bodyPr>
            <a:normAutofit/>
          </a:bodyPr>
          <a:lstStyle/>
          <a:p>
            <a:pPr marL="182880" indent="0">
              <a:spcBef>
                <a:spcPts val="300"/>
              </a:spcBef>
              <a:spcAft>
                <a:spcPts val="300"/>
              </a:spcAft>
              <a:buNone/>
            </a:pPr>
            <a:r>
              <a:rPr sz="1000" b="1">
                <a:solidFill>
                  <a:srgbClr val="000000"/>
                </a:solidFill>
                <a:latin typeface="맑은 고딕"/>
                <a:ea typeface="맑은 고딕"/>
              </a:rPr>
              <a:t>작업 지시문 —</a:t>
            </a:r>
            <a:r>
              <a:rPr sz="1000" b="1">
                <a:solidFill>
                  <a:srgbClr val="000000"/>
                </a:solidFill>
                <a:latin typeface="맑은 고딕"/>
                <a:ea typeface="맑은 고딕"/>
              </a:rPr>
              <a:t> 작업 단위 1 「금액 확정」</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04056"/>
            <a:ext cx="4439412" cy="4908409"/>
          </a:xfrm>
        </p:spPr>
        <p:txBody>
          <a:bodyPr>
            <a:normAutofit/>
          </a:bodyPr>
          <a:lstStyle/>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종료 조건</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수용 예가 통과한 실행 출력</a:t>
            </a:r>
            <a:r>
              <a:rPr sz="1000" b="0">
                <a:solidFill>
                  <a:srgbClr val="000000"/>
                </a:solidFill>
                <a:latin typeface="맑은 고딕"/>
                <a:ea typeface="맑은 고딕"/>
              </a:rPr>
              <a:t>과, 사전조건을 어긴 입력이 거절되는 테스트가 있다.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작업 단위 2~4는 </a:t>
            </a:r>
            <a:r>
              <a:rPr sz="1000" b="1">
                <a:solidFill>
                  <a:srgbClr val="000000"/>
                </a:solidFill>
                <a:latin typeface="맑은 고딕"/>
                <a:ea typeface="맑은 고딕"/>
              </a:rPr>
              <a:t>구현하지 않고</a:t>
            </a:r>
            <a:r>
              <a:rPr sz="1000" b="0">
                <a:solidFill>
                  <a:srgbClr val="000000"/>
                </a:solidFill>
                <a:latin typeface="맑은 고딕"/>
                <a:ea typeface="맑은 고딕"/>
              </a:rPr>
              <a:t> 결제·배송 포트는 인터페이스 선언까지만 둔다.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문서가 정하지 않은 정책, 문서와 어긋나는 입력, 금지된 권한이 필요한 일에 닿으면 </a:t>
            </a:r>
            <a:r>
              <a:rPr sz="1000" b="1">
                <a:solidFill>
                  <a:srgbClr val="000000"/>
                </a:solidFill>
                <a:latin typeface="맑은 고딕"/>
                <a:ea typeface="맑은 고딕"/>
              </a:rPr>
              <a:t>멈추고 질문</a:t>
            </a:r>
            <a:r>
              <a:rPr sz="1000" b="0">
                <a:solidFill>
                  <a:srgbClr val="000000"/>
                </a:solidFill>
                <a:latin typeface="맑은 고딕"/>
                <a:ea typeface="맑은 고딕"/>
              </a:rPr>
              <a:t>해라.</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마지막에 무엇을 만들었고 </a:t>
            </a:r>
            <a:r>
              <a:rPr sz="1000" b="1">
                <a:solidFill>
                  <a:srgbClr val="000000"/>
                </a:solidFill>
                <a:latin typeface="맑은 고딕"/>
                <a:ea typeface="맑은 고딕"/>
              </a:rPr>
              <a:t>무엇을 확인했는지</a:t>
            </a:r>
            <a:r>
              <a:rPr sz="1000" b="0">
                <a:solidFill>
                  <a:srgbClr val="000000"/>
                </a:solidFill>
                <a:latin typeface="맑은 고딕"/>
                <a:ea typeface="맑은 고딕"/>
              </a:rPr>
              <a:t>, 멈춘 질문이 무엇인지 적어라.</a:t>
            </a:r>
          </a:p>
        </p:txBody>
      </p:sp>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미리 넣을 것과 찾아 읽게 할 것</a:t>
            </a:r>
          </a:p>
          <a:p>
            <a:r>
              <a:rPr sz="1100" b="1">
                <a:solidFill>
                  <a:srgbClr val="000000"/>
                </a:solidFill>
                <a:latin typeface="맑은 고딕"/>
                <a:ea typeface="맑은 고딕"/>
              </a:rPr>
              <a:t>04. 맥락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79436" y="2436206"/>
          <a:ext cx="5971540" cy="3873500"/>
        </p:xfrm>
        <a:graphic>
          <a:graphicData uri="http://schemas.openxmlformats.org/drawingml/2006/table">
            <a:tbl>
              <a:tblPr/>
              <a:tblGrid>
                <a:gridCol w="1869440"/>
                <a:gridCol w="150622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산출물</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어떻게 주는가?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왜</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설계와 오퍼레이션 계약</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미리 넣는다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이번 단위의 판단마다 쓰인다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용어집</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미리 넣는다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이름을 지을 때마다 필요하다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 정의서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입구에서 가리킨다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필요한 절이 작업마다 다르다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입구에서 가리킨다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이번 단위는 전이를 다루지 않는다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품질 요구사항</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주지 않는다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단위의 결과를 바꾸지 않는다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8505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맥락 엔지니어링은 끊임없이 변하는 정보의 우주에서 한정된 맥락 창에 무엇을 넣을지 </a:t>
            </a:r>
            <a:r>
              <a:rPr sz="1800" b="1">
                <a:solidFill>
                  <a:srgbClr val="000000"/>
                </a:solidFill>
                <a:latin typeface="맑은 고딕"/>
                <a:ea typeface="맑은 고딕"/>
              </a:rPr>
              <a:t>선별하는 기술이자 과학</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"context engineering is the art and science of curating what will go into the limited context window from that constantly evolving universe of possible information"</a:t>
            </a:r>
            <a:r>
              <a:rPr sz="1000" b="0">
                <a:solidFill>
                  <a:srgbClr val="000000"/>
                </a:solidFill>
                <a:latin typeface="맑은 고딕"/>
                <a:ea typeface="맑은 고딕"/>
              </a:rPr>
              <a:t>, </a:t>
            </a:r>
            <a:r>
              <a:rPr sz="1000" b="0">
                <a:solidFill>
                  <a:srgbClr val="000000"/>
                </a:solidFill>
                <a:latin typeface="맑은 고딕"/>
                <a:ea typeface="맑은 고딕"/>
              </a:rPr>
              <a:t>[Anthropic 2025c]</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3775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첫 단위의 맥락 선별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92806"/>
            <a:ext cx="8412480" cy="167640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맥락은 다 넣는 것이 아니라 </a:t>
            </a:r>
            <a:r>
              <a:rPr sz="1800" b="1">
                <a:solidFill>
                  <a:srgbClr val="000000"/>
                </a:solidFill>
                <a:latin typeface="맑은 고딕"/>
                <a:ea typeface="맑은 고딕"/>
              </a:rPr>
              <a:t>고르는 일</a:t>
            </a:r>
            <a:r>
              <a:rPr sz="1800" b="0">
                <a:solidFill>
                  <a:srgbClr val="000000"/>
                </a:solidFill>
                <a:latin typeface="맑은 고딕"/>
                <a:ea typeface="맑은 고딕"/>
              </a:rPr>
              <a:t>이다. 넣을 것의 기준은 </a:t>
            </a:r>
            <a:r>
              <a:rPr sz="1800" b="1">
                <a:solidFill>
                  <a:srgbClr val="000000"/>
                </a:solidFill>
                <a:latin typeface="맑은 고딕"/>
                <a:ea typeface="맑은 고딕"/>
              </a:rPr>
              <a:t>이번 판단에 쓰이는가</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넣지 않기로 한 것도 </a:t>
            </a:r>
            <a:r>
              <a:rPr sz="1800" b="1">
                <a:solidFill>
                  <a:srgbClr val="000000"/>
                </a:solidFill>
                <a:latin typeface="맑은 고딕"/>
                <a:ea typeface="맑은 고딕"/>
              </a:rPr>
              <a:t>결정이다.</a:t>
            </a:r>
            <a:r>
              <a:rPr sz="1800" b="0">
                <a:solidFill>
                  <a:srgbClr val="000000"/>
                </a:solidFill>
                <a:latin typeface="맑은 고딕"/>
                <a:ea typeface="맑은 고딕"/>
              </a:rPr>
              <a:t> 왜 빼는지 말할 수 없으면 그것은 선별이 아니라 누락이다.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긴 문서를 통째로 넣으면 </a:t>
            </a:r>
            <a:r>
              <a:rPr sz="1800" b="1">
                <a:solidFill>
                  <a:srgbClr val="000000"/>
                </a:solidFill>
                <a:latin typeface="맑은 고딕"/>
                <a:ea typeface="맑은 고딕"/>
              </a:rPr>
              <a:t>쓰이지 않는 토큰이 호출마다 다시 들어간다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점진적 공개</a:t>
            </a:r>
          </a:p>
          <a:p>
            <a:r>
              <a:rPr sz="1100" b="1">
                <a:solidFill>
                  <a:srgbClr val="000000"/>
                </a:solidFill>
                <a:latin typeface="맑은 고딕"/>
                <a:ea typeface="맑은 고딕"/>
              </a:rPr>
              <a:t>04. 맥락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99113"/>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점진적 공개는 에이전트가 </a:t>
            </a:r>
            <a:r>
              <a:rPr sz="1800" b="1">
                <a:solidFill>
                  <a:srgbClr val="000000"/>
                </a:solidFill>
                <a:latin typeface="맑은 고딕"/>
                <a:ea typeface="맑은 고딕"/>
              </a:rPr>
              <a:t>작고 안정된 입구</a:t>
            </a:r>
            <a:r>
              <a:rPr sz="1800" b="0">
                <a:solidFill>
                  <a:srgbClr val="000000"/>
                </a:solidFill>
                <a:latin typeface="맑은 고딕"/>
                <a:ea typeface="맑은 고딕"/>
              </a:rPr>
              <a:t>에서 시작해, 처음부터 쏟아붓는 대신 다음에 어디를 볼지 배우게 한다</a:t>
            </a:r>
            <a:r>
              <a:rPr sz="1000" b="0">
                <a:solidFill>
                  <a:srgbClr val="000000"/>
                </a:solidFill>
                <a:latin typeface="맑은 고딕"/>
                <a:ea typeface="맑은 고딕"/>
              </a:rPr>
              <a:t>, </a:t>
            </a:r>
            <a:r>
              <a:rPr sz="1000" b="0">
                <a:solidFill>
                  <a:srgbClr val="000000"/>
                </a:solidFill>
                <a:latin typeface="맑은 고딕"/>
                <a:ea typeface="맑은 고딕"/>
              </a:rPr>
              <a:t>"this enables progressive disclosure: agents start with a small, stable entry point and are taught where to look next, rather than being overwhelmed up front"</a:t>
            </a:r>
            <a:r>
              <a:rPr sz="1000" b="0">
                <a:solidFill>
                  <a:srgbClr val="000000"/>
                </a:solidFill>
                <a:latin typeface="맑은 고딕"/>
                <a:ea typeface="맑은 고딕"/>
              </a:rPr>
              <a:t>, </a:t>
            </a:r>
            <a:r>
              <a:rPr sz="1000" b="0">
                <a:solidFill>
                  <a:srgbClr val="000000"/>
                </a:solidFill>
                <a:latin typeface="맑은 고딕"/>
                <a:ea typeface="맑은 고딕"/>
              </a:rPr>
              <a:t>[Lopopolo 2026]</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입구는 </a:t>
            </a:r>
            <a:r>
              <a:rPr sz="1800" b="1">
                <a:solidFill>
                  <a:srgbClr val="000000"/>
                </a:solidFill>
                <a:latin typeface="맑은 고딕"/>
                <a:ea typeface="맑은 고딕"/>
              </a:rPr>
              <a:t>한 장</a:t>
            </a:r>
            <a:r>
              <a:rPr sz="1800" b="0">
                <a:solidFill>
                  <a:srgbClr val="000000"/>
                </a:solidFill>
                <a:latin typeface="맑은 고딕"/>
                <a:ea typeface="맑은 고딕"/>
              </a:rPr>
              <a:t>이다. 어떤 문서에 무엇이 있고 언제 읽는지만 적는다.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가벼운 식별자</a:t>
            </a:r>
            <a:r>
              <a:rPr sz="1800" b="0">
                <a:solidFill>
                  <a:srgbClr val="000000"/>
                </a:solidFill>
                <a:latin typeface="맑은 고딕"/>
                <a:ea typeface="맑은 고딕"/>
              </a:rPr>
              <a:t>를 두고 실행 중에 불러오게 한다</a:t>
            </a:r>
            <a:r>
              <a:rPr sz="1000" b="0">
                <a:solidFill>
                  <a:srgbClr val="000000"/>
                </a:solidFill>
                <a:latin typeface="맑은 고딕"/>
                <a:ea typeface="맑은 고딕"/>
              </a:rPr>
              <a:t>, </a:t>
            </a:r>
            <a:r>
              <a:rPr sz="1000" b="0">
                <a:solidFill>
                  <a:srgbClr val="000000"/>
                </a:solidFill>
                <a:latin typeface="맑은 고딕"/>
                <a:ea typeface="맑은 고딕"/>
              </a:rPr>
              <a:t>"maintain lightweight identifiers (file paths, stored queries, web links, etc.) and use these references to dynamically load data into context at runtime"</a:t>
            </a:r>
            <a:r>
              <a:rPr sz="1000" b="0">
                <a:solidFill>
                  <a:srgbClr val="000000"/>
                </a:solidFill>
                <a:latin typeface="맑은 고딕"/>
                <a:ea typeface="맑은 고딕"/>
              </a:rPr>
              <a:t>, </a:t>
            </a:r>
            <a:r>
              <a:rPr sz="1000" b="0">
                <a:solidFill>
                  <a:srgbClr val="000000"/>
                </a:solidFill>
                <a:latin typeface="맑은 고딕"/>
                <a:ea typeface="맑은 고딕"/>
              </a:rPr>
              <a:t>[Anthropic 2025c]</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입구가 </a:t>
            </a:r>
            <a:r>
              <a:rPr sz="1800" b="1">
                <a:solidFill>
                  <a:srgbClr val="000000"/>
                </a:solidFill>
                <a:latin typeface="맑은 고딕"/>
                <a:ea typeface="맑은 고딕"/>
              </a:rPr>
              <a:t>안정된 것</a:t>
            </a:r>
            <a:r>
              <a:rPr sz="1800" b="0">
                <a:solidFill>
                  <a:srgbClr val="000000"/>
                </a:solidFill>
                <a:latin typeface="맑은 고딕"/>
                <a:ea typeface="맑은 고딕"/>
              </a:rPr>
              <a:t>이어야 하고, 읽을 문서가 </a:t>
            </a:r>
            <a:r>
              <a:rPr sz="1800" b="1">
                <a:solidFill>
                  <a:srgbClr val="000000"/>
                </a:solidFill>
                <a:latin typeface="맑은 고딕"/>
                <a:ea typeface="맑은 고딕"/>
              </a:rPr>
              <a:t>저장소 안에</a:t>
            </a:r>
            <a:r>
              <a:rPr sz="1800" b="0">
                <a:solidFill>
                  <a:srgbClr val="000000"/>
                </a:solidFill>
                <a:latin typeface="맑은 고딕"/>
                <a:ea typeface="맑은 고딕"/>
              </a:rPr>
              <a:t> 있어야 가리킬 수 있다. 다른 대화나 공유 문서의 기억에 기대지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60985"/>
            <a:ext cx="8412480" cy="201168"/>
          </a:xfrm>
          <a:prstGeom prst="rect">
            <a:avLst/>
          </a:prstGeom>
          <a:noFill/>
        </p:spPr>
        <p:txBody>
          <a:bodyPr wrap="square">
            <a:spAutoFit/>
          </a:bodyPr>
          <a:lstStyle/>
          <a:p>
            <a:pPr algn="ctr"/>
            <a:r>
              <a:rPr sz="1400" b="1">
                <a:solidFill>
                  <a:srgbClr val="000000"/>
                </a:solidFill>
                <a:latin typeface="맑은 고딕"/>
                <a:ea typeface="맑은 고딕"/>
              </a:rPr>
              <a:t>입구 문서와 찾아 읽는 산출물</a:t>
            </a:r>
          </a:p>
        </p:txBody>
      </p:sp>
      <p:pic>
        <p:nvPicPr>
          <p:cNvPr id="10" name="mermaid Diagram 2"/>
          <p:cNvPicPr>
            <a:picLocks noChangeAspect="1"/>
          </p:cNvPicPr>
          <p:nvPr/>
        </p:nvPicPr>
        <p:blipFill>
          <a:blip r:embed="mermaidImage2"/>
          <a:stretch>
            <a:fillRect/>
          </a:stretch>
        </p:blipFill>
        <p:spPr>
          <a:xfrm>
            <a:off x="2618879" y="4098729"/>
            <a:ext cx="3906242" cy="225024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긴 작업의 압축과 기록</a:t>
            </a:r>
          </a:p>
          <a:p>
            <a:r>
              <a:rPr sz="1100" b="1">
                <a:solidFill>
                  <a:srgbClr val="000000"/>
                </a:solidFill>
                <a:latin typeface="맑은 고딕"/>
                <a:ea typeface="맑은 고딕"/>
              </a:rPr>
              <a:t>04. 맥락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오래 도는 에이전트의 핵심 어려움은 일이 끊어진 세션으로 나뉘고, 새 세션마다 </a:t>
            </a:r>
            <a:r>
              <a:rPr sz="1800" b="1">
                <a:solidFill>
                  <a:srgbClr val="000000"/>
                </a:solidFill>
                <a:latin typeface="맑은 고딕"/>
                <a:ea typeface="맑은 고딕"/>
              </a:rPr>
              <a:t>앞의 기억 없이 시작</a:t>
            </a:r>
            <a:r>
              <a:rPr sz="1800" b="0">
                <a:solidFill>
                  <a:srgbClr val="000000"/>
                </a:solidFill>
                <a:latin typeface="맑은 고딕"/>
                <a:ea typeface="맑은 고딕"/>
              </a:rPr>
              <a:t>한다는 것이다</a:t>
            </a:r>
            <a:r>
              <a:rPr sz="1000" b="0">
                <a:solidFill>
                  <a:srgbClr val="000000"/>
                </a:solidFill>
                <a:latin typeface="맑은 고딕"/>
                <a:ea typeface="맑은 고딕"/>
              </a:rPr>
              <a:t>, </a:t>
            </a:r>
            <a:r>
              <a:rPr sz="1000" b="0">
                <a:solidFill>
                  <a:srgbClr val="000000"/>
                </a:solidFill>
                <a:latin typeface="맑은 고딕"/>
                <a:ea typeface="맑은 고딕"/>
              </a:rPr>
              <a:t>"the core challenge of long-running agents is that they must work in discrete sessions, and each new session begins with no memory of what came before"</a:t>
            </a:r>
            <a:r>
              <a:rPr sz="1000" b="0">
                <a:solidFill>
                  <a:srgbClr val="000000"/>
                </a:solidFill>
                <a:latin typeface="맑은 고딕"/>
                <a:ea typeface="맑은 고딕"/>
              </a:rPr>
              <a:t>, </a:t>
            </a:r>
            <a:r>
              <a:rPr sz="1000" b="0">
                <a:solidFill>
                  <a:srgbClr val="000000"/>
                </a:solidFill>
                <a:latin typeface="맑은 고딕"/>
                <a:ea typeface="맑은 고딕"/>
              </a:rPr>
              <a:t>[Anthropic 2025d]</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압축은 </a:t>
            </a:r>
            <a:r>
              <a:rPr sz="1800" b="1">
                <a:solidFill>
                  <a:srgbClr val="000000"/>
                </a:solidFill>
                <a:latin typeface="맑은 고딕"/>
                <a:ea typeface="맑은 고딕"/>
              </a:rPr>
              <a:t>맥락 창의 한도</a:t>
            </a:r>
            <a:r>
              <a:rPr sz="1800" b="0">
                <a:solidFill>
                  <a:srgbClr val="000000"/>
                </a:solidFill>
                <a:latin typeface="맑은 고딕"/>
                <a:ea typeface="맑은 고딕"/>
              </a:rPr>
              <a:t>에 다다른 대화를 요약해 그 요약으로 새 맥락 창을 다시 시작하는 방식이다</a:t>
            </a:r>
            <a:r>
              <a:rPr sz="1000" b="0">
                <a:solidFill>
                  <a:srgbClr val="000000"/>
                </a:solidFill>
                <a:latin typeface="맑은 고딕"/>
                <a:ea typeface="맑은 고딕"/>
              </a:rPr>
              <a:t>, </a:t>
            </a:r>
            <a:r>
              <a:rPr sz="1000" b="0">
                <a:solidFill>
                  <a:srgbClr val="000000"/>
                </a:solidFill>
                <a:latin typeface="맑은 고딕"/>
                <a:ea typeface="맑은 고딕"/>
              </a:rPr>
              <a:t>"compaction is the practice of taking a conversation nearing the context window limit, summarizing its contents, and reinitiating a new context window with the summary"</a:t>
            </a:r>
            <a:r>
              <a:rPr sz="1000" b="0">
                <a:solidFill>
                  <a:srgbClr val="000000"/>
                </a:solidFill>
                <a:latin typeface="맑은 고딕"/>
                <a:ea typeface="맑은 고딕"/>
              </a:rPr>
              <a:t>, </a:t>
            </a:r>
            <a:r>
              <a:rPr sz="1000" b="0">
                <a:solidFill>
                  <a:srgbClr val="000000"/>
                </a:solidFill>
                <a:latin typeface="맑은 고딕"/>
                <a:ea typeface="맑은 고딕"/>
              </a:rPr>
              <a:t>[Anthropic 2025c]</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압축은 </a:t>
            </a:r>
            <a:r>
              <a:rPr sz="1800" b="1">
                <a:solidFill>
                  <a:srgbClr val="000000"/>
                </a:solidFill>
                <a:latin typeface="맑은 고딕"/>
                <a:ea typeface="맑은 고딕"/>
              </a:rPr>
              <a:t>요약이므로 잃는 것이 있다.</a:t>
            </a:r>
            <a:r>
              <a:rPr sz="1800" b="0">
                <a:solidFill>
                  <a:srgbClr val="000000"/>
                </a:solidFill>
                <a:latin typeface="맑은 고딕"/>
                <a:ea typeface="맑은 고딕"/>
              </a:rPr>
              <a:t> 다음 세션이 알아야 할 것은 대화가 아니라 </a:t>
            </a:r>
            <a:r>
              <a:rPr sz="1800" b="1">
                <a:solidFill>
                  <a:srgbClr val="000000"/>
                </a:solidFill>
                <a:latin typeface="맑은 고딕"/>
                <a:ea typeface="맑은 고딕"/>
              </a:rPr>
              <a:t>저장소</a:t>
            </a:r>
            <a:r>
              <a:rPr sz="1800" b="0">
                <a:solidFill>
                  <a:srgbClr val="000000"/>
                </a:solidFill>
                <a:latin typeface="맑은 고딕"/>
                <a:ea typeface="맑은 고딕"/>
              </a:rPr>
              <a:t>에 적게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남길 것은 셋이다 —</a:t>
            </a:r>
            <a:r>
              <a:rPr sz="1600" b="0">
                <a:solidFill>
                  <a:srgbClr val="000000"/>
                </a:solidFill>
                <a:latin typeface="맑은 고딕"/>
                <a:ea typeface="맑은 고딕"/>
              </a:rPr>
              <a:t> </a:t>
            </a:r>
            <a:r>
              <a:rPr sz="1600" b="1">
                <a:solidFill>
                  <a:srgbClr val="000000"/>
                </a:solidFill>
                <a:latin typeface="맑은 고딕"/>
                <a:ea typeface="맑은 고딕"/>
              </a:rPr>
              <a:t>지금까지 통과한 검사</a:t>
            </a:r>
            <a:r>
              <a:rPr sz="1600" b="0">
                <a:solidFill>
                  <a:srgbClr val="000000"/>
                </a:solidFill>
                <a:latin typeface="맑은 고딕"/>
                <a:ea typeface="맑은 고딕"/>
              </a:rPr>
              <a:t>, 다음에 할 일, 멈춰 물은 질문.</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커밋이 </a:t>
            </a:r>
            <a:r>
              <a:rPr sz="1800" b="1">
                <a:solidFill>
                  <a:srgbClr val="000000"/>
                </a:solidFill>
                <a:latin typeface="맑은 고딕"/>
                <a:ea typeface="맑은 고딕"/>
              </a:rPr>
              <a:t>기록의 단위</a:t>
            </a:r>
            <a:r>
              <a:rPr sz="1800" b="0">
                <a:solidFill>
                  <a:srgbClr val="000000"/>
                </a:solidFill>
                <a:latin typeface="맑은 고딕"/>
                <a:ea typeface="맑은 고딕"/>
              </a:rPr>
              <a:t>다. 끊긴 자리에서 다시 시작하지 않으려면 끝난 것이 커밋으로 남아 있어야 한다.</a:t>
            </a:r>
          </a:p>
        </p:txBody>
      </p:sp>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최소 권한</a:t>
            </a:r>
          </a:p>
          <a:p>
            <a:r>
              <a:rPr sz="1100" b="1">
                <a:solidFill>
                  <a:srgbClr val="000000"/>
                </a:solidFill>
                <a:latin typeface="맑은 고딕"/>
                <a:ea typeface="맑은 고딕"/>
              </a:rPr>
              <a:t>05. 권한과 도구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30666" y="2274108"/>
          <a:ext cx="4069080" cy="3873500"/>
        </p:xfrm>
        <a:graphic>
          <a:graphicData uri="http://schemas.openxmlformats.org/drawingml/2006/table">
            <a:tbl>
              <a:tblPr/>
              <a:tblGrid>
                <a:gridCol w="889000"/>
                <a:gridCol w="108712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동작</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어디까지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첫 단위의 값</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읽기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파일을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저장소 안의 산출물과 코드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쓰기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폴더에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코드와 테스트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실행</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명령을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컴파일과 테스트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통신</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어디로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 — 기본적으로 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93316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읽기는 허용하고 쓰기는 작업 공간 안에서만 허용하며, </a:t>
            </a:r>
            <a:r>
              <a:rPr sz="1800" b="1">
                <a:solidFill>
                  <a:srgbClr val="000000"/>
                </a:solidFill>
                <a:latin typeface="맑은 고딕"/>
                <a:ea typeface="맑은 고딕"/>
              </a:rPr>
              <a:t>네트워크는 기본적으로 거절</a:t>
            </a:r>
            <a:r>
              <a:rPr sz="1800" b="0">
                <a:solidFill>
                  <a:srgbClr val="000000"/>
                </a:solidFill>
                <a:latin typeface="맑은 고딕"/>
                <a:ea typeface="맑은 고딕"/>
              </a:rPr>
              <a:t>한다</a:t>
            </a:r>
            <a:r>
              <a:rPr sz="1000" b="0">
                <a:solidFill>
                  <a:srgbClr val="000000"/>
                </a:solidFill>
                <a:latin typeface="맑은 고딕"/>
                <a:ea typeface="맑은 고딕"/>
              </a:rPr>
              <a:t>, </a:t>
            </a:r>
            <a:r>
              <a:rPr sz="1000" b="0">
                <a:solidFill>
                  <a:srgbClr val="000000"/>
                </a:solidFill>
                <a:latin typeface="맑은 고딕"/>
                <a:ea typeface="맑은 고딕"/>
              </a:rPr>
              <a:t>"reads are allowed, writes are allowed inside the workspace, but network is denied by default"</a:t>
            </a:r>
            <a:r>
              <a:rPr sz="1000" b="0">
                <a:solidFill>
                  <a:srgbClr val="000000"/>
                </a:solidFill>
                <a:latin typeface="맑은 고딕"/>
                <a:ea typeface="맑은 고딕"/>
              </a:rPr>
              <a:t>, </a:t>
            </a:r>
            <a:r>
              <a:rPr sz="1000" b="0">
                <a:solidFill>
                  <a:srgbClr val="000000"/>
                </a:solidFill>
                <a:latin typeface="맑은 고딕"/>
                <a:ea typeface="맑은 고딕"/>
              </a:rPr>
              <a:t>[Anthropic 2026c]</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97565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권한은 2가지를 함께 좁힌다</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42708"/>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권한은 </a:t>
            </a:r>
            <a:r>
              <a:rPr sz="1800" b="1">
                <a:solidFill>
                  <a:srgbClr val="000000"/>
                </a:solidFill>
                <a:latin typeface="맑은 고딕"/>
                <a:ea typeface="맑은 고딕"/>
              </a:rPr>
              <a:t>자원과 동작을 함께</a:t>
            </a:r>
            <a:r>
              <a:rPr sz="1800" b="0">
                <a:solidFill>
                  <a:srgbClr val="000000"/>
                </a:solidFill>
                <a:latin typeface="맑은 고딕"/>
                <a:ea typeface="맑은 고딕"/>
              </a:rPr>
              <a:t> 좁힌다. 쓰기를 허용했다는 말만으로는 어디에 쓸 수 있는지 정해지지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기본값이 거절</a:t>
            </a:r>
            <a:r>
              <a:rPr sz="1800" b="0">
                <a:solidFill>
                  <a:srgbClr val="000000"/>
                </a:solidFill>
                <a:latin typeface="맑은 고딕"/>
                <a:ea typeface="맑은 고딕"/>
              </a:rPr>
              <a:t>이어야 좁혀진다. 허용 목록을 적는 것과 금지 목록을 적는 것은 같지 않다.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지금 작업에 필요한 것만 연다. 다음 단위에 필요한 권한을 </a:t>
            </a:r>
            <a:r>
              <a:rPr sz="1800" b="1">
                <a:solidFill>
                  <a:srgbClr val="000000"/>
                </a:solidFill>
                <a:latin typeface="맑은 고딕"/>
                <a:ea typeface="맑은 고딕"/>
              </a:rPr>
              <a:t>미리 열어 두지 않는다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강제와 지시</a:t>
            </a:r>
          </a:p>
          <a:p>
            <a:r>
              <a:rPr sz="1100" b="1">
                <a:solidFill>
                  <a:srgbClr val="000000"/>
                </a:solidFill>
                <a:latin typeface="맑은 고딕"/>
                <a:ea typeface="맑은 고딕"/>
              </a:rPr>
              <a:t>05. 권한과 도구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61046" y="2112010"/>
          <a:ext cx="5608320" cy="3873500"/>
        </p:xfrm>
        <a:graphic>
          <a:graphicData uri="http://schemas.openxmlformats.org/drawingml/2006/table">
            <a:tbl>
              <a:tblPr/>
              <a:tblGrid>
                <a:gridCol w="1645920"/>
                <a:gridCol w="172974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금지하려는 것</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지시로 적으면</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강제로 옮기면</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실제 결제 호출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하지 마라고 적는다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밖으로 나가는 통신을 막는다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비밀 키 읽기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읽지 마라고 적는다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파일의 읽기를 거절한다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원격 저장소로 push</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금지로 적는다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자격 증명을 주지 않는다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산출물 문서 수정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고치지 마라고 적는다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폴더에 쓰기를 거절한다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프롬프트에 적은 금지는 </a:t>
            </a:r>
            <a:r>
              <a:rPr sz="1800" b="1">
                <a:solidFill>
                  <a:srgbClr val="000000"/>
                </a:solidFill>
                <a:latin typeface="맑은 고딕"/>
                <a:ea typeface="맑은 고딕"/>
              </a:rPr>
              <a:t>부탁</a:t>
            </a:r>
            <a:r>
              <a:rPr sz="1800" b="0">
                <a:solidFill>
                  <a:srgbClr val="000000"/>
                </a:solidFill>
                <a:latin typeface="맑은 고딕"/>
                <a:ea typeface="맑은 고딕"/>
              </a:rPr>
              <a:t>이고, 환경이 실행 전에 거절하는 것만 </a:t>
            </a:r>
            <a:r>
              <a:rPr sz="1800" b="1">
                <a:solidFill>
                  <a:srgbClr val="000000"/>
                </a:solidFill>
                <a:latin typeface="맑은 고딕"/>
                <a:ea typeface="맑은 고딕"/>
              </a:rPr>
              <a:t>강제</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금지를 두 자리에 적을 때</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가드레일</a:t>
            </a:r>
            <a:r>
              <a:rPr sz="1800" b="0">
                <a:solidFill>
                  <a:srgbClr val="000000"/>
                </a:solidFill>
                <a:latin typeface="맑은 고딕"/>
                <a:ea typeface="맑은 고딕"/>
              </a:rPr>
              <a:t>이라는 이름에 둘이 섞여 있다. 이 과정은 환경이 거절하는 것만 가드레일로 부르고, 이후에는 </a:t>
            </a:r>
            <a:r>
              <a:rPr sz="1800" b="1">
                <a:solidFill>
                  <a:srgbClr val="000000"/>
                </a:solidFill>
                <a:latin typeface="맑은 고딕"/>
                <a:ea typeface="맑은 고딕"/>
              </a:rPr>
              <a:t>권한과 강제</a:t>
            </a:r>
            <a:r>
              <a:rPr sz="1800" b="0">
                <a:solidFill>
                  <a:srgbClr val="000000"/>
                </a:solidFill>
                <a:latin typeface="맑은 고딕"/>
                <a:ea typeface="맑은 고딕"/>
              </a:rPr>
              <a:t>로 말한다.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기계가 판정할 수 있는 규칙은 </a:t>
            </a:r>
            <a:r>
              <a:rPr sz="1800" b="1">
                <a:solidFill>
                  <a:srgbClr val="000000"/>
                </a:solidFill>
                <a:latin typeface="맑은 고딕"/>
                <a:ea typeface="맑은 고딕"/>
              </a:rPr>
              <a:t>강제로 옮긴다</a:t>
            </a:r>
            <a:r>
              <a:rPr sz="1800" b="0">
                <a:solidFill>
                  <a:srgbClr val="000000"/>
                </a:solidFill>
                <a:latin typeface="맑은 고딕"/>
                <a:ea typeface="맑은 고딕"/>
              </a:rPr>
              <a:t>. 판정할 수 없는 것만 지시로 남는다.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지시가 쓸모없는 것은 아니다. </a:t>
            </a:r>
            <a:r>
              <a:rPr sz="1800" b="1">
                <a:solidFill>
                  <a:srgbClr val="000000"/>
                </a:solidFill>
                <a:latin typeface="맑은 고딕"/>
                <a:ea typeface="맑은 고딕"/>
              </a:rPr>
              <a:t>왜 금지인지</a:t>
            </a:r>
            <a:r>
              <a:rPr sz="1800" b="0">
                <a:solidFill>
                  <a:srgbClr val="000000"/>
                </a:solidFill>
                <a:latin typeface="맑은 고딕"/>
                <a:ea typeface="맑은 고딕"/>
              </a:rPr>
              <a:t>를 알려 주면 에이전트가 우회로를 찾는 대신 멈춰 묻는다.</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주문한다의 권한 </a:t>
            </a:r>
            <a:r>
              <a:rPr sz="2000" b="1">
                <a:solidFill>
                  <a:srgbClr val="000000"/>
                </a:solidFill>
                <a:latin typeface="맑은 고딕"/>
                <a:ea typeface="맑은 고딕"/>
              </a:rPr>
              <a:t>(1/2)</a:t>
            </a:r>
          </a:p>
          <a:p>
            <a:r>
              <a:rPr sz="1100" b="1">
                <a:solidFill>
                  <a:srgbClr val="000000"/>
                </a:solidFill>
                <a:latin typeface="맑은 고딕"/>
                <a:ea typeface="맑은 고딕"/>
              </a:rPr>
              <a:t>05. 권한과 도구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34376" y="2112010"/>
          <a:ext cx="5661660" cy="3873500"/>
        </p:xfrm>
        <a:graphic>
          <a:graphicData uri="http://schemas.openxmlformats.org/drawingml/2006/table">
            <a:tbl>
              <a:tblPr/>
              <a:tblGrid>
                <a:gridCol w="889000"/>
                <a:gridCol w="2092960"/>
                <a:gridCol w="26797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그 이유</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허용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코드와 테스트에 쓰기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이번 단위의 결과가 거기 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허용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빌드 구성 만들기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빌드 구성도 위임의 대상이다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허용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컴파일과 테스트 실행</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증거를 스스로 만들게 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허용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작업 브랜치에 커밋</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되돌릴 단위를 남긴다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결제 호출과 네트워크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되돌릴 수 없는 외부 효과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비밀 키·자격 증명 읽기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유출되면 범위가 저장소를 넘는다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저장소 밖 파일 쓰기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작업 공간 밖은 되돌릴 자리가 없다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원격 저장소로 push</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사람의 확인 전에 공유된다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산출물 문서 수정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결정을 바꾸는 것은 사람의 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첫 단위의 권한은 </a:t>
            </a:r>
            <a:r>
              <a:rPr sz="1800" b="1">
                <a:solidFill>
                  <a:srgbClr val="000000"/>
                </a:solidFill>
                <a:latin typeface="맑은 고딕"/>
                <a:ea typeface="맑은 고딕"/>
              </a:rPr>
              <a:t>업무 코드와 테스트까지</a:t>
            </a:r>
            <a:r>
              <a:rPr sz="1800" b="0">
                <a:solidFill>
                  <a:srgbClr val="000000"/>
                </a:solidFill>
                <a:latin typeface="맑은 고딕"/>
                <a:ea typeface="맑은 고딕"/>
              </a:rPr>
              <a:t>다. 결제·배송은 선언만 두므로 밖으로 나갈 일이 없다.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첫 단위의 허용과 금지</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주문한다의 권한 </a:t>
            </a:r>
            <a:r>
              <a:rPr sz="2000" b="1">
                <a:solidFill>
                  <a:srgbClr val="000000"/>
                </a:solidFill>
                <a:latin typeface="맑은 고딕"/>
                <a:ea typeface="맑은 고딕"/>
              </a:rPr>
              <a:t>(2/2)</a:t>
            </a:r>
          </a:p>
          <a:p>
            <a:r>
              <a:rPr sz="1100" b="1">
                <a:solidFill>
                  <a:srgbClr val="000000"/>
                </a:solidFill>
                <a:latin typeface="맑은 고딕"/>
                <a:ea typeface="맑은 고딕"/>
              </a:rPr>
              <a:t>05. 권한과 도구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금지의 기준은 </a:t>
            </a:r>
            <a:r>
              <a:rPr sz="1800" b="1">
                <a:solidFill>
                  <a:srgbClr val="000000"/>
                </a:solidFill>
                <a:latin typeface="맑은 고딕"/>
                <a:ea typeface="맑은 고딕"/>
              </a:rPr>
              <a:t>되돌릴 수 있는가</a:t>
            </a:r>
            <a:r>
              <a:rPr sz="1800" b="0">
                <a:solidFill>
                  <a:srgbClr val="000000"/>
                </a:solidFill>
                <a:latin typeface="맑은 고딕"/>
                <a:ea typeface="맑은 고딕"/>
              </a:rPr>
              <a:t>와 </a:t>
            </a:r>
            <a:r>
              <a:rPr sz="1800" b="1">
                <a:solidFill>
                  <a:srgbClr val="000000"/>
                </a:solidFill>
                <a:latin typeface="맑은 고딕"/>
                <a:ea typeface="맑은 고딕"/>
              </a:rPr>
              <a:t>범위가 저장소를 넘는가</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커밋은 허용하고 push는 막는다. </a:t>
            </a:r>
            <a:r>
              <a:rPr sz="1800" b="1">
                <a:solidFill>
                  <a:srgbClr val="000000"/>
                </a:solidFill>
                <a:latin typeface="맑은 고딕"/>
                <a:ea typeface="맑은 고딕"/>
              </a:rPr>
              <a:t>되돌릴 단위는 주고 공유는 사람이</a:t>
            </a:r>
            <a:r>
              <a:rPr sz="1800" b="0">
                <a:solidFill>
                  <a:srgbClr val="000000"/>
                </a:solidFill>
                <a:latin typeface="맑은 고딕"/>
                <a:ea typeface="맑은 고딕"/>
              </a:rPr>
              <a:t>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문서 수정을 막은 것이 </a:t>
            </a:r>
            <a:r>
              <a:rPr sz="1800" b="1">
                <a:solidFill>
                  <a:srgbClr val="000000"/>
                </a:solidFill>
                <a:latin typeface="맑은 고딕"/>
                <a:ea typeface="맑은 고딕"/>
              </a:rPr>
              <a:t>모델이 코드에 맞춰 고쳐지는 것</a:t>
            </a:r>
            <a:r>
              <a:rPr sz="1800" b="0">
                <a:solidFill>
                  <a:srgbClr val="000000"/>
                </a:solidFill>
                <a:latin typeface="맑은 고딕"/>
                <a:ea typeface="맑은 고딕"/>
              </a:rPr>
              <a:t>을 막는다. 어긋나면 코드가 틀린 것이다.</a:t>
            </a:r>
          </a:p>
        </p:txBody>
      </p:sp>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도구와 연결의 표준</a:t>
            </a:r>
          </a:p>
          <a:p>
            <a:r>
              <a:rPr sz="1100" b="1">
                <a:solidFill>
                  <a:srgbClr val="000000"/>
                </a:solidFill>
                <a:latin typeface="맑은 고딕"/>
                <a:ea typeface="맑은 고딕"/>
              </a:rPr>
              <a:t>05. 권한과 도구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도구는 결정적 시스템과 비결정적 에이전트 사이의 </a:t>
            </a:r>
            <a:r>
              <a:rPr sz="1800" b="1">
                <a:solidFill>
                  <a:srgbClr val="000000"/>
                </a:solidFill>
                <a:latin typeface="맑은 고딕"/>
                <a:ea typeface="맑은 고딕"/>
              </a:rPr>
              <a:t>계약</a:t>
            </a:r>
            <a:r>
              <a:rPr sz="1800" b="0">
                <a:solidFill>
                  <a:srgbClr val="000000"/>
                </a:solidFill>
                <a:latin typeface="맑은 고딕"/>
                <a:ea typeface="맑은 고딕"/>
              </a:rPr>
              <a:t>을 담은 새로운 종류의 소프트웨어다</a:t>
            </a:r>
            <a:r>
              <a:rPr sz="1000" b="0">
                <a:solidFill>
                  <a:srgbClr val="000000"/>
                </a:solidFill>
                <a:latin typeface="맑은 고딕"/>
                <a:ea typeface="맑은 고딕"/>
              </a:rPr>
              <a:t>, </a:t>
            </a:r>
            <a:r>
              <a:rPr sz="1000" b="0">
                <a:solidFill>
                  <a:srgbClr val="000000"/>
                </a:solidFill>
                <a:latin typeface="맑은 고딕"/>
                <a:ea typeface="맑은 고딕"/>
              </a:rPr>
              <a:t>"tools are a new kind of software which reflects a contract between deterministic systems and non-deterministic agents"</a:t>
            </a:r>
            <a:r>
              <a:rPr sz="1000" b="0">
                <a:solidFill>
                  <a:srgbClr val="000000"/>
                </a:solidFill>
                <a:latin typeface="맑은 고딕"/>
                <a:ea typeface="맑은 고딕"/>
              </a:rPr>
              <a:t>, </a:t>
            </a:r>
            <a:r>
              <a:rPr sz="1000" b="0">
                <a:solidFill>
                  <a:srgbClr val="000000"/>
                </a:solidFill>
                <a:latin typeface="맑은 고딕"/>
                <a:ea typeface="맑은 고딕"/>
              </a:rPr>
              <a:t>[Anthropic 2025b]</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모델 컨텍스트 프로토콜</a:t>
            </a:r>
            <a:r>
              <a:rPr sz="1400" b="1">
                <a:solidFill>
                  <a:srgbClr val="000000"/>
                </a:solidFill>
                <a:latin typeface="맑은 고딕"/>
                <a:ea typeface="맑은 고딕"/>
              </a:rPr>
              <a:t>(MCP)</a:t>
            </a:r>
            <a:r>
              <a:rPr sz="1800" b="0">
                <a:solidFill>
                  <a:srgbClr val="000000"/>
                </a:solidFill>
                <a:latin typeface="맑은 고딕"/>
                <a:ea typeface="맑은 고딕"/>
              </a:rPr>
              <a:t>은 LLM 애플리케이션과 외부 자료·도구의 연결을 표준화한다. 연결의 </a:t>
            </a:r>
            <a:r>
              <a:rPr sz="1800" b="1">
                <a:solidFill>
                  <a:srgbClr val="000000"/>
                </a:solidFill>
                <a:latin typeface="맑은 고딕"/>
                <a:ea typeface="맑은 고딕"/>
              </a:rPr>
              <a:t>모양을 정하는 것</a:t>
            </a:r>
            <a:r>
              <a:rPr sz="1800" b="0">
                <a:solidFill>
                  <a:srgbClr val="000000"/>
                </a:solidFill>
                <a:latin typeface="맑은 고딕"/>
                <a:ea typeface="맑은 고딕"/>
              </a:rPr>
              <a:t>이며 권한을 대신하지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도구는 </a:t>
            </a:r>
            <a:r>
              <a:rPr sz="1800" b="1">
                <a:solidFill>
                  <a:srgbClr val="000000"/>
                </a:solidFill>
                <a:latin typeface="맑은 고딕"/>
                <a:ea typeface="맑은 고딕"/>
              </a:rPr>
              <a:t>임의의 코드 실행</a:t>
            </a:r>
            <a:r>
              <a:rPr sz="1800" b="0">
                <a:solidFill>
                  <a:srgbClr val="000000"/>
                </a:solidFill>
                <a:latin typeface="맑은 고딕"/>
                <a:ea typeface="맑은 고딕"/>
              </a:rPr>
              <a:t>을 뜻하므로 그에 맞는 주의를 들여 다뤄야 한다</a:t>
            </a:r>
            <a:r>
              <a:rPr sz="1000" b="0">
                <a:solidFill>
                  <a:srgbClr val="000000"/>
                </a:solidFill>
                <a:latin typeface="맑은 고딕"/>
                <a:ea typeface="맑은 고딕"/>
              </a:rPr>
              <a:t>, </a:t>
            </a:r>
            <a:r>
              <a:rPr sz="1000" b="0">
                <a:solidFill>
                  <a:srgbClr val="000000"/>
                </a:solidFill>
                <a:latin typeface="맑은 고딕"/>
                <a:ea typeface="맑은 고딕"/>
              </a:rPr>
              <a:t>"tools represent arbitrary code execution and must be treated with appropriate caution"</a:t>
            </a:r>
            <a:r>
              <a:rPr sz="1000" b="0">
                <a:solidFill>
                  <a:srgbClr val="000000"/>
                </a:solidFill>
                <a:latin typeface="맑은 고딕"/>
                <a:ea typeface="맑은 고딕"/>
              </a:rPr>
              <a:t>, </a:t>
            </a:r>
            <a:r>
              <a:rPr sz="1000" b="0">
                <a:solidFill>
                  <a:srgbClr val="000000"/>
                </a:solidFill>
                <a:latin typeface="맑은 고딕"/>
                <a:ea typeface="맑은 고딕"/>
              </a:rPr>
              <a:t>[MCP 2025]</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MCP 자체는 </a:t>
            </a:r>
            <a:r>
              <a:rPr sz="1800" b="1">
                <a:solidFill>
                  <a:srgbClr val="000000"/>
                </a:solidFill>
                <a:latin typeface="맑은 고딕"/>
                <a:ea typeface="맑은 고딕"/>
              </a:rPr>
              <a:t>프로토콜 수준에서 이 보안 원칙들을 강제할 수 없다</a:t>
            </a:r>
            <a:r>
              <a:rPr sz="1000" b="0">
                <a:solidFill>
                  <a:srgbClr val="000000"/>
                </a:solidFill>
                <a:latin typeface="맑은 고딕"/>
                <a:ea typeface="맑은 고딕"/>
              </a:rPr>
              <a:t>, </a:t>
            </a:r>
            <a:r>
              <a:rPr sz="1000" b="0">
                <a:solidFill>
                  <a:srgbClr val="000000"/>
                </a:solidFill>
                <a:latin typeface="맑은 고딕"/>
                <a:ea typeface="맑은 고딕"/>
              </a:rPr>
              <a:t>"while MCP itself cannot enforce these security principles at the protocol level"</a:t>
            </a:r>
            <a:r>
              <a:rPr sz="1000" b="0">
                <a:solidFill>
                  <a:srgbClr val="000000"/>
                </a:solidFill>
                <a:latin typeface="맑은 고딕"/>
                <a:ea typeface="맑은 고딕"/>
              </a:rPr>
              <a:t>, </a:t>
            </a:r>
            <a:r>
              <a:rPr sz="1000" b="0">
                <a:solidFill>
                  <a:srgbClr val="000000"/>
                </a:solidFill>
                <a:latin typeface="맑은 고딕"/>
                <a:ea typeface="맑은 고딕"/>
              </a:rPr>
              <a:t>[MCP 2025]</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도구를 늘리면 </a:t>
            </a:r>
            <a:r>
              <a:rPr sz="1800" b="1">
                <a:solidFill>
                  <a:srgbClr val="000000"/>
                </a:solidFill>
                <a:latin typeface="맑은 고딕"/>
                <a:ea typeface="맑은 고딕"/>
              </a:rPr>
              <a:t>할 수 있는 일과 위험이 함께</a:t>
            </a:r>
            <a:r>
              <a:rPr sz="1800" b="0">
                <a:solidFill>
                  <a:srgbClr val="000000"/>
                </a:solidFill>
                <a:latin typeface="맑은 고딕"/>
                <a:ea typeface="맑은 고딕"/>
              </a:rPr>
              <a:t> 는다. 이번 단위에 필요한 도구는 파일 쓰기와 명령 실행뿐이다.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MCP — Model Context Protocol</a:t>
            </a:r>
          </a:p>
        </p:txBody>
      </p:sp>
      <p:sp>
        <p:nvSpPr>
          <p:cNvPr id="10" name="TextBox 12">
            <a:extLst>
              <a:ext uri="{FF2B5EF4-FFF2-40B4-BE49-F238E27FC236}">
                <a16:creationId xmlns:a16="http://schemas.microsoft.com/office/drawing/2014/main" id="{654EDDB4-901F-3D48-A715-17D163E8A7AC}"/>
              </a:ext>
            </a:extLst>
          </p:cNvPr>
          <p:cNvSpPr txBox="1"/>
          <p:nvPr/>
        </p:nvSpPr>
        <p:spPr>
          <a:xfrm>
            <a:off x="365760" y="4710268"/>
            <a:ext cx="8412480" cy="201168"/>
          </a:xfrm>
          <a:prstGeom prst="rect">
            <a:avLst/>
          </a:prstGeom>
          <a:noFill/>
        </p:spPr>
        <p:txBody>
          <a:bodyPr wrap="square">
            <a:spAutoFit/>
          </a:bodyPr>
          <a:lstStyle/>
          <a:p>
            <a:pPr algn="ctr"/>
            <a:r>
              <a:rPr sz="1400" b="1">
                <a:solidFill>
                  <a:srgbClr val="000000"/>
                </a:solidFill>
                <a:latin typeface="맑은 고딕"/>
                <a:ea typeface="맑은 고딕"/>
              </a:rPr>
              <a:t>호스트·클라이언트·서버</a:t>
            </a:r>
          </a:p>
        </p:txBody>
      </p:sp>
      <p:pic>
        <p:nvPicPr>
          <p:cNvPr id="11" name="mermaid Diagram 3"/>
          <p:cNvPicPr>
            <a:picLocks noChangeAspect="1"/>
          </p:cNvPicPr>
          <p:nvPr/>
        </p:nvPicPr>
        <p:blipFill>
          <a:blip r:embed="mermaidImage3"/>
          <a:stretch>
            <a:fillRect/>
          </a:stretch>
        </p:blipFill>
        <p:spPr>
          <a:xfrm>
            <a:off x="2076462" y="4948012"/>
            <a:ext cx="4991075" cy="13330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위험을 확률과 크기로</a:t>
            </a:r>
          </a:p>
          <a:p>
            <a:r>
              <a:rPr sz="1100" b="1">
                <a:solidFill>
                  <a:srgbClr val="000000"/>
                </a:solidFill>
                <a:latin typeface="맑은 고딕"/>
                <a:ea typeface="맑은 고딕"/>
              </a:rPr>
              <a:t>06. 위험과 피해 범위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81976" y="2274108"/>
          <a:ext cx="5966460" cy="3873500"/>
        </p:xfrm>
        <a:graphic>
          <a:graphicData uri="http://schemas.openxmlformats.org/drawingml/2006/table">
            <a:tbl>
              <a:tblPr/>
              <a:tblGrid>
                <a:gridCol w="1534160"/>
                <a:gridCol w="889000"/>
                <a:gridCol w="2092960"/>
                <a:gridCol w="1450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위험</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확률</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크기</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막는 수단</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실제 결제 호출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낮다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돈이 움직인다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통신 차단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비밀 키 유출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낮다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범위가 저장소를 넘는다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읽기 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 밖 코드 생성</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높다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사람의 검토가 늘어난다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종료 조건과 검사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산출물 문서 변경</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보통</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다음 작업의 입력이 틀린다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쓰기 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93316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위험은 사건이 발생할 </a:t>
            </a:r>
            <a:r>
              <a:rPr sz="1800" b="1">
                <a:solidFill>
                  <a:srgbClr val="000000"/>
                </a:solidFill>
                <a:latin typeface="맑은 고딕"/>
                <a:ea typeface="맑은 고딕"/>
              </a:rPr>
              <a:t>확률</a:t>
            </a:r>
            <a:r>
              <a:rPr sz="1800" b="0">
                <a:solidFill>
                  <a:srgbClr val="000000"/>
                </a:solidFill>
                <a:latin typeface="맑은 고딕"/>
                <a:ea typeface="맑은 고딕"/>
              </a:rPr>
              <a:t>과 그 사건의 결과가 갖는 </a:t>
            </a:r>
            <a:r>
              <a:rPr sz="1800" b="1">
                <a:solidFill>
                  <a:srgbClr val="000000"/>
                </a:solidFill>
                <a:latin typeface="맑은 고딕"/>
                <a:ea typeface="맑은 고딕"/>
              </a:rPr>
              <a:t>크기나 정도</a:t>
            </a:r>
            <a:r>
              <a:rPr sz="1800" b="0">
                <a:solidFill>
                  <a:srgbClr val="000000"/>
                </a:solidFill>
                <a:latin typeface="맑은 고딕"/>
                <a:ea typeface="맑은 고딕"/>
              </a:rPr>
              <a:t>를 합쳐 측정하는 척도다</a:t>
            </a:r>
            <a:r>
              <a:rPr sz="1000" b="0">
                <a:solidFill>
                  <a:srgbClr val="000000"/>
                </a:solidFill>
                <a:latin typeface="맑은 고딕"/>
                <a:ea typeface="맑은 고딕"/>
              </a:rPr>
              <a:t>, </a:t>
            </a:r>
            <a:r>
              <a:rPr sz="1000" b="0">
                <a:solidFill>
                  <a:srgbClr val="000000"/>
                </a:solidFill>
                <a:latin typeface="맑은 고딕"/>
                <a:ea typeface="맑은 고딕"/>
              </a:rPr>
              <a:t>"risk refers to the composite measure of an event's probability of occurring and the magnitude or degree of the consequences of the corresponding event"</a:t>
            </a:r>
            <a:r>
              <a:rPr sz="1000" b="0">
                <a:solidFill>
                  <a:srgbClr val="000000"/>
                </a:solidFill>
                <a:latin typeface="맑은 고딕"/>
                <a:ea typeface="맑은 고딕"/>
              </a:rPr>
              <a:t>, </a:t>
            </a:r>
            <a:r>
              <a:rPr sz="1000" b="0">
                <a:solidFill>
                  <a:srgbClr val="000000"/>
                </a:solidFill>
                <a:latin typeface="맑은 고딕"/>
                <a:ea typeface="맑은 고딕"/>
              </a:rPr>
              <a:t>[NIST 2023]</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97565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첫 단위의 위험과 막는 수단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42708"/>
            <a:ext cx="8412480" cy="21128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위험 허용 수준</a:t>
            </a:r>
            <a:r>
              <a:rPr sz="1800" b="0">
                <a:solidFill>
                  <a:srgbClr val="000000"/>
                </a:solidFill>
                <a:latin typeface="맑은 고딕"/>
                <a:ea typeface="맑은 고딕"/>
              </a:rPr>
              <a:t>은 목표를 이루기 위해 위험을 감당하려는 조직이나 AI 관계자의 준비 정도를 가리킨다</a:t>
            </a:r>
            <a:r>
              <a:rPr sz="1000" b="0">
                <a:solidFill>
                  <a:srgbClr val="000000"/>
                </a:solidFill>
                <a:latin typeface="맑은 고딕"/>
                <a:ea typeface="맑은 고딕"/>
              </a:rPr>
              <a:t>, </a:t>
            </a:r>
            <a:r>
              <a:rPr sz="1000" b="0">
                <a:solidFill>
                  <a:srgbClr val="000000"/>
                </a:solidFill>
                <a:latin typeface="맑은 고딕"/>
                <a:ea typeface="맑은 고딕"/>
              </a:rPr>
              <a:t>"risk tolerance refers to the organization's or AI actor's … readiness to bear the risk in order to achieve its objectives"</a:t>
            </a:r>
            <a:r>
              <a:rPr sz="1000" b="0">
                <a:solidFill>
                  <a:srgbClr val="000000"/>
                </a:solidFill>
                <a:latin typeface="맑은 고딕"/>
                <a:ea typeface="맑은 고딕"/>
              </a:rPr>
              <a:t>, </a:t>
            </a:r>
            <a:r>
              <a:rPr sz="1000" b="0">
                <a:solidFill>
                  <a:srgbClr val="000000"/>
                </a:solidFill>
                <a:latin typeface="맑은 고딕"/>
                <a:ea typeface="맑은 고딕"/>
              </a:rPr>
              <a:t>[NIST 2023]</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확률과 크기가 따로 답한다.</a:t>
            </a:r>
            <a:r>
              <a:rPr sz="1800" b="0">
                <a:solidFill>
                  <a:srgbClr val="000000"/>
                </a:solidFill>
                <a:latin typeface="맑은 고딕"/>
                <a:ea typeface="맑은 고딕"/>
              </a:rPr>
              <a:t> 확률이 낮아도 크기가 크면 막고, 확률이 높아도 되돌릴 수 있으면 감당한다.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모든 위험을 없애려 하면 </a:t>
            </a:r>
            <a:r>
              <a:rPr sz="1800" b="1">
                <a:solidFill>
                  <a:srgbClr val="000000"/>
                </a:solidFill>
                <a:latin typeface="맑은 고딕"/>
                <a:ea typeface="맑은 고딕"/>
              </a:rPr>
              <a:t>위임이 사라진다.</a:t>
            </a:r>
            <a:r>
              <a:rPr sz="1800" b="0">
                <a:solidFill>
                  <a:srgbClr val="000000"/>
                </a:solidFill>
                <a:latin typeface="맑은 고딕"/>
                <a:ea typeface="맑은 고딕"/>
              </a:rPr>
              <a:t> 감당할 선을 정하는 것이 사람의 결정이다.</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치명적 삼박자</a:t>
            </a:r>
          </a:p>
          <a:p>
            <a:r>
              <a:rPr sz="1100" b="1">
                <a:solidFill>
                  <a:srgbClr val="000000"/>
                </a:solidFill>
                <a:latin typeface="맑은 고딕"/>
                <a:ea typeface="맑은 고딕"/>
              </a:rPr>
              <a:t>06. 위험과 피해 범위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에이전트가 이 </a:t>
            </a:r>
            <a:r>
              <a:rPr sz="1800" b="1">
                <a:solidFill>
                  <a:srgbClr val="000000"/>
                </a:solidFill>
                <a:latin typeface="맑은 고딕"/>
                <a:ea typeface="맑은 고딕"/>
              </a:rPr>
              <a:t>세 능력을 합치면</a:t>
            </a:r>
            <a:r>
              <a:rPr sz="1800" b="0">
                <a:solidFill>
                  <a:srgbClr val="000000"/>
                </a:solidFill>
                <a:latin typeface="맑은 고딕"/>
                <a:ea typeface="맑은 고딕"/>
              </a:rPr>
              <a:t>, 공격자는 비공개 데이터에 접근해 자신에게 보내도록 에이전트를 쉽게 속일 수 있다</a:t>
            </a:r>
            <a:r>
              <a:rPr sz="1000" b="0">
                <a:solidFill>
                  <a:srgbClr val="000000"/>
                </a:solidFill>
                <a:latin typeface="맑은 고딕"/>
                <a:ea typeface="맑은 고딕"/>
              </a:rPr>
              <a:t>, </a:t>
            </a:r>
            <a:r>
              <a:rPr sz="1000" b="0">
                <a:solidFill>
                  <a:srgbClr val="000000"/>
                </a:solidFill>
                <a:latin typeface="맑은 고딕"/>
                <a:ea typeface="맑은 고딕"/>
              </a:rPr>
              <a:t>"if your agent combines these three features, an attacker can easily trick it into accessing your private data and sending it to that attacker"</a:t>
            </a:r>
            <a:r>
              <a:rPr sz="1000" b="0">
                <a:solidFill>
                  <a:srgbClr val="000000"/>
                </a:solidFill>
                <a:latin typeface="맑은 고딕"/>
                <a:ea typeface="맑은 고딕"/>
              </a:rPr>
              <a:t>, </a:t>
            </a:r>
            <a:r>
              <a:rPr sz="1000" b="0">
                <a:solidFill>
                  <a:srgbClr val="000000"/>
                </a:solidFill>
                <a:latin typeface="맑은 고딕"/>
                <a:ea typeface="맑은 고딕"/>
              </a:rPr>
              <a:t>[Willison 2025a]</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셋 다 </a:t>
            </a:r>
            <a:r>
              <a:rPr sz="1800" b="1">
                <a:solidFill>
                  <a:srgbClr val="000000"/>
                </a:solidFill>
                <a:latin typeface="맑은 고딕"/>
                <a:ea typeface="맑은 고딕"/>
              </a:rPr>
              <a:t>쓸모 있어서 켠 기능</a:t>
            </a:r>
            <a:r>
              <a:rPr sz="1800" b="0">
                <a:solidFill>
                  <a:srgbClr val="000000"/>
                </a:solidFill>
                <a:latin typeface="맑은 고딕"/>
                <a:ea typeface="맑은 고딕"/>
              </a:rPr>
              <a:t>이다. 저장소를 읽고, 문서를 참고하고, 결과를 보내는 일이 모두 필요하다.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막는 방법은 </a:t>
            </a:r>
            <a:r>
              <a:rPr sz="1800" b="1">
                <a:solidFill>
                  <a:srgbClr val="000000"/>
                </a:solidFill>
                <a:latin typeface="맑은 고딕"/>
                <a:ea typeface="맑은 고딕"/>
              </a:rPr>
              <a:t>고리 하나를 끊는 것</a:t>
            </a:r>
            <a:r>
              <a:rPr sz="1800" b="0">
                <a:solidFill>
                  <a:srgbClr val="000000"/>
                </a:solidFill>
                <a:latin typeface="맑은 고딕"/>
                <a:ea typeface="맑은 고딕"/>
              </a:rPr>
              <a:t>이다. 이번 단위는 통신을 끊어 셋째 능력을 없앴다.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사례의 셋은 </a:t>
            </a:r>
            <a:r>
              <a:rPr sz="1800" b="1">
                <a:solidFill>
                  <a:srgbClr val="000000"/>
                </a:solidFill>
                <a:latin typeface="맑은 고딕"/>
                <a:ea typeface="맑은 고딕"/>
              </a:rPr>
              <a:t>고객 주소와 결제 설정</a:t>
            </a:r>
            <a:r>
              <a:rPr sz="1800" b="0">
                <a:solidFill>
                  <a:srgbClr val="000000"/>
                </a:solidFill>
                <a:latin typeface="맑은 고딕"/>
                <a:ea typeface="맑은 고딕"/>
              </a:rPr>
              <a:t>, 외부 매뉴얼과 웹 문서, 네트워크 호출이다.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085428"/>
            <a:ext cx="8412480" cy="201168"/>
          </a:xfrm>
          <a:prstGeom prst="rect">
            <a:avLst/>
          </a:prstGeom>
          <a:noFill/>
        </p:spPr>
        <p:txBody>
          <a:bodyPr wrap="square">
            <a:spAutoFit/>
          </a:bodyPr>
          <a:lstStyle/>
          <a:p>
            <a:pPr algn="ctr"/>
            <a:r>
              <a:rPr sz="1400" b="1">
                <a:solidFill>
                  <a:srgbClr val="000000"/>
                </a:solidFill>
                <a:latin typeface="맑은 고딕"/>
                <a:ea typeface="맑은 고딕"/>
              </a:rPr>
              <a:t>세 능력이 모이는 자리</a:t>
            </a:r>
          </a:p>
        </p:txBody>
      </p:sp>
      <p:pic>
        <p:nvPicPr>
          <p:cNvPr id="10" name="mermaid Diagram 4"/>
          <p:cNvPicPr>
            <a:picLocks noChangeAspect="1"/>
          </p:cNvPicPr>
          <p:nvPr/>
        </p:nvPicPr>
        <p:blipFill>
          <a:blip r:embed="mermaidImage4"/>
          <a:stretch>
            <a:fillRect/>
          </a:stretch>
        </p:blipFill>
        <p:spPr>
          <a:xfrm>
            <a:off x="2551534" y="4323172"/>
            <a:ext cx="4040932" cy="133113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프롬프트 주입</a:t>
            </a:r>
          </a:p>
          <a:p>
            <a:r>
              <a:rPr sz="1100" b="1">
                <a:solidFill>
                  <a:srgbClr val="000000"/>
                </a:solidFill>
                <a:latin typeface="맑은 고딕"/>
                <a:ea typeface="맑은 고딕"/>
              </a:rPr>
              <a:t>06. 위험과 피해 범위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에이전트가 </a:t>
            </a:r>
            <a:r>
              <a:rPr sz="1800" b="1">
                <a:solidFill>
                  <a:srgbClr val="000000"/>
                </a:solidFill>
                <a:latin typeface="맑은 고딕"/>
                <a:ea typeface="맑은 고딕"/>
              </a:rPr>
              <a:t>읽은 문서의 문장이 지시로 작동한다</a:t>
            </a:r>
            <a:r>
              <a:rPr sz="1800" b="0">
                <a:solidFill>
                  <a:srgbClr val="000000"/>
                </a:solidFill>
                <a:latin typeface="맑은 고딕"/>
                <a:ea typeface="맑은 고딕"/>
              </a:rPr>
              <a:t>. 사람이 쓴 지시와 문서에 섞인 문장을 모델이 구별하지 못하기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이것을 100% 확실하게 막는 방법은 </a:t>
            </a:r>
            <a:r>
              <a:rPr sz="1800" b="1">
                <a:solidFill>
                  <a:srgbClr val="000000"/>
                </a:solidFill>
                <a:latin typeface="맑은 고딕"/>
                <a:ea typeface="맑은 고딕"/>
              </a:rPr>
              <a:t>아직 모른다</a:t>
            </a:r>
            <a:r>
              <a:rPr sz="1000" b="0">
                <a:solidFill>
                  <a:srgbClr val="000000"/>
                </a:solidFill>
                <a:latin typeface="맑은 고딕"/>
                <a:ea typeface="맑은 고딕"/>
              </a:rPr>
              <a:t>, </a:t>
            </a:r>
            <a:r>
              <a:rPr sz="1000" b="0">
                <a:solidFill>
                  <a:srgbClr val="000000"/>
                </a:solidFill>
                <a:latin typeface="맑은 고딕"/>
                <a:ea typeface="맑은 고딕"/>
              </a:rPr>
              <a:t>"we still don't know how to 100% reliably prevent this from happening"</a:t>
            </a:r>
            <a:r>
              <a:rPr sz="1000" b="0">
                <a:solidFill>
                  <a:srgbClr val="000000"/>
                </a:solidFill>
                <a:latin typeface="맑은 고딕"/>
                <a:ea typeface="맑은 고딕"/>
              </a:rPr>
              <a:t>, </a:t>
            </a:r>
            <a:r>
              <a:rPr sz="1000" b="0">
                <a:solidFill>
                  <a:srgbClr val="000000"/>
                </a:solidFill>
                <a:latin typeface="맑은 고딕"/>
                <a:ea typeface="맑은 고딕"/>
              </a:rPr>
              <a:t>[Willison 2025a]</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사례의 자리는 </a:t>
            </a:r>
            <a:r>
              <a:rPr sz="1800" b="1">
                <a:solidFill>
                  <a:srgbClr val="000000"/>
                </a:solidFill>
                <a:latin typeface="맑은 고딕"/>
                <a:ea typeface="맑은 고딕"/>
              </a:rPr>
              <a:t>외부 결제 매뉴얼</a:t>
            </a:r>
            <a:r>
              <a:rPr sz="1800" b="0">
                <a:solidFill>
                  <a:srgbClr val="000000"/>
                </a:solidFill>
                <a:latin typeface="맑은 고딕"/>
                <a:ea typeface="맑은 고딕"/>
              </a:rPr>
              <a:t>이다. 연동 규격을 찾아 읽는 동안 그 문서의 문장이 지시로 들어온다.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막을 수 없다는 전제에서 설계한다 —</a:t>
            </a:r>
            <a:r>
              <a:rPr sz="1600" b="0">
                <a:solidFill>
                  <a:srgbClr val="000000"/>
                </a:solidFill>
                <a:latin typeface="맑은 고딕"/>
                <a:ea typeface="맑은 고딕"/>
              </a:rPr>
              <a:t> </a:t>
            </a:r>
            <a:r>
              <a:rPr sz="1600" b="1">
                <a:solidFill>
                  <a:srgbClr val="000000"/>
                </a:solidFill>
                <a:latin typeface="맑은 고딕"/>
                <a:ea typeface="맑은 고딕"/>
              </a:rPr>
              <a:t>읽히는 것을 줄이고</a:t>
            </a:r>
            <a:r>
              <a:rPr sz="1600" b="0">
                <a:solidFill>
                  <a:srgbClr val="000000"/>
                </a:solidFill>
                <a:latin typeface="맑은 고딕"/>
                <a:ea typeface="맑은 고딕"/>
              </a:rPr>
              <a:t>, 할 수 있는 일을 줄이고, 되돌릴 수 있게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사람이 확인해 저장소에 넣어 둔 사본만 읽히는 것이 이번 단위의 선택이다. </a:t>
            </a:r>
            <a:r>
              <a:rPr sz="1800" b="1">
                <a:solidFill>
                  <a:srgbClr val="000000"/>
                </a:solidFill>
                <a:latin typeface="맑은 고딕"/>
                <a:ea typeface="맑은 고딕"/>
              </a:rPr>
              <a:t>에이전트가 밖에서 가져오지 않는다.</a:t>
            </a:r>
          </a:p>
        </p:txBody>
      </p:sp>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피해 범위와 되돌림</a:t>
            </a:r>
          </a:p>
          <a:p>
            <a:r>
              <a:rPr sz="1100" b="1">
                <a:solidFill>
                  <a:srgbClr val="000000"/>
                </a:solidFill>
                <a:latin typeface="맑은 고딕"/>
                <a:ea typeface="맑은 고딕"/>
              </a:rPr>
              <a:t>06. 위험과 피해 범위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공학의 질문은 </a:t>
            </a:r>
            <a:r>
              <a:rPr sz="1800" b="1">
                <a:solidFill>
                  <a:srgbClr val="000000"/>
                </a:solidFill>
                <a:latin typeface="맑은 고딕"/>
                <a:ea typeface="맑은 고딕"/>
              </a:rPr>
              <a:t>피해 범위를 어떻게 제한하는가</a:t>
            </a:r>
            <a:r>
              <a:rPr sz="1800" b="0">
                <a:solidFill>
                  <a:srgbClr val="000000"/>
                </a:solidFill>
                <a:latin typeface="맑은 고딕"/>
                <a:ea typeface="맑은 고딕"/>
              </a:rPr>
              <a:t>가 된다</a:t>
            </a:r>
            <a:r>
              <a:rPr sz="1000" b="0">
                <a:solidFill>
                  <a:srgbClr val="000000"/>
                </a:solidFill>
                <a:latin typeface="맑은 고딕"/>
                <a:ea typeface="맑은 고딕"/>
              </a:rPr>
              <a:t>, </a:t>
            </a:r>
            <a:r>
              <a:rPr sz="1000" b="0">
                <a:solidFill>
                  <a:srgbClr val="000000"/>
                </a:solidFill>
                <a:latin typeface="맑은 고딕"/>
                <a:ea typeface="맑은 고딕"/>
              </a:rPr>
              <a:t>"the engineering question becomes how to cap the blast radius"</a:t>
            </a:r>
            <a:r>
              <a:rPr sz="1000" b="0">
                <a:solidFill>
                  <a:srgbClr val="000000"/>
                </a:solidFill>
                <a:latin typeface="맑은 고딕"/>
                <a:ea typeface="맑은 고딕"/>
              </a:rPr>
              <a:t>, </a:t>
            </a:r>
            <a:r>
              <a:rPr sz="1000" b="0">
                <a:solidFill>
                  <a:srgbClr val="000000"/>
                </a:solidFill>
                <a:latin typeface="맑은 고딕"/>
                <a:ea typeface="맑은 고딕"/>
              </a:rPr>
              <a:t>[Anthropic 2026c]</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샌드박스를 선택적 개선이 아니라 </a:t>
            </a:r>
            <a:r>
              <a:rPr sz="1800" b="1">
                <a:solidFill>
                  <a:srgbClr val="000000"/>
                </a:solidFill>
                <a:latin typeface="맑은 고딕"/>
                <a:ea typeface="맑은 고딕"/>
              </a:rPr>
              <a:t>합리적 기본값</a:t>
            </a:r>
            <a:r>
              <a:rPr sz="1800" b="0">
                <a:solidFill>
                  <a:srgbClr val="000000"/>
                </a:solidFill>
                <a:latin typeface="맑은 고딕"/>
                <a:ea typeface="맑은 고딕"/>
              </a:rPr>
              <a:t>으로 본다</a:t>
            </a:r>
            <a:r>
              <a:rPr sz="1000" b="0">
                <a:solidFill>
                  <a:srgbClr val="000000"/>
                </a:solidFill>
                <a:latin typeface="맑은 고딕"/>
                <a:ea typeface="맑은 고딕"/>
              </a:rPr>
              <a:t>, </a:t>
            </a:r>
            <a:r>
              <a:rPr sz="1000" b="0">
                <a:solidFill>
                  <a:srgbClr val="000000"/>
                </a:solidFill>
                <a:latin typeface="맑은 고딕"/>
                <a:ea typeface="맑은 고딕"/>
              </a:rPr>
              <a:t>"we see sandboxing as a sensible default rather than an optional enhancement"</a:t>
            </a:r>
            <a:r>
              <a:rPr sz="1000" b="0">
                <a:solidFill>
                  <a:srgbClr val="000000"/>
                </a:solidFill>
                <a:latin typeface="맑은 고딕"/>
                <a:ea typeface="맑은 고딕"/>
              </a:rPr>
              <a:t>, </a:t>
            </a:r>
            <a:r>
              <a:rPr sz="1000" b="0">
                <a:solidFill>
                  <a:srgbClr val="000000"/>
                </a:solidFill>
                <a:latin typeface="맑은 고딕"/>
                <a:ea typeface="맑은 고딕"/>
              </a:rPr>
              <a:t>[Thoughtworks 2026]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샌드박스</a:t>
            </a:r>
            <a:r>
              <a:rPr sz="1800" b="0">
                <a:solidFill>
                  <a:srgbClr val="000000"/>
                </a:solidFill>
                <a:latin typeface="맑은 고딕"/>
                <a:ea typeface="맑은 고딕"/>
              </a:rPr>
              <a:t>는 쓸 수 있는 자원을 미리 좁혀 둔 실행 환경이다. 작업 공간·네트워크·자격 증명이 그 경계다.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되돌릴 단위를 </a:t>
            </a:r>
            <a:r>
              <a:rPr sz="1800" b="1">
                <a:solidFill>
                  <a:srgbClr val="000000"/>
                </a:solidFill>
                <a:latin typeface="맑은 고딕"/>
                <a:ea typeface="맑은 고딕"/>
              </a:rPr>
              <a:t>먼저 만든다.</a:t>
            </a:r>
            <a:r>
              <a:rPr sz="1800" b="0">
                <a:solidFill>
                  <a:srgbClr val="000000"/>
                </a:solidFill>
                <a:latin typeface="맑은 고딕"/>
                <a:ea typeface="맑은 고딕"/>
              </a:rPr>
              <a:t> 작업 브랜치와 커밋이 있으면 잘못된 결과를 지우는 데 사람의 판단이 들지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피해 범위는 </a:t>
            </a:r>
            <a:r>
              <a:rPr sz="1800" b="1">
                <a:solidFill>
                  <a:srgbClr val="000000"/>
                </a:solidFill>
                <a:latin typeface="맑은 고딕"/>
                <a:ea typeface="맑은 고딕"/>
              </a:rPr>
              <a:t>코드만이 아니다.</a:t>
            </a:r>
            <a:r>
              <a:rPr sz="1800" b="0">
                <a:solidFill>
                  <a:srgbClr val="000000"/>
                </a:solidFill>
                <a:latin typeface="맑은 고딕"/>
                <a:ea typeface="맑은 고딕"/>
              </a:rPr>
              <a:t> 바뀐 문서, 보낸 요청, 남은 자격 증명까지가 번지는 범위다.</a:t>
            </a:r>
          </a:p>
        </p:txBody>
      </p:sp>
    </p:spTree>
    <p:extLst>
      <p:ext uri="{BB962C8B-B14F-4D97-AF65-F5344CB8AC3E}">
        <p14:creationId xmlns:p14="http://schemas.microsoft.com/office/powerpoint/2010/main" val="35554366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언제 멈추나</a:t>
            </a:r>
          </a:p>
          <a:p>
            <a:r>
              <a:rPr sz="1100" b="1">
                <a:solidFill>
                  <a:srgbClr val="000000"/>
                </a:solidFill>
                <a:latin typeface="맑은 고딕"/>
                <a:ea typeface="맑은 고딕"/>
              </a:rPr>
              <a:t>07. 종료 조건과 확인 지점</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77226" y="2112010"/>
          <a:ext cx="5775960" cy="3873500"/>
        </p:xfrm>
        <a:graphic>
          <a:graphicData uri="http://schemas.openxmlformats.org/drawingml/2006/table">
            <a:tbl>
              <a:tblPr/>
              <a:tblGrid>
                <a:gridCol w="1729740"/>
                <a:gridCol w="195326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멈추는 때</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무엇으로 판정하나</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그다음</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끝났다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 예가 통과한 출력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사람의 확인 지점으로 간다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미정에 닿았다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문서가 정하지 않은 정책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질문을 남기고 멈춘다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어긋난 입력을 만났다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문서와 코드가 다르다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쪽이 사실인지 묻는다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권한이 막았다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환경이 거절했다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거절된 행동을 보고한다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상한에 닿았다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실패의 반복 횟수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지금까지의 기록을 남긴다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종료 조건은 </a:t>
            </a:r>
            <a:r>
              <a:rPr sz="1800" b="1">
                <a:solidFill>
                  <a:srgbClr val="000000"/>
                </a:solidFill>
                <a:latin typeface="맑은 고딕"/>
                <a:ea typeface="맑은 고딕"/>
              </a:rPr>
              <a:t>끝났을 때</a:t>
            </a:r>
            <a:r>
              <a:rPr sz="1800" b="0">
                <a:solidFill>
                  <a:srgbClr val="000000"/>
                </a:solidFill>
                <a:latin typeface="맑은 고딕"/>
                <a:ea typeface="맑은 고딕"/>
              </a:rPr>
              <a:t>와 </a:t>
            </a:r>
            <a:r>
              <a:rPr sz="1800" b="1">
                <a:solidFill>
                  <a:srgbClr val="000000"/>
                </a:solidFill>
                <a:latin typeface="맑은 고딕"/>
                <a:ea typeface="맑은 고딕"/>
              </a:rPr>
              <a:t>멈춰 물어야 할 때</a:t>
            </a:r>
            <a:r>
              <a:rPr sz="1800" b="0">
                <a:solidFill>
                  <a:srgbClr val="000000"/>
                </a:solidFill>
                <a:latin typeface="맑은 고딕"/>
                <a:ea typeface="맑은 고딕"/>
              </a:rPr>
              <a:t>를 함께 적는다. 하나만 적으면 에이전트가 나머지를 스스로 고른다.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2가지 멈춤</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67640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미정은 </a:t>
            </a:r>
            <a:r>
              <a:rPr sz="1800" b="1">
                <a:solidFill>
                  <a:srgbClr val="000000"/>
                </a:solidFill>
                <a:latin typeface="맑은 고딕"/>
                <a:ea typeface="맑은 고딕"/>
              </a:rPr>
              <a:t>비워 둔 것이 아니라 정하지 않기로 한 것</a:t>
            </a:r>
            <a:r>
              <a:rPr sz="1800" b="0">
                <a:solidFill>
                  <a:srgbClr val="000000"/>
                </a:solidFill>
                <a:latin typeface="맑은 고딕"/>
                <a:ea typeface="맑은 고딕"/>
              </a:rPr>
              <a:t>이다. 비워 두면 그럴듯한 추측으로 채워진다.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첫 단위에서 멈춰 물을 자리는 </a:t>
            </a:r>
            <a:r>
              <a:rPr sz="1800" b="1">
                <a:solidFill>
                  <a:srgbClr val="000000"/>
                </a:solidFill>
                <a:latin typeface="맑은 고딕"/>
                <a:ea typeface="맑은 고딕"/>
              </a:rPr>
              <a:t>승인 뒤 배송 요청 실패</a:t>
            </a:r>
            <a:r>
              <a:rPr sz="1800" b="0">
                <a:solidFill>
                  <a:srgbClr val="000000"/>
                </a:solidFill>
                <a:latin typeface="맑은 고딕"/>
                <a:ea typeface="맑은 고딕"/>
              </a:rPr>
              <a:t>와 결제가 확정 불가로 돌아온 뒤의 처리다.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멈추는 것이 </a:t>
            </a:r>
            <a:r>
              <a:rPr sz="1800" b="1">
                <a:solidFill>
                  <a:srgbClr val="000000"/>
                </a:solidFill>
                <a:latin typeface="맑은 고딕"/>
                <a:ea typeface="맑은 고딕"/>
              </a:rPr>
              <a:t>실패가 아니다.</a:t>
            </a:r>
            <a:r>
              <a:rPr sz="1800" b="0">
                <a:solidFill>
                  <a:srgbClr val="000000"/>
                </a:solidFill>
                <a:latin typeface="맑은 고딕"/>
                <a:ea typeface="맑은 고딕"/>
              </a:rPr>
              <a:t> 질문 하나가 틀린 구현 열 줄보다 싸다.</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되돌리기 어려운 자리</a:t>
            </a:r>
          </a:p>
          <a:p>
            <a:r>
              <a:rPr sz="1100" b="1">
                <a:solidFill>
                  <a:srgbClr val="000000"/>
                </a:solidFill>
                <a:latin typeface="맑은 고딕"/>
                <a:ea typeface="맑은 고딕"/>
              </a:rPr>
              <a:t>07. 종료 조건과 확인 지점</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에이전트는 </a:t>
            </a:r>
            <a:r>
              <a:rPr sz="1800" b="1">
                <a:solidFill>
                  <a:srgbClr val="000000"/>
                </a:solidFill>
                <a:latin typeface="맑은 고딕"/>
                <a:ea typeface="맑은 고딕"/>
              </a:rPr>
              <a:t>확인 지점</a:t>
            </a:r>
            <a:r>
              <a:rPr sz="1800" b="0">
                <a:solidFill>
                  <a:srgbClr val="000000"/>
                </a:solidFill>
                <a:latin typeface="맑은 고딕"/>
                <a:ea typeface="맑은 고딕"/>
              </a:rPr>
              <a:t>에서, 또는 막히는 것을 만났을 때 사람의 피드백을 받으려 멈출 수 있다</a:t>
            </a:r>
            <a:r>
              <a:rPr sz="1000" b="0">
                <a:solidFill>
                  <a:srgbClr val="000000"/>
                </a:solidFill>
                <a:latin typeface="맑은 고딕"/>
                <a:ea typeface="맑은 고딕"/>
              </a:rPr>
              <a:t>, </a:t>
            </a:r>
            <a:r>
              <a:rPr sz="1000" b="0">
                <a:solidFill>
                  <a:srgbClr val="000000"/>
                </a:solidFill>
                <a:latin typeface="맑은 고딕"/>
                <a:ea typeface="맑은 고딕"/>
              </a:rPr>
              <a:t>"agents can then pause for human feedback at checkpoints or when encountering blockers"</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민감하거나 되돌릴 수 없거나 걸린 것이 큰 행동은 </a:t>
            </a:r>
            <a:r>
              <a:rPr sz="1800" b="1">
                <a:solidFill>
                  <a:srgbClr val="000000"/>
                </a:solidFill>
                <a:latin typeface="맑은 고딕"/>
                <a:ea typeface="맑은 고딕"/>
              </a:rPr>
              <a:t>사람의 감독</a:t>
            </a:r>
            <a:r>
              <a:rPr sz="1800" b="0">
                <a:solidFill>
                  <a:srgbClr val="000000"/>
                </a:solidFill>
                <a:latin typeface="맑은 고딕"/>
                <a:ea typeface="맑은 고딕"/>
              </a:rPr>
              <a:t>을 작동시켜야 한다</a:t>
            </a:r>
            <a:r>
              <a:rPr sz="1000" b="0">
                <a:solidFill>
                  <a:srgbClr val="000000"/>
                </a:solidFill>
                <a:latin typeface="맑은 고딕"/>
                <a:ea typeface="맑은 고딕"/>
              </a:rPr>
              <a:t>, </a:t>
            </a:r>
            <a:r>
              <a:rPr sz="1000" b="0">
                <a:solidFill>
                  <a:srgbClr val="000000"/>
                </a:solidFill>
                <a:latin typeface="맑은 고딕"/>
                <a:ea typeface="맑은 고딕"/>
              </a:rPr>
              <a:t>"high-risk actions: actions that are sensitive, irreversible, or have high stakes should trigger human oversight"</a:t>
            </a:r>
            <a:r>
              <a:rPr sz="1000" b="0">
                <a:solidFill>
                  <a:srgbClr val="000000"/>
                </a:solidFill>
                <a:latin typeface="맑은 고딕"/>
                <a:ea typeface="맑은 고딕"/>
              </a:rPr>
              <a:t>, </a:t>
            </a:r>
            <a:r>
              <a:rPr sz="1000" b="0">
                <a:solidFill>
                  <a:srgbClr val="000000"/>
                </a:solidFill>
                <a:latin typeface="맑은 고딕"/>
                <a:ea typeface="맑은 고딕"/>
              </a:rPr>
              <a:t>[OpenAI 2025]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지점</a:t>
            </a:r>
            <a:r>
              <a:rPr sz="1800" b="0">
                <a:solidFill>
                  <a:srgbClr val="000000"/>
                </a:solidFill>
                <a:latin typeface="맑은 고딕"/>
                <a:ea typeface="맑은 고딕"/>
              </a:rPr>
              <a:t>은 그 단계에 닿으면 늘 사람이 보는 자리다. 첫 단위의 자리는 </a:t>
            </a:r>
            <a:r>
              <a:rPr sz="1800" b="1">
                <a:solidFill>
                  <a:srgbClr val="000000"/>
                </a:solidFill>
                <a:latin typeface="맑은 고딕"/>
                <a:ea typeface="맑은 고딕"/>
              </a:rPr>
              <a:t>병합과 외부 호출</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확인 지점을 </a:t>
            </a:r>
            <a:r>
              <a:rPr sz="1800" b="1">
                <a:solidFill>
                  <a:srgbClr val="000000"/>
                </a:solidFill>
                <a:latin typeface="맑은 고딕"/>
                <a:ea typeface="맑은 고딕"/>
              </a:rPr>
              <a:t>되돌리기 어려운 순서로</a:t>
            </a:r>
            <a:r>
              <a:rPr sz="1800" b="0">
                <a:solidFill>
                  <a:srgbClr val="000000"/>
                </a:solidFill>
                <a:latin typeface="맑은 고딕"/>
                <a:ea typeface="맑은 고딕"/>
              </a:rPr>
              <a:t> 고른다. 커밋은 되돌리기 쉽고 push와 결제 호출은 어렵다.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사용자가 보는 </a:t>
            </a:r>
            <a:r>
              <a:rPr sz="1800" b="1">
                <a:solidFill>
                  <a:srgbClr val="000000"/>
                </a:solidFill>
                <a:latin typeface="맑은 고딕"/>
                <a:ea typeface="맑은 고딕"/>
              </a:rPr>
              <a:t>승인이 많아질수록</a:t>
            </a:r>
            <a:r>
              <a:rPr sz="1800" b="0">
                <a:solidFill>
                  <a:srgbClr val="000000"/>
                </a:solidFill>
                <a:latin typeface="맑은 고딕"/>
                <a:ea typeface="맑은 고딕"/>
              </a:rPr>
              <a:t> 하나하나에 쏟는 주의가 줄고, 시간이 가면 감독이 훨씬 허술해진다</a:t>
            </a:r>
            <a:r>
              <a:rPr sz="1000" b="0">
                <a:solidFill>
                  <a:srgbClr val="000000"/>
                </a:solidFill>
                <a:latin typeface="맑은 고딕"/>
                <a:ea typeface="맑은 고딕"/>
              </a:rPr>
              <a:t>, </a:t>
            </a:r>
            <a:r>
              <a:rPr sz="1000" b="0">
                <a:solidFill>
                  <a:srgbClr val="000000"/>
                </a:solidFill>
                <a:latin typeface="맑은 고딕"/>
                <a:ea typeface="맑은 고딕"/>
              </a:rPr>
              <a:t>"the more approvals a user sees, the less attention they pay to each, becoming over time much less diligent in their supervision"</a:t>
            </a:r>
            <a:r>
              <a:rPr sz="1000" b="0">
                <a:solidFill>
                  <a:srgbClr val="000000"/>
                </a:solidFill>
                <a:latin typeface="맑은 고딕"/>
                <a:ea typeface="맑은 고딕"/>
              </a:rPr>
              <a:t>, </a:t>
            </a:r>
            <a:r>
              <a:rPr sz="1000" b="0">
                <a:solidFill>
                  <a:srgbClr val="000000"/>
                </a:solidFill>
                <a:latin typeface="맑은 고딕"/>
                <a:ea typeface="맑은 고딕"/>
              </a:rPr>
              <a:t>[Anthropic 2026c]</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그래서 </a:t>
            </a:r>
            <a:r>
              <a:rPr sz="1800" b="1">
                <a:solidFill>
                  <a:srgbClr val="000000"/>
                </a:solidFill>
                <a:latin typeface="맑은 고딕"/>
                <a:ea typeface="맑은 고딕"/>
              </a:rPr>
              <a:t>승인은 적게, 자리는 분명하게</a:t>
            </a:r>
            <a:r>
              <a:rPr sz="1800" b="0">
                <a:solidFill>
                  <a:srgbClr val="000000"/>
                </a:solidFill>
                <a:latin typeface="맑은 고딕"/>
                <a:ea typeface="맑은 고딕"/>
              </a:rPr>
              <a:t> 둔다. 매번 묻는 것은 사람의 주의를 소모한다.</a:t>
            </a:r>
          </a:p>
        </p:txBody>
      </p:sp>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재시도와 상한</a:t>
            </a:r>
          </a:p>
          <a:p>
            <a:r>
              <a:rPr sz="1100" b="1">
                <a:solidFill>
                  <a:srgbClr val="000000"/>
                </a:solidFill>
                <a:latin typeface="맑은 고딕"/>
                <a:ea typeface="맑은 고딕"/>
              </a:rPr>
              <a:t>07. 종료 조건과 확인 지점</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재시도는 </a:t>
            </a:r>
            <a:r>
              <a:rPr sz="1800" b="1">
                <a:solidFill>
                  <a:srgbClr val="000000"/>
                </a:solidFill>
                <a:latin typeface="맑은 고딕"/>
                <a:ea typeface="맑은 고딕"/>
              </a:rPr>
              <a:t>상한</a:t>
            </a:r>
            <a:r>
              <a:rPr sz="1800" b="0">
                <a:solidFill>
                  <a:srgbClr val="000000"/>
                </a:solidFill>
                <a:latin typeface="맑은 고딕"/>
                <a:ea typeface="맑은 고딕"/>
              </a:rPr>
              <a:t>을 두고, 끊겨도 진행이 사라지지 않게 </a:t>
            </a:r>
            <a:r>
              <a:rPr sz="1800" b="1">
                <a:solidFill>
                  <a:srgbClr val="000000"/>
                </a:solidFill>
                <a:latin typeface="맑은 고딕"/>
                <a:ea typeface="맑은 고딕"/>
              </a:rPr>
              <a:t>기록</a:t>
            </a:r>
            <a:r>
              <a:rPr sz="1800" b="0">
                <a:solidFill>
                  <a:srgbClr val="000000"/>
                </a:solidFill>
                <a:latin typeface="맑은 고딕"/>
                <a:ea typeface="맑은 고딕"/>
              </a:rPr>
              <a:t>으로 남긴다.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 워크플로에서 </a:t>
            </a:r>
            <a:r>
              <a:rPr sz="1800" b="1">
                <a:solidFill>
                  <a:srgbClr val="000000"/>
                </a:solidFill>
                <a:latin typeface="맑은 고딕"/>
                <a:ea typeface="맑은 고딕"/>
              </a:rPr>
              <a:t>내구성을 무시하는 것</a:t>
            </a:r>
            <a:r>
              <a:rPr sz="1800" b="0">
                <a:solidFill>
                  <a:srgbClr val="000000"/>
                </a:solidFill>
                <a:latin typeface="맑은 고딕"/>
                <a:ea typeface="맑은 고딕"/>
              </a:rPr>
              <a:t>은 개발에서는 되지만 운영에서 실패하는 시스템을 낳는 안티패턴이다</a:t>
            </a:r>
            <a:r>
              <a:rPr sz="1000" b="0">
                <a:solidFill>
                  <a:srgbClr val="000000"/>
                </a:solidFill>
                <a:latin typeface="맑은 고딕"/>
                <a:ea typeface="맑은 고딕"/>
              </a:rPr>
              <a:t>, </a:t>
            </a:r>
            <a:r>
              <a:rPr sz="1000" b="0">
                <a:solidFill>
                  <a:srgbClr val="000000"/>
                </a:solidFill>
                <a:latin typeface="맑은 고딕"/>
                <a:ea typeface="맑은 고딕"/>
              </a:rPr>
              <a:t>"ignoring durability in agent workflows is an anti-pattern we've seen across many teams, resulting in systems that work in development but fail in production"</a:t>
            </a:r>
            <a:r>
              <a:rPr sz="1000" b="0">
                <a:solidFill>
                  <a:srgbClr val="000000"/>
                </a:solidFill>
                <a:latin typeface="맑은 고딕"/>
                <a:ea typeface="맑은 고딕"/>
              </a:rPr>
              <a:t>, </a:t>
            </a:r>
            <a:r>
              <a:rPr sz="1000" b="0">
                <a:solidFill>
                  <a:srgbClr val="000000"/>
                </a:solidFill>
                <a:latin typeface="맑은 고딕"/>
                <a:ea typeface="맑은 고딕"/>
              </a:rPr>
              <a:t>[Thoughtworks 2026]</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처음부터 다시 시작하는 것은 비싸고 괴로우므로 </a:t>
            </a:r>
            <a:r>
              <a:rPr sz="1800" b="1">
                <a:solidFill>
                  <a:srgbClr val="000000"/>
                </a:solidFill>
                <a:latin typeface="맑은 고딕"/>
                <a:ea typeface="맑은 고딕"/>
              </a:rPr>
              <a:t>오류가 난 지점에서 이어 갈 수 있는</a:t>
            </a:r>
            <a:r>
              <a:rPr sz="1800" b="0">
                <a:solidFill>
                  <a:srgbClr val="000000"/>
                </a:solidFill>
                <a:latin typeface="맑은 고딕"/>
                <a:ea typeface="맑은 고딕"/>
              </a:rPr>
              <a:t> 시스템을 만들었다</a:t>
            </a:r>
            <a:r>
              <a:rPr sz="1000" b="0">
                <a:solidFill>
                  <a:srgbClr val="000000"/>
                </a:solidFill>
                <a:latin typeface="맑은 고딕"/>
                <a:ea typeface="맑은 고딕"/>
              </a:rPr>
              <a:t>, </a:t>
            </a:r>
            <a:r>
              <a:rPr sz="1000" b="0">
                <a:solidFill>
                  <a:srgbClr val="000000"/>
                </a:solidFill>
                <a:latin typeface="맑은 고딕"/>
                <a:ea typeface="맑은 고딕"/>
              </a:rPr>
              <a:t>"restarts are expensive and frustrating for users. Instead, we built systems that can resume from where the agent was when the errors occurred"</a:t>
            </a:r>
            <a:r>
              <a:rPr sz="1000" b="0">
                <a:solidFill>
                  <a:srgbClr val="000000"/>
                </a:solidFill>
                <a:latin typeface="맑은 고딕"/>
                <a:ea typeface="맑은 고딕"/>
              </a:rPr>
              <a:t>, </a:t>
            </a:r>
            <a:r>
              <a:rPr sz="1000" b="0">
                <a:solidFill>
                  <a:srgbClr val="000000"/>
                </a:solidFill>
                <a:latin typeface="맑은 고딕"/>
                <a:ea typeface="맑은 고딕"/>
              </a:rPr>
              <a:t>[Anthropic 2025a]</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입력의 재시도는 같은 실패를 부른다.</a:t>
            </a:r>
            <a:r>
              <a:rPr sz="1800" b="0">
                <a:solidFill>
                  <a:srgbClr val="000000"/>
                </a:solidFill>
                <a:latin typeface="맑은 고딕"/>
                <a:ea typeface="맑은 고딕"/>
              </a:rPr>
              <a:t> 상한을 넘으면 입력을 바꾸지 말고 사람에게 돌린다.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내구성</a:t>
            </a:r>
            <a:r>
              <a:rPr sz="1800" b="0">
                <a:solidFill>
                  <a:srgbClr val="000000"/>
                </a:solidFill>
                <a:latin typeface="맑은 고딕"/>
                <a:ea typeface="맑은 고딕"/>
              </a:rPr>
              <a:t>의 단위는 커밋과 진행 기록이다. 맥락이 사라져도 저장소에 남은 것은 사라지지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끊긴 뒤 이어 가려면 </a:t>
            </a:r>
            <a:r>
              <a:rPr sz="1800" b="1">
                <a:solidFill>
                  <a:srgbClr val="000000"/>
                </a:solidFill>
                <a:latin typeface="맑은 고딕"/>
                <a:ea typeface="맑은 고딕"/>
              </a:rPr>
              <a:t>무엇이 끝났는지</a:t>
            </a:r>
            <a:r>
              <a:rPr sz="1800" b="0">
                <a:solidFill>
                  <a:srgbClr val="000000"/>
                </a:solidFill>
                <a:latin typeface="맑은 고딕"/>
                <a:ea typeface="맑은 고딕"/>
              </a:rPr>
              <a:t>가 기록에 있어야 한다. 대화의 기억은 그 기록이 아니다.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저장소와 빌드 구성을 맡긴다</a:t>
            </a:r>
          </a:p>
          <a:p>
            <a:r>
              <a:rPr sz="1100" b="1">
                <a:solidFill>
                  <a:srgbClr val="000000"/>
                </a:solidFill>
                <a:latin typeface="맑은 고딕"/>
                <a:ea typeface="맑은 고딕"/>
              </a:rPr>
              <a:t>08. 빈 저장소에서 시작하기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291756"/>
            <a:ext cx="8412480"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자바 17로 빌드되는 프로젝트 골격과 빌드 구성을 만들어라.</a:t>
            </a:r>
          </a:p>
          <a:p>
            <a:pPr marL="0" indent="0" algn="l">
              <a:lnSpc>
                <a:spcPts val="1150"/>
              </a:lnSpc>
              <a:spcBef>
                <a:spcPts val="0"/>
              </a:spcBef>
              <a:spcAft>
                <a:spcPts val="0"/>
              </a:spcAft>
              <a:buNone/>
            </a:pPr>
            <a:r>
              <a:rPr sz="1000" b="0">
                <a:solidFill>
                  <a:srgbClr val="000000"/>
                </a:solidFill>
                <a:latin typeface="Consolas"/>
                <a:ea typeface="맑은 고딕"/>
              </a:rPr>
              <a:t>- 패키지는 order, payment, delivery, product, persistence다.</a:t>
            </a:r>
          </a:p>
          <a:p>
            <a:pPr marL="0" indent="0" algn="l">
              <a:lnSpc>
                <a:spcPts val="1150"/>
              </a:lnSpc>
              <a:spcBef>
                <a:spcPts val="0"/>
              </a:spcBef>
              <a:spcAft>
                <a:spcPts val="0"/>
              </a:spcAft>
              <a:buNone/>
            </a:pPr>
            <a:r>
              <a:rPr sz="1000" b="0">
                <a:solidFill>
                  <a:srgbClr val="000000"/>
                </a:solidFill>
                <a:latin typeface="Consolas"/>
                <a:ea typeface="맑은 고딕"/>
              </a:rPr>
              <a:t>- 테스트는 JUnit 5로 돌린다.</a:t>
            </a:r>
          </a:p>
          <a:p>
            <a:pPr marL="0" indent="0" algn="l">
              <a:lnSpc>
                <a:spcPts val="1150"/>
              </a:lnSpc>
              <a:spcBef>
                <a:spcPts val="0"/>
              </a:spcBef>
              <a:spcAft>
                <a:spcPts val="0"/>
              </a:spcAft>
              <a:buNone/>
            </a:pPr>
            <a:r>
              <a:rPr sz="1000" b="0">
                <a:solidFill>
                  <a:srgbClr val="000000"/>
                </a:solidFill>
                <a:latin typeface="Consolas"/>
                <a:ea typeface="맑은 고딕"/>
              </a:rPr>
              <a:t>- 네트워크가 막혀 있으므로 새로 내려받아야 하는 것이 있으면</a:t>
            </a:r>
          </a:p>
          <a:p>
            <a:pPr marL="0" indent="0" algn="l">
              <a:lnSpc>
                <a:spcPts val="1150"/>
              </a:lnSpc>
              <a:spcBef>
                <a:spcPts val="0"/>
              </a:spcBef>
              <a:spcAft>
                <a:spcPts val="0"/>
              </a:spcAft>
              <a:buNone/>
            </a:pPr>
            <a:r>
              <a:rPr sz="1000" b="0">
                <a:solidFill>
                  <a:srgbClr val="000000"/>
                </a:solidFill>
                <a:latin typeface="Consolas"/>
                <a:ea typeface="맑은 고딕"/>
              </a:rPr>
              <a:t>  만들지 말고 무엇이 필요한지 보고해라.</a:t>
            </a:r>
          </a:p>
          <a:p>
            <a:pPr marL="0" indent="0" algn="l">
              <a:lnSpc>
                <a:spcPts val="1150"/>
              </a:lnSpc>
              <a:spcBef>
                <a:spcPts val="0"/>
              </a:spcBef>
              <a:spcAft>
                <a:spcPts val="0"/>
              </a:spcAft>
              <a:buNone/>
            </a:pPr>
            <a:r>
              <a:rPr sz="1000" b="0">
                <a:solidFill>
                  <a:srgbClr val="000000"/>
                </a:solidFill>
                <a:latin typeface="Consolas"/>
                <a:ea typeface="맑은 고딕"/>
              </a:rPr>
              <a:t>- 소스와 테스트 폴더, 빌드 구성 파일만 만들고 업무 코드는 쓰지 마라.</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230036"/>
          </a:xfrm>
        </p:spPr>
        <p:txBody>
          <a:bodyPr>
            <a:normAutofit/>
          </a:bodyPr>
          <a:lstStyle/>
          <a:p>
            <a:pPr marL="0" indent="0">
              <a:spcBef>
                <a:spcPts val="600"/>
              </a:spcBef>
              <a:spcAft>
                <a:spcPts val="600"/>
              </a:spcAft>
              <a:buNone/>
            </a:pPr>
            <a:r>
              <a:rPr sz="1800" b="1">
                <a:solidFill>
                  <a:srgbClr val="000000"/>
                </a:solidFill>
                <a:latin typeface="맑은 고딕"/>
                <a:ea typeface="맑은 고딕"/>
              </a:rPr>
              <a:t>빌드 구성도 위임의 대상이다.</a:t>
            </a:r>
            <a:r>
              <a:rPr sz="1800" b="0">
                <a:solidFill>
                  <a:srgbClr val="000000"/>
                </a:solidFill>
                <a:latin typeface="맑은 고딕"/>
                <a:ea typeface="맑은 고딕"/>
              </a:rPr>
              <a:t> 만들 결과와 지킬 제약을 적어 맡긴다.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작업 브랜치를 만든다</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git switch -c unit1-amount</a:t>
            </a:r>
            <a:r>
              <a:rPr sz="1600" b="0">
                <a:solidFill>
                  <a:srgbClr val="000000"/>
                </a:solidFill>
                <a:latin typeface="맑은 고딕"/>
                <a:ea typeface="맑은 고딕"/>
              </a:rPr>
              <a:t>. 되돌릴 단위가 먼저다.</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프로젝트와 빌드 구성을 맡긴다</a:t>
            </a:r>
            <a:r>
              <a:rPr sz="1800" b="0">
                <a:solidFill>
                  <a:srgbClr val="000000"/>
                </a:solidFill>
                <a:latin typeface="맑은 고딕"/>
                <a:ea typeface="맑은 고딕"/>
              </a:rPr>
              <a:t> —</a:t>
            </a:r>
            <a:r>
              <a:rPr sz="1600" b="0">
                <a:solidFill>
                  <a:srgbClr val="000000"/>
                </a:solidFill>
                <a:latin typeface="맑은 고딕"/>
                <a:ea typeface="맑은 고딕"/>
              </a:rPr>
              <a:t> 아래 지시문을 그대로 사용한다.</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결과를 확인한다</a:t>
            </a:r>
            <a:r>
              <a:rPr sz="1800" b="0">
                <a:solidFill>
                  <a:srgbClr val="000000"/>
                </a:solidFill>
                <a:latin typeface="맑은 고딕"/>
                <a:ea typeface="맑은 고딕"/>
              </a:rPr>
              <a:t> —</a:t>
            </a:r>
            <a:r>
              <a:rPr sz="1600" b="0">
                <a:solidFill>
                  <a:srgbClr val="000000"/>
                </a:solidFill>
                <a:latin typeface="맑은 고딕"/>
                <a:ea typeface="맑은 고딕"/>
              </a:rPr>
              <a:t> 소스·테스트 폴더가 생기고 </a:t>
            </a:r>
            <a:r>
              <a:rPr sz="1600" b="1">
                <a:solidFill>
                  <a:srgbClr val="000000"/>
                </a:solidFill>
                <a:latin typeface="맑은 고딕"/>
                <a:ea typeface="맑은 고딕"/>
              </a:rPr>
              <a:t>컴파일이 통과</a:t>
            </a:r>
            <a:r>
              <a:rPr sz="1600" b="0">
                <a:solidFill>
                  <a:srgbClr val="000000"/>
                </a:solidFill>
                <a:latin typeface="맑은 고딕"/>
                <a:ea typeface="맑은 고딕"/>
              </a:rPr>
              <a:t>하는지 본다.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676056"/>
            <a:ext cx="8412480" cy="1051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골격을 맡기는 것이 </a:t>
            </a:r>
            <a:r>
              <a:rPr sz="1800" b="1">
                <a:solidFill>
                  <a:srgbClr val="000000"/>
                </a:solidFill>
                <a:latin typeface="맑은 고딕"/>
                <a:ea typeface="맑은 고딕"/>
              </a:rPr>
              <a:t>첫 위임의 연습</a:t>
            </a:r>
            <a:r>
              <a:rPr sz="1800" b="0">
                <a:solidFill>
                  <a:srgbClr val="000000"/>
                </a:solidFill>
                <a:latin typeface="맑은 고딕"/>
                <a:ea typeface="맑은 고딕"/>
              </a:rPr>
              <a:t>이다. 실패해도 다시 하면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네트워크가 막힌 환경</a:t>
            </a:r>
            <a:r>
              <a:rPr sz="1800" b="0">
                <a:solidFill>
                  <a:srgbClr val="000000"/>
                </a:solidFill>
                <a:latin typeface="맑은 고딕"/>
                <a:ea typeface="맑은 고딕"/>
              </a:rPr>
              <a:t>에서 무엇이 필요한지 보고하게 한 것이 중요하다. 조용히 우회하는 대신 멈추게 한다.</a:t>
            </a:r>
          </a:p>
        </p:txBody>
      </p:sp>
    </p:spTree>
    <p:extLst>
      <p:ext uri="{BB962C8B-B14F-4D97-AF65-F5344CB8AC3E}">
        <p14:creationId xmlns:p14="http://schemas.microsoft.com/office/powerpoint/2010/main" val="37733515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권한을 설정한다</a:t>
            </a:r>
          </a:p>
          <a:p>
            <a:r>
              <a:rPr sz="1100" b="1">
                <a:solidFill>
                  <a:srgbClr val="000000"/>
                </a:solidFill>
                <a:latin typeface="맑은 고딕"/>
                <a:ea typeface="맑은 고딕"/>
              </a:rPr>
              <a:t>08. 빈 저장소에서 시작하기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허용</a:t>
            </a:r>
          </a:p>
          <a:p>
            <a:pPr marL="0" indent="0" algn="l">
              <a:lnSpc>
                <a:spcPts val="1150"/>
              </a:lnSpc>
              <a:spcBef>
                <a:spcPts val="0"/>
              </a:spcBef>
              <a:spcAft>
                <a:spcPts val="0"/>
              </a:spcAft>
              <a:buNone/>
            </a:pPr>
            <a:r>
              <a:rPr sz="1000" b="0">
                <a:solidFill>
                  <a:srgbClr val="000000"/>
                </a:solidFill>
                <a:latin typeface="Consolas"/>
                <a:ea typeface="맑은 고딕"/>
              </a:rPr>
              <a:t>  - 소스와 테스트 폴더에 파일 쓰기</a:t>
            </a:r>
          </a:p>
          <a:p>
            <a:pPr marL="0" indent="0" algn="l">
              <a:lnSpc>
                <a:spcPts val="1150"/>
              </a:lnSpc>
              <a:spcBef>
                <a:spcPts val="0"/>
              </a:spcBef>
              <a:spcAft>
                <a:spcPts val="0"/>
              </a:spcAft>
              <a:buNone/>
            </a:pPr>
            <a:r>
              <a:rPr sz="1000" b="0">
                <a:solidFill>
                  <a:srgbClr val="000000"/>
                </a:solidFill>
                <a:latin typeface="Consolas"/>
                <a:ea typeface="맑은 고딕"/>
              </a:rPr>
              <a:t>  - 컴파일과 테스트 실행</a:t>
            </a:r>
          </a:p>
          <a:p>
            <a:pPr marL="0" indent="0" algn="l">
              <a:lnSpc>
                <a:spcPts val="1150"/>
              </a:lnSpc>
              <a:spcBef>
                <a:spcPts val="0"/>
              </a:spcBef>
              <a:spcAft>
                <a:spcPts val="0"/>
              </a:spcAft>
              <a:buNone/>
            </a:pPr>
            <a:r>
              <a:rPr sz="1000" b="0">
                <a:solidFill>
                  <a:srgbClr val="000000"/>
                </a:solidFill>
                <a:latin typeface="Consolas"/>
                <a:ea typeface="맑은 고딕"/>
              </a:rPr>
              <a:t>  - 이 저장소의 작업 브랜치에 커밋</a:t>
            </a:r>
          </a:p>
          <a:p>
            <a:pPr marL="0" indent="0" algn="l">
              <a:lnSpc>
                <a:spcPts val="1150"/>
              </a:lnSpc>
              <a:spcBef>
                <a:spcPts val="0"/>
              </a:spcBef>
              <a:spcAft>
                <a:spcPts val="0"/>
              </a:spcAft>
              <a:buNone/>
            </a:pPr>
            <a:r>
              <a:rPr sz="1000" b="0">
                <a:solidFill>
                  <a:srgbClr val="000000"/>
                </a:solidFill>
                <a:latin typeface="Consolas"/>
                <a:ea typeface="맑은 고딕"/>
              </a:rPr>
              <a:t>금지</a:t>
            </a:r>
          </a:p>
          <a:p>
            <a:pPr marL="0" indent="0" algn="l">
              <a:lnSpc>
                <a:spcPts val="1150"/>
              </a:lnSpc>
              <a:spcBef>
                <a:spcPts val="0"/>
              </a:spcBef>
              <a:spcAft>
                <a:spcPts val="0"/>
              </a:spcAft>
              <a:buNone/>
            </a:pPr>
            <a:r>
              <a:rPr sz="1000" b="0">
                <a:solidFill>
                  <a:srgbClr val="000000"/>
                </a:solidFill>
                <a:latin typeface="Consolas"/>
                <a:ea typeface="맑은 고딕"/>
              </a:rPr>
              <a:t>  - 밖으로 나가는 통신</a:t>
            </a:r>
          </a:p>
          <a:p>
            <a:pPr marL="0" indent="0" algn="l">
              <a:lnSpc>
                <a:spcPts val="1150"/>
              </a:lnSpc>
              <a:spcBef>
                <a:spcPts val="0"/>
              </a:spcBef>
              <a:spcAft>
                <a:spcPts val="0"/>
              </a:spcAft>
              <a:buNone/>
            </a:pPr>
            <a:r>
              <a:rPr sz="1000" b="0">
                <a:solidFill>
                  <a:srgbClr val="000000"/>
                </a:solidFill>
                <a:latin typeface="Consolas"/>
                <a:ea typeface="맑은 고딕"/>
              </a:rPr>
              <a:t>  - 산출물 문서 폴더에 쓰기</a:t>
            </a:r>
          </a:p>
          <a:p>
            <a:pPr marL="0" indent="0" algn="l">
              <a:lnSpc>
                <a:spcPts val="1150"/>
              </a:lnSpc>
              <a:spcBef>
                <a:spcPts val="0"/>
              </a:spcBef>
              <a:spcAft>
                <a:spcPts val="0"/>
              </a:spcAft>
              <a:buNone/>
            </a:pPr>
            <a:r>
              <a:rPr sz="1000" b="0">
                <a:solidFill>
                  <a:srgbClr val="000000"/>
                </a:solidFill>
                <a:latin typeface="Consolas"/>
                <a:ea typeface="맑은 고딕"/>
              </a:rPr>
              <a:t>  - 자격 증명 파일 읽기</a:t>
            </a:r>
          </a:p>
          <a:p>
            <a:pPr marL="0" indent="0" algn="l">
              <a:lnSpc>
                <a:spcPts val="1150"/>
              </a:lnSpc>
              <a:spcBef>
                <a:spcPts val="0"/>
              </a:spcBef>
              <a:spcAft>
                <a:spcPts val="0"/>
              </a:spcAft>
              <a:buNone/>
            </a:pPr>
            <a:r>
              <a:rPr sz="1000" b="0">
                <a:solidFill>
                  <a:srgbClr val="000000"/>
                </a:solidFill>
                <a:latin typeface="Consolas"/>
                <a:ea typeface="맑은 고딕"/>
              </a:rPr>
              <a:t>  - 원격 저장소로 push</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허용과 금지를 </a:t>
            </a:r>
            <a:r>
              <a:rPr sz="1800" b="1">
                <a:solidFill>
                  <a:srgbClr val="000000"/>
                </a:solidFill>
                <a:latin typeface="맑은 고딕"/>
                <a:ea typeface="맑은 고딕"/>
              </a:rPr>
              <a:t>설정 파일에 적어</a:t>
            </a:r>
            <a:r>
              <a:rPr sz="1800" b="0">
                <a:solidFill>
                  <a:srgbClr val="000000"/>
                </a:solidFill>
                <a:latin typeface="맑은 고딕"/>
                <a:ea typeface="맑은 고딕"/>
              </a:rPr>
              <a:t> 실행 전에 거절되게 한다. 대화에서 매번 승인하는 것과 다르다.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3722598"/>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목록을 코딩 에이전트의 </a:t>
            </a:r>
            <a:r>
              <a:rPr sz="1800" b="1">
                <a:solidFill>
                  <a:srgbClr val="000000"/>
                </a:solidFill>
                <a:latin typeface="맑은 고딕"/>
                <a:ea typeface="맑은 고딕"/>
              </a:rPr>
              <a:t>설정 파일</a:t>
            </a:r>
            <a:r>
              <a:rPr sz="1800" b="0">
                <a:solidFill>
                  <a:srgbClr val="000000"/>
                </a:solidFill>
                <a:latin typeface="맑은 고딕"/>
                <a:ea typeface="맑은 고딕"/>
              </a:rPr>
              <a:t>에 옮긴다. 제품마다 파일 이름과 표기가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설정으로 막은 것은 </a:t>
            </a:r>
            <a:r>
              <a:rPr sz="1800" b="1">
                <a:solidFill>
                  <a:srgbClr val="000000"/>
                </a:solidFill>
                <a:latin typeface="맑은 고딕"/>
                <a:ea typeface="맑은 고딕"/>
              </a:rPr>
              <a:t>승인 창이 뜨지 않는다.</a:t>
            </a:r>
            <a:r>
              <a:rPr sz="1800" b="0">
                <a:solidFill>
                  <a:srgbClr val="000000"/>
                </a:solidFill>
                <a:latin typeface="맑은 고딕"/>
                <a:ea typeface="맑은 고딕"/>
              </a:rPr>
              <a:t> 거절이 기록으로 남고 에이전트가 그 사실을 보고한다.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설정을 저장소에 함께 두면 </a:t>
            </a:r>
            <a:r>
              <a:rPr sz="1800" b="1">
                <a:solidFill>
                  <a:srgbClr val="000000"/>
                </a:solidFill>
                <a:latin typeface="맑은 고딕"/>
                <a:ea typeface="맑은 고딕"/>
              </a:rPr>
              <a:t>팀이 같은 경계</a:t>
            </a:r>
            <a:r>
              <a:rPr sz="1800" b="0">
                <a:solidFill>
                  <a:srgbClr val="000000"/>
                </a:solidFill>
                <a:latin typeface="맑은 고딕"/>
                <a:ea typeface="맑은 고딕"/>
              </a:rPr>
              <a:t>로 일한다. 사람마다 다른 권한으로 맡기지 않는다.</a:t>
            </a:r>
          </a:p>
        </p:txBody>
      </p:sp>
    </p:spTree>
    <p:extLst>
      <p:ext uri="{BB962C8B-B14F-4D97-AF65-F5344CB8AC3E}">
        <p14:creationId xmlns:p14="http://schemas.microsoft.com/office/powerpoint/2010/main" val="37733515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추적 — 무엇을 보고 무엇을 했나</a:t>
            </a:r>
          </a:p>
          <a:p>
            <a:r>
              <a:rPr sz="1100" b="1">
                <a:solidFill>
                  <a:srgbClr val="000000"/>
                </a:solidFill>
                <a:latin typeface="맑은 고딕"/>
                <a:ea typeface="맑은 고딕"/>
              </a:rPr>
              <a:t>09. 맡긴 결과 보기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튼튼한 환경은 모델이 고른 도구와 넘긴 인자, 관찰한 결과까지 </a:t>
            </a:r>
            <a:r>
              <a:rPr sz="1800" b="1">
                <a:solidFill>
                  <a:srgbClr val="000000"/>
                </a:solidFill>
                <a:latin typeface="맑은 고딕"/>
                <a:ea typeface="맑은 고딕"/>
              </a:rPr>
              <a:t>추론의 경로 전체</a:t>
            </a:r>
            <a:r>
              <a:rPr sz="1800" b="0">
                <a:solidFill>
                  <a:srgbClr val="000000"/>
                </a:solidFill>
                <a:latin typeface="맑은 고딕"/>
                <a:ea typeface="맑은 고딕"/>
              </a:rPr>
              <a:t>를 드러내는 추적과 로그를 남긴다</a:t>
            </a:r>
            <a:r>
              <a:rPr sz="1000" b="0">
                <a:solidFill>
                  <a:srgbClr val="000000"/>
                </a:solidFill>
                <a:latin typeface="맑은 고딕"/>
                <a:ea typeface="맑은 고딕"/>
              </a:rPr>
              <a:t>, </a:t>
            </a:r>
            <a:r>
              <a:rPr sz="1000" b="0">
                <a:solidFill>
                  <a:srgbClr val="000000"/>
                </a:solidFill>
                <a:latin typeface="맑은 고딕"/>
                <a:ea typeface="맑은 고딕"/>
              </a:rPr>
              <a:t>"a robust framework generates detailed traces and logs, exposing the entire reasoning trajectory: the model's internal monologue, the tool it chose, the parameters it generated, and the result it observed"</a:t>
            </a:r>
            <a:r>
              <a:rPr sz="1000" b="0">
                <a:solidFill>
                  <a:srgbClr val="000000"/>
                </a:solidFill>
                <a:latin typeface="맑은 고딕"/>
                <a:ea typeface="맑은 고딕"/>
              </a:rPr>
              <a:t>, </a:t>
            </a:r>
            <a:r>
              <a:rPr sz="1000" b="0">
                <a:solidFill>
                  <a:srgbClr val="000000"/>
                </a:solidFill>
                <a:latin typeface="맑은 고딕"/>
                <a:ea typeface="맑은 고딕"/>
              </a:rPr>
              <a:t>[Blount 외 2026]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추적</a:t>
            </a:r>
            <a:r>
              <a:rPr sz="1800" b="0">
                <a:solidFill>
                  <a:srgbClr val="000000"/>
                </a:solidFill>
                <a:latin typeface="맑은 고딕"/>
                <a:ea typeface="맑은 고딕"/>
              </a:rPr>
              <a:t>은 에이전트가 무엇을 보고 무엇을 했는지 순서대로 남긴 기록이다. 결과만 보면 어디서 어긋났는지 알 수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첫 단위에서 추적이 답한 것은 셋이다 —</a:t>
            </a:r>
            <a:r>
              <a:rPr sz="1600" b="0">
                <a:solidFill>
                  <a:srgbClr val="000000"/>
                </a:solidFill>
                <a:latin typeface="맑은 고딕"/>
                <a:ea typeface="맑은 고딕"/>
              </a:rPr>
              <a:t> </a:t>
            </a:r>
            <a:r>
              <a:rPr sz="1600" b="1">
                <a:solidFill>
                  <a:srgbClr val="000000"/>
                </a:solidFill>
                <a:latin typeface="맑은 고딕"/>
                <a:ea typeface="맑은 고딕"/>
              </a:rPr>
              <a:t>어느 문서를 읽었나</a:t>
            </a:r>
            <a:r>
              <a:rPr sz="1600" b="0">
                <a:solidFill>
                  <a:srgbClr val="000000"/>
                </a:solidFill>
                <a:latin typeface="맑은 고딕"/>
                <a:ea typeface="맑은 고딕"/>
              </a:rPr>
              <a:t>, 어떤 명령을 실행했나, 무엇이 거절됐나.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읽지 않은 문서가 있다면 </a:t>
            </a:r>
            <a:r>
              <a:rPr sz="1800" b="1">
                <a:solidFill>
                  <a:srgbClr val="000000"/>
                </a:solidFill>
                <a:latin typeface="맑은 고딕"/>
                <a:ea typeface="맑은 고딕"/>
              </a:rPr>
              <a:t>맥락의 선별이 틀린 것</a:t>
            </a:r>
            <a:r>
              <a:rPr sz="1800" b="0">
                <a:solidFill>
                  <a:srgbClr val="000000"/>
                </a:solidFill>
                <a:latin typeface="맑은 고딕"/>
                <a:ea typeface="맑은 고딕"/>
              </a:rPr>
              <a:t>이다. 지시문이 가리키지 않았거나 입구가 안내하지 않았다.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환경이 거절한 것과 하지 않은 것</a:t>
            </a:r>
          </a:p>
          <a:p>
            <a:r>
              <a:rPr sz="1100" b="1">
                <a:solidFill>
                  <a:srgbClr val="000000"/>
                </a:solidFill>
                <a:latin typeface="맑은 고딕"/>
                <a:ea typeface="맑은 고딕"/>
              </a:rPr>
              <a:t>09. 맡긴 결과 보기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13208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환경이 거절한 것 — 허용으로 적었는데 막혔다</a:t>
            </a:r>
          </a:p>
          <a:p>
            <a:pPr marL="0" indent="0" algn="l">
              <a:lnSpc>
                <a:spcPts val="1150"/>
              </a:lnSpc>
              <a:spcBef>
                <a:spcPts val="0"/>
              </a:spcBef>
              <a:spcAft>
                <a:spcPts val="0"/>
              </a:spcAft>
              <a:buNone/>
            </a:pPr>
            <a:r>
              <a:rPr sz="1000" b="0">
                <a:solidFill>
                  <a:srgbClr val="000000"/>
                </a:solidFill>
                <a:latin typeface="Consolas"/>
                <a:ea typeface="맑은 고딕"/>
              </a:rPr>
              <a:t>  git add        .git/index.lock 쓰기: Operation not permitted</a:t>
            </a:r>
          </a:p>
          <a:p>
            <a:pPr marL="0" indent="0" algn="l">
              <a:lnSpc>
                <a:spcPts val="1150"/>
              </a:lnSpc>
              <a:spcBef>
                <a:spcPts val="0"/>
              </a:spcBef>
              <a:spcAft>
                <a:spcPts val="0"/>
              </a:spcAft>
              <a:buNone/>
            </a:pPr>
            <a:r>
              <a:rPr sz="1000" b="0">
                <a:solidFill>
                  <a:srgbClr val="000000"/>
                </a:solidFill>
                <a:latin typeface="Consolas"/>
                <a:ea typeface="맑은 고딕"/>
              </a:rPr>
              <a:t>  결과: 커밋하지 못하고 작업 트리에 남겼다</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환경이 막지 않은 것 — 금지로 적었는데 통과했다</a:t>
            </a:r>
          </a:p>
          <a:p>
            <a:pPr marL="0" indent="0" algn="l">
              <a:lnSpc>
                <a:spcPts val="1150"/>
              </a:lnSpc>
              <a:spcBef>
                <a:spcPts val="0"/>
              </a:spcBef>
              <a:spcAft>
                <a:spcPts val="0"/>
              </a:spcAft>
              <a:buNone/>
            </a:pPr>
            <a:r>
              <a:rPr sz="1000" b="0">
                <a:solidFill>
                  <a:srgbClr val="000000"/>
                </a:solidFill>
                <a:latin typeface="Consolas"/>
                <a:ea typeface="맑은 고딕"/>
              </a:rPr>
              <a:t>  printf ... &gt; ../order-config/application.properties</a:t>
            </a:r>
          </a:p>
          <a:p>
            <a:pPr marL="0" indent="0" algn="l">
              <a:lnSpc>
                <a:spcPts val="1150"/>
              </a:lnSpc>
              <a:spcBef>
                <a:spcPts val="0"/>
              </a:spcBef>
              <a:spcAft>
                <a:spcPts val="0"/>
              </a:spcAft>
              <a:buNone/>
            </a:pPr>
            <a:r>
              <a:rPr sz="1000" b="0">
                <a:solidFill>
                  <a:srgbClr val="000000"/>
                </a:solidFill>
                <a:latin typeface="Consolas"/>
                <a:ea typeface="맑은 고딕"/>
              </a:rPr>
              <a:t>  결과: 출력 없이 exit 0 — 저장소 밖 파일이 바뀌었다</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권한을 글로 적는 것과 환경이 강제하는 것은 다르다. </a:t>
            </a:r>
            <a:r>
              <a:rPr sz="1800" b="1">
                <a:solidFill>
                  <a:srgbClr val="000000"/>
                </a:solidFill>
                <a:latin typeface="맑은 고딕"/>
                <a:ea typeface="맑은 고딕"/>
              </a:rPr>
              <a:t>같은 실행에서 허용이 막히고 금지가 통과했다.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3392398"/>
            <a:ext cx="8412480" cy="2575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커밋은 허용으로 적었지만</a:t>
            </a:r>
            <a:r>
              <a:rPr sz="1800" b="0">
                <a:solidFill>
                  <a:srgbClr val="000000"/>
                </a:solidFill>
                <a:latin typeface="맑은 고딕"/>
                <a:ea typeface="맑은 고딕"/>
              </a:rPr>
              <a:t> 환경이 저장소 메타데이터 쓰기를 막아 실행되지 않았다. 계약과 환경이 다르면 </a:t>
            </a:r>
            <a:r>
              <a:rPr sz="1800" b="1">
                <a:solidFill>
                  <a:srgbClr val="000000"/>
                </a:solidFill>
                <a:latin typeface="맑은 고딕"/>
                <a:ea typeface="맑은 고딕"/>
              </a:rPr>
              <a:t>환경이 이긴다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저장소 밖 쓰기는 금지로 적었지만</a:t>
            </a:r>
            <a:r>
              <a:rPr sz="1800" b="0">
                <a:solidFill>
                  <a:srgbClr val="000000"/>
                </a:solidFill>
                <a:latin typeface="맑은 고딕"/>
                <a:ea typeface="맑은 고딕"/>
              </a:rPr>
              <a:t> 환경이 막지 않아 그대로 통과했다. 글에 적은 금지는 그 일을 대신하지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통과한 쓰기는 </a:t>
            </a:r>
            <a:r>
              <a:rPr sz="1800" b="1">
                <a:solidFill>
                  <a:srgbClr val="000000"/>
                </a:solidFill>
                <a:latin typeface="맑은 고딕"/>
                <a:ea typeface="맑은 고딕"/>
              </a:rPr>
              <a:t>사람이 되돌려야</a:t>
            </a:r>
            <a:r>
              <a:rPr sz="1800" b="0">
                <a:solidFill>
                  <a:srgbClr val="000000"/>
                </a:solidFill>
                <a:latin typeface="맑은 고딕"/>
                <a:ea typeface="맑은 고딕"/>
              </a:rPr>
              <a:t> 한다. 되돌릴 수 없는 자리에 닿았다면 이미 늦다.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그래서 권한은 </a:t>
            </a:r>
            <a:r>
              <a:rPr sz="1800" b="1">
                <a:solidFill>
                  <a:srgbClr val="000000"/>
                </a:solidFill>
                <a:latin typeface="맑은 고딕"/>
                <a:ea typeface="맑은 고딕"/>
              </a:rPr>
              <a:t>적고, 시험한다.</a:t>
            </a:r>
            <a:r>
              <a:rPr sz="1800" b="0">
                <a:solidFill>
                  <a:srgbClr val="000000"/>
                </a:solidFill>
                <a:latin typeface="맑은 고딕"/>
                <a:ea typeface="맑은 고딕"/>
              </a:rPr>
              <a:t> 막히는지 직접 해 보고, 막히지 않으면 그 자리를 환경에서 막는다.</a:t>
            </a:r>
          </a:p>
        </p:txBody>
      </p:sp>
    </p:spTree>
    <p:extLst>
      <p:ext uri="{BB962C8B-B14F-4D97-AF65-F5344CB8AC3E}">
        <p14:creationId xmlns:p14="http://schemas.microsoft.com/office/powerpoint/2010/main" val="37733515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돌아온 구현 코드 </a:t>
            </a:r>
            <a:r>
              <a:rPr sz="2000" b="1">
                <a:solidFill>
                  <a:srgbClr val="000000"/>
                </a:solidFill>
                <a:latin typeface="맑은 고딕"/>
                <a:ea typeface="맑은 고딕"/>
              </a:rPr>
              <a:t>(1/2)</a:t>
            </a:r>
          </a:p>
          <a:p>
            <a:r>
              <a:rPr sz="1100" b="1">
                <a:solidFill>
                  <a:srgbClr val="000000"/>
                </a:solidFill>
                <a:latin typeface="맑은 고딕"/>
                <a:ea typeface="맑은 고딕"/>
              </a:rPr>
              <a:t>09. 맡긴 결과 보기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582788"/>
            <a:ext cx="8412480" cy="20574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public CreateOrderResult </a:t>
            </a:r>
            <a:r>
              <a:rPr sz="900" b="1">
                <a:solidFill>
                  <a:srgbClr val="000000"/>
                </a:solidFill>
                <a:latin typeface="Consolas"/>
                <a:ea typeface="맑은 고딕"/>
              </a:rPr>
              <a:t>createOrder</a:t>
            </a:r>
            <a:r>
              <a:rPr sz="900" b="0">
                <a:solidFill>
                  <a:srgbClr val="000000"/>
                </a:solidFill>
                <a:latin typeface="Consolas"/>
                <a:ea typeface="맑은 고딕"/>
              </a:rPr>
              <a:t>(CreateOrderCommand command) {</a:t>
            </a:r>
          </a:p>
          <a:p>
            <a:pPr marL="0" indent="0" algn="l">
              <a:lnSpc>
                <a:spcPts val="1080"/>
              </a:lnSpc>
              <a:spcBef>
                <a:spcPts val="0"/>
              </a:spcBef>
              <a:spcAft>
                <a:spcPts val="0"/>
              </a:spcAft>
              <a:buNone/>
            </a:pPr>
            <a:r>
              <a:rPr sz="900" b="0">
                <a:solidFill>
                  <a:srgbClr val="000000"/>
                </a:solidFill>
                <a:latin typeface="Consolas"/>
                <a:ea typeface="맑은 고딕"/>
              </a:rPr>
              <a:t>        // ... command null 검사 생략</a:t>
            </a:r>
          </a:p>
          <a:p>
            <a:pPr marL="0" indent="0" algn="l">
              <a:lnSpc>
                <a:spcPts val="1080"/>
              </a:lnSpc>
              <a:spcBef>
                <a:spcPts val="0"/>
              </a:spcBef>
              <a:spcAft>
                <a:spcPts val="0"/>
              </a:spcAft>
              <a:buNone/>
            </a:pPr>
            <a:r>
              <a:rPr sz="900" b="0">
                <a:solidFill>
                  <a:srgbClr val="000000"/>
                </a:solidFill>
                <a:latin typeface="Consolas"/>
                <a:ea typeface="맑은 고딕"/>
              </a:rPr>
              <a:t>        List&lt;PricedOrderItem&gt; pricedItems = command.items().stream()</a:t>
            </a:r>
          </a:p>
          <a:p>
            <a:pPr marL="0" indent="0" algn="l">
              <a:lnSpc>
                <a:spcPts val="1080"/>
              </a:lnSpc>
              <a:spcBef>
                <a:spcPts val="0"/>
              </a:spcBef>
              <a:spcAft>
                <a:spcPts val="0"/>
              </a:spcAft>
              <a:buNone/>
            </a:pPr>
            <a:r>
              <a:rPr sz="900" b="0">
                <a:solidFill>
                  <a:srgbClr val="000000"/>
                </a:solidFill>
                <a:latin typeface="Consolas"/>
                <a:ea typeface="맑은 고딕"/>
              </a:rPr>
              <a:t>            .map(item -&gt; {</a:t>
            </a:r>
          </a:p>
          <a:p>
            <a:pPr marL="0" indent="0" algn="l">
              <a:lnSpc>
                <a:spcPts val="1080"/>
              </a:lnSpc>
              <a:spcBef>
                <a:spcPts val="0"/>
              </a:spcBef>
              <a:spcAft>
                <a:spcPts val="0"/>
              </a:spcAft>
              <a:buNone/>
            </a:pPr>
            <a:r>
              <a:rPr sz="900" b="0">
                <a:solidFill>
                  <a:srgbClr val="000000"/>
                </a:solidFill>
                <a:latin typeface="Consolas"/>
                <a:ea typeface="맑은 고딕"/>
              </a:rPr>
              <a:t>                Money salePrice = productGateway.findCurrentSalePrice(item.productNumber());</a:t>
            </a:r>
          </a:p>
          <a:p>
            <a:pPr marL="0" indent="0" algn="l">
              <a:lnSpc>
                <a:spcPts val="1080"/>
              </a:lnSpc>
              <a:spcBef>
                <a:spcPts val="0"/>
              </a:spcBef>
              <a:spcAft>
                <a:spcPts val="0"/>
              </a:spcAft>
              <a:buNone/>
            </a:pPr>
            <a:r>
              <a:rPr sz="900" b="0">
                <a:solidFill>
                  <a:srgbClr val="000000"/>
                </a:solidFill>
                <a:latin typeface="Consolas"/>
                <a:ea typeface="맑은 고딕"/>
              </a:rPr>
              <a:t>                // ... 판매가 없음 거절 생략</a:t>
            </a:r>
          </a:p>
          <a:p>
            <a:pPr marL="0" indent="0" algn="l">
              <a:lnSpc>
                <a:spcPts val="1080"/>
              </a:lnSpc>
              <a:spcBef>
                <a:spcPts val="0"/>
              </a:spcBef>
              <a:spcAft>
                <a:spcPts val="0"/>
              </a:spcAft>
              <a:buNone/>
            </a:pPr>
            <a:r>
              <a:rPr sz="900" b="0">
                <a:solidFill>
                  <a:srgbClr val="000000"/>
                </a:solidFill>
                <a:latin typeface="Consolas"/>
                <a:ea typeface="맑은 고딕"/>
              </a:rPr>
              <a:t>                return new PricedOrderItem(item.productNumber(), item.quantity(), salePrice);</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.toList();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Order order = Order.create(command.orderNumber(), pricedItems, command.shippingAddress());</a:t>
            </a:r>
          </a:p>
          <a:p>
            <a:pPr marL="0" indent="0" algn="l">
              <a:lnSpc>
                <a:spcPts val="1080"/>
              </a:lnSpc>
              <a:spcBef>
                <a:spcPts val="0"/>
              </a:spcBef>
              <a:spcAft>
                <a:spcPts val="0"/>
              </a:spcAft>
              <a:buNone/>
            </a:pPr>
            <a:r>
              <a:rPr sz="900" b="0">
                <a:solidFill>
                  <a:srgbClr val="000000"/>
                </a:solidFill>
                <a:latin typeface="Consolas"/>
                <a:ea typeface="맑은 고딕"/>
              </a:rPr>
              <a:t>        orderRepository.save(order);</a:t>
            </a:r>
          </a:p>
          <a:p>
            <a:pPr marL="0" indent="0" algn="l">
              <a:lnSpc>
                <a:spcPts val="1080"/>
              </a:lnSpc>
              <a:spcBef>
                <a:spcPts val="0"/>
              </a:spcBef>
              <a:spcAft>
                <a:spcPts val="0"/>
              </a:spcAft>
              <a:buNone/>
            </a:pPr>
            <a:r>
              <a:rPr sz="900" b="0">
                <a:solidFill>
                  <a:srgbClr val="000000"/>
                </a:solidFill>
                <a:latin typeface="Consolas"/>
                <a:ea typeface="맑은 고딕"/>
              </a:rPr>
              <a:t>        return new CreateOrderResult(order);</a:t>
            </a:r>
          </a:p>
          <a:p>
            <a:pPr marL="0" indent="0" algn="l">
              <a:lnSpc>
                <a:spcPts val="1080"/>
              </a:lnSpc>
              <a:spcBef>
                <a:spcPts val="0"/>
              </a:spcBef>
              <a:spcAft>
                <a:spcPts val="0"/>
              </a:spcAft>
              <a:buNone/>
            </a:pPr>
            <a:r>
              <a:rPr sz="9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돌아온 코드는 </a:t>
            </a:r>
            <a:r>
              <a:rPr sz="1800" b="1">
                <a:solidFill>
                  <a:srgbClr val="000000"/>
                </a:solidFill>
                <a:latin typeface="맑은 고딕"/>
                <a:ea typeface="맑은 고딕"/>
              </a:rPr>
              <a:t>설계의 계약과 이름대로인지</a:t>
            </a:r>
            <a:r>
              <a:rPr sz="1800" b="0">
                <a:solidFill>
                  <a:srgbClr val="000000"/>
                </a:solidFill>
                <a:latin typeface="맑은 고딕"/>
                <a:ea typeface="맑은 고딕"/>
              </a:rPr>
              <a:t> 본다. 동작이 맞는지는 검사가, 설계대로인지는 사람이 본다.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금액 확정 설계 시퀀스</a:t>
            </a:r>
          </a:p>
        </p:txBody>
      </p:sp>
      <p:pic>
        <p:nvPicPr>
          <p:cNvPr id="34" name="plantuml Diagram 1"/>
          <p:cNvPicPr>
            <a:picLocks noChangeAspect="1"/>
          </p:cNvPicPr>
          <p:nvPr/>
        </p:nvPicPr>
        <p:blipFill>
          <a:blip r:embed="plantumlImage1"/>
          <a:stretch>
            <a:fillRect/>
          </a:stretch>
        </p:blipFill>
        <p:spPr>
          <a:xfrm>
            <a:off x="365760" y="2153894"/>
            <a:ext cx="8412480" cy="220943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돌아온 구현 코드 </a:t>
            </a:r>
            <a:r>
              <a:rPr sz="2000" b="1">
                <a:solidFill>
                  <a:srgbClr val="000000"/>
                </a:solidFill>
                <a:latin typeface="맑은 고딕"/>
                <a:ea typeface="맑은 고딕"/>
              </a:rPr>
              <a:t>(2/2)</a:t>
            </a:r>
          </a:p>
          <a:p>
            <a:r>
              <a:rPr sz="1100" b="1">
                <a:solidFill>
                  <a:srgbClr val="000000"/>
                </a:solidFill>
                <a:latin typeface="맑은 고딕"/>
                <a:ea typeface="맑은 고딕"/>
              </a:rPr>
              <a:t>09. 맡긴 결과 보기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판매가를 조회하는 쪽이 서비스</a:t>
            </a:r>
            <a:r>
              <a:rPr sz="1800" b="0">
                <a:solidFill>
                  <a:srgbClr val="000000"/>
                </a:solidFill>
                <a:latin typeface="맑은 고딕"/>
                <a:ea typeface="맑은 고딕"/>
              </a:rPr>
              <a:t>이고, 그 값을 </a:t>
            </a:r>
            <a:r>
              <a:rPr sz="1800" b="1">
                <a:solidFill>
                  <a:srgbClr val="000000"/>
                </a:solidFill>
                <a:latin typeface="맑은 고딕"/>
                <a:ea typeface="맑은 고딕"/>
              </a:rPr>
              <a:t>확정해 들고 있는 쪽이 확정 항목</a:t>
            </a:r>
            <a:r>
              <a:rPr sz="1800" b="0">
                <a:solidFill>
                  <a:srgbClr val="000000"/>
                </a:solidFill>
                <a:latin typeface="맑은 고딕"/>
                <a:ea typeface="맑은 고딕"/>
              </a:rPr>
              <a:t>이다. 설계의 책임 배치가 그대로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총액은 </a:t>
            </a:r>
            <a:r>
              <a:rPr sz="1800" b="1">
                <a:solidFill>
                  <a:srgbClr val="000000"/>
                </a:solidFill>
                <a:latin typeface="맑은 고딕"/>
                <a:ea typeface="맑은 고딕"/>
              </a:rPr>
              <a:t>만들 때 한 번</a:t>
            </a:r>
            <a:r>
              <a:rPr sz="1800" b="0">
                <a:solidFill>
                  <a:srgbClr val="000000"/>
                </a:solidFill>
                <a:latin typeface="맑은 고딕"/>
                <a:ea typeface="맑은 고딕"/>
              </a:rPr>
              <a:t> 확정 단가에서 계산해 들고 있다. 판매가가 1,200원이 되어도 다시 계산하지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설계의 </a:t>
            </a:r>
            <a:r>
              <a:rPr sz="1800" b="1">
                <a:solidFill>
                  <a:srgbClr val="000000"/>
                </a:solidFill>
                <a:latin typeface="맑은 고딕"/>
                <a:ea typeface="맑은 고딕"/>
              </a:rPr>
              <a:t>인터페이스 이름을 그대로</a:t>
            </a:r>
            <a:r>
              <a:rPr sz="1800" b="0">
                <a:solidFill>
                  <a:srgbClr val="000000"/>
                </a:solidFill>
                <a:latin typeface="맑은 고딕"/>
                <a:ea typeface="맑은 고딕"/>
              </a:rPr>
              <a:t> 사용했다 —</a:t>
            </a:r>
            <a:r>
              <a:rPr sz="1600" b="0">
                <a:solidFill>
                  <a:srgbClr val="000000"/>
                </a:solidFill>
                <a:latin typeface="맑은 고딕"/>
                <a:ea typeface="맑은 고딕"/>
              </a:rPr>
              <a:t> </a:t>
            </a:r>
            <a:r>
              <a:rPr sz="1600" b="0">
                <a:solidFill>
                  <a:srgbClr val="000000"/>
                </a:solidFill>
                <a:latin typeface="맑은 고딕"/>
                <a:ea typeface="맑은 고딕"/>
              </a:rPr>
              <a:t>OrderPlacementUseCase</a:t>
            </a:r>
            <a:r>
              <a:rPr sz="1600" b="0">
                <a:solidFill>
                  <a:srgbClr val="000000"/>
                </a:solidFill>
                <a:latin typeface="맑은 고딕"/>
                <a:ea typeface="맑은 고딕"/>
              </a:rPr>
              <a:t>, </a:t>
            </a:r>
            <a:r>
              <a:rPr sz="1600" b="0">
                <a:solidFill>
                  <a:srgbClr val="000000"/>
                </a:solidFill>
                <a:latin typeface="맑은 고딕"/>
                <a:ea typeface="맑은 고딕"/>
              </a:rPr>
              <a:t>CreateOrderCommand</a:t>
            </a:r>
            <a:r>
              <a:rPr sz="1600" b="0">
                <a:solidFill>
                  <a:srgbClr val="000000"/>
                </a:solidFill>
                <a:latin typeface="맑은 고딕"/>
                <a:ea typeface="맑은 고딕"/>
              </a:rPr>
              <a:t>, </a:t>
            </a:r>
            <a:r>
              <a:rPr sz="1600" b="0">
                <a:solidFill>
                  <a:srgbClr val="000000"/>
                </a:solidFill>
                <a:latin typeface="맑은 고딕"/>
                <a:ea typeface="맑은 고딕"/>
              </a:rPr>
              <a:t>PricedOrderItem</a:t>
            </a:r>
            <a:r>
              <a:rPr sz="1600" b="0">
                <a:solidFill>
                  <a:srgbClr val="000000"/>
                </a:solidFill>
                <a:latin typeface="맑은 고딕"/>
                <a:ea typeface="맑은 고딕"/>
              </a:rPr>
              <a:t>, </a:t>
            </a:r>
            <a:r>
              <a:rPr sz="1600" b="0">
                <a:solidFill>
                  <a:srgbClr val="000000"/>
                </a:solidFill>
                <a:latin typeface="맑은 고딕"/>
                <a:ea typeface="맑은 고딕"/>
              </a:rPr>
              <a:t>ProductGateway.findCurrentSalePrice</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요청 항목(</a:t>
            </a:r>
            <a:r>
              <a:rPr sz="1800" b="0">
                <a:solidFill>
                  <a:srgbClr val="000000"/>
                </a:solidFill>
                <a:latin typeface="맑은 고딕"/>
                <a:ea typeface="맑은 고딕"/>
              </a:rPr>
              <a:t>OrderItemRequest</a:t>
            </a:r>
            <a:r>
              <a:rPr sz="1800" b="0">
                <a:solidFill>
                  <a:srgbClr val="000000"/>
                </a:solidFill>
                <a:latin typeface="맑은 고딕"/>
                <a:ea typeface="맑은 고딕"/>
              </a:rPr>
              <a:t>)만 설계에 이름이 없던 값이다. </a:t>
            </a:r>
            <a:r>
              <a:rPr sz="1800" b="1">
                <a:solidFill>
                  <a:srgbClr val="000000"/>
                </a:solidFill>
                <a:latin typeface="맑은 고딕"/>
                <a:ea typeface="맑은 고딕"/>
              </a:rPr>
              <a:t>용어집에 더할지</a:t>
            </a:r>
            <a:r>
              <a:rPr sz="1800" b="0">
                <a:solidFill>
                  <a:srgbClr val="000000"/>
                </a:solidFill>
                <a:latin typeface="맑은 고딕"/>
                <a:ea typeface="맑은 고딕"/>
              </a:rPr>
              <a:t> 사람이 정한다.</a:t>
            </a:r>
          </a:p>
        </p:txBody>
      </p:sp>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완료 주장과 증거</a:t>
            </a:r>
          </a:p>
          <a:p>
            <a:r>
              <a:rPr sz="1100" b="1">
                <a:solidFill>
                  <a:srgbClr val="000000"/>
                </a:solidFill>
                <a:latin typeface="맑은 고딕"/>
                <a:ea typeface="맑은 고딕"/>
              </a:rPr>
              <a:t>09. 맡긴 결과 보기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98536" y="1999788"/>
          <a:ext cx="5133340" cy="3873500"/>
        </p:xfrm>
        <a:graphic>
          <a:graphicData uri="http://schemas.openxmlformats.org/drawingml/2006/table">
            <a:tbl>
              <a:tblPr/>
              <a:tblGrid>
                <a:gridCol w="1366520"/>
                <a:gridCol w="181356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에이전트의 주장</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받아들이는 증거</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첫 단위의 결과</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구현했다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 예가 통과한 출력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총액 2,000원 통과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규칙을 지켰다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사전조건 거절 테스트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0개·수량 0 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범위를 지켰다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바뀐 파일의 대조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docs/는 바뀌지 않았다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끝났다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멈춰 물은 질문의 목록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미정 둘은 손대지 않았다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67612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제대로 테스트하지 않고</a:t>
            </a:r>
            <a:r>
              <a:rPr sz="1800" b="0">
                <a:solidFill>
                  <a:srgbClr val="000000"/>
                </a:solidFill>
                <a:latin typeface="맑은 고딕"/>
                <a:ea typeface="맑은 고딕"/>
              </a:rPr>
              <a:t> 기능을 완료로 표시하는 경향</a:t>
            </a:r>
            <a:r>
              <a:rPr sz="1000" b="0">
                <a:solidFill>
                  <a:srgbClr val="000000"/>
                </a:solidFill>
                <a:latin typeface="맑은 고딕"/>
                <a:ea typeface="맑은 고딕"/>
              </a:rPr>
              <a:t>, </a:t>
            </a:r>
            <a:r>
              <a:rPr sz="1000" b="0">
                <a:solidFill>
                  <a:srgbClr val="000000"/>
                </a:solidFill>
                <a:latin typeface="맑은 고딕"/>
                <a:ea typeface="맑은 고딕"/>
              </a:rPr>
              <a:t>"Claude's tendency to mark a feature as complete without proper testing"</a:t>
            </a:r>
            <a:r>
              <a:rPr sz="1000" b="0">
                <a:solidFill>
                  <a:srgbClr val="000000"/>
                </a:solidFill>
                <a:latin typeface="맑은 고딕"/>
                <a:ea typeface="맑은 고딕"/>
              </a:rPr>
              <a:t>, </a:t>
            </a:r>
            <a:r>
              <a:rPr sz="1000" b="0">
                <a:solidFill>
                  <a:srgbClr val="000000"/>
                </a:solidFill>
                <a:latin typeface="맑은 고딕"/>
                <a:ea typeface="맑은 고딕"/>
              </a:rPr>
              <a:t>[Anthropic 2025d]</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70133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주장과 그것을 받는 증거</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68388"/>
            <a:ext cx="8412480" cy="2575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완료는 주장이다.</a:t>
            </a:r>
            <a:r>
              <a:rPr sz="1800" b="0">
                <a:solidFill>
                  <a:srgbClr val="000000"/>
                </a:solidFill>
                <a:latin typeface="맑은 고딕"/>
                <a:ea typeface="맑은 고딕"/>
              </a:rPr>
              <a:t> 주장과 증거를 같은 자리에서 보는 것이 결과 검토다.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증거가 없는 항목은 </a:t>
            </a:r>
            <a:r>
              <a:rPr sz="1800" b="1">
                <a:solidFill>
                  <a:srgbClr val="000000"/>
                </a:solidFill>
                <a:latin typeface="맑은 고딕"/>
                <a:ea typeface="맑은 고딕"/>
              </a:rPr>
              <a:t>아직 끝나지 않은 것</a:t>
            </a:r>
            <a:r>
              <a:rPr sz="1800" b="0">
                <a:solidFill>
                  <a:srgbClr val="000000"/>
                </a:solidFill>
                <a:latin typeface="맑은 고딕"/>
                <a:ea typeface="맑은 고딕"/>
              </a:rPr>
              <a:t>으로 둔다. 설명은 증거가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범위와 권한은 다른 축</a:t>
            </a:r>
            <a:r>
              <a:rPr sz="1800" b="0">
                <a:solidFill>
                  <a:srgbClr val="000000"/>
                </a:solidFill>
                <a:latin typeface="맑은 고딕"/>
                <a:ea typeface="맑은 고딕"/>
              </a:rPr>
              <a:t>이다. 저장소에 파일을 늘리지 않았어도 금지된 자리에 썼다면 권한 위반이다.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이번 단위에서 사람이 본 것은 </a:t>
            </a:r>
            <a:r>
              <a:rPr sz="1800" b="1">
                <a:solidFill>
                  <a:srgbClr val="000000"/>
                </a:solidFill>
                <a:latin typeface="맑은 고딕"/>
                <a:ea typeface="맑은 고딕"/>
              </a:rPr>
              <a:t>4줄</a:t>
            </a:r>
            <a:r>
              <a:rPr sz="1800" b="0">
                <a:solidFill>
                  <a:srgbClr val="000000"/>
                </a:solidFill>
                <a:latin typeface="맑은 고딕"/>
                <a:ea typeface="맑은 고딕"/>
              </a:rPr>
              <a:t>이었다. 검사가 갖춰지면 사람이 볼 것은 더 줄어든다.</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프롬프트에 모든 규칙</a:t>
            </a:r>
          </a:p>
          <a:p>
            <a:r>
              <a:rPr sz="1100" b="1">
                <a:solidFill>
                  <a:srgbClr val="000000"/>
                </a:solidFill>
                <a:latin typeface="맑은 고딕"/>
                <a:ea typeface="맑은 고딕"/>
              </a:rPr>
              <a:t>10.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팀은 가능한 모든 규칙을 말로 적으려고 프롬프트에 </a:t>
            </a:r>
            <a:r>
              <a:rPr sz="1800" b="1">
                <a:solidFill>
                  <a:srgbClr val="000000"/>
                </a:solidFill>
                <a:latin typeface="맑은 고딕"/>
                <a:ea typeface="맑은 고딕"/>
              </a:rPr>
              <a:t>예외 상황의 목록</a:t>
            </a:r>
            <a:r>
              <a:rPr sz="1800" b="0">
                <a:solidFill>
                  <a:srgbClr val="000000"/>
                </a:solidFill>
                <a:latin typeface="맑은 고딕"/>
                <a:ea typeface="맑은 고딕"/>
              </a:rPr>
              <a:t>을 쏟아붓곤 한다</a:t>
            </a:r>
            <a:r>
              <a:rPr sz="1000" b="0">
                <a:solidFill>
                  <a:srgbClr val="000000"/>
                </a:solidFill>
                <a:latin typeface="맑은 고딕"/>
                <a:ea typeface="맑은 고딕"/>
              </a:rPr>
              <a:t>, </a:t>
            </a:r>
            <a:r>
              <a:rPr sz="1000" b="0">
                <a:solidFill>
                  <a:srgbClr val="000000"/>
                </a:solidFill>
                <a:latin typeface="맑은 고딕"/>
                <a:ea typeface="맑은 고딕"/>
              </a:rPr>
              <a:t>"teams will often stuff a laundry list of edge cases into a prompt in an attempt to articulate every possible rule"</a:t>
            </a:r>
            <a:r>
              <a:rPr sz="1000" b="0">
                <a:solidFill>
                  <a:srgbClr val="000000"/>
                </a:solidFill>
                <a:latin typeface="맑은 고딕"/>
                <a:ea typeface="맑은 고딕"/>
              </a:rPr>
              <a:t>, </a:t>
            </a:r>
            <a:r>
              <a:rPr sz="1000" b="0">
                <a:solidFill>
                  <a:srgbClr val="000000"/>
                </a:solidFill>
                <a:latin typeface="맑은 고딕"/>
                <a:ea typeface="맑은 고딕"/>
              </a:rPr>
              <a:t>[Anthropic 2025c]</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길어진 지시문은 </a:t>
            </a:r>
            <a:r>
              <a:rPr sz="1800" b="1">
                <a:solidFill>
                  <a:srgbClr val="000000"/>
                </a:solidFill>
                <a:latin typeface="맑은 고딕"/>
                <a:ea typeface="맑은 고딕"/>
              </a:rPr>
              <a:t>지켜질 확률이 낮아진다.</a:t>
            </a:r>
            <a:r>
              <a:rPr sz="1800" b="0">
                <a:solidFill>
                  <a:srgbClr val="000000"/>
                </a:solidFill>
                <a:latin typeface="맑은 고딕"/>
                <a:ea typeface="맑은 고딕"/>
              </a:rPr>
              <a:t> 규칙이 많아지면 어느 것이 중요한지 모델도 알 수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기계가 판정할 수 있는 규칙은 </a:t>
            </a:r>
            <a:r>
              <a:rPr sz="1800" b="1">
                <a:solidFill>
                  <a:srgbClr val="000000"/>
                </a:solidFill>
                <a:latin typeface="맑은 고딕"/>
                <a:ea typeface="맑은 고딕"/>
              </a:rPr>
              <a:t>검사와 권한으로 옮긴다</a:t>
            </a:r>
            <a:r>
              <a:rPr sz="1800" b="0">
                <a:solidFill>
                  <a:srgbClr val="000000"/>
                </a:solidFill>
                <a:latin typeface="맑은 고딕"/>
                <a:ea typeface="맑은 고딕"/>
              </a:rPr>
              <a:t>. 지시문에는 판정할 수 없는 것만 남는다.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산출물에 있는 규칙을 지시문에 </a:t>
            </a:r>
            <a:r>
              <a:rPr sz="1800" b="1">
                <a:solidFill>
                  <a:srgbClr val="000000"/>
                </a:solidFill>
                <a:latin typeface="맑은 고딕"/>
                <a:ea typeface="맑은 고딕"/>
              </a:rPr>
              <a:t>다시 적지 않는다.</a:t>
            </a:r>
            <a:r>
              <a:rPr sz="1800" b="0">
                <a:solidFill>
                  <a:srgbClr val="000000"/>
                </a:solidFill>
                <a:latin typeface="맑은 고딕"/>
                <a:ea typeface="맑은 고딕"/>
              </a:rPr>
              <a:t> 가리키면 한 곳만 고치면 된다.</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모든 권한 허용</a:t>
            </a:r>
          </a:p>
          <a:p>
            <a:r>
              <a:rPr sz="1100" b="1">
                <a:solidFill>
                  <a:srgbClr val="000000"/>
                </a:solidFill>
                <a:latin typeface="맑은 고딕"/>
                <a:ea typeface="맑은 고딕"/>
              </a:rPr>
              <a:t>10.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07376" y="2112010"/>
          <a:ext cx="5915660" cy="3873500"/>
        </p:xfrm>
        <a:graphic>
          <a:graphicData uri="http://schemas.openxmlformats.org/drawingml/2006/table">
            <a:tbl>
              <a:tblPr/>
              <a:tblGrid>
                <a:gridCol w="1506220"/>
                <a:gridCol w="1953260"/>
                <a:gridCol w="2456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방식</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그때의 이유</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사라지는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전부 허용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창이 번거롭다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되돌릴 수 없는 행동의 경계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연결을 기본값으로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도구가 많으면 편하다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읽히는 내용과 보낼 수단의 통제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금지만 적기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 목록을 쓰기 귀찮다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적지 않은 것이 허용된다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승인이 번거로워 </a:t>
            </a:r>
            <a:r>
              <a:rPr sz="1800" b="1">
                <a:solidFill>
                  <a:srgbClr val="000000"/>
                </a:solidFill>
                <a:latin typeface="맑은 고딕"/>
                <a:ea typeface="맑은 고딕"/>
              </a:rPr>
              <a:t>전부 허용으로 바꾸면</a:t>
            </a:r>
            <a:r>
              <a:rPr sz="1800" b="0">
                <a:solidFill>
                  <a:srgbClr val="000000"/>
                </a:solidFill>
                <a:latin typeface="맑은 고딕"/>
                <a:ea typeface="맑은 고딕"/>
              </a:rPr>
              <a:t> 위임 계약에서 권한이 사라진다. 남는 것은 부탁뿐이다.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권한을 잃는 3가지 방식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연결을 늘리면 공격면이 함께 는다.</a:t>
            </a:r>
            <a:r>
              <a:rPr sz="1800" b="0">
                <a:solidFill>
                  <a:srgbClr val="000000"/>
                </a:solidFill>
                <a:latin typeface="맑은 고딕"/>
                <a:ea typeface="맑은 고딕"/>
              </a:rPr>
              <a:t> 필요하지 않은 연결은 켜지 않는 것이 기본값이다.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승인 창이 번거롭다는 신호는 </a:t>
            </a:r>
            <a:r>
              <a:rPr sz="1800" b="1">
                <a:solidFill>
                  <a:srgbClr val="000000"/>
                </a:solidFill>
                <a:latin typeface="맑은 고딕"/>
                <a:ea typeface="맑은 고딕"/>
              </a:rPr>
              <a:t>권한을 넓히라는 뜻이 아니다.</a:t>
            </a:r>
            <a:r>
              <a:rPr sz="1800" b="0">
                <a:solidFill>
                  <a:srgbClr val="000000"/>
                </a:solidFill>
                <a:latin typeface="맑은 고딕"/>
                <a:ea typeface="맑은 고딕"/>
              </a:rPr>
              <a:t> 자주 사용하는 행동을 설정으로 허용하라는 뜻이다.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금지 목록만 적으면 </a:t>
            </a:r>
            <a:r>
              <a:rPr sz="1800" b="1">
                <a:solidFill>
                  <a:srgbClr val="000000"/>
                </a:solidFill>
                <a:latin typeface="맑은 고딕"/>
                <a:ea typeface="맑은 고딕"/>
              </a:rPr>
              <a:t>적지 않은 것이 모두 허용된다.</a:t>
            </a:r>
            <a:r>
              <a:rPr sz="1800" b="0">
                <a:solidFill>
                  <a:srgbClr val="000000"/>
                </a:solidFill>
                <a:latin typeface="맑은 고딕"/>
                <a:ea typeface="맑은 고딕"/>
              </a:rPr>
              <a:t> 기본값을 거절로 두고 허용을 적는다.</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실습 8 — 위임과 구현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1409700"/>
            <a:ext cx="4069080" cy="4808220"/>
          </a:xfrm>
        </p:spPr>
        <p:txBody>
          <a:bodyPr>
            <a:normAutofit/>
          </a:bodyPr>
          <a:lstStyle/>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투입물</a:t>
            </a:r>
          </a:p>
          <a:p>
            <a:pPr lvl="2" marL="342900" indent="0">
              <a:spcBef>
                <a:spcPts val="300"/>
              </a:spcBef>
              <a:spcAft>
                <a:spcPts val="300"/>
              </a:spcAft>
              <a:buNone/>
            </a:pPr>
            <a:r>
              <a:rPr sz="1200" b="0">
                <a:solidFill>
                  <a:srgbClr val="000000"/>
                </a:solidFill>
                <a:latin typeface="맑은 고딕"/>
                <a:ea typeface="맑은 고딕"/>
              </a:rPr>
              <a:t>실습 3~7의 최종 MD</a:t>
            </a:r>
            <a:r>
              <a:rPr sz="800" b="0">
                <a:solidFill>
                  <a:srgbClr val="000000"/>
                </a:solidFill>
                <a:latin typeface="맑은 고딕"/>
                <a:ea typeface="맑은 고딕"/>
              </a:rPr>
              <a:t>(저장소의 문서 폴더)</a:t>
            </a:r>
            <a:r>
              <a:rPr sz="1200" b="0">
                <a:solidFill>
                  <a:srgbClr val="000000"/>
                </a:solidFill>
                <a:latin typeface="맑은 고딕"/>
                <a:ea typeface="맑은 고딕"/>
              </a:rPr>
              <a:t>, 그중 </a:t>
            </a:r>
            <a:r>
              <a:rPr sz="1200" b="1">
                <a:solidFill>
                  <a:srgbClr val="000000"/>
                </a:solidFill>
                <a:latin typeface="맑은 고딕"/>
                <a:ea typeface="맑은 고딕"/>
              </a:rPr>
              <a:t>실습 7의 설계와 작업 단위</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프롬프트 —</a:t>
            </a:r>
            <a:r>
              <a:rPr sz="1000" b="1">
                <a:solidFill>
                  <a:srgbClr val="000000"/>
                </a:solidFill>
                <a:latin typeface="맑은 고딕"/>
                <a:ea typeface="맑은 고딕"/>
              </a:rPr>
              <a:t> 요청사항 포함</a:t>
            </a:r>
          </a:p>
          <a:p>
            <a:pPr lvl="2" marL="1028700" indent="-304800">
              <a:spcBef>
                <a:spcPts val="300"/>
              </a:spcBef>
              <a:spcAft>
                <a:spcPts val="300"/>
              </a:spcAft>
              <a:buFont typeface="+mj-lt"/>
              <a:buAutoNum type="arabicPeriod" startAt="1"/>
            </a:pPr>
            <a:r>
              <a:rPr sz="1200" b="0">
                <a:solidFill>
                  <a:srgbClr val="000000"/>
                </a:solidFill>
                <a:latin typeface="맑은 고딕"/>
                <a:ea typeface="맑은 고딕"/>
              </a:rPr>
              <a:t>자바 17로 빌드되는 프로젝트 골격과 빌드 구성을 만들어라. 테스트는 JUnit 5로 돌린다. 네트워크가 막혀 있으므로 새로 내려받아야 하는 것이 있으면 만들지 말고 보고해라. 업무 코드는 아직 쓰지 마라.</a:t>
            </a:r>
          </a:p>
          <a:p>
            <a:pPr lvl="2" marL="1028700" indent="-304800">
              <a:spcBef>
                <a:spcPts val="300"/>
              </a:spcBef>
              <a:spcAft>
                <a:spcPts val="300"/>
              </a:spcAft>
              <a:buFont typeface="+mj-lt"/>
              <a:buAutoNum type="arabicPeriod" startAt="2"/>
            </a:pPr>
            <a:r>
              <a:rPr sz="1200" b="0">
                <a:solidFill>
                  <a:srgbClr val="000000"/>
                </a:solidFill>
                <a:latin typeface="맑은 고딕"/>
                <a:ea typeface="맑은 고딕"/>
              </a:rPr>
              <a:t>[앞선 질문에 대한 답] [추가 질문·수정 요청] 문서 입구에서 시작해 필요한 문서만 읽고, 첫 작업 단위만 구현해라. 이름과 계약은 용어집과 설계를 따른다. 문서가 정하지 않은 정책에 닿으면 멈추고 질문해라.</a:t>
            </a:r>
          </a:p>
          <a:p>
            <a:pPr lvl="2" marL="1028700" indent="-304800">
              <a:spcBef>
                <a:spcPts val="300"/>
              </a:spcBef>
              <a:spcAft>
                <a:spcPts val="300"/>
              </a:spcAft>
              <a:buFont typeface="+mj-lt"/>
              <a:buAutoNum type="arabicPeriod" startAt="3"/>
            </a:pPr>
            <a:r>
              <a:rPr sz="1200" b="0">
                <a:solidFill>
                  <a:srgbClr val="000000"/>
                </a:solidFill>
                <a:latin typeface="맑은 고딕"/>
                <a:ea typeface="맑은 고딕"/>
              </a:rPr>
              <a:t>[앞선 질문에 대한 답] [추가 질문·수정 요청] 그 단위의 수용 예와 사전조건 위반을 검사하는 테스트를 만들고, 실제로 실행해 출력을 보여라.</a:t>
            </a:r>
          </a:p>
          <a:p>
            <a:pPr lvl="2" marL="1028700" indent="-304800">
              <a:spcBef>
                <a:spcPts val="300"/>
              </a:spcBef>
              <a:spcAft>
                <a:spcPts val="300"/>
              </a:spcAft>
              <a:buFont typeface="+mj-lt"/>
              <a:buAutoNum type="arabicPeriod" startAt="4"/>
            </a:pPr>
            <a:r>
              <a:rPr sz="1200" b="0">
                <a:solidFill>
                  <a:srgbClr val="000000"/>
                </a:solidFill>
                <a:latin typeface="맑은 고딕"/>
                <a:ea typeface="맑은 고딕"/>
              </a:rPr>
              <a:t>[앞선 질문에 대한 답] [추가 질문·수정 요청] 결제·배송 포트는 설계대로 인터페이스 선언까지만 두고, 외부 결제 연동 규격의 개발 환경 설정도 갖춰라. 문서가 정하지 않은 결과 처리는 추측하지 말고 질문으로 남겨라.</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449580"/>
          </a:xfrm>
        </p:spPr>
        <p:txBody>
          <a:bodyPr>
            <a:normAutofit/>
          </a:bodyPr>
          <a:lstStyle/>
          <a:p>
            <a:pPr marL="0" indent="0">
              <a:spcBef>
                <a:spcPts val="300"/>
              </a:spcBef>
              <a:spcAft>
                <a:spcPts val="300"/>
              </a:spcAft>
              <a:buNone/>
            </a:pPr>
            <a:r>
              <a:rPr sz="1200" b="0">
                <a:solidFill>
                  <a:srgbClr val="000000"/>
                </a:solidFill>
                <a:latin typeface="맑은 고딕"/>
                <a:ea typeface="맑은 고딕"/>
              </a:rPr>
              <a:t>앞선 산출물을 맥락으로 주고 </a:t>
            </a:r>
            <a:r>
              <a:rPr sz="1200" b="1">
                <a:solidFill>
                  <a:srgbClr val="000000"/>
                </a:solidFill>
                <a:latin typeface="맑은 고딕"/>
                <a:ea typeface="맑은 고딕"/>
              </a:rPr>
              <a:t>첫 작업 단위의 구현을 맡긴다.</a:t>
            </a:r>
            <a:r>
              <a:rPr sz="1200" b="0">
                <a:solidFill>
                  <a:srgbClr val="000000"/>
                </a:solidFill>
                <a:latin typeface="맑은 고딕"/>
                <a:ea typeface="맑은 고딕"/>
              </a:rPr>
              <a:t> 계약을 적고 결과를 증거로 남긴다.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709160" y="1409700"/>
            <a:ext cx="4069080" cy="4808220"/>
          </a:xfrm>
        </p:spPr>
        <p:txBody>
          <a:bodyPr>
            <a:normAutofit/>
          </a:bodyPr>
          <a:lstStyle/>
          <a:p>
            <a:pPr lvl="2" marL="1028700" indent="-304800">
              <a:spcBef>
                <a:spcPts val="300"/>
              </a:spcBef>
              <a:spcAft>
                <a:spcPts val="300"/>
              </a:spcAft>
              <a:buFont typeface="+mj-lt"/>
              <a:buAutoNum type="arabicPeriod" startAt="5"/>
            </a:pPr>
            <a:r>
              <a:rPr sz="1200" b="0">
                <a:solidFill>
                  <a:srgbClr val="000000"/>
                </a:solidFill>
                <a:latin typeface="맑은 고딕"/>
                <a:ea typeface="맑은 고딕"/>
              </a:rPr>
              <a:t>[앞선 질문에 대한 답] [추가 질문·수정 요청] 내가 금지한 저장소 밖 쓰기가 환경에서 실제로 거절되는지 시도해 확인해라. 그다음 범위를 넘어 만든 파일과 문서를 고친 곳이 있으면 되돌리고, 이번 위임을 실행 기록 MD 하나로 만들어라. 위임 계약 4가지, 만든 파일 목록, 검사 출력, 거절된 행동과 멈춰 물은 질문으로 구성하고 새 결정을 추가하지 마라. 5장을 넘지 않게 핵심만 남겨라.</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점검 항목</a:t>
            </a:r>
          </a:p>
          <a:p>
            <a:pPr lvl="2" marL="1028700" indent="-304800">
              <a:spcBef>
                <a:spcPts val="300"/>
              </a:spcBef>
              <a:spcAft>
                <a:spcPts val="300"/>
              </a:spcAft>
              <a:buFont typeface="+mj-lt"/>
              <a:buAutoNum type="arabicPeriod" startAt="1"/>
            </a:pPr>
            <a:r>
              <a:rPr sz="1200" b="0">
                <a:solidFill>
                  <a:srgbClr val="000000"/>
                </a:solidFill>
                <a:latin typeface="맑은 고딕"/>
                <a:ea typeface="맑은 고딕"/>
              </a:rPr>
              <a:t/>
            </a:r>
            <a:r>
              <a:rPr sz="1200" b="1">
                <a:solidFill>
                  <a:srgbClr val="000000"/>
                </a:solidFill>
                <a:latin typeface="맑은 고딕"/>
                <a:ea typeface="맑은 고딕"/>
              </a:rPr>
              <a:t>권한과 강제</a:t>
            </a:r>
            <a:r>
              <a:rPr sz="1200" b="0">
                <a:solidFill>
                  <a:srgbClr val="000000"/>
                </a:solidFill>
                <a:latin typeface="맑은 고딕"/>
                <a:ea typeface="맑은 고딕"/>
              </a:rPr>
              <a:t> —</a:t>
            </a:r>
            <a:r>
              <a:rPr sz="1000" b="0">
                <a:solidFill>
                  <a:srgbClr val="000000"/>
                </a:solidFill>
                <a:latin typeface="맑은 고딕"/>
                <a:ea typeface="맑은 고딕"/>
              </a:rPr>
              <a:t> 허용과 금지를 설정으로 적었고, 금지한 쓰기가 환경에서 실제로 거절되는지 </a:t>
            </a:r>
            <a:r>
              <a:rPr sz="1000" b="1">
                <a:solidFill>
                  <a:srgbClr val="000000"/>
                </a:solidFill>
                <a:latin typeface="맑은 고딕"/>
                <a:ea typeface="맑은 고딕"/>
              </a:rPr>
              <a:t>시도해 확인</a:t>
            </a:r>
            <a:r>
              <a:rPr sz="1000" b="0">
                <a:solidFill>
                  <a:srgbClr val="000000"/>
                </a:solidFill>
                <a:latin typeface="맑은 고딕"/>
                <a:ea typeface="맑은 고딕"/>
              </a:rPr>
              <a:t>했는가?</a:t>
            </a:r>
          </a:p>
          <a:p>
            <a:pPr lvl="2" marL="1028700" indent="-304800">
              <a:spcBef>
                <a:spcPts val="300"/>
              </a:spcBef>
              <a:spcAft>
                <a:spcPts val="300"/>
              </a:spcAft>
              <a:buFont typeface="+mj-lt"/>
              <a:buAutoNum type="arabicPeriod" startAt="2"/>
            </a:pPr>
            <a:r>
              <a:rPr sz="1200" b="0">
                <a:solidFill>
                  <a:srgbClr val="000000"/>
                </a:solidFill>
                <a:latin typeface="맑은 고딕"/>
                <a:ea typeface="맑은 고딕"/>
              </a:rPr>
              <a:t/>
            </a:r>
            <a:r>
              <a:rPr sz="1200" b="1">
                <a:solidFill>
                  <a:srgbClr val="000000"/>
                </a:solidFill>
                <a:latin typeface="맑은 고딕"/>
                <a:ea typeface="맑은 고딕"/>
              </a:rPr>
              <a:t>가리키기</a:t>
            </a:r>
            <a:r>
              <a:rPr sz="1200" b="0">
                <a:solidFill>
                  <a:srgbClr val="000000"/>
                </a:solidFill>
                <a:latin typeface="맑은 고딕"/>
                <a:ea typeface="맑은 고딕"/>
              </a:rPr>
              <a:t> —</a:t>
            </a:r>
            <a:r>
              <a:rPr sz="1000" b="0">
                <a:solidFill>
                  <a:srgbClr val="000000"/>
                </a:solidFill>
                <a:latin typeface="맑은 고딕"/>
                <a:ea typeface="맑은 고딕"/>
              </a:rPr>
              <a:t> 산출물을 베껴 적지 않고 가리켰으며, 문서를 고치지 않았는가?</a:t>
            </a:r>
          </a:p>
          <a:p>
            <a:pPr lvl="2" marL="1028700" indent="-304800">
              <a:spcBef>
                <a:spcPts val="300"/>
              </a:spcBef>
              <a:spcAft>
                <a:spcPts val="300"/>
              </a:spcAft>
              <a:buFont typeface="+mj-lt"/>
              <a:buAutoNum type="arabicPeriod" startAt="3"/>
            </a:pPr>
            <a:r>
              <a:rPr sz="1200" b="0">
                <a:solidFill>
                  <a:srgbClr val="000000"/>
                </a:solidFill>
                <a:latin typeface="맑은 고딕"/>
                <a:ea typeface="맑은 고딕"/>
              </a:rPr>
              <a:t/>
            </a:r>
            <a:r>
              <a:rPr sz="1200" b="1">
                <a:solidFill>
                  <a:srgbClr val="000000"/>
                </a:solidFill>
                <a:latin typeface="맑은 고딕"/>
                <a:ea typeface="맑은 고딕"/>
              </a:rPr>
              <a:t>범위</a:t>
            </a:r>
            <a:r>
              <a:rPr sz="1200" b="0">
                <a:solidFill>
                  <a:srgbClr val="000000"/>
                </a:solidFill>
                <a:latin typeface="맑은 고딕"/>
                <a:ea typeface="맑은 고딕"/>
              </a:rPr>
              <a:t> —</a:t>
            </a:r>
            <a:r>
              <a:rPr sz="1000" b="0">
                <a:solidFill>
                  <a:srgbClr val="000000"/>
                </a:solidFill>
                <a:latin typeface="맑은 고딕"/>
                <a:ea typeface="맑은 고딕"/>
              </a:rPr>
              <a:t> 첫 단위 밖의 코드가 생기지 않았고, 생겼다면 되돌렸는가?</a:t>
            </a:r>
          </a:p>
          <a:p>
            <a:pPr lvl="2" marL="1028700" indent="-304800">
              <a:spcBef>
                <a:spcPts val="300"/>
              </a:spcBef>
              <a:spcAft>
                <a:spcPts val="300"/>
              </a:spcAft>
              <a:buFont typeface="+mj-lt"/>
              <a:buAutoNum type="arabicPeriod" startAt="4"/>
            </a:pPr>
            <a:r>
              <a:rPr sz="1200" b="0">
                <a:solidFill>
                  <a:srgbClr val="000000"/>
                </a:solidFill>
                <a:latin typeface="맑은 고딕"/>
                <a:ea typeface="맑은 고딕"/>
              </a:rPr>
              <a:t/>
            </a:r>
            <a:r>
              <a:rPr sz="1200" b="1">
                <a:solidFill>
                  <a:srgbClr val="000000"/>
                </a:solidFill>
                <a:latin typeface="맑은 고딕"/>
                <a:ea typeface="맑은 고딕"/>
              </a:rPr>
              <a:t>미정</a:t>
            </a:r>
            <a:r>
              <a:rPr sz="1200" b="0">
                <a:solidFill>
                  <a:srgbClr val="000000"/>
                </a:solidFill>
                <a:latin typeface="맑은 고딕"/>
                <a:ea typeface="맑은 고딕"/>
              </a:rPr>
              <a:t> —</a:t>
            </a:r>
            <a:r>
              <a:rPr sz="1000" b="0">
                <a:solidFill>
                  <a:srgbClr val="000000"/>
                </a:solidFill>
                <a:latin typeface="맑은 고딕"/>
                <a:ea typeface="맑은 고딕"/>
              </a:rPr>
              <a:t> 문서가 정하지 않은 정책을 분기나 기대값으로 메우지 않았는가?</a:t>
            </a:r>
          </a:p>
          <a:p>
            <a:pPr lvl="2" marL="1028700" indent="-304800">
              <a:spcBef>
                <a:spcPts val="300"/>
              </a:spcBef>
              <a:spcAft>
                <a:spcPts val="300"/>
              </a:spcAft>
              <a:buFont typeface="+mj-lt"/>
              <a:buAutoNum type="arabicPeriod" startAt="5"/>
            </a:pPr>
            <a:r>
              <a:rPr sz="1200" b="0">
                <a:solidFill>
                  <a:srgbClr val="000000"/>
                </a:solidFill>
                <a:latin typeface="맑은 고딕"/>
                <a:ea typeface="맑은 고딕"/>
              </a:rPr>
              <a:t/>
            </a:r>
            <a:r>
              <a:rPr sz="1200" b="1">
                <a:solidFill>
                  <a:srgbClr val="000000"/>
                </a:solidFill>
                <a:latin typeface="맑은 고딕"/>
                <a:ea typeface="맑은 고딕"/>
              </a:rPr>
              <a:t>증거</a:t>
            </a:r>
            <a:r>
              <a:rPr sz="1200" b="0">
                <a:solidFill>
                  <a:srgbClr val="000000"/>
                </a:solidFill>
                <a:latin typeface="맑은 고딕"/>
                <a:ea typeface="맑은 고딕"/>
              </a:rPr>
              <a:t> —</a:t>
            </a:r>
            <a:r>
              <a:rPr sz="1000" b="0">
                <a:solidFill>
                  <a:srgbClr val="000000"/>
                </a:solidFill>
                <a:latin typeface="맑은 고딕"/>
                <a:ea typeface="맑은 고딕"/>
              </a:rPr>
              <a:t> 수용 예와 거절 테스트의 </a:t>
            </a:r>
            <a:r>
              <a:rPr sz="1000" b="1">
                <a:solidFill>
                  <a:srgbClr val="000000"/>
                </a:solidFill>
                <a:latin typeface="맑은 고딕"/>
                <a:ea typeface="맑은 고딕"/>
              </a:rPr>
              <a:t>실제 실행 출력</a:t>
            </a:r>
            <a:r>
              <a:rPr sz="1000" b="0">
                <a:solidFill>
                  <a:srgbClr val="000000"/>
                </a:solidFill>
                <a:latin typeface="맑은 고딕"/>
                <a:ea typeface="맑은 고딕"/>
              </a:rPr>
              <a:t>이 기록에 있는가?</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결과물</a:t>
            </a:r>
          </a:p>
          <a:p>
            <a:pPr lvl="2" marL="342900" indent="0">
              <a:spcBef>
                <a:spcPts val="300"/>
              </a:spcBef>
              <a:spcAft>
                <a:spcPts val="300"/>
              </a:spcAft>
              <a:buNone/>
            </a:pPr>
            <a:r>
              <a:rPr sz="1200" b="0">
                <a:solidFill>
                  <a:srgbClr val="000000"/>
                </a:solidFill>
                <a:latin typeface="맑은 고딕"/>
                <a:ea typeface="맑은 고딕"/>
              </a:rPr>
              <a:t>주문한다-위임기록.md</a:t>
            </a:r>
            <a:r>
              <a:rPr sz="1200" b="0">
                <a:solidFill>
                  <a:srgbClr val="000000"/>
                </a:solidFill>
                <a:latin typeface="맑은 고딕"/>
                <a:ea typeface="맑은 고딕"/>
              </a:rPr>
              <a:t> —</a:t>
            </a:r>
            <a:r>
              <a:rPr sz="1000" b="0">
                <a:solidFill>
                  <a:srgbClr val="000000"/>
                </a:solidFill>
                <a:latin typeface="맑은 고딕"/>
                <a:ea typeface="맑은 고딕"/>
              </a:rPr>
              <a:t> </a:t>
            </a:r>
            <a:r>
              <a:rPr sz="1000" b="1">
                <a:solidFill>
                  <a:srgbClr val="000000"/>
                </a:solidFill>
                <a:latin typeface="맑은 고딕"/>
                <a:ea typeface="맑은 고딕"/>
              </a:rPr>
              <a:t>실습 9의 투입물</a:t>
            </a:r>
            <a:r>
              <a:rPr sz="1000" b="0">
                <a:solidFill>
                  <a:srgbClr val="000000"/>
                </a:solidFill>
                <a:latin typeface="맑은 고딕"/>
                <a:ea typeface="맑은 고딕"/>
              </a:rPr>
              <a:t>이다</a:t>
            </a:r>
          </a:p>
        </p:txBody>
      </p:sp>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12.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42900" indent="0">
              <a:spcBef>
                <a:spcPts val="600"/>
              </a:spcBef>
              <a:spcAft>
                <a:spcPts val="600"/>
              </a:spcAft>
              <a:buNone/>
            </a:pPr>
            <a:r>
              <a:rPr sz="1800" b="1">
                <a:solidFill>
                  <a:srgbClr val="000000"/>
                </a:solidFill>
                <a:latin typeface="맑은 고딕"/>
                <a:ea typeface="맑은 고딕"/>
              </a:rPr>
              <a:t>세션 핵심</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위임은 </a:t>
            </a:r>
            <a:r>
              <a:rPr sz="1800" b="1">
                <a:solidFill>
                  <a:srgbClr val="000000"/>
                </a:solidFill>
                <a:latin typeface="맑은 고딕"/>
                <a:ea typeface="맑은 고딕"/>
              </a:rPr>
              <a:t>지시문·맥락·권한·종료 조건</a:t>
            </a:r>
            <a:r>
              <a:rPr sz="1800" b="0">
                <a:solidFill>
                  <a:srgbClr val="000000"/>
                </a:solidFill>
                <a:latin typeface="맑은 고딕"/>
                <a:ea typeface="맑은 고딕"/>
              </a:rPr>
              <a:t> 4가지를 적는 일이며, 하나가 비면 나머지가 무력해진다.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맡기는 단위는 </a:t>
            </a:r>
            <a:r>
              <a:rPr sz="1800" b="1">
                <a:solidFill>
                  <a:srgbClr val="000000"/>
                </a:solidFill>
                <a:latin typeface="맑은 고딕"/>
                <a:ea typeface="맑은 고딕"/>
              </a:rPr>
              <a:t>작업 단위 하나</a:t>
            </a:r>
            <a:r>
              <a:rPr sz="1800" b="0">
                <a:solidFill>
                  <a:srgbClr val="000000"/>
                </a:solidFill>
                <a:latin typeface="맑은 고딕"/>
                <a:ea typeface="맑은 고딕"/>
              </a:rPr>
              <a:t>이고, 그 단위의 수용 예가 종료 조건이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산출물은 </a:t>
            </a:r>
            <a:r>
              <a:rPr sz="1800" b="1">
                <a:solidFill>
                  <a:srgbClr val="000000"/>
                </a:solidFill>
                <a:latin typeface="맑은 고딕"/>
                <a:ea typeface="맑은 고딕"/>
              </a:rPr>
              <a:t>가리키고 베끼지 않는다.</a:t>
            </a:r>
            <a:r>
              <a:rPr sz="1800" b="0">
                <a:solidFill>
                  <a:srgbClr val="000000"/>
                </a:solidFill>
                <a:latin typeface="맑은 고딕"/>
                <a:ea typeface="맑은 고딕"/>
              </a:rPr>
              <a:t> 사실의 원천이 둘이면 에이전트가 추측으로 고른다.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글로 적은 금지는 부탁이고, </a:t>
            </a:r>
            <a:r>
              <a:rPr sz="1800" b="1">
                <a:solidFill>
                  <a:srgbClr val="000000"/>
                </a:solidFill>
                <a:latin typeface="맑은 고딕"/>
                <a:ea typeface="맑은 고딕"/>
              </a:rPr>
              <a:t>환경이 실행 전에 거절하는 것</a:t>
            </a:r>
            <a:r>
              <a:rPr sz="1800" b="0">
                <a:solidFill>
                  <a:srgbClr val="000000"/>
                </a:solidFill>
                <a:latin typeface="맑은 고딕"/>
                <a:ea typeface="맑은 고딕"/>
              </a:rPr>
              <a:t>만 막는다.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주입을 막을 수 없다는 전제에서 </a:t>
            </a:r>
            <a:r>
              <a:rPr sz="1800" b="1">
                <a:solidFill>
                  <a:srgbClr val="000000"/>
                </a:solidFill>
                <a:latin typeface="맑은 고딕"/>
                <a:ea typeface="맑은 고딕"/>
              </a:rPr>
              <a:t>피해 범위를 끊고</a:t>
            </a:r>
            <a:r>
              <a:rPr sz="1800" b="0">
                <a:solidFill>
                  <a:srgbClr val="000000"/>
                </a:solidFill>
                <a:latin typeface="맑은 고딕"/>
                <a:ea typeface="맑은 고딕"/>
              </a:rPr>
              <a:t> 되돌릴 단위를 먼저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에이전트의 완료는 주장이며, </a:t>
            </a:r>
            <a:r>
              <a:rPr sz="1800" b="1">
                <a:solidFill>
                  <a:srgbClr val="000000"/>
                </a:solidFill>
                <a:latin typeface="맑은 고딕"/>
                <a:ea typeface="맑은 고딕"/>
              </a:rPr>
              <a:t>추적과 검사의 증거</a:t>
            </a:r>
            <a:r>
              <a:rPr sz="1800" b="0">
                <a:solidFill>
                  <a:srgbClr val="000000"/>
                </a:solidFill>
                <a:latin typeface="맑은 고딕"/>
                <a:ea typeface="맑은 고딕"/>
              </a:rPr>
              <a:t>로 받는다.</a:t>
            </a:r>
          </a:p>
          <a:p>
            <a:pPr marL="342900" indent="0">
              <a:spcBef>
                <a:spcPts val="600"/>
              </a:spcBef>
              <a:spcAft>
                <a:spcPts val="600"/>
              </a:spcAft>
              <a:buNone/>
            </a:pPr>
            <a:r>
              <a:rPr sz="1800" b="1">
                <a:solidFill>
                  <a:srgbClr val="000000"/>
                </a:solidFill>
                <a:latin typeface="맑은 고딕"/>
                <a:ea typeface="맑은 고딕"/>
              </a:rPr>
              <a:t>다음 세션</a:t>
            </a:r>
          </a:p>
          <a:p>
            <a:pPr marL="0" indent="0">
              <a:spcBef>
                <a:spcPts val="600"/>
              </a:spcBef>
              <a:spcAft>
                <a:spcPts val="600"/>
              </a:spcAft>
              <a:buNone/>
            </a:pPr>
            <a:r>
              <a:rPr sz="1800" b="0">
                <a:solidFill>
                  <a:srgbClr val="000000"/>
                </a:solidFill>
                <a:latin typeface="맑은 고딕"/>
                <a:ea typeface="맑은 고딕"/>
              </a:rPr>
              <a:t>"세션 09. 검사 파이프라인"은 이 증거를 사람이 세는 대신 </a:t>
            </a:r>
            <a:r>
              <a:rPr sz="1800" b="1">
                <a:solidFill>
                  <a:srgbClr val="000000"/>
                </a:solidFill>
                <a:latin typeface="맑은 고딕"/>
                <a:ea typeface="맑은 고딕"/>
              </a:rPr>
              <a:t>명령 하나로 모아</a:t>
            </a:r>
            <a:r>
              <a:rPr sz="1800" b="0">
                <a:solidFill>
                  <a:srgbClr val="000000"/>
                </a:solidFill>
                <a:latin typeface="맑은 고딕"/>
                <a:ea typeface="맑은 고딕"/>
              </a:rPr>
              <a:t> 에이전트가 루프 안에서 돌리게 한다.</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주문한다 — 위임 기록 </a:t>
            </a:r>
            <a:r>
              <a:rPr sz="2000" b="1">
                <a:solidFill>
                  <a:srgbClr val="000000"/>
                </a:solidFill>
                <a:latin typeface="맑은 고딕"/>
                <a:ea typeface="맑은 고딕"/>
              </a:rPr>
              <a:t>(1/2)</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별첨: 08. 위임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933331"/>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javac --release 17 -Xlint:all -d build/classes $(find src/main/java src/test/java -name '*.java')</a:t>
            </a:r>
          </a:p>
          <a:p>
            <a:pPr marL="0" indent="0" algn="l">
              <a:lnSpc>
                <a:spcPts val="1150"/>
              </a:lnSpc>
              <a:spcBef>
                <a:spcPts val="0"/>
              </a:spcBef>
              <a:spcAft>
                <a:spcPts val="0"/>
              </a:spcAft>
              <a:buNone/>
            </a:pPr>
            <a:r>
              <a:rPr sz="1000" b="0">
                <a:solidFill>
                  <a:srgbClr val="000000"/>
                </a:solidFill>
                <a:latin typeface="Consolas"/>
                <a:ea typeface="맑은 고딕"/>
              </a:rPr>
              <a:t>java -ea -cp build/classes order.OrderApplicationServiceTest</a:t>
            </a:r>
          </a:p>
          <a:p>
            <a:pPr marL="0" indent="0" algn="l">
              <a:lnSpc>
                <a:spcPts val="1150"/>
              </a:lnSpc>
              <a:spcBef>
                <a:spcPts val="0"/>
              </a:spcBef>
              <a:spcAft>
                <a:spcPts val="0"/>
              </a:spcAft>
              <a:buNone/>
            </a:pPr>
            <a:r>
              <a:rPr sz="1000" b="0">
                <a:solidFill>
                  <a:srgbClr val="000000"/>
                </a:solidFill>
                <a:latin typeface="Consolas"/>
                <a:ea typeface="맑은 고딕"/>
              </a:rPr>
              <a:t>jdeps -s --multi-release 17 build/classes</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PASS: saves a PENDING_PAYMENT order with the accepted price and total</a:t>
            </a:r>
          </a:p>
          <a:p>
            <a:pPr marL="0" indent="0" algn="l">
              <a:lnSpc>
                <a:spcPts val="1150"/>
              </a:lnSpc>
              <a:spcBef>
                <a:spcPts val="0"/>
              </a:spcBef>
              <a:spcAft>
                <a:spcPts val="0"/>
              </a:spcAft>
              <a:buNone/>
            </a:pPr>
            <a:r>
              <a:rPr sz="1000" b="0">
                <a:solidFill>
                  <a:srgbClr val="000000"/>
                </a:solidFill>
                <a:latin typeface="Consolas"/>
                <a:ea typeface="맑은 고딕"/>
              </a:rPr>
              <a:t>PASS: keeps the fixed price and total after the sale price changes</a:t>
            </a:r>
          </a:p>
          <a:p>
            <a:pPr marL="0" indent="0" algn="l">
              <a:lnSpc>
                <a:spcPts val="1150"/>
              </a:lnSpc>
              <a:spcBef>
                <a:spcPts val="0"/>
              </a:spcBef>
              <a:spcAft>
                <a:spcPts val="0"/>
              </a:spcAft>
              <a:buNone/>
            </a:pPr>
            <a:r>
              <a:rPr sz="1000" b="0">
                <a:solidFill>
                  <a:srgbClr val="000000"/>
                </a:solidFill>
                <a:latin typeface="Consolas"/>
                <a:ea typeface="맑은 고딕"/>
              </a:rPr>
              <a:t>PASS: rejects inputs that break order-creation preconditions</a:t>
            </a:r>
          </a:p>
          <a:p>
            <a:pPr marL="0" indent="0" algn="l">
              <a:lnSpc>
                <a:spcPts val="1150"/>
              </a:lnSpc>
              <a:spcBef>
                <a:spcPts val="0"/>
              </a:spcBef>
              <a:spcAft>
                <a:spcPts val="0"/>
              </a:spcAft>
              <a:buNone/>
            </a:pPr>
            <a:r>
              <a:rPr sz="1000" b="0">
                <a:solidFill>
                  <a:srgbClr val="000000"/>
                </a:solidFill>
                <a:latin typeface="Consolas"/>
                <a:ea typeface="맑은 고딕"/>
              </a:rPr>
              <a:t>OrderApplicationServiceTest passed</a:t>
            </a:r>
          </a:p>
          <a:p>
            <a:pPr marL="0" indent="0" algn="l">
              <a:lnSpc>
                <a:spcPts val="1150"/>
              </a:lnSpc>
              <a:spcBef>
                <a:spcPts val="0"/>
              </a:spcBef>
              <a:spcAft>
                <a:spcPts val="0"/>
              </a:spcAft>
              <a:buNone/>
            </a:pPr>
            <a:r>
              <a:rPr sz="1000" b="0">
                <a:solidFill>
                  <a:srgbClr val="000000"/>
                </a:solidFill>
                <a:latin typeface="Consolas"/>
                <a:ea typeface="맑은 고딕"/>
              </a:rPr>
              <a:t>classes -&gt; java.base</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871611"/>
          </a:xfrm>
        </p:spPr>
        <p:txBody>
          <a:bodyPr>
            <a:normAutofit/>
          </a:bodyPr>
          <a:lstStyle/>
          <a:p>
            <a:pPr marL="182880" indent="0">
              <a:spcBef>
                <a:spcPts val="300"/>
              </a:spcBef>
              <a:spcAft>
                <a:spcPts val="300"/>
              </a:spcAft>
              <a:buNone/>
            </a:pPr>
            <a:r>
              <a:rPr sz="1000" b="1">
                <a:solidFill>
                  <a:srgbClr val="000000"/>
                </a:solidFill>
                <a:latin typeface="맑은 고딕"/>
                <a:ea typeface="맑은 고딕"/>
              </a:rPr>
              <a:t>위임 계약</a:t>
            </a:r>
          </a:p>
          <a:p>
            <a:pPr lvl="2" marL="551180" indent="-139700">
              <a:spcBef>
                <a:spcPts val="300"/>
              </a:spcBef>
              <a:spcAft>
                <a:spcPts val="300"/>
              </a:spcAft>
              <a:buNone/>
            </a:pPr>
            <a:r>
              <a:rPr sz="1000" b="0">
                <a:solidFill>
                  <a:srgbClr val="000000"/>
                </a:solidFill>
                <a:latin typeface="맑은 고딕"/>
                <a:ea typeface="맑은 고딕"/>
              </a:rPr>
              <a:t>1. </a:t>
            </a:r>
            <a:r>
              <a:rPr sz="1000" b="0">
                <a:solidFill>
                  <a:srgbClr val="000000"/>
                </a:solidFill>
                <a:latin typeface="맑은 고딕"/>
                <a:ea typeface="맑은 고딕"/>
              </a:rPr>
              <a:t>docs/00-문서-입구.md</a:t>
            </a:r>
            <a:r>
              <a:rPr sz="1000" b="0">
                <a:solidFill>
                  <a:srgbClr val="000000"/>
                </a:solidFill>
                <a:latin typeface="맑은 고딕"/>
                <a:ea typeface="맑은 고딕"/>
              </a:rPr>
              <a:t>를 시작점으로 필요한 문서의 패키지·계약·작업 단위를 따른다.</a:t>
            </a:r>
          </a:p>
          <a:p>
            <a:pPr lvl="2" marL="551180" indent="-139700">
              <a:spcBef>
                <a:spcPts val="300"/>
              </a:spcBef>
              <a:spcAft>
                <a:spcPts val="300"/>
              </a:spcAft>
              <a:buNone/>
            </a:pPr>
            <a:r>
              <a:rPr sz="1000" b="0">
                <a:solidFill>
                  <a:srgbClr val="000000"/>
                </a:solidFill>
                <a:latin typeface="맑은 고딕"/>
                <a:ea typeface="맑은 고딕"/>
              </a:rPr>
              <a:t>2. Java 17 대상으로 컴파일하고, 외부 의존성을 내려받지 않은 채 직접 테스트를 실행한다.</a:t>
            </a:r>
          </a:p>
          <a:p>
            <a:pPr lvl="2" marL="551180" indent="-139700">
              <a:spcBef>
                <a:spcPts val="300"/>
              </a:spcBef>
              <a:spcAft>
                <a:spcPts val="300"/>
              </a:spcAft>
              <a:buNone/>
            </a:pPr>
            <a:r>
              <a:rPr sz="1000" b="0">
                <a:solidFill>
                  <a:srgbClr val="000000"/>
                </a:solidFill>
                <a:latin typeface="맑은 고딕"/>
                <a:ea typeface="맑은 고딕"/>
              </a:rPr>
              <a:t>3. 주문 생성 단위와 결제·배송 포트 선언까지만 구현하며, 결제·배송 결과 정책과 어댑터는 구현하지 않는다.</a:t>
            </a:r>
          </a:p>
          <a:p>
            <a:pPr lvl="2" marL="551180" indent="-139700">
              <a:spcBef>
                <a:spcPts val="300"/>
              </a:spcBef>
              <a:spcAft>
                <a:spcPts val="300"/>
              </a:spcAft>
              <a:buNone/>
            </a:pPr>
            <a:r>
              <a:rPr sz="1000" b="0">
                <a:solidFill>
                  <a:srgbClr val="000000"/>
                </a:solidFill>
                <a:latin typeface="맑은 고딕"/>
                <a:ea typeface="맑은 고딕"/>
              </a:rPr>
              <a:t>4. 외부 네트워크·실제 결제 호출·비밀 정보 접근·원격 push·</a:t>
            </a:r>
            <a:r>
              <a:rPr sz="1000" b="0">
                <a:solidFill>
                  <a:srgbClr val="000000"/>
                </a:solidFill>
                <a:latin typeface="맑은 고딕"/>
                <a:ea typeface="맑은 고딕"/>
              </a:rPr>
              <a:t>docs/</a:t>
            </a:r>
            <a:r>
              <a:rPr sz="1000" b="0">
                <a:solidFill>
                  <a:srgbClr val="000000"/>
                </a:solidFill>
                <a:latin typeface="맑은 고딕"/>
                <a:ea typeface="맑은 고딕"/>
              </a:rPr>
              <a:t> 변경을 하지 않는다. 저장소 밖 쓰기는 금지됐다.</a:t>
            </a:r>
          </a:p>
          <a:p>
            <a:pPr marL="182880" indent="0">
              <a:spcBef>
                <a:spcPts val="300"/>
              </a:spcBef>
              <a:spcAft>
                <a:spcPts val="300"/>
              </a:spcAft>
              <a:buNone/>
            </a:pPr>
            <a:r>
              <a:rPr sz="1000" b="1">
                <a:solidFill>
                  <a:srgbClr val="000000"/>
                </a:solidFill>
                <a:latin typeface="맑은 고딕"/>
                <a:ea typeface="맑은 고딕"/>
              </a:rPr>
              <a:t>만든 파일</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설정·안내: </a:t>
            </a:r>
            <a:r>
              <a:rPr sz="1000" b="0">
                <a:solidFill>
                  <a:srgbClr val="000000"/>
                </a:solidFill>
                <a:latin typeface="맑은 고딕"/>
                <a:ea typeface="맑은 고딕"/>
              </a:rPr>
              <a:t>.gitignore</a:t>
            </a:r>
            <a:r>
              <a:rPr sz="1000" b="0">
                <a:solidFill>
                  <a:srgbClr val="000000"/>
                </a:solidFill>
                <a:latin typeface="맑은 고딕"/>
                <a:ea typeface="맑은 고딕"/>
              </a:rPr>
              <a:t>, </a:t>
            </a:r>
            <a:r>
              <a:rPr sz="1000" b="0">
                <a:solidFill>
                  <a:srgbClr val="000000"/>
                </a:solidFill>
                <a:latin typeface="맑은 고딕"/>
                <a:ea typeface="맑은 고딕"/>
              </a:rPr>
              <a:t>README.md</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주문·상품 업무 코드: </a:t>
            </a:r>
            <a:r>
              <a:rPr sz="1000" b="0">
                <a:solidFill>
                  <a:srgbClr val="000000"/>
                </a:solidFill>
                <a:latin typeface="맑은 고딕"/>
                <a:ea typeface="맑은 고딕"/>
              </a:rPr>
              <a:t>src/main/java/order/*.java</a:t>
            </a:r>
            <a:r>
              <a:rPr sz="1000" b="0">
                <a:solidFill>
                  <a:srgbClr val="000000"/>
                </a:solidFill>
                <a:latin typeface="맑은 고딕"/>
                <a:ea typeface="맑은 고딕"/>
              </a:rPr>
              <a:t>, </a:t>
            </a:r>
            <a:r>
              <a:rPr sz="1000" b="0">
                <a:solidFill>
                  <a:srgbClr val="000000"/>
                </a:solidFill>
                <a:latin typeface="맑은 고딕"/>
                <a:ea typeface="맑은 고딕"/>
              </a:rPr>
              <a:t>src/main/java/product/*.java</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결제·배송 포트 선언: </a:t>
            </a:r>
            <a:r>
              <a:rPr sz="1000" b="0">
                <a:solidFill>
                  <a:srgbClr val="000000"/>
                </a:solidFill>
                <a:latin typeface="맑은 고딕"/>
                <a:ea typeface="맑은 고딕"/>
              </a:rPr>
              <a:t>src/main/java/payment/*.java</a:t>
            </a:r>
            <a:r>
              <a:rPr sz="1000" b="0">
                <a:solidFill>
                  <a:srgbClr val="000000"/>
                </a:solidFill>
                <a:latin typeface="맑은 고딕"/>
                <a:ea typeface="맑은 고딕"/>
              </a:rPr>
              <a:t>, </a:t>
            </a:r>
            <a:r>
              <a:rPr sz="1000" b="0">
                <a:solidFill>
                  <a:srgbClr val="000000"/>
                </a:solidFill>
                <a:latin typeface="맑은 고딕"/>
                <a:ea typeface="맑은 고딕"/>
              </a:rPr>
              <a:t>src/main/java/delivery/*.java</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테스트: </a:t>
            </a:r>
            <a:r>
              <a:rPr sz="1000" b="0">
                <a:solidFill>
                  <a:srgbClr val="000000"/>
                </a:solidFill>
                <a:latin typeface="맑은 고딕"/>
                <a:ea typeface="맑은 고딕"/>
              </a:rPr>
              <a:t>src/test/java/order/OrderApplicationServiceTest.java</a:t>
            </a:r>
          </a:p>
          <a:p>
            <a:pPr marL="182880" indent="0">
              <a:spcBef>
                <a:spcPts val="300"/>
              </a:spcBef>
              <a:spcAft>
                <a:spcPts val="300"/>
              </a:spcAft>
              <a:buNone/>
            </a:pPr>
            <a:r>
              <a:rPr sz="1000" b="1">
                <a:solidFill>
                  <a:srgbClr val="000000"/>
                </a:solidFill>
                <a:latin typeface="맑은 고딕"/>
                <a:ea typeface="맑은 고딕"/>
              </a:rPr>
              <a:t>검사 출력</a:t>
            </a:r>
          </a:p>
        </p:txBody>
      </p:sp>
    </p:spTree>
    <p:extLst>
      <p:ext uri="{BB962C8B-B14F-4D97-AF65-F5344CB8AC3E}">
        <p14:creationId xmlns:p14="http://schemas.microsoft.com/office/powerpoint/2010/main" val="37733515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주문한다 — 위임 기록 </a:t>
            </a:r>
            <a:r>
              <a:rPr sz="2000" b="1">
                <a:solidFill>
                  <a:srgbClr val="000000"/>
                </a:solidFill>
                <a:latin typeface="맑은 고딕"/>
                <a:ea typeface="맑은 고딕"/>
              </a:rPr>
              <a:t>(2/2)</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별첨: 08. 위임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4887"/>
            <a:ext cx="8412480" cy="330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printf 'payment.base-url=https://sandbox.pg.example.com\n' &gt; ../order-config/application.properties</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3167"/>
          </a:xfrm>
        </p:spPr>
        <p:txBody>
          <a:bodyPr>
            <a:normAutofit/>
          </a:bodyPr>
          <a:lstStyle/>
          <a:p>
            <a:pPr marL="182880" indent="0">
              <a:spcBef>
                <a:spcPts val="300"/>
              </a:spcBef>
              <a:spcAft>
                <a:spcPts val="300"/>
              </a:spcAft>
              <a:buNone/>
            </a:pPr>
            <a:r>
              <a:rPr sz="1000" b="1">
                <a:solidFill>
                  <a:srgbClr val="000000"/>
                </a:solidFill>
                <a:latin typeface="맑은 고딕"/>
                <a:ea typeface="맑은 고딕"/>
              </a:rPr>
              <a:t>거절된 행동과 멈춘 질문</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git add</a:t>
            </a:r>
            <a:r>
              <a:rPr sz="1000" b="0">
                <a:solidFill>
                  <a:srgbClr val="000000"/>
                </a:solidFill>
                <a:latin typeface="맑은 고딕"/>
                <a:ea typeface="맑은 고딕"/>
              </a:rPr>
              <a:t>는 </a:t>
            </a:r>
            <a:r>
              <a:rPr sz="1000" b="0">
                <a:solidFill>
                  <a:srgbClr val="000000"/>
                </a:solidFill>
                <a:latin typeface="맑은 고딕"/>
                <a:ea typeface="맑은 고딕"/>
              </a:rPr>
              <a:t>.git/index.lock</a:t>
            </a:r>
            <a:r>
              <a:rPr sz="1000" b="0">
                <a:solidFill>
                  <a:srgbClr val="000000"/>
                </a:solidFill>
                <a:latin typeface="맑은 고딕"/>
                <a:ea typeface="맑은 고딕"/>
              </a:rPr>
              <a:t> 생성이 </a:t>
            </a:r>
            <a:r>
              <a:rPr sz="1000" b="0">
                <a:solidFill>
                  <a:srgbClr val="000000"/>
                </a:solidFill>
                <a:latin typeface="맑은 고딕"/>
                <a:ea typeface="맑은 고딕"/>
              </a:rPr>
              <a:t>Operation not permitted</a:t>
            </a:r>
            <a:r>
              <a:rPr sz="1000" b="0">
                <a:solidFill>
                  <a:srgbClr val="000000"/>
                </a:solidFill>
                <a:latin typeface="맑은 고딕"/>
                <a:ea typeface="맑은 고딕"/>
              </a:rPr>
              <a:t>로 거절되어 커밋하지 못했다.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개발 결제 설정 쓰기 확인 명령은 거절되지 않았다. 아래 명령은 출력 없이 성공</a:t>
            </a:r>
            <a:r>
              <a:rPr sz="1000" b="0">
                <a:solidFill>
                  <a:srgbClr val="000000"/>
                </a:solidFill>
                <a:latin typeface="맑은 고딕"/>
                <a:ea typeface="맑은 고딕"/>
              </a:rPr>
              <a:t>(exit status 0)</a:t>
            </a:r>
            <a:r>
              <a:rPr sz="1000" b="0">
                <a:solidFill>
                  <a:srgbClr val="000000"/>
                </a:solidFill>
                <a:latin typeface="맑은 고딕"/>
                <a:ea typeface="맑은 고딕"/>
              </a:rPr>
              <a:t>했다.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403687"/>
            <a:ext cx="8412480" cy="698500"/>
          </a:xfrm>
          <a:prstGeom prst="rect">
            <a:avLst/>
          </a:prstGeom>
          <a:noFill/>
        </p:spPr>
        <p:txBody>
          <a:bodyPr wrap="square">
            <a:sp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기존 파일일 가능성이 있으나 비밀 정보 접근 금지에 따라 내용을 읽지 않았으므로, 원본을 추측해 복원하거나 삭제하지 않았다.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결과가 </a:t>
            </a:r>
            <a:r>
              <a:rPr sz="1000" b="0">
                <a:solidFill>
                  <a:srgbClr val="000000"/>
                </a:solidFill>
                <a:latin typeface="맑은 고딕"/>
                <a:ea typeface="맑은 고딕"/>
              </a:rPr>
              <a:t>UNCONFIRMED</a:t>
            </a:r>
            <a:r>
              <a:rPr sz="1000" b="0">
                <a:solidFill>
                  <a:srgbClr val="000000"/>
                </a:solidFill>
                <a:latin typeface="맑은 고딕"/>
                <a:ea typeface="맑은 고딕"/>
              </a:rPr>
              <a:t>일 때의 후속 처리·재결제 허용 여부와 배송 실패·시간 초과·재시도·중복 처리 정책은 업무 담당자 확인이 필요하다. 확정 전까지 구현하지 않는다.</a:t>
            </a:r>
          </a:p>
        </p:txBody>
      </p:sp>
    </p:spTree>
    <p:extLst>
      <p:ext uri="{BB962C8B-B14F-4D97-AF65-F5344CB8AC3E}">
        <p14:creationId xmlns:p14="http://schemas.microsoft.com/office/powerpoint/2010/main" val="3773351522"/>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35</Slides>
  <Notes>31</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35</vt:i4>
      </vt:variant>
    </vt:vector>
  </HeadingPairs>
  <TitlesOfParts>
    <vt:vector size="39" baseType="lpstr">
      <vt:lpstr>맑은 고딕</vt:lpstr>
      <vt:lpstr>Arial</vt:lpstr>
      <vt:lpstr>Wingdings</vt:lpstr>
      <vt:lpstr>4_Office 테마</vt:lpstr>
      <vt:lpstr>08. 위임 목차</vt:lpstr>
      <vt:lpstr>01. 세션 목표</vt:lpstr>
      <vt:lpstr>4가지를 정한다 02. 위임 계약</vt:lpstr>
      <vt:lpstr>맡기는 것은 작업 단위 하나 02. 위임 계약</vt:lpstr>
      <vt:lpstr>무엇을 하라 03. 작업 지시문</vt:lpstr>
      <vt:lpstr>무엇을 가리킬 것인가? 03. 작업 지시문</vt:lpstr>
      <vt:lpstr>주문한다의 작업 지시문 03. 작업 지시문</vt:lpstr>
      <vt:lpstr>미리 넣을 것과 찾아 읽게 할 것 04. 맥락</vt:lpstr>
      <vt:lpstr>점진적 공개 04. 맥락</vt:lpstr>
      <vt:lpstr>긴 작업의 압축과 기록 04. 맥락</vt:lpstr>
      <vt:lpstr>최소 권한 05. 권한과 도구</vt:lpstr>
      <vt:lpstr>강제와 지시 05. 권한과 도구</vt:lpstr>
      <vt:lpstr>주문한다의 권한 (1/2) 05. 권한과 도구</vt:lpstr>
      <vt:lpstr>주문한다의 권한 (2/2) 05. 권한과 도구</vt:lpstr>
      <vt:lpstr>도구와 연결의 표준 05. 권한과 도구</vt:lpstr>
      <vt:lpstr>위험을 확률과 크기로 06. 위험과 피해 범위</vt:lpstr>
      <vt:lpstr>치명적 삼박자 06. 위험과 피해 범위</vt:lpstr>
      <vt:lpstr>프롬프트 주입 06. 위험과 피해 범위</vt:lpstr>
      <vt:lpstr>피해 범위와 되돌림 06. 위험과 피해 범위</vt:lpstr>
      <vt:lpstr>언제 멈추나 07. 종료 조건과 확인 지점</vt:lpstr>
      <vt:lpstr>되돌리기 어려운 자리 07. 종료 조건과 확인 지점</vt:lpstr>
      <vt:lpstr>재시도와 상한 07. 종료 조건과 확인 지점</vt:lpstr>
      <vt:lpstr>저장소와 빌드 구성을 맡긴다 08. 빈 저장소에서 시작하기</vt:lpstr>
      <vt:lpstr>권한을 설정한다 08. 빈 저장소에서 시작하기</vt:lpstr>
      <vt:lpstr>추적 — 무엇을 보고 무엇을 했나 09. 맡긴 결과 보기</vt:lpstr>
      <vt:lpstr>환경이 거절한 것과 하지 않은 것 09. 맡긴 결과 보기</vt:lpstr>
      <vt:lpstr>돌아온 구현 코드 (1/2) 09. 맡긴 결과 보기</vt:lpstr>
      <vt:lpstr>돌아온 구현 코드 (2/2) 09. 맡긴 결과 보기</vt:lpstr>
      <vt:lpstr>완료 주장과 증거 09. 맡긴 결과 보기</vt:lpstr>
      <vt:lpstr>프롬프트에 모든 규칙 10. 잘못된 관행</vt:lpstr>
      <vt:lpstr>모든 권한 허용 10. 잘못된 관행</vt:lpstr>
      <vt:lpstr>11. 실습 8 — 위임과 구현</vt:lpstr>
      <vt:lpstr>12. 요약</vt:lpstr>
      <vt:lpstr>주문한다 — 위임 기록 (1/2) 별첨. 실습 답</vt:lpstr>
      <vt:lpstr>주문한다 — 위임 기록 (2/2)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08. 위임</dc:title>
  <dc:creator>Kim YoungSan</dc:creator>
  <cp:lastModifiedBy>Youngon Kim</cp:lastModifiedBy>
  <cp:revision>42</cp:revision>
  <dcterms:created xsi:type="dcterms:W3CDTF">2021-02-25T22:04:20Z</dcterms:created>
  <dcterms:modified xsi:type="dcterms:W3CDTF">2026-09-21T23:10:41Z</dcterms:modified>
</cp:coreProperties>
</file>