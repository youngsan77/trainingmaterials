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Default Extension="png" ContentType="image/png"/>
  <Override PartName="/ppt/slides/slide1.xml" ContentType="application/vnd.openxmlformats-officedocument.presentationml.slide+xml"/>
  <Override PartName="/ppt/notesSlides/notesSlide2.xml" ContentType="application/vnd.openxmlformats-officedocument.presentationml.notesSlide+xml"/>
  <Override PartName="/ppt/slides/slide2.xml" ContentType="application/vnd.openxmlformats-officedocument.presentationml.slide+xml"/>
  <Override PartName="/ppt/notesSlides/notesSlide3.xml" ContentType="application/vnd.openxmlformats-officedocument.presentationml.notesSlide+xml"/>
  <Override PartName="/ppt/slides/slide3.xml" ContentType="application/vnd.openxmlformats-officedocument.presentationml.slide+xml"/>
  <Override PartName="/ppt/notesSlides/notesSlide4.xml" ContentType="application/vnd.openxmlformats-officedocument.presentationml.notesSlide+xml"/>
  <Override PartName="/ppt/slides/slide4.xml" ContentType="application/vnd.openxmlformats-officedocument.presentationml.slide+xml"/>
  <Override PartName="/ppt/notesSlides/notesSlide5.xml" ContentType="application/vnd.openxmlformats-officedocument.presentationml.notesSlide+xml"/>
  <Override PartName="/ppt/slides/slide5.xml" ContentType="application/vnd.openxmlformats-officedocument.presentationml.slide+xml"/>
  <Override PartName="/ppt/notesSlides/notesSlide6.xml" ContentType="application/vnd.openxmlformats-officedocument.presentationml.notesSlide+xml"/>
  <Override PartName="/ppt/slides/slide6.xml" ContentType="application/vnd.openxmlformats-officedocument.presentationml.slide+xml"/>
  <Override PartName="/ppt/notesSlides/notesSlide7.xml" ContentType="application/vnd.openxmlformats-officedocument.presentationml.notesSlide+xml"/>
  <Override PartName="/ppt/slides/slide7.xml" ContentType="application/vnd.openxmlformats-officedocument.presentationml.slide+xml"/>
  <Override PartName="/ppt/notesSlides/notesSlide8.xml" ContentType="application/vnd.openxmlformats-officedocument.presentationml.notesSlide+xml"/>
  <Override PartName="/ppt/slides/slide8.xml" ContentType="application/vnd.openxmlformats-officedocument.presentationml.slide+xml"/>
  <Override PartName="/ppt/notesSlides/notesSlide9.xml" ContentType="application/vnd.openxmlformats-officedocument.presentationml.notesSlide+xml"/>
  <Override PartName="/ppt/slides/slide9.xml" ContentType="application/vnd.openxmlformats-officedocument.presentationml.slide+xml"/>
  <Override PartName="/ppt/notesSlides/notesSlide10.xml" ContentType="application/vnd.openxmlformats-officedocument.presentationml.notesSlide+xml"/>
  <Override PartName="/ppt/slides/slide10.xml" ContentType="application/vnd.openxmlformats-officedocument.presentationml.slide+xml"/>
  <Override PartName="/ppt/notesSlides/notesSlide11.xml" ContentType="application/vnd.openxmlformats-officedocument.presentationml.notesSlide+xml"/>
  <Override PartName="/ppt/slides/slide11.xml" ContentType="application/vnd.openxmlformats-officedocument.presentationml.slide+xml"/>
  <Override PartName="/ppt/notesSlides/notesSlide12.xml" ContentType="application/vnd.openxmlformats-officedocument.presentationml.notesSlide+xml"/>
  <Override PartName="/ppt/slides/slide12.xml" ContentType="application/vnd.openxmlformats-officedocument.presentationml.slide+xml"/>
  <Override PartName="/ppt/notesSlides/notesSlide13.xml" ContentType="application/vnd.openxmlformats-officedocument.presentationml.notesSlide+xml"/>
  <Override PartName="/ppt/slides/slide13.xml" ContentType="application/vnd.openxmlformats-officedocument.presentationml.slide+xml"/>
  <Override PartName="/ppt/notesSlides/notesSlide14.xml" ContentType="application/vnd.openxmlformats-officedocument.presentationml.notesSlide+xml"/>
  <Override PartName="/ppt/slides/slide14.xml" ContentType="application/vnd.openxmlformats-officedocument.presentationml.slide+xml"/>
  <Override PartName="/ppt/notesSlides/notesSlide15.xml" ContentType="application/vnd.openxmlformats-officedocument.presentationml.notesSlide+xml"/>
  <Override PartName="/ppt/slides/slide15.xml" ContentType="application/vnd.openxmlformats-officedocument.presentationml.slide+xml"/>
  <Override PartName="/ppt/notesSlides/notesSlide16.xml" ContentType="application/vnd.openxmlformats-officedocument.presentationml.notesSlide+xml"/>
  <Override PartName="/ppt/slides/slide16.xml" ContentType="application/vnd.openxmlformats-officedocument.presentationml.slide+xml"/>
  <Override PartName="/ppt/notesSlides/notesSlide17.xml" ContentType="application/vnd.openxmlformats-officedocument.presentationml.notesSlide+xml"/>
  <Override PartName="/ppt/slides/slide17.xml" ContentType="application/vnd.openxmlformats-officedocument.presentationml.slide+xml"/>
  <Override PartName="/ppt/notesSlides/notesSlide18.xml" ContentType="application/vnd.openxmlformats-officedocument.presentationml.notesSlide+xml"/>
  <Override PartName="/ppt/slides/slide18.xml" ContentType="application/vnd.openxmlformats-officedocument.presentationml.slide+xml"/>
  <Override PartName="/ppt/notesSlides/notesSlide19.xml" ContentType="application/vnd.openxmlformats-officedocument.presentationml.notesSlide+xml"/>
  <Override PartName="/ppt/slides/slide19.xml" ContentType="application/vnd.openxmlformats-officedocument.presentationml.slide+xml"/>
  <Override PartName="/ppt/notesSlides/notesSlide20.xml" ContentType="application/vnd.openxmlformats-officedocument.presentationml.notesSlide+xml"/>
  <Override PartName="/ppt/slides/slide20.xml" ContentType="application/vnd.openxmlformats-officedocument.presentationml.slide+xml"/>
  <Override PartName="/ppt/notesSlides/notesSlide21.xml" ContentType="application/vnd.openxmlformats-officedocument.presentationml.notesSlide+xml"/>
  <Override PartName="/ppt/slides/slide21.xml" ContentType="application/vnd.openxmlformats-officedocument.presentationml.slide+xml"/>
  <Override PartName="/ppt/notesSlides/notesSlide22.xml" ContentType="application/vnd.openxmlformats-officedocument.presentationml.notesSlide+xml"/>
  <Override PartName="/ppt/slides/slide22.xml" ContentType="application/vnd.openxmlformats-officedocument.presentationml.slide+xml"/>
  <Override PartName="/ppt/notesSlides/notesSlide23.xml" ContentType="application/vnd.openxmlformats-officedocument.presentationml.notes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0" r:id="rId1"/>
  </p:sldMasterIdLst>
  <p:notesMasterIdLst>
    <p:notesMasterId r:id="rId15"/>
  </p:notesMasterIdLst>
  <p:sldIdLst>
    <p:sldId id="256" r:id="javaLecture1"/>
    <p:sldId id="257" r:id="javaLecture2"/>
    <p:sldId id="258" r:id="javaLecture3"/>
    <p:sldId id="259" r:id="javaLecture4"/>
    <p:sldId id="260" r:id="javaLecture5"/>
    <p:sldId id="261" r:id="javaLecture6"/>
    <p:sldId id="262" r:id="javaLecture7"/>
    <p:sldId id="263" r:id="javaLecture8"/>
    <p:sldId id="264" r:id="javaLecture9"/>
    <p:sldId id="265" r:id="javaLecture10"/>
    <p:sldId id="266" r:id="javaLecture11"/>
    <p:sldId id="267" r:id="javaLecture12"/>
    <p:sldId id="268" r:id="javaLecture13"/>
    <p:sldId id="269" r:id="javaLecture14"/>
    <p:sldId id="270" r:id="javaLecture15"/>
    <p:sldId id="271" r:id="javaLecture16"/>
    <p:sldId id="272" r:id="javaLecture17"/>
    <p:sldId id="273" r:id="javaLecture18"/>
    <p:sldId id="274" r:id="javaLecture19"/>
    <p:sldId id="275" r:id="javaLecture20"/>
    <p:sldId id="276" r:id="javaLecture21"/>
    <p:sldId id="277" r:id="javaLecture22"/>
    <p:sldId id="278" r:id="javaLecture23"/>
    <p:sldId id="279" r:id="javaLecture24"/>
    <p:sldId id="280" r:id="javaLecture25"/>
    <p:sldId id="281" r:id="javaLecture26"/>
    <p:sldId id="282" r:id="javaLecture2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4" orient="horz" pos="890" userDrawn="1">
          <p15:clr>
            <a:srgbClr val="A4A3A4"/>
          </p15:clr>
        </p15:guide>
        <p15:guide id="5"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641C14D-A5A2-2B4D-B033-1B776E74D04A}" v="40" dt="2026-09-12T11:52:04.699"/>
  </p1510:revLst>
</p1510:revInfo>
</file>

<file path=ppt/tableStyles.xml><?xml version="1.0" encoding="utf-8"?>
<a:tblStyleLst xmlns:a="http://schemas.openxmlformats.org/drawingml/2006/main" def="{5C22544A-7EE6-4342-B048-85BDC9FD1C3A}">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5862"/>
    <p:restoredTop sz="92496"/>
  </p:normalViewPr>
  <p:slideViewPr>
    <p:cSldViewPr snapToGrid="0">
      <p:cViewPr varScale="1">
        <p:scale>
          <a:sx n="106" d="100"/>
          <a:sy n="106" d="100"/>
        </p:scale>
        <p:origin x="1984" y="184"/>
      </p:cViewPr>
      <p:guideLst>
        <p:guide orient="horz" pos="890"/>
        <p:guide pos="2880"/>
      </p:guideLst>
    </p:cSldViewPr>
  </p:slideViewPr>
  <p:outlineViewPr>
    <p:cViewPr>
      <p:scale>
        <a:sx n="33" d="100"/>
        <a:sy n="33" d="100"/>
      </p:scale>
      <p:origin x="0" y="0"/>
    </p:cViewPr>
  </p:outlineViewPr>
  <p:notesTextViewPr>
    <p:cViewPr>
      <p:scale>
        <a:sx n="3" d="2"/>
        <a:sy n="3" d="2"/>
      </p:scale>
      <p:origin x="0" y="0"/>
    </p:cViewPr>
  </p:notesTextViewPr>
  <p:sorterViewPr>
    <p:cViewPr>
      <p:scale>
        <a:sx n="118" d="100"/>
        <a:sy n="118" d="100"/>
      </p:scale>
      <p:origin x="0" y="0"/>
    </p:cViewPr>
  </p:sorterViewPr>
  <p:gridSpacing cx="76200" cy="76200"/>
</p:viewPr>
</file>

<file path=ppt/_rels/presentation.xml.rels><?xml version="1.0" encoding="UTF-8" standalone="yes"?>
<Relationships xmlns="http://schemas.openxmlformats.org/package/2006/relationships"><Relationship Id="rId18" Type="http://schemas.openxmlformats.org/officeDocument/2006/relationships/theme" Target="theme/theme1.xml"/><Relationship Id="rId17" Type="http://schemas.openxmlformats.org/officeDocument/2006/relationships/viewProps" Target="viewProps.xml"/><Relationship Id="rId16" Type="http://schemas.openxmlformats.org/officeDocument/2006/relationships/presProps" Target="presProps.xml"/><Relationship Id="rId20" Type="http://schemas.microsoft.com/office/2015/10/relationships/revisionInfo" Target="revisionInfo.xml"/><Relationship Id="rId1" Type="http://schemas.openxmlformats.org/officeDocument/2006/relationships/slideMaster" Target="slideMasters/slideMaster1.xml"/><Relationship Id="rId15" Type="http://schemas.openxmlformats.org/officeDocument/2006/relationships/notesMaster" Target="notesMasters/notesMaster1.xml"/><Relationship Id="rId19" Type="http://schemas.openxmlformats.org/officeDocument/2006/relationships/tableStyles" Target="tableStyles.xml"/><Relationship Id="javaLecture1" Type="http://schemas.openxmlformats.org/officeDocument/2006/relationships/slide" Target="slides/slide1.xml"/><Relationship Id="javaLecture2" Type="http://schemas.openxmlformats.org/officeDocument/2006/relationships/slide" Target="slides/slide2.xml"/><Relationship Id="javaLecture3" Type="http://schemas.openxmlformats.org/officeDocument/2006/relationships/slide" Target="slides/slide3.xml"/><Relationship Id="javaLecture4" Type="http://schemas.openxmlformats.org/officeDocument/2006/relationships/slide" Target="slides/slide4.xml"/><Relationship Id="javaLecture5" Type="http://schemas.openxmlformats.org/officeDocument/2006/relationships/slide" Target="slides/slide5.xml"/><Relationship Id="javaLecture6" Type="http://schemas.openxmlformats.org/officeDocument/2006/relationships/slide" Target="slides/slide6.xml"/><Relationship Id="javaLecture7" Type="http://schemas.openxmlformats.org/officeDocument/2006/relationships/slide" Target="slides/slide7.xml"/><Relationship Id="javaLecture8" Type="http://schemas.openxmlformats.org/officeDocument/2006/relationships/slide" Target="slides/slide8.xml"/><Relationship Id="javaLecture9" Type="http://schemas.openxmlformats.org/officeDocument/2006/relationships/slide" Target="slides/slide9.xml"/><Relationship Id="javaLecture10" Type="http://schemas.openxmlformats.org/officeDocument/2006/relationships/slide" Target="slides/slide10.xml"/><Relationship Id="javaLecture11" Type="http://schemas.openxmlformats.org/officeDocument/2006/relationships/slide" Target="slides/slide11.xml"/><Relationship Id="javaLecture12" Type="http://schemas.openxmlformats.org/officeDocument/2006/relationships/slide" Target="slides/slide12.xml"/><Relationship Id="javaLecture13" Type="http://schemas.openxmlformats.org/officeDocument/2006/relationships/slide" Target="slides/slide13.xml"/><Relationship Id="javaLecture14" Type="http://schemas.openxmlformats.org/officeDocument/2006/relationships/slide" Target="slides/slide14.xml"/><Relationship Id="javaLecture15" Type="http://schemas.openxmlformats.org/officeDocument/2006/relationships/slide" Target="slides/slide15.xml"/><Relationship Id="javaLecture16" Type="http://schemas.openxmlformats.org/officeDocument/2006/relationships/slide" Target="slides/slide16.xml"/><Relationship Id="javaLecture17" Type="http://schemas.openxmlformats.org/officeDocument/2006/relationships/slide" Target="slides/slide17.xml"/><Relationship Id="javaLecture18" Type="http://schemas.openxmlformats.org/officeDocument/2006/relationships/slide" Target="slides/slide18.xml"/><Relationship Id="javaLecture19" Type="http://schemas.openxmlformats.org/officeDocument/2006/relationships/slide" Target="slides/slide19.xml"/><Relationship Id="javaLecture20" Type="http://schemas.openxmlformats.org/officeDocument/2006/relationships/slide" Target="slides/slide20.xml"/><Relationship Id="javaLecture21" Type="http://schemas.openxmlformats.org/officeDocument/2006/relationships/slide" Target="slides/slide21.xml"/><Relationship Id="javaLecture22" Type="http://schemas.openxmlformats.org/officeDocument/2006/relationships/slide" Target="slides/slide22.xml"/><Relationship Id="javaLecture23" Type="http://schemas.openxmlformats.org/officeDocument/2006/relationships/slide" Target="slides/slide23.xml"/><Relationship Id="javaLecture24" Type="http://schemas.openxmlformats.org/officeDocument/2006/relationships/slide" Target="slides/slide24.xml"/><Relationship Id="javaLecture25" Type="http://schemas.openxmlformats.org/officeDocument/2006/relationships/slide" Target="slides/slide25.xml"/><Relationship Id="javaLecture26" Type="http://schemas.openxmlformats.org/officeDocument/2006/relationships/slide" Target="slides/slide26.xml"/><Relationship Id="javaLecture27" Type="http://schemas.openxmlformats.org/officeDocument/2006/relationships/slide" Target="slides/slide2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ko-KR" altLang="en-US"/>
          </a:p>
        </p:txBody>
      </p:sp>
      <p:sp>
        <p:nvSpPr>
          <p:cNvPr id="3" name="날짜 개체 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CCE4FF0-A6B5-46CD-9CD3-2CF2AFF3AE5A}" type="datetimeFigureOut">
              <a:rPr lang="ko-KR" altLang="en-US" smtClean="0"/>
              <a:t>2026. 9. 22.</a:t>
            </a:fld>
            <a:endParaRPr lang="ko-KR" altLang="en-US"/>
          </a:p>
        </p:txBody>
      </p:sp>
      <p:sp>
        <p:nvSpPr>
          <p:cNvPr id="4" name="슬라이드 이미지 개체 틀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ko-KR" altLang="en-US"/>
          </a:p>
        </p:txBody>
      </p:sp>
      <p:sp>
        <p:nvSpPr>
          <p:cNvPr id="5" name="슬라이드 노트 개체 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6" name="바닥글 개체 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ko-KR" altLang="en-US"/>
          </a:p>
        </p:txBody>
      </p:sp>
      <p:sp>
        <p:nvSpPr>
          <p:cNvPr id="7" name="슬라이드 번호 개체 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B25E7E4-F626-4F14-BF5E-991C69F9D18A}" type="slidenum">
              <a:rPr lang="ko-KR" altLang="en-US" smtClean="0"/>
              <a:t>‹#›</a:t>
            </a:fld>
            <a:endParaRPr lang="ko-KR" altLang="en-US"/>
          </a:p>
        </p:txBody>
      </p:sp>
    </p:spTree>
    <p:extLst>
      <p:ext uri="{BB962C8B-B14F-4D97-AF65-F5344CB8AC3E}">
        <p14:creationId xmlns:p14="http://schemas.microsoft.com/office/powerpoint/2010/main" val="149661815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2.xml.rels><?xml version="1.0" encoding="UTF-8"?><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Relationships>
</file>

<file path=ppt/notesSlides/_rels/notesSlide3.xml.rels><?xml version="1.0" encoding="UTF-8"?><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Relationships>
</file>

<file path=ppt/notesSlides/_rels/notesSlide4.xml.rels><?xml version="1.0" encoding="UTF-8"?><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Relationships>
</file>

<file path=ppt/notesSlides/_rels/notesSlide5.xml.rels><?xml version="1.0" encoding="UTF-8"?><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Relationships>
</file>

<file path=ppt/notesSlides/_rels/notesSlide6.xml.rels><?xml version="1.0" encoding="UTF-8"?><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Relationships>
</file>

<file path=ppt/notesSlides/_rels/notesSlide7.xml.rels><?xml version="1.0" encoding="UTF-8"?><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Relationships>
</file>

<file path=ppt/notesSlides/_rels/notesSlide8.xml.rels><?xml version="1.0" encoding="UTF-8"?><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Relationships>
</file>

<file path=ppt/notesSlides/_rels/notesSlide9.xml.rels><?xml version="1.0" encoding="UTF-8"?><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Relationships>
</file>

<file path=ppt/notesSlides/_rels/notesSlide10.xml.rels><?xml version="1.0" encoding="UTF-8"?><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Relationships>
</file>

<file path=ppt/notesSlides/_rels/notesSlide11.xml.rels><?xml version="1.0" encoding="UTF-8"?><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Relationships>
</file>

<file path=ppt/notesSlides/_rels/notesSlide12.xml.rels><?xml version="1.0" encoding="UTF-8"?><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Relationships>
</file>

<file path=ppt/notesSlides/_rels/notesSlide13.xml.rels><?xml version="1.0" encoding="UTF-8"?><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Relationships>
</file>

<file path=ppt/notesSlides/_rels/notesSlide14.xml.rels><?xml version="1.0" encoding="UTF-8"?><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Relationships>
</file>

<file path=ppt/notesSlides/_rels/notesSlide15.xml.rels><?xml version="1.0" encoding="UTF-8"?><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Relationships>
</file>

<file path=ppt/notesSlides/_rels/notesSlide16.xml.rels><?xml version="1.0" encoding="UTF-8"?><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Relationships>
</file>

<file path=ppt/notesSlides/_rels/notesSlide17.xml.rels><?xml version="1.0" encoding="UTF-8"?><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Relationships>
</file>

<file path=ppt/notesSlides/_rels/notesSlide18.xml.rels><?xml version="1.0" encoding="UTF-8"?><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Relationships>
</file>

<file path=ppt/notesSlides/_rels/notesSlide19.xml.rels><?xml version="1.0" encoding="UTF-8"?><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Relationships>
</file>

<file path=ppt/notesSlides/_rels/notesSlide20.xml.rels><?xml version="1.0" encoding="UTF-8"?><Relationships xmlns="http://schemas.openxmlformats.org/package/2006/relationships"><Relationship Id="rId1" Type="http://schemas.openxmlformats.org/officeDocument/2006/relationships/slide" Target="../slides/slide20.xml"/><Relationship Id="rId2" Type="http://schemas.openxmlformats.org/officeDocument/2006/relationships/notesMaster" Target="../notesMasters/notesMaster1.xml"/></Relationships>
</file>

<file path=ppt/notesSlides/_rels/notesSlide21.xml.rels><?xml version="1.0" encoding="UTF-8"?><Relationships xmlns="http://schemas.openxmlformats.org/package/2006/relationships"><Relationship Id="rId1" Type="http://schemas.openxmlformats.org/officeDocument/2006/relationships/slide" Target="../slides/slide21.xml"/><Relationship Id="rId2" Type="http://schemas.openxmlformats.org/officeDocument/2006/relationships/notesMaster" Target="../notesMasters/notesMaster1.xml"/></Relationships>
</file>

<file path=ppt/notesSlides/_rels/notesSlide22.xml.rels><?xml version="1.0" encoding="UTF-8"?><Relationships xmlns="http://schemas.openxmlformats.org/package/2006/relationships"><Relationship Id="rId1" Type="http://schemas.openxmlformats.org/officeDocument/2006/relationships/slide" Target="../slides/slide22.xml"/><Relationship Id="rId2" Type="http://schemas.openxmlformats.org/officeDocument/2006/relationships/notesMaster" Target="../notesMasters/notesMaster1.xml"/></Relationships>
</file>

<file path=ppt/notesSlides/_rels/notesSlide23.xml.rels><?xml version="1.0" encoding="UTF-8"?><Relationships xmlns="http://schemas.openxmlformats.org/package/2006/relationships"><Relationship Id="rId1" Type="http://schemas.openxmlformats.org/officeDocument/2006/relationships/slide" Target="../slides/slide23.xml"/><Relationship Id="rId2" Type="http://schemas.openxmlformats.org/officeDocument/2006/relationships/notesMaster" Target="../notesMasters/notesMaster1.xml"/></Relationship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입력은 실습 3의 요구사항 정의서와 실습 4·5의 도메인 모델이다. 이 세션은 그 개념들이 어느 경계에 사는지를 정한다.</a:t>
            </a:r>
          </a:p>
          <a:p>
            <a:pPr lvl="0"/>
            <a:r>
              <a:rPr lang="ko-KR" sz="1200"/>
              <a:t>객체의 책임과 협력은 "세션 07. 설계 — 책임과 협력"이, 의존 규칙을 판정하는 검사의 구현은 "세션 09. 검사 파이프라인"이 맡는다. 같은 원칙(단일 책임·의존성 역전)을 여기서는 경계의 근거로만 쓴다.</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도식의 화살표는 의존이다(쓰는 쪽 → 쓰이는 쪽). 호출의 순서가 아니다.</a:t>
            </a:r>
          </a:p>
          <a:p>
            <a:pPr lvl="0"/>
            <a:r>
              <a:rPr lang="ko-KR" sz="1200"/>
              <a:t>이 배치가 이 세션의 결론이다. 왜 이렇게 두는지를 「03. 설계 원칙」이, 어떻게 지키는지를 「05. 의존 규칙」·「06. 검증하기 쉬운 구조」가 답한다.</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인용 근거: James Lewis·Martin Fowler, [Microservices](https://martinfowler.com/articles/microservices.html), 2014 원문 확인(원문은 이어서 HTTP 자원 API를 흔한 통신 수단으로 든다). Martin Fowler, [MonolithFirst](https://martinfowler.com/bliki/MonolithFirst.html), 2015 원문 확인 — 원문은 동료들의 주장으로 소개하며 같은 글에서 마이크로서비스가 유용한 아키텍처라는 점도 함께 적는다.</a:t>
            </a:r>
          </a:p>
          <a:p>
            <a:pPr lvl="0"/>
            <a:r>
              <a:rPr lang="ko-KR" sz="1200"/>
              <a:t>계층형과 포트와 어댑터는 배타적이지 않다. 포트와 어댑터 안에서 업무 모듈을 다시 계층으로 나눌 수 있다.</a:t>
            </a:r>
          </a:p>
          <a:p>
            <a:pPr lvl="0"/>
            <a:r>
              <a:rPr lang="ko-KR" sz="1200"/>
              <a:t>표의 "의존 규칙" 열이 이 세션의 산출물과 같은 종류다 — 스타일을 고르는 것은 금지 목록을 고르는 것이다.</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인용 근거: Alistair Cockburn, [Hexagonal architecture](https://alistair.cockburn.us/hexagonal-architecture/), 2005의 Intent 원문 확인.</a:t>
            </a:r>
          </a:p>
          <a:p>
            <a:pPr lvl="0"/>
            <a:r>
              <a:rPr lang="ko-KR" sz="1200"/>
              <a:t>인용이 말하는 것이 왜 포트인가다 — 외부 장치·데이터베이스 없이도 같은 애플리케이션을 구동해 검증할 수 있다.</a:t>
            </a:r>
          </a:p>
          <a:p>
            <a:pPr lvl="0"/>
            <a:r>
              <a:rPr lang="ko-KR" sz="1200"/>
              <a:t>Cockburn의 "테스트에서도 똑같이 구동된다"가 「06. 검증하기 쉬운 구조」에서 대역으로 실현된다.</a:t>
            </a:r>
          </a:p>
          <a:p>
            <a:pPr lvl="0"/>
            <a:r>
              <a:rPr lang="ko-KR" sz="1200"/>
              <a:t>나누지 않은 이유도 함께 짚는다 — 서비스를 나누면 원격 호출·분산 일관성·저장소 분리가 따라오고, 지금 그 비용을 낼 근거가 없다.</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응집도와 결합도는 별개의 척도다. 한 경계 안을 보는 것과 경계 밖을 보는 것이라 함께 쓰이지만 같은 원칙이 아니다.</a:t>
            </a:r>
          </a:p>
          <a:p>
            <a:pPr lvl="0"/>
            <a:r>
              <a:rPr lang="ko-KR" sz="1200"/>
              <a:t>네 원칙은 "세션 07. 설계 — 책임과 협력"에서 객체의 책임을 판단할 때 다시 나온다. 여기서는 패키지 경계의 근거로만 쓴다.</a:t>
            </a:r>
          </a:p>
          <a:p>
            <a:pPr lvl="0"/>
            <a:r>
              <a:rPr lang="ko-KR" sz="1200"/>
              <a:t>원칙을 많이 적용한 설계가 좋은 설계가 아니다. 지금 바뀌는 이유가 보이는 곳에만 경계를 둔다.</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인용 근거: Craig Larman, *Applying UML and Patterns*, 3rd ed.(2004)의 응집도 정의 원문 확인. 같은 곳은 결합도를 한 요소가 다른 요소를 아는 정도로 함께 설명한다.</a:t>
            </a:r>
          </a:p>
          <a:p>
            <a:pPr lvl="0"/>
            <a:r>
              <a:rPr lang="ko-KR" sz="1200"/>
              <a:t>넷째 행이 핵심이다. 제공자의 필드 이름이 업무 코드에 보이면 응집도가 낮은 것이 아니라 제공자의 문서가 설계를 정한 것이다.</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응집도와 결합도는 별개의 척도다. 응집도가 높아도 결합이 셀 수 있고, 결합이 약해도 한 패키지 안이 뒤섞일 수 있다.</a:t>
            </a:r>
          </a:p>
          <a:p>
            <a:pPr lvl="0"/>
            <a:r>
              <a:rPr lang="ko-KR" sz="1200"/>
              <a:t>표의 둘째 줄이 가장 흔한 실수다 — 포트는 두었는데 그 포트의 입출력이 제공자의 응답 객체여서, 포트가 있어도 전문이 업무 안으로 들어온다.</a:t>
            </a:r>
          </a:p>
          <a:p>
            <a:pPr lvl="0"/>
            <a:r>
              <a:rPr lang="ko-KR" sz="1200"/>
              <a:t>넷째 줄은 패키지 의존 검사로 잡히지 않는다. 「05. 의존 규칙」의 「허용과 금지」에서 검사가 보는 것과 못 보는 것을 구분한다.</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인용 근거: Robert C. Martin, [The Single Responsibility Principle](https://blog.cleancoder.com/uncle-bob/2014/05/08/SingleReponsibilityPrinciple.html), The Clean Code Blog, 2014 원문 확인.</a:t>
            </a:r>
          </a:p>
          <a:p>
            <a:pPr lvl="0"/>
            <a:r>
              <a:rPr lang="ko-KR" sz="1200"/>
              <a:t>"책임이 하나"를 "메서드가 하나"로 읽지 않게 한다. 기준은 크기가 아니라 변경을 요구하는 쪽이다.</a:t>
            </a:r>
          </a:p>
          <a:p>
            <a:pPr lvl="0"/>
            <a:r>
              <a:rPr lang="ko-KR" sz="1200"/>
              <a:t>두 변경을 실제로 넣어 보면 어느 패키지가 열리는지로 경계를 확인할 수 있다. 그 확인은 "세션 09. 검사 파이프라인"의 검사가 대신한다.</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인용 근거: Robert C. Martin, [Design Principles and Design Patterns](https://staff.cs.utu.fi/~jounsmed/doos_06/material/DesignPrinciplesAndPatterns.pdf), 2000의 DIP 원문 확인.</a:t>
            </a:r>
          </a:p>
          <a:p>
            <a:pPr lvl="0"/>
            <a:r>
              <a:rPr lang="ko-KR" sz="1200"/>
              <a:t>코드는 code/s06/architecture/src/payment/PaymentGateway.java의 전문이다. 인터페이스가 업무의 말(금액·결제 수단·결제 결과)로만 쓰여 있다는 점을 짚는다. 반환이 PaymentDecision(승인·거절·확정 불가)인 것은 「04. 업무 패키지와 외부 시스템」의 「외부 연동 규격」이 정한 셋을 담기 위해서다 — 그 선택의 근거는 "세션 07. 설계 — 책임과 협력"이 다룬다.</a:t>
            </a:r>
          </a:p>
          <a:p>
            <a:pPr lvl="0"/>
            <a:r>
              <a:rPr lang="ko-KR" sz="1200"/>
              <a:t>포트를 업무 패키지에 두는 것과 별도 port 패키지에 두는 것은 다른 선택이다. 이 과정은 쓰는 쪽이 소유하는 쪽을 쓴다.</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패키지 이름은 실습 4의 용어집에서 왔다. 새 업무 이름을 여기서 만들지 않는다.</a:t>
            </a:r>
          </a:p>
          <a:p>
            <a:pPr lvl="0"/>
            <a:r>
              <a:rPr lang="ko-KR" sz="1200"/>
              <a:t>프런트엔드를 범위 밖으로 둔 이유 — 실습 3이 화면 표현과 인증 방식을 미정으로 남겼다. 들어오는 쪽을 설계하려면 그 미정을 먼저 정해야 한다. 나가는 쪽(포트 넷)만으로 이 세션의 판단은 끝난다.</a:t>
            </a:r>
          </a:p>
          <a:p>
            <a:pPr lvl="0"/>
            <a:r>
              <a:rPr lang="ko-KR" sz="1200"/>
              <a:t>상품 포트는 선언만 두고 구현은 만들지 않았다. 상품 조회 연동은 이 과제의 범위 밖이다(실습 3의 제외).</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코드는 code/s06/architecture/src/order/OrderService.java의 발췌다. 승인 뒤에 상태를 바꾸고 그다음 배송을 요청하는 순서는 "세션 05. 동적 모델"의 전이와 같다.</a:t>
            </a:r>
          </a:p>
          <a:p>
            <a:pPr lvl="0"/>
            <a:r>
              <a:rPr lang="ko-KR" sz="1200"/>
              <a:t>ProductGateway는 product에 선언만 있고 쓰는 곳이 없다. 선언을 먼저 둔 이유는 외부 넷 중 셋만 이번 과제에 필요하기 때문이다.</a:t>
            </a:r>
          </a:p>
          <a:p>
            <a:pPr lvl="0"/>
            <a:r>
              <a:rPr lang="ko-KR" sz="1200"/>
              <a:t>persistence의 메모리 저장소는 교육용이다. 실제 저장 기술은 이 과제의 범위 밖이다.</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포트 선언은 「03. 설계 원칙」의 「의존성 역전」에서 PaymentGateway로 보였다. 배송 포트도 같은 모양이며 반환이 없다.</a:t>
            </a:r>
          </a:p>
          <a:p>
            <a:pPr lvl="0"/>
            <a:r>
              <a:rPr lang="ko-KR" sz="1200"/>
              <a:t>"확정 불가"는 주문 상태가 아니라 결제 응답을 확정할 수 없다는 업무 결과다. 상태를 늘리지 않고 결과로만 둔다.</a:t>
            </a:r>
          </a:p>
          <a:p>
            <a:pPr lvl="0"/>
            <a:r>
              <a:rPr lang="ko-KR" sz="1200"/>
              <a:t>제공자의 전문이 연동 밖으로 나오면 「08. 잘못된 관행」의 첫 사례가 된다.</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인용 근거: Robert C. Martin, [Design Principles and Design Patterns](https://staff.cs.utu.fi/~jounsmed/doos_06/material/DesignPrinciplesAndPatterns.pdf), 2000의 ADP 원문 확인. 원문의 betwen은 오타이며 그대로 옮겼다.</a:t>
            </a:r>
          </a:p>
          <a:p>
            <a:pPr lvl="0"/>
            <a:r>
              <a:rPr lang="ko-KR" sz="1200"/>
              <a:t>순환이 생기면 두 패키지를 따로 바꿀 수도, 따로 검증할 수도 없다. 사실상 한 덩어리다.</a:t>
            </a:r>
          </a:p>
          <a:p>
            <a:pPr lvl="0"/>
            <a:r>
              <a:rPr lang="ko-KR" sz="1200"/>
              <a:t>표의 마지막 두 줄이 「06. 검증하기 쉬운 구조」의 「규칙 위반을 검사하기」에서 말하는 검사의 한계다. 프레임워크 설정으로 연동을 주입하는 코드가 여기에 해당한다.</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종전 설명인 "허용 목록은 검사하지 않는다"는 잘못이다. 허용 밖의 업무 간 의존도 기계가 판정할 수 있다.</a:t>
            </a:r>
          </a:p>
          <a:p>
            <a:pPr lvl="0"/>
            <a:r>
              <a:rPr lang="ko-KR" sz="1200"/>
              <a:t>예시 코드에서 상품 포트가 payment.Money를 사용하던 의존도 새 검사로 드러났다. 상품 판매가는 원 단위 정수로 반환하게 하여 결제 자료형 의존을 없앴다.</a:t>
            </a:r>
          </a:p>
          <a:p>
            <a:pPr lvl="0"/>
            <a:r>
              <a:rPr lang="ko-KR" sz="1200"/>
              <a:t>이 표가 실습 6의 결과물이고 "세션 09. 검사 파이프라인"의 검사 항목이 된다.</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대역(test double)은 실제 의존 대상을 대신해 입력과 관찰을 통제하는 코드다. 포트가 없으면 결제 제공자가 응답해야 이 확인을 할 수 있다.</a:t>
            </a:r>
          </a:p>
          <a:p>
            <a:pPr lvl="0"/>
            <a:r>
              <a:rPr lang="ko-KR" sz="1200"/>
              <a:t>Cockburn의 "자동화된 테스트에서도 똑같이 구동된다"가 여기서 실현된다(「02. 아키텍처가 정하는 것」의 「이 과정이 쓰는 것」). 확인하는 것은 업무 규칙이지 제공자와의 통신이 아니다.</a:t>
            </a:r>
          </a:p>
          <a:p>
            <a:pPr lvl="0"/>
            <a:r>
              <a:rPr lang="ko-KR" sz="1200"/>
              <a:t>코드는 code/s06/architecture/src/test/ArchitectureExample.java의 발췌다. 실행: node courses/ai-native/sessions/code/s06/architecture/run.mjs.</a:t>
            </a:r>
          </a:p>
          <a:p>
            <a:pPr lvl="0"/>
            <a:r>
              <a:rPr lang="ko-KR" sz="1200"/>
              <a:t>결과를 먼저 예측하게 한다 — 거절인데 배송이 1회면 무엇이 틀린 것인가? "세션 05. 동적 모델"의 금지된 순서다.</a:t>
            </a:r>
          </a:p>
          <a:p>
            <a:pPr lvl="0"/>
            <a:r>
              <a:rPr lang="ko-KR" sz="1200"/>
              <a:t>대역이 보장하지 않는 것 — 제공자의 실제 응답 형식, 통신 실패, 중복 승인. 이 예제는 정하지 않는다.</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인용 근거: Birgitta Böckeler, [Harness engineering for coding agent users](https://martinfowler.com/articles/exploring-gen-ai/harness-engineering.html), martinfowler.com, 2026 원문 확인. 같은 문장은 이어서 맞춤 린터를 만드는 일도 든다.</a:t>
            </a:r>
          </a:p>
          <a:p>
            <a:pPr lvl="0"/>
            <a:r>
              <a:rPr lang="ko-KR" sz="1200"/>
              <a:t>출력은 code/s06/architecture/run.mjs의 실제 실행 결과 발췌다. 정상 구조·허용 밖·순환 메시지는 뜻을 유지해 축약했고, 하위 패키지 위반 출력은 생략했다. 검사 자체는 check-architecture.mjs가 jdeps로 패키지 간선을 읽는다.</a:t>
            </a:r>
          </a:p>
          <a:p>
            <a:pPr lvl="0"/>
            <a:r>
              <a:rPr lang="ko-KR" sz="1200"/>
              <a:t>검사 범위는 정적 클래스 의존이다. 리플렉션과 동적 로딩은 잡지 못한다. 이 한계를 밝히고 넘어간다.</a:t>
            </a:r>
          </a:p>
          <a:p>
            <a:pPr lvl="0"/>
            <a:r>
              <a:rPr lang="ko-KR" sz="1200"/>
              <a:t>검사를 파이프라인에 어떻게 거는지는 "세션 09. 검사 파이프라인"에서 다룬다.</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표의 왼쪽 열이 전부 "정한다"다. AI가 대안을 제안해도 채택의 책임은 사람에게 있다.</a:t>
            </a:r>
          </a:p>
          <a:p>
            <a:pPr lvl="0"/>
            <a:r>
              <a:rPr lang="ko-KR" sz="1200"/>
              <a:t>되돌린 셋은 별첨의 실제 실행에서 나온 것이다(「09. 실습 6 — 아키텍처」의 강사 노트).</a:t>
            </a:r>
          </a:p>
          <a:p>
            <a:pPr lvl="0"/>
            <a:r>
              <a:rPr lang="ko-KR" sz="1200"/>
              <a:t>검사 코드는 AI에게 맡기기 좋은 일이다 — 판정 기준이 이미 글로 적혀 있기 때문이다.</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계층형 자체가 잘못이 아니다. 문제는 계층을 최상위 경계로 삼아 업무 경계를 지운 것이다.</a:t>
            </a:r>
          </a:p>
          <a:p>
            <a:pPr lvl="0"/>
            <a:r>
              <a:rPr lang="ko-KR" sz="1200"/>
              <a:t>표의 둘째 줄을 짚는다 — 기술로 나누면 제공자를 바꾸는 일조차 업무 코드를 연다.</a:t>
            </a:r>
          </a:p>
          <a:p>
            <a:pPr lvl="0"/>
            <a:r>
              <a:rPr lang="ko-KR" sz="1200"/>
              <a:t>이 관행은 "세션 07. 설계 — 책임과 협력"의 빈약한 모델과 짝을 이룬다 — 경계가 기술이면 책임도 기술을 따라간다.</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에이전트에게 맡기면 이 문제가 더 빨리 드러난다. 에이전트가 문서를 읽었어도 검사 증거가 있어야 위반을 자동으로 되돌릴 수 있다.</a:t>
            </a:r>
          </a:p>
          <a:p>
            <a:pPr lvl="0"/>
            <a:r>
              <a:rPr lang="ko-KR" sz="1200"/>
              <a:t>규칙을 적는 자리와 검사를 거는 자리가 다르다 — 적는 것은 이 세션, 거는 것은 "세션 09. 검사 파이프라인"이다.</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산출물을 셋으로 좁힌 이유 — 15~30분 안에 수강생이 프롬프트를 쓰고 답을 읽고 고칠 분량이어야 한다. 스타일 비교는 강의가 했고, 연동 규격은 세 시스템이 같은 방법이라 결제 하나로 익힌다. 경계·포트·의존 규칙이 이 세션의 핵심이다.</a:t>
            </a:r>
          </a:p>
          <a:p>
            <a:pPr lvl="0"/>
            <a:r>
              <a:rPr lang="ko-KR" sz="1200"/>
              <a:t>별첨은 실제 LLM 최종 응답 전체다. 입력·응답·근거는 code/s06/exercise-conversation/order에 있다. ①~⑤ 다섯 단계 뒤 최종화 보완 아홉 회를 포함해 성공한 실제 실행은 총 14회다. 수강생의 필수 횟수가 아니며 실습 소요 시간은 아직 계측하지 않았다.</a:t>
            </a:r>
          </a:p>
          <a:p>
            <a:pPr lvl="0"/>
            <a:r>
              <a:rPr lang="ko-KR" sz="1200"/>
              <a:t>첫 요청과 최종 파일 요청을 제외한 중간 프롬프트는 매 응답의 수정사항과 추가 의견을 반영하는 피드백이다. 프롬프트 안에 진행 설명을 섞지 않는다.</a:t>
            </a:r>
          </a:p>
          <a:p>
            <a:pPr lvl="0"/>
            <a:r>
              <a:rPr lang="ko-KR" sz="1200"/>
              <a:t>실제 초안에서 입력 포트·포트 집중·기술 역할별 경계를 되돌렸다. 최종화에서는 도메인 개념과 패키지 경계, 상품 연관을 복원하고 업무 연관과 설계 의존을 구별했다.</a:t>
            </a:r>
          </a:p>
          <a:p>
            <a:pPr lvl="0"/>
            <a:r>
              <a:rPr lang="ko-KR" sz="1200"/>
              <a:t>허용 밖의 업무 간 의존은 순환이 없어도 위반이다. 금지는 업무→구현·허용 목록 위반·순환 셋으로 보완했다.</a:t>
            </a:r>
          </a:p>
          <a:p>
            <a:pPr lvl="0"/>
            <a:r>
              <a:rPr lang="ko-KR" sz="1200"/>
              <a:t>연동 규격에 제공자의 필드·참조 값·코드 체계가 들어 있던 것은 점검 항목 3이 잡는다. 승인·거절·확정 불가 셋만 업무의 결과로 남으면 된다.</a:t>
            </a:r>
          </a:p>
          <a:p>
            <a:pPr lvl="0"/>
            <a:r>
              <a:rPr lang="ko-KR" sz="1200"/>
              <a:t>검사 스크립트는 이 실습의 결과물이 아니다. 규칙을 글로 적는 것까지가 실습 6이고, 검사를 거는 것은 실습 9다.</a:t>
            </a:r>
          </a:p>
          <a:p>
            <a:pPr lvl="0"/>
            <a:r>
              <a:rPr lang="ko-KR" sz="1200"/>
              <a:t>※ 현행화 기준: 경계를 정하며 새로 드러난 이름은 다음 실습의 입력인 용어집에 반영한다. 실습 3의 범위를 자동 확대하지 않으며 미정은 유지한다.</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모델에서 보완된 것 — 외부 시스템과 주고받는 이름이 용어집과 맞춰진다.</a:t>
            </a:r>
          </a:p>
          <a:p>
            <a:pPr lvl="0"/>
            <a:r>
              <a:rPr lang="ko-KR" sz="1200"/>
              <a:t>이 세션이 남긴 의존 규칙은 "세션 09. 검사 파이프라인"의 검사 항목이 되고, 패키지 경계는 "세션 07. 설계 — 책임과 협력"에서 객체의 책임이 놓일 범위가 된다.</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실제 최종 응답의 전문이다. 원본은 code/s06/exercise-conversation/order/주문한다-아키텍처결정.md이며 문장·도식·강조는 편집하지 않았다. 제목 단계만 변환했다.</a:t>
            </a:r>
          </a:p>
          <a:p>
            <a:pPr lvl="0"/>
            <a:r>
              <a:rPr lang="ko-KR" sz="1200"/>
              <a:t>사용자 검토에 따라 같은 요소·관계를 SVG로 재배치하고 범례를 상위·하위 목록으로 보완한 응답을 받았다. SVG 원본은 저자가 제공했으며 AI가 배치까지 새로 고안한 것으로 소개하지 않는다. 실선은 업무 연관, 점선 화살표는 패키지 의존이다.</a:t>
            </a:r>
          </a:p>
          <a:p>
            <a:pPr lvl="0"/>
            <a:r>
              <a:rPr lang="ko-KR" sz="1200"/>
              <a:t>앞 그림과 표기를 맞추라는 사용자 검토에 따라 같은 요소·관계를 같은 방식의 SVG로 재배치한 응답을 받았다. SVG 원본은 저자가 제공했으며 AI가 배치까지 새로 고안한 것으로 소개하지 않는다.</a:t>
            </a:r>
          </a:p>
          <a:p>
            <a:pPr lvl="0"/>
            <a:r>
              <a:rPr lang="ko-KR" sz="1200"/>
              <a:t>패키지별 배치는 앞 두 그림의 배치를 글로 대조한다. 의존 규칙은 순환 없는 허용 목록 위반도 별도 검사한다. 결제 포트 규격에서 확정 불가 이후 처리는 미정이며 새 주문 상태로 만들지 않는다.</a:t>
            </a:r>
          </a:p>
          <a:p>
            <a:pPr lvl="0"/>
            <a:r>
              <a:rPr lang="ko-KR" sz="1200"/>
              <a:t>업무 패키지에서 연동·영속으로 가는 화살표가 하나도 없는 것이 의존 규칙의 금지와 같은 말이다. 외부 제공자와 저장소는 패키지가 아니므로 패키지 바깥에 둔다.</a:t>
            </a:r>
          </a:p>
          <a:p>
            <a:pPr lvl="0"/>
            <a:r>
              <a:rPr lang="ko-KR" sz="1200"/>
              <a:t>실제로 실행한 프롬프트 — 아래가 이 별첨을 만든 입력이다. 본문 실습의 ①~⑤는 수강생용 문구이고, 실제 실행은 앞 응답을 읽고 답한 내용이 붙어 길다. ①은 앞 실습의 최종 MD 셋을 통째로 붙여 22KB이고 ⑤도 SVG 원본이 붙어 길다. 노트에는 앞머리까지만 싣으므로 그대로 재현하려면 code/s06/exercise-conversation/order/prompt-01.txt~prompt-05.txt를 그 파일 그대로 입력으로 쓴다. ①에 붙인 세 파일은 같은 폴더의 input-s03.md·input-s04.md·input-s05.md(실습 3·4·5의 최종 MD)이며 앞 실습의 원본과 바이트 단위로 같다.</a:t>
            </a:r>
          </a:p>
          <a:p>
            <a:pPr lvl="1"/>
            <a:r>
              <a:rPr lang="ko-KR" sz="1200"/>
              <a:t>1. 실제 프롬프트 1</a:t>
            </a:r>
          </a:p>
          <a:p>
            <a:pPr lvl="0">
              <a:buNone/>
            </a:pPr>
            <a:r>
              <a:rPr lang="ko-KR" sz="1200"/>
              <a:t>    실습 3의 요구사항 정의서와 실습 4의 정적 관점, 실습 5의 동적 관점을 읽고, 이 사례에 맞는 아키텍처를 제안해라. 계층형·포트와 어댑터·모듈러 모놀리스·마이크로서비스를 비교하고 무엇을 근거로 골랐는지 밝혀라. 배포·조직·변경 중 어느 것을 근거로 삼았는지 분명히 해라. 업무 패키지와 포트의 배치, 허용과 금지를 적은 의존 규칙, 외부 시스템과 주고받는 연동 규격을 함께 제안해라. 패키지 다이어그램은 Mermaid로 보여 주고 같은 내용을 목록으로 읽을 수 있게 해라. 근거 없는 정책은 확정하지 말고 질문해라. 앞 실습이 미정으로 남긴 것은 해결하려 하지 마라.</a:t>
            </a:r>
          </a:p>
          <a:p>
            <a:pPr lvl="0">
              <a:buNone/>
            </a:pPr>
            <a:r>
              <a:rPr lang="ko-KR" sz="1200"/>
              <a:t>    [실습 3 실제 최종 MD] # “주문한다” 요구사항 정의서</a:t>
            </a:r>
          </a:p>
          <a:p>
            <a:pPr lvl="0">
              <a:buNone/>
            </a:pPr>
            <a:r>
              <a:rPr lang="ko-KR" sz="1200"/>
              <a:t>    고객이 장바구니의 상품과 수량을 바탕으로 배송지를 지정하고, 카드 승인을 받아 주문을 성립시킨 뒤 그 결과를 확인할 때까지의 요구사항과 수용 기준을 정의한다.</a:t>
            </a:r>
          </a:p>
          <a:p>
            <a:pPr lvl="0">
              <a:buNone/>
            </a:pPr>
            <a:r>
              <a:rPr lang="ko-KR" sz="1200"/>
              <a:t>    ## 목적과 범위</a:t>
            </a:r>
          </a:p>
          <a:p>
            <a:pPr lvl="2"/>
            <a:r>
              <a:rPr lang="ko-KR" sz="1200"/>
              <a:t>상품 조회와 장바구니 구성은 전제다.</a:t>
            </a:r>
          </a:p>
          <a:p>
            <a:pPr lvl="2"/>
            <a:r>
              <a:rPr lang="ko-KR" sz="1200"/>
              <a:t>상세 범위는 공통 흐름 3~5단계인 배송지 지정, 결제, 주문 결과 확인이다.</a:t>
            </a:r>
          </a:p>
          <a:p>
            <a:pPr lvl="2"/>
            <a:r>
              <a:rPr lang="ko-KR" sz="1200"/>
              <a:t>상품·결제·배송 시스템은 외부 시스템으로 연계하며 내부 기능은 재구현하지 않는다.</a:t>
            </a:r>
          </a:p>
          <a:p>
            <a:pPr lvl="0">
              <a:buNone/>
            </a:pPr>
            <a:r>
              <a:rPr lang="ko-KR" sz="1200"/>
              <a:t>    ## 사용자 이야기</a:t>
            </a:r>
          </a:p>
          <a:p>
            <a:pPr lvl="0">
              <a:buNone/>
            </a:pPr>
            <a:r>
              <a:rPr lang="ko-KR" sz="1200"/>
              <a:t>    고객으로서 장바구니의 상품과 수량을 기준으로 배송지를 지정하고 카드 승인을 받아 주문을 성립시킨 뒤 그 결과를 확인하고 싶다.</a:t>
            </a:r>
          </a:p>
          <a:p>
            <a:pPr lvl="0">
              <a:buNone/>
            </a:pPr>
            <a:r>
              <a:rPr lang="ko-KR" sz="1200"/>
              <a:t>    ## 핵심 기능과 업무 규칙</a:t>
            </a:r>
          </a:p>
          <a:p>
            <a:pPr lvl="2"/>
            <a:r>
              <a:rPr lang="ko-KR" sz="1200"/>
              <a:t>배송지를 지정하면 주문 생성 시점의 판매가로 주문 금액을 확정하고 결제대기 주문을 생성한다.</a:t>
            </a:r>
          </a:p>
          <a:p>
            <a:pPr lvl="2"/>
            <a:r>
              <a:rPr lang="ko-KR" sz="1200"/>
              <a:t>주문자와 수령인은 같은 사람으로 본다.</a:t>
            </a:r>
          </a:p>
          <a:p>
            <a:pPr lvl="2"/>
            <a:r>
              <a:rPr lang="ko-KR" sz="1200"/>
              <a:t>주문 금액은 각 주문 항목의 주문 생성 시점 판매가에 수량을 곱하여 합한 금액이다.</a:t>
            </a:r>
          </a:p>
          <a:p>
            <a:pPr lvl="2"/>
            <a:r>
              <a:rPr lang="ko-KR" sz="1200"/>
              <a:t>주문 생성 뒤 판매가가 변경되어도 주문 금액과 카드 승인 요청 금액은 바뀌지 않는다.</a:t>
            </a:r>
          </a:p>
          <a:p>
            <a:pPr lvl="2"/>
            <a:r>
              <a:rPr lang="ko-KR" sz="1200"/>
              <a:t>결제대기 주문의 상품·수량·배송지는 변경할 수 없다. 변경하려면 새 주문을 생성한다.</a:t>
            </a:r>
          </a:p>
          <a:p>
            <a:pPr lvl="2"/>
            <a:r>
              <a:rPr lang="ko-KR" sz="1200"/>
              <a:t>결제 수단은 카드만 허용한다.</a:t>
            </a:r>
          </a:p>
          <a:p>
            <a:pPr lvl="2"/>
            <a:r>
              <a:rPr lang="ko-KR" sz="1200"/>
              <a:t>카드 승인이 거절되면 같은 주문을 결제대기로 유지하며 다른 카드로 재결제할 수 있다.</a:t>
            </a:r>
          </a:p>
          <a:p>
            <a:pPr lvl="2"/>
            <a:r>
              <a:rPr lang="ko-KR" sz="1200"/>
              <a:t>카드 승인이 완료되면 같은 주문이 성립하고 상태가 결제완료가 된다.</a:t>
            </a:r>
          </a:p>
          <a:p>
            <a:pPr lvl="2"/>
            <a:r>
              <a:rPr lang="ko-KR" sz="1200"/>
              <a:t>배송 요청은 카드 승인 완료 뒤 해당 주문의 확정된 배송지로 보낸다.</a:t>
            </a:r>
          </a:p>
          <a:p>
            <a:pPr lvl="2"/>
            <a:r>
              <a:rPr lang="ko-KR" sz="1200"/>
              <a:t>주문 쪽에서 재고를 별도로 확보하지 않고 상품 시스템의 판단을 따른다.</a:t>
            </a:r>
          </a:p>
          <a:p>
            <a:pPr lvl="2"/>
            <a:r>
              <a:rPr lang="ko-KR" sz="1200"/>
              <a:t>결제 응답을 확정할 수 없으면 승인 또는 거절로 간주하지 않는다.</a:t>
            </a:r>
          </a:p>
          <a:p>
            <a:pPr lvl="2"/>
            <a:r>
              <a:rPr lang="ko-KR" sz="1200"/>
              <a:t>본인 주문에 대해서만 조회 또는 변경 요청의 권한을 인정한다. 권한이 있더라도 실제 변경 가능 여부에는 주문 상태와 업무 규칙을 적용한다.</a:t>
            </a:r>
          </a:p>
          <a:p>
            <a:pPr lvl="2"/>
            <a:r>
              <a:rPr lang="ko-KR" sz="1200"/>
              <a:t>다른 고객의 주문에 대한 조회·변경 요청은 거절한다.</a:t>
            </a:r>
          </a:p>
          <a:p>
            <a:pPr lvl="0">
              <a:buNone/>
            </a:pPr>
            <a:r>
              <a:rPr lang="ko-KR" sz="1200"/>
              <a:t>    ## 기본 용어집</a:t>
            </a:r>
          </a:p>
          <a:p>
            <a:pPr lvl="2"/>
            <a:r>
              <a:rPr lang="ko-KR" sz="1200"/>
              <a:t>주문(Order): 배송지가 지정되어 생성된 거래 기록</a:t>
            </a:r>
          </a:p>
          <a:p>
            <a:pPr lvl="2"/>
            <a:r>
              <a:rPr lang="ko-KR" sz="1200"/>
              <a:t>주문 항목(OrderItem): 주문에 포함된 상품, 수량 및 주문 생성 시점의 판매가</a:t>
            </a:r>
          </a:p>
          <a:p>
            <a:pPr lvl="2"/>
            <a:r>
              <a:rPr lang="ko-KR" sz="1200"/>
              <a:t>판매가(salePrice): 상품 시스템이 제공하는 상품 가격</a:t>
            </a:r>
          </a:p>
          <a:p>
            <a:pPr lvl="2"/>
            <a:r>
              <a:rPr lang="ko-KR" sz="1200"/>
              <a:t>주문 금액(totalAmount): 각 주문 항목의 주문 생성 시점 판매가에 수량을 곱하여 합한 금액</a:t>
            </a:r>
          </a:p>
          <a:p>
            <a:pPr lvl="2"/>
            <a:r>
              <a:rPr lang="ko-KR" sz="1200"/>
              <a:t>주문 생성: 배송지 지정에 따라 주문이 기록되고 결제대기가 되는 것</a:t>
            </a:r>
          </a:p>
          <a:p>
            <a:pPr lvl="2"/>
            <a:r>
              <a:rPr lang="ko-KR" sz="1200"/>
              <a:t>결제대기(PENDING_PAYMENT): 주문은 생성됐지만 카드 승인이 완료되지 않은 상태</a:t>
            </a:r>
          </a:p>
          <a:p>
            <a:pPr lvl="2"/>
            <a:r>
              <a:rPr lang="ko-KR" sz="1200"/>
              <a:t>주문 성립: 카드 승인이 완료되어 같은 주문이 결제완료가 되는 것</a:t>
            </a:r>
          </a:p>
          <a:p>
            <a:pPr lvl="2"/>
            <a:r>
              <a:rPr lang="ko-KR" sz="1200"/>
              <a:t>결제완료(PAID): 카드 승인이 완료되어 주문이 성립한 상태</a:t>
            </a:r>
          </a:p>
          <a:p>
            <a:pPr lvl="2"/>
            <a:r>
              <a:rPr lang="ko-KR" sz="1200"/>
              <a:t>주문 결과 확인: 카드 승인 응답에 따른 주문 상태와 결과를 확인하는 것</a:t>
            </a:r>
          </a:p>
          <a:p>
            <a:pPr lvl="0">
              <a:buNone/>
            </a:pPr>
            <a:r>
              <a:rPr lang="ko-KR" sz="1200"/>
              <a:t>    ## 공통 흐름</a:t>
            </a:r>
          </a:p>
          <a:p>
            <a:pPr lvl="2"/>
            <a:r>
              <a:rPr lang="ko-KR" sz="1200"/>
              <a:t>1. 상품 조회 — 전제: 고객이 상품을 조회한다.</a:t>
            </a:r>
          </a:p>
          <a:p>
            <a:pPr lvl="2"/>
            <a:r>
              <a:rPr lang="ko-KR" sz="1200"/>
              <a:t>2. 장바구니 — 전제: 고객이 상품과 수량을 장바구니에 담는다.</a:t>
            </a:r>
          </a:p>
          <a:p>
            <a:pPr lvl="0">
              <a:buNone/>
            </a:pPr>
            <a:r>
              <a:rPr lang="ko-KR" sz="1200"/>
              <a:t>    ⟨이하 생략 — input-s03.md·input-s04.md·input-s05.md의 전문이 이어진다. 이 프롬프트의 전문은 prompt-01.txt에 있다⟩</a:t>
            </a:r>
          </a:p>
          <a:p>
            <a:pPr lvl="1"/>
            <a:r>
              <a:rPr lang="ko-KR" sz="1200"/>
              <a:t>2. 실제 프롬프트 2</a:t>
            </a:r>
          </a:p>
          <a:p>
            <a:pPr lvl="0">
              <a:buNone/>
            </a:pPr>
            <a:r>
              <a:rPr lang="ko-KR" sz="1200"/>
              <a:t>    스타일 비교와 미정을 질문으로 되돌린 것은 받아들인다. 다만 경계와 포트의 배치를 고쳐야 한다.</a:t>
            </a:r>
          </a:p>
          <a:p>
            <a:pPr lvl="2"/>
            <a:r>
              <a:rPr lang="ko-KR" sz="1200"/>
              <a:t>1. 패키지 이름을 기술 역할이 아니라 업무로 지어라. adapter.in·application.service·application.port.out·bootstrap은 기술 역할이다. 실습 4의 용어집에 있는 업무 이름을 쓰고, 연동과 영속은 그 대상별로 나눠라 — 업무는 order·payment·delivery·product, 연동은 paymentadapter·deliveryadapter, 영속은 persistence다.</a:t>
            </a:r>
          </a:p>
          <a:p>
            <a:pPr lvl="2"/>
            <a:r>
              <a:rPr lang="ko-KR" sz="1200"/>
              <a:t>2. 입력 포트와 유스케이스 인터페이스는 두지 마라. 지금 필요한 것은 업무가 외부를 부르는 쪽, 즉 출력 포트뿐이다. 호출자가 들어오는 쪽은 이 과제의 범위가 아니다.</a:t>
            </a:r>
          </a:p>
          <a:p>
            <a:pPr lvl="2"/>
            <a:r>
              <a:rPr lang="ko-KR" sz="1200"/>
              <a:t>3. 포트를 한 모듈에 몰지 마라. 업무 패키지가 각자 자기 포트를 소유해야 한다 — 결제 승인 포트는 payment에, 배송 요청 포트는 delivery에, 판매가 조회 포트는 product에, 주문 저장 포트는 order에 둔다. 연동과 영속이 그 포트를 구현한다.</a:t>
            </a:r>
          </a:p>
          <a:p>
            <a:pPr lvl="2"/>
            <a:r>
              <a:rPr lang="ko-KR" sz="1200"/>
              <a:t>4. 그 배치로 패키지 다이어그램과 의존 규칙을 다시 써라. 금지는 검사가 판정할 수 있게 패키지 이름으로 적어라.</a:t>
            </a:r>
          </a:p>
          <a:p>
            <a:pPr lvl="0">
              <a:buNone/>
            </a:pPr>
            <a:r>
              <a:rPr lang="ko-KR" sz="1200"/>
              <a:t>    연동 규격의 내용과 미정 열두 개는 그대로 유지해라. 새 정책을 만들지 마라.</a:t>
            </a:r>
          </a:p>
          <a:p>
            <a:pPr lvl="1"/>
            <a:r>
              <a:rPr lang="ko-KR" sz="1200"/>
              <a:t>3. 실제 프롬프트 3</a:t>
            </a:r>
          </a:p>
          <a:p>
            <a:pPr lvl="0">
              <a:buNone/>
            </a:pPr>
            <a:r>
              <a:rPr lang="ko-KR" sz="1200"/>
              <a:t>    포트 배치와 패키지 이름은 받아들인다. 의존 규칙을 고쳐야 한다.</a:t>
            </a:r>
          </a:p>
          <a:p>
            <a:pPr lvl="2"/>
            <a:r>
              <a:rPr lang="ko-KR" sz="1200"/>
              <a:t>1. 패키지 순환 금지가 빠졌다. 더해라. 순환이 있으면 두 패키지를 따로 바꿀 수도 따로 검증할 수도 없다.</a:t>
            </a:r>
          </a:p>
          <a:p>
            <a:pPr lvl="2"/>
            <a:r>
              <a:rPr lang="ko-KR" sz="1200"/>
              <a:t>2. 금지 목록이 쌍마다 나열되어 길다. 검사가 판정할 수 있는 최소한으로 줄여라. 업무 패키지에서 연동·영속으로 가는 의존과 패키지 사이의 순환, 이 둘이 검사가 볼 금지다. 업무 패키지끼리의 참조는 허용 목록의 반대로 읽히므로 따로 적지 마라. "주문 상태를 직접 변경하지 않는다" 같은 책임에 관한 금지는 검사가 판정하지 못하므로 의존 규칙이 아니라 책임의 약속으로 따로 묶어라.</a:t>
            </a:r>
          </a:p>
          <a:p>
            <a:pPr lvl="2"/>
            <a:r>
              <a:rPr lang="ko-KR" sz="1200"/>
              <a:t>3. 상품 시스템 연동 구현은 이번 범위 밖으로 둔다. product는 포트를 선언만 하고 구현 패키지는 만들지 않는다는 것을 적어라.</a:t>
            </a:r>
          </a:p>
          <a:p>
            <a:pPr lvl="2"/>
            <a:r>
              <a:rPr lang="ko-KR" sz="1200"/>
              <a:t>4. 패키지 다이어그램에서 연동·영속이 업무의 포트를 구현한다는 화살표가 업무 쪽을 향하도록 그려라. 지금 도식은 어댑터에서 포트로 가는 간선이 보이지 않는다.</a:t>
            </a:r>
          </a:p>
          <a:p>
            <a:pPr lvl="0">
              <a:buNone/>
            </a:pPr>
            <a:r>
              <a:rPr lang="ko-KR" sz="1200"/>
              <a:t>    연동 규격과 미정은 그대로 유지해라.</a:t>
            </a:r>
          </a:p>
          <a:p>
            <a:pPr lvl="1"/>
            <a:r>
              <a:rPr lang="ko-KR" sz="1200"/>
              <a:t>4. 실제 프롬프트 4</a:t>
            </a:r>
          </a:p>
          <a:p>
            <a:pPr lvl="0">
              <a:buNone/>
            </a:pPr>
            <a:r>
              <a:rPr lang="ko-KR" sz="1200"/>
              <a:t>    의존 규칙과 도식은 받아들인다. 연동 규격을 한 번 더 보자.</a:t>
            </a:r>
          </a:p>
          <a:p>
            <a:pPr lvl="0">
              <a:buNone/>
            </a:pPr>
            <a:r>
              <a:rPr lang="ko-KR" sz="1200"/>
              <a:t>    규격에 currencyOrUnit, requestReference, externalApprovalReference, declineInformation, acceptanceResult, externalDeliveryReference 같은 필드가 들어 있다. 이것들은 제공자가 정하는 전문의 형식이지 업무가 주고받는 말이 아니다. 업무 쪽에서 보내는 것과 받는 것만 남기고, 제공자의 필드 이름·참조 값·코드 체계는 연동 안의 일로 돌려라. 금액은 원 단위 정수라는 업무 규칙이 이미 있으므로 단위 필드를 따로 두지 마라.</a:t>
            </a:r>
          </a:p>
          <a:p>
            <a:pPr lvl="0">
              <a:buNone/>
            </a:pPr>
            <a:r>
              <a:rPr lang="ko-KR" sz="1200"/>
              <a:t>    승인·거절·확정 불가 셋을 업무의 결과로 두는 것은 맞다. 그 셋이 업무의 말이고, 그것을 무엇으로 받아 오는지는 연동이 정한다.</a:t>
            </a:r>
          </a:p>
          <a:p>
            <a:pPr lvl="0">
              <a:buNone/>
            </a:pPr>
            <a:r>
              <a:rPr lang="ko-KR" sz="1200"/>
              <a:t>    나머지는 그대로 두고, 품질 기준과 결정이 필요한 질문도 유지해라.</a:t>
            </a:r>
          </a:p>
          <a:p>
            <a:pPr lvl="1"/>
            <a:r>
              <a:rPr lang="ko-KR" sz="1200"/>
              <a:t>5. 실제 프롬프트 5</a:t>
            </a:r>
          </a:p>
          <a:p>
            <a:pPr lvl="0">
              <a:buNone/>
            </a:pPr>
            <a:r>
              <a:rPr lang="ko-KR" sz="1200"/>
              <a:t>    「패키지 다이어그램 — 포트의 구현」 그림을 앞 그림과 같은 방식으로 바꿔 다시 생성해라. 업무 경계 그림은 패키지를 탭 달린 사각형으로, 클래스를 그 안의 상자로 그리는데, 포트 구현 그림만 Mermaid라 두 그림의 표기가 다르다.</a:t>
            </a:r>
          </a:p>
          <a:p>
            <a:pPr lvl="0">
              <a:buNone/>
            </a:pPr>
            <a:r>
              <a:rPr lang="ko-KR" sz="1200"/>
              <a:t>    아래 SVG를 그대로 그 자리에 넣어라. 요소와 관계는 지금 응답과 같다 — 업무 패키지 셋과 각자의 포트, 연동·영속 패키지 셋과 그 클래스, 외부 제공자 둘과 저장소 하나, 그리고 구현·통신 관계다. 노드나 관계를 더하거나 빼지 마라.</a:t>
            </a:r>
          </a:p>
          <a:p>
            <a:pPr lvl="0">
              <a:buNone/>
            </a:pPr>
            <a:r>
              <a:rPr lang="ko-KR" sz="1200"/>
              <a:t>    문서의 다른 절(스타일과 근거, 업무 경계 그림, 패키지별 배치, 의존 규칙, 결제 포트 연동 규격)은 바꾸지 마라. 범례 문장도 그대로 두되, 외부 제공자와 저장소를 구분해 표시했다는 설명은 유지해라.</a:t>
            </a:r>
          </a:p>
          <a:p>
            <a:pPr lvl="0">
              <a:buNone/>
            </a:pPr>
            <a:r>
              <a:rPr lang="ko-KR" sz="1200"/>
              <a:t>    svg:uml &lt;svg xmlns="http://www.w3.org/2000/svg" width="960" height="430" viewBox="0 0 960 430"&gt; &lt;defs&gt;&lt;marker id="dependency" markerWidth="9" markerHeight="9" refX="8" refY="4.5" orient="auto"&gt;&lt;path d="M1,1 L8,4.5 L1,8" fill="none" stroke="#222" stroke-width="1.3"/&gt;&lt;/marker&gt;&lt;/defs&gt; &lt;rect width="960" height="430" fill="white"/&gt; &lt;path d="M10,27 V5 H125 V27 H300 V130 H10 Z" fill="#fafafa" stroke="#555" stroke-width="1.5"/&gt; &lt;text x="20" y="21" font-family="Arial" font-size="14" font-weight="bold"&gt;payment&lt;/text&gt; &lt;rect x="25" y="47" width="260" height="44" fill="#eee" stroke="#777"/&gt; &lt;text x="155" y="64" text-anchor="middle" font-family="Arial" font-size="14"&gt;«port»&lt;/text&gt; &lt;text x="155" y="82" text-anchor="middle" font-family="Arial" font-size="14" font-weight="bold"&gt;PaymentGateway&lt;/text&gt; &lt;path d="M360,27 V5 H475 V27 H650 V130 H360 Z" fill="#fafafa" stroke="#555" stroke-width="1.5"/&gt; &lt;text x="370" y="21" font-family="Arial" font-size="14" font-weight="bold"&gt;paymentadapter&lt;/text&gt; &lt;rect x="375" y="47" width="260" height="44" fill="#eee" stroke="#777"/&gt; &lt;text x="505" y="74" text-anchor="middle" font-family="Arial" font-size="14" font-weight="bold"&gt;PaymentAdapter&lt;/text&gt; &lt;rect x="710" y="47" width="240" height="44" fill="#eee" stroke="#777"/&gt; &lt;text x="830" y="64" text-anchor="middle" font-family="Arial" font-size="14"&gt;«system»&lt;/text&gt; ⟨이하 생략 — 저자가 준 SVG 원본이 이어진다. 이 프롬프트의 전문은 prompt-05.txt에 있다⟩</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5_사용자 지정 레이아웃">
    <p:spTree>
      <p:nvGrpSpPr>
        <p:cNvPr id="1" name=""/>
        <p:cNvGrpSpPr/>
        <p:nvPr/>
      </p:nvGrpSpPr>
      <p:grpSpPr>
        <a:xfrm>
          <a:off x="0" y="0"/>
          <a:ext cx="0" cy="0"/>
          <a:chOff x="0" y="0"/>
          <a:chExt cx="0" cy="0"/>
        </a:xfrm>
      </p:grpSpPr>
      <p:cxnSp>
        <p:nvCxnSpPr>
          <p:cNvPr id="3" name="Straight Connector 8">
            <a:extLst>
              <a:ext uri="{FF2B5EF4-FFF2-40B4-BE49-F238E27FC236}">
                <a16:creationId xmlns:a16="http://schemas.microsoft.com/office/drawing/2014/main" id="{FF0E9F20-7865-40BF-831C-21A3A6DE669A}"/>
              </a:ext>
            </a:extLst>
          </p:cNvPr>
          <p:cNvCxnSpPr/>
          <p:nvPr userDrawn="1"/>
        </p:nvCxnSpPr>
        <p:spPr>
          <a:xfrm>
            <a:off x="370822" y="692696"/>
            <a:ext cx="8424000" cy="0"/>
          </a:xfrm>
          <a:prstGeom prst="line">
            <a:avLst/>
          </a:prstGeom>
          <a:ln>
            <a:solidFill>
              <a:schemeClr val="tx1">
                <a:lumMod val="75000"/>
                <a:lumOff val="25000"/>
              </a:schemeClr>
            </a:solidFill>
          </a:ln>
        </p:spPr>
        <p:style>
          <a:lnRef idx="2">
            <a:schemeClr val="accent1"/>
          </a:lnRef>
          <a:fillRef idx="0">
            <a:schemeClr val="accent1"/>
          </a:fillRef>
          <a:effectRef idx="1">
            <a:schemeClr val="accent1"/>
          </a:effectRef>
          <a:fontRef idx="minor">
            <a:schemeClr val="tx1"/>
          </a:fontRef>
        </p:style>
      </p:cxnSp>
      <p:sp>
        <p:nvSpPr>
          <p:cNvPr id="4" name="제목 1">
            <a:extLst>
              <a:ext uri="{FF2B5EF4-FFF2-40B4-BE49-F238E27FC236}">
                <a16:creationId xmlns:a16="http://schemas.microsoft.com/office/drawing/2014/main" id="{2094DC8E-CD32-4D9A-9DFC-F86395231236}"/>
              </a:ext>
            </a:extLst>
          </p:cNvPr>
          <p:cNvSpPr>
            <a:spLocks noGrp="1"/>
          </p:cNvSpPr>
          <p:nvPr>
            <p:ph type="title"/>
          </p:nvPr>
        </p:nvSpPr>
        <p:spPr>
          <a:xfrm>
            <a:off x="376189" y="-38114"/>
            <a:ext cx="6300034" cy="720080"/>
          </a:xfrm>
          <a:prstGeom prst="rect">
            <a:avLst/>
          </a:prstGeom>
        </p:spPr>
        <p:txBody>
          <a:bodyPr anchor="ctr" anchorCtr="0"/>
          <a:lstStyle>
            <a:lvl1pPr>
              <a:defRPr sz="2800" b="1">
                <a:solidFill>
                  <a:schemeClr val="tx1"/>
                </a:solidFill>
                <a:effectLst>
                  <a:outerShdw blurRad="38100" dist="38100" dir="2700000" algn="tl">
                    <a:srgbClr val="000000">
                      <a:alpha val="43137"/>
                    </a:srgbClr>
                  </a:outerShdw>
                </a:effectLst>
              </a:defRPr>
            </a:lvl1pPr>
          </a:lstStyle>
          <a:p>
            <a:r>
              <a:rPr lang="ko-KR" altLang="en-US"/>
              <a:t>마스터 제목 스타일 편집</a:t>
            </a:r>
          </a:p>
        </p:txBody>
      </p:sp>
      <p:sp>
        <p:nvSpPr>
          <p:cNvPr id="5" name="슬라이드 번호 개체 틀 5">
            <a:extLst>
              <a:ext uri="{FF2B5EF4-FFF2-40B4-BE49-F238E27FC236}">
                <a16:creationId xmlns:a16="http://schemas.microsoft.com/office/drawing/2014/main" id="{48BCF7E4-4941-4537-9EC8-57C44E02DBE7}"/>
              </a:ext>
            </a:extLst>
          </p:cNvPr>
          <p:cNvSpPr>
            <a:spLocks noGrp="1"/>
          </p:cNvSpPr>
          <p:nvPr>
            <p:ph type="sldNum" sz="quarter" idx="10"/>
          </p:nvPr>
        </p:nvSpPr>
        <p:spPr>
          <a:xfrm>
            <a:off x="3508472" y="6449625"/>
            <a:ext cx="2133600" cy="238277"/>
          </a:xfrm>
          <a:prstGeom prst="rect">
            <a:avLst/>
          </a:prstGeom>
        </p:spPr>
        <p:txBody>
          <a:bodyPr/>
          <a:lstStyle>
            <a:lvl1pPr algn="ctr">
              <a:defRPr sz="800">
                <a:solidFill>
                  <a:schemeClr val="tx1"/>
                </a:solidFill>
                <a:latin typeface="+mn-ea"/>
                <a:ea typeface="+mn-ea"/>
              </a:defRPr>
            </a:lvl1pPr>
          </a:lstStyle>
          <a:p>
            <a:pPr>
              <a:defRPr/>
            </a:pPr>
            <a:r>
              <a:rPr lang="en-US" altLang="ko-KR" dirty="0">
                <a:solidFill>
                  <a:prstClr val="black"/>
                </a:solidFill>
              </a:rPr>
              <a:t>- </a:t>
            </a:r>
            <a:fld id="{A18F303B-5FF2-4BD3-899C-BAED341F6249}" type="slidenum">
              <a:rPr lang="ko-KR" altLang="en-US" smtClean="0">
                <a:solidFill>
                  <a:prstClr val="black"/>
                </a:solidFill>
              </a:rPr>
              <a:pPr>
                <a:defRPr/>
              </a:pPr>
              <a:t>‹#›</a:t>
            </a:fld>
            <a:r>
              <a:rPr lang="ko-KR" altLang="en-US" dirty="0">
                <a:solidFill>
                  <a:prstClr val="black"/>
                </a:solidFill>
              </a:rPr>
              <a:t> </a:t>
            </a:r>
            <a:r>
              <a:rPr lang="en-US" altLang="ko-KR" dirty="0">
                <a:solidFill>
                  <a:prstClr val="black"/>
                </a:solidFill>
              </a:rPr>
              <a:t>-</a:t>
            </a:r>
            <a:endParaRPr lang="ko-KR" altLang="en-US" dirty="0">
              <a:solidFill>
                <a:prstClr val="black"/>
              </a:solidFill>
            </a:endParaRPr>
          </a:p>
        </p:txBody>
      </p:sp>
      <p:sp>
        <p:nvSpPr>
          <p:cNvPr id="6" name="내용 개체 틀 2">
            <a:extLst>
              <a:ext uri="{FF2B5EF4-FFF2-40B4-BE49-F238E27FC236}">
                <a16:creationId xmlns:a16="http://schemas.microsoft.com/office/drawing/2014/main" id="{F7FC7E0F-889C-4F19-8056-F2D1D6357992}"/>
              </a:ext>
            </a:extLst>
          </p:cNvPr>
          <p:cNvSpPr>
            <a:spLocks noGrp="1"/>
          </p:cNvSpPr>
          <p:nvPr>
            <p:ph idx="1"/>
          </p:nvPr>
        </p:nvSpPr>
        <p:spPr>
          <a:xfrm>
            <a:off x="376189" y="980728"/>
            <a:ext cx="8424000" cy="5530862"/>
          </a:xfrm>
          <a:prstGeom prst="rect">
            <a:avLst/>
          </a:prstGeom>
        </p:spPr>
        <p:txBody>
          <a:bodyPr>
            <a:normAutofit/>
          </a:bodyPr>
          <a:lstStyle>
            <a:lvl1pPr marL="342900" indent="-342900">
              <a:spcBef>
                <a:spcPts val="300"/>
              </a:spcBef>
              <a:spcAft>
                <a:spcPts val="300"/>
              </a:spcAft>
              <a:buSzPct val="90000"/>
              <a:buFont typeface="Wingdings" pitchFamily="2" charset="2"/>
              <a:buChar char=""/>
              <a:defRPr sz="2000" b="1"/>
            </a:lvl1pPr>
            <a:lvl2pPr marL="723900" indent="-368300">
              <a:spcBef>
                <a:spcPts val="300"/>
              </a:spcBef>
              <a:spcAft>
                <a:spcPts val="300"/>
              </a:spcAft>
              <a:buSzPct val="90000"/>
              <a:buFont typeface="Wingdings" pitchFamily="2" charset="2"/>
              <a:buChar char=""/>
              <a:defRPr sz="1800" b="0"/>
            </a:lvl2pPr>
            <a:lvl3pPr marL="1077913" indent="-354013">
              <a:spcBef>
                <a:spcPts val="300"/>
              </a:spcBef>
              <a:spcAft>
                <a:spcPts val="300"/>
              </a:spcAft>
              <a:buSzPct val="90000"/>
              <a:buFont typeface="Wingdings" pitchFamily="2" charset="2"/>
              <a:buChar char=""/>
              <a:defRPr sz="1600" b="0"/>
            </a:lvl3pPr>
            <a:lvl4pPr marL="1433513" indent="-355600">
              <a:spcBef>
                <a:spcPts val="300"/>
              </a:spcBef>
              <a:spcAft>
                <a:spcPts val="300"/>
              </a:spcAft>
              <a:buFont typeface="Wingdings" pitchFamily="2" charset="2"/>
              <a:buChar char="l"/>
              <a:defRPr sz="1400" b="0"/>
            </a:lvl4pPr>
            <a:lvl5pPr marL="1787525" indent="-354013">
              <a:spcBef>
                <a:spcPts val="300"/>
              </a:spcBef>
              <a:spcAft>
                <a:spcPts val="300"/>
              </a:spcAft>
              <a:buFont typeface="Wingdings" pitchFamily="2" charset="2"/>
              <a:buChar char="§"/>
              <a:defRPr sz="1400" b="0"/>
            </a:lvl5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8" name="텍스트 개체 틀 2">
            <a:extLst>
              <a:ext uri="{FF2B5EF4-FFF2-40B4-BE49-F238E27FC236}">
                <a16:creationId xmlns:a16="http://schemas.microsoft.com/office/drawing/2014/main" id="{535D420B-3C82-4BF6-9CCA-F8DA0A133FB0}"/>
              </a:ext>
            </a:extLst>
          </p:cNvPr>
          <p:cNvSpPr>
            <a:spLocks noGrp="1"/>
          </p:cNvSpPr>
          <p:nvPr>
            <p:ph type="body" sz="quarter" idx="11" hasCustomPrompt="1"/>
          </p:nvPr>
        </p:nvSpPr>
        <p:spPr>
          <a:xfrm>
            <a:off x="5076056" y="367445"/>
            <a:ext cx="3699901" cy="264734"/>
          </a:xfrm>
          <a:prstGeom prst="rect">
            <a:avLst/>
          </a:prstGeom>
        </p:spPr>
        <p:txBody>
          <a:bodyPr lIns="0" tIns="0" rIns="0" bIns="0" anchor="ctr"/>
          <a:lstStyle>
            <a:lvl1pPr marL="0" indent="0" algn="r">
              <a:spcBef>
                <a:spcPts val="0"/>
              </a:spcBef>
              <a:buFont typeface="Arial" panose="020B0604020202020204" pitchFamily="34" charset="0"/>
              <a:buNone/>
              <a:defRPr sz="1800" b="1">
                <a:latin typeface="맑은 고딕" panose="020B0503020000020004" pitchFamily="50" charset="-127"/>
                <a:ea typeface="맑은 고딕" panose="020B0503020000020004" pitchFamily="50" charset="-127"/>
              </a:defRPr>
            </a:lvl1pPr>
            <a:lvl2pPr marL="0" indent="0">
              <a:spcBef>
                <a:spcPts val="0"/>
              </a:spcBef>
              <a:buNone/>
              <a:defRPr sz="1300" b="1">
                <a:latin typeface="+mn-ea"/>
                <a:ea typeface="+mn-ea"/>
              </a:defRPr>
            </a:lvl2pPr>
            <a:lvl3pPr marL="0" indent="0">
              <a:spcBef>
                <a:spcPts val="0"/>
              </a:spcBef>
              <a:buNone/>
              <a:defRPr sz="1300" b="1">
                <a:latin typeface="+mn-ea"/>
                <a:ea typeface="+mn-ea"/>
              </a:defRPr>
            </a:lvl3pPr>
            <a:lvl4pPr marL="0" indent="0">
              <a:spcBef>
                <a:spcPts val="0"/>
              </a:spcBef>
              <a:buNone/>
              <a:defRPr sz="1300" b="1">
                <a:latin typeface="+mn-ea"/>
                <a:ea typeface="+mn-ea"/>
              </a:defRPr>
            </a:lvl4pPr>
            <a:lvl5pPr marL="0" indent="0">
              <a:spcBef>
                <a:spcPts val="0"/>
              </a:spcBef>
              <a:buNone/>
              <a:defRPr sz="1300" b="1">
                <a:latin typeface="+mn-ea"/>
                <a:ea typeface="+mn-ea"/>
              </a:defRPr>
            </a:lvl5pPr>
          </a:lstStyle>
          <a:p>
            <a:pPr lvl="0"/>
            <a:r>
              <a:rPr lang="en-US" altLang="ko-KR"/>
              <a:t>Level #1</a:t>
            </a:r>
          </a:p>
        </p:txBody>
      </p:sp>
      <p:sp>
        <p:nvSpPr>
          <p:cNvPr id="11" name="텍스트 개체 틀 9">
            <a:extLst>
              <a:ext uri="{FF2B5EF4-FFF2-40B4-BE49-F238E27FC236}">
                <a16:creationId xmlns:a16="http://schemas.microsoft.com/office/drawing/2014/main" id="{2A28188B-9A75-4416-A436-43EDEDA9605A}"/>
              </a:ext>
            </a:extLst>
          </p:cNvPr>
          <p:cNvSpPr>
            <a:spLocks noGrp="1"/>
          </p:cNvSpPr>
          <p:nvPr>
            <p:ph type="body" sz="quarter" idx="12" hasCustomPrompt="1"/>
          </p:nvPr>
        </p:nvSpPr>
        <p:spPr>
          <a:xfrm>
            <a:off x="5860420" y="710786"/>
            <a:ext cx="2915537" cy="238278"/>
          </a:xfrm>
          <a:prstGeom prst="rect">
            <a:avLst/>
          </a:prstGeom>
        </p:spPr>
        <p:txBody>
          <a:bodyPr lIns="0" tIns="0" rIns="0" bIns="0" anchor="ctr"/>
          <a:lstStyle>
            <a:lvl1pPr marL="0" indent="0" algn="r">
              <a:buNone/>
              <a:defRPr lang="en-US" altLang="ko-KR" sz="1400" b="1" i="0" kern="1200" baseline="0" dirty="0" smtClean="0">
                <a:solidFill>
                  <a:schemeClr val="tx1"/>
                </a:solidFill>
                <a:latin typeface="맑은 고딕" panose="020B0503020000020004" pitchFamily="50" charset="-127"/>
                <a:ea typeface="맑은 고딕" panose="020B0503020000020004" pitchFamily="50" charset="-127"/>
                <a:cs typeface="Arial" pitchFamily="34" charset="0"/>
              </a:defRPr>
            </a:lvl1pPr>
          </a:lstStyle>
          <a:p>
            <a:pPr lvl="0"/>
            <a:r>
              <a:rPr lang="en-US" altLang="ko-KR"/>
              <a:t>Level #2</a:t>
            </a:r>
          </a:p>
        </p:txBody>
      </p:sp>
      <p:sp>
        <p:nvSpPr>
          <p:cNvPr id="2" name="텍스트 개체 틀 9">
            <a:extLst>
              <a:ext uri="{FF2B5EF4-FFF2-40B4-BE49-F238E27FC236}">
                <a16:creationId xmlns:a16="http://schemas.microsoft.com/office/drawing/2014/main" id="{B690A1C8-68B5-5F79-8C0D-DCD7EE5EA955}"/>
              </a:ext>
            </a:extLst>
          </p:cNvPr>
          <p:cNvSpPr>
            <a:spLocks noGrp="1"/>
          </p:cNvSpPr>
          <p:nvPr>
            <p:ph type="body" sz="quarter" idx="13" hasCustomPrompt="1"/>
          </p:nvPr>
        </p:nvSpPr>
        <p:spPr>
          <a:xfrm>
            <a:off x="414367" y="6485290"/>
            <a:ext cx="6244438" cy="238278"/>
          </a:xfrm>
          <a:prstGeom prst="rect">
            <a:avLst/>
          </a:prstGeom>
        </p:spPr>
        <p:txBody>
          <a:bodyPr lIns="0" tIns="0" rIns="0" bIns="0" anchor="ctr"/>
          <a:lstStyle>
            <a:lvl1pPr marL="0" indent="0" algn="l">
              <a:buNone/>
              <a:defRPr lang="en-US" altLang="ko-KR" sz="600" b="0" i="0" kern="1200" baseline="0" dirty="0" smtClean="0">
                <a:solidFill>
                  <a:schemeClr val="tx1"/>
                </a:solidFill>
                <a:latin typeface="맑은 고딕" panose="020B0503020000020004" pitchFamily="50" charset="-127"/>
                <a:ea typeface="맑은 고딕" panose="020B0503020000020004" pitchFamily="50" charset="-127"/>
                <a:cs typeface="Arial" pitchFamily="34" charset="0"/>
              </a:defRPr>
            </a:lvl1pPr>
          </a:lstStyle>
          <a:p>
            <a:pPr lvl="0"/>
            <a:r>
              <a:rPr lang="en-US" altLang="ko-KR" dirty="0"/>
              <a:t>Level #3</a:t>
            </a:r>
          </a:p>
        </p:txBody>
      </p:sp>
    </p:spTree>
    <p:extLst>
      <p:ext uri="{BB962C8B-B14F-4D97-AF65-F5344CB8AC3E}">
        <p14:creationId xmlns:p14="http://schemas.microsoft.com/office/powerpoint/2010/main" val="689385294"/>
      </p:ext>
    </p:extLst>
  </p:cSld>
  <p:clrMapOvr>
    <a:masterClrMapping/>
  </p:clrMapOvr>
  <p:extLst>
    <p:ext uri="{DCECCB84-F9BA-43D5-87BE-67443E8EF086}">
      <p15:sldGuideLst xmlns:p15="http://schemas.microsoft.com/office/powerpoint/2012/main">
        <p15:guide id="1" orient="horz" pos="2160">
          <p15:clr>
            <a:srgbClr val="FBAE40"/>
          </p15:clr>
        </p15:guide>
        <p15:guide id="2" pos="2880">
          <p15:clr>
            <a:srgbClr val="FBAE40"/>
          </p15:clr>
        </p15:guide>
      </p15:sldGuideLst>
    </p:ext>
  </p:extLst>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gray">
      <p:bgRef idx="1001">
        <a:schemeClr val="bg1"/>
      </p:bgRef>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505AE4B-11F0-DD96-DBC0-88B2F9E857D9}"/>
              </a:ext>
            </a:extLst>
          </p:cNvPr>
          <p:cNvSpPr txBox="1"/>
          <p:nvPr userDrawn="1"/>
        </p:nvSpPr>
        <p:spPr>
          <a:xfrm>
            <a:off x="1519279" y="6647902"/>
            <a:ext cx="6121163" cy="184666"/>
          </a:xfrm>
          <a:prstGeom prst="rect">
            <a:avLst/>
          </a:prstGeom>
          <a:noFill/>
        </p:spPr>
        <p:txBody>
          <a:bodyPr wrap="square" rtlCol="0">
            <a:spAutoFit/>
          </a:bodyPr>
          <a:lstStyle/>
          <a:p>
            <a:pPr algn="ctr">
              <a:lnSpc>
                <a:spcPct val="100000"/>
              </a:lnSpc>
            </a:pPr>
            <a:r>
              <a:rPr lang="ko-KR" altLang="ko-KR" sz="600" dirty="0"/>
              <a:t>© 2026 </a:t>
            </a:r>
            <a:r>
              <a:rPr lang="ko-KR" altLang="ko-KR" sz="600" dirty="0" err="1"/>
              <a:t>Young</a:t>
            </a:r>
            <a:r>
              <a:rPr lang="ko-KR" altLang="ko-KR" sz="600" dirty="0"/>
              <a:t> </a:t>
            </a:r>
            <a:r>
              <a:rPr lang="ko-KR" altLang="ko-KR" sz="600" dirty="0" err="1"/>
              <a:t>On</a:t>
            </a:r>
            <a:r>
              <a:rPr lang="ko-KR" altLang="ko-KR" sz="600" dirty="0"/>
              <a:t> Kim. LLM-</a:t>
            </a:r>
            <a:r>
              <a:rPr lang="ko-KR" altLang="ko-KR" sz="600" dirty="0" err="1"/>
              <a:t>generated</a:t>
            </a:r>
            <a:r>
              <a:rPr lang="ko-KR" altLang="ko-KR" sz="600" dirty="0"/>
              <a:t> </a:t>
            </a:r>
            <a:r>
              <a:rPr lang="ko-KR" altLang="ko-KR" sz="600" dirty="0" err="1"/>
              <a:t>content</a:t>
            </a:r>
            <a:r>
              <a:rPr lang="ko-KR" altLang="ko-KR" sz="600" dirty="0"/>
              <a:t>, </a:t>
            </a:r>
            <a:r>
              <a:rPr lang="ko-KR" altLang="ko-KR" sz="600" dirty="0" err="1"/>
              <a:t>directed</a:t>
            </a:r>
            <a:r>
              <a:rPr lang="ko-KR" altLang="ko-KR" sz="600" dirty="0"/>
              <a:t>, </a:t>
            </a:r>
            <a:r>
              <a:rPr lang="ko-KR" altLang="ko-KR" sz="600" dirty="0" err="1"/>
              <a:t>reviewed</a:t>
            </a:r>
            <a:r>
              <a:rPr lang="ko-KR" altLang="ko-KR" sz="600" dirty="0"/>
              <a:t> and </a:t>
            </a:r>
            <a:r>
              <a:rPr lang="ko-KR" altLang="ko-KR" sz="600" dirty="0" err="1"/>
              <a:t>validated</a:t>
            </a:r>
            <a:r>
              <a:rPr lang="ko-KR" altLang="ko-KR" sz="600" dirty="0"/>
              <a:t> </a:t>
            </a:r>
            <a:r>
              <a:rPr lang="ko-KR" altLang="ko-KR" sz="600" dirty="0" err="1"/>
              <a:t>by</a:t>
            </a:r>
            <a:r>
              <a:rPr lang="ko-KR" altLang="ko-KR" sz="600" dirty="0"/>
              <a:t> </a:t>
            </a:r>
            <a:r>
              <a:rPr lang="ko-KR" altLang="ko-KR" sz="600" dirty="0" err="1"/>
              <a:t>the</a:t>
            </a:r>
            <a:r>
              <a:rPr lang="ko-KR" altLang="ko-KR" sz="600" dirty="0"/>
              <a:t> </a:t>
            </a:r>
            <a:r>
              <a:rPr lang="ko-KR" altLang="ko-KR" sz="600" dirty="0" err="1"/>
              <a:t>author</a:t>
            </a:r>
            <a:r>
              <a:rPr lang="ko-KR" altLang="ko-KR" sz="600" dirty="0"/>
              <a:t>; </a:t>
            </a:r>
            <a:r>
              <a:rPr lang="ko-KR" altLang="ko-KR" sz="600" dirty="0" err="1"/>
              <a:t>rendered</a:t>
            </a:r>
            <a:r>
              <a:rPr lang="ko-KR" altLang="ko-KR" sz="600" dirty="0"/>
              <a:t> </a:t>
            </a:r>
            <a:r>
              <a:rPr lang="ko-KR" altLang="ko-KR" sz="600" dirty="0" err="1"/>
              <a:t>by</a:t>
            </a:r>
            <a:r>
              <a:rPr lang="ko-KR" altLang="ko-KR" sz="600" dirty="0"/>
              <a:t> </a:t>
            </a:r>
            <a:r>
              <a:rPr lang="ko-KR" altLang="ko-KR" sz="600" dirty="0" err="1"/>
              <a:t>TrainingMaterials</a:t>
            </a:r>
            <a:r>
              <a:rPr lang="ko-KR" altLang="ko-KR" sz="600" dirty="0"/>
              <a:t>.</a:t>
            </a:r>
            <a:endParaRPr lang="ko-KR" altLang="en-US" sz="500" dirty="0">
              <a:solidFill>
                <a:prstClr val="black"/>
              </a:solidFill>
              <a:latin typeface="맑은 고딕"/>
              <a:ea typeface="맑은 고딕"/>
            </a:endParaRPr>
          </a:p>
        </p:txBody>
      </p:sp>
    </p:spTree>
    <p:extLst>
      <p:ext uri="{BB962C8B-B14F-4D97-AF65-F5344CB8AC3E}">
        <p14:creationId xmlns:p14="http://schemas.microsoft.com/office/powerpoint/2010/main" val="3377657160"/>
      </p:ext>
    </p:extLst>
  </p:cSld>
  <p:clrMap bg1="lt1" tx1="dk1" bg2="lt2" tx2="dk2" accent1="accent1" accent2="accent2" accent3="accent3" accent4="accent4" accent5="accent5" accent6="accent6" hlink="hlink" folHlink="folHlink"/>
  <p:sldLayoutIdLst>
    <p:sldLayoutId id="2147483721" r:id="rId1"/>
  </p:sldLayoutIdLst>
  <p:hf hdr="0" ftr="0" dt="0"/>
  <p:txStyles>
    <p:titleStyle>
      <a:lvl1pPr algn="l" rtl="0" eaLnBrk="0" fontAlgn="base" latinLnBrk="0" hangingPunct="0">
        <a:spcBef>
          <a:spcPct val="0"/>
        </a:spcBef>
        <a:spcAft>
          <a:spcPct val="0"/>
        </a:spcAft>
        <a:defRPr sz="3200" kern="1200">
          <a:solidFill>
            <a:schemeClr val="tx1"/>
          </a:solidFill>
          <a:latin typeface="맑은 고딕" pitchFamily="50" charset="-127"/>
          <a:ea typeface="맑은 고딕" pitchFamily="50" charset="-127"/>
          <a:cs typeface="+mj-cs"/>
        </a:defRPr>
      </a:lvl1pPr>
      <a:lvl2pPr algn="l" rtl="0" eaLnBrk="0" fontAlgn="base" latinLnBrk="0" hangingPunct="0">
        <a:spcBef>
          <a:spcPct val="0"/>
        </a:spcBef>
        <a:spcAft>
          <a:spcPct val="0"/>
        </a:spcAft>
        <a:defRPr sz="3200">
          <a:solidFill>
            <a:schemeClr val="tx1"/>
          </a:solidFill>
          <a:latin typeface="맑은 고딕" pitchFamily="50" charset="-127"/>
          <a:ea typeface="맑은 고딕" pitchFamily="50" charset="-127"/>
        </a:defRPr>
      </a:lvl2pPr>
      <a:lvl3pPr algn="l" rtl="0" eaLnBrk="0" fontAlgn="base" latinLnBrk="0" hangingPunct="0">
        <a:spcBef>
          <a:spcPct val="0"/>
        </a:spcBef>
        <a:spcAft>
          <a:spcPct val="0"/>
        </a:spcAft>
        <a:defRPr sz="3200">
          <a:solidFill>
            <a:schemeClr val="tx1"/>
          </a:solidFill>
          <a:latin typeface="맑은 고딕" pitchFamily="50" charset="-127"/>
          <a:ea typeface="맑은 고딕" pitchFamily="50" charset="-127"/>
        </a:defRPr>
      </a:lvl3pPr>
      <a:lvl4pPr algn="l" rtl="0" eaLnBrk="0" fontAlgn="base" latinLnBrk="0" hangingPunct="0">
        <a:spcBef>
          <a:spcPct val="0"/>
        </a:spcBef>
        <a:spcAft>
          <a:spcPct val="0"/>
        </a:spcAft>
        <a:defRPr sz="3200">
          <a:solidFill>
            <a:schemeClr val="tx1"/>
          </a:solidFill>
          <a:latin typeface="맑은 고딕" pitchFamily="50" charset="-127"/>
          <a:ea typeface="맑은 고딕" pitchFamily="50" charset="-127"/>
        </a:defRPr>
      </a:lvl4pPr>
      <a:lvl5pPr algn="l" rtl="0" eaLnBrk="0" fontAlgn="base" latinLnBrk="0" hangingPunct="0">
        <a:spcBef>
          <a:spcPct val="0"/>
        </a:spcBef>
        <a:spcAft>
          <a:spcPct val="0"/>
        </a:spcAft>
        <a:defRPr sz="3200">
          <a:solidFill>
            <a:schemeClr val="tx1"/>
          </a:solidFill>
          <a:latin typeface="맑은 고딕" pitchFamily="50" charset="-127"/>
          <a:ea typeface="맑은 고딕" pitchFamily="50" charset="-127"/>
        </a:defRPr>
      </a:lvl5pPr>
      <a:lvl6pPr marL="457200" algn="ctr" rtl="0" fontAlgn="base" latinLnBrk="0">
        <a:spcBef>
          <a:spcPct val="0"/>
        </a:spcBef>
        <a:spcAft>
          <a:spcPct val="0"/>
        </a:spcAft>
        <a:defRPr sz="4400">
          <a:solidFill>
            <a:schemeClr val="tx1"/>
          </a:solidFill>
          <a:latin typeface="맑은 고딕" pitchFamily="50" charset="-127"/>
          <a:ea typeface="맑은 고딕" pitchFamily="50" charset="-127"/>
        </a:defRPr>
      </a:lvl6pPr>
      <a:lvl7pPr marL="914400" algn="ctr" rtl="0" fontAlgn="base" latinLnBrk="0">
        <a:spcBef>
          <a:spcPct val="0"/>
        </a:spcBef>
        <a:spcAft>
          <a:spcPct val="0"/>
        </a:spcAft>
        <a:defRPr sz="4400">
          <a:solidFill>
            <a:schemeClr val="tx1"/>
          </a:solidFill>
          <a:latin typeface="맑은 고딕" pitchFamily="50" charset="-127"/>
          <a:ea typeface="맑은 고딕" pitchFamily="50" charset="-127"/>
        </a:defRPr>
      </a:lvl7pPr>
      <a:lvl8pPr marL="1371600" algn="ctr" rtl="0" fontAlgn="base" latinLnBrk="0">
        <a:spcBef>
          <a:spcPct val="0"/>
        </a:spcBef>
        <a:spcAft>
          <a:spcPct val="0"/>
        </a:spcAft>
        <a:defRPr sz="4400">
          <a:solidFill>
            <a:schemeClr val="tx1"/>
          </a:solidFill>
          <a:latin typeface="맑은 고딕" pitchFamily="50" charset="-127"/>
          <a:ea typeface="맑은 고딕" pitchFamily="50" charset="-127"/>
        </a:defRPr>
      </a:lvl8pPr>
      <a:lvl9pPr marL="1828800" algn="ctr" rtl="0" fontAlgn="base" latinLnBrk="0">
        <a:spcBef>
          <a:spcPct val="0"/>
        </a:spcBef>
        <a:spcAft>
          <a:spcPct val="0"/>
        </a:spcAft>
        <a:defRPr sz="4400">
          <a:solidFill>
            <a:schemeClr val="tx1"/>
          </a:solidFill>
          <a:latin typeface="맑은 고딕" pitchFamily="50" charset="-127"/>
          <a:ea typeface="맑은 고딕" pitchFamily="50" charset="-127"/>
        </a:defRPr>
      </a:lvl9pPr>
    </p:titleStyle>
    <p:bodyStyle>
      <a:lvl1pPr marL="342900" indent="-342900" algn="l" rtl="0" eaLnBrk="0" fontAlgn="base" latinLnBrk="0" hangingPunct="0">
        <a:spcBef>
          <a:spcPct val="20000"/>
        </a:spcBef>
        <a:spcAft>
          <a:spcPct val="0"/>
        </a:spcAft>
        <a:buFont typeface="Wingdings" pitchFamily="2" charset="2"/>
        <a:buChar char="u"/>
        <a:defRPr sz="2000" kern="1200">
          <a:solidFill>
            <a:schemeClr val="tx1"/>
          </a:solidFill>
          <a:latin typeface="맑은 고딕" pitchFamily="50" charset="-127"/>
          <a:ea typeface="맑은 고딕" pitchFamily="50" charset="-127"/>
          <a:cs typeface="+mn-cs"/>
        </a:defRPr>
      </a:lvl1pPr>
      <a:lvl2pPr marL="742950" indent="-285750" algn="l" rtl="0" eaLnBrk="0" fontAlgn="base" latinLnBrk="0" hangingPunct="0">
        <a:spcBef>
          <a:spcPct val="20000"/>
        </a:spcBef>
        <a:spcAft>
          <a:spcPct val="0"/>
        </a:spcAft>
        <a:buFont typeface="Wingdings" pitchFamily="2" charset="2"/>
        <a:buChar char="l"/>
        <a:defRPr kern="1200">
          <a:solidFill>
            <a:schemeClr val="tx1"/>
          </a:solidFill>
          <a:latin typeface="맑은 고딕" pitchFamily="50" charset="-127"/>
          <a:ea typeface="맑은 고딕" pitchFamily="50" charset="-127"/>
          <a:cs typeface="+mn-cs"/>
        </a:defRPr>
      </a:lvl2pPr>
      <a:lvl3pPr marL="1143000" indent="-228600" algn="l" rtl="0" eaLnBrk="0" fontAlgn="base" latinLnBrk="0" hangingPunct="0">
        <a:spcBef>
          <a:spcPct val="20000"/>
        </a:spcBef>
        <a:spcAft>
          <a:spcPct val="0"/>
        </a:spcAft>
        <a:buFont typeface="Arial" pitchFamily="34" charset="0"/>
        <a:buChar char="•"/>
        <a:defRPr sz="1600" kern="1200">
          <a:solidFill>
            <a:schemeClr val="tx1"/>
          </a:solidFill>
          <a:latin typeface="맑은 고딕" pitchFamily="50" charset="-127"/>
          <a:ea typeface="맑은 고딕" pitchFamily="50" charset="-127"/>
          <a:cs typeface="+mn-cs"/>
        </a:defRPr>
      </a:lvl3pPr>
      <a:lvl4pPr marL="1600200" indent="-228600" algn="l" rtl="0" eaLnBrk="0" fontAlgn="base" latinLnBrk="0" hangingPunct="0">
        <a:spcBef>
          <a:spcPct val="20000"/>
        </a:spcBef>
        <a:spcAft>
          <a:spcPct val="0"/>
        </a:spcAft>
        <a:buFont typeface="Arial" pitchFamily="34" charset="0"/>
        <a:buChar char="–"/>
        <a:defRPr sz="1400" kern="1200">
          <a:solidFill>
            <a:schemeClr val="tx1"/>
          </a:solidFill>
          <a:latin typeface="맑은 고딕" pitchFamily="50" charset="-127"/>
          <a:ea typeface="맑은 고딕" pitchFamily="50" charset="-127"/>
          <a:cs typeface="+mn-cs"/>
        </a:defRPr>
      </a:lvl4pPr>
      <a:lvl5pPr marL="2057400" indent="-228600" algn="l" rtl="0" eaLnBrk="0" fontAlgn="base" latinLnBrk="0" hangingPunct="0">
        <a:spcBef>
          <a:spcPct val="20000"/>
        </a:spcBef>
        <a:spcAft>
          <a:spcPct val="0"/>
        </a:spcAft>
        <a:buFont typeface="Arial" pitchFamily="34" charset="0"/>
        <a:buChar char="»"/>
        <a:defRPr sz="1400" kern="1200">
          <a:solidFill>
            <a:schemeClr val="tx1"/>
          </a:solidFill>
          <a:latin typeface="맑은 고딕" pitchFamily="50" charset="-127"/>
          <a:ea typeface="맑은 고딕" pitchFamily="50" charset="-127"/>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ko-K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speakerNotes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mermaidImage1" Type="http://schemas.openxmlformats.org/officeDocument/2006/relationships/image" Target="../media/mermaid-1.png"/><Relationship Id="speakerNotes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speakerNotes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speakerNotes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speakerNotes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speakerNotes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speakerNotes8"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speakerNotes9"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plantumlImage1" Type="http://schemas.openxmlformats.org/officeDocument/2006/relationships/image" Target="../media/plantuml-1.png"/><Relationship Id="speakerNotes10"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speakerNotes11"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plantumlImage2" Type="http://schemas.openxmlformats.org/officeDocument/2006/relationships/image" Target="../media/plantuml-2.png"/><Relationship Id="speakerNotes1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speakerNotes1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speakerNotes1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speakerNotes15"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plantumlImage3" Type="http://schemas.openxmlformats.org/officeDocument/2006/relationships/image" Target="../media/plantuml-3.png"/><Relationship Id="speakerNotes16"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speakerNotes17"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speakerNotes18"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speakerNotes19"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speakerNotes20"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speakerNotes21"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speakerNotes2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svgImage1" Type="http://schemas.openxmlformats.org/officeDocument/2006/relationships/image" Target="../media/svg-1.png"/><Relationship Id="speakerNotes2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svgImage2" Type="http://schemas.openxmlformats.org/officeDocument/2006/relationships/image" Target="../media/svg-2.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1BBD6A-BEC8-8565-421F-EBAC1ED42CE7}"/>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15A14CAC-1EBE-1F63-E3BA-E3EE686B2C73}"/>
              </a:ext>
            </a:extLst>
          </p:cNvPr>
          <p:cNvSpPr>
            <a:spLocks noGrp="1"/>
          </p:cNvSpPr>
          <p:nvPr>
            <p:ph type="title"/>
          </p:nvPr>
        </p:nvSpPr>
        <p:spPr/>
        <p:txBody>
          <a:bodyPr/>
          <a:lstStyle/>
          <a:p>
            <a:r>
              <a:rPr sz="2400" b="1">
                <a:solidFill>
                  <a:srgbClr val="000000"/>
                </a:solidFill>
                <a:latin typeface="맑은 고딕"/>
                <a:ea typeface="맑은 고딕"/>
              </a:rPr>
              <a:t>06. 아키텍처 목차</a:t>
            </a:r>
          </a:p>
        </p:txBody>
      </p:sp>
      <p:sp>
        <p:nvSpPr>
          <p:cNvPr id="3" name="슬라이드 번호 개체 틀 2">
            <a:extLst>
              <a:ext uri="{FF2B5EF4-FFF2-40B4-BE49-F238E27FC236}">
                <a16:creationId xmlns:a16="http://schemas.microsoft.com/office/drawing/2014/main" id="{B9EEDA23-0B0A-564A-4691-C5337C3EB287}"/>
              </a:ext>
            </a:extLst>
          </p:cNvPr>
          <p:cNvSpPr>
            <a:spLocks noGrp="1"/>
          </p:cNvSpPr>
          <p:nvPr>
            <p:ph type="sldNum" sz="quarter" idx="10"/>
          </p:nvPr>
        </p:nvSpPr>
        <p:spPr/>
        <p:txBody>
          <a:bodyPr/>
          <a:lstStyle/>
          <a:p>
            <a:pPr>
              <a:defRPr/>
            </a:pPr>
            <a:r>
              <a:rPr lang="en-US" altLang="ko-KR">
                <a:solidFill>
                  <a:prstClr val="black"/>
                </a:solidFill>
              </a:rPr>
              <a:t>- 1 -</a:t>
            </a:r>
          </a:p>
        </p:txBody>
      </p:sp>
      <p:sp>
        <p:nvSpPr>
          <p:cNvPr id="10" name="내용 개체 틀 9">
            <a:extLst>
              <a:ext uri="{FF2B5EF4-FFF2-40B4-BE49-F238E27FC236}">
                <a16:creationId xmlns:a16="http://schemas.microsoft.com/office/drawing/2014/main" id="{F02C014B-77F1-D298-AF5D-A7FD2F69A4BB}"/>
              </a:ext>
            </a:extLst>
          </p:cNvPr>
          <p:cNvSpPr>
            <a:spLocks noGrp="1"/>
          </p:cNvSpPr>
          <p:nvPr>
            <p:ph idx="1"/>
          </p:nvPr>
        </p:nvSpPr>
        <p:spPr>
          <a:xfrm>
            <a:off x="-8822" y="949064"/>
            <a:ext cx="4580822" cy="5530862"/>
          </a:xfrm>
        </p:spPr>
        <p:txBody>
          <a:bodyPr>
            <a:normAutofit/>
          </a:bodyPr>
          <a:lstStyle/>
          <a:p>
            <a:pPr lvl="1" marL="355600" indent="0">
              <a:spcBef>
                <a:spcPts val="300"/>
              </a:spcBef>
              <a:spcAft>
                <a:spcPts val="300"/>
              </a:spcAft>
              <a:buNone/>
            </a:pPr>
            <a:r>
              <a:rPr sz="1600" b="0">
                <a:solidFill>
                  <a:srgbClr val="000000"/>
                </a:solidFill>
                <a:latin typeface="맑은 고딕"/>
                <a:ea typeface="맑은 고딕"/>
              </a:rPr>
              <a:t>01. 세션 목표</a:t>
            </a:r>
          </a:p>
          <a:p>
            <a:pPr lvl="1" marL="355600" indent="0">
              <a:spcBef>
                <a:spcPts val="300"/>
              </a:spcBef>
              <a:spcAft>
                <a:spcPts val="300"/>
              </a:spcAft>
              <a:buNone/>
            </a:pPr>
            <a:r>
              <a:rPr sz="1600" b="0">
                <a:solidFill>
                  <a:srgbClr val="000000"/>
                </a:solidFill>
                <a:latin typeface="맑은 고딕"/>
                <a:ea typeface="맑은 고딕"/>
              </a:rPr>
              <a:t>02. 아키텍처가 정하는 것</a:t>
            </a:r>
          </a:p>
          <a:p>
            <a:pPr lvl="1" marL="355600" indent="0">
              <a:spcBef>
                <a:spcPts val="300"/>
              </a:spcBef>
              <a:spcAft>
                <a:spcPts val="300"/>
              </a:spcAft>
              <a:buNone/>
            </a:pPr>
            <a:r>
              <a:rPr sz="1600" b="0">
                <a:solidFill>
                  <a:srgbClr val="000000"/>
                </a:solidFill>
                <a:latin typeface="맑은 고딕"/>
                <a:ea typeface="맑은 고딕"/>
              </a:rPr>
              <a:t>03. 설계 원칙</a:t>
            </a:r>
          </a:p>
          <a:p>
            <a:pPr lvl="1" marL="355600" indent="0">
              <a:spcBef>
                <a:spcPts val="300"/>
              </a:spcBef>
              <a:spcAft>
                <a:spcPts val="300"/>
              </a:spcAft>
              <a:buNone/>
            </a:pPr>
            <a:r>
              <a:rPr sz="1600" b="0">
                <a:solidFill>
                  <a:srgbClr val="000000"/>
                </a:solidFill>
                <a:latin typeface="맑은 고딕"/>
                <a:ea typeface="맑은 고딕"/>
              </a:rPr>
              <a:t>04. 업무 패키지와 외부 시스템</a:t>
            </a:r>
          </a:p>
          <a:p>
            <a:pPr lvl="1" marL="355600" indent="0">
              <a:spcBef>
                <a:spcPts val="300"/>
              </a:spcBef>
              <a:spcAft>
                <a:spcPts val="300"/>
              </a:spcAft>
              <a:buNone/>
            </a:pPr>
            <a:r>
              <a:rPr sz="1600" b="0">
                <a:solidFill>
                  <a:srgbClr val="000000"/>
                </a:solidFill>
                <a:latin typeface="맑은 고딕"/>
                <a:ea typeface="맑은 고딕"/>
              </a:rPr>
              <a:t>05. 의존 규칙</a:t>
            </a:r>
          </a:p>
          <a:p>
            <a:pPr lvl="1" marL="355600" indent="0">
              <a:spcBef>
                <a:spcPts val="300"/>
              </a:spcBef>
              <a:spcAft>
                <a:spcPts val="300"/>
              </a:spcAft>
              <a:buNone/>
            </a:pPr>
            <a:r>
              <a:rPr sz="1600" b="0">
                <a:solidFill>
                  <a:srgbClr val="000000"/>
                </a:solidFill>
                <a:latin typeface="맑은 고딕"/>
                <a:ea typeface="맑은 고딕"/>
              </a:rPr>
              <a:t>06. 검증하기 쉬운 구조</a:t>
            </a:r>
          </a:p>
          <a:p>
            <a:pPr lvl="1" marL="355600" indent="0">
              <a:spcBef>
                <a:spcPts val="300"/>
              </a:spcBef>
              <a:spcAft>
                <a:spcPts val="300"/>
              </a:spcAft>
              <a:buNone/>
            </a:pPr>
            <a:r>
              <a:rPr sz="1600" b="0">
                <a:solidFill>
                  <a:srgbClr val="000000"/>
                </a:solidFill>
                <a:latin typeface="맑은 고딕"/>
                <a:ea typeface="맑은 고딕"/>
              </a:rPr>
              <a:t>07. 사람과 AI의 몫</a:t>
            </a:r>
          </a:p>
          <a:p>
            <a:pPr lvl="1" marL="355600" indent="0">
              <a:spcBef>
                <a:spcPts val="300"/>
              </a:spcBef>
              <a:spcAft>
                <a:spcPts val="300"/>
              </a:spcAft>
              <a:buNone/>
            </a:pPr>
            <a:r>
              <a:rPr sz="1600" b="0">
                <a:solidFill>
                  <a:srgbClr val="000000"/>
                </a:solidFill>
                <a:latin typeface="맑은 고딕"/>
                <a:ea typeface="맑은 고딕"/>
              </a:rPr>
              <a:t>08. 잘못된 관행</a:t>
            </a:r>
          </a:p>
          <a:p>
            <a:pPr lvl="1" marL="355600" indent="0">
              <a:spcBef>
                <a:spcPts val="300"/>
              </a:spcBef>
              <a:spcAft>
                <a:spcPts val="300"/>
              </a:spcAft>
              <a:buNone/>
            </a:pPr>
            <a:r>
              <a:rPr sz="1600" b="0">
                <a:solidFill>
                  <a:srgbClr val="000000"/>
                </a:solidFill>
                <a:latin typeface="맑은 고딕"/>
                <a:ea typeface="맑은 고딕"/>
              </a:rPr>
              <a:t>09. 실습 6 —</a:t>
            </a:r>
            <a:r>
              <a:rPr sz="1400" b="0">
                <a:solidFill>
                  <a:srgbClr val="000000"/>
                </a:solidFill>
                <a:latin typeface="맑은 고딕"/>
                <a:ea typeface="맑은 고딕"/>
              </a:rPr>
              <a:t> 아키텍처</a:t>
            </a:r>
          </a:p>
          <a:p>
            <a:pPr lvl="1" marL="355600" indent="0">
              <a:spcBef>
                <a:spcPts val="300"/>
              </a:spcBef>
              <a:spcAft>
                <a:spcPts val="300"/>
              </a:spcAft>
              <a:buNone/>
            </a:pPr>
            <a:r>
              <a:rPr sz="1600" b="0">
                <a:solidFill>
                  <a:srgbClr val="000000"/>
                </a:solidFill>
                <a:latin typeface="맑은 고딕"/>
                <a:ea typeface="맑은 고딕"/>
              </a:rPr>
              <a:t>10. 요약</a:t>
            </a:r>
          </a:p>
        </p:txBody>
      </p:sp>
      <p:sp>
        <p:nvSpPr>
          <p:cNvPr id="5" name="텍스트 개체 틀 4">
            <a:extLst>
              <a:ext uri="{FF2B5EF4-FFF2-40B4-BE49-F238E27FC236}">
                <a16:creationId xmlns:a16="http://schemas.microsoft.com/office/drawing/2014/main" id="{BD61A0BF-30A1-CFBA-B6DC-C8AB25F4C726}"/>
              </a:ext>
            </a:extLst>
          </p:cNvPr>
          <p:cNvSpPr>
            <a:spLocks noGrp="1"/>
          </p:cNvSpPr>
          <p:nvPr>
            <p:ph type="body" sz="quarter" idx="11"/>
          </p:nvPr>
        </p:nvSpPr>
        <p:spPr/>
        <p:txBody>
          <a:bodyPr/>
          <a:lstStyle/>
          <a:p>
            <a:r>
              <a:t/>
            </a:r>
          </a:p>
        </p:txBody>
      </p:sp>
      <p:sp>
        <p:nvSpPr>
          <p:cNvPr id="6" name="텍스트 개체 틀 5">
            <a:extLst>
              <a:ext uri="{FF2B5EF4-FFF2-40B4-BE49-F238E27FC236}">
                <a16:creationId xmlns:a16="http://schemas.microsoft.com/office/drawing/2014/main" id="{DE4E919F-9032-122E-A91D-6BEFC90E2569}"/>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336ED9B1-5AD1-2C46-246C-15655B385229}"/>
              </a:ext>
            </a:extLst>
          </p:cNvPr>
          <p:cNvSpPr>
            <a:spLocks noGrp="1"/>
          </p:cNvSpPr>
          <p:nvPr>
            <p:ph type="body" sz="quarter" idx="13"/>
          </p:nvPr>
        </p:nvSpPr>
        <p:spPr/>
        <p:txBody>
          <a:bodyPr/>
          <a:lstStyle/>
          <a:p>
            <a:endParaRPr kumimoji="1" lang="en-US" altLang="ko-KR" dirty="0"/>
          </a:p>
        </p:txBody>
      </p:sp>
      <p:sp>
        <p:nvSpPr>
          <p:cNvPr id="4" name="TOC 열 4">
            <a:extLst>
              <a:ext uri="{FF2B5EF4-FFF2-40B4-BE49-F238E27FC236}">
                <a16:creationId xmlns:a16="http://schemas.microsoft.com/office/drawing/2014/main" id="{F02C014B-77F1-D298-AF5D-A7FD2F69A4BB}"/>
              </a:ext>
            </a:extLst>
          </p:cNvPr>
          <p:cNvSpPr>
            <a:spLocks noGrp="1"/>
          </p:cNvSpPr>
          <p:nvPr/>
        </p:nvSpPr>
        <p:spPr>
          <a:xfrm>
            <a:off x="4426820" y="949064"/>
            <a:ext cx="4195811" cy="5530862"/>
          </a:xfrm>
        </p:spPr>
        <p:txBody>
          <a:bodyPr>
            <a:normAutofit/>
          </a:bodyPr>
          <a:lstStyle/>
          <a:p/>
        </p:txBody>
      </p:sp>
    </p:spTree>
    <p:extLst>
      <p:ext uri="{BB962C8B-B14F-4D97-AF65-F5344CB8AC3E}">
        <p14:creationId xmlns:p14="http://schemas.microsoft.com/office/powerpoint/2010/main" val="11981010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4F1F13-426B-086B-7D8C-9A58A0F879DB}"/>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AA26A92D-924E-0575-9551-F8FD7BFD3FAD}"/>
              </a:ext>
            </a:extLst>
          </p:cNvPr>
          <p:cNvSpPr>
            <a:spLocks noGrp="1"/>
          </p:cNvSpPr>
          <p:nvPr>
            <p:ph type="title"/>
          </p:nvPr>
        </p:nvSpPr>
        <p:spPr/>
        <p:txBody>
          <a:bodyPr/>
          <a:lstStyle/>
          <a:p>
            <a:r>
              <a:rPr sz="2400" b="1">
                <a:solidFill>
                  <a:srgbClr val="000000"/>
                </a:solidFill>
                <a:latin typeface="맑은 고딕"/>
                <a:ea typeface="맑은 고딕"/>
              </a:rPr>
              <a:t>01. 세션 목표</a:t>
            </a:r>
          </a:p>
        </p:txBody>
      </p:sp>
      <p:sp>
        <p:nvSpPr>
          <p:cNvPr id="3" name="슬라이드 번호 개체 틀 2">
            <a:extLst>
              <a:ext uri="{FF2B5EF4-FFF2-40B4-BE49-F238E27FC236}">
                <a16:creationId xmlns:a16="http://schemas.microsoft.com/office/drawing/2014/main" id="{12CF30EE-4DFD-8063-56B8-B8689E76DFCA}"/>
              </a:ext>
            </a:extLst>
          </p:cNvPr>
          <p:cNvSpPr>
            <a:spLocks noGrp="1"/>
          </p:cNvSpPr>
          <p:nvPr>
            <p:ph type="sldNum" sz="quarter" idx="10"/>
          </p:nvPr>
        </p:nvSpPr>
        <p:spPr/>
        <p:txBody>
          <a:bodyPr/>
          <a:lstStyle/>
          <a:p>
            <a:pPr>
              <a:defRPr/>
            </a:pPr>
            <a:r>
              <a:rPr lang="en-US" altLang="ko-KR">
                <a:solidFill>
                  <a:prstClr val="black"/>
                </a:solidFill>
              </a:rPr>
              <a:t>- 2 -</a:t>
            </a:r>
          </a:p>
        </p:txBody>
      </p:sp>
      <p:sp>
        <p:nvSpPr>
          <p:cNvPr id="5" name="텍스트 개체 틀 4">
            <a:extLst>
              <a:ext uri="{FF2B5EF4-FFF2-40B4-BE49-F238E27FC236}">
                <a16:creationId xmlns:a16="http://schemas.microsoft.com/office/drawing/2014/main" id="{D66274C8-E16F-5AEB-614B-D8D32DA3E8C6}"/>
              </a:ext>
            </a:extLst>
          </p:cNvPr>
          <p:cNvSpPr>
            <a:spLocks noGrp="1"/>
          </p:cNvSpPr>
          <p:nvPr>
            <p:ph type="body" sz="quarter" idx="11"/>
          </p:nvPr>
        </p:nvSpPr>
        <p:spPr/>
        <p:txBody>
          <a:bodyPr/>
          <a:lstStyle/>
          <a:p>
            <a:r>
              <a:rPr kumimoji="1" lang="en-US" altLang="ko-KR" sz="1400" dirty="0" err="1"/>
              <a:t>06. 아키텍처</a:t>
            </a:r>
          </a:p>
        </p:txBody>
      </p:sp>
      <p:sp>
        <p:nvSpPr>
          <p:cNvPr id="6" name="텍스트 개체 틀 5">
            <a:extLst>
              <a:ext uri="{FF2B5EF4-FFF2-40B4-BE49-F238E27FC236}">
                <a16:creationId xmlns:a16="http://schemas.microsoft.com/office/drawing/2014/main" id="{A24E58E1-194B-A320-AEEE-24D08685BB6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A219F420-613B-6234-45F6-0955A9A4505F}"/>
              </a:ext>
            </a:extLst>
          </p:cNvPr>
          <p:cNvSpPr>
            <a:spLocks noGrp="1"/>
          </p:cNvSpPr>
          <p:nvPr>
            <p:ph type="body" sz="quarter" idx="13"/>
          </p:nvPr>
        </p:nvSpPr>
        <p:spPr/>
        <p:txBody>
          <a:bodyPr/>
          <a:lstStyle/>
          <a:p>
            <a:endParaRPr kumimoji="1" lang="en-US" altLang="ko-KR" dirty="0"/>
          </a:p>
        </p:txBody>
      </p:sp>
      <p:sp>
        <p:nvSpPr>
          <p:cNvPr id="8" name="내용 개체 틀 7">
            <a:extLst>
              <a:ext uri="{FF2B5EF4-FFF2-40B4-BE49-F238E27FC236}">
                <a16:creationId xmlns:a16="http://schemas.microsoft.com/office/drawing/2014/main" id="{BEBA2C4A-B0BF-F2E4-EA6E-614C99CBA184}"/>
              </a:ext>
            </a:extLst>
          </p:cNvPr>
          <p:cNvSpPr>
            <a:spLocks noGrp="1"/>
          </p:cNvSpPr>
          <p:nvPr>
            <p:ph idx="1"/>
          </p:nvPr>
        </p:nvSpPr>
        <p:spPr/>
        <p:txBody>
          <a:bodyPr>
            <a:normAutofit/>
          </a:bodyPr>
          <a:lstStyle/>
          <a:p>
            <a:pPr marL="0" indent="0">
              <a:spcBef>
                <a:spcPts val="600"/>
              </a:spcBef>
              <a:spcAft>
                <a:spcPts val="600"/>
              </a:spcAft>
              <a:buNone/>
            </a:pPr>
            <a:r>
              <a:rPr sz="1800" b="0">
                <a:solidFill>
                  <a:srgbClr val="000000"/>
                </a:solidFill>
                <a:latin typeface="맑은 고딕"/>
                <a:ea typeface="맑은 고딕"/>
              </a:rPr>
              <a:t>경계는 </a:t>
            </a:r>
            <a:r>
              <a:rPr sz="1800" b="1">
                <a:solidFill>
                  <a:srgbClr val="000000"/>
                </a:solidFill>
                <a:latin typeface="맑은 고딕"/>
                <a:ea typeface="맑은 고딕"/>
              </a:rPr>
              <a:t>글로 적고 검사로 지킨다</a:t>
            </a:r>
            <a:r>
              <a:rPr sz="1800" b="0">
                <a:solidFill>
                  <a:srgbClr val="000000"/>
                </a:solidFill>
                <a:latin typeface="맑은 고딕"/>
                <a:ea typeface="맑은 고딕"/>
              </a:rPr>
              <a:t>.</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아키텍처가 정하는 것이 기능이 아니라 </a:t>
            </a:r>
            <a:r>
              <a:rPr sz="1800" b="1">
                <a:solidFill>
                  <a:srgbClr val="000000"/>
                </a:solidFill>
                <a:latin typeface="맑은 고딕"/>
                <a:ea typeface="맑은 고딕"/>
              </a:rPr>
              <a:t>무엇이 무엇을 알아야 하는가</a:t>
            </a:r>
            <a:r>
              <a:rPr sz="1800" b="0">
                <a:solidFill>
                  <a:srgbClr val="000000"/>
                </a:solidFill>
                <a:latin typeface="맑은 고딕"/>
                <a:ea typeface="맑은 고딕"/>
              </a:rPr>
              <a:t>임을 설명한다.</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계층형·</a:t>
            </a:r>
            <a:r>
              <a:rPr sz="1800" b="1">
                <a:solidFill>
                  <a:srgbClr val="000000"/>
                </a:solidFill>
                <a:latin typeface="맑은 고딕"/>
                <a:ea typeface="맑은 고딕"/>
              </a:rPr>
              <a:t>포트와 어댑터</a:t>
            </a:r>
            <a:r>
              <a:rPr sz="1800" b="0">
                <a:solidFill>
                  <a:srgbClr val="000000"/>
                </a:solidFill>
                <a:latin typeface="맑은 고딕"/>
                <a:ea typeface="맑은 고딕"/>
              </a:rPr>
              <a:t>·모듈러 모놀리스·마이크로서비스를 비교하고 이 사례에 맞는 것을 고른다.</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응집도와 결합도·단일 책임·의존성 역전</a:t>
            </a:r>
            <a:r>
              <a:rPr sz="1800" b="0">
                <a:solidFill>
                  <a:srgbClr val="000000"/>
                </a:solidFill>
                <a:latin typeface="맑은 고딕"/>
                <a:ea typeface="맑은 고딕"/>
              </a:rPr>
              <a:t>으로 경계를 나누는 근거를 댄다.</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업무 패키지가 외부 시스템을 </a:t>
            </a:r>
            <a:r>
              <a:rPr sz="1800" b="1">
                <a:solidFill>
                  <a:srgbClr val="000000"/>
                </a:solidFill>
                <a:latin typeface="맑은 고딕"/>
                <a:ea typeface="맑은 고딕"/>
              </a:rPr>
              <a:t>포트로만</a:t>
            </a:r>
            <a:r>
              <a:rPr sz="1800" b="0">
                <a:solidFill>
                  <a:srgbClr val="000000"/>
                </a:solidFill>
                <a:latin typeface="맑은 고딕"/>
                <a:ea typeface="맑은 고딕"/>
              </a:rPr>
              <a:t> 알게 배치하고 외부 연동 규격을 맥락으로 적는다.</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허용과 금지를 </a:t>
            </a:r>
            <a:r>
              <a:rPr sz="1800" b="1">
                <a:solidFill>
                  <a:srgbClr val="000000"/>
                </a:solidFill>
                <a:latin typeface="맑은 고딕"/>
                <a:ea typeface="맑은 고딕"/>
              </a:rPr>
              <a:t>의존 규칙</a:t>
            </a:r>
            <a:r>
              <a:rPr sz="1800" b="0">
                <a:solidFill>
                  <a:srgbClr val="000000"/>
                </a:solidFill>
                <a:latin typeface="맑은 고딕"/>
                <a:ea typeface="맑은 고딕"/>
              </a:rPr>
              <a:t>으로 적고, 규칙 위반을 </a:t>
            </a:r>
            <a:r>
              <a:rPr sz="1800" b="1">
                <a:solidFill>
                  <a:srgbClr val="000000"/>
                </a:solidFill>
                <a:latin typeface="맑은 고딕"/>
                <a:ea typeface="맑은 고딕"/>
              </a:rPr>
              <a:t>검사</a:t>
            </a:r>
            <a:r>
              <a:rPr sz="1800" b="0">
                <a:solidFill>
                  <a:srgbClr val="000000"/>
                </a:solidFill>
                <a:latin typeface="맑은 고딕"/>
                <a:ea typeface="맑은 고딕"/>
              </a:rPr>
              <a:t>가 판정하게 한다.</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포트 덕분에 </a:t>
            </a:r>
            <a:r>
              <a:rPr sz="1800" b="1">
                <a:solidFill>
                  <a:srgbClr val="000000"/>
                </a:solidFill>
                <a:latin typeface="맑은 고딕"/>
                <a:ea typeface="맑은 고딕"/>
              </a:rPr>
              <a:t>대역</a:t>
            </a:r>
            <a:r>
              <a:rPr sz="1800" b="0">
                <a:solidFill>
                  <a:srgbClr val="000000"/>
                </a:solidFill>
                <a:latin typeface="맑은 고딕"/>
                <a:ea typeface="맑은 고딕"/>
              </a:rPr>
              <a:t>으로 업무 규칙만 확인할 수 있음을 코드로 확인한다.</a:t>
            </a:r>
          </a:p>
        </p:txBody>
      </p:sp>
    </p:spTree>
    <p:extLst>
      <p:ext uri="{BB962C8B-B14F-4D97-AF65-F5344CB8AC3E}">
        <p14:creationId xmlns:p14="http://schemas.microsoft.com/office/powerpoint/2010/main" val="355543667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4F1F13-426B-086B-7D8C-9A58A0F879DB}"/>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AA26A92D-924E-0575-9551-F8FD7BFD3FAD}"/>
              </a:ext>
            </a:extLst>
          </p:cNvPr>
          <p:cNvSpPr>
            <a:spLocks noGrp="1"/>
          </p:cNvSpPr>
          <p:nvPr>
            <p:ph type="title"/>
          </p:nvPr>
        </p:nvSpPr>
        <p:spPr/>
        <p:txBody>
          <a:bodyPr/>
          <a:lstStyle/>
          <a:p>
            <a:r>
              <a:rPr sz="2400" b="1">
                <a:solidFill>
                  <a:srgbClr val="000000"/>
                </a:solidFill>
                <a:latin typeface="맑은 고딕"/>
                <a:ea typeface="맑은 고딕"/>
              </a:rPr>
              <a:t>02. 아키텍처가 정하는 것</a:t>
            </a:r>
          </a:p>
        </p:txBody>
      </p:sp>
      <p:sp>
        <p:nvSpPr>
          <p:cNvPr id="3" name="슬라이드 번호 개체 틀 2">
            <a:extLst>
              <a:ext uri="{FF2B5EF4-FFF2-40B4-BE49-F238E27FC236}">
                <a16:creationId xmlns:a16="http://schemas.microsoft.com/office/drawing/2014/main" id="{12CF30EE-4DFD-8063-56B8-B8689E76DFCA}"/>
              </a:ext>
            </a:extLst>
          </p:cNvPr>
          <p:cNvSpPr>
            <a:spLocks noGrp="1"/>
          </p:cNvSpPr>
          <p:nvPr>
            <p:ph type="sldNum" sz="quarter" idx="10"/>
          </p:nvPr>
        </p:nvSpPr>
        <p:spPr/>
        <p:txBody>
          <a:bodyPr/>
          <a:lstStyle/>
          <a:p>
            <a:pPr>
              <a:defRPr/>
            </a:pPr>
            <a:r>
              <a:rPr lang="en-US" altLang="ko-KR">
                <a:solidFill>
                  <a:prstClr val="black"/>
                </a:solidFill>
              </a:rPr>
              <a:t>- 3 -</a:t>
            </a:r>
          </a:p>
        </p:txBody>
      </p:sp>
      <p:sp>
        <p:nvSpPr>
          <p:cNvPr id="5" name="텍스트 개체 틀 4">
            <a:extLst>
              <a:ext uri="{FF2B5EF4-FFF2-40B4-BE49-F238E27FC236}">
                <a16:creationId xmlns:a16="http://schemas.microsoft.com/office/drawing/2014/main" id="{D66274C8-E16F-5AEB-614B-D8D32DA3E8C6}"/>
              </a:ext>
            </a:extLst>
          </p:cNvPr>
          <p:cNvSpPr>
            <a:spLocks noGrp="1"/>
          </p:cNvSpPr>
          <p:nvPr>
            <p:ph type="body" sz="quarter" idx="11"/>
          </p:nvPr>
        </p:nvSpPr>
        <p:spPr/>
        <p:txBody>
          <a:bodyPr/>
          <a:lstStyle/>
          <a:p>
            <a:r>
              <a:rPr kumimoji="1" lang="en-US" altLang="ko-KR" sz="1400" dirty="0" err="1"/>
              <a:t>06. 아키텍처</a:t>
            </a:r>
          </a:p>
        </p:txBody>
      </p:sp>
      <p:sp>
        <p:nvSpPr>
          <p:cNvPr id="6" name="텍스트 개체 틀 5">
            <a:extLst>
              <a:ext uri="{FF2B5EF4-FFF2-40B4-BE49-F238E27FC236}">
                <a16:creationId xmlns:a16="http://schemas.microsoft.com/office/drawing/2014/main" id="{A24E58E1-194B-A320-AEEE-24D08685BB6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A219F420-613B-6234-45F6-0955A9A4505F}"/>
              </a:ext>
            </a:extLst>
          </p:cNvPr>
          <p:cNvSpPr>
            <a:spLocks noGrp="1"/>
          </p:cNvSpPr>
          <p:nvPr>
            <p:ph type="body" sz="quarter" idx="13"/>
          </p:nvPr>
        </p:nvSpPr>
        <p:spPr/>
        <p:txBody>
          <a:bodyPr/>
          <a:lstStyle/>
          <a:p>
            <a:endParaRPr kumimoji="1" lang="en-US" altLang="ko-KR" dirty="0"/>
          </a:p>
        </p:txBody>
      </p:sp>
      <p:sp>
        <p:nvSpPr>
          <p:cNvPr id="8" name="내용 개체 틀 7">
            <a:extLst>
              <a:ext uri="{FF2B5EF4-FFF2-40B4-BE49-F238E27FC236}">
                <a16:creationId xmlns:a16="http://schemas.microsoft.com/office/drawing/2014/main" id="{BEBA2C4A-B0BF-F2E4-EA6E-614C99CBA184}"/>
              </a:ext>
            </a:extLst>
          </p:cNvPr>
          <p:cNvSpPr>
            <a:spLocks noGrp="1"/>
          </p:cNvSpPr>
          <p:nvPr>
            <p:ph idx="1"/>
          </p:nvPr>
        </p:nvSpPr>
        <p:spPr>
          <a:xfrm>
            <a:off x="365760" y="960120"/>
            <a:ext cx="8412480" cy="2788920"/>
          </a:xfrm>
        </p:spPr>
        <p:txBody>
          <a:bodyPr>
            <a:normAutofit/>
          </a:bodyPr>
          <a:lstStyle/>
          <a:p>
            <a:pPr marL="0" indent="0">
              <a:spcBef>
                <a:spcPts val="600"/>
              </a:spcBef>
              <a:spcAft>
                <a:spcPts val="600"/>
              </a:spcAft>
              <a:buNone/>
            </a:pPr>
            <a:r>
              <a:rPr sz="1800" b="0">
                <a:solidFill>
                  <a:srgbClr val="000000"/>
                </a:solidFill>
                <a:latin typeface="맑은 고딕"/>
                <a:ea typeface="맑은 고딕"/>
              </a:rPr>
              <a:t>아키텍처가 정하는 것은 기능이 아니라 </a:t>
            </a:r>
            <a:r>
              <a:rPr sz="1800" b="1">
                <a:solidFill>
                  <a:srgbClr val="000000"/>
                </a:solidFill>
                <a:latin typeface="맑은 고딕"/>
                <a:ea typeface="맑은 고딕"/>
              </a:rPr>
              <a:t>무엇이 무엇을 알아야 하는가</a:t>
            </a:r>
            <a:r>
              <a:rPr sz="1800" b="0">
                <a:solidFill>
                  <a:srgbClr val="000000"/>
                </a:solidFill>
                <a:latin typeface="맑은 고딕"/>
                <a:ea typeface="맑은 고딕"/>
              </a:rPr>
              <a:t>다. 같은 기능도 누가 무엇을 아느냐에 따라 바뀔 때 드는 비용이 달라진다.</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업무가 포트를 소유한다</a:t>
            </a:r>
            <a:r>
              <a:rPr sz="1800" b="0">
                <a:solidFill>
                  <a:srgbClr val="000000"/>
                </a:solidFill>
                <a:latin typeface="맑은 고딕"/>
                <a:ea typeface="맑은 고딕"/>
              </a:rPr>
              <a:t> —</a:t>
            </a:r>
            <a:r>
              <a:rPr sz="1600" b="0">
                <a:solidFill>
                  <a:srgbClr val="000000"/>
                </a:solidFill>
                <a:latin typeface="맑은 고딕"/>
                <a:ea typeface="맑은 고딕"/>
              </a:rPr>
              <a:t> 결제 포트는 </a:t>
            </a:r>
            <a:r>
              <a:rPr sz="1600" b="0">
                <a:solidFill>
                  <a:srgbClr val="000000"/>
                </a:solidFill>
                <a:latin typeface="맑은 고딕"/>
                <a:ea typeface="맑은 고딕"/>
              </a:rPr>
              <a:t>payment</a:t>
            </a:r>
            <a:r>
              <a:rPr sz="1600" b="0">
                <a:solidFill>
                  <a:srgbClr val="000000"/>
                </a:solidFill>
                <a:latin typeface="맑은 고딕"/>
                <a:ea typeface="맑은 고딕"/>
              </a:rPr>
              <a:t>에, 배송 포트는 </a:t>
            </a:r>
            <a:r>
              <a:rPr sz="1600" b="0">
                <a:solidFill>
                  <a:srgbClr val="000000"/>
                </a:solidFill>
                <a:latin typeface="맑은 고딕"/>
                <a:ea typeface="맑은 고딕"/>
              </a:rPr>
              <a:t>delivery</a:t>
            </a:r>
            <a:r>
              <a:rPr sz="1600" b="0">
                <a:solidFill>
                  <a:srgbClr val="000000"/>
                </a:solidFill>
                <a:latin typeface="맑은 고딕"/>
                <a:ea typeface="맑은 고딕"/>
              </a:rPr>
              <a:t>에, 저장 포트는 </a:t>
            </a:r>
            <a:r>
              <a:rPr sz="1600" b="0">
                <a:solidFill>
                  <a:srgbClr val="000000"/>
                </a:solidFill>
                <a:latin typeface="맑은 고딕"/>
                <a:ea typeface="맑은 고딕"/>
              </a:rPr>
              <a:t>order</a:t>
            </a:r>
            <a:r>
              <a:rPr sz="1600" b="0">
                <a:solidFill>
                  <a:srgbClr val="000000"/>
                </a:solidFill>
                <a:latin typeface="맑은 고딕"/>
                <a:ea typeface="맑은 고딕"/>
              </a:rPr>
              <a:t>에 있다. 연동과 영속은 그 포트를 구현한다.</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연동과 영속이 업무에 의존한다</a:t>
            </a:r>
            <a:r>
              <a:rPr sz="1800" b="0">
                <a:solidFill>
                  <a:srgbClr val="000000"/>
                </a:solidFill>
                <a:latin typeface="맑은 고딕"/>
                <a:ea typeface="맑은 고딕"/>
              </a:rPr>
              <a:t> —</a:t>
            </a:r>
            <a:r>
              <a:rPr sz="1600" b="0">
                <a:solidFill>
                  <a:srgbClr val="000000"/>
                </a:solidFill>
                <a:latin typeface="맑은 고딕"/>
                <a:ea typeface="맑은 고딕"/>
              </a:rPr>
              <a:t> 화살표가 전부 업무 쪽을 향한다. 외부 제공자가 바뀌어도 업무는 그대로다.</a:t>
            </a:r>
          </a:p>
        </p:txBody>
      </p:sp>
      <p:sp>
        <p:nvSpPr>
          <p:cNvPr id="9" name="TextBox 12">
            <a:extLst>
              <a:ext uri="{FF2B5EF4-FFF2-40B4-BE49-F238E27FC236}">
                <a16:creationId xmlns:a16="http://schemas.microsoft.com/office/drawing/2014/main" id="{654EDDB4-901F-3D48-A715-17D163E8A7AC}"/>
              </a:ext>
            </a:extLst>
          </p:cNvPr>
          <p:cNvSpPr txBox="1"/>
          <p:nvPr/>
        </p:nvSpPr>
        <p:spPr>
          <a:xfrm>
            <a:off x="365760" y="3685032"/>
            <a:ext cx="8412480" cy="201168"/>
          </a:xfrm>
          <a:prstGeom prst="rect">
            <a:avLst/>
          </a:prstGeom>
          <a:noFill/>
        </p:spPr>
        <p:txBody>
          <a:bodyPr wrap="square">
            <a:spAutoFit/>
          </a:bodyPr>
          <a:lstStyle/>
          <a:p>
            <a:pPr algn="ctr"/>
            <a:r>
              <a:rPr sz="1400" b="1">
                <a:solidFill>
                  <a:srgbClr val="000000"/>
                </a:solidFill>
                <a:latin typeface="맑은 고딕"/>
                <a:ea typeface="맑은 고딕"/>
              </a:rPr>
              <a:t>주문 시스템의 의존 방향</a:t>
            </a:r>
          </a:p>
        </p:txBody>
      </p:sp>
      <p:pic>
        <p:nvPicPr>
          <p:cNvPr id="10" name="mermaid Diagram 1"/>
          <p:cNvPicPr>
            <a:picLocks noChangeAspect="1"/>
          </p:cNvPicPr>
          <p:nvPr/>
        </p:nvPicPr>
        <p:blipFill>
          <a:blip r:embed="mermaidImage1"/>
          <a:stretch>
            <a:fillRect/>
          </a:stretch>
        </p:blipFill>
        <p:spPr>
          <a:xfrm>
            <a:off x="2611438" y="3922776"/>
            <a:ext cx="3921125" cy="1635125"/>
          </a:xfrm>
          <a:prstGeom prst="rect">
            <a:avLst/>
          </a:prstGeom>
        </p:spPr>
      </p:pic>
    </p:spTree>
    <p:extLst>
      <p:ext uri="{BB962C8B-B14F-4D97-AF65-F5344CB8AC3E}">
        <p14:creationId xmlns:p14="http://schemas.microsoft.com/office/powerpoint/2010/main" val="35554366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B87152-D004-1569-E429-90A42420A65C}"/>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F2E2AB02-3ADE-69B8-887E-7981AD15EF24}"/>
              </a:ext>
            </a:extLst>
          </p:cNvPr>
          <p:cNvSpPr>
            <a:spLocks noGrp="1"/>
          </p:cNvSpPr>
          <p:nvPr>
            <p:ph type="title"/>
          </p:nvPr>
        </p:nvSpPr>
        <p:spPr/>
        <p:txBody>
          <a:bodyPr/>
          <a:lstStyle/>
          <a:p>
            <a:r>
              <a:rPr sz="2400" b="1">
                <a:solidFill>
                  <a:srgbClr val="000000"/>
                </a:solidFill>
                <a:latin typeface="맑은 고딕"/>
                <a:ea typeface="맑은 고딕"/>
              </a:rPr>
              <a:t>스타일 넷의 비교</a:t>
            </a:r>
          </a:p>
          <a:p>
            <a:r>
              <a:rPr sz="1100" b="1">
                <a:solidFill>
                  <a:srgbClr val="000000"/>
                </a:solidFill>
                <a:latin typeface="맑은 고딕"/>
                <a:ea typeface="맑은 고딕"/>
              </a:rPr>
              <a:t>02. 아키텍처가 정하는 것</a:t>
            </a:r>
          </a:p>
        </p:txBody>
      </p:sp>
      <p:sp>
        <p:nvSpPr>
          <p:cNvPr id="5" name="텍스트 개체 틀 4">
            <a:extLst>
              <a:ext uri="{FF2B5EF4-FFF2-40B4-BE49-F238E27FC236}">
                <a16:creationId xmlns:a16="http://schemas.microsoft.com/office/drawing/2014/main" id="{F0895985-68EF-30BA-2165-4B3D90ECD41C}"/>
              </a:ext>
            </a:extLst>
          </p:cNvPr>
          <p:cNvSpPr>
            <a:spLocks noGrp="1"/>
          </p:cNvSpPr>
          <p:nvPr>
            <p:ph type="body" sz="quarter" idx="11"/>
          </p:nvPr>
        </p:nvSpPr>
        <p:spPr/>
        <p:txBody>
          <a:bodyPr/>
          <a:lstStyle/>
          <a:p>
            <a:r>
              <a:rPr kumimoji="1" lang="en-US" altLang="ko-KR" sz="1400" dirty="0" err="1"/>
              <a:t>06. 아키텍처</a:t>
            </a:r>
          </a:p>
        </p:txBody>
      </p:sp>
      <p:sp>
        <p:nvSpPr>
          <p:cNvPr id="6" name="텍스트 개체 틀 5">
            <a:extLst>
              <a:ext uri="{FF2B5EF4-FFF2-40B4-BE49-F238E27FC236}">
                <a16:creationId xmlns:a16="http://schemas.microsoft.com/office/drawing/2014/main" id="{D985C1FD-84C4-10F9-372D-6A84E1680E0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E26A8878-48FF-5E3A-5D05-0F900C22011B}"/>
              </a:ext>
            </a:extLst>
          </p:cNvPr>
          <p:cNvSpPr>
            <a:spLocks noGrp="1"/>
          </p:cNvSpPr>
          <p:nvPr>
            <p:ph type="body" sz="quarter" idx="13"/>
          </p:nvPr>
        </p:nvSpPr>
        <p:spPr/>
        <p:txBody>
          <a:bodyPr/>
          <a:lstStyle/>
          <a:p>
            <a:endParaRPr lang="en-US" altLang="ko-KR" dirty="0"/>
          </a:p>
        </p:txBody>
      </p:sp>
      <p:graphicFrame>
        <p:nvGraphicFramePr>
          <p:cNvPr id="11" name="표 10">
            <a:extLst>
              <a:ext uri="{FF2B5EF4-FFF2-40B4-BE49-F238E27FC236}">
                <a16:creationId xmlns:a16="http://schemas.microsoft.com/office/drawing/2014/main" id="{93753AB9-526C-CE2D-446D-7615D9B6D6D2}"/>
              </a:ext>
            </a:extLst>
          </p:cNvPr>
          <p:cNvGraphicFramePr>
            <a:graphicFrameLocks noGrp="1"/>
          </p:cNvGraphicFramePr>
          <p:nvPr>
            <p:extLst>
              <p:ext uri="{D42A27DB-BD31-4B8C-83A1-F6EECF244321}">
                <p14:modId xmlns:p14="http://schemas.microsoft.com/office/powerpoint/2010/main" val="1761827855"/>
              </p:ext>
            </p:extLst>
          </p:nvPr>
        </p:nvGraphicFramePr>
        <p:xfrm>
          <a:off x="412306" y="2112010"/>
          <a:ext cx="8305800" cy="3873500"/>
        </p:xfrm>
        <a:graphic>
          <a:graphicData uri="http://schemas.openxmlformats.org/drawingml/2006/table">
            <a:tbl>
              <a:tblPr/>
              <a:tblGrid>
                <a:gridCol w="1225259"/>
                <a:gridCol w="2026916"/>
                <a:gridCol w="889000"/>
                <a:gridCol w="2001864"/>
                <a:gridCol w="2162761"/>
              </a:tblGrid>
              <a:tr h="288000">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스타일</a:t>
                      </a:r>
                    </a:p>
                  </a:txBody>
                  <a:tcPr marL="6750" marR="6750" marT="6750" marB="0" anchor="ctr">
                    <a:lnL>
                      <a:noFill/>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무엇을 나누는가?</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err="1">
                          <a:solidFill>
                            <a:schemeClr val="bg1"/>
                          </a:solidFill>
                          <a:effectLst/>
                          <a:latin typeface="맑은 고딕" panose="020B0503020000020004" pitchFamily="34" charset="-127"/>
                          <a:ea typeface="맑은 고딕" panose="020B0503020000020004" pitchFamily="34" charset="-127"/>
                          <a:cs typeface="맑은 고딕"/>
                        </a:rPr>
                        <a:t>배포 단위</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err="1">
                          <a:solidFill>
                            <a:schemeClr val="bg1"/>
                          </a:solidFill>
                          <a:effectLst/>
                          <a:latin typeface="맑은 고딕" panose="020B0503020000020004" pitchFamily="34" charset="-127"/>
                          <a:ea typeface="맑은 고딕" panose="020B0503020000020004" pitchFamily="34" charset="-127"/>
                          <a:cs typeface="맑은 고딕"/>
                        </a:rPr>
                        <a:t>의존 규칙</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err="1">
                          <a:solidFill>
                            <a:schemeClr val="bg1"/>
                          </a:solidFill>
                          <a:effectLst/>
                          <a:latin typeface="맑은 고딕" panose="020B0503020000020004" pitchFamily="34" charset="-127"/>
                          <a:ea typeface="맑은 고딕" panose="020B0503020000020004" pitchFamily="34" charset="-127"/>
                          <a:cs typeface="맑은 고딕"/>
                        </a:rPr>
                        <a:t>고르는 조건</a:t>
                      </a:r>
                    </a:p>
                  </a:txBody>
                  <a:tcPr marL="6750" marR="6750" marT="6750" marB="0" anchor="ctr">
                    <a:lnL w="9525" cap="flat" cmpd="sng" algn="ctr">
                      <a:solidFill>
                        <a:schemeClr val="bg1">
                          <a:lumMod val="50000"/>
                        </a:schemeClr>
                      </a:solidFill>
                      <a:prstDash val="solid"/>
                      <a:round/>
                      <a:headEnd type="none" w="med" len="med"/>
                      <a:tailEnd type="none" w="med" len="med"/>
                    </a:lnL>
                    <a:lnR>
                      <a:noFill/>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계층형</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기술 역할(표현·응용·도메인)</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하나</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위에서 아래로만</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역할이 팀 경계와 같을 때</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포트와 어댑터</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업무와 외부 기술</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하나</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업무는 외부를 포트로만</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외부가 여럿, 떼어 검증할 때</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모듈러 모놀리스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업무 모듈</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하나</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모듈 간 공개 인터페이스로만</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err="1">
                          <a:solidFill>
                            <a:srgbClr val="000000"/>
                          </a:solidFill>
                          <a:effectLst/>
                          <a:latin typeface="맑은 고딕" panose="020B0503020000020004" pitchFamily="34" charset="-127"/>
                          <a:ea typeface="맑은 고딕" panose="020B0503020000020004" pitchFamily="34" charset="-127"/>
                          <a:cs typeface="맑은 고딕"/>
                        </a:rPr>
                        <a:t>경계만 나누고 배포는 하나일 때</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마이크로서비스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업무 모듈</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여럿</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원격 호출, 각자 저장소</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독립 배포·확장이 필요할 때</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bl>
          </a:graphicData>
        </a:graphic>
      </p:graphicFrame>
      <p:sp>
        <p:nvSpPr>
          <p:cNvPr id="13" name="TextBox 12">
            <a:extLst>
              <a:ext uri="{FF2B5EF4-FFF2-40B4-BE49-F238E27FC236}">
                <a16:creationId xmlns:a16="http://schemas.microsoft.com/office/drawing/2014/main" id="{654EDDB4-901F-3D48-A715-17D163E8A7AC}"/>
              </a:ext>
            </a:extLst>
          </p:cNvPr>
          <p:cNvSpPr txBox="1"/>
          <p:nvPr/>
        </p:nvSpPr>
        <p:spPr>
          <a:xfrm>
            <a:off x="365760" y="960120"/>
            <a:ext cx="8412480" cy="781278"/>
          </a:xfrm>
          <a:prstGeom prst="rect">
            <a:avLst/>
          </a:prstGeom>
          <a:noFill/>
        </p:spPr>
        <p:txBody>
          <a:bodyPr wrap="square">
            <a:spAutoFit/>
          </a:bodyPr>
          <a:lstStyle/>
          <a:p>
            <a:pPr marL="0" indent="0">
              <a:spcBef>
                <a:spcPts val="600"/>
              </a:spcBef>
              <a:spcAft>
                <a:spcPts val="600"/>
              </a:spcAft>
              <a:buNone/>
            </a:pPr>
            <a:r>
              <a:rPr sz="1800" b="0">
                <a:solidFill>
                  <a:srgbClr val="000000"/>
                </a:solidFill>
                <a:latin typeface="맑은 고딕"/>
                <a:ea typeface="맑은 고딕"/>
              </a:rPr>
              <a:t>스타일마다 </a:t>
            </a:r>
            <a:r>
              <a:rPr sz="1800" b="1">
                <a:solidFill>
                  <a:srgbClr val="000000"/>
                </a:solidFill>
                <a:latin typeface="맑은 고딕"/>
                <a:ea typeface="맑은 고딕"/>
              </a:rPr>
              <a:t>무엇을 나누고 무엇을 금지하는지</a:t>
            </a:r>
            <a:r>
              <a:rPr sz="1800" b="0">
                <a:solidFill>
                  <a:srgbClr val="000000"/>
                </a:solidFill>
                <a:latin typeface="맑은 고딕"/>
                <a:ea typeface="맑은 고딕"/>
              </a:rPr>
              <a:t>가 다르다. 고르는 기준은 유행이 아니라 지금의 배포·조직·변경이다.</a:t>
            </a:r>
          </a:p>
        </p:txBody>
      </p:sp>
      <p:sp>
        <p:nvSpPr>
          <p:cNvPr id="8" name="슬라이드 번호 개체 틀 2">
            <a:extLst>
              <a:ext uri="{FF2B5EF4-FFF2-40B4-BE49-F238E27FC236}">
                <a16:creationId xmlns:a16="http://schemas.microsoft.com/office/drawing/2014/main" id="{741B75C6-7ED3-AA4C-41B6-F69C599EA447}"/>
              </a:ext>
            </a:extLst>
          </p:cNvPr>
          <p:cNvSpPr>
            <a:spLocks noGrp="1"/>
          </p:cNvSpPr>
          <p:nvPr>
            <p:ph type="sldNum" sz="quarter" idx="10"/>
          </p:nvPr>
        </p:nvSpPr>
        <p:spPr>
          <a:xfrm>
            <a:off x="3508472" y="6449625"/>
            <a:ext cx="2133600" cy="238277"/>
          </a:xfrm>
        </p:spPr>
        <p:txBody>
          <a:bodyPr>
            <a:normAutofit/>
          </a:bodyPr>
          <a:lstStyle/>
          <a:p>
            <a:pPr marL="0" marR="0" lvl="0" indent="0" algn="ctr" defTabSz="457200" rtl="0" eaLnBrk="1" fontAlgn="auto" latinLnBrk="0" hangingPunct="1">
              <a:lnSpc>
                <a:spcPct val="100000"/>
              </a:lnSpc>
              <a:spcBef>
                <a:spcPts val="0"/>
              </a:spcBef>
              <a:spcAft>
                <a:spcPts val="600"/>
              </a:spcAft>
              <a:buClrTx/>
              <a:buSzTx/>
              <a:buFontTx/>
              <a:buNone/>
              <a:tabLst/>
              <a:defRPr/>
            </a:pPr>
            <a:r>
              <a:rPr kumimoji="0" lang="en-US" altLang="ko-KR" sz="800" b="0" i="0" u="none" strike="noStrike" kern="1200" cap="none" spc="0" normalizeH="0" baseline="0" noProof="0">
                <a:ln>
                  <a:noFill/>
                </a:ln>
                <a:solidFill>
                  <a:prstClr val="black"/>
                </a:solidFill>
                <a:effectLst/>
                <a:uLnTx/>
                <a:uFillTx/>
                <a:latin typeface="맑은 고딕" panose="020B0503020000020004" pitchFamily="34" charset="-127"/>
                <a:ea typeface="맑은 고딕" panose="020B0503020000020004" pitchFamily="34" charset="-127"/>
                <a:cs typeface="+mn-cs"/>
              </a:rPr>
              <a:t>- 4 -</a:t>
            </a:r>
          </a:p>
        </p:txBody>
      </p:sp>
      <p:sp>
        <p:nvSpPr>
          <p:cNvPr id="14" name="TextBox 12">
            <a:extLst>
              <a:ext uri="{FF2B5EF4-FFF2-40B4-BE49-F238E27FC236}">
                <a16:creationId xmlns:a16="http://schemas.microsoft.com/office/drawing/2014/main" id="{654EDDB4-901F-3D48-A715-17D163E8A7AC}"/>
              </a:ext>
            </a:extLst>
          </p:cNvPr>
          <p:cNvSpPr txBox="1"/>
          <p:nvPr/>
        </p:nvSpPr>
        <p:spPr>
          <a:xfrm>
            <a:off x="365760" y="1813560"/>
            <a:ext cx="8412480" cy="222250"/>
          </a:xfrm>
          <a:prstGeom prst="rect">
            <a:avLst/>
          </a:prstGeom>
          <a:noFill/>
        </p:spPr>
        <p:txBody>
          <a:bodyPr wrap="square" tIns="0" bIns="0">
            <a:spAutoFit/>
          </a:bodyPr>
          <a:lstStyle/>
          <a:p>
            <a:pPr algn="ctr">
              <a:spcBef>
                <a:spcPts val="0"/>
              </a:spcBef>
              <a:spcAft>
                <a:spcPts val="0"/>
              </a:spcAft>
            </a:pPr>
            <a:r>
              <a:rPr sz="1400" b="1">
                <a:solidFill>
                  <a:srgbClr val="000000"/>
                </a:solidFill>
                <a:latin typeface="맑은 고딕"/>
                <a:ea typeface="맑은 고딕"/>
              </a:rPr>
              <a:t>아키텍처 스타일의 비교</a:t>
            </a:r>
          </a:p>
        </p:txBody>
      </p:sp>
      <p:sp>
        <p:nvSpPr>
          <p:cNvPr id="15" name="TextBox 12">
            <a:extLst>
              <a:ext uri="{FF2B5EF4-FFF2-40B4-BE49-F238E27FC236}">
                <a16:creationId xmlns:a16="http://schemas.microsoft.com/office/drawing/2014/main" id="{654EDDB4-901F-3D48-A715-17D163E8A7AC}"/>
              </a:ext>
            </a:extLst>
          </p:cNvPr>
          <p:cNvSpPr txBox="1"/>
          <p:nvPr/>
        </p:nvSpPr>
        <p:spPr>
          <a:xfrm>
            <a:off x="365760" y="3780610"/>
            <a:ext cx="8412480" cy="1812175"/>
          </a:xfrm>
          <a:prstGeom prst="rect">
            <a:avLst/>
          </a:prstGeom>
          <a:noFill/>
        </p:spPr>
        <p:txBody>
          <a:bodyPr wrap="square">
            <a:spAutoFit/>
          </a:bodyPr>
          <a:lstStyle/>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마이크로서비스는 애플리케이션 하나를 </a:t>
            </a:r>
            <a:r>
              <a:rPr sz="1800" b="1">
                <a:solidFill>
                  <a:srgbClr val="000000"/>
                </a:solidFill>
                <a:latin typeface="맑은 고딕"/>
                <a:ea typeface="맑은 고딕"/>
              </a:rPr>
              <a:t>각자의 프로세스에서 도는 작은 서비스들</a:t>
            </a:r>
            <a:r>
              <a:rPr sz="1800" b="0">
                <a:solidFill>
                  <a:srgbClr val="000000"/>
                </a:solidFill>
                <a:latin typeface="맑은 고딕"/>
                <a:ea typeface="맑은 고딕"/>
              </a:rPr>
              <a:t>로 만들고 가벼운 수단으로 통신하게 하는 접근이다</a:t>
            </a:r>
            <a:r>
              <a:rPr sz="1000" b="0">
                <a:solidFill>
                  <a:srgbClr val="000000"/>
                </a:solidFill>
                <a:latin typeface="맑은 고딕"/>
                <a:ea typeface="맑은 고딕"/>
              </a:rPr>
              <a:t>, </a:t>
            </a:r>
            <a:r>
              <a:rPr sz="1000" b="0">
                <a:solidFill>
                  <a:srgbClr val="000000"/>
                </a:solidFill>
                <a:latin typeface="맑은 고딕"/>
                <a:ea typeface="맑은 고딕"/>
              </a:rPr>
              <a:t>"an approach to developing a single application as a suite of small services, each running in its own process and communicating with lightweight mechanisms"</a:t>
            </a:r>
            <a:r>
              <a:rPr sz="1000" b="0">
                <a:solidFill>
                  <a:srgbClr val="000000"/>
                </a:solidFill>
                <a:latin typeface="맑은 고딕"/>
                <a:ea typeface="맑은 고딕"/>
              </a:rPr>
              <a:t>, </a:t>
            </a:r>
            <a:r>
              <a:rPr sz="1000" b="0">
                <a:solidFill>
                  <a:srgbClr val="000000"/>
                </a:solidFill>
                <a:latin typeface="맑은 고딕"/>
                <a:ea typeface="맑은 고딕"/>
              </a:rPr>
              <a:t>[Lewis·Fowler 2014]</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애플리케이션이 충분히 커질 것이 확실하더라도 </a:t>
            </a:r>
            <a:r>
              <a:rPr sz="1800" b="1">
                <a:solidFill>
                  <a:srgbClr val="000000"/>
                </a:solidFill>
                <a:latin typeface="맑은 고딕"/>
                <a:ea typeface="맑은 고딕"/>
              </a:rPr>
              <a:t>새 프로젝트를 마이크로서비스로 시작하지는 말아야</a:t>
            </a:r>
            <a:r>
              <a:rPr sz="1800" b="0">
                <a:solidFill>
                  <a:srgbClr val="000000"/>
                </a:solidFill>
                <a:latin typeface="맑은 고딕"/>
                <a:ea typeface="맑은 고딕"/>
              </a:rPr>
              <a:t> 한다</a:t>
            </a:r>
            <a:r>
              <a:rPr sz="1000" b="0">
                <a:solidFill>
                  <a:srgbClr val="000000"/>
                </a:solidFill>
                <a:latin typeface="맑은 고딕"/>
                <a:ea typeface="맑은 고딕"/>
              </a:rPr>
              <a:t>, </a:t>
            </a:r>
            <a:r>
              <a:rPr sz="1000" b="0">
                <a:solidFill>
                  <a:srgbClr val="000000"/>
                </a:solidFill>
                <a:latin typeface="맑은 고딕"/>
                <a:ea typeface="맑은 고딕"/>
              </a:rPr>
              <a:t>"you shouldn't start a new project with microservices, even if you're sure your application will be big enough to make it worthwhile."</a:t>
            </a:r>
            <a:r>
              <a:rPr sz="1000" b="0">
                <a:solidFill>
                  <a:srgbClr val="000000"/>
                </a:solidFill>
                <a:latin typeface="맑은 고딕"/>
                <a:ea typeface="맑은 고딕"/>
              </a:rPr>
              <a:t>, </a:t>
            </a:r>
            <a:r>
              <a:rPr sz="1000" b="0">
                <a:solidFill>
                  <a:srgbClr val="000000"/>
                </a:solidFill>
                <a:latin typeface="맑은 고딕"/>
                <a:ea typeface="맑은 고딕"/>
              </a:rPr>
              <a:t>[Fowler 2015c]</a:t>
            </a:r>
          </a:p>
        </p:txBody>
      </p:sp>
    </p:spTree>
    <p:extLst>
      <p:ext uri="{BB962C8B-B14F-4D97-AF65-F5344CB8AC3E}">
        <p14:creationId xmlns:p14="http://schemas.microsoft.com/office/powerpoint/2010/main" val="278956947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4F1F13-426B-086B-7D8C-9A58A0F879DB}"/>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AA26A92D-924E-0575-9551-F8FD7BFD3FAD}"/>
              </a:ext>
            </a:extLst>
          </p:cNvPr>
          <p:cNvSpPr>
            <a:spLocks noGrp="1"/>
          </p:cNvSpPr>
          <p:nvPr>
            <p:ph type="title"/>
          </p:nvPr>
        </p:nvSpPr>
        <p:spPr/>
        <p:txBody>
          <a:bodyPr/>
          <a:lstStyle/>
          <a:p>
            <a:r>
              <a:rPr sz="2400" b="1">
                <a:solidFill>
                  <a:srgbClr val="000000"/>
                </a:solidFill>
                <a:latin typeface="맑은 고딕"/>
                <a:ea typeface="맑은 고딕"/>
              </a:rPr>
              <a:t>이 과정이 쓰는 것</a:t>
            </a:r>
          </a:p>
          <a:p>
            <a:r>
              <a:rPr sz="1100" b="1">
                <a:solidFill>
                  <a:srgbClr val="000000"/>
                </a:solidFill>
                <a:latin typeface="맑은 고딕"/>
                <a:ea typeface="맑은 고딕"/>
              </a:rPr>
              <a:t>02. 아키텍처가 정하는 것</a:t>
            </a:r>
          </a:p>
        </p:txBody>
      </p:sp>
      <p:sp>
        <p:nvSpPr>
          <p:cNvPr id="3" name="슬라이드 번호 개체 틀 2">
            <a:extLst>
              <a:ext uri="{FF2B5EF4-FFF2-40B4-BE49-F238E27FC236}">
                <a16:creationId xmlns:a16="http://schemas.microsoft.com/office/drawing/2014/main" id="{12CF30EE-4DFD-8063-56B8-B8689E76DFCA}"/>
              </a:ext>
            </a:extLst>
          </p:cNvPr>
          <p:cNvSpPr>
            <a:spLocks noGrp="1"/>
          </p:cNvSpPr>
          <p:nvPr>
            <p:ph type="sldNum" sz="quarter" idx="10"/>
          </p:nvPr>
        </p:nvSpPr>
        <p:spPr/>
        <p:txBody>
          <a:bodyPr/>
          <a:lstStyle/>
          <a:p>
            <a:pPr>
              <a:defRPr/>
            </a:pPr>
            <a:r>
              <a:rPr lang="en-US" altLang="ko-KR">
                <a:solidFill>
                  <a:prstClr val="black"/>
                </a:solidFill>
              </a:rPr>
              <a:t>- 5 -</a:t>
            </a:r>
          </a:p>
        </p:txBody>
      </p:sp>
      <p:sp>
        <p:nvSpPr>
          <p:cNvPr id="5" name="텍스트 개체 틀 4">
            <a:extLst>
              <a:ext uri="{FF2B5EF4-FFF2-40B4-BE49-F238E27FC236}">
                <a16:creationId xmlns:a16="http://schemas.microsoft.com/office/drawing/2014/main" id="{D66274C8-E16F-5AEB-614B-D8D32DA3E8C6}"/>
              </a:ext>
            </a:extLst>
          </p:cNvPr>
          <p:cNvSpPr>
            <a:spLocks noGrp="1"/>
          </p:cNvSpPr>
          <p:nvPr>
            <p:ph type="body" sz="quarter" idx="11"/>
          </p:nvPr>
        </p:nvSpPr>
        <p:spPr/>
        <p:txBody>
          <a:bodyPr/>
          <a:lstStyle/>
          <a:p>
            <a:r>
              <a:rPr kumimoji="1" lang="en-US" altLang="ko-KR" sz="1400" dirty="0" err="1"/>
              <a:t>06. 아키텍처</a:t>
            </a:r>
          </a:p>
        </p:txBody>
      </p:sp>
      <p:sp>
        <p:nvSpPr>
          <p:cNvPr id="6" name="텍스트 개체 틀 5">
            <a:extLst>
              <a:ext uri="{FF2B5EF4-FFF2-40B4-BE49-F238E27FC236}">
                <a16:creationId xmlns:a16="http://schemas.microsoft.com/office/drawing/2014/main" id="{A24E58E1-194B-A320-AEEE-24D08685BB6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A219F420-613B-6234-45F6-0955A9A4505F}"/>
              </a:ext>
            </a:extLst>
          </p:cNvPr>
          <p:cNvSpPr>
            <a:spLocks noGrp="1"/>
          </p:cNvSpPr>
          <p:nvPr>
            <p:ph type="body" sz="quarter" idx="13"/>
          </p:nvPr>
        </p:nvSpPr>
        <p:spPr/>
        <p:txBody>
          <a:bodyPr/>
          <a:lstStyle/>
          <a:p>
            <a:endParaRPr kumimoji="1" lang="en-US" altLang="ko-KR" dirty="0"/>
          </a:p>
        </p:txBody>
      </p:sp>
      <p:sp>
        <p:nvSpPr>
          <p:cNvPr id="8" name="내용 개체 틀 7">
            <a:extLst>
              <a:ext uri="{FF2B5EF4-FFF2-40B4-BE49-F238E27FC236}">
                <a16:creationId xmlns:a16="http://schemas.microsoft.com/office/drawing/2014/main" id="{BEBA2C4A-B0BF-F2E4-EA6E-614C99CBA184}"/>
              </a:ext>
            </a:extLst>
          </p:cNvPr>
          <p:cNvSpPr>
            <a:spLocks noGrp="1"/>
          </p:cNvSpPr>
          <p:nvPr>
            <p:ph idx="1"/>
          </p:nvPr>
        </p:nvSpPr>
        <p:spPr/>
        <p:txBody>
          <a:bodyPr>
            <a:normAutofit/>
          </a:bodyPr>
          <a:lstStyle/>
          <a:p>
            <a:pPr marL="0" indent="0">
              <a:spcBef>
                <a:spcPts val="600"/>
              </a:spcBef>
              <a:spcAft>
                <a:spcPts val="600"/>
              </a:spcAft>
              <a:buNone/>
            </a:pPr>
            <a:r>
              <a:rPr sz="1800" b="0">
                <a:solidFill>
                  <a:srgbClr val="000000"/>
                </a:solidFill>
                <a:latin typeface="맑은 고딕"/>
                <a:ea typeface="맑은 고딕"/>
              </a:rPr>
              <a:t>고른 스타일은 </a:t>
            </a:r>
            <a:r>
              <a:rPr sz="1800" b="1">
                <a:solidFill>
                  <a:srgbClr val="000000"/>
                </a:solidFill>
                <a:latin typeface="맑은 고딕"/>
                <a:ea typeface="맑은 고딕"/>
              </a:rPr>
              <a:t>포트와 어댑터를 적용한 모듈러 모놀리스</a:t>
            </a:r>
            <a:r>
              <a:rPr sz="1800" b="0">
                <a:solidFill>
                  <a:srgbClr val="000000"/>
                </a:solidFill>
                <a:latin typeface="맑은 고딕"/>
                <a:ea typeface="맑은 고딕"/>
              </a:rPr>
              <a:t>다. 배포는 하나로 두고 업무 경계는 패키지로 나누며, 외부와의 접점은 전부 포트로 둔다.</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애플리케이션이 사용자·프로그램·자동화된 테스트·배치 스크립트 </a:t>
            </a:r>
            <a:r>
              <a:rPr sz="1800" b="1">
                <a:solidFill>
                  <a:srgbClr val="000000"/>
                </a:solidFill>
                <a:latin typeface="맑은 고딕"/>
                <a:ea typeface="맑은 고딕"/>
              </a:rPr>
              <a:t>어느 쪽에서든 똑같이 구동</a:t>
            </a:r>
            <a:r>
              <a:rPr sz="1800" b="0">
                <a:solidFill>
                  <a:srgbClr val="000000"/>
                </a:solidFill>
                <a:latin typeface="맑은 고딕"/>
                <a:ea typeface="맑은 고딕"/>
              </a:rPr>
              <a:t>되고, 최종 런타임 장치·데이터베이스와 </a:t>
            </a:r>
            <a:r>
              <a:rPr sz="1800" b="1">
                <a:solidFill>
                  <a:srgbClr val="000000"/>
                </a:solidFill>
                <a:latin typeface="맑은 고딕"/>
                <a:ea typeface="맑은 고딕"/>
              </a:rPr>
              <a:t>떨어져 개발·테스트</a:t>
            </a:r>
            <a:r>
              <a:rPr sz="1800" b="0">
                <a:solidFill>
                  <a:srgbClr val="000000"/>
                </a:solidFill>
                <a:latin typeface="맑은 고딕"/>
                <a:ea typeface="맑은 고딕"/>
              </a:rPr>
              <a:t>되게 한다</a:t>
            </a:r>
            <a:r>
              <a:rPr sz="1000" b="0">
                <a:solidFill>
                  <a:srgbClr val="000000"/>
                </a:solidFill>
                <a:latin typeface="맑은 고딕"/>
                <a:ea typeface="맑은 고딕"/>
              </a:rPr>
              <a:t>, </a:t>
            </a:r>
            <a:r>
              <a:rPr sz="1000" b="0">
                <a:solidFill>
                  <a:srgbClr val="000000"/>
                </a:solidFill>
                <a:latin typeface="맑은 고딕"/>
                <a:ea typeface="맑은 고딕"/>
              </a:rPr>
              <a:t>"Allow an application to equally be driven by users, programs, automated test or batch scripts, and to be developed and tested in isolation from its eventual run-time devices and databases."</a:t>
            </a:r>
            <a:r>
              <a:rPr sz="1000" b="0">
                <a:solidFill>
                  <a:srgbClr val="000000"/>
                </a:solidFill>
                <a:latin typeface="맑은 고딕"/>
                <a:ea typeface="맑은 고딕"/>
              </a:rPr>
              <a:t>, </a:t>
            </a:r>
            <a:r>
              <a:rPr sz="1000" b="0">
                <a:solidFill>
                  <a:srgbClr val="000000"/>
                </a:solidFill>
                <a:latin typeface="맑은 고딕"/>
                <a:ea typeface="맑은 고딕"/>
              </a:rPr>
              <a:t>[Cockburn 2005]</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배포 단위</a:t>
            </a:r>
            <a:r>
              <a:rPr sz="1800" b="0">
                <a:solidFill>
                  <a:srgbClr val="000000"/>
                </a:solidFill>
                <a:latin typeface="맑은 고딕"/>
                <a:ea typeface="맑은 고딕"/>
              </a:rPr>
              <a:t> —</a:t>
            </a:r>
            <a:r>
              <a:rPr sz="1600" b="0">
                <a:solidFill>
                  <a:srgbClr val="000000"/>
                </a:solidFill>
                <a:latin typeface="맑은 고딕"/>
                <a:ea typeface="맑은 고딕"/>
              </a:rPr>
              <a:t> 하나. 독립 배포가 필요하다는 요구가 없다.</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업무 경계</a:t>
            </a:r>
            <a:r>
              <a:rPr sz="1800" b="0">
                <a:solidFill>
                  <a:srgbClr val="000000"/>
                </a:solidFill>
                <a:latin typeface="맑은 고딕"/>
                <a:ea typeface="맑은 고딕"/>
              </a:rPr>
              <a:t> —</a:t>
            </a:r>
            <a:r>
              <a:rPr sz="1600" b="0">
                <a:solidFill>
                  <a:srgbClr val="000000"/>
                </a:solidFill>
                <a:latin typeface="맑은 고딕"/>
                <a:ea typeface="맑은 고딕"/>
              </a:rPr>
              <a:t> </a:t>
            </a:r>
            <a:r>
              <a:rPr sz="1600" b="0">
                <a:solidFill>
                  <a:srgbClr val="000000"/>
                </a:solidFill>
                <a:latin typeface="맑은 고딕"/>
                <a:ea typeface="맑은 고딕"/>
              </a:rPr>
              <a:t>order</a:t>
            </a:r>
            <a:r>
              <a:rPr sz="1600" b="0">
                <a:solidFill>
                  <a:srgbClr val="000000"/>
                </a:solidFill>
                <a:latin typeface="맑은 고딕"/>
                <a:ea typeface="맑은 고딕"/>
              </a:rPr>
              <a:t>·</a:t>
            </a:r>
            <a:r>
              <a:rPr sz="1600" b="0">
                <a:solidFill>
                  <a:srgbClr val="000000"/>
                </a:solidFill>
                <a:latin typeface="맑은 고딕"/>
                <a:ea typeface="맑은 고딕"/>
              </a:rPr>
              <a:t>payment</a:t>
            </a:r>
            <a:r>
              <a:rPr sz="1600" b="0">
                <a:solidFill>
                  <a:srgbClr val="000000"/>
                </a:solidFill>
                <a:latin typeface="맑은 고딕"/>
                <a:ea typeface="맑은 고딕"/>
              </a:rPr>
              <a:t>·</a:t>
            </a:r>
            <a:r>
              <a:rPr sz="1600" b="0">
                <a:solidFill>
                  <a:srgbClr val="000000"/>
                </a:solidFill>
                <a:latin typeface="맑은 고딕"/>
                <a:ea typeface="맑은 고딕"/>
              </a:rPr>
              <a:t>delivery</a:t>
            </a:r>
            <a:r>
              <a:rPr sz="1600" b="0">
                <a:solidFill>
                  <a:srgbClr val="000000"/>
                </a:solidFill>
                <a:latin typeface="맑은 고딕"/>
                <a:ea typeface="맑은 고딕"/>
              </a:rPr>
              <a:t>·</a:t>
            </a:r>
            <a:r>
              <a:rPr sz="1600" b="0">
                <a:solidFill>
                  <a:srgbClr val="000000"/>
                </a:solidFill>
                <a:latin typeface="맑은 고딕"/>
                <a:ea typeface="맑은 고딕"/>
              </a:rPr>
              <a:t>product</a:t>
            </a:r>
            <a:r>
              <a:rPr sz="1600" b="0">
                <a:solidFill>
                  <a:srgbClr val="000000"/>
                </a:solidFill>
                <a:latin typeface="맑은 고딕"/>
                <a:ea typeface="맑은 고딕"/>
              </a:rPr>
              <a:t> 네 패키지. 모듈러 모놀리스의 "모듈"이 이 넷이다.</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외부와의 접점</a:t>
            </a:r>
            <a:r>
              <a:rPr sz="1800" b="0">
                <a:solidFill>
                  <a:srgbClr val="000000"/>
                </a:solidFill>
                <a:latin typeface="맑은 고딕"/>
                <a:ea typeface="맑은 고딕"/>
              </a:rPr>
              <a:t> —</a:t>
            </a:r>
            <a:r>
              <a:rPr sz="1600" b="0">
                <a:solidFill>
                  <a:srgbClr val="000000"/>
                </a:solidFill>
                <a:latin typeface="맑은 고딕"/>
                <a:ea typeface="맑은 고딕"/>
              </a:rPr>
              <a:t> 포트 넷(</a:t>
            </a:r>
            <a:r>
              <a:rPr sz="1600" b="0">
                <a:solidFill>
                  <a:srgbClr val="000000"/>
                </a:solidFill>
                <a:latin typeface="맑은 고딕"/>
                <a:ea typeface="맑은 고딕"/>
              </a:rPr>
              <a:t>OrderRepository</a:t>
            </a:r>
            <a:r>
              <a:rPr sz="1600" b="0">
                <a:solidFill>
                  <a:srgbClr val="000000"/>
                </a:solidFill>
                <a:latin typeface="맑은 고딕"/>
                <a:ea typeface="맑은 고딕"/>
              </a:rPr>
              <a:t>·</a:t>
            </a:r>
            <a:r>
              <a:rPr sz="1600" b="0">
                <a:solidFill>
                  <a:srgbClr val="000000"/>
                </a:solidFill>
                <a:latin typeface="맑은 고딕"/>
                <a:ea typeface="맑은 고딕"/>
              </a:rPr>
              <a:t>PaymentGateway</a:t>
            </a:r>
            <a:r>
              <a:rPr sz="1600" b="0">
                <a:solidFill>
                  <a:srgbClr val="000000"/>
                </a:solidFill>
                <a:latin typeface="맑은 고딕"/>
                <a:ea typeface="맑은 고딕"/>
              </a:rPr>
              <a:t>·</a:t>
            </a:r>
            <a:r>
              <a:rPr sz="1600" b="0">
                <a:solidFill>
                  <a:srgbClr val="000000"/>
                </a:solidFill>
                <a:latin typeface="맑은 고딕"/>
                <a:ea typeface="맑은 고딕"/>
              </a:rPr>
              <a:t>DeliveryGateway</a:t>
            </a:r>
            <a:r>
              <a:rPr sz="1600" b="0">
                <a:solidFill>
                  <a:srgbClr val="000000"/>
                </a:solidFill>
                <a:latin typeface="맑은 고딕"/>
                <a:ea typeface="맑은 고딕"/>
              </a:rPr>
              <a:t>·</a:t>
            </a:r>
            <a:r>
              <a:rPr sz="1600" b="0">
                <a:solidFill>
                  <a:srgbClr val="000000"/>
                </a:solidFill>
                <a:latin typeface="맑은 고딕"/>
                <a:ea typeface="맑은 고딕"/>
              </a:rPr>
              <a:t>ProductGateway</a:t>
            </a:r>
            <a:r>
              <a:rPr sz="1600" b="0">
                <a:solidFill>
                  <a:srgbClr val="000000"/>
                </a:solidFill>
                <a:latin typeface="맑은 고딕"/>
                <a:ea typeface="맑은 고딕"/>
              </a:rPr>
              <a:t>). 업무가 소유하고 연동·영속이 구현한다.</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두지 않는 것</a:t>
            </a:r>
            <a:r>
              <a:rPr sz="1800" b="0">
                <a:solidFill>
                  <a:srgbClr val="000000"/>
                </a:solidFill>
                <a:latin typeface="맑은 고딕"/>
                <a:ea typeface="맑은 고딕"/>
              </a:rPr>
              <a:t> —</a:t>
            </a:r>
            <a:r>
              <a:rPr sz="1600" b="0">
                <a:solidFill>
                  <a:srgbClr val="000000"/>
                </a:solidFill>
                <a:latin typeface="맑은 고딕"/>
                <a:ea typeface="맑은 고딕"/>
              </a:rPr>
              <a:t> 들어오는 쪽의 입력 포트. 호출자가 어떻게 들어오는지는 이 과제의 범위 밖이다.</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고른 이유</a:t>
            </a:r>
            <a:r>
              <a:rPr sz="1800" b="0">
                <a:solidFill>
                  <a:srgbClr val="000000"/>
                </a:solidFill>
                <a:latin typeface="맑은 고딕"/>
                <a:ea typeface="맑은 고딕"/>
              </a:rPr>
              <a:t> —</a:t>
            </a:r>
            <a:r>
              <a:rPr sz="1600" b="0">
                <a:solidFill>
                  <a:srgbClr val="000000"/>
                </a:solidFill>
                <a:latin typeface="맑은 고딕"/>
                <a:ea typeface="맑은 고딕"/>
              </a:rPr>
              <a:t> 외부 넷을 붙이면서 그 넷 없이 업무 규칙을 확인해야 한다. 포트가 그 둘을 한 번에 준다.</a:t>
            </a:r>
          </a:p>
        </p:txBody>
      </p:sp>
    </p:spTree>
    <p:extLst>
      <p:ext uri="{BB962C8B-B14F-4D97-AF65-F5344CB8AC3E}">
        <p14:creationId xmlns:p14="http://schemas.microsoft.com/office/powerpoint/2010/main" val="35554366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4F1F13-426B-086B-7D8C-9A58A0F879DB}"/>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AA26A92D-924E-0575-9551-F8FD7BFD3FAD}"/>
              </a:ext>
            </a:extLst>
          </p:cNvPr>
          <p:cNvSpPr>
            <a:spLocks noGrp="1"/>
          </p:cNvSpPr>
          <p:nvPr>
            <p:ph type="title"/>
          </p:nvPr>
        </p:nvSpPr>
        <p:spPr/>
        <p:txBody>
          <a:bodyPr/>
          <a:lstStyle/>
          <a:p>
            <a:r>
              <a:rPr sz="2400" b="1">
                <a:solidFill>
                  <a:srgbClr val="000000"/>
                </a:solidFill>
                <a:latin typeface="맑은 고딕"/>
                <a:ea typeface="맑은 고딕"/>
              </a:rPr>
              <a:t>03. 설계 원칙</a:t>
            </a:r>
          </a:p>
        </p:txBody>
      </p:sp>
      <p:sp>
        <p:nvSpPr>
          <p:cNvPr id="3" name="슬라이드 번호 개체 틀 2">
            <a:extLst>
              <a:ext uri="{FF2B5EF4-FFF2-40B4-BE49-F238E27FC236}">
                <a16:creationId xmlns:a16="http://schemas.microsoft.com/office/drawing/2014/main" id="{12CF30EE-4DFD-8063-56B8-B8689E76DFCA}"/>
              </a:ext>
            </a:extLst>
          </p:cNvPr>
          <p:cNvSpPr>
            <a:spLocks noGrp="1"/>
          </p:cNvSpPr>
          <p:nvPr>
            <p:ph type="sldNum" sz="quarter" idx="10"/>
          </p:nvPr>
        </p:nvSpPr>
        <p:spPr/>
        <p:txBody>
          <a:bodyPr/>
          <a:lstStyle/>
          <a:p>
            <a:pPr>
              <a:defRPr/>
            </a:pPr>
            <a:r>
              <a:rPr lang="en-US" altLang="ko-KR">
                <a:solidFill>
                  <a:prstClr val="black"/>
                </a:solidFill>
              </a:rPr>
              <a:t>- 6 -</a:t>
            </a:r>
          </a:p>
        </p:txBody>
      </p:sp>
      <p:sp>
        <p:nvSpPr>
          <p:cNvPr id="5" name="텍스트 개체 틀 4">
            <a:extLst>
              <a:ext uri="{FF2B5EF4-FFF2-40B4-BE49-F238E27FC236}">
                <a16:creationId xmlns:a16="http://schemas.microsoft.com/office/drawing/2014/main" id="{D66274C8-E16F-5AEB-614B-D8D32DA3E8C6}"/>
              </a:ext>
            </a:extLst>
          </p:cNvPr>
          <p:cNvSpPr>
            <a:spLocks noGrp="1"/>
          </p:cNvSpPr>
          <p:nvPr>
            <p:ph type="body" sz="quarter" idx="11"/>
          </p:nvPr>
        </p:nvSpPr>
        <p:spPr/>
        <p:txBody>
          <a:bodyPr/>
          <a:lstStyle/>
          <a:p>
            <a:r>
              <a:rPr kumimoji="1" lang="en-US" altLang="ko-KR" sz="1400" dirty="0" err="1"/>
              <a:t>06. 아키텍처</a:t>
            </a:r>
          </a:p>
        </p:txBody>
      </p:sp>
      <p:sp>
        <p:nvSpPr>
          <p:cNvPr id="6" name="텍스트 개체 틀 5">
            <a:extLst>
              <a:ext uri="{FF2B5EF4-FFF2-40B4-BE49-F238E27FC236}">
                <a16:creationId xmlns:a16="http://schemas.microsoft.com/office/drawing/2014/main" id="{A24E58E1-194B-A320-AEEE-24D08685BB6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A219F420-613B-6234-45F6-0955A9A4505F}"/>
              </a:ext>
            </a:extLst>
          </p:cNvPr>
          <p:cNvSpPr>
            <a:spLocks noGrp="1"/>
          </p:cNvSpPr>
          <p:nvPr>
            <p:ph type="body" sz="quarter" idx="13"/>
          </p:nvPr>
        </p:nvSpPr>
        <p:spPr/>
        <p:txBody>
          <a:bodyPr/>
          <a:lstStyle/>
          <a:p>
            <a:endParaRPr kumimoji="1" lang="en-US" altLang="ko-KR" dirty="0"/>
          </a:p>
        </p:txBody>
      </p:sp>
      <p:sp>
        <p:nvSpPr>
          <p:cNvPr id="8" name="내용 개체 틀 7">
            <a:extLst>
              <a:ext uri="{FF2B5EF4-FFF2-40B4-BE49-F238E27FC236}">
                <a16:creationId xmlns:a16="http://schemas.microsoft.com/office/drawing/2014/main" id="{BEBA2C4A-B0BF-F2E4-EA6E-614C99CBA184}"/>
              </a:ext>
            </a:extLst>
          </p:cNvPr>
          <p:cNvSpPr>
            <a:spLocks noGrp="1"/>
          </p:cNvSpPr>
          <p:nvPr>
            <p:ph idx="1"/>
          </p:nvPr>
        </p:nvSpPr>
        <p:spPr/>
        <p:txBody>
          <a:bodyPr>
            <a:normAutofit/>
          </a:bodyPr>
          <a:lstStyle/>
          <a:p>
            <a:pPr marL="0" indent="0">
              <a:spcBef>
                <a:spcPts val="600"/>
              </a:spcBef>
              <a:spcAft>
                <a:spcPts val="600"/>
              </a:spcAft>
              <a:buNone/>
            </a:pPr>
            <a:r>
              <a:rPr sz="1800" b="0">
                <a:solidFill>
                  <a:srgbClr val="000000"/>
                </a:solidFill>
                <a:latin typeface="맑은 고딕"/>
                <a:ea typeface="맑은 고딕"/>
              </a:rPr>
              <a:t>경계를 정할 때 묻는 것은 네 가지다 —</a:t>
            </a:r>
            <a:r>
              <a:rPr sz="1600" b="0">
                <a:solidFill>
                  <a:srgbClr val="000000"/>
                </a:solidFill>
                <a:latin typeface="맑은 고딕"/>
                <a:ea typeface="맑은 고딕"/>
              </a:rPr>
              <a:t> 무엇을 </a:t>
            </a:r>
            <a:r>
              <a:rPr sz="1600" b="1">
                <a:solidFill>
                  <a:srgbClr val="000000"/>
                </a:solidFill>
                <a:latin typeface="맑은 고딕"/>
                <a:ea typeface="맑은 고딕"/>
              </a:rPr>
              <a:t>모을지</a:t>
            </a:r>
            <a:r>
              <a:rPr sz="1600" b="0">
                <a:solidFill>
                  <a:srgbClr val="000000"/>
                </a:solidFill>
                <a:latin typeface="맑은 고딕"/>
                <a:ea typeface="맑은 고딕"/>
              </a:rPr>
              <a:t>, 무엇을 </a:t>
            </a:r>
            <a:r>
              <a:rPr sz="1600" b="1">
                <a:solidFill>
                  <a:srgbClr val="000000"/>
                </a:solidFill>
                <a:latin typeface="맑은 고딕"/>
                <a:ea typeface="맑은 고딕"/>
              </a:rPr>
              <a:t>끊을지</a:t>
            </a:r>
            <a:r>
              <a:rPr sz="1600" b="0">
                <a:solidFill>
                  <a:srgbClr val="000000"/>
                </a:solidFill>
                <a:latin typeface="맑은 고딕"/>
                <a:ea typeface="맑은 고딕"/>
              </a:rPr>
              <a:t>, 어디서 </a:t>
            </a:r>
            <a:r>
              <a:rPr sz="1600" b="1">
                <a:solidFill>
                  <a:srgbClr val="000000"/>
                </a:solidFill>
                <a:latin typeface="맑은 고딕"/>
                <a:ea typeface="맑은 고딕"/>
              </a:rPr>
              <a:t>나눌지</a:t>
            </a:r>
            <a:r>
              <a:rPr sz="1600" b="0">
                <a:solidFill>
                  <a:srgbClr val="000000"/>
                </a:solidFill>
                <a:latin typeface="맑은 고딕"/>
                <a:ea typeface="맑은 고딕"/>
              </a:rPr>
              <a:t>, 의존을 어느 </a:t>
            </a:r>
            <a:r>
              <a:rPr sz="1600" b="1">
                <a:solidFill>
                  <a:srgbClr val="000000"/>
                </a:solidFill>
                <a:latin typeface="맑은 고딕"/>
                <a:ea typeface="맑은 고딕"/>
              </a:rPr>
              <a:t>쪽으로</a:t>
            </a:r>
            <a:r>
              <a:rPr sz="1600" b="0">
                <a:solidFill>
                  <a:srgbClr val="000000"/>
                </a:solidFill>
                <a:latin typeface="맑은 고딕"/>
                <a:ea typeface="맑은 고딕"/>
              </a:rPr>
              <a:t> 향하게 할지.</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응집도</a:t>
            </a:r>
            <a:r>
              <a:rPr sz="1800" b="0">
                <a:solidFill>
                  <a:srgbClr val="000000"/>
                </a:solidFill>
                <a:latin typeface="맑은 고딕"/>
                <a:ea typeface="맑은 고딕"/>
              </a:rPr>
              <a:t> —</a:t>
            </a:r>
            <a:r>
              <a:rPr sz="1600" b="0">
                <a:solidFill>
                  <a:srgbClr val="000000"/>
                </a:solidFill>
                <a:latin typeface="맑은 고딕"/>
                <a:ea typeface="맑은 고딕"/>
              </a:rPr>
              <a:t> 한 경계 안의 책임이 한 가지 일을 향하는가. 주문 금액 계산과 상태 전이는 둘 다 주문의 일이다.</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결합도</a:t>
            </a:r>
            <a:r>
              <a:rPr sz="1800" b="0">
                <a:solidFill>
                  <a:srgbClr val="000000"/>
                </a:solidFill>
                <a:latin typeface="맑은 고딕"/>
                <a:ea typeface="맑은 고딕"/>
              </a:rPr>
              <a:t> —</a:t>
            </a:r>
            <a:r>
              <a:rPr sz="1600" b="0">
                <a:solidFill>
                  <a:srgbClr val="000000"/>
                </a:solidFill>
                <a:latin typeface="맑은 고딕"/>
                <a:ea typeface="맑은 고딕"/>
              </a:rPr>
              <a:t> 다른 경계를 얼마나 아는가. </a:t>
            </a:r>
            <a:r>
              <a:rPr sz="1600" b="0">
                <a:solidFill>
                  <a:srgbClr val="000000"/>
                </a:solidFill>
                <a:latin typeface="맑은 고딕"/>
                <a:ea typeface="맑은 고딕"/>
              </a:rPr>
              <a:t>order</a:t>
            </a:r>
            <a:r>
              <a:rPr sz="1600" b="0">
                <a:solidFill>
                  <a:srgbClr val="000000"/>
                </a:solidFill>
                <a:latin typeface="맑은 고딕"/>
                <a:ea typeface="맑은 고딕"/>
              </a:rPr>
              <a:t>는 결제 포트의 이름과 업무 값만 알고 제공자의 전문은 모른다.</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단일 책임</a:t>
            </a:r>
            <a:r>
              <a:rPr sz="1800" b="0">
                <a:solidFill>
                  <a:srgbClr val="000000"/>
                </a:solidFill>
                <a:latin typeface="맑은 고딕"/>
                <a:ea typeface="맑은 고딕"/>
              </a:rPr>
              <a:t> —</a:t>
            </a:r>
            <a:r>
              <a:rPr sz="1600" b="0">
                <a:solidFill>
                  <a:srgbClr val="000000"/>
                </a:solidFill>
                <a:latin typeface="맑은 고딕"/>
                <a:ea typeface="맑은 고딕"/>
              </a:rPr>
              <a:t> 바뀌는 이유가 다르면 나눈다. 업무 규칙은 업무가, 제공자의 전문은 제공자가 바꾸라고 한다.</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의존성 역전</a:t>
            </a:r>
            <a:r>
              <a:rPr sz="1800" b="0">
                <a:solidFill>
                  <a:srgbClr val="000000"/>
                </a:solidFill>
                <a:latin typeface="맑은 고딕"/>
                <a:ea typeface="맑은 고딕"/>
              </a:rPr>
              <a:t> —</a:t>
            </a:r>
            <a:r>
              <a:rPr sz="1600" b="0">
                <a:solidFill>
                  <a:srgbClr val="000000"/>
                </a:solidFill>
                <a:latin typeface="맑은 고딕"/>
                <a:ea typeface="맑은 고딕"/>
              </a:rPr>
              <a:t> 업무가 외부를 직접 부르면 외부가 업무를 정한다. 추상을 업무 쪽에 두고 방향을 뒤집는다.</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뒤의 둘은 </a:t>
            </a:r>
            <a:r>
              <a:rPr sz="1800" b="1">
                <a:solidFill>
                  <a:srgbClr val="000000"/>
                </a:solidFill>
                <a:latin typeface="맑은 고딕"/>
                <a:ea typeface="맑은 고딕"/>
              </a:rPr>
              <a:t>SOLID 다섯 원칙</a:t>
            </a:r>
            <a:r>
              <a:rPr sz="1800" b="0">
                <a:solidFill>
                  <a:srgbClr val="000000"/>
                </a:solidFill>
                <a:latin typeface="맑은 고딕"/>
                <a:ea typeface="맑은 고딕"/>
              </a:rPr>
              <a:t>의 단일 책임 원칙과 의존성 역전 원칙이다. 여기서는 </a:t>
            </a:r>
            <a:r>
              <a:rPr sz="1800" b="1">
                <a:solidFill>
                  <a:srgbClr val="000000"/>
                </a:solidFill>
                <a:latin typeface="맑은 고딕"/>
                <a:ea typeface="맑은 고딕"/>
              </a:rPr>
              <a:t>패키지 경계</a:t>
            </a:r>
            <a:r>
              <a:rPr sz="1800" b="0">
                <a:solidFill>
                  <a:srgbClr val="000000"/>
                </a:solidFill>
                <a:latin typeface="맑은 고딕"/>
                <a:ea typeface="맑은 고딕"/>
              </a:rPr>
              <a:t>의 근거로 쓰고, 다섯 전체를 </a:t>
            </a:r>
            <a:r>
              <a:rPr sz="1800" b="1">
                <a:solidFill>
                  <a:srgbClr val="000000"/>
                </a:solidFill>
                <a:latin typeface="맑은 고딕"/>
                <a:ea typeface="맑은 고딕"/>
              </a:rPr>
              <a:t>객체와 인터페이스</a:t>
            </a:r>
            <a:r>
              <a:rPr sz="1800" b="0">
                <a:solidFill>
                  <a:srgbClr val="000000"/>
                </a:solidFill>
                <a:latin typeface="맑은 고딕"/>
                <a:ea typeface="맑은 고딕"/>
              </a:rPr>
              <a:t>의 근거로 쓰는 것은 "세션 07. 설계 —</a:t>
            </a:r>
            <a:r>
              <a:rPr sz="1600" b="0">
                <a:solidFill>
                  <a:srgbClr val="000000"/>
                </a:solidFill>
                <a:latin typeface="맑은 고딕"/>
                <a:ea typeface="맑은 고딕"/>
              </a:rPr>
              <a:t> 책임과 협력"이다.</a:t>
            </a:r>
          </a:p>
        </p:txBody>
      </p:sp>
      <p:sp>
        <p:nvSpPr>
          <p:cNvPr id="9" name="TextBox 12">
            <a:extLst>
              <a:ext uri="{FF2B5EF4-FFF2-40B4-BE49-F238E27FC236}">
                <a16:creationId xmlns:a16="http://schemas.microsoft.com/office/drawing/2014/main" id="{654EDDB4-901F-3D48-A715-17D163E8A7AC}"/>
              </a:ext>
            </a:extLst>
          </p:cNvPr>
          <p:cNvSpPr txBox="1"/>
          <p:nvPr/>
        </p:nvSpPr>
        <p:spPr>
          <a:xfrm>
            <a:off x="365760" y="6065577"/>
            <a:ext cx="8412480" cy="347472"/>
          </a:xfrm>
          <a:prstGeom prst="rect">
            <a:avLst/>
          </a:prstGeom>
          <a:noFill/>
        </p:spPr>
        <p:txBody>
          <a:bodyPr wrap="square" anchor="b">
            <a:spAutoFit/>
          </a:bodyPr>
          <a:lstStyle/>
          <a:p>
            <a:r>
              <a:rPr sz="800" b="0">
                <a:solidFill>
                  <a:srgbClr val="000000"/>
                </a:solidFill>
                <a:latin typeface="맑은 고딕"/>
                <a:ea typeface="맑은 고딕"/>
              </a:rPr>
              <a:t>SOLID — Single Responsibility · Open-Closed · Liskov Substitution · Interface Segregation · Dependency Inversion</a:t>
            </a:r>
          </a:p>
        </p:txBody>
      </p:sp>
    </p:spTree>
    <p:extLst>
      <p:ext uri="{BB962C8B-B14F-4D97-AF65-F5344CB8AC3E}">
        <p14:creationId xmlns:p14="http://schemas.microsoft.com/office/powerpoint/2010/main" val="355543667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B87152-D004-1569-E429-90A42420A65C}"/>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F2E2AB02-3ADE-69B8-887E-7981AD15EF24}"/>
              </a:ext>
            </a:extLst>
          </p:cNvPr>
          <p:cNvSpPr>
            <a:spLocks noGrp="1"/>
          </p:cNvSpPr>
          <p:nvPr>
            <p:ph type="title"/>
          </p:nvPr>
        </p:nvSpPr>
        <p:spPr/>
        <p:txBody>
          <a:bodyPr/>
          <a:lstStyle/>
          <a:p>
            <a:r>
              <a:rPr sz="2400" b="1">
                <a:solidFill>
                  <a:srgbClr val="000000"/>
                </a:solidFill>
                <a:latin typeface="맑은 고딕"/>
                <a:ea typeface="맑은 고딕"/>
              </a:rPr>
              <a:t>응집도</a:t>
            </a:r>
          </a:p>
          <a:p>
            <a:r>
              <a:rPr sz="1100" b="1">
                <a:solidFill>
                  <a:srgbClr val="000000"/>
                </a:solidFill>
                <a:latin typeface="맑은 고딕"/>
                <a:ea typeface="맑은 고딕"/>
              </a:rPr>
              <a:t>03. 설계 원칙</a:t>
            </a:r>
          </a:p>
        </p:txBody>
      </p:sp>
      <p:sp>
        <p:nvSpPr>
          <p:cNvPr id="5" name="텍스트 개체 틀 4">
            <a:extLst>
              <a:ext uri="{FF2B5EF4-FFF2-40B4-BE49-F238E27FC236}">
                <a16:creationId xmlns:a16="http://schemas.microsoft.com/office/drawing/2014/main" id="{F0895985-68EF-30BA-2165-4B3D90ECD41C}"/>
              </a:ext>
            </a:extLst>
          </p:cNvPr>
          <p:cNvSpPr>
            <a:spLocks noGrp="1"/>
          </p:cNvSpPr>
          <p:nvPr>
            <p:ph type="body" sz="quarter" idx="11"/>
          </p:nvPr>
        </p:nvSpPr>
        <p:spPr/>
        <p:txBody>
          <a:bodyPr/>
          <a:lstStyle/>
          <a:p>
            <a:r>
              <a:rPr kumimoji="1" lang="en-US" altLang="ko-KR" sz="1400" dirty="0" err="1"/>
              <a:t>06. 아키텍처</a:t>
            </a:r>
          </a:p>
        </p:txBody>
      </p:sp>
      <p:sp>
        <p:nvSpPr>
          <p:cNvPr id="6" name="텍스트 개체 틀 5">
            <a:extLst>
              <a:ext uri="{FF2B5EF4-FFF2-40B4-BE49-F238E27FC236}">
                <a16:creationId xmlns:a16="http://schemas.microsoft.com/office/drawing/2014/main" id="{D985C1FD-84C4-10F9-372D-6A84E1680E0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E26A8878-48FF-5E3A-5D05-0F900C22011B}"/>
              </a:ext>
            </a:extLst>
          </p:cNvPr>
          <p:cNvSpPr>
            <a:spLocks noGrp="1"/>
          </p:cNvSpPr>
          <p:nvPr>
            <p:ph type="body" sz="quarter" idx="13"/>
          </p:nvPr>
        </p:nvSpPr>
        <p:spPr/>
        <p:txBody>
          <a:bodyPr/>
          <a:lstStyle/>
          <a:p>
            <a:endParaRPr lang="en-US" altLang="ko-KR" dirty="0"/>
          </a:p>
        </p:txBody>
      </p:sp>
      <p:graphicFrame>
        <p:nvGraphicFramePr>
          <p:cNvPr id="11" name="표 10">
            <a:extLst>
              <a:ext uri="{FF2B5EF4-FFF2-40B4-BE49-F238E27FC236}">
                <a16:creationId xmlns:a16="http://schemas.microsoft.com/office/drawing/2014/main" id="{93753AB9-526C-CE2D-446D-7615D9B6D6D2}"/>
              </a:ext>
            </a:extLst>
          </p:cNvPr>
          <p:cNvGraphicFramePr>
            <a:graphicFrameLocks noGrp="1"/>
          </p:cNvGraphicFramePr>
          <p:nvPr>
            <p:extLst>
              <p:ext uri="{D42A27DB-BD31-4B8C-83A1-F6EECF244321}">
                <p14:modId xmlns:p14="http://schemas.microsoft.com/office/powerpoint/2010/main" val="1761827855"/>
              </p:ext>
            </p:extLst>
          </p:nvPr>
        </p:nvGraphicFramePr>
        <p:xfrm>
          <a:off x="475806" y="2898948"/>
          <a:ext cx="8178800" cy="3873500"/>
        </p:xfrm>
        <a:graphic>
          <a:graphicData uri="http://schemas.openxmlformats.org/drawingml/2006/table">
            <a:tbl>
              <a:tblPr/>
              <a:tblGrid>
                <a:gridCol w="2037080"/>
                <a:gridCol w="2819400"/>
                <a:gridCol w="3322320"/>
              </a:tblGrid>
              <a:tr h="288000">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무엇</a:t>
                      </a:r>
                    </a:p>
                  </a:txBody>
                  <a:tcPr marL="6750" marR="6750" marT="6750" marB="0" anchor="ctr">
                    <a:lnL>
                      <a:noFill/>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어디에 두는가?</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err="1">
                          <a:solidFill>
                            <a:schemeClr val="bg1"/>
                          </a:solidFill>
                          <a:effectLst/>
                          <a:latin typeface="맑은 고딕" panose="020B0503020000020004" pitchFamily="34" charset="-127"/>
                          <a:ea typeface="맑은 고딕" panose="020B0503020000020004" pitchFamily="34" charset="-127"/>
                          <a:cs typeface="맑은 고딕"/>
                        </a:rPr>
                        <a:t>근거</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주문 금액의 계산</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order 안</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주문 항목과 확정 단가를 아는 곳이 주문이다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결제대기 → 결제완료 전이</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order 안</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금액을 아는 곳과 상태를 바꾸는 곳이 같다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결제 승인의 업무 의미</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payment 안</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승인·거절·확정 불가가 결제의 사건이다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결제 제공자의 요청 전문</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paymentadapter 안</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업무가 아니라 제공자가 정하는 것이다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주문을 찾고 저장하는 일</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포트는 order, 구현은 persistence</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쓰는 쪽이 약속을 소유한다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bl>
          </a:graphicData>
        </a:graphic>
      </p:graphicFrame>
      <p:sp>
        <p:nvSpPr>
          <p:cNvPr id="13" name="TextBox 12">
            <a:extLst>
              <a:ext uri="{FF2B5EF4-FFF2-40B4-BE49-F238E27FC236}">
                <a16:creationId xmlns:a16="http://schemas.microsoft.com/office/drawing/2014/main" id="{654EDDB4-901F-3D48-A715-17D163E8A7AC}"/>
              </a:ext>
            </a:extLst>
          </p:cNvPr>
          <p:cNvSpPr txBox="1"/>
          <p:nvPr/>
        </p:nvSpPr>
        <p:spPr>
          <a:xfrm>
            <a:off x="365760" y="960120"/>
            <a:ext cx="8412480" cy="1587442"/>
          </a:xfrm>
          <a:prstGeom prst="rect">
            <a:avLst/>
          </a:prstGeom>
          <a:noFill/>
        </p:spPr>
        <p:txBody>
          <a:bodyPr wrap="square">
            <a:spAutoFit/>
          </a:bodyPr>
          <a:lstStyle/>
          <a:p>
            <a:pPr marL="0" indent="0">
              <a:spcBef>
                <a:spcPts val="600"/>
              </a:spcBef>
              <a:spcAft>
                <a:spcPts val="600"/>
              </a:spcAft>
              <a:buNone/>
            </a:pPr>
            <a:r>
              <a:rPr sz="1800" b="0">
                <a:solidFill>
                  <a:srgbClr val="000000"/>
                </a:solidFill>
                <a:latin typeface="맑은 고딕"/>
                <a:ea typeface="맑은 고딕"/>
              </a:rPr>
              <a:t>응집도는 </a:t>
            </a:r>
            <a:r>
              <a:rPr sz="1800" b="1">
                <a:solidFill>
                  <a:srgbClr val="000000"/>
                </a:solidFill>
                <a:latin typeface="맑은 고딕"/>
                <a:ea typeface="맑은 고딕"/>
              </a:rPr>
              <a:t>한 경계 안</a:t>
            </a:r>
            <a:r>
              <a:rPr sz="1800" b="0">
                <a:solidFill>
                  <a:srgbClr val="000000"/>
                </a:solidFill>
                <a:latin typeface="맑은 고딕"/>
                <a:ea typeface="맑은 고딕"/>
              </a:rPr>
              <a:t>을 보는 척도다. 그 안의 책임들이 한 가지 일을 향할수록 높다.</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응집도는 한 요소의 책임들이 </a:t>
            </a:r>
            <a:r>
              <a:rPr sz="1800" b="1">
                <a:solidFill>
                  <a:srgbClr val="000000"/>
                </a:solidFill>
                <a:latin typeface="맑은 고딕"/>
                <a:ea typeface="맑은 고딕"/>
              </a:rPr>
              <a:t>얼마나 강하게 관련되고 집중되어 있는가</a:t>
            </a:r>
            <a:r>
              <a:rPr sz="1800" b="0">
                <a:solidFill>
                  <a:srgbClr val="000000"/>
                </a:solidFill>
                <a:latin typeface="맑은 고딕"/>
                <a:ea typeface="맑은 고딕"/>
              </a:rPr>
              <a:t>의 척도다</a:t>
            </a:r>
            <a:r>
              <a:rPr sz="1000" b="0">
                <a:solidFill>
                  <a:srgbClr val="000000"/>
                </a:solidFill>
                <a:latin typeface="맑은 고딕"/>
                <a:ea typeface="맑은 고딕"/>
              </a:rPr>
              <a:t>, </a:t>
            </a:r>
            <a:r>
              <a:rPr sz="1000" b="0">
                <a:solidFill>
                  <a:srgbClr val="000000"/>
                </a:solidFill>
                <a:latin typeface="맑은 고딕"/>
                <a:ea typeface="맑은 고딕"/>
              </a:rPr>
              <a:t>"cohesion (or more specifically, functional cohesion) is a measure of how strongly related and focused the responsibilities of an element are."</a:t>
            </a:r>
            <a:r>
              <a:rPr sz="1000" b="0">
                <a:solidFill>
                  <a:srgbClr val="000000"/>
                </a:solidFill>
                <a:latin typeface="맑은 고딕"/>
                <a:ea typeface="맑은 고딕"/>
              </a:rPr>
              <a:t>, </a:t>
            </a:r>
            <a:r>
              <a:rPr sz="1000" b="0">
                <a:solidFill>
                  <a:srgbClr val="000000"/>
                </a:solidFill>
                <a:latin typeface="맑은 고딕"/>
                <a:ea typeface="맑은 고딕"/>
              </a:rPr>
              <a:t>[Larman 2004]</a:t>
            </a:r>
          </a:p>
        </p:txBody>
      </p:sp>
      <p:sp>
        <p:nvSpPr>
          <p:cNvPr id="8" name="슬라이드 번호 개체 틀 2">
            <a:extLst>
              <a:ext uri="{FF2B5EF4-FFF2-40B4-BE49-F238E27FC236}">
                <a16:creationId xmlns:a16="http://schemas.microsoft.com/office/drawing/2014/main" id="{741B75C6-7ED3-AA4C-41B6-F69C599EA447}"/>
              </a:ext>
            </a:extLst>
          </p:cNvPr>
          <p:cNvSpPr>
            <a:spLocks noGrp="1"/>
          </p:cNvSpPr>
          <p:nvPr>
            <p:ph type="sldNum" sz="quarter" idx="10"/>
          </p:nvPr>
        </p:nvSpPr>
        <p:spPr>
          <a:xfrm>
            <a:off x="3508472" y="6449625"/>
            <a:ext cx="2133600" cy="238277"/>
          </a:xfrm>
        </p:spPr>
        <p:txBody>
          <a:bodyPr>
            <a:normAutofit/>
          </a:bodyPr>
          <a:lstStyle/>
          <a:p>
            <a:pPr marL="0" marR="0" lvl="0" indent="0" algn="ctr" defTabSz="457200" rtl="0" eaLnBrk="1" fontAlgn="auto" latinLnBrk="0" hangingPunct="1">
              <a:lnSpc>
                <a:spcPct val="100000"/>
              </a:lnSpc>
              <a:spcBef>
                <a:spcPts val="0"/>
              </a:spcBef>
              <a:spcAft>
                <a:spcPts val="600"/>
              </a:spcAft>
              <a:buClrTx/>
              <a:buSzTx/>
              <a:buFontTx/>
              <a:buNone/>
              <a:tabLst/>
              <a:defRPr/>
            </a:pPr>
            <a:r>
              <a:rPr kumimoji="0" lang="en-US" altLang="ko-KR" sz="800" b="0" i="0" u="none" strike="noStrike" kern="1200" cap="none" spc="0" normalizeH="0" baseline="0" noProof="0">
                <a:ln>
                  <a:noFill/>
                </a:ln>
                <a:solidFill>
                  <a:prstClr val="black"/>
                </a:solidFill>
                <a:effectLst/>
                <a:uLnTx/>
                <a:uFillTx/>
                <a:latin typeface="맑은 고딕" panose="020B0503020000020004" pitchFamily="34" charset="-127"/>
                <a:ea typeface="맑은 고딕" panose="020B0503020000020004" pitchFamily="34" charset="-127"/>
                <a:cs typeface="+mn-cs"/>
              </a:rPr>
              <a:t>- 7 -</a:t>
            </a:r>
          </a:p>
        </p:txBody>
      </p:sp>
      <p:sp>
        <p:nvSpPr>
          <p:cNvPr id="14" name="TextBox 12">
            <a:extLst>
              <a:ext uri="{FF2B5EF4-FFF2-40B4-BE49-F238E27FC236}">
                <a16:creationId xmlns:a16="http://schemas.microsoft.com/office/drawing/2014/main" id="{654EDDB4-901F-3D48-A715-17D163E8A7AC}"/>
              </a:ext>
            </a:extLst>
          </p:cNvPr>
          <p:cNvSpPr txBox="1"/>
          <p:nvPr/>
        </p:nvSpPr>
        <p:spPr>
          <a:xfrm>
            <a:off x="365760" y="2600498"/>
            <a:ext cx="8412480" cy="222250"/>
          </a:xfrm>
          <a:prstGeom prst="rect">
            <a:avLst/>
          </a:prstGeom>
          <a:noFill/>
        </p:spPr>
        <p:txBody>
          <a:bodyPr wrap="square" tIns="0" bIns="0">
            <a:spAutoFit/>
          </a:bodyPr>
          <a:lstStyle/>
          <a:p>
            <a:pPr algn="ctr">
              <a:spcBef>
                <a:spcPts val="0"/>
              </a:spcBef>
              <a:spcAft>
                <a:spcPts val="0"/>
              </a:spcAft>
            </a:pPr>
            <a:r>
              <a:rPr sz="1400" b="1">
                <a:solidFill>
                  <a:srgbClr val="000000"/>
                </a:solidFill>
                <a:latin typeface="맑은 고딕"/>
                <a:ea typeface="맑은 고딕"/>
              </a:rPr>
              <a:t>주문 사례의 응집도 판단</a:t>
            </a:r>
          </a:p>
        </p:txBody>
      </p:sp>
      <p:sp>
        <p:nvSpPr>
          <p:cNvPr id="15" name="TextBox 12">
            <a:extLst>
              <a:ext uri="{FF2B5EF4-FFF2-40B4-BE49-F238E27FC236}">
                <a16:creationId xmlns:a16="http://schemas.microsoft.com/office/drawing/2014/main" id="{654EDDB4-901F-3D48-A715-17D163E8A7AC}"/>
              </a:ext>
            </a:extLst>
          </p:cNvPr>
          <p:cNvSpPr txBox="1"/>
          <p:nvPr/>
        </p:nvSpPr>
        <p:spPr>
          <a:xfrm>
            <a:off x="365760" y="4855548"/>
            <a:ext cx="8412480" cy="975360"/>
          </a:xfrm>
          <a:prstGeom prst="rect">
            <a:avLst/>
          </a:prstGeom>
          <a:noFill/>
        </p:spPr>
        <p:txBody>
          <a:bodyPr wrap="square">
            <a:spAutoFit/>
          </a:bodyPr>
          <a:lstStyle/>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응집도가 낮은 신호는 </a:t>
            </a:r>
            <a:r>
              <a:rPr sz="1800" b="1">
                <a:solidFill>
                  <a:srgbClr val="000000"/>
                </a:solidFill>
                <a:latin typeface="맑은 고딕"/>
                <a:ea typeface="맑은 고딕"/>
              </a:rPr>
              <a:t>한 패키지가 두 가지 이유로 열리는 것</a:t>
            </a:r>
            <a:r>
              <a:rPr sz="1800" b="0">
                <a:solidFill>
                  <a:srgbClr val="000000"/>
                </a:solidFill>
                <a:latin typeface="맑은 고딕"/>
                <a:ea typeface="맑은 고딕"/>
              </a:rPr>
              <a:t>이다. 업무 규칙을 고칠 때와 제공자 전문을 고칠 때 같은 패키지를 연다면 나눌 자리가 있다.</a:t>
            </a:r>
          </a:p>
        </p:txBody>
      </p:sp>
    </p:spTree>
    <p:extLst>
      <p:ext uri="{BB962C8B-B14F-4D97-AF65-F5344CB8AC3E}">
        <p14:creationId xmlns:p14="http://schemas.microsoft.com/office/powerpoint/2010/main" val="278956947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B87152-D004-1569-E429-90A42420A65C}"/>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F2E2AB02-3ADE-69B8-887E-7981AD15EF24}"/>
              </a:ext>
            </a:extLst>
          </p:cNvPr>
          <p:cNvSpPr>
            <a:spLocks noGrp="1"/>
          </p:cNvSpPr>
          <p:nvPr>
            <p:ph type="title"/>
          </p:nvPr>
        </p:nvSpPr>
        <p:spPr/>
        <p:txBody>
          <a:bodyPr/>
          <a:lstStyle/>
          <a:p>
            <a:r>
              <a:rPr sz="2400" b="1">
                <a:solidFill>
                  <a:srgbClr val="000000"/>
                </a:solidFill>
                <a:latin typeface="맑은 고딕"/>
                <a:ea typeface="맑은 고딕"/>
              </a:rPr>
              <a:t>결합도</a:t>
            </a:r>
          </a:p>
          <a:p>
            <a:r>
              <a:rPr sz="1100" b="1">
                <a:solidFill>
                  <a:srgbClr val="000000"/>
                </a:solidFill>
                <a:latin typeface="맑은 고딕"/>
                <a:ea typeface="맑은 고딕"/>
              </a:rPr>
              <a:t>03. 설계 원칙</a:t>
            </a:r>
          </a:p>
        </p:txBody>
      </p:sp>
      <p:sp>
        <p:nvSpPr>
          <p:cNvPr id="5" name="텍스트 개체 틀 4">
            <a:extLst>
              <a:ext uri="{FF2B5EF4-FFF2-40B4-BE49-F238E27FC236}">
                <a16:creationId xmlns:a16="http://schemas.microsoft.com/office/drawing/2014/main" id="{F0895985-68EF-30BA-2165-4B3D90ECD41C}"/>
              </a:ext>
            </a:extLst>
          </p:cNvPr>
          <p:cNvSpPr>
            <a:spLocks noGrp="1"/>
          </p:cNvSpPr>
          <p:nvPr>
            <p:ph type="body" sz="quarter" idx="11"/>
          </p:nvPr>
        </p:nvSpPr>
        <p:spPr/>
        <p:txBody>
          <a:bodyPr/>
          <a:lstStyle/>
          <a:p>
            <a:r>
              <a:rPr kumimoji="1" lang="en-US" altLang="ko-KR" sz="1400" dirty="0" err="1"/>
              <a:t>06. 아키텍처</a:t>
            </a:r>
          </a:p>
        </p:txBody>
      </p:sp>
      <p:sp>
        <p:nvSpPr>
          <p:cNvPr id="6" name="텍스트 개체 틀 5">
            <a:extLst>
              <a:ext uri="{FF2B5EF4-FFF2-40B4-BE49-F238E27FC236}">
                <a16:creationId xmlns:a16="http://schemas.microsoft.com/office/drawing/2014/main" id="{D985C1FD-84C4-10F9-372D-6A84E1680E0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E26A8878-48FF-5E3A-5D05-0F900C22011B}"/>
              </a:ext>
            </a:extLst>
          </p:cNvPr>
          <p:cNvSpPr>
            <a:spLocks noGrp="1"/>
          </p:cNvSpPr>
          <p:nvPr>
            <p:ph type="body" sz="quarter" idx="13"/>
          </p:nvPr>
        </p:nvSpPr>
        <p:spPr/>
        <p:txBody>
          <a:bodyPr/>
          <a:lstStyle/>
          <a:p>
            <a:endParaRPr lang="en-US" altLang="ko-KR" dirty="0"/>
          </a:p>
        </p:txBody>
      </p:sp>
      <p:graphicFrame>
        <p:nvGraphicFramePr>
          <p:cNvPr id="11" name="표 10">
            <a:extLst>
              <a:ext uri="{FF2B5EF4-FFF2-40B4-BE49-F238E27FC236}">
                <a16:creationId xmlns:a16="http://schemas.microsoft.com/office/drawing/2014/main" id="{93753AB9-526C-CE2D-446D-7615D9B6D6D2}"/>
              </a:ext>
            </a:extLst>
          </p:cNvPr>
          <p:cNvGraphicFramePr>
            <a:graphicFrameLocks noGrp="1"/>
          </p:cNvGraphicFramePr>
          <p:nvPr>
            <p:extLst>
              <p:ext uri="{D42A27DB-BD31-4B8C-83A1-F6EECF244321}">
                <p14:modId xmlns:p14="http://schemas.microsoft.com/office/powerpoint/2010/main" val="1761827855"/>
              </p:ext>
            </p:extLst>
          </p:nvPr>
        </p:nvGraphicFramePr>
        <p:xfrm>
          <a:off x="461835" y="2112010"/>
          <a:ext cx="8206740" cy="3873500"/>
        </p:xfrm>
        <a:graphic>
          <a:graphicData uri="http://schemas.openxmlformats.org/drawingml/2006/table">
            <a:tbl>
              <a:tblPr/>
              <a:tblGrid>
                <a:gridCol w="1450340"/>
                <a:gridCol w="4020820"/>
                <a:gridCol w="2735580"/>
              </a:tblGrid>
              <a:tr h="288000">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아는 것</a:t>
                      </a:r>
                    </a:p>
                  </a:txBody>
                  <a:tcPr marL="6750" marR="6750" marT="6750" marB="0" anchor="ctr">
                    <a:lnL>
                      <a:noFill/>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주문 사례</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err="1">
                          <a:solidFill>
                            <a:schemeClr val="bg1"/>
                          </a:solidFill>
                          <a:effectLst/>
                          <a:latin typeface="맑은 고딕" panose="020B0503020000020004" pitchFamily="34" charset="-127"/>
                          <a:ea typeface="맑은 고딕" panose="020B0503020000020004" pitchFamily="34" charset="-127"/>
                          <a:cs typeface="맑은 고딕"/>
                        </a:rPr>
                        <a:t>바뀌면</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이름과 업무 값만</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order → PaymentGateway의 메서드와 금액·결제 수단</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제공자가 바뀌어도 order는 그대로</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자료 구조</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포트의 입출력이 제공자 응답 객체일 때</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응답 필드가 바뀌면 업무도 바뀐다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구현</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업무가 연동 클래스를 직접 생성할 때</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연동을 바꾸려면 업무를 고쳐야 한다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상태 공유</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두 패키지가 같은 전역 값을 읽고 쓸 때</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어느 쪽이 바꿨는지 추적할 수 없다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bl>
          </a:graphicData>
        </a:graphic>
      </p:graphicFrame>
      <p:sp>
        <p:nvSpPr>
          <p:cNvPr id="13" name="TextBox 12">
            <a:extLst>
              <a:ext uri="{FF2B5EF4-FFF2-40B4-BE49-F238E27FC236}">
                <a16:creationId xmlns:a16="http://schemas.microsoft.com/office/drawing/2014/main" id="{654EDDB4-901F-3D48-A715-17D163E8A7AC}"/>
              </a:ext>
            </a:extLst>
          </p:cNvPr>
          <p:cNvSpPr txBox="1"/>
          <p:nvPr/>
        </p:nvSpPr>
        <p:spPr>
          <a:xfrm>
            <a:off x="365760" y="960120"/>
            <a:ext cx="8412480" cy="781278"/>
          </a:xfrm>
          <a:prstGeom prst="rect">
            <a:avLst/>
          </a:prstGeom>
          <a:noFill/>
        </p:spPr>
        <p:txBody>
          <a:bodyPr wrap="square">
            <a:spAutoFit/>
          </a:bodyPr>
          <a:lstStyle/>
          <a:p>
            <a:pPr marL="0" indent="0">
              <a:spcBef>
                <a:spcPts val="600"/>
              </a:spcBef>
              <a:spcAft>
                <a:spcPts val="600"/>
              </a:spcAft>
              <a:buNone/>
            </a:pPr>
            <a:r>
              <a:rPr sz="1800" b="0">
                <a:solidFill>
                  <a:srgbClr val="000000"/>
                </a:solidFill>
                <a:latin typeface="맑은 고딕"/>
                <a:ea typeface="맑은 고딕"/>
              </a:rPr>
              <a:t>결합도는 </a:t>
            </a:r>
            <a:r>
              <a:rPr sz="1800" b="1">
                <a:solidFill>
                  <a:srgbClr val="000000"/>
                </a:solidFill>
                <a:latin typeface="맑은 고딕"/>
                <a:ea typeface="맑은 고딕"/>
              </a:rPr>
              <a:t>경계 밖</a:t>
            </a:r>
            <a:r>
              <a:rPr sz="1800" b="0">
                <a:solidFill>
                  <a:srgbClr val="000000"/>
                </a:solidFill>
                <a:latin typeface="맑은 고딕"/>
                <a:ea typeface="맑은 고딕"/>
              </a:rPr>
              <a:t>을 보는 척도다. 같은 "안다"에도 정도가 있고, 정도에 따라 변경이 번지는 범위가 달라진다.</a:t>
            </a:r>
          </a:p>
        </p:txBody>
      </p:sp>
      <p:sp>
        <p:nvSpPr>
          <p:cNvPr id="8" name="슬라이드 번호 개체 틀 2">
            <a:extLst>
              <a:ext uri="{FF2B5EF4-FFF2-40B4-BE49-F238E27FC236}">
                <a16:creationId xmlns:a16="http://schemas.microsoft.com/office/drawing/2014/main" id="{741B75C6-7ED3-AA4C-41B6-F69C599EA447}"/>
              </a:ext>
            </a:extLst>
          </p:cNvPr>
          <p:cNvSpPr>
            <a:spLocks noGrp="1"/>
          </p:cNvSpPr>
          <p:nvPr>
            <p:ph type="sldNum" sz="quarter" idx="10"/>
          </p:nvPr>
        </p:nvSpPr>
        <p:spPr>
          <a:xfrm>
            <a:off x="3508472" y="6449625"/>
            <a:ext cx="2133600" cy="238277"/>
          </a:xfrm>
        </p:spPr>
        <p:txBody>
          <a:bodyPr>
            <a:normAutofit/>
          </a:bodyPr>
          <a:lstStyle/>
          <a:p>
            <a:pPr marL="0" marR="0" lvl="0" indent="0" algn="ctr" defTabSz="457200" rtl="0" eaLnBrk="1" fontAlgn="auto" latinLnBrk="0" hangingPunct="1">
              <a:lnSpc>
                <a:spcPct val="100000"/>
              </a:lnSpc>
              <a:spcBef>
                <a:spcPts val="0"/>
              </a:spcBef>
              <a:spcAft>
                <a:spcPts val="600"/>
              </a:spcAft>
              <a:buClrTx/>
              <a:buSzTx/>
              <a:buFontTx/>
              <a:buNone/>
              <a:tabLst/>
              <a:defRPr/>
            </a:pPr>
            <a:r>
              <a:rPr kumimoji="0" lang="en-US" altLang="ko-KR" sz="800" b="0" i="0" u="none" strike="noStrike" kern="1200" cap="none" spc="0" normalizeH="0" baseline="0" noProof="0">
                <a:ln>
                  <a:noFill/>
                </a:ln>
                <a:solidFill>
                  <a:prstClr val="black"/>
                </a:solidFill>
                <a:effectLst/>
                <a:uLnTx/>
                <a:uFillTx/>
                <a:latin typeface="맑은 고딕" panose="020B0503020000020004" pitchFamily="34" charset="-127"/>
                <a:ea typeface="맑은 고딕" panose="020B0503020000020004" pitchFamily="34" charset="-127"/>
                <a:cs typeface="+mn-cs"/>
              </a:rPr>
              <a:t>- 8 -</a:t>
            </a:r>
          </a:p>
        </p:txBody>
      </p:sp>
      <p:sp>
        <p:nvSpPr>
          <p:cNvPr id="14" name="TextBox 12">
            <a:extLst>
              <a:ext uri="{FF2B5EF4-FFF2-40B4-BE49-F238E27FC236}">
                <a16:creationId xmlns:a16="http://schemas.microsoft.com/office/drawing/2014/main" id="{654EDDB4-901F-3D48-A715-17D163E8A7AC}"/>
              </a:ext>
            </a:extLst>
          </p:cNvPr>
          <p:cNvSpPr txBox="1"/>
          <p:nvPr/>
        </p:nvSpPr>
        <p:spPr>
          <a:xfrm>
            <a:off x="365760" y="1813560"/>
            <a:ext cx="8412480" cy="222250"/>
          </a:xfrm>
          <a:prstGeom prst="rect">
            <a:avLst/>
          </a:prstGeom>
          <a:noFill/>
        </p:spPr>
        <p:txBody>
          <a:bodyPr wrap="square" tIns="0" bIns="0">
            <a:spAutoFit/>
          </a:bodyPr>
          <a:lstStyle/>
          <a:p>
            <a:pPr algn="ctr">
              <a:spcBef>
                <a:spcPts val="0"/>
              </a:spcBef>
              <a:spcAft>
                <a:spcPts val="0"/>
              </a:spcAft>
            </a:pPr>
            <a:r>
              <a:rPr sz="1400" b="1">
                <a:solidFill>
                  <a:srgbClr val="000000"/>
                </a:solidFill>
                <a:latin typeface="맑은 고딕"/>
                <a:ea typeface="맑은 고딕"/>
              </a:rPr>
              <a:t>무엇을 아는가에 따른 결합의 정도</a:t>
            </a:r>
          </a:p>
        </p:txBody>
      </p:sp>
      <p:sp>
        <p:nvSpPr>
          <p:cNvPr id="15" name="TextBox 12">
            <a:extLst>
              <a:ext uri="{FF2B5EF4-FFF2-40B4-BE49-F238E27FC236}">
                <a16:creationId xmlns:a16="http://schemas.microsoft.com/office/drawing/2014/main" id="{654EDDB4-901F-3D48-A715-17D163E8A7AC}"/>
              </a:ext>
            </a:extLst>
          </p:cNvPr>
          <p:cNvSpPr txBox="1"/>
          <p:nvPr/>
        </p:nvSpPr>
        <p:spPr>
          <a:xfrm>
            <a:off x="365760" y="3780610"/>
            <a:ext cx="8412480" cy="1325880"/>
          </a:xfrm>
          <a:prstGeom prst="rect">
            <a:avLst/>
          </a:prstGeom>
          <a:noFill/>
        </p:spPr>
        <p:txBody>
          <a:bodyPr wrap="square">
            <a:spAutoFit/>
          </a:bodyPr>
          <a:lstStyle/>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이 사례는 </a:t>
            </a:r>
            <a:r>
              <a:rPr sz="1800" b="1">
                <a:solidFill>
                  <a:srgbClr val="000000"/>
                </a:solidFill>
                <a:latin typeface="맑은 고딕"/>
                <a:ea typeface="맑은 고딕"/>
              </a:rPr>
              <a:t>첫 줄만</a:t>
            </a:r>
            <a:r>
              <a:rPr sz="1800" b="0">
                <a:solidFill>
                  <a:srgbClr val="000000"/>
                </a:solidFill>
                <a:latin typeface="맑은 고딕"/>
                <a:ea typeface="맑은 고딕"/>
              </a:rPr>
              <a:t> 쓴다. 포트의 입출력을 업무의 값으로 적는 것이 결합을 이름까지로 묶는 방법이다.</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결합을 없앨 수는 없다. 쓰는 쪽은 무엇이든 알아야 한다. 정하는 것은 </a:t>
            </a:r>
            <a:r>
              <a:rPr sz="1800" b="1">
                <a:solidFill>
                  <a:srgbClr val="000000"/>
                </a:solidFill>
                <a:latin typeface="맑은 고딕"/>
                <a:ea typeface="맑은 고딕"/>
              </a:rPr>
              <a:t>무엇을 알게 할지</a:t>
            </a:r>
            <a:r>
              <a:rPr sz="1800" b="0">
                <a:solidFill>
                  <a:srgbClr val="000000"/>
                </a:solidFill>
                <a:latin typeface="맑은 고딕"/>
                <a:ea typeface="맑은 고딕"/>
              </a:rPr>
              <a:t>다.</a:t>
            </a:r>
          </a:p>
        </p:txBody>
      </p:sp>
    </p:spTree>
    <p:extLst>
      <p:ext uri="{BB962C8B-B14F-4D97-AF65-F5344CB8AC3E}">
        <p14:creationId xmlns:p14="http://schemas.microsoft.com/office/powerpoint/2010/main" val="278956947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4F1F13-426B-086B-7D8C-9A58A0F879DB}"/>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AA26A92D-924E-0575-9551-F8FD7BFD3FAD}"/>
              </a:ext>
            </a:extLst>
          </p:cNvPr>
          <p:cNvSpPr>
            <a:spLocks noGrp="1"/>
          </p:cNvSpPr>
          <p:nvPr>
            <p:ph type="title"/>
          </p:nvPr>
        </p:nvSpPr>
        <p:spPr/>
        <p:txBody>
          <a:bodyPr/>
          <a:lstStyle/>
          <a:p>
            <a:r>
              <a:rPr sz="2400" b="1">
                <a:solidFill>
                  <a:srgbClr val="000000"/>
                </a:solidFill>
                <a:latin typeface="맑은 고딕"/>
                <a:ea typeface="맑은 고딕"/>
              </a:rPr>
              <a:t>단일 책임</a:t>
            </a:r>
          </a:p>
          <a:p>
            <a:r>
              <a:rPr sz="1100" b="1">
                <a:solidFill>
                  <a:srgbClr val="000000"/>
                </a:solidFill>
                <a:latin typeface="맑은 고딕"/>
                <a:ea typeface="맑은 고딕"/>
              </a:rPr>
              <a:t>03. 설계 원칙</a:t>
            </a:r>
          </a:p>
        </p:txBody>
      </p:sp>
      <p:sp>
        <p:nvSpPr>
          <p:cNvPr id="3" name="슬라이드 번호 개체 틀 2">
            <a:extLst>
              <a:ext uri="{FF2B5EF4-FFF2-40B4-BE49-F238E27FC236}">
                <a16:creationId xmlns:a16="http://schemas.microsoft.com/office/drawing/2014/main" id="{12CF30EE-4DFD-8063-56B8-B8689E76DFCA}"/>
              </a:ext>
            </a:extLst>
          </p:cNvPr>
          <p:cNvSpPr>
            <a:spLocks noGrp="1"/>
          </p:cNvSpPr>
          <p:nvPr>
            <p:ph type="sldNum" sz="quarter" idx="10"/>
          </p:nvPr>
        </p:nvSpPr>
        <p:spPr/>
        <p:txBody>
          <a:bodyPr/>
          <a:lstStyle/>
          <a:p>
            <a:pPr>
              <a:defRPr/>
            </a:pPr>
            <a:r>
              <a:rPr lang="en-US" altLang="ko-KR">
                <a:solidFill>
                  <a:prstClr val="black"/>
                </a:solidFill>
              </a:rPr>
              <a:t>- 9 -</a:t>
            </a:r>
          </a:p>
        </p:txBody>
      </p:sp>
      <p:sp>
        <p:nvSpPr>
          <p:cNvPr id="5" name="텍스트 개체 틀 4">
            <a:extLst>
              <a:ext uri="{FF2B5EF4-FFF2-40B4-BE49-F238E27FC236}">
                <a16:creationId xmlns:a16="http://schemas.microsoft.com/office/drawing/2014/main" id="{D66274C8-E16F-5AEB-614B-D8D32DA3E8C6}"/>
              </a:ext>
            </a:extLst>
          </p:cNvPr>
          <p:cNvSpPr>
            <a:spLocks noGrp="1"/>
          </p:cNvSpPr>
          <p:nvPr>
            <p:ph type="body" sz="quarter" idx="11"/>
          </p:nvPr>
        </p:nvSpPr>
        <p:spPr/>
        <p:txBody>
          <a:bodyPr/>
          <a:lstStyle/>
          <a:p>
            <a:r>
              <a:rPr kumimoji="1" lang="en-US" altLang="ko-KR" sz="1400" dirty="0" err="1"/>
              <a:t>06. 아키텍처</a:t>
            </a:r>
          </a:p>
        </p:txBody>
      </p:sp>
      <p:sp>
        <p:nvSpPr>
          <p:cNvPr id="6" name="텍스트 개체 틀 5">
            <a:extLst>
              <a:ext uri="{FF2B5EF4-FFF2-40B4-BE49-F238E27FC236}">
                <a16:creationId xmlns:a16="http://schemas.microsoft.com/office/drawing/2014/main" id="{A24E58E1-194B-A320-AEEE-24D08685BB6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A219F420-613B-6234-45F6-0955A9A4505F}"/>
              </a:ext>
            </a:extLst>
          </p:cNvPr>
          <p:cNvSpPr>
            <a:spLocks noGrp="1"/>
          </p:cNvSpPr>
          <p:nvPr>
            <p:ph type="body" sz="quarter" idx="13"/>
          </p:nvPr>
        </p:nvSpPr>
        <p:spPr/>
        <p:txBody>
          <a:bodyPr/>
          <a:lstStyle/>
          <a:p>
            <a:endParaRPr kumimoji="1" lang="en-US" altLang="ko-KR" dirty="0"/>
          </a:p>
        </p:txBody>
      </p:sp>
      <p:sp>
        <p:nvSpPr>
          <p:cNvPr id="8" name="내용 개체 틀 7">
            <a:extLst>
              <a:ext uri="{FF2B5EF4-FFF2-40B4-BE49-F238E27FC236}">
                <a16:creationId xmlns:a16="http://schemas.microsoft.com/office/drawing/2014/main" id="{BEBA2C4A-B0BF-F2E4-EA6E-614C99CBA184}"/>
              </a:ext>
            </a:extLst>
          </p:cNvPr>
          <p:cNvSpPr>
            <a:spLocks noGrp="1"/>
          </p:cNvSpPr>
          <p:nvPr>
            <p:ph idx="1"/>
          </p:nvPr>
        </p:nvSpPr>
        <p:spPr/>
        <p:txBody>
          <a:bodyPr>
            <a:normAutofit/>
          </a:bodyPr>
          <a:lstStyle/>
          <a:p>
            <a:pPr marL="0" indent="0">
              <a:spcBef>
                <a:spcPts val="600"/>
              </a:spcBef>
              <a:spcAft>
                <a:spcPts val="600"/>
              </a:spcAft>
              <a:buNone/>
            </a:pPr>
            <a:r>
              <a:rPr sz="1800" b="0">
                <a:solidFill>
                  <a:srgbClr val="000000"/>
                </a:solidFill>
                <a:latin typeface="맑은 고딕"/>
                <a:ea typeface="맑은 고딕"/>
              </a:rPr>
              <a:t>같은 이유로 바뀌는 것은 모으고, 다른 이유로 바뀌는 것은 나눈다. </a:t>
            </a:r>
            <a:r>
              <a:rPr sz="1800" b="1">
                <a:solidFill>
                  <a:srgbClr val="000000"/>
                </a:solidFill>
                <a:latin typeface="맑은 고딕"/>
                <a:ea typeface="맑은 고딕"/>
              </a:rPr>
              <a:t>누가 변경을 요구하는가</a:t>
            </a:r>
            <a:r>
              <a:rPr sz="1800" b="0">
                <a:solidFill>
                  <a:srgbClr val="000000"/>
                </a:solidFill>
                <a:latin typeface="맑은 고딕"/>
                <a:ea typeface="맑은 고딕"/>
              </a:rPr>
              <a:t>로 구분한다.</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같은 이유로 바뀌는 것은 </a:t>
            </a:r>
            <a:r>
              <a:rPr sz="1800" b="1">
                <a:solidFill>
                  <a:srgbClr val="000000"/>
                </a:solidFill>
                <a:latin typeface="맑은 고딕"/>
                <a:ea typeface="맑은 고딕"/>
              </a:rPr>
              <a:t>모으고</a:t>
            </a:r>
            <a:r>
              <a:rPr sz="1800" b="0">
                <a:solidFill>
                  <a:srgbClr val="000000"/>
                </a:solidFill>
                <a:latin typeface="맑은 고딕"/>
                <a:ea typeface="맑은 고딕"/>
              </a:rPr>
              <a:t>, 다른 이유로 바뀌는 것은 </a:t>
            </a:r>
            <a:r>
              <a:rPr sz="1800" b="1">
                <a:solidFill>
                  <a:srgbClr val="000000"/>
                </a:solidFill>
                <a:latin typeface="맑은 고딕"/>
                <a:ea typeface="맑은 고딕"/>
              </a:rPr>
              <a:t>분리한다</a:t>
            </a:r>
            <a:r>
              <a:rPr sz="1000" b="0">
                <a:solidFill>
                  <a:srgbClr val="000000"/>
                </a:solidFill>
                <a:latin typeface="맑은 고딕"/>
                <a:ea typeface="맑은 고딕"/>
              </a:rPr>
              <a:t>, </a:t>
            </a:r>
            <a:r>
              <a:rPr sz="1000" b="0">
                <a:solidFill>
                  <a:srgbClr val="000000"/>
                </a:solidFill>
                <a:latin typeface="맑은 고딕"/>
                <a:ea typeface="맑은 고딕"/>
              </a:rPr>
              <a:t>"Gather together the things that change for the same reasons. Separate those things that change for different reasons."</a:t>
            </a:r>
            <a:r>
              <a:rPr sz="1000" b="0">
                <a:solidFill>
                  <a:srgbClr val="000000"/>
                </a:solidFill>
                <a:latin typeface="맑은 고딕"/>
                <a:ea typeface="맑은 고딕"/>
              </a:rPr>
              <a:t>, </a:t>
            </a:r>
            <a:r>
              <a:rPr sz="1000" b="0">
                <a:solidFill>
                  <a:srgbClr val="000000"/>
                </a:solidFill>
                <a:latin typeface="맑은 고딕"/>
                <a:ea typeface="맑은 고딕"/>
              </a:rPr>
              <a:t>[Martin 2014]</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업무가 요구하는 변경</a:t>
            </a:r>
            <a:r>
              <a:rPr sz="1800" b="0">
                <a:solidFill>
                  <a:srgbClr val="000000"/>
                </a:solidFill>
                <a:latin typeface="맑은 고딕"/>
                <a:ea typeface="맑은 고딕"/>
              </a:rPr>
              <a:t> —</a:t>
            </a:r>
            <a:r>
              <a:rPr sz="1600" b="0">
                <a:solidFill>
                  <a:srgbClr val="000000"/>
                </a:solidFill>
                <a:latin typeface="맑은 고딕"/>
                <a:ea typeface="맑은 고딕"/>
              </a:rPr>
              <a:t> 승인 뒤에 배송을 요청한다는 순서. </a:t>
            </a:r>
            <a:r>
              <a:rPr sz="1600" b="0">
                <a:solidFill>
                  <a:srgbClr val="000000"/>
                </a:solidFill>
                <a:latin typeface="맑은 고딕"/>
                <a:ea typeface="맑은 고딕"/>
              </a:rPr>
              <a:t>payment</a:t>
            </a:r>
            <a:r>
              <a:rPr sz="1600" b="0">
                <a:solidFill>
                  <a:srgbClr val="000000"/>
                </a:solidFill>
                <a:latin typeface="맑은 고딕"/>
                <a:ea typeface="맑은 고딕"/>
              </a:rPr>
              <a:t>·</a:t>
            </a:r>
            <a:r>
              <a:rPr sz="1600" b="0">
                <a:solidFill>
                  <a:srgbClr val="000000"/>
                </a:solidFill>
                <a:latin typeface="맑은 고딕"/>
                <a:ea typeface="맑은 고딕"/>
              </a:rPr>
              <a:t>order</a:t>
            </a:r>
            <a:r>
              <a:rPr sz="1600" b="0">
                <a:solidFill>
                  <a:srgbClr val="000000"/>
                </a:solidFill>
                <a:latin typeface="맑은 고딕"/>
                <a:ea typeface="맑은 고딕"/>
              </a:rPr>
              <a:t>가 바뀐다.</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제공자가 요구하는 변경</a:t>
            </a:r>
            <a:r>
              <a:rPr sz="1800" b="0">
                <a:solidFill>
                  <a:srgbClr val="000000"/>
                </a:solidFill>
                <a:latin typeface="맑은 고딕"/>
                <a:ea typeface="맑은 고딕"/>
              </a:rPr>
              <a:t> —</a:t>
            </a:r>
            <a:r>
              <a:rPr sz="1600" b="0">
                <a:solidFill>
                  <a:srgbClr val="000000"/>
                </a:solidFill>
                <a:latin typeface="맑은 고딕"/>
                <a:ea typeface="맑은 고딕"/>
              </a:rPr>
              <a:t> 승인 요청의 필드가 하나 늘었다. </a:t>
            </a:r>
            <a:r>
              <a:rPr sz="1600" b="0">
                <a:solidFill>
                  <a:srgbClr val="000000"/>
                </a:solidFill>
                <a:latin typeface="맑은 고딕"/>
                <a:ea typeface="맑은 고딕"/>
              </a:rPr>
              <a:t>paymentadapter</a:t>
            </a:r>
            <a:r>
              <a:rPr sz="1600" b="0">
                <a:solidFill>
                  <a:srgbClr val="000000"/>
                </a:solidFill>
                <a:latin typeface="맑은 고딕"/>
                <a:ea typeface="맑은 고딕"/>
              </a:rPr>
              <a:t>만 바뀐다.</a:t>
            </a:r>
          </a:p>
        </p:txBody>
      </p:sp>
    </p:spTree>
    <p:extLst>
      <p:ext uri="{BB962C8B-B14F-4D97-AF65-F5344CB8AC3E}">
        <p14:creationId xmlns:p14="http://schemas.microsoft.com/office/powerpoint/2010/main" val="355543667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88D352-71B8-E3E1-FEC2-7A4B3A634A78}"/>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6B867C48-2A31-3C59-F9AC-29CD4F069980}"/>
              </a:ext>
            </a:extLst>
          </p:cNvPr>
          <p:cNvSpPr>
            <a:spLocks noGrp="1"/>
          </p:cNvSpPr>
          <p:nvPr>
            <p:ph type="title"/>
          </p:nvPr>
        </p:nvSpPr>
        <p:spPr/>
        <p:txBody>
          <a:bodyPr/>
          <a:lstStyle/>
          <a:p>
            <a:r>
              <a:rPr sz="2400" b="1">
                <a:solidFill>
                  <a:srgbClr val="000000"/>
                </a:solidFill>
                <a:latin typeface="맑은 고딕"/>
                <a:ea typeface="맑은 고딕"/>
              </a:rPr>
              <a:t>의존성 역전</a:t>
            </a:r>
          </a:p>
          <a:p>
            <a:r>
              <a:rPr sz="1100" b="1">
                <a:solidFill>
                  <a:srgbClr val="000000"/>
                </a:solidFill>
                <a:latin typeface="맑은 고딕"/>
                <a:ea typeface="맑은 고딕"/>
              </a:rPr>
              <a:t>03. 설계 원칙</a:t>
            </a:r>
          </a:p>
        </p:txBody>
      </p:sp>
      <p:sp>
        <p:nvSpPr>
          <p:cNvPr id="3" name="슬라이드 번호 개체 틀 2">
            <a:extLst>
              <a:ext uri="{FF2B5EF4-FFF2-40B4-BE49-F238E27FC236}">
                <a16:creationId xmlns:a16="http://schemas.microsoft.com/office/drawing/2014/main" id="{7DA43EF7-1D4A-ECB9-A1FF-518C60DE99E6}"/>
              </a:ext>
            </a:extLst>
          </p:cNvPr>
          <p:cNvSpPr>
            <a:spLocks noGrp="1"/>
          </p:cNvSpPr>
          <p:nvPr>
            <p:ph type="sldNum" sz="quarter" idx="10"/>
          </p:nvPr>
        </p:nvSpPr>
        <p:spPr/>
        <p:txBody>
          <a:bodyPr/>
          <a:lstStyle/>
          <a:p>
            <a:pPr>
              <a:defRPr/>
            </a:pPr>
            <a:r>
              <a:rPr lang="en-US" altLang="ko-KR">
                <a:solidFill>
                  <a:prstClr val="black"/>
                </a:solidFill>
              </a:rPr>
              <a:t>- 10 -</a:t>
            </a:r>
          </a:p>
        </p:txBody>
      </p:sp>
      <p:sp>
        <p:nvSpPr>
          <p:cNvPr id="5" name="텍스트 개체 틀 4">
            <a:extLst>
              <a:ext uri="{FF2B5EF4-FFF2-40B4-BE49-F238E27FC236}">
                <a16:creationId xmlns:a16="http://schemas.microsoft.com/office/drawing/2014/main" id="{522E744E-3182-EA63-E315-5167A8F7E1A4}"/>
              </a:ext>
            </a:extLst>
          </p:cNvPr>
          <p:cNvSpPr>
            <a:spLocks noGrp="1"/>
          </p:cNvSpPr>
          <p:nvPr>
            <p:ph type="body" sz="quarter" idx="11"/>
          </p:nvPr>
        </p:nvSpPr>
        <p:spPr/>
        <p:txBody>
          <a:bodyPr/>
          <a:lstStyle/>
          <a:p>
            <a:r>
              <a:rPr kumimoji="1" lang="en-US" altLang="ko-KR" sz="1400" dirty="0" err="1"/>
              <a:t>06. 아키텍처</a:t>
            </a:r>
          </a:p>
        </p:txBody>
      </p:sp>
      <p:sp>
        <p:nvSpPr>
          <p:cNvPr id="6" name="텍스트 개체 틀 5">
            <a:extLst>
              <a:ext uri="{FF2B5EF4-FFF2-40B4-BE49-F238E27FC236}">
                <a16:creationId xmlns:a16="http://schemas.microsoft.com/office/drawing/2014/main" id="{6C32D74B-A4F7-BB0E-1C8C-BE9287C820A2}"/>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BCF57505-7D66-BE60-56CA-086F6E979841}"/>
              </a:ext>
            </a:extLst>
          </p:cNvPr>
          <p:cNvSpPr>
            <a:spLocks noGrp="1"/>
          </p:cNvSpPr>
          <p:nvPr>
            <p:ph type="body" sz="quarter" idx="13"/>
          </p:nvPr>
        </p:nvSpPr>
        <p:spPr/>
        <p:txBody>
          <a:bodyPr/>
          <a:lstStyle/>
          <a:p>
            <a:endParaRPr kumimoji="1" lang="en-US" altLang="ko-KR" dirty="0"/>
          </a:p>
        </p:txBody>
      </p:sp>
      <p:sp>
        <p:nvSpPr>
          <p:cNvPr id="31" name="Integrated content 31">
            <a:extLst>
              <a:ext uri="{FF2B5EF4-FFF2-40B4-BE49-F238E27FC236}">
                <a16:creationId xmlns:a16="http://schemas.microsoft.com/office/drawing/2014/main" id="{8E264927-DE01-A85F-AD3D-A49DD8EAC71A}"/>
              </a:ext>
            </a:extLst>
          </p:cNvPr>
          <p:cNvSpPr txBox="1"/>
          <p:nvPr/>
        </p:nvSpPr>
        <p:spPr>
          <a:xfrm>
            <a:off x="365760" y="4583245"/>
            <a:ext cx="8412480" cy="825500"/>
          </a:xfrm>
          <a:prstGeom prst="rect">
            <a:avLst/>
          </a:prstGeom>
          <a:noFill/>
        </p:spPr>
        <p:txBody>
          <a:bodyPr wrap="square" lIns="91440" tIns="0" rIns="91440" bIns="0" anchor="t">
            <a:noAutofit/>
          </a:bodyPr>
          <a:lstStyle/>
          <a:p>
            <a:pPr marL="0" indent="0" algn="l">
              <a:lnSpc>
                <a:spcPts val="1150"/>
              </a:lnSpc>
              <a:spcBef>
                <a:spcPts val="0"/>
              </a:spcBef>
              <a:spcAft>
                <a:spcPts val="0"/>
              </a:spcAft>
              <a:buNone/>
            </a:pPr>
            <a:r>
              <a:rPr sz="1000" b="0">
                <a:solidFill>
                  <a:srgbClr val="000000"/>
                </a:solidFill>
                <a:latin typeface="Consolas"/>
                <a:ea typeface="맑은 고딕"/>
              </a:rPr>
              <a:t>package payment;</a:t>
            </a:r>
          </a:p>
          <a:p>
            <a:pPr marL="0" indent="0" algn="l">
              <a:lnSpc>
                <a:spcPts val="1150"/>
              </a:lnSpc>
              <a:spcBef>
                <a:spcPts val="0"/>
              </a:spcBef>
              <a:spcAft>
                <a:spcPts val="0"/>
              </a:spcAft>
              <a:buNone/>
            </a:pPr>
            <a:r>
              <a:rPr sz="1000" b="0">
                <a:solidFill>
                  <a:srgbClr val="000000"/>
                </a:solidFill>
                <a:latin typeface="Consolas"/>
                <a:ea typeface="맑은 고딕"/>
              </a:rPr>
              <a:t>public interface </a:t>
            </a:r>
            <a:r>
              <a:rPr sz="1000" b="1">
                <a:solidFill>
                  <a:srgbClr val="000000"/>
                </a:solidFill>
                <a:latin typeface="Consolas"/>
                <a:ea typeface="맑은 고딕"/>
              </a:rPr>
              <a:t>PaymentGateway</a:t>
            </a:r>
            <a:r>
              <a:rPr sz="1000" b="0">
                <a:solidFill>
                  <a:srgbClr val="000000"/>
                </a:solidFill>
                <a:latin typeface="Consolas"/>
                <a:ea typeface="맑은 고딕"/>
              </a:rPr>
              <a:t> {</a:t>
            </a:r>
          </a:p>
          <a:p>
            <a:pPr marL="0" indent="0" algn="l">
              <a:lnSpc>
                <a:spcPts val="1150"/>
              </a:lnSpc>
              <a:spcBef>
                <a:spcPts val="0"/>
              </a:spcBef>
              <a:spcAft>
                <a:spcPts val="0"/>
              </a:spcAft>
              <a:buNone/>
            </a:pPr>
            <a:r>
              <a:rPr sz="1000" b="0">
                <a:solidFill>
                  <a:srgbClr val="000000"/>
                </a:solidFill>
                <a:latin typeface="Consolas"/>
                <a:ea typeface="맑은 고딕"/>
              </a:rPr>
              <a:t>    PaymentDecision </a:t>
            </a:r>
            <a:r>
              <a:rPr sz="1000" b="1">
                <a:solidFill>
                  <a:srgbClr val="000000"/>
                </a:solidFill>
                <a:latin typeface="Consolas"/>
                <a:ea typeface="맑은 고딕"/>
              </a:rPr>
              <a:t>requestApproval</a:t>
            </a:r>
            <a:r>
              <a:rPr sz="1000" b="0">
                <a:solidFill>
                  <a:srgbClr val="000000"/>
                </a:solidFill>
                <a:latin typeface="Consolas"/>
                <a:ea typeface="맑은 고딕"/>
              </a:rPr>
              <a:t>(Money amount, PaymentMethod method);</a:t>
            </a:r>
          </a:p>
          <a:p>
            <a:pPr marL="0" indent="0" algn="l">
              <a:lnSpc>
                <a:spcPts val="1150"/>
              </a:lnSpc>
              <a:spcBef>
                <a:spcPts val="0"/>
              </a:spcBef>
              <a:spcAft>
                <a:spcPts val="0"/>
              </a:spcAft>
              <a:buNone/>
            </a:pPr>
            <a:r>
              <a:rPr sz="1000" b="0">
                <a:solidFill>
                  <a:srgbClr val="000000"/>
                </a:solidFill>
                <a:latin typeface="Consolas"/>
                <a:ea typeface="맑은 고딕"/>
              </a:rPr>
              <a:t>}</a:t>
            </a:r>
          </a:p>
        </p:txBody>
      </p:sp>
      <p:sp>
        <p:nvSpPr>
          <p:cNvPr id="32" name="내용 개체 틀 7">
            <a:extLst>
              <a:ext uri="{FF2B5EF4-FFF2-40B4-BE49-F238E27FC236}">
                <a16:creationId xmlns:a16="http://schemas.microsoft.com/office/drawing/2014/main" id="{BEBA2C4A-B0BF-F2E4-EA6E-614C99CBA184}"/>
              </a:ext>
            </a:extLst>
          </p:cNvPr>
          <p:cNvSpPr>
            <a:spLocks noGrp="1"/>
          </p:cNvSpPr>
          <p:nvPr>
            <p:ph idx="1"/>
          </p:nvPr>
        </p:nvSpPr>
        <p:spPr>
          <a:xfrm>
            <a:off x="365760" y="960120"/>
            <a:ext cx="8412480" cy="1330404"/>
          </a:xfrm>
        </p:spPr>
        <p:txBody>
          <a:bodyPr>
            <a:normAutofit/>
          </a:bodyPr>
          <a:lstStyle/>
          <a:p>
            <a:pPr marL="0" indent="0">
              <a:spcBef>
                <a:spcPts val="600"/>
              </a:spcBef>
              <a:spcAft>
                <a:spcPts val="600"/>
              </a:spcAft>
              <a:buNone/>
            </a:pPr>
            <a:r>
              <a:rPr sz="1800" b="0">
                <a:solidFill>
                  <a:srgbClr val="000000"/>
                </a:solidFill>
                <a:latin typeface="맑은 고딕"/>
                <a:ea typeface="맑은 고딕"/>
              </a:rPr>
              <a:t>업무가 외부를 직접 부르면 외부가 업무를 정한다. </a:t>
            </a:r>
            <a:r>
              <a:rPr sz="1800" b="1">
                <a:solidFill>
                  <a:srgbClr val="000000"/>
                </a:solidFill>
                <a:latin typeface="맑은 고딕"/>
                <a:ea typeface="맑은 고딕"/>
              </a:rPr>
              <a:t>추상을 업무 쪽에 두고</a:t>
            </a:r>
            <a:r>
              <a:rPr sz="1800" b="0">
                <a:solidFill>
                  <a:srgbClr val="000000"/>
                </a:solidFill>
                <a:latin typeface="맑은 고딕"/>
                <a:ea typeface="맑은 고딕"/>
              </a:rPr>
              <a:t> 외부가 그것을 구현하게 뒤집는다.</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추상에 의존하라</a:t>
            </a:r>
            <a:r>
              <a:rPr sz="1800" b="0">
                <a:solidFill>
                  <a:srgbClr val="000000"/>
                </a:solidFill>
                <a:latin typeface="맑은 고딕"/>
                <a:ea typeface="맑은 고딕"/>
              </a:rPr>
              <a:t>. 구체에 의존하지 마라</a:t>
            </a:r>
            <a:r>
              <a:rPr sz="1000" b="0">
                <a:solidFill>
                  <a:srgbClr val="000000"/>
                </a:solidFill>
                <a:latin typeface="맑은 고딕"/>
                <a:ea typeface="맑은 고딕"/>
              </a:rPr>
              <a:t>, </a:t>
            </a:r>
            <a:r>
              <a:rPr sz="1000" b="0">
                <a:solidFill>
                  <a:srgbClr val="000000"/>
                </a:solidFill>
                <a:latin typeface="맑은 고딕"/>
                <a:ea typeface="맑은 고딕"/>
              </a:rPr>
              <a:t>"Depend upon Abstractions. Do not depend upon concretions."</a:t>
            </a:r>
            <a:r>
              <a:rPr sz="1000" b="0">
                <a:solidFill>
                  <a:srgbClr val="000000"/>
                </a:solidFill>
                <a:latin typeface="맑은 고딕"/>
                <a:ea typeface="맑은 고딕"/>
              </a:rPr>
              <a:t>, </a:t>
            </a:r>
            <a:r>
              <a:rPr sz="1000" b="0">
                <a:solidFill>
                  <a:srgbClr val="000000"/>
                </a:solidFill>
                <a:latin typeface="맑은 고딕"/>
                <a:ea typeface="맑은 고딕"/>
              </a:rPr>
              <a:t>[Martin 2000]</a:t>
            </a:r>
          </a:p>
        </p:txBody>
      </p:sp>
      <p:sp>
        <p:nvSpPr>
          <p:cNvPr id="33" name="TextBox 12">
            <a:extLst>
              <a:ext uri="{FF2B5EF4-FFF2-40B4-BE49-F238E27FC236}">
                <a16:creationId xmlns:a16="http://schemas.microsoft.com/office/drawing/2014/main" id="{654EDDB4-901F-3D48-A715-17D163E8A7AC}"/>
              </a:ext>
            </a:extLst>
          </p:cNvPr>
          <p:cNvSpPr txBox="1"/>
          <p:nvPr/>
        </p:nvSpPr>
        <p:spPr>
          <a:xfrm>
            <a:off x="365760" y="5637345"/>
            <a:ext cx="8412480" cy="701040"/>
          </a:xfrm>
          <a:prstGeom prst="rect">
            <a:avLst/>
          </a:prstGeom>
          <a:noFill/>
        </p:spPr>
        <p:txBody>
          <a:bodyPr wrap="square">
            <a:spAutoFit/>
          </a:bodyPr>
          <a:lstStyle/>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뒤집힌 것</a:t>
            </a:r>
            <a:r>
              <a:rPr sz="1800" b="0">
                <a:solidFill>
                  <a:srgbClr val="000000"/>
                </a:solidFill>
                <a:latin typeface="맑은 고딕"/>
                <a:ea typeface="맑은 고딕"/>
              </a:rPr>
              <a:t> —</a:t>
            </a:r>
            <a:r>
              <a:rPr sz="1600" b="0">
                <a:solidFill>
                  <a:srgbClr val="000000"/>
                </a:solidFill>
                <a:latin typeface="맑은 고딕"/>
                <a:ea typeface="맑은 고딕"/>
              </a:rPr>
              <a:t> 화살표가 연동 → 업무다. 인터페이스가 </a:t>
            </a:r>
            <a:r>
              <a:rPr sz="1600" b="0">
                <a:solidFill>
                  <a:srgbClr val="000000"/>
                </a:solidFill>
                <a:latin typeface="맑은 고딕"/>
                <a:ea typeface="맑은 고딕"/>
              </a:rPr>
              <a:t>payment</a:t>
            </a:r>
            <a:r>
              <a:rPr sz="1600" b="0">
                <a:solidFill>
                  <a:srgbClr val="000000"/>
                </a:solidFill>
                <a:latin typeface="맑은 고딕"/>
                <a:ea typeface="맑은 고딕"/>
              </a:rPr>
              <a:t>에 있으므로 업무는 </a:t>
            </a:r>
            <a:r>
              <a:rPr sz="1600" b="0">
                <a:solidFill>
                  <a:srgbClr val="000000"/>
                </a:solidFill>
                <a:latin typeface="맑은 고딕"/>
                <a:ea typeface="맑은 고딕"/>
              </a:rPr>
              <a:t>paymentadapter</a:t>
            </a:r>
            <a:r>
              <a:rPr sz="1600" b="0">
                <a:solidFill>
                  <a:srgbClr val="000000"/>
                </a:solidFill>
                <a:latin typeface="맑은 고딕"/>
                <a:ea typeface="맑은 고딕"/>
              </a:rPr>
              <a:t>를 모른다.</a:t>
            </a:r>
          </a:p>
        </p:txBody>
      </p:sp>
      <p:sp>
        <p:nvSpPr>
          <p:cNvPr id="34" name="TextBox 12">
            <a:extLst>
              <a:ext uri="{FF2B5EF4-FFF2-40B4-BE49-F238E27FC236}">
                <a16:creationId xmlns:a16="http://schemas.microsoft.com/office/drawing/2014/main" id="{654EDDB4-901F-3D48-A715-17D163E8A7AC}"/>
              </a:ext>
            </a:extLst>
          </p:cNvPr>
          <p:cNvSpPr txBox="1"/>
          <p:nvPr/>
        </p:nvSpPr>
        <p:spPr>
          <a:xfrm>
            <a:off x="365760" y="2465276"/>
            <a:ext cx="8412480" cy="201168"/>
          </a:xfrm>
          <a:prstGeom prst="rect">
            <a:avLst/>
          </a:prstGeom>
          <a:noFill/>
        </p:spPr>
        <p:txBody>
          <a:bodyPr wrap="square">
            <a:spAutoFit/>
          </a:bodyPr>
          <a:lstStyle/>
          <a:p>
            <a:pPr algn="ctr">
              <a:spcBef>
                <a:spcPts val="0"/>
              </a:spcBef>
              <a:spcAft>
                <a:spcPts val="0"/>
              </a:spcAft>
            </a:pPr>
            <a:r>
              <a:rPr sz="1400" b="1">
                <a:solidFill>
                  <a:srgbClr val="000000"/>
                </a:solidFill>
                <a:latin typeface="맑은 고딕"/>
                <a:ea typeface="맑은 고딕"/>
              </a:rPr>
              <a:t>결제 포트의 의존 방향</a:t>
            </a:r>
          </a:p>
        </p:txBody>
      </p:sp>
      <p:pic>
        <p:nvPicPr>
          <p:cNvPr id="35" name="plantuml Diagram 1"/>
          <p:cNvPicPr>
            <a:picLocks noChangeAspect="1"/>
          </p:cNvPicPr>
          <p:nvPr/>
        </p:nvPicPr>
        <p:blipFill>
          <a:blip r:embed="plantumlImage1"/>
          <a:stretch>
            <a:fillRect/>
          </a:stretch>
        </p:blipFill>
        <p:spPr>
          <a:xfrm>
            <a:off x="3116385" y="2703020"/>
            <a:ext cx="2911231" cy="1660769"/>
          </a:xfrm>
          <a:prstGeom prst="rect">
            <a:avLst/>
          </a:prstGeom>
        </p:spPr>
      </p:pic>
    </p:spTree>
    <p:extLst>
      <p:ext uri="{BB962C8B-B14F-4D97-AF65-F5344CB8AC3E}">
        <p14:creationId xmlns:p14="http://schemas.microsoft.com/office/powerpoint/2010/main" val="377335152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4F1F13-426B-086B-7D8C-9A58A0F879DB}"/>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AA26A92D-924E-0575-9551-F8FD7BFD3FAD}"/>
              </a:ext>
            </a:extLst>
          </p:cNvPr>
          <p:cNvSpPr>
            <a:spLocks noGrp="1"/>
          </p:cNvSpPr>
          <p:nvPr>
            <p:ph type="title"/>
          </p:nvPr>
        </p:nvSpPr>
        <p:spPr/>
        <p:txBody>
          <a:bodyPr/>
          <a:lstStyle/>
          <a:p>
            <a:r>
              <a:rPr sz="2400" b="1">
                <a:solidFill>
                  <a:srgbClr val="000000"/>
                </a:solidFill>
                <a:latin typeface="맑은 고딕"/>
                <a:ea typeface="맑은 고딕"/>
              </a:rPr>
              <a:t>04. 업무 패키지와 외부 시스템</a:t>
            </a:r>
          </a:p>
        </p:txBody>
      </p:sp>
      <p:sp>
        <p:nvSpPr>
          <p:cNvPr id="3" name="슬라이드 번호 개체 틀 2">
            <a:extLst>
              <a:ext uri="{FF2B5EF4-FFF2-40B4-BE49-F238E27FC236}">
                <a16:creationId xmlns:a16="http://schemas.microsoft.com/office/drawing/2014/main" id="{12CF30EE-4DFD-8063-56B8-B8689E76DFCA}"/>
              </a:ext>
            </a:extLst>
          </p:cNvPr>
          <p:cNvSpPr>
            <a:spLocks noGrp="1"/>
          </p:cNvSpPr>
          <p:nvPr>
            <p:ph type="sldNum" sz="quarter" idx="10"/>
          </p:nvPr>
        </p:nvSpPr>
        <p:spPr/>
        <p:txBody>
          <a:bodyPr/>
          <a:lstStyle/>
          <a:p>
            <a:pPr>
              <a:defRPr/>
            </a:pPr>
            <a:r>
              <a:rPr lang="en-US" altLang="ko-KR">
                <a:solidFill>
                  <a:prstClr val="black"/>
                </a:solidFill>
              </a:rPr>
              <a:t>- 11 -</a:t>
            </a:r>
          </a:p>
        </p:txBody>
      </p:sp>
      <p:sp>
        <p:nvSpPr>
          <p:cNvPr id="5" name="텍스트 개체 틀 4">
            <a:extLst>
              <a:ext uri="{FF2B5EF4-FFF2-40B4-BE49-F238E27FC236}">
                <a16:creationId xmlns:a16="http://schemas.microsoft.com/office/drawing/2014/main" id="{D66274C8-E16F-5AEB-614B-D8D32DA3E8C6}"/>
              </a:ext>
            </a:extLst>
          </p:cNvPr>
          <p:cNvSpPr>
            <a:spLocks noGrp="1"/>
          </p:cNvSpPr>
          <p:nvPr>
            <p:ph type="body" sz="quarter" idx="11"/>
          </p:nvPr>
        </p:nvSpPr>
        <p:spPr/>
        <p:txBody>
          <a:bodyPr/>
          <a:lstStyle/>
          <a:p>
            <a:r>
              <a:rPr kumimoji="1" lang="en-US" altLang="ko-KR" sz="1400" dirty="0" err="1"/>
              <a:t>06. 아키텍처</a:t>
            </a:r>
          </a:p>
        </p:txBody>
      </p:sp>
      <p:sp>
        <p:nvSpPr>
          <p:cNvPr id="6" name="텍스트 개체 틀 5">
            <a:extLst>
              <a:ext uri="{FF2B5EF4-FFF2-40B4-BE49-F238E27FC236}">
                <a16:creationId xmlns:a16="http://schemas.microsoft.com/office/drawing/2014/main" id="{A24E58E1-194B-A320-AEEE-24D08685BB6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A219F420-613B-6234-45F6-0955A9A4505F}"/>
              </a:ext>
            </a:extLst>
          </p:cNvPr>
          <p:cNvSpPr>
            <a:spLocks noGrp="1"/>
          </p:cNvSpPr>
          <p:nvPr>
            <p:ph type="body" sz="quarter" idx="13"/>
          </p:nvPr>
        </p:nvSpPr>
        <p:spPr/>
        <p:txBody>
          <a:bodyPr/>
          <a:lstStyle/>
          <a:p>
            <a:endParaRPr kumimoji="1" lang="en-US" altLang="ko-KR" dirty="0"/>
          </a:p>
        </p:txBody>
      </p:sp>
      <p:sp>
        <p:nvSpPr>
          <p:cNvPr id="8" name="내용 개체 틀 7">
            <a:extLst>
              <a:ext uri="{FF2B5EF4-FFF2-40B4-BE49-F238E27FC236}">
                <a16:creationId xmlns:a16="http://schemas.microsoft.com/office/drawing/2014/main" id="{BEBA2C4A-B0BF-F2E4-EA6E-614C99CBA184}"/>
              </a:ext>
            </a:extLst>
          </p:cNvPr>
          <p:cNvSpPr>
            <a:spLocks noGrp="1"/>
          </p:cNvSpPr>
          <p:nvPr>
            <p:ph idx="1"/>
          </p:nvPr>
        </p:nvSpPr>
        <p:spPr/>
        <p:txBody>
          <a:bodyPr>
            <a:normAutofit/>
          </a:bodyPr>
          <a:lstStyle/>
          <a:p>
            <a:pPr marL="0" indent="0">
              <a:spcBef>
                <a:spcPts val="600"/>
              </a:spcBef>
              <a:spcAft>
                <a:spcPts val="600"/>
              </a:spcAft>
              <a:buNone/>
            </a:pPr>
            <a:r>
              <a:rPr sz="1800" b="0">
                <a:solidFill>
                  <a:srgbClr val="000000"/>
                </a:solidFill>
                <a:latin typeface="맑은 고딕"/>
                <a:ea typeface="맑은 고딕"/>
              </a:rPr>
              <a:t>업무 패키지는 외부 시스템을 </a:t>
            </a:r>
            <a:r>
              <a:rPr sz="1800" b="1">
                <a:solidFill>
                  <a:srgbClr val="000000"/>
                </a:solidFill>
                <a:latin typeface="맑은 고딕"/>
                <a:ea typeface="맑은 고딕"/>
              </a:rPr>
              <a:t>포트로만</a:t>
            </a:r>
            <a:r>
              <a:rPr sz="1800" b="0">
                <a:solidFill>
                  <a:srgbClr val="000000"/>
                </a:solidFill>
                <a:latin typeface="맑은 고딕"/>
                <a:ea typeface="맑은 고딕"/>
              </a:rPr>
              <a:t> 안다. 외부의 전문·오류 코드·재시도는 연동 안에 머문다.</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업무 넷</a:t>
            </a:r>
            <a:r>
              <a:rPr sz="1800" b="0">
                <a:solidFill>
                  <a:srgbClr val="000000"/>
                </a:solidFill>
                <a:latin typeface="맑은 고딕"/>
                <a:ea typeface="맑은 고딕"/>
              </a:rPr>
              <a:t> —</a:t>
            </a:r>
            <a:r>
              <a:rPr sz="1600" b="0">
                <a:solidFill>
                  <a:srgbClr val="000000"/>
                </a:solidFill>
                <a:latin typeface="맑은 고딕"/>
                <a:ea typeface="맑은 고딕"/>
              </a:rPr>
              <a:t> </a:t>
            </a:r>
            <a:r>
              <a:rPr sz="1600" b="0">
                <a:solidFill>
                  <a:srgbClr val="000000"/>
                </a:solidFill>
                <a:latin typeface="맑은 고딕"/>
                <a:ea typeface="맑은 고딕"/>
              </a:rPr>
              <a:t>order</a:t>
            </a:r>
            <a:r>
              <a:rPr sz="1200" b="0">
                <a:solidFill>
                  <a:srgbClr val="000000"/>
                </a:solidFill>
                <a:latin typeface="맑은 고딕"/>
                <a:ea typeface="맑은 고딕"/>
              </a:rPr>
              <a:t>(주문·항목·상태와 금액 규칙)</a:t>
            </a:r>
            <a:r>
              <a:rPr sz="1600" b="0">
                <a:solidFill>
                  <a:srgbClr val="000000"/>
                </a:solidFill>
                <a:latin typeface="맑은 고딕"/>
                <a:ea typeface="맑은 고딕"/>
              </a:rPr>
              <a:t>, </a:t>
            </a:r>
            <a:r>
              <a:rPr sz="1600" b="0">
                <a:solidFill>
                  <a:srgbClr val="000000"/>
                </a:solidFill>
                <a:latin typeface="맑은 고딕"/>
                <a:ea typeface="맑은 고딕"/>
              </a:rPr>
              <a:t>payment</a:t>
            </a:r>
            <a:r>
              <a:rPr sz="1200" b="0">
                <a:solidFill>
                  <a:srgbClr val="000000"/>
                </a:solidFill>
                <a:latin typeface="맑은 고딕"/>
                <a:ea typeface="맑은 고딕"/>
              </a:rPr>
              <a:t>(승인·거절·확정 불가)</a:t>
            </a:r>
            <a:r>
              <a:rPr sz="1600" b="0">
                <a:solidFill>
                  <a:srgbClr val="000000"/>
                </a:solidFill>
                <a:latin typeface="맑은 고딕"/>
                <a:ea typeface="맑은 고딕"/>
              </a:rPr>
              <a:t>, </a:t>
            </a:r>
            <a:r>
              <a:rPr sz="1600" b="0">
                <a:solidFill>
                  <a:srgbClr val="000000"/>
                </a:solidFill>
                <a:latin typeface="맑은 고딕"/>
                <a:ea typeface="맑은 고딕"/>
              </a:rPr>
              <a:t>delivery</a:t>
            </a:r>
            <a:r>
              <a:rPr sz="1200" b="0">
                <a:solidFill>
                  <a:srgbClr val="000000"/>
                </a:solidFill>
                <a:latin typeface="맑은 고딕"/>
                <a:ea typeface="맑은 고딕"/>
              </a:rPr>
              <a:t>(배송 요청)</a:t>
            </a:r>
            <a:r>
              <a:rPr sz="1600" b="0">
                <a:solidFill>
                  <a:srgbClr val="000000"/>
                </a:solidFill>
                <a:latin typeface="맑은 고딕"/>
                <a:ea typeface="맑은 고딕"/>
              </a:rPr>
              <a:t>, </a:t>
            </a:r>
            <a:r>
              <a:rPr sz="1600" b="0">
                <a:solidFill>
                  <a:srgbClr val="000000"/>
                </a:solidFill>
                <a:latin typeface="맑은 고딕"/>
                <a:ea typeface="맑은 고딕"/>
              </a:rPr>
              <a:t>product</a:t>
            </a:r>
            <a:r>
              <a:rPr sz="1200" b="0">
                <a:solidFill>
                  <a:srgbClr val="000000"/>
                </a:solidFill>
                <a:latin typeface="맑은 고딕"/>
                <a:ea typeface="맑은 고딕"/>
              </a:rPr>
              <a:t>(상품과 판매가)</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연동 둘</a:t>
            </a:r>
            <a:r>
              <a:rPr sz="1800" b="0">
                <a:solidFill>
                  <a:srgbClr val="000000"/>
                </a:solidFill>
                <a:latin typeface="맑은 고딕"/>
                <a:ea typeface="맑은 고딕"/>
              </a:rPr>
              <a:t> —</a:t>
            </a:r>
            <a:r>
              <a:rPr sz="1600" b="0">
                <a:solidFill>
                  <a:srgbClr val="000000"/>
                </a:solidFill>
                <a:latin typeface="맑은 고딕"/>
                <a:ea typeface="맑은 고딕"/>
              </a:rPr>
              <a:t> </a:t>
            </a:r>
            <a:r>
              <a:rPr sz="1600" b="0">
                <a:solidFill>
                  <a:srgbClr val="000000"/>
                </a:solidFill>
                <a:latin typeface="맑은 고딕"/>
                <a:ea typeface="맑은 고딕"/>
              </a:rPr>
              <a:t>paymentadapter</a:t>
            </a:r>
            <a:r>
              <a:rPr sz="1600" b="0">
                <a:solidFill>
                  <a:srgbClr val="000000"/>
                </a:solidFill>
                <a:latin typeface="맑은 고딕"/>
                <a:ea typeface="맑은 고딕"/>
              </a:rPr>
              <a:t>, </a:t>
            </a:r>
            <a:r>
              <a:rPr sz="1600" b="0">
                <a:solidFill>
                  <a:srgbClr val="000000"/>
                </a:solidFill>
                <a:latin typeface="맑은 고딕"/>
                <a:ea typeface="맑은 고딕"/>
              </a:rPr>
              <a:t>deliveryadapter</a:t>
            </a:r>
            <a:r>
              <a:rPr sz="1600" b="0">
                <a:solidFill>
                  <a:srgbClr val="000000"/>
                </a:solidFill>
                <a:latin typeface="맑은 고딕"/>
                <a:ea typeface="맑은 고딕"/>
              </a:rPr>
              <a:t>. 제공자의 전문을 업무의 말로 바꾼다</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영속 하나</a:t>
            </a:r>
            <a:r>
              <a:rPr sz="1800" b="0">
                <a:solidFill>
                  <a:srgbClr val="000000"/>
                </a:solidFill>
                <a:latin typeface="맑은 고딕"/>
                <a:ea typeface="맑은 고딕"/>
              </a:rPr>
              <a:t> —</a:t>
            </a:r>
            <a:r>
              <a:rPr sz="1600" b="0">
                <a:solidFill>
                  <a:srgbClr val="000000"/>
                </a:solidFill>
                <a:latin typeface="맑은 고딕"/>
                <a:ea typeface="맑은 고딕"/>
              </a:rPr>
              <a:t> </a:t>
            </a:r>
            <a:r>
              <a:rPr sz="1600" b="0">
                <a:solidFill>
                  <a:srgbClr val="000000"/>
                </a:solidFill>
                <a:latin typeface="맑은 고딕"/>
                <a:ea typeface="맑은 고딕"/>
              </a:rPr>
              <a:t>persistence</a:t>
            </a:r>
            <a:r>
              <a:rPr sz="1600" b="0">
                <a:solidFill>
                  <a:srgbClr val="000000"/>
                </a:solidFill>
                <a:latin typeface="맑은 고딕"/>
                <a:ea typeface="맑은 고딕"/>
              </a:rPr>
              <a:t>. 주문을 저장하고 되살린다</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호출자</a:t>
            </a:r>
            <a:r>
              <a:rPr sz="1400" b="1">
                <a:solidFill>
                  <a:srgbClr val="000000"/>
                </a:solidFill>
                <a:latin typeface="맑은 고딕"/>
                <a:ea typeface="맑은 고딕"/>
              </a:rPr>
              <a:t>(프런트엔드)</a:t>
            </a:r>
            <a:r>
              <a:rPr sz="1800" b="0">
                <a:solidFill>
                  <a:srgbClr val="000000"/>
                </a:solidFill>
                <a:latin typeface="맑은 고딕"/>
                <a:ea typeface="맑은 고딕"/>
              </a:rPr>
              <a:t> —</a:t>
            </a:r>
            <a:r>
              <a:rPr sz="1600" b="0">
                <a:solidFill>
                  <a:srgbClr val="000000"/>
                </a:solidFill>
                <a:latin typeface="맑은 고딕"/>
                <a:ea typeface="맑은 고딕"/>
              </a:rPr>
              <a:t> 화면과 API 수신은 </a:t>
            </a:r>
            <a:r>
              <a:rPr sz="1600" b="1">
                <a:solidFill>
                  <a:srgbClr val="000000"/>
                </a:solidFill>
                <a:latin typeface="맑은 고딕"/>
                <a:ea typeface="맑은 고딕"/>
              </a:rPr>
              <a:t>이 과제의 범위 밖</a:t>
            </a:r>
            <a:r>
              <a:rPr sz="1600" b="0">
                <a:solidFill>
                  <a:srgbClr val="000000"/>
                </a:solidFill>
                <a:latin typeface="맑은 고딕"/>
                <a:ea typeface="맑은 고딕"/>
              </a:rPr>
              <a:t>이다. 들어오는 쪽에 입력 포트를 두지 않고, 바깥에서 오는 것은 주문 번호·결제 수단 같은 업무의 값이라고만 본다</a:t>
            </a:r>
          </a:p>
        </p:txBody>
      </p:sp>
    </p:spTree>
    <p:extLst>
      <p:ext uri="{BB962C8B-B14F-4D97-AF65-F5344CB8AC3E}">
        <p14:creationId xmlns:p14="http://schemas.microsoft.com/office/powerpoint/2010/main" val="355543667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88D352-71B8-E3E1-FEC2-7A4B3A634A78}"/>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6B867C48-2A31-3C59-F9AC-29CD4F069980}"/>
              </a:ext>
            </a:extLst>
          </p:cNvPr>
          <p:cNvSpPr>
            <a:spLocks noGrp="1"/>
          </p:cNvSpPr>
          <p:nvPr>
            <p:ph type="title"/>
          </p:nvPr>
        </p:nvSpPr>
        <p:spPr/>
        <p:txBody>
          <a:bodyPr/>
          <a:lstStyle/>
          <a:p>
            <a:r>
              <a:rPr sz="2400" b="1">
                <a:solidFill>
                  <a:srgbClr val="000000"/>
                </a:solidFill>
                <a:latin typeface="맑은 고딕"/>
                <a:ea typeface="맑은 고딕"/>
              </a:rPr>
              <a:t>패키지 배치</a:t>
            </a:r>
          </a:p>
          <a:p>
            <a:r>
              <a:rPr sz="1100" b="1">
                <a:solidFill>
                  <a:srgbClr val="000000"/>
                </a:solidFill>
                <a:latin typeface="맑은 고딕"/>
                <a:ea typeface="맑은 고딕"/>
              </a:rPr>
              <a:t>04. 업무 패키지와 외부 시스템</a:t>
            </a:r>
          </a:p>
        </p:txBody>
      </p:sp>
      <p:sp>
        <p:nvSpPr>
          <p:cNvPr id="3" name="슬라이드 번호 개체 틀 2">
            <a:extLst>
              <a:ext uri="{FF2B5EF4-FFF2-40B4-BE49-F238E27FC236}">
                <a16:creationId xmlns:a16="http://schemas.microsoft.com/office/drawing/2014/main" id="{7DA43EF7-1D4A-ECB9-A1FF-518C60DE99E6}"/>
              </a:ext>
            </a:extLst>
          </p:cNvPr>
          <p:cNvSpPr>
            <a:spLocks noGrp="1"/>
          </p:cNvSpPr>
          <p:nvPr>
            <p:ph type="sldNum" sz="quarter" idx="10"/>
          </p:nvPr>
        </p:nvSpPr>
        <p:spPr/>
        <p:txBody>
          <a:bodyPr/>
          <a:lstStyle/>
          <a:p>
            <a:pPr>
              <a:defRPr/>
            </a:pPr>
            <a:r>
              <a:rPr lang="en-US" altLang="ko-KR">
                <a:solidFill>
                  <a:prstClr val="black"/>
                </a:solidFill>
              </a:rPr>
              <a:t>- 12 -</a:t>
            </a:r>
          </a:p>
        </p:txBody>
      </p:sp>
      <p:sp>
        <p:nvSpPr>
          <p:cNvPr id="5" name="텍스트 개체 틀 4">
            <a:extLst>
              <a:ext uri="{FF2B5EF4-FFF2-40B4-BE49-F238E27FC236}">
                <a16:creationId xmlns:a16="http://schemas.microsoft.com/office/drawing/2014/main" id="{522E744E-3182-EA63-E315-5167A8F7E1A4}"/>
              </a:ext>
            </a:extLst>
          </p:cNvPr>
          <p:cNvSpPr>
            <a:spLocks noGrp="1"/>
          </p:cNvSpPr>
          <p:nvPr>
            <p:ph type="body" sz="quarter" idx="11"/>
          </p:nvPr>
        </p:nvSpPr>
        <p:spPr/>
        <p:txBody>
          <a:bodyPr/>
          <a:lstStyle/>
          <a:p>
            <a:r>
              <a:rPr kumimoji="1" lang="en-US" altLang="ko-KR" sz="1400" dirty="0" err="1"/>
              <a:t>06. 아키텍처</a:t>
            </a:r>
          </a:p>
        </p:txBody>
      </p:sp>
      <p:sp>
        <p:nvSpPr>
          <p:cNvPr id="6" name="텍스트 개체 틀 5">
            <a:extLst>
              <a:ext uri="{FF2B5EF4-FFF2-40B4-BE49-F238E27FC236}">
                <a16:creationId xmlns:a16="http://schemas.microsoft.com/office/drawing/2014/main" id="{6C32D74B-A4F7-BB0E-1C8C-BE9287C820A2}"/>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BCF57505-7D66-BE60-56CA-086F6E979841}"/>
              </a:ext>
            </a:extLst>
          </p:cNvPr>
          <p:cNvSpPr>
            <a:spLocks noGrp="1"/>
          </p:cNvSpPr>
          <p:nvPr>
            <p:ph type="body" sz="quarter" idx="13"/>
          </p:nvPr>
        </p:nvSpPr>
        <p:spPr/>
        <p:txBody>
          <a:bodyPr/>
          <a:lstStyle/>
          <a:p>
            <a:endParaRPr kumimoji="1" lang="en-US" altLang="ko-KR" dirty="0"/>
          </a:p>
        </p:txBody>
      </p:sp>
      <p:sp>
        <p:nvSpPr>
          <p:cNvPr id="31" name="Integrated content 31">
            <a:extLst>
              <a:ext uri="{FF2B5EF4-FFF2-40B4-BE49-F238E27FC236}">
                <a16:creationId xmlns:a16="http://schemas.microsoft.com/office/drawing/2014/main" id="{8E264927-DE01-A85F-AD3D-A49DD8EAC71A}"/>
              </a:ext>
            </a:extLst>
          </p:cNvPr>
          <p:cNvSpPr txBox="1"/>
          <p:nvPr/>
        </p:nvSpPr>
        <p:spPr>
          <a:xfrm>
            <a:off x="365760" y="3889763"/>
            <a:ext cx="8412480" cy="1485900"/>
          </a:xfrm>
          <a:prstGeom prst="rect">
            <a:avLst/>
          </a:prstGeom>
          <a:noFill/>
        </p:spPr>
        <p:txBody>
          <a:bodyPr wrap="square" lIns="91440" tIns="0" rIns="91440" bIns="0" anchor="t">
            <a:noAutofit/>
          </a:bodyPr>
          <a:lstStyle/>
          <a:p>
            <a:pPr marL="0" indent="0" algn="l">
              <a:lnSpc>
                <a:spcPts val="1150"/>
              </a:lnSpc>
              <a:spcBef>
                <a:spcPts val="0"/>
              </a:spcBef>
              <a:spcAft>
                <a:spcPts val="0"/>
              </a:spcAft>
              <a:buNone/>
            </a:pPr>
            <a:r>
              <a:rPr sz="1000" b="0">
                <a:solidFill>
                  <a:srgbClr val="000000"/>
                </a:solidFill>
                <a:latin typeface="Consolas"/>
                <a:ea typeface="맑은 고딕"/>
              </a:rPr>
              <a:t>    public void </a:t>
            </a:r>
            <a:r>
              <a:rPr sz="1000" b="1">
                <a:solidFill>
                  <a:srgbClr val="000000"/>
                </a:solidFill>
                <a:latin typeface="Consolas"/>
                <a:ea typeface="맑은 고딕"/>
              </a:rPr>
              <a:t>pay</a:t>
            </a:r>
            <a:r>
              <a:rPr sz="1000" b="0">
                <a:solidFill>
                  <a:srgbClr val="000000"/>
                </a:solidFill>
                <a:latin typeface="Consolas"/>
                <a:ea typeface="맑은 고딕"/>
              </a:rPr>
              <a:t>(String orderNumber, PaymentMethod method) {</a:t>
            </a:r>
          </a:p>
          <a:p>
            <a:pPr marL="0" indent="0" algn="l">
              <a:lnSpc>
                <a:spcPts val="1150"/>
              </a:lnSpc>
              <a:spcBef>
                <a:spcPts val="0"/>
              </a:spcBef>
              <a:spcAft>
                <a:spcPts val="0"/>
              </a:spcAft>
              <a:buNone/>
            </a:pPr>
            <a:r>
              <a:rPr sz="1000" b="0">
                <a:solidFill>
                  <a:srgbClr val="000000"/>
                </a:solidFill>
                <a:latin typeface="Consolas"/>
                <a:ea typeface="맑은 고딕"/>
              </a:rPr>
              <a:t>        Order order = repository.findBy(orderNumber);</a:t>
            </a:r>
          </a:p>
          <a:p>
            <a:pPr marL="0" indent="0" algn="l">
              <a:lnSpc>
                <a:spcPts val="1150"/>
              </a:lnSpc>
              <a:spcBef>
                <a:spcPts val="0"/>
              </a:spcBef>
              <a:spcAft>
                <a:spcPts val="0"/>
              </a:spcAft>
              <a:buNone/>
            </a:pPr>
            <a:r>
              <a:rPr sz="1000" b="0">
                <a:solidFill>
                  <a:srgbClr val="000000"/>
                </a:solidFill>
                <a:latin typeface="Consolas"/>
                <a:ea typeface="맑은 고딕"/>
              </a:rPr>
              <a:t>        if (payment.requestApproval(order.totalAmount(), method) == PaymentDecision.APPROVED) {</a:t>
            </a:r>
          </a:p>
          <a:p>
            <a:pPr marL="0" indent="0" algn="l">
              <a:lnSpc>
                <a:spcPts val="1150"/>
              </a:lnSpc>
              <a:spcBef>
                <a:spcPts val="0"/>
              </a:spcBef>
              <a:spcAft>
                <a:spcPts val="0"/>
              </a:spcAft>
              <a:buNone/>
            </a:pPr>
            <a:r>
              <a:rPr sz="1000" b="0">
                <a:solidFill>
                  <a:srgbClr val="000000"/>
                </a:solidFill>
                <a:latin typeface="Consolas"/>
                <a:ea typeface="맑은 고딕"/>
              </a:rPr>
              <a:t>            order.onPaid();</a:t>
            </a:r>
          </a:p>
          <a:p>
            <a:pPr marL="0" indent="0" algn="l">
              <a:lnSpc>
                <a:spcPts val="1150"/>
              </a:lnSpc>
              <a:spcBef>
                <a:spcPts val="0"/>
              </a:spcBef>
              <a:spcAft>
                <a:spcPts val="0"/>
              </a:spcAft>
              <a:buNone/>
            </a:pPr>
            <a:r>
              <a:rPr sz="1000" b="0">
                <a:solidFill>
                  <a:srgbClr val="000000"/>
                </a:solidFill>
                <a:latin typeface="Consolas"/>
                <a:ea typeface="맑은 고딕"/>
              </a:rPr>
              <a:t>            delivery.requestDelivery(orderNumber, order.shippingAddress());</a:t>
            </a:r>
          </a:p>
          <a:p>
            <a:pPr marL="0" indent="0" algn="l">
              <a:lnSpc>
                <a:spcPts val="1150"/>
              </a:lnSpc>
              <a:spcBef>
                <a:spcPts val="0"/>
              </a:spcBef>
              <a:spcAft>
                <a:spcPts val="0"/>
              </a:spcAft>
              <a:buNone/>
            </a:pPr>
            <a:r>
              <a:rPr sz="1000" b="0">
                <a:solidFill>
                  <a:srgbClr val="000000"/>
                </a:solidFill>
                <a:latin typeface="Consolas"/>
                <a:ea typeface="맑은 고딕"/>
              </a:rPr>
              <a:t>        }</a:t>
            </a:r>
          </a:p>
          <a:p>
            <a:pPr marL="0" indent="0" algn="l">
              <a:lnSpc>
                <a:spcPts val="1150"/>
              </a:lnSpc>
              <a:spcBef>
                <a:spcPts val="0"/>
              </a:spcBef>
              <a:spcAft>
                <a:spcPts val="0"/>
              </a:spcAft>
              <a:buNone/>
            </a:pPr>
            <a:r>
              <a:rPr sz="1000" b="0">
                <a:solidFill>
                  <a:srgbClr val="000000"/>
                </a:solidFill>
                <a:latin typeface="Consolas"/>
                <a:ea typeface="맑은 고딕"/>
              </a:rPr>
              <a:t>        repository.save(orderNumber, order);</a:t>
            </a:r>
          </a:p>
          <a:p>
            <a:pPr marL="0" indent="0" algn="l">
              <a:lnSpc>
                <a:spcPts val="1150"/>
              </a:lnSpc>
              <a:spcBef>
                <a:spcPts val="0"/>
              </a:spcBef>
              <a:spcAft>
                <a:spcPts val="0"/>
              </a:spcAft>
              <a:buNone/>
            </a:pPr>
            <a:r>
              <a:rPr sz="1000" b="0">
                <a:solidFill>
                  <a:srgbClr val="000000"/>
                </a:solidFill>
                <a:latin typeface="Consolas"/>
                <a:ea typeface="맑은 고딕"/>
              </a:rPr>
              <a:t>    }</a:t>
            </a:r>
          </a:p>
        </p:txBody>
      </p:sp>
      <p:sp>
        <p:nvSpPr>
          <p:cNvPr id="32" name="내용 개체 틀 7">
            <a:extLst>
              <a:ext uri="{FF2B5EF4-FFF2-40B4-BE49-F238E27FC236}">
                <a16:creationId xmlns:a16="http://schemas.microsoft.com/office/drawing/2014/main" id="{BEBA2C4A-B0BF-F2E4-EA6E-614C99CBA184}"/>
              </a:ext>
            </a:extLst>
          </p:cNvPr>
          <p:cNvSpPr>
            <a:spLocks noGrp="1"/>
          </p:cNvSpPr>
          <p:nvPr>
            <p:ph idx="1"/>
          </p:nvPr>
        </p:nvSpPr>
        <p:spPr>
          <a:xfrm>
            <a:off x="365760" y="960120"/>
            <a:ext cx="8412480" cy="781278"/>
          </a:xfrm>
        </p:spPr>
        <p:txBody>
          <a:bodyPr>
            <a:normAutofit/>
          </a:bodyPr>
          <a:lstStyle/>
          <a:p>
            <a:pPr marL="0" indent="0">
              <a:spcBef>
                <a:spcPts val="600"/>
              </a:spcBef>
              <a:spcAft>
                <a:spcPts val="600"/>
              </a:spcAft>
              <a:buNone/>
            </a:pPr>
            <a:r>
              <a:rPr sz="1800" b="0">
                <a:solidFill>
                  <a:srgbClr val="000000"/>
                </a:solidFill>
                <a:latin typeface="맑은 고딕"/>
                <a:ea typeface="맑은 고딕"/>
              </a:rPr>
              <a:t>네 업무 패키지가 </a:t>
            </a:r>
            <a:r>
              <a:rPr sz="1800" b="1">
                <a:solidFill>
                  <a:srgbClr val="000000"/>
                </a:solidFill>
                <a:latin typeface="맑은 고딕"/>
                <a:ea typeface="맑은 고딕"/>
              </a:rPr>
              <a:t>포트 넷</a:t>
            </a:r>
            <a:r>
              <a:rPr sz="1800" b="0">
                <a:solidFill>
                  <a:srgbClr val="000000"/>
                </a:solidFill>
                <a:latin typeface="맑은 고딕"/>
                <a:ea typeface="맑은 고딕"/>
              </a:rPr>
              <a:t>을 소유하고, 연동과 영속이 그것을 구현한다.</a:t>
            </a:r>
          </a:p>
        </p:txBody>
      </p:sp>
      <p:sp>
        <p:nvSpPr>
          <p:cNvPr id="33" name="TextBox 12">
            <a:extLst>
              <a:ext uri="{FF2B5EF4-FFF2-40B4-BE49-F238E27FC236}">
                <a16:creationId xmlns:a16="http://schemas.microsoft.com/office/drawing/2014/main" id="{654EDDB4-901F-3D48-A715-17D163E8A7AC}"/>
              </a:ext>
            </a:extLst>
          </p:cNvPr>
          <p:cNvSpPr txBox="1"/>
          <p:nvPr/>
        </p:nvSpPr>
        <p:spPr>
          <a:xfrm>
            <a:off x="365760" y="5604263"/>
            <a:ext cx="8412480" cy="701040"/>
          </a:xfrm>
          <a:prstGeom prst="rect">
            <a:avLst/>
          </a:prstGeom>
          <a:noFill/>
        </p:spPr>
        <p:txBody>
          <a:bodyPr wrap="square">
            <a:spAutoFit/>
          </a:bodyPr>
          <a:lstStyle/>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OrderService</a:t>
            </a:r>
            <a:r>
              <a:rPr sz="1800" b="0">
                <a:solidFill>
                  <a:srgbClr val="000000"/>
                </a:solidFill>
                <a:latin typeface="맑은 고딕"/>
                <a:ea typeface="맑은 고딕"/>
              </a:rPr>
              <a:t>가 보는 것은 </a:t>
            </a:r>
            <a:r>
              <a:rPr sz="1800" b="1">
                <a:solidFill>
                  <a:srgbClr val="000000"/>
                </a:solidFill>
                <a:latin typeface="맑은 고딕"/>
                <a:ea typeface="맑은 고딕"/>
              </a:rPr>
              <a:t>포트 셋</a:t>
            </a:r>
            <a:r>
              <a:rPr sz="1800" b="0">
                <a:solidFill>
                  <a:srgbClr val="000000"/>
                </a:solidFill>
                <a:latin typeface="맑은 고딕"/>
                <a:ea typeface="맑은 고딕"/>
              </a:rPr>
              <a:t>뿐이다. </a:t>
            </a:r>
            <a:r>
              <a:rPr sz="1800" b="0">
                <a:solidFill>
                  <a:srgbClr val="000000"/>
                </a:solidFill>
                <a:latin typeface="맑은 고딕"/>
                <a:ea typeface="맑은 고딕"/>
              </a:rPr>
              <a:t>import</a:t>
            </a:r>
            <a:r>
              <a:rPr sz="1800" b="0">
                <a:solidFill>
                  <a:srgbClr val="000000"/>
                </a:solidFill>
                <a:latin typeface="맑은 고딕"/>
                <a:ea typeface="맑은 고딕"/>
              </a:rPr>
              <a:t>에 </a:t>
            </a:r>
            <a:r>
              <a:rPr sz="1800" b="0">
                <a:solidFill>
                  <a:srgbClr val="000000"/>
                </a:solidFill>
                <a:latin typeface="맑은 고딕"/>
                <a:ea typeface="맑은 고딕"/>
              </a:rPr>
              <a:t>paymentadapter</a:t>
            </a:r>
            <a:r>
              <a:rPr sz="1800" b="0">
                <a:solidFill>
                  <a:srgbClr val="000000"/>
                </a:solidFill>
                <a:latin typeface="맑은 고딕"/>
                <a:ea typeface="맑은 고딕"/>
              </a:rPr>
              <a:t>·</a:t>
            </a:r>
            <a:r>
              <a:rPr sz="1800" b="0">
                <a:solidFill>
                  <a:srgbClr val="000000"/>
                </a:solidFill>
                <a:latin typeface="맑은 고딕"/>
                <a:ea typeface="맑은 고딕"/>
              </a:rPr>
              <a:t>persistence</a:t>
            </a:r>
            <a:r>
              <a:rPr sz="1800" b="0">
                <a:solidFill>
                  <a:srgbClr val="000000"/>
                </a:solidFill>
                <a:latin typeface="맑은 고딕"/>
                <a:ea typeface="맑은 고딕"/>
              </a:rPr>
              <a:t>가 없다.</a:t>
            </a:r>
          </a:p>
        </p:txBody>
      </p:sp>
      <p:sp>
        <p:nvSpPr>
          <p:cNvPr id="34" name="TextBox 12">
            <a:extLst>
              <a:ext uri="{FF2B5EF4-FFF2-40B4-BE49-F238E27FC236}">
                <a16:creationId xmlns:a16="http://schemas.microsoft.com/office/drawing/2014/main" id="{654EDDB4-901F-3D48-A715-17D163E8A7AC}"/>
              </a:ext>
            </a:extLst>
          </p:cNvPr>
          <p:cNvSpPr txBox="1"/>
          <p:nvPr/>
        </p:nvSpPr>
        <p:spPr>
          <a:xfrm>
            <a:off x="365760" y="1916150"/>
            <a:ext cx="8412480" cy="201168"/>
          </a:xfrm>
          <a:prstGeom prst="rect">
            <a:avLst/>
          </a:prstGeom>
          <a:noFill/>
        </p:spPr>
        <p:txBody>
          <a:bodyPr wrap="square">
            <a:spAutoFit/>
          </a:bodyPr>
          <a:lstStyle/>
          <a:p>
            <a:pPr algn="ctr">
              <a:spcBef>
                <a:spcPts val="0"/>
              </a:spcBef>
              <a:spcAft>
                <a:spcPts val="0"/>
              </a:spcAft>
            </a:pPr>
            <a:r>
              <a:rPr sz="1400" b="1">
                <a:solidFill>
                  <a:srgbClr val="000000"/>
                </a:solidFill>
                <a:latin typeface="맑은 고딕"/>
                <a:ea typeface="맑은 고딕"/>
              </a:rPr>
              <a:t>주문 시스템의 패키지</a:t>
            </a:r>
          </a:p>
        </p:txBody>
      </p:sp>
      <p:pic>
        <p:nvPicPr>
          <p:cNvPr id="35" name="plantuml Diagram 2"/>
          <p:cNvPicPr>
            <a:picLocks noChangeAspect="1"/>
          </p:cNvPicPr>
          <p:nvPr/>
        </p:nvPicPr>
        <p:blipFill>
          <a:blip r:embed="plantumlImage2"/>
          <a:stretch>
            <a:fillRect/>
          </a:stretch>
        </p:blipFill>
        <p:spPr>
          <a:xfrm>
            <a:off x="365760" y="2153894"/>
            <a:ext cx="8412480" cy="1516413"/>
          </a:xfrm>
          <a:prstGeom prst="rect">
            <a:avLst/>
          </a:prstGeom>
        </p:spPr>
      </p:pic>
    </p:spTree>
    <p:extLst>
      <p:ext uri="{BB962C8B-B14F-4D97-AF65-F5344CB8AC3E}">
        <p14:creationId xmlns:p14="http://schemas.microsoft.com/office/powerpoint/2010/main" val="377335152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B87152-D004-1569-E429-90A42420A65C}"/>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F2E2AB02-3ADE-69B8-887E-7981AD15EF24}"/>
              </a:ext>
            </a:extLst>
          </p:cNvPr>
          <p:cNvSpPr>
            <a:spLocks noGrp="1"/>
          </p:cNvSpPr>
          <p:nvPr>
            <p:ph type="title"/>
          </p:nvPr>
        </p:nvSpPr>
        <p:spPr/>
        <p:txBody>
          <a:bodyPr/>
          <a:lstStyle/>
          <a:p>
            <a:r>
              <a:rPr sz="2400" b="1">
                <a:solidFill>
                  <a:srgbClr val="000000"/>
                </a:solidFill>
                <a:latin typeface="맑은 고딕"/>
                <a:ea typeface="맑은 고딕"/>
              </a:rPr>
              <a:t>외부 연동 규격</a:t>
            </a:r>
          </a:p>
          <a:p>
            <a:r>
              <a:rPr sz="1100" b="1">
                <a:solidFill>
                  <a:srgbClr val="000000"/>
                </a:solidFill>
                <a:latin typeface="맑은 고딕"/>
                <a:ea typeface="맑은 고딕"/>
              </a:rPr>
              <a:t>04. 업무 패키지와 외부 시스템</a:t>
            </a:r>
          </a:p>
        </p:txBody>
      </p:sp>
      <p:sp>
        <p:nvSpPr>
          <p:cNvPr id="5" name="텍스트 개체 틀 4">
            <a:extLst>
              <a:ext uri="{FF2B5EF4-FFF2-40B4-BE49-F238E27FC236}">
                <a16:creationId xmlns:a16="http://schemas.microsoft.com/office/drawing/2014/main" id="{F0895985-68EF-30BA-2165-4B3D90ECD41C}"/>
              </a:ext>
            </a:extLst>
          </p:cNvPr>
          <p:cNvSpPr>
            <a:spLocks noGrp="1"/>
          </p:cNvSpPr>
          <p:nvPr>
            <p:ph type="body" sz="quarter" idx="11"/>
          </p:nvPr>
        </p:nvSpPr>
        <p:spPr/>
        <p:txBody>
          <a:bodyPr/>
          <a:lstStyle/>
          <a:p>
            <a:r>
              <a:rPr kumimoji="1" lang="en-US" altLang="ko-KR" sz="1400" dirty="0" err="1"/>
              <a:t>06. 아키텍처</a:t>
            </a:r>
          </a:p>
        </p:txBody>
      </p:sp>
      <p:sp>
        <p:nvSpPr>
          <p:cNvPr id="6" name="텍스트 개체 틀 5">
            <a:extLst>
              <a:ext uri="{FF2B5EF4-FFF2-40B4-BE49-F238E27FC236}">
                <a16:creationId xmlns:a16="http://schemas.microsoft.com/office/drawing/2014/main" id="{D985C1FD-84C4-10F9-372D-6A84E1680E0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E26A8878-48FF-5E3A-5D05-0F900C22011B}"/>
              </a:ext>
            </a:extLst>
          </p:cNvPr>
          <p:cNvSpPr>
            <a:spLocks noGrp="1"/>
          </p:cNvSpPr>
          <p:nvPr>
            <p:ph type="body" sz="quarter" idx="13"/>
          </p:nvPr>
        </p:nvSpPr>
        <p:spPr/>
        <p:txBody>
          <a:bodyPr/>
          <a:lstStyle/>
          <a:p>
            <a:endParaRPr lang="en-US" altLang="ko-KR" dirty="0"/>
          </a:p>
        </p:txBody>
      </p:sp>
      <p:graphicFrame>
        <p:nvGraphicFramePr>
          <p:cNvPr id="11" name="표 10">
            <a:extLst>
              <a:ext uri="{FF2B5EF4-FFF2-40B4-BE49-F238E27FC236}">
                <a16:creationId xmlns:a16="http://schemas.microsoft.com/office/drawing/2014/main" id="{93753AB9-526C-CE2D-446D-7615D9B6D6D2}"/>
              </a:ext>
            </a:extLst>
          </p:cNvPr>
          <p:cNvGraphicFramePr>
            <a:graphicFrameLocks noGrp="1"/>
          </p:cNvGraphicFramePr>
          <p:nvPr>
            <p:extLst>
              <p:ext uri="{D42A27DB-BD31-4B8C-83A1-F6EECF244321}">
                <p14:modId xmlns:p14="http://schemas.microsoft.com/office/powerpoint/2010/main" val="1761827855"/>
              </p:ext>
            </p:extLst>
          </p:nvPr>
        </p:nvGraphicFramePr>
        <p:xfrm>
          <a:off x="910146" y="2112010"/>
          <a:ext cx="7310120" cy="3873500"/>
        </p:xfrm>
        <a:graphic>
          <a:graphicData uri="http://schemas.openxmlformats.org/drawingml/2006/table">
            <a:tbl>
              <a:tblPr/>
              <a:tblGrid>
                <a:gridCol w="1087120"/>
                <a:gridCol w="2400300"/>
                <a:gridCol w="2009140"/>
                <a:gridCol w="1813560"/>
              </a:tblGrid>
              <a:tr h="288000">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외부 시스템</a:t>
                      </a:r>
                    </a:p>
                  </a:txBody>
                  <a:tcPr marL="6750" marR="6750" marT="6750" marB="0" anchor="ctr">
                    <a:lnL>
                      <a:noFill/>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보내는 것</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err="1">
                          <a:solidFill>
                            <a:schemeClr val="bg1"/>
                          </a:solidFill>
                          <a:effectLst/>
                          <a:latin typeface="맑은 고딕" panose="020B0503020000020004" pitchFamily="34" charset="-127"/>
                          <a:ea typeface="맑은 고딕" panose="020B0503020000020004" pitchFamily="34" charset="-127"/>
                          <a:cs typeface="맑은 고딕"/>
                        </a:rPr>
                        <a:t>받는 것</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err="1">
                          <a:solidFill>
                            <a:schemeClr val="bg1"/>
                          </a:solidFill>
                          <a:effectLst/>
                          <a:latin typeface="맑은 고딕" panose="020B0503020000020004" pitchFamily="34" charset="-127"/>
                          <a:ea typeface="맑은 고딕" panose="020B0503020000020004" pitchFamily="34" charset="-127"/>
                          <a:cs typeface="맑은 고딕"/>
                        </a:rPr>
                        <a:t>정하지 않는 것</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결제</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주문 금액 2,000원, 결제 수단</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승인 / 거절 / 확정 불가</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확정 불가 뒤의 재결제</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배송</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주문 번호, 배송지 서울</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없음(요청까지)</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요청 실패와 재시도</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상품</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상품 번호</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판매가</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재고 판단 시점</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bl>
          </a:graphicData>
        </a:graphic>
      </p:graphicFrame>
      <p:sp>
        <p:nvSpPr>
          <p:cNvPr id="13" name="TextBox 12">
            <a:extLst>
              <a:ext uri="{FF2B5EF4-FFF2-40B4-BE49-F238E27FC236}">
                <a16:creationId xmlns:a16="http://schemas.microsoft.com/office/drawing/2014/main" id="{654EDDB4-901F-3D48-A715-17D163E8A7AC}"/>
              </a:ext>
            </a:extLst>
          </p:cNvPr>
          <p:cNvSpPr txBox="1"/>
          <p:nvPr/>
        </p:nvSpPr>
        <p:spPr>
          <a:xfrm>
            <a:off x="365760" y="960120"/>
            <a:ext cx="8412480" cy="781278"/>
          </a:xfrm>
          <a:prstGeom prst="rect">
            <a:avLst/>
          </a:prstGeom>
          <a:noFill/>
        </p:spPr>
        <p:txBody>
          <a:bodyPr wrap="square">
            <a:spAutoFit/>
          </a:bodyPr>
          <a:lstStyle/>
          <a:p>
            <a:pPr marL="0" indent="0">
              <a:spcBef>
                <a:spcPts val="600"/>
              </a:spcBef>
              <a:spcAft>
                <a:spcPts val="600"/>
              </a:spcAft>
              <a:buNone/>
            </a:pPr>
            <a:r>
              <a:rPr sz="1800" b="0">
                <a:solidFill>
                  <a:srgbClr val="000000"/>
                </a:solidFill>
                <a:latin typeface="맑은 고딕"/>
                <a:ea typeface="맑은 고딕"/>
              </a:rPr>
              <a:t>포트에 적는 것은 </a:t>
            </a:r>
            <a:r>
              <a:rPr sz="1800" b="1">
                <a:solidFill>
                  <a:srgbClr val="000000"/>
                </a:solidFill>
                <a:latin typeface="맑은 고딕"/>
                <a:ea typeface="맑은 고딕"/>
              </a:rPr>
              <a:t>업무의 이름과 값</a:t>
            </a:r>
            <a:r>
              <a:rPr sz="1800" b="0">
                <a:solidFill>
                  <a:srgbClr val="000000"/>
                </a:solidFill>
                <a:latin typeface="맑은 고딕"/>
                <a:ea typeface="맑은 고딕"/>
              </a:rPr>
              <a:t>이다. 제공자의 필드 이름·참조 값·오류 코드는 연동 안에 둔다.</a:t>
            </a:r>
          </a:p>
        </p:txBody>
      </p:sp>
      <p:sp>
        <p:nvSpPr>
          <p:cNvPr id="8" name="슬라이드 번호 개체 틀 2">
            <a:extLst>
              <a:ext uri="{FF2B5EF4-FFF2-40B4-BE49-F238E27FC236}">
                <a16:creationId xmlns:a16="http://schemas.microsoft.com/office/drawing/2014/main" id="{741B75C6-7ED3-AA4C-41B6-F69C599EA447}"/>
              </a:ext>
            </a:extLst>
          </p:cNvPr>
          <p:cNvSpPr>
            <a:spLocks noGrp="1"/>
          </p:cNvSpPr>
          <p:nvPr>
            <p:ph type="sldNum" sz="quarter" idx="10"/>
          </p:nvPr>
        </p:nvSpPr>
        <p:spPr>
          <a:xfrm>
            <a:off x="3508472" y="6449625"/>
            <a:ext cx="2133600" cy="238277"/>
          </a:xfrm>
        </p:spPr>
        <p:txBody>
          <a:bodyPr>
            <a:normAutofit/>
          </a:bodyPr>
          <a:lstStyle/>
          <a:p>
            <a:pPr marL="0" marR="0" lvl="0" indent="0" algn="ctr" defTabSz="457200" rtl="0" eaLnBrk="1" fontAlgn="auto" latinLnBrk="0" hangingPunct="1">
              <a:lnSpc>
                <a:spcPct val="100000"/>
              </a:lnSpc>
              <a:spcBef>
                <a:spcPts val="0"/>
              </a:spcBef>
              <a:spcAft>
                <a:spcPts val="600"/>
              </a:spcAft>
              <a:buClrTx/>
              <a:buSzTx/>
              <a:buFontTx/>
              <a:buNone/>
              <a:tabLst/>
              <a:defRPr/>
            </a:pPr>
            <a:r>
              <a:rPr kumimoji="0" lang="en-US" altLang="ko-KR" sz="800" b="0" i="0" u="none" strike="noStrike" kern="1200" cap="none" spc="0" normalizeH="0" baseline="0" noProof="0">
                <a:ln>
                  <a:noFill/>
                </a:ln>
                <a:solidFill>
                  <a:prstClr val="black"/>
                </a:solidFill>
                <a:effectLst/>
                <a:uLnTx/>
                <a:uFillTx/>
                <a:latin typeface="맑은 고딕" panose="020B0503020000020004" pitchFamily="34" charset="-127"/>
                <a:ea typeface="맑은 고딕" panose="020B0503020000020004" pitchFamily="34" charset="-127"/>
                <a:cs typeface="+mn-cs"/>
              </a:rPr>
              <a:t>- 13 -</a:t>
            </a:r>
          </a:p>
        </p:txBody>
      </p:sp>
      <p:sp>
        <p:nvSpPr>
          <p:cNvPr id="14" name="TextBox 12">
            <a:extLst>
              <a:ext uri="{FF2B5EF4-FFF2-40B4-BE49-F238E27FC236}">
                <a16:creationId xmlns:a16="http://schemas.microsoft.com/office/drawing/2014/main" id="{654EDDB4-901F-3D48-A715-17D163E8A7AC}"/>
              </a:ext>
            </a:extLst>
          </p:cNvPr>
          <p:cNvSpPr txBox="1"/>
          <p:nvPr/>
        </p:nvSpPr>
        <p:spPr>
          <a:xfrm>
            <a:off x="365760" y="1813560"/>
            <a:ext cx="8412480" cy="222250"/>
          </a:xfrm>
          <a:prstGeom prst="rect">
            <a:avLst/>
          </a:prstGeom>
          <a:noFill/>
        </p:spPr>
        <p:txBody>
          <a:bodyPr wrap="square" tIns="0" bIns="0">
            <a:spAutoFit/>
          </a:bodyPr>
          <a:lstStyle/>
          <a:p>
            <a:pPr algn="ctr">
              <a:spcBef>
                <a:spcPts val="0"/>
              </a:spcBef>
              <a:spcAft>
                <a:spcPts val="0"/>
              </a:spcAft>
            </a:pPr>
            <a:r>
              <a:rPr sz="1400" b="1">
                <a:solidFill>
                  <a:srgbClr val="000000"/>
                </a:solidFill>
                <a:latin typeface="맑은 고딕"/>
                <a:ea typeface="맑은 고딕"/>
              </a:rPr>
              <a:t>외부 연동 규격</a:t>
            </a:r>
          </a:p>
        </p:txBody>
      </p:sp>
      <p:sp>
        <p:nvSpPr>
          <p:cNvPr id="15" name="TextBox 12">
            <a:extLst>
              <a:ext uri="{FF2B5EF4-FFF2-40B4-BE49-F238E27FC236}">
                <a16:creationId xmlns:a16="http://schemas.microsoft.com/office/drawing/2014/main" id="{654EDDB4-901F-3D48-A715-17D163E8A7AC}"/>
              </a:ext>
            </a:extLst>
          </p:cNvPr>
          <p:cNvSpPr txBox="1"/>
          <p:nvPr/>
        </p:nvSpPr>
        <p:spPr>
          <a:xfrm>
            <a:off x="365760" y="3492610"/>
            <a:ext cx="8412480" cy="2225040"/>
          </a:xfrm>
          <a:prstGeom prst="rect">
            <a:avLst/>
          </a:prstGeom>
          <a:noFill/>
        </p:spPr>
        <p:txBody>
          <a:bodyPr wrap="square">
            <a:spAutoFit/>
          </a:bodyPr>
          <a:lstStyle/>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셋째 열이 업무의 말이다.</a:t>
            </a:r>
            <a:r>
              <a:rPr sz="1800" b="0">
                <a:solidFill>
                  <a:srgbClr val="000000"/>
                </a:solidFill>
                <a:latin typeface="맑은 고딕"/>
                <a:ea typeface="맑은 고딕"/>
              </a:rPr>
              <a:t> 제공자가 돌려주는 상태 코드·참조 값·재시도 횟수는 여기에 적지 않는다. 연동이 그것을 승인·거절·확정 불가로 바꾼다.</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받는 것이 "없음"인 요청</a:t>
            </a:r>
            <a:r>
              <a:rPr sz="1800" b="0">
                <a:solidFill>
                  <a:srgbClr val="000000"/>
                </a:solidFill>
                <a:latin typeface="맑은 고딕"/>
                <a:ea typeface="맑은 고딕"/>
              </a:rPr>
              <a:t>은 "요청했다"까지만 보장한다. 배송이 실제로 시작됐는지는 통보로 따로 온다.</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넷째 열은 비워 두는 것이 결정이다.</a:t>
            </a:r>
            <a:r>
              <a:rPr sz="1800" b="0">
                <a:solidFill>
                  <a:srgbClr val="000000"/>
                </a:solidFill>
                <a:latin typeface="맑은 고딕"/>
                <a:ea typeface="맑은 고딕"/>
              </a:rPr>
              <a:t> 실습 3이 미정으로 남긴 것을 규격을 적으면서 메우지 않는다.</a:t>
            </a:r>
          </a:p>
        </p:txBody>
      </p:sp>
    </p:spTree>
    <p:extLst>
      <p:ext uri="{BB962C8B-B14F-4D97-AF65-F5344CB8AC3E}">
        <p14:creationId xmlns:p14="http://schemas.microsoft.com/office/powerpoint/2010/main" val="278956947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B87152-D004-1569-E429-90A42420A65C}"/>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F2E2AB02-3ADE-69B8-887E-7981AD15EF24}"/>
              </a:ext>
            </a:extLst>
          </p:cNvPr>
          <p:cNvSpPr>
            <a:spLocks noGrp="1"/>
          </p:cNvSpPr>
          <p:nvPr>
            <p:ph type="title"/>
          </p:nvPr>
        </p:nvSpPr>
        <p:spPr/>
        <p:txBody>
          <a:bodyPr/>
          <a:lstStyle/>
          <a:p>
            <a:r>
              <a:rPr sz="2400" b="1">
                <a:solidFill>
                  <a:srgbClr val="000000"/>
                </a:solidFill>
                <a:latin typeface="맑은 고딕"/>
                <a:ea typeface="맑은 고딕"/>
              </a:rPr>
              <a:t>05. 의존 규칙</a:t>
            </a:r>
          </a:p>
        </p:txBody>
      </p:sp>
      <p:sp>
        <p:nvSpPr>
          <p:cNvPr id="5" name="텍스트 개체 틀 4">
            <a:extLst>
              <a:ext uri="{FF2B5EF4-FFF2-40B4-BE49-F238E27FC236}">
                <a16:creationId xmlns:a16="http://schemas.microsoft.com/office/drawing/2014/main" id="{F0895985-68EF-30BA-2165-4B3D90ECD41C}"/>
              </a:ext>
            </a:extLst>
          </p:cNvPr>
          <p:cNvSpPr>
            <a:spLocks noGrp="1"/>
          </p:cNvSpPr>
          <p:nvPr>
            <p:ph type="body" sz="quarter" idx="11"/>
          </p:nvPr>
        </p:nvSpPr>
        <p:spPr/>
        <p:txBody>
          <a:bodyPr/>
          <a:lstStyle/>
          <a:p>
            <a:r>
              <a:rPr kumimoji="1" lang="en-US" altLang="ko-KR" sz="1400" dirty="0" err="1"/>
              <a:t>06. 아키텍처</a:t>
            </a:r>
          </a:p>
        </p:txBody>
      </p:sp>
      <p:sp>
        <p:nvSpPr>
          <p:cNvPr id="6" name="텍스트 개체 틀 5">
            <a:extLst>
              <a:ext uri="{FF2B5EF4-FFF2-40B4-BE49-F238E27FC236}">
                <a16:creationId xmlns:a16="http://schemas.microsoft.com/office/drawing/2014/main" id="{D985C1FD-84C4-10F9-372D-6A84E1680E0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E26A8878-48FF-5E3A-5D05-0F900C22011B}"/>
              </a:ext>
            </a:extLst>
          </p:cNvPr>
          <p:cNvSpPr>
            <a:spLocks noGrp="1"/>
          </p:cNvSpPr>
          <p:nvPr>
            <p:ph type="body" sz="quarter" idx="13"/>
          </p:nvPr>
        </p:nvSpPr>
        <p:spPr/>
        <p:txBody>
          <a:bodyPr/>
          <a:lstStyle/>
          <a:p>
            <a:endParaRPr lang="en-US" altLang="ko-KR" dirty="0"/>
          </a:p>
        </p:txBody>
      </p:sp>
      <p:graphicFrame>
        <p:nvGraphicFramePr>
          <p:cNvPr id="11" name="표 10">
            <a:extLst>
              <a:ext uri="{FF2B5EF4-FFF2-40B4-BE49-F238E27FC236}">
                <a16:creationId xmlns:a16="http://schemas.microsoft.com/office/drawing/2014/main" id="{93753AB9-526C-CE2D-446D-7615D9B6D6D2}"/>
              </a:ext>
            </a:extLst>
          </p:cNvPr>
          <p:cNvGraphicFramePr>
            <a:graphicFrameLocks noGrp="1"/>
          </p:cNvGraphicFramePr>
          <p:nvPr>
            <p:extLst>
              <p:ext uri="{D42A27DB-BD31-4B8C-83A1-F6EECF244321}">
                <p14:modId xmlns:p14="http://schemas.microsoft.com/office/powerpoint/2010/main" val="1761827855"/>
              </p:ext>
            </p:extLst>
          </p:nvPr>
        </p:nvGraphicFramePr>
        <p:xfrm>
          <a:off x="1230185" y="2624628"/>
          <a:ext cx="6670040" cy="3873500"/>
        </p:xfrm>
        <a:graphic>
          <a:graphicData uri="http://schemas.openxmlformats.org/drawingml/2006/table">
            <a:tbl>
              <a:tblPr/>
              <a:tblGrid>
                <a:gridCol w="1953260"/>
                <a:gridCol w="3406140"/>
                <a:gridCol w="1310640"/>
              </a:tblGrid>
              <a:tr h="288000">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의존이 생기는 경우</a:t>
                      </a:r>
                    </a:p>
                  </a:txBody>
                  <a:tcPr marL="6750" marR="6750" marT="6750" marB="0" anchor="ctr">
                    <a:lnL>
                      <a:noFill/>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코드에서</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err="1">
                          <a:solidFill>
                            <a:schemeClr val="bg1"/>
                          </a:solidFill>
                          <a:effectLst/>
                          <a:latin typeface="맑은 고딕" panose="020B0503020000020004" pitchFamily="34" charset="-127"/>
                          <a:ea typeface="맑은 고딕" panose="020B0503020000020004" pitchFamily="34" charset="-127"/>
                          <a:cs typeface="맑은 고딕"/>
                        </a:rPr>
                        <a:t>검사가 보는가?</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import 선언</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import paymentadapter.PaymentAdapter;</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본다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완전한 이름</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new paymentadapter.PaymentAdapter(…)</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본다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구현·상속</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implements paymentadapter.X</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본다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필드·매개변수의 타입</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void f(PaymentAdapter a)</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본다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설정 파일의 클래스 이름</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문자열로 적은 클래스 이름</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못 본다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리플렉션·동적 로딩</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Class.forName("paymentadapter.…")</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못 본다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bl>
          </a:graphicData>
        </a:graphic>
      </p:graphicFrame>
      <p:sp>
        <p:nvSpPr>
          <p:cNvPr id="13" name="TextBox 12">
            <a:extLst>
              <a:ext uri="{FF2B5EF4-FFF2-40B4-BE49-F238E27FC236}">
                <a16:creationId xmlns:a16="http://schemas.microsoft.com/office/drawing/2014/main" id="{654EDDB4-901F-3D48-A715-17D163E8A7AC}"/>
              </a:ext>
            </a:extLst>
          </p:cNvPr>
          <p:cNvSpPr txBox="1"/>
          <p:nvPr/>
        </p:nvSpPr>
        <p:spPr>
          <a:xfrm>
            <a:off x="365760" y="960120"/>
            <a:ext cx="8412480" cy="1330404"/>
          </a:xfrm>
          <a:prstGeom prst="rect">
            <a:avLst/>
          </a:prstGeom>
          <a:noFill/>
        </p:spPr>
        <p:txBody>
          <a:bodyPr wrap="square">
            <a:spAutoFit/>
          </a:bodyPr>
          <a:lstStyle/>
          <a:p>
            <a:pPr marL="0" indent="0">
              <a:spcBef>
                <a:spcPts val="600"/>
              </a:spcBef>
              <a:spcAft>
                <a:spcPts val="600"/>
              </a:spcAft>
              <a:buNone/>
            </a:pPr>
            <a:r>
              <a:rPr sz="1800" b="0">
                <a:solidFill>
                  <a:srgbClr val="000000"/>
                </a:solidFill>
                <a:latin typeface="맑은 고딕"/>
                <a:ea typeface="맑은 고딕"/>
              </a:rPr>
              <a:t>경계는 </a:t>
            </a:r>
            <a:r>
              <a:rPr sz="1800" b="1">
                <a:solidFill>
                  <a:srgbClr val="000000"/>
                </a:solidFill>
                <a:latin typeface="맑은 고딕"/>
                <a:ea typeface="맑은 고딕"/>
              </a:rPr>
              <a:t>글로 적어야 규칙이 된다</a:t>
            </a:r>
            <a:r>
              <a:rPr sz="1800" b="0">
                <a:solidFill>
                  <a:srgbClr val="000000"/>
                </a:solidFill>
                <a:latin typeface="맑은 고딕"/>
                <a:ea typeface="맑은 고딕"/>
              </a:rPr>
              <a:t>. 그러려면 의존이 어떤 모양으로 생기는지부터 알아야 한다.</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패키지 사이의 의존은 </a:t>
            </a:r>
            <a:r>
              <a:rPr sz="1800" b="1">
                <a:solidFill>
                  <a:srgbClr val="000000"/>
                </a:solidFill>
                <a:latin typeface="맑은 고딕"/>
                <a:ea typeface="맑은 고딕"/>
              </a:rPr>
              <a:t>순환을 이루어서는 안 된다</a:t>
            </a:r>
            <a:r>
              <a:rPr sz="1000" b="0">
                <a:solidFill>
                  <a:srgbClr val="000000"/>
                </a:solidFill>
                <a:latin typeface="맑은 고딕"/>
                <a:ea typeface="맑은 고딕"/>
              </a:rPr>
              <a:t>, </a:t>
            </a:r>
            <a:r>
              <a:rPr sz="1000" b="0">
                <a:solidFill>
                  <a:srgbClr val="000000"/>
                </a:solidFill>
                <a:latin typeface="맑은 고딕"/>
                <a:ea typeface="맑은 고딕"/>
              </a:rPr>
              <a:t>"The dependencies betwen packages must not form cycles."</a:t>
            </a:r>
            <a:r>
              <a:rPr sz="1000" b="0">
                <a:solidFill>
                  <a:srgbClr val="000000"/>
                </a:solidFill>
                <a:latin typeface="맑은 고딕"/>
                <a:ea typeface="맑은 고딕"/>
              </a:rPr>
              <a:t>, </a:t>
            </a:r>
            <a:r>
              <a:rPr sz="1000" b="0">
                <a:solidFill>
                  <a:srgbClr val="000000"/>
                </a:solidFill>
                <a:latin typeface="맑은 고딕"/>
                <a:ea typeface="맑은 고딕"/>
              </a:rPr>
              <a:t>[Martin 2000]</a:t>
            </a:r>
          </a:p>
        </p:txBody>
      </p:sp>
      <p:sp>
        <p:nvSpPr>
          <p:cNvPr id="8" name="슬라이드 번호 개체 틀 2">
            <a:extLst>
              <a:ext uri="{FF2B5EF4-FFF2-40B4-BE49-F238E27FC236}">
                <a16:creationId xmlns:a16="http://schemas.microsoft.com/office/drawing/2014/main" id="{741B75C6-7ED3-AA4C-41B6-F69C599EA447}"/>
              </a:ext>
            </a:extLst>
          </p:cNvPr>
          <p:cNvSpPr>
            <a:spLocks noGrp="1"/>
          </p:cNvSpPr>
          <p:nvPr>
            <p:ph type="sldNum" sz="quarter" idx="10"/>
          </p:nvPr>
        </p:nvSpPr>
        <p:spPr>
          <a:xfrm>
            <a:off x="3508472" y="6449625"/>
            <a:ext cx="2133600" cy="238277"/>
          </a:xfrm>
        </p:spPr>
        <p:txBody>
          <a:bodyPr>
            <a:normAutofit/>
          </a:bodyPr>
          <a:lstStyle/>
          <a:p>
            <a:pPr marL="0" marR="0" lvl="0" indent="0" algn="ctr" defTabSz="457200" rtl="0" eaLnBrk="1" fontAlgn="auto" latinLnBrk="0" hangingPunct="1">
              <a:lnSpc>
                <a:spcPct val="100000"/>
              </a:lnSpc>
              <a:spcBef>
                <a:spcPts val="0"/>
              </a:spcBef>
              <a:spcAft>
                <a:spcPts val="600"/>
              </a:spcAft>
              <a:buClrTx/>
              <a:buSzTx/>
              <a:buFontTx/>
              <a:buNone/>
              <a:tabLst/>
              <a:defRPr/>
            </a:pPr>
            <a:r>
              <a:rPr kumimoji="0" lang="en-US" altLang="ko-KR" sz="800" b="0" i="0" u="none" strike="noStrike" kern="1200" cap="none" spc="0" normalizeH="0" baseline="0" noProof="0">
                <a:ln>
                  <a:noFill/>
                </a:ln>
                <a:solidFill>
                  <a:prstClr val="black"/>
                </a:solidFill>
                <a:effectLst/>
                <a:uLnTx/>
                <a:uFillTx/>
                <a:latin typeface="맑은 고딕" panose="020B0503020000020004" pitchFamily="34" charset="-127"/>
                <a:ea typeface="맑은 고딕" panose="020B0503020000020004" pitchFamily="34" charset="-127"/>
                <a:cs typeface="+mn-cs"/>
              </a:rPr>
              <a:t>- 14 -</a:t>
            </a:r>
          </a:p>
        </p:txBody>
      </p:sp>
      <p:sp>
        <p:nvSpPr>
          <p:cNvPr id="14" name="TextBox 12">
            <a:extLst>
              <a:ext uri="{FF2B5EF4-FFF2-40B4-BE49-F238E27FC236}">
                <a16:creationId xmlns:a16="http://schemas.microsoft.com/office/drawing/2014/main" id="{654EDDB4-901F-3D48-A715-17D163E8A7AC}"/>
              </a:ext>
            </a:extLst>
          </p:cNvPr>
          <p:cNvSpPr txBox="1"/>
          <p:nvPr/>
        </p:nvSpPr>
        <p:spPr>
          <a:xfrm>
            <a:off x="365760" y="2326178"/>
            <a:ext cx="8412480" cy="222250"/>
          </a:xfrm>
          <a:prstGeom prst="rect">
            <a:avLst/>
          </a:prstGeom>
          <a:noFill/>
        </p:spPr>
        <p:txBody>
          <a:bodyPr wrap="square" tIns="0" bIns="0">
            <a:spAutoFit/>
          </a:bodyPr>
          <a:lstStyle/>
          <a:p>
            <a:pPr algn="ctr">
              <a:spcBef>
                <a:spcPts val="0"/>
              </a:spcBef>
              <a:spcAft>
                <a:spcPts val="0"/>
              </a:spcAft>
            </a:pPr>
            <a:r>
              <a:rPr sz="1400" b="1">
                <a:solidFill>
                  <a:srgbClr val="000000"/>
                </a:solidFill>
                <a:latin typeface="맑은 고딕"/>
                <a:ea typeface="맑은 고딕"/>
              </a:rPr>
              <a:t>의존이 생기는 경우와 검사가 보는 것</a:t>
            </a:r>
          </a:p>
        </p:txBody>
      </p:sp>
      <p:sp>
        <p:nvSpPr>
          <p:cNvPr id="15" name="TextBox 12">
            <a:extLst>
              <a:ext uri="{FF2B5EF4-FFF2-40B4-BE49-F238E27FC236}">
                <a16:creationId xmlns:a16="http://schemas.microsoft.com/office/drawing/2014/main" id="{654EDDB4-901F-3D48-A715-17D163E8A7AC}"/>
              </a:ext>
            </a:extLst>
          </p:cNvPr>
          <p:cNvSpPr txBox="1"/>
          <p:nvPr/>
        </p:nvSpPr>
        <p:spPr>
          <a:xfrm>
            <a:off x="365760" y="4869228"/>
            <a:ext cx="8412480" cy="1325880"/>
          </a:xfrm>
          <a:prstGeom prst="rect">
            <a:avLst/>
          </a:prstGeom>
          <a:noFill/>
        </p:spPr>
        <p:txBody>
          <a:bodyPr wrap="square">
            <a:spAutoFit/>
          </a:bodyPr>
          <a:lstStyle/>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앞 넷은 컴파일된 클래스에 남으므로 기계가 판정한다. </a:t>
            </a:r>
            <a:r>
              <a:rPr sz="1800" b="1">
                <a:solidFill>
                  <a:srgbClr val="000000"/>
                </a:solidFill>
                <a:latin typeface="맑은 고딕"/>
                <a:ea typeface="맑은 고딕"/>
              </a:rPr>
              <a:t>뒤 둘은 문자열</a:t>
            </a:r>
            <a:r>
              <a:rPr sz="1800" b="0">
                <a:solidFill>
                  <a:srgbClr val="000000"/>
                </a:solidFill>
                <a:latin typeface="맑은 고딕"/>
                <a:ea typeface="맑은 고딕"/>
              </a:rPr>
              <a:t>이라 남지 않는다.</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검사가 못 보는 둘도 </a:t>
            </a:r>
            <a:r>
              <a:rPr sz="1800" b="1">
                <a:solidFill>
                  <a:srgbClr val="000000"/>
                </a:solidFill>
                <a:latin typeface="맑은 고딕"/>
                <a:ea typeface="맑은 고딕"/>
              </a:rPr>
              <a:t>규칙으로는 적는다</a:t>
            </a:r>
            <a:r>
              <a:rPr sz="1800" b="0">
                <a:solidFill>
                  <a:srgbClr val="000000"/>
                </a:solidFill>
                <a:latin typeface="맑은 고딕"/>
                <a:ea typeface="맑은 고딕"/>
              </a:rPr>
              <a:t>. 적어야 리뷰가 볼 수 있고, 어겼을 때 근거가 된다.</a:t>
            </a:r>
          </a:p>
        </p:txBody>
      </p:sp>
    </p:spTree>
    <p:extLst>
      <p:ext uri="{BB962C8B-B14F-4D97-AF65-F5344CB8AC3E}">
        <p14:creationId xmlns:p14="http://schemas.microsoft.com/office/powerpoint/2010/main" val="278956947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B87152-D004-1569-E429-90A42420A65C}"/>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F2E2AB02-3ADE-69B8-887E-7981AD15EF24}"/>
              </a:ext>
            </a:extLst>
          </p:cNvPr>
          <p:cNvSpPr>
            <a:spLocks noGrp="1"/>
          </p:cNvSpPr>
          <p:nvPr>
            <p:ph type="title"/>
          </p:nvPr>
        </p:nvSpPr>
        <p:spPr/>
        <p:txBody>
          <a:bodyPr/>
          <a:lstStyle/>
          <a:p>
            <a:r>
              <a:rPr sz="2400" b="1">
                <a:solidFill>
                  <a:srgbClr val="000000"/>
                </a:solidFill>
                <a:latin typeface="맑은 고딕"/>
                <a:ea typeface="맑은 고딕"/>
              </a:rPr>
              <a:t>허용과 금지</a:t>
            </a:r>
          </a:p>
          <a:p>
            <a:r>
              <a:rPr sz="1100" b="1">
                <a:solidFill>
                  <a:srgbClr val="000000"/>
                </a:solidFill>
                <a:latin typeface="맑은 고딕"/>
                <a:ea typeface="맑은 고딕"/>
              </a:rPr>
              <a:t>05. 의존 규칙</a:t>
            </a:r>
          </a:p>
        </p:txBody>
      </p:sp>
      <p:sp>
        <p:nvSpPr>
          <p:cNvPr id="5" name="텍스트 개체 틀 4">
            <a:extLst>
              <a:ext uri="{FF2B5EF4-FFF2-40B4-BE49-F238E27FC236}">
                <a16:creationId xmlns:a16="http://schemas.microsoft.com/office/drawing/2014/main" id="{F0895985-68EF-30BA-2165-4B3D90ECD41C}"/>
              </a:ext>
            </a:extLst>
          </p:cNvPr>
          <p:cNvSpPr>
            <a:spLocks noGrp="1"/>
          </p:cNvSpPr>
          <p:nvPr>
            <p:ph type="body" sz="quarter" idx="11"/>
          </p:nvPr>
        </p:nvSpPr>
        <p:spPr/>
        <p:txBody>
          <a:bodyPr/>
          <a:lstStyle/>
          <a:p>
            <a:r>
              <a:rPr kumimoji="1" lang="en-US" altLang="ko-KR" sz="1400" dirty="0" err="1"/>
              <a:t>06. 아키텍처</a:t>
            </a:r>
          </a:p>
        </p:txBody>
      </p:sp>
      <p:sp>
        <p:nvSpPr>
          <p:cNvPr id="6" name="텍스트 개체 틀 5">
            <a:extLst>
              <a:ext uri="{FF2B5EF4-FFF2-40B4-BE49-F238E27FC236}">
                <a16:creationId xmlns:a16="http://schemas.microsoft.com/office/drawing/2014/main" id="{D985C1FD-84C4-10F9-372D-6A84E1680E0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E26A8878-48FF-5E3A-5D05-0F900C22011B}"/>
              </a:ext>
            </a:extLst>
          </p:cNvPr>
          <p:cNvSpPr>
            <a:spLocks noGrp="1"/>
          </p:cNvSpPr>
          <p:nvPr>
            <p:ph type="body" sz="quarter" idx="13"/>
          </p:nvPr>
        </p:nvSpPr>
        <p:spPr/>
        <p:txBody>
          <a:bodyPr/>
          <a:lstStyle/>
          <a:p>
            <a:endParaRPr lang="en-US" altLang="ko-KR" dirty="0"/>
          </a:p>
        </p:txBody>
      </p:sp>
      <p:graphicFrame>
        <p:nvGraphicFramePr>
          <p:cNvPr id="11" name="표 10">
            <a:extLst>
              <a:ext uri="{FF2B5EF4-FFF2-40B4-BE49-F238E27FC236}">
                <a16:creationId xmlns:a16="http://schemas.microsoft.com/office/drawing/2014/main" id="{93753AB9-526C-CE2D-446D-7615D9B6D6D2}"/>
              </a:ext>
            </a:extLst>
          </p:cNvPr>
          <p:cNvGraphicFramePr>
            <a:graphicFrameLocks noGrp="1"/>
          </p:cNvGraphicFramePr>
          <p:nvPr>
            <p:extLst>
              <p:ext uri="{D42A27DB-BD31-4B8C-83A1-F6EECF244321}">
                <p14:modId xmlns:p14="http://schemas.microsoft.com/office/powerpoint/2010/main" val="1761827855"/>
              </p:ext>
            </p:extLst>
          </p:nvPr>
        </p:nvGraphicFramePr>
        <p:xfrm>
          <a:off x="908875" y="2112010"/>
          <a:ext cx="7312660" cy="3873500"/>
        </p:xfrm>
        <a:graphic>
          <a:graphicData uri="http://schemas.openxmlformats.org/drawingml/2006/table">
            <a:tbl>
              <a:tblPr/>
              <a:tblGrid>
                <a:gridCol w="889000"/>
                <a:gridCol w="6423660"/>
              </a:tblGrid>
              <a:tr h="288000">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구분</a:t>
                      </a:r>
                    </a:p>
                  </a:txBody>
                  <a:tcPr marL="6750" marR="6750" marT="6750" marB="0" anchor="ctr">
                    <a:lnL>
                      <a:noFill/>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규칙</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허용</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order → payment·delivery·product</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허용</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paymentadapter → payment, deliveryadapter → delivery, persistence → order</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금지</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업무(order·payment·delivery·product) → 연동·persistence</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금지</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허용 목록 밖의 업무 간 의존</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금지</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패키지 사이의 직·간접 순환</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bl>
          </a:graphicData>
        </a:graphic>
      </p:graphicFrame>
      <p:sp>
        <p:nvSpPr>
          <p:cNvPr id="13" name="TextBox 12">
            <a:extLst>
              <a:ext uri="{FF2B5EF4-FFF2-40B4-BE49-F238E27FC236}">
                <a16:creationId xmlns:a16="http://schemas.microsoft.com/office/drawing/2014/main" id="{654EDDB4-901F-3D48-A715-17D163E8A7AC}"/>
              </a:ext>
            </a:extLst>
          </p:cNvPr>
          <p:cNvSpPr txBox="1"/>
          <p:nvPr/>
        </p:nvSpPr>
        <p:spPr>
          <a:xfrm>
            <a:off x="365760" y="960120"/>
            <a:ext cx="8412480" cy="781278"/>
          </a:xfrm>
          <a:prstGeom prst="rect">
            <a:avLst/>
          </a:prstGeom>
          <a:noFill/>
        </p:spPr>
        <p:txBody>
          <a:bodyPr wrap="square">
            <a:spAutoFit/>
          </a:bodyPr>
          <a:lstStyle/>
          <a:p>
            <a:pPr marL="0" indent="0">
              <a:spcBef>
                <a:spcPts val="600"/>
              </a:spcBef>
              <a:spcAft>
                <a:spcPts val="600"/>
              </a:spcAft>
              <a:buNone/>
            </a:pPr>
            <a:r>
              <a:rPr sz="1800" b="1">
                <a:solidFill>
                  <a:srgbClr val="000000"/>
                </a:solidFill>
                <a:latin typeface="맑은 고딕"/>
                <a:ea typeface="맑은 고딕"/>
              </a:rPr>
              <a:t>허용 목록은 의존할 수 있는 방향을 정하고</a:t>
            </a:r>
            <a:r>
              <a:rPr sz="1800" b="0">
                <a:solidFill>
                  <a:srgbClr val="000000"/>
                </a:solidFill>
                <a:latin typeface="맑은 고딕"/>
                <a:ea typeface="맑은 고딕"/>
              </a:rPr>
              <a:t>, 검사는 그 밖의 업무 간 의존·업무에서 구현으로의 의존·순환을 각각 금지한다.</a:t>
            </a:r>
          </a:p>
        </p:txBody>
      </p:sp>
      <p:sp>
        <p:nvSpPr>
          <p:cNvPr id="8" name="슬라이드 번호 개체 틀 2">
            <a:extLst>
              <a:ext uri="{FF2B5EF4-FFF2-40B4-BE49-F238E27FC236}">
                <a16:creationId xmlns:a16="http://schemas.microsoft.com/office/drawing/2014/main" id="{741B75C6-7ED3-AA4C-41B6-F69C599EA447}"/>
              </a:ext>
            </a:extLst>
          </p:cNvPr>
          <p:cNvSpPr>
            <a:spLocks noGrp="1"/>
          </p:cNvSpPr>
          <p:nvPr>
            <p:ph type="sldNum" sz="quarter" idx="10"/>
          </p:nvPr>
        </p:nvSpPr>
        <p:spPr>
          <a:xfrm>
            <a:off x="3508472" y="6449625"/>
            <a:ext cx="2133600" cy="238277"/>
          </a:xfrm>
        </p:spPr>
        <p:txBody>
          <a:bodyPr>
            <a:normAutofit/>
          </a:bodyPr>
          <a:lstStyle/>
          <a:p>
            <a:pPr marL="0" marR="0" lvl="0" indent="0" algn="ctr" defTabSz="457200" rtl="0" eaLnBrk="1" fontAlgn="auto" latinLnBrk="0" hangingPunct="1">
              <a:lnSpc>
                <a:spcPct val="100000"/>
              </a:lnSpc>
              <a:spcBef>
                <a:spcPts val="0"/>
              </a:spcBef>
              <a:spcAft>
                <a:spcPts val="600"/>
              </a:spcAft>
              <a:buClrTx/>
              <a:buSzTx/>
              <a:buFontTx/>
              <a:buNone/>
              <a:tabLst/>
              <a:defRPr/>
            </a:pPr>
            <a:r>
              <a:rPr kumimoji="0" lang="en-US" altLang="ko-KR" sz="800" b="0" i="0" u="none" strike="noStrike" kern="1200" cap="none" spc="0" normalizeH="0" baseline="0" noProof="0">
                <a:ln>
                  <a:noFill/>
                </a:ln>
                <a:solidFill>
                  <a:prstClr val="black"/>
                </a:solidFill>
                <a:effectLst/>
                <a:uLnTx/>
                <a:uFillTx/>
                <a:latin typeface="맑은 고딕" panose="020B0503020000020004" pitchFamily="34" charset="-127"/>
                <a:ea typeface="맑은 고딕" panose="020B0503020000020004" pitchFamily="34" charset="-127"/>
                <a:cs typeface="+mn-cs"/>
              </a:rPr>
              <a:t>- 15 -</a:t>
            </a:r>
          </a:p>
        </p:txBody>
      </p:sp>
      <p:sp>
        <p:nvSpPr>
          <p:cNvPr id="14" name="TextBox 12">
            <a:extLst>
              <a:ext uri="{FF2B5EF4-FFF2-40B4-BE49-F238E27FC236}">
                <a16:creationId xmlns:a16="http://schemas.microsoft.com/office/drawing/2014/main" id="{654EDDB4-901F-3D48-A715-17D163E8A7AC}"/>
              </a:ext>
            </a:extLst>
          </p:cNvPr>
          <p:cNvSpPr txBox="1"/>
          <p:nvPr/>
        </p:nvSpPr>
        <p:spPr>
          <a:xfrm>
            <a:off x="365760" y="1813560"/>
            <a:ext cx="8412480" cy="222250"/>
          </a:xfrm>
          <a:prstGeom prst="rect">
            <a:avLst/>
          </a:prstGeom>
          <a:noFill/>
        </p:spPr>
        <p:txBody>
          <a:bodyPr wrap="square" tIns="0" bIns="0">
            <a:spAutoFit/>
          </a:bodyPr>
          <a:lstStyle/>
          <a:p>
            <a:pPr algn="ctr">
              <a:spcBef>
                <a:spcPts val="0"/>
              </a:spcBef>
              <a:spcAft>
                <a:spcPts val="0"/>
              </a:spcAft>
            </a:pPr>
            <a:r>
              <a:rPr sz="1400" b="1">
                <a:solidFill>
                  <a:srgbClr val="000000"/>
                </a:solidFill>
                <a:latin typeface="맑은 고딕"/>
                <a:ea typeface="맑은 고딕"/>
              </a:rPr>
              <a:t>주문 시스템의 의존 규칙</a:t>
            </a:r>
          </a:p>
        </p:txBody>
      </p:sp>
      <p:sp>
        <p:nvSpPr>
          <p:cNvPr id="15" name="TextBox 12">
            <a:extLst>
              <a:ext uri="{FF2B5EF4-FFF2-40B4-BE49-F238E27FC236}">
                <a16:creationId xmlns:a16="http://schemas.microsoft.com/office/drawing/2014/main" id="{654EDDB4-901F-3D48-A715-17D163E8A7AC}"/>
              </a:ext>
            </a:extLst>
          </p:cNvPr>
          <p:cNvSpPr txBox="1"/>
          <p:nvPr/>
        </p:nvSpPr>
        <p:spPr>
          <a:xfrm>
            <a:off x="365760" y="4068610"/>
            <a:ext cx="8412480" cy="1950720"/>
          </a:xfrm>
          <a:prstGeom prst="rect">
            <a:avLst/>
          </a:prstGeom>
          <a:noFill/>
        </p:spPr>
        <p:txBody>
          <a:bodyPr wrap="square">
            <a:spAutoFit/>
          </a:bodyPr>
          <a:lstStyle/>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업무 간 허용 목록</a:t>
            </a:r>
            <a:r>
              <a:rPr sz="1800" b="0">
                <a:solidFill>
                  <a:srgbClr val="000000"/>
                </a:solidFill>
                <a:latin typeface="맑은 고딕"/>
                <a:ea typeface="맑은 고딕"/>
              </a:rPr>
              <a:t>은 </a:t>
            </a:r>
            <a:r>
              <a:rPr sz="1800" b="0">
                <a:solidFill>
                  <a:srgbClr val="000000"/>
                </a:solidFill>
                <a:latin typeface="맑은 고딕"/>
                <a:ea typeface="맑은 고딕"/>
              </a:rPr>
              <a:t>order</a:t>
            </a:r>
            <a:r>
              <a:rPr sz="1800" b="0">
                <a:solidFill>
                  <a:srgbClr val="000000"/>
                </a:solidFill>
                <a:latin typeface="맑은 고딕"/>
                <a:ea typeface="맑은 고딕"/>
              </a:rPr>
              <a:t>가 결제·배송·상품의 말을 사용한다는 설계 결정이다. 검사도 이 목록과 실제 의존을 대조한다.</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payment</a:t>
            </a:r>
            <a:r>
              <a:rPr sz="1800" b="0">
                <a:solidFill>
                  <a:srgbClr val="000000"/>
                </a:solidFill>
                <a:latin typeface="맑은 고딕"/>
                <a:ea typeface="맑은 고딕"/>
              </a:rPr>
              <a:t> → </a:t>
            </a:r>
            <a:r>
              <a:rPr sz="1800" b="0">
                <a:solidFill>
                  <a:srgbClr val="000000"/>
                </a:solidFill>
                <a:latin typeface="맑은 고딕"/>
                <a:ea typeface="맑은 고딕"/>
              </a:rPr>
              <a:t>delivery</a:t>
            </a:r>
            <a:r>
              <a:rPr sz="1800" b="0">
                <a:solidFill>
                  <a:srgbClr val="000000"/>
                </a:solidFill>
                <a:latin typeface="맑은 고딕"/>
                <a:ea typeface="맑은 고딕"/>
              </a:rPr>
              <a:t>는 </a:t>
            </a:r>
            <a:r>
              <a:rPr sz="1800" b="1">
                <a:solidFill>
                  <a:srgbClr val="000000"/>
                </a:solidFill>
                <a:latin typeface="맑은 고딕"/>
                <a:ea typeface="맑은 고딕"/>
              </a:rPr>
              <a:t>순환이 없어도 금지</a:t>
            </a:r>
            <a:r>
              <a:rPr sz="1800" b="0">
                <a:solidFill>
                  <a:srgbClr val="000000"/>
                </a:solidFill>
                <a:latin typeface="맑은 고딕"/>
                <a:ea typeface="맑은 고딕"/>
              </a:rPr>
              <a:t>다. 순환 검사만으로 허용 목록을 지킬 수 없다.</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연동·영속 → 업무는 </a:t>
            </a:r>
            <a:r>
              <a:rPr sz="1800" b="1">
                <a:solidFill>
                  <a:srgbClr val="000000"/>
                </a:solidFill>
                <a:latin typeface="맑은 고딕"/>
                <a:ea typeface="맑은 고딕"/>
              </a:rPr>
              <a:t>포트를 구현하는 방향</a:t>
            </a:r>
            <a:r>
              <a:rPr sz="1800" b="0">
                <a:solidFill>
                  <a:srgbClr val="000000"/>
                </a:solidFill>
                <a:latin typeface="맑은 고딕"/>
                <a:ea typeface="맑은 고딕"/>
              </a:rPr>
              <a:t>이다. 반대 방향과 순환은 별도로 검사한다.</a:t>
            </a:r>
          </a:p>
        </p:txBody>
      </p:sp>
    </p:spTree>
    <p:extLst>
      <p:ext uri="{BB962C8B-B14F-4D97-AF65-F5344CB8AC3E}">
        <p14:creationId xmlns:p14="http://schemas.microsoft.com/office/powerpoint/2010/main" val="278956947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88D352-71B8-E3E1-FEC2-7A4B3A634A78}"/>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6B867C48-2A31-3C59-F9AC-29CD4F069980}"/>
              </a:ext>
            </a:extLst>
          </p:cNvPr>
          <p:cNvSpPr>
            <a:spLocks noGrp="1"/>
          </p:cNvSpPr>
          <p:nvPr>
            <p:ph type="title"/>
          </p:nvPr>
        </p:nvSpPr>
        <p:spPr/>
        <p:txBody>
          <a:bodyPr/>
          <a:lstStyle/>
          <a:p>
            <a:r>
              <a:rPr sz="2400" b="1">
                <a:solidFill>
                  <a:srgbClr val="000000"/>
                </a:solidFill>
                <a:latin typeface="맑은 고딕"/>
                <a:ea typeface="맑은 고딕"/>
              </a:rPr>
              <a:t>대역으로 업무 규칙 확인하기</a:t>
            </a:r>
          </a:p>
          <a:p>
            <a:r>
              <a:rPr sz="1100" b="1">
                <a:solidFill>
                  <a:srgbClr val="000000"/>
                </a:solidFill>
                <a:latin typeface="맑은 고딕"/>
                <a:ea typeface="맑은 고딕"/>
              </a:rPr>
              <a:t>06. 검증하기 쉬운 구조</a:t>
            </a:r>
          </a:p>
        </p:txBody>
      </p:sp>
      <p:sp>
        <p:nvSpPr>
          <p:cNvPr id="3" name="슬라이드 번호 개체 틀 2">
            <a:extLst>
              <a:ext uri="{FF2B5EF4-FFF2-40B4-BE49-F238E27FC236}">
                <a16:creationId xmlns:a16="http://schemas.microsoft.com/office/drawing/2014/main" id="{7DA43EF7-1D4A-ECB9-A1FF-518C60DE99E6}"/>
              </a:ext>
            </a:extLst>
          </p:cNvPr>
          <p:cNvSpPr>
            <a:spLocks noGrp="1"/>
          </p:cNvSpPr>
          <p:nvPr>
            <p:ph type="sldNum" sz="quarter" idx="10"/>
          </p:nvPr>
        </p:nvSpPr>
        <p:spPr/>
        <p:txBody>
          <a:bodyPr/>
          <a:lstStyle/>
          <a:p>
            <a:pPr>
              <a:defRPr/>
            </a:pPr>
            <a:r>
              <a:rPr lang="en-US" altLang="ko-KR">
                <a:solidFill>
                  <a:prstClr val="black"/>
                </a:solidFill>
              </a:rPr>
              <a:t>- 16 -</a:t>
            </a:r>
          </a:p>
        </p:txBody>
      </p:sp>
      <p:sp>
        <p:nvSpPr>
          <p:cNvPr id="5" name="텍스트 개체 틀 4">
            <a:extLst>
              <a:ext uri="{FF2B5EF4-FFF2-40B4-BE49-F238E27FC236}">
                <a16:creationId xmlns:a16="http://schemas.microsoft.com/office/drawing/2014/main" id="{522E744E-3182-EA63-E315-5167A8F7E1A4}"/>
              </a:ext>
            </a:extLst>
          </p:cNvPr>
          <p:cNvSpPr>
            <a:spLocks noGrp="1"/>
          </p:cNvSpPr>
          <p:nvPr>
            <p:ph type="body" sz="quarter" idx="11"/>
          </p:nvPr>
        </p:nvSpPr>
        <p:spPr/>
        <p:txBody>
          <a:bodyPr/>
          <a:lstStyle/>
          <a:p>
            <a:r>
              <a:rPr kumimoji="1" lang="en-US" altLang="ko-KR" sz="1400" dirty="0" err="1"/>
              <a:t>06. 아키텍처</a:t>
            </a:r>
          </a:p>
        </p:txBody>
      </p:sp>
      <p:sp>
        <p:nvSpPr>
          <p:cNvPr id="6" name="텍스트 개체 틀 5">
            <a:extLst>
              <a:ext uri="{FF2B5EF4-FFF2-40B4-BE49-F238E27FC236}">
                <a16:creationId xmlns:a16="http://schemas.microsoft.com/office/drawing/2014/main" id="{6C32D74B-A4F7-BB0E-1C8C-BE9287C820A2}"/>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BCF57505-7D66-BE60-56CA-086F6E979841}"/>
              </a:ext>
            </a:extLst>
          </p:cNvPr>
          <p:cNvSpPr>
            <a:spLocks noGrp="1"/>
          </p:cNvSpPr>
          <p:nvPr>
            <p:ph type="body" sz="quarter" idx="13"/>
          </p:nvPr>
        </p:nvSpPr>
        <p:spPr/>
        <p:txBody>
          <a:bodyPr/>
          <a:lstStyle/>
          <a:p>
            <a:endParaRPr kumimoji="1" lang="en-US" altLang="ko-KR" dirty="0"/>
          </a:p>
        </p:txBody>
      </p:sp>
      <p:sp>
        <p:nvSpPr>
          <p:cNvPr id="31" name="Integrated content 31">
            <a:extLst>
              <a:ext uri="{FF2B5EF4-FFF2-40B4-BE49-F238E27FC236}">
                <a16:creationId xmlns:a16="http://schemas.microsoft.com/office/drawing/2014/main" id="{8E264927-DE01-A85F-AD3D-A49DD8EAC71A}"/>
              </a:ext>
            </a:extLst>
          </p:cNvPr>
          <p:cNvSpPr txBox="1"/>
          <p:nvPr/>
        </p:nvSpPr>
        <p:spPr>
          <a:xfrm>
            <a:off x="365760" y="4117158"/>
            <a:ext cx="8412480" cy="825500"/>
          </a:xfrm>
          <a:prstGeom prst="rect">
            <a:avLst/>
          </a:prstGeom>
          <a:noFill/>
        </p:spPr>
        <p:txBody>
          <a:bodyPr wrap="square" lIns="91440" tIns="0" rIns="91440" bIns="0" anchor="t">
            <a:noAutofit/>
          </a:bodyPr>
          <a:lstStyle/>
          <a:p>
            <a:pPr marL="0" indent="0" algn="l">
              <a:lnSpc>
                <a:spcPts val="1150"/>
              </a:lnSpc>
              <a:spcBef>
                <a:spcPts val="0"/>
              </a:spcBef>
              <a:spcAft>
                <a:spcPts val="0"/>
              </a:spcAft>
              <a:buNone/>
            </a:pPr>
            <a:r>
              <a:rPr sz="1000" b="0">
                <a:solidFill>
                  <a:srgbClr val="000000"/>
                </a:solidFill>
                <a:latin typeface="Consolas"/>
                <a:ea typeface="맑은 고딕"/>
              </a:rPr>
              <a:t>        // ... 거절을 돌려주는 가짜 결제 포트 주입 생략</a:t>
            </a:r>
          </a:p>
          <a:p>
            <a:pPr marL="0" indent="0" algn="l">
              <a:lnSpc>
                <a:spcPts val="1150"/>
              </a:lnSpc>
              <a:spcBef>
                <a:spcPts val="0"/>
              </a:spcBef>
              <a:spcAft>
                <a:spcPts val="0"/>
              </a:spcAft>
              <a:buNone/>
            </a:pPr>
            <a:r>
              <a:rPr sz="1000" b="0">
                <a:solidFill>
                  <a:srgbClr val="000000"/>
                </a:solidFill>
                <a:latin typeface="Consolas"/>
                <a:ea typeface="맑은 고딕"/>
              </a:rPr>
              <a:t>        rejected.pay("demo", new PaymentMethod("카드1"));</a:t>
            </a:r>
          </a:p>
          <a:p>
            <a:pPr marL="0" indent="0" algn="l">
              <a:lnSpc>
                <a:spcPts val="1150"/>
              </a:lnSpc>
              <a:spcBef>
                <a:spcPts val="0"/>
              </a:spcBef>
              <a:spcAft>
                <a:spcPts val="0"/>
              </a:spcAft>
              <a:buNone/>
            </a:pPr>
            <a:r>
              <a:rPr sz="1000" b="0">
                <a:solidFill>
                  <a:srgbClr val="000000"/>
                </a:solidFill>
                <a:latin typeface="Consolas"/>
                <a:ea typeface="맑은 고딕"/>
              </a:rPr>
              <a:t>        check(order.status() == OrderStatus.PENDING_PAYMENT, "거절 상태");</a:t>
            </a:r>
          </a:p>
          <a:p>
            <a:pPr marL="0" indent="0" algn="l">
              <a:lnSpc>
                <a:spcPts val="1150"/>
              </a:lnSpc>
              <a:spcBef>
                <a:spcPts val="0"/>
              </a:spcBef>
              <a:spcAft>
                <a:spcPts val="0"/>
              </a:spcAft>
              <a:buNone/>
            </a:pPr>
            <a:r>
              <a:rPr sz="1000" b="0">
                <a:solidFill>
                  <a:srgbClr val="000000"/>
                </a:solidFill>
                <a:latin typeface="Consolas"/>
                <a:ea typeface="맑은 고딕"/>
              </a:rPr>
              <a:t>        check(deliveries.get() == 0, "승인 전 배송 금지");</a:t>
            </a:r>
          </a:p>
        </p:txBody>
      </p:sp>
      <p:sp>
        <p:nvSpPr>
          <p:cNvPr id="32" name="내용 개체 틀 7">
            <a:extLst>
              <a:ext uri="{FF2B5EF4-FFF2-40B4-BE49-F238E27FC236}">
                <a16:creationId xmlns:a16="http://schemas.microsoft.com/office/drawing/2014/main" id="{BEBA2C4A-B0BF-F2E4-EA6E-614C99CBA184}"/>
              </a:ext>
            </a:extLst>
          </p:cNvPr>
          <p:cNvSpPr>
            <a:spLocks noGrp="1"/>
          </p:cNvSpPr>
          <p:nvPr>
            <p:ph idx="1"/>
          </p:nvPr>
        </p:nvSpPr>
        <p:spPr>
          <a:xfrm>
            <a:off x="365760" y="960120"/>
            <a:ext cx="8412480" cy="781278"/>
          </a:xfrm>
        </p:spPr>
        <p:txBody>
          <a:bodyPr>
            <a:normAutofit/>
          </a:bodyPr>
          <a:lstStyle/>
          <a:p>
            <a:pPr marL="0" indent="0">
              <a:spcBef>
                <a:spcPts val="600"/>
              </a:spcBef>
              <a:spcAft>
                <a:spcPts val="600"/>
              </a:spcAft>
              <a:buNone/>
            </a:pPr>
            <a:r>
              <a:rPr sz="1800" b="0">
                <a:solidFill>
                  <a:srgbClr val="000000"/>
                </a:solidFill>
                <a:latin typeface="맑은 고딕"/>
                <a:ea typeface="맑은 고딕"/>
              </a:rPr>
              <a:t>포트가 있으면 외부를 부르지 않고 </a:t>
            </a:r>
            <a:r>
              <a:rPr sz="1800" b="1">
                <a:solidFill>
                  <a:srgbClr val="000000"/>
                </a:solidFill>
                <a:latin typeface="맑은 고딕"/>
                <a:ea typeface="맑은 고딕"/>
              </a:rPr>
              <a:t>업무 규칙만</a:t>
            </a:r>
            <a:r>
              <a:rPr sz="1800" b="0">
                <a:solidFill>
                  <a:srgbClr val="000000"/>
                </a:solidFill>
                <a:latin typeface="맑은 고딕"/>
                <a:ea typeface="맑은 고딕"/>
              </a:rPr>
              <a:t> 확인할 수 있다. 거절이면 상태가 그대로이고 배송 요청이 0회다.</a:t>
            </a:r>
          </a:p>
        </p:txBody>
      </p:sp>
      <p:sp>
        <p:nvSpPr>
          <p:cNvPr id="33" name="TextBox 12">
            <a:extLst>
              <a:ext uri="{FF2B5EF4-FFF2-40B4-BE49-F238E27FC236}">
                <a16:creationId xmlns:a16="http://schemas.microsoft.com/office/drawing/2014/main" id="{654EDDB4-901F-3D48-A715-17D163E8A7AC}"/>
              </a:ext>
            </a:extLst>
          </p:cNvPr>
          <p:cNvSpPr txBox="1"/>
          <p:nvPr/>
        </p:nvSpPr>
        <p:spPr>
          <a:xfrm>
            <a:off x="365760" y="5171258"/>
            <a:ext cx="8412480" cy="701040"/>
          </a:xfrm>
          <a:prstGeom prst="rect">
            <a:avLst/>
          </a:prstGeom>
          <a:noFill/>
        </p:spPr>
        <p:txBody>
          <a:bodyPr wrap="square">
            <a:spAutoFit/>
          </a:bodyPr>
          <a:lstStyle/>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확인하는 것은 </a:t>
            </a:r>
            <a:r>
              <a:rPr sz="1800" b="1">
                <a:solidFill>
                  <a:srgbClr val="000000"/>
                </a:solidFill>
                <a:latin typeface="맑은 고딕"/>
                <a:ea typeface="맑은 고딕"/>
              </a:rPr>
              <a:t>요청한 금액</a:t>
            </a:r>
            <a:r>
              <a:rPr sz="1800" b="0">
                <a:solidFill>
                  <a:srgbClr val="000000"/>
                </a:solidFill>
                <a:latin typeface="맑은 고딕"/>
                <a:ea typeface="맑은 고딕"/>
              </a:rPr>
              <a:t>과 </a:t>
            </a:r>
            <a:r>
              <a:rPr sz="1800" b="1">
                <a:solidFill>
                  <a:srgbClr val="000000"/>
                </a:solidFill>
                <a:latin typeface="맑은 고딕"/>
                <a:ea typeface="맑은 고딕"/>
              </a:rPr>
              <a:t>거절 뒤의 상태·배송 횟수</a:t>
            </a:r>
            <a:r>
              <a:rPr sz="1800" b="0">
                <a:solidFill>
                  <a:srgbClr val="000000"/>
                </a:solidFill>
                <a:latin typeface="맑은 고딕"/>
                <a:ea typeface="맑은 고딕"/>
              </a:rPr>
              <a:t>다. 셋 다 업무의 약속이다.</a:t>
            </a:r>
          </a:p>
        </p:txBody>
      </p:sp>
      <p:sp>
        <p:nvSpPr>
          <p:cNvPr id="34" name="TextBox 12">
            <a:extLst>
              <a:ext uri="{FF2B5EF4-FFF2-40B4-BE49-F238E27FC236}">
                <a16:creationId xmlns:a16="http://schemas.microsoft.com/office/drawing/2014/main" id="{654EDDB4-901F-3D48-A715-17D163E8A7AC}"/>
              </a:ext>
            </a:extLst>
          </p:cNvPr>
          <p:cNvSpPr txBox="1"/>
          <p:nvPr/>
        </p:nvSpPr>
        <p:spPr>
          <a:xfrm>
            <a:off x="365760" y="1916150"/>
            <a:ext cx="8412480" cy="201168"/>
          </a:xfrm>
          <a:prstGeom prst="rect">
            <a:avLst/>
          </a:prstGeom>
          <a:noFill/>
        </p:spPr>
        <p:txBody>
          <a:bodyPr wrap="square">
            <a:spAutoFit/>
          </a:bodyPr>
          <a:lstStyle/>
          <a:p>
            <a:pPr algn="ctr">
              <a:spcBef>
                <a:spcPts val="0"/>
              </a:spcBef>
              <a:spcAft>
                <a:spcPts val="0"/>
              </a:spcAft>
            </a:pPr>
            <a:r>
              <a:rPr sz="1400" b="1">
                <a:solidFill>
                  <a:srgbClr val="000000"/>
                </a:solidFill>
                <a:latin typeface="맑은 고딕"/>
                <a:ea typeface="맑은 고딕"/>
              </a:rPr>
              <a:t>대역을 끼운 확인</a:t>
            </a:r>
          </a:p>
        </p:txBody>
      </p:sp>
      <p:pic>
        <p:nvPicPr>
          <p:cNvPr id="35" name="plantuml Diagram 3"/>
          <p:cNvPicPr>
            <a:picLocks noChangeAspect="1"/>
          </p:cNvPicPr>
          <p:nvPr/>
        </p:nvPicPr>
        <p:blipFill>
          <a:blip r:embed="plantumlImage3"/>
          <a:stretch>
            <a:fillRect/>
          </a:stretch>
        </p:blipFill>
        <p:spPr>
          <a:xfrm>
            <a:off x="2292106" y="2153894"/>
            <a:ext cx="4559788" cy="1743808"/>
          </a:xfrm>
          <a:prstGeom prst="rect">
            <a:avLst/>
          </a:prstGeom>
        </p:spPr>
      </p:pic>
    </p:spTree>
    <p:extLst>
      <p:ext uri="{BB962C8B-B14F-4D97-AF65-F5344CB8AC3E}">
        <p14:creationId xmlns:p14="http://schemas.microsoft.com/office/powerpoint/2010/main" val="377335152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88D352-71B8-E3E1-FEC2-7A4B3A634A78}"/>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6B867C48-2A31-3C59-F9AC-29CD4F069980}"/>
              </a:ext>
            </a:extLst>
          </p:cNvPr>
          <p:cNvSpPr>
            <a:spLocks noGrp="1"/>
          </p:cNvSpPr>
          <p:nvPr>
            <p:ph type="title"/>
          </p:nvPr>
        </p:nvSpPr>
        <p:spPr/>
        <p:txBody>
          <a:bodyPr/>
          <a:lstStyle/>
          <a:p>
            <a:r>
              <a:rPr sz="2400" b="1">
                <a:solidFill>
                  <a:srgbClr val="000000"/>
                </a:solidFill>
                <a:latin typeface="맑은 고딕"/>
                <a:ea typeface="맑은 고딕"/>
              </a:rPr>
              <a:t>규칙 위반을 검사하기</a:t>
            </a:r>
          </a:p>
          <a:p>
            <a:r>
              <a:rPr sz="1100" b="1">
                <a:solidFill>
                  <a:srgbClr val="000000"/>
                </a:solidFill>
                <a:latin typeface="맑은 고딕"/>
                <a:ea typeface="맑은 고딕"/>
              </a:rPr>
              <a:t>06. 검증하기 쉬운 구조</a:t>
            </a:r>
          </a:p>
        </p:txBody>
      </p:sp>
      <p:sp>
        <p:nvSpPr>
          <p:cNvPr id="3" name="슬라이드 번호 개체 틀 2">
            <a:extLst>
              <a:ext uri="{FF2B5EF4-FFF2-40B4-BE49-F238E27FC236}">
                <a16:creationId xmlns:a16="http://schemas.microsoft.com/office/drawing/2014/main" id="{7DA43EF7-1D4A-ECB9-A1FF-518C60DE99E6}"/>
              </a:ext>
            </a:extLst>
          </p:cNvPr>
          <p:cNvSpPr>
            <a:spLocks noGrp="1"/>
          </p:cNvSpPr>
          <p:nvPr>
            <p:ph type="sldNum" sz="quarter" idx="10"/>
          </p:nvPr>
        </p:nvSpPr>
        <p:spPr/>
        <p:txBody>
          <a:bodyPr/>
          <a:lstStyle/>
          <a:p>
            <a:pPr>
              <a:defRPr/>
            </a:pPr>
            <a:r>
              <a:rPr lang="en-US" altLang="ko-KR">
                <a:solidFill>
                  <a:prstClr val="black"/>
                </a:solidFill>
              </a:rPr>
              <a:t>- 17 -</a:t>
            </a:r>
          </a:p>
        </p:txBody>
      </p:sp>
      <p:sp>
        <p:nvSpPr>
          <p:cNvPr id="5" name="텍스트 개체 틀 4">
            <a:extLst>
              <a:ext uri="{FF2B5EF4-FFF2-40B4-BE49-F238E27FC236}">
                <a16:creationId xmlns:a16="http://schemas.microsoft.com/office/drawing/2014/main" id="{522E744E-3182-EA63-E315-5167A8F7E1A4}"/>
              </a:ext>
            </a:extLst>
          </p:cNvPr>
          <p:cNvSpPr>
            <a:spLocks noGrp="1"/>
          </p:cNvSpPr>
          <p:nvPr>
            <p:ph type="body" sz="quarter" idx="11"/>
          </p:nvPr>
        </p:nvSpPr>
        <p:spPr/>
        <p:txBody>
          <a:bodyPr/>
          <a:lstStyle/>
          <a:p>
            <a:r>
              <a:rPr kumimoji="1" lang="en-US" altLang="ko-KR" sz="1400" dirty="0" err="1"/>
              <a:t>06. 아키텍처</a:t>
            </a:r>
          </a:p>
        </p:txBody>
      </p:sp>
      <p:sp>
        <p:nvSpPr>
          <p:cNvPr id="6" name="텍스트 개체 틀 5">
            <a:extLst>
              <a:ext uri="{FF2B5EF4-FFF2-40B4-BE49-F238E27FC236}">
                <a16:creationId xmlns:a16="http://schemas.microsoft.com/office/drawing/2014/main" id="{6C32D74B-A4F7-BB0E-1C8C-BE9287C820A2}"/>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BCF57505-7D66-BE60-56CA-086F6E979841}"/>
              </a:ext>
            </a:extLst>
          </p:cNvPr>
          <p:cNvSpPr>
            <a:spLocks noGrp="1"/>
          </p:cNvSpPr>
          <p:nvPr>
            <p:ph type="body" sz="quarter" idx="13"/>
          </p:nvPr>
        </p:nvSpPr>
        <p:spPr/>
        <p:txBody>
          <a:bodyPr/>
          <a:lstStyle/>
          <a:p>
            <a:endParaRPr kumimoji="1" lang="en-US" altLang="ko-KR" dirty="0"/>
          </a:p>
        </p:txBody>
      </p:sp>
      <p:sp>
        <p:nvSpPr>
          <p:cNvPr id="31" name="Integrated content 31">
            <a:extLst>
              <a:ext uri="{FF2B5EF4-FFF2-40B4-BE49-F238E27FC236}">
                <a16:creationId xmlns:a16="http://schemas.microsoft.com/office/drawing/2014/main" id="{8E264927-DE01-A85F-AD3D-A49DD8EAC71A}"/>
              </a:ext>
            </a:extLst>
          </p:cNvPr>
          <p:cNvSpPr txBox="1"/>
          <p:nvPr/>
        </p:nvSpPr>
        <p:spPr>
          <a:xfrm>
            <a:off x="365760" y="2649162"/>
            <a:ext cx="8412480" cy="990600"/>
          </a:xfrm>
          <a:prstGeom prst="rect">
            <a:avLst/>
          </a:prstGeom>
          <a:noFill/>
        </p:spPr>
        <p:txBody>
          <a:bodyPr wrap="square" lIns="91440" tIns="0" rIns="91440" bIns="0" anchor="t">
            <a:noAutofit/>
          </a:bodyPr>
          <a:lstStyle/>
          <a:p>
            <a:pPr marL="0" indent="0" algn="l">
              <a:lnSpc>
                <a:spcPts val="1150"/>
              </a:lnSpc>
              <a:spcBef>
                <a:spcPts val="0"/>
              </a:spcBef>
              <a:spcAft>
                <a:spcPts val="0"/>
              </a:spcAft>
              <a:buNone/>
            </a:pPr>
            <a:r>
              <a:rPr sz="1000" b="0">
                <a:solidFill>
                  <a:srgbClr val="000000"/>
                </a:solidFill>
                <a:latin typeface="Consolas"/>
                <a:ea typeface="맑은 고딕"/>
              </a:rPr>
              <a:t>PASS 정상 구조: 업무 간 허용 목록 준수, 역방향·순환 없음</a:t>
            </a:r>
          </a:p>
          <a:p>
            <a:pPr marL="0" indent="0" algn="l">
              <a:lnSpc>
                <a:spcPts val="1150"/>
              </a:lnSpc>
              <a:spcBef>
                <a:spcPts val="0"/>
              </a:spcBef>
              <a:spcAft>
                <a:spcPts val="0"/>
              </a:spcAft>
              <a:buNone/>
            </a:pPr>
            <a:r>
              <a:rPr sz="1000" b="0">
                <a:solidFill>
                  <a:srgbClr val="000000"/>
                </a:solidFill>
                <a:latin typeface="Consolas"/>
                <a:ea typeface="맑은 고딕"/>
              </a:rPr>
              <a:t>PASS 위반 탐지(직접 import): order -&gt; paymentadapter: 업무에서 연동·영속 의존 금지</a:t>
            </a:r>
          </a:p>
          <a:p>
            <a:pPr marL="0" indent="0" algn="l">
              <a:lnSpc>
                <a:spcPts val="1150"/>
              </a:lnSpc>
              <a:spcBef>
                <a:spcPts val="0"/>
              </a:spcBef>
              <a:spcAft>
                <a:spcPts val="0"/>
              </a:spcAft>
              <a:buNone/>
            </a:pPr>
            <a:r>
              <a:rPr sz="1000" b="0">
                <a:solidFill>
                  <a:srgbClr val="000000"/>
                </a:solidFill>
                <a:latin typeface="Consolas"/>
                <a:ea typeface="맑은 고딕"/>
              </a:rPr>
              <a:t>PASS 위반 탐지(완전한 이름의 의존): order -&gt; persistence: 업무에서 연동·영속 의존 금지</a:t>
            </a:r>
          </a:p>
          <a:p>
            <a:pPr marL="0" indent="0" algn="l">
              <a:lnSpc>
                <a:spcPts val="1150"/>
              </a:lnSpc>
              <a:spcBef>
                <a:spcPts val="0"/>
              </a:spcBef>
              <a:spcAft>
                <a:spcPts val="0"/>
              </a:spcAft>
              <a:buNone/>
            </a:pPr>
            <a:r>
              <a:rPr sz="1000" b="0">
                <a:solidFill>
                  <a:srgbClr val="000000"/>
                </a:solidFill>
                <a:latin typeface="Consolas"/>
                <a:ea typeface="맑은 고딕"/>
              </a:rPr>
              <a:t>PASS 위반 탐지(허용 밖): payment -&gt; delivery</a:t>
            </a:r>
          </a:p>
          <a:p>
            <a:pPr marL="0" indent="0" algn="l">
              <a:lnSpc>
                <a:spcPts val="1150"/>
              </a:lnSpc>
              <a:spcBef>
                <a:spcPts val="0"/>
              </a:spcBef>
              <a:spcAft>
                <a:spcPts val="0"/>
              </a:spcAft>
              <a:buNone/>
            </a:pPr>
            <a:r>
              <a:rPr sz="1000" b="0">
                <a:solidFill>
                  <a:srgbClr val="000000"/>
                </a:solidFill>
                <a:latin typeface="Consolas"/>
                <a:ea typeface="맑은 고딕"/>
              </a:rPr>
              <a:t>PASS 위반 탐지(패키지 순환): order -&gt; payment -&gt; order</a:t>
            </a:r>
          </a:p>
        </p:txBody>
      </p:sp>
      <p:sp>
        <p:nvSpPr>
          <p:cNvPr id="32" name="내용 개체 틀 7">
            <a:extLst>
              <a:ext uri="{FF2B5EF4-FFF2-40B4-BE49-F238E27FC236}">
                <a16:creationId xmlns:a16="http://schemas.microsoft.com/office/drawing/2014/main" id="{BEBA2C4A-B0BF-F2E4-EA6E-614C99CBA184}"/>
              </a:ext>
            </a:extLst>
          </p:cNvPr>
          <p:cNvSpPr>
            <a:spLocks noGrp="1"/>
          </p:cNvSpPr>
          <p:nvPr>
            <p:ph idx="1"/>
          </p:nvPr>
        </p:nvSpPr>
        <p:spPr>
          <a:xfrm>
            <a:off x="365760" y="960120"/>
            <a:ext cx="8412480" cy="1587442"/>
          </a:xfrm>
        </p:spPr>
        <p:txBody>
          <a:bodyPr>
            <a:normAutofit/>
          </a:bodyPr>
          <a:lstStyle/>
          <a:p>
            <a:pPr marL="0" indent="0">
              <a:spcBef>
                <a:spcPts val="600"/>
              </a:spcBef>
              <a:spcAft>
                <a:spcPts val="600"/>
              </a:spcAft>
              <a:buNone/>
            </a:pPr>
            <a:r>
              <a:rPr sz="1800" b="0">
                <a:solidFill>
                  <a:srgbClr val="000000"/>
                </a:solidFill>
                <a:latin typeface="맑은 고딕"/>
                <a:ea typeface="맑은 고딕"/>
              </a:rPr>
              <a:t>의존 규칙은 </a:t>
            </a:r>
            <a:r>
              <a:rPr sz="1800" b="1">
                <a:solidFill>
                  <a:srgbClr val="000000"/>
                </a:solidFill>
                <a:latin typeface="맑은 고딕"/>
                <a:ea typeface="맑은 고딕"/>
              </a:rPr>
              <a:t>기계가 판정한다</a:t>
            </a:r>
            <a:r>
              <a:rPr sz="1800" b="0">
                <a:solidFill>
                  <a:srgbClr val="000000"/>
                </a:solidFill>
                <a:latin typeface="맑은 고딕"/>
                <a:ea typeface="맑은 고딕"/>
              </a:rPr>
              <a:t>. 컴파일된 클래스의 패키지 간선을 읽어 금지 의존과 순환을 찾는다.</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에이전트는 </a:t>
            </a:r>
            <a:r>
              <a:rPr sz="1800" b="1">
                <a:solidFill>
                  <a:srgbClr val="000000"/>
                </a:solidFill>
                <a:latin typeface="맑은 고딕"/>
                <a:ea typeface="맑은 고딕"/>
              </a:rPr>
              <a:t>구조 테스트를 쓰고</a:t>
            </a:r>
            <a:r>
              <a:rPr sz="1800" b="0">
                <a:solidFill>
                  <a:srgbClr val="000000"/>
                </a:solidFill>
                <a:latin typeface="맑은 고딕"/>
                <a:ea typeface="맑은 고딕"/>
              </a:rPr>
              <a:t> 관찰한 패턴에서 </a:t>
            </a:r>
            <a:r>
              <a:rPr sz="1800" b="1">
                <a:solidFill>
                  <a:srgbClr val="000000"/>
                </a:solidFill>
                <a:latin typeface="맑은 고딕"/>
                <a:ea typeface="맑은 고딕"/>
              </a:rPr>
              <a:t>규칙 초안을 만드는</a:t>
            </a:r>
            <a:r>
              <a:rPr sz="1800" b="0">
                <a:solidFill>
                  <a:srgbClr val="000000"/>
                </a:solidFill>
                <a:latin typeface="맑은 고딕"/>
                <a:ea typeface="맑은 고딕"/>
              </a:rPr>
              <a:t> 일을 도울 수 있다</a:t>
            </a:r>
            <a:r>
              <a:rPr sz="1000" b="0">
                <a:solidFill>
                  <a:srgbClr val="000000"/>
                </a:solidFill>
                <a:latin typeface="맑은 고딕"/>
                <a:ea typeface="맑은 고딕"/>
              </a:rPr>
              <a:t>, </a:t>
            </a:r>
            <a:r>
              <a:rPr sz="1000" b="0">
                <a:solidFill>
                  <a:srgbClr val="000000"/>
                </a:solidFill>
                <a:latin typeface="맑은 고딕"/>
                <a:ea typeface="맑은 고딕"/>
              </a:rPr>
              <a:t>"Agents can help write structural tests, generate draft rules from observed patterns"</a:t>
            </a:r>
            <a:r>
              <a:rPr sz="1000" b="0">
                <a:solidFill>
                  <a:srgbClr val="000000"/>
                </a:solidFill>
                <a:latin typeface="맑은 고딕"/>
                <a:ea typeface="맑은 고딕"/>
              </a:rPr>
              <a:t>, </a:t>
            </a:r>
            <a:r>
              <a:rPr sz="1000" b="0">
                <a:solidFill>
                  <a:srgbClr val="000000"/>
                </a:solidFill>
                <a:latin typeface="맑은 고딕"/>
                <a:ea typeface="맑은 고딕"/>
              </a:rPr>
              <a:t>[Böckeler 2026a]</a:t>
            </a:r>
          </a:p>
        </p:txBody>
      </p:sp>
      <p:sp>
        <p:nvSpPr>
          <p:cNvPr id="33" name="TextBox 12">
            <a:extLst>
              <a:ext uri="{FF2B5EF4-FFF2-40B4-BE49-F238E27FC236}">
                <a16:creationId xmlns:a16="http://schemas.microsoft.com/office/drawing/2014/main" id="{654EDDB4-901F-3D48-A715-17D163E8A7AC}"/>
              </a:ext>
            </a:extLst>
          </p:cNvPr>
          <p:cNvSpPr txBox="1"/>
          <p:nvPr/>
        </p:nvSpPr>
        <p:spPr>
          <a:xfrm>
            <a:off x="365760" y="3868362"/>
            <a:ext cx="8412480" cy="1325880"/>
          </a:xfrm>
          <a:prstGeom prst="rect">
            <a:avLst/>
          </a:prstGeom>
          <a:noFill/>
        </p:spPr>
        <p:txBody>
          <a:bodyPr wrap="square">
            <a:spAutoFit/>
          </a:bodyPr>
          <a:lstStyle/>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검사는 </a:t>
            </a:r>
            <a:r>
              <a:rPr sz="1800" b="1">
                <a:solidFill>
                  <a:srgbClr val="000000"/>
                </a:solidFill>
                <a:latin typeface="맑은 고딕"/>
                <a:ea typeface="맑은 고딕"/>
              </a:rPr>
              <a:t>금지 의존·허용 목록 위반·순환</a:t>
            </a:r>
            <a:r>
              <a:rPr sz="1800" b="0">
                <a:solidFill>
                  <a:srgbClr val="000000"/>
                </a:solidFill>
                <a:latin typeface="맑은 고딕"/>
                <a:ea typeface="맑은 고딕"/>
              </a:rPr>
              <a:t>을 잡는다. 직접 </a:t>
            </a:r>
            <a:r>
              <a:rPr sz="1800" b="0">
                <a:solidFill>
                  <a:srgbClr val="000000"/>
                </a:solidFill>
                <a:latin typeface="맑은 고딕"/>
                <a:ea typeface="맑은 고딕"/>
              </a:rPr>
              <a:t>import</a:t>
            </a:r>
            <a:r>
              <a:rPr sz="1800" b="0">
                <a:solidFill>
                  <a:srgbClr val="000000"/>
                </a:solidFill>
                <a:latin typeface="맑은 고딕"/>
                <a:ea typeface="맑은 고딕"/>
              </a:rPr>
              <a:t>와 완전한 이름의 의존을 모두 확인한다.</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규칙을 어긴 코드를 일부러 넣어 </a:t>
            </a:r>
            <a:r>
              <a:rPr sz="1800" b="1">
                <a:solidFill>
                  <a:srgbClr val="000000"/>
                </a:solidFill>
                <a:latin typeface="맑은 고딕"/>
                <a:ea typeface="맑은 고딕"/>
              </a:rPr>
              <a:t>검사가 실패하는지</a:t>
            </a:r>
            <a:r>
              <a:rPr sz="1800" b="0">
                <a:solidFill>
                  <a:srgbClr val="000000"/>
                </a:solidFill>
                <a:latin typeface="맑은 고딕"/>
                <a:ea typeface="맑은 고딕"/>
              </a:rPr>
              <a:t>까지 확인한다. 통과만 보면 검사가 도는지 알 수 없다.</a:t>
            </a:r>
          </a:p>
        </p:txBody>
      </p:sp>
    </p:spTree>
    <p:extLst>
      <p:ext uri="{BB962C8B-B14F-4D97-AF65-F5344CB8AC3E}">
        <p14:creationId xmlns:p14="http://schemas.microsoft.com/office/powerpoint/2010/main" val="377335152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B87152-D004-1569-E429-90A42420A65C}"/>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F2E2AB02-3ADE-69B8-887E-7981AD15EF24}"/>
              </a:ext>
            </a:extLst>
          </p:cNvPr>
          <p:cNvSpPr>
            <a:spLocks noGrp="1"/>
          </p:cNvSpPr>
          <p:nvPr>
            <p:ph type="title"/>
          </p:nvPr>
        </p:nvSpPr>
        <p:spPr/>
        <p:txBody>
          <a:bodyPr/>
          <a:lstStyle/>
          <a:p>
            <a:r>
              <a:rPr sz="2400" b="1">
                <a:solidFill>
                  <a:srgbClr val="000000"/>
                </a:solidFill>
                <a:latin typeface="맑은 고딕"/>
                <a:ea typeface="맑은 고딕"/>
              </a:rPr>
              <a:t>07. 사람과 AI의 몫</a:t>
            </a:r>
          </a:p>
        </p:txBody>
      </p:sp>
      <p:sp>
        <p:nvSpPr>
          <p:cNvPr id="5" name="텍스트 개체 틀 4">
            <a:extLst>
              <a:ext uri="{FF2B5EF4-FFF2-40B4-BE49-F238E27FC236}">
                <a16:creationId xmlns:a16="http://schemas.microsoft.com/office/drawing/2014/main" id="{F0895985-68EF-30BA-2165-4B3D90ECD41C}"/>
              </a:ext>
            </a:extLst>
          </p:cNvPr>
          <p:cNvSpPr>
            <a:spLocks noGrp="1"/>
          </p:cNvSpPr>
          <p:nvPr>
            <p:ph type="body" sz="quarter" idx="11"/>
          </p:nvPr>
        </p:nvSpPr>
        <p:spPr/>
        <p:txBody>
          <a:bodyPr/>
          <a:lstStyle/>
          <a:p>
            <a:r>
              <a:rPr kumimoji="1" lang="en-US" altLang="ko-KR" sz="1400" dirty="0" err="1"/>
              <a:t>06. 아키텍처</a:t>
            </a:r>
          </a:p>
        </p:txBody>
      </p:sp>
      <p:sp>
        <p:nvSpPr>
          <p:cNvPr id="6" name="텍스트 개체 틀 5">
            <a:extLst>
              <a:ext uri="{FF2B5EF4-FFF2-40B4-BE49-F238E27FC236}">
                <a16:creationId xmlns:a16="http://schemas.microsoft.com/office/drawing/2014/main" id="{D985C1FD-84C4-10F9-372D-6A84E1680E0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E26A8878-48FF-5E3A-5D05-0F900C22011B}"/>
              </a:ext>
            </a:extLst>
          </p:cNvPr>
          <p:cNvSpPr>
            <a:spLocks noGrp="1"/>
          </p:cNvSpPr>
          <p:nvPr>
            <p:ph type="body" sz="quarter" idx="13"/>
          </p:nvPr>
        </p:nvSpPr>
        <p:spPr/>
        <p:txBody>
          <a:bodyPr/>
          <a:lstStyle/>
          <a:p>
            <a:endParaRPr lang="en-US" altLang="ko-KR" dirty="0"/>
          </a:p>
        </p:txBody>
      </p:sp>
      <p:graphicFrame>
        <p:nvGraphicFramePr>
          <p:cNvPr id="11" name="표 10">
            <a:extLst>
              <a:ext uri="{FF2B5EF4-FFF2-40B4-BE49-F238E27FC236}">
                <a16:creationId xmlns:a16="http://schemas.microsoft.com/office/drawing/2014/main" id="{93753AB9-526C-CE2D-446D-7615D9B6D6D2}"/>
              </a:ext>
            </a:extLst>
          </p:cNvPr>
          <p:cNvGraphicFramePr>
            <a:graphicFrameLocks noGrp="1"/>
          </p:cNvGraphicFramePr>
          <p:nvPr>
            <p:extLst>
              <p:ext uri="{D42A27DB-BD31-4B8C-83A1-F6EECF244321}">
                <p14:modId xmlns:p14="http://schemas.microsoft.com/office/powerpoint/2010/main" val="1761827855"/>
              </p:ext>
            </p:extLst>
          </p:nvPr>
        </p:nvGraphicFramePr>
        <p:xfrm>
          <a:off x="1104456" y="2112010"/>
          <a:ext cx="6921500" cy="3873500"/>
        </p:xfrm>
        <a:graphic>
          <a:graphicData uri="http://schemas.openxmlformats.org/drawingml/2006/table">
            <a:tbl>
              <a:tblPr/>
              <a:tblGrid>
                <a:gridCol w="1226820"/>
                <a:gridCol w="3182620"/>
                <a:gridCol w="2512060"/>
              </a:tblGrid>
              <a:tr h="288000">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일</a:t>
                      </a:r>
                    </a:p>
                  </a:txBody>
                  <a:tcPr marL="6750" marR="6750" marT="6750" marB="0" anchor="ctr">
                    <a:lnL>
                      <a:noFill/>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사람</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err="1">
                          <a:solidFill>
                            <a:schemeClr val="bg1"/>
                          </a:solidFill>
                          <a:effectLst/>
                          <a:latin typeface="맑은 고딕" panose="020B0503020000020004" pitchFamily="34" charset="-127"/>
                          <a:ea typeface="맑은 고딕" panose="020B0503020000020004" pitchFamily="34" charset="-127"/>
                          <a:cs typeface="맑은 고딕"/>
                        </a:rPr>
                        <a:t>AI</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스타일 고르기</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배포·조직·변경 중 무엇이 근거인지 정한다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후보를 장단점과 함께 늘어놓는다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경계 긋기</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무엇이 무엇을 알아야 하는지 정한다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패키지 구성 초안을 낸다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포트의 소유</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어느 업무가 약속을 갖는지 정한다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선언을 쓴다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금지 적기</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무엇을 금지할지 정한다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판정 가능한 문장으로 다듬는다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위반 찾기</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무엇을 검사할지 정한다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검사를 쓰고 돌린다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bl>
          </a:graphicData>
        </a:graphic>
      </p:graphicFrame>
      <p:sp>
        <p:nvSpPr>
          <p:cNvPr id="13" name="TextBox 12">
            <a:extLst>
              <a:ext uri="{FF2B5EF4-FFF2-40B4-BE49-F238E27FC236}">
                <a16:creationId xmlns:a16="http://schemas.microsoft.com/office/drawing/2014/main" id="{654EDDB4-901F-3D48-A715-17D163E8A7AC}"/>
              </a:ext>
            </a:extLst>
          </p:cNvPr>
          <p:cNvSpPr txBox="1"/>
          <p:nvPr/>
        </p:nvSpPr>
        <p:spPr>
          <a:xfrm>
            <a:off x="365760" y="960120"/>
            <a:ext cx="8412480" cy="781278"/>
          </a:xfrm>
          <a:prstGeom prst="rect">
            <a:avLst/>
          </a:prstGeom>
          <a:noFill/>
        </p:spPr>
        <p:txBody>
          <a:bodyPr wrap="square">
            <a:spAutoFit/>
          </a:bodyPr>
          <a:lstStyle/>
          <a:p>
            <a:pPr marL="0" indent="0">
              <a:spcBef>
                <a:spcPts val="600"/>
              </a:spcBef>
              <a:spcAft>
                <a:spcPts val="600"/>
              </a:spcAft>
              <a:buNone/>
            </a:pPr>
            <a:r>
              <a:rPr sz="1800" b="0">
                <a:solidFill>
                  <a:srgbClr val="000000"/>
                </a:solidFill>
                <a:latin typeface="맑은 고딕"/>
                <a:ea typeface="맑은 고딕"/>
              </a:rPr>
              <a:t>이 세션의 산출물은 </a:t>
            </a:r>
            <a:r>
              <a:rPr sz="1800" b="1">
                <a:solidFill>
                  <a:srgbClr val="000000"/>
                </a:solidFill>
                <a:latin typeface="맑은 고딕"/>
                <a:ea typeface="맑은 고딕"/>
              </a:rPr>
              <a:t>의존 규칙과 외부 연동 규격</a:t>
            </a:r>
            <a:r>
              <a:rPr sz="1800" b="0">
                <a:solidFill>
                  <a:srgbClr val="000000"/>
                </a:solidFill>
                <a:latin typeface="맑은 고딕"/>
                <a:ea typeface="맑은 고딕"/>
              </a:rPr>
              <a:t>이다. 경계는 사람이 정하고, AI는 대안을 비교하고 규칙 위반을 검사한다.</a:t>
            </a:r>
          </a:p>
        </p:txBody>
      </p:sp>
      <p:sp>
        <p:nvSpPr>
          <p:cNvPr id="8" name="슬라이드 번호 개체 틀 2">
            <a:extLst>
              <a:ext uri="{FF2B5EF4-FFF2-40B4-BE49-F238E27FC236}">
                <a16:creationId xmlns:a16="http://schemas.microsoft.com/office/drawing/2014/main" id="{741B75C6-7ED3-AA4C-41B6-F69C599EA447}"/>
              </a:ext>
            </a:extLst>
          </p:cNvPr>
          <p:cNvSpPr>
            <a:spLocks noGrp="1"/>
          </p:cNvSpPr>
          <p:nvPr>
            <p:ph type="sldNum" sz="quarter" idx="10"/>
          </p:nvPr>
        </p:nvSpPr>
        <p:spPr>
          <a:xfrm>
            <a:off x="3508472" y="6449625"/>
            <a:ext cx="2133600" cy="238277"/>
          </a:xfrm>
        </p:spPr>
        <p:txBody>
          <a:bodyPr>
            <a:normAutofit/>
          </a:bodyPr>
          <a:lstStyle/>
          <a:p>
            <a:pPr marL="0" marR="0" lvl="0" indent="0" algn="ctr" defTabSz="457200" rtl="0" eaLnBrk="1" fontAlgn="auto" latinLnBrk="0" hangingPunct="1">
              <a:lnSpc>
                <a:spcPct val="100000"/>
              </a:lnSpc>
              <a:spcBef>
                <a:spcPts val="0"/>
              </a:spcBef>
              <a:spcAft>
                <a:spcPts val="600"/>
              </a:spcAft>
              <a:buClrTx/>
              <a:buSzTx/>
              <a:buFontTx/>
              <a:buNone/>
              <a:tabLst/>
              <a:defRPr/>
            </a:pPr>
            <a:r>
              <a:rPr kumimoji="0" lang="en-US" altLang="ko-KR" sz="800" b="0" i="0" u="none" strike="noStrike" kern="1200" cap="none" spc="0" normalizeH="0" baseline="0" noProof="0">
                <a:ln>
                  <a:noFill/>
                </a:ln>
                <a:solidFill>
                  <a:prstClr val="black"/>
                </a:solidFill>
                <a:effectLst/>
                <a:uLnTx/>
                <a:uFillTx/>
                <a:latin typeface="맑은 고딕" panose="020B0503020000020004" pitchFamily="34" charset="-127"/>
                <a:ea typeface="맑은 고딕" panose="020B0503020000020004" pitchFamily="34" charset="-127"/>
                <a:cs typeface="+mn-cs"/>
              </a:rPr>
              <a:t>- 18 -</a:t>
            </a:r>
          </a:p>
        </p:txBody>
      </p:sp>
      <p:sp>
        <p:nvSpPr>
          <p:cNvPr id="14" name="TextBox 12">
            <a:extLst>
              <a:ext uri="{FF2B5EF4-FFF2-40B4-BE49-F238E27FC236}">
                <a16:creationId xmlns:a16="http://schemas.microsoft.com/office/drawing/2014/main" id="{654EDDB4-901F-3D48-A715-17D163E8A7AC}"/>
              </a:ext>
            </a:extLst>
          </p:cNvPr>
          <p:cNvSpPr txBox="1"/>
          <p:nvPr/>
        </p:nvSpPr>
        <p:spPr>
          <a:xfrm>
            <a:off x="365760" y="1813560"/>
            <a:ext cx="8412480" cy="222250"/>
          </a:xfrm>
          <a:prstGeom prst="rect">
            <a:avLst/>
          </a:prstGeom>
          <a:noFill/>
        </p:spPr>
        <p:txBody>
          <a:bodyPr wrap="square" tIns="0" bIns="0">
            <a:spAutoFit/>
          </a:bodyPr>
          <a:lstStyle/>
          <a:p>
            <a:pPr algn="ctr">
              <a:spcBef>
                <a:spcPts val="0"/>
              </a:spcBef>
              <a:spcAft>
                <a:spcPts val="0"/>
              </a:spcAft>
            </a:pPr>
            <a:r>
              <a:rPr sz="1400" b="1">
                <a:solidFill>
                  <a:srgbClr val="000000"/>
                </a:solidFill>
                <a:latin typeface="맑은 고딕"/>
                <a:ea typeface="맑은 고딕"/>
              </a:rPr>
              <a:t>아키텍처에서의 역할</a:t>
            </a:r>
          </a:p>
        </p:txBody>
      </p:sp>
      <p:sp>
        <p:nvSpPr>
          <p:cNvPr id="15" name="TextBox 12">
            <a:extLst>
              <a:ext uri="{FF2B5EF4-FFF2-40B4-BE49-F238E27FC236}">
                <a16:creationId xmlns:a16="http://schemas.microsoft.com/office/drawing/2014/main" id="{654EDDB4-901F-3D48-A715-17D163E8A7AC}"/>
              </a:ext>
            </a:extLst>
          </p:cNvPr>
          <p:cNvSpPr txBox="1"/>
          <p:nvPr/>
        </p:nvSpPr>
        <p:spPr>
          <a:xfrm>
            <a:off x="365760" y="4068610"/>
            <a:ext cx="8412480" cy="1325880"/>
          </a:xfrm>
          <a:prstGeom prst="rect">
            <a:avLst/>
          </a:prstGeom>
          <a:noFill/>
        </p:spPr>
        <p:txBody>
          <a:bodyPr wrap="square">
            <a:spAutoFit/>
          </a:bodyPr>
          <a:lstStyle/>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AI가 내놓은 경계에는 근거를 묻는다</a:t>
            </a:r>
            <a:r>
              <a:rPr sz="1800" b="0">
                <a:solidFill>
                  <a:srgbClr val="000000"/>
                </a:solidFill>
                <a:latin typeface="맑은 고딕"/>
                <a:ea typeface="맑은 고딕"/>
              </a:rPr>
              <a:t> —</a:t>
            </a:r>
            <a:r>
              <a:rPr sz="1600" b="0">
                <a:solidFill>
                  <a:srgbClr val="000000"/>
                </a:solidFill>
                <a:latin typeface="맑은 고딕"/>
                <a:ea typeface="맑은 고딕"/>
              </a:rPr>
              <a:t> 왜 이 패키지인가, 무엇이 바뀌면 열리는가.</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실제로 되돌려야 했던 것 셋 —</a:t>
            </a:r>
            <a:r>
              <a:rPr sz="1600" b="0">
                <a:solidFill>
                  <a:srgbClr val="000000"/>
                </a:solidFill>
                <a:latin typeface="맑은 고딕"/>
                <a:ea typeface="맑은 고딕"/>
              </a:rPr>
              <a:t> 묻지 않은 </a:t>
            </a:r>
            <a:r>
              <a:rPr sz="1600" b="1">
                <a:solidFill>
                  <a:srgbClr val="000000"/>
                </a:solidFill>
                <a:latin typeface="맑은 고딕"/>
                <a:ea typeface="맑은 고딕"/>
              </a:rPr>
              <a:t>입력 포트</a:t>
            </a:r>
            <a:r>
              <a:rPr sz="1600" b="0">
                <a:solidFill>
                  <a:srgbClr val="000000"/>
                </a:solidFill>
                <a:latin typeface="맑은 고딕"/>
                <a:ea typeface="맑은 고딕"/>
              </a:rPr>
              <a:t>를 만든 것, 포트를 </a:t>
            </a:r>
            <a:r>
              <a:rPr sz="1600" b="1">
                <a:solidFill>
                  <a:srgbClr val="000000"/>
                </a:solidFill>
                <a:latin typeface="맑은 고딕"/>
                <a:ea typeface="맑은 고딕"/>
              </a:rPr>
              <a:t>한 모듈에 몬</a:t>
            </a:r>
            <a:r>
              <a:rPr sz="1600" b="0">
                <a:solidFill>
                  <a:srgbClr val="000000"/>
                </a:solidFill>
                <a:latin typeface="맑은 고딕"/>
                <a:ea typeface="맑은 고딕"/>
              </a:rPr>
              <a:t> 것, 패키지를 </a:t>
            </a:r>
            <a:r>
              <a:rPr sz="1600" b="1">
                <a:solidFill>
                  <a:srgbClr val="000000"/>
                </a:solidFill>
                <a:latin typeface="맑은 고딕"/>
                <a:ea typeface="맑은 고딕"/>
              </a:rPr>
              <a:t>기술 역할 이름</a:t>
            </a:r>
            <a:r>
              <a:rPr sz="1600" b="0">
                <a:solidFill>
                  <a:srgbClr val="000000"/>
                </a:solidFill>
                <a:latin typeface="맑은 고딕"/>
                <a:ea typeface="맑은 고딕"/>
              </a:rPr>
              <a:t>으로 나눈 것.</a:t>
            </a:r>
          </a:p>
        </p:txBody>
      </p:sp>
    </p:spTree>
    <p:extLst>
      <p:ext uri="{BB962C8B-B14F-4D97-AF65-F5344CB8AC3E}">
        <p14:creationId xmlns:p14="http://schemas.microsoft.com/office/powerpoint/2010/main" val="278956947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B87152-D004-1569-E429-90A42420A65C}"/>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F2E2AB02-3ADE-69B8-887E-7981AD15EF24}"/>
              </a:ext>
            </a:extLst>
          </p:cNvPr>
          <p:cNvSpPr>
            <a:spLocks noGrp="1"/>
          </p:cNvSpPr>
          <p:nvPr>
            <p:ph type="title"/>
          </p:nvPr>
        </p:nvSpPr>
        <p:spPr/>
        <p:txBody>
          <a:bodyPr/>
          <a:lstStyle/>
          <a:p>
            <a:r>
              <a:rPr sz="2400" b="1">
                <a:solidFill>
                  <a:srgbClr val="000000"/>
                </a:solidFill>
                <a:latin typeface="맑은 고딕"/>
                <a:ea typeface="맑은 고딕"/>
              </a:rPr>
              <a:t>기술로 나눈 경계</a:t>
            </a:r>
          </a:p>
          <a:p>
            <a:r>
              <a:rPr sz="1100" b="1">
                <a:solidFill>
                  <a:srgbClr val="000000"/>
                </a:solidFill>
                <a:latin typeface="맑은 고딕"/>
                <a:ea typeface="맑은 고딕"/>
              </a:rPr>
              <a:t>08. 잘못된 관행</a:t>
            </a:r>
          </a:p>
        </p:txBody>
      </p:sp>
      <p:sp>
        <p:nvSpPr>
          <p:cNvPr id="5" name="텍스트 개체 틀 4">
            <a:extLst>
              <a:ext uri="{FF2B5EF4-FFF2-40B4-BE49-F238E27FC236}">
                <a16:creationId xmlns:a16="http://schemas.microsoft.com/office/drawing/2014/main" id="{F0895985-68EF-30BA-2165-4B3D90ECD41C}"/>
              </a:ext>
            </a:extLst>
          </p:cNvPr>
          <p:cNvSpPr>
            <a:spLocks noGrp="1"/>
          </p:cNvSpPr>
          <p:nvPr>
            <p:ph type="body" sz="quarter" idx="11"/>
          </p:nvPr>
        </p:nvSpPr>
        <p:spPr/>
        <p:txBody>
          <a:bodyPr/>
          <a:lstStyle/>
          <a:p>
            <a:r>
              <a:rPr kumimoji="1" lang="en-US" altLang="ko-KR" sz="1400" dirty="0" err="1"/>
              <a:t>06. 아키텍처</a:t>
            </a:r>
          </a:p>
        </p:txBody>
      </p:sp>
      <p:sp>
        <p:nvSpPr>
          <p:cNvPr id="6" name="텍스트 개체 틀 5">
            <a:extLst>
              <a:ext uri="{FF2B5EF4-FFF2-40B4-BE49-F238E27FC236}">
                <a16:creationId xmlns:a16="http://schemas.microsoft.com/office/drawing/2014/main" id="{D985C1FD-84C4-10F9-372D-6A84E1680E0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E26A8878-48FF-5E3A-5D05-0F900C22011B}"/>
              </a:ext>
            </a:extLst>
          </p:cNvPr>
          <p:cNvSpPr>
            <a:spLocks noGrp="1"/>
          </p:cNvSpPr>
          <p:nvPr>
            <p:ph type="body" sz="quarter" idx="13"/>
          </p:nvPr>
        </p:nvSpPr>
        <p:spPr/>
        <p:txBody>
          <a:bodyPr/>
          <a:lstStyle/>
          <a:p>
            <a:endParaRPr lang="en-US" altLang="ko-KR" dirty="0"/>
          </a:p>
        </p:txBody>
      </p:sp>
      <p:graphicFrame>
        <p:nvGraphicFramePr>
          <p:cNvPr id="11" name="표 10">
            <a:extLst>
              <a:ext uri="{FF2B5EF4-FFF2-40B4-BE49-F238E27FC236}">
                <a16:creationId xmlns:a16="http://schemas.microsoft.com/office/drawing/2014/main" id="{93753AB9-526C-CE2D-446D-7615D9B6D6D2}"/>
              </a:ext>
            </a:extLst>
          </p:cNvPr>
          <p:cNvGraphicFramePr>
            <a:graphicFrameLocks noGrp="1"/>
          </p:cNvGraphicFramePr>
          <p:nvPr>
            <p:extLst>
              <p:ext uri="{D42A27DB-BD31-4B8C-83A1-F6EECF244321}">
                <p14:modId xmlns:p14="http://schemas.microsoft.com/office/powerpoint/2010/main" val="1761827855"/>
              </p:ext>
            </p:extLst>
          </p:nvPr>
        </p:nvGraphicFramePr>
        <p:xfrm>
          <a:off x="1118426" y="2112010"/>
          <a:ext cx="6893560" cy="3873500"/>
        </p:xfrm>
        <a:graphic>
          <a:graphicData uri="http://schemas.openxmlformats.org/drawingml/2006/table">
            <a:tbl>
              <a:tblPr/>
              <a:tblGrid>
                <a:gridCol w="2092960"/>
                <a:gridCol w="2959100"/>
                <a:gridCol w="1841500"/>
              </a:tblGrid>
              <a:tr h="288000">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변경 요청</a:t>
                      </a:r>
                    </a:p>
                  </a:txBody>
                  <a:tcPr marL="6750" marR="6750" marT="6750" marB="0" anchor="ctr">
                    <a:lnL>
                      <a:noFill/>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기술로 나눈 경계</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err="1">
                          <a:solidFill>
                            <a:schemeClr val="bg1"/>
                          </a:solidFill>
                          <a:effectLst/>
                          <a:latin typeface="맑은 고딕" panose="020B0503020000020004" pitchFamily="34" charset="-127"/>
                          <a:ea typeface="맑은 고딕" panose="020B0503020000020004" pitchFamily="34" charset="-127"/>
                          <a:cs typeface="맑은 고딕"/>
                        </a:rPr>
                        <a:t>업무로 나눈 경계</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승인 뒤에 배송을 요청한다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controller·service·repository 셋</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order 하나</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결제 제공자를 바꾼다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service와 repository</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paymentadapter 하나</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주문 금액 규칙을 고친다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service와 controller의 검증</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order 하나</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bl>
          </a:graphicData>
        </a:graphic>
      </p:graphicFrame>
      <p:sp>
        <p:nvSpPr>
          <p:cNvPr id="13" name="TextBox 12">
            <a:extLst>
              <a:ext uri="{FF2B5EF4-FFF2-40B4-BE49-F238E27FC236}">
                <a16:creationId xmlns:a16="http://schemas.microsoft.com/office/drawing/2014/main" id="{654EDDB4-901F-3D48-A715-17D163E8A7AC}"/>
              </a:ext>
            </a:extLst>
          </p:cNvPr>
          <p:cNvSpPr txBox="1"/>
          <p:nvPr/>
        </p:nvSpPr>
        <p:spPr>
          <a:xfrm>
            <a:off x="365760" y="960120"/>
            <a:ext cx="8412480" cy="781278"/>
          </a:xfrm>
          <a:prstGeom prst="rect">
            <a:avLst/>
          </a:prstGeom>
          <a:noFill/>
        </p:spPr>
        <p:txBody>
          <a:bodyPr wrap="square">
            <a:spAutoFit/>
          </a:bodyPr>
          <a:lstStyle/>
          <a:p>
            <a:pPr marL="0" indent="0">
              <a:spcBef>
                <a:spcPts val="600"/>
              </a:spcBef>
              <a:spcAft>
                <a:spcPts val="600"/>
              </a:spcAft>
              <a:buNone/>
            </a:pPr>
            <a:r>
              <a:rPr sz="1800" b="0">
                <a:solidFill>
                  <a:srgbClr val="000000"/>
                </a:solidFill>
                <a:latin typeface="맑은 고딕"/>
                <a:ea typeface="맑은 고딕"/>
              </a:rPr>
              <a:t>controller</a:t>
            </a:r>
            <a:r>
              <a:rPr sz="1800" b="0">
                <a:solidFill>
                  <a:srgbClr val="000000"/>
                </a:solidFill>
                <a:latin typeface="맑은 고딕"/>
                <a:ea typeface="맑은 고딕"/>
              </a:rPr>
              <a:t>·</a:t>
            </a:r>
            <a:r>
              <a:rPr sz="1800" b="0">
                <a:solidFill>
                  <a:srgbClr val="000000"/>
                </a:solidFill>
                <a:latin typeface="맑은 고딕"/>
                <a:ea typeface="맑은 고딕"/>
              </a:rPr>
              <a:t>service</a:t>
            </a:r>
            <a:r>
              <a:rPr sz="1800" b="0">
                <a:solidFill>
                  <a:srgbClr val="000000"/>
                </a:solidFill>
                <a:latin typeface="맑은 고딕"/>
                <a:ea typeface="맑은 고딕"/>
              </a:rPr>
              <a:t>·</a:t>
            </a:r>
            <a:r>
              <a:rPr sz="1800" b="0">
                <a:solidFill>
                  <a:srgbClr val="000000"/>
                </a:solidFill>
                <a:latin typeface="맑은 고딕"/>
                <a:ea typeface="맑은 고딕"/>
              </a:rPr>
              <a:t>repository</a:t>
            </a:r>
            <a:r>
              <a:rPr sz="1800" b="0">
                <a:solidFill>
                  <a:srgbClr val="000000"/>
                </a:solidFill>
                <a:latin typeface="맑은 고딕"/>
                <a:ea typeface="맑은 고딕"/>
              </a:rPr>
              <a:t>로 나누면 </a:t>
            </a:r>
            <a:r>
              <a:rPr sz="1800" b="1">
                <a:solidFill>
                  <a:srgbClr val="000000"/>
                </a:solidFill>
                <a:latin typeface="맑은 고딕"/>
                <a:ea typeface="맑은 고딕"/>
              </a:rPr>
              <a:t>업무 규칙이 세 곳으로 흩어진다</a:t>
            </a:r>
            <a:r>
              <a:rPr sz="1800" b="0">
                <a:solidFill>
                  <a:srgbClr val="000000"/>
                </a:solidFill>
                <a:latin typeface="맑은 고딕"/>
                <a:ea typeface="맑은 고딕"/>
              </a:rPr>
              <a:t>. 주문 하나를 고치는 데 세 패키지가 열린다.</a:t>
            </a:r>
          </a:p>
        </p:txBody>
      </p:sp>
      <p:sp>
        <p:nvSpPr>
          <p:cNvPr id="8" name="슬라이드 번호 개체 틀 2">
            <a:extLst>
              <a:ext uri="{FF2B5EF4-FFF2-40B4-BE49-F238E27FC236}">
                <a16:creationId xmlns:a16="http://schemas.microsoft.com/office/drawing/2014/main" id="{741B75C6-7ED3-AA4C-41B6-F69C599EA447}"/>
              </a:ext>
            </a:extLst>
          </p:cNvPr>
          <p:cNvSpPr>
            <a:spLocks noGrp="1"/>
          </p:cNvSpPr>
          <p:nvPr>
            <p:ph type="sldNum" sz="quarter" idx="10"/>
          </p:nvPr>
        </p:nvSpPr>
        <p:spPr>
          <a:xfrm>
            <a:off x="3508472" y="6449625"/>
            <a:ext cx="2133600" cy="238277"/>
          </a:xfrm>
        </p:spPr>
        <p:txBody>
          <a:bodyPr>
            <a:normAutofit/>
          </a:bodyPr>
          <a:lstStyle/>
          <a:p>
            <a:pPr marL="0" marR="0" lvl="0" indent="0" algn="ctr" defTabSz="457200" rtl="0" eaLnBrk="1" fontAlgn="auto" latinLnBrk="0" hangingPunct="1">
              <a:lnSpc>
                <a:spcPct val="100000"/>
              </a:lnSpc>
              <a:spcBef>
                <a:spcPts val="0"/>
              </a:spcBef>
              <a:spcAft>
                <a:spcPts val="600"/>
              </a:spcAft>
              <a:buClrTx/>
              <a:buSzTx/>
              <a:buFontTx/>
              <a:buNone/>
              <a:tabLst/>
              <a:defRPr/>
            </a:pPr>
            <a:r>
              <a:rPr kumimoji="0" lang="en-US" altLang="ko-KR" sz="800" b="0" i="0" u="none" strike="noStrike" kern="1200" cap="none" spc="0" normalizeH="0" baseline="0" noProof="0">
                <a:ln>
                  <a:noFill/>
                </a:ln>
                <a:solidFill>
                  <a:prstClr val="black"/>
                </a:solidFill>
                <a:effectLst/>
                <a:uLnTx/>
                <a:uFillTx/>
                <a:latin typeface="맑은 고딕" panose="020B0503020000020004" pitchFamily="34" charset="-127"/>
                <a:ea typeface="맑은 고딕" panose="020B0503020000020004" pitchFamily="34" charset="-127"/>
                <a:cs typeface="+mn-cs"/>
              </a:rPr>
              <a:t>- 19 -</a:t>
            </a:r>
          </a:p>
        </p:txBody>
      </p:sp>
      <p:sp>
        <p:nvSpPr>
          <p:cNvPr id="14" name="TextBox 12">
            <a:extLst>
              <a:ext uri="{FF2B5EF4-FFF2-40B4-BE49-F238E27FC236}">
                <a16:creationId xmlns:a16="http://schemas.microsoft.com/office/drawing/2014/main" id="{654EDDB4-901F-3D48-A715-17D163E8A7AC}"/>
              </a:ext>
            </a:extLst>
          </p:cNvPr>
          <p:cNvSpPr txBox="1"/>
          <p:nvPr/>
        </p:nvSpPr>
        <p:spPr>
          <a:xfrm>
            <a:off x="365760" y="1813560"/>
            <a:ext cx="8412480" cy="222250"/>
          </a:xfrm>
          <a:prstGeom prst="rect">
            <a:avLst/>
          </a:prstGeom>
          <a:noFill/>
        </p:spPr>
        <p:txBody>
          <a:bodyPr wrap="square" tIns="0" bIns="0">
            <a:spAutoFit/>
          </a:bodyPr>
          <a:lstStyle/>
          <a:p>
            <a:pPr algn="ctr">
              <a:spcBef>
                <a:spcPts val="0"/>
              </a:spcBef>
              <a:spcAft>
                <a:spcPts val="0"/>
              </a:spcAft>
            </a:pPr>
            <a:r>
              <a:rPr sz="1400" b="1">
                <a:solidFill>
                  <a:srgbClr val="000000"/>
                </a:solidFill>
                <a:latin typeface="맑은 고딕"/>
                <a:ea typeface="맑은 고딕"/>
              </a:rPr>
              <a:t>같은 변경을 넣을 때 열리는 곳</a:t>
            </a:r>
          </a:p>
        </p:txBody>
      </p:sp>
      <p:sp>
        <p:nvSpPr>
          <p:cNvPr id="15" name="TextBox 12">
            <a:extLst>
              <a:ext uri="{FF2B5EF4-FFF2-40B4-BE49-F238E27FC236}">
                <a16:creationId xmlns:a16="http://schemas.microsoft.com/office/drawing/2014/main" id="{654EDDB4-901F-3D48-A715-17D163E8A7AC}"/>
              </a:ext>
            </a:extLst>
          </p:cNvPr>
          <p:cNvSpPr txBox="1"/>
          <p:nvPr/>
        </p:nvSpPr>
        <p:spPr>
          <a:xfrm>
            <a:off x="365760" y="3492610"/>
            <a:ext cx="8412480" cy="1676400"/>
          </a:xfrm>
          <a:prstGeom prst="rect">
            <a:avLst/>
          </a:prstGeom>
          <a:noFill/>
        </p:spPr>
        <p:txBody>
          <a:bodyPr wrap="square">
            <a:spAutoFit/>
          </a:bodyPr>
          <a:lstStyle/>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증상</a:t>
            </a:r>
            <a:r>
              <a:rPr sz="1800" b="0">
                <a:solidFill>
                  <a:srgbClr val="000000"/>
                </a:solidFill>
                <a:latin typeface="맑은 고딕"/>
                <a:ea typeface="맑은 고딕"/>
              </a:rPr>
              <a:t> —</a:t>
            </a:r>
            <a:r>
              <a:rPr sz="1600" b="0">
                <a:solidFill>
                  <a:srgbClr val="000000"/>
                </a:solidFill>
                <a:latin typeface="맑은 고딕"/>
                <a:ea typeface="맑은 고딕"/>
              </a:rPr>
              <a:t> 기능 하나를 더할 때마다 세 패키지를 같은 모양으로 고친다.</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원인</a:t>
            </a:r>
            <a:r>
              <a:rPr sz="1800" b="0">
                <a:solidFill>
                  <a:srgbClr val="000000"/>
                </a:solidFill>
                <a:latin typeface="맑은 고딕"/>
                <a:ea typeface="맑은 고딕"/>
              </a:rPr>
              <a:t> —</a:t>
            </a:r>
            <a:r>
              <a:rPr sz="1600" b="0">
                <a:solidFill>
                  <a:srgbClr val="000000"/>
                </a:solidFill>
                <a:latin typeface="맑은 고딕"/>
                <a:ea typeface="맑은 고딕"/>
              </a:rPr>
              <a:t> 나눈 기준이 변경 이유가 아니라 </a:t>
            </a:r>
            <a:r>
              <a:rPr sz="1600" b="1">
                <a:solidFill>
                  <a:srgbClr val="000000"/>
                </a:solidFill>
                <a:latin typeface="맑은 고딕"/>
                <a:ea typeface="맑은 고딕"/>
              </a:rPr>
              <a:t>기술 역할</a:t>
            </a:r>
            <a:r>
              <a:rPr sz="1600" b="0">
                <a:solidFill>
                  <a:srgbClr val="000000"/>
                </a:solidFill>
                <a:latin typeface="맑은 고딕"/>
                <a:ea typeface="맑은 고딕"/>
              </a:rPr>
              <a:t>이다. 한 업무 규칙이 세 역할에 걸친다.</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고치는 방향</a:t>
            </a:r>
            <a:r>
              <a:rPr sz="1800" b="0">
                <a:solidFill>
                  <a:srgbClr val="000000"/>
                </a:solidFill>
                <a:latin typeface="맑은 고딕"/>
                <a:ea typeface="맑은 고딕"/>
              </a:rPr>
              <a:t> —</a:t>
            </a:r>
            <a:r>
              <a:rPr sz="1600" b="0">
                <a:solidFill>
                  <a:srgbClr val="000000"/>
                </a:solidFill>
                <a:latin typeface="맑은 고딕"/>
                <a:ea typeface="맑은 고딕"/>
              </a:rPr>
              <a:t> 업무로 먼저 나누고, 그 안에서 필요하면 역할로 나눈다.</a:t>
            </a:r>
          </a:p>
        </p:txBody>
      </p:sp>
    </p:spTree>
    <p:extLst>
      <p:ext uri="{BB962C8B-B14F-4D97-AF65-F5344CB8AC3E}">
        <p14:creationId xmlns:p14="http://schemas.microsoft.com/office/powerpoint/2010/main" val="278956947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B87152-D004-1569-E429-90A42420A65C}"/>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F2E2AB02-3ADE-69B8-887E-7981AD15EF24}"/>
              </a:ext>
            </a:extLst>
          </p:cNvPr>
          <p:cNvSpPr>
            <a:spLocks noGrp="1"/>
          </p:cNvSpPr>
          <p:nvPr>
            <p:ph type="title"/>
          </p:nvPr>
        </p:nvSpPr>
        <p:spPr/>
        <p:txBody>
          <a:bodyPr/>
          <a:lstStyle/>
          <a:p>
            <a:r>
              <a:rPr sz="2400" b="1">
                <a:solidFill>
                  <a:srgbClr val="000000"/>
                </a:solidFill>
                <a:latin typeface="맑은 고딕"/>
                <a:ea typeface="맑은 고딕"/>
              </a:rPr>
              <a:t>글만 있는 규칙</a:t>
            </a:r>
          </a:p>
          <a:p>
            <a:r>
              <a:rPr sz="1100" b="1">
                <a:solidFill>
                  <a:srgbClr val="000000"/>
                </a:solidFill>
                <a:latin typeface="맑은 고딕"/>
                <a:ea typeface="맑은 고딕"/>
              </a:rPr>
              <a:t>08. 잘못된 관행</a:t>
            </a:r>
          </a:p>
        </p:txBody>
      </p:sp>
      <p:sp>
        <p:nvSpPr>
          <p:cNvPr id="5" name="텍스트 개체 틀 4">
            <a:extLst>
              <a:ext uri="{FF2B5EF4-FFF2-40B4-BE49-F238E27FC236}">
                <a16:creationId xmlns:a16="http://schemas.microsoft.com/office/drawing/2014/main" id="{F0895985-68EF-30BA-2165-4B3D90ECD41C}"/>
              </a:ext>
            </a:extLst>
          </p:cNvPr>
          <p:cNvSpPr>
            <a:spLocks noGrp="1"/>
          </p:cNvSpPr>
          <p:nvPr>
            <p:ph type="body" sz="quarter" idx="11"/>
          </p:nvPr>
        </p:nvSpPr>
        <p:spPr/>
        <p:txBody>
          <a:bodyPr/>
          <a:lstStyle/>
          <a:p>
            <a:r>
              <a:rPr kumimoji="1" lang="en-US" altLang="ko-KR" sz="1400" dirty="0" err="1"/>
              <a:t>06. 아키텍처</a:t>
            </a:r>
          </a:p>
        </p:txBody>
      </p:sp>
      <p:sp>
        <p:nvSpPr>
          <p:cNvPr id="6" name="텍스트 개체 틀 5">
            <a:extLst>
              <a:ext uri="{FF2B5EF4-FFF2-40B4-BE49-F238E27FC236}">
                <a16:creationId xmlns:a16="http://schemas.microsoft.com/office/drawing/2014/main" id="{D985C1FD-84C4-10F9-372D-6A84E1680E0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E26A8878-48FF-5E3A-5D05-0F900C22011B}"/>
              </a:ext>
            </a:extLst>
          </p:cNvPr>
          <p:cNvSpPr>
            <a:spLocks noGrp="1"/>
          </p:cNvSpPr>
          <p:nvPr>
            <p:ph type="body" sz="quarter" idx="13"/>
          </p:nvPr>
        </p:nvSpPr>
        <p:spPr/>
        <p:txBody>
          <a:bodyPr/>
          <a:lstStyle/>
          <a:p>
            <a:endParaRPr lang="en-US" altLang="ko-KR" dirty="0"/>
          </a:p>
        </p:txBody>
      </p:sp>
      <p:graphicFrame>
        <p:nvGraphicFramePr>
          <p:cNvPr id="11" name="표 10">
            <a:extLst>
              <a:ext uri="{FF2B5EF4-FFF2-40B4-BE49-F238E27FC236}">
                <a16:creationId xmlns:a16="http://schemas.microsoft.com/office/drawing/2014/main" id="{93753AB9-526C-CE2D-446D-7615D9B6D6D2}"/>
              </a:ext>
            </a:extLst>
          </p:cNvPr>
          <p:cNvGraphicFramePr>
            <a:graphicFrameLocks noGrp="1"/>
          </p:cNvGraphicFramePr>
          <p:nvPr>
            <p:extLst>
              <p:ext uri="{D42A27DB-BD31-4B8C-83A1-F6EECF244321}">
                <p14:modId xmlns:p14="http://schemas.microsoft.com/office/powerpoint/2010/main" val="1761827855"/>
              </p:ext>
            </p:extLst>
          </p:nvPr>
        </p:nvGraphicFramePr>
        <p:xfrm>
          <a:off x="412306" y="2112010"/>
          <a:ext cx="8305800" cy="3873500"/>
        </p:xfrm>
        <a:graphic>
          <a:graphicData uri="http://schemas.openxmlformats.org/drawingml/2006/table">
            <a:tbl>
              <a:tblPr/>
              <a:tblGrid>
                <a:gridCol w="1863848"/>
                <a:gridCol w="1936551"/>
                <a:gridCol w="4505401"/>
              </a:tblGrid>
              <a:tr h="288000">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문서에 쓴 말</a:t>
                      </a:r>
                    </a:p>
                  </a:txBody>
                  <a:tcPr marL="6750" marR="6750" marT="6750" marB="0" anchor="ctr">
                    <a:lnL>
                      <a:noFill/>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왜 판정 못 하는가?</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err="1">
                          <a:solidFill>
                            <a:schemeClr val="bg1"/>
                          </a:solidFill>
                          <a:effectLst/>
                          <a:latin typeface="맑은 고딕" panose="020B0503020000020004" pitchFamily="34" charset="-127"/>
                          <a:ea typeface="맑은 고딕" panose="020B0503020000020004" pitchFamily="34" charset="-127"/>
                          <a:cs typeface="맑은 고딕"/>
                        </a:rPr>
                        <a:t>판정할 수 있게 고치면</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도메인은 깨끗하게 유지한다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"깨끗"의 기준이 없다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order·payment·delivery·product는 연동·영속을 import하지 않는다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계층을 지킨다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어느 방향이 위반인지 모른다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연동·영속에서 업무로만 의존한다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결합을 낮게 유지한다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낮다의 경계가 없다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패키지 의존에 순환이 없다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bl>
          </a:graphicData>
        </a:graphic>
      </p:graphicFrame>
      <p:sp>
        <p:nvSpPr>
          <p:cNvPr id="13" name="TextBox 12">
            <a:extLst>
              <a:ext uri="{FF2B5EF4-FFF2-40B4-BE49-F238E27FC236}">
                <a16:creationId xmlns:a16="http://schemas.microsoft.com/office/drawing/2014/main" id="{654EDDB4-901F-3D48-A715-17D163E8A7AC}"/>
              </a:ext>
            </a:extLst>
          </p:cNvPr>
          <p:cNvSpPr txBox="1"/>
          <p:nvPr/>
        </p:nvSpPr>
        <p:spPr>
          <a:xfrm>
            <a:off x="365760" y="960120"/>
            <a:ext cx="8412480" cy="781278"/>
          </a:xfrm>
          <a:prstGeom prst="rect">
            <a:avLst/>
          </a:prstGeom>
          <a:noFill/>
        </p:spPr>
        <p:txBody>
          <a:bodyPr wrap="square">
            <a:spAutoFit/>
          </a:bodyPr>
          <a:lstStyle/>
          <a:p>
            <a:pPr marL="0" indent="0">
              <a:spcBef>
                <a:spcPts val="600"/>
              </a:spcBef>
              <a:spcAft>
                <a:spcPts val="600"/>
              </a:spcAft>
              <a:buNone/>
            </a:pPr>
            <a:r>
              <a:rPr sz="1800" b="0">
                <a:solidFill>
                  <a:srgbClr val="000000"/>
                </a:solidFill>
                <a:latin typeface="맑은 고딕"/>
                <a:ea typeface="맑은 고딕"/>
              </a:rPr>
              <a:t>문서에만 있는 의존 규칙은 지켜지지 않는다. </a:t>
            </a:r>
            <a:r>
              <a:rPr sz="1800" b="1">
                <a:solidFill>
                  <a:srgbClr val="000000"/>
                </a:solidFill>
                <a:latin typeface="맑은 고딕"/>
                <a:ea typeface="맑은 고딕"/>
              </a:rPr>
              <a:t>검사가 없으면 규칙이 아니라 희망</a:t>
            </a:r>
            <a:r>
              <a:rPr sz="1800" b="0">
                <a:solidFill>
                  <a:srgbClr val="000000"/>
                </a:solidFill>
                <a:latin typeface="맑은 고딕"/>
                <a:ea typeface="맑은 고딕"/>
              </a:rPr>
              <a:t>이다.</a:t>
            </a:r>
          </a:p>
        </p:txBody>
      </p:sp>
      <p:sp>
        <p:nvSpPr>
          <p:cNvPr id="8" name="슬라이드 번호 개체 틀 2">
            <a:extLst>
              <a:ext uri="{FF2B5EF4-FFF2-40B4-BE49-F238E27FC236}">
                <a16:creationId xmlns:a16="http://schemas.microsoft.com/office/drawing/2014/main" id="{741B75C6-7ED3-AA4C-41B6-F69C599EA447}"/>
              </a:ext>
            </a:extLst>
          </p:cNvPr>
          <p:cNvSpPr>
            <a:spLocks noGrp="1"/>
          </p:cNvSpPr>
          <p:nvPr>
            <p:ph type="sldNum" sz="quarter" idx="10"/>
          </p:nvPr>
        </p:nvSpPr>
        <p:spPr>
          <a:xfrm>
            <a:off x="3508472" y="6449625"/>
            <a:ext cx="2133600" cy="238277"/>
          </a:xfrm>
        </p:spPr>
        <p:txBody>
          <a:bodyPr>
            <a:normAutofit/>
          </a:bodyPr>
          <a:lstStyle/>
          <a:p>
            <a:pPr marL="0" marR="0" lvl="0" indent="0" algn="ctr" defTabSz="457200" rtl="0" eaLnBrk="1" fontAlgn="auto" latinLnBrk="0" hangingPunct="1">
              <a:lnSpc>
                <a:spcPct val="100000"/>
              </a:lnSpc>
              <a:spcBef>
                <a:spcPts val="0"/>
              </a:spcBef>
              <a:spcAft>
                <a:spcPts val="600"/>
              </a:spcAft>
              <a:buClrTx/>
              <a:buSzTx/>
              <a:buFontTx/>
              <a:buNone/>
              <a:tabLst/>
              <a:defRPr/>
            </a:pPr>
            <a:r>
              <a:rPr kumimoji="0" lang="en-US" altLang="ko-KR" sz="800" b="0" i="0" u="none" strike="noStrike" kern="1200" cap="none" spc="0" normalizeH="0" baseline="0" noProof="0">
                <a:ln>
                  <a:noFill/>
                </a:ln>
                <a:solidFill>
                  <a:prstClr val="black"/>
                </a:solidFill>
                <a:effectLst/>
                <a:uLnTx/>
                <a:uFillTx/>
                <a:latin typeface="맑은 고딕" panose="020B0503020000020004" pitchFamily="34" charset="-127"/>
                <a:ea typeface="맑은 고딕" panose="020B0503020000020004" pitchFamily="34" charset="-127"/>
                <a:cs typeface="+mn-cs"/>
              </a:rPr>
              <a:t>- 20 -</a:t>
            </a:r>
          </a:p>
        </p:txBody>
      </p:sp>
      <p:sp>
        <p:nvSpPr>
          <p:cNvPr id="14" name="TextBox 12">
            <a:extLst>
              <a:ext uri="{FF2B5EF4-FFF2-40B4-BE49-F238E27FC236}">
                <a16:creationId xmlns:a16="http://schemas.microsoft.com/office/drawing/2014/main" id="{654EDDB4-901F-3D48-A715-17D163E8A7AC}"/>
              </a:ext>
            </a:extLst>
          </p:cNvPr>
          <p:cNvSpPr txBox="1"/>
          <p:nvPr/>
        </p:nvSpPr>
        <p:spPr>
          <a:xfrm>
            <a:off x="365760" y="1813560"/>
            <a:ext cx="8412480" cy="222250"/>
          </a:xfrm>
          <a:prstGeom prst="rect">
            <a:avLst/>
          </a:prstGeom>
          <a:noFill/>
        </p:spPr>
        <p:txBody>
          <a:bodyPr wrap="square" tIns="0" bIns="0">
            <a:spAutoFit/>
          </a:bodyPr>
          <a:lstStyle/>
          <a:p>
            <a:pPr algn="ctr">
              <a:spcBef>
                <a:spcPts val="0"/>
              </a:spcBef>
              <a:spcAft>
                <a:spcPts val="0"/>
              </a:spcAft>
            </a:pPr>
            <a:r>
              <a:rPr sz="1400" b="1">
                <a:solidFill>
                  <a:srgbClr val="000000"/>
                </a:solidFill>
                <a:latin typeface="맑은 고딕"/>
                <a:ea typeface="맑은 고딕"/>
              </a:rPr>
              <a:t>판정할 수 없는 말과 판정할 수 있는 말</a:t>
            </a:r>
          </a:p>
        </p:txBody>
      </p:sp>
      <p:sp>
        <p:nvSpPr>
          <p:cNvPr id="15" name="TextBox 12">
            <a:extLst>
              <a:ext uri="{FF2B5EF4-FFF2-40B4-BE49-F238E27FC236}">
                <a16:creationId xmlns:a16="http://schemas.microsoft.com/office/drawing/2014/main" id="{654EDDB4-901F-3D48-A715-17D163E8A7AC}"/>
              </a:ext>
            </a:extLst>
          </p:cNvPr>
          <p:cNvSpPr txBox="1"/>
          <p:nvPr/>
        </p:nvSpPr>
        <p:spPr>
          <a:xfrm>
            <a:off x="365760" y="3492610"/>
            <a:ext cx="8412480" cy="1402080"/>
          </a:xfrm>
          <a:prstGeom prst="rect">
            <a:avLst/>
          </a:prstGeom>
          <a:noFill/>
        </p:spPr>
        <p:txBody>
          <a:bodyPr wrap="square">
            <a:spAutoFit/>
          </a:bodyPr>
          <a:lstStyle/>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증상</a:t>
            </a:r>
            <a:r>
              <a:rPr sz="1800" b="0">
                <a:solidFill>
                  <a:srgbClr val="000000"/>
                </a:solidFill>
                <a:latin typeface="맑은 고딕"/>
                <a:ea typeface="맑은 고딕"/>
              </a:rPr>
              <a:t> —</a:t>
            </a:r>
            <a:r>
              <a:rPr sz="1600" b="0">
                <a:solidFill>
                  <a:srgbClr val="000000"/>
                </a:solidFill>
                <a:latin typeface="맑은 고딕"/>
                <a:ea typeface="맑은 고딕"/>
              </a:rPr>
              <a:t> 아키텍처 문서는 있는데 코드의 </a:t>
            </a:r>
            <a:r>
              <a:rPr sz="1600" b="0">
                <a:solidFill>
                  <a:srgbClr val="000000"/>
                </a:solidFill>
                <a:latin typeface="맑은 고딕"/>
                <a:ea typeface="맑은 고딕"/>
              </a:rPr>
              <a:t>import</a:t>
            </a:r>
            <a:r>
              <a:rPr sz="1600" b="0">
                <a:solidFill>
                  <a:srgbClr val="000000"/>
                </a:solidFill>
                <a:latin typeface="맑은 고딕"/>
                <a:ea typeface="맑은 고딕"/>
              </a:rPr>
              <a:t>가 그것과 다르다.</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원인</a:t>
            </a:r>
            <a:r>
              <a:rPr sz="1800" b="0">
                <a:solidFill>
                  <a:srgbClr val="000000"/>
                </a:solidFill>
                <a:latin typeface="맑은 고딕"/>
                <a:ea typeface="맑은 고딕"/>
              </a:rPr>
              <a:t> —</a:t>
            </a:r>
            <a:r>
              <a:rPr sz="1600" b="0">
                <a:solidFill>
                  <a:srgbClr val="000000"/>
                </a:solidFill>
                <a:latin typeface="맑은 고딕"/>
                <a:ea typeface="맑은 고딕"/>
              </a:rPr>
              <a:t> 규칙이 판정할 수 없는 말로 쓰여 있다.</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고치는 방향</a:t>
            </a:r>
            <a:r>
              <a:rPr sz="1800" b="0">
                <a:solidFill>
                  <a:srgbClr val="000000"/>
                </a:solidFill>
                <a:latin typeface="맑은 고딕"/>
                <a:ea typeface="맑은 고딕"/>
              </a:rPr>
              <a:t> —</a:t>
            </a:r>
            <a:r>
              <a:rPr sz="1600" b="0">
                <a:solidFill>
                  <a:srgbClr val="000000"/>
                </a:solidFill>
                <a:latin typeface="맑은 고딕"/>
                <a:ea typeface="맑은 고딕"/>
              </a:rPr>
              <a:t> 금지를 패키지 이름으로 적고, </a:t>
            </a:r>
            <a:r>
              <a:rPr sz="1600" b="1">
                <a:solidFill>
                  <a:srgbClr val="000000"/>
                </a:solidFill>
                <a:latin typeface="맑은 고딕"/>
                <a:ea typeface="맑은 고딕"/>
              </a:rPr>
              <a:t>어긴 코드를 넣어 검사가 실패하는지</a:t>
            </a:r>
            <a:r>
              <a:rPr sz="1600" b="0">
                <a:solidFill>
                  <a:srgbClr val="000000"/>
                </a:solidFill>
                <a:latin typeface="맑은 고딕"/>
                <a:ea typeface="맑은 고딕"/>
              </a:rPr>
              <a:t>까지 확인한다.</a:t>
            </a:r>
          </a:p>
        </p:txBody>
      </p:sp>
    </p:spTree>
    <p:extLst>
      <p:ext uri="{BB962C8B-B14F-4D97-AF65-F5344CB8AC3E}">
        <p14:creationId xmlns:p14="http://schemas.microsoft.com/office/powerpoint/2010/main" val="278956947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4F1F13-426B-086B-7D8C-9A58A0F879DB}"/>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AA26A92D-924E-0575-9551-F8FD7BFD3FAD}"/>
              </a:ext>
            </a:extLst>
          </p:cNvPr>
          <p:cNvSpPr>
            <a:spLocks noGrp="1"/>
          </p:cNvSpPr>
          <p:nvPr>
            <p:ph type="title"/>
          </p:nvPr>
        </p:nvSpPr>
        <p:spPr/>
        <p:txBody>
          <a:bodyPr/>
          <a:lstStyle/>
          <a:p>
            <a:r>
              <a:rPr sz="2400" b="1">
                <a:solidFill>
                  <a:srgbClr val="000000"/>
                </a:solidFill>
                <a:latin typeface="맑은 고딕"/>
                <a:ea typeface="맑은 고딕"/>
              </a:rPr>
              <a:t>09. 실습 6 — 아키텍처</a:t>
            </a:r>
          </a:p>
        </p:txBody>
      </p:sp>
      <p:sp>
        <p:nvSpPr>
          <p:cNvPr id="3" name="슬라이드 번호 개체 틀 2">
            <a:extLst>
              <a:ext uri="{FF2B5EF4-FFF2-40B4-BE49-F238E27FC236}">
                <a16:creationId xmlns:a16="http://schemas.microsoft.com/office/drawing/2014/main" id="{12CF30EE-4DFD-8063-56B8-B8689E76DFCA}"/>
              </a:ext>
            </a:extLst>
          </p:cNvPr>
          <p:cNvSpPr>
            <a:spLocks noGrp="1"/>
          </p:cNvSpPr>
          <p:nvPr>
            <p:ph type="sldNum" sz="quarter" idx="10"/>
          </p:nvPr>
        </p:nvSpPr>
        <p:spPr/>
        <p:txBody>
          <a:bodyPr/>
          <a:lstStyle/>
          <a:p>
            <a:pPr>
              <a:defRPr/>
            </a:pPr>
            <a:r>
              <a:rPr lang="en-US" altLang="ko-KR">
                <a:solidFill>
                  <a:prstClr val="black"/>
                </a:solidFill>
              </a:rPr>
              <a:t>- 21 -</a:t>
            </a:r>
          </a:p>
        </p:txBody>
      </p:sp>
      <p:sp>
        <p:nvSpPr>
          <p:cNvPr id="5" name="텍스트 개체 틀 4">
            <a:extLst>
              <a:ext uri="{FF2B5EF4-FFF2-40B4-BE49-F238E27FC236}">
                <a16:creationId xmlns:a16="http://schemas.microsoft.com/office/drawing/2014/main" id="{D66274C8-E16F-5AEB-614B-D8D32DA3E8C6}"/>
              </a:ext>
            </a:extLst>
          </p:cNvPr>
          <p:cNvSpPr>
            <a:spLocks noGrp="1"/>
          </p:cNvSpPr>
          <p:nvPr>
            <p:ph type="body" sz="quarter" idx="11"/>
          </p:nvPr>
        </p:nvSpPr>
        <p:spPr/>
        <p:txBody>
          <a:bodyPr/>
          <a:lstStyle/>
          <a:p>
            <a:r>
              <a:rPr kumimoji="1" lang="en-US" altLang="ko-KR" sz="1400" dirty="0" err="1"/>
              <a:t>06. 아키텍처</a:t>
            </a:r>
          </a:p>
        </p:txBody>
      </p:sp>
      <p:sp>
        <p:nvSpPr>
          <p:cNvPr id="6" name="텍스트 개체 틀 5">
            <a:extLst>
              <a:ext uri="{FF2B5EF4-FFF2-40B4-BE49-F238E27FC236}">
                <a16:creationId xmlns:a16="http://schemas.microsoft.com/office/drawing/2014/main" id="{A24E58E1-194B-A320-AEEE-24D08685BB6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A219F420-613B-6234-45F6-0955A9A4505F}"/>
              </a:ext>
            </a:extLst>
          </p:cNvPr>
          <p:cNvSpPr>
            <a:spLocks noGrp="1"/>
          </p:cNvSpPr>
          <p:nvPr>
            <p:ph type="body" sz="quarter" idx="13"/>
          </p:nvPr>
        </p:nvSpPr>
        <p:spPr/>
        <p:txBody>
          <a:bodyPr/>
          <a:lstStyle/>
          <a:p>
            <a:endParaRPr kumimoji="1" lang="en-US" altLang="ko-KR" dirty="0"/>
          </a:p>
        </p:txBody>
      </p:sp>
      <p:sp>
        <p:nvSpPr>
          <p:cNvPr id="8" name="내용 개체 틀 7">
            <a:extLst>
              <a:ext uri="{FF2B5EF4-FFF2-40B4-BE49-F238E27FC236}">
                <a16:creationId xmlns:a16="http://schemas.microsoft.com/office/drawing/2014/main" id="{BEBA2C4A-B0BF-F2E4-EA6E-614C99CBA184}"/>
              </a:ext>
            </a:extLst>
          </p:cNvPr>
          <p:cNvSpPr>
            <a:spLocks noGrp="1"/>
          </p:cNvSpPr>
          <p:nvPr>
            <p:ph idx="1"/>
          </p:nvPr>
        </p:nvSpPr>
        <p:spPr>
          <a:xfrm>
            <a:off x="365760" y="960120"/>
            <a:ext cx="8412480" cy="5257800"/>
          </a:xfrm>
        </p:spPr>
        <p:txBody>
          <a:bodyPr>
            <a:normAutofit/>
          </a:bodyPr>
          <a:lstStyle/>
          <a:p>
            <a:pPr marL="0" indent="0">
              <a:spcBef>
                <a:spcPts val="300"/>
              </a:spcBef>
              <a:spcAft>
                <a:spcPts val="300"/>
              </a:spcAft>
              <a:buNone/>
            </a:pPr>
            <a:r>
              <a:rPr sz="1200" b="0">
                <a:solidFill>
                  <a:srgbClr val="000000"/>
                </a:solidFill>
                <a:latin typeface="맑은 고딕"/>
                <a:ea typeface="맑은 고딕"/>
              </a:rPr>
              <a:t>스타일은 강의에서 정한 것을 쓰고, 판단은 </a:t>
            </a:r>
            <a:r>
              <a:rPr sz="1200" b="1">
                <a:solidFill>
                  <a:srgbClr val="000000"/>
                </a:solidFill>
                <a:latin typeface="맑은 고딕"/>
                <a:ea typeface="맑은 고딕"/>
              </a:rPr>
              <a:t>경계·포트·의존 규칙</a:t>
            </a:r>
            <a:r>
              <a:rPr sz="1200" b="0">
                <a:solidFill>
                  <a:srgbClr val="000000"/>
                </a:solidFill>
                <a:latin typeface="맑은 고딕"/>
                <a:ea typeface="맑은 고딕"/>
              </a:rPr>
              <a:t>에만 쓴다.</a:t>
            </a:r>
          </a:p>
          <a:p>
            <a:pPr lvl="2" marL="723900" indent="-368300">
              <a:spcBef>
                <a:spcPts val="300"/>
              </a:spcBef>
              <a:spcAft>
                <a:spcPts val="300"/>
              </a:spcAft>
              <a:buSzPct val="90000"/>
              <a:buFont typeface="Wingdings" pitchFamily="2" charset="2"/>
              <a:buChar char=""/>
            </a:pPr>
            <a:r>
              <a:rPr sz="1200" b="1">
                <a:solidFill>
                  <a:srgbClr val="000000"/>
                </a:solidFill>
                <a:latin typeface="맑은 고딕"/>
                <a:ea typeface="맑은 고딕"/>
              </a:rPr>
              <a:t>투입물</a:t>
            </a:r>
          </a:p>
          <a:p>
            <a:pPr lvl="3" marL="723900" indent="0">
              <a:spcBef>
                <a:spcPts val="300"/>
              </a:spcBef>
              <a:spcAft>
                <a:spcPts val="300"/>
              </a:spcAft>
              <a:buNone/>
            </a:pPr>
            <a:r>
              <a:rPr sz="1000" b="0">
                <a:solidFill>
                  <a:srgbClr val="000000"/>
                </a:solidFill>
                <a:latin typeface="맑은 고딕"/>
                <a:ea typeface="맑은 고딕"/>
              </a:rPr>
              <a:t>실습 3의 </a:t>
            </a:r>
            <a:r>
              <a:rPr sz="1000" b="1">
                <a:solidFill>
                  <a:srgbClr val="000000"/>
                </a:solidFill>
                <a:latin typeface="맑은 고딕"/>
                <a:ea typeface="맑은 고딕"/>
              </a:rPr>
              <a:t>요구사항 정의서</a:t>
            </a:r>
            <a:r>
              <a:rPr sz="1000" b="0">
                <a:solidFill>
                  <a:srgbClr val="000000"/>
                </a:solidFill>
                <a:latin typeface="맑은 고딕"/>
                <a:ea typeface="맑은 고딕"/>
              </a:rPr>
              <a:t>, 실습 4의 </a:t>
            </a:r>
            <a:r>
              <a:rPr sz="1000" b="1">
                <a:solidFill>
                  <a:srgbClr val="000000"/>
                </a:solidFill>
                <a:latin typeface="맑은 고딕"/>
                <a:ea typeface="맑은 고딕"/>
              </a:rPr>
              <a:t>정적 관점</a:t>
            </a:r>
            <a:r>
              <a:rPr sz="1000" b="0">
                <a:solidFill>
                  <a:srgbClr val="000000"/>
                </a:solidFill>
                <a:latin typeface="맑은 고딕"/>
                <a:ea typeface="맑은 고딕"/>
              </a:rPr>
              <a:t>, 실습 5의 </a:t>
            </a:r>
            <a:r>
              <a:rPr sz="1000" b="1">
                <a:solidFill>
                  <a:srgbClr val="000000"/>
                </a:solidFill>
                <a:latin typeface="맑은 고딕"/>
                <a:ea typeface="맑은 고딕"/>
              </a:rPr>
              <a:t>동적 관점</a:t>
            </a:r>
            <a:r>
              <a:rPr sz="1000" b="0">
                <a:solidFill>
                  <a:srgbClr val="000000"/>
                </a:solidFill>
                <a:latin typeface="맑은 고딕"/>
                <a:ea typeface="맑은 고딕"/>
              </a:rPr>
              <a:t>을 명시적으로 첨부한다.</a:t>
            </a:r>
          </a:p>
          <a:p>
            <a:pPr lvl="2" marL="723900" indent="-368300">
              <a:spcBef>
                <a:spcPts val="300"/>
              </a:spcBef>
              <a:spcAft>
                <a:spcPts val="300"/>
              </a:spcAft>
              <a:buSzPct val="90000"/>
              <a:buFont typeface="Wingdings" pitchFamily="2" charset="2"/>
              <a:buChar char=""/>
            </a:pPr>
            <a:r>
              <a:rPr sz="1200" b="1">
                <a:solidFill>
                  <a:srgbClr val="000000"/>
                </a:solidFill>
                <a:latin typeface="맑은 고딕"/>
                <a:ea typeface="맑은 고딕"/>
              </a:rPr>
              <a:t>프롬프트</a:t>
            </a:r>
          </a:p>
          <a:p>
            <a:pPr lvl="3" marL="981075" indent="-268288">
              <a:spcBef>
                <a:spcPts val="300"/>
              </a:spcBef>
              <a:spcAft>
                <a:spcPts val="300"/>
              </a:spcAft>
              <a:buFont typeface="+mj-ea"/>
              <a:buAutoNum type="circleNumDbPlain" startAt="1"/>
            </a:pPr>
            <a:r>
              <a:rPr sz="1000" b="0">
                <a:solidFill>
                  <a:srgbClr val="000000"/>
                </a:solidFill>
                <a:latin typeface="맑은 고딕"/>
                <a:ea typeface="맑은 고딕"/>
              </a:rPr>
              <a:t>"포트와 어댑터를 쓴다는 전제로 </a:t>
            </a:r>
            <a:r>
              <a:rPr sz="1000" b="1">
                <a:solidFill>
                  <a:srgbClr val="000000"/>
                </a:solidFill>
                <a:latin typeface="맑은 고딕"/>
                <a:ea typeface="맑은 고딕"/>
              </a:rPr>
              <a:t>업무 패키지와 포트</a:t>
            </a:r>
            <a:r>
              <a:rPr sz="1000" b="0">
                <a:solidFill>
                  <a:srgbClr val="000000"/>
                </a:solidFill>
                <a:latin typeface="맑은 고딕"/>
                <a:ea typeface="맑은 고딕"/>
              </a:rPr>
              <a:t>를 제안해라. 실습 4의 도메인 모델을 바탕으로 대표 개념을 소유 패키지 안에 배치하고 기술 역할 이름으로 나누지 마라. Order·OrderItem은 order에, Product는 product에 두고 앞 모델의 연관을 보존해라. 포트 이름은 PaymentGateway·DeliveryGateway·ProductGateway·OrderRepository를 유지해라. 업무 패키지가 자기 포트를 소유하게 하고 입력 포트는 두지 마라. Mermaid로 업무 경계와 포트 구현을 구별해 보여라. 업무 연관과 패키지 의존은 선과 범례로 구분하고 구체 객체의 호출 책임은 정하지 마라. 같은 내용을 패키지별 한 줄 목록으로도 보여라."</a:t>
            </a:r>
          </a:p>
          <a:p>
            <a:pPr lvl="3" marL="981075" indent="-268288">
              <a:spcBef>
                <a:spcPts val="300"/>
              </a:spcBef>
              <a:spcAft>
                <a:spcPts val="300"/>
              </a:spcAft>
              <a:buFont typeface="+mj-ea"/>
              <a:buAutoNum type="circleNumDbPlain" startAt="2"/>
            </a:pPr>
            <a:r>
              <a:rPr sz="1000" b="0">
                <a:solidFill>
                  <a:srgbClr val="000000"/>
                </a:solidFill>
                <a:latin typeface="맑은 고딕"/>
                <a:ea typeface="맑은 고딕"/>
              </a:rPr>
              <a:t>"</a:t>
            </a:r>
            <a:r>
              <a:rPr sz="1000" b="1">
                <a:solidFill>
                  <a:srgbClr val="000000"/>
                </a:solidFill>
                <a:latin typeface="맑은 고딕"/>
                <a:ea typeface="맑은 고딕"/>
              </a:rPr>
              <a:t>의존 규칙</a:t>
            </a:r>
            <a:r>
              <a:rPr sz="1000" b="0">
                <a:solidFill>
                  <a:srgbClr val="000000"/>
                </a:solidFill>
                <a:latin typeface="맑은 고딕"/>
                <a:ea typeface="맑은 고딕"/>
              </a:rPr>
              <a:t>을 허용과 금지로 적고, 금지는 검사가 판정할 수 있게 패키지 이름으로 써라. 허용 밖의 업무 간 의존과 순환을 별개로 검사하게 해라. 검사가 판정하지 못하는 것은 따로 묶어라."</a:t>
            </a:r>
          </a:p>
          <a:p>
            <a:pPr lvl="3" marL="981075" indent="-268288">
              <a:spcBef>
                <a:spcPts val="300"/>
              </a:spcBef>
              <a:spcAft>
                <a:spcPts val="300"/>
              </a:spcAft>
              <a:buFont typeface="+mj-ea"/>
              <a:buAutoNum type="circleNumDbPlain" startAt="3"/>
            </a:pPr>
            <a:r>
              <a:rPr sz="1000" b="0">
                <a:solidFill>
                  <a:srgbClr val="000000"/>
                </a:solidFill>
                <a:latin typeface="맑은 고딕"/>
                <a:ea typeface="맑은 고딕"/>
              </a:rPr>
              <a:t>"</a:t>
            </a:r>
            <a:r>
              <a:rPr sz="1000" b="1">
                <a:solidFill>
                  <a:srgbClr val="000000"/>
                </a:solidFill>
                <a:latin typeface="맑은 고딕"/>
                <a:ea typeface="맑은 고딕"/>
              </a:rPr>
              <a:t>결제 포트</a:t>
            </a:r>
            <a:r>
              <a:rPr sz="1000" b="0">
                <a:solidFill>
                  <a:srgbClr val="000000"/>
                </a:solidFill>
                <a:latin typeface="맑은 고딕"/>
                <a:ea typeface="맑은 고딕"/>
              </a:rPr>
              <a:t>의 연동 규격을 보내는 것·받는 것·정하지 않는 것으로 적어라. 제공자의 전문은 연동 안에 둬라. 배송·상품 포트는 같은 방법이므로 적지 마라."</a:t>
            </a:r>
          </a:p>
          <a:p>
            <a:pPr lvl="3" marL="981075" indent="-268288">
              <a:spcBef>
                <a:spcPts val="300"/>
              </a:spcBef>
              <a:spcAft>
                <a:spcPts val="300"/>
              </a:spcAft>
              <a:buFont typeface="+mj-ea"/>
              <a:buAutoNum type="circleNumDbPlain" startAt="4"/>
            </a:pPr>
            <a:r>
              <a:rPr sz="1000" b="0">
                <a:solidFill>
                  <a:srgbClr val="000000"/>
                </a:solidFill>
                <a:latin typeface="맑은 고딕"/>
                <a:ea typeface="맑은 고딕"/>
              </a:rPr>
              <a:t>"합의한 </a:t>
            </a:r>
            <a:r>
              <a:rPr sz="1000" b="1">
                <a:solidFill>
                  <a:srgbClr val="000000"/>
                </a:solidFill>
                <a:latin typeface="맑은 고딕"/>
                <a:ea typeface="맑은 고딕"/>
              </a:rPr>
              <a:t>아키텍처 결정을 Markdown 파일</a:t>
            </a:r>
            <a:r>
              <a:rPr sz="1000" b="0">
                <a:solidFill>
                  <a:srgbClr val="000000"/>
                </a:solidFill>
                <a:latin typeface="맑은 고딕"/>
                <a:ea typeface="맑은 고딕"/>
              </a:rPr>
              <a:t>로 생성해라. 패키지 다이어그램 원본, 의존 규칙, 결제 포트의 연동 규격을 보존하고 새 정책은 추가하지 마라."</a:t>
            </a:r>
          </a:p>
          <a:p>
            <a:pPr lvl="2" marL="723900" indent="-368300">
              <a:spcBef>
                <a:spcPts val="300"/>
              </a:spcBef>
              <a:spcAft>
                <a:spcPts val="300"/>
              </a:spcAft>
              <a:buSzPct val="90000"/>
              <a:buFont typeface="Wingdings" pitchFamily="2" charset="2"/>
              <a:buChar char=""/>
            </a:pPr>
            <a:r>
              <a:rPr sz="1200" b="1">
                <a:solidFill>
                  <a:srgbClr val="000000"/>
                </a:solidFill>
                <a:latin typeface="맑은 고딕"/>
                <a:ea typeface="맑은 고딕"/>
              </a:rPr>
              <a:t>점검 항목</a:t>
            </a:r>
          </a:p>
          <a:p>
            <a:pPr lvl="3" marL="1028700" indent="-304800">
              <a:spcBef>
                <a:spcPts val="300"/>
              </a:spcBef>
              <a:spcAft>
                <a:spcPts val="300"/>
              </a:spcAft>
              <a:buFont typeface="+mj-lt"/>
              <a:buAutoNum type="arabicPeriod" startAt="1"/>
            </a:pPr>
            <a:r>
              <a:rPr sz="1000" b="0">
                <a:solidFill>
                  <a:srgbClr val="000000"/>
                </a:solidFill>
                <a:latin typeface="맑은 고딕"/>
                <a:ea typeface="맑은 고딕"/>
              </a:rPr>
              <a:t/>
            </a:r>
            <a:r>
              <a:rPr sz="1000" b="1">
                <a:solidFill>
                  <a:srgbClr val="000000"/>
                </a:solidFill>
                <a:latin typeface="맑은 고딕"/>
                <a:ea typeface="맑은 고딕"/>
              </a:rPr>
              <a:t>경계의 근거</a:t>
            </a:r>
            <a:r>
              <a:rPr sz="1000" b="0">
                <a:solidFill>
                  <a:srgbClr val="000000"/>
                </a:solidFill>
                <a:latin typeface="맑은 고딕"/>
                <a:ea typeface="맑은 고딕"/>
              </a:rPr>
              <a:t> —</a:t>
            </a:r>
            <a:r>
              <a:rPr sz="800" b="0">
                <a:solidFill>
                  <a:srgbClr val="000000"/>
                </a:solidFill>
                <a:latin typeface="맑은 고딕"/>
                <a:ea typeface="맑은 고딕"/>
              </a:rPr>
              <a:t> 도메인 개념이 패키지 안에 있고 상품과의 연관이 보존되는가? 변경 이유로 나눴는가?</a:t>
            </a:r>
          </a:p>
          <a:p>
            <a:pPr lvl="3" marL="1028700" indent="-304800">
              <a:spcBef>
                <a:spcPts val="300"/>
              </a:spcBef>
              <a:spcAft>
                <a:spcPts val="300"/>
              </a:spcAft>
              <a:buFont typeface="+mj-lt"/>
              <a:buAutoNum type="arabicPeriod" startAt="2"/>
            </a:pPr>
            <a:r>
              <a:rPr sz="1000" b="0">
                <a:solidFill>
                  <a:srgbClr val="000000"/>
                </a:solidFill>
                <a:latin typeface="맑은 고딕"/>
                <a:ea typeface="맑은 고딕"/>
              </a:rPr>
              <a:t/>
            </a:r>
            <a:r>
              <a:rPr sz="1000" b="1">
                <a:solidFill>
                  <a:srgbClr val="000000"/>
                </a:solidFill>
                <a:latin typeface="맑은 고딕"/>
                <a:ea typeface="맑은 고딕"/>
              </a:rPr>
              <a:t>포트의 소유</a:t>
            </a:r>
            <a:r>
              <a:rPr sz="1000" b="0">
                <a:solidFill>
                  <a:srgbClr val="000000"/>
                </a:solidFill>
                <a:latin typeface="맑은 고딕"/>
                <a:ea typeface="맑은 고딕"/>
              </a:rPr>
              <a:t> —</a:t>
            </a:r>
            <a:r>
              <a:rPr sz="800" b="0">
                <a:solidFill>
                  <a:srgbClr val="000000"/>
                </a:solidFill>
                <a:latin typeface="맑은 고딕"/>
                <a:ea typeface="맑은 고딕"/>
              </a:rPr>
              <a:t> 인터페이스를 업무 패키지가 갖는가? 한 모듈에 몰지 않았는가?</a:t>
            </a:r>
          </a:p>
          <a:p>
            <a:pPr lvl="3" marL="1028700" indent="-304800">
              <a:spcBef>
                <a:spcPts val="300"/>
              </a:spcBef>
              <a:spcAft>
                <a:spcPts val="300"/>
              </a:spcAft>
              <a:buFont typeface="+mj-lt"/>
              <a:buAutoNum type="arabicPeriod" startAt="3"/>
            </a:pPr>
            <a:r>
              <a:rPr sz="1000" b="0">
                <a:solidFill>
                  <a:srgbClr val="000000"/>
                </a:solidFill>
                <a:latin typeface="맑은 고딕"/>
                <a:ea typeface="맑은 고딕"/>
              </a:rPr>
              <a:t/>
            </a:r>
            <a:r>
              <a:rPr sz="1000" b="1">
                <a:solidFill>
                  <a:srgbClr val="000000"/>
                </a:solidFill>
                <a:latin typeface="맑은 고딕"/>
                <a:ea typeface="맑은 고딕"/>
              </a:rPr>
              <a:t>외부 형식</a:t>
            </a:r>
            <a:r>
              <a:rPr sz="1000" b="0">
                <a:solidFill>
                  <a:srgbClr val="000000"/>
                </a:solidFill>
                <a:latin typeface="맑은 고딕"/>
                <a:ea typeface="맑은 고딕"/>
              </a:rPr>
              <a:t> —</a:t>
            </a:r>
            <a:r>
              <a:rPr sz="800" b="0">
                <a:solidFill>
                  <a:srgbClr val="000000"/>
                </a:solidFill>
                <a:latin typeface="맑은 고딕"/>
                <a:ea typeface="맑은 고딕"/>
              </a:rPr>
              <a:t> 제공자의 필드·참조 값·코드가 업무 밖에 머무는가?</a:t>
            </a:r>
          </a:p>
          <a:p>
            <a:pPr lvl="3" marL="1028700" indent="-304800">
              <a:spcBef>
                <a:spcPts val="300"/>
              </a:spcBef>
              <a:spcAft>
                <a:spcPts val="300"/>
              </a:spcAft>
              <a:buFont typeface="+mj-lt"/>
              <a:buAutoNum type="arabicPeriod" startAt="4"/>
            </a:pPr>
            <a:r>
              <a:rPr sz="1000" b="0">
                <a:solidFill>
                  <a:srgbClr val="000000"/>
                </a:solidFill>
                <a:latin typeface="맑은 고딕"/>
                <a:ea typeface="맑은 고딕"/>
              </a:rPr>
              <a:t/>
            </a:r>
            <a:r>
              <a:rPr sz="1000" b="1">
                <a:solidFill>
                  <a:srgbClr val="000000"/>
                </a:solidFill>
                <a:latin typeface="맑은 고딕"/>
                <a:ea typeface="맑은 고딕"/>
              </a:rPr>
              <a:t>의존</a:t>
            </a:r>
            <a:r>
              <a:rPr sz="1000" b="0">
                <a:solidFill>
                  <a:srgbClr val="000000"/>
                </a:solidFill>
                <a:latin typeface="맑은 고딕"/>
                <a:ea typeface="맑은 고딕"/>
              </a:rPr>
              <a:t> —</a:t>
            </a:r>
            <a:r>
              <a:rPr sz="800" b="0">
                <a:solidFill>
                  <a:srgbClr val="000000"/>
                </a:solidFill>
                <a:latin typeface="맑은 고딕"/>
                <a:ea typeface="맑은 고딕"/>
              </a:rPr>
              <a:t> 업무 연관과 코드 의존이 구분되는가? 허용 밖의 의존과 순환을 각각 금지했는가?</a:t>
            </a:r>
          </a:p>
          <a:p>
            <a:pPr lvl="3" marL="1028700" indent="-304800">
              <a:spcBef>
                <a:spcPts val="300"/>
              </a:spcBef>
              <a:spcAft>
                <a:spcPts val="300"/>
              </a:spcAft>
              <a:buFont typeface="+mj-lt"/>
              <a:buAutoNum type="arabicPeriod" startAt="5"/>
            </a:pPr>
            <a:r>
              <a:rPr sz="1000" b="0">
                <a:solidFill>
                  <a:srgbClr val="000000"/>
                </a:solidFill>
                <a:latin typeface="맑은 고딕"/>
                <a:ea typeface="맑은 고딕"/>
              </a:rPr>
              <a:t/>
            </a:r>
            <a:r>
              <a:rPr sz="1000" b="1">
                <a:solidFill>
                  <a:srgbClr val="000000"/>
                </a:solidFill>
                <a:latin typeface="맑은 고딕"/>
                <a:ea typeface="맑은 고딕"/>
              </a:rPr>
              <a:t>미정</a:t>
            </a:r>
            <a:r>
              <a:rPr sz="1000" b="0">
                <a:solidFill>
                  <a:srgbClr val="000000"/>
                </a:solidFill>
                <a:latin typeface="맑은 고딕"/>
                <a:ea typeface="맑은 고딕"/>
              </a:rPr>
              <a:t> —</a:t>
            </a:r>
            <a:r>
              <a:rPr sz="800" b="0">
                <a:solidFill>
                  <a:srgbClr val="000000"/>
                </a:solidFill>
                <a:latin typeface="맑은 고딕"/>
                <a:ea typeface="맑은 고딕"/>
              </a:rPr>
              <a:t> 배송 요청 실패 등 앞 실습의 미정을 임의로 확정했는가?</a:t>
            </a:r>
          </a:p>
          <a:p>
            <a:pPr lvl="2" marL="723900" indent="-368300">
              <a:spcBef>
                <a:spcPts val="300"/>
              </a:spcBef>
              <a:spcAft>
                <a:spcPts val="300"/>
              </a:spcAft>
              <a:buSzPct val="90000"/>
              <a:buFont typeface="Wingdings" pitchFamily="2" charset="2"/>
              <a:buChar char=""/>
            </a:pPr>
            <a:r>
              <a:rPr sz="1200" b="1">
                <a:solidFill>
                  <a:srgbClr val="000000"/>
                </a:solidFill>
                <a:latin typeface="맑은 고딕"/>
                <a:ea typeface="맑은 고딕"/>
              </a:rPr>
              <a:t>결과물</a:t>
            </a:r>
          </a:p>
          <a:p>
            <a:pPr lvl="3" marL="723900" indent="0">
              <a:spcBef>
                <a:spcPts val="300"/>
              </a:spcBef>
              <a:spcAft>
                <a:spcPts val="300"/>
              </a:spcAft>
              <a:buNone/>
            </a:pPr>
            <a:r>
              <a:rPr sz="1000" b="0">
                <a:solidFill>
                  <a:srgbClr val="000000"/>
                </a:solidFill>
                <a:latin typeface="맑은 고딕"/>
                <a:ea typeface="맑은 고딕"/>
              </a:rPr>
              <a:t>주문한다-아키텍처결정.md</a:t>
            </a:r>
            <a:r>
              <a:rPr sz="1000" b="0">
                <a:solidFill>
                  <a:srgbClr val="000000"/>
                </a:solidFill>
                <a:latin typeface="맑은 고딕"/>
                <a:ea typeface="맑은 고딕"/>
              </a:rPr>
              <a:t> —</a:t>
            </a:r>
            <a:r>
              <a:rPr sz="800" b="0">
                <a:solidFill>
                  <a:srgbClr val="000000"/>
                </a:solidFill>
                <a:latin typeface="맑은 고딕"/>
                <a:ea typeface="맑은 고딕"/>
              </a:rPr>
              <a:t> </a:t>
            </a:r>
            <a:r>
              <a:rPr sz="800" b="1">
                <a:solidFill>
                  <a:srgbClr val="000000"/>
                </a:solidFill>
                <a:latin typeface="맑은 고딕"/>
                <a:ea typeface="맑은 고딕"/>
              </a:rPr>
              <a:t>패키지 다이어그램</a:t>
            </a:r>
            <a:r>
              <a:rPr sz="800" b="0">
                <a:solidFill>
                  <a:srgbClr val="000000"/>
                </a:solidFill>
                <a:latin typeface="맑은 고딕"/>
                <a:ea typeface="맑은 고딕"/>
              </a:rPr>
              <a:t>·</a:t>
            </a:r>
            <a:r>
              <a:rPr sz="800" b="1">
                <a:solidFill>
                  <a:srgbClr val="000000"/>
                </a:solidFill>
                <a:latin typeface="맑은 고딕"/>
                <a:ea typeface="맑은 고딕"/>
              </a:rPr>
              <a:t>의존 규칙</a:t>
            </a:r>
            <a:r>
              <a:rPr sz="800" b="0">
                <a:solidFill>
                  <a:srgbClr val="000000"/>
                </a:solidFill>
                <a:latin typeface="맑은 고딕"/>
                <a:ea typeface="맑은 고딕"/>
              </a:rPr>
              <a:t>·</a:t>
            </a:r>
            <a:r>
              <a:rPr sz="800" b="1">
                <a:solidFill>
                  <a:srgbClr val="000000"/>
                </a:solidFill>
                <a:latin typeface="맑은 고딕"/>
                <a:ea typeface="맑은 고딕"/>
              </a:rPr>
              <a:t>결제 포트의 연동 규격</a:t>
            </a:r>
            <a:r>
              <a:rPr sz="800" b="0">
                <a:solidFill>
                  <a:srgbClr val="000000"/>
                </a:solidFill>
                <a:latin typeface="맑은 고딕"/>
                <a:ea typeface="맑은 고딕"/>
              </a:rPr>
              <a:t> 셋을 담아 저장소의 </a:t>
            </a:r>
            <a:r>
              <a:rPr sz="800" b="0">
                <a:solidFill>
                  <a:srgbClr val="000000"/>
                </a:solidFill>
                <a:latin typeface="맑은 고딕"/>
                <a:ea typeface="맑은 고딕"/>
              </a:rPr>
              <a:t>docs</a:t>
            </a:r>
            <a:r>
              <a:rPr sz="800" b="0">
                <a:solidFill>
                  <a:srgbClr val="000000"/>
                </a:solidFill>
                <a:latin typeface="맑은 고딕"/>
                <a:ea typeface="맑은 고딕"/>
              </a:rPr>
              <a:t>에 두고 커밋한다. </a:t>
            </a:r>
            <a:r>
              <a:rPr sz="800" b="1">
                <a:solidFill>
                  <a:srgbClr val="000000"/>
                </a:solidFill>
                <a:latin typeface="맑은 고딕"/>
                <a:ea typeface="맑은 고딕"/>
              </a:rPr>
              <a:t>실습 7의 투입물</a:t>
            </a:r>
            <a:r>
              <a:rPr sz="800" b="0">
                <a:solidFill>
                  <a:srgbClr val="000000"/>
                </a:solidFill>
                <a:latin typeface="맑은 고딕"/>
                <a:ea typeface="맑은 고딕"/>
              </a:rPr>
              <a:t>이다</a:t>
            </a:r>
          </a:p>
        </p:txBody>
      </p:sp>
    </p:spTree>
    <p:extLst>
      <p:ext uri="{BB962C8B-B14F-4D97-AF65-F5344CB8AC3E}">
        <p14:creationId xmlns:p14="http://schemas.microsoft.com/office/powerpoint/2010/main" val="355543667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4F1F13-426B-086B-7D8C-9A58A0F879DB}"/>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AA26A92D-924E-0575-9551-F8FD7BFD3FAD}"/>
              </a:ext>
            </a:extLst>
          </p:cNvPr>
          <p:cNvSpPr>
            <a:spLocks noGrp="1"/>
          </p:cNvSpPr>
          <p:nvPr>
            <p:ph type="title"/>
          </p:nvPr>
        </p:nvSpPr>
        <p:spPr/>
        <p:txBody>
          <a:bodyPr/>
          <a:lstStyle/>
          <a:p>
            <a:r>
              <a:rPr sz="2400" b="1">
                <a:solidFill>
                  <a:srgbClr val="000000"/>
                </a:solidFill>
                <a:latin typeface="맑은 고딕"/>
                <a:ea typeface="맑은 고딕"/>
              </a:rPr>
              <a:t>10. 요약</a:t>
            </a:r>
          </a:p>
        </p:txBody>
      </p:sp>
      <p:sp>
        <p:nvSpPr>
          <p:cNvPr id="3" name="슬라이드 번호 개체 틀 2">
            <a:extLst>
              <a:ext uri="{FF2B5EF4-FFF2-40B4-BE49-F238E27FC236}">
                <a16:creationId xmlns:a16="http://schemas.microsoft.com/office/drawing/2014/main" id="{12CF30EE-4DFD-8063-56B8-B8689E76DFCA}"/>
              </a:ext>
            </a:extLst>
          </p:cNvPr>
          <p:cNvSpPr>
            <a:spLocks noGrp="1"/>
          </p:cNvSpPr>
          <p:nvPr>
            <p:ph type="sldNum" sz="quarter" idx="10"/>
          </p:nvPr>
        </p:nvSpPr>
        <p:spPr/>
        <p:txBody>
          <a:bodyPr/>
          <a:lstStyle/>
          <a:p>
            <a:pPr>
              <a:defRPr/>
            </a:pPr>
            <a:r>
              <a:rPr lang="en-US" altLang="ko-KR">
                <a:solidFill>
                  <a:prstClr val="black"/>
                </a:solidFill>
              </a:rPr>
              <a:t>- 22 -</a:t>
            </a:r>
          </a:p>
        </p:txBody>
      </p:sp>
      <p:sp>
        <p:nvSpPr>
          <p:cNvPr id="5" name="텍스트 개체 틀 4">
            <a:extLst>
              <a:ext uri="{FF2B5EF4-FFF2-40B4-BE49-F238E27FC236}">
                <a16:creationId xmlns:a16="http://schemas.microsoft.com/office/drawing/2014/main" id="{D66274C8-E16F-5AEB-614B-D8D32DA3E8C6}"/>
              </a:ext>
            </a:extLst>
          </p:cNvPr>
          <p:cNvSpPr>
            <a:spLocks noGrp="1"/>
          </p:cNvSpPr>
          <p:nvPr>
            <p:ph type="body" sz="quarter" idx="11"/>
          </p:nvPr>
        </p:nvSpPr>
        <p:spPr/>
        <p:txBody>
          <a:bodyPr/>
          <a:lstStyle/>
          <a:p>
            <a:r>
              <a:rPr kumimoji="1" lang="en-US" altLang="ko-KR" sz="1400" dirty="0" err="1"/>
              <a:t>06. 아키텍처</a:t>
            </a:r>
          </a:p>
        </p:txBody>
      </p:sp>
      <p:sp>
        <p:nvSpPr>
          <p:cNvPr id="6" name="텍스트 개체 틀 5">
            <a:extLst>
              <a:ext uri="{FF2B5EF4-FFF2-40B4-BE49-F238E27FC236}">
                <a16:creationId xmlns:a16="http://schemas.microsoft.com/office/drawing/2014/main" id="{A24E58E1-194B-A320-AEEE-24D08685BB6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A219F420-613B-6234-45F6-0955A9A4505F}"/>
              </a:ext>
            </a:extLst>
          </p:cNvPr>
          <p:cNvSpPr>
            <a:spLocks noGrp="1"/>
          </p:cNvSpPr>
          <p:nvPr>
            <p:ph type="body" sz="quarter" idx="13"/>
          </p:nvPr>
        </p:nvSpPr>
        <p:spPr/>
        <p:txBody>
          <a:bodyPr/>
          <a:lstStyle/>
          <a:p>
            <a:endParaRPr kumimoji="1" lang="en-US" altLang="ko-KR" dirty="0"/>
          </a:p>
        </p:txBody>
      </p:sp>
      <p:sp>
        <p:nvSpPr>
          <p:cNvPr id="8" name="내용 개체 틀 7">
            <a:extLst>
              <a:ext uri="{FF2B5EF4-FFF2-40B4-BE49-F238E27FC236}">
                <a16:creationId xmlns:a16="http://schemas.microsoft.com/office/drawing/2014/main" id="{BEBA2C4A-B0BF-F2E4-EA6E-614C99CBA184}"/>
              </a:ext>
            </a:extLst>
          </p:cNvPr>
          <p:cNvSpPr>
            <a:spLocks noGrp="1"/>
          </p:cNvSpPr>
          <p:nvPr>
            <p:ph idx="1"/>
          </p:nvPr>
        </p:nvSpPr>
        <p:spPr/>
        <p:txBody>
          <a:bodyPr>
            <a:normAutofit/>
          </a:bodyPr>
          <a:lstStyle/>
          <a:p>
            <a:pPr marL="0" indent="0">
              <a:spcBef>
                <a:spcPts val="600"/>
              </a:spcBef>
              <a:spcAft>
                <a:spcPts val="600"/>
              </a:spcAft>
              <a:buNone/>
            </a:pPr>
            <a:r>
              <a:rPr sz="1800" b="0">
                <a:solidFill>
                  <a:srgbClr val="000000"/>
                </a:solidFill>
                <a:latin typeface="맑은 고딕"/>
                <a:ea typeface="맑은 고딕"/>
              </a:rPr>
              <a:t>아키텍처는 </a:t>
            </a:r>
            <a:r>
              <a:rPr sz="1800" b="1">
                <a:solidFill>
                  <a:srgbClr val="000000"/>
                </a:solidFill>
                <a:latin typeface="맑은 고딕"/>
                <a:ea typeface="맑은 고딕"/>
              </a:rPr>
              <a:t>무엇이 무엇을 알아야 하는가</a:t>
            </a:r>
            <a:r>
              <a:rPr sz="1800" b="0">
                <a:solidFill>
                  <a:srgbClr val="000000"/>
                </a:solidFill>
                <a:latin typeface="맑은 고딕"/>
                <a:ea typeface="맑은 고딕"/>
              </a:rPr>
              <a:t>를 정하고, 그 결정을 글과 검사로 남긴다.</a:t>
            </a:r>
          </a:p>
          <a:p>
            <a:pPr marL="342900" indent="0">
              <a:spcBef>
                <a:spcPts val="600"/>
              </a:spcBef>
              <a:spcAft>
                <a:spcPts val="600"/>
              </a:spcAft>
              <a:buNone/>
            </a:pPr>
            <a:r>
              <a:rPr sz="1800" b="1">
                <a:solidFill>
                  <a:srgbClr val="000000"/>
                </a:solidFill>
                <a:latin typeface="맑은 고딕"/>
                <a:ea typeface="맑은 고딕"/>
              </a:rPr>
              <a:t>아키텍처의 핵심</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정하는 것</a:t>
            </a:r>
            <a:r>
              <a:rPr sz="1800" b="0">
                <a:solidFill>
                  <a:srgbClr val="000000"/>
                </a:solidFill>
                <a:latin typeface="맑은 고딕"/>
                <a:ea typeface="맑은 고딕"/>
              </a:rPr>
              <a:t> —</a:t>
            </a:r>
            <a:r>
              <a:rPr sz="1600" b="0">
                <a:solidFill>
                  <a:srgbClr val="000000"/>
                </a:solidFill>
                <a:latin typeface="맑은 고딕"/>
                <a:ea typeface="맑은 고딕"/>
              </a:rPr>
              <a:t> 기능이 아니라 의존의 방향</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고른 스타일</a:t>
            </a:r>
            <a:r>
              <a:rPr sz="1800" b="0">
                <a:solidFill>
                  <a:srgbClr val="000000"/>
                </a:solidFill>
                <a:latin typeface="맑은 고딕"/>
                <a:ea typeface="맑은 고딕"/>
              </a:rPr>
              <a:t> —</a:t>
            </a:r>
            <a:r>
              <a:rPr sz="1600" b="0">
                <a:solidFill>
                  <a:srgbClr val="000000"/>
                </a:solidFill>
                <a:latin typeface="맑은 고딕"/>
                <a:ea typeface="맑은 고딕"/>
              </a:rPr>
              <a:t> 하나의 배포 단위 안의 포트와 어댑터. 나누는 비용은 아직 낼 이유가 없다</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근거</a:t>
            </a:r>
            <a:r>
              <a:rPr sz="1800" b="0">
                <a:solidFill>
                  <a:srgbClr val="000000"/>
                </a:solidFill>
                <a:latin typeface="맑은 고딕"/>
                <a:ea typeface="맑은 고딕"/>
              </a:rPr>
              <a:t> —</a:t>
            </a:r>
            <a:r>
              <a:rPr sz="1600" b="0">
                <a:solidFill>
                  <a:srgbClr val="000000"/>
                </a:solidFill>
                <a:latin typeface="맑은 고딕"/>
                <a:ea typeface="맑은 고딕"/>
              </a:rPr>
              <a:t> 응집도와 결합도, 단일 책임, 의존성 역전</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배치</a:t>
            </a:r>
            <a:r>
              <a:rPr sz="1800" b="0">
                <a:solidFill>
                  <a:srgbClr val="000000"/>
                </a:solidFill>
                <a:latin typeface="맑은 고딕"/>
                <a:ea typeface="맑은 고딕"/>
              </a:rPr>
              <a:t> —</a:t>
            </a:r>
            <a:r>
              <a:rPr sz="1600" b="0">
                <a:solidFill>
                  <a:srgbClr val="000000"/>
                </a:solidFill>
                <a:latin typeface="맑은 고딕"/>
                <a:ea typeface="맑은 고딕"/>
              </a:rPr>
              <a:t> 업무가 포트를 소유하고 연동·영속이 구현한다</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규칙</a:t>
            </a:r>
            <a:r>
              <a:rPr sz="1800" b="0">
                <a:solidFill>
                  <a:srgbClr val="000000"/>
                </a:solidFill>
                <a:latin typeface="맑은 고딕"/>
                <a:ea typeface="맑은 고딕"/>
              </a:rPr>
              <a:t> —</a:t>
            </a:r>
            <a:r>
              <a:rPr sz="1600" b="0">
                <a:solidFill>
                  <a:srgbClr val="000000"/>
                </a:solidFill>
                <a:latin typeface="맑은 고딕"/>
                <a:ea typeface="맑은 고딕"/>
              </a:rPr>
              <a:t> 금지를 패키지 이름으로 적는다. 적지 않은 경계는 사라진다</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검증</a:t>
            </a:r>
            <a:r>
              <a:rPr sz="1800" b="0">
                <a:solidFill>
                  <a:srgbClr val="000000"/>
                </a:solidFill>
                <a:latin typeface="맑은 고딕"/>
                <a:ea typeface="맑은 고딕"/>
              </a:rPr>
              <a:t> —</a:t>
            </a:r>
            <a:r>
              <a:rPr sz="1600" b="0">
                <a:solidFill>
                  <a:srgbClr val="000000"/>
                </a:solidFill>
                <a:latin typeface="맑은 고딕"/>
                <a:ea typeface="맑은 고딕"/>
              </a:rPr>
              <a:t> 대역으로 업무 규칙을, 구조 검사로 규칙 위반을 확인한다</a:t>
            </a:r>
          </a:p>
          <a:p>
            <a:pPr marL="342900" indent="0">
              <a:spcBef>
                <a:spcPts val="600"/>
              </a:spcBef>
              <a:spcAft>
                <a:spcPts val="600"/>
              </a:spcAft>
              <a:buNone/>
            </a:pPr>
            <a:r>
              <a:rPr sz="1800" b="1">
                <a:solidFill>
                  <a:srgbClr val="000000"/>
                </a:solidFill>
                <a:latin typeface="맑은 고딕"/>
                <a:ea typeface="맑은 고딕"/>
              </a:rPr>
              <a:t>다음 세션</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a:t>
            </a:r>
            <a:r>
              <a:rPr sz="1800" b="1">
                <a:solidFill>
                  <a:srgbClr val="000000"/>
                </a:solidFill>
                <a:latin typeface="맑은 고딕"/>
                <a:ea typeface="맑은 고딕"/>
              </a:rPr>
              <a:t>07. 설계 —</a:t>
            </a:r>
            <a:r>
              <a:rPr sz="1600" b="1">
                <a:solidFill>
                  <a:srgbClr val="000000"/>
                </a:solidFill>
                <a:latin typeface="맑은 고딕"/>
                <a:ea typeface="맑은 고딕"/>
              </a:rPr>
              <a:t> 책임과 협력</a:t>
            </a:r>
            <a:r>
              <a:rPr sz="1600" b="0">
                <a:solidFill>
                  <a:srgbClr val="000000"/>
                </a:solidFill>
                <a:latin typeface="맑은 고딕"/>
                <a:ea typeface="맑은 고딕"/>
              </a:rPr>
              <a:t>" — 분석 모델에서 구현할 객체의 책임과 협력을 정하고, 한 번에 검증할 수 있는 작업 단위로 나눈다.</a:t>
            </a:r>
          </a:p>
        </p:txBody>
      </p:sp>
    </p:spTree>
    <p:extLst>
      <p:ext uri="{BB962C8B-B14F-4D97-AF65-F5344CB8AC3E}">
        <p14:creationId xmlns:p14="http://schemas.microsoft.com/office/powerpoint/2010/main" val="355543667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4F1F13-426B-086B-7D8C-9A58A0F879DB}"/>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AA26A92D-924E-0575-9551-F8FD7BFD3FAD}"/>
              </a:ext>
            </a:extLst>
          </p:cNvPr>
          <p:cNvSpPr>
            <a:spLocks noGrp="1"/>
          </p:cNvSpPr>
          <p:nvPr>
            <p:ph type="title"/>
          </p:nvPr>
        </p:nvSpPr>
        <p:spPr/>
        <p:txBody>
          <a:bodyPr/>
          <a:lstStyle/>
          <a:p>
            <a:r>
              <a:rPr sz="2400" b="1">
                <a:solidFill>
                  <a:srgbClr val="000000"/>
                </a:solidFill>
                <a:latin typeface="맑은 고딕"/>
                <a:ea typeface="맑은 고딕"/>
              </a:rPr>
              <a:t>“주문한다” 아키텍처 결정 </a:t>
            </a:r>
            <a:r>
              <a:rPr sz="2000" b="1">
                <a:solidFill>
                  <a:srgbClr val="000000"/>
                </a:solidFill>
                <a:latin typeface="맑은 고딕"/>
                <a:ea typeface="맑은 고딕"/>
              </a:rPr>
              <a:t>(1/5)</a:t>
            </a:r>
          </a:p>
          <a:p>
            <a:r>
              <a:rPr sz="1100" b="1">
                <a:solidFill>
                  <a:srgbClr val="000000"/>
                </a:solidFill>
                <a:latin typeface="맑은 고딕"/>
                <a:ea typeface="맑은 고딕"/>
              </a:rPr>
              <a:t>별첨. 실습 답</a:t>
            </a:r>
          </a:p>
        </p:txBody>
      </p:sp>
      <p:sp>
        <p:nvSpPr>
          <p:cNvPr id="3" name="슬라이드 번호 개체 틀 2">
            <a:extLst>
              <a:ext uri="{FF2B5EF4-FFF2-40B4-BE49-F238E27FC236}">
                <a16:creationId xmlns:a16="http://schemas.microsoft.com/office/drawing/2014/main" id="{12CF30EE-4DFD-8063-56B8-B8689E76DFCA}"/>
              </a:ext>
            </a:extLst>
          </p:cNvPr>
          <p:cNvSpPr>
            <a:spLocks noGrp="1"/>
          </p:cNvSpPr>
          <p:nvPr>
            <p:ph type="sldNum" sz="quarter" idx="10"/>
          </p:nvPr>
        </p:nvSpPr>
        <p:spPr/>
        <p:txBody>
          <a:bodyPr/>
          <a:lstStyle/>
          <a:p>
            <a:pPr>
              <a:defRPr/>
            </a:pPr>
            <a:r>
              <a:rPr lang="en-US" altLang="ko-KR">
                <a:solidFill>
                  <a:prstClr val="black"/>
                </a:solidFill>
              </a:rPr>
              <a:t>- 23 -</a:t>
            </a:r>
          </a:p>
        </p:txBody>
      </p:sp>
      <p:sp>
        <p:nvSpPr>
          <p:cNvPr id="5" name="텍스트 개체 틀 4">
            <a:extLst>
              <a:ext uri="{FF2B5EF4-FFF2-40B4-BE49-F238E27FC236}">
                <a16:creationId xmlns:a16="http://schemas.microsoft.com/office/drawing/2014/main" id="{D66274C8-E16F-5AEB-614B-D8D32DA3E8C6}"/>
              </a:ext>
            </a:extLst>
          </p:cNvPr>
          <p:cNvSpPr>
            <a:spLocks noGrp="1"/>
          </p:cNvSpPr>
          <p:nvPr>
            <p:ph type="body" sz="quarter" idx="11"/>
          </p:nvPr>
        </p:nvSpPr>
        <p:spPr/>
        <p:txBody>
          <a:bodyPr/>
          <a:lstStyle/>
          <a:p>
            <a:r>
              <a:rPr kumimoji="1" lang="en-US" altLang="ko-KR" sz="1400" dirty="0" err="1"/>
              <a:t>별첨: 06. 아키텍처</a:t>
            </a:r>
          </a:p>
        </p:txBody>
      </p:sp>
      <p:sp>
        <p:nvSpPr>
          <p:cNvPr id="6" name="텍스트 개체 틀 5">
            <a:extLst>
              <a:ext uri="{FF2B5EF4-FFF2-40B4-BE49-F238E27FC236}">
                <a16:creationId xmlns:a16="http://schemas.microsoft.com/office/drawing/2014/main" id="{A24E58E1-194B-A320-AEEE-24D08685BB6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A219F420-613B-6234-45F6-0955A9A4505F}"/>
              </a:ext>
            </a:extLst>
          </p:cNvPr>
          <p:cNvSpPr>
            <a:spLocks noGrp="1"/>
          </p:cNvSpPr>
          <p:nvPr>
            <p:ph type="body" sz="quarter" idx="13"/>
          </p:nvPr>
        </p:nvSpPr>
        <p:spPr/>
        <p:txBody>
          <a:bodyPr/>
          <a:lstStyle/>
          <a:p>
            <a:endParaRPr kumimoji="1" lang="en-US" altLang="ko-KR" dirty="0"/>
          </a:p>
        </p:txBody>
      </p:sp>
      <p:sp>
        <p:nvSpPr>
          <p:cNvPr id="8" name="내용 개체 틀 7">
            <a:extLst>
              <a:ext uri="{FF2B5EF4-FFF2-40B4-BE49-F238E27FC236}">
                <a16:creationId xmlns:a16="http://schemas.microsoft.com/office/drawing/2014/main" id="{BEBA2C4A-B0BF-F2E4-EA6E-614C99CBA184}"/>
              </a:ext>
            </a:extLst>
          </p:cNvPr>
          <p:cNvSpPr>
            <a:spLocks noGrp="1"/>
          </p:cNvSpPr>
          <p:nvPr>
            <p:ph idx="1"/>
          </p:nvPr>
        </p:nvSpPr>
        <p:spPr>
          <a:xfrm>
            <a:off x="365760" y="960120"/>
            <a:ext cx="8412480" cy="2514600"/>
          </a:xfrm>
        </p:spPr>
        <p:txBody>
          <a:bodyPr>
            <a:normAutofit/>
          </a:bodyPr>
          <a:lstStyle/>
          <a:p>
            <a:pPr marL="322580" indent="-139700">
              <a:spcBef>
                <a:spcPts val="300"/>
              </a:spcBef>
              <a:spcAft>
                <a:spcPts val="300"/>
              </a:spcAft>
              <a:buNone/>
            </a:pPr>
            <a:r>
              <a:rPr sz="1000" b="1">
                <a:solidFill>
                  <a:srgbClr val="000000"/>
                </a:solidFill>
                <a:latin typeface="맑은 고딕"/>
                <a:ea typeface="맑은 고딕"/>
              </a:rPr>
              <a:t>1. 아키텍처 스타일과 근거</a:t>
            </a:r>
          </a:p>
          <a:p>
            <a:pPr marL="182880" indent="0">
              <a:spcBef>
                <a:spcPts val="300"/>
              </a:spcBef>
              <a:spcAft>
                <a:spcPts val="300"/>
              </a:spcAft>
              <a:buNone/>
            </a:pPr>
            <a:r>
              <a:rPr sz="1000" b="1">
                <a:solidFill>
                  <a:srgbClr val="000000"/>
                </a:solidFill>
                <a:latin typeface="맑은 고딕"/>
                <a:ea typeface="맑은 고딕"/>
              </a:rPr>
              <a:t>포트와 어댑터 구조를 적용한 모듈러 모놀리스</a:t>
            </a:r>
            <a:r>
              <a:rPr sz="1000" b="0">
                <a:solidFill>
                  <a:srgbClr val="000000"/>
                </a:solidFill>
                <a:latin typeface="맑은 고딕"/>
                <a:ea typeface="맑은 고딕"/>
              </a:rPr>
              <a:t>를 선택한다.</a:t>
            </a:r>
          </a:p>
          <a:p>
            <a:pPr lvl="2" marL="411480" indent="-137160">
              <a:spcBef>
                <a:spcPts val="300"/>
              </a:spcBef>
              <a:spcAft>
                <a:spcPts val="300"/>
              </a:spcAft>
              <a:buSzPct val="90000"/>
              <a:buFont typeface="Wingdings" pitchFamily="2" charset="2"/>
              <a:buChar char=""/>
            </a:pPr>
            <a:r>
              <a:rPr sz="1000" b="1">
                <a:solidFill>
                  <a:srgbClr val="000000"/>
                </a:solidFill>
                <a:latin typeface="맑은 고딕"/>
                <a:ea typeface="맑은 고딕"/>
              </a:rPr>
              <a:t>배포:</a:t>
            </a:r>
            <a:r>
              <a:rPr sz="1000" b="0">
                <a:solidFill>
                  <a:srgbClr val="000000"/>
                </a:solidFill>
                <a:latin typeface="맑은 고딕"/>
                <a:ea typeface="맑은 고딕"/>
              </a:rPr>
              <a:t> 독립 배포 요구가 없으므로 하나의 배포 단위로 둔다.</a:t>
            </a:r>
          </a:p>
          <a:p>
            <a:pPr lvl="2" marL="411480" indent="-137160">
              <a:spcBef>
                <a:spcPts val="300"/>
              </a:spcBef>
              <a:spcAft>
                <a:spcPts val="300"/>
              </a:spcAft>
              <a:buSzPct val="90000"/>
              <a:buFont typeface="Wingdings" pitchFamily="2" charset="2"/>
              <a:buChar char=""/>
            </a:pPr>
            <a:r>
              <a:rPr sz="1000" b="1">
                <a:solidFill>
                  <a:srgbClr val="000000"/>
                </a:solidFill>
                <a:latin typeface="맑은 고딕"/>
                <a:ea typeface="맑은 고딕"/>
              </a:rPr>
              <a:t>조직:</a:t>
            </a:r>
            <a:r>
              <a:rPr sz="1000" b="0">
                <a:solidFill>
                  <a:srgbClr val="000000"/>
                </a:solidFill>
                <a:latin typeface="맑은 고딕"/>
                <a:ea typeface="맑은 고딕"/>
              </a:rPr>
              <a:t> 업무별 독립 팀이나 별도 출시 주기가 제시되지 않았으므로 마이크로서비스로 분리하지 않는다.</a:t>
            </a:r>
          </a:p>
          <a:p>
            <a:pPr lvl="2" marL="411480" indent="-137160">
              <a:spcBef>
                <a:spcPts val="300"/>
              </a:spcBef>
              <a:spcAft>
                <a:spcPts val="300"/>
              </a:spcAft>
              <a:buSzPct val="90000"/>
              <a:buFont typeface="Wingdings" pitchFamily="2" charset="2"/>
              <a:buChar char=""/>
            </a:pPr>
            <a:r>
              <a:rPr sz="1000" b="1">
                <a:solidFill>
                  <a:srgbClr val="000000"/>
                </a:solidFill>
                <a:latin typeface="맑은 고딕"/>
                <a:ea typeface="맑은 고딕"/>
              </a:rPr>
              <a:t>변경:</a:t>
            </a:r>
            <a:r>
              <a:rPr sz="1000" b="0">
                <a:solidFill>
                  <a:srgbClr val="000000"/>
                </a:solidFill>
                <a:latin typeface="맑은 고딕"/>
                <a:ea typeface="맑은 고딕"/>
              </a:rPr>
              <a:t> 주문 규칙과 외부 시스템의 변경 이유가 다르므로 업무 패키지가 출력 포트를 소유하고 연동·영속 패키지가 구현한다.</a:t>
            </a:r>
          </a:p>
          <a:p>
            <a:pPr marL="322580" indent="-139700">
              <a:spcBef>
                <a:spcPts val="300"/>
              </a:spcBef>
              <a:spcAft>
                <a:spcPts val="300"/>
              </a:spcAft>
              <a:buNone/>
            </a:pPr>
            <a:r>
              <a:rPr sz="1000" b="1">
                <a:solidFill>
                  <a:srgbClr val="000000"/>
                </a:solidFill>
                <a:latin typeface="맑은 고딕"/>
                <a:ea typeface="맑은 고딕"/>
              </a:rPr>
              <a:t>2. 패키지 다이어그램과 포트 배치</a:t>
            </a:r>
          </a:p>
          <a:p>
            <a:pPr marL="182880" indent="0">
              <a:spcBef>
                <a:spcPts val="300"/>
              </a:spcBef>
              <a:spcAft>
                <a:spcPts val="300"/>
              </a:spcAft>
              <a:buNone/>
            </a:pPr>
            <a:r>
              <a:rPr sz="1000" b="1">
                <a:solidFill>
                  <a:srgbClr val="000000"/>
                </a:solidFill>
                <a:latin typeface="맑은 고딕"/>
                <a:ea typeface="맑은 고딕"/>
              </a:rPr>
              <a:t>2.1 업무 경계</a:t>
            </a:r>
          </a:p>
          <a:p>
            <a:pPr lvl="2" marL="411480" indent="-137160">
              <a:spcBef>
                <a:spcPts val="300"/>
              </a:spcBef>
              <a:spcAft>
                <a:spcPts val="300"/>
              </a:spcAft>
              <a:buSzPct val="90000"/>
              <a:buFont typeface="Wingdings" pitchFamily="2" charset="2"/>
              <a:buChar char=""/>
            </a:pPr>
            <a:r>
              <a:rPr sz="1000" b="0">
                <a:solidFill>
                  <a:srgbClr val="000000"/>
                </a:solidFill>
                <a:latin typeface="맑은 고딕"/>
                <a:ea typeface="맑은 고딕"/>
              </a:rPr>
              <a:t>이 그림은 도메인 모델을 입력으로 삼아 업무 개념과 출력 포트가 어느 패키지 경계에 속하는지 보여 준다.</a:t>
            </a:r>
          </a:p>
        </p:txBody>
      </p:sp>
      <p:pic>
        <p:nvPicPr>
          <p:cNvPr id="9" name="svg Diagram 1"/>
          <p:cNvPicPr>
            <a:picLocks noChangeAspect="1"/>
          </p:cNvPicPr>
          <p:nvPr/>
        </p:nvPicPr>
        <p:blipFill>
          <a:blip r:embed="svgImage1"/>
          <a:stretch>
            <a:fillRect/>
          </a:stretch>
        </p:blipFill>
        <p:spPr>
          <a:xfrm>
            <a:off x="1306286" y="2830062"/>
            <a:ext cx="6531429" cy="2551339"/>
          </a:xfrm>
          <a:prstGeom prst="rect">
            <a:avLst/>
          </a:prstGeom>
        </p:spPr>
      </p:pic>
    </p:spTree>
    <p:extLst>
      <p:ext uri="{BB962C8B-B14F-4D97-AF65-F5344CB8AC3E}">
        <p14:creationId xmlns:p14="http://schemas.microsoft.com/office/powerpoint/2010/main" val="355543667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4F1F13-426B-086B-7D8C-9A58A0F879DB}"/>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AA26A92D-924E-0575-9551-F8FD7BFD3FAD}"/>
              </a:ext>
            </a:extLst>
          </p:cNvPr>
          <p:cNvSpPr>
            <a:spLocks noGrp="1"/>
          </p:cNvSpPr>
          <p:nvPr>
            <p:ph type="title"/>
          </p:nvPr>
        </p:nvSpPr>
        <p:spPr/>
        <p:txBody>
          <a:bodyPr/>
          <a:lstStyle/>
          <a:p>
            <a:r>
              <a:rPr sz="2400" b="1">
                <a:solidFill>
                  <a:srgbClr val="000000"/>
                </a:solidFill>
                <a:latin typeface="맑은 고딕"/>
                <a:ea typeface="맑은 고딕"/>
              </a:rPr>
              <a:t>“주문한다” 아키텍처 결정 </a:t>
            </a:r>
            <a:r>
              <a:rPr sz="2000" b="1">
                <a:solidFill>
                  <a:srgbClr val="000000"/>
                </a:solidFill>
                <a:latin typeface="맑은 고딕"/>
                <a:ea typeface="맑은 고딕"/>
              </a:rPr>
              <a:t>(2/5)</a:t>
            </a:r>
          </a:p>
          <a:p>
            <a:r>
              <a:rPr sz="1100" b="1">
                <a:solidFill>
                  <a:srgbClr val="000000"/>
                </a:solidFill>
                <a:latin typeface="맑은 고딕"/>
                <a:ea typeface="맑은 고딕"/>
              </a:rPr>
              <a:t>별첨. 실습 답</a:t>
            </a:r>
          </a:p>
        </p:txBody>
      </p:sp>
      <p:sp>
        <p:nvSpPr>
          <p:cNvPr id="3" name="슬라이드 번호 개체 틀 2">
            <a:extLst>
              <a:ext uri="{FF2B5EF4-FFF2-40B4-BE49-F238E27FC236}">
                <a16:creationId xmlns:a16="http://schemas.microsoft.com/office/drawing/2014/main" id="{12CF30EE-4DFD-8063-56B8-B8689E76DFCA}"/>
              </a:ext>
            </a:extLst>
          </p:cNvPr>
          <p:cNvSpPr>
            <a:spLocks noGrp="1"/>
          </p:cNvSpPr>
          <p:nvPr>
            <p:ph type="sldNum" sz="quarter" idx="10"/>
          </p:nvPr>
        </p:nvSpPr>
        <p:spPr/>
        <p:txBody>
          <a:bodyPr/>
          <a:lstStyle/>
          <a:p>
            <a:pPr>
              <a:defRPr/>
            </a:pPr>
            <a:r>
              <a:rPr lang="en-US" altLang="ko-KR">
                <a:solidFill>
                  <a:prstClr val="black"/>
                </a:solidFill>
              </a:rPr>
              <a:t>- 24 -</a:t>
            </a:r>
          </a:p>
        </p:txBody>
      </p:sp>
      <p:sp>
        <p:nvSpPr>
          <p:cNvPr id="5" name="텍스트 개체 틀 4">
            <a:extLst>
              <a:ext uri="{FF2B5EF4-FFF2-40B4-BE49-F238E27FC236}">
                <a16:creationId xmlns:a16="http://schemas.microsoft.com/office/drawing/2014/main" id="{D66274C8-E16F-5AEB-614B-D8D32DA3E8C6}"/>
              </a:ext>
            </a:extLst>
          </p:cNvPr>
          <p:cNvSpPr>
            <a:spLocks noGrp="1"/>
          </p:cNvSpPr>
          <p:nvPr>
            <p:ph type="body" sz="quarter" idx="11"/>
          </p:nvPr>
        </p:nvSpPr>
        <p:spPr/>
        <p:txBody>
          <a:bodyPr/>
          <a:lstStyle/>
          <a:p>
            <a:r>
              <a:rPr kumimoji="1" lang="en-US" altLang="ko-KR" sz="1400" dirty="0" err="1"/>
              <a:t>별첨: 06. 아키텍처</a:t>
            </a:r>
          </a:p>
        </p:txBody>
      </p:sp>
      <p:sp>
        <p:nvSpPr>
          <p:cNvPr id="6" name="텍스트 개체 틀 5">
            <a:extLst>
              <a:ext uri="{FF2B5EF4-FFF2-40B4-BE49-F238E27FC236}">
                <a16:creationId xmlns:a16="http://schemas.microsoft.com/office/drawing/2014/main" id="{A24E58E1-194B-A320-AEEE-24D08685BB6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A219F420-613B-6234-45F6-0955A9A4505F}"/>
              </a:ext>
            </a:extLst>
          </p:cNvPr>
          <p:cNvSpPr>
            <a:spLocks noGrp="1"/>
          </p:cNvSpPr>
          <p:nvPr>
            <p:ph type="body" sz="quarter" idx="13"/>
          </p:nvPr>
        </p:nvSpPr>
        <p:spPr/>
        <p:txBody>
          <a:bodyPr/>
          <a:lstStyle/>
          <a:p>
            <a:endParaRPr kumimoji="1" lang="en-US" altLang="ko-KR" dirty="0"/>
          </a:p>
        </p:txBody>
      </p:sp>
      <p:sp>
        <p:nvSpPr>
          <p:cNvPr id="8" name="내용 개체 틀 7">
            <a:extLst>
              <a:ext uri="{FF2B5EF4-FFF2-40B4-BE49-F238E27FC236}">
                <a16:creationId xmlns:a16="http://schemas.microsoft.com/office/drawing/2014/main" id="{BEBA2C4A-B0BF-F2E4-EA6E-614C99CBA184}"/>
              </a:ext>
            </a:extLst>
          </p:cNvPr>
          <p:cNvSpPr>
            <a:spLocks noGrp="1"/>
          </p:cNvSpPr>
          <p:nvPr>
            <p:ph idx="1"/>
          </p:nvPr>
        </p:nvSpPr>
        <p:spPr>
          <a:xfrm>
            <a:off x="365760" y="960120"/>
            <a:ext cx="8412480" cy="2514600"/>
          </a:xfrm>
        </p:spPr>
        <p:txBody>
          <a:bodyPr>
            <a:normAutofit/>
          </a:bodyPr>
          <a:lstStyle/>
          <a:p>
            <a:pPr lvl="2" marL="411480" indent="-137160">
              <a:spcBef>
                <a:spcPts val="300"/>
              </a:spcBef>
              <a:spcAft>
                <a:spcPts val="300"/>
              </a:spcAft>
              <a:buSzPct val="90000"/>
              <a:buFont typeface="Wingdings" pitchFamily="2" charset="2"/>
              <a:buChar char=""/>
            </a:pPr>
            <a:r>
              <a:rPr sz="1000" b="0">
                <a:solidFill>
                  <a:srgbClr val="000000"/>
                </a:solidFill>
                <a:latin typeface="맑은 고딕"/>
                <a:ea typeface="맑은 고딕"/>
              </a:rPr>
              <a:t>범례:</a:t>
            </a:r>
          </a:p>
          <a:p>
            <a:pPr lvl="3" marL="731520" indent="-137160">
              <a:spcBef>
                <a:spcPts val="300"/>
              </a:spcBef>
              <a:spcAft>
                <a:spcPts val="300"/>
              </a:spcAft>
              <a:buSzPct val="90000"/>
              <a:buFont typeface="Wingdings" pitchFamily="2" charset="2"/>
              <a:buChar char=""/>
            </a:pPr>
            <a:r>
              <a:rPr sz="1000" b="0">
                <a:solidFill>
                  <a:srgbClr val="000000"/>
                </a:solidFill>
                <a:latin typeface="맑은 고딕"/>
                <a:ea typeface="맑은 고딕"/>
              </a:rPr>
              <a:t>화살촉 없는 실선은 실습 4에서 확인한 </a:t>
            </a:r>
            <a:r>
              <a:rPr sz="1000" b="0">
                <a:solidFill>
                  <a:srgbClr val="000000"/>
                </a:solidFill>
                <a:latin typeface="맑은 고딕"/>
                <a:ea typeface="맑은 고딕"/>
              </a:rPr>
              <a:t>Order</a:t>
            </a:r>
            <a:r>
              <a:rPr sz="1000" b="0">
                <a:solidFill>
                  <a:srgbClr val="000000"/>
                </a:solidFill>
                <a:latin typeface="맑은 고딕"/>
                <a:ea typeface="맑은 고딕"/>
              </a:rPr>
              <a:t>—</a:t>
            </a:r>
            <a:r>
              <a:rPr sz="1000" b="0">
                <a:solidFill>
                  <a:srgbClr val="000000"/>
                </a:solidFill>
                <a:latin typeface="맑은 고딕"/>
                <a:ea typeface="맑은 고딕"/>
              </a:rPr>
              <a:t>OrderItem</a:t>
            </a:r>
            <a:r>
              <a:rPr sz="1000" b="0">
                <a:solidFill>
                  <a:srgbClr val="000000"/>
                </a:solidFill>
                <a:latin typeface="맑은 고딕"/>
                <a:ea typeface="맑은 고딕"/>
              </a:rPr>
              <a:t>, </a:t>
            </a:r>
            <a:r>
              <a:rPr sz="1000" b="0">
                <a:solidFill>
                  <a:srgbClr val="000000"/>
                </a:solidFill>
                <a:latin typeface="맑은 고딕"/>
                <a:ea typeface="맑은 고딕"/>
              </a:rPr>
              <a:t>OrderItem</a:t>
            </a:r>
            <a:r>
              <a:rPr sz="1000" b="0">
                <a:solidFill>
                  <a:srgbClr val="000000"/>
                </a:solidFill>
                <a:latin typeface="맑은 고딕"/>
                <a:ea typeface="맑은 고딕"/>
              </a:rPr>
              <a:t>—</a:t>
            </a:r>
            <a:r>
              <a:rPr sz="1000" b="0">
                <a:solidFill>
                  <a:srgbClr val="000000"/>
                </a:solidFill>
                <a:latin typeface="맑은 고딕"/>
                <a:ea typeface="맑은 고딕"/>
              </a:rPr>
              <a:t>Product</a:t>
            </a:r>
            <a:r>
              <a:rPr sz="1000" b="0">
                <a:solidFill>
                  <a:srgbClr val="000000"/>
                </a:solidFill>
                <a:latin typeface="맑은 고딕"/>
                <a:ea typeface="맑은 고딕"/>
              </a:rPr>
              <a:t>의 </a:t>
            </a:r>
            <a:r>
              <a:rPr sz="1000" b="1">
                <a:solidFill>
                  <a:srgbClr val="000000"/>
                </a:solidFill>
                <a:latin typeface="맑은 고딕"/>
                <a:ea typeface="맑은 고딕"/>
              </a:rPr>
              <a:t>업무 연관</a:t>
            </a:r>
            <a:r>
              <a:rPr sz="1000" b="0">
                <a:solidFill>
                  <a:srgbClr val="000000"/>
                </a:solidFill>
                <a:latin typeface="맑은 고딕"/>
                <a:ea typeface="맑은 고딕"/>
              </a:rPr>
              <a:t>이다. Java 객체 참조, 탐색 방향 및 저장 방식은 정하지 않는다.</a:t>
            </a:r>
          </a:p>
          <a:p>
            <a:pPr lvl="3" marL="731520" indent="-137160">
              <a:spcBef>
                <a:spcPts val="300"/>
              </a:spcBef>
              <a:spcAft>
                <a:spcPts val="300"/>
              </a:spcAft>
              <a:buSzPct val="90000"/>
              <a:buFont typeface="Wingdings" pitchFamily="2" charset="2"/>
              <a:buChar char=""/>
            </a:pPr>
            <a:r>
              <a:rPr sz="1000" b="0">
                <a:solidFill>
                  <a:srgbClr val="000000"/>
                </a:solidFill>
                <a:latin typeface="맑은 고딕"/>
                <a:ea typeface="맑은 고딕"/>
              </a:rPr>
              <a:t>패키지 사이의 점선 화살표는 </a:t>
            </a:r>
            <a:r>
              <a:rPr sz="1000" b="0">
                <a:solidFill>
                  <a:srgbClr val="000000"/>
                </a:solidFill>
                <a:latin typeface="맑은 고딕"/>
                <a:ea typeface="맑은 고딕"/>
              </a:rPr>
              <a:t>order</a:t>
            </a:r>
            <a:r>
              <a:rPr sz="1000" b="0">
                <a:solidFill>
                  <a:srgbClr val="000000"/>
                </a:solidFill>
                <a:latin typeface="맑은 고딕"/>
                <a:ea typeface="맑은 고딕"/>
              </a:rPr>
              <a:t>에서 </a:t>
            </a:r>
            <a:r>
              <a:rPr sz="1000" b="0">
                <a:solidFill>
                  <a:srgbClr val="000000"/>
                </a:solidFill>
                <a:latin typeface="맑은 고딕"/>
                <a:ea typeface="맑은 고딕"/>
              </a:rPr>
              <a:t>payment</a:t>
            </a:r>
            <a:r>
              <a:rPr sz="1000" b="0">
                <a:solidFill>
                  <a:srgbClr val="000000"/>
                </a:solidFill>
                <a:latin typeface="맑은 고딕"/>
                <a:ea typeface="맑은 고딕"/>
              </a:rPr>
              <a:t>, </a:t>
            </a:r>
            <a:r>
              <a:rPr sz="1000" b="0">
                <a:solidFill>
                  <a:srgbClr val="000000"/>
                </a:solidFill>
                <a:latin typeface="맑은 고딕"/>
                <a:ea typeface="맑은 고딕"/>
              </a:rPr>
              <a:t>delivery</a:t>
            </a:r>
            <a:r>
              <a:rPr sz="1000" b="0">
                <a:solidFill>
                  <a:srgbClr val="000000"/>
                </a:solidFill>
                <a:latin typeface="맑은 고딕"/>
                <a:ea typeface="맑은 고딕"/>
              </a:rPr>
              <a:t>, </a:t>
            </a:r>
            <a:r>
              <a:rPr sz="1000" b="0">
                <a:solidFill>
                  <a:srgbClr val="000000"/>
                </a:solidFill>
                <a:latin typeface="맑은 고딕"/>
                <a:ea typeface="맑은 고딕"/>
              </a:rPr>
              <a:t>product</a:t>
            </a:r>
            <a:r>
              <a:rPr sz="1000" b="0">
                <a:solidFill>
                  <a:srgbClr val="000000"/>
                </a:solidFill>
                <a:latin typeface="맑은 고딕"/>
                <a:ea typeface="맑은 고딕"/>
              </a:rPr>
              <a:t>로 향하는 </a:t>
            </a:r>
            <a:r>
              <a:rPr sz="1000" b="1">
                <a:solidFill>
                  <a:srgbClr val="000000"/>
                </a:solidFill>
                <a:latin typeface="맑은 고딕"/>
                <a:ea typeface="맑은 고딕"/>
              </a:rPr>
              <a:t>설계상 코드 의존</a:t>
            </a:r>
            <a:r>
              <a:rPr sz="1000" b="0">
                <a:solidFill>
                  <a:srgbClr val="000000"/>
                </a:solidFill>
                <a:latin typeface="맑은 고딕"/>
                <a:ea typeface="맑은 고딕"/>
              </a:rPr>
              <a:t>이다.</a:t>
            </a:r>
          </a:p>
          <a:p>
            <a:pPr lvl="3" marL="731520" indent="-137160">
              <a:spcBef>
                <a:spcPts val="300"/>
              </a:spcBef>
              <a:spcAft>
                <a:spcPts val="300"/>
              </a:spcAft>
              <a:buSzPct val="90000"/>
              <a:buFont typeface="Wingdings" pitchFamily="2" charset="2"/>
              <a:buChar char=""/>
            </a:pPr>
            <a:r>
              <a:rPr sz="1000" b="0">
                <a:solidFill>
                  <a:srgbClr val="000000"/>
                </a:solidFill>
                <a:latin typeface="맑은 고딕"/>
                <a:ea typeface="맑은 고딕"/>
              </a:rPr>
              <a:t>특정 </a:t>
            </a:r>
            <a:r>
              <a:rPr sz="1000" b="0">
                <a:solidFill>
                  <a:srgbClr val="000000"/>
                </a:solidFill>
                <a:latin typeface="맑은 고딕"/>
                <a:ea typeface="맑은 고딕"/>
              </a:rPr>
              <a:t>Order</a:t>
            </a:r>
            <a:r>
              <a:rPr sz="1000" b="0">
                <a:solidFill>
                  <a:srgbClr val="000000"/>
                </a:solidFill>
                <a:latin typeface="맑은 고딕"/>
                <a:ea typeface="맑은 고딕"/>
              </a:rPr>
              <a:t> 객체에서 외부 포트로 향하는 호출 관계는 나타내지 않는다. 포트를 호출할 구체 객체와 그 책임은 다음 설계 활동에서 정한다.</a:t>
            </a:r>
          </a:p>
          <a:p>
            <a:pPr lvl="3" marL="731520" indent="-137160">
              <a:spcBef>
                <a:spcPts val="300"/>
              </a:spcBef>
              <a:spcAft>
                <a:spcPts val="300"/>
              </a:spcAft>
              <a:buSzPct val="90000"/>
              <a:buFont typeface="Wingdings" pitchFamily="2" charset="2"/>
              <a:buChar char=""/>
            </a:pPr>
            <a:r>
              <a:rPr sz="1000" b="0">
                <a:solidFill>
                  <a:srgbClr val="000000"/>
                </a:solidFill>
                <a:latin typeface="맑은 고딕"/>
                <a:ea typeface="맑은 고딕"/>
              </a:rPr>
              <a:t>그림에 배치한 클래스와 포트는 패키지 경계를 보여 주기 위한 대표 요소이며 도메인 모델 전체를 대체하지 않는다.</a:t>
            </a:r>
          </a:p>
          <a:p>
            <a:pPr marL="182880" indent="0">
              <a:spcBef>
                <a:spcPts val="300"/>
              </a:spcBef>
              <a:spcAft>
                <a:spcPts val="300"/>
              </a:spcAft>
              <a:buNone/>
            </a:pPr>
            <a:r>
              <a:rPr sz="1000" b="1">
                <a:solidFill>
                  <a:srgbClr val="000000"/>
                </a:solidFill>
                <a:latin typeface="맑은 고딕"/>
                <a:ea typeface="맑은 고딕"/>
              </a:rPr>
              <a:t>2.2 포트의 구현</a:t>
            </a:r>
          </a:p>
          <a:p>
            <a:pPr lvl="2" marL="411480" indent="-137160">
              <a:spcBef>
                <a:spcPts val="300"/>
              </a:spcBef>
              <a:spcAft>
                <a:spcPts val="300"/>
              </a:spcAft>
              <a:buSzPct val="90000"/>
              <a:buFont typeface="Wingdings" pitchFamily="2" charset="2"/>
              <a:buChar char=""/>
            </a:pPr>
            <a:r>
              <a:rPr sz="1000" b="0">
                <a:solidFill>
                  <a:srgbClr val="000000"/>
                </a:solidFill>
                <a:latin typeface="맑은 고딕"/>
                <a:ea typeface="맑은 고딕"/>
              </a:rPr>
              <a:t>이 그림은 업무 패키지가 소유한 포트를 어느 연동·영속 클래스가 구현하는지 보여 준다.</a:t>
            </a:r>
          </a:p>
        </p:txBody>
      </p:sp>
      <p:pic>
        <p:nvPicPr>
          <p:cNvPr id="9" name="svg Diagram 2"/>
          <p:cNvPicPr>
            <a:picLocks noChangeAspect="1"/>
          </p:cNvPicPr>
          <p:nvPr/>
        </p:nvPicPr>
        <p:blipFill>
          <a:blip r:embed="svgImage2"/>
          <a:stretch>
            <a:fillRect/>
          </a:stretch>
        </p:blipFill>
        <p:spPr>
          <a:xfrm>
            <a:off x="1306286" y="2813135"/>
            <a:ext cx="6531429" cy="2925536"/>
          </a:xfrm>
          <a:prstGeom prst="rect">
            <a:avLst/>
          </a:prstGeom>
        </p:spPr>
      </p:pic>
    </p:spTree>
    <p:extLst>
      <p:ext uri="{BB962C8B-B14F-4D97-AF65-F5344CB8AC3E}">
        <p14:creationId xmlns:p14="http://schemas.microsoft.com/office/powerpoint/2010/main" val="355543667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4F1F13-426B-086B-7D8C-9A58A0F879DB}"/>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AA26A92D-924E-0575-9551-F8FD7BFD3FAD}"/>
              </a:ext>
            </a:extLst>
          </p:cNvPr>
          <p:cNvSpPr>
            <a:spLocks noGrp="1"/>
          </p:cNvSpPr>
          <p:nvPr>
            <p:ph type="title"/>
          </p:nvPr>
        </p:nvSpPr>
        <p:spPr/>
        <p:txBody>
          <a:bodyPr/>
          <a:lstStyle/>
          <a:p>
            <a:r>
              <a:rPr sz="2400" b="1">
                <a:solidFill>
                  <a:srgbClr val="000000"/>
                </a:solidFill>
                <a:latin typeface="맑은 고딕"/>
                <a:ea typeface="맑은 고딕"/>
              </a:rPr>
              <a:t>“주문한다” 아키텍처 결정 </a:t>
            </a:r>
            <a:r>
              <a:rPr sz="2000" b="1">
                <a:solidFill>
                  <a:srgbClr val="000000"/>
                </a:solidFill>
                <a:latin typeface="맑은 고딕"/>
                <a:ea typeface="맑은 고딕"/>
              </a:rPr>
              <a:t>(3/5)</a:t>
            </a:r>
          </a:p>
          <a:p>
            <a:r>
              <a:rPr sz="1100" b="1">
                <a:solidFill>
                  <a:srgbClr val="000000"/>
                </a:solidFill>
                <a:latin typeface="맑은 고딕"/>
                <a:ea typeface="맑은 고딕"/>
              </a:rPr>
              <a:t>별첨. 실습 답</a:t>
            </a:r>
          </a:p>
        </p:txBody>
      </p:sp>
      <p:sp>
        <p:nvSpPr>
          <p:cNvPr id="3" name="슬라이드 번호 개체 틀 2">
            <a:extLst>
              <a:ext uri="{FF2B5EF4-FFF2-40B4-BE49-F238E27FC236}">
                <a16:creationId xmlns:a16="http://schemas.microsoft.com/office/drawing/2014/main" id="{12CF30EE-4DFD-8063-56B8-B8689E76DFCA}"/>
              </a:ext>
            </a:extLst>
          </p:cNvPr>
          <p:cNvSpPr>
            <a:spLocks noGrp="1"/>
          </p:cNvSpPr>
          <p:nvPr>
            <p:ph type="sldNum" sz="quarter" idx="10"/>
          </p:nvPr>
        </p:nvSpPr>
        <p:spPr/>
        <p:txBody>
          <a:bodyPr/>
          <a:lstStyle/>
          <a:p>
            <a:pPr>
              <a:defRPr/>
            </a:pPr>
            <a:r>
              <a:rPr lang="en-US" altLang="ko-KR">
                <a:solidFill>
                  <a:prstClr val="black"/>
                </a:solidFill>
              </a:rPr>
              <a:t>- 25 -</a:t>
            </a:r>
          </a:p>
        </p:txBody>
      </p:sp>
      <p:sp>
        <p:nvSpPr>
          <p:cNvPr id="5" name="텍스트 개체 틀 4">
            <a:extLst>
              <a:ext uri="{FF2B5EF4-FFF2-40B4-BE49-F238E27FC236}">
                <a16:creationId xmlns:a16="http://schemas.microsoft.com/office/drawing/2014/main" id="{D66274C8-E16F-5AEB-614B-D8D32DA3E8C6}"/>
              </a:ext>
            </a:extLst>
          </p:cNvPr>
          <p:cNvSpPr>
            <a:spLocks noGrp="1"/>
          </p:cNvSpPr>
          <p:nvPr>
            <p:ph type="body" sz="quarter" idx="11"/>
          </p:nvPr>
        </p:nvSpPr>
        <p:spPr/>
        <p:txBody>
          <a:bodyPr/>
          <a:lstStyle/>
          <a:p>
            <a:r>
              <a:rPr kumimoji="1" lang="en-US" altLang="ko-KR" sz="1400" dirty="0" err="1"/>
              <a:t>별첨: 06. 아키텍처</a:t>
            </a:r>
          </a:p>
        </p:txBody>
      </p:sp>
      <p:sp>
        <p:nvSpPr>
          <p:cNvPr id="6" name="텍스트 개체 틀 5">
            <a:extLst>
              <a:ext uri="{FF2B5EF4-FFF2-40B4-BE49-F238E27FC236}">
                <a16:creationId xmlns:a16="http://schemas.microsoft.com/office/drawing/2014/main" id="{A24E58E1-194B-A320-AEEE-24D08685BB6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A219F420-613B-6234-45F6-0955A9A4505F}"/>
              </a:ext>
            </a:extLst>
          </p:cNvPr>
          <p:cNvSpPr>
            <a:spLocks noGrp="1"/>
          </p:cNvSpPr>
          <p:nvPr>
            <p:ph type="body" sz="quarter" idx="13"/>
          </p:nvPr>
        </p:nvSpPr>
        <p:spPr/>
        <p:txBody>
          <a:bodyPr/>
          <a:lstStyle/>
          <a:p>
            <a:endParaRPr kumimoji="1" lang="en-US" altLang="ko-KR" dirty="0"/>
          </a:p>
        </p:txBody>
      </p:sp>
      <p:sp>
        <p:nvSpPr>
          <p:cNvPr id="8" name="내용 개체 틀 7">
            <a:extLst>
              <a:ext uri="{FF2B5EF4-FFF2-40B4-BE49-F238E27FC236}">
                <a16:creationId xmlns:a16="http://schemas.microsoft.com/office/drawing/2014/main" id="{BEBA2C4A-B0BF-F2E4-EA6E-614C99CBA184}"/>
              </a:ext>
            </a:extLst>
          </p:cNvPr>
          <p:cNvSpPr>
            <a:spLocks noGrp="1"/>
          </p:cNvSpPr>
          <p:nvPr>
            <p:ph idx="1"/>
          </p:nvPr>
        </p:nvSpPr>
        <p:spPr/>
        <p:txBody>
          <a:bodyPr>
            <a:normAutofit/>
          </a:bodyPr>
          <a:lstStyle/>
          <a:p>
            <a:pPr lvl="2" marL="411480" indent="-137160">
              <a:spcBef>
                <a:spcPts val="300"/>
              </a:spcBef>
              <a:spcAft>
                <a:spcPts val="300"/>
              </a:spcAft>
              <a:buSzPct val="90000"/>
              <a:buFont typeface="Wingdings" pitchFamily="2" charset="2"/>
              <a:buChar char=""/>
            </a:pPr>
            <a:r>
              <a:rPr sz="1000" b="0">
                <a:solidFill>
                  <a:srgbClr val="000000"/>
                </a:solidFill>
                <a:latin typeface="맑은 고딕"/>
                <a:ea typeface="맑은 고딕"/>
              </a:rPr>
              <a:t>범례:</a:t>
            </a:r>
          </a:p>
          <a:p>
            <a:pPr lvl="3" marL="731520" indent="-137160">
              <a:spcBef>
                <a:spcPts val="300"/>
              </a:spcBef>
              <a:spcAft>
                <a:spcPts val="300"/>
              </a:spcAft>
              <a:buSzPct val="90000"/>
              <a:buFont typeface="Wingdings" pitchFamily="2" charset="2"/>
              <a:buChar char=""/>
            </a:pPr>
            <a:r>
              <a:rPr sz="1000" b="0">
                <a:solidFill>
                  <a:srgbClr val="000000"/>
                </a:solidFill>
                <a:latin typeface="맑은 고딕"/>
                <a:ea typeface="맑은 고딕"/>
              </a:rPr>
              <a:t>연동·영속 패키지에서 업무 포트로 향하는 점선 화살표는 포트 구현을 뜻한다. 외부 결제·배송 제공자는 시스템으로, 주문 저장소는 저장소로 구분한다.</a:t>
            </a:r>
          </a:p>
          <a:p>
            <a:pPr lvl="3" marL="731520" indent="-137160">
              <a:spcBef>
                <a:spcPts val="300"/>
              </a:spcBef>
              <a:spcAft>
                <a:spcPts val="300"/>
              </a:spcAft>
              <a:buSzPct val="90000"/>
              <a:buFont typeface="Wingdings" pitchFamily="2" charset="2"/>
              <a:buChar char=""/>
            </a:pPr>
            <a:r>
              <a:rPr sz="1000" b="0">
                <a:solidFill>
                  <a:srgbClr val="000000"/>
                </a:solidFill>
                <a:latin typeface="맑은 고딕"/>
                <a:ea typeface="맑은 고딕"/>
              </a:rPr>
              <a:t>product.ProductGateway</a:t>
            </a:r>
            <a:r>
              <a:rPr sz="1000" b="0">
                <a:solidFill>
                  <a:srgbClr val="000000"/>
                </a:solidFill>
                <a:latin typeface="맑은 고딕"/>
                <a:ea typeface="맑은 고딕"/>
              </a:rPr>
              <a:t>의 소유 경계는 첫 그림에 나타냈다. 외부 상품 시스템 연동 구현은 이번 범위 밖이므로 둘째 그림에는 넣지 않는다.</a:t>
            </a:r>
          </a:p>
          <a:p>
            <a:pPr marL="182880" indent="0">
              <a:spcBef>
                <a:spcPts val="300"/>
              </a:spcBef>
              <a:spcAft>
                <a:spcPts val="300"/>
              </a:spcAft>
              <a:buNone/>
            </a:pPr>
            <a:r>
              <a:rPr sz="1000" b="1">
                <a:solidFill>
                  <a:srgbClr val="000000"/>
                </a:solidFill>
                <a:latin typeface="맑은 고딕"/>
                <a:ea typeface="맑은 고딕"/>
              </a:rPr>
              <a:t>2.3 패키지별 배치</a:t>
            </a:r>
          </a:p>
          <a:p>
            <a:pPr lvl="2" marL="411480" indent="-137160">
              <a:spcBef>
                <a:spcPts val="300"/>
              </a:spcBef>
              <a:spcAft>
                <a:spcPts val="300"/>
              </a:spcAft>
              <a:buSzPct val="90000"/>
              <a:buFont typeface="Wingdings" pitchFamily="2" charset="2"/>
              <a:buChar char=""/>
            </a:pPr>
            <a:r>
              <a:rPr sz="1000" b="0">
                <a:solidFill>
                  <a:srgbClr val="000000"/>
                </a:solidFill>
                <a:latin typeface="맑은 고딕"/>
                <a:ea typeface="맑은 고딕"/>
              </a:rPr>
              <a:t>order</a:t>
            </a:r>
            <a:r>
              <a:rPr sz="1000" b="0">
                <a:solidFill>
                  <a:srgbClr val="000000"/>
                </a:solidFill>
                <a:latin typeface="맑은 고딕"/>
                <a:ea typeface="맑은 고딕"/>
              </a:rPr>
              <a:t>: </a:t>
            </a:r>
            <a:r>
              <a:rPr sz="1000" b="0">
                <a:solidFill>
                  <a:srgbClr val="000000"/>
                </a:solidFill>
                <a:latin typeface="맑은 고딕"/>
                <a:ea typeface="맑은 고딕"/>
              </a:rPr>
              <a:t>Order</a:t>
            </a:r>
            <a:r>
              <a:rPr sz="1000" b="0">
                <a:solidFill>
                  <a:srgbClr val="000000"/>
                </a:solidFill>
                <a:latin typeface="맑은 고딕"/>
                <a:ea typeface="맑은 고딕"/>
              </a:rPr>
              <a:t>, </a:t>
            </a:r>
            <a:r>
              <a:rPr sz="1000" b="0">
                <a:solidFill>
                  <a:srgbClr val="000000"/>
                </a:solidFill>
                <a:latin typeface="맑은 고딕"/>
                <a:ea typeface="맑은 고딕"/>
              </a:rPr>
              <a:t>OrderItem</a:t>
            </a:r>
            <a:r>
              <a:rPr sz="1000" b="0">
                <a:solidFill>
                  <a:srgbClr val="000000"/>
                </a:solidFill>
                <a:latin typeface="맑은 고딕"/>
                <a:ea typeface="맑은 고딕"/>
              </a:rPr>
              <a:t>, </a:t>
            </a:r>
            <a:r>
              <a:rPr sz="1000" b="0">
                <a:solidFill>
                  <a:srgbClr val="000000"/>
                </a:solidFill>
                <a:latin typeface="맑은 고딕"/>
                <a:ea typeface="맑은 고딕"/>
              </a:rPr>
              <a:t>OrderStatus</a:t>
            </a:r>
            <a:r>
              <a:rPr sz="1000" b="0">
                <a:solidFill>
                  <a:srgbClr val="000000"/>
                </a:solidFill>
                <a:latin typeface="맑은 고딕"/>
                <a:ea typeface="맑은 고딕"/>
              </a:rPr>
              <a:t>를 소유하고 </a:t>
            </a:r>
            <a:r>
              <a:rPr sz="1000" b="0">
                <a:solidFill>
                  <a:srgbClr val="000000"/>
                </a:solidFill>
                <a:latin typeface="맑은 고딕"/>
                <a:ea typeface="맑은 고딕"/>
              </a:rPr>
              <a:t>OrderRepository</a:t>
            </a:r>
            <a:r>
              <a:rPr sz="1000" b="0">
                <a:solidFill>
                  <a:srgbClr val="000000"/>
                </a:solidFill>
                <a:latin typeface="맑은 고딕"/>
                <a:ea typeface="맑은 고딕"/>
              </a:rPr>
              <a:t>를 선언하며 </a:t>
            </a:r>
            <a:r>
              <a:rPr sz="1000" b="0">
                <a:solidFill>
                  <a:srgbClr val="000000"/>
                </a:solidFill>
                <a:latin typeface="맑은 고딕"/>
                <a:ea typeface="맑은 고딕"/>
              </a:rPr>
              <a:t>payment</a:t>
            </a:r>
            <a:r>
              <a:rPr sz="1000" b="0">
                <a:solidFill>
                  <a:srgbClr val="000000"/>
                </a:solidFill>
                <a:latin typeface="맑은 고딕"/>
                <a:ea typeface="맑은 고딕"/>
              </a:rPr>
              <a:t>, </a:t>
            </a:r>
            <a:r>
              <a:rPr sz="1000" b="0">
                <a:solidFill>
                  <a:srgbClr val="000000"/>
                </a:solidFill>
                <a:latin typeface="맑은 고딕"/>
                <a:ea typeface="맑은 고딕"/>
              </a:rPr>
              <a:t>delivery</a:t>
            </a:r>
            <a:r>
              <a:rPr sz="1000" b="0">
                <a:solidFill>
                  <a:srgbClr val="000000"/>
                </a:solidFill>
                <a:latin typeface="맑은 고딕"/>
                <a:ea typeface="맑은 고딕"/>
              </a:rPr>
              <a:t>, </a:t>
            </a:r>
            <a:r>
              <a:rPr sz="1000" b="0">
                <a:solidFill>
                  <a:srgbClr val="000000"/>
                </a:solidFill>
                <a:latin typeface="맑은 고딕"/>
                <a:ea typeface="맑은 고딕"/>
              </a:rPr>
              <a:t>product</a:t>
            </a:r>
            <a:r>
              <a:rPr sz="1000" b="0">
                <a:solidFill>
                  <a:srgbClr val="000000"/>
                </a:solidFill>
                <a:latin typeface="맑은 고딕"/>
                <a:ea typeface="맑은 고딕"/>
              </a:rPr>
              <a:t>에 의존한다.</a:t>
            </a:r>
          </a:p>
          <a:p>
            <a:pPr lvl="2" marL="411480" indent="-137160">
              <a:spcBef>
                <a:spcPts val="300"/>
              </a:spcBef>
              <a:spcAft>
                <a:spcPts val="300"/>
              </a:spcAft>
              <a:buSzPct val="90000"/>
              <a:buFont typeface="Wingdings" pitchFamily="2" charset="2"/>
              <a:buChar char=""/>
            </a:pPr>
            <a:r>
              <a:rPr sz="1000" b="0">
                <a:solidFill>
                  <a:srgbClr val="000000"/>
                </a:solidFill>
                <a:latin typeface="맑은 고딕"/>
                <a:ea typeface="맑은 고딕"/>
              </a:rPr>
              <a:t>payment</a:t>
            </a:r>
            <a:r>
              <a:rPr sz="1000" b="0">
                <a:solidFill>
                  <a:srgbClr val="000000"/>
                </a:solidFill>
                <a:latin typeface="맑은 고딕"/>
                <a:ea typeface="맑은 고딕"/>
              </a:rPr>
              <a:t>: </a:t>
            </a:r>
            <a:r>
              <a:rPr sz="1000" b="0">
                <a:solidFill>
                  <a:srgbClr val="000000"/>
                </a:solidFill>
                <a:latin typeface="맑은 고딕"/>
                <a:ea typeface="맑은 고딕"/>
              </a:rPr>
              <a:t>CardApprovalRequest</a:t>
            </a:r>
            <a:r>
              <a:rPr sz="1000" b="0">
                <a:solidFill>
                  <a:srgbClr val="000000"/>
                </a:solidFill>
                <a:latin typeface="맑은 고딕"/>
                <a:ea typeface="맑은 고딕"/>
              </a:rPr>
              <a:t>, </a:t>
            </a:r>
            <a:r>
              <a:rPr sz="1000" b="0">
                <a:solidFill>
                  <a:srgbClr val="000000"/>
                </a:solidFill>
                <a:latin typeface="맑은 고딕"/>
                <a:ea typeface="맑은 고딕"/>
              </a:rPr>
              <a:t>CardApprovalResult</a:t>
            </a:r>
            <a:r>
              <a:rPr sz="1000" b="0">
                <a:solidFill>
                  <a:srgbClr val="000000"/>
                </a:solidFill>
                <a:latin typeface="맑은 고딕"/>
                <a:ea typeface="맑은 고딕"/>
              </a:rPr>
              <a:t>와 </a:t>
            </a:r>
            <a:r>
              <a:rPr sz="1000" b="0">
                <a:solidFill>
                  <a:srgbClr val="000000"/>
                </a:solidFill>
                <a:latin typeface="맑은 고딕"/>
                <a:ea typeface="맑은 고딕"/>
              </a:rPr>
              <a:t>PaymentGateway</a:t>
            </a:r>
            <a:r>
              <a:rPr sz="1000" b="0">
                <a:solidFill>
                  <a:srgbClr val="000000"/>
                </a:solidFill>
                <a:latin typeface="맑은 고딕"/>
                <a:ea typeface="맑은 고딕"/>
              </a:rPr>
              <a:t>를 소유한다.</a:t>
            </a:r>
          </a:p>
          <a:p>
            <a:pPr lvl="2" marL="411480" indent="-137160">
              <a:spcBef>
                <a:spcPts val="300"/>
              </a:spcBef>
              <a:spcAft>
                <a:spcPts val="300"/>
              </a:spcAft>
              <a:buSzPct val="90000"/>
              <a:buFont typeface="Wingdings" pitchFamily="2" charset="2"/>
              <a:buChar char=""/>
            </a:pPr>
            <a:r>
              <a:rPr sz="1000" b="0">
                <a:solidFill>
                  <a:srgbClr val="000000"/>
                </a:solidFill>
                <a:latin typeface="맑은 고딕"/>
                <a:ea typeface="맑은 고딕"/>
              </a:rPr>
              <a:t>delivery</a:t>
            </a:r>
            <a:r>
              <a:rPr sz="1000" b="0">
                <a:solidFill>
                  <a:srgbClr val="000000"/>
                </a:solidFill>
                <a:latin typeface="맑은 고딕"/>
                <a:ea typeface="맑은 고딕"/>
              </a:rPr>
              <a:t>: </a:t>
            </a:r>
            <a:r>
              <a:rPr sz="1000" b="0">
                <a:solidFill>
                  <a:srgbClr val="000000"/>
                </a:solidFill>
                <a:latin typeface="맑은 고딕"/>
                <a:ea typeface="맑은 고딕"/>
              </a:rPr>
              <a:t>DeliveryRequest</a:t>
            </a:r>
            <a:r>
              <a:rPr sz="1000" b="0">
                <a:solidFill>
                  <a:srgbClr val="000000"/>
                </a:solidFill>
                <a:latin typeface="맑은 고딕"/>
                <a:ea typeface="맑은 고딕"/>
              </a:rPr>
              <a:t>와 </a:t>
            </a:r>
            <a:r>
              <a:rPr sz="1000" b="0">
                <a:solidFill>
                  <a:srgbClr val="000000"/>
                </a:solidFill>
                <a:latin typeface="맑은 고딕"/>
                <a:ea typeface="맑은 고딕"/>
              </a:rPr>
              <a:t>DeliveryGateway</a:t>
            </a:r>
            <a:r>
              <a:rPr sz="1000" b="0">
                <a:solidFill>
                  <a:srgbClr val="000000"/>
                </a:solidFill>
                <a:latin typeface="맑은 고딕"/>
                <a:ea typeface="맑은 고딕"/>
              </a:rPr>
              <a:t>를 소유한다. 배송 실패가 </a:t>
            </a:r>
            <a:r>
              <a:rPr sz="1000" b="0">
                <a:solidFill>
                  <a:srgbClr val="000000"/>
                </a:solidFill>
                <a:latin typeface="맑은 고딕"/>
                <a:ea typeface="맑은 고딕"/>
              </a:rPr>
              <a:t>PAID</a:t>
            </a:r>
            <a:r>
              <a:rPr sz="1000" b="0">
                <a:solidFill>
                  <a:srgbClr val="000000"/>
                </a:solidFill>
                <a:latin typeface="맑은 고딕"/>
                <a:ea typeface="맑은 고딕"/>
              </a:rPr>
              <a:t>에 미치는 영향, 재시도 기준과 담당 주체, 중복 처리 방식 및 응답 시간 초과 처리는 정하지 않는다.</a:t>
            </a:r>
          </a:p>
          <a:p>
            <a:pPr lvl="2" marL="411480" indent="-137160">
              <a:spcBef>
                <a:spcPts val="300"/>
              </a:spcBef>
              <a:spcAft>
                <a:spcPts val="300"/>
              </a:spcAft>
              <a:buSzPct val="90000"/>
              <a:buFont typeface="Wingdings" pitchFamily="2" charset="2"/>
              <a:buChar char=""/>
            </a:pPr>
            <a:r>
              <a:rPr sz="1000" b="0">
                <a:solidFill>
                  <a:srgbClr val="000000"/>
                </a:solidFill>
                <a:latin typeface="맑은 고딕"/>
                <a:ea typeface="맑은 고딕"/>
              </a:rPr>
              <a:t>product</a:t>
            </a:r>
            <a:r>
              <a:rPr sz="1000" b="0">
                <a:solidFill>
                  <a:srgbClr val="000000"/>
                </a:solidFill>
                <a:latin typeface="맑은 고딕"/>
                <a:ea typeface="맑은 고딕"/>
              </a:rPr>
              <a:t>: </a:t>
            </a:r>
            <a:r>
              <a:rPr sz="1000" b="0">
                <a:solidFill>
                  <a:srgbClr val="000000"/>
                </a:solidFill>
                <a:latin typeface="맑은 고딕"/>
                <a:ea typeface="맑은 고딕"/>
              </a:rPr>
              <a:t>Product</a:t>
            </a:r>
            <a:r>
              <a:rPr sz="1000" b="0">
                <a:solidFill>
                  <a:srgbClr val="000000"/>
                </a:solidFill>
                <a:latin typeface="맑은 고딕"/>
                <a:ea typeface="맑은 고딕"/>
              </a:rPr>
              <a:t>와 </a:t>
            </a:r>
            <a:r>
              <a:rPr sz="1000" b="0">
                <a:solidFill>
                  <a:srgbClr val="000000"/>
                </a:solidFill>
                <a:latin typeface="맑은 고딕"/>
                <a:ea typeface="맑은 고딕"/>
              </a:rPr>
              <a:t>ProductGateway</a:t>
            </a:r>
            <a:r>
              <a:rPr sz="1000" b="0">
                <a:solidFill>
                  <a:srgbClr val="000000"/>
                </a:solidFill>
                <a:latin typeface="맑은 고딕"/>
                <a:ea typeface="맑은 고딕"/>
              </a:rPr>
              <a:t>를 소유한다. 동일 상품 항목의 병합 여부와 재고 관련 규격은 정하지 않으며 외부 상품 시스템 연동 구현은 이번 범위에서 만들지 않는다.</a:t>
            </a:r>
          </a:p>
          <a:p>
            <a:pPr lvl="2" marL="411480" indent="-137160">
              <a:spcBef>
                <a:spcPts val="300"/>
              </a:spcBef>
              <a:spcAft>
                <a:spcPts val="300"/>
              </a:spcAft>
              <a:buSzPct val="90000"/>
              <a:buFont typeface="Wingdings" pitchFamily="2" charset="2"/>
              <a:buChar char=""/>
            </a:pPr>
            <a:r>
              <a:rPr sz="1000" b="0">
                <a:solidFill>
                  <a:srgbClr val="000000"/>
                </a:solidFill>
                <a:latin typeface="맑은 고딕"/>
                <a:ea typeface="맑은 고딕"/>
              </a:rPr>
              <a:t>paymentadapter</a:t>
            </a:r>
            <a:r>
              <a:rPr sz="1000" b="0">
                <a:solidFill>
                  <a:srgbClr val="000000"/>
                </a:solidFill>
                <a:latin typeface="맑은 고딕"/>
                <a:ea typeface="맑은 고딕"/>
              </a:rPr>
              <a:t>: </a:t>
            </a:r>
            <a:r>
              <a:rPr sz="1000" b="0">
                <a:solidFill>
                  <a:srgbClr val="000000"/>
                </a:solidFill>
                <a:latin typeface="맑은 고딕"/>
                <a:ea typeface="맑은 고딕"/>
              </a:rPr>
              <a:t>PaymentAdapter</a:t>
            </a:r>
            <a:r>
              <a:rPr sz="1000" b="0">
                <a:solidFill>
                  <a:srgbClr val="000000"/>
                </a:solidFill>
                <a:latin typeface="맑은 고딕"/>
                <a:ea typeface="맑은 고딕"/>
              </a:rPr>
              <a:t>가 </a:t>
            </a:r>
            <a:r>
              <a:rPr sz="1000" b="0">
                <a:solidFill>
                  <a:srgbClr val="000000"/>
                </a:solidFill>
                <a:latin typeface="맑은 고딕"/>
                <a:ea typeface="맑은 고딕"/>
              </a:rPr>
              <a:t>PaymentGateway</a:t>
            </a:r>
            <a:r>
              <a:rPr sz="1000" b="0">
                <a:solidFill>
                  <a:srgbClr val="000000"/>
                </a:solidFill>
                <a:latin typeface="맑은 고딕"/>
                <a:ea typeface="맑은 고딕"/>
              </a:rPr>
              <a:t>를 구현하고 외부 결제 제공자의 전문을 업무 의미로 변환한다.</a:t>
            </a:r>
          </a:p>
          <a:p>
            <a:pPr lvl="2" marL="411480" indent="-137160">
              <a:spcBef>
                <a:spcPts val="300"/>
              </a:spcBef>
              <a:spcAft>
                <a:spcPts val="300"/>
              </a:spcAft>
              <a:buSzPct val="90000"/>
              <a:buFont typeface="Wingdings" pitchFamily="2" charset="2"/>
              <a:buChar char=""/>
            </a:pPr>
            <a:r>
              <a:rPr sz="1000" b="0">
                <a:solidFill>
                  <a:srgbClr val="000000"/>
                </a:solidFill>
                <a:latin typeface="맑은 고딕"/>
                <a:ea typeface="맑은 고딕"/>
              </a:rPr>
              <a:t>deliveryadapter</a:t>
            </a:r>
            <a:r>
              <a:rPr sz="1000" b="0">
                <a:solidFill>
                  <a:srgbClr val="000000"/>
                </a:solidFill>
                <a:latin typeface="맑은 고딕"/>
                <a:ea typeface="맑은 고딕"/>
              </a:rPr>
              <a:t>: </a:t>
            </a:r>
            <a:r>
              <a:rPr sz="1000" b="0">
                <a:solidFill>
                  <a:srgbClr val="000000"/>
                </a:solidFill>
                <a:latin typeface="맑은 고딕"/>
                <a:ea typeface="맑은 고딕"/>
              </a:rPr>
              <a:t>DeliveryAdapter</a:t>
            </a:r>
            <a:r>
              <a:rPr sz="1000" b="0">
                <a:solidFill>
                  <a:srgbClr val="000000"/>
                </a:solidFill>
                <a:latin typeface="맑은 고딕"/>
                <a:ea typeface="맑은 고딕"/>
              </a:rPr>
              <a:t>가 </a:t>
            </a:r>
            <a:r>
              <a:rPr sz="1000" b="0">
                <a:solidFill>
                  <a:srgbClr val="000000"/>
                </a:solidFill>
                <a:latin typeface="맑은 고딕"/>
                <a:ea typeface="맑은 고딕"/>
              </a:rPr>
              <a:t>DeliveryGateway</a:t>
            </a:r>
            <a:r>
              <a:rPr sz="1000" b="0">
                <a:solidFill>
                  <a:srgbClr val="000000"/>
                </a:solidFill>
                <a:latin typeface="맑은 고딕"/>
                <a:ea typeface="맑은 고딕"/>
              </a:rPr>
              <a:t>를 구현하고 업무의 배송 요청을 외부 배송 제공자의 전문으로 변환한다.</a:t>
            </a:r>
          </a:p>
          <a:p>
            <a:pPr lvl="2" marL="411480" indent="-137160">
              <a:spcBef>
                <a:spcPts val="300"/>
              </a:spcBef>
              <a:spcAft>
                <a:spcPts val="300"/>
              </a:spcAft>
              <a:buSzPct val="90000"/>
              <a:buFont typeface="Wingdings" pitchFamily="2" charset="2"/>
              <a:buChar char=""/>
            </a:pPr>
            <a:r>
              <a:rPr sz="1000" b="0">
                <a:solidFill>
                  <a:srgbClr val="000000"/>
                </a:solidFill>
                <a:latin typeface="맑은 고딕"/>
                <a:ea typeface="맑은 고딕"/>
              </a:rPr>
              <a:t>persistence</a:t>
            </a:r>
            <a:r>
              <a:rPr sz="1000" b="0">
                <a:solidFill>
                  <a:srgbClr val="000000"/>
                </a:solidFill>
                <a:latin typeface="맑은 고딕"/>
                <a:ea typeface="맑은 고딕"/>
              </a:rPr>
              <a:t>: </a:t>
            </a:r>
            <a:r>
              <a:rPr sz="1000" b="0">
                <a:solidFill>
                  <a:srgbClr val="000000"/>
                </a:solidFill>
                <a:latin typeface="맑은 고딕"/>
                <a:ea typeface="맑은 고딕"/>
              </a:rPr>
              <a:t>OrderPersistenceAdapter</a:t>
            </a:r>
            <a:r>
              <a:rPr sz="1000" b="0">
                <a:solidFill>
                  <a:srgbClr val="000000"/>
                </a:solidFill>
                <a:latin typeface="맑은 고딕"/>
                <a:ea typeface="맑은 고딕"/>
              </a:rPr>
              <a:t>가 </a:t>
            </a:r>
            <a:r>
              <a:rPr sz="1000" b="0">
                <a:solidFill>
                  <a:srgbClr val="000000"/>
                </a:solidFill>
                <a:latin typeface="맑은 고딕"/>
                <a:ea typeface="맑은 고딕"/>
              </a:rPr>
              <a:t>OrderRepository</a:t>
            </a:r>
            <a:r>
              <a:rPr sz="1000" b="0">
                <a:solidFill>
                  <a:srgbClr val="000000"/>
                </a:solidFill>
                <a:latin typeface="맑은 고딕"/>
                <a:ea typeface="맑은 고딕"/>
              </a:rPr>
              <a:t>를 구현하고 주문 저장소와 통신한다.</a:t>
            </a:r>
          </a:p>
          <a:p>
            <a:pPr lvl="2" marL="411480" indent="-137160">
              <a:spcBef>
                <a:spcPts val="300"/>
              </a:spcBef>
              <a:spcAft>
                <a:spcPts val="300"/>
              </a:spcAft>
              <a:buSzPct val="90000"/>
              <a:buFont typeface="Wingdings" pitchFamily="2" charset="2"/>
              <a:buChar char=""/>
            </a:pPr>
            <a:r>
              <a:rPr sz="1000" b="0">
                <a:solidFill>
                  <a:srgbClr val="000000"/>
                </a:solidFill>
                <a:latin typeface="맑은 고딕"/>
                <a:ea typeface="맑은 고딕"/>
              </a:rPr>
              <a:t>호출자가 들어오는 쪽과 입력 포트 및 유스케이스 인터페이스의 배치는 이번 범위 밖이다.</a:t>
            </a:r>
          </a:p>
          <a:p>
            <a:pPr marL="322580" indent="-139700">
              <a:spcBef>
                <a:spcPts val="300"/>
              </a:spcBef>
              <a:spcAft>
                <a:spcPts val="300"/>
              </a:spcAft>
              <a:buNone/>
            </a:pPr>
            <a:r>
              <a:rPr sz="1000" b="1">
                <a:solidFill>
                  <a:srgbClr val="000000"/>
                </a:solidFill>
                <a:latin typeface="맑은 고딕"/>
                <a:ea typeface="맑은 고딕"/>
              </a:rPr>
              <a:t>3. 의존 규칙</a:t>
            </a:r>
          </a:p>
          <a:p>
            <a:pPr marL="182880" indent="0">
              <a:spcBef>
                <a:spcPts val="300"/>
              </a:spcBef>
              <a:spcAft>
                <a:spcPts val="300"/>
              </a:spcAft>
              <a:buNone/>
            </a:pPr>
            <a:r>
              <a:rPr sz="1000" b="1">
                <a:solidFill>
                  <a:srgbClr val="000000"/>
                </a:solidFill>
                <a:latin typeface="맑은 고딕"/>
                <a:ea typeface="맑은 고딕"/>
              </a:rPr>
              <a:t>허용</a:t>
            </a:r>
          </a:p>
          <a:p>
            <a:pPr lvl="2" marL="411480" indent="-137160">
              <a:spcBef>
                <a:spcPts val="300"/>
              </a:spcBef>
              <a:spcAft>
                <a:spcPts val="300"/>
              </a:spcAft>
              <a:buSzPct val="90000"/>
              <a:buFont typeface="Wingdings" pitchFamily="2" charset="2"/>
              <a:buChar char=""/>
            </a:pPr>
            <a:r>
              <a:rPr sz="1000" b="0">
                <a:solidFill>
                  <a:srgbClr val="000000"/>
                </a:solidFill>
                <a:latin typeface="맑은 고딕"/>
                <a:ea typeface="맑은 고딕"/>
              </a:rPr>
              <a:t>order</a:t>
            </a:r>
            <a:r>
              <a:rPr sz="1000" b="0">
                <a:solidFill>
                  <a:srgbClr val="000000"/>
                </a:solidFill>
                <a:latin typeface="맑은 고딕"/>
                <a:ea typeface="맑은 고딕"/>
              </a:rPr>
              <a:t> → </a:t>
            </a:r>
            <a:r>
              <a:rPr sz="1000" b="0">
                <a:solidFill>
                  <a:srgbClr val="000000"/>
                </a:solidFill>
                <a:latin typeface="맑은 고딕"/>
                <a:ea typeface="맑은 고딕"/>
              </a:rPr>
              <a:t>payment</a:t>
            </a:r>
            <a:r>
              <a:rPr sz="1000" b="0">
                <a:solidFill>
                  <a:srgbClr val="000000"/>
                </a:solidFill>
                <a:latin typeface="맑은 고딕"/>
                <a:ea typeface="맑은 고딕"/>
              </a:rPr>
              <a:t>, </a:t>
            </a:r>
            <a:r>
              <a:rPr sz="1000" b="0">
                <a:solidFill>
                  <a:srgbClr val="000000"/>
                </a:solidFill>
                <a:latin typeface="맑은 고딕"/>
                <a:ea typeface="맑은 고딕"/>
              </a:rPr>
              <a:t>delivery</a:t>
            </a:r>
            <a:r>
              <a:rPr sz="1000" b="0">
                <a:solidFill>
                  <a:srgbClr val="000000"/>
                </a:solidFill>
                <a:latin typeface="맑은 고딕"/>
                <a:ea typeface="맑은 고딕"/>
              </a:rPr>
              <a:t>, </a:t>
            </a:r>
            <a:r>
              <a:rPr sz="1000" b="0">
                <a:solidFill>
                  <a:srgbClr val="000000"/>
                </a:solidFill>
                <a:latin typeface="맑은 고딕"/>
                <a:ea typeface="맑은 고딕"/>
              </a:rPr>
              <a:t>product</a:t>
            </a:r>
          </a:p>
          <a:p>
            <a:pPr lvl="2" marL="411480" indent="-137160">
              <a:spcBef>
                <a:spcPts val="300"/>
              </a:spcBef>
              <a:spcAft>
                <a:spcPts val="300"/>
              </a:spcAft>
              <a:buSzPct val="90000"/>
              <a:buFont typeface="Wingdings" pitchFamily="2" charset="2"/>
              <a:buChar char=""/>
            </a:pPr>
            <a:r>
              <a:rPr sz="1000" b="0">
                <a:solidFill>
                  <a:srgbClr val="000000"/>
                </a:solidFill>
                <a:latin typeface="맑은 고딕"/>
                <a:ea typeface="맑은 고딕"/>
              </a:rPr>
              <a:t>paymentadapter</a:t>
            </a:r>
            <a:r>
              <a:rPr sz="1000" b="0">
                <a:solidFill>
                  <a:srgbClr val="000000"/>
                </a:solidFill>
                <a:latin typeface="맑은 고딕"/>
                <a:ea typeface="맑은 고딕"/>
              </a:rPr>
              <a:t> → </a:t>
            </a:r>
            <a:r>
              <a:rPr sz="1000" b="0">
                <a:solidFill>
                  <a:srgbClr val="000000"/>
                </a:solidFill>
                <a:latin typeface="맑은 고딕"/>
                <a:ea typeface="맑은 고딕"/>
              </a:rPr>
              <a:t>payment</a:t>
            </a:r>
            <a:r>
              <a:rPr sz="1000" b="0">
                <a:solidFill>
                  <a:srgbClr val="000000"/>
                </a:solidFill>
                <a:latin typeface="맑은 고딕"/>
                <a:ea typeface="맑은 고딕"/>
              </a:rPr>
              <a:t>, 외부 결제 라이브러리</a:t>
            </a:r>
          </a:p>
          <a:p>
            <a:pPr lvl="2" marL="411480" indent="-137160">
              <a:spcBef>
                <a:spcPts val="300"/>
              </a:spcBef>
              <a:spcAft>
                <a:spcPts val="300"/>
              </a:spcAft>
              <a:buSzPct val="90000"/>
              <a:buFont typeface="Wingdings" pitchFamily="2" charset="2"/>
              <a:buChar char=""/>
            </a:pPr>
            <a:r>
              <a:rPr sz="1000" b="0">
                <a:solidFill>
                  <a:srgbClr val="000000"/>
                </a:solidFill>
                <a:latin typeface="맑은 고딕"/>
                <a:ea typeface="맑은 고딕"/>
              </a:rPr>
              <a:t>deliveryadapter</a:t>
            </a:r>
            <a:r>
              <a:rPr sz="1000" b="0">
                <a:solidFill>
                  <a:srgbClr val="000000"/>
                </a:solidFill>
                <a:latin typeface="맑은 고딕"/>
                <a:ea typeface="맑은 고딕"/>
              </a:rPr>
              <a:t> → </a:t>
            </a:r>
            <a:r>
              <a:rPr sz="1000" b="0">
                <a:solidFill>
                  <a:srgbClr val="000000"/>
                </a:solidFill>
                <a:latin typeface="맑은 고딕"/>
                <a:ea typeface="맑은 고딕"/>
              </a:rPr>
              <a:t>delivery</a:t>
            </a:r>
            <a:r>
              <a:rPr sz="1000" b="0">
                <a:solidFill>
                  <a:srgbClr val="000000"/>
                </a:solidFill>
                <a:latin typeface="맑은 고딕"/>
                <a:ea typeface="맑은 고딕"/>
              </a:rPr>
              <a:t>, 외부 배송 라이브러리</a:t>
            </a:r>
          </a:p>
          <a:p>
            <a:pPr lvl="2" marL="411480" indent="-137160">
              <a:spcBef>
                <a:spcPts val="300"/>
              </a:spcBef>
              <a:spcAft>
                <a:spcPts val="300"/>
              </a:spcAft>
              <a:buSzPct val="90000"/>
              <a:buFont typeface="Wingdings" pitchFamily="2" charset="2"/>
              <a:buChar char=""/>
            </a:pPr>
            <a:r>
              <a:rPr sz="1000" b="0">
                <a:solidFill>
                  <a:srgbClr val="000000"/>
                </a:solidFill>
                <a:latin typeface="맑은 고딕"/>
                <a:ea typeface="맑은 고딕"/>
              </a:rPr>
              <a:t>persistence</a:t>
            </a:r>
            <a:r>
              <a:rPr sz="1000" b="0">
                <a:solidFill>
                  <a:srgbClr val="000000"/>
                </a:solidFill>
                <a:latin typeface="맑은 고딕"/>
                <a:ea typeface="맑은 고딕"/>
              </a:rPr>
              <a:t> → </a:t>
            </a:r>
            <a:r>
              <a:rPr sz="1000" b="0">
                <a:solidFill>
                  <a:srgbClr val="000000"/>
                </a:solidFill>
                <a:latin typeface="맑은 고딕"/>
                <a:ea typeface="맑은 고딕"/>
              </a:rPr>
              <a:t>order</a:t>
            </a:r>
            <a:r>
              <a:rPr sz="1000" b="0">
                <a:solidFill>
                  <a:srgbClr val="000000"/>
                </a:solidFill>
                <a:latin typeface="맑은 고딕"/>
                <a:ea typeface="맑은 고딕"/>
              </a:rPr>
              <a:t>, 데이터베이스 및 영속 기술 라이브러리</a:t>
            </a:r>
          </a:p>
        </p:txBody>
      </p:sp>
    </p:spTree>
    <p:extLst>
      <p:ext uri="{BB962C8B-B14F-4D97-AF65-F5344CB8AC3E}">
        <p14:creationId xmlns:p14="http://schemas.microsoft.com/office/powerpoint/2010/main" val="355543667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4F1F13-426B-086B-7D8C-9A58A0F879DB}"/>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AA26A92D-924E-0575-9551-F8FD7BFD3FAD}"/>
              </a:ext>
            </a:extLst>
          </p:cNvPr>
          <p:cNvSpPr>
            <a:spLocks noGrp="1"/>
          </p:cNvSpPr>
          <p:nvPr>
            <p:ph type="title"/>
          </p:nvPr>
        </p:nvSpPr>
        <p:spPr/>
        <p:txBody>
          <a:bodyPr/>
          <a:lstStyle/>
          <a:p>
            <a:r>
              <a:rPr sz="2400" b="1">
                <a:solidFill>
                  <a:srgbClr val="000000"/>
                </a:solidFill>
                <a:latin typeface="맑은 고딕"/>
                <a:ea typeface="맑은 고딕"/>
              </a:rPr>
              <a:t>“주문한다” 아키텍처 결정 </a:t>
            </a:r>
            <a:r>
              <a:rPr sz="2000" b="1">
                <a:solidFill>
                  <a:srgbClr val="000000"/>
                </a:solidFill>
                <a:latin typeface="맑은 고딕"/>
                <a:ea typeface="맑은 고딕"/>
              </a:rPr>
              <a:t>(4/5)</a:t>
            </a:r>
          </a:p>
          <a:p>
            <a:r>
              <a:rPr sz="1100" b="1">
                <a:solidFill>
                  <a:srgbClr val="000000"/>
                </a:solidFill>
                <a:latin typeface="맑은 고딕"/>
                <a:ea typeface="맑은 고딕"/>
              </a:rPr>
              <a:t>별첨. 실습 답</a:t>
            </a:r>
          </a:p>
        </p:txBody>
      </p:sp>
      <p:sp>
        <p:nvSpPr>
          <p:cNvPr id="3" name="슬라이드 번호 개체 틀 2">
            <a:extLst>
              <a:ext uri="{FF2B5EF4-FFF2-40B4-BE49-F238E27FC236}">
                <a16:creationId xmlns:a16="http://schemas.microsoft.com/office/drawing/2014/main" id="{12CF30EE-4DFD-8063-56B8-B8689E76DFCA}"/>
              </a:ext>
            </a:extLst>
          </p:cNvPr>
          <p:cNvSpPr>
            <a:spLocks noGrp="1"/>
          </p:cNvSpPr>
          <p:nvPr>
            <p:ph type="sldNum" sz="quarter" idx="10"/>
          </p:nvPr>
        </p:nvSpPr>
        <p:spPr/>
        <p:txBody>
          <a:bodyPr/>
          <a:lstStyle/>
          <a:p>
            <a:pPr>
              <a:defRPr/>
            </a:pPr>
            <a:r>
              <a:rPr lang="en-US" altLang="ko-KR">
                <a:solidFill>
                  <a:prstClr val="black"/>
                </a:solidFill>
              </a:rPr>
              <a:t>- 26 -</a:t>
            </a:r>
          </a:p>
        </p:txBody>
      </p:sp>
      <p:sp>
        <p:nvSpPr>
          <p:cNvPr id="5" name="텍스트 개체 틀 4">
            <a:extLst>
              <a:ext uri="{FF2B5EF4-FFF2-40B4-BE49-F238E27FC236}">
                <a16:creationId xmlns:a16="http://schemas.microsoft.com/office/drawing/2014/main" id="{D66274C8-E16F-5AEB-614B-D8D32DA3E8C6}"/>
              </a:ext>
            </a:extLst>
          </p:cNvPr>
          <p:cNvSpPr>
            <a:spLocks noGrp="1"/>
          </p:cNvSpPr>
          <p:nvPr>
            <p:ph type="body" sz="quarter" idx="11"/>
          </p:nvPr>
        </p:nvSpPr>
        <p:spPr/>
        <p:txBody>
          <a:bodyPr/>
          <a:lstStyle/>
          <a:p>
            <a:r>
              <a:rPr kumimoji="1" lang="en-US" altLang="ko-KR" sz="1400" dirty="0" err="1"/>
              <a:t>별첨: 06. 아키텍처</a:t>
            </a:r>
          </a:p>
        </p:txBody>
      </p:sp>
      <p:sp>
        <p:nvSpPr>
          <p:cNvPr id="6" name="텍스트 개체 틀 5">
            <a:extLst>
              <a:ext uri="{FF2B5EF4-FFF2-40B4-BE49-F238E27FC236}">
                <a16:creationId xmlns:a16="http://schemas.microsoft.com/office/drawing/2014/main" id="{A24E58E1-194B-A320-AEEE-24D08685BB6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A219F420-613B-6234-45F6-0955A9A4505F}"/>
              </a:ext>
            </a:extLst>
          </p:cNvPr>
          <p:cNvSpPr>
            <a:spLocks noGrp="1"/>
          </p:cNvSpPr>
          <p:nvPr>
            <p:ph type="body" sz="quarter" idx="13"/>
          </p:nvPr>
        </p:nvSpPr>
        <p:spPr/>
        <p:txBody>
          <a:bodyPr/>
          <a:lstStyle/>
          <a:p>
            <a:endParaRPr kumimoji="1" lang="en-US" altLang="ko-KR" dirty="0"/>
          </a:p>
        </p:txBody>
      </p:sp>
      <p:sp>
        <p:nvSpPr>
          <p:cNvPr id="8" name="내용 개체 틀 7">
            <a:extLst>
              <a:ext uri="{FF2B5EF4-FFF2-40B4-BE49-F238E27FC236}">
                <a16:creationId xmlns:a16="http://schemas.microsoft.com/office/drawing/2014/main" id="{BEBA2C4A-B0BF-F2E4-EA6E-614C99CBA184}"/>
              </a:ext>
            </a:extLst>
          </p:cNvPr>
          <p:cNvSpPr>
            <a:spLocks noGrp="1"/>
          </p:cNvSpPr>
          <p:nvPr>
            <p:ph idx="1"/>
          </p:nvPr>
        </p:nvSpPr>
        <p:spPr/>
        <p:txBody>
          <a:bodyPr>
            <a:normAutofit/>
          </a:bodyPr>
          <a:lstStyle/>
          <a:p>
            <a:pPr marL="182880" indent="0">
              <a:spcBef>
                <a:spcPts val="300"/>
              </a:spcBef>
              <a:spcAft>
                <a:spcPts val="300"/>
              </a:spcAft>
              <a:buNone/>
            </a:pPr>
            <a:r>
              <a:rPr sz="1000" b="1">
                <a:solidFill>
                  <a:srgbClr val="000000"/>
                </a:solidFill>
                <a:latin typeface="맑은 고딕"/>
                <a:ea typeface="맑은 고딕"/>
              </a:rPr>
              <a:t>검사 가능한 금지</a:t>
            </a:r>
          </a:p>
          <a:p>
            <a:pPr lvl="2" marL="411480" indent="-137160">
              <a:spcBef>
                <a:spcPts val="300"/>
              </a:spcBef>
              <a:spcAft>
                <a:spcPts val="300"/>
              </a:spcAft>
              <a:buSzPct val="90000"/>
              <a:buFont typeface="Wingdings" pitchFamily="2" charset="2"/>
              <a:buChar char=""/>
            </a:pPr>
            <a:r>
              <a:rPr sz="1000" b="0">
                <a:solidFill>
                  <a:srgbClr val="000000"/>
                </a:solidFill>
                <a:latin typeface="맑은 고딕"/>
                <a:ea typeface="맑은 고딕"/>
              </a:rPr>
              <a:t>업무 패키지 </a:t>
            </a:r>
            <a:r>
              <a:rPr sz="1000" b="0">
                <a:solidFill>
                  <a:srgbClr val="000000"/>
                </a:solidFill>
                <a:latin typeface="맑은 고딕"/>
                <a:ea typeface="맑은 고딕"/>
              </a:rPr>
              <a:t>order</a:t>
            </a:r>
            <a:r>
              <a:rPr sz="1000" b="0">
                <a:solidFill>
                  <a:srgbClr val="000000"/>
                </a:solidFill>
                <a:latin typeface="맑은 고딕"/>
                <a:ea typeface="맑은 고딕"/>
              </a:rPr>
              <a:t>, </a:t>
            </a:r>
            <a:r>
              <a:rPr sz="1000" b="0">
                <a:solidFill>
                  <a:srgbClr val="000000"/>
                </a:solidFill>
                <a:latin typeface="맑은 고딕"/>
                <a:ea typeface="맑은 고딕"/>
              </a:rPr>
              <a:t>payment</a:t>
            </a:r>
            <a:r>
              <a:rPr sz="1000" b="0">
                <a:solidFill>
                  <a:srgbClr val="000000"/>
                </a:solidFill>
                <a:latin typeface="맑은 고딕"/>
                <a:ea typeface="맑은 고딕"/>
              </a:rPr>
              <a:t>, </a:t>
            </a:r>
            <a:r>
              <a:rPr sz="1000" b="0">
                <a:solidFill>
                  <a:srgbClr val="000000"/>
                </a:solidFill>
                <a:latin typeface="맑은 고딕"/>
                <a:ea typeface="맑은 고딕"/>
              </a:rPr>
              <a:t>delivery</a:t>
            </a:r>
            <a:r>
              <a:rPr sz="1000" b="0">
                <a:solidFill>
                  <a:srgbClr val="000000"/>
                </a:solidFill>
                <a:latin typeface="맑은 고딕"/>
                <a:ea typeface="맑은 고딕"/>
              </a:rPr>
              <a:t>, </a:t>
            </a:r>
            <a:r>
              <a:rPr sz="1000" b="0">
                <a:solidFill>
                  <a:srgbClr val="000000"/>
                </a:solidFill>
                <a:latin typeface="맑은 고딕"/>
                <a:ea typeface="맑은 고딕"/>
              </a:rPr>
              <a:t>product</a:t>
            </a:r>
            <a:r>
              <a:rPr sz="1000" b="0">
                <a:solidFill>
                  <a:srgbClr val="000000"/>
                </a:solidFill>
                <a:latin typeface="맑은 고딕"/>
                <a:ea typeface="맑은 고딕"/>
              </a:rPr>
              <a:t>에서 연동·영속 패키지 </a:t>
            </a:r>
            <a:r>
              <a:rPr sz="1000" b="0">
                <a:solidFill>
                  <a:srgbClr val="000000"/>
                </a:solidFill>
                <a:latin typeface="맑은 고딕"/>
                <a:ea typeface="맑은 고딕"/>
              </a:rPr>
              <a:t>paymentadapter</a:t>
            </a:r>
            <a:r>
              <a:rPr sz="1000" b="0">
                <a:solidFill>
                  <a:srgbClr val="000000"/>
                </a:solidFill>
                <a:latin typeface="맑은 고딕"/>
                <a:ea typeface="맑은 고딕"/>
              </a:rPr>
              <a:t>, </a:t>
            </a:r>
            <a:r>
              <a:rPr sz="1000" b="0">
                <a:solidFill>
                  <a:srgbClr val="000000"/>
                </a:solidFill>
                <a:latin typeface="맑은 고딕"/>
                <a:ea typeface="맑은 고딕"/>
              </a:rPr>
              <a:t>deliveryadapter</a:t>
            </a:r>
            <a:r>
              <a:rPr sz="1000" b="0">
                <a:solidFill>
                  <a:srgbClr val="000000"/>
                </a:solidFill>
                <a:latin typeface="맑은 고딕"/>
                <a:ea typeface="맑은 고딕"/>
              </a:rPr>
              <a:t>, </a:t>
            </a:r>
            <a:r>
              <a:rPr sz="1000" b="0">
                <a:solidFill>
                  <a:srgbClr val="000000"/>
                </a:solidFill>
                <a:latin typeface="맑은 고딕"/>
                <a:ea typeface="맑은 고딕"/>
              </a:rPr>
              <a:t>persistence</a:t>
            </a:r>
            <a:r>
              <a:rPr sz="1000" b="0">
                <a:solidFill>
                  <a:srgbClr val="000000"/>
                </a:solidFill>
                <a:latin typeface="맑은 고딕"/>
                <a:ea typeface="맑은 고딕"/>
              </a:rPr>
              <a:t>로 향하는 의존을 금지한다.</a:t>
            </a:r>
          </a:p>
          <a:p>
            <a:pPr lvl="2" marL="411480" indent="-137160">
              <a:spcBef>
                <a:spcPts val="300"/>
              </a:spcBef>
              <a:spcAft>
                <a:spcPts val="300"/>
              </a:spcAft>
              <a:buSzPct val="90000"/>
              <a:buFont typeface="Wingdings" pitchFamily="2" charset="2"/>
              <a:buChar char=""/>
            </a:pPr>
            <a:r>
              <a:rPr sz="1000" b="0">
                <a:solidFill>
                  <a:srgbClr val="000000"/>
                </a:solidFill>
                <a:latin typeface="맑은 고딕"/>
                <a:ea typeface="맑은 고딕"/>
              </a:rPr>
              <a:t>업무 패키지 사이에서는 허용 목록에 없는 의존을 금지한다. 따라서 순환 여부와 관계없이 </a:t>
            </a:r>
            <a:r>
              <a:rPr sz="1000" b="0">
                <a:solidFill>
                  <a:srgbClr val="000000"/>
                </a:solidFill>
                <a:latin typeface="맑은 고딕"/>
                <a:ea typeface="맑은 고딕"/>
              </a:rPr>
              <a:t>payment → delivery</a:t>
            </a:r>
            <a:r>
              <a:rPr sz="1000" b="0">
                <a:solidFill>
                  <a:srgbClr val="000000"/>
                </a:solidFill>
                <a:latin typeface="맑은 고딕"/>
                <a:ea typeface="맑은 고딕"/>
              </a:rPr>
              <a:t> 같은 의존은 금지한다.</a:t>
            </a:r>
          </a:p>
          <a:p>
            <a:pPr lvl="2" marL="411480" indent="-137160">
              <a:spcBef>
                <a:spcPts val="300"/>
              </a:spcBef>
              <a:spcAft>
                <a:spcPts val="300"/>
              </a:spcAft>
              <a:buSzPct val="90000"/>
              <a:buFont typeface="Wingdings" pitchFamily="2" charset="2"/>
              <a:buChar char=""/>
            </a:pPr>
            <a:r>
              <a:rPr sz="1000" b="0">
                <a:solidFill>
                  <a:srgbClr val="000000"/>
                </a:solidFill>
                <a:latin typeface="맑은 고딕"/>
                <a:ea typeface="맑은 고딕"/>
              </a:rPr>
              <a:t>위 일곱 패키지 사이의 직·간접 의존 순환을 금지한다.</a:t>
            </a:r>
          </a:p>
          <a:p>
            <a:pPr marL="182880" indent="0">
              <a:spcBef>
                <a:spcPts val="300"/>
              </a:spcBef>
              <a:spcAft>
                <a:spcPts val="300"/>
              </a:spcAft>
              <a:buNone/>
            </a:pPr>
            <a:r>
              <a:rPr sz="1000" b="1">
                <a:solidFill>
                  <a:srgbClr val="000000"/>
                </a:solidFill>
                <a:latin typeface="맑은 고딕"/>
                <a:ea typeface="맑은 고딕"/>
              </a:rPr>
              <a:t>검사로 판정하지 못하는 책임의 약속</a:t>
            </a:r>
          </a:p>
          <a:p>
            <a:pPr lvl="2" marL="411480" indent="-137160">
              <a:spcBef>
                <a:spcPts val="300"/>
              </a:spcBef>
              <a:spcAft>
                <a:spcPts val="300"/>
              </a:spcAft>
              <a:buSzPct val="90000"/>
              <a:buFont typeface="Wingdings" pitchFamily="2" charset="2"/>
              <a:buChar char=""/>
            </a:pPr>
            <a:r>
              <a:rPr sz="1000" b="0">
                <a:solidFill>
                  <a:srgbClr val="000000"/>
                </a:solidFill>
                <a:latin typeface="맑은 고딕"/>
                <a:ea typeface="맑은 고딕"/>
              </a:rPr>
              <a:t>paymentadapter</a:t>
            </a:r>
            <a:r>
              <a:rPr sz="1000" b="0">
                <a:solidFill>
                  <a:srgbClr val="000000"/>
                </a:solidFill>
                <a:latin typeface="맑은 고딕"/>
                <a:ea typeface="맑은 고딕"/>
              </a:rPr>
              <a:t>는 제공자 전문을 승인·거절·확정 불가로 변환하며, 제공자의 필드·참조 값·코드를 업무 패키지에 노출하지 않고 주문 상태를 변경하지 않는다.</a:t>
            </a:r>
          </a:p>
          <a:p>
            <a:pPr lvl="2" marL="411480" indent="-137160">
              <a:spcBef>
                <a:spcPts val="300"/>
              </a:spcBef>
              <a:spcAft>
                <a:spcPts val="300"/>
              </a:spcAft>
              <a:buSzPct val="90000"/>
              <a:buFont typeface="Wingdings" pitchFamily="2" charset="2"/>
              <a:buChar char=""/>
            </a:pPr>
            <a:r>
              <a:rPr sz="1000" b="0">
                <a:solidFill>
                  <a:srgbClr val="000000"/>
                </a:solidFill>
                <a:latin typeface="맑은 고딕"/>
                <a:ea typeface="맑은 고딕"/>
              </a:rPr>
              <a:t>deliveryadapter</a:t>
            </a:r>
            <a:r>
              <a:rPr sz="1000" b="0">
                <a:solidFill>
                  <a:srgbClr val="000000"/>
                </a:solidFill>
                <a:latin typeface="맑은 고딕"/>
                <a:ea typeface="맑은 고딕"/>
              </a:rPr>
              <a:t>는 업무의 배송 요청만 전달하며, 제공자의 필드·참조 값·코드를 노출하거나 독자적으로 배송 요청을 만들지 않는다.</a:t>
            </a:r>
          </a:p>
          <a:p>
            <a:pPr lvl="2" marL="411480" indent="-137160">
              <a:spcBef>
                <a:spcPts val="300"/>
              </a:spcBef>
              <a:spcAft>
                <a:spcPts val="300"/>
              </a:spcAft>
              <a:buSzPct val="90000"/>
              <a:buFont typeface="Wingdings" pitchFamily="2" charset="2"/>
              <a:buChar char=""/>
            </a:pPr>
            <a:r>
              <a:rPr sz="1000" b="0">
                <a:solidFill>
                  <a:srgbClr val="000000"/>
                </a:solidFill>
                <a:latin typeface="맑은 고딕"/>
                <a:ea typeface="맑은 고딕"/>
              </a:rPr>
              <a:t>persistence</a:t>
            </a:r>
            <a:r>
              <a:rPr sz="1000" b="0">
                <a:solidFill>
                  <a:srgbClr val="000000"/>
                </a:solidFill>
                <a:latin typeface="맑은 고딕"/>
                <a:ea typeface="맑은 고딕"/>
              </a:rPr>
              <a:t>는 주문을 저장·조회할 뿐 주문 상태 전이나 주문 금액을 결정하지 않는다.</a:t>
            </a:r>
          </a:p>
          <a:p>
            <a:pPr lvl="2" marL="411480" indent="-137160">
              <a:spcBef>
                <a:spcPts val="300"/>
              </a:spcBef>
              <a:spcAft>
                <a:spcPts val="300"/>
              </a:spcAft>
              <a:buSzPct val="90000"/>
              <a:buFont typeface="Wingdings" pitchFamily="2" charset="2"/>
              <a:buChar char=""/>
            </a:pPr>
            <a:r>
              <a:rPr sz="1000" b="0">
                <a:solidFill>
                  <a:srgbClr val="000000"/>
                </a:solidFill>
                <a:latin typeface="맑은 고딕"/>
                <a:ea typeface="맑은 고딕"/>
              </a:rPr>
              <a:t>product</a:t>
            </a:r>
            <a:r>
              <a:rPr sz="1000" b="0">
                <a:solidFill>
                  <a:srgbClr val="000000"/>
                </a:solidFill>
                <a:latin typeface="맑은 고딕"/>
                <a:ea typeface="맑은 고딕"/>
              </a:rPr>
              <a:t>와 이후 구현은 미정인 재고 판단 시점과 부족 처리 정책을 추가하지 않는다.</a:t>
            </a:r>
          </a:p>
          <a:p>
            <a:pPr lvl="2" marL="411480" indent="-137160">
              <a:spcBef>
                <a:spcPts val="300"/>
              </a:spcBef>
              <a:spcAft>
                <a:spcPts val="300"/>
              </a:spcAft>
              <a:buSzPct val="90000"/>
              <a:buFont typeface="Wingdings" pitchFamily="2" charset="2"/>
              <a:buChar char=""/>
            </a:pPr>
            <a:r>
              <a:rPr sz="1000" b="0">
                <a:solidFill>
                  <a:srgbClr val="000000"/>
                </a:solidFill>
                <a:latin typeface="맑은 고딕"/>
                <a:ea typeface="맑은 고딕"/>
              </a:rPr>
              <a:t>어느 패키지도 미정인 만료, 결제 응답 미확정 후속 처리, 배송 실패·재시도 정책을 임의로 구현하지 않는다.</a:t>
            </a:r>
          </a:p>
          <a:p>
            <a:pPr marL="322580" indent="-139700">
              <a:spcBef>
                <a:spcPts val="300"/>
              </a:spcBef>
              <a:spcAft>
                <a:spcPts val="300"/>
              </a:spcAft>
              <a:buNone/>
            </a:pPr>
            <a:r>
              <a:rPr sz="1000" b="1">
                <a:solidFill>
                  <a:srgbClr val="000000"/>
                </a:solidFill>
                <a:latin typeface="맑은 고딕"/>
                <a:ea typeface="맑은 고딕"/>
              </a:rPr>
              <a:t>4. 결제 포트 연동 규격</a:t>
            </a:r>
          </a:p>
          <a:p>
            <a:pPr lvl="2" marL="411480" indent="-137160">
              <a:spcBef>
                <a:spcPts val="300"/>
              </a:spcBef>
              <a:spcAft>
                <a:spcPts val="300"/>
              </a:spcAft>
              <a:buSzPct val="90000"/>
              <a:buFont typeface="Wingdings" pitchFamily="2" charset="2"/>
              <a:buChar char=""/>
            </a:pPr>
            <a:r>
              <a:rPr sz="1000" b="0">
                <a:solidFill>
                  <a:srgbClr val="000000"/>
                </a:solidFill>
                <a:latin typeface="맑은 고딕"/>
                <a:ea typeface="맑은 고딕"/>
              </a:rPr>
              <a:t>PaymentGateway</a:t>
            </a:r>
            <a:r>
              <a:rPr sz="1000" b="0">
                <a:solidFill>
                  <a:srgbClr val="000000"/>
                </a:solidFill>
                <a:latin typeface="맑은 고딕"/>
                <a:ea typeface="맑은 고딕"/>
              </a:rPr>
              <a:t>에는 업무의 말만 둔다. 전송 방식과 결제 제공자의 전문·필드·참조 값·코드는 확정하지 않으며 </a:t>
            </a:r>
            <a:r>
              <a:rPr sz="1000" b="0">
                <a:solidFill>
                  <a:srgbClr val="000000"/>
                </a:solidFill>
                <a:latin typeface="맑은 고딕"/>
                <a:ea typeface="맑은 고딕"/>
              </a:rPr>
              <a:t>paymentadapter</a:t>
            </a:r>
            <a:r>
              <a:rPr sz="1000" b="0">
                <a:solidFill>
                  <a:srgbClr val="000000"/>
                </a:solidFill>
                <a:latin typeface="맑은 고딕"/>
                <a:ea typeface="맑은 고딕"/>
              </a:rPr>
              <a:t>가 변환한다.</a:t>
            </a:r>
          </a:p>
          <a:p>
            <a:pPr lvl="2" marL="411480" indent="-137160">
              <a:spcBef>
                <a:spcPts val="300"/>
              </a:spcBef>
              <a:spcAft>
                <a:spcPts val="300"/>
              </a:spcAft>
              <a:buSzPct val="90000"/>
              <a:buFont typeface="Wingdings" pitchFamily="2" charset="2"/>
              <a:buChar char=""/>
            </a:pPr>
            <a:r>
              <a:rPr sz="1000" b="1">
                <a:solidFill>
                  <a:srgbClr val="000000"/>
                </a:solidFill>
                <a:latin typeface="맑은 고딕"/>
                <a:ea typeface="맑은 고딕"/>
              </a:rPr>
              <a:t>업무가 보냄:</a:t>
            </a:r>
            <a:r>
              <a:rPr sz="1000" b="0">
                <a:solidFill>
                  <a:srgbClr val="000000"/>
                </a:solidFill>
                <a:latin typeface="맑은 고딕"/>
                <a:ea typeface="맑은 고딕"/>
              </a:rPr>
              <a:t> </a:t>
            </a:r>
            <a:r>
              <a:rPr sz="1000" b="0">
                <a:solidFill>
                  <a:srgbClr val="000000"/>
                </a:solidFill>
                <a:latin typeface="맑은 고딕"/>
                <a:ea typeface="맑은 고딕"/>
              </a:rPr>
              <a:t>CardApprovalRequest(orderNumber, amount, cardApprovalData)</a:t>
            </a:r>
          </a:p>
          <a:p>
            <a:pPr lvl="2" marL="411480" indent="-137160">
              <a:spcBef>
                <a:spcPts val="300"/>
              </a:spcBef>
              <a:spcAft>
                <a:spcPts val="300"/>
              </a:spcAft>
              <a:buSzPct val="90000"/>
              <a:buFont typeface="Wingdings" pitchFamily="2" charset="2"/>
              <a:buChar char=""/>
            </a:pPr>
            <a:r>
              <a:rPr sz="1000" b="1">
                <a:solidFill>
                  <a:srgbClr val="000000"/>
                </a:solidFill>
                <a:latin typeface="맑은 고딕"/>
                <a:ea typeface="맑은 고딕"/>
              </a:rPr>
              <a:t>업무가 받음:</a:t>
            </a:r>
            <a:r>
              <a:rPr sz="1000" b="0">
                <a:solidFill>
                  <a:srgbClr val="000000"/>
                </a:solidFill>
                <a:latin typeface="맑은 고딕"/>
                <a:ea typeface="맑은 고딕"/>
              </a:rPr>
              <a:t> </a:t>
            </a:r>
            <a:r>
              <a:rPr sz="1000" b="0">
                <a:solidFill>
                  <a:srgbClr val="000000"/>
                </a:solidFill>
                <a:latin typeface="맑은 고딕"/>
                <a:ea typeface="맑은 고딕"/>
              </a:rPr>
              <a:t>CardApprovalResult(APPROVED | DECLINED | UNCONFIRMED)</a:t>
            </a:r>
          </a:p>
          <a:p>
            <a:pPr marL="182880" indent="0">
              <a:spcBef>
                <a:spcPts val="300"/>
              </a:spcBef>
              <a:spcAft>
                <a:spcPts val="300"/>
              </a:spcAft>
              <a:buNone/>
            </a:pPr>
            <a:r>
              <a:rPr sz="1000" b="1">
                <a:solidFill>
                  <a:srgbClr val="000000"/>
                </a:solidFill>
                <a:latin typeface="맑은 고딕"/>
                <a:ea typeface="맑은 고딕"/>
              </a:rPr>
              <a:t>필수 규칙</a:t>
            </a:r>
          </a:p>
          <a:p>
            <a:pPr lvl="2" marL="411480" indent="-137160">
              <a:spcBef>
                <a:spcPts val="300"/>
              </a:spcBef>
              <a:spcAft>
                <a:spcPts val="300"/>
              </a:spcAft>
              <a:buSzPct val="90000"/>
              <a:buFont typeface="Wingdings" pitchFamily="2" charset="2"/>
              <a:buChar char=""/>
            </a:pPr>
            <a:r>
              <a:rPr sz="1000" b="0">
                <a:solidFill>
                  <a:srgbClr val="000000"/>
                </a:solidFill>
                <a:latin typeface="맑은 고딕"/>
                <a:ea typeface="맑은 고딕"/>
              </a:rPr>
              <a:t>amount</a:t>
            </a:r>
            <a:r>
              <a:rPr sz="1000" b="0">
                <a:solidFill>
                  <a:srgbClr val="000000"/>
                </a:solidFill>
                <a:latin typeface="맑은 고딕"/>
                <a:ea typeface="맑은 고딕"/>
              </a:rPr>
              <a:t>는 원 단위의 0 이상 정수이며 저장된 주문 총액과 같아야 한다.</a:t>
            </a:r>
          </a:p>
          <a:p>
            <a:pPr lvl="2" marL="411480" indent="-137160">
              <a:spcBef>
                <a:spcPts val="300"/>
              </a:spcBef>
              <a:spcAft>
                <a:spcPts val="300"/>
              </a:spcAft>
              <a:buSzPct val="90000"/>
              <a:buFont typeface="Wingdings" pitchFamily="2" charset="2"/>
              <a:buChar char=""/>
            </a:pPr>
            <a:r>
              <a:rPr sz="1000" b="0">
                <a:solidFill>
                  <a:srgbClr val="000000"/>
                </a:solidFill>
                <a:latin typeface="맑은 고딕"/>
                <a:ea typeface="맑은 고딕"/>
              </a:rPr>
              <a:t>승인 시 현재 상품 판매가를 다시 조회하지 않는다.</a:t>
            </a:r>
          </a:p>
          <a:p>
            <a:pPr lvl="2" marL="411480" indent="-137160">
              <a:spcBef>
                <a:spcPts val="300"/>
              </a:spcBef>
              <a:spcAft>
                <a:spcPts val="300"/>
              </a:spcAft>
              <a:buSzPct val="90000"/>
              <a:buFont typeface="Wingdings" pitchFamily="2" charset="2"/>
              <a:buChar char=""/>
            </a:pPr>
            <a:r>
              <a:rPr sz="1000" b="0">
                <a:solidFill>
                  <a:srgbClr val="000000"/>
                </a:solidFill>
                <a:latin typeface="맑은 고딕"/>
                <a:ea typeface="맑은 고딕"/>
              </a:rPr>
              <a:t>APPROVED</a:t>
            </a:r>
            <a:r>
              <a:rPr sz="1000" b="0">
                <a:solidFill>
                  <a:srgbClr val="000000"/>
                </a:solidFill>
                <a:latin typeface="맑은 고딕"/>
                <a:ea typeface="맑은 고딕"/>
              </a:rPr>
              <a:t>만 주문을 </a:t>
            </a:r>
            <a:r>
              <a:rPr sz="1000" b="0">
                <a:solidFill>
                  <a:srgbClr val="000000"/>
                </a:solidFill>
                <a:latin typeface="맑은 고딕"/>
                <a:ea typeface="맑은 고딕"/>
              </a:rPr>
              <a:t>PAID</a:t>
            </a:r>
            <a:r>
              <a:rPr sz="1000" b="0">
                <a:solidFill>
                  <a:srgbClr val="000000"/>
                </a:solidFill>
                <a:latin typeface="맑은 고딕"/>
                <a:ea typeface="맑은 고딕"/>
              </a:rPr>
              <a:t>로 전이시킨다.</a:t>
            </a:r>
          </a:p>
        </p:txBody>
      </p:sp>
    </p:spTree>
    <p:extLst>
      <p:ext uri="{BB962C8B-B14F-4D97-AF65-F5344CB8AC3E}">
        <p14:creationId xmlns:p14="http://schemas.microsoft.com/office/powerpoint/2010/main" val="355543667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4F1F13-426B-086B-7D8C-9A58A0F879DB}"/>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AA26A92D-924E-0575-9551-F8FD7BFD3FAD}"/>
              </a:ext>
            </a:extLst>
          </p:cNvPr>
          <p:cNvSpPr>
            <a:spLocks noGrp="1"/>
          </p:cNvSpPr>
          <p:nvPr>
            <p:ph type="title"/>
          </p:nvPr>
        </p:nvSpPr>
        <p:spPr/>
        <p:txBody>
          <a:bodyPr/>
          <a:lstStyle/>
          <a:p>
            <a:r>
              <a:rPr sz="2400" b="1">
                <a:solidFill>
                  <a:srgbClr val="000000"/>
                </a:solidFill>
                <a:latin typeface="맑은 고딕"/>
                <a:ea typeface="맑은 고딕"/>
              </a:rPr>
              <a:t>“주문한다” 아키텍처 결정 </a:t>
            </a:r>
            <a:r>
              <a:rPr sz="2000" b="1">
                <a:solidFill>
                  <a:srgbClr val="000000"/>
                </a:solidFill>
                <a:latin typeface="맑은 고딕"/>
                <a:ea typeface="맑은 고딕"/>
              </a:rPr>
              <a:t>(5/5)</a:t>
            </a:r>
          </a:p>
          <a:p>
            <a:r>
              <a:rPr sz="1100" b="1">
                <a:solidFill>
                  <a:srgbClr val="000000"/>
                </a:solidFill>
                <a:latin typeface="맑은 고딕"/>
                <a:ea typeface="맑은 고딕"/>
              </a:rPr>
              <a:t>별첨. 실습 답</a:t>
            </a:r>
          </a:p>
        </p:txBody>
      </p:sp>
      <p:sp>
        <p:nvSpPr>
          <p:cNvPr id="3" name="슬라이드 번호 개체 틀 2">
            <a:extLst>
              <a:ext uri="{FF2B5EF4-FFF2-40B4-BE49-F238E27FC236}">
                <a16:creationId xmlns:a16="http://schemas.microsoft.com/office/drawing/2014/main" id="{12CF30EE-4DFD-8063-56B8-B8689E76DFCA}"/>
              </a:ext>
            </a:extLst>
          </p:cNvPr>
          <p:cNvSpPr>
            <a:spLocks noGrp="1"/>
          </p:cNvSpPr>
          <p:nvPr>
            <p:ph type="sldNum" sz="quarter" idx="10"/>
          </p:nvPr>
        </p:nvSpPr>
        <p:spPr/>
        <p:txBody>
          <a:bodyPr/>
          <a:lstStyle/>
          <a:p>
            <a:pPr>
              <a:defRPr/>
            </a:pPr>
            <a:r>
              <a:rPr lang="en-US" altLang="ko-KR">
                <a:solidFill>
                  <a:prstClr val="black"/>
                </a:solidFill>
              </a:rPr>
              <a:t>- 27 -</a:t>
            </a:r>
          </a:p>
        </p:txBody>
      </p:sp>
      <p:sp>
        <p:nvSpPr>
          <p:cNvPr id="5" name="텍스트 개체 틀 4">
            <a:extLst>
              <a:ext uri="{FF2B5EF4-FFF2-40B4-BE49-F238E27FC236}">
                <a16:creationId xmlns:a16="http://schemas.microsoft.com/office/drawing/2014/main" id="{D66274C8-E16F-5AEB-614B-D8D32DA3E8C6}"/>
              </a:ext>
            </a:extLst>
          </p:cNvPr>
          <p:cNvSpPr>
            <a:spLocks noGrp="1"/>
          </p:cNvSpPr>
          <p:nvPr>
            <p:ph type="body" sz="quarter" idx="11"/>
          </p:nvPr>
        </p:nvSpPr>
        <p:spPr/>
        <p:txBody>
          <a:bodyPr/>
          <a:lstStyle/>
          <a:p>
            <a:r>
              <a:rPr kumimoji="1" lang="en-US" altLang="ko-KR" sz="1400" dirty="0" err="1"/>
              <a:t>별첨: 06. 아키텍처</a:t>
            </a:r>
          </a:p>
        </p:txBody>
      </p:sp>
      <p:sp>
        <p:nvSpPr>
          <p:cNvPr id="6" name="텍스트 개체 틀 5">
            <a:extLst>
              <a:ext uri="{FF2B5EF4-FFF2-40B4-BE49-F238E27FC236}">
                <a16:creationId xmlns:a16="http://schemas.microsoft.com/office/drawing/2014/main" id="{A24E58E1-194B-A320-AEEE-24D08685BB6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A219F420-613B-6234-45F6-0955A9A4505F}"/>
              </a:ext>
            </a:extLst>
          </p:cNvPr>
          <p:cNvSpPr>
            <a:spLocks noGrp="1"/>
          </p:cNvSpPr>
          <p:nvPr>
            <p:ph type="body" sz="quarter" idx="13"/>
          </p:nvPr>
        </p:nvSpPr>
        <p:spPr/>
        <p:txBody>
          <a:bodyPr/>
          <a:lstStyle/>
          <a:p>
            <a:endParaRPr kumimoji="1" lang="en-US" altLang="ko-KR" dirty="0"/>
          </a:p>
        </p:txBody>
      </p:sp>
      <p:sp>
        <p:nvSpPr>
          <p:cNvPr id="8" name="내용 개체 틀 7">
            <a:extLst>
              <a:ext uri="{FF2B5EF4-FFF2-40B4-BE49-F238E27FC236}">
                <a16:creationId xmlns:a16="http://schemas.microsoft.com/office/drawing/2014/main" id="{BEBA2C4A-B0BF-F2E4-EA6E-614C99CBA184}"/>
              </a:ext>
            </a:extLst>
          </p:cNvPr>
          <p:cNvSpPr>
            <a:spLocks noGrp="1"/>
          </p:cNvSpPr>
          <p:nvPr>
            <p:ph idx="1"/>
          </p:nvPr>
        </p:nvSpPr>
        <p:spPr/>
        <p:txBody>
          <a:bodyPr>
            <a:normAutofit/>
          </a:bodyPr>
          <a:lstStyle/>
          <a:p>
            <a:pPr lvl="2" marL="411480" indent="-137160">
              <a:spcBef>
                <a:spcPts val="300"/>
              </a:spcBef>
              <a:spcAft>
                <a:spcPts val="300"/>
              </a:spcAft>
              <a:buSzPct val="90000"/>
              <a:buFont typeface="Wingdings" pitchFamily="2" charset="2"/>
              <a:buChar char=""/>
            </a:pPr>
            <a:r>
              <a:rPr sz="1000" b="0">
                <a:solidFill>
                  <a:srgbClr val="000000"/>
                </a:solidFill>
                <a:latin typeface="맑은 고딕"/>
                <a:ea typeface="맑은 고딕"/>
              </a:rPr>
              <a:t>DECLINED</a:t>
            </a:r>
            <a:r>
              <a:rPr sz="1000" b="0">
                <a:solidFill>
                  <a:srgbClr val="000000"/>
                </a:solidFill>
                <a:latin typeface="맑은 고딕"/>
                <a:ea typeface="맑은 고딕"/>
              </a:rPr>
              <a:t>는 주문을 </a:t>
            </a:r>
            <a:r>
              <a:rPr sz="1000" b="0">
                <a:solidFill>
                  <a:srgbClr val="000000"/>
                </a:solidFill>
                <a:latin typeface="맑은 고딕"/>
                <a:ea typeface="맑은 고딕"/>
              </a:rPr>
              <a:t>PENDING_PAYMENT</a:t>
            </a:r>
            <a:r>
              <a:rPr sz="1000" b="0">
                <a:solidFill>
                  <a:srgbClr val="000000"/>
                </a:solidFill>
                <a:latin typeface="맑은 고딕"/>
                <a:ea typeface="맑은 고딕"/>
              </a:rPr>
              <a:t>로 유지한다.</a:t>
            </a:r>
          </a:p>
          <a:p>
            <a:pPr lvl="2" marL="411480" indent="-137160">
              <a:spcBef>
                <a:spcPts val="300"/>
              </a:spcBef>
              <a:spcAft>
                <a:spcPts val="300"/>
              </a:spcAft>
              <a:buSzPct val="90000"/>
              <a:buFont typeface="Wingdings" pitchFamily="2" charset="2"/>
              <a:buChar char=""/>
            </a:pPr>
            <a:r>
              <a:rPr sz="1000" b="0">
                <a:solidFill>
                  <a:srgbClr val="000000"/>
                </a:solidFill>
                <a:latin typeface="맑은 고딕"/>
                <a:ea typeface="맑은 고딕"/>
              </a:rPr>
              <a:t>UNCONFIRMED</a:t>
            </a:r>
            <a:r>
              <a:rPr sz="1000" b="0">
                <a:solidFill>
                  <a:srgbClr val="000000"/>
                </a:solidFill>
                <a:latin typeface="맑은 고딕"/>
                <a:ea typeface="맑은 고딕"/>
              </a:rPr>
              <a:t>는 승인 또는 거절로 해석하지 않는다.</a:t>
            </a:r>
          </a:p>
          <a:p>
            <a:pPr lvl="2" marL="411480" indent="-137160">
              <a:spcBef>
                <a:spcPts val="300"/>
              </a:spcBef>
              <a:spcAft>
                <a:spcPts val="300"/>
              </a:spcAft>
              <a:buSzPct val="90000"/>
              <a:buFont typeface="Wingdings" pitchFamily="2" charset="2"/>
              <a:buChar char=""/>
            </a:pPr>
            <a:r>
              <a:rPr sz="1000" b="0">
                <a:solidFill>
                  <a:srgbClr val="000000"/>
                </a:solidFill>
                <a:latin typeface="맑은 고딕"/>
                <a:ea typeface="맑은 고딕"/>
              </a:rPr>
              <a:t>APPROVED</a:t>
            </a:r>
            <a:r>
              <a:rPr sz="1000" b="0">
                <a:solidFill>
                  <a:srgbClr val="000000"/>
                </a:solidFill>
                <a:latin typeface="맑은 고딕"/>
                <a:ea typeface="맑은 고딕"/>
              </a:rPr>
              <a:t>, </a:t>
            </a:r>
            <a:r>
              <a:rPr sz="1000" b="0">
                <a:solidFill>
                  <a:srgbClr val="000000"/>
                </a:solidFill>
                <a:latin typeface="맑은 고딕"/>
                <a:ea typeface="맑은 고딕"/>
              </a:rPr>
              <a:t>DECLINED</a:t>
            </a:r>
            <a:r>
              <a:rPr sz="1000" b="0">
                <a:solidFill>
                  <a:srgbClr val="000000"/>
                </a:solidFill>
                <a:latin typeface="맑은 고딕"/>
                <a:ea typeface="맑은 고딕"/>
              </a:rPr>
              <a:t>, </a:t>
            </a:r>
            <a:r>
              <a:rPr sz="1000" b="0">
                <a:solidFill>
                  <a:srgbClr val="000000"/>
                </a:solidFill>
                <a:latin typeface="맑은 고딕"/>
                <a:ea typeface="맑은 고딕"/>
              </a:rPr>
              <a:t>UNCONFIRMED</a:t>
            </a:r>
            <a:r>
              <a:rPr sz="1000" b="0">
                <a:solidFill>
                  <a:srgbClr val="000000"/>
                </a:solidFill>
                <a:latin typeface="맑은 고딕"/>
                <a:ea typeface="맑은 고딕"/>
              </a:rPr>
              <a:t>는 </a:t>
            </a:r>
            <a:r>
              <a:rPr sz="1000" b="0">
                <a:solidFill>
                  <a:srgbClr val="000000"/>
                </a:solidFill>
                <a:latin typeface="맑은 고딕"/>
                <a:ea typeface="맑은 고딕"/>
              </a:rPr>
              <a:t>payment</a:t>
            </a:r>
            <a:r>
              <a:rPr sz="1000" b="0">
                <a:solidFill>
                  <a:srgbClr val="000000"/>
                </a:solidFill>
                <a:latin typeface="맑은 고딕"/>
                <a:ea typeface="맑은 고딕"/>
              </a:rPr>
              <a:t>가 사용하는 결제 업무 결과이며 주문 상태가 아니다.</a:t>
            </a:r>
          </a:p>
          <a:p>
            <a:pPr lvl="2" marL="411480" indent="-137160">
              <a:spcBef>
                <a:spcPts val="300"/>
              </a:spcBef>
              <a:spcAft>
                <a:spcPts val="300"/>
              </a:spcAft>
              <a:buSzPct val="90000"/>
              <a:buFont typeface="Wingdings" pitchFamily="2" charset="2"/>
              <a:buChar char=""/>
            </a:pPr>
            <a:r>
              <a:rPr sz="1000" b="0">
                <a:solidFill>
                  <a:srgbClr val="000000"/>
                </a:solidFill>
                <a:latin typeface="맑은 고딕"/>
                <a:ea typeface="맑은 고딕"/>
              </a:rPr>
              <a:t>UNCONFIRMED</a:t>
            </a:r>
            <a:r>
              <a:rPr sz="1000" b="0">
                <a:solidFill>
                  <a:srgbClr val="000000"/>
                </a:solidFill>
                <a:latin typeface="맑은 고딕"/>
                <a:ea typeface="맑은 고딕"/>
              </a:rPr>
              <a:t>는 결제 응답을 확정할 수 없다는 업무 결과다.</a:t>
            </a:r>
          </a:p>
          <a:p>
            <a:pPr marL="182880" indent="0">
              <a:spcBef>
                <a:spcPts val="300"/>
              </a:spcBef>
              <a:spcAft>
                <a:spcPts val="300"/>
              </a:spcAft>
              <a:buNone/>
            </a:pPr>
            <a:r>
              <a:rPr sz="1000" b="1">
                <a:solidFill>
                  <a:srgbClr val="000000"/>
                </a:solidFill>
                <a:latin typeface="맑은 고딕"/>
                <a:ea typeface="맑은 고딕"/>
              </a:rPr>
              <a:t>정하지 않는 것</a:t>
            </a:r>
          </a:p>
          <a:p>
            <a:pPr lvl="2" marL="411480" indent="-137160">
              <a:spcBef>
                <a:spcPts val="300"/>
              </a:spcBef>
              <a:spcAft>
                <a:spcPts val="300"/>
              </a:spcAft>
              <a:buSzPct val="90000"/>
              <a:buFont typeface="Wingdings" pitchFamily="2" charset="2"/>
              <a:buChar char=""/>
            </a:pPr>
            <a:r>
              <a:rPr sz="1000" b="0">
                <a:solidFill>
                  <a:srgbClr val="000000"/>
                </a:solidFill>
                <a:latin typeface="맑은 고딕"/>
                <a:ea typeface="맑은 고딕"/>
              </a:rPr>
              <a:t>카드 원문 정보를 주문 도메인에 저장할지 정하지 않는다.</a:t>
            </a:r>
          </a:p>
          <a:p>
            <a:pPr lvl="2" marL="411480" indent="-137160">
              <a:spcBef>
                <a:spcPts val="300"/>
              </a:spcBef>
              <a:spcAft>
                <a:spcPts val="300"/>
              </a:spcAft>
              <a:buSzPct val="90000"/>
              <a:buFont typeface="Wingdings" pitchFamily="2" charset="2"/>
              <a:buChar char=""/>
            </a:pPr>
            <a:r>
              <a:rPr sz="1000" b="0">
                <a:solidFill>
                  <a:srgbClr val="000000"/>
                </a:solidFill>
                <a:latin typeface="맑은 고딕"/>
                <a:ea typeface="맑은 고딕"/>
              </a:rPr>
              <a:t>외부 참조 값의 보존 여부를 정하지 않는다.</a:t>
            </a:r>
          </a:p>
          <a:p>
            <a:pPr lvl="2" marL="411480" indent="-137160">
              <a:spcBef>
                <a:spcPts val="300"/>
              </a:spcBef>
              <a:spcAft>
                <a:spcPts val="300"/>
              </a:spcAft>
              <a:buSzPct val="90000"/>
              <a:buFont typeface="Wingdings" pitchFamily="2" charset="2"/>
              <a:buChar char=""/>
            </a:pPr>
            <a:r>
              <a:rPr sz="1000" b="0">
                <a:solidFill>
                  <a:srgbClr val="000000"/>
                </a:solidFill>
                <a:latin typeface="맑은 고딕"/>
                <a:ea typeface="맑은 고딕"/>
              </a:rPr>
              <a:t>중복 요청의 식별과 처리 계약을 정하지 않는다.</a:t>
            </a:r>
          </a:p>
          <a:p>
            <a:pPr lvl="2" marL="411480" indent="-137160">
              <a:spcBef>
                <a:spcPts val="300"/>
              </a:spcBef>
              <a:spcAft>
                <a:spcPts val="300"/>
              </a:spcAft>
              <a:buSzPct val="90000"/>
              <a:buFont typeface="Wingdings" pitchFamily="2" charset="2"/>
              <a:buChar char=""/>
            </a:pPr>
            <a:r>
              <a:rPr sz="1000" b="0">
                <a:solidFill>
                  <a:srgbClr val="000000"/>
                </a:solidFill>
                <a:latin typeface="맑은 고딕"/>
                <a:ea typeface="맑은 고딕"/>
              </a:rPr>
              <a:t>UNCONFIRMED</a:t>
            </a:r>
            <a:r>
              <a:rPr sz="1000" b="0">
                <a:solidFill>
                  <a:srgbClr val="000000"/>
                </a:solidFill>
                <a:latin typeface="맑은 고딕"/>
                <a:ea typeface="맑은 고딕"/>
              </a:rPr>
              <a:t> 이후의 처리와 재결제 허용 여부를 정하지 않는다.</a:t>
            </a:r>
          </a:p>
          <a:p>
            <a:pPr lvl="2" marL="411480" indent="-137160">
              <a:spcBef>
                <a:spcPts val="300"/>
              </a:spcBef>
              <a:spcAft>
                <a:spcPts val="300"/>
              </a:spcAft>
              <a:buSzPct val="90000"/>
              <a:buFont typeface="Wingdings" pitchFamily="2" charset="2"/>
              <a:buChar char=""/>
            </a:pPr>
            <a:r>
              <a:rPr sz="1000" b="0">
                <a:solidFill>
                  <a:srgbClr val="000000"/>
                </a:solidFill>
                <a:latin typeface="맑은 고딕"/>
                <a:ea typeface="맑은 고딕"/>
              </a:rPr>
              <a:t>결제 시스템이 확정 불가 결과의 조회 기능을 제공하는지 정하지 않는다.</a:t>
            </a:r>
          </a:p>
          <a:p>
            <a:pPr lvl="2" marL="411480" indent="-137160">
              <a:spcBef>
                <a:spcPts val="300"/>
              </a:spcBef>
              <a:spcAft>
                <a:spcPts val="300"/>
              </a:spcAft>
              <a:buSzPct val="90000"/>
              <a:buFont typeface="Wingdings" pitchFamily="2" charset="2"/>
              <a:buChar char=""/>
            </a:pPr>
            <a:r>
              <a:rPr sz="1000" b="0">
                <a:solidFill>
                  <a:srgbClr val="000000"/>
                </a:solidFill>
                <a:latin typeface="맑은 고딕"/>
                <a:ea typeface="맑은 고딕"/>
              </a:rPr>
              <a:t>결제 연동의 독립 배포·팀 소유·별도 출시 필요 여부를 정하지 않는다.</a:t>
            </a:r>
          </a:p>
        </p:txBody>
      </p:sp>
    </p:spTree>
    <p:extLst>
      <p:ext uri="{BB962C8B-B14F-4D97-AF65-F5344CB8AC3E}">
        <p14:creationId xmlns:p14="http://schemas.microsoft.com/office/powerpoint/2010/main" val="3555436673"/>
      </p:ext>
    </p:extLst>
  </p:cSld>
  <p:clrMapOvr>
    <a:masterClrMapping/>
  </p:clrMapOvr>
</p:sld>
</file>

<file path=ppt/theme/theme1.xml><?xml version="1.0" encoding="utf-8"?>
<a:theme xmlns:a="http://schemas.openxmlformats.org/drawingml/2006/main" name="4_Office 테마">
  <a:themeElements>
    <a:clrScheme name="태양">
      <a:dk1>
        <a:sysClr val="windowText" lastClr="000000"/>
      </a:dk1>
      <a:lt1>
        <a:sysClr val="window" lastClr="FFFFFF"/>
      </a:lt1>
      <a:dk2>
        <a:srgbClr val="4F271C"/>
      </a:dk2>
      <a:lt2>
        <a:srgbClr val="E7DEC9"/>
      </a:lt2>
      <a:accent1>
        <a:srgbClr val="3891A7"/>
      </a:accent1>
      <a:accent2>
        <a:srgbClr val="FEB80A"/>
      </a:accent2>
      <a:accent3>
        <a:srgbClr val="C32D2E"/>
      </a:accent3>
      <a:accent4>
        <a:srgbClr val="84AA33"/>
      </a:accent4>
      <a:accent5>
        <a:srgbClr val="964305"/>
      </a:accent5>
      <a:accent6>
        <a:srgbClr val="475A8D"/>
      </a:accent6>
      <a:hlink>
        <a:srgbClr val="8DC765"/>
      </a:hlink>
      <a:folHlink>
        <a:srgbClr val="AA8A14"/>
      </a:folHlink>
    </a:clrScheme>
    <a:fontScheme name="Office">
      <a:majorFont>
        <a:latin typeface="맑은 고딕"/>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맑은 고딕"/>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spPr>
      <a:bodyPr lIns="0" rIns="0" rtlCol="0" anchor="ctr"/>
      <a:lstStyle>
        <a:defPPr algn="ctr">
          <a:defRPr sz="1200" b="1" dirty="0" smtClean="0">
            <a:solidFill>
              <a:schemeClr val="bg1"/>
            </a:solidFill>
          </a:defRPr>
        </a:defPPr>
      </a:lstStyle>
      <a:style>
        <a:lnRef idx="2">
          <a:schemeClr val="dk1">
            <a:shade val="50000"/>
          </a:schemeClr>
        </a:lnRef>
        <a:fillRef idx="1">
          <a:schemeClr val="dk1"/>
        </a:fillRef>
        <a:effectRef idx="0">
          <a:schemeClr val="dk1"/>
        </a:effectRef>
        <a:fontRef idx="minor">
          <a:schemeClr val="lt1"/>
        </a:fontRef>
      </a:style>
    </a:spDef>
  </a:objectDefaults>
  <a:extraClrScheme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0</Words>
  <Application>Microsoft Macintosh PowerPoint</Application>
  <PresentationFormat>화면 슬라이드 쇼(4:3)</PresentationFormat>
  <Paragraphs>0</Paragraphs>
  <Slides>27</Slides>
  <Notes>22</Notes>
  <HiddenSlides>0</HiddenSlides>
  <MMClips>0</MMClips>
  <ScaleCrop>false</ScaleCrop>
  <HeadingPairs>
    <vt:vector size="6" baseType="variant">
      <vt:variant>
        <vt:lpstr>사용한 글꼴</vt:lpstr>
      </vt:variant>
      <vt:variant>
        <vt:i4>3</vt:i4>
      </vt:variant>
      <vt:variant>
        <vt:lpstr>테마</vt:lpstr>
      </vt:variant>
      <vt:variant>
        <vt:i4>1</vt:i4>
      </vt:variant>
      <vt:variant>
        <vt:lpstr>슬라이드 제목</vt:lpstr>
      </vt:variant>
      <vt:variant>
        <vt:i4>27</vt:i4>
      </vt:variant>
    </vt:vector>
  </HeadingPairs>
  <TitlesOfParts>
    <vt:vector size="31" baseType="lpstr">
      <vt:lpstr>맑은 고딕</vt:lpstr>
      <vt:lpstr>Arial</vt:lpstr>
      <vt:lpstr>Wingdings</vt:lpstr>
      <vt:lpstr>4_Office 테마</vt:lpstr>
      <vt:lpstr>06. 아키텍처 목차</vt:lpstr>
      <vt:lpstr>01. 세션 목표</vt:lpstr>
      <vt:lpstr>02. 아키텍처가 정하는 것</vt:lpstr>
      <vt:lpstr>스타일 넷의 비교 02. 아키텍처가 정하는 것</vt:lpstr>
      <vt:lpstr>이 과정이 쓰는 것 02. 아키텍처가 정하는 것</vt:lpstr>
      <vt:lpstr>03. 설계 원칙</vt:lpstr>
      <vt:lpstr>응집도 03. 설계 원칙</vt:lpstr>
      <vt:lpstr>결합도 03. 설계 원칙</vt:lpstr>
      <vt:lpstr>단일 책임 03. 설계 원칙</vt:lpstr>
      <vt:lpstr>의존성 역전 03. 설계 원칙</vt:lpstr>
      <vt:lpstr>04. 업무 패키지와 외부 시스템</vt:lpstr>
      <vt:lpstr>패키지 배치 04. 업무 패키지와 외부 시스템</vt:lpstr>
      <vt:lpstr>외부 연동 규격 04. 업무 패키지와 외부 시스템</vt:lpstr>
      <vt:lpstr>05. 의존 규칙</vt:lpstr>
      <vt:lpstr>허용과 금지 05. 의존 규칙</vt:lpstr>
      <vt:lpstr>대역으로 업무 규칙 확인하기 06. 검증하기 쉬운 구조</vt:lpstr>
      <vt:lpstr>규칙 위반을 검사하기 06. 검증하기 쉬운 구조</vt:lpstr>
      <vt:lpstr>07. 사람과 AI의 몫</vt:lpstr>
      <vt:lpstr>기술로 나눈 경계 08. 잘못된 관행</vt:lpstr>
      <vt:lpstr>글만 있는 규칙 08. 잘못된 관행</vt:lpstr>
      <vt:lpstr>09. 실습 6 — 아키텍처</vt:lpstr>
      <vt:lpstr>10. 요약</vt:lpstr>
      <vt:lpstr>“주문한다” 아키텍처 결정 (1/5) 별첨. 실습 답</vt:lpstr>
      <vt:lpstr>“주문한다” 아키텍처 결정 (2/5) 별첨. 실습 답</vt:lpstr>
      <vt:lpstr>“주문한다” 아키텍처 결정 (3/5) 별첨. 실습 답</vt:lpstr>
      <vt:lpstr>“주문한다” 아키텍처 결정 (4/5) 별첨. 실습 답</vt:lpstr>
      <vt:lpstr>“주문한다” 아키텍처 결정 (5/5) 별첨. 실습 답</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06. 아키텍처</dc:title>
  <dc:creator>Kim YoungSan</dc:creator>
  <cp:lastModifiedBy>Youngon Kim</cp:lastModifiedBy>
  <cp:revision>42</cp:revision>
  <dcterms:created xsi:type="dcterms:W3CDTF">2021-02-25T22:04:20Z</dcterms:created>
  <dcterms:modified xsi:type="dcterms:W3CDTF">2026-09-21T23:10:41Z</dcterms:modified>
</cp:coreProperties>
</file>