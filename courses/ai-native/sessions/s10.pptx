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  <p:sldId id="274" r:id="javaLecture19"/>
    <p:sldId id="275" r:id="javaLecture20"/>
    <p:sldId id="276" r:id="javaLecture21"/>
    <p:sldId id="277" r:id="javaLecture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Relationship Id="javaLecture19" Type="http://schemas.openxmlformats.org/officeDocument/2006/relationships/slide" Target="slides/slide19.xml"/><Relationship Id="javaLecture20" Type="http://schemas.openxmlformats.org/officeDocument/2006/relationships/slide" Target="slides/slide20.xml"/><Relationship Id="javaLecture21" Type="http://schemas.openxmlformats.org/officeDocument/2006/relationships/slide" Target="slides/slide21.xml"/><Relationship Id="javaLecture22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09. 검사 파이프라인"이 한 번의 실행을 판정하는 장치를 세웠다. 이 세션은 그 판정을 여러 번 모아 계속 맡길지 정한다.</a:t>
            </a:r>
          </a:p>
          <a:p>
            <a:pPr lvl="0"/>
            <a:r>
              <a:rPr lang="ko-KR" sz="1200"/>
              <a:t>기준 원전은 [Anthropic 2026a]이고, 체감과 측정은 [METR 2025], 벤치마크의 한계는 [Hassan 외 2026], 검사의 단순화는 [Anthropic 2026b], 처리량 지표는 [Thoughtworks 2026], 위험 항목은 [NIST 2024]로 받친다.</a:t>
            </a:r>
          </a:p>
          <a:p>
            <a:pPr lvl="0"/>
            <a:r>
              <a:rPr lang="ko-KR" sz="1200"/>
              <a:t>벤더 가격표와 조직의 비용 관리 체계는 범위 밖이다. 과정은 판단의 틀과 측정할 항목만 주고 합격선이 될 수치는 주지 않는다.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토큰이 어떻게 드는지(맥락이 호출마다 다시 들어간다, 캐싱, 반복 횟수)는 "세션 02. LLM이라는 재료"의 「03. 비용의 구조」가 다뤘다. 여기서는 사람의 시간까지 합친 득실을 본다.</a:t>
            </a:r>
          </a:p>
          <a:p>
            <a:pPr lvl="0"/>
            <a:r>
              <a:rPr lang="ko-KR" sz="1200"/>
              <a:t>표의 넷은 이 과정이 세션마다 다룬 활동이다. 수강생에게 자기 팀의 일로 같은 표를 채우게 한다.</a:t>
            </a:r>
          </a:p>
          <a:p>
            <a:pPr lvl="0"/>
            <a:r>
              <a:rPr lang="ko-KR" sz="1200"/>
              <a:t>네 번째 줄의 새 일이 "세션 09. 검사 파이프라인"에서 실제로 생긴 것이다 — 검사를 만들고 메시지를 고치는 시간은 공짜가 아니다.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세 기간의 구분은 이 과정의 정리다(course-design.md의 「비용은 교환이다」). 원전의 분류가 아니다.</a:t>
            </a:r>
          </a:p>
          <a:p>
            <a:pPr lvl="0"/>
            <a:r>
              <a:rPr lang="ko-KR" sz="1200"/>
              <a:t>장기의 오판은 양쪽으로 작동한다 — 내년에 싸질 것에 오늘 깊이 투자하는 것과, 내려올 때까지 사람이 하다 자산을 못 쌓는 것이다.</a:t>
            </a:r>
          </a:p>
          <a:p>
            <a:pPr lvl="0"/>
            <a:r>
              <a:rPr lang="ko-KR" sz="1200"/>
              <a:t>중기의 판단이 가장 자주 틀린다. 수강생에게 묻는다 — 지금 손으로 하는 일 중 열 번 이상 올 일은 무엇인가?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[Anthropic 2026a] 원문 확인. 두 번째 문장은 평가 없이 개발하던 팀이 겪는 상태를 적은 부분이다.</a:t>
            </a:r>
          </a:p>
          <a:p>
            <a:pPr lvl="0"/>
            <a:r>
              <a:rPr lang="ko-KR" sz="1200"/>
              <a:t>"세션 09. 검사 파이프라인"의 검사가 한 번의 실행을 판정했다면, 평가 세트는 그 판정을 여러 번 모은 것이다.</a:t>
            </a:r>
          </a:p>
          <a:p>
            <a:pPr lvl="0"/>
            <a:r>
              <a:rPr lang="ko-KR" sz="1200"/>
              <a:t>데모가 통한 자리에서 평가가 실패하는 경험을 수업에서 짚는다. 둘 다 같은 코드를 보지만 시행 횟수가 다르다.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[Hassan 외 2026] 원문 확인. 저자들은 그 결과를 인상적이라고 적으면서도, 의도 정합에 초점이 없어 원래의 진짜 요구를 충족하지 못할 가능성을 함께 짚는다.</a:t>
            </a:r>
          </a:p>
          <a:p>
            <a:pPr lvl="0"/>
            <a:r>
              <a:rPr lang="ko-KR" sz="1200"/>
              <a:t>벤치마크를 쓸모없다고 말하는 것이 아니다. 모델을 고르는 출발점으로는 쓰고, 맡길지의 판단에는 내 평가 세트를 쓴다.</a:t>
            </a:r>
          </a:p>
          <a:p>
            <a:pPr lvl="0"/>
            <a:r>
              <a:rPr lang="ko-KR" sz="1200"/>
              <a:t>수치는 2026-10 기준이며 순위는 자주 바뀐다. 과정을 열 때마다 원문을 다시 확인한다.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[METR 2025] 원문 확인. 2025년 초의 도구와 익숙한 저장소라는 범위를 반드시 함께 말한다.</a:t>
            </a:r>
          </a:p>
          <a:p>
            <a:pPr lvl="0"/>
            <a:r>
              <a:rPr lang="ko-KR" sz="1200"/>
              <a:t>이 결과를 "AI는 느리다"로 일반화하지 않는다. 범위 밖으로 끌고 가면 같은 잘못을 반대 방향으로 저지르는 것이다.</a:t>
            </a:r>
          </a:p>
          <a:p>
            <a:pPr lvl="0"/>
            <a:r>
              <a:rPr lang="ko-KR" sz="1200"/>
              <a:t>느낌이 틀린 방향이 한쪽이 아니다. 기대도 20% 넘게 틀렸고 경험한 뒤의 믿음도 틀렸다.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네 부분의 이름은 [Anthropic 2026a]의 구조를 과정의 말로 옮긴 것이다. 원문은 평가를 단일 턴과 다중 턴으로 나누어 설명한다.</a:t>
            </a:r>
          </a:p>
          <a:p>
            <a:pPr lvl="0"/>
            <a:r>
              <a:rPr lang="ko-KR" sz="1200"/>
              <a:t>3회는 교육용 값이다. 실제로는 한 번의 비용과 결과의 변동 폭을 보고 정한다.</a:t>
            </a:r>
          </a:p>
          <a:p>
            <a:pPr lvl="0"/>
            <a:r>
              <a:rPr lang="ko-KR" sz="1200"/>
              <a:t>평가 세트를 저장소에 둔다. 과제와 기대값이 코드와 함께 버전 관리되어야 지난 점수와 비교할 수 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[Anthropic 2026a] 원문 확인. 원문은 세 채점기가 기록이나 결과의 일부를 각각 판정한다고 적는다.</a:t>
            </a:r>
          </a:p>
          <a:p>
            <a:pPr lvl="0"/>
            <a:r>
              <a:rPr lang="ko-KR" sz="1200"/>
              <a:t>검사와 채점기의 차이를 짚는다 — 검사는 실행 중에 고치라고 신호를 주고, 채점기는 시행이 끝난 뒤 결과를 판정한다. 같은 도구가 두 역할을 한다.</a:t>
            </a:r>
          </a:p>
          <a:p>
            <a:pPr lvl="0"/>
            <a:r>
              <a:rPr lang="ko-KR" sz="1200"/>
              <a:t>금액 계산의 심사는 "세션 09. 검사 파이프라인"에서 CI에 남긴 추론적 검사다. 평가에서는 그것이 채점기가 된다.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[Anthropic 2026a] 원문 확인. 원문은 회귀 평가의 점수 하락이 어딘가 망가졌다는 신호라고 적는다.</a:t>
            </a:r>
          </a:p>
          <a:p>
            <a:pPr lvl="0"/>
            <a:r>
              <a:rPr lang="ko-KR" sz="1200"/>
              <a:t>한 평가 세트에 두 종류를 함께 둘 수 있으나 집계는 따로 낸다. 섞으면 회귀의 하락이 능력의 상승에 가려진다.</a:t>
            </a:r>
          </a:p>
          <a:p>
            <a:pPr lvl="0"/>
            <a:r>
              <a:rPr lang="ko-KR" sz="1200"/>
              <a:t>고친 실패는 회귀 과제로 남긴다. 그래야 같은 실패가 다음 작업에서 다시 나는지 알 수 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배송 요청 실패는 "세션 03. 요구와 수용 기준"에서 미정으로 남긴 항목이고, "세션 11. 종합 실행"에서 실제로 드러난다. 평가자가 정한 행동 기준(멈추고 묻는다)과 아직 미정인 업무 정책을 구분한다.</a:t>
            </a:r>
          </a:p>
          <a:p>
            <a:pPr lvl="0"/>
            <a:r>
              <a:rPr lang="ko-KR" sz="1200"/>
              <a:t>과제의 변형은 더 있다 — 경계값(수량 0, 금액 0)과 맥락을 뺀 실행이다. 수업에서는 대표 다섯만 보인다.</a:t>
            </a:r>
          </a:p>
          <a:p>
            <a:pPr lvl="0"/>
            <a:r>
              <a:rPr lang="ko-KR" sz="1200"/>
              <a:t>세 번 중 두 번 통과하면 약 67%다. 그 수를 합격·불합격으로 읽지 말고 실패한 시행의 원인을 보게 한다.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[Anthropic 2026a] 원문 확인. 원문은 고정된 과제 묶음을 두면 이 값들이 공짜로 따라온다고 적는다.</a:t>
            </a:r>
          </a:p>
          <a:p>
            <a:pPr lvl="0"/>
            <a:r>
              <a:rPr lang="ko-KR" sz="1200"/>
              <a:t>사람의 개입 횟수는 이 과정이 더한 값이다. "세션 08. 위임"의 확인 지점과 멈출 조건이 몇 번 작동했는지를 기록한다.</a:t>
            </a:r>
          </a:p>
          <a:p>
            <a:pPr lvl="0"/>
            <a:r>
              <a:rPr lang="ko-KR" sz="1200"/>
              <a:t>수강생에게 묻는다 — 통과율은 같고 토큰은 늘었지만 검토 시간이 줄었다면 어느 구성을 고를 것인가?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네 계기는 앞 세션들이 만든 산출물의 목록과 같다 — 맥락과 권한은 "세션 08. 위임", 검사는 "세션 09. 검사 파이프라인"이다.</a:t>
            </a:r>
          </a:p>
          <a:p>
            <a:pPr lvl="0"/>
            <a:r>
              <a:rPr lang="ko-KR" sz="1200"/>
              <a:t>평가를 돌리는 것도 비용이다. 전부가 아니라 회귀부터 돌리는 순서를 정해 둔다.</a:t>
            </a:r>
          </a:p>
          <a:p>
            <a:pPr lvl="0"/>
            <a:r>
              <a:rPr lang="ko-KR" sz="1200"/>
              <a:t>모델 변경은 다음 항목에서 따로 본다. 나머지 셋은 사람이 고친 것이므로 고친 사람이 돌린다.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[Anthropic 2026b] 원문 확인. 원문은 모델 교체를 하네스를 단순하게 만드는 계기로 삼은 경험을 적는다.</a:t>
            </a:r>
          </a:p>
          <a:p>
            <a:pPr lvl="0"/>
            <a:r>
              <a:rPr lang="ko-KR" sz="1200"/>
              <a:t>보조 장치와 권한의 차이를 분명히 한다. 보조 장치는 모델의 수행을 돕는 구성이고, 권한은 "세션 08. 위임"이 세운 실행 제약이다.</a:t>
            </a:r>
          </a:p>
          <a:p>
            <a:pPr lvl="0"/>
            <a:r>
              <a:rPr lang="ko-KR" sz="1200"/>
              <a:t>"세션 02. LLM이라는 재료"의 가장 단순한 충분한 형태와 같은 판단이다. 자율성도 검사도 증거가 허락할 때 바꾼다.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[Lopopolo 2026] 원문 확인. golden principles는 저자 팀이 붙인 이름이며, 이 과정은 그 방식(규칙을 저장소에 적고 정리를 주기로 돌린다)만 가져온다.</a:t>
            </a:r>
          </a:p>
          <a:p>
            <a:pPr lvl="0"/>
            <a:r>
              <a:rPr lang="ko-KR" sz="1200"/>
              <a:t>규칙을 적는 자리는 "세션 08. 위임"의 맥락, 판정하는 자리는 "세션 09. 검사 파이프라인"의 검사다. 표류는 그 둘이 비어 있을 때 빨라진다.</a:t>
            </a:r>
          </a:p>
          <a:p>
            <a:pPr lvl="0"/>
            <a:r>
              <a:rPr lang="ko-KR" sz="1200"/>
              <a:t>엔트로피라는 말은 쓰지 않는다 — 뜻이 넓어 과제에서 무엇을 할지 말해 주지 않는다.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[NIST 2024] 원문 확인. NIST의 분류는 모델·사람의 오용·생태계의 세 묶음이며 본문은 첫 묶음만 쓴다.</a:t>
            </a:r>
          </a:p>
          <a:p>
            <a:pPr lvl="0"/>
            <a:r>
              <a:rPr lang="ko-KR" sz="1200"/>
              <a:t>공개 형식은 "세션 08. 위임"의 맥락과 도구 연결의 표준이다. 둘 다 vendor에 묶이지 않는 자리다.</a:t>
            </a:r>
          </a:p>
          <a:p>
            <a:pPr lvl="0"/>
            <a:r>
              <a:rPr lang="ko-KR" sz="1200"/>
              <a:t>조직 차원의 AI 거버넌스와 규제 대응은 범위 밖이다(course-design.md의 「3. 범위와 경계」).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작업 단위 넷은 "세션 07. 설계 — 책임과 협력"의 「10. 작업 단위」가 나눈 것이고, 첫 단위를 맡긴 것이 "세션 08. 위임"이다.</a:t>
            </a:r>
          </a:p>
          <a:p>
            <a:pPr lvl="0"/>
            <a:r>
              <a:rPr lang="ko-KR" sz="1200"/>
              <a:t>과정은 판단의 틀과 읽을 값만 준다. 통과율이 몇 %면 맡기라는 합격선은 주지 않는다 — 과제의 값과 한 번의 비용이 정한다.</a:t>
            </a:r>
          </a:p>
          <a:p>
            <a:pPr lvl="0"/>
            <a:r>
              <a:rPr lang="ko-KR" sz="1200"/>
              <a:t>이 판단의 결과를 "세션 11. 종합 실행"이 실행한다. 남은 셋을 맡기기로 했다면 거기서 끝까지 간다.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[Thoughtworks 2026]의 coding throughput as a measure of productivity(Caution) 원문 확인.</a:t>
            </a:r>
          </a:p>
          <a:p>
            <a:pPr lvl="0"/>
            <a:r>
              <a:rPr lang="ko-KR" sz="1200"/>
              <a:t>「느낌은 증거가 아니다」와 이어진다. 쉬운 지표와 체감이 같은 방향을 가리키면 둘 다 틀려도 확신이 생긴다.</a:t>
            </a:r>
          </a:p>
          <a:p>
            <a:pPr lvl="0"/>
            <a:r>
              <a:rPr lang="ko-KR" sz="1200"/>
              <a:t>수강생에게 묻는다 — 우리 조직이 지금 세는 값은 무엇인가? 그 값이 늘면 무엇이 같이 느는가?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능력 평가의 통과율이 올라가면 과제를 어렵게 만든다. 원전도 능력 평가를 올라야 할 언덕으로 본다.</a:t>
            </a:r>
          </a:p>
          <a:p>
            <a:pPr lvl="0"/>
            <a:r>
              <a:rPr lang="ko-KR" sz="1200"/>
              <a:t>평가 세트를 고친 이력이 남아야 지난 점수와 비교할 수 있다. 점수만 남기고 과제를 바꾸면 비교가 무의미해진다.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평가 세트는 새로 만드는 것이 아니라 다시 쓰는 것이다. 수용 기준에 없던 기대값이 나오면 어디서 왔는지 묻는다.</a:t>
            </a:r>
          </a:p>
          <a:p>
            <a:pPr lvl="0"/>
            <a:r>
              <a:rPr lang="ko-KR" sz="1200"/>
              <a:t>실제 데이터를 과제에 넣지 않게 한다. 기록으로 남고 반복해서 돌아간다.</a:t>
            </a:r>
          </a:p>
          <a:p>
            <a:pPr lvl="0"/>
            <a:r>
              <a:rPr lang="ko-KR" sz="1200"/>
              <a:t>수강생의 판단이 "맡기지 않는다"여도 된다. 근거가 측정한 값에 바탕을 두면 맞는 답이다.</a:t>
            </a:r>
          </a:p>
          <a:p>
            <a:pPr lvl="0"/>
            <a:r>
              <a:rPr lang="ko-KR" sz="1200"/>
              <a:t>시행 횟수는 수업 시간에 맞춰 줄여도 된다. 중요한 것은 한 번이 아니라는 것이다.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모델에서 보완된 것 — 반복해서 실패한 과제의 규칙이 업무 규칙의 대표 예로 올라간다.</a:t>
            </a:r>
          </a:p>
          <a:p>
            <a:pPr lvl="0"/>
            <a:r>
              <a:rPr lang="ko-KR" sz="1200"/>
              <a:t>이 세션의 결론(남은 단위를 맡길지)이 다음 세션의 입력이다. 판단을 적어 두게 한다.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별첨은 강사가 예시 저장소와 앞 세션의 실제 실행에서 읽은 것을 실습 결과물 형식으로 정리한 것이다. LLM의 응답을 옮긴 것이 아니다.</a:t>
            </a:r>
          </a:p>
          <a:p>
            <a:pPr lvl="0"/>
            <a:r>
              <a:rPr lang="ko-KR" sz="1200"/>
              <a:t>실제로 실행한 프롬프트는 없다 — 이 세션은 LLM을 돌리지 않았다. 별첨은 앞 세션들의 실제 기록에서 읽은 것을 실습 결과물 형식으로 정리한 것이다.</a:t>
            </a:r>
          </a:p>
          <a:p>
            <a:pPr lvl="0"/>
            <a:r>
              <a:rPr lang="ko-KR" sz="1200"/>
              <a:t>판단의 근거 셋은 모두 실제 기록이다 — 회귀 통과는 code/s09/pipeline/check-output.txt, 멈춰 물은 것과 저장소 밖 쓰기가 통과한 것은 "세션 08. 위임"의 실행 기록이다.</a:t>
            </a:r>
          </a:p>
          <a:p>
            <a:pPr lvl="0"/>
            <a:r>
              <a:rPr lang="ko-KR" sz="1200"/>
              <a:t>수강생의 결론이 "맡기지 않는다"여도 된다. 근거가 측정한 값에 바탕을 두는지만 본다.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7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8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9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0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1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비용과 평가 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맡기는 비용은 무엇인가?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증거가 아닌 것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평가의 구조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주문한다의 평가 세트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통과율만 보지 않는다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언제 다시 측정하는가?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표류와 정리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맡긴 뒤에 생기는 위험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남은 단위도 맡길 것인가?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11. 잘못된 관행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12. 실습 10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평가 세트와 맡김의 판단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13. 요약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맡기는 것은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사람이 하던 일을 LLM이 담당하게 하는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그만큼 이득이 있을 때만 맡긴다.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맡기는 비용을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토큰 값이 아니라 줄어든 일과 늘어난 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측정한다.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같은 작업도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단기·중기·장기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답이 달라지는 이유를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데모·벤치마크·느낌이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왜 증거가 되지 못하는지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구분한다.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평가를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과제·시행·채점기·결과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구성하고, 채점기 셋과 두 갈래를 고른다.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통과율 옆에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토큰·시간·사람의 개입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함께 기록한다.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모델·맥락·검사가 바뀌면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언제 다시 측정하는지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결정한다.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첫 단위에서 측정한 값으로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남은 작업 단위도 맡길지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판단한다.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무엇이 줄고 무엇이 늘었나?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맡기는 비용은 무엇인가?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63256" y="2112010"/>
          <a:ext cx="5803900" cy="3873500"/>
        </p:xfrm>
        <a:graphic>
          <a:graphicData uri="http://schemas.openxmlformats.org/drawingml/2006/table">
            <a:tbl>
              <a:tblPr/>
              <a:tblGrid>
                <a:gridCol w="1450340"/>
                <a:gridCol w="2484120"/>
                <a:gridCol w="18694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하던 일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맡긴 뒤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새로 생긴 일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 정하기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 사람이 한다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—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모델·설계 결정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정하고 AI가 초안을 낸다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초안을 읽고 고르기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코드·테스트 작성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에이전트가 한다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결과를 읽고 판정하기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 돌리기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에이전트가 돌린다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검사와 메시지를 손보기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맡긴다고 일이 사라지지 않는다. 일은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자리를 옮기고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옮긴 자리에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새 일이 생긴다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- 3 -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맡긴 뒤 일의 자리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이득의 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줄어든 시간에서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늘어난 검토 시간과 토큰 값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뺀 것이다. 토큰 값은 그중 한 항목일 뿐이다.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줄지 않는 일이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업무 규칙은 맡길 수 없어 그대로 남는다. 첫 줄이 비어 있지 않은 이유다.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기간마다 답이 달라진다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맡기는 비용은 무엇인가?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812356" y="2112010"/>
          <a:ext cx="750570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791460"/>
                <a:gridCol w="38252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/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측정하는 것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흔한 오판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토큰과 검토 시간 vs 직접 했을 시간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생성이 빨라진 것만 보고 늘어난 검토를 빼지 않는다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같은 일이 몇 번 오는가?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한 번만 할 일에 검사를 만든다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장기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남는 자산과 남는 부채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지금 비싼 것이 내년에 싸진다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같은 작업도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한 번만 할 일인지 열 번 올 일인지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따라 맡길지가 달라진다.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단기·중기·장기로 측정하는 것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투자와 회수의 자리가 다르다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투자는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모델 문서와 검사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에 하고, 회수는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반복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에서 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남는 부채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이해하지 못하는 코드, 검사 없이 쌓인 양, 도구에 묶인 구성이다.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데모는 증거가 아니다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증거가 아닌 것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시연 한 번으로는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반복 실행의 안정성이나 변경 뒤의 품질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알 수 없다. 같은 조건에서도 결과가 달라진다.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평가에서는 에이전트가 프롬프트를 처리하고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채점기가 출력이 기대와 맞는지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확인한다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"an agent processes a prompt, and a grader checks if the output matches expectations"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2026a]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평가가 없으면 팀은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진짜 회귀와 잡음을 구분하지 못하고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배포 전에 수백 시나리오로 변경을 시험하거나 개선을 재지 못한다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"Teams can't distinguish real regressions from noise, automatically test changes against hundreds of scenarios before shipping, or measure improvements."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2026a]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테스트와 다르다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수용 테스트는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만들어진 코드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가 규칙을 지키는지 본다. 평가는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맡기는 구성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 과제를 해내는지 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반복이 핵심이다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같은 과제를 여러 번 맡겨 결과의 변동을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벤치마크는 내 과제가 아니다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증거가 아닌 것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공개 벤치마크의 점수는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그 벤치마크의 과제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대한 것이다. 내 저장소와 내 업무 규칙에 대한 것이 아니다.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자율 소프트웨어 엔지니어가 SWE-Bench Verified에서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벤치마크 과제의 75.2%를 풀어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1위에 올랐다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"solving 75.2% of all benchmark tasks"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[Hassan 외 2026]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그럼에도 자율 소프트웨어 엔지니어의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실제 현장 성능은 여전히 불분명하다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"the real-world performance of autonomous software engineers remains unclear"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[Hassan 외 2026]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한계는 점수에 적혀 있지 않다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그 벤치마크는 Python 프로젝트만 사용하고 열두 개뿐이며, 과제의 약 70%가 그중 셋에서 나온다.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그 자리를 채우는 것이 평가 세트다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남의 과제로 측정한 점수 대신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내 과제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측정한다.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느낌은 증거가 아니다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증거가 아닌 것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작업이 편해졌다는 느낌만으로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전체 시간이 줄었다고 판단할 수 없다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구현뿐 아니라 검토와 재작업의 시간도 측정한다.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숙련 개발자가 AI 도구를 사용하면 사용하지 않을 때보다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19% 더 오래 걸렸다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 AI가 그들을 느리게 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"when developers use AI tools, they take 19% longer than without—AI makes them slower."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[METR 2025]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개발자들은 AI가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24% 빠르게 해 주리라 기대했고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느려지고 나서도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20% 빨라졌다고 믿었다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"developers expected AI to speed them up by 24%, and even after experiencing the slowdown, they still believed AI had sped them up by 20%."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[METR 2025]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연구의 범위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2025년 초의 도구로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익숙한 저장소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에서 일한 숙련 개발자를 측정한 결과다. 모든 도구와 과제로 일반화하지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확인하는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같은 과제의 완료 시간과 재작업 시간을 바꾸기 전후로 측정해 체감과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과제·시행·채점기·결과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평가의 구조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80706" y="2112010"/>
          <a:ext cx="596900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540000"/>
                <a:gridCol w="25400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부분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무엇인가?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"주문한다"에서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과제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맡길 일과 입력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명세서·맥락·시작 저장소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시행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시작 상태에서 과제를 한 번 수행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같은 시작 상태로 3회 실행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채점기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결과가 기대와 맞는지 판정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테스트·의존 규칙·금액 심사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결과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통과·실패와 함께 기록하는 값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통과율·토큰·시간·개입 횟수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평가는 넷으로 이루어진다.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무엇을 맡겼고 어떤 기준으로 판정했는지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적어야 결과를 비교할 수 있다.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평가의 네 부분과 주문 과제의 예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고정하는 것과 바꾸는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과제·기대값·시작 저장소를 고정하고, 모델이나 맥락처럼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비교할 것 하나만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바꾼다.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평균이 실패를 가린다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과제별로 집계한다. 전체 평균만 보면 한 과제의 반복 실패가 묻힌다.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3가지 채점기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평가의 구조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869506" y="2786726"/>
          <a:ext cx="739140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316480"/>
                <a:gridCol w="2372360"/>
                <a:gridCol w="18135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채점기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판정할 내용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고려할 점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"주문한다"의 예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명시한 기대값·규칙의 충족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자동 판정에 맞는다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테스트·의존 규칙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의미·설명·설계의 적절성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판정이 일정하지 않아 보정한다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금액 계산의 심사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자동 판정의 한계와 업무 의미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검토 시간과 기준이 든다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중요 결과·표본 검토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482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채점기는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코드·모델·사람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나뉜다. 판정할 내용에 맞춰 고르고 비용과 일관성을 함께 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 평가는 대개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코드·모델·사람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3가지 채점기를 함께 사용한다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"Agent evaluations typically combine three types of graders: code-based, model-based, and human."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2026a]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488276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세 채점기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167326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이미 만든 검사를 다시 사용한다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실습 9의 수용 테스트와 의존 규칙 검사가 그대로 채점기가 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모델 채점기는 보정한다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사람이 채점한 표본과 비교해 기준을 맞춘다. 기준 없이 모델의 판정을 점수로 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능력 평가와 회귀 평가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평가의 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능력 평가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아직 어려운 과제를 겨냥하고,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회귀 평가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하던 일을 계속 해내는지 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능력 평가는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 에이전트가 무엇을 잘하는가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묻고 통과율이 낮은 데서 시작해 에이전트가 어려워하는 과제를 겨냥한다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"Capability or "quality" evals ask, "What can this agent do well?" They should start at a low pass rate, targeting tasks the agent struggles with"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2026a]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회귀 평가는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예전에 하던 일을 여전히 하는가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묻고 통과율이 거의 100%여야 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"Regression evals ask, "Does the agent still handle all the tasks it used to?" and should have a nearly 100% pass rate."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2026a]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읽는 법이 반대다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능력 평가는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못 한 과제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가, 회귀 평가는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떨어진 통과율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 신호다.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과제가 옮겨 간다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어려웠던 과제를 안정적으로 해내면 회귀로 옮기고, 더 어려운 과제를 능력에 더한다.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05. 주문한다의 평가 세트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39126" y="2112010"/>
          <a:ext cx="5852160" cy="3873500"/>
        </p:xfrm>
        <a:graphic>
          <a:graphicData uri="http://schemas.openxmlformats.org/drawingml/2006/table">
            <a:tbl>
              <a:tblPr/>
              <a:tblGrid>
                <a:gridCol w="1813560"/>
                <a:gridCol w="2260600"/>
                <a:gridCol w="889000"/>
                <a:gridCol w="8890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과제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 결과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채점기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갈래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카드 승인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결제완료와 배송 요청 1건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직전 판매가 변경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청구 금액 2,000원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카드 거절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 유지·배송 요청 0건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뒤 다른 카드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결제완료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요청이 실패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멈추고 사람에게 묻는다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능력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평가 과제는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기준과 실제로 고친 실패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고른다. 새로 만드는 것이 아니라 이미 정한 것을 다시 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- 11 -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"주문한다"의 평가 세트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068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회귀 넷은 수용 기준 그대로다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"세션 03. 요구와 수용 기준"의 대표 예 넷을 과제로 바꾼 것이다.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능력 하나는 미정을 겨냥한다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정책이 없는 자리에서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지어내지 않고 멈추는지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본다. 업무 정책의 정답을 채점하는 것이 아니다.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06. 통과율만 보지 않는다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956626" y="2898948"/>
          <a:ext cx="521716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2316480"/>
                <a:gridCol w="18135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값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무엇을 말해 주는가?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나빠졌을 때 보는 곳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통과율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과제를 해내는가?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명세·맥락·모델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토큰·비용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실행에 얼마를 썼는가?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맥락 분량과 시행 횟수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시간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끝낼 때까지 얼마나 걸렸는가?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실행·검사·대기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사람의 개입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몇 번 멈춰 물었는가?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명세의 미정과 경계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통과율이 같아도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비용과 시간과 사람이 검토한 양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다르다. 함께 측정해야 어느 구성을 고를지 알 수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고정된 과제 묶음에서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지연·토큰·과제당 비용·오류율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함께 추적할 수 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"baselines and regression tests for free: latency, token usage, cost per task, and error rates can be tracked on a static bank of tasks"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2026a]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- 12 -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600498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과제마다 기록하는 값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567548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값끼리 맞물린다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맥락을 늘려 통과율이 올라도 비용과 시간은 늘어난다. 사람의 개입이 줄면 전체 부담은 내려갈 수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고르는 순서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필요한 품질을 먼저 확인하고, 그다음 비용·시간·검토 부담을 비교한다.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다시 돌리는 계기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언제 다시 측정하는가?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249996" y="2112010"/>
          <a:ext cx="463042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2232660"/>
                <a:gridCol w="14503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바뀐 것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왜 다시 측정하는가?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먼저 보는 값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생성과 도구 사용이 달라진다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 통과율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맥락·명세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구현의 판단 근거가 달라진다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 통과율·비용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검사·권한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신호와 실행 제약이 달라진다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통과율·개입 횟수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도구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할 수 있는 작업이 달라진다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오류율·중단 사유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모델·맥락·검사·도구를 바꾸면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과제를 수행하는 조건이 달라진다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바꾸기 전후에 같은 과제를 돌린다.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- 13 -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계기와 먼저 보는 값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가격만 보고 바꾸지 않는다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같은 과제에서 품질과 비용을 함께 비교한다.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기대값은 유지한다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요구가 바뀌어 기대값을 고쳐야 하면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이유와 버전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남긴다.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모델이 좋아지면 검사를 줄인다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언제 다시 측정하는가?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모델을 바꾸면 그 한계를 보완하려고 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보조 장치가 필요 없어질 수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평가로 확인하며 하나씩 제거한다.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Opus 4.6이 출시되자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하네스의 복잡도를 줄일 이유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더 생겼으며, 4.5보다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보조 장치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(scaffolding)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 적게 필요할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기대할 근거가 있었다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"we also released Opus 4.6, which provided further motivation to reduce harness complexity. There was good reason to expect 4.6 would need less scaffolding than 4.5 did."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2026b]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하네스의 구성 요소는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모델의 성능이 좋아지면 빠르게 낡을 수 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"because they can quickly go stale as models improve"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2026b]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제거하는 순서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새 모델을 같은 평가 세트로 먼저 확인하고, 보조 장치를 하나씩 제거한 뒤 다시 측정한다.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권한은 제거하지 않는다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모델이 좋아졌다는 이유로 실행 권한과 데이터 보호 제약을 풀지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표류와 정리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테스트가 녹색이어도 코드는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의도한 구조에서 조금씩 벗어난다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에이전트가 저장소에 이미 있는 것을 흉내 내기 때문이다.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코딩 에이전트는 저장소의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일관되지 않거나 바람직하지 않은 패턴까지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복제하므로, 시간이 지나면 필연적으로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표류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생긴다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"Codex replicates patterns that already exist in the repository—even uneven or suboptimal ones. Over time, this inevitably leads to drift."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[Lopopolo 2026]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우리 팀은 매주 금요일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(주간 업무의 20%)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AI가 남긴 조잡한 코드 정리에 썼지만,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작업량이 늘자 유지할 수 없었다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"Our team used to spend every Friday (20% of the week) cleaning up "AI slop." Unsurprisingly, that didn't scale."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[Lopopolo 2026]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대신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원칙을 저장소에 명시하고 정기적으로 정리하는 절차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만들었다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"we started encoding what we call "golden principles" directly into the repository and built a recurring cleanup process"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[Lopopolo 2026]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사람이 치우는 방식은 늘어나지 않는다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작업량이 늘면 금요일 하나로 감당되지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규칙을 적고 검사로 돌린다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표류는 장기의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부채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이며, 줄이는 수단은 「02. 맡기는 비용은 무엇인가?」가 말한 자산과 같다.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09. 맡긴 뒤에 생기는 위험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202246" y="3061046"/>
          <a:ext cx="672592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3964940"/>
                <a:gridCol w="16738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점검할 것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무엇을 보는가?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언제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데이터 반출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실제 주소·결제 정보가 모델에 갔는가?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매 평가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개인정보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가짜 데이터를 사용했고 실제 정보가 섞이지 않았는가?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세트 작성·매 평가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정보 보안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비밀 키·설정이 기록에 남았는가?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매 평가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도구 교체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공개 형식을 다시 쓴 뒤 동작을 확인했는가?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모델·도구를 바꿀 때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739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결과가 맞아도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무엇이 밖으로 나갔는지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따로 본다. 품질과 데이터 보호는 다른 질문이다.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 오작동의 위험에는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그럴듯한 추측·위험한 권고·개인정보·공급망과 구성 요소 통합·유해한 편향과 동질화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"Model risks (or risk from malfunction): Confabulation; Dangerous or Violent Recommendations; Data Privacy; Value Chain and Component Integration; Harmful Bias, and Homogenization"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[NIST 2024]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762596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평가할 때 함께 보는 것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729646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평가 세트에 실제 데이터를 넣지 않는다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과제는 반복해서 돌아가고 기록으로 남는다.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공개 형식에 묶어 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맥락 파일과 도구 연결을 표준 형식으로 두면 도구를 바꿔도 평가가 살아남는다.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남은 단위도 맡길 것인가?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77226" y="2112010"/>
          <a:ext cx="577596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2819400"/>
                <a:gridCol w="18694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읽는 값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무엇을 뜻하는가?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남은 셋에 적용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 통과율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정한 것을 지켰는가?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낮으면 명세부터 고친다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사람의 개입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미정에 몇 번 닿았는가?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미정을 먼저 없앤다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검토 시간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읽고 판정하는 데 얼마가 들었는가?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검사를 늘려 줄인다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남는 자산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다시 사용할 검사와 과제가 생겼는가?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쌓일수록 다음이 싸진다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설계가 나눈 작업 단위 넷 가운데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하나를 맡겼다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나머지 셋의 판단은 그 하나에서 측정한 값으로 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첫 단위에서 읽을 것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성격이 같으면 맡기고, 다르면 다시 측정한다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첫 단위와 성격이 다른 작업은 그 값을 그대로 적용하지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맡기지 않기로 하는 것도 결론이다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미정이 남은 자리는 사람이 정한 뒤에 맡긴다.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처리량으로 측정한 생산성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11. 잘못된 관행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코드 줄 수나 PR 수가 늘었다고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생산성이 높아진 것은 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조직이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생성된 코드 줄 수나 PR 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같은 겉보기 지표로 성과를 측정하는 일이 늘고 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"we're increasingly seeing organizations measure success using superficial indicators such as lines of code generated or the number of pull requests (PRs)"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[Thoughtworks 2026]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이런 처리량 지표를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따로 떼어 쓰면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구성원의 행동을 나쁜 쪽으로 몰아간다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"When these coding throughput metrics are used in isolation, they can negatively shape employee behavior."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[Thoughtworks 2026]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생성량이 늘면 검토도 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리뷰와 재작업이 함께 늘면 완료까지의 시간은 줄지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대신 측정하는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수용 기준을 충족한 작업과 거기 든 비용·시간이다.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한 번 만들고 두는 평가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11. 잘못된 관행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174306" y="2112010"/>
          <a:ext cx="6781800" cy="3873500"/>
        </p:xfrm>
        <a:graphic>
          <a:graphicData uri="http://schemas.openxmlformats.org/drawingml/2006/table">
            <a:tbl>
              <a:tblPr/>
              <a:tblGrid>
                <a:gridCol w="1869440"/>
                <a:gridCol w="2456180"/>
                <a:gridCol w="24561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모습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일어나는 일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고치는 법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고친 실패를 안 더함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같은 실패가 다음 기능에서 난다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고칠 때 회귀 과제로 더한다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통과시키려 기대값 변경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점수는 오르고 규칙은 사라진다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근거와 승인을 확인한다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능력 과제가 쉬워짐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더 어려운 한계를 모른다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회귀로 옮기고 새 과제를 더한다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평가 세트도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새 실패와 바뀐 요구를 반영해야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한다. 오래된 과제만 돌리면 새로 생긴 문제를 놓친다.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평가 세트가 낡는 모습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92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기대값을 손대는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"세션 09. 검사 파이프라인"의 테스트를 끄는 행동과 같다. 평가에서도 똑같이 막는다.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버전 관리한다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과제·기대값·채점기를 저장소에 두고, 요구가 바뀌면 같은 변경을 평가에도 반영한다.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12. 실습 10 — 평가 세트와 맡김의 판단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441450"/>
            <a:ext cx="4069080" cy="4776470"/>
          </a:xfrm>
        </p:spPr>
        <p:txBody>
          <a:bodyPr>
            <a:normAutofit/>
          </a:bodyPr>
          <a:lstStyle/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투입물</a:t>
            </a:r>
          </a:p>
          <a:p>
            <a:pPr lvl="2" marL="342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실습 9의 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주문한다-검사기록.md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, 실습 7의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작업 단위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, 실습 3의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수용 기준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프롬프트 —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 요청사항 포함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1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내 수용 기준과 검사 기록을 입력으로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평가 세트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를 만들어라. 과제·기대 결과·채점기·갈래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(능력·회귀)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를 표로 적고, 이미 만든 검사를 채점기로 다시 써라. 새 기대값을 지어내지 마라.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2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[앞선 질문에 대한 답] [추가 질문·수정 요청] 미정으로 남긴 자리를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능력 과제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로 하나 더해라. 정책의 정답이 아니라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멈추고 묻는지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를 채점하게 써라.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[앞선 질문에 대한 답] [추가 질문·수정 요청] 과제마다 통과율 말고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함께 남길 값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과 그 값이 나빠졌을 때 먼저 볼 곳을 적어라.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[앞선 질문에 대한 답] [추가 질문·수정 요청] 모델·맥락·검사·도구가 바뀔 때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무엇을 다시 돌릴지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와 순서를 정해라. 평가 자체의 비용도 고려해라.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481330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①로 시작해 답·질문·수정 요청을 주고받는다.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⑤로 MD를 만든다.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9160" y="1441450"/>
            <a:ext cx="4069080" cy="4776470"/>
          </a:xfrm>
        </p:spPr>
        <p:txBody>
          <a:bodyPr>
            <a:normAutofit/>
          </a:bodyPr>
          <a:lstStyle/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5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[앞선 질문에 대한 답] [추가 질문·수정 요청] 첫 작업 단위를 맡긴 결과로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남은 단위도 맡길지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판단하고, 그 판단의 근거와 함께 평가 세트를 MD 하나로 정리해라. 새 결정을 추가하지 말고 5장을 넘지 않게 핵심만 남겨라.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1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재사용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과제와 기대값이 수용 기준에서 왔는가, 새로 지어냈는가?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2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갈래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능력과 회귀를 구분했고 집계를 따로 내는가?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함께 기록한 값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통과율 말고 비용·시간·개입이 있는가?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다시 측정하는 때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계기와 순서가 정해져 있는가?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5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판단의 근거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남은 단위의 결론이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측정한 값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에 바탕을 두는가?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</a:p>
          <a:p>
            <a:pPr lvl="2" marL="342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주문한다-평가기록.md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실습 11의 투입물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이다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13.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맡기는 것은 사람의 일을 LLM이 담당하게 하는 것이고, 그만큼 이득이 있었는지는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내 과제로 여러 번 측정해야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알 수 있다.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비용과 평가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비용은 토큰 값이 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줄어든 일에서 늘어난 검토와 토큰 값을 뺀 것이다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기간마다 답이 달라진다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단기는 시간, 중기는 반복 횟수, 장기는 자산과 부채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데모·벤치마크·느낌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증거가 아니다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증거는 내 과제를 여러 번 돌린 결과다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평가는 과제·시행·채점기·결과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이고, 채점기는 코드·모델·사람이다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통과율 옆에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토큰·시간·사람의 개입을 기록하고, 조건이 바뀌면 다시 측정한다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세션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세션 11. 종합 실행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남은 작업 단위를 끝까지 맡겨 기능을 완성하고 되돌림을 판단한다.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주문한다 — 평가 기록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10. 비용과 평가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721676" y="1887220"/>
          <a:ext cx="5687060" cy="3873500"/>
        </p:xfrm>
        <a:graphic>
          <a:graphicData uri="http://schemas.openxmlformats.org/drawingml/2006/table">
            <a:tbl>
              <a:tblPr/>
              <a:tblGrid>
                <a:gridCol w="1813560"/>
                <a:gridCol w="1897380"/>
                <a:gridCol w="1087120"/>
                <a:gridCol w="8890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과제</a:t>
                      </a:r>
                    </a:p>
                  </a:txBody>
                  <a:tcPr marL="6750" marR="6750" marT="6750" marB="675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 결과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채점기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갈래</a:t>
                      </a:r>
                    </a:p>
                  </a:txBody>
                  <a:tcPr marL="6750" marR="6750" marT="6750" marB="675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카드 승인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결제완료·배송 요청 1건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직전 판매가 변경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청구 금액 2,000원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카드 거절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결제대기·배송 요청 0건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뒤 다른 카드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결제완료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회귀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요청이 실패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멈추고 묻는다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능력</a:t>
                      </a:r>
                    </a:p>
                  </a:txBody>
                  <a:tcPr marL="81005" marR="6750" marT="6750" marB="67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825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수용 기준의 대표 예 넷을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회귀 과제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로, 미정으로 남긴 자리를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능력 과제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로 삼았다. 채점기는 실습 9의 검사를 그대로 다시 쓰고, 같은 시작 저장소에서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3회씩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돌려 회귀와 능력을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따로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집계한다.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평가 세트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- 22 -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843820"/>
            <a:ext cx="8412480" cy="226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함께 기록하는 값과 다시 측정할 때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통과율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나빠지면 명세·맥락·모델 순서로 본다.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토큰·시간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맥락 분량과 시행 횟수를 확인한다.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사람의 개입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멈춰 물은 횟수다. 미정이 몇 개 남았는지를 가리킨다.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다시 측정할 때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모델·맥락·검사·권한이 바뀔 때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회귀를 먼저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돌린다. 기대값은 유지한다.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남은 단위의 판단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단위에서 읽은 것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회귀 과제는 모두 통과했고, 에이전트는 미정에 닿아 멈추고 물었으며, 금지한 저장소 밖 쓰기는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환경이 거절하지 않았다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남은 셋도 맡긴다.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다만 둘을 먼저 고친다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배송 요청 실패의 정책을 사람이 정하고, 저장소 밖 쓰기를 환경에서 막는다. 둘 다 고치지 않으면 같은 개입과 같은 통과가 반복된다.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Wingdings</vt:lpstr>
      <vt:lpstr>4_Office 테마</vt:lpstr>
      <vt:lpstr>10. 비용과 평가 목차</vt:lpstr>
      <vt:lpstr>01. 세션 목표</vt:lpstr>
      <vt:lpstr>무엇이 줄고 무엇이 늘었나? 02. 맡기는 비용은 무엇인가?</vt:lpstr>
      <vt:lpstr>기간마다 답이 달라진다 02. 맡기는 비용은 무엇인가?</vt:lpstr>
      <vt:lpstr>데모는 증거가 아니다 03. 증거가 아닌 것</vt:lpstr>
      <vt:lpstr>벤치마크는 내 과제가 아니다 03. 증거가 아닌 것</vt:lpstr>
      <vt:lpstr>느낌은 증거가 아니다 03. 증거가 아닌 것</vt:lpstr>
      <vt:lpstr>과제·시행·채점기·결과 04. 평가의 구조</vt:lpstr>
      <vt:lpstr>3가지 채점기 04. 평가의 구조</vt:lpstr>
      <vt:lpstr>능력 평가와 회귀 평가 04. 평가의 구조</vt:lpstr>
      <vt:lpstr>05. 주문한다의 평가 세트</vt:lpstr>
      <vt:lpstr>06. 통과율만 보지 않는다</vt:lpstr>
      <vt:lpstr>다시 돌리는 계기 07. 언제 다시 측정하는가?</vt:lpstr>
      <vt:lpstr>모델이 좋아지면 검사를 줄인다 07. 언제 다시 측정하는가?</vt:lpstr>
      <vt:lpstr>08. 표류와 정리</vt:lpstr>
      <vt:lpstr>09. 맡긴 뒤에 생기는 위험</vt:lpstr>
      <vt:lpstr>10. 남은 단위도 맡길 것인가?</vt:lpstr>
      <vt:lpstr>처리량으로 측정한 생산성 11. 잘못된 관행</vt:lpstr>
      <vt:lpstr>한 번 만들고 두는 평가 11. 잘못된 관행</vt:lpstr>
      <vt:lpstr>12. 실습 10 — 평가 세트와 맡김의 판단</vt:lpstr>
      <vt:lpstr>13. 요약</vt:lpstr>
      <vt:lpstr>주문한다 — 평가 기록 별첨. 실습 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10. 비용과 평가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