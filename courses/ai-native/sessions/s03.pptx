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1시간 30분 세션이다. "세션 02. LLM이라는 재료"가 맡기는 형태를 골랐다면, 이제 무엇을 맡기고 무엇으로 받아들일지 정한다.</a:t>
            </a:r>
          </a:p>
          <a:p>
            <a:pPr lvl="0"/>
            <a:r>
              <a:rPr lang="ko-KR" sz="1200"/>
              <a:t>정적·동적 모델과 설계의 상세를 앞당기지 않는다. 요구에서 합의한 결과가 뒤 모델·검사의 입력이 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 원문의 요구사항 정의를 확인했다. 네 관점의 비교는 sw-engineering-principles.md를 주문 사례에 적용한 것이다.</a:t>
            </a:r>
          </a:p>
          <a:p>
            <a:pPr lvl="0"/>
            <a:r>
              <a:rPr lang="ko-KR" sz="1200"/>
              <a:t>자체 시스템 도입 배경은 과정 설계에 있지만 구체적인 장애·손실 수치는 없다. 설명을 위해 가공한 사업 문제를 추가하지 않는다.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규칙과 주문 생성 시점은 course-design.md 공통 전제다. 규칙을 개발자나 LLM이 정한 것으로 설명하지 않는다.</a:t>
            </a:r>
          </a:p>
          <a:p>
            <a:pPr lvl="0"/>
            <a:r>
              <a:rPr lang="ko-KR" sz="1200"/>
              <a:t>"세션 01. 사람의 일과 AI의 일"의 「02. 첫 시도」에서 잘못된 코드와 테스트가 함께 통과한 이유를 이 빈 결정에 연결한다.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Evans, Domain-Driven Design Reference(2015)의 Domain Event 설명에서 인용했다. 도메인 이벤트를 메시지 큐나 비동기 통신으로 한정하지 않는다.</a:t>
            </a:r>
          </a:p>
          <a:p>
            <a:pPr lvl="0"/>
            <a:r>
              <a:rPr lang="ko-KR" sz="1200"/>
              <a:t>유스케이스의 상세 표기법은 "객체지향 분석과 설계 실무"의 범위다. 여기서는 형식이 답하는 질문과 표현 수준을 비교한다.</a:t>
            </a:r>
          </a:p>
          <a:p>
            <a:pPr lvl="0"/>
            <a:r>
              <a:rPr lang="ko-KR" sz="1200"/>
              <a:t>"결제되었다"는 공통 용어의 사건이다. 이 장면에 새 이벤트 타입이나 코드 이름을 만들지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Jeffries, Essential XP: Card, Conversation, Confirmation(2001) 원문 확인. 화살표는 의미를 채우는 관계이며 한 번만 거치는 고정 개발 단계가 아니다.</a:t>
            </a:r>
          </a:p>
          <a:p>
            <a:pPr lvl="0"/>
            <a:r>
              <a:rPr lang="ko-KR" sz="1200"/>
              <a:t>스토리의 문형과 속성은 뒤 항목에서 다룬다. 세 측면의 정의를 그 항목마다 반복하지 않는다.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역할·행동·이유를 드러내는 문형을 주문 사례에 적용했다. 반드시 이 세 줄이나 특정 문구로만 써야 사용자 이야기가 된다는 규칙으로 제시하지 않는다.</a:t>
            </a:r>
          </a:p>
          <a:p>
            <a:pPr lvl="0"/>
            <a:r>
              <a:rPr lang="ko-KR" sz="1200"/>
              <a:t>사용자 이야기 하나가 구현 작업 하나라는 뜻은 아니다. 구현 단위는 "세션 07. 설계 — 책임과 협력"에서 나눈다.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Wake, INVEST in Good Stories, and SMART Tasks(2003)에서 여섯 속성과 Testable의 인용을 확인했다. 오른쪽 점검은 주문 사례에 적용한 것이다.</a:t>
            </a:r>
          </a:p>
          <a:p>
            <a:pPr lvl="0"/>
            <a:r>
              <a:rPr lang="ko-KR" sz="1200"/>
              <a:t>"주문한다"는 과정의 유일한 과제다. 이 항목에서 별도 기능이나 추가 스토리를 만들지 않는다.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흐름은 공통 흐름 3~5의 분기를 보여 주는 개념도다. 상태 기계나 통신 프로토콜이 아니다. 상태 전이의 상세는 "세션 05. 동적 모델"이 맡는다.</a:t>
            </a:r>
          </a:p>
          <a:p>
            <a:pPr lvl="0"/>
            <a:r>
              <a:rPr lang="ko-KR" sz="1200"/>
              <a:t>대안·예외의 명칭보다 각 경우의 결과가 확정됐는지 묻는 것이 중요하다. 거절은 알려진 반응이고, 배송 요청 실패의 후속 반응은 아직 모른다.</a:t>
            </a:r>
          </a:p>
          <a:p>
            <a:pPr lvl="0"/>
            <a:r>
              <a:rPr lang="ko-KR" sz="1200"/>
              <a:t>가격 변경은 별도 고객 행동이 아니라 같은 결제 흐름에서 금액 규칙을 확인하는 전제다.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요청 실패는 "세션 11. 종합 실행"에서 발견과 되돌림을 다루도록 공통 전제에 남아 있다. 그 전에는 기대 상태나 자동 복구 정책을 만들지 않는다.</a:t>
            </a:r>
          </a:p>
          <a:p>
            <a:pPr lvl="0"/>
            <a:r>
              <a:rPr lang="ko-KR" sz="1200"/>
              <a:t>앞 항목은 분기를 찾는 일이고 이 항목은 각 분기를 어디까지 약속할지 정하는 일이다. 같은 흐름도를 반복하지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North, Introducing BDD(2006), 제공받은 원문으로 확인했다. 인용에서 말하는 올바름은 주어진 수용 기준의 충족 범위다. 기준 자체의 누락까지 없다는 뜻은 아니다.</a:t>
            </a:r>
          </a:p>
          <a:p>
            <a:pPr lvl="0"/>
            <a:r>
              <a:rPr lang="ko-KR" sz="1200"/>
              <a:t>수용 기준은 조건이고 수용 테스트는 그 조건을 실행해 확인하는 수단이다. 구체적인 테스트 구현은 뒤 세션이 맡는다.</a:t>
            </a:r>
          </a:p>
          <a:p>
            <a:pPr lvl="0"/>
            <a:r>
              <a:rPr lang="ko-KR" sz="1200"/>
              <a:t>세 특성의 이름은 ISO/IEC/IEEE 29148:2018의 개별 요구사항 특성에서 가져왔다. 열네 특성 전부는 "객체지향 분석과 설계 실무"가 좋은 요구사항의 자격요건으로 다루고, 이 과정은 수용 기준을 판정하는 셋만 쓴다. 표준 본문은 유료라 공식 미리보기의 목차로 절의 구분만 확인했으므로 그 범위의 주장만 한다.</a:t>
            </a:r>
          </a:p>
          <a:p>
            <a:pPr lvl="0"/>
            <a:r>
              <a:rPr lang="ko-KR" sz="1200"/>
              <a:t>모호한 표현의 왼쪽 열은 세 특성 중 명확함·검증 가능함을 어긴 예다. 수강생에게 어느 특성을 어겼는지 먼저 묻는다.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예는 공통 전제의 업무 규칙 세 가지를 관찰하는 대표 예다. 모든 입력·장애 조합을 검증했다는 뜻이 아니다.</a:t>
            </a:r>
          </a:p>
          <a:p>
            <a:pPr lvl="0"/>
            <a:r>
              <a:rPr lang="ko-KR" sz="1200"/>
              <a:t>가격 변경 예도 결제 시스템이 승인하는 조건이다. 금액이 바뀌지 않는지를 분리해 확인한다.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Cucumber 공식 BDD 문서의 정의를 원문 확인했다. Discovery·Formulation·Automation은 그 문서의 세 활동이다. 그림은 주문 사례에 적용했다.</a:t>
            </a:r>
          </a:p>
          <a:p>
            <a:pPr lvl="0"/>
            <a:r>
              <a:rPr lang="ko-KR" sz="1200"/>
              <a:t>"카드·대화·확인"은 사용자 이야기의 세 측면이고, 이 항목은 업무와 개발이 예를 발견하고 실행 가능한 확인으로 이어 가는 협업을 설명한다.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Cucumber Example Mapping의 스토리 노랑·규칙 파랑·예 초록·질문 빨강을 원문으로 확인했다. 카드 색을 외우는 것이 목표가 아니라 규칙·예·질문의 연결이 목표다.</a:t>
            </a:r>
          </a:p>
          <a:p>
            <a:pPr lvl="0"/>
            <a:r>
              <a:rPr lang="ko-KR" sz="1200"/>
              <a:t>this conversation은 수용 기준을 논의하는 대화를 가리킨다. 그림은 세 규칙 중 금액 규칙과 남은 질문을 대표로 보인 것이다.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North 원문의 상황·사건·결과 문형을 적용했다. Gherkin은 요구 예의 표현이며 이 세션에서 실행 코드를 만들었다는 뜻이 아니다.</a:t>
            </a:r>
          </a:p>
          <a:p>
            <a:pPr lvl="0"/>
            <a:r>
              <a:rPr lang="ko-KR" sz="1200"/>
              <a:t>도구 설치나 스텝 정의 구현은 다루지 않는다. 업무 수준의 사건을 UI 클릭이나 DB 필드 변경으로 바꾸지 않는다.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수치는 course-design.md의 실습 품질 기준이다. 실제 운영 서비스의 성능 측정값이나 보장 수치가 아니다.</a:t>
            </a:r>
          </a:p>
          <a:p>
            <a:pPr lvl="0"/>
            <a:r>
              <a:rPr lang="ko-KR" sz="1200"/>
              <a:t>강의 시연의 회의 메모에는 품질 목표가 없다. 동시 100건·외부 응답 1초·95% 이상 3초는 실습의 정상 시험 조건이며 강의 사례의 확정 요구가 아니다. 본문은 목표를 합의할 때 필요한 조건을 설명하고 실습 수치를 가져오지 않는다.</a:t>
            </a:r>
          </a:p>
          <a:p>
            <a:pPr lvl="0"/>
            <a:r>
              <a:rPr lang="ko-KR" sz="1200"/>
              <a:t>동시 요청 수와 외부 응답은 재현 조건이다. 측정 구간은 카드 결제 요청부터 결과 수신까지로 실습 대화에서 확인한다.</a:t>
            </a:r>
          </a:p>
          <a:p>
            <a:pPr lvl="0"/>
            <a:r>
              <a:rPr lang="ko-KR" sz="1200"/>
              <a:t>품질 관점의 이름과 검증 가능하게 만드는 질문은 "객체지향 분석과 설계 실무"의 품질속성 취급과 같게 쓴다. 기준은 ISO/IEC 25010:2023의 품질 모델이며, 표준 본문이 아니라 공식 초록의 범위만 확인했으므로 그 범위의 주장만 한다.</a:t>
            </a:r>
          </a:p>
          <a:p>
            <a:pPr lvl="0"/>
            <a:r>
              <a:rPr lang="ko-KR" sz="1200"/>
              <a:t>그 과정이 함께 다루는 사용 편의·변경 용이성은 주문한다의 범위에 없어 제외했다. 세 관점만으로 설명이 성립한다.</a:t>
            </a:r>
          </a:p>
          <a:p>
            <a:pPr lvl="0"/>
            <a:r>
              <a:rPr lang="ko-KR" sz="1200"/>
              <a:t>관점의 이름은 인용한 품질 모델의 특성을 이 과정의 말로 옮긴 것이다. 근거 없이 측정 수치나 서비스 수준을 확정하지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범위·수명과 참조 방식은 sw-engineering-principles.md의 요구에서 코드까지의 경로를 따른다. 어떤 SDD 도구의 디렉터리 구조도 표준으로 삼지 않는다.</a:t>
            </a:r>
          </a:p>
          <a:p>
            <a:pPr lvl="0"/>
            <a:r>
              <a:rPr lang="ko-KR" sz="1200"/>
              <a:t>기능이 하나인 첫 정의서와 그 기능의 작업 명세서는 내용이 많이 겹칠 수 있다. 그렇다고 두 문서의 범위가 같은 개념이 되는 것은 아니다.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문서 형식의 강의 예다. course-design.md 공통 전제만 담고 실습 1의 별도 미정 H·B·F·E·G·I를 강의 정책으로 가져오지 않는다.</a:t>
            </a:r>
          </a:p>
          <a:p>
            <a:pPr lvl="0"/>
            <a:r>
              <a:rPr lang="ko-KR" sz="1200"/>
              <a:t>용어집의 영문명은 공통 영한 용어집을 따른다. 모델에서 가격의 현재 값과 확정 값을 구분하는 상세는 "세션 04. 정적 모델"에서 이어 간다.</a:t>
            </a:r>
          </a:p>
          <a:p>
            <a:pPr lvl="0"/>
            <a:r>
              <a:rPr lang="ko-KR" sz="1200"/>
              <a:t>수용 기준 전체의 대표 네 예는 「06. 수용 기준」의 「네 가지 대표 예」에서 확인한다. 문서 예는 거절과 재결제를 한 항목에 이어 적었다.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sw-engineering-principles.md의 도메인·기술 복잡성 두 축을 따른다. 실습의 작은 작업도 수용 기준과 검사는 빠지지 않는다.</a:t>
            </a:r>
          </a:p>
          <a:p>
            <a:pPr lvl="0"/>
            <a:r>
              <a:rPr lang="ko-KR" sz="1200"/>
              <a:t>도메인 모델은 "세션 04. 정적 모델"·"세션 05. 동적 모델", 아키텍처와 설계는 "세션 06. 아키텍처"·"세션 07. 설계 — 책임과 협력"이 상세화한다.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Böckeler의 SDD 작업상 정의를 원문 확인했다. 기존 공학 활동에 대한 대응은 sw-engineering-principles.md와 승인된 과정의 원전 적용 결정이다.</a:t>
            </a:r>
          </a:p>
          <a:p>
            <a:pPr lvl="0"/>
            <a:r>
              <a:rPr lang="ko-KR" sz="1200"/>
              <a:t>모든 분석·설계 산출물을 하나의 요구사항 명세로 취급하지 않는다. 사용자 요청은 새 용어가 별개 체계로 읽히는 혼선을 막는 것이며 활동의 책임 구분을 없애는 것이 아니다.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Gruber, A Translation Approach to Portable Ontology Specifications(1993) 원문 확인. 온톨로지와 도메인 모델이 모든 분야에서 동일한 산출물이라는 주장은 하지 않는다.</a:t>
            </a:r>
          </a:p>
          <a:p>
            <a:pPr lvl="0"/>
            <a:r>
              <a:rPr lang="ko-KR" sz="1200"/>
              <a:t>"specification"은 정밀하게 표현했다는 성질이며 대상에 따라 요구사항의 명세·개념화의 명세가 된다. 이 교재는 SDD의 요구 명세와 분석·설계의 산출물을 구분한다.</a:t>
            </a:r>
          </a:p>
          <a:p>
            <a:pPr lvl="0"/>
            <a:r>
              <a:rPr lang="ko-KR" sz="1200"/>
              <a:t>온톨로지의 위치는 여기서 밝히고 개념 모델의 상세는 "세션 04. 정적 모델"이 맡는다. 형식 언어·추론 엔진은 범위 밖이다.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Böckeler 원문의 도구 사용 경험 중 문서 과잉 사례다. 그 통계를 일반화하거나 새 도메인 사례로 전개하지 않는다.</a:t>
            </a:r>
          </a:p>
          <a:p>
            <a:pPr lvl="0"/>
            <a:r>
              <a:rPr lang="ko-KR" sz="1200"/>
              <a:t>요구사항 정의서는 유지하되 작업 문서는 수명과 효용을 보고 남긴다. 이 판단을 spec 파일을 무조건 유지·재생성하는 규칙으로 바꾸지 않는다.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기록: code/s02/demo-results/prompt.txt·draft.md·result.json·README.md. 최초 실행 위치를 보존해 provenance가 바뀌지 않게 했다.</a:t>
            </a:r>
          </a:p>
          <a:p>
            <a:pPr lvl="0"/>
            <a:r>
              <a:rPr lang="ko-KR" sz="1200"/>
              <a:t>본문 시연은 2026-10 기준이다. 실제 초안은 규칙 세 가지와 질문 15가지를 담았다. 실행일 2026-10-18, Claude Code 2.1.302(claude -p, 도구 없음), claude-opus-5-5. 46.0초·출력 4,668토큰은 그 실행 한 번의 기록이며 이번 작성일의 재실행이 아니다.</a:t>
            </a:r>
          </a:p>
          <a:p>
            <a:pPr lvl="0"/>
            <a:r>
              <a:rPr lang="ko-KR" sz="1200"/>
              <a:t>질문은 원문을 발췌하되 표에서는 문장 일부를 짧게 표시했다. 15가지 전체와 초안의 용어·규칙은 원본에 있다. 실제 LLM 응답 전문인 별첨과 달리 이 항목은 시연 설명이다.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답은 code/s02/demo-results의 초안이 스스로 정한 것이 아니다. course-design.md 공통 전제에 확정된 강의의 업무 결정을 적용했다.</a:t>
            </a:r>
          </a:p>
          <a:p>
            <a:pPr lvl="0"/>
            <a:r>
              <a:rPr lang="ko-KR" sz="1200"/>
              <a:t>실습 1에는 강의보다 많은 미정 사항이 있다. 강의의 이 답을 실습의 미정 정책 전부에 대한 답으로 복사하지 않는다.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「10. 명세 주도 개발」의 구분을 적용해 spec이라는 이름만으로 새 문서를 추가하거나 모든 모델을 넣지 않게 한다.</a:t>
            </a:r>
          </a:p>
          <a:p>
            <a:pPr lvl="0"/>
            <a:r>
              <a:rPr lang="ko-KR" sz="1200"/>
              <a:t>수용 기준이 정해졌어도 그 기준을 재는 테스트가 맞는지는 별도 검증이 필요하다. 구체적인 검사 구성은 "세션 09. 검사 파이프라인"이 맡는다.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2에서 고른 대화형 보조 방식으로 초안마다 사람이 검토한다. 실제 입력·응답·실행 근거는 code/s03/exercise-conversation/order/에 남긴다.</a:t>
            </a:r>
          </a:p>
          <a:p>
            <a:pPr lvl="0"/>
            <a:r>
              <a:rPr lang="ko-KR" sz="1200"/>
              <a:t>①에는 실습 1의 실제 최종 MD를 첨부한다. ②~④는 보완 단계이며 받은 질문에 답한 뒤 다음 요청을 쓴다. 필요하면 반복하고 ⑤로 합의만 파일화한다.</a:t>
            </a:r>
          </a:p>
          <a:p>
            <a:pPr lvl="0"/>
            <a:r>
              <a:rPr lang="ko-KR" sz="1200"/>
              <a:t>기본 품질 조건은 course-design.md의 실습 품질 기준이다. 상품·수량·주소와 운영 정책은 수강생이 정한다. 강사 예시는 펜 2개·각 1,000원·서울이다.</a:t>
            </a:r>
          </a:p>
          <a:p>
            <a:pPr lvl="0"/>
            <a:r>
              <a:rPr lang="ko-KR" sz="1200"/>
              <a:t>실습 1의 H·B·F·E·G·I는 이번에도 정책이 없으면 유지한다. 기능 목록을 만들면서 새로 발견한 질문은 근거와 함께 더하되 임의의 성공·실패로 확정하지 않는다.</a:t>
            </a:r>
          </a:p>
          <a:p>
            <a:pPr lvl="0"/>
            <a:r>
              <a:rPr lang="ko-KR" sz="1200"/>
              <a:t>앞 실습으로 되돌릴 발견은 이 노트에 남기고 별첨의 실제 응답을 저자가 고쳐 쓰지 않는다.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요구사항 정의서·용어집의 시작·수용 예·미정 질문이 뒤 세션의 입력이다. 다음 세션이 현재의 미정을 대신 정하지 않게 한다.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code/s03/exercise-conversation/order/codex-response-05.md의 실제 최종 MD 전문이다. 제목 단계와 목록 들여쓰기만 Session Source에 맞췄다. 문장·순서·강조는 바꾸지 않았다. 배포 MD인 주문한다-요구사항-정의서.md는 응답과 바이트가 같다.</a:t>
            </a:r>
          </a:p>
          <a:p>
            <a:pPr lvl="0"/>
            <a:r>
              <a:rPr lang="ko-KR" sz="1200"/>
              <a:t>2026-10-22에 tools/run-exercise-turn.py로 Codex CLI의 ①~⑤를 실제 실행했다. ⑤의 첫 응답이 산출물의 구분을 기능 제외로 다시 섞어 finalization-rounds/01/에 보존하고 피드백 후 재생성했다.</a:t>
            </a:r>
          </a:p>
          <a:p>
            <a:pPr lvl="0"/>
            <a:r>
              <a:rPr lang="ko-KR" sz="1200"/>
              <a:t>②에서 재고 판단 시점의 추측을 제거했다. ④~⑤에서 본인 주문 접근 권한과 결제대기 중 변경 금지를 구분했다. 이 발견은 앞 실습의 정책을 새로 정하는 것이 아니라 합의의 일관성을 확인한 것이다.</a:t>
            </a:r>
          </a:p>
          <a:p>
            <a:pPr lvl="0"/>
            <a:r>
              <a:rPr lang="ko-KR" sz="1200"/>
              <a:t>실습 1에서 이어 받은 조건은 input-s01.md다. 재고 판단 시점·승인 전 재고 부족의 질문이 추가로 드러났지만 답을 임의로 정하지 않았다. 다음 실습에서도 해당 미정과 발견 근거를 함께 읽는다.</a:t>
            </a:r>
          </a:p>
          <a:p>
            <a:pPr lvl="0"/>
            <a:r>
              <a:rPr lang="ko-KR" sz="1200"/>
              <a:t>강의의 배송 요청 실패 하나와 달리 실습의 H·B·F·E·G·I 등은 수강생이 앞서 남긴 미정이다. 강의의 답을 실습 정책으로 복사하지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요구와 수용 기준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요구를 담는 형식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흐름의 분기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예로 명세하기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품질 요구사항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요구사항 정의서와 작업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명세 주도 개발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쓴 요구 초안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정의서와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요구는 사람이 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받아들일 조건은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대화와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구체화한다.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흐름의 분기에서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범위·제외·미정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구체적인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명세·모델·설계와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SDD·온톨로지의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 초안의 추측을 고쳐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완성한다.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문제·요구·요구사항·해결책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9136" y="2624628"/>
          <a:ext cx="56921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5120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문제·기회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바꾸려는가?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과정에서 해결할 불편·손실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결과를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상품을 결제하고 배송받음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시스템이 무엇을 충족하는가?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뒤에만 배송을 요청함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해결책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구조·사용할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원하는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그것을 실현할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구분해야 요구사항을 정할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요구사항은 시스템이 따라야 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능력과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are capabilities and conditions to which the system … must conform"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요청을 구체화하는 네 관점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 한 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없는 도입 이유나 비용 절감 효과를 지어내지 않는다. 필요한 이유는 업무 담당자에게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화면·기술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먼저 정해도 가격 확정 시점이나 거절 뒤 결과는 정해지지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찾기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문제에서 요구사항으로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32396" y="2462530"/>
          <a:ext cx="686562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31648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언제의 가격으로 청구하는가?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생성 시점 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변경 뒤에도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 배송을 요청하는가?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거절이면 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주문은 어떻게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유지·다른 카드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주문으로 다시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요청에서 답하지 않은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구현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담당자에게 묻는다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담은 상품을 결제하면 주문이 되고 배송이 시작되게 해 주세요.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640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요청에 빠진 질문과 합의한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4313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생성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배송지를 확정한 때이고,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승인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생성된 주문의 결제를 마치는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확정하지 못한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질문으로 남긴다. 승인 뒤 배송 요청 실패를 임의로 취소나 자동 재요청으로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요구를 담는 형식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7526" y="1837690"/>
          <a:ext cx="605536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86944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장면의 표현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이벤트–반응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사건과 시스템 반응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→ 결제완료·배송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목표를 이루는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지정부터 결제 결과 확인까지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 이야기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얻는 가치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결제하고 상품을 배송받음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업무에서 발생한 사건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형식이 달라도 요구는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사건과 그에 대한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주문 장면을 표현하는 형식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838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도메인의 활동에 관한 정보를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일련의 개별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모델링한다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"Model information about activity in the domain as a series of discrete events."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표현을 네 벌 만들 필요는 없다.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스토리로 가치를 정하고 분기와 수용 예를 보완하면, 빠진 결과를 확인할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보다 중요한 것은 배송 요청이 승인 전인지 후인지 같은 업무 의미다.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짧은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시작해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대화와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뜻을 채운다.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카드·대화·확인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이라는 세 가지 핵심 측면이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"User stories have three critical aspects. We can call these Card, Conversation, and Confirmation."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대화를 시작할 만큼만 적는다. 요청 한 줄이 모든 규칙을 담았다고 보지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주문 생성 시점과 거절 뒤 처리처럼 결과를 가르는 규칙을 합의한다.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합의한 결과를 수용 기준과 예로 남기는 일이다. 구두로 이해했다고 끝내지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162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사용자 이야기를 구체화하는 세 측면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84375" y="4399372"/>
            <a:ext cx="5175250" cy="41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문형과 가치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고객으로서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선택한 상품의 배송지를 정하고 카드로 결제하고 싶다.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상품을 주문하고 배송받기 위해서다.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 이야기의 문형은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왜 원하는지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드러내는 출발점이다.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31998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고객이고,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원하는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상품을 주문하고 배송받는 것이다. 화면의 버튼이나 구현 클래스를 스토리의 중심으로 쓰지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문형을 채웠어도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가격 확정·승인 전 배송 금지·거절 뒤 재결제는 아직 빠져 있다. 규칙과 수용 기준으로 보완한다.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구현을 위한 일이다. "결제 연동 클래스를 만든다"만으로 고객이 얻는 가치를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INVEST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사용자 이야기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91906" y="2898948"/>
          <a:ext cx="454660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0871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Independent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스토리와의 의존을 줄임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Negotiable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협상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고정하지 않고 대화함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Valuable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 완료에 기여함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Estimable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추정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미정과 복잡성을 드러냄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Small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이번에 끝낼 범위를 한정함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Testable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승인·거절의 결과를 확인함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스토리는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가치를 전달하는 작은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확인할 수 있어야 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 카드를 쓴다는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원하는 것을 충분히 이해해 테스트를 쓸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암묵적 약속이다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"Writing a story card carries an implicit promise: "I understand what I want well enough that I could write a test for it.""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INVEST로 주문 스토리 점검하기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143548"/>
            <a:ext cx="841248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작게 만든다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 화면·DB·연동 작업을 각각 고객 스토리로 바꾸지 않는다. 가치를 유지한 채 범위와 조건을 줄인다.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기본·대안·예외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흐름의 분기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따라가면 정상 승인만으로 보이지 않던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고객이 배송지를 정하고 카드 승인을 받아 주문 결과를 확인하는 경로다.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대안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카드 거절처럼 결과가 달라지는 경로다. 거절되면 결제대기로 남고 다른 카드로 다시 결제한다.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예외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기대한 처리를 계속할 수 없는 경로다. 승인 뒤 배송 요청 실패는 처리 정책이 미정이다.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결제의 분기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603772" y="3998976"/>
            <a:ext cx="5936456" cy="106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범위·제외·미정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흐름의 분기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6436" y="2112010"/>
          <a:ext cx="57175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723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요구사항에 남길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확정부터 카드 결제까지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기본·거절·재결제의 기대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취소·환불·배송 진행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기능에 넣지 않는다고 명시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배송 요청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정책 질문과 미확정 사실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이번에 하지 않기로 한 것이고,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아직 답하지 못한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주문한다에서 약속하는 범위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이번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에는 승인 뒤 배송 요청을 보내는 것까지 포함한다. 실제 배송 진행은 외부 배송 시스템이 맡는다.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미정을 제외로 숨기지 않는다.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승인 뒤 실패를 어떻게 처리할지 모른다는 사실이 사라지면 AI가 취소나 재요청을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확정된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남기고,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후속 처리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질문으로 둔다. 취소·재요청 정책을 기대값으로 지어내지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결과를 받아들일 조건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78876" y="2786726"/>
          <a:ext cx="477266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모호한 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금액이 정확하다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후 판매가가 바뀌어도 2,000원 청구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거절을 처리한다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유지·배송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결제할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주문을 다른 카드로 승인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8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받아들일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스토리의 행동은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시스템이 기준을 모두 충족하면 올바르게 행동하고 그렇지 않으면 올바르지 않은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story’s behaviour is simply its acceptance criteria: if the system fulfils all the acceptance criteria, it’s behaving correctly; if it doesn’t, it isn’t"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8827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모호한 판단을 관찰할 결과로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결과를 받아들일 조건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허용과 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확인한다. 거절 뒤 상태만 맞아도 배송 요청이 잘못 나갔을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 담당자가 정한 규칙이다. 구현이 낸 결과를 그대로 기대값으로 복사하지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특성으로 판정한다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좋은 요구사항의 자격요건 가운데 수용 기준에 바로 쓰이는 셋이다.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검증 가능함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충족 여부를 증명·측정할 수 있게 썼는가?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명확함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하나로만 해석되게 썼는가?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단일함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한 가지 결과만 기술하는가?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네 가지 대표 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3856" y="1837690"/>
          <a:ext cx="63627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512060"/>
                <a:gridCol w="2903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전제·사건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2개·각 1,000원·카드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2,000원·결제완료·서울 배송 요청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뒤 판매가 1,200원·결제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금액은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X로 결제·거절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결제대기·배송 요청 0회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X 거절 뒤 같은 주문을 Y로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결제완료·배송 요청 총 1회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대표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규칙이 서로 다른 결과를 만드는 장면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수용 예 네 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고정한다. 배송지 서울을 확정할 때 주문이 생기고 금액 2,000원이 정해진다.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첫 시도의 오류를 숨긴다. 승인만 확인하면 가격 변경·거절·재결제의 잘못을 잡을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 실패 뒤의 처리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기대값으로 지어내지 않는다. 정책 합의가 먼저다.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개발자는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 행동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합의한다.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담당자와 기술 담당자 사이의 간극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줄이는 소프트웨어 팀의 협업 방식이다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"BDD is a way for software teams to work that closes the gap between business people and technical people"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가격을 언제 확정하는지 묻고,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정식화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에서는 가격 변경 뒤에도 청구할 금액을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합의한 뜻을 확인한다. 테스트를 통과시키려고 기대값부터 고치면 합의가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행위 주도 개발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(BDD)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협업 방식이다. Gherkin 문법이나 특정 테스트 도구를 쓴다는 사실만으로 완성되지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6065577"/>
            <a:ext cx="8412480" cy="34747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BDD — Behaviour-Driven Development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38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BDD의 협업 활동</a:t>
            </a:r>
          </a:p>
        </p:txBody>
      </p:sp>
      <p:pic>
        <p:nvPicPr>
          <p:cNvPr id="11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2091531" y="4511594"/>
            <a:ext cx="4960938" cy="57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예시 매핑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749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규칙을 예로 설명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설명하지 못한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예시 매핑은 이 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짧고 생산적으로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만들도록 설계된 방법이다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"Example Mapping is a method designed to make this conversation short and very productive."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[Cucumber: Example Mapping]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규칙 아래의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비교한다. 가격이 바뀌기 전후에도 2,000원이어야 한다는 뜻을 맞춘다.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답하지 못한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새 규칙처럼 만들지 않는다. 배송 요청 실패의 처리는 미정으로 남긴다.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3678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스토리의 규칙·예·질문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155031" y="3774532"/>
            <a:ext cx="4833938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전제·사건·기대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예로 명세하기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392124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거절 뒤 다른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펜 2개, 주문 시 판매가 1000원, 배송지 서울의 결제대기 주문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카드 X는 거절되고 카드 Y는 승인된다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카드 X로 결제한 뒤 같은 주문을 카드 Y로 다시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같은 주문은 결제완료다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청구 금액은 2000원이다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And 서울로의 배송 요청은 모두 합해 1회다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330404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실행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상황에서 무엇이 일어나면 어떤 결과가 필요한지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주어지고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발생하면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"Given some initial context (the givens), When an event occurs, Then ensure some outcomes"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1524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상황,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행동,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관찰할 금액·상태·외부 요청이다.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재결제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만으로 거절 직후의 결과를 대신하지 않는다. 거절 예에서 결제대기와 배송 요청 0회도 따로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품질 요구사항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5166" y="2112010"/>
          <a:ext cx="57200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품질 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후보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 가능하게 만들기 위한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응답 성능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빠르게 처리된다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부하·측정 구간·허용 지연은?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접근 통제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남의 주문을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주문에 무엇을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장애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실패에도 주문이 남는다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유실의 정의와 후속 정책은?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요구가 어떤 결과를 제공할지 정한다면, 품질 요구는 그 결과를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조건에서 어느 수준으로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제공할지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품질 요구를 검증 가능하게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575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상태라는 표현으로 두지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세 관점 모두 조건과 측정 가능한 기준으로 바꿔야 검사가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응답 성능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측정의 시작·끝, 요청 부하, 외부 시스템의 응답 조건을 함께 정한다. 목표 시간과 그 안에 끝나야 할 비율을 합의한다.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접근 통제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누가 어떤 주문에 어떤 행동을 할 수 있는지 정한다. 본인 확인과 결제대기 주문의 변경 허용 여부는 서로 다른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장애 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실패한 지점과 지켜야 할 결과를 정한다. 배송 요청 실패 뒤 취소·재요청 여부는 업무 담당자의 결정이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범위와 수명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요구사항 정의서와 작업 명세서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01306" y="2112010"/>
          <a:ext cx="6527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450340"/>
                <a:gridCol w="240030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담거나 가리키는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수명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정의서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기능·규칙·품질·용어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변경하며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구현할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요구·수용 기준·원천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해당 작업 동안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 정의서는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유지하고, 작업 명세서는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구현할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확인할 결과를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명세 문서의 범위와 수명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222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대상의 성질과 충족할 조건을 명확히 적은 것이다. "정확히 계산한다"보다 가격 확정 시점과 계산 규칙이 있어야 구현과 검사가 가능하다.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기존 정의서·모델·설계를 가리킨다. 같은 업무 규칙을 따로 복제해 두면 변경할 때 어긋난다.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이름이 다른 문서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늘리는 것보다 현재 작업에 빠진 결정을 확인한다. 스토리 하나로 충분하면 별도 작업 문서를 만들 필요는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요구사항 정의서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요구사항 정의서와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04056"/>
            <a:ext cx="4338828" cy="4908409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목적과 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고객이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배송지를 확정하고 카드 결제를 마친다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상품·결제·배송은 외부 시스템이다.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취소·환불·배송 진행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제외한다. 화면·기술 설계는 이 문서에서 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고객으로서 선택한 상품의 배송지를 정하고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카드로 결제해 배송받고 싶다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기능과 흐름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배송지를 확정하면 주문이 결제대기로 생긴다.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카드 승인을 요청한다. 승인되면 결제완료가 되고 배송을 요청한다.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거절되면 결제대기로 남고 같은 주문을 다른 카드로 다시 결제할 수 있다.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고객은 주문 결과를 확인한다.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주문 생성 시점의 판매가와 수량으로 정하고 이후 판매가가 바뀌어도 유지한다.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승인 뒤에만 한다. 거절된 주문을 취소하지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용어집의 시작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(Order)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배송지 확정 시 생기는 주문. 승인 전에는 결제대기다.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항목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(OrderItem)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주문한 상품과 수량에 관한 항목이다.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43936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요구사항 정의서는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스토리·규칙·용어·품질·범위와 미정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함께 보존한다.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04056"/>
            <a:ext cx="4439412" cy="4908409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(salePrice)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상품 시스템이 제공하는 현재 가격이다.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(totalAmount)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주문 생성 시 가격으로 확정한 금액이다.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수용 기준의 대표 예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펜 2개·각 1,000원·서울 → 2,000원 청구·결제완료·배송 요청 1회.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주문 후 판매가 1,200원 → 청구 금액 2,000원 유지.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결제대기 유지·배송 요청 0회. 다른 카드 승인 뒤에는 같은 주문이 결제완료다.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품질과 미정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응답시간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측정 조건·목표와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접근 권한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사용자·허용 행동은 업무 담당자에게 확인한다.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승인 뒤 배송 요청 실패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후속 처리는 미정이다. 취소·재요청을 임의로 정하지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요구사항 정의서와 작업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코드로 가는 모든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필요하고, 모델과 아키텍처는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복잡성에 따라 더한다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스토리와 수용 예로 충분할 수 있다. 모델을 만들기 위한 모델을 추가하지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가격의 시점과 상태의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혼동되면 도메인 모델이 필요하다. 외부 연동의 책임·경계는 설계가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화살표는 입력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모든 프로젝트가 동일한 문서 순서를 거쳐야 한다는 뜻이 아니다.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요구에서 구현·검증으로 가는 경로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499381" y="3998976"/>
            <a:ext cx="6145237" cy="1038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기존 분석·설계와 SDD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3061046"/>
          <a:ext cx="530098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03708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읽는 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원하는 결과·이유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조건·사용자 이야기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기능·규칙·품질·기대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정의서·작업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개념·관계·규칙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책임·협력·경계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설계·연동 규격·의존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결정을 재는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기준·검사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SDD는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요구 명세·분석·설계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AI 구현의 입력으로 사용하는 접근이다.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 주도 개발은 AI로 코드를 쓰기 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명세를 쓰는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명세가 사람과 AI의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사실의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"Spec-driven development means writing a "spec" before writing code with AI ("documentation first"). The spec becomes the source of truth for the human and the AI"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기존 공학 활동과 SDD에서 읽는 내용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명세·모델·온톨로지의 위치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 주도 개발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624628"/>
          <a:ext cx="630682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540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요구사항 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결과가 필요한가?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가격이 바뀌어도 2,000원 청구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결과가 업무에서 무슨 뜻인가?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현재 가격과 주문 시점 값의 구분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 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개념과 관계의 의미가 분명한가?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상품·주문 항목·금액의 의미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어떻게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보존·계산의 책임과 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요구사항은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도메인 모델과 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명시한다.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명시하는가?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93228"/>
            <a:ext cx="8412480" cy="167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온톨로지의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개념의 의미를 명시한다는 뜻이다. 요구사항 정의서와 같은 문서라는 뜻이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모델과 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 의미를 명시하는 관심이 겹친다. 같은 업무를 두 벌로 다시 작성하는 단계로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spec에 담더라도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요구·모델·설계·검사의 역할은 구분한다.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명세의 적정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명세 주도 개발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명세의 상세함은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구현과 검사에 필요한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기준으로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문서는 이 작은 버그를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이야기 4개와 수용 기준 16개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requirements document turned this small bug into 4 "user stories" with a total of 16 acceptance criteria"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문서의 분량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보다 빠진 결정을 본다. 가격 확정 시점이 없으면 항목을 늘려도 가격 변경 뒤의 청구 금액을 판단할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정의서·작업 명세서·모델마다 문장으로 복제하면 변경할 원천이 늘어난다. 원천은 유지하고 필요한 곳에서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자세히 쓰는 것으로 해결되지 않는다. 승인 뒤 배송 요청 실패의 처리는 업무 담당자에게 물어야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구현·검사에서 발견한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원인이 된 결정으로 되돌린다. 먼저 썼다는 이유로 명세를 영원히 고정하지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초안이 남긴 질문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요구 초안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4196" y="2736850"/>
          <a:ext cx="6002020" cy="3873500"/>
        </p:xfrm>
        <a:graphic>
          <a:graphicData uri="http://schemas.openxmlformats.org/drawingml/2006/table">
            <a:tbl>
              <a:tblPr/>
              <a:tblGrid>
                <a:gridCol w="368554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초안의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드러난 빈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정확히 언제 생기나요?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요청과 회의 메모의 생성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뒤의 상태 이름은 무엇인가요?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결과를 표현할 업무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실패하면 다시 요청하나요?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 뒤 처리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취소·환불·배송지 변경이 범위에 들어가나요?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이번에 약속할 기능의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초안의 가치는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빈칸을 그럴듯하게 채우는 대신 질문으로 드러내는 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요청과 회의 메모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받은 LLM은 규칙을 정리하고,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생성 시점·상태·실패 처리·범위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확인할 질문을 남겼다.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384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실제 초안이 남긴 질문의 발췌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05450"/>
            <a:ext cx="841248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질문을 남겼다는 사실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검토한다. 알려 준 조건을 놓쳐 다시 묻는지, 근거 없는 규칙을 추가했는지 함께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답한다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시연 — LLM이 쓴 요구 초안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59546" y="2112010"/>
          <a:ext cx="421132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159004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담당자의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반영할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생성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확정할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용어·기능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취소·환불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범위에서 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 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정하지 못함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답한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요구에 반영하고,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답하지 못한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미정으로 유지한다.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질문에 대한 사람의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95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"결제하면 주문이 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그대로 복사하지 않는다. 승인 전에 결제대기 주문이 있어야 거절 뒤 같은 주문을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결정은 관련 예에도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주문 생성 시 가격을 확정했다면 가격 변경 예의 기대값도 2,000원이다.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미정이 남아 있으면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경우까지 구현·완료했다고 주장하지 않는다. 필요한 정책은 업무 담당자에게 되돌린다.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5166" y="1837690"/>
          <a:ext cx="572008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181356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놓치는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요청을 그대로 명세로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가격·승인·거절의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사건과 기대 결과를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문형만 채우기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대화와 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구체적인 예로 뜻을 합의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예만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가격 변경·거절·재결제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가르는 대표 예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제외로 바꾸기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아직 답하지 못한 정책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질문과 미확정 사실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spec에 모두 복제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명세·모델·설계의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대상과 원천을 구분해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템플릿 작성·테스트 통과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만으로 요구의 합의를 보장하지는 못한다.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 명세의 잘못된 관행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94290"/>
            <a:ext cx="841248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명세의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구현과 검사에도 번진다. 구현이 잘못됐을 때 요청을 반복하기보다 빠진 결정과 기대값을 고친다.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실습 — 요구사항 정의서와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실습 1의 업무 조건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초안을 검토한다. ②~④에는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질문의 답과 수정 요청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함께 적는다.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"실습 1의 업무 조건을 읽고 "주문한다"의 요구사항 정의서 초안을 제안해라.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사용자 이야기 하나·규칙·용어·흐름·수용 기준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담고 없는 정책은 질문해라. 모델·설계·코드는 만들지 마라."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답]과 [추가 질문·수정 요청]을 적는다.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범위·제외·미정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구분하고 업무 조건에 없는 시점·상태·후속 처리를 임의로 정하지 마라."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답]과 [추가 질문·수정 요청]을 적는다.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승인·가격 변경·거절·재결제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전제와 금액·상태·배송 요청 기대값을 구체화해라."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답]과 [추가 질문·수정 요청]을 적는다.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품질 기준의 조건과 확인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보완하고 불가피한 미정만 이유와 함께 남겨라."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"합의한 요구사항 정의서를 간결한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생성해라. 스토리·기능과 흐름·업무 규칙·용어·품질·수용 기준·범위·제외·미정을 담고 새 정책이나 설계를 추가하지 마라."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근거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실습 1에 없는 정책을 확정했는가?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범위·제외·미정이 구분되는가?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기대값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금액·상태·배송 요청으로 확인할 수 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품질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시험 조건과 관찰할 결과가 명확한가?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원천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용어·규칙·예가 일치하고 모델·설계가 섞이지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정의서와 수용 기준의 최종 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저장소의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에 두고 커밋한다. 실습 4부터 업무 의미를 분석하는 입력으로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원하는 결과와 범위는 사람이 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받아들일 조건을 남긴다.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요구와 수용 기준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대화로 구체화하고 구체적인 예로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흐름의 분기에서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범위·제외·미정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금액·상태·외부 요청으로 관찰할 기대값이다.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SDD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기존 명세·분석·설계를 AI 구현에 쓰고,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업무 의미를 명시한다.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"세션 04. 정적 모델"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요구가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개념·관계·규칙의 의미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분명히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요구사항 정의서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(1/3)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04056"/>
            <a:ext cx="4338828" cy="4908409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목적과 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상품 조회와 장바구니 구성은 전제다.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상세 범위는 공통 흐름 3~5단계인 배송지 지정, 결제, 주문 결과 확인이다.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상품·결제·배송 시스템은 외부 시스템으로 연계하며 내부 기능은 재구현하지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사용자 이야기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고객으로서 장바구니의 상품과 수량을 기준으로 배송지를 지정하고 카드 승인을 받아 주문을 성립시킨 뒤 그 결과를 확인하고 싶다.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핵심 기능과 업무 규칙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지정하면 주문 생성 시점의 판매가로 주문 금액을 확정하고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주문을 생성한다.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주문자와 수령인은 같은 사람으로 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금액은 각 주문 항목의 주문 생성 시점 판매가에 수량을 곱하여 합한 금액이다.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생성 뒤 판매가가 변경되어도 주문 금액과 카드 승인 요청 금액은 바뀌지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주문의 상품·수량·배송지는 변경할 수 없다. 변경하려면 새 주문을 생성한다.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수단은 카드만 허용한다.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43936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고객이 장바구니의 상품과 수량을 바탕으로 배송지를 지정하고, 카드 승인을 받아 주문을 성립시킨 뒤 그 결과를 확인할 때까지의 요구사항과 수용 기준을 정의한다.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04056"/>
            <a:ext cx="4439412" cy="4908409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승인이 거절되면 같은 주문을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유지하며 다른 카드로 재결제할 수 있다.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승인이 완료되면 같은 주문이 성립하고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요청은 카드 승인 완료 뒤 해당 주문의 확정된 배송지로 보낸다.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쪽에서 재고를 별도로 확보하지 않고 상품 시스템의 판단을 따른다.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응답을 확정할 수 없으면 승인 또는 거절로 간주하지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본인 주문에 대해서만 조회 또는 변경 요청의 권한을 인정한다. 권한이 있더라도 실제 변경 가능 여부에는 주문 상태와 업무 규칙을 적용한다.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다른 고객의 주문에 대한 조회·변경 요청은 거절한다.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기본 용어집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(Order)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배송지가 지정되어 생성된 거래 기록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항목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(OrderItem)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주문에 포함된 상품, 수량 및 주문 생성 시점의 판매가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(salePrice)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시스템이 제공하는 상품 가격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(totalAmount)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각 주문 항목의 주문 생성 시점 판매가에 수량을 곱하여 합한 금액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생성: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 지정에 따라 주문이 기록되고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되는 것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(PENDING_PAYMENT)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주문은 생성됐지만 카드 승인이 완료되지 않은 상태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성립: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승인이 완료되어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되는 것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요구사항 정의서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(2/3)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(PAID)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승인이 완료되어 주문이 성립한 상태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결과 확인: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승인 응답에 따른 주문 상태와 결과를 확인하는 것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공통 흐름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상품 조회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상품을 조회한다.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장바구니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상품과 수량을 장바구니에 담는다.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배송지 지정: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지정하면 주문 생성 시점의 판매가로 주문 금액을 확정하고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주문을 생성한다.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주문 금액으로 카드 승인을 요청한다.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승인되면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되고 배송을 요청한다.</a:t>
            </a:r>
          </a:p>
          <a:p>
            <a:pPr lvl="3" marL="73152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거절되면 같은 주문을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유지하고 배송을 요청하지 않는다. 고객은 다른 카드로 재결제할 수 있다.</a:t>
            </a:r>
          </a:p>
          <a:p>
            <a:pPr lvl="2" marL="5511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결과 확인: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고객이 카드 승인 응답에 따른 주문 결과를 확인한다. 이는 별도 통지 여부나 담당 시스템을 확정하지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대표 수용 예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공통 전제는 펜 2개, 주문 생성 시 판매가 개당 1,000원, 주문 금액 2,000원, 배송지 서울인 같은 주문이다.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 카드 승인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Y에 2,000원으로 승인을 요청하고 승인 응답을 받는다.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되고 승인 결과와 승인 요청 금액 2,000원을 확인할 수 있다. 서울로의 배송 요청은 1회다.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2. 주문 생성 뒤 가격 변경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펜 판매가가 개당 1,200원으로 오른 뒤 카드 Y에 승인을 요청하고 승인 응답을 받는다.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같은 주문의 주문 금액과 승인 요청 금액은 2,000원이고 상태는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 승인 결과를 확인할 수 있으며 서울로의 배송 요청은 1회다.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3. 카드 승인 거절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 상태가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X에 2,000원으로 승인을 요청하고 거절 응답을 받는다.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유지되고 배송 요청은 0회다. 다른 카드로 같은 주문의 결제를 다시 요청할 수 있다.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4. 거절 뒤 같은 주문의 재결제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X의 승인이 거절된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이고 배송 요청은 0회다.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Y에 같은 주문의 결제를 2,000원으로 다시 요청하고 승인 응답을 받는다.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새 주문이 생성되지 않고 같은 주문이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결제완료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된다. 카드 Y의 승인 요청 금액은 2,000원이며, 카드 X의 거절부터 카드 Y의 승인까지 서울로의 배송 요청은 총 1회다.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품질·접근 기준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정상 품질 시험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상품·결제·배송 외부 시스템은 정상 응답을 주는 테스트 대역이며, 각 외부 응답은 1초 이내다.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요구사항 정의서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(3/3)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03. 요구와 수용 기준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사건: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공통 흐름 4의 카드 결제 요청을 동시에 100건 실행한다.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기대 결과: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공통 흐름 4의 카드 결제 요청부터 5의 결과 수신까지 측정했을 때 100건 중 95건 이상이 각각 3초 이내에 완료된다.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기준은 실습 시험용이며 실제 운영 환경의 보장 값이 아니다.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접근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본인 주문에 대해서만 조회 또는 변경 요청의 권한을 인정한다.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다른 고객의 주문에 대한 조회·변경 요청은 거절한다.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본인 주문이더라도 변경 가능 여부는 업무 규칙에 따른다. 따라서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주문의 상품·수량·배송지는 변경할 수 없으며, 바꾸려면 새 주문을 생성한다.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인증 방식, 거절 응답 코드 및 화면 표현은 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기능 제외 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화면과 사용자 인터페이스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상품·결제·배송 시스템 내부 기능의 재구현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성립 이후의 취소·환불·반품·교환 및 배송 진행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외 결제 수단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쿠폰과 할인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이번 문서에서 다루지 않는 산출물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아키텍처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기술 설계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구현 코드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이는 이번 요구사항 문서에서 작성하지 않는 산출물의 구분이며, 해당 시스템 기능을 제외한다는 뜻이 아니다.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다음 항목은 담당자 확인이 필요하며 완료된 정책으로 간주하지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[H]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비회원 주문과 본인 확인: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비회원 주문을 허용하는가? 허용한다면 결제대기 주문의 본인을 어떻게 확인하는가? 비회원의 접근 조건이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[B]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결제대기 기한: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기한은 얼마이며 경과 후 어떻게 처리하는가? 기한과 만료 정책이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[F]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결제 응답 미확정: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이후 어떻게 처리하며 재결제를 허용하는가? 성공이나 실패로 확정하지 않는다는 조건만 제시됐다.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[E]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승인 뒤 재고 부족: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 승인 뒤 재고가 없으면 어떻게 처리하는가? 승인과 주문의 처리 기준이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[G]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배송 요청 실패: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 뒤 배송 요청이 실패하면 어떻게 처리하는가? 주문·승인에 미치는 영향과 재요청 기준이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[I]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주문 확인 통지: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별도 통지가 필요한가? 필요하다면 어느 시스템이 담당하는가? 통지 주체가 정해지지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재고 판단 시점: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시스템에 언제 재고 판단을 요청하는가? 상품 시스템의 판단을 따른다는 조건만 있고 시점은 제시되지 않았다.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승인 전 재고 부족: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 전에 재고 부족으로 판단되면 어떻게 처리하는가? 해당 분기의 정책이 제시되지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31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5" baseType="lpstr">
      <vt:lpstr>맑은 고딕</vt:lpstr>
      <vt:lpstr>Arial</vt:lpstr>
      <vt:lpstr>Wingdings</vt:lpstr>
      <vt:lpstr>4_Office 테마</vt:lpstr>
      <vt:lpstr>03. 요구와 수용 기준 목차</vt:lpstr>
      <vt:lpstr>01. 세션 목표</vt:lpstr>
      <vt:lpstr>문제·요구·요구사항·해결책 02. 문제에서 요구사항으로</vt:lpstr>
      <vt:lpstr>업무 규칙 찾기 02. 문제에서 요구사항으로</vt:lpstr>
      <vt:lpstr>03. 요구를 담는 형식</vt:lpstr>
      <vt:lpstr>카드·대화·확인 04. 사용자 이야기</vt:lpstr>
      <vt:lpstr>문형과 가치 04. 사용자 이야기</vt:lpstr>
      <vt:lpstr>INVEST 04. 사용자 이야기</vt:lpstr>
      <vt:lpstr>기본·대안·예외 05. 흐름의 분기</vt:lpstr>
      <vt:lpstr>범위·제외·미정 05. 흐름의 분기</vt:lpstr>
      <vt:lpstr>결과를 받아들일 조건 (1/2) 06. 수용 기준</vt:lpstr>
      <vt:lpstr>결과를 받아들일 조건 (2/2) 06. 수용 기준</vt:lpstr>
      <vt:lpstr>네 가지 대표 예 06. 수용 기준</vt:lpstr>
      <vt:lpstr>BDD 07. 예로 명세하기</vt:lpstr>
      <vt:lpstr>예시 매핑 07. 예로 명세하기</vt:lpstr>
      <vt:lpstr>전제·사건·기대 결과 07. 예로 명세하기</vt:lpstr>
      <vt:lpstr>08. 품질 요구사항</vt:lpstr>
      <vt:lpstr>범위와 수명 09. 요구사항 정의서와 작업 명세서</vt:lpstr>
      <vt:lpstr>주문한다의 요구사항 정의서 09. 요구사항 정의서와 작업 명세서</vt:lpstr>
      <vt:lpstr>요구에서 코드까지 09. 요구사항 정의서와 작업 명세서</vt:lpstr>
      <vt:lpstr>기존 분석·설계와 SDD 10. 명세 주도 개발</vt:lpstr>
      <vt:lpstr>명세·모델·온톨로지의 위치 10. 명세 주도 개발</vt:lpstr>
      <vt:lpstr>명세의 적정 수준 10. 명세 주도 개발</vt:lpstr>
      <vt:lpstr>초안이 남긴 질문 11. 시연 — LLM이 쓴 요구 초안</vt:lpstr>
      <vt:lpstr>사람이 답한다 11. 시연 — LLM이 쓴 요구 초안</vt:lpstr>
      <vt:lpstr>12. 잘못된 관행</vt:lpstr>
      <vt:lpstr>13. 실습 — 요구사항 정의서와 수용 기준</vt:lpstr>
      <vt:lpstr>14. 요약</vt:lpstr>
      <vt:lpstr>“주문한다” 요구사항 정의서 (1/3) 별첨. 실습 답</vt:lpstr>
      <vt:lpstr>“주문한다” 요구사항 정의서 (2/3) 별첨. 실습 답</vt:lpstr>
      <vt:lpstr>“주문한다” 요구사항 정의서 (3/3)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 요구와 수용 기준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