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  <p:sldId id="258" r:id="javaLecture3"/>
    <p:sldId id="259" r:id="javaLecture4"/>
    <p:sldId id="260" r:id="javaLecture5"/>
    <p:sldId id="261" r:id="javaLecture6"/>
    <p:sldId id="262" r:id="javaLecture7"/>
    <p:sldId id="263" r:id="javaLecture8"/>
    <p:sldId id="264" r:id="javaLecture9"/>
    <p:sldId id="265" r:id="javaLecture10"/>
    <p:sldId id="266" r:id="javaLecture11"/>
    <p:sldId id="267" r:id="javaLecture12"/>
    <p:sldId id="268" r:id="javaLecture13"/>
    <p:sldId id="269" r:id="javaLecture14"/>
    <p:sldId id="270" r:id="javaLecture15"/>
    <p:sldId id="271" r:id="javaLecture16"/>
    <p:sldId id="272" r:id="javaLecture17"/>
    <p:sldId id="273" r:id="javaLecture18"/>
    <p:sldId id="274" r:id="javaLecture19"/>
    <p:sldId id="275" r:id="javaLecture20"/>
    <p:sldId id="276" r:id="javaLecture21"/>
    <p:sldId id="277" r:id="javaLecture22"/>
    <p:sldId id="278" r:id="javaLecture23"/>
    <p:sldId id="279" r:id="javaLecture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Relationship Id="javaLecture3" Type="http://schemas.openxmlformats.org/officeDocument/2006/relationships/slide" Target="slides/slide3.xml"/><Relationship Id="javaLecture4" Type="http://schemas.openxmlformats.org/officeDocument/2006/relationships/slide" Target="slides/slide4.xml"/><Relationship Id="javaLecture5" Type="http://schemas.openxmlformats.org/officeDocument/2006/relationships/slide" Target="slides/slide5.xml"/><Relationship Id="javaLecture6" Type="http://schemas.openxmlformats.org/officeDocument/2006/relationships/slide" Target="slides/slide6.xml"/><Relationship Id="javaLecture7" Type="http://schemas.openxmlformats.org/officeDocument/2006/relationships/slide" Target="slides/slide7.xml"/><Relationship Id="javaLecture8" Type="http://schemas.openxmlformats.org/officeDocument/2006/relationships/slide" Target="slides/slide8.xml"/><Relationship Id="javaLecture9" Type="http://schemas.openxmlformats.org/officeDocument/2006/relationships/slide" Target="slides/slide9.xml"/><Relationship Id="javaLecture10" Type="http://schemas.openxmlformats.org/officeDocument/2006/relationships/slide" Target="slides/slide10.xml"/><Relationship Id="javaLecture11" Type="http://schemas.openxmlformats.org/officeDocument/2006/relationships/slide" Target="slides/slide11.xml"/><Relationship Id="javaLecture12" Type="http://schemas.openxmlformats.org/officeDocument/2006/relationships/slide" Target="slides/slide12.xml"/><Relationship Id="javaLecture13" Type="http://schemas.openxmlformats.org/officeDocument/2006/relationships/slide" Target="slides/slide13.xml"/><Relationship Id="javaLecture14" Type="http://schemas.openxmlformats.org/officeDocument/2006/relationships/slide" Target="slides/slide14.xml"/><Relationship Id="javaLecture15" Type="http://schemas.openxmlformats.org/officeDocument/2006/relationships/slide" Target="slides/slide15.xml"/><Relationship Id="javaLecture16" Type="http://schemas.openxmlformats.org/officeDocument/2006/relationships/slide" Target="slides/slide16.xml"/><Relationship Id="javaLecture17" Type="http://schemas.openxmlformats.org/officeDocument/2006/relationships/slide" Target="slides/slide17.xml"/><Relationship Id="javaLecture18" Type="http://schemas.openxmlformats.org/officeDocument/2006/relationships/slide" Target="slides/slide18.xml"/><Relationship Id="javaLecture19" Type="http://schemas.openxmlformats.org/officeDocument/2006/relationships/slide" Target="slides/slide19.xml"/><Relationship Id="javaLecture20" Type="http://schemas.openxmlformats.org/officeDocument/2006/relationships/slide" Target="slides/slide20.xml"/><Relationship Id="javaLecture21" Type="http://schemas.openxmlformats.org/officeDocument/2006/relationships/slide" Target="slides/slide21.xml"/><Relationship Id="javaLecture22" Type="http://schemas.openxmlformats.org/officeDocument/2006/relationships/slide" Target="slides/slide22.xml"/><Relationship Id="javaLecture23" Type="http://schemas.openxmlformats.org/officeDocument/2006/relationships/slide" Target="slides/slide23.xml"/><Relationship Id="javaLecture24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02. 요구와 유저 스토리"에서 확인한 주문의 요구사항을 입력으로 쓴다. 도메인 모델은 그 요구사항이 쓰는 말의 구조를 밝힌다.</a:t>
            </a:r>
          </a:p>
          <a:p>
            <a:pPr lvl="0"/>
            <a:r>
              <a:rPr lang="ko-KR" sz="1200"/>
              <a:t>목표는 UML 표기 숙련이 아니라 다음 작업자가 핵심 의미를 추측하지 않아도 되는 수준이다.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과정은 용어집·개념 모델·상태 기계와 이를 제약하는 규칙을 함께 다룬다. 모든 도메인 모델이 반드시 이 문서 묶음을 가져야 한다는 뜻은 아니다.</a:t>
            </a:r>
          </a:p>
          <a:p>
            <a:pPr lvl="0"/>
            <a:r>
              <a:rPr lang="ko-KR" sz="1200"/>
              <a:t>도식의 주문 항목과 단가는 「09. 모델에서 코드와 테스트로」에서 필드와 계산으로 연결한다. 상태는 enum과 상태 변경 메서드로 연결한다.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Larman, Applying UML and Patterns, 3rd ed.; Gruber, A Translation Approach to Portable Ontology Specifications, 1993. 두 영문은 verify-quote.js로 원문을 확인했다.</a:t>
            </a:r>
          </a:p>
          <a:p>
            <a:pPr lvl="0"/>
            <a:r>
              <a:rPr lang="ko-KR" sz="1200"/>
              <a:t>온톨로지와 개념 모델이 완전히 같은 산출물이라는 인상을 주지 않는다. 형식 언어·추론 엔진은 이 세션의 범위가 아니다.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세 관점은 반드시 한 번씩 순서대로 끝내는 단계가 아니다. 작은 범위를 끝까지 만들면서 되돌아간다.</a:t>
            </a:r>
          </a:p>
          <a:p>
            <a:pPr lvl="0"/>
            <a:r>
              <a:rPr lang="ko-KR" sz="1200"/>
              <a:t>외부 시스템 경계와 의존 규칙은 다음 세션에서 다룬다. 여기서는 코드에 연결하는 데 필요한 책임 선택만 예로 든다.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Evans, Domain-Driven Design Reference, 2015, Ubiquitous Language. 원문 확인 완료.</a:t>
            </a:r>
          </a:p>
          <a:p>
            <a:pPr lvl="0"/>
            <a:r>
              <a:rPr lang="ko-KR" sz="1200"/>
              <a:t>영한 식별자 연결은 과정 설계의 영한 용어집을 따른다. 본문에서는 뜻을 먼저 합의하고 코드에서 unitPrice와 salePrice를 연결한다.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배송지를 지정하면 결제대기 주문이 생기고 그때의 판매가가 단가로 확정된다. 결제 승인 때 확정하는 것으로 시점을 바꾸지 않는다.</a:t>
            </a:r>
          </a:p>
          <a:p>
            <a:pPr lvl="0"/>
            <a:r>
              <a:rPr lang="ko-KR" sz="1200"/>
              <a:t>할인·세금·통화 환산은 이 사례에 주어지지 않았다. 별도 정책을 추가하지 않는다.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선은 업무상의 관계다. 탐색 방향·외래 키·데이터베이스 테이블을 뜻하지 않는다. 합성 여부는 이 설명에 필요하지 않아 선택하지 않았다.</a:t>
            </a:r>
          </a:p>
          <a:p>
            <a:pPr lvl="0"/>
            <a:r>
              <a:rPr lang="ko-KR" sz="1200"/>
              <a:t>「09. 모델에서 코드와 테스트로」의 Order.items와 OrderItem.unitPrice가 관계·속성을 구현하는 한 설계 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객체 다이어그램 표기까지 추가로 가르치기보다 표의 각 행을 개념 모델의 박스에 대응시킨다.</a:t>
            </a:r>
          </a:p>
          <a:p>
            <a:pPr lvl="0"/>
            <a:r>
              <a:rPr lang="ko-KR" sz="1200"/>
              <a:t>상품이 판매 중지되거나 삭제되는 경우는 현재 요구에 없다. 보존 정책이 필요해지면 별도로 확인한다.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상태 이름은 과정 공통 전제 그대로다. 취소 처리중 같은 새 상태는 추가하지 않는다.</a:t>
            </a:r>
          </a:p>
          <a:p>
            <a:pPr lvl="0"/>
            <a:r>
              <a:rPr lang="ko-KR" sz="1200"/>
              <a:t>도식은 업무 수준의 사건과 결과를 표현한다. 통신의 동기·비동기 방식이나 장애 복구 방식을 결정하지 않는다.</a:t>
            </a:r>
          </a:p>
          <a:p>
            <a:pPr lvl="0"/>
            <a:r>
              <a:rPr lang="ko-KR" sz="1200"/>
              <a:t>코드의 OrderStatus는 이 상태들을 유지한다. 실행 예는 결제대기에서 결제완료로 바뀌는 부분만 구현한다.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정상 승인 뒤 결제완료라는 사실과 배송 요청 실패 처리 정책의 미정은 구분한다. 실패 후 보상·재시도·통지 정책을 이 세션에서 정하지 않는다.</a:t>
            </a:r>
          </a:p>
          <a:p>
            <a:pPr lvl="0"/>
            <a:r>
              <a:rPr lang="ko-KR" sz="1200"/>
              <a:t>금지된 전이를 확인했다면 근거 규칙을 기록한다. 모든 상태 쌍의 전이를 채우는 것이 목표가 아니다.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대표 예를 예상한 다음 코드를 실행한다. 모델과 코드가 일치해도 최초 업무 규칙이 잘못되었을 가능성은 별도로 검토한다.</a:t>
            </a:r>
          </a:p>
          <a:p>
            <a:pPr lvl="0"/>
            <a:r>
              <a:rPr lang="ko-KR" sz="1200"/>
              <a:t>실패한 네트워크 요청의 재시도 횟수 같은 기술 정책을 이 세 규칙에 섞지 않는다.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본질은 주문의 의미·규칙이고, LLM과 프롬프트는 그 의미를 찾고 검증하는 보조 수단이다. 프롬프트 기법 자체를 목표로 바꾸지 않는다.</a:t>
            </a:r>
          </a:p>
          <a:p>
            <a:pPr lvl="0"/>
            <a:r>
              <a:rPr lang="ko-KR" sz="1200"/>
              <a:t>모든 질문을 미정으로 남기는 것도 책임 회피다. 필요한 정책은 업무 담당자에게 확인해 닫는다.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실제 도구 출력으로 오해하지 않도록 교육용 예임을 본문에 명시했다.</a:t>
            </a:r>
          </a:p>
          <a:p>
            <a:pPr lvl="0"/>
            <a:r>
              <a:rPr lang="ko-KR" sz="1200"/>
              <a:t>표의 검토 기준을 그대로 실습의 피드백에 쓴다. 새 프롬프트 기법 목록을 늘리지 않는다.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원본: code/s03/DomainModelExample.java. 상품 참조·주문 식별·배송지는 이 계산 발췌에서 생략했다. 전체 예제도 영속성이나 운영용 결제 구현은 아니다.</a:t>
            </a:r>
          </a:p>
          <a:p>
            <a:pPr lvl="0"/>
            <a:r>
              <a:rPr lang="ko-KR" sz="1200"/>
              <a:t>생성 시 상품의 판매가를 Money 값으로 복사해 확정한다. 상품의 현재 판매가로 항목 금액을 계산하지 않는다.</a:t>
            </a:r>
          </a:p>
          <a:p>
            <a:pPr lvl="0"/>
            <a:r>
              <a:rPr lang="ko-KR" sz="1200"/>
              <a:t>관계의 방향과 금액 계산 책임은 설계의 선택이다. 개념 모델의 모든 박스를 테이블이나 클래스로 자동 변환하는 예가 아니다.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pay 예제의 입력은 결제대기 주문에 돌아온 승인·거절 결과다. boolean은 결과를 단순화한 교육용 표현이며 실제 결제 프로토콜이 아니다.</a:t>
            </a:r>
          </a:p>
          <a:p>
            <a:pPr lvl="0"/>
            <a:r>
              <a:rPr lang="ko-KR" sz="1200"/>
              <a:t>중복 승인·다른 상태의 결제·배송 요청 실패는 이 실행 예의 계약 밖이다. 관련 정책을 예외 분기나 테스트 기대값으로 새로 정하지 않았다.</a:t>
            </a:r>
          </a:p>
          <a:p>
            <a:pPr lvl="0"/>
            <a:r>
              <a:rPr lang="ko-KR" sz="1200"/>
              <a:t>전체 enum: PENDING_PAYMENT, PAID, IN_DELIVERY, DELIVERED, CANCELLED. 앞 도식의 다섯 상태를 삭제하지 않는다.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원본의 main이 네 대표 예를 실제 실행한다. 실행 방법은 code/s03/README.md에 둔다.</a:t>
            </a:r>
          </a:p>
          <a:p>
            <a:pPr lvl="0"/>
            <a:r>
              <a:rPr lang="ko-KR" sz="1200"/>
              <a:t>이 표는 운영용 결제의 검증 범위를 뜻하지 않는다. 멱등성·저장·외부 장애는 다음 설계와 검증 활동의 대상이다.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저장 구조나 상세 UML 자체가 잘못인 것은 아니다. 업무 의미의 확인을 대신하거나 현재 필요보다 앞서 나가는 것이 문제다.</a:t>
            </a:r>
          </a:p>
          <a:p>
            <a:pPr lvl="0"/>
            <a:r>
              <a:rPr lang="ko-KR" sz="1200"/>
              <a:t>AI가 구현을 빨리 만들수록 초안의 잘못된 의미가 코드와 테스트에 함께 퍼질 수 있음을 짚는다.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Codex·ChatGPT·Claude Team 등에서 renderer 없이 수행한다. ②~④에는 실제 받은 질문의 답과 검토 의견을 붙인다. 기본 문구만 기계적으로 반복하지 않는다.</a:t>
            </a:r>
          </a:p>
          <a:p>
            <a:pPr lvl="0"/>
            <a:r>
              <a:rPr lang="ko-KR" sz="1200"/>
              <a:t>⑤ 이후에도 MD의 누락·불일치·폐기한 안의 재등장을 검토하고 보완·재생성을 반복한다. 다음 작업이 가능하면 탐색을 끝낸다. 제출 여부와 무관하게 최종 MD를 저장해 다음 실습에 명시적으로 첨부한다.</a:t>
            </a:r>
          </a:p>
          <a:p>
            <a:pPr lvl="0"/>
            <a:r>
              <a:rPr lang="ko-KR" sz="1200"/>
              <a:t>최종 MD가 실습 원본이고 교재 슬라이드는 별도 제작물이다. 환경별 파일 생성·다운로드와 도식 표시를 사전에 확인한다. 도식 코드만 보이는 경우를 시각 검토 완료로 보지 않는다.</a:t>
            </a:r>
          </a:p>
          <a:p>
            <a:pPr lvl="0"/>
            <a:r>
              <a:rPr lang="ko-KR" sz="1200"/>
              <a:t>수강생이 만든 실습 2의 요구사항 정의서를 첫 프롬프트에 붙인다. 실제 강사 예시 입력은 code/s03/exercise-conversation/input-s02.md다.</a:t>
            </a:r>
          </a:p>
          <a:p>
            <a:pPr lvl="0"/>
            <a:r>
              <a:rPr lang="ko-KR" sz="1200"/>
              <a:t>②~④는 기본 문구만 입력하지 않는다. [앞선 질문에 대한 답]과 [추가 질문·수정 요청]을 함께 작성한다. 질문이 없으면 검토 결과와 필요한 수정 요청만 적는다.</a:t>
            </a:r>
          </a:p>
          <a:p>
            <a:pPr lvl="0"/>
            <a:r>
              <a:rPr lang="ko-KR" sz="1200"/>
              <a:t>정적 모델은 클래스 다이어그램, 동적 모델은 시퀀스 다이어그램과 상태 머신 다이어그램으로 표현한다. 분석의 업무 개념·상호작용·상태를 다루며 컨트롤러·서비스·DB·API 설계로 바꾸지 않는다.</a:t>
            </a:r>
          </a:p>
          <a:p>
            <a:pPr lvl="0"/>
            <a:r>
              <a:rPr lang="ko-KR" sz="1200"/>
              <a:t>실제 입력·응답은 code/s03/exercise-conversation/에 보존한다. 클래스는 ②, 시퀀스·상태 머신은 ③에서 대화창에 표시하며 ④에서 바뀐 도식을 다시 검토한다. 최종 MD는 PPT 분량·배치 조건 없이 생성한다.</a:t>
            </a:r>
          </a:p>
          <a:p>
            <a:pPr lvl="0"/>
            <a:r>
              <a:rPr lang="ko-KR" sz="1200"/>
              <a:t>실습 2의 회차별 10,000원과 첫 회차 신청 시 결제를 유지한다. 예전 실습의 일시불 70,000원이나 거절 후 재결제 규칙을 소급하지 않는다.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문서가 많아졌는지가 아니라 구현자가 주문 단가와 결제 거절의 의미를 추측하지 않아도 되는지로 마무리한다.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code/s03/exercise-conversation/codex-response-05.md에서 해당 절의 원문을 발췌했다. 문장·도식 원본은 수정하지 않았다.</a:t>
            </a:r>
          </a:p>
          <a:p>
            <a:pPr lvl="0"/>
            <a:r>
              <a:rPr lang="ko-KR" sz="1200"/>
              <a:t>①~⑤는 단계이며 실제 대화의 횟수는 예시다. 이전 실제 대화의 합의 내용을 이어 새 ⑤를 실행했다. 실제 입력·응답은 conversation.md, 학습자용 기본 문구는 templates.json에 보존한다. 마지막 파일을 검토한 뒤 보완·재생성할 수 있다.</a:t>
            </a:r>
          </a:p>
          <a:p>
            <a:pPr lvl="0"/>
            <a:r>
              <a:rPr lang="ko-KR" sz="1200"/>
              <a:t>발췌 범위: 용어·업무 규칙 절 전체와 세 다이어그램 원본이다. 도식 전후의 설명문은 최종 MD에서 읽으며 슬라이드에 중복하지 않는다.</a:t>
            </a:r>
          </a:p>
          <a:p>
            <a:pPr lvl="0"/>
            <a:r>
              <a:rPr lang="ko-KR" sz="1200"/>
              <a:t>다음 실습에는 최종 MD를 명시적으로 첨부한다. 교재의 슬라이드 배치와 업무 산출물의 구성은 별개다.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code/s03/exercise-conversation/codex-response-05.md에서 해당 절의 원문을 발췌했다. 문장·도식 원본은 수정하지 않았다.</a:t>
            </a:r>
          </a:p>
          <a:p>
            <a:pPr lvl="0"/>
            <a:r>
              <a:rPr lang="ko-KR" sz="1200"/>
              <a:t>①~⑤는 단계이며 실제 대화의 횟수는 예시다. 이전 실제 대화의 합의 내용을 이어 새 ⑤를 실행했다. 실제 입력·응답은 conversation.md, 학습자용 기본 문구는 templates.json에 보존한다. 마지막 파일을 검토한 뒤 보완·재생성할 수 있다.</a:t>
            </a:r>
          </a:p>
          <a:p>
            <a:pPr lvl="0"/>
            <a:r>
              <a:rPr lang="ko-KR" sz="1200"/>
              <a:t>발췌 범위: 용어·업무 규칙 절 전체와 세 다이어그램 원본이다. 도식 전후의 설명문은 최종 MD에서 읽으며 슬라이드에 중복하지 않는다.</a:t>
            </a:r>
          </a:p>
          <a:p>
            <a:pPr lvl="0"/>
            <a:r>
              <a:rPr lang="ko-KR" sz="1200"/>
              <a:t>다음 실습에는 최종 MD를 명시적으로 첨부한다. 교재의 슬라이드 배치와 업무 산출물의 구성은 별개다.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code/s03/exercise-conversation/codex-response-05.md에서 해당 절의 원문을 발췌했다. 문장·도식 원본은 수정하지 않았다.</a:t>
            </a:r>
          </a:p>
          <a:p>
            <a:pPr lvl="0"/>
            <a:r>
              <a:rPr lang="ko-KR" sz="1200"/>
              <a:t>①~⑤는 단계이며 실제 대화의 횟수는 예시다. 이전 실제 대화의 합의 내용을 이어 새 ⑤를 실행했다. 실제 입력·응답은 conversation.md, 학습자용 기본 문구는 templates.json에 보존한다. 마지막 파일을 검토한 뒤 보완·재생성할 수 있다.</a:t>
            </a:r>
          </a:p>
          <a:p>
            <a:pPr lvl="0"/>
            <a:r>
              <a:rPr lang="ko-KR" sz="1200"/>
              <a:t>발췌 범위: 용어·업무 규칙 절 전체와 세 다이어그램 원본이다. 도식 전후의 설명문은 최종 MD에서 읽으며 슬라이드에 중복하지 않는다.</a:t>
            </a:r>
          </a:p>
          <a:p>
            <a:pPr lvl="0"/>
            <a:r>
              <a:rPr lang="ko-KR" sz="1200"/>
              <a:t>다음 실습에는 최종 MD를 명시적으로 첨부한다. 교재의 슬라이드 배치와 업무 산출물의 구성은 별개다.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code/s03/exercise-conversation/codex-response-05.md에서 해당 절의 원문을 발췌했다. 문장·도식 원본은 수정하지 않았다.</a:t>
            </a:r>
          </a:p>
          <a:p>
            <a:pPr lvl="0"/>
            <a:r>
              <a:rPr lang="ko-KR" sz="1200"/>
              <a:t>①~⑤는 단계이며 실제 대화의 횟수는 예시다. 이전 실제 대화의 합의 내용을 이어 새 ⑤를 실행했다. 실제 입력·응답은 conversation.md, 학습자용 기본 문구는 templates.json에 보존한다. 마지막 파일을 검토한 뒤 보완·재생성할 수 있다.</a:t>
            </a:r>
          </a:p>
          <a:p>
            <a:pPr lvl="0"/>
            <a:r>
              <a:rPr lang="ko-KR" sz="1200"/>
              <a:t>발췌 범위: 용어·업무 규칙 절 전체와 세 다이어그램 원본이다. 도식 전후의 설명문은 최종 MD에서 읽으며 슬라이드에 중복하지 않는다.</a:t>
            </a:r>
          </a:p>
          <a:p>
            <a:pPr lvl="0"/>
            <a:r>
              <a:rPr lang="ko-KR" sz="1200"/>
              <a:t>다음 실습에는 최종 MD를 명시적으로 첨부한다. 교재의 슬라이드 배치와 업무 산출물의 구성은 별개다.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1" Type="http://schemas.openxmlformats.org/officeDocument/2006/relationships/image" Target="../media/mermaid-1.png"/><Relationship Id="speakerNotes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1" Type="http://schemas.openxmlformats.org/officeDocument/2006/relationships/image" Target="../media/plantuml-1.png"/><Relationship Id="speakerNotes8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2" Type="http://schemas.openxmlformats.org/officeDocument/2006/relationships/image" Target="../media/plantuml-2.png"/><Relationship Id="speakerNotes1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3" Type="http://schemas.openxmlformats.org/officeDocument/2006/relationships/image" Target="../media/plantuml-3.png"/><Relationship Id="speakerNotes15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4" Type="http://schemas.openxmlformats.org/officeDocument/2006/relationships/image" Target="../media/plantuml-4.png"/><Relationship Id="speakerNotes1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7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8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9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0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1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5" Type="http://schemas.openxmlformats.org/officeDocument/2006/relationships/image" Target="../media/plantuml-5.png"/><Relationship Id="speakerNotes2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6" Type="http://schemas.openxmlformats.org/officeDocument/2006/relationships/image" Target="../media/plantuml-6.png"/><Relationship Id="speakerNotes2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7" Type="http://schemas.openxmlformats.org/officeDocument/2006/relationships/image" Target="../media/plantuml-7.png"/><Relationship Id="speakerNotes2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03. 도메인 모델 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02. 도메인 모델이 명시하는 것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03. 분석·설계·구현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04. 용어집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05. 개념과 관계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06. 상태와 전이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07. 업무 규칙과 대표 예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08. 모델을 만들 때 사람과 AI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09. 모델에서 코드와 테스트로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10. 잘못된 관행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11. 실습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도메인 모델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12. 요약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도메인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AI에게 주는 자료가 아니라 사람이 정한 업무의 의미다.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용어·개념·관계·상태·규칙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업무의 의미를 설명한다.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분석·설계·구현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각각 무엇을 결정하는지 구분한다.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같은 사례로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개념 모델과 상태 기계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모순을 찾는다.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LLM의 초안에서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추측·모순·누락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찾아 확인 질문으로 바꾼다.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모델의 결정이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코드와 테스트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어디에 이어지는지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같은 업무를 설명하는 여러 관점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도메인 모델이 명시하는 것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49936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도메인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업무의 개념과 관계, 상태와 규칙을 서로 일관되게 설명한다. 용어집은 그 설명에 쓸 말의 뜻을 맞춘다.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개념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업무에 존재하는 개념과 그 관계를 표현한다. 주문과 주문 항목, 상품이 무엇으로 연결되는지 묻는다.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상태 기계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사건이 일어났을 때 허용되는 상태 변화를 표현한다. 결제가 거절되면 주문이 어떻게 되는지 묻는다.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교차 검토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같은 예를 두 관점으로 설명해 보는 일이다. 항목의 단가는 고정인데 총액이 현재 판매가를 따라가면 모순이다.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612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주문의 의미를 함께 설명하는 관점</a:t>
            </a:r>
          </a:p>
        </p:txBody>
      </p:sp>
      <p:pic>
        <p:nvPicPr>
          <p:cNvPr id="10" name="mermaid Diagram 1"/>
          <p:cNvPicPr>
            <a:picLocks noChangeAspect="1"/>
          </p:cNvPicPr>
          <p:nvPr/>
        </p:nvPicPr>
        <p:blipFill>
          <a:blip r:embed="mermaidImage1"/>
          <a:stretch>
            <a:fillRect/>
          </a:stretch>
        </p:blipFill>
        <p:spPr>
          <a:xfrm>
            <a:off x="2166938" y="3998976"/>
            <a:ext cx="48101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개념 모델과 온톨로지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도메인 모델이 명시하는 것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개념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업무에서 중요한 개념과 관계를 드러낸다.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온톨로지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개념과 관계 등의 의미를 명시적으로 정의한 체계다.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도메인 모델은 한 영역의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개념 클래스나 실제 상황의 객체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시각적으로 표현한 것이다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 domain model is a visual representation of conceptual classes or real-situation objects in a domain"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온톨로지는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개념화의 명시적 명세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"An ontology is an explicit specification of a conceptualization."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[Gruber 1993]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Larman의 정의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개념 클래스 중심의 모델을 설명한다. 상태와 업무 규칙까지 모두 이 인용의 정의에 포함시키지는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공통 관심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말의 뜻과 관계를 명시한다는 것이다. 온톨로지라는 이름을 붙인다고 업무 담당자의 확인을 대신하지는 못한다.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필요한 깊이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다음 결정이 정한다. 가격의 뜻을 나누면 오류가 드러나는 사례에 복잡한 지식 표현 언어부터 도입할 이유는 없다.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03. 분석·설계·구현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091756" y="2112010"/>
          <a:ext cx="694690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316480"/>
                <a:gridCol w="37414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관점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결정할 질문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사례의 결정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어떤 금액이 주문의 금액인가?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시점의 판매가를 단가로 확정한다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누가 그 의미를 지키는가?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항목이 확정 단가를 보관하고 금액을 계산한다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 결정을 어떻게 실행하는가?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단가 필드에 복사하고 수량을 곱한다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분석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업무의 의미를 밝히고,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설계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그 의미를 지킬 책임과 협력을 정하며,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구현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이를 실행 가능한 코드로 만든다.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- 5 -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주문 금액에 관한 서로 다른 결정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92610"/>
            <a:ext cx="8412480" cy="208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요구사항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시스템이 충족할 결과를 말한다. 분석은 그 결과에 쓰인 가격·주문·항목의 뜻을 서로 맞춘다.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설계의 선택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하나가 아니다. 개념 사이에 관계가 있다고 해서 참조 방향·테이블·API가 자동으로 정해지지는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되돌림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필요하다. 구현 중 단가의 확정 시점이 모호하다는 사실을 발견하면 계산 코드를 추측해서 채우지 않고 요구와 모델을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이름이 같으면 뜻도 같아야 한다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용어집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020635" y="2462530"/>
          <a:ext cx="708914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3182620"/>
                <a:gridCol w="29591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뜻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구분해야 할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판매 대상으로 관리되는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특정 주문에 담긴 항목과 다르다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항목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주문에 포함된 상품·수량·확정 단가의 묶음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상품의 현재 정보만 참조해서는 안 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판매가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상품의 현재 판매 가격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상품 정책에 따라 바뀔 수 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주문이 생길 때 확정한 항목당 가격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이후 판매가가 바뀌어도 유지한다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총액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각 항목의 단가 × 수량을 합한 금액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현재 판매가로 다시 계산하지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178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용어집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업무에서 쓰는 말의 뜻과 경계를 합의한 기록이다. 같은 말을 코드·대화·모델에서 같은 뜻으로 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언어의 뼈대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삼는다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"Use the model as the backbone of a language."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[Evans 2015]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- 6 -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16408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주문에서 구분해야 하는 말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가격을 판매가와 단가로 나누기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용어집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846136" y="2624628"/>
          <a:ext cx="543814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1226820"/>
                <a:gridCol w="1506220"/>
                <a:gridCol w="16179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시점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상품의 판매가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항목의 단가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펜 2개의 주문 총액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생성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1,000원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1,000원으로 확정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2,000원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판매가 변경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1,200원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1,000원 유지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2,000원 유지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330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이라는 말만으로는 현재 판매 조건과 이미 성립한 주문의 조건을 구분할 수 없다. 두 의미를 나누면 모델의 속성과 규칙도 달라진다.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언어가 바뀌면 모델도 바뀐다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것을 인식한다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"Recognize that a change in the language is a change to the model."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[Evans 2015]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326178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같은 상품, 서로 다른 시점의 금액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17228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발견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이름 하나를 바꾸는 데서 끝나지 않는다. 상품에는 판매가가, 주문 항목에는 단가가 필요하다는 관계가 드러난다.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현행화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요구사항 정의서의 용어와 도메인 모델에 반영한다. 작업할 때마다 별도의 가격 정의를 새로 만들지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주문·주문 항목·상품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05. 개념과 관계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개념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업무에서 구분되는 대상과 그 관계를 표현한다. 속성은 각 대상에서 알아야 할 업무 정보를 뜻한다.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다중성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관계에 참여하는 개수를 뜻한다. 주문 하나에는 항목이 하나 이상이고, 각 항목은 상품 하나에 해당한다.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파생 속성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인 주문 총액은 항목별 단가 × 수량의 합이다. 앞의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다른 정보에서 계산한다는 표시다.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속성의 의미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먼저 정한다. 단가는 확정 금액이고 수량은 주문 개수이며, 배송지는 이 주문을 보낼 주소다.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612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주문의 개념과 관계</a:t>
            </a:r>
          </a:p>
        </p:txBody>
      </p:sp>
      <p:pic>
        <p:nvPicPr>
          <p:cNvPr id="10" name="plantuml Diagram 1"/>
          <p:cNvPicPr>
            <a:picLocks noChangeAspect="1"/>
          </p:cNvPicPr>
          <p:nvPr/>
        </p:nvPicPr>
        <p:blipFill>
          <a:blip r:embed="plantumlImage1"/>
          <a:stretch>
            <a:fillRect/>
          </a:stretch>
        </p:blipFill>
        <p:spPr>
          <a:xfrm>
            <a:off x="2569308" y="3998976"/>
            <a:ext cx="4005385" cy="11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하나의 주문으로 관계 확인하기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05. 개념과 관계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93406" y="2112010"/>
          <a:ext cx="594360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2903220"/>
                <a:gridCol w="20929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대상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 사례에 있는 정보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확인할 의미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펜, 판매가 1,000원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현재 판매 조건이다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항목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펜, 수량 2, 단가 1,000원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 주문의 가격 조건이다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배송지 서울, 결제대기, 총액 2,000원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배송지 지정 때 생성되었다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구체적인 주문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모델에 대입하면 개념을 빠뜨렸거나 같은 정보를 잘못 연결한 부분을 찾을 수 있다.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펜 2개를 서울로 주문한 경우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92610"/>
            <a:ext cx="8412480" cy="208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상품만 참조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하고 단가를 두지 않으면 판매가 변경 후 과거 주문 금액을 설명할 수 없다.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상품과 항목을 합치면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같은 펜을 서로 다른 단가로 주문한 두 주문을 구분하기 어렵다.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충분한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이 차이를 설명한다. 다음 판단에 쓰이지 않는 속성과 관계는 미리 늘리지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사건이 상태를 바꾼다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06. 상태와 전이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49936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상태 기계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대상이 처한 상태와 사건에 따른 변화를 표현한다. 상태 이름만 나열하면 결제 거절 뒤의 행동을 설명할 수 없다.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결제 거절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취소 전이가 아니다. 주문은 결제대기로 남고 다른 카드로 다시 결제할 수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배송 요청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결제 승인 뒤의 행동이다. 요청을 보냈다는 이유만으로 배송중이 되지는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초기 화살표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주문의 생성 시점을 나타낸다. 주문하기 전의 화면 진행을 주문 상태로 만들지 않는다.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612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주문의 상태와 전이</a:t>
            </a:r>
          </a:p>
        </p:txBody>
      </p:sp>
      <p:pic>
        <p:nvPicPr>
          <p:cNvPr id="10" name="plantuml Diagram 2"/>
          <p:cNvPicPr>
            <a:picLocks noChangeAspect="1"/>
          </p:cNvPicPr>
          <p:nvPr/>
        </p:nvPicPr>
        <p:blipFill>
          <a:blip r:embed="plantumlImage2"/>
          <a:stretch>
            <a:fillRect/>
          </a:stretch>
        </p:blipFill>
        <p:spPr>
          <a:xfrm>
            <a:off x="522654" y="3998976"/>
            <a:ext cx="8098692" cy="132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금지된 전이와 아직 모르는 전이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06. 상태와 전이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699326" y="2386330"/>
          <a:ext cx="7731760" cy="3873500"/>
        </p:xfrm>
        <a:graphic>
          <a:graphicData uri="http://schemas.openxmlformats.org/drawingml/2006/table">
            <a:tbl>
              <a:tblPr/>
              <a:tblGrid>
                <a:gridCol w="1897380"/>
                <a:gridCol w="2595880"/>
                <a:gridCol w="32385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상황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판단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모델과 테스트에서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승인 전 배송 요청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승인 뒤에만 요청한다는 규칙 위반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금지하며 요청하지 않았음을 검사한다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거절 후 재결제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결제대기를 유지하는 허용 행동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자기 전이와 재시도 예로 확인한다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승인 후 배송 요청 실패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주문·재시도의 처리 정책 미정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질문으로 남기고 기대 상태를 정하지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금지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확인한 규칙에 어긋나는 행동이고,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미정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아직 정책을 확인하지 못한 상황이다. 화살표가 없다는 이유만으로 둘을 같게 취급하지 않는다.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- 11 -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08788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전이의 판단 근거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6693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확인 질문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구체적으로 쓴다. “배송 요청에 실패하면 승인된 결제를 유지하고 재시도하는가? 고객에게 어떤 결과를 알리는가?”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테스트의 경계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도 같다. 미정인 상황을 취소·롤백·성공 중 하나로 고정하면 코드가 업무 결정을 대신한다.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07. 업무 규칙과 대표 예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643446" y="2112010"/>
          <a:ext cx="7843520" cy="3873500"/>
        </p:xfrm>
        <a:graphic>
          <a:graphicData uri="http://schemas.openxmlformats.org/drawingml/2006/table">
            <a:tbl>
              <a:tblPr/>
              <a:tblGrid>
                <a:gridCol w="1310640"/>
                <a:gridCol w="2931160"/>
                <a:gridCol w="36017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대표 예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모델에서 확인할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금액 확정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펜 2개 × 단가 1,000원 = 2,000원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단가는 주문 항목, 총액은 항목 금액의 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승인 후 배송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2,000원 승인 → 결제완료 → 배송 요청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승인 전에는 배송을 요청하지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후 재결제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→ 결제대기 → 다른 카드로 재결제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거절이 주문 취소나 주문 재생성을 뜻하지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업무 규칙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어떤 결과가 옳은지 정한다. 대표 예는 규칙을 특정 사건과 값에 적용해 해석을 확인한다.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- 12 -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주문의 세 규칙과 대표 예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92610"/>
            <a:ext cx="8412480" cy="208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변경 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더한다. 판매가가 1,200원이 되어도 기존 주문의 단가와 총액은 1,000원·2,000원이다.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반례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도 묻는다. 거절을 취소로 처리하거나 승인 전 배송을 요청하면 어느 규칙을 위반하는가?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하나의 원천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둔다. 업무 규칙은 요구사항 정의서에서 유지하고 모델은 그 규칙이 적용되는 개념·상태를 명시한다.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초안과 확정의 책임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08. 모델을 만들 때 사람과 AI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978726" y="2112010"/>
          <a:ext cx="717296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2959100"/>
                <a:gridCol w="31267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AI가 도울 일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확인할 일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초안 작성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요구사항에서 개념·관계·상태 후보 추출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주어진 사실과 모델의 해석이 맞는가?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모순 검토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용어집·상태 기계·규칙을 교차 비교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실제 모순인가, 서로 다른 의미인가?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누락 질문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규칙에 없는 실패·경계 사례 제안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지금 결정할 것과 미룰 것은 무엇인가?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확정·현행화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확인받은 변경을 관련 모델에 반영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근거 없이 바뀐 이름·상태·규칙이 없는가?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AI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모델의 후보와 검토 질문을 만든다.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근거를 확인해 업무의 의미를 확정한다. 그 판단은 도구가 달라져도 필요하다.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- 13 -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모델을 만드는 역할과 확인 결과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208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입력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요구사항 정의서와 공통 용어다. “쇼핑몰 도메인 모델을 만들어라”만 주면 흔한 쇼핑몰 관행이 우리 정책을 대신할 수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검토 요청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에는 근거와 질문을 함께 요구한다. “원문에 없는 정책은 확정하지 말고, 어느 문장 때문에 어떤 질문이 필요한지 표시하라.”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완료 판단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산출물의 양이 아니다. 다음 설계와 구현이 중요한 업무 의미를 추측하지 않아도 되는가를 본다.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교육용 초안 검토 예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08. 모델을 만들 때 사람과 AI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573596" y="2112010"/>
          <a:ext cx="7983220" cy="3873500"/>
        </p:xfrm>
        <a:graphic>
          <a:graphicData uri="http://schemas.openxmlformats.org/drawingml/2006/table">
            <a:tbl>
              <a:tblPr/>
              <a:tblGrid>
                <a:gridCol w="1981200"/>
                <a:gridCol w="2456180"/>
                <a:gridCol w="35458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초안의 문장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피드백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“가격은 상품에만 둔다”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현재 판매가와 주문 단가를 혼동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시점 금액을 어떻게 보존하는지 설명하라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“결제 거절 시 취소됨”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뒤 재결제 규칙과 모순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결제대기를 유지하는 자기 전이로 고쳐라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“배송 실패는 자동 환불”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미정인 정책을 추측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요구에 근거가 없으므로 확인 질문으로 돌려라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“주문과 항목이 연결됨”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개수와 항목의 의미 누락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하나의 항목 수와 단가·수량의 뜻을 적어라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초안의 그럴듯함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보다 요구사항과 일치하는지가 중요하다. 아래는 오류를 구별하기 위해 만든 교육용 예이며 실제 LLM 실행 기록은 아니다.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초안의 문장을 근거로 검토하기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고친 뒤 재검토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한다. 상태 기계만 고치고 용어집·규칙·코드에 취소 처리 흔적이 남지 않았는지 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보완 기록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에는 바꾼 것과 이유를 남긴다. 확인한 규칙과 아직 확인하지 않은 질문을 같은 확정 문장으로 쓰지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개념과 속성을 코드에 연결하기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09. 모델에서 코드와 테스트로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399119"/>
            <a:ext cx="8412480" cy="14859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final class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OrderItem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private final Money unitPrice;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private final Quantity quantity;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// ... 생성자와 확정 메서드 생략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Money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totalAmount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return new Money(unitPrice.won() * quantity.count());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7812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코드로 옮길 때는 설계 결정이 더해진다.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아래 예는 주문이 항목 목록을 갖고, 항목이 확정 단가와 수량으로 금액을 계산하도록 정했다.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91615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코드에 연결할 주문 구조</a:t>
            </a:r>
          </a:p>
        </p:txBody>
      </p:sp>
      <p:pic>
        <p:nvPicPr>
          <p:cNvPr id="34" name="plantuml Diagram 3"/>
          <p:cNvPicPr>
            <a:picLocks noChangeAspect="1"/>
          </p:cNvPicPr>
          <p:nvPr/>
        </p:nvPicPr>
        <p:blipFill>
          <a:blip r:embed="plantumlImage3"/>
          <a:stretch>
            <a:fillRect/>
          </a:stretch>
        </p:blipFill>
        <p:spPr>
          <a:xfrm>
            <a:off x="3179885" y="2153894"/>
            <a:ext cx="2784231" cy="102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상태와 승인 후 행동을 코드에 연결하기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09. 모델에서 코드와 테스트로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- 16 -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538926"/>
            <a:ext cx="8412480" cy="18161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void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pay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(boolean approved, Runnable requestDelivery)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if (approved)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onPaid();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requestDelivery.run();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private void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onPaid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status = OrderStatus.PAID;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상태 변경과 외부 요청은 다른 결정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다섯 상태 중 결제대기의 승인·거절만 구현한다. Runnable은 배송 요청을 대신하는 테스트 연결점이며, 실제 연동·실패 복구는 생략했다.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17318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구현할 결제 결과의 두 경로</a:t>
            </a:r>
          </a:p>
        </p:txBody>
      </p:sp>
      <p:pic>
        <p:nvPicPr>
          <p:cNvPr id="34" name="plantuml Diagram 4"/>
          <p:cNvPicPr>
            <a:picLocks noChangeAspect="1"/>
          </p:cNvPicPr>
          <p:nvPr/>
        </p:nvPicPr>
        <p:blipFill>
          <a:blip r:embed="plantumlImage4"/>
          <a:stretch>
            <a:fillRect/>
          </a:stretch>
        </p:blipFill>
        <p:spPr>
          <a:xfrm>
            <a:off x="2381250" y="2410932"/>
            <a:ext cx="4381500" cy="90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대표 예를 실행해 확인하기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09. 모델에서 코드와 테스트로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104456" y="2112010"/>
          <a:ext cx="692150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3126740"/>
                <a:gridCol w="28473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검사할 예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입력·사건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 결과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금액 보존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펜 2개 확정 뒤 판매가 1,200원으로 변경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단가 1,000원, 총액 2,000원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승인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결제대기 주문에 승인 결과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결제완료, 그 뒤 배송 요청 1회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결제대기 주문에 거절 결과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결제대기 유지, 배송 요청 0회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재결제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거절된 주문에 승인 결과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같은 주문이 결제완료, 배송 요청 1회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테스트는 확인한 업무 규칙을 실행 가능한 예로 만든다.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실행 전에 결과를 예측하고, 다르면 규칙·모델·코드 중 어디가 어긋났는지 찾는다.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실행 예의 입력과 관찰 결과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208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금지의 검사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승인 전 배송을 요청하지 않았는지 확인한다. 거절 경로를 실행해 요청 횟수가 0인지 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검증의 한계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남긴다. 배송 요청 실패의 주문 처리·보상·재시도 정책은 미정이므로 테스트 기대값을 만들지 않았다.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발견을 되돌린다.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테스트를 쓰다가 요구에 없는 판단이 필요하면 요구와 모델을 보완한 뒤 구현한다.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잘못된 관행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12306" y="2112010"/>
          <a:ext cx="8305800" cy="3873500"/>
        </p:xfrm>
        <a:graphic>
          <a:graphicData uri="http://schemas.openxmlformats.org/drawingml/2006/table">
            <a:tbl>
              <a:tblPr/>
              <a:tblGrid>
                <a:gridCol w="2088927"/>
                <a:gridCol w="2768600"/>
                <a:gridCol w="3448273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잘못된 관행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생기는 문제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보완 방향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테이블부터 그린다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 구조가 업무 개념을 대신한다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개념·관계의 뜻을 확인한 뒤 저장 구조를 정한다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LLM의 관행을 채택한다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시 취소 같은 추측이 규칙이 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원문 근거를 요구하고 사람에게 확인한다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없는 화살표는 모두 금지한다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미정 정책이 거절 코드로 굳어진다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금지 근거와 미정 질문을 구분한다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모든 개념을 상세화한다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다음 결정에 쓰지 않는 모델이 늘어난다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구현과 검증에 필요한 범위부터 끝까지 잇는다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코드와 다른 모델을 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다음 작업자가 서로 다른 의미를 받는다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의미가 바뀌면 용어·모델·대표 예를 함께 보완한다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모델의 품질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그림의 정교함보다 업무 의미를 정확히 설명하는지로 판단한다.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- 18 -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흔한 오류와 보완 방향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11. 실습 — 도메인 모델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5257800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①로 시작해 답·질문·수정 요청을 주고받는다.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②~④는 보완 예시다. ⑤로 MD를 만들고 필요하면 보완·재생성한다.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프롬프트 —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 요청사항 포함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1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“아래 실습 2의 요구사항 정의서에서 최초 정기배송 신청에 필요한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용어와 업무 규칙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을 짧게 정리해라. 뜻이 불명확하거나 서로 맞지 않는 내용은 질문해라. 구현 구조와 DB·API·코드는 제외해라.”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2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“앞선 질문에 대한 아래 답과 수정 요청을 반영해라. 업무 개념의 속성·관계·다중성을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클래스 다이어그램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으로 대화창에 보여주고 주요 관계를 설명해라. 불명확한 의미는 질문하고 구현 클래스·DB 테이블은 설계하지 마라.”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3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“아래 답과 수정 요청을 반영해라. 최초 신청의 업무 상호작용을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시퀀스 다이어그램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으로, 사건에 따른 신청 상태 변화를 상태 머신 다이어그램으로 대화창에 보여줘라. 정적 모델과의 불일치나 미정 사항은 질문하고 구현 객체·API 호출은 설계하지 마라.”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4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“아래 답과 수정 요청을 반영해라. 실습 2의 대표 수용 기준으로 용어·업무 규칙과 세 다이어그램의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일관성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을 검토해라. 보완한 다이어그램을 대화창에 다시 보여주고 다른 모델에 영향이 있으면 함께 갱신해라. 새 정책이나 범위 밖 모델을 추가하지 마라.”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5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“지금까지 합의한 도메인 모델을 다음 실습에 사용할 간결한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Markdown 파일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로 생성해라. 용어와 업무 규칙은 하나의 상위 절 안에서 별도 소제목으로 구분해라. 대화창에서 검토한 최종 클래스·시퀀스·상태 머신 다이어그램은 독립 절에 재사용 가능한 원본과 필요한 설명을 포함해라. 실습 2의 날짜·금액 조건을 반복하지 말고 참조해라. 새 결정을 추가하거나 폐기한 안을 되살리지 마라. 남은 미결 사항은 해당 항목에 이유와 영향을 표시해라.”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1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용어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신청과 계약, 판매가와 확정 금액의 뜻이 명확한가?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2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정적 모델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필요한 업무 개념·속성·관계·다중성이 일관되는가?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동적 모델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상호작용과 사건·상태 변화가 같은 업무를 설명하는가?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4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일관성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일정·금액·결제 결과·중복 방지의 수용 기준을 설명하는가?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5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범위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기존 기능 재구현과 설계·DB·API·운영 모델을 추가하지 않았는가?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용어·업무 규칙·세 다이어그램 원본을 포함한 최종 MD 파일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마지막 합의를 확인하고 실습 4에 첨부한다.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12. 요약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도메인 모델은 사람이 정한 업무의 의미다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용어집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같은 말을 같은 뜻으로 쓰게 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개념과 관계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업무의 구조를,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상태와 규칙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사건에 따른 변화를 설명한다.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의미를 확정하고,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AI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초안과 교차 검토를 돕는다.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코드와 테스트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연결해 확인하고, 새로 발견한 의미는 모델에 되돌린다.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세션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"세션 04. 아키텍처"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이 의미를 지킬 시스템 경계와 의존 규칙, 외부 연동을 정한다.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실습 3 정기배송 최초 신청 도메인 모델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4338828" cy="5352345"/>
          </a:xfrm>
        </p:spPr>
        <p:txBody>
          <a:bodyPr>
            <a:normAutofit/>
          </a:bodyPr>
          <a:lstStyle/>
          <a:p>
            <a:pPr marL="3225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1. 용어와 업무 규칙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1.1 용어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정기배송 신청: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고객이 상품 한 종류와 수량, 본인의 등록 배송지·결제수단 및 배송 조건을 선택하여 계약 체결을 요청하는 과정이다.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정기배송 계약: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첫 결제 성공이 확인될 때 정기배송 신청으로부터 성립하는 계약이다.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배송회차: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신청 시 계산하여 고객에게 고지하는 예정 일정이다. 실제 배송 실행이나 운영 상태를 뜻하지 않는다.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첫 결제: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첫 회차 금액을 신청 시 결제하는 행위다.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회차 결제금액: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신청 시 확정하여 모든 배송회차에 동일하게 적용하는 금액이다.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동일 신청: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고객이 한 번의 신청 의사로 시작한 신청이 반복 전달된 경우다. 선택 내용이 같다는 사실만으로 동일 신청이 되지는 않는다.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별개 신규 신청: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고객이 신청 절차를 새로 시작하고 별도로 신청 의사를 확인한 신청이다.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1.2 업무 규칙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한 신청에서는 상품 한 종류와 수량을 선택한다.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기존 회원·상품·등록 배송지·등록 결제수단은 기존 쇼핑몰의 개념을 참조하며 내부 구조를 새로 정의하지 않는다.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고객은 본인의 유효한 등록 배송지와 등록 결제수단만 선택할 수 있다.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선택 대상이 유효하지 않거나 본인 소유가 아니거나 첫 배송일이 허용되지 않으면 선택 내용 확인을 요청하고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신청준비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상태를 유지한다. 이때 첫 결제를 실행하지 않는다.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960120"/>
            <a:ext cx="4439412" cy="5352345"/>
          </a:xfrm>
        </p:spPr>
        <p:txBody>
          <a:bodyPr>
            <a:normAutofit/>
          </a:bodyPr>
          <a:lstStyle/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날짜 산정, 배송회차 계산, 월말 처리, 금액 산정·유지 및 검증값은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실습 2 요구사항 정의서와 대표 수용 기준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을 따른다.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신청 완료 전 선택 내용, 계약 조건, 배송 일정과 횟수, 결제금액과 결제 시점, 금액 유지 및 자동 갱신 없음을 고지한다.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회차는 신청 시 결제하며 배송일 기준의 결제 예정일을 갖지 않는다. 이후 회차만 실습 2에서 정한 결제 예정일을 갖는다.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결제 성공이 확인된 경우에만 신청이 완료되고 신청당 최대 하나의 계약이 성립한다.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결제 실패가 확정되면 신청은 미완료되고 계약은 성립하지 않는다. 다시 신청하려면 별개의 신규 신청을 시작해야 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결제 결과를 확인할 수 없으면 실패로 취급하지 않고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결과확인필요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상태로 둔다. 이후 결제 시스템의 결과 확인을 통해 성공 또는 실패가 확정된다.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계약이 성립하면 신청 시 고지한 배송회차와 회차 결제금액이 계약 내용으로 확정된다.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동일 신청의 반복 전달은 추가 청구, 추가 계약, 회차 추가 또는 상태 변화를 일으키지 않는다. 결과가 확정되었으면 기존 결과를, 아직 확정되지 않았으면 결과 확인 필요를 안내한다.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별개의 신규 신청은 허용한다. 동일 신청을 식별하는 기술적 방식은 설계에서 결정한다.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결제 결과를 통지하거나 조회하는 기술적 방식과 고객 알림 수단은 설계에서 결정한다.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이후 배송 운영, 후속 결제 실행, 배송 불가일 조정, 계약 변경 및 해지는 이 모델의 범위에서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2. 클래스 다이어그램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</p:txBody>
      </p:sp>
      <p:pic>
        <p:nvPicPr>
          <p:cNvPr id="9" name="plantuml Diagram 5"/>
          <p:cNvPicPr>
            <a:picLocks noChangeAspect="1"/>
          </p:cNvPicPr>
          <p:nvPr/>
        </p:nvPicPr>
        <p:blipFill>
          <a:blip r:embed="plantumlImage5"/>
          <a:stretch>
            <a:fillRect/>
          </a:stretch>
        </p:blipFill>
        <p:spPr>
          <a:xfrm>
            <a:off x="1461119" y="960120"/>
            <a:ext cx="6221761" cy="535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3. 시퀀스 다이어그램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</p:txBody>
      </p:sp>
      <p:pic>
        <p:nvPicPr>
          <p:cNvPr id="9" name="plantuml Diagram 6"/>
          <p:cNvPicPr>
            <a:picLocks noChangeAspect="1"/>
          </p:cNvPicPr>
          <p:nvPr/>
        </p:nvPicPr>
        <p:blipFill>
          <a:blip r:embed="plantumlImage6"/>
          <a:stretch>
            <a:fillRect/>
          </a:stretch>
        </p:blipFill>
        <p:spPr>
          <a:xfrm>
            <a:off x="2219569" y="960120"/>
            <a:ext cx="4704862" cy="481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4. 상태 머신 다이어그램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</p:txBody>
      </p:sp>
      <p:pic>
        <p:nvPicPr>
          <p:cNvPr id="9" name="plantuml Diagram 7"/>
          <p:cNvPicPr>
            <a:picLocks noChangeAspect="1"/>
          </p:cNvPicPr>
          <p:nvPr/>
        </p:nvPicPr>
        <p:blipFill>
          <a:blip r:embed="plantumlImage7"/>
          <a:stretch>
            <a:fillRect/>
          </a:stretch>
        </p:blipFill>
        <p:spPr>
          <a:xfrm>
            <a:off x="2349744" y="960120"/>
            <a:ext cx="4444512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24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맑은 고딕</vt:lpstr>
      <vt:lpstr>Arial</vt:lpstr>
      <vt:lpstr>Wingdings</vt:lpstr>
      <vt:lpstr>4_Office 테마</vt:lpstr>
      <vt:lpstr>03. 도메인 모델 목차</vt:lpstr>
      <vt:lpstr>01. 세션 목표</vt:lpstr>
      <vt:lpstr>같은 업무를 설명하는 여러 관점 02. 도메인 모델이 명시하는 것</vt:lpstr>
      <vt:lpstr>개념 모델과 온톨로지 02. 도메인 모델이 명시하는 것</vt:lpstr>
      <vt:lpstr>03. 분석·설계·구현</vt:lpstr>
      <vt:lpstr>이름이 같으면 뜻도 같아야 한다 04. 용어집</vt:lpstr>
      <vt:lpstr>가격을 판매가와 단가로 나누기 04. 용어집</vt:lpstr>
      <vt:lpstr>주문·주문 항목·상품 05. 개념과 관계</vt:lpstr>
      <vt:lpstr>하나의 주문으로 관계 확인하기 05. 개념과 관계</vt:lpstr>
      <vt:lpstr>사건이 상태를 바꾼다 06. 상태와 전이</vt:lpstr>
      <vt:lpstr>금지된 전이와 아직 모르는 전이 06. 상태와 전이</vt:lpstr>
      <vt:lpstr>07. 업무 규칙과 대표 예</vt:lpstr>
      <vt:lpstr>초안과 확정의 책임 08. 모델을 만들 때 사람과 AI</vt:lpstr>
      <vt:lpstr>교육용 초안 검토 예 08. 모델을 만들 때 사람과 AI</vt:lpstr>
      <vt:lpstr>개념과 속성을 코드에 연결하기 09. 모델에서 코드와 테스트로</vt:lpstr>
      <vt:lpstr>상태와 승인 후 행동을 코드에 연결하기 09. 모델에서 코드와 테스트로</vt:lpstr>
      <vt:lpstr>대표 예를 실행해 확인하기 09. 모델에서 코드와 테스트로</vt:lpstr>
      <vt:lpstr>10. 잘못된 관행</vt:lpstr>
      <vt:lpstr>11. 실습 — 도메인 모델</vt:lpstr>
      <vt:lpstr>12. 요약</vt:lpstr>
      <vt:lpstr>실습 3 정기배송 최초 신청 도메인 모델 별첨. 실습 답</vt:lpstr>
      <vt:lpstr>2. 클래스 다이어그램 별첨. 실습 답</vt:lpstr>
      <vt:lpstr>3. 시퀀스 다이어그램 별첨. 실습 답</vt:lpstr>
      <vt:lpstr>4. 상태 머신 다이어그램 별첨. 실습 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 도메인 모델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