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작업 특성에 따른 AI 활용 방식"은 "어떤 방식으로 맡길까?"를 다뤘다. 이 세션은 "무엇을 만들게 할까?"를 다룬다. "무엇으로 받아들일까?"(수용 기준)는 "04. 수용 기준과 검증 가능한 작업 단위"가 맡는다.</a:t>
            </a:r>
          </a:p>
          <a:p>
            <a:pPr lvl="0"/>
            <a:r>
              <a:rPr lang="ko-KR" sz="1200"/>
              <a:t>요구의 틀과 유저 스토리는 "객체지향 분석과 설계 실무" 과정 02 세션의 내용을 재사용한다. 그 과정을 들은 수강생에게는 빠르게 환기한다.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"Understanding Spec-Driven-Development: Kiro, spec-kit, and Tessl", martinfowler.com, 2025 원문 확인. 명세의 기준 원전이다. 한글은 요약이다.</a:t>
            </a:r>
          </a:p>
          <a:p>
            <a:pPr lvl="0"/>
            <a:r>
              <a:rPr lang="ko-KR" sz="1200"/>
              <a:t>원문은 SDD의 정의가 아직 움직인다고 적고, GitHub(명세를 고쳐 가며 유지)와 Tessl(명세가 주된 산출물)의 정의를 함께 소개한다. 이 차이는 「09. SDD의 수준과 한계」의 「3가지 수준」에서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정의는 "a set of related artifacts"까지 포함한다. 그 묶음을 요구사항 정의서·작업 명세서와, 명세가 아닌 도메인 모델·아키텍처로 나누는 것은 「07. 명세와 산출물」에서 다룬다.</a:t>
            </a:r>
          </a:p>
          <a:p>
            <a:pPr lvl="0"/>
            <a:r>
              <a:rPr lang="ko-KR" sz="1200"/>
              <a:t>용어집은 요구 산출물이라 요구사항 정의서에 둔다. 도메인 모델(개념·관계·상태 기계)은 분석 산출물이다. 도메인 모델과 아키텍처를 맥락으로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경로는 4가지다: 명세 → 코드, 명세 → 도메인 모델 → 코드, 명세 → 아키텍처 → 코드, 명세 → 도메인 모델·아키텍처 → 코드. 원전의 분류가 아니다(guides/sw-engineering-principles.md 7절).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Kiro의 흐름을 "Requirements → Design → Tasks"로, 설계 문서의 구성은 시도마다 달랐다고 적는다. 작업 목록의 항목마다 요구 번호가 붙는다.</a:t>
            </a:r>
          </a:p>
          <a:p>
            <a:pPr lvl="0"/>
            <a:r>
              <a:rPr lang="ko-KR" sz="1200"/>
              <a:t>예의 요구는 주문한다를 Kiro 형식으로 옮긴 교육용 예다. Kiro가 만든 결과가 아니다.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순서는 학습 순서다. 실제로는 스토리와 수용 기준을 쓰다가 업무 규칙의 질문으로 되돌아간다.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틀은 "객체지향 분석과 설계 실무" 과정 02 세션의 '문제·요구·요구사항·해결책'과 같다. 인용 근거: Craig Larman, *Applying UML and Patterns*, 3rd ed., 2004 원문 확인.</a:t>
            </a:r>
          </a:p>
          <a:p>
            <a:pPr lvl="0"/>
            <a:r>
              <a:rPr lang="ko-KR" sz="1200"/>
              <a:t>문제/기회 행은 교육용 가정이다. 실제 문제는 요청자에게 확인한다.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시나리오에서 이 답은 업무 담당자와 30분 회의로 정했다. "01. AI 협업의 특성과 사람의 판단 책임"의 첫 시도는 이 질문을 묻지 않고 에이전트가 답을 골랐다.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"객체지향 분석과 설계 실무" 과정 02 세션의 '08. 이벤트 중심 기법'을 재사용했다. 인용 근거: Eric Evans, *Domain-Driven Design Reference*(2015)의 Domain Events 원문 확인.</a:t>
            </a:r>
          </a:p>
          <a:p>
            <a:pPr lvl="0"/>
            <a:r>
              <a:rPr lang="ko-KR" sz="1200"/>
              <a:t>유스케이스와 도메인 이벤트는 소개만 한다. 유저 스토리와, 수용 기준을 예로 쓰는 BDD는 이어지는 05·06에서 자세히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Ron Jeffries, "Essential XP: Card, Conversation, Confirmation"(2001) 원문 확인. 세 요소의 설명은 원문의 각 절을 요약했다.</a:t>
            </a:r>
          </a:p>
          <a:p>
            <a:pPr lvl="0"/>
            <a:r>
              <a:rPr lang="ko-KR" sz="1200"/>
              <a:t>"객체지향 분석과 설계 실무" 과정 02 세션의 '49. 유저 스토리'와 같은 근거다.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원문은 가치가 없는 스토리가 "so that I just do, ok?"처럼 끝난다고 적는다.</a:t>
            </a:r>
          </a:p>
          <a:p>
            <a:pPr lvl="0"/>
            <a:r>
              <a:rPr lang="ko-KR" sz="1200"/>
              <a:t>문형은 필수 양식이 아니다. 누가·무엇을·왜가 드러나면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Wake, "INVEST in Good Stories, and SMART Tasks"(2003) 원문 확인. 표의 "뜻"은 원문의 각 절을 요약했고, "AI에게 맡길 때"는 적용이다.</a:t>
            </a:r>
          </a:p>
          <a:p>
            <a:pPr lvl="0"/>
            <a:r>
              <a:rPr lang="ko-KR" sz="1200"/>
              <a:t>원문은 테스트 가능을 이렇게 설명한다: 스토리 카드를 쓰는 것은 "테스트를 쓸 수 있을 만큼 원하는 것을 안다"는 약속이다.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개발자가 한 번에 한 층만 "제대로" 만들고 싶어 하지만, 화면이 없는 데이터베이스 층은 고객에게 가치가 적다고 적는다.</a:t>
            </a:r>
          </a:p>
          <a:p>
            <a:pPr lvl="0"/>
            <a:r>
              <a:rPr lang="ko-KR" sz="1200"/>
              <a:t>시연과 실습은 주문한다를 한 스토리로 다룬다. 나누는 기준을 보이기 위한 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인용은 Böckeler가 Kiro로 작은 버그를 고치려 했을 때 요구 문서에 생긴 스토리 가운데 하나다(원문의 표현으로 "gems like…"). 한글은 요약이다.</a:t>
            </a:r>
          </a:p>
          <a:p>
            <a:pPr lvl="0"/>
            <a:r>
              <a:rPr lang="ko-KR" sz="1200"/>
              <a:t>표의 예는 주문 시스템에 맞춘 교육용 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문서가 세 실천을 Discovery, Formulation, Automation이라 부른다.</a:t>
            </a:r>
          </a:p>
          <a:p>
            <a:pPr lvl="0"/>
            <a:r>
              <a:rPr lang="ko-KR" sz="1200"/>
              <a:t>North(2006)는 TDD의 "테스트" 대신 "행위"라는 말을 쓰다가, 동료(Chris Matts)와 함께 이 생각을 요구 정의에 적용했다고 적는다.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Dan North, "Introducing BDD"(2006) 원문 확인. 원문의 형식은 "Given some initial context (the givens), When an event occurs, Then ensure some outcomes."다.</a:t>
            </a:r>
          </a:p>
          <a:p>
            <a:pPr lvl="0"/>
            <a:r>
              <a:rPr lang="ko-KR" sz="1200"/>
              <a:t>Given-When-Then의 작성법은 "객체지향 분석과 설계 실무" 과정 02 세션의 '56. Given-When-Then'에도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"Example Mapping" 원문 확인. 원문은 스토리를 노란 카드, 규칙을 파란 카드, 예를 초록 카드, 답하지 못한 질문을 빨간 카드에 쓴다고 설명한다.</a:t>
            </a:r>
          </a:p>
          <a:p>
            <a:pPr lvl="0"/>
            <a:r>
              <a:rPr lang="ko-KR" sz="1200"/>
              <a:t>강의에서는 업무 담당자 역할을 정해 실제로 카드 놀이처럼 해 볼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것이다(「09. SDD의 수준과 한계」의 「SDD의 한계 — 크기와 리뷰」).</a:t>
            </a:r>
          </a:p>
          <a:p>
            <a:pPr lvl="0"/>
            <a:r>
              <a:rPr lang="ko-KR" sz="1200"/>
              <a:t>자동화는 "04. 수용 기준과 검증 가능한 작업 단위"에서 실제 테스트 코드로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guides/sw-engineering-principles.md 7절의 정리를 따른다. 요구·요구사항의 구분은 「03. 문제에서 요구사항으로」, 유저 스토리와 수용 기준은 「05. 유저 스토리」·「06. BDD — 예로 명세하기」에서 다뤘다.</a:t>
            </a:r>
          </a:p>
          <a:p>
            <a:pPr lvl="0"/>
            <a:r>
              <a:rPr lang="ko-KR" sz="1200"/>
              <a:t>"객체지향 분석과 설계 실무" 과정의 실습 1 결과물도 요구사항 정의서다. 이름이 같다.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SDD 도구는 "spec"이라는 한 단어로 요구·설계·작업 계획을 함께 부른다(「02. 명세 주도 개발」의 「Kiro의 요구 문서」). 나눠 보면 혼선이 줄어든다.</a:t>
            </a:r>
          </a:p>
          <a:p>
            <a:pPr lvl="0"/>
            <a:r>
              <a:rPr lang="ko-KR" sz="1200"/>
              <a:t>아키텍처를 맥락으로 주는 법(의존 규칙)은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규칙의 예를 수용 기준으로 정리해 작업 명세서에 더하는 일은 "04. 수용 기준과 검증 가능한 작업 단위"에서 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명세는 「11. 시연 — LLM이 쓴 작업 명세서」의 초안을 사람이 검토해 완성한 것이다.</a:t>
            </a:r>
          </a:p>
          <a:p>
            <a:pPr lvl="0"/>
            <a:r>
              <a:rPr lang="ko-KR" sz="1200"/>
              <a:t>미정 하나는 이번 릴리스에 숨기지 않고 남긴 질문이다. "10. 실패 대응·재시도·복구"에서 다시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일반 맥락 문서를 도구들의 이름을 따라 "메모리 뱅크"라 부른다(Kiro는 steering, spec-kit은 constitution).</a:t>
            </a:r>
          </a:p>
          <a:p>
            <a:pPr lvl="0"/>
            <a:r>
              <a:rPr lang="ko-KR" sz="1200"/>
              <a:t>메모리 뱅크(맥락 파일)를 만드는 법은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이 셋을 SDD의 구현 수준으로 정리한다.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Böckeler(2025) 원문 확인. 원문은 명세를 시간이 지나며 어떻게 유지할지가 모호하거나 열려 있는 경우가 많다고 덧붙인다.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원문이 2025년 9월에 써 본 도구의 설명을 요약한 것이다. 도구는 빠르게 바뀌므로 과정을 열 때마다 다시 확인한다. Tessl은 당시 비공개 베타였다.</a:t>
            </a:r>
          </a:p>
          <a:p>
            <a:pPr lvl="0"/>
            <a:r>
              <a:rPr lang="ko-KR" sz="1200"/>
              <a:t>도구 사용법은 다루지 않는다. 흐름과 수준의 차이만 본다.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spec-kit을 이전 팀에서 3~5포인트 크기였을 기능에 써 보았고, 그 크기에도 과했다고 적는다.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원문은 지시를 무시한 경우뿐 아니라, 규칙 하나를 지나치게 열심히 따른 경우도 보았다고 적는다.</a:t>
            </a:r>
          </a:p>
          <a:p>
            <a:pPr lvl="0"/>
            <a:r>
              <a:rPr lang="ko-KR" sz="1200"/>
              <a:t>따랐는지 확인하는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원문의 소제목: "How to effectively separate functional from technical spec?", "Who is the target user?". "원문"은 요약이다.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원문의 "Spec-anchored and spec-as-source: Are we learning from the past?" 절을 요약한 것이다. 원문의 저자는 MDD를 많이 쓴 프로젝트를 경험했다고 밝힌다.</a:t>
            </a:r>
          </a:p>
          <a:p>
            <a:pPr lvl="0"/>
            <a:r>
              <a:rPr lang="ko-KR" sz="1200"/>
              <a:t>모델을 그리는 "객체지향 분석과 설계 실무" 과정과 연결한다. 모델은 코드를 생성하려고 그리는 것이 아니라 의미를 밝히려고 그린다.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기준은 "04. 수용 기준과 검증 가능한 작업 단위", 맥락 파일은 "05. 도메인·설계 지식과 맥락 구성",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원문은 시스템 프롬프트의 높이를 말하지만, 같은 균형이 작업 명세서에도 해당한다.</a:t>
            </a:r>
          </a:p>
          <a:p>
            <a:pPr lvl="0"/>
            <a:r>
              <a:rPr lang="ko-KR" sz="1200"/>
              <a:t>과잉의 예는 첫 시도의 잘못된 계산(결제 시점의 판매가 재조회)을 지시로 바꾼 것이다. 명세 과잉의 일반론은 "객체지향 분석과 설계 실무" 과정 02 세션의 '잘못된 관행 — 명세 과잉·방치'에 있다.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축의 정리는 원전의 분류가 아니다(guides/sw-engineering-principles.md 7절). 작업 계획은 스토리가 한 번에 끝나지 않을 만큼 클 때 더한다("04. 수용 기준과 검증 가능한 작업 단위").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맥락이 한계 효용이 줄어드는 유한한 자원이라는 점은 "01. AI 협업의 특성과 사람의 판단 책임"의 「맥락의 한계」에서 다뤘다.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파일과 의존 규칙은 "05. 도메인·설계 지식과 맥락 구성"에서 만든다.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2026-10-07에 Claude Code 2.1.292(비대화형, 도구 없음, 모델 claude-opus-5-5)로 실행했다. 41초, 출력 3,306토큰. 프롬프트와 초안 전문은 code/s03/demo-results에 있다.</a:t>
            </a:r>
          </a:p>
          <a:p>
            <a:pPr lvl="0"/>
            <a:r>
              <a:rPr lang="ko-KR" sz="1200"/>
              <a:t>첫 시도(요청 한 줄)와 달리 명세의 형식(미정 항목)과 회의 메모를 주자, 추측이 질문으로 바뀌었다. 같은 시연을 다시 하면 결과는 달라질 수 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결정은 시나리오의 업무 담당자가 답한 교육용 결정이다. 수강생에게 먼저 답하게 하고 비교한다.</a:t>
            </a:r>
          </a:p>
          <a:p>
            <a:pPr lvl="0"/>
            <a:r>
              <a:rPr lang="ko-KR" sz="1200"/>
              <a:t>"제외"로 옮긴 것은 답이 없어서가 아니라 이번 작업의 범위가 아니라서다. 숨기지 않고 명세에 남긴다.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저장소에 남기는 방법(맥락 파일·용어집)은 "05. 도메인·설계 지식과 맥락 구성"에서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남긴 미정 질문에 수강생이 업무 담당자로서 답하게 한다. 답할 수 없는 것만 미정으로 남긴다.</a:t>
            </a:r>
          </a:p>
          <a:p>
            <a:pPr lvl="0"/>
            <a:r>
              <a:rPr lang="ko-KR" sz="1200"/>
              <a:t>예의 날짜는 수강생이 직접 계산해 확인한다(첫 배송일, 주기, 만료일).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유저 스토리의 수용 기준이 다음 세션의 주제다. Given-When-Then의 예를 실행되는 테스트로 만든다(BDD의 자동화).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예의 값은 교육용 가정이다(course-design.md의 공통 전제). 회차 날짜는 2주 주기로 계산한 것이다.</a:t>
            </a:r>
          </a:p>
          <a:p>
            <a:pPr lvl="0"/>
            <a:r>
              <a:rPr lang="ko-KR" sz="1200"/>
              <a:t>배송지 변경은 실습 10~12의 두 번째 기능이므로 이번 작업에서 제외한다.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2의 판단은 고치지 않는다. 규칙 확정이 끝나 다음 작업을 맡길 조건이 갖춰졌다는 것만 기록한다.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기반의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만들어, LLM이 업무 규칙을 추측하지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명세가 요구사항의 명세임을 설명하고, 3가지 수준과 한계를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문제/기회 → 요구 → 요구사항 →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업무 규칙을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(이벤트–반응 목록·유스케이스·유저 스토리·도메인 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출발함을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(INVEST)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쓰고, 업무 규칙을 기준으로 세로로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규칙의 예를 Given-When-Then으로 쓰고, Example Mapping으로 질문을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정의서·작업 명세서·도메인 모델·아키텍처)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관계를 설명하고,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요구에서 코드까지 넣을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 주도 개발이란?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쓰고, 그 명세를 사람과 AI가 함께 따르는 기준으로 삼는 방식이다.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먼저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그 명세가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“spec” before writing code with AI (“documentation first”). The spec becomes the source of truth for the human and the AI.",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지금인가?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"01. AI 협업의 특성과 사람의 판단 책임"에서 보았듯이 요청 한 줄로 맡기면 LLM이 빈칸을 추측한다. 명세를 먼저 쓰면 사람이 정할 것을 먼저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방식이다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남기는가를 정한다. 명세에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쓰는가는 요구공학이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오래 써 온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SDD가 다시 부르는 이름이다. 이름이 바뀌었다고 따로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 무엇을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8236" y="3335366"/>
          <a:ext cx="739394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947420"/>
                <a:gridCol w="27355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여부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주문한다(예)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결제해 주문하고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제외, 배송 요청 실패는 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산출물 — 명세가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확인할 수 있을 만큼 정밀하게 적은 것이다.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아키텍처는 명세에 포함하지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명세가 가리키는 기준으로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자연어로 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구조화된 행위 중심의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소프트웨어의 기능을 표현하고 AI 코딩 에이전트의 안내가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구성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모든 경로에 있고, 가장 작은 명세는 유저 스토리와 수용 기준이다. 그 사이에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넣을지는 복잡성이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명세의 뜻과 실현 구조로 에이전트에게 준다. 주문한다는 둘 다 가볍게 넣는다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(「10. 명세의 알맞은 수준과 경로」)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511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명세에서 코드까지의 경로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2749296"/>
            <a:ext cx="6223000" cy="180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Kiro의 요구 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요구 1. 주문한다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유저 스토리: 고객으로서 장바구니 상품을 결제해 주문하고 싶다. 배송받기 위해서다.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수용 기준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1. GIVEN 펜 2개를 1,000원에 주문했고 판매가가 1,200원이 됐다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WHEN 결제한다  THEN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2. GIVEN 결제대기인 주문  WHEN 결제가 승인된다  THEN 결제완료, 배송 요청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3. GIVEN 결제대기인 주문  WHEN 결제가 거절된다  THEN 결제대기, 배송 요청 0건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 Kiro의 요구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목록이다. 주문한다를 이 형식으로 쓰면 다음과 같다.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2398"/>
            <a:ext cx="8412480" cy="2603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요구마다 "As a…"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"GIVEN… WHEN… THEN…" 형식의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requirement represents a “User Story” (in “As a…” format) with acceptance criteria (in “GIVEN… WHEN… THEN…” format)",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이것이 SDD의 명세다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「08. 작업 명세서」의 작업 명세서는 여기에 업무 규칙과 예·범위·제외·미정을 더한 완성본이다.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설계·작업 문서는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Kiro는 요구 → 설계 → 작업의 문서 3개를 만든다. 설계는 해결책, 작업은 작업 계획이다.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3966" y="2112010"/>
          <a:ext cx="71424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2824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03. 문제에서 요구사항으로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업무 담당자에게 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04. 요구를 담는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이벤트로 본 요구의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05. 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누가·무엇을·왜 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06. BDD — 예로 명세하기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— Given-When-Then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07. 명세와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명세서, 도메인 모델·아키텍처와의 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08.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09. SDD의 수준과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명세를 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10. 명세의 알맞은 수준과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얼마나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새 산출물이 아니므로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요구공학의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대로 쓴다. 이 세션의 목차가 그 순서다.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명세를 쓰는 순서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5" y="2624628"/>
          <a:ext cx="7424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95880"/>
                <a:gridCol w="388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요청에서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문제/기회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부족한가?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솔루션으로는 주문 정책을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결제하면 주문이 되고 배송이 시작되어야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거절의 업무 규칙과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클래스, 저장 방식, 외부 호출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섞여 있다. 해결책은 작업 명세서에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섞인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원문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"장바구니에 담은 상품을 결제하면 주문이 되고 배송이 시작되게 해 주세요."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6" y="3173984"/>
          <a:ext cx="614172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답(업무 규칙)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어느 시점의 가격인가?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배송은 언제 요청하나?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주문은 어떻게 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남고,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 결과가 무엇인가?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 대한 답이 업무 규칙이다. 요청에는 이 답이 없으므로 업무 담당자에게 질문해서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553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질문과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찾는 흐름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7566" y="2624628"/>
          <a:ext cx="795528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51790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AI-native에서의 쓰임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외부에서 일어나 시스템이 반응해야 하는 자극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찾기 시작하는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액터가 목표를 위해 시스템과 주고받는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전체의 흐름을 알려 주는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작은 가치의 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처리하는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전문가가 관심을 두는, 이미 일어난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바뀌는 사건 — 상태 기계의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담는 형식은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출발하고, 형식마다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관점을 보는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전문가가 관심을 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무언가가 일어났다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"Something happened that domain experts care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형식별로 보는 이벤트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유저 스토리란?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스토리는 AI가 처리하는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번에 만들고 확인할 크기이기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"유저 스토리에는 결정적인 세 가지 면이 있다. 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카드, 대화,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부를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스토리를 짧게 적어 둔 것. 요구사항 전체가 아니라 대화를 시작하는 메모다.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세부는 고객과 개발자가 대화로 채운다. 업무 규칙이 여기서 나온다.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스토리가 끝났는지 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AI-native에서의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담당자와의 대화에서 정하고, LLM과의 대화에서는 빠진 질문을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스토리의 문형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As a [누가]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 want [무엇을]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so that [왜]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누가, 무엇을, 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원하는지를 한 문장으로 쓴다. "왜"가 스토리의 가치를 드러낸다.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263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문형의 강점은 스토리를 처음 정의할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스토리를 전달하는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밝히게 한다는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"Its strength is that it forces you to identify the value of delivering a story when you first define it.",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"왜"가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가치를 말하지 못하는 스토리는 범위에서 뺄 후보다.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좋은 유저 스토리 — 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2537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AI에게 맡길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독립적(Independent)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 겹치지 않고 순서를 바꿀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따로 맡기고 따로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가능(Negotiable)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세부는 대화로 함께 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사람이 정하고 명세서에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가치(Valuable)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고객에게 가치가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작업이 아니라 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가능(Estimable)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우선순위를 정할 만큼 크기를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것이 많으면 먼저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작음(Small)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길어야 몇 주, 짧게는 며칠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맡겨 끝까지 확인할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가능(Testable)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쓸 수 있을 만큼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완료를 테스트로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유저 스토리의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6가지다. AI에게 맡길 때는 특히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, 확인할 수 있어야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독립적·협상 가능·가치·추정 가능·작음·테스트 가능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6가지 조건을 갖춘다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stories are: I – Independent N – Negotiable V – Valuable E – Estimable S – Small T – Testable",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INVEST와 AI에게 맡기는 작업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나누기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898948"/>
          <a:ext cx="8305800" cy="3873500"/>
        </p:xfrm>
        <a:graphic>
          <a:graphicData uri="http://schemas.openxmlformats.org/drawingml/2006/table">
            <a:tbl>
              <a:tblPr/>
              <a:tblGrid>
                <a:gridCol w="1522961"/>
                <a:gridCol w="4090503"/>
                <a:gridCol w="269233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나누는 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층으로(가로)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 만들기, 결제 연동 모듈, 주문 화면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조각만으로는 고객이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규칙으로(세로)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결제가 승인되면 배송을 요청한다 ② 거절되면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조각마다 고객이 결과를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층이 아니라 기능을 세로로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나눈다. 한 조각만으로도 고객에게 가치가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고객에게 케이크 전체의 본질을 주는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층을 세로로 자르는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want to give the customer the essence of the whole cake, and the best way is to slice vertically through the layers.", 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주문한다를 나누는 두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나누는 기준은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금액 규칙은 ①과 함께 만들고, 결제 거절 규칙은 ②로 따로 만든다. 조각마다 따로 맡기고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유저 스토리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3061046"/>
          <a:ext cx="72009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1546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개발자가 주어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개발자로서 결제 함수가 견고하기를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테이블을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얻는 결과로 세로로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"왜"가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결제 버튼을 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가치를 말하지 못하면 범위에서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빠르면 좋겠다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수 있는 예와 기준을 붙인다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스토리를 쓰게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개발자가 주어인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섞이기 쉽다.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도구가 작은 버그를 고치며 쓴 스토리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변환 함수가 경계 사례를 우아하게 처리하기를 원한다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story: As a developer, I want the transformation function to handle edge cases gracefully, so that the system remains robust when new category formats are introduced.",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잘못된 유저 스토리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47866" y="3335366"/>
          <a:ext cx="82346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9588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발견(Discovery)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함께 대화하며 규칙과 예를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30분 회의 — 업무 규칙 3가지와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정형화(Formulation)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바뀌는 시나리오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자동화(Automation)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실행되는 테스트로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자바 수용 테스트 — 다음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예로 기대 행위를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그 예를 검증과 잇는 협업 방식이다. TDD에서 출발해 요구 분석으로 넓어졌다.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"행위 주도 개발은 여러 역할 간 협업을 통해 해결할 문제에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만들어 업무 담당자와 기술 담당자의 간극을 좁히는 소프트웨어 팀의 협업 방식이다"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 by: Encouraging collaboration across roles to build shared understanding of the problem to be solved"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3가지 실천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Given-When-Then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시나리오로 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행위는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시스템이 수용 기준을 모두 채우면 바르게 동작하고 채우지 못하면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isn’t.", [North 2006]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시작하는 상황,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일어나는 사건,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확인할 결과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 하나에 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규칙마다 그 규칙을 가장 잘 보이는 예를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Example Mapping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 하나를 놓고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규칙·예·질문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카드로 나눠 대화하는 방법이다. 카드는 그대로 작업 명세서의 유저 스토리·업무 규칙·예·미정이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Example Mapping은 수용 기준을 밝히는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productive.", [Cucumber: Example Mapping]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4797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Example Mapping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82800" y="3185714"/>
            <a:ext cx="4978400" cy="266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BDD와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2112010"/>
          <a:ext cx="7002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0764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규칙과 질문을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규칙을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정형화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Given-When-Then으로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예를 고르고, 지나치게 많은 예를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AI가 같이 읽는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예를 쓰는 일은 LLM이 도울 수 있지만, 규칙은 사람이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실천과 AI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예가 불어나는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버그가 수용 기준 16개로 불어난 예처럼, LLM은 예를 지나치게 많이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5796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이해관계자가 원하는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충족할 능력과 조건 — 명세의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담는 작은 가치 단위 — 수용 기준이 붙어야 명세가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전체의 요구사항 명세 — 용어집 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하나의 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하나, 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— 개념·관계·상태 기계.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경계·의존 규칙. 명세가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시스템,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요구사항의 명세는 범위와 수명에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(분석)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명세가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코드까지의 산출물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명세와 산출물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250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명세서는 요구사항 정의서와 도메인 모델에 있는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쓰지 않고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아키텍처는 명세에 넣지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종류, 다른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요구사항의 명세다. 정의서는 시스템 전체를 유지하고, 작업 명세서는 스토리 하나에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모델은 분석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상태처럼 개념·관계·상태를 한 번 정하고, 명세는 그것을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아키텍처는 해결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명세에 섞으면 해결책을 지시하게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69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산출물의 관계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801938" y="3724656"/>
            <a:ext cx="3540125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5056" y="2660650"/>
          <a:ext cx="49403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누가, 무엇을,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결과는 언제 옳은가? 구체적인 값으로는?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만드는가?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무엇을 만들지 않는가?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답이 없는 질문은 무엇이고, 누가 답하는가?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요구사항 정의서·도메인 모델을 가리키는가?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명세서는 스토리 하나의 작업용 요구사항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유저 스토리에 업무 규칙과 예·범위·제외·미정을 붙인다. 프롬프트와 달리 저장소에 남겨 검토하지만, 오래 남길 업무 규칙은 정의서와 도메인 모델로 옮긴다.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622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항목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장바구니에 담은 상품을 결제해 주문하고 싶다. 상품을 배송받기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정해 주문이 생길 때의 판매가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× 수량의 합. 예: 펜 2개, 판매가 1,000원 → 2,000원. 결제 직전에 판매가가 1,200원이 되어도 2,000원.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 뒤에만 한다. 예: 승인 → 배송 요청 1건, 거절 → 0건.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결제대기로 남고, 다른 카드로 다시 결제한다. 예: 카드 X 거절 → 결제대기, 카드 Y 승인 → 결제완료.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주문한다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생성과 금액 확정, 결제 승인 요청과 결과 반영, 승인 뒤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장바구니 담기, 주문 취소·환불, 쿠폰·할인·배송비, 재고, 배송 이후의 일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결제는 승인됐는데 배송 요청이 실패하면 어떻게 하는가? 업무 담당자가 다음 릴리스 전에 답한다.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회의 메모, 용어집의 주문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(결제대기·결제완료)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14566" y="3335366"/>
          <a:ext cx="7701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03220"/>
                <a:gridCol w="94742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작업의 유저 스토리·업무 규칙·범위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파일, 제품과 코드베이스의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용어집,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SDD의 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위한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(작업 명세서)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메모리 뱅크는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쓰는 맥락 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(요구사항 정의서·도메인 모델·의존 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둘을 나눠 두어야 명세가 짧아진다.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메모리 뱅크는 코드베이스의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AI 코딩 세션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관련되고 명세는 그 기능을 만들거나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관련된다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files are relevant across all AI coding sessions in the codebase, whereas specs only relevant to the tasks that actually create or change that particular functionality.", 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명세와 메모리 뱅크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279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용어집은 메모리 뱅크에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"단가"의 정의는 작업마다 다시 쓰지 않는다. 작업 명세서는 그 정의를 가리키기만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언제까지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명세 중 무엇을 원천으로 삼는가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3가지 수준이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잘 생각한 명세를 먼저 쓰고, 그 작업의 AI 지원 개발 흐름에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"Spec-first: A well thought-out spec is written first, and then used in the AI-assisted development workflow for the task at hand."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고정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작업이 끝난 뒤에도 명세를 남겨 그 기능의 발전과 유지보수에 계속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"Spec-anchored: The spec is kept even after the task is complete, to continue using it for evolution and maintenance of the respective feature."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명세가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명세가 시간이 지나도 주된 원천 파일이고, 사람은 명세만 고치며 코드는 건드리지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"Spec-as-source: The spec is the main source file over time, and only the spec is edited by the human, the human never touches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수준별 명세와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28686" y="2112010"/>
          <a:ext cx="5273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고치는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작업이 끝나면 할 일을 다 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코드를 함께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둘이 어긋나지 않게 유지해야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명세에서 다시 생성된다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수준은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무엇을 고치는가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 원문이 살펴본 방식은 모두 명세 먼저였다.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수준별로 사람이 고치는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SDD 접근은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지만 모두가 명세 고정이나 명세가 원천을 지향하지는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 SDD approaches and definitions I’ve found are spec-first, but not all strive to be spec-anchored or spec-as-source.",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 도구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5360"/>
                <a:gridCol w="3619500"/>
                <a:gridCol w="13106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메모리 뱅크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Kiro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설계 → 작업(문서 3개)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steering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spec-kit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 → (specify → plan → tasks)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constitution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먼저(명세마다 브랜치)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Tessl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하나가 코드 파일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고정, 명세가 원천을 시험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SDD를 내세우는 도구들도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흐름과 수준이 서로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SDD는 한 가지가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도구 3가지 (Böckeler, 2025)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spec-kit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명세마다 브랜치를 만든다. 명세의 수명을 기능 전체가 아니라 변경 요청 하나로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Tessl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생성된 코드 위에 "명세에서 생성됨 — 고치지 말 것"을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크기와 리뷰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 도구의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크기와 관계없이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문서를 만든다. 작은 작업에서는 리뷰할 문서가 코드보다 많아진다.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버그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“user stories” with a total of 16 acceptance criteria",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솔직히 이 마크다운 파일들을 모두 리뷰하느니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리뷰하겠다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honest, I’d rather review code than all these markdown files.",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크기에 맞게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수정은 작업 명세서를 몇 줄로 쓰고, 검증은 테스트로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통제의 착각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문서가 많다고 에이전트가 그대로 따르는 것은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따랐는지는 결과로 확인해야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파일·템플릿·프롬프트·흐름·점검표가 있어도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끝내 지시를 다 따르지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자주 보았다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"Even with all of these files and templates and prompts and workflows and checklists, I frequently saw the agent ultimately not follow all the instructions.",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기존 클래스에 대한 설명이라는 메모를 무시하고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명세로 받아들여 다시 만들어 중복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"But ultimately the agent ignored the notes that these were descriptions of existing classes, it just took them as a new specification and generated them all over again, creating duplicates.", 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우리가 만드는 것을 통제하는 가장 좋은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작고 반복적인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past has shown that the best way for us to stay in control of what we’re building are small, iterative steps",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한계 — 무엇을 누가 쓰는가?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나누고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개발자가 요구 분석까지 하는 것을 전제한다. 둘 다 쉽지 않다.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명세와 기술 명세를 어떻게 나누는가?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언제 기술의 세부를 더할지 자주 헷갈렸고, 문서마다 해석도 달랐다.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명세서에는 업무 규칙만 쓰고, 설계는 맥락과 경계로 따로 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쓰는가?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개발자가 요구 분석을 다 하는 것처럼 전제한다.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규칙은 업무 담당자가 답하고, 개발자는 질문을 찾아 명세서로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 주도 개발의 교훈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36728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주도 개발(MDD)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원천인 SDD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UML·전용 언어 — 도구가 읽을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자연어 — 사람이 읽기 쉽다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만드는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만든 코드 생성기 — 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— 비결정적이다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잃은 것과 얻은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애플리케이션에는 오버헤드가 커 자리잡지 못했다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생성기는 필요 없지만 명세 검사가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원천이 되는 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닮았다. 모델이 명세였고, 코드 생성기가 코드를 만들었다.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MDD와 SDD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명세가 원천인 방식과 명세 고정까지도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MDD와 LLM의 단점을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떠안을 수 있다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경직성과 비결정성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wonder if spec-as-source, and even spec-anchoring, might end up with the downsides of both MDD and LLMs: Inflexibility and non-determinism.", [Böckeler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SDD의 지침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SDD의 수준과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7156" y="1837690"/>
          <a:ext cx="6896100" cy="3873500"/>
        </p:xfrm>
        <a:graphic>
          <a:graphicData uri="http://schemas.openxmlformats.org/drawingml/2006/table">
            <a:tbl>
              <a:tblPr/>
              <a:tblGrid>
                <a:gridCol w="38811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명세서를 먼저 쓴다 — 업무 규칙과 예를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없이 맡기면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명세서는 작업 크기에 맞게 짧게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작업에도 문서가 불어난다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규칙은 요구사항 정의서와 도메인 모델에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작업과 함께 버려진다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따랐는지는 테스트와 센서로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있어도 에이전트가 따르지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설계를 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기능과 기술의 경계가 흐려진다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한계는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작업과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메운다.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SDD 지침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알맞은 높이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061046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98272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"결제되면 주문 완료로 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금액과 결제 거절을 LLM이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스토리와 업무 규칙 3가지, 그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규칙대로 만들고, 구현은 LLM이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 서비스에서 반복문으로 판매가를 다시 조회해 더해줘"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규칙을 빠짐없이 담을 만큼 구체적이고, 구현 방법은 지시하지 않을 만큼 유연해야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알맞은 높이는 행동을 이끌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이면서 모델에게 강한 판단 기준을 줄 만큼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균형이다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optimal altitude strikes a balance: specific enough to guide behavior effectively, yet flexible enough to provide the model with strong heuristics to guide behavior.",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수준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0746" y="2112010"/>
          <a:ext cx="53289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수용 기준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작업 명세서 +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바뀌지 않는다. 중간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두 축으로 따로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고르는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57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규칙·상태·용어가 많고 서로 얽힌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외부 연동·품질 요구·실행 환경의 제약이 큰 정도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사다리가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도메인은 복잡하고 기술은 단순하면, 아키텍처 없이 도메인 모델만 넣는다.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89960"/>
                <a:gridCol w="336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넣는가?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도메인·기술 복잡성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도메인 모델, 아키텍처, 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불확실성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정한다, 또는 만들면서 발견해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수명·변경 빈도, 함께 쓰는 사람·에이전트의 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작업에 쓰고 끝낸다, 또는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중간 산출물의 판단은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무엇·언제·얼마나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 명세 주도 개발은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얼마나 남기는가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중간 산출물의 3가지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SDD는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먼저·명세 고정·명세가 원천은 작업 명세서를 얼마나 오래 원천으로 두는가의 차이다. 명세 고정은 작업 명세서를 정의서처럼 유지하는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산출물이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검증을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문서를 싸게 만들어도 검토 비용과 맥락의 한계는 그대로다.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기준이 없으면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작업 크기와 관계없이 같은 문서를 만든다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(「SDD의 한계 — 크기와 리뷰」)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경로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명세의 알맞은 수준과 경로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2656" y="2112010"/>
          <a:ext cx="77851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757680"/>
                <a:gridCol w="318262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남기는가?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3가지와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하지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 — 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결제대기에서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연동이 업무 규칙에 섞이지 않게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 — 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 하나, 연동 2개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계획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 하나가 한 번에 끝나는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주문한다는 도메인·기술 복잡성이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중간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 3가지와 주문 상태, 결제·배송 시스템 연동이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 넣는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4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것은 작업 명세서가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용어는 정의서에, 상태는 상태 기계에 남기고 다음 작업 명세서는 그것을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한 줄과 회의 메모를 주고, LLM에게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쓰게 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요청과 회의 메모로 '주문한다'의 작업 명세서를 써줘. 유저 스토리부터 쓰고, 업무 규칙과 예·범위·제외·미정을 붙여줘." 요청과 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(업무 규칙 3가지)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"출처: 회의 메모"로 표시했다. 회의 메모에 없는 업무 규칙은 만들지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모르는 것 8가지를 질문으로 남겼다. "주문이 언제 생기는가?"를 가장 먼저 확인할 것으로 꼽았다.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스스로 정한 경계라고 밝히고, 업무 담당자의 확인을 요청했다.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값은 지어냈다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(상품 A, 10,000원)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112010"/>
          <a:ext cx="6670040" cy="3873500"/>
        </p:xfrm>
        <a:graphic>
          <a:graphicData uri="http://schemas.openxmlformats.org/drawingml/2006/table">
            <a:tbl>
              <a:tblPr/>
              <a:tblGrid>
                <a:gridCol w="2763520"/>
                <a:gridCol w="9474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미정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언제 생기는가?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정하면 결제대기로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구성은?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× 수량의 합. 배송비·할인은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기한과 재결제 횟수는?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릴리스에는 제한이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수단은?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카드. 같은 카드로 다시 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재고는 언제 확인하는가?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시스템의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장바구니는 어떻게 처리하는가?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기능은 이번 범위가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상태의 이름은?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결제완료(용어집)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뒤 배송 요청이 실패하면?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다음 릴리스 전에 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 항목이 있는 명세 형식을 주자, LLM은 모르는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추측하지 않고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남겼다. 사람의 일은 그 질문에 답하는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초안의 미정과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예의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지어낸 값을 시나리오의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(펜 2개, 1,000원)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바꿨다. 결과가 「주문한다의 작업 명세서」다.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310642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이름, 새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정의와 "명세"를 따로 만들어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명세가 요구사항 정의임을 알고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프롬프트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지시 사이에 묻힌다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명세의 한 항목으로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해결책을 지시하는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지시가 그대로 코드가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빈칸이 그럴듯하게 채워진다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질문으로 남기고 답할 사람을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남기지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작업이 같은 질문을 다시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정의서와 용어집에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명세를 잘못 다루면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LLM이 추측으로 채우거나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문서끼리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어긋난다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명세의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판단표와 회의 메모를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2에서 "규칙 확정"으로 분류한 작업을 업무 담당자와 마쳤다.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회의 메모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는 다음과 같다.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대기로 남고, 다른 결제 수단으로 다시 결제한다.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만든다.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회의 메모,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"백로그의 '정기배송 신청과 회차 생성 구현'의 작업 명세서를 써줘.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유저 스토리부터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쓰고 업무 규칙과 예·범위·제외·미정을 붙여줘. 회의 메모에 없는 규칙은 만들지 말고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 질문으로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스토리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누가·무엇을·왜가 있고, 한 번에 만들고 확인할 크기인가?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업무 규칙의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업무 규칙이 회의 메모나 모델 패키지에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해결책과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구현 지시가 섞이거나, 모델 패키지의 내용을 다시 쓰지 않고 가리켰는가?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구체적인 날짜·금액의 대표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작업에서 하지 않을 것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(해지·취소·반품·배송지 변경)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답이 없는 것을 채우지 않고 질문으로 남겼는가? 답할 사람이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 명세서. 실습 4의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명세의 빈칸을 추측으로 채우므로,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것은 먼저 정해 작업 명세서에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문제/기회 → 요구 → 요구사항 → 해결책. 해결책은 작업 명세서에 넣지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유저 스토리와 BDD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스토리는 AI가 처리하는 작업 단위다. 업무 규칙마다 대표 예를 Given-When-Then으로 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 하나의 작업용 요구사항 명세. 요구사항 정의서와 도메인 모델은 가리킨다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 → 유저 스토리 → 코드·테스트는 불변이다. 중간 산출물은 도메인·기술 복잡성으로 고르고, SDD는 얼마나 남기는가의 답이다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 항목이 있는 명세 형식을 주자 LLM은 모르는 것을 질문으로 남겼다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업무 규칙을 허용·거절 예시와 테스트로 바꾸고, 한 번에 확인할 크기로 나눈다.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유저 스토리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고객으로서 생필품을 정한 주기로 받도록 정기배송을 신청하고 결제하고 싶다. 매번 주문하지 않기 위해서다.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 예정 회차를 만든다. 만료일은 첫 배송일 + 기간의 전날이다. 예: 첫 배송일 11월 3일, 2주 주기, 3개월 → 만료일 2월 2일,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때의 가격 × 수량. 기간 끝까지 같다. 예: 휴지 1묶음 10,000원 → 회차 금액 10,000원, 일시불 70,000원.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정기배송은 결제 대기로 남고, 다른 결제 수단으로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정기배송 신청과 회차 생성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회차 금액 확정, 일시불 결제 승인 요청, 승인되면 확정과 예정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해지·취소·반품, 월별 청구, 배송지 변경, 회차의 배송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배송일이 공휴일이면 어떻게 하는가? 업무 담당자가 답한다.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요구의 구체화와 명세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 확정 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거절·회차 날짜 규칙 확정" 작업이 끝나, "정기배송 신청과 회차 생성 구현"을 에이전트에게 맡길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만료일까지 회차를 만든다는 규칙과 예를 요구사항 정의서에 더한다.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명세서와 모델 패키지의 회차 규칙. 실습 4의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Wingdings</vt:lpstr>
      <vt:lpstr>4_Office 테마</vt:lpstr>
      <vt:lpstr>03. 요구의 구체화와 명세 목차</vt:lpstr>
      <vt:lpstr>01. 세션 목표</vt:lpstr>
      <vt:lpstr>명세 주도 개발이란? 02. 명세 주도 개발</vt:lpstr>
      <vt:lpstr>명세에 무엇을 쓰는가? 02. 명세 주도 개발</vt:lpstr>
      <vt:lpstr>명세에서 코드까지 02. 명세 주도 개발</vt:lpstr>
      <vt:lpstr>Kiro의 요구 문서 02. 명세 주도 개발</vt:lpstr>
      <vt:lpstr>명세를 쓰는 순서 02. 명세 주도 개발</vt:lpstr>
      <vt:lpstr>문제·요구·요구사항·해결책 03. 문제에서 요구사항으로</vt:lpstr>
      <vt:lpstr>업무 규칙 찾기 03. 문제에서 요구사항으로</vt:lpstr>
      <vt:lpstr>04. 요구를 담는 형식</vt:lpstr>
      <vt:lpstr>유저 스토리란? 05. 유저 스토리</vt:lpstr>
      <vt:lpstr>스토리의 문형 05. 유저 스토리</vt:lpstr>
      <vt:lpstr>좋은 유저 스토리 — INVEST 05. 유저 스토리</vt:lpstr>
      <vt:lpstr>스토리 나누기 05. 유저 스토리</vt:lpstr>
      <vt:lpstr>잘못된 유저 스토리 05. 유저 스토리</vt:lpstr>
      <vt:lpstr>BDD란? 06. BDD — 예로 명세하기</vt:lpstr>
      <vt:lpstr>Given-When-Then 06. BDD — 예로 명세하기</vt:lpstr>
      <vt:lpstr>Example Mapping 06. BDD — 예로 명세하기</vt:lpstr>
      <vt:lpstr>BDD와 AI 06. BDD — 예로 명세하기</vt:lpstr>
      <vt:lpstr>명세와 산출물 07. 명세와 산출물</vt:lpstr>
      <vt:lpstr>산출물의 관계 07. 명세와 산출물</vt:lpstr>
      <vt:lpstr>작업 명세서란? 08. 작업 명세서</vt:lpstr>
      <vt:lpstr>주문한다의 작업 명세서 08. 작업 명세서</vt:lpstr>
      <vt:lpstr>명세와 메모리 뱅크 09. SDD의 수준과 한계</vt:lpstr>
      <vt:lpstr>3가지 수준 09. SDD의 수준과 한계</vt:lpstr>
      <vt:lpstr>수준별 명세와 코드 09. SDD의 수준과 한계</vt:lpstr>
      <vt:lpstr>SDD 도구 3가지 09. SDD의 수준과 한계</vt:lpstr>
      <vt:lpstr>SDD의 한계 — 크기와 리뷰 09. SDD의 수준과 한계</vt:lpstr>
      <vt:lpstr>SDD의 한계 — 통제의 착각 09. SDD의 수준과 한계</vt:lpstr>
      <vt:lpstr>SDD의 한계 — 무엇을 누가 쓰는가? 09. SDD의 수준과 한계</vt:lpstr>
      <vt:lpstr>모델 주도 개발의 교훈 09. SDD의 수준과 한계</vt:lpstr>
      <vt:lpstr>SDD의 지침 09. SDD의 수준과 한계</vt:lpstr>
      <vt:lpstr>알맞은 높이 10. 명세의 알맞은 수준과 경로</vt:lpstr>
      <vt:lpstr>요구에서 코드까지 10. 명세의 알맞은 수준과 경로</vt:lpstr>
      <vt:lpstr>무엇·언제·얼마나 10. 명세의 알맞은 수준과 경로</vt:lpstr>
      <vt:lpstr>주문한다의 경로 10. 명세의 알맞은 수준과 경로</vt:lpstr>
      <vt:lpstr>작업 명세서 초안 11. 시연 — LLM이 쓴 작업 명세서</vt:lpstr>
      <vt:lpstr>사람의 검토 11. 시연 — LLM이 쓴 작업 명세서</vt:lpstr>
      <vt:lpstr>12. 잘못된 관행</vt:lpstr>
      <vt:lpstr>13. 실습 — 작업 명세서</vt:lpstr>
      <vt:lpstr>14. 요약</vt:lpstr>
      <vt:lpstr>작업 명세서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요구의 구체화와 명세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