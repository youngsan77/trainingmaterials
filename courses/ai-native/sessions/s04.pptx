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notesSlides/notesSlide2.xml" ContentType="application/vnd.openxmlformats-officedocument.presentationml.notes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notesSlides/notesSlide9.xml" ContentType="application/vnd.openxmlformats-officedocument.presentationml.notesSlide+xml"/>
  <Override PartName="/ppt/slides/slide9.xml" ContentType="application/vnd.openxmlformats-officedocument.presentationml.slide+xml"/>
  <Override PartName="/ppt/notesSlides/notesSlide10.xml" ContentType="application/vnd.openxmlformats-officedocument.presentationml.notesSlide+xml"/>
  <Override PartName="/ppt/slides/slide10.xml" ContentType="application/vnd.openxmlformats-officedocument.presentationml.slide+xml"/>
  <Override PartName="/ppt/notesSlides/notesSlide11.xml" ContentType="application/vnd.openxmlformats-officedocument.presentationml.notesSlide+xml"/>
  <Override PartName="/ppt/slides/slide11.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notesSlides/notesSlide17.xml" ContentType="application/vnd.openxmlformats-officedocument.presentationml.notesSlide+xml"/>
  <Override PartName="/ppt/slides/slide17.xml" ContentType="application/vnd.openxmlformats-officedocument.presentationml.slide+xml"/>
  <Override PartName="/ppt/notesSlides/notesSlide18.xml" ContentType="application/vnd.openxmlformats-officedocument.presentationml.notesSlide+xml"/>
  <Override PartName="/ppt/slides/slide18.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notesSlides/notesSlide20.xml" ContentType="application/vnd.openxmlformats-officedocument.presentationml.notesSlide+xml"/>
  <Override PartName="/ppt/slides/slide20.xml" ContentType="application/vnd.openxmlformats-officedocument.presentationml.slide+xml"/>
  <Override PartName="/ppt/notesSlides/notesSlide21.xml" ContentType="application/vnd.openxmlformats-officedocument.presentationml.notesSlide+xml"/>
  <Override PartName="/ppt/slides/slide21.xml" ContentType="application/vnd.openxmlformats-officedocument.presentationml.slide+xml"/>
  <Override PartName="/ppt/notesSlides/notesSlide22.xml" ContentType="application/vnd.openxmlformats-officedocument.presentationml.notesSlide+xml"/>
  <Override PartName="/ppt/slides/slide22.xml" ContentType="application/vnd.openxmlformats-officedocument.presentationml.slide+xml"/>
  <Override PartName="/ppt/notesSlides/notesSlide23.xml" ContentType="application/vnd.openxmlformats-officedocument.presentationml.notesSlide+xml"/>
  <Override PartName="/ppt/slides/slide23.xml" ContentType="application/vnd.openxmlformats-officedocument.presentationml.slide+xml"/>
  <Override PartName="/ppt/notesSlides/notesSlide24.xml" ContentType="application/vnd.openxmlformats-officedocument.presentationml.notesSlide+xml"/>
  <Override PartName="/ppt/slides/slide24.xml" ContentType="application/vnd.openxmlformats-officedocument.presentationml.slide+xml"/>
  <Override PartName="/ppt/notesSlides/notesSlide25.xml" ContentType="application/vnd.openxmlformats-officedocument.presentationml.notesSlide+xml"/>
  <Override PartName="/ppt/slides/slide25.xml" ContentType="application/vnd.openxmlformats-officedocument.presentationml.slide+xml"/>
  <Override PartName="/ppt/notesSlides/notesSlide26.xml" ContentType="application/vnd.openxmlformats-officedocument.presentationml.notesSlide+xml"/>
  <Override PartName="/ppt/slides/slide26.xml" ContentType="application/vnd.openxmlformats-officedocument.presentationml.slide+xml"/>
  <Override PartName="/ppt/notesSlides/notesSlide27.xml" ContentType="application/vnd.openxmlformats-officedocument.presentationml.notesSlide+xml"/>
  <Override PartName="/ppt/slides/slide27.xml" ContentType="application/vnd.openxmlformats-officedocument.presentationml.slide+xml"/>
  <Override PartName="/ppt/notesSlides/notesSlide28.xml" ContentType="application/vnd.openxmlformats-officedocument.presentationml.notesSlide+xml"/>
  <Override PartName="/ppt/slides/slide28.xml" ContentType="application/vnd.openxmlformats-officedocument.presentationml.slide+xml"/>
  <Override PartName="/ppt/notesSlides/notesSlide29.xml" ContentType="application/vnd.openxmlformats-officedocument.presentationml.notesSlide+xml"/>
  <Override PartName="/ppt/slides/slide29.xml" ContentType="application/vnd.openxmlformats-officedocument.presentationml.slide+xml"/>
  <Override PartName="/ppt/notesSlides/notesSlide30.xml" ContentType="application/vnd.openxmlformats-officedocument.presentationml.notesSlide+xml"/>
  <Override PartName="/ppt/slides/slide30.xml" ContentType="application/vnd.openxmlformats-officedocument.presentationml.slide+xml"/>
  <Override PartName="/ppt/notesSlides/notesSlide31.xml" ContentType="application/vnd.openxmlformats-officedocument.presentationml.notesSlide+xml"/>
  <Override PartName="/ppt/slides/slide31.xml" ContentType="application/vnd.openxmlformats-officedocument.presentationml.slide+xml"/>
  <Override PartName="/ppt/notesSlides/notesSlide32.xml" ContentType="application/vnd.openxmlformats-officedocument.presentationml.notesSlide+xml"/>
  <Override PartName="/ppt/slides/slide32.xml" ContentType="application/vnd.openxmlformats-officedocument.presentationml.slide+xml"/>
  <Override PartName="/ppt/notesSlides/notesSlide33.xml" ContentType="application/vnd.openxmlformats-officedocument.presentationml.notes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 id="282" r:id="javaLecture27"/>
    <p:sldId id="283" r:id="javaLecture28"/>
    <p:sldId id="284" r:id="javaLecture29"/>
    <p:sldId id="285" r:id="javaLecture30"/>
    <p:sldId id="286" r:id="javaLecture31"/>
    <p:sldId id="287" r:id="javaLecture32"/>
    <p:sldId id="288" r:id="javaLecture33"/>
    <p:sldId id="289" r:id="javaLecture34"/>
    <p:sldId id="290" r:id="javaLecture35"/>
    <p:sldId id="291" r:id="javaLecture3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 Id="javaLecture27" Type="http://schemas.openxmlformats.org/officeDocument/2006/relationships/slide" Target="slides/slide27.xml"/><Relationship Id="javaLecture28" Type="http://schemas.openxmlformats.org/officeDocument/2006/relationships/slide" Target="slides/slide28.xml"/><Relationship Id="javaLecture29" Type="http://schemas.openxmlformats.org/officeDocument/2006/relationships/slide" Target="slides/slide29.xml"/><Relationship Id="javaLecture30" Type="http://schemas.openxmlformats.org/officeDocument/2006/relationships/slide" Target="slides/slide30.xml"/><Relationship Id="javaLecture31" Type="http://schemas.openxmlformats.org/officeDocument/2006/relationships/slide" Target="slides/slide31.xml"/><Relationship Id="javaLecture32" Type="http://schemas.openxmlformats.org/officeDocument/2006/relationships/slide" Target="slides/slide32.xml"/><Relationship Id="javaLecture33" Type="http://schemas.openxmlformats.org/officeDocument/2006/relationships/slide" Target="slides/slide33.xml"/><Relationship Id="javaLecture34" Type="http://schemas.openxmlformats.org/officeDocument/2006/relationships/slide" Target="slides/slide34.xml"/><Relationship Id="javaLecture35" Type="http://schemas.openxmlformats.org/officeDocument/2006/relationships/slide" Target="slides/slide35.xml"/><Relationship Id="javaLecture36" Type="http://schemas.openxmlformats.org/officeDocument/2006/relationships/slide" Target="slides/slide3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_rels/notesSlide31.xml.rels><?xml version="1.0" encoding="UTF-8"?><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Relationships>
</file>

<file path=ppt/notesSlides/_rels/notesSlide32.xml.rels><?xml version="1.0" encoding="UTF-8"?><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Relationships>
</file>

<file path=ppt/notesSlides/_rels/notesSlide33.xml.rels><?xml version="1.0" encoding="UTF-8"?><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입력은 "세션 03. 요구와 수용 기준"에서 확정한 요구사항 정의서다. 기능은 "주문한다" 하나다.</a:t>
            </a:r>
          </a:p>
          <a:p>
            <a:pPr lvl="0"/>
            <a:r>
              <a:rPr lang="ko-KR" sz="1200"/>
              <a:t>시간과 장 수를 먼저 정하지 않고 승인한 구성안의 판단·사례·검사를 충실히 다룬다.</a:t>
            </a:r>
          </a:p>
          <a:p>
            <a:pPr lvl="0"/>
            <a:r>
              <a:rPr lang="ko-KR" sz="1200"/>
              <a:t>표기법을 쓰는 절차는 가르치지 않는다. 도식과 목록의 의미를 읽고 업무 예로 판정하는 것이 목적이다.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정의의 범위는 사용자가 합의한 저장소 공통 용례다. guides/sw-engineering-principles.md의 「도메인 모델·설계 모델과 정적·동적 관점」을 따른다. Larman의 정적 개념도 정의를 포괄적 정의로 확대 인용하지 않는다.</a:t>
            </a:r>
          </a:p>
          <a:p>
            <a:pPr lvl="0"/>
            <a:r>
              <a:rPr lang="ko-KR" sz="1200"/>
              <a:t>"세션 04. 정적 모델"과 "세션 05. 동적 모델"은 하나의 주문 도메인 모델을 두 관점에서 발전시킨다. 학습 순서를 고정된 개발 단계로 설명하지 않는다.</a:t>
            </a:r>
          </a:p>
          <a:p>
            <a:pPr lvl="0"/>
            <a:r>
              <a:rPr lang="ko-KR" sz="1200"/>
              <a:t>입력은 "세션 03. 요구와 수용 기준"의 요구사항 정의서다. 화면 구성이나 저장 구조만으로 업무 의미를 대신하지 않는다.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Craig Larman, Applying UML and Patterns, 3rd ed., Prentice Hall, 2004. 인용은 tools/verify-quote.js로 확인했다. 정적 개념도의 정의이며 이 저장소의 포괄적 용례와 구별했다.</a:t>
            </a:r>
          </a:p>
          <a:p>
            <a:pPr lvl="0"/>
            <a:r>
              <a:rPr lang="ko-KR" sz="1200"/>
              <a:t>개념 클래스는 Java 클래스 선언을 뜻하지 않는다. 「03. 분석·설계·구현」에서 업무 의미와 실현 방법을 대조한다.</a:t>
            </a:r>
          </a:p>
          <a:p>
            <a:pPr lvl="0"/>
            <a:r>
              <a:rPr lang="ko-KR" sz="1200"/>
              <a:t>용어 4개를 독립된 산출물·필수 단계로 나누지 않는다. 한 모델을 여러 그림과 파일로 표현할 수 있다.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[Chen 1976] 원문에서 개체와 관계로 현실을 보는 관점을 확인했다. 서지는 별첨에 있다.</a:t>
            </a:r>
          </a:p>
          <a:p>
            <a:pPr lvl="0"/>
            <a:r>
              <a:rPr lang="ko-KR" sz="1200"/>
              <a:t>이 그림은 같은 도메인 모델의 정적 구조를 데이터 관점에서 표현한 비교 예다. 별도 필수 단계·산출물로 늘리지 않는다. 속성의 Money·Quantity 등은 업무 값의 이름이며 SQL 자료형이 아니다. 주문 항목의 식별 키·외래 키·테이블 분할은 정하지 않는다.</a:t>
            </a:r>
          </a:p>
          <a:p>
            <a:pPr lvl="0"/>
            <a:r>
              <a:rPr lang="ko-KR" sz="1200"/>
              <a:t>IBM의 ERD 설명에서 개념·논리·물리 수준의 용례를 확인했다. https://www.ibm.com/think/topics/entity-relationship-diagram. ERD라는 표기만으로 분석·설계 수준을 판정하지 않는다.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Thomas R. Gruber, A Translation Approach to Portable Ontology Specifications, Knowledge Acquisition, 1993. https://tomgruber.org/writing/ontolingua-kaj-1993.pdf 원문 확인.</a:t>
            </a:r>
          </a:p>
          <a:p>
            <a:pPr lvl="0"/>
            <a:r>
              <a:rPr lang="ko-KR" sz="1200"/>
              <a:t>정의 인용 이후의 적용은 course-design.md의 「원전 적용 결정」을 따른다. 온톨로지의 모든 용례와 도메인 모델이 동일하다고 단정하지 않는다.</a:t>
            </a:r>
          </a:p>
          <a:p>
            <a:pPr lvl="0"/>
            <a:r>
              <a:rPr lang="ko-KR" sz="1200"/>
              <a:t>온톨로지 언어·지식 그래프·추론 엔진의 사용법은 이 과정의 범위에 추가하지 않는다.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Larman 2004 원문 확인. 표의 네 관점은 sw-engineering-principles.md의 「결정과 검증」을 주문 사례에 적용했다.</a:t>
            </a:r>
          </a:p>
          <a:p>
            <a:pPr lvl="0"/>
            <a:r>
              <a:rPr lang="ko-KR" sz="1200"/>
              <a:t>뒤의 Java는 한 가지 설계 예다. 본문에 보여 주는 책임 배치를 분석 모델의 필수 변환 규칙으로 설명하지 않는다.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Eric Evans, Domain-Driven Design Reference, Domain Language, 2015. Ubiquitous Language의 원문 확인. https://www.domainlanguage.com/wp-content/uploads/2016/05/DDD_Reference_2015-03.pdf</a:t>
            </a:r>
          </a:p>
          <a:p>
            <a:pPr lvl="0"/>
            <a:r>
              <a:rPr lang="ko-KR" sz="1200"/>
              <a:t>인용은 언어와 모델 변경의 관계다. 보편 언어의 적용 범위는 이 과정의 주문 업무로 한정한다.</a:t>
            </a:r>
          </a:p>
          <a:p>
            <a:pPr lvl="0"/>
            <a:r>
              <a:rPr lang="ko-KR" sz="1200"/>
              <a:t>본문 영문 이름은 과정 설계의 「영한 용어집과 명명 규칙」을 원천으로 한다.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용어의 원천은 course-design.md다. 표는 이번 판단에 필요한 대표 항목이고 식별자 전체 목록을 새로 만들지 않는다.</a:t>
            </a:r>
          </a:p>
          <a:p>
            <a:pPr lvl="0"/>
            <a:r>
              <a:rPr lang="ko-KR" sz="1200"/>
              <a:t>"세션 03. 요구와 수용 기준"의 강사 실습 답은 주문 금액이라는 이름을 쓴다. 강의 용어집의 주문 총액과 같은 totalAmount이며 별개 속성으로 만들지 않는다.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판매가·단가·시점·수치 모두 course-design.md 공통 전제다. 최종 단가 확정 시점은 주문 생성이며 장바구니에 담는 시점이 아니다.</a:t>
            </a:r>
          </a:p>
          <a:p>
            <a:pPr lvl="0"/>
            <a:r>
              <a:rPr lang="ko-KR" sz="1200"/>
              <a:t>행은 동일한 기존 주문을 시간에 따라 관찰한 값이다. 새로운 주문에 2,000원을 보장하는 표가 아니다.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학습자에게 "상품 번호만 저장하면 과거 단가를 어디서 얻는가?"를 묻는다. 이력 조회나 가격 잠금 같은 대안을 확인 없이 추가하지 않는다.</a:t>
            </a:r>
          </a:p>
          <a:p>
            <a:pPr lvl="0"/>
            <a:r>
              <a:rPr lang="ko-KR" sz="1200"/>
              <a:t>앞 항목은 값의 의미를 구분했고 이 항목은 그 의미를 보존할 정보가 왜 필요한지 설명한다.</a:t>
            </a:r>
          </a:p>
          <a:p>
            <a:pPr lvl="0"/>
            <a:r>
              <a:rPr lang="ko-KR" sz="1200"/>
              <a:t>외부 상품 조회와 주문 생성의 원자성은 뒤 Java 예제가 보장하지 않는다. 단가 확정이라는 요구가 곧 분산 처리 방식의 확정을 뜻하지 않는다.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Larman 2004의 작성 지침을 원문 확인했다. 순서는 모델을 처음 만드는 안내이지 한 번 끝낸 결정을 닫아 두는 고정 절차가 아니다.</a:t>
            </a:r>
          </a:p>
          <a:p>
            <a:pPr lvl="0"/>
            <a:r>
              <a:rPr lang="ko-KR" sz="1200"/>
              <a:t>입력은 "세션 03. 요구와 수용 기준"이다. 단가라는 용어를 요구 문장과 가격 변경 예로 되돌아가 찾는 과정을 설명한다.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Larman 2004의 도메인 모델 작성 지침을 원문 확인했다. 현재 반복의 범위 안에서 개념·관계·속성을 찾는 순서를 설명한다. 세부 UML 표기법은 추가하지 않는다.</a:t>
            </a:r>
          </a:p>
          <a:p>
            <a:pPr lvl="0"/>
            <a:r>
              <a:rPr lang="ko-KR" sz="1200"/>
              <a:t>본인 주문 확인 요구를 없애거나 해결했다고 선언하지 않는다. 강사 실습의 회원·비회원 및 본인 확인은 기존 미정이며, 주문 주체의 구체적인 식별 모델을 질문으로 남긴다.</a:t>
            </a:r>
          </a:p>
          <a:p>
            <a:pPr lvl="0"/>
            <a:r>
              <a:rPr lang="ko-KR" sz="1200"/>
              <a:t>결제·배송을 업무 개념으로 사용할 수 없다는 뜻이 아니다. 현재 확인된 요구가 사건·외부 요청만 정한 부분을 이력 클래스·다중성으로 추측하지 않는다는 판단이다.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항목이 1개 이상이라는 범위는 course-design.md에 남긴 강의 예제 가정이다. 도식의 개수와 예제 생성 검사를 함께 확인한다.</a:t>
            </a:r>
          </a:p>
          <a:p>
            <a:pPr lvl="0"/>
            <a:r>
              <a:rPr lang="ko-KR" sz="1200"/>
              <a:t>관계의 탐색 방향·Java 필드·DB 외래 키를 정하지 않았다. 구현은 상품 번호로 대상을 가리킬 수도 있다.</a:t>
            </a:r>
          </a:p>
          <a:p>
            <a:pPr lvl="0"/>
            <a:r>
              <a:rPr lang="ko-KR" sz="1200"/>
              <a:t>이 모델의 Order·OrderItem·Product와 단가·수량은 「10. 코드와 검사로 이어지는 자리」의 타입·필드·계산에 이어진다.</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표는 원전 표가 아니라 직전 도메인 모델의 관계를 문장으로 읽은 목록이다. 도식과 표가 같은 관계를 말하는지 교차 확인한다.</a:t>
            </a:r>
          </a:p>
          <a:p>
            <a:pPr lvl="0"/>
            <a:r>
              <a:rPr lang="ko-KR" sz="1200"/>
              <a:t>병합 여부는 계산 입력의 여러 항목을 처리할 수 있는가와 다르다. 뒤 합계 검사는 병합 정책의 수용 검사가 아니다.</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값 객체라는 구현 방법은 「값 객체로 범위를 지키기」에서 보인다. 이 도식의 속성 타입만으로 Java record가 필수인 것은 아니다.</a:t>
            </a:r>
          </a:p>
          <a:p>
            <a:pPr lvl="0"/>
            <a:r>
              <a:rPr lang="ko-KR" sz="1200"/>
              <a:t>숫자 범위는 실제 쇼핑몰의 보편 규칙으로 제시하지 않는다. 강의 예제에 추가한 가정을 course-design.md에 기록했다.</a:t>
            </a:r>
          </a:p>
          <a:p>
            <a:pPr lvl="0"/>
            <a:r>
              <a:rPr lang="ko-KR" sz="1200"/>
              <a:t>주문 상태의 전이와 사건은 "세션 05. 동적 모델"에서 다룬다. 도메인 모델의 상태 속성만으로 가능한 행동을 모두 확정하지 않는다.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모델이 유효한 관찰 지점과 연산 전후를 구분해 설명한다. 업무의 모든 시간적 제약을 현재 값 하나의 등식으로 바꾸지 않는다.</a:t>
            </a:r>
          </a:p>
          <a:p>
            <a:pPr lvl="0"/>
            <a:r>
              <a:rPr lang="ko-KR" sz="1200"/>
              <a:t>단가가 현재 판매가와 다르다는 것은 오류가 아니다. 생성 시점에 올바르게 확정했는지와 이후 값을 보존했는지가 판정 대상이다.</a:t>
            </a:r>
          </a:p>
          <a:p>
            <a:pPr lvl="0"/>
            <a:r>
              <a:rPr lang="ko-KR" sz="1200"/>
              <a:t>승인 뒤 배송 요청 실패는 여전히 미정이다. 실패 뒤 상태나 보상 동작을 불변 조건에 추가하지 않는다.</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빈 주문의 거절은 명시한 교육용 가정에 근거한다. 0원 상품이 허용되는 것과 주문 항목이 없는 것은 다르다.</a:t>
            </a:r>
          </a:p>
          <a:p>
            <a:pPr lvl="0"/>
            <a:r>
              <a:rPr lang="ko-KR" sz="1200"/>
              <a:t>이후 코드 테스트는 18개의 검사 묶음을 실행하며 그중 한 묶음이 계산 입력의 항목 수 1~20개를 확인한다. 이것을 주문 정책의 대표 사례 20개라고 설명하지 않는다.</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초안과 같은 세 개념·두 관계를 유지하고 앞에서 판단한 속성·조건을 결합했다. 관계나 속성을 어디서 얻었는지 설명할 수 있어야 한다.</a:t>
            </a:r>
          </a:p>
          <a:p>
            <a:pPr lvl="0"/>
            <a:r>
              <a:rPr lang="ko-KR" sz="1200"/>
              <a:t>요구사항 전체가 분석 완료됐다고 주장하지 않는다. 본인 확인은 요구에 있고 구체 식별 모델은 미정이다. 행동과 외부 요청의 순서는 "세션 05. 동적 모델"에서 확인한다.</a:t>
            </a:r>
          </a:p>
          <a:p>
            <a:pPr lvl="0"/>
            <a:r>
              <a:rPr lang="ko-KR" sz="1200"/>
              <a:t>도식의 주문·항목·상품, 단가·수량·판매가·총액은 「10. 코드와 검사로 이어지는 자리」에서 타입·필드·테스트로 이어진다. 표기법 상세 대신 모델의 의미를 판단한다.</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SVG는 같은 크기의 박스를 사용하며 이름 아래 줄은 인스턴스를 표시한다. UML 표기법 상세는 설명하지 않는다.</a:t>
            </a:r>
          </a:p>
          <a:p>
            <a:pPr lvl="0"/>
            <a:r>
              <a:rPr lang="ko-KR" sz="1200"/>
              <a:t>주문·항목·상품은 뒤 코드의 Order·OrderItem·Product로, 단가·수량은 unitPrice·quantity로 이어진다. 코드의 상품 번호 PEN과 같다.</a:t>
            </a:r>
          </a:p>
          <a:p>
            <a:pPr lvl="0"/>
            <a:r>
              <a:rPr lang="ko-KR" sz="1200"/>
              <a:t>이 인스턴스 도식은 가격 변경 이후를 의도적으로 보여 준다. 수업에서는 먼저 총액을 예측하게 한 뒤 코드 출력을 확인한다.</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[Gao 외 2025] 원문 확인. 구문이 맞는다는 것이 업무 의미가 맞는다는 뜻은 아니므로, 판정의 근거는 도식의 문법이 아니라 용어·관계·조건의 목록이다.</a:t>
            </a:r>
          </a:p>
          <a:p>
            <a:pPr lvl="0"/>
            <a:r>
              <a:rPr lang="ko-KR" sz="1200"/>
              <a:t>Member·할인율·재고 예약은 검토할 가상의 제안이며 실제 실행한 초안이 생성했다고 주장하지 않는다.</a:t>
            </a:r>
          </a:p>
          <a:p>
            <a:pPr lvl="0"/>
            <a:r>
              <a:rPr lang="ko-KR" sz="1200"/>
              <a:t>실제 강사 예시는 code/s04/exercise-conversation/order/의 입력·응답을 쓴다. 받은 응답마다 검토하고 후속 질문을 작성한다.</a:t>
            </a:r>
          </a:p>
          <a:p>
            <a:pPr lvl="0"/>
            <a:r>
              <a:rPr lang="ko-KR" sz="1200"/>
              <a:t>사람과 AI의 역할은 검토 책임의 구분이다. 사람이 도식을 직접 그려야 한다는 의미가 아니다.</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실제 codex-response-01.md의 상태 범위 조건과 질문, prompt-02.txt의 피드백에 근거한다. 초안이 쿠폰이나 회원 클래스를 실제로 만들었다고 설명하지 않는다.</a:t>
            </a:r>
          </a:p>
          <a:p>
            <a:pPr lvl="0"/>
            <a:r>
              <a:rPr lang="ko-KR" sz="1200"/>
              <a:t>앞 실습의 최종 답에는 결제대기·결제완료가 확인돼 있다. 강의 공통 전제의 전체 네 상태와 실습 시점의 확인 범위를 혼동하지 않는다.</a:t>
            </a:r>
          </a:p>
          <a:p>
            <a:pPr lvl="0"/>
            <a:r>
              <a:rPr lang="ko-KR" sz="1200"/>
              <a:t>도식 단순화는 업무 관계를 지우는 일이 아니라 속성 타입과 선으로 중복 표현한 정보를 정리한 것이다.</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전체 원본은 code/s04/static-model/src/다. 저장소 루트에서 node courses/ai-native/sessions/code/s04/static-model/run.mjs로 컴파일·실행한다. JDK 17 이상을 쓴다.</a:t>
            </a:r>
          </a:p>
          <a:p>
            <a:pPr lvl="0"/>
            <a:r>
              <a:rPr lang="ko-KR" sz="1200"/>
              <a:t>이 원고의 발췌 원본은 static-model 하나다. 전면 보완 전의 자료는 남겨 두지 않는다.</a:t>
            </a:r>
          </a:p>
          <a:p>
            <a:pPr lvl="0"/>
            <a:r>
              <a:rPr lang="ko-KR" sz="1200"/>
              <a:t>다음 코드들은 업무 의미가 어떻게 드러나는지 보여 주는 연결 예시다. 책임 배치의 대안과 협력은 "세션 07. 설계 — 책임과 협력"에서 다룬다.</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원본은 static-model/src/order/Money.java·Quantity.java다. public record 둘은 각 파일에 둔다. 슬라이드는 두 파일의 발췌다.</a:t>
            </a:r>
          </a:p>
          <a:p>
            <a:pPr lvl="0"/>
            <a:r>
              <a:rPr lang="ko-KR" sz="1200"/>
              <a:t>값 객체는 식별자로 구별하기보다 값으로 비교하는 구현 개념이다. Java record 하나로 불변성이 항상 완성되는 것은 아니며 여기서는 primitive 필드만 사용한다.</a:t>
            </a:r>
          </a:p>
          <a:p>
            <a:pPr lvl="0"/>
            <a:r>
              <a:rPr lang="ko-KR" sz="1200"/>
              <a:t>금액 0 이상·수량 1 이상은 교육용 가정이다. 실제 통화·세금·반올림·환불의 음수 금액을 일반적으로 금지하는 모델로 설명하지 않는다.</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원본은 static-model/src/order/OrderItem.java다. Objects import는 슬라이드에서 생략했다.</a:t>
            </a:r>
          </a:p>
          <a:p>
            <a:pPr lvl="0"/>
            <a:r>
              <a:rPr lang="ko-KR" sz="1200"/>
              <a:t>confirm이라는 이름은 영한 용어집의 「확정한다」와 같다. 생성 책임을 이 타입에 둔 것은 한 가지 설계 선택이다.</a:t>
            </a:r>
          </a:p>
          <a:p>
            <a:pPr lvl="0"/>
            <a:r>
              <a:rPr lang="ko-KR" sz="1200"/>
              <a:t>프로세스가 외부 상품 가격을 읽는 시점의 일관성은 별도 연동·설계 문제다. 스냅샷만으로 분산 동시성을 해결했다고 설명하지 않는다.</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원본은 static-model/src/order/Order.java의 생성자와 totalAmount다. 필드 선언·조회 메서드·초기 상태는 전체 원본에 있다.</a:t>
            </a:r>
          </a:p>
          <a:p>
            <a:pPr lvl="0"/>
            <a:r>
              <a:rPr lang="ko-KR" sz="1200"/>
              <a:t>목록 복사는 얕은 복사지만 OrderItem·Money·Quantity·ProductNumber가 불변이라 이 예제의 항목 값이 외부에서 바뀌지 않는다.</a:t>
            </a:r>
          </a:p>
          <a:p>
            <a:pPr lvl="0"/>
            <a:r>
              <a:rPr lang="ko-KR" sz="1200"/>
              <a:t>상태 필드는 PENDING_PAYMENT로 초기화한 읽기 전용 예다. 결제·배송 상태를 바꾸는 메서드는 이 정적 예제에 넣지 않았다.</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원본은 static-model/src/test/StaticModelTest.java다. 상품 번호·배송지·초기 상태 확인을 포함한 앞부분의 발췌다. equal은 기대값 불일치 때 AssertionError를 던진다.</a:t>
            </a:r>
          </a:p>
          <a:p>
            <a:pPr lvl="0"/>
            <a:r>
              <a:rPr lang="ko-KR" sz="1200"/>
              <a:t>Product.changeSalePrice는 테스트가 외부 상품의 가격 변경 상황을 만드는 로컬 도구다. 상품 관리 기능을 주문 시스템의 과제에 추가하지 않는다.</a:t>
            </a:r>
          </a:p>
          <a:p>
            <a:pPr lvl="0"/>
            <a:r>
              <a:rPr lang="ko-KR" sz="1200"/>
              <a:t>주문 번호 ORDER는 코드용 식별 값이며 본문 관통 사례를 별도 사례 번호로 부르는 것이 아니다.</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실행: node courses/ai-native/sessions/code/s04/static-model/run.mjs. 외부 서비스와 라이브러리를 호출하지 않고 JDK로 임시 폴더에 컴파일한다.</a:t>
            </a:r>
          </a:p>
          <a:p>
            <a:pPr lvl="0"/>
            <a:r>
              <a:rPr lang="ko-KR" sz="1200"/>
              <a:t>18개는 이 강의 예제의 실행 결과이지 테스트의 충분성을 보장하는 숫자가 아니다. 본문에서는 대표 업무 예와 별개인 계산 입력 범위를 함께 밝힌다.</a:t>
            </a:r>
          </a:p>
          <a:p>
            <a:pPr lvl="0"/>
            <a:r>
              <a:rPr lang="ko-KR" sz="1200"/>
              <a:t>상태 전이·호출 순서는 "세션 05. 동적 모델"에서, 책임의 배치는 "세션 07. 설계 — 책임과 협력"에서 이어진다.</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데이터 모델 자체를 낮은 수준의 산출물이라고 설명하지 않는다. 도메인 개념의 분석과 저장 구조의 목적이 다르다는 뜻이다.</a:t>
            </a:r>
          </a:p>
          <a:p>
            <a:pPr lvl="0"/>
            <a:r>
              <a:rPr lang="ko-KR" sz="1200"/>
              <a:t>업무 복잡성이 낮으면 가벼운 용어와 예로 충분할 수 있다. 지금 모델을 쓰는 이유는 가격·관계의 의미가 구현과 검사에 실제 영향을 주기 때문이다.</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별첨의 실제 응답이 부르는 정적 업무 모델은 본문의 도메인 모델 가운데 정적 구조를 표현한 결과다. 별도 모델이나 단계로 소개하지 않으며 원본 응답은 용어를 맞추려고 편집하지 않는다.</a:t>
            </a:r>
          </a:p>
          <a:p>
            <a:pPr lvl="0"/>
            <a:r>
              <a:rPr lang="ko-KR" sz="1200"/>
              <a:t>실제 실행 입력은 code/s04/exercise-conversation/order/input-s03.md다. 실습 3의 최종 응답을 바이트 그대로 복사했다. 전체 입력·실제 응답·이벤트·메타데이터는 같은 폴더에 보존한다.</a:t>
            </a:r>
          </a:p>
          <a:p>
            <a:pPr lvl="0"/>
            <a:r>
              <a:rPr lang="ko-KR" sz="1200"/>
              <a:t>학습자용 문구와 달리 실제 후속 요청은 받은 응답의 질문에 대한 답과 발견한 문제를 구체적으로 포함한다. ①~⑤는 고정 대화 횟수가 아니다.</a:t>
            </a:r>
          </a:p>
          <a:p>
            <a:pPr lvl="0"/>
            <a:r>
              <a:rPr lang="ko-KR" sz="1200"/>
              <a:t>수강생은 자신의 업무 결정을 이어 쓴다. 강사의 원 단위·금액 0 이상·수량 1 이상 결정을 그대로 답할 필요는 없다.</a:t>
            </a:r>
          </a:p>
          <a:p>
            <a:pPr lvl="0"/>
            <a:r>
              <a:rPr lang="ko-KR" sz="1200"/>
              <a:t>대화창에서 도식을 그려 보게 한다. 코드만 표시되면 그림을 볼 수 있는 환경에서 확인하며 코드 표시를 시각 검토로 간주하지 않는다. 최종 MD에는 도식 원본을 보존한다.</a:t>
            </a:r>
          </a:p>
          <a:p>
            <a:pPr lvl="0"/>
            <a:r>
              <a:rPr lang="ko-KR" sz="1200"/>
              <a:t>※ 현행화 기준: 단가의 정의와 수량·금액·항목 수의 합의는 실습 3의 요구사항 정의서·용어집에 반영한다. 상태·결제 이력·회원 정책의 미정은 확정하지 않고 후속 입력에도 보존한다. 지난 실습 응답 원본은 고치지 않고 되돌릴 사항만 기록한다.</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모델에서 보완된 것 — 판매가와 구별한 단가, 관계의 개수, 총액·값의 조건이다. 실제 실습의 새로운 합의는 요구사항 정의서에도 되돌린다.</a:t>
            </a:r>
          </a:p>
          <a:p>
            <a:pPr lvl="0"/>
            <a:r>
              <a:rPr lang="ko-KR" sz="1200"/>
              <a:t>이 정적 코드가 통과해도 승인 전 배송 요청이나 거절 뒤 재결제의 행동은 검증되지 않았다. 그 빈틈이 다음 세션의 입력이다.</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실제 최종 응답의 전문이다. 원본은 code/s04/exercise-conversation/order/주문한다-정적모델.md이며 문장·도식·표·원래 강조를 편집하지 않았다. 제목 단계와 목록 들여쓰기만 Session Source 형식으로 변환했다.</a:t>
            </a:r>
          </a:p>
          <a:p>
            <a:pPr lvl="0"/>
            <a:r>
              <a:rPr lang="ko-KR" sz="1200"/>
              <a:t>사용자 배치 요청으로 Mermaid에 direction LR 한 줄만 추가해 클래스를 가로로 배치했다. 도식은 위, 설명은 아래에 둔다.</a:t>
            </a:r>
          </a:p>
          <a:p>
            <a:pPr lvl="0"/>
            <a:r>
              <a:rPr lang="ko-KR" sz="1200"/>
              <a:t>실제로 실행한 프롬프트 — 아래가 이 별첨을 만든 입력 그대로다. 본문 실습의 ①~⑤는 수강생용 문구이고, 실제 실행은 앞 응답을 읽고 답한 내용이 붙어 길다. 원본은 code/s04/exercise-conversation/order/prompt-NN.txt다.</a:t>
            </a:r>
          </a:p>
          <a:p>
            <a:pPr lvl="1"/>
            <a:r>
              <a:rPr lang="ko-KR" sz="1200"/>
              <a:t>1. 실제 프롬프트 1</a:t>
            </a:r>
          </a:p>
          <a:p>
            <a:pPr lvl="0">
              <a:buNone/>
            </a:pPr>
            <a:r>
              <a:rPr lang="ko-KR" sz="1200"/>
              <a:t>    실습 3의 요구사항 정의서를 읽고 "주문한다"의 정적 모델 초안을 제안해라. 용어집·개념과 관계·속성·불변 조건을 담고, 클래스 다이어그램과 같은 내용을 읽을 수 있는 목록을 함께 보여라. 근거 없는 개념·정책은 확정하지 말고 질문해라. 설계·구현·상태 전이는 만들지 마라. 용어의 영문 이름은 Order, OrderItem, Product, Money, Quantity, Address, OrderNumber, ProductNumber, OrderStatus, unitPrice, salePrice, totalAmount, shippingAddress를 사용해라. 요구사항에서 이미 정한 이름은 유지해라.</a:t>
            </a:r>
          </a:p>
          <a:p>
            <a:pPr lvl="0">
              <a:buNone/>
            </a:pPr>
            <a:r>
              <a:rPr lang="ko-KR" sz="1200"/>
              <a:t>    [실습 3의 실제 최종 MD] # “주문한다” 요구사항 정의서</a:t>
            </a:r>
          </a:p>
          <a:p>
            <a:pPr lvl="0">
              <a:buNone/>
            </a:pPr>
            <a:r>
              <a:rPr lang="ko-KR" sz="1200"/>
              <a:t>    고객이 장바구니의 상품과 수량을 바탕으로 배송지를 지정하고, 카드 승인을 받아 주문을 성립시킨 뒤 그 결과를 확인할 때까지의 요구사항과 수용 기준을 정의한다.</a:t>
            </a:r>
          </a:p>
          <a:p>
            <a:pPr lvl="0">
              <a:buNone/>
            </a:pPr>
            <a:r>
              <a:rPr lang="ko-KR" sz="1200"/>
              <a:t>    ## 목적과 범위</a:t>
            </a:r>
          </a:p>
          <a:p>
            <a:pPr lvl="2"/>
            <a:r>
              <a:rPr lang="ko-KR" sz="1200"/>
              <a:t>상품 조회와 장바구니 구성은 전제다.</a:t>
            </a:r>
          </a:p>
          <a:p>
            <a:pPr lvl="2"/>
            <a:r>
              <a:rPr lang="ko-KR" sz="1200"/>
              <a:t>상세 범위는 공통 흐름 3~5단계인 배송지 지정, 결제, 주문 결과 확인이다.</a:t>
            </a:r>
          </a:p>
          <a:p>
            <a:pPr lvl="2"/>
            <a:r>
              <a:rPr lang="ko-KR" sz="1200"/>
              <a:t>상품·결제·배송 시스템은 외부 시스템으로 연계하며 내부 기능은 재구현하지 않는다.</a:t>
            </a:r>
          </a:p>
          <a:p>
            <a:pPr lvl="0">
              <a:buNone/>
            </a:pPr>
            <a:r>
              <a:rPr lang="ko-KR" sz="1200"/>
              <a:t>    ## 사용자 이야기</a:t>
            </a:r>
          </a:p>
          <a:p>
            <a:pPr lvl="0">
              <a:buNone/>
            </a:pPr>
            <a:r>
              <a:rPr lang="ko-KR" sz="1200"/>
              <a:t>    고객으로서 장바구니의 상품과 수량을 기준으로 배송지를 지정하고 카드 승인을 받아 주문을 성립시킨 뒤 그 결과를 확인하고 싶다.</a:t>
            </a:r>
          </a:p>
          <a:p>
            <a:pPr lvl="0">
              <a:buNone/>
            </a:pPr>
            <a:r>
              <a:rPr lang="ko-KR" sz="1200"/>
              <a:t>    ## 핵심 기능과 업무 규칙</a:t>
            </a:r>
          </a:p>
          <a:p>
            <a:pPr lvl="2"/>
            <a:r>
              <a:rPr lang="ko-KR" sz="1200"/>
              <a:t>배송지를 지정하면 주문 생성 시점의 판매가로 주문 금액을 확정하고 결제대기 주문을 생성한다.</a:t>
            </a:r>
          </a:p>
          <a:p>
            <a:pPr lvl="2"/>
            <a:r>
              <a:rPr lang="ko-KR" sz="1200"/>
              <a:t>주문자와 수령인은 같은 사람으로 본다.</a:t>
            </a:r>
          </a:p>
          <a:p>
            <a:pPr lvl="2"/>
            <a:r>
              <a:rPr lang="ko-KR" sz="1200"/>
              <a:t>주문 금액은 각 주문 항목의 주문 생성 시점 판매가에 수량을 곱하여 합한 금액이다.</a:t>
            </a:r>
          </a:p>
          <a:p>
            <a:pPr lvl="2"/>
            <a:r>
              <a:rPr lang="ko-KR" sz="1200"/>
              <a:t>주문 생성 뒤 판매가가 변경되어도 주문 금액과 카드 승인 요청 금액은 바뀌지 않는다.</a:t>
            </a:r>
          </a:p>
          <a:p>
            <a:pPr lvl="2"/>
            <a:r>
              <a:rPr lang="ko-KR" sz="1200"/>
              <a:t>결제대기 주문의 상품·수량·배송지는 변경할 수 없다. 변경하려면 새 주문을 생성한다.</a:t>
            </a:r>
          </a:p>
          <a:p>
            <a:pPr lvl="2"/>
            <a:r>
              <a:rPr lang="ko-KR" sz="1200"/>
              <a:t>결제 수단은 카드만 허용한다.</a:t>
            </a:r>
          </a:p>
          <a:p>
            <a:pPr lvl="2"/>
            <a:r>
              <a:rPr lang="ko-KR" sz="1200"/>
              <a:t>카드 승인이 거절되면 같은 주문을 결제대기로 유지하며 다른 카드로 재결제할 수 있다.</a:t>
            </a:r>
          </a:p>
          <a:p>
            <a:pPr lvl="2"/>
            <a:r>
              <a:rPr lang="ko-KR" sz="1200"/>
              <a:t>카드 승인이 완료되면 같은 주문이 성립하고 상태가 결제완료가 된다.</a:t>
            </a:r>
          </a:p>
          <a:p>
            <a:pPr lvl="2"/>
            <a:r>
              <a:rPr lang="ko-KR" sz="1200"/>
              <a:t>배송 요청은 카드 승인 완료 뒤 해당 주문의 확정된 배송지로 보낸다.</a:t>
            </a:r>
          </a:p>
          <a:p>
            <a:pPr lvl="2"/>
            <a:r>
              <a:rPr lang="ko-KR" sz="1200"/>
              <a:t>주문 쪽에서 재고를 별도로 확보하지 않고 상품 시스템의 판단을 따른다.</a:t>
            </a:r>
          </a:p>
          <a:p>
            <a:pPr lvl="2"/>
            <a:r>
              <a:rPr lang="ko-KR" sz="1200"/>
              <a:t>결제 응답을 확정할 수 없으면 승인 또는 거절로 간주하지 않는다.</a:t>
            </a:r>
          </a:p>
          <a:p>
            <a:pPr lvl="2"/>
            <a:r>
              <a:rPr lang="ko-KR" sz="1200"/>
              <a:t>본인 주문에 대해서만 조회 또는 변경 요청의 권한을 인정한다. 권한이 있더라도 실제 변경 가능 여부에는 주문 상태와 업무 규칙을 적용한다.</a:t>
            </a:r>
          </a:p>
          <a:p>
            <a:pPr lvl="2"/>
            <a:r>
              <a:rPr lang="ko-KR" sz="1200"/>
              <a:t>다른 고객의 주문에 대한 조회·변경 요청은 거절한다.</a:t>
            </a:r>
          </a:p>
          <a:p>
            <a:pPr lvl="0">
              <a:buNone/>
            </a:pPr>
            <a:r>
              <a:rPr lang="ko-KR" sz="1200"/>
              <a:t>    ## 기본 용어집</a:t>
            </a:r>
          </a:p>
          <a:p>
            <a:pPr lvl="2"/>
            <a:r>
              <a:rPr lang="ko-KR" sz="1200"/>
              <a:t>주문(Order): 배송지가 지정되어 생성된 거래 기록</a:t>
            </a:r>
          </a:p>
          <a:p>
            <a:pPr lvl="2"/>
            <a:r>
              <a:rPr lang="ko-KR" sz="1200"/>
              <a:t>주문 항목(OrderItem): 주문에 포함된 상품, 수량 및 주문 생성 시점의 판매가</a:t>
            </a:r>
          </a:p>
          <a:p>
            <a:pPr lvl="2"/>
            <a:r>
              <a:rPr lang="ko-KR" sz="1200"/>
              <a:t>판매가(salePrice): 상품 시스템이 제공하는 상품 가격</a:t>
            </a:r>
          </a:p>
          <a:p>
            <a:pPr lvl="2"/>
            <a:r>
              <a:rPr lang="ko-KR" sz="1200"/>
              <a:t>주문 금액(totalAmount): 각 주문 항목의 주문 생성 시점 판매가에 수량을 곱하여 합한 금액</a:t>
            </a:r>
          </a:p>
          <a:p>
            <a:pPr lvl="2"/>
            <a:r>
              <a:rPr lang="ko-KR" sz="1200"/>
              <a:t>주문 생성: 배송지 지정에 따라 주문이 기록되고 결제대기가 되는 것</a:t>
            </a:r>
          </a:p>
          <a:p>
            <a:pPr lvl="2"/>
            <a:r>
              <a:rPr lang="ko-KR" sz="1200"/>
              <a:t>결제대기(PENDING_PAYMENT): 주문은 생성됐지만 카드 승인이 완료되지 않은 상태</a:t>
            </a:r>
          </a:p>
          <a:p>
            <a:pPr lvl="2"/>
            <a:r>
              <a:rPr lang="ko-KR" sz="1200"/>
              <a:t>주문 성립: 카드 승인이 완료되어 같은 주문이 결제완료가 되는 것</a:t>
            </a:r>
          </a:p>
          <a:p>
            <a:pPr lvl="2"/>
            <a:r>
              <a:rPr lang="ko-KR" sz="1200"/>
              <a:t>결제완료(PAID): 카드 승인이 완료되어 주문이 성립한 상태</a:t>
            </a:r>
          </a:p>
          <a:p>
            <a:pPr lvl="2"/>
            <a:r>
              <a:rPr lang="ko-KR" sz="1200"/>
              <a:t>주문 결과 확인: 카드 승인 응답에 따른 주문 상태와 결과를 확인하는 것</a:t>
            </a:r>
          </a:p>
          <a:p>
            <a:pPr lvl="0">
              <a:buNone/>
            </a:pPr>
            <a:r>
              <a:rPr lang="ko-KR" sz="1200"/>
              <a:t>    ## 공통 흐름</a:t>
            </a:r>
          </a:p>
          <a:p>
            <a:pPr lvl="2"/>
            <a:r>
              <a:rPr lang="ko-KR" sz="1200"/>
              <a:t>1. 상품 조회 — 전제: 고객이 상품을 조회한다.</a:t>
            </a:r>
          </a:p>
          <a:p>
            <a:pPr lvl="0">
              <a:buNone/>
            </a:pPr>
            <a:r>
              <a:rPr lang="ko-KR" sz="1200"/>
              <a:t>    ⟨이하 생략 — 앞 실습의 최종 MD 전문이 이어진다. 전문은 원본 파일에 있다⟩</a:t>
            </a:r>
          </a:p>
          <a:p>
            <a:pPr lvl="1"/>
            <a:r>
              <a:rPr lang="ko-KR" sz="1200"/>
              <a:t>2. 실제 프롬프트 2</a:t>
            </a:r>
          </a:p>
          <a:p>
            <a:pPr lvl="0">
              <a:buNone/>
            </a:pPr>
            <a:r>
              <a:rPr lang="ko-KR" sz="1200"/>
              <a:t>    [앞선 질문에 대한 답]</a:t>
            </a:r>
          </a:p>
          <a:p>
            <a:pPr lvl="2"/>
            <a:r>
              <a:rPr lang="ko-KR" sz="1200"/>
              <a:t>상품의 현재 판매가는 salePrice, 주문 생성 시 확정한 단가는 unitPrice로 합의한다. 요구사항 정의서의 "주문 생성 시점 판매가"가 단가의 뜻이다.</a:t>
            </a:r>
          </a:p>
          <a:p>
            <a:pPr lvl="2"/>
            <a:r>
              <a:rPr lang="ko-KR" sz="1200"/>
              <a:t>이 실습의 금액은 원 단위 정수이고 0 이상이다. 수량은 1 이상의 정수이고 생성되는 주문에는 항목이 1개 이상 있어야 한다. 구체적인 상한은 정하지 않는다.</a:t>
            </a:r>
          </a:p>
          <a:p>
            <a:pPr lvl="2"/>
            <a:r>
              <a:rPr lang="ko-KR" sz="1200"/>
              <a:t>Address는 배송지 값으로 두고 세부 항목·식별자 형식·중복 상품 항목 병합 규칙은 이번에 정하지 않는다. 본인 주문 확인은 필요한 요구로 유지하되 회원/비회원 여부나 Customer·Member 같은 구체 타입을 확정하지 않는다.</a:t>
            </a:r>
          </a:p>
          <a:p>
            <a:pPr lvl="2"/>
            <a:r>
              <a:rPr lang="ko-KR" sz="1200"/>
              <a:t>결제 이력의 보존 구조와 결제 응답 미확정·승인 뒤 재고 부족·배송 요청 실패 정책은 원래 미정으로 유지한다. 상태 전이는 뒤 실습의 대상이며 현재 상태 목록이 시스템의 가능한 상태 전부라고 단정하지 마라.</a:t>
            </a:r>
          </a:p>
          <a:p>
            <a:pPr lvl="0">
              <a:buNone/>
            </a:pPr>
            <a:r>
              <a:rPr lang="ko-KR" sz="1200"/>
              <a:t>    [추가 질문·수정 요청] 근거 없는 개념·속성을 걸러내고 분석 모델에 서비스·저장소·외래 키·컬렉션 같은 구현 결정을 넣지 마라. 도식의 화살표가 참조 방향을 확정하지 않도록 주문·주문 항목·상품의 관계를 중심으로 정리해라. 값 개념은 속성 타입으로 쓰되 모든 타입을 선으로 잇는 중복은 줄여라. 초안에서 수정한 판단과 그 근거를 설명해라.</a:t>
            </a:r>
          </a:p>
          <a:p>
            <a:pPr lvl="1"/>
            <a:r>
              <a:rPr lang="ko-KR" sz="1200"/>
              <a:t>3. 실제 프롬프트 3</a:t>
            </a:r>
          </a:p>
          <a:p>
            <a:pPr lvl="0">
              <a:buNone/>
            </a:pPr>
            <a:r>
              <a:rPr lang="ko-KR" sz="1200"/>
              <a:t>    [앞선 질문에 대한 답]</a:t>
            </a:r>
          </a:p>
          <a:p>
            <a:pPr lvl="2"/>
            <a:r>
              <a:rPr lang="ko-KR" sz="1200"/>
              <a:t>단가 확정은 항목을 장바구니에 넣을 때가 아니라 주문을 생성할 때다. 생성 후의 현재 판매가와 계속 같아야 한다는 뜻이 아니다.</a:t>
            </a:r>
          </a:p>
          <a:p>
            <a:pPr lvl="2"/>
            <a:r>
              <a:rPr lang="ko-KR" sz="1200"/>
              <a:t>펜 2개, 생성 시 판매가 1,000원, 총액 2,000원, 배송지 서울을 대표 예로 쓴다. 판매가가 나중에 1,200원이 되어도 기존 단가 1,000원·총액 2,000원이다.</a:t>
            </a:r>
          </a:p>
          <a:p>
            <a:pPr lvl="2"/>
            <a:r>
              <a:rPr lang="ko-KR" sz="1200"/>
              <a:t>회원/비회원과 결제 이력 구조, 식별자 형식, 주소 세부항목, 중복 항목 병합, 수량 상한은 이번 정적 모델에서 정하지 않는다. 원래 업무 미정은 유지한다.</a:t>
            </a:r>
          </a:p>
          <a:p>
            <a:pPr lvl="0">
              <a:buNone/>
            </a:pPr>
            <a:r>
              <a:rPr lang="ko-KR" sz="1200"/>
              <a:t>    [추가 질문·수정 요청] 관계의 개수·값의 범위·불변 조건을 이 주문에 대입해 확인해라. 항상 성립하는 합계 등식, 생성 때의 조건, 변경 전후를 비교할 조건을 구별해라. 상태 전이·연동 절차를 끼워 넣지 마라. Money·Quantity·Address 같은 값은 속성 타입과 목록으로 충분하다. 클래스 도식에는 주문·항목·상품 세 개념과 관계만 담고 &lt;&lt;value&gt;&gt; 같은 분류를 쓰지 마라. 질문과 판단은 간결하게 설명해라.</a:t>
            </a:r>
          </a:p>
          <a:p>
            <a:pPr lvl="1"/>
            <a:r>
              <a:rPr lang="ko-KR" sz="1200"/>
              <a:t>4. 실제 프롬프트 4</a:t>
            </a:r>
          </a:p>
          <a:p>
            <a:pPr lvl="0">
              <a:buNone/>
            </a:pPr>
            <a:r>
              <a:rPr lang="ko-KR" sz="1200"/>
              <a:t>    [앞선 질문에 대한 답] 대표 주문의 값과 생성 시점·변경 전후 조건 구별에 동의한다. 추가 업무 정책은 정하지 않는다. [추가 질문·수정 요청] 도식과 목록의 이름·관계·조건을 대조해라. "중복 항목 병합을 정하지 않았으므로 여러 개 존재하는 것을 금지하지 않는다"는 표현은 허용 정책을 정한 것으로 읽힌다. 단순히 병합·중복 항목 허용 여부가 미정이라고 적고 임의의 허용·금지를 도출하지 마라. 본인 확인 요구도 누락하지 말되 구체 타입을 발명하지 마라. 최종 문서는 간결한 업무 모델로 남길 것이다. 다음 네 부분으로 정리할 구성을 제시해라: 1 용어와 속성, 2 세 개념의 클래스 도식과 관계 목록, 3 값·계산·생성 시점·변경 전후 조건과 대표 예, 4 이번에 정하지 않은 항목과 기존 업무 미정. 반복되는 속성 설명과 수정 이력은 빼고 확인에 필요한 의미를 보존해라. 새 코드·설계·상태 전이는 만들지 마라.</a:t>
            </a:r>
          </a:p>
          <a:p>
            <a:pPr lvl="1"/>
            <a:r>
              <a:rPr lang="ko-KR" sz="1200"/>
              <a:t>5. 실제 프롬프트 5</a:t>
            </a:r>
          </a:p>
          <a:p>
            <a:pPr lvl="0">
              <a:buNone/>
            </a:pPr>
            <a:r>
              <a:rPr lang="ko-KR" sz="1200"/>
              <a:t>    합의한 정적 모델을 간결한 Markdown 파일로 생성해라. 용어·관계·속성·조건·클래스 도식 원본과 대표 예를 보존하고 새 정책·설계는 추가하지 마라. 앞 최종 문서의 본문·네 부분 구성은 적합하다. 다만 첫 문장 "확정 단가와 수량의 합계"는 단가와 수량을 더한 것으로 읽힌다. "각 항목의 확정 단가에 수량을 곱한 금액의 합계"로 명확히 고쳐라. 첫 문장은 주제인 정적 모델이 주문·항목·상품의 관계와 가격 확정 조건을 명시한다는 내용으로 적고, 첫 문장 외에는 앞서 합의한 본문을 유지해라. 생성 안내 없이 완성된 Markdown 본문 전체를 출력해라.</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0"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0">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0">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0">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0">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0"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0"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0"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speakerNotes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speakerNotes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mermaidImage1" Type="http://schemas.openxmlformats.org/officeDocument/2006/relationships/image" Target="../media/mermaid-1.png"/><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speakerNotes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speakerNotes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speakerNotes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speakerNotes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speakerNotes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speakerNotes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speakerNotes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plantumlImage1" Type="http://schemas.openxmlformats.org/officeDocument/2006/relationships/image" Target="../media/plantuml-1.png"/><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speakerNotes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speakerNotes1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speakerNotes1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speakerNotes1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plantumlImage2" Type="http://schemas.openxmlformats.org/officeDocument/2006/relationships/image" Target="../media/plantuml-2.png"/><Relationship Id="speakerNotes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svgImage1" Type="http://schemas.openxmlformats.org/officeDocument/2006/relationships/image" Target="../media/svg-1.png"/><Relationship Id="speakerNotes2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speakerNotes2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speakerNotes2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speakerNotes2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speakerNotes2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speakerNotes2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speakerNotes2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speakerNotes2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speakerNotes29"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speakerNotes30"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speakerNotes31"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speakerNotes3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speakerNotes3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mermaidImage2" Type="http://schemas.openxmlformats.org/officeDocument/2006/relationships/image" Target="../media/mermaid-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04. 정적 모델 목차</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도메인 모델이 명시하는 것</a:t>
            </a:r>
          </a:p>
          <a:p>
            <a:pPr lvl="1" marL="355600" indent="0">
              <a:spcBef>
                <a:spcPts val="300"/>
              </a:spcBef>
              <a:spcAft>
                <a:spcPts val="300"/>
              </a:spcAft>
              <a:buNone/>
            </a:pPr>
            <a:r>
              <a:rPr sz="1600" b="0">
                <a:solidFill>
                  <a:srgbClr val="000000"/>
                </a:solidFill>
                <a:latin typeface="맑은 고딕"/>
                <a:ea typeface="맑은 고딕"/>
              </a:rPr>
              <a:t>03. 분석·설계·구현</a:t>
            </a:r>
          </a:p>
          <a:p>
            <a:pPr lvl="1" marL="355600" indent="0">
              <a:spcBef>
                <a:spcPts val="300"/>
              </a:spcBef>
              <a:spcAft>
                <a:spcPts val="300"/>
              </a:spcAft>
              <a:buNone/>
            </a:pPr>
            <a:r>
              <a:rPr sz="1600" b="0">
                <a:solidFill>
                  <a:srgbClr val="000000"/>
                </a:solidFill>
                <a:latin typeface="맑은 고딕"/>
                <a:ea typeface="맑은 고딕"/>
              </a:rPr>
              <a:t>04. 용어집</a:t>
            </a:r>
          </a:p>
          <a:p>
            <a:pPr lvl="1" marL="355600" indent="0">
              <a:spcBef>
                <a:spcPts val="300"/>
              </a:spcBef>
              <a:spcAft>
                <a:spcPts val="300"/>
              </a:spcAft>
              <a:buNone/>
            </a:pPr>
            <a:r>
              <a:rPr sz="1600" b="0">
                <a:solidFill>
                  <a:srgbClr val="000000"/>
                </a:solidFill>
                <a:latin typeface="맑은 고딕"/>
                <a:ea typeface="맑은 고딕"/>
              </a:rPr>
              <a:t>05. 판매가와 단가</a:t>
            </a:r>
          </a:p>
          <a:p>
            <a:pPr lvl="1" marL="355600" indent="0">
              <a:spcBef>
                <a:spcPts val="300"/>
              </a:spcBef>
              <a:spcAft>
                <a:spcPts val="300"/>
              </a:spcAft>
              <a:buNone/>
            </a:pPr>
            <a:r>
              <a:rPr sz="1600" b="0">
                <a:solidFill>
                  <a:srgbClr val="000000"/>
                </a:solidFill>
                <a:latin typeface="맑은 고딕"/>
                <a:ea typeface="맑은 고딕"/>
              </a:rPr>
              <a:t>06. 도메인 모델 만들기</a:t>
            </a:r>
          </a:p>
          <a:p>
            <a:pPr lvl="1" marL="355600" indent="0">
              <a:spcBef>
                <a:spcPts val="300"/>
              </a:spcBef>
              <a:spcAft>
                <a:spcPts val="300"/>
              </a:spcAft>
              <a:buNone/>
            </a:pPr>
            <a:r>
              <a:rPr sz="1600" b="0">
                <a:solidFill>
                  <a:srgbClr val="000000"/>
                </a:solidFill>
                <a:latin typeface="맑은 고딕"/>
                <a:ea typeface="맑은 고딕"/>
              </a:rPr>
              <a:t>07. 속성과 불변 조건</a:t>
            </a:r>
          </a:p>
          <a:p>
            <a:pPr lvl="1" marL="355600" indent="0">
              <a:spcBef>
                <a:spcPts val="300"/>
              </a:spcBef>
              <a:spcAft>
                <a:spcPts val="300"/>
              </a:spcAft>
              <a:buNone/>
            </a:pPr>
            <a:r>
              <a:rPr sz="1600" b="0">
                <a:solidFill>
                  <a:srgbClr val="000000"/>
                </a:solidFill>
                <a:latin typeface="맑은 고딕"/>
                <a:ea typeface="맑은 고딕"/>
              </a:rPr>
              <a:t>08. 주문 도메인 모델의 검증</a:t>
            </a:r>
          </a:p>
          <a:p>
            <a:pPr lvl="1" marL="355600" indent="0">
              <a:spcBef>
                <a:spcPts val="300"/>
              </a:spcBef>
              <a:spcAft>
                <a:spcPts val="300"/>
              </a:spcAft>
              <a:buNone/>
            </a:pPr>
            <a:r>
              <a:rPr sz="1600" b="0">
                <a:solidFill>
                  <a:srgbClr val="000000"/>
                </a:solidFill>
                <a:latin typeface="맑은 고딕"/>
                <a:ea typeface="맑은 고딕"/>
              </a:rPr>
              <a:t>09. 모델을 만들 때 사람과 AI</a:t>
            </a:r>
          </a:p>
          <a:p>
            <a:pPr lvl="1" marL="355600" indent="0">
              <a:spcBef>
                <a:spcPts val="300"/>
              </a:spcBef>
              <a:spcAft>
                <a:spcPts val="300"/>
              </a:spcAft>
              <a:buNone/>
            </a:pPr>
            <a:r>
              <a:rPr sz="1600" b="0">
                <a:solidFill>
                  <a:srgbClr val="000000"/>
                </a:solidFill>
                <a:latin typeface="맑은 고딕"/>
                <a:ea typeface="맑은 고딕"/>
              </a:rPr>
              <a:t>10. 코드와 검사로 이어지는 자리</a:t>
            </a:r>
          </a:p>
          <a:p>
            <a:pPr lvl="1" marL="355600" indent="0">
              <a:spcBef>
                <a:spcPts val="300"/>
              </a:spcBef>
              <a:spcAft>
                <a:spcPts val="300"/>
              </a:spcAft>
              <a:buNone/>
            </a:pPr>
            <a:r>
              <a:rPr sz="1600" b="0">
                <a:solidFill>
                  <a:srgbClr val="000000"/>
                </a:solidFill>
                <a:latin typeface="맑은 고딕"/>
                <a:ea typeface="맑은 고딕"/>
              </a:rPr>
              <a:t>11. 잘못된 관행</a:t>
            </a:r>
          </a:p>
          <a:p>
            <a:pPr lvl="1" marL="355600" indent="0">
              <a:spcBef>
                <a:spcPts val="300"/>
              </a:spcBef>
              <a:spcAft>
                <a:spcPts val="300"/>
              </a:spcAft>
              <a:buNone/>
            </a:pPr>
            <a:r>
              <a:rPr sz="1600" b="0">
                <a:solidFill>
                  <a:srgbClr val="000000"/>
                </a:solidFill>
                <a:latin typeface="맑은 고딕"/>
                <a:ea typeface="맑은 고딕"/>
              </a:rPr>
              <a:t>12. 실습 4 —</a:t>
            </a:r>
            <a:r>
              <a:rPr sz="1400" b="0">
                <a:solidFill>
                  <a:srgbClr val="000000"/>
                </a:solidFill>
                <a:latin typeface="맑은 고딕"/>
                <a:ea typeface="맑은 고딕"/>
              </a:rPr>
              <a:t> 정적 모델</a:t>
            </a:r>
          </a:p>
          <a:p>
            <a:pPr lvl="1" marL="355600" indent="0">
              <a:spcBef>
                <a:spcPts val="300"/>
              </a:spcBef>
              <a:spcAft>
                <a:spcPts val="300"/>
              </a:spcAft>
              <a:buNone/>
            </a:pPr>
            <a:r>
              <a:rPr sz="1600" b="0">
                <a:solidFill>
                  <a:srgbClr val="000000"/>
                </a:solidFill>
                <a:latin typeface="맑은 고딕"/>
                <a:ea typeface="맑은 고딕"/>
              </a:rPr>
              <a:t>13. 요약</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용어·관계·불변 조건</a:t>
            </a:r>
            <a:r>
              <a:rPr sz="1800" b="0">
                <a:solidFill>
                  <a:srgbClr val="000000"/>
                </a:solidFill>
                <a:latin typeface="맑은 고딕"/>
                <a:ea typeface="맑은 고딕"/>
              </a:rPr>
              <a:t>으로 업무 의미를 명시하고, 코드와 검사에서 그 의미가 유지되는지 확인할 수 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도메인 모델의 목적과 범위</a:t>
            </a:r>
            <a:r>
              <a:rPr sz="1800" b="0">
                <a:solidFill>
                  <a:srgbClr val="000000"/>
                </a:solidFill>
                <a:latin typeface="맑은 고딕"/>
                <a:ea typeface="맑은 고딕"/>
              </a:rPr>
              <a:t>를 설명하고 분석·설계·구현을 구분한다.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같은 이름에 같은 뜻을 부여하고 </a:t>
            </a:r>
            <a:r>
              <a:rPr sz="1800" b="1">
                <a:solidFill>
                  <a:srgbClr val="000000"/>
                </a:solidFill>
                <a:latin typeface="맑은 고딕"/>
                <a:ea typeface="맑은 고딕"/>
              </a:rPr>
              <a:t>현재 값과 확정 값</a:t>
            </a:r>
            <a:r>
              <a:rPr sz="1800" b="0">
                <a:solidFill>
                  <a:srgbClr val="000000"/>
                </a:solidFill>
                <a:latin typeface="맑은 고딕"/>
                <a:ea typeface="맑은 고딕"/>
              </a:rPr>
              <a:t>을 구분한다.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요구사항에서 </a:t>
            </a:r>
            <a:r>
              <a:rPr sz="1800" b="1">
                <a:solidFill>
                  <a:srgbClr val="000000"/>
                </a:solidFill>
                <a:latin typeface="맑은 고딕"/>
                <a:ea typeface="맑은 고딕"/>
              </a:rPr>
              <a:t>개념·관계·속성</a:t>
            </a:r>
            <a:r>
              <a:rPr sz="1800" b="0">
                <a:solidFill>
                  <a:srgbClr val="000000"/>
                </a:solidFill>
                <a:latin typeface="맑은 고딕"/>
                <a:ea typeface="맑은 고딕"/>
              </a:rPr>
              <a:t>을 찾아 하나의 도메인 모델로 구성한다.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불변 조건</a:t>
            </a:r>
            <a:r>
              <a:rPr sz="1800" b="0">
                <a:solidFill>
                  <a:srgbClr val="000000"/>
                </a:solidFill>
                <a:latin typeface="맑은 고딕"/>
                <a:ea typeface="맑은 고딕"/>
              </a:rPr>
              <a:t>을 적고, 조건이 적용되는 시점과 범위를 구분한다.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AI 초안의 </a:t>
            </a:r>
            <a:r>
              <a:rPr sz="1800" b="1">
                <a:solidFill>
                  <a:srgbClr val="000000"/>
                </a:solidFill>
                <a:latin typeface="맑은 고딕"/>
                <a:ea typeface="맑은 고딕"/>
              </a:rPr>
              <a:t>근거 없는 개념·속성</a:t>
            </a:r>
            <a:r>
              <a:rPr sz="1800" b="0">
                <a:solidFill>
                  <a:srgbClr val="000000"/>
                </a:solidFill>
                <a:latin typeface="맑은 고딕"/>
                <a:ea typeface="맑은 고딕"/>
              </a:rPr>
              <a:t>을 질문으로 되돌린다.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모델 요소가 </a:t>
            </a:r>
            <a:r>
              <a:rPr sz="1800" b="1">
                <a:solidFill>
                  <a:srgbClr val="000000"/>
                </a:solidFill>
                <a:latin typeface="맑은 고딕"/>
                <a:ea typeface="맑은 고딕"/>
              </a:rPr>
              <a:t>타입·필드·값 객체·테스트</a:t>
            </a:r>
            <a:r>
              <a:rPr sz="1800" b="0">
                <a:solidFill>
                  <a:srgbClr val="000000"/>
                </a:solidFill>
                <a:latin typeface="맑은 고딕"/>
                <a:ea typeface="맑은 고딕"/>
              </a:rPr>
              <a:t>에 이어지는 자리를 확인한다.</a:t>
            </a:r>
          </a:p>
        </p:txBody>
      </p:sp>
    </p:spTree>
    <p:extLst>
      <p:ext uri="{BB962C8B-B14F-4D97-AF65-F5344CB8AC3E}">
        <p14:creationId xmlns:p14="http://schemas.microsoft.com/office/powerpoint/2010/main" val="35554366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도메인 모델</a:t>
            </a:r>
          </a:p>
          <a:p>
            <a:r>
              <a:rPr sz="1100" b="1">
                <a:solidFill>
                  <a:srgbClr val="000000"/>
                </a:solidFill>
                <a:latin typeface="맑은 고딕"/>
                <a:ea typeface="맑은 고딕"/>
              </a:rPr>
              <a:t>02. 도메인 모델이 명시하는 것</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도메인 모델</a:t>
            </a:r>
            <a:r>
              <a:rPr sz="1800" b="0">
                <a:solidFill>
                  <a:srgbClr val="000000"/>
                </a:solidFill>
                <a:latin typeface="맑은 고딕"/>
                <a:ea typeface="맑은 고딕"/>
              </a:rPr>
              <a:t>은 업무에서 무엇이 존재하고, 사건이 일어나면 무엇이 어떻게 변하는지를 설명하는 분석 모델이다.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도메인</a:t>
            </a:r>
            <a:r>
              <a:rPr sz="1800" b="0">
                <a:solidFill>
                  <a:srgbClr val="000000"/>
                </a:solidFill>
                <a:latin typeface="맑은 고딕"/>
                <a:ea typeface="맑은 고딕"/>
              </a:rPr>
              <a:t>은 이해하고 해결하려는 업무 영역이다. 주문 업무의 상품·거래·가격 규칙을 이해해야 같은 요청을 같은 뜻으로 구현할 수 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정적 관점</a:t>
            </a:r>
            <a:r>
              <a:rPr sz="1800" b="0">
                <a:solidFill>
                  <a:srgbClr val="000000"/>
                </a:solidFill>
                <a:latin typeface="맑은 고딕"/>
                <a:ea typeface="맑은 고딕"/>
              </a:rPr>
              <a:t>은 업무 개념·관계·속성·불변 조건을 밝힌다. 주문·주문 항목·상품의 관계와 단가·수량·총액의 조건이 여기에 해당한다.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동적 관점</a:t>
            </a:r>
            <a:r>
              <a:rPr sz="1800" b="0">
                <a:solidFill>
                  <a:srgbClr val="000000"/>
                </a:solidFill>
                <a:latin typeface="맑은 고딕"/>
                <a:ea typeface="맑은 고딕"/>
              </a:rPr>
              <a:t>은 업무 사건·상태·전이·상호작용을 밝힌다. 승인·거절이 같은 주문의 상태와 후속 행동에 어떤 의미인지 설명한다.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두 관점은 </a:t>
            </a:r>
            <a:r>
              <a:rPr sz="1800" b="1">
                <a:solidFill>
                  <a:srgbClr val="000000"/>
                </a:solidFill>
                <a:latin typeface="맑은 고딕"/>
                <a:ea typeface="맑은 고딕"/>
              </a:rPr>
              <a:t>하나의 도메인 모델</a:t>
            </a:r>
            <a:r>
              <a:rPr sz="1800" b="0">
                <a:solidFill>
                  <a:srgbClr val="000000"/>
                </a:solidFill>
                <a:latin typeface="맑은 고딕"/>
                <a:ea typeface="맑은 고딕"/>
              </a:rPr>
              <a:t>을 이루고 서로를 검증한다. 정적 구조만 그려 놓고 업무의 변화까지 설명했다고 보지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설계</a:t>
            </a:r>
            <a:r>
              <a:rPr sz="1800" b="0">
                <a:solidFill>
                  <a:srgbClr val="000000"/>
                </a:solidFill>
                <a:latin typeface="맑은 고딕"/>
                <a:ea typeface="맑은 고딕"/>
              </a:rPr>
              <a:t>는 이 업무 의미를 실현할 아키텍처·객체 책임·협력·인터페이스와 기술적 결정을 더한다. 업무 규칙을 몰래 바꾸지 않는다.</a:t>
            </a:r>
          </a:p>
        </p:txBody>
      </p:sp>
    </p:spTree>
    <p:extLst>
      <p:ext uri="{BB962C8B-B14F-4D97-AF65-F5344CB8AC3E}">
        <p14:creationId xmlns:p14="http://schemas.microsoft.com/office/powerpoint/2010/main" val="35554366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도메인 모델의 관점과 표현</a:t>
            </a:r>
          </a:p>
          <a:p>
            <a:r>
              <a:rPr sz="1100" b="1">
                <a:solidFill>
                  <a:srgbClr val="000000"/>
                </a:solidFill>
                <a:latin typeface="맑은 고딕"/>
                <a:ea typeface="맑은 고딕"/>
              </a:rPr>
              <a:t>02. 도메인 모델이 명시하는 것</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402396" y="3523788"/>
          <a:ext cx="4325620" cy="1440000"/>
        </p:xfrm>
        <a:graphic>
          <a:graphicData uri="http://schemas.openxmlformats.org/drawingml/2006/table">
            <a:tbl>
              <a:tblPr/>
              <a:tblGrid>
                <a:gridCol w="1506220"/>
                <a:gridCol w="28194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용어</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무엇을 가리키는가?</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도메인 모델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의미를 설명하는 전체 모델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정적·동적 관점</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모델의 구조와 행위를 보는 관점</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개념 모델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구현과 분리한 개념 수준의 표현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클래스 다이어그램</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분석·설계의 정적 구조를 그리는 표기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241719"/>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도메인 모델의 정적 구조</a:t>
            </a:r>
            <a:r>
              <a:rPr sz="1800" b="0">
                <a:solidFill>
                  <a:srgbClr val="000000"/>
                </a:solidFill>
                <a:latin typeface="맑은 고딕"/>
                <a:ea typeface="맑은 고딕"/>
              </a:rPr>
              <a:t>는 업무 개념을 표현한 개념 모델로 설명하고, 클래스 다이어그램으로 그릴 수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모델은 영역의 </a:t>
            </a:r>
            <a:r>
              <a:rPr sz="1800" b="1">
                <a:solidFill>
                  <a:srgbClr val="000000"/>
                </a:solidFill>
                <a:latin typeface="맑은 고딕"/>
                <a:ea typeface="맑은 고딕"/>
              </a:rPr>
              <a:t>개념 클래스나 실제 상황의 객체</a:t>
            </a:r>
            <a:r>
              <a:rPr sz="1800" b="0">
                <a:solidFill>
                  <a:srgbClr val="000000"/>
                </a:solidFill>
                <a:latin typeface="맑은 고딕"/>
                <a:ea typeface="맑은 고딕"/>
              </a:rPr>
              <a:t>를 시각적으로 표현한 것이다</a:t>
            </a:r>
            <a:r>
              <a:rPr sz="1000" b="0">
                <a:solidFill>
                  <a:srgbClr val="000000"/>
                </a:solidFill>
                <a:latin typeface="맑은 고딕"/>
                <a:ea typeface="맑은 고딕"/>
              </a:rPr>
              <a:t>, </a:t>
            </a:r>
            <a:r>
              <a:rPr sz="1000" b="0">
                <a:solidFill>
                  <a:srgbClr val="000000"/>
                </a:solidFill>
                <a:latin typeface="맑은 고딕"/>
                <a:ea typeface="맑은 고딕"/>
              </a:rPr>
              <a:t>"A domain model is a visual representation of conceptual classes or real-situation objects in a domain"</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 정의는 </a:t>
            </a:r>
            <a:r>
              <a:rPr sz="1800" b="1">
                <a:solidFill>
                  <a:srgbClr val="000000"/>
                </a:solidFill>
                <a:latin typeface="맑은 고딕"/>
                <a:ea typeface="맑은 고딕"/>
              </a:rPr>
              <a:t>정적 개념 구조</a:t>
            </a:r>
            <a:r>
              <a:rPr sz="1800" b="0">
                <a:solidFill>
                  <a:srgbClr val="000000"/>
                </a:solidFill>
                <a:latin typeface="맑은 고딕"/>
                <a:ea typeface="맑은 고딕"/>
              </a:rPr>
              <a:t>를 설명한다. 업무의 사건·상태·전이까지 포괄하는 도메인 모델 전체와 인용의 범위를 구별한다.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22533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도메인 모델과 관련 용어의 관계</a:t>
            </a:r>
          </a:p>
        </p:txBody>
      </p:sp>
    </p:spTree>
    <p:extLst>
      <p:ext uri="{BB962C8B-B14F-4D97-AF65-F5344CB8AC3E}">
        <p14:creationId xmlns:p14="http://schemas.microsoft.com/office/powerpoint/2010/main" val="278956947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ERD와 클래스 다이어그램 </a:t>
            </a:r>
            <a:r>
              <a:rPr sz="2000" b="1">
                <a:solidFill>
                  <a:srgbClr val="000000"/>
                </a:solidFill>
                <a:latin typeface="맑은 고딕"/>
                <a:ea typeface="맑은 고딕"/>
              </a:rPr>
              <a:t>(1/2)</a:t>
            </a:r>
          </a:p>
          <a:p>
            <a:r>
              <a:rPr sz="1100" b="1">
                <a:solidFill>
                  <a:srgbClr val="000000"/>
                </a:solidFill>
                <a:latin typeface="맑은 고딕"/>
                <a:ea typeface="맑은 고딕"/>
              </a:rPr>
              <a:t>02. 도메인 모델이 명시하는 것</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1">
                <a:solidFill>
                  <a:srgbClr val="000000"/>
                </a:solidFill>
                <a:latin typeface="맑은 고딕"/>
                <a:ea typeface="맑은 고딕"/>
              </a:rPr>
              <a:t>개체 관계 다이어그램</a:t>
            </a:r>
            <a:r>
              <a:rPr sz="1400" b="1">
                <a:solidFill>
                  <a:srgbClr val="000000"/>
                </a:solidFill>
                <a:latin typeface="맑은 고딕"/>
                <a:ea typeface="맑은 고딕"/>
              </a:rPr>
              <a:t>(ERD)</a:t>
            </a:r>
            <a:r>
              <a:rPr sz="1800" b="0">
                <a:solidFill>
                  <a:srgbClr val="000000"/>
                </a:solidFill>
                <a:latin typeface="맑은 고딕"/>
                <a:ea typeface="맑은 고딕"/>
              </a:rPr>
              <a:t>은 업무에서 관리할 개체·속성·관계를 데이터의 관점에서 표현한다.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같은 업무 관계</a:t>
            </a:r>
            <a:r>
              <a:rPr sz="1800" b="0">
                <a:solidFill>
                  <a:srgbClr val="000000"/>
                </a:solidFill>
                <a:latin typeface="맑은 고딕"/>
                <a:ea typeface="맑은 고딕"/>
              </a:rPr>
              <a:t>를 읽는다. 주문은 항목 1개 이상을 포함하고, 항목은 상품 하나를 가리킨다.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개념 수준 ERD</a:t>
            </a:r>
            <a:r>
              <a:rPr sz="1800" b="0">
                <a:solidFill>
                  <a:srgbClr val="000000"/>
                </a:solidFill>
                <a:latin typeface="맑은 고딕"/>
                <a:ea typeface="맑은 고딕"/>
              </a:rPr>
              <a:t>는 업무 의미를 밝힌다. 물리 수준의 테이블·키·자료형은 설계에서 결정한다.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136392"/>
            <a:ext cx="8412480" cy="201168"/>
          </a:xfrm>
          <a:prstGeom prst="rect">
            <a:avLst/>
          </a:prstGeom>
          <a:noFill/>
        </p:spPr>
        <p:txBody>
          <a:bodyPr wrap="square">
            <a:spAutoFit/>
          </a:bodyPr>
          <a:lstStyle/>
          <a:p>
            <a:pPr algn="ctr"/>
            <a:r>
              <a:rPr sz="1400" b="1">
                <a:solidFill>
                  <a:srgbClr val="000000"/>
                </a:solidFill>
                <a:latin typeface="맑은 고딕"/>
                <a:ea typeface="맑은 고딕"/>
              </a:rPr>
              <a:t>주문의 개념 수준 ERD</a:t>
            </a:r>
          </a:p>
        </p:txBody>
      </p:sp>
      <p:pic>
        <p:nvPicPr>
          <p:cNvPr id="10" name="mermaid Diagram 1"/>
          <p:cNvPicPr>
            <a:picLocks noChangeAspect="1"/>
          </p:cNvPicPr>
          <p:nvPr/>
        </p:nvPicPr>
        <p:blipFill>
          <a:blip r:embed="mermaidImage1"/>
          <a:stretch>
            <a:fillRect/>
          </a:stretch>
        </p:blipFill>
        <p:spPr>
          <a:xfrm>
            <a:off x="2662777" y="3374136"/>
            <a:ext cx="3818446" cy="2669344"/>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ERD와 클래스 다이어그램 </a:t>
            </a:r>
            <a:r>
              <a:rPr sz="2000" b="1">
                <a:solidFill>
                  <a:srgbClr val="000000"/>
                </a:solidFill>
                <a:latin typeface="맑은 고딕"/>
                <a:ea typeface="맑은 고딕"/>
              </a:rPr>
              <a:t>(2/2)</a:t>
            </a:r>
          </a:p>
          <a:p>
            <a:r>
              <a:rPr sz="1100" b="1">
                <a:solidFill>
                  <a:srgbClr val="000000"/>
                </a:solidFill>
                <a:latin typeface="맑은 고딕"/>
                <a:ea typeface="맑은 고딕"/>
              </a:rPr>
              <a:t>02. 도메인 모델이 명시하는 것</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읽는 법</a:t>
            </a:r>
            <a:r>
              <a:rPr sz="1800" b="0">
                <a:solidFill>
                  <a:srgbClr val="000000"/>
                </a:solidFill>
                <a:latin typeface="맑은 고딕"/>
                <a:ea typeface="맑은 고딕"/>
              </a:rPr>
              <a:t> —</a:t>
            </a:r>
            <a:r>
              <a:rPr sz="1600" b="0">
                <a:solidFill>
                  <a:srgbClr val="000000"/>
                </a:solidFill>
                <a:latin typeface="맑은 고딕"/>
                <a:ea typeface="맑은 고딕"/>
              </a:rPr>
              <a:t> 두 막대는 하나, 갈퀴는 여럿, 작은 원은 0도 가능함을 뜻한다.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클래스 다이어그램과의 관계</a:t>
            </a:r>
            <a:r>
              <a:rPr sz="1800" b="0">
                <a:solidFill>
                  <a:srgbClr val="000000"/>
                </a:solidFill>
                <a:latin typeface="맑은 고딕"/>
                <a:ea typeface="맑은 고딕"/>
              </a:rPr>
              <a:t> —</a:t>
            </a:r>
            <a:r>
              <a:rPr sz="1600" b="0">
                <a:solidFill>
                  <a:srgbClr val="000000"/>
                </a:solidFill>
                <a:latin typeface="맑은 고딕"/>
                <a:ea typeface="맑은 고딕"/>
              </a:rPr>
              <a:t> 개념·속성·관계는 겹치지만, ERD는 데이터 구조를 중심으로 읽는다. 두 그림 모두 단독으로 사건·전이 전체를 설명하지 못한다.</a:t>
            </a:r>
          </a:p>
        </p:txBody>
      </p:sp>
    </p:spTree>
    <p:extLst>
      <p:ext uri="{BB962C8B-B14F-4D97-AF65-F5344CB8AC3E}">
        <p14:creationId xmlns:p14="http://schemas.microsoft.com/office/powerpoint/2010/main" val="35554366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도메인 모델과 온톨로지</a:t>
            </a:r>
          </a:p>
          <a:p>
            <a:r>
              <a:rPr sz="1100" b="1">
                <a:solidFill>
                  <a:srgbClr val="000000"/>
                </a:solidFill>
                <a:latin typeface="맑은 고딕"/>
                <a:ea typeface="맑은 고딕"/>
              </a:rPr>
              <a:t>02. 도메인 모델이 명시하는 것</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온톨로지는 </a:t>
            </a:r>
            <a:r>
              <a:rPr sz="1800" b="1">
                <a:solidFill>
                  <a:srgbClr val="000000"/>
                </a:solidFill>
                <a:latin typeface="맑은 고딕"/>
                <a:ea typeface="맑은 고딕"/>
              </a:rPr>
              <a:t>개념화의 명시적 명세</a:t>
            </a:r>
            <a:r>
              <a:rPr sz="1800" b="0">
                <a:solidFill>
                  <a:srgbClr val="000000"/>
                </a:solidFill>
                <a:latin typeface="맑은 고딕"/>
                <a:ea typeface="맑은 고딕"/>
              </a:rPr>
              <a:t>다</a:t>
            </a:r>
            <a:r>
              <a:rPr sz="1000" b="0">
                <a:solidFill>
                  <a:srgbClr val="000000"/>
                </a:solidFill>
                <a:latin typeface="맑은 고딕"/>
                <a:ea typeface="맑은 고딕"/>
              </a:rPr>
              <a:t>, </a:t>
            </a:r>
            <a:r>
              <a:rPr sz="1000" b="0">
                <a:solidFill>
                  <a:srgbClr val="000000"/>
                </a:solidFill>
                <a:latin typeface="맑은 고딕"/>
                <a:ea typeface="맑은 고딕"/>
              </a:rPr>
              <a:t>"An ontology is an explicit specification of a conceptualization."</a:t>
            </a:r>
            <a:r>
              <a:rPr sz="1000" b="0">
                <a:solidFill>
                  <a:srgbClr val="000000"/>
                </a:solidFill>
                <a:latin typeface="맑은 고딕"/>
                <a:ea typeface="맑은 고딕"/>
              </a:rPr>
              <a:t>, </a:t>
            </a:r>
            <a:r>
              <a:rPr sz="1000" b="0">
                <a:solidFill>
                  <a:srgbClr val="000000"/>
                </a:solidFill>
                <a:latin typeface="맑은 고딕"/>
                <a:ea typeface="맑은 고딕"/>
              </a:rPr>
              <a:t>[Gruber 1993]</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개념과 관계의 의미를 명시한다</a:t>
            </a:r>
            <a:r>
              <a:rPr sz="1800" b="0">
                <a:solidFill>
                  <a:srgbClr val="000000"/>
                </a:solidFill>
                <a:latin typeface="맑은 고딕"/>
                <a:ea typeface="맑은 고딕"/>
              </a:rPr>
              <a:t>는 관심사는 도메인 모델과 겹친다. "가격"의 뜻을 구별하는 것도 그 의미를 분명히 하는 일이다.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모델은 </a:t>
            </a:r>
            <a:r>
              <a:rPr sz="1800" b="1">
                <a:solidFill>
                  <a:srgbClr val="000000"/>
                </a:solidFill>
                <a:latin typeface="맑은 고딕"/>
                <a:ea typeface="맑은 고딕"/>
              </a:rPr>
              <a:t>현재 구현할 업무 범위</a:t>
            </a:r>
            <a:r>
              <a:rPr sz="1800" b="0">
                <a:solidFill>
                  <a:srgbClr val="000000"/>
                </a:solidFill>
                <a:latin typeface="맑은 고딕"/>
                <a:ea typeface="맑은 고딕"/>
              </a:rPr>
              <a:t>의 개념과 규칙을 밝힌다. 모든 상품·거래 지식을 완성할 때까지 기다리지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온톨로지라는 이름만으로 </a:t>
            </a:r>
            <a:r>
              <a:rPr sz="1800" b="1">
                <a:solidFill>
                  <a:srgbClr val="000000"/>
                </a:solidFill>
                <a:latin typeface="맑은 고딕"/>
                <a:ea typeface="맑은 고딕"/>
              </a:rPr>
              <a:t>별도 파일·도구·추론 체계</a:t>
            </a:r>
            <a:r>
              <a:rPr sz="1800" b="0">
                <a:solidFill>
                  <a:srgbClr val="000000"/>
                </a:solidFill>
                <a:latin typeface="맑은 고딕"/>
                <a:ea typeface="맑은 고딕"/>
              </a:rPr>
              <a:t>를 추가하지 않는다. 필요한 표현과 검증은 문제의 복잡성이 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도메인 모델의 용어·그림·조건 목록</a:t>
            </a:r>
            <a:r>
              <a:rPr sz="1800" b="0">
                <a:solidFill>
                  <a:srgbClr val="000000"/>
                </a:solidFill>
                <a:latin typeface="맑은 고딕"/>
                <a:ea typeface="맑은 고딕"/>
              </a:rPr>
              <a:t>이 이미 같은 의미를 밝히면 그것을 함께 고친다. 같은 뜻을 다른 문서에 다시 쓰면 변경할 원천만 늘어난다.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"세션 03. 요구와 수용 기준"의 요구사항 정의서를 바탕으로 업무 의미를 분석하고, </a:t>
            </a:r>
            <a:r>
              <a:rPr sz="1800" b="1">
                <a:solidFill>
                  <a:srgbClr val="000000"/>
                </a:solidFill>
                <a:latin typeface="맑은 고딕"/>
                <a:ea typeface="맑은 고딕"/>
              </a:rPr>
              <a:t>도메인 모델의 정적 관점</a:t>
            </a:r>
            <a:r>
              <a:rPr sz="1800" b="0">
                <a:solidFill>
                  <a:srgbClr val="000000"/>
                </a:solidFill>
                <a:latin typeface="맑은 고딕"/>
                <a:ea typeface="맑은 고딕"/>
              </a:rPr>
              <a:t>을 남긴다.</a:t>
            </a:r>
          </a:p>
        </p:txBody>
      </p:sp>
    </p:spTree>
    <p:extLst>
      <p:ext uri="{BB962C8B-B14F-4D97-AF65-F5344CB8AC3E}">
        <p14:creationId xmlns:p14="http://schemas.microsoft.com/office/powerpoint/2010/main" val="355543667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03. 분석·설계·구현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985836" y="1999788"/>
          <a:ext cx="5158740" cy="1440000"/>
        </p:xfrm>
        <a:graphic>
          <a:graphicData uri="http://schemas.openxmlformats.org/drawingml/2006/table">
            <a:tbl>
              <a:tblPr/>
              <a:tblGrid>
                <a:gridCol w="889000"/>
                <a:gridCol w="2176780"/>
                <a:gridCol w="20929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관점</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질문</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결정의 예</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결과를 원하는가?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가격 변경 뒤에도 2,000원</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분석</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그 결과는 무엇을 뜻하는가?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판매가와 단가의 구별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설계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그 규칙을 지키는가?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주문이 항목의 금액을 합산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구현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어떻게 실행하는가?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Money와 반복문으로 계산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67612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분석은 해결책보다 </a:t>
            </a:r>
            <a:r>
              <a:rPr sz="1800" b="1">
                <a:solidFill>
                  <a:srgbClr val="000000"/>
                </a:solidFill>
                <a:latin typeface="맑은 고딕"/>
                <a:ea typeface="맑은 고딕"/>
              </a:rPr>
              <a:t>문제와 요구사항의 조사</a:t>
            </a:r>
            <a:r>
              <a:rPr sz="1800" b="0">
                <a:solidFill>
                  <a:srgbClr val="000000"/>
                </a:solidFill>
                <a:latin typeface="맑은 고딕"/>
                <a:ea typeface="맑은 고딕"/>
              </a:rPr>
              <a:t>를 강조한다</a:t>
            </a:r>
            <a:r>
              <a:rPr sz="1000" b="0">
                <a:solidFill>
                  <a:srgbClr val="000000"/>
                </a:solidFill>
                <a:latin typeface="맑은 고딕"/>
                <a:ea typeface="맑은 고딕"/>
              </a:rPr>
              <a:t>, </a:t>
            </a:r>
            <a:r>
              <a:rPr sz="1000" b="0">
                <a:solidFill>
                  <a:srgbClr val="000000"/>
                </a:solidFill>
                <a:latin typeface="맑은 고딕"/>
                <a:ea typeface="맑은 고딕"/>
              </a:rPr>
              <a:t>"Analysis emphasizes an investigation of the problem and requirements, rather than a solution."</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70133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주문 금액에 관한 서로 다른 결정</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668388"/>
            <a:ext cx="8412480" cy="195072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분석의 </a:t>
            </a:r>
            <a:r>
              <a:rPr sz="1800" b="1">
                <a:solidFill>
                  <a:srgbClr val="000000"/>
                </a:solidFill>
                <a:latin typeface="맑은 고딕"/>
                <a:ea typeface="맑은 고딕"/>
              </a:rPr>
              <a:t>주문 항목</a:t>
            </a:r>
            <a:r>
              <a:rPr sz="1800" b="0">
                <a:solidFill>
                  <a:srgbClr val="000000"/>
                </a:solidFill>
                <a:latin typeface="맑은 고딕"/>
                <a:ea typeface="맑은 고딕"/>
              </a:rPr>
              <a:t>은 업무 개념이다. </a:t>
            </a:r>
            <a:r>
              <a:rPr sz="1800" b="0">
                <a:solidFill>
                  <a:srgbClr val="000000"/>
                </a:solidFill>
                <a:latin typeface="맑은 고딕"/>
                <a:ea typeface="맑은 고딕"/>
              </a:rPr>
              <a:t>List&lt;OrderItem&gt;</a:t>
            </a:r>
            <a:r>
              <a:rPr sz="1800" b="0">
                <a:solidFill>
                  <a:srgbClr val="000000"/>
                </a:solidFill>
                <a:latin typeface="맑은 고딕"/>
                <a:ea typeface="맑은 고딕"/>
              </a:rPr>
              <a:t>이나 외래 키는 그 관계를 실현하는 방법이다.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설계 모델도 정적 구조와 동적 협력</a:t>
            </a:r>
            <a:r>
              <a:rPr sz="1800" b="0">
                <a:solidFill>
                  <a:srgbClr val="000000"/>
                </a:solidFill>
                <a:latin typeface="맑은 고딕"/>
                <a:ea typeface="맑은 고딕"/>
              </a:rPr>
              <a:t>을 갖는다. 업무 개념의 박스 하나가 소프트웨어 클래스 하나로 자동 변환되지는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코드를 보며 의미를 확인하고 모순이 나오면 </a:t>
            </a:r>
            <a:r>
              <a:rPr sz="1800" b="1">
                <a:solidFill>
                  <a:srgbClr val="000000"/>
                </a:solidFill>
                <a:latin typeface="맑은 고딕"/>
                <a:ea typeface="맑은 고딕"/>
              </a:rPr>
              <a:t>분석으로 되돌린다</a:t>
            </a:r>
            <a:r>
              <a:rPr sz="1800" b="0">
                <a:solidFill>
                  <a:srgbClr val="000000"/>
                </a:solidFill>
                <a:latin typeface="맑은 고딕"/>
                <a:ea typeface="맑은 고딕"/>
              </a:rPr>
              <a:t>. 책임 배치의 대안은 "세션 07. 설계 —</a:t>
            </a:r>
            <a:r>
              <a:rPr sz="1600" b="0">
                <a:solidFill>
                  <a:srgbClr val="000000"/>
                </a:solidFill>
                <a:latin typeface="맑은 고딕"/>
                <a:ea typeface="맑은 고딕"/>
              </a:rPr>
              <a:t> 책임과 협력"에서 판단한다.</a:t>
            </a:r>
          </a:p>
        </p:txBody>
      </p:sp>
    </p:spTree>
    <p:extLst>
      <p:ext uri="{BB962C8B-B14F-4D97-AF65-F5344CB8AC3E}">
        <p14:creationId xmlns:p14="http://schemas.microsoft.com/office/powerpoint/2010/main" val="278956947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이름과 뜻을 함께 고정하기</a:t>
            </a:r>
          </a:p>
          <a:p>
            <a:r>
              <a:rPr sz="1100" b="1">
                <a:solidFill>
                  <a:srgbClr val="000000"/>
                </a:solidFill>
                <a:latin typeface="맑은 고딕"/>
                <a:ea typeface="맑은 고딕"/>
              </a:rPr>
              <a:t>04. 용어집</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언어의 변경은 곧 </a:t>
            </a:r>
            <a:r>
              <a:rPr sz="1800" b="1">
                <a:solidFill>
                  <a:srgbClr val="000000"/>
                </a:solidFill>
                <a:latin typeface="맑은 고딕"/>
                <a:ea typeface="맑은 고딕"/>
              </a:rPr>
              <a:t>모델의 변경</a:t>
            </a:r>
            <a:r>
              <a:rPr sz="1800" b="0">
                <a:solidFill>
                  <a:srgbClr val="000000"/>
                </a:solidFill>
                <a:latin typeface="맑은 고딕"/>
                <a:ea typeface="맑은 고딕"/>
              </a:rPr>
              <a:t>임을 인식하라</a:t>
            </a:r>
            <a:r>
              <a:rPr sz="1000" b="0">
                <a:solidFill>
                  <a:srgbClr val="000000"/>
                </a:solidFill>
                <a:latin typeface="맑은 고딕"/>
                <a:ea typeface="맑은 고딕"/>
              </a:rPr>
              <a:t>, </a:t>
            </a:r>
            <a:r>
              <a:rPr sz="1000" b="0">
                <a:solidFill>
                  <a:srgbClr val="000000"/>
                </a:solidFill>
                <a:latin typeface="맑은 고딕"/>
                <a:ea typeface="맑은 고딕"/>
              </a:rPr>
              <a:t>"Recognize that a change in the language is a change to the model."</a:t>
            </a:r>
            <a:r>
              <a:rPr sz="1000" b="0">
                <a:solidFill>
                  <a:srgbClr val="000000"/>
                </a:solidFill>
                <a:latin typeface="맑은 고딕"/>
                <a:ea typeface="맑은 고딕"/>
              </a:rPr>
              <a:t>, </a:t>
            </a:r>
            <a:r>
              <a:rPr sz="1000" b="0">
                <a:solidFill>
                  <a:srgbClr val="000000"/>
                </a:solidFill>
                <a:latin typeface="맑은 고딕"/>
                <a:ea typeface="맑은 고딕"/>
              </a:rPr>
              <a:t>[Evans 2015]</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보편 언어</a:t>
            </a:r>
            <a:r>
              <a:rPr sz="1400" b="0">
                <a:solidFill>
                  <a:srgbClr val="000000"/>
                </a:solidFill>
                <a:latin typeface="맑은 고딕"/>
                <a:ea typeface="맑은 고딕"/>
              </a:rPr>
              <a:t>(Ubiquitous Language)</a:t>
            </a:r>
            <a:r>
              <a:rPr sz="1800" b="0">
                <a:solidFill>
                  <a:srgbClr val="000000"/>
                </a:solidFill>
                <a:latin typeface="맑은 고딕"/>
                <a:ea typeface="맑은 고딕"/>
              </a:rPr>
              <a:t>는 업무 담당자와 개발자가 모델에 기반해 함께 사용하는 말이다. 코드의 이름도 그 말과 이어져야 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이름만 맞추면 충분하지 않다. </a:t>
            </a:r>
            <a:r>
              <a:rPr sz="1800" b="1">
                <a:solidFill>
                  <a:srgbClr val="000000"/>
                </a:solidFill>
                <a:latin typeface="맑은 고딕"/>
                <a:ea typeface="맑은 고딕"/>
              </a:rPr>
              <a:t>단가</a:t>
            </a:r>
            <a:r>
              <a:rPr sz="1800" b="0">
                <a:solidFill>
                  <a:srgbClr val="000000"/>
                </a:solidFill>
                <a:latin typeface="맑은 고딕"/>
                <a:ea typeface="맑은 고딕"/>
              </a:rPr>
              <a:t>가 주문 생성 시점에 확정한 값이라는 뜻까지 같아야 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같은 뜻</a:t>
            </a:r>
            <a:r>
              <a:rPr sz="1800" b="0">
                <a:solidFill>
                  <a:srgbClr val="000000"/>
                </a:solidFill>
                <a:latin typeface="맑은 고딕"/>
                <a:ea typeface="맑은 고딕"/>
              </a:rPr>
              <a:t>의 </a:t>
            </a:r>
            <a:r>
              <a:rPr sz="1800" b="0">
                <a:solidFill>
                  <a:srgbClr val="000000"/>
                </a:solidFill>
                <a:latin typeface="맑은 고딕"/>
                <a:ea typeface="맑은 고딕"/>
              </a:rPr>
              <a:t>itemPrice</a:t>
            </a:r>
            <a:r>
              <a:rPr sz="1800" b="0">
                <a:solidFill>
                  <a:srgbClr val="000000"/>
                </a:solidFill>
                <a:latin typeface="맑은 고딕"/>
                <a:ea typeface="맑은 고딕"/>
              </a:rPr>
              <a:t>, </a:t>
            </a:r>
            <a:r>
              <a:rPr sz="1800" b="0">
                <a:solidFill>
                  <a:srgbClr val="000000"/>
                </a:solidFill>
                <a:latin typeface="맑은 고딕"/>
                <a:ea typeface="맑은 고딕"/>
              </a:rPr>
              <a:t>orderedPrice</a:t>
            </a:r>
            <a:r>
              <a:rPr sz="1800" b="0">
                <a:solidFill>
                  <a:srgbClr val="000000"/>
                </a:solidFill>
                <a:latin typeface="맑은 고딕"/>
                <a:ea typeface="맑은 고딕"/>
              </a:rPr>
              <a:t>, </a:t>
            </a:r>
            <a:r>
              <a:rPr sz="1800" b="0">
                <a:solidFill>
                  <a:srgbClr val="000000"/>
                </a:solidFill>
                <a:latin typeface="맑은 고딕"/>
                <a:ea typeface="맑은 고딕"/>
              </a:rPr>
              <a:t>unitPrice</a:t>
            </a:r>
            <a:r>
              <a:rPr sz="1800" b="0">
                <a:solidFill>
                  <a:srgbClr val="000000"/>
                </a:solidFill>
                <a:latin typeface="맑은 고딕"/>
                <a:ea typeface="맑은 고딕"/>
              </a:rPr>
              <a:t>를 작업마다 새로 만들면 AI와 사람 모두 대응을 추측해야 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의미가 다르면 이름을 나눈다. 상품의 </a:t>
            </a:r>
            <a:r>
              <a:rPr sz="1800" b="1">
                <a:solidFill>
                  <a:srgbClr val="000000"/>
                </a:solidFill>
                <a:latin typeface="맑은 고딕"/>
                <a:ea typeface="맑은 고딕"/>
              </a:rPr>
              <a:t>현재 판매가</a:t>
            </a:r>
            <a:r>
              <a:rPr sz="1800" b="0">
                <a:solidFill>
                  <a:srgbClr val="000000"/>
                </a:solidFill>
                <a:latin typeface="맑은 고딕"/>
                <a:ea typeface="맑은 고딕"/>
              </a:rPr>
              <a:t>와 주문 항목의 </a:t>
            </a:r>
            <a:r>
              <a:rPr sz="1800" b="1">
                <a:solidFill>
                  <a:srgbClr val="000000"/>
                </a:solidFill>
                <a:latin typeface="맑은 고딕"/>
                <a:ea typeface="맑은 고딕"/>
              </a:rPr>
              <a:t>확정 단가</a:t>
            </a:r>
            <a:r>
              <a:rPr sz="1800" b="0">
                <a:solidFill>
                  <a:srgbClr val="000000"/>
                </a:solidFill>
                <a:latin typeface="맑은 고딕"/>
                <a:ea typeface="맑은 고딕"/>
              </a:rPr>
              <a:t>를 </a:t>
            </a:r>
            <a:r>
              <a:rPr sz="1800" b="0">
                <a:solidFill>
                  <a:srgbClr val="000000"/>
                </a:solidFill>
                <a:latin typeface="맑은 고딕"/>
                <a:ea typeface="맑은 고딕"/>
              </a:rPr>
              <a:t>price</a:t>
            </a:r>
            <a:r>
              <a:rPr sz="1800" b="0">
                <a:solidFill>
                  <a:srgbClr val="000000"/>
                </a:solidFill>
                <a:latin typeface="맑은 고딕"/>
                <a:ea typeface="맑은 고딕"/>
              </a:rPr>
              <a:t> 하나로 부르면 가격 변경 규칙이 흐려진다.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용어집을 고치면 </a:t>
            </a:r>
            <a:r>
              <a:rPr sz="1800" b="1">
                <a:solidFill>
                  <a:srgbClr val="000000"/>
                </a:solidFill>
                <a:latin typeface="맑은 고딕"/>
                <a:ea typeface="맑은 고딕"/>
              </a:rPr>
              <a:t>도식·코드·검사</a:t>
            </a:r>
            <a:r>
              <a:rPr sz="1800" b="0">
                <a:solidFill>
                  <a:srgbClr val="000000"/>
                </a:solidFill>
                <a:latin typeface="맑은 고딕"/>
                <a:ea typeface="맑은 고딕"/>
              </a:rPr>
              <a:t>에서 그 이름을 사용하는 자리도 함께 고친다. 지난 대화를 기억할 것이라고 가정하지 않는다.</a:t>
            </a:r>
          </a:p>
        </p:txBody>
      </p:sp>
    </p:spTree>
    <p:extLst>
      <p:ext uri="{BB962C8B-B14F-4D97-AF65-F5344CB8AC3E}">
        <p14:creationId xmlns:p14="http://schemas.microsoft.com/office/powerpoint/2010/main" val="35554366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주문의 용어집</a:t>
            </a:r>
          </a:p>
          <a:p>
            <a:r>
              <a:rPr sz="1100" b="1">
                <a:solidFill>
                  <a:srgbClr val="000000"/>
                </a:solidFill>
                <a:latin typeface="맑은 고딕"/>
                <a:ea typeface="맑은 고딕"/>
              </a:rPr>
              <a:t>04. 용어집</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180146" y="1837690"/>
          <a:ext cx="4770120" cy="2016000"/>
        </p:xfrm>
        <a:graphic>
          <a:graphicData uri="http://schemas.openxmlformats.org/drawingml/2006/table">
            <a:tbl>
              <a:tblPr/>
              <a:tblGrid>
                <a:gridCol w="947420"/>
                <a:gridCol w="1226820"/>
                <a:gridCol w="25958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용어</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코드 이름</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업무 의미</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지정으로 생긴 거래 기록</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항목</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OrderItem</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주문에 담긴 상품·단가·수량</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Product</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 시스템이 관리하는 주문 대상</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판매가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salePrice</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상품의 현재 가격</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단가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unitPrice</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생성 시 확정한 항목 가격</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총액</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totalAmount</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항목별 단가×수량의 합</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용어집</a:t>
            </a:r>
            <a:r>
              <a:rPr sz="1800" b="0">
                <a:solidFill>
                  <a:srgbClr val="000000"/>
                </a:solidFill>
                <a:latin typeface="맑은 고딕"/>
                <a:ea typeface="맑은 고딕"/>
              </a:rPr>
              <a:t>에는 이름뿐 아니라 업무에서 구별할 수 있는 뜻을 적는다.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53924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주문의 주요 용어</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082290"/>
            <a:ext cx="8412480" cy="195072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요구사항의 </a:t>
            </a:r>
            <a:r>
              <a:rPr sz="1800" b="1">
                <a:solidFill>
                  <a:srgbClr val="000000"/>
                </a:solidFill>
                <a:latin typeface="맑은 고딕"/>
                <a:ea typeface="맑은 고딕"/>
              </a:rPr>
              <a:t>주문 금액</a:t>
            </a:r>
            <a:r>
              <a:rPr sz="1800" b="0">
                <a:solidFill>
                  <a:srgbClr val="000000"/>
                </a:solidFill>
                <a:latin typeface="맑은 고딕"/>
                <a:ea typeface="맑은 고딕"/>
              </a:rPr>
              <a:t>과 코드의 </a:t>
            </a:r>
            <a:r>
              <a:rPr sz="1800" b="0">
                <a:solidFill>
                  <a:srgbClr val="000000"/>
                </a:solidFill>
                <a:latin typeface="맑은 고딕"/>
                <a:ea typeface="맑은 고딕"/>
              </a:rPr>
              <a:t>totalAmount</a:t>
            </a:r>
            <a:r>
              <a:rPr sz="1800" b="0">
                <a:solidFill>
                  <a:srgbClr val="000000"/>
                </a:solidFill>
                <a:latin typeface="맑은 고딕"/>
                <a:ea typeface="맑은 고딕"/>
              </a:rPr>
              <a:t>는 같은 합계를 뜻한다. 서로 다른 계산을 만들지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주문 생성</a:t>
            </a:r>
            <a:r>
              <a:rPr sz="1800" b="0">
                <a:solidFill>
                  <a:srgbClr val="000000"/>
                </a:solidFill>
                <a:latin typeface="맑은 고딕"/>
                <a:ea typeface="맑은 고딕"/>
              </a:rPr>
              <a:t>과 </a:t>
            </a:r>
            <a:r>
              <a:rPr sz="1800" b="1">
                <a:solidFill>
                  <a:srgbClr val="000000"/>
                </a:solidFill>
                <a:latin typeface="맑은 고딕"/>
                <a:ea typeface="맑은 고딕"/>
              </a:rPr>
              <a:t>주문 성립</a:t>
            </a:r>
            <a:r>
              <a:rPr sz="1800" b="0">
                <a:solidFill>
                  <a:srgbClr val="000000"/>
                </a:solidFill>
                <a:latin typeface="맑은 고딕"/>
                <a:ea typeface="맑은 고딕"/>
              </a:rPr>
              <a:t>도 구분한다. 배송지를 정하면 결제대기 주문이 생기고, 카드 승인 뒤 같은 주문이 성립한다.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주문은 </a:t>
            </a:r>
            <a:r>
              <a:rPr sz="1800" b="1">
                <a:solidFill>
                  <a:srgbClr val="000000"/>
                </a:solidFill>
                <a:latin typeface="맑은 고딕"/>
                <a:ea typeface="맑은 고딕"/>
              </a:rPr>
              <a:t>결제대기에도 이미 존재</a:t>
            </a:r>
            <a:r>
              <a:rPr sz="1800" b="0">
                <a:solidFill>
                  <a:srgbClr val="000000"/>
                </a:solidFill>
                <a:latin typeface="맑은 고딕"/>
                <a:ea typeface="맑은 고딕"/>
              </a:rPr>
              <a:t>한다. "승인되면 주문을 새로 만든다"로 읽으면 같은 주문의 재결제라는 요구와 충돌한다.</a:t>
            </a:r>
          </a:p>
        </p:txBody>
      </p:sp>
    </p:spTree>
    <p:extLst>
      <p:ext uri="{BB962C8B-B14F-4D97-AF65-F5344CB8AC3E}">
        <p14:creationId xmlns:p14="http://schemas.microsoft.com/office/powerpoint/2010/main" val="278956947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현재 값과 확정 값</a:t>
            </a:r>
          </a:p>
          <a:p>
            <a:r>
              <a:rPr sz="1100" b="1">
                <a:solidFill>
                  <a:srgbClr val="000000"/>
                </a:solidFill>
                <a:latin typeface="맑은 고딕"/>
                <a:ea typeface="맑은 고딕"/>
              </a:rPr>
              <a:t>05. 판매가와 단가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167446" y="1837690"/>
          <a:ext cx="4795520" cy="864000"/>
        </p:xfrm>
        <a:graphic>
          <a:graphicData uri="http://schemas.openxmlformats.org/drawingml/2006/table">
            <a:tbl>
              <a:tblPr/>
              <a:tblGrid>
                <a:gridCol w="1087120"/>
                <a:gridCol w="1087120"/>
                <a:gridCol w="1310640"/>
                <a:gridCol w="13106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시점</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상품 판매가</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기존 항목 단가</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기존 주문 총액</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생성</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1,000원</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1,000원</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2,000원</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판매가 변경</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1,200원</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1,000원</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2,000원</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판매가</a:t>
            </a:r>
            <a:r>
              <a:rPr sz="1800" b="0">
                <a:solidFill>
                  <a:srgbClr val="000000"/>
                </a:solidFill>
                <a:latin typeface="맑은 고딕"/>
                <a:ea typeface="맑은 고딕"/>
              </a:rPr>
              <a:t>는 상품의 현재 값이고, </a:t>
            </a:r>
            <a:r>
              <a:rPr sz="1800" b="1">
                <a:solidFill>
                  <a:srgbClr val="000000"/>
                </a:solidFill>
                <a:latin typeface="맑은 고딕"/>
                <a:ea typeface="맑은 고딕"/>
              </a:rPr>
              <a:t>단가</a:t>
            </a:r>
            <a:r>
              <a:rPr sz="1800" b="0">
                <a:solidFill>
                  <a:srgbClr val="000000"/>
                </a:solidFill>
                <a:latin typeface="맑은 고딕"/>
                <a:ea typeface="맑은 고딕"/>
              </a:rPr>
              <a:t>는 주문 시점에 확정한 값이다.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53924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같은 상품의 서로 다른 가격</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2930290"/>
            <a:ext cx="8412480" cy="257556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펜 </a:t>
            </a:r>
            <a:r>
              <a:rPr sz="1800" b="1">
                <a:solidFill>
                  <a:srgbClr val="000000"/>
                </a:solidFill>
                <a:latin typeface="맑은 고딕"/>
                <a:ea typeface="맑은 고딕"/>
              </a:rPr>
              <a:t>2개</a:t>
            </a:r>
            <a:r>
              <a:rPr sz="1800" b="0">
                <a:solidFill>
                  <a:srgbClr val="000000"/>
                </a:solidFill>
                <a:latin typeface="맑은 고딕"/>
                <a:ea typeface="맑은 고딕"/>
              </a:rPr>
              <a:t>의 주문이 생길 때 판매가 1,000원을 항목의 단가로 확정한다. 배송지는 </a:t>
            </a:r>
            <a:r>
              <a:rPr sz="1800" b="1">
                <a:solidFill>
                  <a:srgbClr val="000000"/>
                </a:solidFill>
                <a:latin typeface="맑은 고딕"/>
                <a:ea typeface="맑은 고딕"/>
              </a:rPr>
              <a:t>서울</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상품 시스템이 판매가를 바꿔도 </a:t>
            </a:r>
            <a:r>
              <a:rPr sz="1800" b="1">
                <a:solidFill>
                  <a:srgbClr val="000000"/>
                </a:solidFill>
                <a:latin typeface="맑은 고딕"/>
                <a:ea typeface="맑은 고딕"/>
              </a:rPr>
              <a:t>이미 확정한 거래 조건</a:t>
            </a:r>
            <a:r>
              <a:rPr sz="1800" b="0">
                <a:solidFill>
                  <a:srgbClr val="000000"/>
                </a:solidFill>
                <a:latin typeface="맑은 고딕"/>
                <a:ea typeface="맑은 고딕"/>
              </a:rPr>
              <a:t>은 그대로다. 상품을 식별하는 관계와 현재 가격에 의존하는 계산은 다르다.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이후에 새로 생기는 주문은 </a:t>
            </a:r>
            <a:r>
              <a:rPr sz="1800" b="1">
                <a:solidFill>
                  <a:srgbClr val="000000"/>
                </a:solidFill>
                <a:latin typeface="맑은 고딕"/>
                <a:ea typeface="맑은 고딕"/>
              </a:rPr>
              <a:t>그 주문 생성 시점의 판매가</a:t>
            </a:r>
            <a:r>
              <a:rPr sz="1800" b="0">
                <a:solidFill>
                  <a:srgbClr val="000000"/>
                </a:solidFill>
                <a:latin typeface="맑은 고딕"/>
                <a:ea typeface="맑은 고딕"/>
              </a:rPr>
              <a:t>를 사용한다. 상품 가격을 영구히 1,000원으로 고정한다는 뜻이 아니다.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 구별을 지우면 결제 직전의 판매가로 2,400원을 계산하기 쉽다. 계산식이 맞아도 </a:t>
            </a:r>
            <a:r>
              <a:rPr sz="1800" b="1">
                <a:solidFill>
                  <a:srgbClr val="000000"/>
                </a:solidFill>
                <a:latin typeface="맑은 고딕"/>
                <a:ea typeface="맑은 고딕"/>
              </a:rPr>
              <a:t>어느 시점의 값인지</a:t>
            </a:r>
            <a:r>
              <a:rPr sz="1800" b="0">
                <a:solidFill>
                  <a:srgbClr val="000000"/>
                </a:solidFill>
                <a:latin typeface="맑은 고딕"/>
                <a:ea typeface="맑은 고딕"/>
              </a:rPr>
              <a:t> 틀릴 수 있다.</a:t>
            </a:r>
          </a:p>
        </p:txBody>
      </p:sp>
    </p:spTree>
    <p:extLst>
      <p:ext uri="{BB962C8B-B14F-4D97-AF65-F5344CB8AC3E}">
        <p14:creationId xmlns:p14="http://schemas.microsoft.com/office/powerpoint/2010/main" val="27895694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단가를 남겨야 하는 이유</a:t>
            </a:r>
          </a:p>
          <a:p>
            <a:r>
              <a:rPr sz="1100" b="1">
                <a:solidFill>
                  <a:srgbClr val="000000"/>
                </a:solidFill>
                <a:latin typeface="맑은 고딕"/>
                <a:ea typeface="맑은 고딕"/>
              </a:rPr>
              <a:t>05. 판매가와 단가</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상품을 가리키는 정보</a:t>
            </a:r>
            <a:r>
              <a:rPr sz="1800" b="0">
                <a:solidFill>
                  <a:srgbClr val="000000"/>
                </a:solidFill>
                <a:latin typeface="맑은 고딕"/>
                <a:ea typeface="맑은 고딕"/>
              </a:rPr>
              <a:t>만으로는 주문 당시의 가격을 재현할 수 없다.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항목이 상품 번호와 수량만 갖고 </a:t>
            </a:r>
            <a:r>
              <a:rPr sz="1800" b="1">
                <a:solidFill>
                  <a:srgbClr val="000000"/>
                </a:solidFill>
                <a:latin typeface="맑은 고딕"/>
                <a:ea typeface="맑은 고딕"/>
              </a:rPr>
              <a:t>현재 판매가를 조회해 계산</a:t>
            </a:r>
            <a:r>
              <a:rPr sz="1800" b="0">
                <a:solidFill>
                  <a:srgbClr val="000000"/>
                </a:solidFill>
                <a:latin typeface="맑은 고딕"/>
                <a:ea typeface="맑은 고딕"/>
              </a:rPr>
              <a:t>하면, 같은 주문의 총액이 상품 변경에 따라 달라진다.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항목에 </a:t>
            </a:r>
            <a:r>
              <a:rPr sz="1800" b="1">
                <a:solidFill>
                  <a:srgbClr val="000000"/>
                </a:solidFill>
                <a:latin typeface="맑은 고딕"/>
                <a:ea typeface="맑은 고딕"/>
              </a:rPr>
              <a:t>확정 단가</a:t>
            </a:r>
            <a:r>
              <a:rPr sz="1800" b="0">
                <a:solidFill>
                  <a:srgbClr val="000000"/>
                </a:solidFill>
                <a:latin typeface="맑은 고딕"/>
                <a:ea typeface="맑은 고딕"/>
              </a:rPr>
              <a:t>를 남기면 상품의 현재 값이 바뀌어도 거래의 계산 근거가 남는다.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단가는 상품 정보의 불필요한 복사라기보다 </a:t>
            </a:r>
            <a:r>
              <a:rPr sz="1800" b="1">
                <a:solidFill>
                  <a:srgbClr val="000000"/>
                </a:solidFill>
                <a:latin typeface="맑은 고딕"/>
                <a:ea typeface="맑은 고딕"/>
              </a:rPr>
              <a:t>다른 시점·다른 의미의 값</a:t>
            </a:r>
            <a:r>
              <a:rPr sz="1800" b="0">
                <a:solidFill>
                  <a:srgbClr val="000000"/>
                </a:solidFill>
                <a:latin typeface="맑은 고딕"/>
                <a:ea typeface="맑은 고딕"/>
              </a:rPr>
              <a:t>이다. 이름을 나눈 이유가 저장할 이유와 이어진다.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같은 숫자를 여기저기 옮기는 것과 </a:t>
            </a:r>
            <a:r>
              <a:rPr sz="1800" b="1">
                <a:solidFill>
                  <a:srgbClr val="000000"/>
                </a:solidFill>
                <a:latin typeface="맑은 고딕"/>
                <a:ea typeface="맑은 고딕"/>
              </a:rPr>
              <a:t>필요한 업무 사실을 보존</a:t>
            </a:r>
            <a:r>
              <a:rPr sz="1800" b="0">
                <a:solidFill>
                  <a:srgbClr val="000000"/>
                </a:solidFill>
                <a:latin typeface="맑은 고딕"/>
                <a:ea typeface="맑은 고딕"/>
              </a:rPr>
              <a:t>하는 것을 구분한다. 원천이 다른 지식을 DRY라는 이유로 합치지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판매가를 읽고 주문을 생성하는 동안 가격이 바뀌는 경우의 </a:t>
            </a:r>
            <a:r>
              <a:rPr sz="1800" b="1">
                <a:solidFill>
                  <a:srgbClr val="000000"/>
                </a:solidFill>
                <a:latin typeface="맑은 고딕"/>
                <a:ea typeface="맑은 고딕"/>
              </a:rPr>
              <a:t>일관성 보장 방법</a:t>
            </a:r>
            <a:r>
              <a:rPr sz="1800" b="0">
                <a:solidFill>
                  <a:srgbClr val="000000"/>
                </a:solidFill>
                <a:latin typeface="맑은 고딕"/>
                <a:ea typeface="맑은 고딕"/>
              </a:rPr>
              <a:t>은 연동·설계에서 확인할 사항이다.</a:t>
            </a:r>
          </a:p>
        </p:txBody>
      </p:sp>
    </p:spTree>
    <p:extLst>
      <p:ext uri="{BB962C8B-B14F-4D97-AF65-F5344CB8AC3E}">
        <p14:creationId xmlns:p14="http://schemas.microsoft.com/office/powerpoint/2010/main" val="355543667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도메인 모델을 만드는 순서</a:t>
            </a:r>
          </a:p>
          <a:p>
            <a:r>
              <a:rPr sz="1100" b="1">
                <a:solidFill>
                  <a:srgbClr val="000000"/>
                </a:solidFill>
                <a:latin typeface="맑은 고딕"/>
                <a:ea typeface="맑은 고딕"/>
              </a:rPr>
              <a:t>06. 도메인 모델 만들기</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현재 반복의 요구로 범위를 한정해 </a:t>
            </a:r>
            <a:r>
              <a:rPr sz="1800" b="1">
                <a:solidFill>
                  <a:srgbClr val="000000"/>
                </a:solidFill>
                <a:latin typeface="맑은 고딕"/>
                <a:ea typeface="맑은 고딕"/>
              </a:rPr>
              <a:t>개념 클래스를 찾고</a:t>
            </a:r>
            <a:r>
              <a:rPr sz="1800" b="0">
                <a:solidFill>
                  <a:srgbClr val="000000"/>
                </a:solidFill>
                <a:latin typeface="맑은 고딕"/>
                <a:ea typeface="맑은 고딕"/>
              </a:rPr>
              <a:t>, 클래스로 그린 뒤 연관과 속성을 더한다</a:t>
            </a:r>
            <a:r>
              <a:rPr sz="1000" b="0">
                <a:solidFill>
                  <a:srgbClr val="000000"/>
                </a:solidFill>
                <a:latin typeface="맑은 고딕"/>
                <a:ea typeface="맑은 고딕"/>
              </a:rPr>
              <a:t>, </a:t>
            </a:r>
            <a:r>
              <a:rPr sz="1000" b="0">
                <a:solidFill>
                  <a:srgbClr val="000000"/>
                </a:solidFill>
                <a:latin typeface="맑은 고딕"/>
                <a:ea typeface="맑은 고딕"/>
              </a:rPr>
              <a:t>"Bounded by the current iteration requirements under design: 1. Find the conceptual classes … 2. Draw them as classes in a UML class diagram. 3. Add associations and attributes."</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입력은 "세션 03. 요구와 수용 기준"의 </a:t>
            </a:r>
            <a:r>
              <a:rPr sz="1800" b="1">
                <a:solidFill>
                  <a:srgbClr val="000000"/>
                </a:solidFill>
                <a:latin typeface="맑은 고딕"/>
                <a:ea typeface="맑은 고딕"/>
              </a:rPr>
              <a:t>배송지 지정·주문 생성·결제·결과 확인</a:t>
            </a:r>
            <a:r>
              <a:rPr sz="1800" b="0">
                <a:solidFill>
                  <a:srgbClr val="000000"/>
                </a:solidFill>
                <a:latin typeface="맑은 고딕"/>
                <a:ea typeface="맑은 고딕"/>
              </a:rPr>
              <a:t> 요구다. 먼저 업무 문장을 읽고 구별해야 할 대상을 찾는다.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개념을 찾은 뒤 </a:t>
            </a:r>
            <a:r>
              <a:rPr sz="1800" b="1">
                <a:solidFill>
                  <a:srgbClr val="000000"/>
                </a:solidFill>
                <a:latin typeface="맑은 고딕"/>
                <a:ea typeface="맑은 고딕"/>
              </a:rPr>
              <a:t>업무 관계와 속성</a:t>
            </a:r>
            <a:r>
              <a:rPr sz="1800" b="0">
                <a:solidFill>
                  <a:srgbClr val="000000"/>
                </a:solidFill>
                <a:latin typeface="맑은 고딕"/>
                <a:ea typeface="맑은 고딕"/>
              </a:rPr>
              <a:t>을 더한다. 주문 항목을 찾는 것과 그 단가를 확정하는 것은 서로 다른 판단이다.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구체적인 예로 되돌아가며</a:t>
            </a:r>
            <a:r>
              <a:rPr sz="1800" b="0">
                <a:solidFill>
                  <a:srgbClr val="000000"/>
                </a:solidFill>
                <a:latin typeface="맑은 고딕"/>
                <a:ea typeface="맑은 고딕"/>
              </a:rPr>
              <a:t> 모델을 고친다. 가격 변경을 대입해 뜻이 달라지는 값을 발견하면 용어와 속성을 함께 보완한다.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초안은 </a:t>
            </a:r>
            <a:r>
              <a:rPr sz="1800" b="1">
                <a:solidFill>
                  <a:srgbClr val="000000"/>
                </a:solidFill>
                <a:latin typeface="맑은 고딕"/>
                <a:ea typeface="맑은 고딕"/>
              </a:rPr>
              <a:t>업무 의미를 논의할 가설</a:t>
            </a:r>
            <a:r>
              <a:rPr sz="1800" b="0">
                <a:solidFill>
                  <a:srgbClr val="000000"/>
                </a:solidFill>
                <a:latin typeface="맑은 고딕"/>
                <a:ea typeface="맑은 고딕"/>
              </a:rPr>
              <a:t>이다. 이름이나 박스를 그렸다는 이유로 미정 정책까지 확정하지 않는다.</a:t>
            </a:r>
          </a:p>
        </p:txBody>
      </p:sp>
    </p:spTree>
    <p:extLst>
      <p:ext uri="{BB962C8B-B14F-4D97-AF65-F5344CB8AC3E}">
        <p14:creationId xmlns:p14="http://schemas.microsoft.com/office/powerpoint/2010/main" val="35554366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요구사항에서 개념 찾기</a:t>
            </a:r>
          </a:p>
          <a:p>
            <a:r>
              <a:rPr sz="1100" b="1">
                <a:solidFill>
                  <a:srgbClr val="000000"/>
                </a:solidFill>
                <a:latin typeface="맑은 고딕"/>
                <a:ea typeface="맑은 고딕"/>
              </a:rPr>
              <a:t>06. 도메인 모델 만들기</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05166" y="2112010"/>
          <a:ext cx="5720080" cy="2016000"/>
        </p:xfrm>
        <a:graphic>
          <a:graphicData uri="http://schemas.openxmlformats.org/drawingml/2006/table">
            <a:tbl>
              <a:tblPr/>
              <a:tblGrid>
                <a:gridCol w="2092960"/>
                <a:gridCol w="1953260"/>
                <a:gridCol w="16738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요구의 단서</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판단</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모델에 반영할 것</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 지정 뒤 주문 생성</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승인 전에도 주문 존재</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상품별 가격과 수량</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주문마다 다른 거래 조건</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 시스템의 현재 판매가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거래 대상과 현재 가격</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금액·수량·배송지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대상의 값을 설명</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속성과 값의 종류</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본인의 주문만 조회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주체와의 연결 필요</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식별 의미 추가 확인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승인 결과·배송 요청</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사건과 외부 반응</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동적 모델에서 검토</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개념 후보</a:t>
            </a:r>
            <a:r>
              <a:rPr sz="1800" b="0">
                <a:solidFill>
                  <a:srgbClr val="000000"/>
                </a:solidFill>
                <a:latin typeface="맑은 고딕"/>
                <a:ea typeface="맑은 고딕"/>
              </a:rPr>
              <a:t>는 요구사항이 말하는 업무를 설명하는 데 필요한 대상인지 판단해 선택한다.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요구사항에서 찾은 개념 후보</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356610"/>
            <a:ext cx="8412480" cy="132588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명사나 액터를 모두 클래스</a:t>
            </a:r>
            <a:r>
              <a:rPr sz="1800" b="0">
                <a:solidFill>
                  <a:srgbClr val="000000"/>
                </a:solidFill>
                <a:latin typeface="맑은 고딕"/>
                <a:ea typeface="맑은 고딕"/>
              </a:rPr>
              <a:t>로 만들지 않는다. 고객·결제·배송은 필요한 정보·관계를 확인한 뒤 구체화한다.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외부 시스템</a:t>
            </a:r>
            <a:r>
              <a:rPr sz="1800" b="0">
                <a:solidFill>
                  <a:srgbClr val="000000"/>
                </a:solidFill>
                <a:latin typeface="맑은 고딕"/>
                <a:ea typeface="맑은 고딕"/>
              </a:rPr>
              <a:t>의 연동 방식과 </a:t>
            </a:r>
            <a:r>
              <a:rPr sz="1800" b="1">
                <a:solidFill>
                  <a:srgbClr val="000000"/>
                </a:solidFill>
                <a:latin typeface="맑은 고딕"/>
                <a:ea typeface="맑은 고딕"/>
              </a:rPr>
              <a:t>업무 개념</a:t>
            </a:r>
            <a:r>
              <a:rPr sz="1800" b="0">
                <a:solidFill>
                  <a:srgbClr val="000000"/>
                </a:solidFill>
                <a:latin typeface="맑은 고딕"/>
                <a:ea typeface="맑은 고딕"/>
              </a:rPr>
              <a:t>의 의미는 별개다. 상품 시스템 내부를 설계하지 않아도 상품을 분석할 수 있다.</a:t>
            </a:r>
          </a:p>
        </p:txBody>
      </p:sp>
    </p:spTree>
    <p:extLst>
      <p:ext uri="{BB962C8B-B14F-4D97-AF65-F5344CB8AC3E}">
        <p14:creationId xmlns:p14="http://schemas.microsoft.com/office/powerpoint/2010/main" val="27895694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 도메인 모델의 초안</a:t>
            </a:r>
          </a:p>
          <a:p>
            <a:r>
              <a:rPr sz="1100" b="1">
                <a:solidFill>
                  <a:srgbClr val="000000"/>
                </a:solidFill>
                <a:latin typeface="맑은 고딕"/>
                <a:ea typeface="맑은 고딕"/>
              </a:rPr>
              <a:t>06. 도메인 모델 만들기</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1">
                <a:solidFill>
                  <a:srgbClr val="000000"/>
                </a:solidFill>
                <a:latin typeface="맑은 고딕"/>
                <a:ea typeface="맑은 고딕"/>
              </a:rPr>
              <a:t>주문 항목</a:t>
            </a:r>
            <a:r>
              <a:rPr sz="1800" b="0">
                <a:solidFill>
                  <a:srgbClr val="000000"/>
                </a:solidFill>
                <a:latin typeface="맑은 고딕"/>
                <a:ea typeface="맑은 고딕"/>
              </a:rPr>
              <a:t>은 어떤 상품을 얼마에 몇 개 주문했는지 나타낸다.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주문 하나</a:t>
            </a:r>
            <a:r>
              <a:rPr sz="1800" b="0">
                <a:solidFill>
                  <a:srgbClr val="000000"/>
                </a:solidFill>
                <a:latin typeface="맑은 고딕"/>
                <a:ea typeface="맑은 고딕"/>
              </a:rPr>
              <a:t>에는 하나 이상의 항목이 있고, 항목 하나는 그 주문에 속한다.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각 항목은 </a:t>
            </a:r>
            <a:r>
              <a:rPr sz="1800" b="1">
                <a:solidFill>
                  <a:srgbClr val="000000"/>
                </a:solidFill>
                <a:latin typeface="맑은 고딕"/>
                <a:ea typeface="맑은 고딕"/>
              </a:rPr>
              <a:t>상품 하나</a:t>
            </a:r>
            <a:r>
              <a:rPr sz="1800" b="0">
                <a:solidFill>
                  <a:srgbClr val="000000"/>
                </a:solidFill>
                <a:latin typeface="맑은 고딕"/>
                <a:ea typeface="맑은 고딕"/>
              </a:rPr>
              <a:t>를 가리킨다. 상품은 주문되지 않았을 수도 있고 여러 주문의 항목에서 가리킬 수도 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수량과 단가</a:t>
            </a:r>
            <a:r>
              <a:rPr sz="1800" b="0">
                <a:solidFill>
                  <a:srgbClr val="000000"/>
                </a:solidFill>
                <a:latin typeface="맑은 고딕"/>
                <a:ea typeface="맑은 고딕"/>
              </a:rPr>
              <a:t>는 상품 전체의 성질이 아니라 그 주문 항목의 조건이다. 같은 상품이어도 주문 시점에 따라 단가가 다를 수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상품은 </a:t>
            </a:r>
            <a:r>
              <a:rPr sz="1800" b="1">
                <a:solidFill>
                  <a:srgbClr val="000000"/>
                </a:solidFill>
                <a:latin typeface="맑은 고딕"/>
                <a:ea typeface="맑은 고딕"/>
              </a:rPr>
              <a:t>외부 상품 시스템</a:t>
            </a:r>
            <a:r>
              <a:rPr sz="1800" b="0">
                <a:solidFill>
                  <a:srgbClr val="000000"/>
                </a:solidFill>
                <a:latin typeface="맑은 고딕"/>
                <a:ea typeface="맑은 고딕"/>
              </a:rPr>
              <a:t>이 관리한다. 분석 모델에 상품이 있다고 상품 관리 기능을 주문 시스템 안에 구현하지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박스는 </a:t>
            </a:r>
            <a:r>
              <a:rPr sz="1800" b="1">
                <a:solidFill>
                  <a:srgbClr val="000000"/>
                </a:solidFill>
                <a:latin typeface="맑은 고딕"/>
                <a:ea typeface="맑은 고딕"/>
              </a:rPr>
              <a:t>개념</a:t>
            </a:r>
            <a:r>
              <a:rPr sz="1800" b="0">
                <a:solidFill>
                  <a:srgbClr val="000000"/>
                </a:solidFill>
                <a:latin typeface="맑은 고딕"/>
                <a:ea typeface="맑은 고딕"/>
              </a:rPr>
              <a:t>, 선은 </a:t>
            </a:r>
            <a:r>
              <a:rPr sz="1800" b="1">
                <a:solidFill>
                  <a:srgbClr val="000000"/>
                </a:solidFill>
                <a:latin typeface="맑은 고딕"/>
                <a:ea typeface="맑은 고딕"/>
              </a:rPr>
              <a:t>관계</a:t>
            </a:r>
            <a:r>
              <a:rPr sz="1800" b="0">
                <a:solidFill>
                  <a:srgbClr val="000000"/>
                </a:solidFill>
                <a:latin typeface="맑은 고딕"/>
                <a:ea typeface="맑은 고딕"/>
              </a:rPr>
              <a:t>, 선 끝의 수는 상대편 하나에 연결되는 </a:t>
            </a:r>
            <a:r>
              <a:rPr sz="1800" b="1">
                <a:solidFill>
                  <a:srgbClr val="000000"/>
                </a:solidFill>
                <a:latin typeface="맑은 고딕"/>
                <a:ea typeface="맑은 고딕"/>
              </a:rPr>
              <a:t>개수</a:t>
            </a:r>
            <a:r>
              <a:rPr sz="1800" b="0">
                <a:solidFill>
                  <a:srgbClr val="000000"/>
                </a:solidFill>
                <a:latin typeface="맑은 고딕"/>
                <a:ea typeface="맑은 고딕"/>
              </a:rPr>
              <a:t>다. 아직 속성과 계산 조건을 더하기 전의 초안이다.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736592"/>
            <a:ext cx="8412480" cy="201168"/>
          </a:xfrm>
          <a:prstGeom prst="rect">
            <a:avLst/>
          </a:prstGeom>
          <a:noFill/>
        </p:spPr>
        <p:txBody>
          <a:bodyPr wrap="square">
            <a:spAutoFit/>
          </a:bodyPr>
          <a:lstStyle/>
          <a:p>
            <a:pPr algn="ctr"/>
            <a:r>
              <a:rPr sz="1400" b="1">
                <a:solidFill>
                  <a:srgbClr val="000000"/>
                </a:solidFill>
                <a:latin typeface="맑은 고딕"/>
                <a:ea typeface="맑은 고딕"/>
              </a:rPr>
              <a:t>주문 도메인 모델 초안</a:t>
            </a:r>
          </a:p>
        </p:txBody>
      </p:sp>
      <p:pic>
        <p:nvPicPr>
          <p:cNvPr id="10" name="plantuml Diagram 1"/>
          <p:cNvPicPr>
            <a:picLocks noChangeAspect="1"/>
          </p:cNvPicPr>
          <p:nvPr/>
        </p:nvPicPr>
        <p:blipFill>
          <a:blip r:embed="plantumlImage1"/>
          <a:stretch>
            <a:fillRect/>
          </a:stretch>
        </p:blipFill>
        <p:spPr>
          <a:xfrm>
            <a:off x="2862385" y="4974336"/>
            <a:ext cx="3419231" cy="578827"/>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관계를 문장으로 확인하기</a:t>
            </a:r>
          </a:p>
          <a:p>
            <a:r>
              <a:rPr sz="1100" b="1">
                <a:solidFill>
                  <a:srgbClr val="000000"/>
                </a:solidFill>
                <a:latin typeface="맑은 고딕"/>
                <a:ea typeface="맑은 고딕"/>
              </a:rPr>
              <a:t>06. 도메인 모델 만들기</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61046" y="2112010"/>
          <a:ext cx="5608320" cy="864000"/>
        </p:xfrm>
        <a:graphic>
          <a:graphicData uri="http://schemas.openxmlformats.org/drawingml/2006/table">
            <a:tbl>
              <a:tblPr/>
              <a:tblGrid>
                <a:gridCol w="1087120"/>
                <a:gridCol w="2260600"/>
                <a:gridCol w="22606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관계</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한쪽에서 읽기</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반대쪽에서 읽기</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주문과 항목</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주문은 항목 1개 이상을 포함</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항목은 주문 1개에 속함</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항목과 상품</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항목은 상품 1개를 가리킴</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상품은 항목 0개 이상에 연결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관계의 양쪽 개수</a:t>
            </a:r>
            <a:r>
              <a:rPr sz="1800" b="0">
                <a:solidFill>
                  <a:srgbClr val="000000"/>
                </a:solidFill>
                <a:latin typeface="맑은 고딕"/>
                <a:ea typeface="맑은 고딕"/>
              </a:rPr>
              <a:t>를 업무 문장으로 읽으면 잘못 연결한 대상을 찾을 수 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도식과 같은 관계를 읽는 목록</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204610"/>
            <a:ext cx="8412480" cy="257556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주문과 상품 사이</a:t>
            </a:r>
            <a:r>
              <a:rPr sz="1800" b="0">
                <a:solidFill>
                  <a:srgbClr val="000000"/>
                </a:solidFill>
                <a:latin typeface="맑은 고딕"/>
                <a:ea typeface="맑은 고딕"/>
              </a:rPr>
              <a:t>에 수량을 두면 한 주문이 여러 상품을 담았을 때 어느 상품의 수량인지 모호해진다. 주문 항목이 그 관계의 조건을 담는다.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상품이 아직 주문되지 않아도 </a:t>
            </a:r>
            <a:r>
              <a:rPr sz="1800" b="1">
                <a:solidFill>
                  <a:srgbClr val="000000"/>
                </a:solidFill>
                <a:latin typeface="맑은 고딕"/>
                <a:ea typeface="맑은 고딕"/>
              </a:rPr>
              <a:t>상품은 존재</a:t>
            </a:r>
            <a:r>
              <a:rPr sz="1800" b="0">
                <a:solidFill>
                  <a:srgbClr val="000000"/>
                </a:solidFill>
                <a:latin typeface="맑은 고딕"/>
                <a:ea typeface="맑은 고딕"/>
              </a:rPr>
              <a:t>할 수 있다. 따라서 상품 하나에 주문 항목이 반드시 하나 있다고 쓰면 의미가 달라진다.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선이 그려졌다는 이유로 코드에서 </a:t>
            </a:r>
            <a:r>
              <a:rPr sz="1800" b="1">
                <a:solidFill>
                  <a:srgbClr val="000000"/>
                </a:solidFill>
                <a:latin typeface="맑은 고딕"/>
                <a:ea typeface="맑은 고딕"/>
              </a:rPr>
              <a:t>양쪽 참조 필드</a:t>
            </a:r>
            <a:r>
              <a:rPr sz="1800" b="0">
                <a:solidFill>
                  <a:srgbClr val="000000"/>
                </a:solidFill>
                <a:latin typeface="맑은 고딕"/>
                <a:ea typeface="맑은 고딕"/>
              </a:rPr>
              <a:t>를 모두 만들지 않는다. 업무의 관계와 참조를 따라가는 방법은 구별한다.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같은 상품을 항목 하나로 합칠지는 </a:t>
            </a:r>
            <a:r>
              <a:rPr sz="1800" b="1">
                <a:solidFill>
                  <a:srgbClr val="000000"/>
                </a:solidFill>
                <a:latin typeface="맑은 고딕"/>
                <a:ea typeface="맑은 고딕"/>
              </a:rPr>
              <a:t>별도 정책</a:t>
            </a:r>
            <a:r>
              <a:rPr sz="1800" b="0">
                <a:solidFill>
                  <a:srgbClr val="000000"/>
                </a:solidFill>
                <a:latin typeface="맑은 고딕"/>
                <a:ea typeface="맑은 고딕"/>
              </a:rPr>
              <a:t>이다. 현재 관계의 개수만 보고 병합 규칙을 만들어 내지 않는다.</a:t>
            </a:r>
          </a:p>
        </p:txBody>
      </p:sp>
    </p:spTree>
    <p:extLst>
      <p:ext uri="{BB962C8B-B14F-4D97-AF65-F5344CB8AC3E}">
        <p14:creationId xmlns:p14="http://schemas.microsoft.com/office/powerpoint/2010/main" val="27895694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값의 뜻과 허용 범위</a:t>
            </a:r>
          </a:p>
          <a:p>
            <a:r>
              <a:rPr sz="1100" b="1">
                <a:solidFill>
                  <a:srgbClr val="000000"/>
                </a:solidFill>
                <a:latin typeface="맑은 고딕"/>
                <a:ea typeface="맑은 고딕"/>
              </a:rPr>
              <a:t>07. 속성과 불변 조건</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599246" y="1837690"/>
          <a:ext cx="3931920" cy="2016000"/>
        </p:xfrm>
        <a:graphic>
          <a:graphicData uri="http://schemas.openxmlformats.org/drawingml/2006/table">
            <a:tbl>
              <a:tblPr/>
              <a:tblGrid>
                <a:gridCol w="947420"/>
                <a:gridCol w="947420"/>
                <a:gridCol w="20370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개념</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속성</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값의 종류·뜻</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번호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OrderNumber, 주문 식별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Address, 확정한 목적지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OrderStatus, 현재 상황</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항목</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단가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Money, 확정한 항목 가격</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항목</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수량</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Quantity, 주문한 개수</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판매가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Money, 현재 상품 가격</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속성</a:t>
            </a:r>
            <a:r>
              <a:rPr sz="1800" b="0">
                <a:solidFill>
                  <a:srgbClr val="000000"/>
                </a:solidFill>
                <a:latin typeface="맑은 고딕"/>
                <a:ea typeface="맑은 고딕"/>
              </a:rPr>
              <a:t>은 값의 이름뿐 아니라 어느 개념의 어떤 값인지를 정한다.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53924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속성과 값의 종류</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082290"/>
            <a:ext cx="8412480" cy="195072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강의 예제의 </a:t>
            </a:r>
            <a:r>
              <a:rPr sz="1800" b="1">
                <a:solidFill>
                  <a:srgbClr val="000000"/>
                </a:solidFill>
                <a:latin typeface="맑은 고딕"/>
                <a:ea typeface="맑은 고딕"/>
              </a:rPr>
              <a:t>교육용 가정</a:t>
            </a:r>
            <a:r>
              <a:rPr sz="1800" b="0">
                <a:solidFill>
                  <a:srgbClr val="000000"/>
                </a:solidFill>
                <a:latin typeface="맑은 고딕"/>
                <a:ea typeface="맑은 고딕"/>
              </a:rPr>
              <a:t>은 금액 0원 이상·원 단위 정수, 수량 1 이상의 정수, 주문 항목 1개 이상이다.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Money</a:t>
            </a:r>
            <a:r>
              <a:rPr sz="1800" b="0">
                <a:solidFill>
                  <a:srgbClr val="000000"/>
                </a:solidFill>
                <a:latin typeface="맑은 고딕"/>
                <a:ea typeface="맑은 고딕"/>
              </a:rPr>
              <a:t>와 </a:t>
            </a:r>
            <a:r>
              <a:rPr sz="1800" b="0">
                <a:solidFill>
                  <a:srgbClr val="000000"/>
                </a:solidFill>
                <a:latin typeface="맑은 고딕"/>
                <a:ea typeface="맑은 고딕"/>
              </a:rPr>
              <a:t>Quantity</a:t>
            </a:r>
            <a:r>
              <a:rPr sz="1800" b="0">
                <a:solidFill>
                  <a:srgbClr val="000000"/>
                </a:solidFill>
                <a:latin typeface="맑은 고딕"/>
                <a:ea typeface="맑은 고딕"/>
              </a:rPr>
              <a:t>는 숫자로 표현해도 </a:t>
            </a:r>
            <a:r>
              <a:rPr sz="1800" b="1">
                <a:solidFill>
                  <a:srgbClr val="000000"/>
                </a:solidFill>
                <a:latin typeface="맑은 고딕"/>
                <a:ea typeface="맑은 고딕"/>
              </a:rPr>
              <a:t>뜻과 허용 범위가 다르다</a:t>
            </a:r>
            <a:r>
              <a:rPr sz="1800" b="0">
                <a:solidFill>
                  <a:srgbClr val="000000"/>
                </a:solidFill>
                <a:latin typeface="맑은 고딕"/>
                <a:ea typeface="맑은 고딕"/>
              </a:rPr>
              <a:t>. 타입을 나누면 바꿔 넣는 실수를 줄이고 각 값의 검사를 모을 수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번호의 발급 방식, 주소의 세부 형식, 수량 상한은 이 가정으로 정해지지 않는다. 필요한 때 </a:t>
            </a:r>
            <a:r>
              <a:rPr sz="1800" b="1">
                <a:solidFill>
                  <a:srgbClr val="000000"/>
                </a:solidFill>
                <a:latin typeface="맑은 고딕"/>
                <a:ea typeface="맑은 고딕"/>
              </a:rPr>
              <a:t>업무 질문</a:t>
            </a:r>
            <a:r>
              <a:rPr sz="1800" b="0">
                <a:solidFill>
                  <a:srgbClr val="000000"/>
                </a:solidFill>
                <a:latin typeface="맑은 고딕"/>
                <a:ea typeface="맑은 고딕"/>
              </a:rPr>
              <a:t>으로 확인한다.</a:t>
            </a:r>
          </a:p>
        </p:txBody>
      </p:sp>
    </p:spTree>
    <p:extLst>
      <p:ext uri="{BB962C8B-B14F-4D97-AF65-F5344CB8AC3E}">
        <p14:creationId xmlns:p14="http://schemas.microsoft.com/office/powerpoint/2010/main" val="27895694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불변 조건과 시점의 조건</a:t>
            </a:r>
          </a:p>
          <a:p>
            <a:r>
              <a:rPr sz="1100" b="1">
                <a:solidFill>
                  <a:srgbClr val="000000"/>
                </a:solidFill>
                <a:latin typeface="맑은 고딕"/>
                <a:ea typeface="맑은 고딕"/>
              </a:rPr>
              <a:t>07. 속성과 불변 조건</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불변 조건</a:t>
            </a:r>
            <a:r>
              <a:rPr sz="1800" b="0">
                <a:solidFill>
                  <a:srgbClr val="000000"/>
                </a:solidFill>
                <a:latin typeface="맑은 고딕"/>
                <a:ea typeface="맑은 고딕"/>
              </a:rPr>
              <a:t>은 유효한 모델이 지켜야 할 조건이며, 어느 시점과 범위에 적용되는지 함께 적는다.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항상 성립할 계산 관계</a:t>
            </a:r>
            <a:r>
              <a:rPr sz="1800" b="0">
                <a:solidFill>
                  <a:srgbClr val="000000"/>
                </a:solidFill>
                <a:latin typeface="맑은 고딕"/>
                <a:ea typeface="맑은 고딕"/>
              </a:rPr>
              <a:t>는 </a:t>
            </a:r>
            <a:r>
              <a:rPr sz="1800" b="0">
                <a:solidFill>
                  <a:srgbClr val="000000"/>
                </a:solidFill>
                <a:latin typeface="맑은 고딕"/>
                <a:ea typeface="맑은 고딕"/>
              </a:rPr>
              <a:t>주문 총액 = Σ(항목 단가 × 수량)</a:t>
            </a:r>
            <a:r>
              <a:rPr sz="1800" b="0">
                <a:solidFill>
                  <a:srgbClr val="000000"/>
                </a:solidFill>
                <a:latin typeface="맑은 고딕"/>
                <a:ea typeface="맑은 고딕"/>
              </a:rPr>
              <a:t>이다. 현재 판매가로 바꾸어 계산하면 이 관계의 뜻을 어긴다.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생성 시점의 조건</a:t>
            </a:r>
            <a:r>
              <a:rPr sz="1800" b="0">
                <a:solidFill>
                  <a:srgbClr val="000000"/>
                </a:solidFill>
                <a:latin typeface="맑은 고딕"/>
                <a:ea typeface="맑은 고딕"/>
              </a:rPr>
              <a:t>은 </a:t>
            </a:r>
            <a:r>
              <a:rPr sz="1800" b="0">
                <a:solidFill>
                  <a:srgbClr val="000000"/>
                </a:solidFill>
                <a:latin typeface="맑은 고딕"/>
                <a:ea typeface="맑은 고딕"/>
              </a:rPr>
              <a:t>단가 = 주문 생성 시점의 판매가</a:t>
            </a:r>
            <a:r>
              <a:rPr sz="1800" b="0">
                <a:solidFill>
                  <a:srgbClr val="000000"/>
                </a:solidFill>
                <a:latin typeface="맑은 고딕"/>
                <a:ea typeface="맑은 고딕"/>
              </a:rPr>
              <a:t>다. 생성한 뒤에도 현재 판매가와 같아야 한다는 조건이 아니다.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생성 전후를 비교할 조건</a:t>
            </a:r>
            <a:r>
              <a:rPr sz="1800" b="0">
                <a:solidFill>
                  <a:srgbClr val="000000"/>
                </a:solidFill>
                <a:latin typeface="맑은 고딕"/>
                <a:ea typeface="맑은 고딕"/>
              </a:rPr>
              <a:t>은 판매가가 바뀌어도 기존 항목의 단가와 총액이 유지된다는 것이다. 변경 전후의 값을 함께 검사한다.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값의 조건</a:t>
            </a:r>
            <a:r>
              <a:rPr sz="1800" b="0">
                <a:solidFill>
                  <a:srgbClr val="000000"/>
                </a:solidFill>
                <a:latin typeface="맑은 고딕"/>
                <a:ea typeface="맑은 고딕"/>
              </a:rPr>
              <a:t>은 수량 1 이상, 금액 0 이상이다. 값 하나를 만들 때 확인할 수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승인 뒤 배송 요청이라는 </a:t>
            </a:r>
            <a:r>
              <a:rPr sz="1800" b="1">
                <a:solidFill>
                  <a:srgbClr val="000000"/>
                </a:solidFill>
                <a:latin typeface="맑은 고딕"/>
                <a:ea typeface="맑은 고딕"/>
              </a:rPr>
              <a:t>행동의 순서</a:t>
            </a:r>
            <a:r>
              <a:rPr sz="1800" b="0">
                <a:solidFill>
                  <a:srgbClr val="000000"/>
                </a:solidFill>
                <a:latin typeface="맑은 고딕"/>
                <a:ea typeface="맑은 고딕"/>
              </a:rPr>
              <a:t>는 총액 계산과 다른 규칙이다. 사건·전이·호출 순서의 검사로 이어진다.</a:t>
            </a:r>
          </a:p>
        </p:txBody>
      </p:sp>
    </p:spTree>
    <p:extLst>
      <p:ext uri="{BB962C8B-B14F-4D97-AF65-F5344CB8AC3E}">
        <p14:creationId xmlns:p14="http://schemas.microsoft.com/office/powerpoint/2010/main" val="355543667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조건을 어긴 예 찾기</a:t>
            </a:r>
          </a:p>
          <a:p>
            <a:r>
              <a:rPr sz="1100" b="1">
                <a:solidFill>
                  <a:srgbClr val="000000"/>
                </a:solidFill>
                <a:latin typeface="맑은 고딕"/>
                <a:ea typeface="맑은 고딕"/>
              </a:rPr>
              <a:t>07. 속성과 불변 조건</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222056" y="1837690"/>
          <a:ext cx="4686300" cy="1440000"/>
        </p:xfrm>
        <a:graphic>
          <a:graphicData uri="http://schemas.openxmlformats.org/drawingml/2006/table">
            <a:tbl>
              <a:tblPr/>
              <a:tblGrid>
                <a:gridCol w="1534160"/>
                <a:gridCol w="947420"/>
                <a:gridCol w="22047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관찰</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정상 값</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반례와 원인</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생성 당시 단가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1,000원</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1,200원: 잘못된 확정 값</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수량 2개의 총액</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2,000원</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1,000원: 수량 누락</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가격 변경 뒤 총액</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2,000원</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2,400원: 현재 판매가 사용</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항목 없는 주문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생성 거절</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총액 0원만 반환: 개수 위반</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반례</a:t>
            </a:r>
            <a:r>
              <a:rPr sz="1800" b="0">
                <a:solidFill>
                  <a:srgbClr val="000000"/>
                </a:solidFill>
                <a:latin typeface="맑은 고딕"/>
                <a:ea typeface="맑은 고딕"/>
              </a:rPr>
              <a:t>는 계산식과 시점의 의미를 각각 어기는지 확인한다.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53924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같은 주문의 정상 값과 반례</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506290"/>
            <a:ext cx="8412480" cy="195072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2,000원이라는 숫자만</a:t>
            </a:r>
            <a:r>
              <a:rPr sz="1800" b="0">
                <a:solidFill>
                  <a:srgbClr val="000000"/>
                </a:solidFill>
                <a:latin typeface="맑은 고딕"/>
                <a:ea typeface="맑은 고딕"/>
              </a:rPr>
              <a:t> 맞아도 충분하지 않다. 단가·수량을 확인하고, 판매가를 바꾼 뒤 다시 계산해야 원인을 구별할 수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대표 주문 한 건으로는 </a:t>
            </a:r>
            <a:r>
              <a:rPr sz="1800" b="1">
                <a:solidFill>
                  <a:srgbClr val="000000"/>
                </a:solidFill>
                <a:latin typeface="맑은 고딕"/>
                <a:ea typeface="맑은 고딕"/>
              </a:rPr>
              <a:t>모든 항목의 합</a:t>
            </a:r>
            <a:r>
              <a:rPr sz="1800" b="0">
                <a:solidFill>
                  <a:srgbClr val="000000"/>
                </a:solidFill>
                <a:latin typeface="맑은 고딕"/>
                <a:ea typeface="맑은 고딕"/>
              </a:rPr>
              <a:t>을 확인할 수 없다. 계산 검사에서는 항목 수를 바꿔 일부만 합하는 구현을 드러낸다.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구현이 낸 숫자를 그대로 기대값으로 복사하지 않는다. </a:t>
            </a:r>
            <a:r>
              <a:rPr sz="1800" b="1">
                <a:solidFill>
                  <a:srgbClr val="000000"/>
                </a:solidFill>
                <a:latin typeface="맑은 고딕"/>
                <a:ea typeface="맑은 고딕"/>
              </a:rPr>
              <a:t>업무 규칙에서 기대값을 먼저</a:t>
            </a:r>
            <a:r>
              <a:rPr sz="1800" b="0">
                <a:solidFill>
                  <a:srgbClr val="000000"/>
                </a:solidFill>
                <a:latin typeface="맑은 고딕"/>
                <a:ea typeface="맑은 고딕"/>
              </a:rPr>
              <a:t> 계산한다.</a:t>
            </a:r>
          </a:p>
        </p:txBody>
      </p:sp>
    </p:spTree>
    <p:extLst>
      <p:ext uri="{BB962C8B-B14F-4D97-AF65-F5344CB8AC3E}">
        <p14:creationId xmlns:p14="http://schemas.microsoft.com/office/powerpoint/2010/main" val="278956947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 도메인 모델의 상세화</a:t>
            </a:r>
          </a:p>
          <a:p>
            <a:r>
              <a:rPr sz="1100" b="1">
                <a:solidFill>
                  <a:srgbClr val="000000"/>
                </a:solidFill>
                <a:latin typeface="맑은 고딕"/>
                <a:ea typeface="맑은 고딕"/>
              </a:rPr>
              <a:t>08. 주문 도메인 모델의 검증</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1">
                <a:solidFill>
                  <a:srgbClr val="000000"/>
                </a:solidFill>
                <a:latin typeface="맑은 고딕"/>
                <a:ea typeface="맑은 고딕"/>
              </a:rPr>
              <a:t>도메인 모델</a:t>
            </a:r>
            <a:r>
              <a:rPr sz="1800" b="0">
                <a:solidFill>
                  <a:srgbClr val="000000"/>
                </a:solidFill>
                <a:latin typeface="맑은 고딕"/>
                <a:ea typeface="맑은 고딕"/>
              </a:rPr>
              <a:t>은 개념·관계에 속성과 조건을 더해, 요구사항에서 사용하는 업무의 뜻을 명시한다.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단가</a:t>
            </a:r>
            <a:r>
              <a:rPr sz="1800" b="0">
                <a:solidFill>
                  <a:srgbClr val="000000"/>
                </a:solidFill>
                <a:latin typeface="맑은 고딕"/>
                <a:ea typeface="맑은 고딕"/>
              </a:rPr>
              <a:t>는 주문 생성 시점의 판매가이며, </a:t>
            </a:r>
            <a:r>
              <a:rPr sz="1800" b="1">
                <a:solidFill>
                  <a:srgbClr val="000000"/>
                </a:solidFill>
                <a:latin typeface="맑은 고딕"/>
                <a:ea typeface="맑은 고딕"/>
              </a:rPr>
              <a:t>총액</a:t>
            </a:r>
            <a:r>
              <a:rPr sz="1800" b="0">
                <a:solidFill>
                  <a:srgbClr val="000000"/>
                </a:solidFill>
                <a:latin typeface="맑은 고딕"/>
                <a:ea typeface="맑은 고딕"/>
              </a:rPr>
              <a:t>은 모든 항목의 단가×수량의 합이다. </a:t>
            </a:r>
            <a:r>
              <a:rPr sz="1800" b="0">
                <a:solidFill>
                  <a:srgbClr val="000000"/>
                </a:solidFill>
                <a:latin typeface="맑은 고딕"/>
                <a:ea typeface="맑은 고딕"/>
              </a:rPr>
              <a:t>/총액</a:t>
            </a:r>
            <a:r>
              <a:rPr sz="1800" b="0">
                <a:solidFill>
                  <a:srgbClr val="000000"/>
                </a:solidFill>
                <a:latin typeface="맑은 고딕"/>
                <a:ea typeface="맑은 고딕"/>
              </a:rPr>
              <a:t>은 다른 값에서 계산하는 값이다.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관계·속성·조건</a:t>
            </a:r>
            <a:r>
              <a:rPr sz="1800" b="0">
                <a:solidFill>
                  <a:srgbClr val="000000"/>
                </a:solidFill>
                <a:latin typeface="맑은 고딕"/>
                <a:ea typeface="맑은 고딕"/>
              </a:rPr>
              <a:t>을 함께 읽는다. 주문 항목을 빼면 상품별 수량·확정 단가가 갈 곳을 잃고, 단가를 빼면 가격 변경 전의 금액을 설명할 수 없다.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 모델은 </a:t>
            </a:r>
            <a:r>
              <a:rPr sz="1800" b="1">
                <a:solidFill>
                  <a:srgbClr val="000000"/>
                </a:solidFill>
                <a:latin typeface="맑은 고딕"/>
                <a:ea typeface="맑은 고딕"/>
              </a:rPr>
              <a:t>주문 내용과 금액</a:t>
            </a:r>
            <a:r>
              <a:rPr sz="1800" b="0">
                <a:solidFill>
                  <a:srgbClr val="000000"/>
                </a:solidFill>
                <a:latin typeface="맑은 고딕"/>
                <a:ea typeface="맑은 고딕"/>
              </a:rPr>
              <a:t>의 의미를 구체화했다. 본인 확인의 식별 의미와 결제 이력 구조는 확인할 대상으로 남긴다.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035552"/>
            <a:ext cx="8412480" cy="201168"/>
          </a:xfrm>
          <a:prstGeom prst="rect">
            <a:avLst/>
          </a:prstGeom>
          <a:noFill/>
        </p:spPr>
        <p:txBody>
          <a:bodyPr wrap="square">
            <a:spAutoFit/>
          </a:bodyPr>
          <a:lstStyle/>
          <a:p>
            <a:pPr algn="ctr"/>
            <a:r>
              <a:rPr sz="1400" b="1">
                <a:solidFill>
                  <a:srgbClr val="000000"/>
                </a:solidFill>
                <a:latin typeface="맑은 고딕"/>
                <a:ea typeface="맑은 고딕"/>
              </a:rPr>
              <a:t>주문 도메인 모델</a:t>
            </a:r>
          </a:p>
        </p:txBody>
      </p:sp>
      <p:pic>
        <p:nvPicPr>
          <p:cNvPr id="10" name="plantuml Diagram 2"/>
          <p:cNvPicPr>
            <a:picLocks noChangeAspect="1"/>
          </p:cNvPicPr>
          <p:nvPr/>
        </p:nvPicPr>
        <p:blipFill>
          <a:blip r:embed="plantumlImage2"/>
          <a:stretch>
            <a:fillRect/>
          </a:stretch>
        </p:blipFill>
        <p:spPr>
          <a:xfrm>
            <a:off x="2345837" y="4273296"/>
            <a:ext cx="4452327" cy="1177192"/>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구체적인 주문과 대조하기</a:t>
            </a:r>
          </a:p>
          <a:p>
            <a:r>
              <a:rPr sz="1100" b="1">
                <a:solidFill>
                  <a:srgbClr val="000000"/>
                </a:solidFill>
                <a:latin typeface="맑은 고딕"/>
                <a:ea typeface="맑은 고딕"/>
              </a:rPr>
              <a:t>08. 주문 도메인 모델의 검증</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1">
                <a:solidFill>
                  <a:srgbClr val="000000"/>
                </a:solidFill>
                <a:latin typeface="맑은 고딕"/>
                <a:ea typeface="맑은 고딕"/>
              </a:rPr>
              <a:t>구체적인 주문 하나</a:t>
            </a:r>
            <a:r>
              <a:rPr sz="1800" b="0">
                <a:solidFill>
                  <a:srgbClr val="000000"/>
                </a:solidFill>
                <a:latin typeface="맑은 고딕"/>
                <a:ea typeface="맑은 고딕"/>
              </a:rPr>
              <a:t>를 대입하면 관계와 계산의 모순을 찾을 수 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서울</a:t>
            </a:r>
            <a:r>
              <a:rPr sz="1800" b="0">
                <a:solidFill>
                  <a:srgbClr val="000000"/>
                </a:solidFill>
                <a:latin typeface="맑은 고딕"/>
                <a:ea typeface="맑은 고딕"/>
              </a:rPr>
              <a:t>로 받는 주문에는 </a:t>
            </a:r>
            <a:r>
              <a:rPr sz="1800" b="1">
                <a:solidFill>
                  <a:srgbClr val="000000"/>
                </a:solidFill>
                <a:latin typeface="맑은 고딕"/>
                <a:ea typeface="맑은 고딕"/>
              </a:rPr>
              <a:t>펜 2개</a:t>
            </a:r>
            <a:r>
              <a:rPr sz="1800" b="0">
                <a:solidFill>
                  <a:srgbClr val="000000"/>
                </a:solidFill>
                <a:latin typeface="맑은 고딕"/>
                <a:ea typeface="맑은 고딕"/>
              </a:rPr>
              <a:t>인 항목이 하나 있고, 확정 단가는 </a:t>
            </a:r>
            <a:r>
              <a:rPr sz="1800" b="1">
                <a:solidFill>
                  <a:srgbClr val="000000"/>
                </a:solidFill>
                <a:latin typeface="맑은 고딕"/>
                <a:ea typeface="맑은 고딕"/>
              </a:rPr>
              <a:t>1,000원</a:t>
            </a:r>
            <a:r>
              <a:rPr sz="1800" b="0">
                <a:solidFill>
                  <a:srgbClr val="000000"/>
                </a:solidFill>
                <a:latin typeface="맑은 고딕"/>
                <a:ea typeface="맑은 고딕"/>
              </a:rPr>
              <a:t>, 총액은 </a:t>
            </a:r>
            <a:r>
              <a:rPr sz="1800" b="1">
                <a:solidFill>
                  <a:srgbClr val="000000"/>
                </a:solidFill>
                <a:latin typeface="맑은 고딕"/>
                <a:ea typeface="맑은 고딕"/>
              </a:rPr>
              <a:t>2,000원</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아래 연결선은 그 주문과 항목과 상품의 </a:t>
            </a:r>
            <a:r>
              <a:rPr sz="1800" b="1">
                <a:solidFill>
                  <a:srgbClr val="000000"/>
                </a:solidFill>
                <a:latin typeface="맑은 고딕"/>
                <a:ea typeface="맑은 고딕"/>
              </a:rPr>
              <a:t>연결 관계</a:t>
            </a:r>
            <a:r>
              <a:rPr sz="1800" b="0">
                <a:solidFill>
                  <a:srgbClr val="000000"/>
                </a:solidFill>
                <a:latin typeface="맑은 고딕"/>
                <a:ea typeface="맑은 고딕"/>
              </a:rPr>
              <a:t>다. 호출 순서나 저장 순서를 나타내지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판매가 변경 뒤</a:t>
            </a:r>
            <a:r>
              <a:rPr sz="1800" b="0">
                <a:solidFill>
                  <a:srgbClr val="000000"/>
                </a:solidFill>
                <a:latin typeface="맑은 고딕"/>
                <a:ea typeface="맑은 고딕"/>
              </a:rPr>
              <a:t>의 값이다. 단가 1,000원과 현재 판매가 1,200원이 달라도, 그 주문의 규칙은 충족한다.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상품 번호 </a:t>
            </a:r>
            <a:r>
              <a:rPr sz="1800" b="0">
                <a:solidFill>
                  <a:srgbClr val="000000"/>
                </a:solidFill>
                <a:latin typeface="맑은 고딕"/>
                <a:ea typeface="맑은 고딕"/>
              </a:rPr>
              <a:t>PEN</a:t>
            </a:r>
            <a:r>
              <a:rPr sz="1800" b="0">
                <a:solidFill>
                  <a:srgbClr val="000000"/>
                </a:solidFill>
                <a:latin typeface="맑은 고딕"/>
                <a:ea typeface="맑은 고딕"/>
              </a:rPr>
              <a:t>은 </a:t>
            </a:r>
            <a:r>
              <a:rPr sz="1800" b="1">
                <a:solidFill>
                  <a:srgbClr val="000000"/>
                </a:solidFill>
                <a:latin typeface="맑은 고딕"/>
                <a:ea typeface="맑은 고딕"/>
              </a:rPr>
              <a:t>펜을 식별하는 예제 값</a:t>
            </a:r>
            <a:r>
              <a:rPr sz="1800" b="0">
                <a:solidFill>
                  <a:srgbClr val="000000"/>
                </a:solidFill>
                <a:latin typeface="맑은 고딕"/>
                <a:ea typeface="맑은 고딕"/>
              </a:rPr>
              <a:t>이다. 실제 상품 번호의 형식 규칙을 정한 것은 아니다.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111752"/>
            <a:ext cx="8412480" cy="201168"/>
          </a:xfrm>
          <a:prstGeom prst="rect">
            <a:avLst/>
          </a:prstGeom>
          <a:noFill/>
        </p:spPr>
        <p:txBody>
          <a:bodyPr wrap="square">
            <a:spAutoFit/>
          </a:bodyPr>
          <a:lstStyle/>
          <a:p>
            <a:pPr algn="ctr"/>
            <a:r>
              <a:rPr sz="1400" b="1">
                <a:solidFill>
                  <a:srgbClr val="000000"/>
                </a:solidFill>
                <a:latin typeface="맑은 고딕"/>
                <a:ea typeface="맑은 고딕"/>
              </a:rPr>
              <a:t>주문 인스턴스</a:t>
            </a:r>
          </a:p>
        </p:txBody>
      </p:sp>
      <p:pic>
        <p:nvPicPr>
          <p:cNvPr id="10" name="svg Diagram 1" descr="서울로 받는 결제대기 주문이 펜 2개인 주문 항목 하나를 포함하고, 항목이 현재 판매가 1200원인 펜 상품을 가리킨다. 확정 단가는 1000원이고 주문 총액은 2000원이다."/>
          <p:cNvPicPr>
            <a:picLocks noChangeAspect="1"/>
          </p:cNvPicPr>
          <p:nvPr/>
        </p:nvPicPr>
        <p:blipFill>
          <a:blip r:embed="svgImage1"/>
          <a:stretch>
            <a:fillRect/>
          </a:stretch>
        </p:blipFill>
        <p:spPr>
          <a:xfrm>
            <a:off x="1816554" y="4349496"/>
            <a:ext cx="5510893" cy="1258661"/>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초안을 판단할 근거</a:t>
            </a:r>
          </a:p>
          <a:p>
            <a:r>
              <a:rPr sz="1100" b="1">
                <a:solidFill>
                  <a:srgbClr val="000000"/>
                </a:solidFill>
                <a:latin typeface="맑은 고딕"/>
                <a:ea typeface="맑은 고딕"/>
              </a:rPr>
              <a:t>09. 모델을 만들 때 사람과 AI</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AI가 제안한 개념과 속성</a:t>
            </a:r>
            <a:r>
              <a:rPr sz="1800" b="0">
                <a:solidFill>
                  <a:srgbClr val="000000"/>
                </a:solidFill>
                <a:latin typeface="맑은 고딕"/>
                <a:ea typeface="맑은 고딕"/>
              </a:rPr>
              <a:t>은 요구와 업무 예에서 근거를 찾아 채택한다.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LLM은 구문이 맞는 UML을 만들 수 있지만 </a:t>
            </a:r>
            <a:r>
              <a:rPr sz="1800" b="1">
                <a:solidFill>
                  <a:srgbClr val="000000"/>
                </a:solidFill>
                <a:latin typeface="맑은 고딕"/>
                <a:ea typeface="맑은 고딕"/>
              </a:rPr>
              <a:t>의미의 품질</a:t>
            </a:r>
            <a:r>
              <a:rPr sz="1800" b="0">
                <a:solidFill>
                  <a:srgbClr val="000000"/>
                </a:solidFill>
                <a:latin typeface="맑은 고딕"/>
                <a:ea typeface="맑은 고딕"/>
              </a:rPr>
              <a:t>에서 어려움을 겪고, 특히 다이어그램의 </a:t>
            </a:r>
            <a:r>
              <a:rPr sz="1800" b="1">
                <a:solidFill>
                  <a:srgbClr val="000000"/>
                </a:solidFill>
                <a:latin typeface="맑은 고딕"/>
                <a:ea typeface="맑은 고딕"/>
              </a:rPr>
              <a:t>규모가 커지면</a:t>
            </a:r>
            <a:r>
              <a:rPr sz="1800" b="0">
                <a:solidFill>
                  <a:srgbClr val="000000"/>
                </a:solidFill>
                <a:latin typeface="맑은 고딕"/>
                <a:ea typeface="맑은 고딕"/>
              </a:rPr>
              <a:t> 자연어와 잘 맞지 않는다</a:t>
            </a:r>
            <a:r>
              <a:rPr sz="1000" b="0">
                <a:solidFill>
                  <a:srgbClr val="000000"/>
                </a:solidFill>
                <a:latin typeface="맑은 고딕"/>
                <a:ea typeface="맑은 고딕"/>
              </a:rPr>
              <a:t>, </a:t>
            </a:r>
            <a:r>
              <a:rPr sz="1000" b="0">
                <a:solidFill>
                  <a:srgbClr val="000000"/>
                </a:solidFill>
                <a:latin typeface="맑은 고딕"/>
                <a:ea typeface="맑은 고딕"/>
              </a:rPr>
              <a:t>"Although LLMs can generate syntactically correct UML code, they are struggling with semantic quality and tend to align poorly with natural languages, especially when the diagram scale is large."</a:t>
            </a:r>
            <a:r>
              <a:rPr sz="1000" b="0">
                <a:solidFill>
                  <a:srgbClr val="000000"/>
                </a:solidFill>
                <a:latin typeface="맑은 고딕"/>
                <a:ea typeface="맑은 고딕"/>
              </a:rPr>
              <a:t>, </a:t>
            </a:r>
            <a:r>
              <a:rPr sz="1000" b="0">
                <a:solidFill>
                  <a:srgbClr val="000000"/>
                </a:solidFill>
                <a:latin typeface="맑은 고딕"/>
                <a:ea typeface="맑은 고딕"/>
              </a:rPr>
              <a:t>[Gao 외 2025]</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입력</a:t>
            </a:r>
            <a:r>
              <a:rPr sz="1800" b="0">
                <a:solidFill>
                  <a:srgbClr val="000000"/>
                </a:solidFill>
                <a:latin typeface="맑은 고딕"/>
                <a:ea typeface="맑은 고딕"/>
              </a:rPr>
              <a:t>은 "세션 03. 요구와 수용 기준"의 요구사항 정의서다. 용어집·관계·속성·조건과 도식을 함께 요청한다.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사람</a:t>
            </a:r>
            <a:r>
              <a:rPr sz="1800" b="0">
                <a:solidFill>
                  <a:srgbClr val="000000"/>
                </a:solidFill>
                <a:latin typeface="맑은 고딕"/>
                <a:ea typeface="맑은 고딕"/>
              </a:rPr>
              <a:t>은 판매가와 단가의 의미, 관계의 개수, 값의 허용 범위를 업무 담당자와 확인한다.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AI</a:t>
            </a:r>
            <a:r>
              <a:rPr sz="1800" b="0">
                <a:solidFill>
                  <a:srgbClr val="000000"/>
                </a:solidFill>
                <a:latin typeface="맑은 고딕"/>
                <a:ea typeface="맑은 고딕"/>
              </a:rPr>
              <a:t>는 같은 대상을 다르게 부른 곳과 계산·관계의 모순을 찾아 초안과 질문을 만든다.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Member</a:t>
            </a:r>
            <a:r>
              <a:rPr sz="1800" b="0">
                <a:solidFill>
                  <a:srgbClr val="000000"/>
                </a:solidFill>
                <a:latin typeface="맑은 고딕"/>
                <a:ea typeface="맑은 고딕"/>
              </a:rPr>
              <a:t>, 할인율, 재고 예약 같은 제안이 나오면 </a:t>
            </a:r>
            <a:r>
              <a:rPr sz="1800" b="1">
                <a:solidFill>
                  <a:srgbClr val="000000"/>
                </a:solidFill>
                <a:latin typeface="맑은 고딕"/>
                <a:ea typeface="맑은 고딕"/>
              </a:rPr>
              <a:t>어느 요구를 설명하는지</a:t>
            </a:r>
            <a:r>
              <a:rPr sz="1800" b="0">
                <a:solidFill>
                  <a:srgbClr val="000000"/>
                </a:solidFill>
                <a:latin typeface="맑은 고딕"/>
                <a:ea typeface="맑은 고딕"/>
              </a:rPr>
              <a:t> 확인한다. 흔한 쇼핑몰 기능이라는 이유만으로 채택하지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근거가 없으면 </a:t>
            </a:r>
            <a:r>
              <a:rPr sz="1800" b="1">
                <a:solidFill>
                  <a:srgbClr val="000000"/>
                </a:solidFill>
                <a:latin typeface="맑은 고딕"/>
                <a:ea typeface="맑은 고딕"/>
              </a:rPr>
              <a:t>삭제하거나 질문</a:t>
            </a:r>
            <a:r>
              <a:rPr sz="1800" b="0">
                <a:solidFill>
                  <a:srgbClr val="000000"/>
                </a:solidFill>
                <a:latin typeface="맑은 고딕"/>
                <a:ea typeface="맑은 고딕"/>
              </a:rPr>
              <a:t>으로 남긴다. 필요한 의미가 빠졌다면 먼저 요구를 확인하고 용어집·모델을 함께 고친다.</a:t>
            </a:r>
          </a:p>
        </p:txBody>
      </p:sp>
    </p:spTree>
    <p:extLst>
      <p:ext uri="{BB962C8B-B14F-4D97-AF65-F5344CB8AC3E}">
        <p14:creationId xmlns:p14="http://schemas.microsoft.com/office/powerpoint/2010/main" val="355543667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실제 초안에서 고친 판단</a:t>
            </a:r>
          </a:p>
          <a:p>
            <a:r>
              <a:rPr sz="1100" b="1">
                <a:solidFill>
                  <a:srgbClr val="000000"/>
                </a:solidFill>
                <a:latin typeface="맑은 고딕"/>
                <a:ea typeface="맑은 고딕"/>
              </a:rPr>
              <a:t>09. 모델을 만들 때 사람과 AI</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14006" y="1837690"/>
          <a:ext cx="6502400" cy="1728000"/>
        </p:xfrm>
        <a:graphic>
          <a:graphicData uri="http://schemas.openxmlformats.org/drawingml/2006/table">
            <a:tbl>
              <a:tblPr/>
              <a:tblGrid>
                <a:gridCol w="2092960"/>
                <a:gridCol w="2092960"/>
                <a:gridCol w="23164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초안의 표현</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판단</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보완 방향</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확정 가격 이름을 질문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의미 확인 필요</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unitPrice로 합의</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수량·금액 범위를 질문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입력에 근거 없음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예제의 허용 범위 합의</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회원·비회원 여부를 질문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기존 미정</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Member를 확정하지 않음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상태를 두 값으로 제한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현재 정보의 과도한 일반화</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확인한 값과 전체 범위를 구별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값 타입마다 관계선을 추가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속성과 관계의 중복 표현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값 타입은 속성에 표시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초안의 질문과 단정</a:t>
            </a:r>
            <a:r>
              <a:rPr sz="1800" b="0">
                <a:solidFill>
                  <a:srgbClr val="000000"/>
                </a:solidFill>
                <a:latin typeface="맑은 고딕"/>
                <a:ea typeface="맑은 고딕"/>
              </a:rPr>
              <a:t>을 구별하면 사람이 결정할 자리가 드러난다.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53924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실제 초안에 준 피드백</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794290"/>
            <a:ext cx="8412480" cy="195072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질문을 남긴 것은 </a:t>
            </a:r>
            <a:r>
              <a:rPr sz="1800" b="1">
                <a:solidFill>
                  <a:srgbClr val="000000"/>
                </a:solidFill>
                <a:latin typeface="맑은 고딕"/>
                <a:ea typeface="맑은 고딕"/>
              </a:rPr>
              <a:t>검토할 빈틈을 드러낸 결과</a:t>
            </a:r>
            <a:r>
              <a:rPr sz="1800" b="0">
                <a:solidFill>
                  <a:srgbClr val="000000"/>
                </a:solidFill>
                <a:latin typeface="맑은 고딕"/>
                <a:ea typeface="맑은 고딕"/>
              </a:rPr>
              <a:t>다. 반대로 현재 아는 상태를 가능한 상태 전부로 닫으면 뒤 분석의 여지를 숨긴다.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모델의 </a:t>
            </a:r>
            <a:r>
              <a:rPr sz="1800" b="1">
                <a:solidFill>
                  <a:srgbClr val="000000"/>
                </a:solidFill>
                <a:latin typeface="맑은 고딕"/>
                <a:ea typeface="맑은 고딕"/>
              </a:rPr>
              <a:t>정적 관점에는 현재 상태라는 속성</a:t>
            </a:r>
            <a:r>
              <a:rPr sz="1800" b="0">
                <a:solidFill>
                  <a:srgbClr val="000000"/>
                </a:solidFill>
                <a:latin typeface="맑은 고딕"/>
                <a:ea typeface="맑은 고딕"/>
              </a:rPr>
              <a:t>을 둔다. 상태의 전체 범위·사건·전이는 "세션 05. 동적 모델"에서 확인한다.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답변을 고친 뒤에는 </a:t>
            </a:r>
            <a:r>
              <a:rPr sz="1800" b="1">
                <a:solidFill>
                  <a:srgbClr val="000000"/>
                </a:solidFill>
                <a:latin typeface="맑은 고딕"/>
                <a:ea typeface="맑은 고딕"/>
              </a:rPr>
              <a:t>도식과 목록</a:t>
            </a:r>
            <a:r>
              <a:rPr sz="1800" b="0">
                <a:solidFill>
                  <a:srgbClr val="000000"/>
                </a:solidFill>
                <a:latin typeface="맑은 고딕"/>
                <a:ea typeface="맑은 고딕"/>
              </a:rPr>
              <a:t>을 다시 대조한다. 문장만 고치고 도식의 이전 이름을 남기면 같은 혼동이 반복된다.</a:t>
            </a:r>
          </a:p>
        </p:txBody>
      </p:sp>
    </p:spTree>
    <p:extLst>
      <p:ext uri="{BB962C8B-B14F-4D97-AF65-F5344CB8AC3E}">
        <p14:creationId xmlns:p14="http://schemas.microsoft.com/office/powerpoint/2010/main" val="278956947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모델 요소와 코드의 대응</a:t>
            </a:r>
          </a:p>
          <a:p>
            <a:r>
              <a:rPr sz="1100" b="1">
                <a:solidFill>
                  <a:srgbClr val="000000"/>
                </a:solidFill>
                <a:latin typeface="맑은 고딕"/>
                <a:ea typeface="맑은 고딕"/>
              </a:rPr>
              <a:t>10. 코드와 검사로 이어지는 자리</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05166" y="2112010"/>
          <a:ext cx="5720080" cy="2016000"/>
        </p:xfrm>
        <a:graphic>
          <a:graphicData uri="http://schemas.openxmlformats.org/drawingml/2006/table">
            <a:tbl>
              <a:tblPr/>
              <a:tblGrid>
                <a:gridCol w="1590040"/>
                <a:gridCol w="2232660"/>
                <a:gridCol w="18973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모델 요소</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Java 예</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확인할 의미</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주문·항목·상품</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Order·OrderItem·Product</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개념과 이름의 대응</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단가·판매가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unitPrice·salePrice</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확정 값과 현재 값 구별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금액·수량</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Money·Quantity</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값의 뜻과 범위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주문과 항목의 관계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List&lt;OrderItem&gt;</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항목 1개 이상</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항목과 상품의 관계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ProductNumber</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상품인지 식별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파생 주문 총액</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totalAmount()</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단가×수량의 합</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모델의 의미</a:t>
            </a:r>
            <a:r>
              <a:rPr sz="1800" b="0">
                <a:solidFill>
                  <a:srgbClr val="000000"/>
                </a:solidFill>
                <a:latin typeface="맑은 고딕"/>
                <a:ea typeface="맑은 고딕"/>
              </a:rPr>
              <a:t>는 코드의 이름과 타입에 드러나고, 불변 조건은 실행하는 검사로 확인한다.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업무 의미를 보존하는 한 가지 구현</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356610"/>
            <a:ext cx="8412480" cy="132588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참조 방향·컬렉션·record·계산 위치</a:t>
            </a:r>
            <a:r>
              <a:rPr sz="1800" b="0">
                <a:solidFill>
                  <a:srgbClr val="000000"/>
                </a:solidFill>
                <a:latin typeface="맑은 고딕"/>
                <a:ea typeface="맑은 고딕"/>
              </a:rPr>
              <a:t>는 이 예제의 설계 선택이다. 분석 도식만으로 자동 결정되지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상품은 외부 정보의 </a:t>
            </a:r>
            <a:r>
              <a:rPr sz="1800" b="1">
                <a:solidFill>
                  <a:srgbClr val="000000"/>
                </a:solidFill>
                <a:latin typeface="맑은 고딕"/>
                <a:ea typeface="맑은 고딕"/>
              </a:rPr>
              <a:t>로컬 예제 표현</a:t>
            </a:r>
            <a:r>
              <a:rPr sz="1800" b="0">
                <a:solidFill>
                  <a:srgbClr val="000000"/>
                </a:solidFill>
                <a:latin typeface="맑은 고딕"/>
                <a:ea typeface="맑은 고딕"/>
              </a:rPr>
              <a:t>이다. 상품 시스템의 내부 기능이나 실제 연동을 구현한 것이 아니다.</a:t>
            </a:r>
          </a:p>
        </p:txBody>
      </p:sp>
    </p:spTree>
    <p:extLst>
      <p:ext uri="{BB962C8B-B14F-4D97-AF65-F5344CB8AC3E}">
        <p14:creationId xmlns:p14="http://schemas.microsoft.com/office/powerpoint/2010/main" val="278956947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값 객체로 범위를 지키기</a:t>
            </a:r>
          </a:p>
          <a:p>
            <a:r>
              <a:rPr sz="1100" b="1">
                <a:solidFill>
                  <a:srgbClr val="000000"/>
                </a:solidFill>
                <a:latin typeface="맑은 고딕"/>
                <a:ea typeface="맑은 고딕"/>
              </a:rPr>
              <a:t>10. 코드와 검사로 이어지는 자리</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- 25 -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1842998"/>
            <a:ext cx="4114800" cy="109728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public record </a:t>
            </a:r>
            <a:r>
              <a:rPr sz="900" b="1">
                <a:solidFill>
                  <a:srgbClr val="000000"/>
                </a:solidFill>
                <a:latin typeface="Consolas"/>
                <a:ea typeface="맑은 고딕"/>
              </a:rPr>
              <a:t>Quantity</a:t>
            </a:r>
            <a:r>
              <a:rPr sz="900" b="0">
                <a:solidFill>
                  <a:srgbClr val="000000"/>
                </a:solidFill>
                <a:latin typeface="Consolas"/>
                <a:ea typeface="맑은 고딕"/>
              </a:rPr>
              <a:t>(int value) {</a:t>
            </a:r>
          </a:p>
          <a:p>
            <a:pPr marL="0" indent="0" algn="l">
              <a:lnSpc>
                <a:spcPts val="1080"/>
              </a:lnSpc>
              <a:spcBef>
                <a:spcPts val="0"/>
              </a:spcBef>
              <a:spcAft>
                <a:spcPts val="0"/>
              </a:spcAft>
              <a:buNone/>
            </a:pPr>
            <a:r>
              <a:rPr sz="900" b="0">
                <a:solidFill>
                  <a:srgbClr val="000000"/>
                </a:solidFill>
                <a:latin typeface="Consolas"/>
                <a:ea typeface="맑은 고딕"/>
              </a:rPr>
              <a:t>    public Quantity {</a:t>
            </a:r>
          </a:p>
          <a:p>
            <a:pPr marL="0" indent="0" algn="l">
              <a:lnSpc>
                <a:spcPts val="1080"/>
              </a:lnSpc>
              <a:spcBef>
                <a:spcPts val="0"/>
              </a:spcBef>
              <a:spcAft>
                <a:spcPts val="0"/>
              </a:spcAft>
              <a:buNone/>
            </a:pPr>
            <a:r>
              <a:rPr sz="900" b="0">
                <a:solidFill>
                  <a:srgbClr val="000000"/>
                </a:solidFill>
                <a:latin typeface="Consolas"/>
                <a:ea typeface="맑은 고딕"/>
              </a:rPr>
              <a:t>        if (value &lt; 1) throw new IllegalArgumentException("수량은 1 이상");</a:t>
            </a:r>
          </a:p>
          <a:p>
            <a:pPr marL="0" indent="0" algn="l">
              <a:lnSpc>
                <a:spcPts val="1080"/>
              </a:lnSpc>
              <a:spcBef>
                <a:spcPts val="0"/>
              </a:spcBef>
              <a:spcAft>
                <a:spcPts val="0"/>
              </a:spcAft>
              <a:buNone/>
            </a:pP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a:t>
            </a:r>
          </a:p>
          <a:p>
            <a:pPr marL="0" indent="0" algn="l">
              <a:lnSpc>
                <a:spcPts val="1080"/>
              </a:lnSpc>
              <a:spcBef>
                <a:spcPts val="0"/>
              </a:spcBef>
              <a:spcAft>
                <a:spcPts val="0"/>
              </a:spcAft>
              <a:buNone/>
            </a:pP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1">
                <a:solidFill>
                  <a:srgbClr val="000000"/>
                </a:solidFill>
                <a:latin typeface="맑은 고딕"/>
                <a:ea typeface="맑은 고딕"/>
              </a:rPr>
              <a:t>값 객체</a:t>
            </a:r>
            <a:r>
              <a:rPr sz="1400" b="0">
                <a:solidFill>
                  <a:srgbClr val="000000"/>
                </a:solidFill>
                <a:latin typeface="맑은 고딕"/>
                <a:ea typeface="맑은 고딕"/>
              </a:rPr>
              <a:t>(Value Object)</a:t>
            </a:r>
            <a:r>
              <a:rPr sz="1800" b="0">
                <a:solidFill>
                  <a:srgbClr val="000000"/>
                </a:solidFill>
                <a:latin typeface="맑은 고딕"/>
                <a:ea typeface="맑은 고딕"/>
              </a:rPr>
              <a:t>는 식별자보다 값으로 비교하는 객체이며, 값의 뜻과 유효한 범위를 타입으로 나타낼 수 있다.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1842998"/>
            <a:ext cx="4114800" cy="219456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 ... 파일 구분을 위해 package 선언 생략</a:t>
            </a:r>
          </a:p>
          <a:p>
            <a:pPr marL="0" indent="0" algn="l">
              <a:lnSpc>
                <a:spcPts val="1080"/>
              </a:lnSpc>
              <a:spcBef>
                <a:spcPts val="0"/>
              </a:spcBef>
              <a:spcAft>
                <a:spcPts val="0"/>
              </a:spcAft>
              <a:buNone/>
            </a:pPr>
            <a:r>
              <a:rPr sz="900" b="0">
                <a:solidFill>
                  <a:srgbClr val="000000"/>
                </a:solidFill>
                <a:latin typeface="Consolas"/>
                <a:ea typeface="맑은 고딕"/>
              </a:rPr>
              <a:t>public record </a:t>
            </a:r>
            <a:r>
              <a:rPr sz="900" b="1">
                <a:solidFill>
                  <a:srgbClr val="000000"/>
                </a:solidFill>
                <a:latin typeface="Consolas"/>
                <a:ea typeface="맑은 고딕"/>
              </a:rPr>
              <a:t>Money</a:t>
            </a:r>
            <a:r>
              <a:rPr sz="900" b="0">
                <a:solidFill>
                  <a:srgbClr val="000000"/>
                </a:solidFill>
                <a:latin typeface="Consolas"/>
                <a:ea typeface="맑은 고딕"/>
              </a:rPr>
              <a:t>(long won) {</a:t>
            </a:r>
          </a:p>
          <a:p>
            <a:pPr marL="0" indent="0" algn="l">
              <a:lnSpc>
                <a:spcPts val="1080"/>
              </a:lnSpc>
              <a:spcBef>
                <a:spcPts val="0"/>
              </a:spcBef>
              <a:spcAft>
                <a:spcPts val="0"/>
              </a:spcAft>
              <a:buNone/>
            </a:pPr>
            <a:r>
              <a:rPr sz="900" b="0">
                <a:solidFill>
                  <a:srgbClr val="000000"/>
                </a:solidFill>
                <a:latin typeface="Consolas"/>
                <a:ea typeface="맑은 고딕"/>
              </a:rPr>
              <a:t>    public static final Money ZERO = new Money(0);</a:t>
            </a:r>
          </a:p>
          <a:p>
            <a:pPr marL="0" indent="0" algn="l">
              <a:lnSpc>
                <a:spcPts val="1080"/>
              </a:lnSpc>
              <a:spcBef>
                <a:spcPts val="0"/>
              </a:spcBef>
              <a:spcAft>
                <a:spcPts val="0"/>
              </a:spcAft>
              <a:buNone/>
            </a:pPr>
            <a:r>
              <a:rPr sz="900" b="0">
                <a:solidFill>
                  <a:srgbClr val="000000"/>
                </a:solidFill>
                <a:latin typeface="Consolas"/>
                <a:ea typeface="맑은 고딕"/>
              </a:rPr>
              <a:t>    public Money {</a:t>
            </a:r>
          </a:p>
          <a:p>
            <a:pPr marL="0" indent="0" algn="l">
              <a:lnSpc>
                <a:spcPts val="1080"/>
              </a:lnSpc>
              <a:spcBef>
                <a:spcPts val="0"/>
              </a:spcBef>
              <a:spcAft>
                <a:spcPts val="0"/>
              </a:spcAft>
              <a:buNone/>
            </a:pPr>
            <a:r>
              <a:rPr sz="900" b="0">
                <a:solidFill>
                  <a:srgbClr val="000000"/>
                </a:solidFill>
                <a:latin typeface="Consolas"/>
                <a:ea typeface="맑은 고딕"/>
              </a:rPr>
              <a:t>        if (won &lt; 0) throw new IllegalArgumentException("금액은 0 이상");</a:t>
            </a:r>
          </a:p>
          <a:p>
            <a:pPr marL="0" indent="0" algn="l">
              <a:lnSpc>
                <a:spcPts val="1080"/>
              </a:lnSpc>
              <a:spcBef>
                <a:spcPts val="0"/>
              </a:spcBef>
              <a:spcAft>
                <a:spcPts val="0"/>
              </a:spcAft>
              <a:buNone/>
            </a:pP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public Money </a:t>
            </a:r>
            <a:r>
              <a:rPr sz="900" b="1">
                <a:solidFill>
                  <a:srgbClr val="000000"/>
                </a:solidFill>
                <a:latin typeface="Consolas"/>
                <a:ea typeface="맑은 고딕"/>
              </a:rPr>
              <a:t>plus</a:t>
            </a:r>
            <a:r>
              <a:rPr sz="900" b="0">
                <a:solidFill>
                  <a:srgbClr val="000000"/>
                </a:solidFill>
                <a:latin typeface="Consolas"/>
                <a:ea typeface="맑은 고딕"/>
              </a:rPr>
              <a:t>(Money other) {</a:t>
            </a:r>
          </a:p>
          <a:p>
            <a:pPr marL="0" indent="0" algn="l">
              <a:lnSpc>
                <a:spcPts val="1080"/>
              </a:lnSpc>
              <a:spcBef>
                <a:spcPts val="0"/>
              </a:spcBef>
              <a:spcAft>
                <a:spcPts val="0"/>
              </a:spcAft>
              <a:buNone/>
            </a:pPr>
            <a:r>
              <a:rPr sz="900" b="0">
                <a:solidFill>
                  <a:srgbClr val="000000"/>
                </a:solidFill>
                <a:latin typeface="Consolas"/>
                <a:ea typeface="맑은 고딕"/>
              </a:rPr>
              <a:t>        return new Money(Math.addExact(won, other.won));</a:t>
            </a:r>
          </a:p>
          <a:p>
            <a:pPr marL="0" indent="0" algn="l">
              <a:lnSpc>
                <a:spcPts val="1080"/>
              </a:lnSpc>
              <a:spcBef>
                <a:spcPts val="0"/>
              </a:spcBef>
              <a:spcAft>
                <a:spcPts val="0"/>
              </a:spcAft>
              <a:buNone/>
            </a:pP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public Money </a:t>
            </a:r>
            <a:r>
              <a:rPr sz="900" b="1">
                <a:solidFill>
                  <a:srgbClr val="000000"/>
                </a:solidFill>
                <a:latin typeface="Consolas"/>
                <a:ea typeface="맑은 고딕"/>
              </a:rPr>
              <a:t>times</a:t>
            </a:r>
            <a:r>
              <a:rPr sz="900" b="0">
                <a:solidFill>
                  <a:srgbClr val="000000"/>
                </a:solidFill>
                <a:latin typeface="Consolas"/>
                <a:ea typeface="맑은 고딕"/>
              </a:rPr>
              <a:t>(Quantity quantity) {</a:t>
            </a:r>
          </a:p>
          <a:p>
            <a:pPr marL="0" indent="0" algn="l">
              <a:lnSpc>
                <a:spcPts val="1080"/>
              </a:lnSpc>
              <a:spcBef>
                <a:spcPts val="0"/>
              </a:spcBef>
              <a:spcAft>
                <a:spcPts val="0"/>
              </a:spcAft>
              <a:buNone/>
            </a:pPr>
            <a:r>
              <a:rPr sz="900" b="0">
                <a:solidFill>
                  <a:srgbClr val="000000"/>
                </a:solidFill>
                <a:latin typeface="Consolas"/>
                <a:ea typeface="맑은 고딕"/>
              </a:rPr>
              <a:t>        return new Money(Math.multiplyExact(won, quantity.value()));</a:t>
            </a:r>
          </a:p>
          <a:p>
            <a:pPr marL="0" indent="0" algn="l">
              <a:lnSpc>
                <a:spcPts val="1080"/>
              </a:lnSpc>
              <a:spcBef>
                <a:spcPts val="0"/>
              </a:spcBef>
              <a:spcAft>
                <a:spcPts val="0"/>
              </a:spcAft>
              <a:buNone/>
            </a:pP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4266158"/>
            <a:ext cx="8412480" cy="195072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Money.times</a:t>
            </a:r>
            <a:r>
              <a:rPr sz="1800" b="0">
                <a:solidFill>
                  <a:srgbClr val="000000"/>
                </a:solidFill>
                <a:latin typeface="맑은 고딕"/>
                <a:ea typeface="맑은 고딕"/>
              </a:rPr>
              <a:t>는 </a:t>
            </a:r>
            <a:r>
              <a:rPr sz="1800" b="1">
                <a:solidFill>
                  <a:srgbClr val="000000"/>
                </a:solidFill>
                <a:latin typeface="맑은 고딕"/>
                <a:ea typeface="맑은 고딕"/>
              </a:rPr>
              <a:t>Quantity</a:t>
            </a:r>
            <a:r>
              <a:rPr sz="1800" b="0">
                <a:solidFill>
                  <a:srgbClr val="000000"/>
                </a:solidFill>
                <a:latin typeface="맑은 고딕"/>
                <a:ea typeface="맑은 고딕"/>
              </a:rPr>
              <a:t>를 받는다. 같은 숫자 표현이라도 금액과 수량을 뒤바꿔 넘길 수 없다.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record</a:t>
            </a:r>
            <a:r>
              <a:rPr sz="1800" b="0">
                <a:solidFill>
                  <a:srgbClr val="000000"/>
                </a:solidFill>
                <a:latin typeface="맑은 고딕"/>
                <a:ea typeface="맑은 고딕"/>
              </a:rPr>
              <a:t>는 필드 교체를 막고 값 비교를 제공한다. 원 단위 정수와 </a:t>
            </a:r>
            <a:r>
              <a:rPr sz="1800" b="1">
                <a:solidFill>
                  <a:srgbClr val="000000"/>
                </a:solidFill>
                <a:latin typeface="맑은 고딕"/>
                <a:ea typeface="맑은 고딕"/>
              </a:rPr>
              <a:t>long의 범위 초과 검출</a:t>
            </a:r>
            <a:r>
              <a:rPr sz="1800" b="0">
                <a:solidFill>
                  <a:srgbClr val="000000"/>
                </a:solidFill>
                <a:latin typeface="맑은 고딕"/>
                <a:ea typeface="맑은 고딕"/>
              </a:rPr>
              <a:t>은 예제의 표현 방식이다.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0원은 허용</a:t>
            </a:r>
            <a:r>
              <a:rPr sz="1800" b="0">
                <a:solidFill>
                  <a:srgbClr val="000000"/>
                </a:solidFill>
                <a:latin typeface="맑은 고딕"/>
                <a:ea typeface="맑은 고딕"/>
              </a:rPr>
              <a:t>하고 0개는 거절한다. 두 값의 범위를 같은 검사로 합치지 않는다.</a:t>
            </a:r>
          </a:p>
        </p:txBody>
      </p:sp>
    </p:spTree>
    <p:extLst>
      <p:ext uri="{BB962C8B-B14F-4D97-AF65-F5344CB8AC3E}">
        <p14:creationId xmlns:p14="http://schemas.microsoft.com/office/powerpoint/2010/main" val="377335152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확정 단가를 항목에 남기기</a:t>
            </a:r>
          </a:p>
          <a:p>
            <a:r>
              <a:rPr sz="1100" b="1">
                <a:solidFill>
                  <a:srgbClr val="000000"/>
                </a:solidFill>
                <a:latin typeface="맑은 고딕"/>
                <a:ea typeface="맑은 고딕"/>
              </a:rPr>
              <a:t>10. 코드와 검사로 이어지는 자리</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- 26 -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1842998"/>
            <a:ext cx="8412480" cy="164592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public record </a:t>
            </a:r>
            <a:r>
              <a:rPr sz="900" b="1">
                <a:solidFill>
                  <a:srgbClr val="000000"/>
                </a:solidFill>
                <a:latin typeface="Consolas"/>
                <a:ea typeface="맑은 고딕"/>
              </a:rPr>
              <a:t>OrderItem</a:t>
            </a:r>
            <a:r>
              <a:rPr sz="900" b="0">
                <a:solidFill>
                  <a:srgbClr val="000000"/>
                </a:solidFill>
                <a:latin typeface="Consolas"/>
                <a:ea typeface="맑은 고딕"/>
              </a:rPr>
              <a:t>(ProductNumber productNumber,</a:t>
            </a:r>
          </a:p>
          <a:p>
            <a:pPr marL="0" indent="0" algn="l">
              <a:lnSpc>
                <a:spcPts val="1080"/>
              </a:lnSpc>
              <a:spcBef>
                <a:spcPts val="0"/>
              </a:spcBef>
              <a:spcAft>
                <a:spcPts val="0"/>
              </a:spcAft>
              <a:buNone/>
            </a:pPr>
            <a:r>
              <a:rPr sz="900" b="0">
                <a:solidFill>
                  <a:srgbClr val="000000"/>
                </a:solidFill>
                <a:latin typeface="Consolas"/>
                <a:ea typeface="맑은 고딕"/>
              </a:rPr>
              <a:t>                        Money unitPrice, Quantity quantity) {</a:t>
            </a:r>
          </a:p>
          <a:p>
            <a:pPr marL="0" indent="0" algn="l">
              <a:lnSpc>
                <a:spcPts val="1080"/>
              </a:lnSpc>
              <a:spcBef>
                <a:spcPts val="0"/>
              </a:spcBef>
              <a:spcAft>
                <a:spcPts val="0"/>
              </a:spcAft>
              <a:buNone/>
            </a:pPr>
            <a:r>
              <a:rPr sz="900" b="0">
                <a:solidFill>
                  <a:srgbClr val="000000"/>
                </a:solidFill>
                <a:latin typeface="Consolas"/>
                <a:ea typeface="맑은 고딕"/>
              </a:rPr>
              <a:t>    public OrderItem {</a:t>
            </a:r>
          </a:p>
          <a:p>
            <a:pPr marL="0" indent="0" algn="l">
              <a:lnSpc>
                <a:spcPts val="1080"/>
              </a:lnSpc>
              <a:spcBef>
                <a:spcPts val="0"/>
              </a:spcBef>
              <a:spcAft>
                <a:spcPts val="0"/>
              </a:spcAft>
              <a:buNone/>
            </a:pPr>
            <a:r>
              <a:rPr sz="900" b="0">
                <a:solidFill>
                  <a:srgbClr val="000000"/>
                </a:solidFill>
                <a:latin typeface="Consolas"/>
                <a:ea typeface="맑은 고딕"/>
              </a:rPr>
              <a:t>        Objects.requireNonNull(productNumber);</a:t>
            </a:r>
          </a:p>
          <a:p>
            <a:pPr marL="0" indent="0" algn="l">
              <a:lnSpc>
                <a:spcPts val="1080"/>
              </a:lnSpc>
              <a:spcBef>
                <a:spcPts val="0"/>
              </a:spcBef>
              <a:spcAft>
                <a:spcPts val="0"/>
              </a:spcAft>
              <a:buNone/>
            </a:pPr>
            <a:r>
              <a:rPr sz="900" b="0">
                <a:solidFill>
                  <a:srgbClr val="000000"/>
                </a:solidFill>
                <a:latin typeface="Consolas"/>
                <a:ea typeface="맑은 고딕"/>
              </a:rPr>
              <a:t>        Objects.requireNonNull(unitPrice);</a:t>
            </a:r>
          </a:p>
          <a:p>
            <a:pPr marL="0" indent="0" algn="l">
              <a:lnSpc>
                <a:spcPts val="1080"/>
              </a:lnSpc>
              <a:spcBef>
                <a:spcPts val="0"/>
              </a:spcBef>
              <a:spcAft>
                <a:spcPts val="0"/>
              </a:spcAft>
              <a:buNone/>
            </a:pPr>
            <a:r>
              <a:rPr sz="900" b="0">
                <a:solidFill>
                  <a:srgbClr val="000000"/>
                </a:solidFill>
                <a:latin typeface="Consolas"/>
                <a:ea typeface="맑은 고딕"/>
              </a:rPr>
              <a:t>        Objects.requireNonNull(quantity);</a:t>
            </a:r>
          </a:p>
          <a:p>
            <a:pPr marL="0" indent="0" algn="l">
              <a:lnSpc>
                <a:spcPts val="1080"/>
              </a:lnSpc>
              <a:spcBef>
                <a:spcPts val="0"/>
              </a:spcBef>
              <a:spcAft>
                <a:spcPts val="0"/>
              </a:spcAft>
              <a:buNone/>
            </a:pP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public static OrderItem </a:t>
            </a:r>
            <a:r>
              <a:rPr sz="900" b="1">
                <a:solidFill>
                  <a:srgbClr val="000000"/>
                </a:solidFill>
                <a:latin typeface="Consolas"/>
                <a:ea typeface="맑은 고딕"/>
              </a:rPr>
              <a:t>confirm</a:t>
            </a:r>
            <a:r>
              <a:rPr sz="900" b="0">
                <a:solidFill>
                  <a:srgbClr val="000000"/>
                </a:solidFill>
                <a:latin typeface="Consolas"/>
                <a:ea typeface="맑은 고딕"/>
              </a:rPr>
              <a:t>(Product product, Quantity quantity) {</a:t>
            </a:r>
          </a:p>
          <a:p>
            <a:pPr marL="0" indent="0" algn="l">
              <a:lnSpc>
                <a:spcPts val="1080"/>
              </a:lnSpc>
              <a:spcBef>
                <a:spcPts val="0"/>
              </a:spcBef>
              <a:spcAft>
                <a:spcPts val="0"/>
              </a:spcAft>
              <a:buNone/>
            </a:pPr>
            <a:r>
              <a:rPr sz="900" b="0">
                <a:solidFill>
                  <a:srgbClr val="000000"/>
                </a:solidFill>
                <a:latin typeface="Consolas"/>
                <a:ea typeface="맑은 고딕"/>
              </a:rPr>
              <a:t>        return new OrderItem(product.number(), product.salePrice(), quantity);</a:t>
            </a:r>
          </a:p>
          <a:p>
            <a:pPr marL="0" indent="0" algn="l">
              <a:lnSpc>
                <a:spcPts val="1080"/>
              </a:lnSpc>
              <a:spcBef>
                <a:spcPts val="0"/>
              </a:spcBef>
              <a:spcAft>
                <a:spcPts val="0"/>
              </a:spcAft>
              <a:buNone/>
            </a:pP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1">
                <a:solidFill>
                  <a:srgbClr val="000000"/>
                </a:solidFill>
                <a:latin typeface="맑은 고딕"/>
                <a:ea typeface="맑은 고딕"/>
              </a:rPr>
              <a:t>항목 생성 때 판매가를 단가로 옮겨 두면</a:t>
            </a:r>
            <a:r>
              <a:rPr sz="1800" b="0">
                <a:solidFill>
                  <a:srgbClr val="000000"/>
                </a:solidFill>
                <a:latin typeface="맑은 고딕"/>
                <a:ea typeface="맑은 고딕"/>
              </a:rPr>
              <a:t> 상품의 이후 가격 변경과 분리할 수 있다.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3717518"/>
            <a:ext cx="8412480" cy="257556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productNumber</a:t>
            </a:r>
            <a:r>
              <a:rPr sz="1800" b="0">
                <a:solidFill>
                  <a:srgbClr val="000000"/>
                </a:solidFill>
                <a:latin typeface="맑은 고딕"/>
                <a:ea typeface="맑은 고딕"/>
              </a:rPr>
              <a:t>는 </a:t>
            </a:r>
            <a:r>
              <a:rPr sz="1800" b="1">
                <a:solidFill>
                  <a:srgbClr val="000000"/>
                </a:solidFill>
                <a:latin typeface="맑은 고딕"/>
                <a:ea typeface="맑은 고딕"/>
              </a:rPr>
              <a:t>어떤 상품인지</a:t>
            </a:r>
            <a:r>
              <a:rPr sz="1800" b="0">
                <a:solidFill>
                  <a:srgbClr val="000000"/>
                </a:solidFill>
                <a:latin typeface="맑은 고딕"/>
                <a:ea typeface="맑은 고딕"/>
              </a:rPr>
              <a:t>, </a:t>
            </a:r>
            <a:r>
              <a:rPr sz="1800" b="0">
                <a:solidFill>
                  <a:srgbClr val="000000"/>
                </a:solidFill>
                <a:latin typeface="맑은 고딕"/>
                <a:ea typeface="맑은 고딕"/>
              </a:rPr>
              <a:t>unitPrice</a:t>
            </a:r>
            <a:r>
              <a:rPr sz="1800" b="0">
                <a:solidFill>
                  <a:srgbClr val="000000"/>
                </a:solidFill>
                <a:latin typeface="맑은 고딕"/>
                <a:ea typeface="맑은 고딕"/>
              </a:rPr>
              <a:t>는 </a:t>
            </a:r>
            <a:r>
              <a:rPr sz="1800" b="1">
                <a:solidFill>
                  <a:srgbClr val="000000"/>
                </a:solidFill>
                <a:latin typeface="맑은 고딕"/>
                <a:ea typeface="맑은 고딕"/>
              </a:rPr>
              <a:t>얼마에 주문했는지</a:t>
            </a:r>
            <a:r>
              <a:rPr sz="1800" b="0">
                <a:solidFill>
                  <a:srgbClr val="000000"/>
                </a:solidFill>
                <a:latin typeface="맑은 고딕"/>
                <a:ea typeface="맑은 고딕"/>
              </a:rPr>
              <a:t>를 나타낸다. 상품 번호를 보존해도 단가가 자동 보존되지는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Money</a:t>
            </a:r>
            <a:r>
              <a:rPr sz="1800" b="0">
                <a:solidFill>
                  <a:srgbClr val="000000"/>
                </a:solidFill>
                <a:latin typeface="맑은 고딕"/>
                <a:ea typeface="맑은 고딕"/>
              </a:rPr>
              <a:t>는 불변 값이다. 상품의 판매가 필드를 새 </a:t>
            </a:r>
            <a:r>
              <a:rPr sz="1800" b="0">
                <a:solidFill>
                  <a:srgbClr val="000000"/>
                </a:solidFill>
                <a:latin typeface="맑은 고딕"/>
                <a:ea typeface="맑은 고딕"/>
              </a:rPr>
              <a:t>Money</a:t>
            </a:r>
            <a:r>
              <a:rPr sz="1800" b="0">
                <a:solidFill>
                  <a:srgbClr val="000000"/>
                </a:solidFill>
                <a:latin typeface="맑은 고딕"/>
                <a:ea typeface="맑은 고딕"/>
              </a:rPr>
              <a:t>로 바꿔도 </a:t>
            </a:r>
            <a:r>
              <a:rPr sz="1800" b="1">
                <a:solidFill>
                  <a:srgbClr val="000000"/>
                </a:solidFill>
                <a:latin typeface="맑은 고딕"/>
                <a:ea typeface="맑은 고딕"/>
              </a:rPr>
              <a:t>기존 항목이 가진 값</a:t>
            </a:r>
            <a:r>
              <a:rPr sz="1800" b="0">
                <a:solidFill>
                  <a:srgbClr val="000000"/>
                </a:solidFill>
                <a:latin typeface="맑은 고딕"/>
                <a:ea typeface="맑은 고딕"/>
              </a:rPr>
              <a:t>은 그대로다.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상품을 읽는 </a:t>
            </a:r>
            <a:r>
              <a:rPr sz="1800" b="0">
                <a:solidFill>
                  <a:srgbClr val="000000"/>
                </a:solidFill>
                <a:latin typeface="맑은 고딕"/>
                <a:ea typeface="맑은 고딕"/>
              </a:rPr>
              <a:t>confirm</a:t>
            </a:r>
            <a:r>
              <a:rPr sz="1800" b="0">
                <a:solidFill>
                  <a:srgbClr val="000000"/>
                </a:solidFill>
                <a:latin typeface="맑은 고딕"/>
                <a:ea typeface="맑은 고딕"/>
              </a:rPr>
              <a:t>은 </a:t>
            </a:r>
            <a:r>
              <a:rPr sz="1800" b="1">
                <a:solidFill>
                  <a:srgbClr val="000000"/>
                </a:solidFill>
                <a:latin typeface="맑은 고딕"/>
                <a:ea typeface="맑은 고딕"/>
              </a:rPr>
              <a:t>주문 생성 때 호출하는 예시</a:t>
            </a:r>
            <a:r>
              <a:rPr sz="1800" b="0">
                <a:solidFill>
                  <a:srgbClr val="000000"/>
                </a:solidFill>
                <a:latin typeface="맑은 고딕"/>
                <a:ea typeface="맑은 고딕"/>
              </a:rPr>
              <a:t>다. 장바구니에 담을 때 호출해 오래된 값을 사용하면 시점의 요구를 못 채운다.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직접 생성자도 열려 있으므로 </a:t>
            </a:r>
            <a:r>
              <a:rPr sz="1800" b="1">
                <a:solidFill>
                  <a:srgbClr val="000000"/>
                </a:solidFill>
                <a:latin typeface="맑은 고딕"/>
                <a:ea typeface="맑은 고딕"/>
              </a:rPr>
              <a:t>모든 호출 경로의 올바른 확정 시점</a:t>
            </a:r>
            <a:r>
              <a:rPr sz="1800" b="0">
                <a:solidFill>
                  <a:srgbClr val="000000"/>
                </a:solidFill>
                <a:latin typeface="맑은 고딕"/>
                <a:ea typeface="맑은 고딕"/>
              </a:rPr>
              <a:t>까지 타입 하나가 보장하지는 않는다.</a:t>
            </a:r>
          </a:p>
        </p:txBody>
      </p:sp>
    </p:spTree>
    <p:extLst>
      <p:ext uri="{BB962C8B-B14F-4D97-AF65-F5344CB8AC3E}">
        <p14:creationId xmlns:p14="http://schemas.microsoft.com/office/powerpoint/2010/main" val="377335152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관계를 보존하고 총액 계산하기</a:t>
            </a:r>
          </a:p>
          <a:p>
            <a:r>
              <a:rPr sz="1100" b="1">
                <a:solidFill>
                  <a:srgbClr val="000000"/>
                </a:solidFill>
                <a:latin typeface="맑은 고딕"/>
                <a:ea typeface="맑은 고딕"/>
              </a:rPr>
              <a:t>10. 코드와 검사로 이어지는 자리</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- 27 -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1842998"/>
            <a:ext cx="8412480" cy="219456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    public </a:t>
            </a:r>
            <a:r>
              <a:rPr sz="900" b="1">
                <a:solidFill>
                  <a:srgbClr val="000000"/>
                </a:solidFill>
                <a:latin typeface="Consolas"/>
                <a:ea typeface="맑은 고딕"/>
              </a:rPr>
              <a:t>Order</a:t>
            </a:r>
            <a:r>
              <a:rPr sz="900" b="0">
                <a:solidFill>
                  <a:srgbClr val="000000"/>
                </a:solidFill>
                <a:latin typeface="Consolas"/>
                <a:ea typeface="맑은 고딕"/>
              </a:rPr>
              <a:t>(OrderNumber number, List&lt;OrderItem&gt; items, Address shippingAddress) {</a:t>
            </a:r>
          </a:p>
          <a:p>
            <a:pPr marL="0" indent="0" algn="l">
              <a:lnSpc>
                <a:spcPts val="1080"/>
              </a:lnSpc>
              <a:spcBef>
                <a:spcPts val="0"/>
              </a:spcBef>
              <a:spcAft>
                <a:spcPts val="0"/>
              </a:spcAft>
              <a:buNone/>
            </a:pPr>
            <a:r>
              <a:rPr sz="900" b="0">
                <a:solidFill>
                  <a:srgbClr val="000000"/>
                </a:solidFill>
                <a:latin typeface="Consolas"/>
                <a:ea typeface="맑은 고딕"/>
              </a:rPr>
              <a:t>        if (items.isEmpty()) throw new IllegalArgumentException("주문 항목은 1개 이상");</a:t>
            </a:r>
          </a:p>
          <a:p>
            <a:pPr marL="0" indent="0" algn="l">
              <a:lnSpc>
                <a:spcPts val="1080"/>
              </a:lnSpc>
              <a:spcBef>
                <a:spcPts val="0"/>
              </a:spcBef>
              <a:spcAft>
                <a:spcPts val="0"/>
              </a:spcAft>
              <a:buNone/>
            </a:pPr>
            <a:r>
              <a:rPr sz="900" b="0">
                <a:solidFill>
                  <a:srgbClr val="000000"/>
                </a:solidFill>
                <a:latin typeface="Consolas"/>
                <a:ea typeface="맑은 고딕"/>
              </a:rPr>
              <a:t>        this.number = Objects.requireNonNull(number);</a:t>
            </a:r>
          </a:p>
          <a:p>
            <a:pPr marL="0" indent="0" algn="l">
              <a:lnSpc>
                <a:spcPts val="1080"/>
              </a:lnSpc>
              <a:spcBef>
                <a:spcPts val="0"/>
              </a:spcBef>
              <a:spcAft>
                <a:spcPts val="0"/>
              </a:spcAft>
              <a:buNone/>
            </a:pPr>
            <a:r>
              <a:rPr sz="900" b="0">
                <a:solidFill>
                  <a:srgbClr val="000000"/>
                </a:solidFill>
                <a:latin typeface="Consolas"/>
                <a:ea typeface="맑은 고딕"/>
              </a:rPr>
              <a:t>        this.items = List.copyOf(items);</a:t>
            </a:r>
          </a:p>
          <a:p>
            <a:pPr marL="0" indent="0" algn="l">
              <a:lnSpc>
                <a:spcPts val="1080"/>
              </a:lnSpc>
              <a:spcBef>
                <a:spcPts val="0"/>
              </a:spcBef>
              <a:spcAft>
                <a:spcPts val="0"/>
              </a:spcAft>
              <a:buNone/>
            </a:pPr>
            <a:r>
              <a:rPr sz="900" b="0">
                <a:solidFill>
                  <a:srgbClr val="000000"/>
                </a:solidFill>
                <a:latin typeface="Consolas"/>
                <a:ea typeface="맑은 고딕"/>
              </a:rPr>
              <a:t>        this.shippingAddress = Objects.requireNonNull(shippingAddress);</a:t>
            </a:r>
          </a:p>
          <a:p>
            <a:pPr marL="0" indent="0" algn="l">
              <a:lnSpc>
                <a:spcPts val="1080"/>
              </a:lnSpc>
              <a:spcBef>
                <a:spcPts val="0"/>
              </a:spcBef>
              <a:spcAft>
                <a:spcPts val="0"/>
              </a:spcAft>
              <a:buNone/>
            </a:pPr>
            <a:r>
              <a:rPr sz="900" b="0">
                <a:solidFill>
                  <a:srgbClr val="000000"/>
                </a:solidFill>
                <a:latin typeface="Consolas"/>
                <a:ea typeface="맑은 고딕"/>
              </a:rPr>
              <a:t>    }</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    // ... 조회 메서드 생략</a:t>
            </a:r>
          </a:p>
          <a:p>
            <a:pPr marL="0" indent="0" algn="l">
              <a:lnSpc>
                <a:spcPts val="1080"/>
              </a:lnSpc>
              <a:spcBef>
                <a:spcPts val="0"/>
              </a:spcBef>
              <a:spcAft>
                <a:spcPts val="0"/>
              </a:spcAft>
              <a:buNone/>
            </a:pPr>
            <a:r>
              <a:rPr sz="900" b="0">
                <a:solidFill>
                  <a:srgbClr val="000000"/>
                </a:solidFill>
                <a:latin typeface="Consolas"/>
                <a:ea typeface="맑은 고딕"/>
              </a:rPr>
              <a:t>    public Money </a:t>
            </a:r>
            <a:r>
              <a:rPr sz="900" b="1">
                <a:solidFill>
                  <a:srgbClr val="000000"/>
                </a:solidFill>
                <a:latin typeface="Consolas"/>
                <a:ea typeface="맑은 고딕"/>
              </a:rPr>
              <a:t>totalAmount</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Money total = Money.ZERO;</a:t>
            </a:r>
          </a:p>
          <a:p>
            <a:pPr marL="0" indent="0" algn="l">
              <a:lnSpc>
                <a:spcPts val="1080"/>
              </a:lnSpc>
              <a:spcBef>
                <a:spcPts val="0"/>
              </a:spcBef>
              <a:spcAft>
                <a:spcPts val="0"/>
              </a:spcAft>
              <a:buNone/>
            </a:pPr>
            <a:r>
              <a:rPr sz="900" b="0">
                <a:solidFill>
                  <a:srgbClr val="000000"/>
                </a:solidFill>
                <a:latin typeface="Consolas"/>
                <a:ea typeface="맑은 고딕"/>
              </a:rPr>
              <a:t>        for (OrderItem item : items) {</a:t>
            </a:r>
          </a:p>
          <a:p>
            <a:pPr marL="0" indent="0" algn="l">
              <a:lnSpc>
                <a:spcPts val="1080"/>
              </a:lnSpc>
              <a:spcBef>
                <a:spcPts val="0"/>
              </a:spcBef>
              <a:spcAft>
                <a:spcPts val="0"/>
              </a:spcAft>
              <a:buNone/>
            </a:pPr>
            <a:r>
              <a:rPr sz="900" b="0">
                <a:solidFill>
                  <a:srgbClr val="000000"/>
                </a:solidFill>
                <a:latin typeface="Consolas"/>
                <a:ea typeface="맑은 고딕"/>
              </a:rPr>
              <a:t>            total = total.plus(item.unitPrice().times(item.quantity()));</a:t>
            </a:r>
          </a:p>
          <a:p>
            <a:pPr marL="0" indent="0" algn="l">
              <a:lnSpc>
                <a:spcPts val="1080"/>
              </a:lnSpc>
              <a:spcBef>
                <a:spcPts val="0"/>
              </a:spcBef>
              <a:spcAft>
                <a:spcPts val="0"/>
              </a:spcAft>
              <a:buNone/>
            </a:pP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return total;</a:t>
            </a:r>
          </a:p>
          <a:p>
            <a:pPr marL="0" indent="0" algn="l">
              <a:lnSpc>
                <a:spcPts val="1080"/>
              </a:lnSpc>
              <a:spcBef>
                <a:spcPts val="0"/>
              </a:spcBef>
              <a:spcAft>
                <a:spcPts val="0"/>
              </a:spcAft>
              <a:buNone/>
            </a:pPr>
            <a:r>
              <a:rPr sz="900" b="0">
                <a:solidFill>
                  <a:srgbClr val="000000"/>
                </a:solidFill>
                <a:latin typeface="Consolas"/>
                <a:ea typeface="맑은 고딕"/>
              </a:rPr>
              <a:t>    }</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1">
                <a:solidFill>
                  <a:srgbClr val="000000"/>
                </a:solidFill>
                <a:latin typeface="맑은 고딕"/>
                <a:ea typeface="맑은 고딕"/>
              </a:rPr>
              <a:t>확정된 항목을 보존하고 그 단가를 합산하면</a:t>
            </a:r>
            <a:r>
              <a:rPr sz="1800" b="0">
                <a:solidFill>
                  <a:srgbClr val="000000"/>
                </a:solidFill>
                <a:latin typeface="맑은 고딕"/>
                <a:ea typeface="맑은 고딕"/>
              </a:rPr>
              <a:t> 현재 판매가를 다시 읽지 않고 총액을 계산할 수 있다.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4266158"/>
            <a:ext cx="8412480" cy="195072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List.copyOf</a:t>
            </a:r>
            <a:r>
              <a:rPr sz="1800" b="0">
                <a:solidFill>
                  <a:srgbClr val="000000"/>
                </a:solidFill>
                <a:latin typeface="맑은 고딕"/>
                <a:ea typeface="맑은 고딕"/>
              </a:rPr>
              <a:t>는 호출자의 목록과 </a:t>
            </a:r>
            <a:r>
              <a:rPr sz="1800" b="1">
                <a:solidFill>
                  <a:srgbClr val="000000"/>
                </a:solidFill>
                <a:latin typeface="맑은 고딕"/>
                <a:ea typeface="맑은 고딕"/>
              </a:rPr>
              <a:t>주문이 보존한 목록</a:t>
            </a:r>
            <a:r>
              <a:rPr sz="1800" b="0">
                <a:solidFill>
                  <a:srgbClr val="000000"/>
                </a:solidFill>
                <a:latin typeface="맑은 고딕"/>
                <a:ea typeface="맑은 고딕"/>
              </a:rPr>
              <a:t>을 분리한다. 항목도 불변 값으로 두어 바깥에서 단가·수량을 교체하지 못하게 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totalAmount()</a:t>
            </a:r>
            <a:r>
              <a:rPr sz="1800" b="0">
                <a:solidFill>
                  <a:srgbClr val="000000"/>
                </a:solidFill>
                <a:latin typeface="맑은 고딕"/>
                <a:ea typeface="맑은 고딕"/>
              </a:rPr>
              <a:t>는 </a:t>
            </a:r>
            <a:r>
              <a:rPr sz="1800" b="1">
                <a:solidFill>
                  <a:srgbClr val="000000"/>
                </a:solidFill>
                <a:latin typeface="맑은 고딕"/>
                <a:ea typeface="맑은 고딕"/>
              </a:rPr>
              <a:t>모든 항목</a:t>
            </a:r>
            <a:r>
              <a:rPr sz="1800" b="0">
                <a:solidFill>
                  <a:srgbClr val="000000"/>
                </a:solidFill>
                <a:latin typeface="맑은 고딕"/>
                <a:ea typeface="맑은 고딕"/>
              </a:rPr>
              <a:t>을 순회하고 </a:t>
            </a:r>
            <a:r>
              <a:rPr sz="1800" b="0">
                <a:solidFill>
                  <a:srgbClr val="000000"/>
                </a:solidFill>
                <a:latin typeface="맑은 고딕"/>
                <a:ea typeface="맑은 고딕"/>
              </a:rPr>
              <a:t>unitPrice</a:t>
            </a:r>
            <a:r>
              <a:rPr sz="1800" b="0">
                <a:solidFill>
                  <a:srgbClr val="000000"/>
                </a:solidFill>
                <a:latin typeface="맑은 고딕"/>
                <a:ea typeface="맑은 고딕"/>
              </a:rPr>
              <a:t>를 사용한다. 상품의 현재 </a:t>
            </a:r>
            <a:r>
              <a:rPr sz="1800" b="0">
                <a:solidFill>
                  <a:srgbClr val="000000"/>
                </a:solidFill>
                <a:latin typeface="맑은 고딕"/>
                <a:ea typeface="맑은 고딕"/>
              </a:rPr>
              <a:t>salePrice</a:t>
            </a:r>
            <a:r>
              <a:rPr sz="1800" b="0">
                <a:solidFill>
                  <a:srgbClr val="000000"/>
                </a:solidFill>
                <a:latin typeface="맑은 고딕"/>
                <a:ea typeface="맑은 고딕"/>
              </a:rPr>
              <a:t>를 읽는 의존이 없다.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총액을 </a:t>
            </a:r>
            <a:r>
              <a:rPr sz="1800" b="1">
                <a:solidFill>
                  <a:srgbClr val="000000"/>
                </a:solidFill>
                <a:latin typeface="맑은 고딕"/>
                <a:ea typeface="맑은 고딕"/>
              </a:rPr>
              <a:t>계산</a:t>
            </a:r>
            <a:r>
              <a:rPr sz="1800" b="0">
                <a:solidFill>
                  <a:srgbClr val="000000"/>
                </a:solidFill>
                <a:latin typeface="맑은 고딕"/>
                <a:ea typeface="맑은 고딕"/>
              </a:rPr>
              <a:t>하면 항목 합계와 별도 저장 총액이 어긋나는 자리를 줄인다. 저장하는 설계도 가능하지만 일치 조건을 지켜야 한다.</a:t>
            </a:r>
          </a:p>
        </p:txBody>
      </p:sp>
    </p:spTree>
    <p:extLst>
      <p:ext uri="{BB962C8B-B14F-4D97-AF65-F5344CB8AC3E}">
        <p14:creationId xmlns:p14="http://schemas.microsoft.com/office/powerpoint/2010/main" val="377335152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가격 변경을 실행해 확인하기</a:t>
            </a:r>
          </a:p>
          <a:p>
            <a:r>
              <a:rPr sz="1100" b="1">
                <a:solidFill>
                  <a:srgbClr val="000000"/>
                </a:solidFill>
                <a:latin typeface="맑은 고딕"/>
                <a:ea typeface="맑은 고딕"/>
              </a:rPr>
              <a:t>10. 코드와 검사로 이어지는 자리</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- 28 -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1842998"/>
            <a:ext cx="8412480" cy="219456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        Product pen = new Product(new ProductNumber("PEN"), new Money(1000));</a:t>
            </a:r>
          </a:p>
          <a:p>
            <a:pPr marL="0" indent="0" algn="l">
              <a:lnSpc>
                <a:spcPts val="1080"/>
              </a:lnSpc>
              <a:spcBef>
                <a:spcPts val="0"/>
              </a:spcBef>
              <a:spcAft>
                <a:spcPts val="0"/>
              </a:spcAft>
              <a:buNone/>
            </a:pPr>
            <a:r>
              <a:rPr sz="900" b="0">
                <a:solidFill>
                  <a:srgbClr val="000000"/>
                </a:solidFill>
                <a:latin typeface="Consolas"/>
                <a:ea typeface="맑은 고딕"/>
              </a:rPr>
              <a:t>        OrderItem item = OrderItem.confirm(pen, new Quantity(2));</a:t>
            </a:r>
          </a:p>
          <a:p>
            <a:pPr marL="0" indent="0" algn="l">
              <a:lnSpc>
                <a:spcPts val="1080"/>
              </a:lnSpc>
              <a:spcBef>
                <a:spcPts val="0"/>
              </a:spcBef>
              <a:spcAft>
                <a:spcPts val="0"/>
              </a:spcAft>
              <a:buNone/>
            </a:pPr>
            <a:r>
              <a:rPr sz="900" b="0">
                <a:solidFill>
                  <a:srgbClr val="000000"/>
                </a:solidFill>
                <a:latin typeface="Consolas"/>
                <a:ea typeface="맑은 고딕"/>
              </a:rPr>
              <a:t>        var inputItems = new ArrayList&lt;&gt;(List.of(item));</a:t>
            </a:r>
          </a:p>
          <a:p>
            <a:pPr marL="0" indent="0" algn="l">
              <a:lnSpc>
                <a:spcPts val="1080"/>
              </a:lnSpc>
              <a:spcBef>
                <a:spcPts val="0"/>
              </a:spcBef>
              <a:spcAft>
                <a:spcPts val="0"/>
              </a:spcAft>
              <a:buNone/>
            </a:pPr>
            <a:r>
              <a:rPr sz="900" b="0">
                <a:solidFill>
                  <a:srgbClr val="000000"/>
                </a:solidFill>
                <a:latin typeface="Consolas"/>
                <a:ea typeface="맑은 고딕"/>
              </a:rPr>
              <a:t>        Order order = new Order(new OrderNumber("ORDER"), inputItems, new Address("서울"));</a:t>
            </a:r>
          </a:p>
          <a:p>
            <a:pPr marL="0" indent="0" algn="l">
              <a:lnSpc>
                <a:spcPts val="1080"/>
              </a:lnSpc>
              <a:spcBef>
                <a:spcPts val="0"/>
              </a:spcBef>
              <a:spcAft>
                <a:spcPts val="0"/>
              </a:spcAft>
              <a:buNone/>
            </a:pPr>
            <a:r>
              <a:rPr sz="900" b="0">
                <a:solidFill>
                  <a:srgbClr val="000000"/>
                </a:solidFill>
                <a:latin typeface="Consolas"/>
                <a:ea typeface="맑은 고딕"/>
              </a:rPr>
              <a:t>        equal(new Money(2000), order.totalAmount(), "단가×수량의 합");</a:t>
            </a:r>
          </a:p>
          <a:p>
            <a:pPr marL="0" indent="0" algn="l">
              <a:lnSpc>
                <a:spcPts val="1080"/>
              </a:lnSpc>
              <a:spcBef>
                <a:spcPts val="0"/>
              </a:spcBef>
              <a:spcAft>
                <a:spcPts val="0"/>
              </a:spcAft>
              <a:buNone/>
            </a:pPr>
            <a:r>
              <a:rPr sz="900" b="0">
                <a:solidFill>
                  <a:srgbClr val="000000"/>
                </a:solidFill>
                <a:latin typeface="Consolas"/>
                <a:ea typeface="맑은 고딕"/>
              </a:rPr>
              <a:t>        equal(new ProductNumber("PEN"), item.productNumber(), "상품 식별자 유지");</a:t>
            </a:r>
          </a:p>
          <a:p>
            <a:pPr marL="0" indent="0" algn="l">
              <a:lnSpc>
                <a:spcPts val="1080"/>
              </a:lnSpc>
              <a:spcBef>
                <a:spcPts val="0"/>
              </a:spcBef>
              <a:spcAft>
                <a:spcPts val="0"/>
              </a:spcAft>
              <a:buNone/>
            </a:pPr>
            <a:r>
              <a:rPr sz="900" b="0">
                <a:solidFill>
                  <a:srgbClr val="000000"/>
                </a:solidFill>
                <a:latin typeface="Consolas"/>
                <a:ea typeface="맑은 고딕"/>
              </a:rPr>
              <a:t>        equal(new Address("서울"), order.shippingAddress(), "배송지 유지");</a:t>
            </a:r>
          </a:p>
          <a:p>
            <a:pPr marL="0" indent="0" algn="l">
              <a:lnSpc>
                <a:spcPts val="1080"/>
              </a:lnSpc>
              <a:spcBef>
                <a:spcPts val="0"/>
              </a:spcBef>
              <a:spcAft>
                <a:spcPts val="0"/>
              </a:spcAft>
              <a:buNone/>
            </a:pPr>
            <a:r>
              <a:rPr sz="900" b="0">
                <a:solidFill>
                  <a:srgbClr val="000000"/>
                </a:solidFill>
                <a:latin typeface="Consolas"/>
                <a:ea typeface="맑은 고딕"/>
              </a:rPr>
              <a:t>        equal(OrderStatus.PENDING_PAYMENT, order.status(), "생성 상태");</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        pen.changeSalePrice(new Money(1200));</a:t>
            </a:r>
          </a:p>
          <a:p>
            <a:pPr marL="0" indent="0" algn="l">
              <a:lnSpc>
                <a:spcPts val="1080"/>
              </a:lnSpc>
              <a:spcBef>
                <a:spcPts val="0"/>
              </a:spcBef>
              <a:spcAft>
                <a:spcPts val="0"/>
              </a:spcAft>
              <a:buNone/>
            </a:pPr>
            <a:r>
              <a:rPr sz="900" b="0">
                <a:solidFill>
                  <a:srgbClr val="000000"/>
                </a:solidFill>
                <a:latin typeface="Consolas"/>
                <a:ea typeface="맑은 고딕"/>
              </a:rPr>
              <a:t>        equal(new Money(1200), pen.salePrice(), "상품의 현재 판매가 변경");</a:t>
            </a:r>
          </a:p>
          <a:p>
            <a:pPr marL="0" indent="0" algn="l">
              <a:lnSpc>
                <a:spcPts val="1080"/>
              </a:lnSpc>
              <a:spcBef>
                <a:spcPts val="0"/>
              </a:spcBef>
              <a:spcAft>
                <a:spcPts val="0"/>
              </a:spcAft>
              <a:buNone/>
            </a:pPr>
            <a:r>
              <a:rPr sz="900" b="0">
                <a:solidFill>
                  <a:srgbClr val="000000"/>
                </a:solidFill>
                <a:latin typeface="Consolas"/>
                <a:ea typeface="맑은 고딕"/>
              </a:rPr>
              <a:t>        equal(new Money(1000), item.unitPrice(), "기존 항목의 확정 단가 유지");</a:t>
            </a:r>
          </a:p>
          <a:p>
            <a:pPr marL="0" indent="0" algn="l">
              <a:lnSpc>
                <a:spcPts val="1080"/>
              </a:lnSpc>
              <a:spcBef>
                <a:spcPts val="0"/>
              </a:spcBef>
              <a:spcAft>
                <a:spcPts val="0"/>
              </a:spcAft>
              <a:buNone/>
            </a:pPr>
            <a:r>
              <a:rPr sz="900" b="0">
                <a:solidFill>
                  <a:srgbClr val="000000"/>
                </a:solidFill>
                <a:latin typeface="Consolas"/>
                <a:ea typeface="맑은 고딕"/>
              </a:rPr>
              <a:t>        equal(new Money(2000), order.totalAmount(), "가격 변경 후 기존 주문 총액 유지");</a:t>
            </a:r>
          </a:p>
          <a:p>
            <a:pPr marL="0" indent="0" algn="l">
              <a:lnSpc>
                <a:spcPts val="1080"/>
              </a:lnSpc>
              <a:spcBef>
                <a:spcPts val="0"/>
              </a:spcBef>
              <a:spcAft>
                <a:spcPts val="0"/>
              </a:spcAft>
              <a:buNone/>
            </a:pPr>
            <a:r>
              <a:rPr sz="900" b="0">
                <a:solidFill>
                  <a:srgbClr val="000000"/>
                </a:solidFill>
                <a:latin typeface="Consolas"/>
                <a:ea typeface="맑은 고딕"/>
              </a:rPr>
              <a:t>        equal(new Money(1200), OrderItem.confirm(pen, new Quantity(2)).unitPrice(),</a:t>
            </a:r>
          </a:p>
          <a:p>
            <a:pPr marL="0" indent="0" algn="l">
              <a:lnSpc>
                <a:spcPts val="1080"/>
              </a:lnSpc>
              <a:spcBef>
                <a:spcPts val="0"/>
              </a:spcBef>
              <a:spcAft>
                <a:spcPts val="0"/>
              </a:spcAft>
              <a:buNone/>
            </a:pPr>
            <a:r>
              <a:rPr sz="900" b="0">
                <a:solidFill>
                  <a:srgbClr val="000000"/>
                </a:solidFill>
                <a:latin typeface="Consolas"/>
                <a:ea typeface="맑은 고딕"/>
              </a:rPr>
              <a:t>              "이후 확정하는 항목은 현재 판매가 사용");</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1">
                <a:solidFill>
                  <a:srgbClr val="000000"/>
                </a:solidFill>
                <a:latin typeface="맑은 고딕"/>
                <a:ea typeface="맑은 고딕"/>
              </a:rPr>
              <a:t>가격 변경 전후를 비교하는 테스트</a:t>
            </a:r>
            <a:r>
              <a:rPr sz="1800" b="0">
                <a:solidFill>
                  <a:srgbClr val="000000"/>
                </a:solidFill>
                <a:latin typeface="맑은 고딕"/>
                <a:ea typeface="맑은 고딕"/>
              </a:rPr>
              <a:t>는 확정 단가와 현재 판매가를 혼동한 구현을 드러낸다.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4266158"/>
            <a:ext cx="8412480" cy="195072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먼저 기존 주문 총액이 </a:t>
            </a:r>
            <a:r>
              <a:rPr sz="1800" b="1">
                <a:solidFill>
                  <a:srgbClr val="000000"/>
                </a:solidFill>
                <a:latin typeface="맑은 고딕"/>
                <a:ea typeface="맑은 고딕"/>
              </a:rPr>
              <a:t>2,000원</a:t>
            </a:r>
            <a:r>
              <a:rPr sz="1800" b="0">
                <a:solidFill>
                  <a:srgbClr val="000000"/>
                </a:solidFill>
                <a:latin typeface="맑은 고딕"/>
                <a:ea typeface="맑은 고딕"/>
              </a:rPr>
              <a:t>인지 예측한다. 판매가를 바꾼 뒤에는 상품 </a:t>
            </a:r>
            <a:r>
              <a:rPr sz="1800" b="1">
                <a:solidFill>
                  <a:srgbClr val="000000"/>
                </a:solidFill>
                <a:latin typeface="맑은 고딕"/>
                <a:ea typeface="맑은 고딕"/>
              </a:rPr>
              <a:t>1,200원</a:t>
            </a:r>
            <a:r>
              <a:rPr sz="1800" b="0">
                <a:solidFill>
                  <a:srgbClr val="000000"/>
                </a:solidFill>
                <a:latin typeface="맑은 고딕"/>
                <a:ea typeface="맑은 고딕"/>
              </a:rPr>
              <a:t>, 기존 항목 </a:t>
            </a:r>
            <a:r>
              <a:rPr sz="1800" b="1">
                <a:solidFill>
                  <a:srgbClr val="000000"/>
                </a:solidFill>
                <a:latin typeface="맑은 고딕"/>
                <a:ea typeface="맑은 고딕"/>
              </a:rPr>
              <a:t>1,000원</a:t>
            </a:r>
            <a:r>
              <a:rPr sz="1800" b="0">
                <a:solidFill>
                  <a:srgbClr val="000000"/>
                </a:solidFill>
                <a:latin typeface="맑은 고딕"/>
                <a:ea typeface="맑은 고딕"/>
              </a:rPr>
              <a:t>을 각각 확인한다.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마지막 검사는 </a:t>
            </a:r>
            <a:r>
              <a:rPr sz="1800" b="1">
                <a:solidFill>
                  <a:srgbClr val="000000"/>
                </a:solidFill>
                <a:latin typeface="맑은 고딕"/>
                <a:ea typeface="맑은 고딕"/>
              </a:rPr>
              <a:t>새로 확정하는 항목</a:t>
            </a:r>
            <a:r>
              <a:rPr sz="1800" b="0">
                <a:solidFill>
                  <a:srgbClr val="000000"/>
                </a:solidFill>
                <a:latin typeface="맑은 고딕"/>
                <a:ea typeface="맑은 고딕"/>
              </a:rPr>
              <a:t>의 단가다. 기존 값의 보존과 새로운 값의 반영을 함께 확인한다.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펜 2개인 주문이 통과해도 </a:t>
            </a:r>
            <a:r>
              <a:rPr sz="1800" b="1">
                <a:solidFill>
                  <a:srgbClr val="000000"/>
                </a:solidFill>
                <a:latin typeface="맑은 고딕"/>
                <a:ea typeface="맑은 고딕"/>
              </a:rPr>
              <a:t>결제 요청 금액·배송 요청 순서</a:t>
            </a:r>
            <a:r>
              <a:rPr sz="1800" b="0">
                <a:solidFill>
                  <a:srgbClr val="000000"/>
                </a:solidFill>
                <a:latin typeface="맑은 고딕"/>
                <a:ea typeface="맑은 고딕"/>
              </a:rPr>
              <a:t>는 아직 확인하지 않았다. 그 기대값은 해당 행동의 검사로 연결한다.</a:t>
            </a:r>
          </a:p>
        </p:txBody>
      </p:sp>
    </p:spTree>
    <p:extLst>
      <p:ext uri="{BB962C8B-B14F-4D97-AF65-F5344CB8AC3E}">
        <p14:creationId xmlns:p14="http://schemas.microsoft.com/office/powerpoint/2010/main" val="377335152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경계와 검사 범위</a:t>
            </a:r>
          </a:p>
          <a:p>
            <a:r>
              <a:rPr sz="1100" b="1">
                <a:solidFill>
                  <a:srgbClr val="000000"/>
                </a:solidFill>
                <a:latin typeface="맑은 고딕"/>
                <a:ea typeface="맑은 고딕"/>
              </a:rPr>
              <a:t>10. 코드와 검사로 이어지는 자리</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863406" y="2112010"/>
          <a:ext cx="3403600" cy="1728000"/>
        </p:xfrm>
        <a:graphic>
          <a:graphicData uri="http://schemas.openxmlformats.org/drawingml/2006/table">
            <a:tbl>
              <a:tblPr/>
              <a:tblGrid>
                <a:gridCol w="947420"/>
                <a:gridCol w="24561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검사 대상</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실행하는 확인</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계산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단가×수량, 전 항목 합산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확정 값</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가격 변경 뒤 단가·총액 유지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관계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빈 주문 거절, 목록 변경 방지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값</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수량 0·음수 거절, 금액 0 허용</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표현 범위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long 덧셈·곱셈 범위 초과 검출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계산·값·관계의 검사</a:t>
            </a:r>
            <a:r>
              <a:rPr sz="1800" b="0">
                <a:solidFill>
                  <a:srgbClr val="000000"/>
                </a:solidFill>
                <a:latin typeface="맑은 고딕"/>
                <a:ea typeface="맑은 고딕"/>
              </a:rPr>
              <a:t>를 나누면 어느 의미를 어겼는지 더 가까이에서 알 수 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실행하는 검사와 남은 범위</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068610"/>
            <a:ext cx="8412480" cy="195072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18개 검사 묶음</a:t>
            </a:r>
            <a:r>
              <a:rPr sz="1800" b="0">
                <a:solidFill>
                  <a:srgbClr val="000000"/>
                </a:solidFill>
                <a:latin typeface="맑은 고딕"/>
                <a:ea typeface="맑은 고딕"/>
              </a:rPr>
              <a:t>을 통과했다. 합산은 </a:t>
            </a:r>
            <a:r>
              <a:rPr sz="1800" b="1">
                <a:solidFill>
                  <a:srgbClr val="000000"/>
                </a:solidFill>
                <a:latin typeface="맑은 고딕"/>
                <a:ea typeface="맑은 고딕"/>
              </a:rPr>
              <a:t>계산 입력 1~20개</a:t>
            </a:r>
            <a:r>
              <a:rPr sz="1800" b="0">
                <a:solidFill>
                  <a:srgbClr val="000000"/>
                </a:solidFill>
                <a:latin typeface="맑은 고딕"/>
                <a:ea typeface="맑은 고딕"/>
              </a:rPr>
              <a:t>로 확인했으며, 중복 상품의 병합 정책을 검사한 것은 아니다.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결제·배송·전이·영속·외부 조회의 동시성</a:t>
            </a:r>
            <a:r>
              <a:rPr sz="1800" b="0">
                <a:solidFill>
                  <a:srgbClr val="000000"/>
                </a:solidFill>
                <a:latin typeface="맑은 고딕"/>
                <a:ea typeface="맑은 고딕"/>
              </a:rPr>
              <a:t>은 확인하지 않았다. 승인 뒤 배송 요청 실패는 미정이다.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실패하면 </a:t>
            </a:r>
            <a:r>
              <a:rPr sz="1800" b="1">
                <a:solidFill>
                  <a:srgbClr val="000000"/>
                </a:solidFill>
                <a:latin typeface="맑은 고딕"/>
                <a:ea typeface="맑은 고딕"/>
              </a:rPr>
              <a:t>기대값·모델·구현</a:t>
            </a:r>
            <a:r>
              <a:rPr sz="1800" b="0">
                <a:solidFill>
                  <a:srgbClr val="000000"/>
                </a:solidFill>
                <a:latin typeface="맑은 고딕"/>
                <a:ea typeface="맑은 고딕"/>
              </a:rPr>
              <a:t>을 대조한다. 통과시키려고 단가의 뜻을 현재 판매가로 바꾸지 않는다.</a:t>
            </a:r>
          </a:p>
        </p:txBody>
      </p:sp>
    </p:spTree>
    <p:extLst>
      <p:ext uri="{BB962C8B-B14F-4D97-AF65-F5344CB8AC3E}">
        <p14:creationId xmlns:p14="http://schemas.microsoft.com/office/powerpoint/2010/main" val="278956947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11.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79436" y="2112010"/>
          <a:ext cx="5971540" cy="1728000"/>
        </p:xfrm>
        <a:graphic>
          <a:graphicData uri="http://schemas.openxmlformats.org/drawingml/2006/table">
            <a:tbl>
              <a:tblPr/>
              <a:tblGrid>
                <a:gridCol w="2344420"/>
                <a:gridCol w="1673860"/>
                <a:gridCol w="19532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관행</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놓친 의미</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바꿀 판단</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가격을 price 하나로 표현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현재 값과 확정 값</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판매가·단가를 구별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명사마다 클래스를 추가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현재 업무의 범위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요구·예에서 근거 확인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항목 없이 상품만 연결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주문별 수량·단가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항목으로 조건 표현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DB 구조를 그대로 모델로 사용</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업무의 개념과 관계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먼저 업무 문장으로 읽기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다이어그램만 검토</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값·관계의 실제 모순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구체 예와 실행 검사</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이름만 맞추고 값의 의미와 관계를 확인하지 않으면</a:t>
            </a:r>
            <a:r>
              <a:rPr sz="1800" b="0">
                <a:solidFill>
                  <a:srgbClr val="000000"/>
                </a:solidFill>
                <a:latin typeface="맑은 고딕"/>
                <a:ea typeface="맑은 고딕"/>
              </a:rPr>
              <a:t> 같은 오류가 코드에 남는다.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정적 모델의 잘못된 관행</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068610"/>
            <a:ext cx="8412480" cy="195072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표기가 맞아도 </a:t>
            </a:r>
            <a:r>
              <a:rPr sz="1800" b="1">
                <a:solidFill>
                  <a:srgbClr val="000000"/>
                </a:solidFill>
                <a:latin typeface="맑은 고딕"/>
                <a:ea typeface="맑은 고딕"/>
              </a:rPr>
              <a:t>업무 의미</a:t>
            </a:r>
            <a:r>
              <a:rPr sz="1800" b="0">
                <a:solidFill>
                  <a:srgbClr val="000000"/>
                </a:solidFill>
                <a:latin typeface="맑은 고딕"/>
                <a:ea typeface="맑은 고딕"/>
              </a:rPr>
              <a:t>는 틀릴 수 있다. 선의 개수를 맞춘 뒤 같은 주문에 값을 넣어 확인한다.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모델을 세밀하게 그리는 데서 멈추지 않는다. </a:t>
            </a:r>
            <a:r>
              <a:rPr sz="1800" b="1">
                <a:solidFill>
                  <a:srgbClr val="000000"/>
                </a:solidFill>
                <a:latin typeface="맑은 고딕"/>
                <a:ea typeface="맑은 고딕"/>
              </a:rPr>
              <a:t>다음 구현과 검사의 판단이 달라지는 정보</a:t>
            </a:r>
            <a:r>
              <a:rPr sz="1800" b="0">
                <a:solidFill>
                  <a:srgbClr val="000000"/>
                </a:solidFill>
                <a:latin typeface="맑은 고딕"/>
                <a:ea typeface="맑은 고딕"/>
              </a:rPr>
              <a:t>를 남긴다.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상태 전이·서비스·저장소를 한 도식에 모으면 질문이 섞인다. </a:t>
            </a:r>
            <a:r>
              <a:rPr sz="1800" b="1">
                <a:solidFill>
                  <a:srgbClr val="000000"/>
                </a:solidFill>
                <a:latin typeface="맑은 고딕"/>
                <a:ea typeface="맑은 고딕"/>
              </a:rPr>
              <a:t>개념의 의미와 실현 방법</a:t>
            </a:r>
            <a:r>
              <a:rPr sz="1800" b="0">
                <a:solidFill>
                  <a:srgbClr val="000000"/>
                </a:solidFill>
                <a:latin typeface="맑은 고딕"/>
                <a:ea typeface="맑은 고딕"/>
              </a:rPr>
              <a:t>을 구별해 검토한다.</a:t>
            </a:r>
          </a:p>
        </p:txBody>
      </p:sp>
    </p:spTree>
    <p:extLst>
      <p:ext uri="{BB962C8B-B14F-4D97-AF65-F5344CB8AC3E}">
        <p14:creationId xmlns:p14="http://schemas.microsoft.com/office/powerpoint/2010/main" val="278956947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12. 실습 4 — 정적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1441450"/>
            <a:ext cx="4069080" cy="4776470"/>
          </a:xfrm>
        </p:spPr>
        <p:txBody>
          <a:bodyPr>
            <a:normAutofit/>
          </a:bodyPr>
          <a:lstStyle/>
          <a:p>
            <a:pPr lvl="2" marL="723900" indent="-368300">
              <a:spcBef>
                <a:spcPts val="300"/>
              </a:spcBef>
              <a:spcAft>
                <a:spcPts val="300"/>
              </a:spcAft>
              <a:buSzPct val="90000"/>
              <a:buFont typeface="Wingdings" pitchFamily="2" charset="2"/>
              <a:buChar char=""/>
            </a:pPr>
            <a:r>
              <a:rPr sz="1400" b="1">
                <a:solidFill>
                  <a:srgbClr val="000000"/>
                </a:solidFill>
                <a:latin typeface="맑은 고딕"/>
                <a:ea typeface="맑은 고딕"/>
              </a:rPr>
              <a:t>투입물</a:t>
            </a:r>
          </a:p>
          <a:p>
            <a:pPr lvl="3" marL="723900" indent="0">
              <a:spcBef>
                <a:spcPts val="300"/>
              </a:spcBef>
              <a:spcAft>
                <a:spcPts val="300"/>
              </a:spcAft>
              <a:buNone/>
            </a:pPr>
            <a:r>
              <a:rPr sz="1200" b="0">
                <a:solidFill>
                  <a:srgbClr val="000000"/>
                </a:solidFill>
                <a:latin typeface="맑은 고딕"/>
                <a:ea typeface="맑은 고딕"/>
              </a:rPr>
              <a:t>실습 3의 </a:t>
            </a:r>
            <a:r>
              <a:rPr sz="1200" b="1">
                <a:solidFill>
                  <a:srgbClr val="000000"/>
                </a:solidFill>
                <a:latin typeface="맑은 고딕"/>
                <a:ea typeface="맑은 고딕"/>
              </a:rPr>
              <a:t>요구사항 정의서</a:t>
            </a:r>
            <a:r>
              <a:rPr sz="1200" b="0">
                <a:solidFill>
                  <a:srgbClr val="000000"/>
                </a:solidFill>
                <a:latin typeface="맑은 고딕"/>
                <a:ea typeface="맑은 고딕"/>
              </a:rPr>
              <a:t>(</a:t>
            </a:r>
            <a:r>
              <a:rPr sz="1200" b="0">
                <a:solidFill>
                  <a:srgbClr val="000000"/>
                </a:solidFill>
                <a:latin typeface="맑은 고딕"/>
                <a:ea typeface="맑은 고딕"/>
              </a:rPr>
              <a:t>주문한다-요구사항-정의서.md</a:t>
            </a:r>
            <a:r>
              <a:rPr sz="1200" b="0">
                <a:solidFill>
                  <a:srgbClr val="000000"/>
                </a:solidFill>
                <a:latin typeface="맑은 고딕"/>
                <a:ea typeface="맑은 고딕"/>
              </a:rPr>
              <a:t>)</a:t>
            </a:r>
          </a:p>
          <a:p>
            <a:pPr lvl="2" marL="723900" indent="-368300">
              <a:spcBef>
                <a:spcPts val="300"/>
              </a:spcBef>
              <a:spcAft>
                <a:spcPts val="300"/>
              </a:spcAft>
              <a:buSzPct val="90000"/>
              <a:buFont typeface="Wingdings" pitchFamily="2" charset="2"/>
              <a:buChar char=""/>
            </a:pPr>
            <a:r>
              <a:rPr sz="1400" b="1">
                <a:solidFill>
                  <a:srgbClr val="000000"/>
                </a:solidFill>
                <a:latin typeface="맑은 고딕"/>
                <a:ea typeface="맑은 고딕"/>
              </a:rPr>
              <a:t>프롬프트 —</a:t>
            </a:r>
            <a:r>
              <a:rPr sz="1200" b="1">
                <a:solidFill>
                  <a:srgbClr val="000000"/>
                </a:solidFill>
                <a:latin typeface="맑은 고딕"/>
                <a:ea typeface="맑은 고딕"/>
              </a:rPr>
              <a:t> 요청사항 포함</a:t>
            </a:r>
          </a:p>
          <a:p>
            <a:pPr lvl="3" marL="981075" indent="-268288">
              <a:spcBef>
                <a:spcPts val="300"/>
              </a:spcBef>
              <a:spcAft>
                <a:spcPts val="300"/>
              </a:spcAft>
              <a:buFont typeface="+mj-ea"/>
              <a:buAutoNum type="circleNumDbPlain" startAt="1"/>
            </a:pPr>
            <a:r>
              <a:rPr sz="1200" b="0">
                <a:solidFill>
                  <a:srgbClr val="000000"/>
                </a:solidFill>
                <a:latin typeface="맑은 고딕"/>
                <a:ea typeface="맑은 고딕"/>
              </a:rPr>
              <a:t>"실습 3의 요구사항 정의서로 </a:t>
            </a:r>
            <a:r>
              <a:rPr sz="1200" b="1">
                <a:solidFill>
                  <a:srgbClr val="000000"/>
                </a:solidFill>
                <a:latin typeface="맑은 고딕"/>
                <a:ea typeface="맑은 고딕"/>
              </a:rPr>
              <a:t>도메인 모델의 정적 구조</a:t>
            </a:r>
            <a:r>
              <a:rPr sz="1200" b="0">
                <a:solidFill>
                  <a:srgbClr val="000000"/>
                </a:solidFill>
                <a:latin typeface="맑은 고딕"/>
                <a:ea typeface="맑은 고딕"/>
              </a:rPr>
              <a:t>를 제안해라. 용어·개념·관계·속성·조건을 담고 클래스 다이어그램과 같은 뜻의 목록을 보여 주고 없는 정책은 질문해라. 설계·구현·상태 전이는 만들지 마라."</a:t>
            </a:r>
          </a:p>
          <a:p>
            <a:pPr lvl="3" marL="981075" indent="-268288">
              <a:spcBef>
                <a:spcPts val="300"/>
              </a:spcBef>
              <a:spcAft>
                <a:spcPts val="300"/>
              </a:spcAft>
              <a:buFont typeface="+mj-ea"/>
              <a:buAutoNum type="circleNumDbPlain" startAt="2"/>
            </a:pPr>
            <a:r>
              <a:rPr sz="1200" b="0">
                <a:solidFill>
                  <a:srgbClr val="000000"/>
                </a:solidFill>
                <a:latin typeface="맑은 고딕"/>
                <a:ea typeface="맑은 고딕"/>
              </a:rPr>
              <a:t>"[앞선 질문에 대한 답]과 [추가 질문·수정 요청]을 적는다. </a:t>
            </a:r>
            <a:r>
              <a:rPr sz="1200" b="1">
                <a:solidFill>
                  <a:srgbClr val="000000"/>
                </a:solidFill>
                <a:latin typeface="맑은 고딕"/>
                <a:ea typeface="맑은 고딕"/>
              </a:rPr>
              <a:t>근거 없는 개념·속성</a:t>
            </a:r>
            <a:r>
              <a:rPr sz="1200" b="0">
                <a:solidFill>
                  <a:srgbClr val="000000"/>
                </a:solidFill>
                <a:latin typeface="맑은 고딕"/>
                <a:ea typeface="맑은 고딕"/>
              </a:rPr>
              <a:t>을 걸러내고 현재 판매가와 확정 단가를 구별해라."</a:t>
            </a:r>
          </a:p>
          <a:p>
            <a:pPr lvl="3" marL="981075" indent="-268288">
              <a:spcBef>
                <a:spcPts val="300"/>
              </a:spcBef>
              <a:spcAft>
                <a:spcPts val="300"/>
              </a:spcAft>
              <a:buFont typeface="+mj-ea"/>
              <a:buAutoNum type="circleNumDbPlain" startAt="3"/>
            </a:pPr>
            <a:r>
              <a:rPr sz="1200" b="0">
                <a:solidFill>
                  <a:srgbClr val="000000"/>
                </a:solidFill>
                <a:latin typeface="맑은 고딕"/>
                <a:ea typeface="맑은 고딕"/>
              </a:rPr>
              <a:t>"[앞선 질문에 대한 답]과 [추가 질문·수정 요청]을 적는다. </a:t>
            </a:r>
            <a:r>
              <a:rPr sz="1200" b="1">
                <a:solidFill>
                  <a:srgbClr val="000000"/>
                </a:solidFill>
                <a:latin typeface="맑은 고딕"/>
                <a:ea typeface="맑은 고딕"/>
              </a:rPr>
              <a:t>관계의 개수·값의 범위·불변 조건</a:t>
            </a:r>
            <a:r>
              <a:rPr sz="1200" b="0">
                <a:solidFill>
                  <a:srgbClr val="000000"/>
                </a:solidFill>
                <a:latin typeface="맑은 고딕"/>
                <a:ea typeface="맑은 고딕"/>
              </a:rPr>
              <a:t>을 구체적인 주문에 대입해 확인하고 생성 시점과 변경 뒤의 조건을 구별해라."</a:t>
            </a:r>
          </a:p>
          <a:p>
            <a:pPr lvl="3" marL="981075" indent="-268288">
              <a:spcBef>
                <a:spcPts val="300"/>
              </a:spcBef>
              <a:spcAft>
                <a:spcPts val="300"/>
              </a:spcAft>
              <a:buFont typeface="+mj-ea"/>
              <a:buAutoNum type="circleNumDbPlain" startAt="4"/>
            </a:pPr>
            <a:r>
              <a:rPr sz="1200" b="0">
                <a:solidFill>
                  <a:srgbClr val="000000"/>
                </a:solidFill>
                <a:latin typeface="맑은 고딕"/>
                <a:ea typeface="맑은 고딕"/>
              </a:rPr>
              <a:t>"[앞선 질문에 대한 답]과 [추가 질문·수정 요청]을 적는다. </a:t>
            </a:r>
            <a:r>
              <a:rPr sz="1200" b="1">
                <a:solidFill>
                  <a:srgbClr val="000000"/>
                </a:solidFill>
                <a:latin typeface="맑은 고딕"/>
                <a:ea typeface="맑은 고딕"/>
              </a:rPr>
              <a:t>도식과 목록의 이름·관계·조건</a:t>
            </a:r>
            <a:r>
              <a:rPr sz="1200" b="0">
                <a:solidFill>
                  <a:srgbClr val="000000"/>
                </a:solidFill>
                <a:latin typeface="맑은 고딕"/>
                <a:ea typeface="맑은 고딕"/>
              </a:rPr>
              <a:t>을 대조하고 필요한 미정만 이유와 함께 남겨라."</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481330"/>
          </a:xfrm>
        </p:spPr>
        <p:txBody>
          <a:bodyPr>
            <a:normAutofit/>
          </a:bodyPr>
          <a:lstStyle/>
          <a:p>
            <a:pPr marL="0" indent="0">
              <a:spcBef>
                <a:spcPts val="300"/>
              </a:spcBef>
              <a:spcAft>
                <a:spcPts val="300"/>
              </a:spcAft>
              <a:buNone/>
            </a:pPr>
            <a:r>
              <a:rPr sz="1400" b="0">
                <a:solidFill>
                  <a:srgbClr val="000000"/>
                </a:solidFill>
                <a:latin typeface="맑은 고딕"/>
                <a:ea typeface="맑은 고딕"/>
              </a:rPr>
              <a:t>②~④에 </a:t>
            </a:r>
            <a:r>
              <a:rPr sz="1400" b="1">
                <a:solidFill>
                  <a:srgbClr val="000000"/>
                </a:solidFill>
                <a:latin typeface="맑은 고딕"/>
                <a:ea typeface="맑은 고딕"/>
              </a:rPr>
              <a:t>질문의 답과 수정 요청</a:t>
            </a:r>
            <a:r>
              <a:rPr sz="1400" b="0">
                <a:solidFill>
                  <a:srgbClr val="000000"/>
                </a:solidFill>
                <a:latin typeface="맑은 고딕"/>
                <a:ea typeface="맑은 고딕"/>
              </a:rPr>
              <a:t>을 적어 도메인 모델의 정적 구조를 완성한다.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709160" y="1441450"/>
            <a:ext cx="4069080" cy="4776470"/>
          </a:xfrm>
        </p:spPr>
        <p:txBody>
          <a:bodyPr>
            <a:normAutofit/>
          </a:bodyPr>
          <a:lstStyle/>
          <a:p>
            <a:pPr lvl="3" marL="981075" indent="-268288">
              <a:spcBef>
                <a:spcPts val="300"/>
              </a:spcBef>
              <a:spcAft>
                <a:spcPts val="300"/>
              </a:spcAft>
              <a:buFont typeface="+mj-ea"/>
              <a:buAutoNum type="circleNumDbPlain" startAt="5"/>
            </a:pPr>
            <a:r>
              <a:rPr sz="1200" b="0">
                <a:solidFill>
                  <a:srgbClr val="000000"/>
                </a:solidFill>
                <a:latin typeface="맑은 고딕"/>
                <a:ea typeface="맑은 고딕"/>
              </a:rPr>
              <a:t>"합의한 </a:t>
            </a:r>
            <a:r>
              <a:rPr sz="1200" b="1">
                <a:solidFill>
                  <a:srgbClr val="000000"/>
                </a:solidFill>
                <a:latin typeface="맑은 고딕"/>
                <a:ea typeface="맑은 고딕"/>
              </a:rPr>
              <a:t>도메인 모델의 정적 관점을 Markdown 파일</a:t>
            </a:r>
            <a:r>
              <a:rPr sz="1200" b="0">
                <a:solidFill>
                  <a:srgbClr val="000000"/>
                </a:solidFill>
                <a:latin typeface="맑은 고딕"/>
                <a:ea typeface="맑은 고딕"/>
              </a:rPr>
              <a:t>로 생성해라. 용어·관계·속성·조건·클래스 다이어그램 원본과 대표 예를 보존하고 새 정책·설계는 추가하지 마라."</a:t>
            </a:r>
          </a:p>
          <a:p>
            <a:pPr lvl="2" marL="723900" indent="-368300">
              <a:spcBef>
                <a:spcPts val="300"/>
              </a:spcBef>
              <a:spcAft>
                <a:spcPts val="300"/>
              </a:spcAft>
              <a:buSzPct val="90000"/>
              <a:buFont typeface="Wingdings" pitchFamily="2" charset="2"/>
              <a:buChar char=""/>
            </a:pPr>
            <a:r>
              <a:rPr sz="1400" b="1">
                <a:solidFill>
                  <a:srgbClr val="000000"/>
                </a:solidFill>
                <a:latin typeface="맑은 고딕"/>
                <a:ea typeface="맑은 고딕"/>
              </a:rPr>
              <a:t>점검 항목</a:t>
            </a:r>
          </a:p>
          <a:p>
            <a:pPr lvl="3" marL="1028700" indent="-304800">
              <a:spcBef>
                <a:spcPts val="300"/>
              </a:spcBef>
              <a:spcAft>
                <a:spcPts val="300"/>
              </a:spcAft>
              <a:buFont typeface="+mj-lt"/>
              <a:buAutoNum type="arabicPeriod" startAt="1"/>
            </a:pPr>
            <a:r>
              <a:rPr sz="1200" b="0">
                <a:solidFill>
                  <a:srgbClr val="000000"/>
                </a:solidFill>
                <a:latin typeface="맑은 고딕"/>
                <a:ea typeface="맑은 고딕"/>
              </a:rPr>
              <a:t/>
            </a:r>
            <a:r>
              <a:rPr sz="1200" b="1">
                <a:solidFill>
                  <a:srgbClr val="000000"/>
                </a:solidFill>
                <a:latin typeface="맑은 고딕"/>
                <a:ea typeface="맑은 고딕"/>
              </a:rPr>
              <a:t>근거</a:t>
            </a:r>
            <a:r>
              <a:rPr sz="1200" b="0">
                <a:solidFill>
                  <a:srgbClr val="000000"/>
                </a:solidFill>
                <a:latin typeface="맑은 고딕"/>
                <a:ea typeface="맑은 고딕"/>
              </a:rPr>
              <a:t> —</a:t>
            </a:r>
            <a:r>
              <a:rPr sz="1000" b="0">
                <a:solidFill>
                  <a:srgbClr val="000000"/>
                </a:solidFill>
                <a:latin typeface="맑은 고딕"/>
                <a:ea typeface="맑은 고딕"/>
              </a:rPr>
              <a:t> 요구에 없는 개념·속성을 확정했는가?</a:t>
            </a:r>
          </a:p>
          <a:p>
            <a:pPr lvl="3" marL="1028700" indent="-304800">
              <a:spcBef>
                <a:spcPts val="300"/>
              </a:spcBef>
              <a:spcAft>
                <a:spcPts val="300"/>
              </a:spcAft>
              <a:buFont typeface="+mj-lt"/>
              <a:buAutoNum type="arabicPeriod" startAt="2"/>
            </a:pPr>
            <a:r>
              <a:rPr sz="1200" b="0">
                <a:solidFill>
                  <a:srgbClr val="000000"/>
                </a:solidFill>
                <a:latin typeface="맑은 고딕"/>
                <a:ea typeface="맑은 고딕"/>
              </a:rPr>
              <a:t/>
            </a:r>
            <a:r>
              <a:rPr sz="1200" b="1">
                <a:solidFill>
                  <a:srgbClr val="000000"/>
                </a:solidFill>
                <a:latin typeface="맑은 고딕"/>
                <a:ea typeface="맑은 고딕"/>
              </a:rPr>
              <a:t>의미</a:t>
            </a:r>
            <a:r>
              <a:rPr sz="1200" b="0">
                <a:solidFill>
                  <a:srgbClr val="000000"/>
                </a:solidFill>
                <a:latin typeface="맑은 고딕"/>
                <a:ea typeface="맑은 고딕"/>
              </a:rPr>
              <a:t> —</a:t>
            </a:r>
            <a:r>
              <a:rPr sz="1000" b="0">
                <a:solidFill>
                  <a:srgbClr val="000000"/>
                </a:solidFill>
                <a:latin typeface="맑은 고딕"/>
                <a:ea typeface="맑은 고딕"/>
              </a:rPr>
              <a:t> 판매가와 단가의 시점이 구별되는가?</a:t>
            </a:r>
          </a:p>
          <a:p>
            <a:pPr lvl="3" marL="1028700" indent="-304800">
              <a:spcBef>
                <a:spcPts val="300"/>
              </a:spcBef>
              <a:spcAft>
                <a:spcPts val="300"/>
              </a:spcAft>
              <a:buFont typeface="+mj-lt"/>
              <a:buAutoNum type="arabicPeriod" startAt="3"/>
            </a:pPr>
            <a:r>
              <a:rPr sz="1200" b="0">
                <a:solidFill>
                  <a:srgbClr val="000000"/>
                </a:solidFill>
                <a:latin typeface="맑은 고딕"/>
                <a:ea typeface="맑은 고딕"/>
              </a:rPr>
              <a:t/>
            </a:r>
            <a:r>
              <a:rPr sz="1200" b="1">
                <a:solidFill>
                  <a:srgbClr val="000000"/>
                </a:solidFill>
                <a:latin typeface="맑은 고딕"/>
                <a:ea typeface="맑은 고딕"/>
              </a:rPr>
              <a:t>관계</a:t>
            </a:r>
            <a:r>
              <a:rPr sz="1200" b="0">
                <a:solidFill>
                  <a:srgbClr val="000000"/>
                </a:solidFill>
                <a:latin typeface="맑은 고딕"/>
                <a:ea typeface="맑은 고딕"/>
              </a:rPr>
              <a:t> —</a:t>
            </a:r>
            <a:r>
              <a:rPr sz="1000" b="0">
                <a:solidFill>
                  <a:srgbClr val="000000"/>
                </a:solidFill>
                <a:latin typeface="맑은 고딕"/>
                <a:ea typeface="맑은 고딕"/>
              </a:rPr>
              <a:t> 도식과 목록의 대상·개수가 같은가?</a:t>
            </a:r>
          </a:p>
          <a:p>
            <a:pPr lvl="3" marL="1028700" indent="-304800">
              <a:spcBef>
                <a:spcPts val="300"/>
              </a:spcBef>
              <a:spcAft>
                <a:spcPts val="300"/>
              </a:spcAft>
              <a:buFont typeface="+mj-lt"/>
              <a:buAutoNum type="arabicPeriod" startAt="4"/>
            </a:pPr>
            <a:r>
              <a:rPr sz="1200" b="0">
                <a:solidFill>
                  <a:srgbClr val="000000"/>
                </a:solidFill>
                <a:latin typeface="맑은 고딕"/>
                <a:ea typeface="맑은 고딕"/>
              </a:rPr>
              <a:t/>
            </a:r>
            <a:r>
              <a:rPr sz="1200" b="1">
                <a:solidFill>
                  <a:srgbClr val="000000"/>
                </a:solidFill>
                <a:latin typeface="맑은 고딕"/>
                <a:ea typeface="맑은 고딕"/>
              </a:rPr>
              <a:t>조건</a:t>
            </a:r>
            <a:r>
              <a:rPr sz="1200" b="0">
                <a:solidFill>
                  <a:srgbClr val="000000"/>
                </a:solidFill>
                <a:latin typeface="맑은 고딕"/>
                <a:ea typeface="맑은 고딕"/>
              </a:rPr>
              <a:t> —</a:t>
            </a:r>
            <a:r>
              <a:rPr sz="1000" b="0">
                <a:solidFill>
                  <a:srgbClr val="000000"/>
                </a:solidFill>
                <a:latin typeface="맑은 고딕"/>
                <a:ea typeface="맑은 고딕"/>
              </a:rPr>
              <a:t> 합계·값의 범위·변경 전후를 예로 확인했는가?</a:t>
            </a:r>
          </a:p>
          <a:p>
            <a:pPr lvl="3" marL="1028700" indent="-304800">
              <a:spcBef>
                <a:spcPts val="300"/>
              </a:spcBef>
              <a:spcAft>
                <a:spcPts val="300"/>
              </a:spcAft>
              <a:buFont typeface="+mj-lt"/>
              <a:buAutoNum type="arabicPeriod" startAt="5"/>
            </a:pPr>
            <a:r>
              <a:rPr sz="1200" b="0">
                <a:solidFill>
                  <a:srgbClr val="000000"/>
                </a:solidFill>
                <a:latin typeface="맑은 고딕"/>
                <a:ea typeface="맑은 고딕"/>
              </a:rPr>
              <a:t/>
            </a:r>
            <a:r>
              <a:rPr sz="1200" b="1">
                <a:solidFill>
                  <a:srgbClr val="000000"/>
                </a:solidFill>
                <a:latin typeface="맑은 고딕"/>
                <a:ea typeface="맑은 고딕"/>
              </a:rPr>
              <a:t>경계</a:t>
            </a:r>
            <a:r>
              <a:rPr sz="1200" b="0">
                <a:solidFill>
                  <a:srgbClr val="000000"/>
                </a:solidFill>
                <a:latin typeface="맑은 고딕"/>
                <a:ea typeface="맑은 고딕"/>
              </a:rPr>
              <a:t> —</a:t>
            </a:r>
            <a:r>
              <a:rPr sz="1000" b="0">
                <a:solidFill>
                  <a:srgbClr val="000000"/>
                </a:solidFill>
                <a:latin typeface="맑은 고딕"/>
                <a:ea typeface="맑은 고딕"/>
              </a:rPr>
              <a:t> 구현 결정과 미정 정책을 섞지 않았는가?</a:t>
            </a:r>
          </a:p>
          <a:p>
            <a:pPr lvl="2" marL="723900" indent="-368300">
              <a:spcBef>
                <a:spcPts val="300"/>
              </a:spcBef>
              <a:spcAft>
                <a:spcPts val="300"/>
              </a:spcAft>
              <a:buSzPct val="90000"/>
              <a:buFont typeface="Wingdings" pitchFamily="2" charset="2"/>
              <a:buChar char=""/>
            </a:pPr>
            <a:r>
              <a:rPr sz="1400" b="1">
                <a:solidFill>
                  <a:srgbClr val="000000"/>
                </a:solidFill>
                <a:latin typeface="맑은 고딕"/>
                <a:ea typeface="맑은 고딕"/>
              </a:rPr>
              <a:t>결과물</a:t>
            </a:r>
          </a:p>
          <a:p>
            <a:pPr lvl="3" marL="723900" indent="0">
              <a:spcBef>
                <a:spcPts val="300"/>
              </a:spcBef>
              <a:spcAft>
                <a:spcPts val="300"/>
              </a:spcAft>
              <a:buNone/>
            </a:pPr>
            <a:r>
              <a:rPr sz="1200" b="0">
                <a:solidFill>
                  <a:srgbClr val="000000"/>
                </a:solidFill>
                <a:latin typeface="맑은 고딕"/>
                <a:ea typeface="맑은 고딕"/>
              </a:rPr>
              <a:t>주문한다-정적모델.md</a:t>
            </a:r>
            <a:r>
              <a:rPr sz="1200" b="0">
                <a:solidFill>
                  <a:srgbClr val="000000"/>
                </a:solidFill>
                <a:latin typeface="맑은 고딕"/>
                <a:ea typeface="맑은 고딕"/>
              </a:rPr>
              <a:t> —</a:t>
            </a:r>
            <a:r>
              <a:rPr sz="1000" b="0">
                <a:solidFill>
                  <a:srgbClr val="000000"/>
                </a:solidFill>
                <a:latin typeface="맑은 고딕"/>
                <a:ea typeface="맑은 고딕"/>
              </a:rPr>
              <a:t> 도메인 모델의 정적 관점을 담아 저장소의 </a:t>
            </a:r>
            <a:r>
              <a:rPr sz="1000" b="0">
                <a:solidFill>
                  <a:srgbClr val="000000"/>
                </a:solidFill>
                <a:latin typeface="맑은 고딕"/>
                <a:ea typeface="맑은 고딕"/>
              </a:rPr>
              <a:t>docs</a:t>
            </a:r>
            <a:r>
              <a:rPr sz="1000" b="0">
                <a:solidFill>
                  <a:srgbClr val="000000"/>
                </a:solidFill>
                <a:latin typeface="맑은 고딕"/>
                <a:ea typeface="맑은 고딕"/>
              </a:rPr>
              <a:t>에 두고 커밋한다. </a:t>
            </a:r>
            <a:r>
              <a:rPr sz="1000" b="1">
                <a:solidFill>
                  <a:srgbClr val="000000"/>
                </a:solidFill>
                <a:latin typeface="맑은 고딕"/>
                <a:ea typeface="맑은 고딕"/>
              </a:rPr>
              <a:t>실습 5의 투입물</a:t>
            </a:r>
            <a:r>
              <a:rPr sz="1000" b="0">
                <a:solidFill>
                  <a:srgbClr val="000000"/>
                </a:solidFill>
                <a:latin typeface="맑은 고딕"/>
                <a:ea typeface="맑은 고딕"/>
              </a:rPr>
              <a:t>이며 요구사항 정의서와 함께 첨부한다</a:t>
            </a:r>
          </a:p>
        </p:txBody>
      </p:sp>
    </p:spTree>
    <p:extLst>
      <p:ext uri="{BB962C8B-B14F-4D97-AF65-F5344CB8AC3E}">
        <p14:creationId xmlns:p14="http://schemas.microsoft.com/office/powerpoint/2010/main" val="355543667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13.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342900" indent="0">
              <a:spcBef>
                <a:spcPts val="600"/>
              </a:spcBef>
              <a:spcAft>
                <a:spcPts val="600"/>
              </a:spcAft>
              <a:buNone/>
            </a:pPr>
            <a:r>
              <a:rPr sz="1800" b="1">
                <a:solidFill>
                  <a:srgbClr val="000000"/>
                </a:solidFill>
                <a:latin typeface="맑은 고딕"/>
                <a:ea typeface="맑은 고딕"/>
              </a:rPr>
              <a:t>같은 것을 같은 이름으로</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용어집</a:t>
            </a:r>
            <a:r>
              <a:rPr sz="1800" b="0">
                <a:solidFill>
                  <a:srgbClr val="000000"/>
                </a:solidFill>
                <a:latin typeface="맑은 고딕"/>
                <a:ea typeface="맑은 고딕"/>
              </a:rPr>
              <a:t>은 업무의 뜻을 고정하고 코드의 이름으로 이어진다.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판매가와 단가</a:t>
            </a:r>
            <a:r>
              <a:rPr sz="1800" b="0">
                <a:solidFill>
                  <a:srgbClr val="000000"/>
                </a:solidFill>
                <a:latin typeface="맑은 고딕"/>
                <a:ea typeface="맑은 고딕"/>
              </a:rPr>
              <a:t>는 현재 값과 확정 값이므로 구별한다.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도메인 모델</a:t>
            </a:r>
            <a:r>
              <a:rPr sz="1800" b="0">
                <a:solidFill>
                  <a:srgbClr val="000000"/>
                </a:solidFill>
                <a:latin typeface="맑은 고딕"/>
                <a:ea typeface="맑은 고딕"/>
              </a:rPr>
              <a:t>은 정적 구조와 동적 행위를 함께 설명한다.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불변 조건</a:t>
            </a:r>
            <a:r>
              <a:rPr sz="1800" b="0">
                <a:solidFill>
                  <a:srgbClr val="000000"/>
                </a:solidFill>
                <a:latin typeface="맑은 고딕"/>
                <a:ea typeface="맑은 고딕"/>
              </a:rPr>
              <a:t>은 값·계산·변경 전후의 검사로 확인한다.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정적 구조의 관계와 조건</a:t>
            </a:r>
            <a:r>
              <a:rPr sz="1800" b="0">
                <a:solidFill>
                  <a:srgbClr val="000000"/>
                </a:solidFill>
                <a:latin typeface="맑은 고딕"/>
                <a:ea typeface="맑은 고딕"/>
              </a:rPr>
              <a:t>을 구체적인 주문과 대조해 검증한다.</a:t>
            </a:r>
          </a:p>
          <a:p>
            <a:pPr marL="342900" indent="0">
              <a:spcBef>
                <a:spcPts val="600"/>
              </a:spcBef>
              <a:spcAft>
                <a:spcPts val="600"/>
              </a:spcAft>
              <a:buNone/>
            </a:pPr>
            <a:r>
              <a:rPr sz="1800" b="1">
                <a:solidFill>
                  <a:srgbClr val="000000"/>
                </a:solidFill>
                <a:latin typeface="맑은 고딕"/>
                <a:ea typeface="맑은 고딕"/>
              </a:rPr>
              <a:t>다음 세션</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"세션 05. 동적 모델"은 </a:t>
            </a:r>
            <a:r>
              <a:rPr sz="1800" b="1">
                <a:solidFill>
                  <a:srgbClr val="000000"/>
                </a:solidFill>
                <a:latin typeface="맑은 고딕"/>
                <a:ea typeface="맑은 고딕"/>
              </a:rPr>
              <a:t>사건이 상태를 바꾸는 조건과 허용·금지된 순서</a:t>
            </a:r>
            <a:r>
              <a:rPr sz="1800" b="0">
                <a:solidFill>
                  <a:srgbClr val="000000"/>
                </a:solidFill>
                <a:latin typeface="맑은 고딕"/>
                <a:ea typeface="맑은 고딕"/>
              </a:rPr>
              <a:t>를 정한다.</a:t>
            </a:r>
          </a:p>
        </p:txBody>
      </p:sp>
    </p:spTree>
    <p:extLst>
      <p:ext uri="{BB962C8B-B14F-4D97-AF65-F5344CB8AC3E}">
        <p14:creationId xmlns:p14="http://schemas.microsoft.com/office/powerpoint/2010/main" val="355543667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“주문한다” 정적 업무 모델 </a:t>
            </a:r>
            <a:r>
              <a:rPr sz="2000" b="1">
                <a:solidFill>
                  <a:srgbClr val="000000"/>
                </a:solidFill>
                <a:latin typeface="맑은 고딕"/>
                <a:ea typeface="맑은 고딕"/>
              </a:rPr>
              <a:t>(1/4)</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04. 정적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4086428"/>
          </a:xfrm>
        </p:spPr>
        <p:txBody>
          <a:bodyPr>
            <a:normAutofit/>
          </a:bodyPr>
          <a:lstStyle/>
          <a:p>
            <a:pPr marL="182880" indent="0">
              <a:spcBef>
                <a:spcPts val="300"/>
              </a:spcBef>
              <a:spcAft>
                <a:spcPts val="300"/>
              </a:spcAft>
              <a:buNone/>
            </a:pPr>
            <a:r>
              <a:rPr sz="1000" b="0">
                <a:solidFill>
                  <a:srgbClr val="000000"/>
                </a:solidFill>
                <a:latin typeface="맑은 고딕"/>
                <a:ea typeface="맑은 고딕"/>
              </a:rPr>
              <a:t>이 정적 모델은 주문·주문 항목·상품의 관계와, 주문 생성 시점의 판매가를 단가로 확정하여 각 항목의 확정 단가에 수량을 곱한 금액의 합계로 주문 금액을 유지하는 조건을 명시한다.</a:t>
            </a:r>
          </a:p>
          <a:p>
            <a:pPr marL="322580" indent="-139700">
              <a:spcBef>
                <a:spcPts val="300"/>
              </a:spcBef>
              <a:spcAft>
                <a:spcPts val="300"/>
              </a:spcAft>
              <a:buNone/>
            </a:pPr>
            <a:r>
              <a:rPr sz="1000" b="1">
                <a:solidFill>
                  <a:srgbClr val="000000"/>
                </a:solidFill>
                <a:latin typeface="맑은 고딕"/>
                <a:ea typeface="맑은 고딕"/>
              </a:rPr>
              <a:t>1. 용어와 속성</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주문 </a:t>
            </a:r>
            <a:r>
              <a:rPr sz="1000" b="0">
                <a:solidFill>
                  <a:srgbClr val="000000"/>
                </a:solidFill>
                <a:latin typeface="맑은 고딕"/>
                <a:ea typeface="맑은 고딕"/>
              </a:rPr>
              <a:t>Order</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orderNumber: OrderNumber</a:t>
            </a:r>
            <a:r>
              <a:rPr sz="1000" b="0">
                <a:solidFill>
                  <a:srgbClr val="000000"/>
                </a:solidFill>
                <a:latin typeface="맑은 고딕"/>
                <a:ea typeface="맑은 고딕"/>
              </a:rPr>
              <a:t>: 주문 식별 값</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totalAmount: Money</a:t>
            </a:r>
            <a:r>
              <a:rPr sz="1000" b="0">
                <a:solidFill>
                  <a:srgbClr val="000000"/>
                </a:solidFill>
                <a:latin typeface="맑은 고딕"/>
                <a:ea typeface="맑은 고딕"/>
              </a:rPr>
              <a:t>: 주문 항목별 확정 단가와 수량으로 계산한 주문 금액</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shippingAddress: Address</a:t>
            </a:r>
            <a:r>
              <a:rPr sz="1000" b="0">
                <a:solidFill>
                  <a:srgbClr val="000000"/>
                </a:solidFill>
                <a:latin typeface="맑은 고딕"/>
                <a:ea typeface="맑은 고딕"/>
              </a:rPr>
              <a:t>: 주문 생성 시 확정된 배송지</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status: OrderStatus</a:t>
            </a:r>
            <a:r>
              <a:rPr sz="1000" b="0">
                <a:solidFill>
                  <a:srgbClr val="000000"/>
                </a:solidFill>
                <a:latin typeface="맑은 고딕"/>
                <a:ea typeface="맑은 고딕"/>
              </a:rPr>
              <a:t>: 주문의 현재 상태</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주문 항목 </a:t>
            </a:r>
            <a:r>
              <a:rPr sz="1000" b="0">
                <a:solidFill>
                  <a:srgbClr val="000000"/>
                </a:solidFill>
                <a:latin typeface="맑은 고딕"/>
                <a:ea typeface="맑은 고딕"/>
              </a:rPr>
              <a:t>OrderItem</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quantity: Quantity</a:t>
            </a:r>
            <a:r>
              <a:rPr sz="1000" b="0">
                <a:solidFill>
                  <a:srgbClr val="000000"/>
                </a:solidFill>
                <a:latin typeface="맑은 고딕"/>
                <a:ea typeface="맑은 고딕"/>
              </a:rPr>
              <a:t>: 주문한 상품의 수량</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unitPrice: Money</a:t>
            </a:r>
            <a:r>
              <a:rPr sz="1000" b="0">
                <a:solidFill>
                  <a:srgbClr val="000000"/>
                </a:solidFill>
                <a:latin typeface="맑은 고딕"/>
                <a:ea typeface="맑은 고딕"/>
              </a:rPr>
              <a:t>: 주문 생성 시점의 </a:t>
            </a:r>
            <a:r>
              <a:rPr sz="1000" b="0">
                <a:solidFill>
                  <a:srgbClr val="000000"/>
                </a:solidFill>
                <a:latin typeface="맑은 고딕"/>
                <a:ea typeface="맑은 고딕"/>
              </a:rPr>
              <a:t>salePrice</a:t>
            </a:r>
            <a:r>
              <a:rPr sz="1000" b="0">
                <a:solidFill>
                  <a:srgbClr val="000000"/>
                </a:solidFill>
                <a:latin typeface="맑은 고딕"/>
                <a:ea typeface="맑은 고딕"/>
              </a:rPr>
              <a:t>로 확정된 단가</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상품 </a:t>
            </a:r>
            <a:r>
              <a:rPr sz="1000" b="0">
                <a:solidFill>
                  <a:srgbClr val="000000"/>
                </a:solidFill>
                <a:latin typeface="맑은 고딕"/>
                <a:ea typeface="맑은 고딕"/>
              </a:rPr>
              <a:t>Product</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productNumber: ProductNumber</a:t>
            </a:r>
            <a:r>
              <a:rPr sz="1000" b="0">
                <a:solidFill>
                  <a:srgbClr val="000000"/>
                </a:solidFill>
                <a:latin typeface="맑은 고딕"/>
                <a:ea typeface="맑은 고딕"/>
              </a:rPr>
              <a:t>: 상품 식별 값</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salePrice: Money</a:t>
            </a:r>
            <a:r>
              <a:rPr sz="1000" b="0">
                <a:solidFill>
                  <a:srgbClr val="000000"/>
                </a:solidFill>
                <a:latin typeface="맑은 고딕"/>
                <a:ea typeface="맑은 고딕"/>
              </a:rPr>
              <a:t>: 상품의 현재 판매가</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Money</a:t>
            </a:r>
            <a:r>
              <a:rPr sz="1000" b="0">
                <a:solidFill>
                  <a:srgbClr val="000000"/>
                </a:solidFill>
                <a:latin typeface="맑은 고딕"/>
                <a:ea typeface="맑은 고딕"/>
              </a:rPr>
              <a:t>: 원 단위의 0 이상 정수</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Quantity</a:t>
            </a:r>
            <a:r>
              <a:rPr sz="1000" b="0">
                <a:solidFill>
                  <a:srgbClr val="000000"/>
                </a:solidFill>
                <a:latin typeface="맑은 고딕"/>
                <a:ea typeface="맑은 고딕"/>
              </a:rPr>
              <a:t>: 1 이상의 정수</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Address</a:t>
            </a:r>
            <a:r>
              <a:rPr sz="1000" b="0">
                <a:solidFill>
                  <a:srgbClr val="000000"/>
                </a:solidFill>
                <a:latin typeface="맑은 고딕"/>
                <a:ea typeface="맑은 고딕"/>
              </a:rPr>
              <a:t>: 주문에 확정된 배송지 값</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OrderNumber</a:t>
            </a:r>
            <a:r>
              <a:rPr sz="1000" b="0">
                <a:solidFill>
                  <a:srgbClr val="000000"/>
                </a:solidFill>
                <a:latin typeface="맑은 고딕"/>
                <a:ea typeface="맑은 고딕"/>
              </a:rPr>
              <a:t>: 주문 식별 값</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ProductNumber</a:t>
            </a:r>
            <a:r>
              <a:rPr sz="1000" b="0">
                <a:solidFill>
                  <a:srgbClr val="000000"/>
                </a:solidFill>
                <a:latin typeface="맑은 고딕"/>
                <a:ea typeface="맑은 고딕"/>
              </a:rPr>
              <a:t>: 상품 식별 값</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OrderStatus</a:t>
            </a:r>
            <a:r>
              <a:rPr sz="1000" b="0">
                <a:solidFill>
                  <a:srgbClr val="000000"/>
                </a:solidFill>
                <a:latin typeface="맑은 고딕"/>
                <a:ea typeface="맑은 고딕"/>
              </a:rPr>
              <a:t>: 주문의 현재 상태 값. 현재 확인된 값은 </a:t>
            </a:r>
            <a:r>
              <a:rPr sz="1000" b="0">
                <a:solidFill>
                  <a:srgbClr val="000000"/>
                </a:solidFill>
                <a:latin typeface="맑은 고딕"/>
                <a:ea typeface="맑은 고딕"/>
              </a:rPr>
              <a:t>PENDING_PAYMENT</a:t>
            </a:r>
            <a:r>
              <a:rPr sz="1000" b="0">
                <a:solidFill>
                  <a:srgbClr val="000000"/>
                </a:solidFill>
                <a:latin typeface="맑은 고딕"/>
                <a:ea typeface="맑은 고딕"/>
              </a:rPr>
              <a:t>와 </a:t>
            </a:r>
            <a:r>
              <a:rPr sz="1000" b="0">
                <a:solidFill>
                  <a:srgbClr val="000000"/>
                </a:solidFill>
                <a:latin typeface="맑은 고딕"/>
                <a:ea typeface="맑은 고딕"/>
              </a:rPr>
              <a:t>PAID</a:t>
            </a:r>
            <a:r>
              <a:rPr sz="1000" b="0">
                <a:solidFill>
                  <a:srgbClr val="000000"/>
                </a:solidFill>
                <a:latin typeface="맑은 고딕"/>
                <a:ea typeface="맑은 고딕"/>
              </a:rPr>
              <a:t>이며 가능한 상태 전체가 확정된 것은 아니다.</a:t>
            </a:r>
          </a:p>
        </p:txBody>
      </p:sp>
    </p:spTree>
    <p:extLst>
      <p:ext uri="{BB962C8B-B14F-4D97-AF65-F5344CB8AC3E}">
        <p14:creationId xmlns:p14="http://schemas.microsoft.com/office/powerpoint/2010/main" val="355543667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“주문한다” 정적 업무 모델 </a:t>
            </a:r>
            <a:r>
              <a:rPr sz="2000" b="1">
                <a:solidFill>
                  <a:srgbClr val="000000"/>
                </a:solidFill>
                <a:latin typeface="맑은 고딕"/>
                <a:ea typeface="맑은 고딕"/>
              </a:rPr>
              <a:t>(2/4)</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04. 정적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322580" indent="-139700">
              <a:spcBef>
                <a:spcPts val="300"/>
              </a:spcBef>
              <a:spcAft>
                <a:spcPts val="300"/>
              </a:spcAft>
              <a:buNone/>
            </a:pPr>
            <a:r>
              <a:rPr sz="1000" b="1">
                <a:solidFill>
                  <a:srgbClr val="000000"/>
                </a:solidFill>
                <a:latin typeface="맑은 고딕"/>
                <a:ea typeface="맑은 고딕"/>
              </a:rPr>
              <a:t>2. 클래스 도식과 관계</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관계선은 업무상 관계와 개수만 나타내며 연관 방향이나 저장 방식을 정하지 않는다.</a:t>
            </a:r>
          </a:p>
          <a:p>
            <a:pPr lvl="2" marL="551180" indent="-139700">
              <a:spcBef>
                <a:spcPts val="300"/>
              </a:spcBef>
              <a:spcAft>
                <a:spcPts val="300"/>
              </a:spcAft>
              <a:buNone/>
            </a:pPr>
            <a:r>
              <a:rPr sz="1000" b="0">
                <a:solidFill>
                  <a:srgbClr val="000000"/>
                </a:solidFill>
                <a:latin typeface="맑은 고딕"/>
                <a:ea typeface="맑은 고딕"/>
              </a:rPr>
              <a:t>1. 하나의 </a:t>
            </a:r>
            <a:r>
              <a:rPr sz="1000" b="0">
                <a:solidFill>
                  <a:srgbClr val="000000"/>
                </a:solidFill>
                <a:latin typeface="맑은 고딕"/>
                <a:ea typeface="맑은 고딕"/>
              </a:rPr>
              <a:t>Order</a:t>
            </a:r>
            <a:r>
              <a:rPr sz="1000" b="0">
                <a:solidFill>
                  <a:srgbClr val="000000"/>
                </a:solidFill>
                <a:latin typeface="맑은 고딕"/>
                <a:ea typeface="맑은 고딕"/>
              </a:rPr>
              <a:t>에는 </a:t>
            </a:r>
            <a:r>
              <a:rPr sz="1000" b="0">
                <a:solidFill>
                  <a:srgbClr val="000000"/>
                </a:solidFill>
                <a:latin typeface="맑은 고딕"/>
                <a:ea typeface="맑은 고딕"/>
              </a:rPr>
              <a:t>OrderItem</a:t>
            </a:r>
            <a:r>
              <a:rPr sz="1000" b="0">
                <a:solidFill>
                  <a:srgbClr val="000000"/>
                </a:solidFill>
                <a:latin typeface="맑은 고딕"/>
                <a:ea typeface="맑은 고딕"/>
              </a:rPr>
              <a:t>이 1개 이상 있다.</a:t>
            </a:r>
          </a:p>
          <a:p>
            <a:pPr lvl="2" marL="551180" indent="-139700">
              <a:spcBef>
                <a:spcPts val="300"/>
              </a:spcBef>
              <a:spcAft>
                <a:spcPts val="300"/>
              </a:spcAft>
              <a:buNone/>
            </a:pPr>
            <a:r>
              <a:rPr sz="1000" b="0">
                <a:solidFill>
                  <a:srgbClr val="000000"/>
                </a:solidFill>
                <a:latin typeface="맑은 고딕"/>
                <a:ea typeface="맑은 고딕"/>
              </a:rPr>
              <a:t>2. 하나의 </a:t>
            </a:r>
            <a:r>
              <a:rPr sz="1000" b="0">
                <a:solidFill>
                  <a:srgbClr val="000000"/>
                </a:solidFill>
                <a:latin typeface="맑은 고딕"/>
                <a:ea typeface="맑은 고딕"/>
              </a:rPr>
              <a:t>OrderItem</a:t>
            </a:r>
            <a:r>
              <a:rPr sz="1000" b="0">
                <a:solidFill>
                  <a:srgbClr val="000000"/>
                </a:solidFill>
                <a:latin typeface="맑은 고딕"/>
                <a:ea typeface="맑은 고딕"/>
              </a:rPr>
              <a:t>은 정확히 하나의 </a:t>
            </a:r>
            <a:r>
              <a:rPr sz="1000" b="0">
                <a:solidFill>
                  <a:srgbClr val="000000"/>
                </a:solidFill>
                <a:latin typeface="맑은 고딕"/>
                <a:ea typeface="맑은 고딕"/>
              </a:rPr>
              <a:t>Order</a:t>
            </a:r>
            <a:r>
              <a:rPr sz="1000" b="0">
                <a:solidFill>
                  <a:srgbClr val="000000"/>
                </a:solidFill>
                <a:latin typeface="맑은 고딕"/>
                <a:ea typeface="맑은 고딕"/>
              </a:rPr>
              <a:t>에 속한다.</a:t>
            </a:r>
          </a:p>
          <a:p>
            <a:pPr lvl="2" marL="551180" indent="-139700">
              <a:spcBef>
                <a:spcPts val="300"/>
              </a:spcBef>
              <a:spcAft>
                <a:spcPts val="300"/>
              </a:spcAft>
              <a:buNone/>
            </a:pPr>
            <a:r>
              <a:rPr sz="1000" b="0">
                <a:solidFill>
                  <a:srgbClr val="000000"/>
                </a:solidFill>
                <a:latin typeface="맑은 고딕"/>
                <a:ea typeface="맑은 고딕"/>
              </a:rPr>
              <a:t>3. 하나의 </a:t>
            </a:r>
            <a:r>
              <a:rPr sz="1000" b="0">
                <a:solidFill>
                  <a:srgbClr val="000000"/>
                </a:solidFill>
                <a:latin typeface="맑은 고딕"/>
                <a:ea typeface="맑은 고딕"/>
              </a:rPr>
              <a:t>OrderItem</a:t>
            </a:r>
            <a:r>
              <a:rPr sz="1000" b="0">
                <a:solidFill>
                  <a:srgbClr val="000000"/>
                </a:solidFill>
                <a:latin typeface="맑은 고딕"/>
                <a:ea typeface="맑은 고딕"/>
              </a:rPr>
              <a:t>은 정확히 하나의 </a:t>
            </a:r>
            <a:r>
              <a:rPr sz="1000" b="0">
                <a:solidFill>
                  <a:srgbClr val="000000"/>
                </a:solidFill>
                <a:latin typeface="맑은 고딕"/>
                <a:ea typeface="맑은 고딕"/>
              </a:rPr>
              <a:t>Product</a:t>
            </a:r>
            <a:r>
              <a:rPr sz="1000" b="0">
                <a:solidFill>
                  <a:srgbClr val="000000"/>
                </a:solidFill>
                <a:latin typeface="맑은 고딕"/>
                <a:ea typeface="맑은 고딕"/>
              </a:rPr>
              <a:t>에 해당한다.</a:t>
            </a:r>
          </a:p>
          <a:p>
            <a:pPr lvl="2" marL="551180" indent="-139700">
              <a:spcBef>
                <a:spcPts val="300"/>
              </a:spcBef>
              <a:spcAft>
                <a:spcPts val="300"/>
              </a:spcAft>
              <a:buNone/>
            </a:pPr>
            <a:r>
              <a:rPr sz="1000" b="0">
                <a:solidFill>
                  <a:srgbClr val="000000"/>
                </a:solidFill>
                <a:latin typeface="맑은 고딕"/>
                <a:ea typeface="맑은 고딕"/>
              </a:rPr>
              <a:t>4. 하나의 </a:t>
            </a:r>
            <a:r>
              <a:rPr sz="1000" b="0">
                <a:solidFill>
                  <a:srgbClr val="000000"/>
                </a:solidFill>
                <a:latin typeface="맑은 고딕"/>
                <a:ea typeface="맑은 고딕"/>
              </a:rPr>
              <a:t>Product</a:t>
            </a:r>
            <a:r>
              <a:rPr sz="1000" b="0">
                <a:solidFill>
                  <a:srgbClr val="000000"/>
                </a:solidFill>
                <a:latin typeface="맑은 고딕"/>
                <a:ea typeface="맑은 고딕"/>
              </a:rPr>
              <a:t>는 0개 이상의 </a:t>
            </a:r>
            <a:r>
              <a:rPr sz="1000" b="0">
                <a:solidFill>
                  <a:srgbClr val="000000"/>
                </a:solidFill>
                <a:latin typeface="맑은 고딕"/>
                <a:ea typeface="맑은 고딕"/>
              </a:rPr>
              <a:t>OrderItem</a:t>
            </a:r>
            <a:r>
              <a:rPr sz="1000" b="0">
                <a:solidFill>
                  <a:srgbClr val="000000"/>
                </a:solidFill>
                <a:latin typeface="맑은 고딕"/>
                <a:ea typeface="맑은 고딕"/>
              </a:rPr>
              <a:t>과 관계를 맺을 수 있다.</a:t>
            </a:r>
          </a:p>
          <a:p>
            <a:pPr marL="322580" indent="-139700">
              <a:spcBef>
                <a:spcPts val="300"/>
              </a:spcBef>
              <a:spcAft>
                <a:spcPts val="300"/>
              </a:spcAft>
              <a:buNone/>
            </a:pPr>
            <a:r>
              <a:rPr sz="1000" b="1">
                <a:solidFill>
                  <a:srgbClr val="000000"/>
                </a:solidFill>
                <a:latin typeface="맑은 고딕"/>
                <a:ea typeface="맑은 고딕"/>
              </a:rPr>
              <a:t>3. 조건과 대표 예</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salePrice</a:t>
            </a:r>
            <a:r>
              <a:rPr sz="1000" b="0">
                <a:solidFill>
                  <a:srgbClr val="000000"/>
                </a:solidFill>
                <a:latin typeface="맑은 고딕"/>
                <a:ea typeface="맑은 고딕"/>
              </a:rPr>
              <a:t>, </a:t>
            </a:r>
            <a:r>
              <a:rPr sz="1000" b="0">
                <a:solidFill>
                  <a:srgbClr val="000000"/>
                </a:solidFill>
                <a:latin typeface="맑은 고딕"/>
                <a:ea typeface="맑은 고딕"/>
              </a:rPr>
              <a:t>unitPrice</a:t>
            </a:r>
            <a:r>
              <a:rPr sz="1000" b="0">
                <a:solidFill>
                  <a:srgbClr val="000000"/>
                </a:solidFill>
                <a:latin typeface="맑은 고딕"/>
                <a:ea typeface="맑은 고딕"/>
              </a:rPr>
              <a:t>, </a:t>
            </a:r>
            <a:r>
              <a:rPr sz="1000" b="0">
                <a:solidFill>
                  <a:srgbClr val="000000"/>
                </a:solidFill>
                <a:latin typeface="맑은 고딕"/>
                <a:ea typeface="맑은 고딕"/>
              </a:rPr>
              <a:t>totalAmount</a:t>
            </a:r>
            <a:r>
              <a:rPr sz="1000" b="0">
                <a:solidFill>
                  <a:srgbClr val="000000"/>
                </a:solidFill>
                <a:latin typeface="맑은 고딕"/>
                <a:ea typeface="맑은 고딕"/>
              </a:rPr>
              <a:t>는 원 단위의 0 이상 정수다.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quantity</a:t>
            </a:r>
            <a:r>
              <a:rPr sz="1000" b="0">
                <a:solidFill>
                  <a:srgbClr val="000000"/>
                </a:solidFill>
                <a:latin typeface="맑은 고딕"/>
                <a:ea typeface="맑은 고딕"/>
              </a:rPr>
              <a:t>는 1 이상의 정수다.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하나의 </a:t>
            </a:r>
            <a:r>
              <a:rPr sz="1000" b="0">
                <a:solidFill>
                  <a:srgbClr val="000000"/>
                </a:solidFill>
                <a:latin typeface="맑은 고딕"/>
                <a:ea typeface="맑은 고딕"/>
              </a:rPr>
              <a:t>Order</a:t>
            </a:r>
            <a:r>
              <a:rPr sz="1000" b="0">
                <a:solidFill>
                  <a:srgbClr val="000000"/>
                </a:solidFill>
                <a:latin typeface="맑은 고딕"/>
                <a:ea typeface="맑은 고딕"/>
              </a:rPr>
              <a:t>에는 </a:t>
            </a:r>
            <a:r>
              <a:rPr sz="1000" b="0">
                <a:solidFill>
                  <a:srgbClr val="000000"/>
                </a:solidFill>
                <a:latin typeface="맑은 고딕"/>
                <a:ea typeface="맑은 고딕"/>
              </a:rPr>
              <a:t>OrderItem</a:t>
            </a:r>
            <a:r>
              <a:rPr sz="1000" b="0">
                <a:solidFill>
                  <a:srgbClr val="000000"/>
                </a:solidFill>
                <a:latin typeface="맑은 고딕"/>
                <a:ea typeface="맑은 고딕"/>
              </a:rPr>
              <a:t>이 1개 이상 있고 </a:t>
            </a:r>
            <a:r>
              <a:rPr sz="1000" b="0">
                <a:solidFill>
                  <a:srgbClr val="000000"/>
                </a:solidFill>
                <a:latin typeface="맑은 고딕"/>
                <a:ea typeface="맑은 고딕"/>
              </a:rPr>
              <a:t>shippingAddress</a:t>
            </a:r>
            <a:r>
              <a:rPr sz="1000" b="0">
                <a:solidFill>
                  <a:srgbClr val="000000"/>
                </a:solidFill>
                <a:latin typeface="맑은 고딕"/>
                <a:ea typeface="맑은 고딕"/>
              </a:rPr>
              <a:t>가 존재한다.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유효한 주문에서는 다음 합계 등식이 항상 성립한다.</a:t>
            </a:r>
          </a:p>
        </p:txBody>
      </p:sp>
      <p:pic>
        <p:nvPicPr>
          <p:cNvPr id="9" name="mermaid Diagram 2"/>
          <p:cNvPicPr>
            <a:picLocks noChangeAspect="1"/>
          </p:cNvPicPr>
          <p:nvPr/>
        </p:nvPicPr>
        <p:blipFill>
          <a:blip r:embed="mermaidImage2"/>
          <a:stretch>
            <a:fillRect/>
          </a:stretch>
        </p:blipFill>
        <p:spPr>
          <a:xfrm>
            <a:off x="1504156" y="3445565"/>
            <a:ext cx="6135688" cy="1322616"/>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“주문한다” 정적 업무 모델 </a:t>
            </a:r>
            <a:r>
              <a:rPr sz="2000" b="1">
                <a:solidFill>
                  <a:srgbClr val="000000"/>
                </a:solidFill>
                <a:latin typeface="맑은 고딕"/>
                <a:ea typeface="맑은 고딕"/>
              </a:rPr>
              <a:t>(3/4)</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- 35 -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별첨: 04. 정적 모델</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960120"/>
            <a:ext cx="8412480" cy="4953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Order.totalAmount</a:t>
            </a:r>
          </a:p>
          <a:p>
            <a:pPr marL="0" indent="0" algn="l">
              <a:lnSpc>
                <a:spcPts val="1150"/>
              </a:lnSpc>
              <a:spcBef>
                <a:spcPts val="0"/>
              </a:spcBef>
              <a:spcAft>
                <a:spcPts val="0"/>
              </a:spcAft>
              <a:buNone/>
            </a:pPr>
            <a:r>
              <a:rPr sz="1000" b="0">
                <a:solidFill>
                  <a:srgbClr val="000000"/>
                </a:solidFill>
                <a:latin typeface="Consolas"/>
                <a:ea typeface="맑은 고딕"/>
              </a:rPr>
              <a:t>= Σ(OrderItem.unitPrice × OrderItem.quantity)</a:t>
            </a:r>
          </a:p>
        </p:txBody>
      </p:sp>
      <p:sp>
        <p:nvSpPr>
          <p:cNvPr id="32" name="TextBox 12">
            <a:extLst>
              <a:ext uri="{FF2B5EF4-FFF2-40B4-BE49-F238E27FC236}">
                <a16:creationId xmlns:a16="http://schemas.microsoft.com/office/drawing/2014/main" id="{654EDDB4-901F-3D48-A715-17D163E8A7AC}"/>
              </a:ext>
            </a:extLst>
          </p:cNvPr>
          <p:cNvSpPr txBox="1"/>
          <p:nvPr/>
        </p:nvSpPr>
        <p:spPr>
          <a:xfrm>
            <a:off x="365760" y="1684020"/>
            <a:ext cx="8412480" cy="1044222"/>
          </a:xfrm>
          <a:prstGeom prst="rect">
            <a:avLst/>
          </a:prstGeom>
          <a:noFill/>
        </p:spPr>
        <p:txBody>
          <a:bodyPr wrap="square">
            <a:spAutoFit/>
          </a:bodyPr>
          <a:lstStyle/>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unitPrice</a:t>
            </a:r>
            <a:r>
              <a:rPr sz="1000" b="0">
                <a:solidFill>
                  <a:srgbClr val="000000"/>
                </a:solidFill>
                <a:latin typeface="맑은 고딕"/>
                <a:ea typeface="맑은 고딕"/>
              </a:rPr>
              <a:t>는 장바구니에 담은 시점이 아니라 </a:t>
            </a:r>
            <a:r>
              <a:rPr sz="1000" b="0">
                <a:solidFill>
                  <a:srgbClr val="000000"/>
                </a:solidFill>
                <a:latin typeface="맑은 고딕"/>
                <a:ea typeface="맑은 고딕"/>
              </a:rPr>
              <a:t>Order</a:t>
            </a:r>
            <a:r>
              <a:rPr sz="1000" b="0">
                <a:solidFill>
                  <a:srgbClr val="000000"/>
                </a:solidFill>
                <a:latin typeface="맑은 고딕"/>
                <a:ea typeface="맑은 고딕"/>
              </a:rPr>
              <a:t> 생성 시점의 해당 </a:t>
            </a:r>
            <a:r>
              <a:rPr sz="1000" b="0">
                <a:solidFill>
                  <a:srgbClr val="000000"/>
                </a:solidFill>
                <a:latin typeface="맑은 고딕"/>
                <a:ea typeface="맑은 고딕"/>
              </a:rPr>
              <a:t>Product.salePrice</a:t>
            </a:r>
            <a:r>
              <a:rPr sz="1000" b="0">
                <a:solidFill>
                  <a:srgbClr val="000000"/>
                </a:solidFill>
                <a:latin typeface="맑은 고딕"/>
                <a:ea typeface="맑은 고딕"/>
              </a:rPr>
              <a:t>로 확정된다.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생성 이후 현재 </a:t>
            </a:r>
            <a:r>
              <a:rPr sz="1000" b="0">
                <a:solidFill>
                  <a:srgbClr val="000000"/>
                </a:solidFill>
                <a:latin typeface="맑은 고딕"/>
                <a:ea typeface="맑은 고딕"/>
              </a:rPr>
              <a:t>salePrice</a:t>
            </a:r>
            <a:r>
              <a:rPr sz="1000" b="0">
                <a:solidFill>
                  <a:srgbClr val="000000"/>
                </a:solidFill>
                <a:latin typeface="맑은 고딕"/>
                <a:ea typeface="맑은 고딕"/>
              </a:rPr>
              <a:t>가 변경되어도 기존 </a:t>
            </a:r>
            <a:r>
              <a:rPr sz="1000" b="0">
                <a:solidFill>
                  <a:srgbClr val="000000"/>
                </a:solidFill>
                <a:latin typeface="맑은 고딕"/>
                <a:ea typeface="맑은 고딕"/>
              </a:rPr>
              <a:t>unitPrice</a:t>
            </a:r>
            <a:r>
              <a:rPr sz="1000" b="0">
                <a:solidFill>
                  <a:srgbClr val="000000"/>
                </a:solidFill>
                <a:latin typeface="맑은 고딕"/>
                <a:ea typeface="맑은 고딕"/>
              </a:rPr>
              <a:t>와 </a:t>
            </a:r>
            <a:r>
              <a:rPr sz="1000" b="0">
                <a:solidFill>
                  <a:srgbClr val="000000"/>
                </a:solidFill>
                <a:latin typeface="맑은 고딕"/>
                <a:ea typeface="맑은 고딕"/>
              </a:rPr>
              <a:t>totalAmount</a:t>
            </a:r>
            <a:r>
              <a:rPr sz="1000" b="0">
                <a:solidFill>
                  <a:srgbClr val="000000"/>
                </a:solidFill>
                <a:latin typeface="맑은 고딕"/>
                <a:ea typeface="맑은 고딕"/>
              </a:rPr>
              <a:t>는 변하지 않는다.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PENDING_PAYMENT</a:t>
            </a:r>
            <a:r>
              <a:rPr sz="1000" b="0">
                <a:solidFill>
                  <a:srgbClr val="000000"/>
                </a:solidFill>
                <a:latin typeface="맑은 고딕"/>
                <a:ea typeface="맑은 고딕"/>
              </a:rPr>
              <a:t>인 기존 주문에서는 주문 항목의 구성, 각 항목의 </a:t>
            </a:r>
            <a:r>
              <a:rPr sz="1000" b="0">
                <a:solidFill>
                  <a:srgbClr val="000000"/>
                </a:solidFill>
                <a:latin typeface="맑은 고딕"/>
                <a:ea typeface="맑은 고딕"/>
              </a:rPr>
              <a:t>quantity</a:t>
            </a:r>
            <a:r>
              <a:rPr sz="1000" b="0">
                <a:solidFill>
                  <a:srgbClr val="000000"/>
                </a:solidFill>
                <a:latin typeface="맑은 고딕"/>
                <a:ea typeface="맑은 고딕"/>
              </a:rPr>
              <a:t>와 </a:t>
            </a:r>
            <a:r>
              <a:rPr sz="1000" b="0">
                <a:solidFill>
                  <a:srgbClr val="000000"/>
                </a:solidFill>
                <a:latin typeface="맑은 고딕"/>
                <a:ea typeface="맑은 고딕"/>
              </a:rPr>
              <a:t>unitPrice</a:t>
            </a:r>
            <a:r>
              <a:rPr sz="1000" b="0">
                <a:solidFill>
                  <a:srgbClr val="000000"/>
                </a:solidFill>
                <a:latin typeface="맑은 고딕"/>
                <a:ea typeface="맑은 고딕"/>
              </a:rPr>
              <a:t>, </a:t>
            </a:r>
            <a:r>
              <a:rPr sz="1000" b="0">
                <a:solidFill>
                  <a:srgbClr val="000000"/>
                </a:solidFill>
                <a:latin typeface="맑은 고딕"/>
                <a:ea typeface="맑은 고딕"/>
              </a:rPr>
              <a:t>shippingAddress</a:t>
            </a:r>
            <a:r>
              <a:rPr sz="1000" b="0">
                <a:solidFill>
                  <a:srgbClr val="000000"/>
                </a:solidFill>
                <a:latin typeface="맑은 고딕"/>
                <a:ea typeface="맑은 고딕"/>
              </a:rPr>
              <a:t>가 변경되지 않는다.</a:t>
            </a:r>
          </a:p>
          <a:p>
            <a:pPr marL="182880" indent="0">
              <a:spcBef>
                <a:spcPts val="300"/>
              </a:spcBef>
              <a:spcAft>
                <a:spcPts val="300"/>
              </a:spcAft>
              <a:buNone/>
            </a:pPr>
            <a:r>
              <a:rPr sz="1000" b="0">
                <a:solidFill>
                  <a:srgbClr val="000000"/>
                </a:solidFill>
                <a:latin typeface="맑은 고딕"/>
                <a:ea typeface="맑은 고딕"/>
              </a:rPr>
              <a:t>대표 주문과 판매가 변경 전후는 다음과 같다.</a:t>
            </a:r>
          </a:p>
        </p:txBody>
      </p:sp>
      <p:graphicFrame>
        <p:nvGraphicFramePr>
          <p:cNvPr id="33"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222056" y="2956842"/>
          <a:ext cx="4686300" cy="2304000"/>
        </p:xfrm>
        <a:graphic>
          <a:graphicData uri="http://schemas.openxmlformats.org/drawingml/2006/table">
            <a:tbl>
              <a:tblPr/>
              <a:tblGrid>
                <a:gridCol w="2065020"/>
                <a:gridCol w="1310640"/>
                <a:gridCol w="13106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값</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생성 직후</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판매가 변경 후</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OrderItem 수</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Product.salePrice</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1,000원</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1,200원</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OrderItem.unitPrice</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1,000원</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1,000원</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OrderItem.quantity</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2</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2</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Order.totalAmount</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2,000원</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2,000원</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Order.shippingAddress</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서울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서울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34" name="TextBox 12">
            <a:extLst>
              <a:ext uri="{FF2B5EF4-FFF2-40B4-BE49-F238E27FC236}">
                <a16:creationId xmlns:a16="http://schemas.microsoft.com/office/drawing/2014/main" id="{654EDDB4-901F-3D48-A715-17D163E8A7AC}"/>
              </a:ext>
            </a:extLst>
          </p:cNvPr>
          <p:cNvSpPr txBox="1"/>
          <p:nvPr/>
        </p:nvSpPr>
        <p:spPr>
          <a:xfrm>
            <a:off x="365760" y="5489442"/>
            <a:ext cx="8412480" cy="437444"/>
          </a:xfrm>
          <a:prstGeom prst="rect">
            <a:avLst/>
          </a:prstGeom>
          <a:noFill/>
        </p:spPr>
        <p:txBody>
          <a:bodyPr wrap="square">
            <a:spAutoFit/>
          </a:bodyPr>
          <a:lstStyle/>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생성 시점에는 </a:t>
            </a:r>
            <a:r>
              <a:rPr sz="1000" b="0">
                <a:solidFill>
                  <a:srgbClr val="000000"/>
                </a:solidFill>
                <a:latin typeface="맑은 고딕"/>
                <a:ea typeface="맑은 고딕"/>
              </a:rPr>
              <a:t>unitPrice = salePrice = 1,000원</a:t>
            </a:r>
            <a:r>
              <a:rPr sz="1000" b="0">
                <a:solidFill>
                  <a:srgbClr val="000000"/>
                </a:solidFill>
                <a:latin typeface="맑은 고딕"/>
                <a:ea typeface="맑은 고딕"/>
              </a:rPr>
              <a:t>이고, </a:t>
            </a:r>
            <a:r>
              <a:rPr sz="1000" b="0">
                <a:solidFill>
                  <a:srgbClr val="000000"/>
                </a:solidFill>
                <a:latin typeface="맑은 고딕"/>
                <a:ea typeface="맑은 고딕"/>
              </a:rPr>
              <a:t>totalAmount = 1,000원 × 2 = 2,000원</a:t>
            </a:r>
            <a:r>
              <a:rPr sz="1000" b="0">
                <a:solidFill>
                  <a:srgbClr val="000000"/>
                </a:solidFill>
                <a:latin typeface="맑은 고딕"/>
                <a:ea typeface="맑은 고딕"/>
              </a:rPr>
              <a:t>이다. 이후 현재 판매가가 1,200원으로 바뀌어도 기존 주문은 확정 단가 1,000원과 총액 2,000원을 유지한다.</a:t>
            </a:r>
          </a:p>
        </p:txBody>
      </p:sp>
    </p:spTree>
    <p:extLst>
      <p:ext uri="{BB962C8B-B14F-4D97-AF65-F5344CB8AC3E}">
        <p14:creationId xmlns:p14="http://schemas.microsoft.com/office/powerpoint/2010/main" val="377335152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“주문한다” 정적 업무 모델 </a:t>
            </a:r>
            <a:r>
              <a:rPr sz="2000" b="1">
                <a:solidFill>
                  <a:srgbClr val="000000"/>
                </a:solidFill>
                <a:latin typeface="맑은 고딕"/>
                <a:ea typeface="맑은 고딕"/>
              </a:rPr>
              <a:t>(4/4)</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04. 정적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322580" indent="-139700">
              <a:spcBef>
                <a:spcPts val="300"/>
              </a:spcBef>
              <a:spcAft>
                <a:spcPts val="300"/>
              </a:spcAft>
              <a:buNone/>
            </a:pPr>
            <a:r>
              <a:rPr sz="1000" b="1">
                <a:solidFill>
                  <a:srgbClr val="000000"/>
                </a:solidFill>
                <a:latin typeface="맑은 고딕"/>
                <a:ea typeface="맑은 고딕"/>
              </a:rPr>
              <a:t>4. 정하지 않은 항목과 기존 업무 미정</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본인 주문에 대해서만 조회 또는 변경 요청의 권한을 인정하며 다른 고객의 주문 요청은 거절한다. 주문자와 수령인은 같은 사람으로 본다. 다만 회원·비회원 여부와 주문 주체, 본인 확인, 주문자 및 수령인을 나타낼 구체 타입이나 식별 정보는 정하지 않는다.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정적 모델에서 다음 사항은 정하지 않는다.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OrderNumber</a:t>
            </a:r>
            <a:r>
              <a:rPr sz="1000" b="0">
                <a:solidFill>
                  <a:srgbClr val="000000"/>
                </a:solidFill>
                <a:latin typeface="맑은 고딕"/>
                <a:ea typeface="맑은 고딕"/>
              </a:rPr>
              <a:t>와 </a:t>
            </a:r>
            <a:r>
              <a:rPr sz="1000" b="0">
                <a:solidFill>
                  <a:srgbClr val="000000"/>
                </a:solidFill>
                <a:latin typeface="맑은 고딕"/>
                <a:ea typeface="맑은 고딕"/>
              </a:rPr>
              <a:t>ProductNumber</a:t>
            </a:r>
            <a:r>
              <a:rPr sz="1000" b="0">
                <a:solidFill>
                  <a:srgbClr val="000000"/>
                </a:solidFill>
                <a:latin typeface="맑은 고딕"/>
                <a:ea typeface="맑은 고딕"/>
              </a:rPr>
              <a:t>의 형식 및 생성 규칙</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Address</a:t>
            </a:r>
            <a:r>
              <a:rPr sz="1000" b="0">
                <a:solidFill>
                  <a:srgbClr val="000000"/>
                </a:solidFill>
                <a:latin typeface="맑은 고딕"/>
                <a:ea typeface="맑은 고딕"/>
              </a:rPr>
              <a:t>의 세부 항목</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Quantity</a:t>
            </a:r>
            <a:r>
              <a:rPr sz="1000" b="0">
                <a:solidFill>
                  <a:srgbClr val="000000"/>
                </a:solidFill>
                <a:latin typeface="맑은 고딕"/>
                <a:ea typeface="맑은 고딕"/>
              </a:rPr>
              <a:t>의 구체적인 상한</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동일 상품 주문 항목의 병합 여부와 중복 허용 여부</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결제 이력과 승인 결과의 보존 구조</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현재 확인된 값 이외의 </a:t>
            </a:r>
            <a:r>
              <a:rPr sz="1000" b="0">
                <a:solidFill>
                  <a:srgbClr val="000000"/>
                </a:solidFill>
                <a:latin typeface="맑은 고딕"/>
                <a:ea typeface="맑은 고딕"/>
              </a:rPr>
              <a:t>OrderStatus</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기존 업무 미정은 다음과 같다.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결제대기 기한과 만료 정책</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결제 응답을 확정할 수 없을 때의 처리와 재결제 허용 여부</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재고 판단 시점과 승인 전 재고 부족 처리</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카드 승인 뒤 재고 부족 처리</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배송 요청 실패 처리와 재요청 기준</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주문 결과의 별도 통지 여부와 담당 시스템</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이 미정 사항에서 허용 또는 금지 정책, 새로운 개념이나 상태를 도출하지 않는다.</a:t>
            </a:r>
          </a:p>
        </p:txBody>
      </p:sp>
    </p:spTree>
    <p:extLst>
      <p:ext uri="{BB962C8B-B14F-4D97-AF65-F5344CB8AC3E}">
        <p14:creationId xmlns:p14="http://schemas.microsoft.com/office/powerpoint/2010/main" val="3555436673"/>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Macintosh PowerPoint</Application>
  <PresentationFormat>화면 슬라이드 쇼(4:3)</PresentationFormat>
  <Paragraphs>0</Paragraphs>
  <Slides>36</Slides>
  <Notes>31</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36</vt:i4>
      </vt:variant>
    </vt:vector>
  </HeadingPairs>
  <TitlesOfParts>
    <vt:vector size="40" baseType="lpstr">
      <vt:lpstr>맑은 고딕</vt:lpstr>
      <vt:lpstr>Arial</vt:lpstr>
      <vt:lpstr>Wingdings</vt:lpstr>
      <vt:lpstr>4_Office 테마</vt:lpstr>
      <vt:lpstr>04. 정적 모델 목차</vt:lpstr>
      <vt:lpstr>01. 세션 목표</vt:lpstr>
      <vt:lpstr>도메인 모델 02. 도메인 모델이 명시하는 것</vt:lpstr>
      <vt:lpstr>도메인 모델의 관점과 표현 02. 도메인 모델이 명시하는 것</vt:lpstr>
      <vt:lpstr>ERD와 클래스 다이어그램 (1/2) 02. 도메인 모델이 명시하는 것</vt:lpstr>
      <vt:lpstr>ERD와 클래스 다이어그램 (2/2) 02. 도메인 모델이 명시하는 것</vt:lpstr>
      <vt:lpstr>도메인 모델과 온톨로지 02. 도메인 모델이 명시하는 것</vt:lpstr>
      <vt:lpstr>03. 분석·설계·구현</vt:lpstr>
      <vt:lpstr>이름과 뜻을 함께 고정하기 04. 용어집</vt:lpstr>
      <vt:lpstr>주문의 용어집 04. 용어집</vt:lpstr>
      <vt:lpstr>현재 값과 확정 값 05. 판매가와 단가</vt:lpstr>
      <vt:lpstr>단가를 남겨야 하는 이유 05. 판매가와 단가</vt:lpstr>
      <vt:lpstr>도메인 모델을 만드는 순서 06. 도메인 모델 만들기</vt:lpstr>
      <vt:lpstr>요구사항에서 개념 찾기 06. 도메인 모델 만들기</vt:lpstr>
      <vt:lpstr>주문 도메인 모델의 초안 06. 도메인 모델 만들기</vt:lpstr>
      <vt:lpstr>관계를 문장으로 확인하기 06. 도메인 모델 만들기</vt:lpstr>
      <vt:lpstr>값의 뜻과 허용 범위 07. 속성과 불변 조건</vt:lpstr>
      <vt:lpstr>불변 조건과 시점의 조건 07. 속성과 불변 조건</vt:lpstr>
      <vt:lpstr>조건을 어긴 예 찾기 07. 속성과 불변 조건</vt:lpstr>
      <vt:lpstr>주문 도메인 모델의 상세화 08. 주문 도메인 모델의 검증</vt:lpstr>
      <vt:lpstr>구체적인 주문과 대조하기 08. 주문 도메인 모델의 검증</vt:lpstr>
      <vt:lpstr>초안을 판단할 근거 09. 모델을 만들 때 사람과 AI</vt:lpstr>
      <vt:lpstr>실제 초안에서 고친 판단 09. 모델을 만들 때 사람과 AI</vt:lpstr>
      <vt:lpstr>모델 요소와 코드의 대응 10. 코드와 검사로 이어지는 자리</vt:lpstr>
      <vt:lpstr>값 객체로 범위를 지키기 10. 코드와 검사로 이어지는 자리</vt:lpstr>
      <vt:lpstr>확정 단가를 항목에 남기기 10. 코드와 검사로 이어지는 자리</vt:lpstr>
      <vt:lpstr>관계를 보존하고 총액 계산하기 10. 코드와 검사로 이어지는 자리</vt:lpstr>
      <vt:lpstr>가격 변경을 실행해 확인하기 10. 코드와 검사로 이어지는 자리</vt:lpstr>
      <vt:lpstr>경계와 검사 범위 10. 코드와 검사로 이어지는 자리</vt:lpstr>
      <vt:lpstr>11. 잘못된 관행</vt:lpstr>
      <vt:lpstr>12. 실습 4 — 정적 모델</vt:lpstr>
      <vt:lpstr>13. 요약</vt:lpstr>
      <vt:lpstr>“주문한다” 정적 업무 모델 (1/4) 별첨. 실습 답</vt:lpstr>
      <vt:lpstr>“주문한다” 정적 업무 모델 (2/4) 별첨. 실습 답</vt:lpstr>
      <vt:lpstr>“주문한다” 정적 업무 모델 (3/4) 별첨. 실습 답</vt:lpstr>
      <vt:lpstr>“주문한다” 정적 업무 모델 (4/4) 별첨. 실습 답</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04. 정적 모델</dc:title>
  <dc:creator>Kim YoungSan</dc:creator>
  <cp:lastModifiedBy>Youngon Kim</cp:lastModifiedBy>
  <cp:revision>42</cp:revision>
  <dcterms:created xsi:type="dcterms:W3CDTF">2021-02-25T22:04:20Z</dcterms:created>
  <dcterms:modified xsi:type="dcterms:W3CDTF">2026-09-21T23:10:41Z</dcterms:modified>
</cp:coreProperties>
</file>