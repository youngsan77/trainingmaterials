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5"/>
  </p:notesMasterIdLst>
  <p:sldIdLst>
    <p:sldId id="256" r:id="javaLecture1"/>
    <p:sldId id="257" r:id="javaLecture2"/>
    <p:sldId id="258" r:id="javaLecture3"/>
    <p:sldId id="259" r:id="javaLecture4"/>
    <p:sldId id="260" r:id="javaLecture5"/>
    <p:sldId id="261" r:id="javaLecture6"/>
    <p:sldId id="262" r:id="javaLecture7"/>
    <p:sldId id="263" r:id="javaLecture8"/>
    <p:sldId id="264" r:id="javaLecture9"/>
    <p:sldId id="265" r:id="javaLecture10"/>
    <p:sldId id="266" r:id="javaLecture11"/>
    <p:sldId id="267" r:id="javaLecture12"/>
    <p:sldId id="268" r:id="javaLecture13"/>
    <p:sldId id="269" r:id="javaLecture14"/>
    <p:sldId id="270" r:id="javaLecture15"/>
    <p:sldId id="271" r:id="javaLecture16"/>
    <p:sldId id="272" r:id="javaLecture17"/>
    <p:sldId id="273" r:id="javaLecture18"/>
    <p:sldId id="274" r:id="javaLecture19"/>
    <p:sldId id="275" r:id="javaLecture20"/>
    <p:sldId id="276" r:id="javaLecture21"/>
    <p:sldId id="277" r:id="javaLecture22"/>
    <p:sldId id="278" r:id="javaLecture23"/>
    <p:sldId id="279" r:id="javaLecture24"/>
    <p:sldId id="280" r:id="javaLecture25"/>
    <p:sldId id="281" r:id="javaLecture26"/>
    <p:sldId id="282" r:id="javaLecture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890" userDrawn="1">
          <p15:clr>
            <a:srgbClr val="A4A3A4"/>
          </p15:clr>
        </p15:guide>
        <p15:guide id="5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41C14D-A5A2-2B4D-B033-1B776E74D04A}" v="40" dt="2026-09-12T11:52:04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62"/>
    <p:restoredTop sz="92496"/>
  </p:normalViewPr>
  <p:slideViewPr>
    <p:cSldViewPr snapToGrid="0">
      <p:cViewPr varScale="1">
        <p:scale>
          <a:sx n="106" d="100"/>
          <a:sy n="106" d="100"/>
        </p:scale>
        <p:origin x="1984" y="184"/>
      </p:cViewPr>
      <p:guideLst>
        <p:guide orient="horz" pos="89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8" d="100"/>
        <a:sy n="118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18" Type="http://schemas.openxmlformats.org/officeDocument/2006/relationships/theme" Target="theme/theme1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javaLecture1" Type="http://schemas.openxmlformats.org/officeDocument/2006/relationships/slide" Target="slides/slide1.xml"/><Relationship Id="javaLecture2" Type="http://schemas.openxmlformats.org/officeDocument/2006/relationships/slide" Target="slides/slide2.xml"/><Relationship Id="javaLecture3" Type="http://schemas.openxmlformats.org/officeDocument/2006/relationships/slide" Target="slides/slide3.xml"/><Relationship Id="javaLecture4" Type="http://schemas.openxmlformats.org/officeDocument/2006/relationships/slide" Target="slides/slide4.xml"/><Relationship Id="javaLecture5" Type="http://schemas.openxmlformats.org/officeDocument/2006/relationships/slide" Target="slides/slide5.xml"/><Relationship Id="javaLecture6" Type="http://schemas.openxmlformats.org/officeDocument/2006/relationships/slide" Target="slides/slide6.xml"/><Relationship Id="javaLecture7" Type="http://schemas.openxmlformats.org/officeDocument/2006/relationships/slide" Target="slides/slide7.xml"/><Relationship Id="javaLecture8" Type="http://schemas.openxmlformats.org/officeDocument/2006/relationships/slide" Target="slides/slide8.xml"/><Relationship Id="javaLecture9" Type="http://schemas.openxmlformats.org/officeDocument/2006/relationships/slide" Target="slides/slide9.xml"/><Relationship Id="javaLecture10" Type="http://schemas.openxmlformats.org/officeDocument/2006/relationships/slide" Target="slides/slide10.xml"/><Relationship Id="javaLecture11" Type="http://schemas.openxmlformats.org/officeDocument/2006/relationships/slide" Target="slides/slide11.xml"/><Relationship Id="javaLecture12" Type="http://schemas.openxmlformats.org/officeDocument/2006/relationships/slide" Target="slides/slide12.xml"/><Relationship Id="javaLecture13" Type="http://schemas.openxmlformats.org/officeDocument/2006/relationships/slide" Target="slides/slide13.xml"/><Relationship Id="javaLecture14" Type="http://schemas.openxmlformats.org/officeDocument/2006/relationships/slide" Target="slides/slide14.xml"/><Relationship Id="javaLecture15" Type="http://schemas.openxmlformats.org/officeDocument/2006/relationships/slide" Target="slides/slide15.xml"/><Relationship Id="javaLecture16" Type="http://schemas.openxmlformats.org/officeDocument/2006/relationships/slide" Target="slides/slide16.xml"/><Relationship Id="javaLecture17" Type="http://schemas.openxmlformats.org/officeDocument/2006/relationships/slide" Target="slides/slide17.xml"/><Relationship Id="javaLecture18" Type="http://schemas.openxmlformats.org/officeDocument/2006/relationships/slide" Target="slides/slide18.xml"/><Relationship Id="javaLecture19" Type="http://schemas.openxmlformats.org/officeDocument/2006/relationships/slide" Target="slides/slide19.xml"/><Relationship Id="javaLecture20" Type="http://schemas.openxmlformats.org/officeDocument/2006/relationships/slide" Target="slides/slide20.xml"/><Relationship Id="javaLecture21" Type="http://schemas.openxmlformats.org/officeDocument/2006/relationships/slide" Target="slides/slide21.xml"/><Relationship Id="javaLecture22" Type="http://schemas.openxmlformats.org/officeDocument/2006/relationships/slide" Target="slides/slide22.xml"/><Relationship Id="javaLecture23" Type="http://schemas.openxmlformats.org/officeDocument/2006/relationships/slide" Target="slides/slide23.xml"/><Relationship Id="javaLecture24" Type="http://schemas.openxmlformats.org/officeDocument/2006/relationships/slide" Target="slides/slide24.xml"/><Relationship Id="javaLecture25" Type="http://schemas.openxmlformats.org/officeDocument/2006/relationships/slide" Target="slides/slide25.xml"/><Relationship Id="javaLecture26" Type="http://schemas.openxmlformats.org/officeDocument/2006/relationships/slide" Target="slides/slide26.xml"/><Relationship Id="javaLecture27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E4FF0-A6B5-46CD-9CD3-2CF2AFF3AE5A}" type="datetimeFigureOut">
              <a:rPr lang="ko-KR" altLang="en-US" smtClean="0"/>
              <a:t>2026. 9. 22.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5E7E4-F626-4F14-BF5E-991C69F9D1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61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"세션 03. 요구의 구체화와 명세"는 "무엇을 만들게 할까?"를 다뤘다. 이 세션은 "무엇으로 받아들일까?"를 다룬다.</a:t>
            </a:r>
          </a:p>
          <a:p>
            <a:pPr lvl="0"/>
            <a:r>
              <a:rPr lang="ko-KR" sz="1200"/>
              <a:t>수용 기준은 "세션 09. 검증 하네스·결과 점검·피드백"의 센서, "세션 11. 평가 세트와 운영 점검 — 보안·비용·모델 변경"의 평가 세트가 된다.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뼈대는 course-design.md의 「요구에서 코드까지의 경로」다. 수용 기준은 뼈대에서 빠지지 않는 부분이다.</a:t>
            </a:r>
          </a:p>
          <a:p>
            <a:pPr lvl="0"/>
            <a:r>
              <a:rPr lang="ko-KR" sz="1200"/>
              <a:t>North(2006)의 "스토리의 행위는 곧 수용 기준이다"는 "세션 03. 요구의 구체화와 명세"의 「Given-When-Then」에서 인용했다.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Ryan Lopopolo, "Harness engineering: leveraging Codex in an agent-first world", OpenAI, 2026 영문 원문 확인. 앞 문장은 "사람은 늘 루프 안에 있지만 예전과 다른 추상 수준에서 일한다"이다("세션 01. AI 협업의 특성과 사람의 판단 책임"의 「개발자의 일과 LLM의 일」).</a:t>
            </a:r>
          </a:p>
          <a:p>
            <a:pPr lvl="0"/>
            <a:r>
              <a:rPr lang="ko-KR" sz="1200"/>
              <a:t>업무 담당자가 테스트 코드를 읽지 않아도 된다. 업무 담당자는 수용 기준 표를 확인하고, 개발자가 테스트가 그 표와 같은지 확인한다.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첫 시도의 테스트 3개("세션 01. AI 협업의 특성과 사람의 판단 책임")는 모두 통과했지만, 업무 규칙이 아니라 자기 코드를 확인했다. 테스트가 있다는 것만으로는 부족하다.</a:t>
            </a:r>
          </a:p>
          <a:p>
            <a:pPr lvl="0"/>
            <a:r>
              <a:rPr lang="ko-KR" sz="1200"/>
              <a:t>인용 근거: Simon Willison, "Vibe engineering", 2025 원문 확인. 원문은 바이브 엔지니어링을 받치는 실천으로 자동화된 테스트를 꼽는다.</a:t>
            </a:r>
          </a:p>
          <a:p>
            <a:pPr lvl="0"/>
            <a:r>
              <a:rPr lang="ko-KR" sz="1200"/>
              <a:t>테스트가 있어도 기대값이 틀리면 고리는 틀린 방향으로 돈다. 그래서 기대값은 사람이 정한다(앞 장).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작업 명세서의 「업무 규칙과 예」는 규칙을 설명하는 예다. 수용 기준은 그 예를 받아들임의 조건으로 다시 쓴 것이다.</a:t>
            </a:r>
          </a:p>
          <a:p>
            <a:pPr lvl="0"/>
            <a:r>
              <a:rPr lang="ko-KR" sz="1200"/>
              <a:t>허용·거절은 사건의 결과다. 결제 거절은 업무상 정상적인 결과이므로 오류가 아니라 거절 예시로 다룬다.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값은 공통 전제의 교육용 값이다(course-design.md의 「공통 용어와 전제」). 번호는 업무 규칙의 순서(주문 금액 → 배송 요청 → 결제 거절)다.</a:t>
            </a:r>
          </a:p>
          <a:p>
            <a:pPr lvl="0"/>
            <a:r>
              <a:rPr lang="ko-KR" sz="1200"/>
              <a:t>미정(승인 뒤 배송 요청 실패)은 수용 기준을 만들지 않는다. 답이 없는 기대값을 지어내지 않는다.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이 도식은 한 주문이 시간에 따라 거치는 값이다. 주문 상태 기계는 "세션 05. 도메인·설계 지식과 맥락 구성"에서 맥락으로 만든다.</a:t>
            </a:r>
          </a:p>
          <a:p>
            <a:pPr lvl="0"/>
            <a:r>
              <a:rPr lang="ko-KR" sz="1200"/>
              <a:t>첫 시도의 거절 처리는 "세션 01. AI 협업의 특성과 사람의 판단 책임"의 「첫 시도의 결제 코드」에 있다.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수용 기준 16개의 예는 [Böckeler 2025]가 Kiro로 작은 버그를 고칠 때 본 것이다.</a:t>
            </a:r>
          </a:p>
          <a:p>
            <a:pPr lvl="0"/>
            <a:r>
              <a:rPr lang="ko-KR" sz="1200"/>
              <a:t>경계값(0원, 수량 0개 등)은 업무 규칙이 그 경계를 말할 때만 수용 기준에 넣는다. 나머지는 단위 테스트의 일이다.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Cucumber 공식 문서 "Behaviour-Driven Development" 원문 확인. 같은 문서는 Discovery·Formulation·Automation의 세 실천을 설명한다("세션 03. 요구의 구체화와 명세"의 「BDD란?」).</a:t>
            </a:r>
          </a:p>
          <a:p>
            <a:pPr lvl="0"/>
            <a:r>
              <a:rPr lang="ko-KR" sz="1200"/>
              <a:t>첫 Given(펜 2개 주문)은 테스트 클래스의 공통 준비에 있다(다음 장). 주석의 Given·When·Then은 원본 테스트에도 있다. Gherkin을 Cucumber 도구로 직접 실행할 수도 있지만, 이 과정은 JUnit 테스트로 옮긴다.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전체 코드는 code/s04/order/다. ./run-tests.sh로 JUnit 5 테스트 4개를 실행하며 모두 통과한다. JUnit은 code/s04/lib/에 둔다(git 제외, 받는 주소는 스크립트에 있다).</a:t>
            </a:r>
          </a:p>
          <a:p>
            <a:pPr lvl="0"/>
            <a:r>
              <a:rPr lang="ko-KR" sz="1200"/>
              <a:t>테스트 이름(@DisplayName)은 수용 기준을 한글로 쓴다. 업무 담당자가 테스트 결과 목록을 읽고 수용 기준 표와 맞춰 볼 수 있다.</a:t>
            </a:r>
          </a:p>
          <a:p>
            <a:pPr lvl="0"/>
            <a:r>
              <a:rPr lang="ko-KR" sz="1200"/>
              <a:t>거절 테스트는 그대로인 것 3가지(상태·금액·배송 요청)를 모두 확인한다.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Kent Beck, "Augmented Coding: Beyond the Vibes", 2025 원문 확인. Beck이 에이전트에게 준 시스템 지시의 「핵심 개발 원칙」에 있는 문장이다. 같은 글은 plan.md의 다음 테스트를 하나씩 구현하게 한다.</a:t>
            </a:r>
          </a:p>
          <a:p>
            <a:pPr lvl="0"/>
            <a:r>
              <a:rPr lang="ko-KR" sz="1200"/>
              <a:t>도식의 Red·Green·Refactor는 에이전트가, 수용 테스트는 사람이 쓴다. 수용 테스트도 처음에는 모두 실패한다. 실패를 보고 시작해야 테스트가 실제로 무언가를 확인한다는 것을 안다.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Anthropic, "Effective harnesses for long-running agents", 2025 원문 확인. 원문은 웹 앱 전체를 한 번에 만들려다(one-shot) 맥락이 바닥나는 실패를 먼저 적는다.</a:t>
            </a:r>
          </a:p>
          <a:p>
            <a:pPr lvl="0"/>
            <a:r>
              <a:rPr lang="ko-KR" sz="1200"/>
              <a:t>"작게 끝까지"는 guides/sw-engineering-principles.md의 기본 원칙이다. 작게 나누되 각 단위는 테스트까지 끝낸다.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업무 규칙(3가지)과 작업 단위(4가지)의 수가 다르다. 결제 거절 규칙은 ③과 ④ 두 단위로, 배송 요청 규칙은 ②와 ③ 안의 확인으로 들어간다.</a:t>
            </a:r>
          </a:p>
          <a:p>
            <a:pPr lvl="0"/>
            <a:r>
              <a:rPr lang="ko-KR" sz="1200"/>
              <a:t>순서는 고정이 아니다. 금액 확정을 먼저 두는 이유는 다른 단위가 모두 주문 금액을 쓰기 때문이다.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Anthropic, "Effective harnesses for long-running agents", 2025 원문 확인. 원문은 JSON 목록에 기능 200여 개를 두고, 에이전트가 passes 값만 바꾸게 했다.</a:t>
            </a:r>
          </a:p>
          <a:p>
            <a:pPr lvl="0"/>
            <a:r>
              <a:rPr lang="ko-KR" sz="1200"/>
              <a:t>파일은 code/s04/order/features.json이다. 기능 목록은 작업 상태를 저장소에 남기는 방법이며 "세션 10. 실패 대응·재시도·복구"의 작업 상태와 이어진다.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Anthropic, "Effective harnesses for long-running agents", 2025 원문 확인. 원문은 에이전트가 단위 테스트를 돌리고도 기능이 처음부터 끝까지 동작하지 않는 것을 알아채지 못했다고 적는다.</a:t>
            </a:r>
          </a:p>
          <a:p>
            <a:pPr lvl="0"/>
            <a:r>
              <a:rPr lang="ko-KR" sz="1200"/>
              <a:t>완료의 정의는 작업 단위를 맡기기 전에 정한다. 이 정의를 실행 전·후에 강제하는 방법은 "세션 08. 실행 제약과 가드레일의 역할"과 "세션 09. 검증 하네스·결과 점검·피드백"에서 다룬다.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Kent Beck, "Augmented Coding: Beyond the Vibes", 2025 원문 확인. Beck이 에이전트를 지켜보다 개입하는 신호로 꼽은 셋 중 하나다(나머지는 반복과 요청하지 않은 기능).</a:t>
            </a:r>
          </a:p>
          <a:p>
            <a:pPr lvl="0"/>
            <a:r>
              <a:rPr lang="ko-KR" sz="1200"/>
              <a:t>출력은 code/s04/demo-results/B/(수용 테스트를 준 실행)의 기록에서 테스트 이름과 요약 줄만 남겼다(트리 기호 생략). 테스트 출력에는 수용 기준의 이름이 그대로 보이고, diff에는 수용 테스트 파일이 없다.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2026-10-08에 Claude Code 2.1.293(비대화형, 모델 claude-opus-5-5)으로 실행했다. 허용한 명령은 테스트 실행 스크립트 하나다. 프롬프트와 결과 전문은 code/s04/demo-results에 있다(폴더 A가 테스트도 맡긴 실행, B가 수용 테스트를 준 실행).</a:t>
            </a:r>
          </a:p>
          <a:p>
            <a:pPr lvl="0"/>
            <a:r>
              <a:rPr lang="ko-KR" sz="1200"/>
              <a:t>작업 명세서는 "세션 03. 요구의 구체화와 명세"의 「주문한다의 작업 명세서」 그대로다. 업무 규칙마다 예가 있다.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테스트도 맡긴 쪽이 통과한 이유는 작업 명세서에 업무 규칙마다 예가 있었기 때문이다. 요청 한 줄만 준 "세션 01. AI 협업의 특성과 사람의 판단 책임"의 첫 시도와 비교한다.</a:t>
            </a:r>
          </a:p>
          <a:p>
            <a:pPr lvl="0"/>
            <a:r>
              <a:rPr lang="ko-KR" sz="1200"/>
              <a:t>같은 시연을 다시 하면 결과는 달라질 수 있다(비결정성).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에이전트가 만든 테스트 전문은 code/s04/demo-results/A/OrderServiceTest.java다. 테스트 대역의 배송지 값도 명세의 값(서울)이 아니다.</a:t>
            </a:r>
          </a:p>
          <a:p>
            <a:pPr lvl="0"/>
            <a:r>
              <a:rPr lang="ko-KR" sz="1200"/>
              <a:t>수강생에게 "이 테스트를 남길까, 지울까?"를 묻고, 누가 답해야 하는지로 이끈다.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"기대값을 고쳐 통과시킨다"는 첫 시도의 테스트가 자기 코드를 확인한 것과 같은 문제다.</a:t>
            </a:r>
          </a:p>
          <a:p>
            <a:pPr lvl="0"/>
            <a:r>
              <a:rPr lang="ko-KR" sz="1200"/>
              <a:t>구현을 확인하는 테스트(호출 순서·내부 메서드)는 리팩터링마다 깨지면서 업무 규칙은 확인하지 않는다.</a:t>
            </a:r>
          </a:p>
          <a:p>
            <a:pPr lvl="0"/>
            <a:r>
              <a:rPr lang="ko-KR" sz="1200"/>
              <a:t>수용 테스트를 바꾸지 못하게 강제하는 방법(파일 쓰기 금지, 테스트 비활성화 탐지)은 "세션 08. 실행 제약과 가드레일의 역할"에서 다룬다.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정기배송 모델 패키지는 code/s01/subscription/docs/에 있다.</a:t>
            </a:r>
          </a:p>
          <a:p>
            <a:pPr lvl="0"/>
            <a:r>
              <a:rPr lang="ko-KR" sz="1200"/>
              <a:t>LLM이 경계값 예(기간 1개월·12개월, 주기 1일·28일)를 많이 쓰면 점검 6으로 줄이게 한다. 업무 규칙이 그 경계를 말하는 것만 남긴다.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지금까지 위임할 과제의 "무엇"(작업 명세서)과 "무엇으로 받아들일까"(수용 기준)를 정했다. 다음 세션은 에이전트가 알아야 할 지식, 곧 맥락을 다룬다.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5는 회차 규칙의 "만료일까지"를 보이는 예다. 업무 규칙이 말하는 경계라서 수용 기준에 넣는다.</a:t>
            </a:r>
          </a:p>
          <a:p>
            <a:pPr lvl="0"/>
            <a:r>
              <a:rPr lang="ko-KR" sz="1200"/>
              <a:t>공휴일(미정)의 수용 기준은 만들지 않는다.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회차 날짜 계산을 따로 단위로 떼어도 된다. 그때도 수용 기준 5처럼 끝을 확인할 수용 기준을 붙인다.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수용 기준이 오래 남는 것은 테스트 코드로서다. 문서의 수용 기준을 따로 유지하지 않는다.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8">
            <a:extLst>
              <a:ext uri="{FF2B5EF4-FFF2-40B4-BE49-F238E27FC236}">
                <a16:creationId xmlns:a16="http://schemas.microsoft.com/office/drawing/2014/main" id="{FF0E9F20-7865-40BF-831C-21A3A6DE669A}"/>
              </a:ext>
            </a:extLst>
          </p:cNvPr>
          <p:cNvCxnSpPr/>
          <p:nvPr userDrawn="1"/>
        </p:nvCxnSpPr>
        <p:spPr>
          <a:xfrm>
            <a:off x="370822" y="692696"/>
            <a:ext cx="8424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2094DC8E-CD32-4D9A-9DFC-F8639523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89" y="-38114"/>
            <a:ext cx="6300034" cy="720080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8BCF7E4-4941-4537-9EC8-57C44E02DB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r>
              <a:rPr lang="en-US" altLang="ko-KR" dirty="0">
                <a:solidFill>
                  <a:prstClr val="black"/>
                </a:solidFill>
              </a:rPr>
              <a:t>- </a:t>
            </a:r>
            <a:fld id="{A18F303B-5FF2-4BD3-899C-BAED341F6249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-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7FC7E0F-889C-4F19-8056-F2D1D6357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9" y="980728"/>
            <a:ext cx="8424000" cy="553086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"/>
              <a:defRPr sz="2000" b="1"/>
            </a:lvl1pPr>
            <a:lvl2pPr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  <a:defRPr sz="1800" b="0"/>
            </a:lvl2pPr>
            <a:lvl3pPr marL="1077913" indent="-354013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  <a:defRPr sz="1600" b="0"/>
            </a:lvl3pPr>
            <a:lvl4pPr marL="1433513" indent="-3556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l"/>
              <a:defRPr sz="1400" b="0"/>
            </a:lvl4pPr>
            <a:lvl5pPr marL="1787525" indent="-354013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  <a:defRPr sz="1400" b="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535D420B-3C82-4BF6-9CCA-F8DA0A133F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6056" y="367445"/>
            <a:ext cx="3699901" cy="26473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2pPr>
            <a:lvl3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3pPr>
            <a:lvl4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4pPr>
            <a:lvl5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5pPr>
          </a:lstStyle>
          <a:p>
            <a:pPr lvl="0"/>
            <a:r>
              <a:rPr lang="en-US" altLang="ko-KR"/>
              <a:t>Level #1</a:t>
            </a:r>
          </a:p>
        </p:txBody>
      </p:sp>
      <p:sp>
        <p:nvSpPr>
          <p:cNvPr id="11" name="텍스트 개체 틀 9">
            <a:extLst>
              <a:ext uri="{FF2B5EF4-FFF2-40B4-BE49-F238E27FC236}">
                <a16:creationId xmlns:a16="http://schemas.microsoft.com/office/drawing/2014/main" id="{2A28188B-9A75-4416-A436-43EDEDA96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0420" y="710786"/>
            <a:ext cx="2915537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lang="en-US" altLang="ko-KR" sz="1400" b="1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Level #2</a:t>
            </a:r>
          </a:p>
        </p:txBody>
      </p:sp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B690A1C8-68B5-5F79-8C0D-DCD7EE5EA9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367" y="6485290"/>
            <a:ext cx="6244438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lang="en-US" altLang="ko-KR" sz="600" b="0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Level #3</a:t>
            </a:r>
          </a:p>
        </p:txBody>
      </p:sp>
    </p:spTree>
    <p:extLst>
      <p:ext uri="{BB962C8B-B14F-4D97-AF65-F5344CB8AC3E}">
        <p14:creationId xmlns:p14="http://schemas.microsoft.com/office/powerpoint/2010/main" val="689385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05AE4B-11F0-DD96-DBC0-88B2F9E857D9}"/>
              </a:ext>
            </a:extLst>
          </p:cNvPr>
          <p:cNvSpPr txBox="1"/>
          <p:nvPr userDrawn="1"/>
        </p:nvSpPr>
        <p:spPr>
          <a:xfrm>
            <a:off x="1519279" y="6647902"/>
            <a:ext cx="61211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ko-KR" sz="600" dirty="0"/>
              <a:t>© 2026 </a:t>
            </a:r>
            <a:r>
              <a:rPr lang="ko-KR" altLang="ko-KR" sz="600" dirty="0" err="1"/>
              <a:t>Young</a:t>
            </a:r>
            <a:r>
              <a:rPr lang="ko-KR" altLang="ko-KR" sz="600" dirty="0"/>
              <a:t> </a:t>
            </a:r>
            <a:r>
              <a:rPr lang="ko-KR" altLang="ko-KR" sz="600" dirty="0" err="1"/>
              <a:t>On</a:t>
            </a:r>
            <a:r>
              <a:rPr lang="ko-KR" altLang="ko-KR" sz="600" dirty="0"/>
              <a:t> Kim. LLM-</a:t>
            </a:r>
            <a:r>
              <a:rPr lang="ko-KR" altLang="ko-KR" sz="600" dirty="0" err="1"/>
              <a:t>generated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content</a:t>
            </a:r>
            <a:r>
              <a:rPr lang="ko-KR" altLang="ko-KR" sz="600" dirty="0"/>
              <a:t>, </a:t>
            </a:r>
            <a:r>
              <a:rPr lang="ko-KR" altLang="ko-KR" sz="600" dirty="0" err="1"/>
              <a:t>directed</a:t>
            </a:r>
            <a:r>
              <a:rPr lang="ko-KR" altLang="ko-KR" sz="600" dirty="0"/>
              <a:t>, </a:t>
            </a:r>
            <a:r>
              <a:rPr lang="ko-KR" altLang="ko-KR" sz="600" dirty="0" err="1"/>
              <a:t>reviewed</a:t>
            </a:r>
            <a:r>
              <a:rPr lang="ko-KR" altLang="ko-KR" sz="600" dirty="0"/>
              <a:t> and </a:t>
            </a:r>
            <a:r>
              <a:rPr lang="ko-KR" altLang="ko-KR" sz="600" dirty="0" err="1"/>
              <a:t>validated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the</a:t>
            </a:r>
            <a:r>
              <a:rPr lang="ko-KR" altLang="ko-KR" sz="600" dirty="0"/>
              <a:t> </a:t>
            </a:r>
            <a:r>
              <a:rPr lang="ko-KR" altLang="ko-KR" sz="600" dirty="0" err="1"/>
              <a:t>author</a:t>
            </a:r>
            <a:r>
              <a:rPr lang="ko-KR" altLang="ko-KR" sz="600" dirty="0"/>
              <a:t>; </a:t>
            </a:r>
            <a:r>
              <a:rPr lang="ko-KR" altLang="ko-KR" sz="600" dirty="0" err="1"/>
              <a:t>rendered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TrainingMaterials</a:t>
            </a:r>
            <a:r>
              <a:rPr lang="ko-KR" altLang="ko-KR" sz="600" dirty="0"/>
              <a:t>.</a:t>
            </a:r>
            <a:endParaRPr lang="ko-KR" altLang="en-US" sz="500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7765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hf hdr="0" ftr="0" dt="0"/>
  <p:txStyles>
    <p:titleStyle>
      <a:lvl1pPr algn="l" rtl="0" eaLnBrk="0" fontAlgn="base" latinLnBrk="0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u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l"/>
        <a:defRPr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mermaidImage1" Type="http://schemas.openxmlformats.org/officeDocument/2006/relationships/image" Target="../media/mermaid-1.png"/><Relationship Id="speakerNotes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4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mermaidImage2" Type="http://schemas.openxmlformats.org/officeDocument/2006/relationships/image" Target="../media/mermaid-2.png"/><Relationship Id="speakerNotes5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6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7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mermaidImage3" Type="http://schemas.openxmlformats.org/officeDocument/2006/relationships/image" Target="../media/mermaid-3.png"/><Relationship Id="speakerNotes8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9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0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1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mermaidImage4" Type="http://schemas.openxmlformats.org/officeDocument/2006/relationships/image" Target="../media/mermaid-4.png"/><Relationship Id="speakerNotes1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4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mermaidImage5" Type="http://schemas.openxmlformats.org/officeDocument/2006/relationships/image" Target="../media/mermaid-5.png"/><Relationship Id="speakerNotes15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6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7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8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9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0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1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3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4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5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6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7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BBD6A-BEC8-8565-421F-EBAC1ED42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14CAC-1EBE-1F63-E3BA-E3EE686B2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04. 수용 기준과 검증 가능한 작업 단위 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9EEDA23-0B0A-564A-4691-C5337C3EB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- 1 -</a:t>
            </a: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F02C014B-77F1-D298-AF5D-A7FD2F69A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822" y="949064"/>
            <a:ext cx="4580822" cy="5530862"/>
          </a:xfrm>
        </p:spPr>
        <p:txBody>
          <a:bodyPr>
            <a:normAutofit/>
          </a:bodyPr>
          <a:lstStyle/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01. 세션 목표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02. 수용 기준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03. 허용·거절 예시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04. 예시에서 테스트로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05. 작업 단위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06. 완료의 정의와 증거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07. 시연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테스트는 누가 쓰는가?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08. 잘못된 관행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09. 실습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수용 기준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10. 요약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61A0BF-30A1-CFBA-B6DC-C8AB25F4C7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4E919F-9032-122E-A91D-6BEFC90E25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36ED9B1-5AD1-2C46-246C-15655B3852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TOC 열 4">
            <a:extLst>
              <a:ext uri="{FF2B5EF4-FFF2-40B4-BE49-F238E27FC236}">
                <a16:creationId xmlns:a16="http://schemas.microsoft.com/office/drawing/2014/main" id="{F02C014B-77F1-D298-AF5D-A7FD2F69A4BB}"/>
              </a:ext>
            </a:extLst>
          </p:cNvPr>
          <p:cNvSpPr>
            <a:spLocks noGrp="1"/>
          </p:cNvSpPr>
          <p:nvPr/>
        </p:nvSpPr>
        <p:spPr>
          <a:xfrm>
            <a:off x="4426820" y="949064"/>
            <a:ext cx="4195811" cy="5530862"/>
          </a:xfrm>
        </p:spPr>
        <p:txBody>
          <a:bodyPr>
            <a:norm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1198101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01. 세션 목표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작업 명세서를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수용 기준과 테스트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바꾸고, 한 번에 검증할 수 있는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작업 단위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나눈다.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수용 기준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요구에서 코드까지의 뼈대에서 하는 역할과 사람의 일을 설명한다.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작업 명세서의 예를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허용·거절 예시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쓰고, 거절 뒤에 바뀌지 않아야 할 것을 밝힌다.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허용·거절 예시를 실행되는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수용 테스트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바꾸고, 테스트를 먼저 주고 에이전트에게 구현을 맡긴다.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작업을 수용 기준으로 끝나는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작업 단위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나누고, 기능 목록으로 하나씩 진행한다.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완료의 정의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정하고, 에이전트의 보고가 아니라 증거로 완료를 판단한다.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수용 기준이란?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02. 수용 기준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- 3 -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278892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수용 기준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결과를 받아들일 조건을 구체적인 예로 적은 것이다. 요구에서 코드까지 가는 길에서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유저 스토리와 코드를 잇는 자리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 있다.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스토리의 행위가 곧 수용 기준이다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"세션 03. 요구의 구체화와 명세"의 Given-When-Then이 수용 기준이다.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수용 기준이 없으면 명세가 아니다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받아들일 조건을 적지 않으면 LLM이 그 조건까지 스스로 정한다.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수용 기준이 곧 테스트다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사람이 읽는 예가 그대로 실행되는 테스트가 된다.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6123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수용 기준의 자리</a:t>
            </a:r>
          </a:p>
        </p:txBody>
      </p:sp>
      <p:pic>
        <p:nvPicPr>
          <p:cNvPr id="10" name="mermaid Diagram 1"/>
          <p:cNvPicPr>
            <a:picLocks noChangeAspect="1"/>
          </p:cNvPicPr>
          <p:nvPr/>
        </p:nvPicPr>
        <p:blipFill>
          <a:blip r:embed="mermaidImage1"/>
          <a:stretch>
            <a:fillRect/>
          </a:stretch>
        </p:blipFill>
        <p:spPr>
          <a:xfrm>
            <a:off x="1657443" y="3998976"/>
            <a:ext cx="5829114" cy="123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수용 기준은 사람이 정한다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02. 수용 기준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579436" y="3173268"/>
          <a:ext cx="5971540" cy="3873500"/>
        </p:xfrm>
        <a:graphic>
          <a:graphicData uri="http://schemas.openxmlformats.org/drawingml/2006/table">
            <a:tbl>
              <a:tblPr/>
              <a:tblGrid>
                <a:gridCol w="1087120"/>
                <a:gridCol w="2512060"/>
                <a:gridCol w="23723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일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LLM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기대값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업무 담당자와 정한다(2,000원)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바꾸지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예 고르기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규칙마다 대표 예를 고른다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예의 초안을 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빠진 경우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질문에 답하거나 미정으로 남긴다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빠진 경우를 질문으로 드러낸다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 코드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기대값이 규칙과 같은지 확인한다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예를 테스트 코드로 옮긴다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84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사용자의 요구를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테스트의 기대값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으로 옮기는 일은 사람이 한다. LLM은 초안을 쓰고 빠진 경우를 질문할 수 있지만, 기대값 자체를 정하지는 않는다.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사람은 일의 우선순위를 정하고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사용자 피드백을 수용 기준으로 옮기고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결과를 확인한다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"We prioritize work, translate user feedback into acceptance criteria, and validate outcomes."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[Lopopolo 2026]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- 4 -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2874818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수용 기준에서 사람의 일과 LLM의 일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검증할 수 없으면 맡길 수 없다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02. 수용 기준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- 5 -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251460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테스트가 있으면 에이전트가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스스로 확인하고 고칠 수 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테스트가 없으면 에이전트가 말하는 완료는 확인되지 않은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주장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일 뿐이다.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튼튼한 테스트가 있으면 에이전트는 날아다니고 테스트가 없으면 시험해 보지도 않고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된다고 주장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할 수 있다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"If your project has a robust, comprehensive and stable test suite agentic coding tools can fly with it. Without tests? Your agent might claim something works without having actually tested it at all"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[Willison 2025b]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2835748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테스트가 있을 때와 없을 때</a:t>
            </a:r>
          </a:p>
        </p:txBody>
      </p:sp>
      <p:pic>
        <p:nvPicPr>
          <p:cNvPr id="10" name="mermaid Diagram 2"/>
          <p:cNvPicPr>
            <a:picLocks noChangeAspect="1"/>
          </p:cNvPicPr>
          <p:nvPr/>
        </p:nvPicPr>
        <p:blipFill>
          <a:blip r:embed="mermaidImage2"/>
          <a:stretch>
            <a:fillRect/>
          </a:stretch>
        </p:blipFill>
        <p:spPr>
          <a:xfrm>
            <a:off x="1994892" y="3073492"/>
            <a:ext cx="5154216" cy="266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예에서 수용 기준으로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03. 허용·거절 예시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174306" y="2386330"/>
          <a:ext cx="6781800" cy="3873500"/>
        </p:xfrm>
        <a:graphic>
          <a:graphicData uri="http://schemas.openxmlformats.org/drawingml/2006/table">
            <a:tbl>
              <a:tblPr/>
              <a:tblGrid>
                <a:gridCol w="1310640"/>
                <a:gridCol w="2316480"/>
                <a:gridCol w="315468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수용 기준의 칸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묻는 것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작업 명세서에서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Given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어떤 상황에서 시작하는가?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예(펜 2개, 2,000원, 결제대기)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When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어떤 사건이 일어나는가?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결제한다, 판매가가 바뀐다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Then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무엇이 바뀌는가?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업무 규칙의 예(결제완료, 배송 요청 1건)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그대로인 것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무엇이 바뀌지 않아야 하는가?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거절 뒤의 상태·금액·배송 요청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업무 규칙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어떤 규칙의 예인가?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금액·배송 요청·결제 거절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038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허용 예시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사건이 받아들여져 상태가 바뀌는 예이고,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거절 예시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사건이 거절되어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무엇이 바뀌지 않아야 하는가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보이는 예다. 작업 명세서의 예에 칸을 더해 수용 기준으로 만든다.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- 6 -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208788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작업 명세서의 예에서 수용 기준으로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34293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바뀌지 않아야 할 것이 거절 예시의 핵심이다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작업 명세서의 예만으로는 잘 드러나지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주문한다의 수용 기준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03. 허용·거절 예시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009206" y="2386330"/>
          <a:ext cx="7112000" cy="3873500"/>
        </p:xfrm>
        <a:graphic>
          <a:graphicData uri="http://schemas.openxmlformats.org/drawingml/2006/table">
            <a:tbl>
              <a:tblPr/>
              <a:tblGrid>
                <a:gridCol w="1115060"/>
                <a:gridCol w="1813560"/>
                <a:gridCol w="1617980"/>
                <a:gridCol w="1617980"/>
                <a:gridCol w="94742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수용 기준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Given·When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Then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그대로인 것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업무 규칙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① 가격 변경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1,200원이 된 뒤 결제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2,000원 승인 요청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금액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금액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② 승인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카드 X 승인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결제완료, 배송 1건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—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배송 요청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③ 거절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카드 X 거절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—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결제대기, 배송 0건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 거절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④ 재결제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거절 뒤 카드 Y 승인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결제완료, 배송 1건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—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 거절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038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업무 규칙 세 가지에서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대표 예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고르면 "주문한다"의 수용 기준은 넷이 된다. 넷 모두 같은 주문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(펜 2개, 판매가 1,000원, 주문 금액 2,000원, 배송지 서울, 결제대기)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에서 시작한다.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- 7 -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208788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"주문한다"의 수용 기준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054930"/>
            <a:ext cx="8412480" cy="1435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허용 예시는 ①②④, 거절 예시는 ③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④는 거절 뒤에도 다시 결제할 수 있음을 보인다.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결제 거절은 예가 둘이다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거절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(③)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과 재결제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(④)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 배송 요청 규칙은 ②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(1건)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와 ③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(0건)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이 함께 보인다.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거절 뒤 상태 유지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03. 허용·거절 예시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- 8 -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278892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거절 예시의 Then에는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바뀌지 않아야 할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적는다. 첫 시도의 코드는 거절된 주문을 취소됨으로 바꿔 다시 결제할 수 없게 만들었다.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거절 전과 후가 같다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상태·금액·배송 요청이 모두 그대로다. 그래서 다른 카드로 다시 결제할 수 있다.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바뀌지 않은 것까지 확인한다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상태가 결제대기인지만 보면 금액이 달라지거나 배송 요청이 나간 것을 놓친다.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13639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거절 뒤 재결제</a:t>
            </a:r>
          </a:p>
        </p:txBody>
      </p:sp>
      <p:pic>
        <p:nvPicPr>
          <p:cNvPr id="10" name="mermaid Diagram 3"/>
          <p:cNvPicPr>
            <a:picLocks noChangeAspect="1"/>
          </p:cNvPicPr>
          <p:nvPr/>
        </p:nvPicPr>
        <p:blipFill>
          <a:blip r:embed="mermaidImage3"/>
          <a:stretch>
            <a:fillRect/>
          </a:stretch>
        </p:blipFill>
        <p:spPr>
          <a:xfrm>
            <a:off x="1604609" y="3374136"/>
            <a:ext cx="5934782" cy="67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수용 기준의 점검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03. 허용·거절 예시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788986" y="2112010"/>
          <a:ext cx="5552440" cy="3873500"/>
        </p:xfrm>
        <a:graphic>
          <a:graphicData uri="http://schemas.openxmlformats.org/drawingml/2006/table">
            <a:tbl>
              <a:tblPr/>
              <a:tblGrid>
                <a:gridCol w="1087120"/>
                <a:gridCol w="2819400"/>
                <a:gridCol w="164592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점검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묻는 것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"주문한다"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대표 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업무 규칙마다 예가 있는가?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규칙 3가지 모두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거절 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거절과 그대로인 것을 보이는가?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③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구체적인 값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금액·건수가 숫자인가?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2,000원, 1건, 0건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출처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업무 담당자가 정한 규칙인가?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회의 메모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알맞은 개수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같은 규칙의 예가 불어나지 않았는가?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4개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수용 기준은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많을수록 좋은 것이 아니다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업무 규칙마다 대표 예를 하나씩 두고, 사람이 리뷰할 수 있는 양으로 유지한다.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- 9 -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수용 기준의 점검 항목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06861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불어나는 수용 기준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작은 버그 하나가 수용 기준 16개로 불어난 예가 있다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("세션 03. 요구의 구체화와 명세")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BDD의 자동화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04. 예시에서 테스트로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- 10 -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2649162"/>
            <a:ext cx="8412480" cy="9906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Scenario: 결제 직전에 판매가가 올라도 주문 금액은 그대로다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Given 고객이 펜 2개를 판매가 1,000원에 주문해 주문 금액이 2,000원이다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And   펜의 판매가가 1,200원으로 바뀌었다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When  고객이 카드로 결제한다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Then  결제 시스템에 2,000원의 승인을 요청한다</a:t>
            </a: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1587442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BDD의 셋째 실천인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자동화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예를 실행되는 테스트로 만든다. Given·When·Then의 각 줄이 테스트의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준비·실행·확인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문서로 쓴 예마다 그 행위를 구현하되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자동화된 테스트로 시작해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코드 개발을 이끈다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"implement the behaviour described by each documented example, starting with an automated test to guide the development of the code"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[Cucumber]</a:t>
            </a:r>
          </a:p>
        </p:txBody>
      </p:sp>
      <p:sp>
        <p:nvSpPr>
          <p:cNvPr id="33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3749490"/>
            <a:ext cx="8412480" cy="16510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@Test @DisplayName("판매가가 1,200원으로 바뀌어도 2,000원의 승인을 요청한다")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void </a:t>
            </a:r>
            <a:r>
              <a:rPr sz="1000" b="1">
                <a:solidFill>
                  <a:srgbClr val="000000"/>
                </a:solidFill>
                <a:latin typeface="Consolas"/>
                <a:ea typeface="맑은 고딕"/>
              </a:rPr>
              <a:t>salePriceChanged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()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// Given — 펜 2개 주문(위의 준비), 판매가가 1,200원으로 바뀌었다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pen.changeSalePrice(new Money(1_200));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// When — 카드로 결제한다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service.pay(order.number(), new PaymentMethod("카드 X"));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// Then — 2,000원의 승인을 요청한다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assertEquals(List.of(new Money(2_000)), payment.requestedAmounts);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주문한다의 수용 테스트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04. 예시에서 테스트로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- 11 -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2100036"/>
            <a:ext cx="4114800" cy="41275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class </a:t>
            </a:r>
            <a:r>
              <a:rPr sz="1000" b="1">
                <a:solidFill>
                  <a:srgbClr val="000000"/>
                </a:solidFill>
                <a:latin typeface="Consolas"/>
                <a:ea typeface="맑은 고딕"/>
              </a:rPr>
              <a:t>PayAcceptanceTest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// 주문 — 펜 2개, 판매가 1,000원, 주문 금액 2,000원, 배송지 서울. 외부 시스템은 테스트 대역이다.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final Product pen = new Product(new ProductNumber("P-PEN"), new Money(1_000));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final Order order = new Order(new OrderNumber("O-1"),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    List.of(OrderItem.confirm(pen, new Quantity(2))), new Address("서울"));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final FakePayment payment = new FakePayment();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final FakeDelivery delivery = new FakeDelivery();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final OrderService service = new OrderService(new FakeOrders(order), payment, delivery);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// ... 승인·가격 변경 테스트 생략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@Test @DisplayName("거절되면 결제대기로 남고 배송을 요청하지 않는다")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void </a:t>
            </a:r>
            <a:r>
              <a:rPr sz="1000" b="1">
                <a:solidFill>
                  <a:srgbClr val="000000"/>
                </a:solidFill>
                <a:latin typeface="Consolas"/>
                <a:ea typeface="맑은 고딕"/>
              </a:rPr>
              <a:t>rejected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()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payment.reject("카드 X");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service.pay(order.number(), new PaymentMethod("카드 X"));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103831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수용 테스트는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업무 규칙대로 된 결과만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확인한다. 결제·배송 시스템은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테스트 대역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으로 바꾸고, 호출 순서 같은 구현 방식은 확인하지 않는다.</a:t>
            </a:r>
          </a:p>
        </p:txBody>
      </p:sp>
      <p:sp>
        <p:nvSpPr>
          <p:cNvPr id="33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4663440" y="2100036"/>
            <a:ext cx="4114800" cy="39624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assertEquals(OrderStatus.PENDING_PAYMENT, order.status());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assertEquals(new Money(2_000), order.totalAmount());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assertEquals(0, delivery.requests);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@Test @DisplayName("거절 뒤 다른 카드로 승인되면 결제완료다")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void </a:t>
            </a:r>
            <a:r>
              <a:rPr sz="1000" b="1">
                <a:solidFill>
                  <a:srgbClr val="000000"/>
                </a:solidFill>
                <a:latin typeface="Consolas"/>
                <a:ea typeface="맑은 고딕"/>
              </a:rPr>
              <a:t>paidWithAnotherCard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()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payment.reject("카드 X");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service.pay(order.number(), new PaymentMethod("카드 X"));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service.pay(order.number(), new PaymentMethod("카드 Y"));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assertEquals(OrderStatus.PAID, order.status());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assertEquals(1, delivery.requests);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// ... 테스트 대역 생략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테스트 먼저와 에이전트 </a:t>
            </a:r>
            <a:r>
              <a:rPr sz="2000" b="1">
                <a:solidFill>
                  <a:srgbClr val="000000"/>
                </a:solidFill>
                <a:latin typeface="맑은 고딕"/>
                <a:ea typeface="맑은 고딕"/>
              </a:rPr>
              <a:t>(1/2)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04. 예시에서 테스트로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- 12 -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278892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사람이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수용 테스트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(바깥 고리)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먼저 주면, 에이전트는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Red → Green → Refactor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단위 테스트와 구현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(안쪽 고리)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만든다. 기대값은 바깥 고리에 고정된다.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항상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TDD 주기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따른다 — 빨강 → 초록 → 리팩터링이다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"Always follow the TDD cycle: Red → Green → Refactor"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[Beck 2025]</a:t>
            </a:r>
          </a:p>
          <a:p>
            <a:pPr lvl="3" marL="1077913" indent="-354013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"/>
            </a:pP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가장 단순한 실패하는 테스트를 먼저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쓴다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"Write the simplest failing test first"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[Beck 2025]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186268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수용 테스트와 TDD의 두 고리</a:t>
            </a:r>
          </a:p>
        </p:txBody>
      </p:sp>
      <p:pic>
        <p:nvPicPr>
          <p:cNvPr id="10" name="mermaid Diagram 4"/>
          <p:cNvPicPr>
            <a:picLocks noChangeAspect="1"/>
          </p:cNvPicPr>
          <p:nvPr/>
        </p:nvPicPr>
        <p:blipFill>
          <a:blip r:embed="mermaidImage4"/>
          <a:stretch>
            <a:fillRect/>
          </a:stretch>
        </p:blipFill>
        <p:spPr>
          <a:xfrm>
            <a:off x="1652191" y="3424012"/>
            <a:ext cx="5839619" cy="85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테스트 먼저와 에이전트 </a:t>
            </a:r>
            <a:r>
              <a:rPr sz="2000" b="1">
                <a:solidFill>
                  <a:srgbClr val="000000"/>
                </a:solidFill>
                <a:latin typeface="맑은 고딕"/>
                <a:ea typeface="맑은 고딕"/>
              </a:rPr>
              <a:t>(2/2)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04. 예시에서 테스트로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872806" y="1258570"/>
          <a:ext cx="5384800" cy="3873500"/>
        </p:xfrm>
        <a:graphic>
          <a:graphicData uri="http://schemas.openxmlformats.org/drawingml/2006/table">
            <a:tbl>
              <a:tblPr/>
              <a:tblGrid>
                <a:gridCol w="1366520"/>
                <a:gridCol w="2009140"/>
                <a:gridCol w="200914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/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수용 테스트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단위 테스트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누가 쓰나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사람(LLM이 초안)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에이전트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무엇을 확인하나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업무 규칙의 결과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구현의 작은 동작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바꿀 수 있나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에이전트는 바꾸지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에이전트가 고치고 지운다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1033239" y="5678424"/>
            <a:ext cx="65285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- 13 -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수용 테스트와 단위 테스트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작게 끝까지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05. 작업 단위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816926" y="3335366"/>
          <a:ext cx="5496560" cy="3873500"/>
        </p:xfrm>
        <a:graphic>
          <a:graphicData uri="http://schemas.openxmlformats.org/drawingml/2006/table">
            <a:tbl>
              <a:tblPr/>
              <a:tblGrid>
                <a:gridCol w="947420"/>
                <a:gridCol w="2232660"/>
                <a:gridCol w="231648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/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한 번에 크게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작게 끝까지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맡기는 것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"주문한다" 전체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수용 기준 하나로 끝나는 단위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끝의 판단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에이전트의 보고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 단위의 수용 테스트 통과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실패하면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어디서 틀렸는지 찾기 어렵다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방금 한 단위만 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리뷰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큰 diff를 한 번에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작은 diff를 단위마다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996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작업 단위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한 번에 검증할 수 있는 크기이며, 그 단위의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수용 기준이 통과하면 끝난 것으로 본다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"주문한다" 전체를 한 번에 맡기면 에이전트는 한꺼번에 너무 많은 것을 바꾸려 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에이전트에게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한 번에 기능 하나만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맡겼고 이 점진적 방식이 한꺼번에 너무 많이 하려는 경향을 막는 데 결정적이었다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"…asked to work on only one feature at a time. This incremental approach turned out to be critical to addressing the agent’s tendency to do too much at once"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[Anthropic 2025d]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- 14 -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036916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한 번에 크게와 작게 끝까지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주문한다의 작업 단위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05. 작업 단위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- 15 -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278892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유저 스토리는 업무 규칙으로 나누었지만, 스토리 안의 작업 단위는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수용 기준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으로 자른다. 그래야 단위마다 끝을 확인할 테스트가 생긴다.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화살표는 진행 순서다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상자의 둘째 줄은 그 단위를 끝내는 수용 기준이다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(「주문한다의 수용 기준」의 번호)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배송 요청은 단위가 아니다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배송 요청 규칙은 ②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(1건)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와 ③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(0건)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안에서 확인된다. 따로 떼면 끝을 확인할 테스트가 없다.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13639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"주문한다"의 작업 단위</a:t>
            </a:r>
          </a:p>
        </p:txBody>
      </p:sp>
      <p:pic>
        <p:nvPicPr>
          <p:cNvPr id="10" name="mermaid Diagram 5"/>
          <p:cNvPicPr>
            <a:picLocks noChangeAspect="1"/>
          </p:cNvPicPr>
          <p:nvPr/>
        </p:nvPicPr>
        <p:blipFill>
          <a:blip r:embed="mermaidImage5"/>
          <a:stretch>
            <a:fillRect/>
          </a:stretch>
        </p:blipFill>
        <p:spPr>
          <a:xfrm>
            <a:off x="1833563" y="3374136"/>
            <a:ext cx="5476875" cy="74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기능 목록과 점진적 진행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05. 작업 단위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- 16 -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2649162"/>
            <a:ext cx="8412480" cy="18161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[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{ "unit": "금액 확정", "description": "주문이 생길 때의 판매가로 주문 금액을 정한다",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"acceptance": "판매가가 1,200원으로 바뀌어도 2,000원의 승인을 요청한다", "passes": false },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{ "unit": "승인", "description": "승인되면 결제완료가 되고 배송을 요청한다",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"acceptance": "승인되면 결제완료이고 배송을 1건 요청한다", "passes": false },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{ "unit": "거절", "description": "거절되면 결제대기로 남고 배송을 요청하지 않는다",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"acceptance": "거절되면 결제대기로 남고 배송을 요청하지 않는다", "passes": false },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{ "unit": "재결제", "description": "거절된 주문을 다른 결제 수단으로 다시 결제한다",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"acceptance": "거절 뒤 다른 카드로 승인되면 결제완료다", "passes": false 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]</a:t>
            </a: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1587442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작업 단위를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기능 목록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으로 저장소에 남기고 모두 "실패"로 시작한다. 에이전트는 하나씩 통과로 바꾸고, 다음 작업은 목록에서 이어 간다.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기능을 모두 처음에는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실패로 표시해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뒤의 에이전트가 완성된 모습을 분명히 알게 했다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"These features were all initially marked as “failing” so that later coding agents would have a clear outline of what full functionality looked like"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[Anthropic 2025d]</a:t>
            </a:r>
          </a:p>
        </p:txBody>
      </p:sp>
      <p:sp>
        <p:nvSpPr>
          <p:cNvPr id="3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693862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acceptance는 테스트 이름이다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passes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는 그 테스트가 통과할 때만 바꾼다.</a:t>
            </a:r>
          </a:p>
        </p:txBody>
      </p:sp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완료는 주장이다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06. 완료의 정의와 증거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276666" y="2624628"/>
          <a:ext cx="4577080" cy="3873500"/>
        </p:xfrm>
        <a:graphic>
          <a:graphicData uri="http://schemas.openxmlformats.org/drawingml/2006/table">
            <a:tbl>
              <a:tblPr/>
              <a:tblGrid>
                <a:gridCol w="2372360"/>
                <a:gridCol w="220472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완료의 조건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증거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수용 테스트가 모두 통과한다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 실행 출력(4개 통과)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기존 테스트가 깨지지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전체 테스트 실행 출력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테스트를 끄거나 지우지 않았다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 파일의 diff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기대값을 바꾸지 않았다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수용 테스트 파일의 diff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미정을 정하지 않았다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미정 관련 코드와 보고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330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에이전트는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제대로 시험하지 않고도 완료라고 보고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하곤 한다. 완료는 미리 정해 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완료의 정의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와 그것을 보이는 증거로 판단한다.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제대로 시험하지 않고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기능을 완료로 표시하는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경향이 있었다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"Claude’s tendency to mark a feature as complete without proper testing"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[Anthropic 2025d]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- 17 -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2326178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"주문한다"의 완료의 정의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증거를 본다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06. 완료의 정의와 증거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- 18 -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2649162"/>
            <a:ext cx="8412480" cy="14859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$ ./run-tests.sh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판매가가 1,200원으로 바뀌어도 2,000원의 승인을 요청한다 ✔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거절되면 결제대기로 남고 배송을 요청하지 않는다 ✔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승인되면 결제완료이고 배송을 1건 요청한다 ✔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거절 뒤 다른 카드로 승인되면 결제완료다 ✔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[ 4 tests successful ]  [ 0 tests failed ]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$ git diff --stat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order/OrderService.java | 8 +++++++-</a:t>
            </a: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1587442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완료는 에이전트의 보고가 아니라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테스트 출력과 diff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확인한다. 수용 테스트를 준 시연의 기록을 보면 수용 기준 넷이 통과했고 바뀐 파일은 구현 하나뿐이다.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지니가 속이는 징후 — 예를 들어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테스트를 끄거나 지우는 것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"Any indication that the genie was cheating, for example by disabling or deleting tests"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[Beck 2025]</a:t>
            </a:r>
          </a:p>
        </p:txBody>
      </p:sp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시연 설정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07. 시연 — 테스트는 누가 쓰는가?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491045" y="2386330"/>
          <a:ext cx="8148320" cy="3873500"/>
        </p:xfrm>
        <a:graphic>
          <a:graphicData uri="http://schemas.openxmlformats.org/drawingml/2006/table">
            <a:tbl>
              <a:tblPr/>
              <a:tblGrid>
                <a:gridCol w="889000"/>
                <a:gridCol w="3769360"/>
                <a:gridCol w="34899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/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테스트도 맡김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수용 테스트를 줌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출발점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도메인 코드, 빈 결제 메서드, 작업 명세서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같은 출발점 + 수용 테스트 4개(모두 실패)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지시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"작업 명세서대로 구현하고 테스트도 짜줘"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"작업 명세서대로 구현해. 테스트는 바꾸지 마"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확인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에이전트 테스트 + 사람의 수용 테스트를 따로 실행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사람의 수용 테스트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도구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파일 읽기·쓰기, 테스트 실행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같음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038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같은 작업 명세서를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두 가지 방식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으로 맡겨 실제로 실행했다. 한 번은 "테스트도 짜줘"라고 해서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기준까지 맡겼고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, 한 번은 사람이 쓴 수용 테스트를 주고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구현만 맡겼다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- 19 -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208788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시연 설정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시연 결과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07. 시연 — 테스트는 누가 쓰는가?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412306" y="2112010"/>
          <a:ext cx="8305800" cy="3873500"/>
        </p:xfrm>
        <a:graphic>
          <a:graphicData uri="http://schemas.openxmlformats.org/drawingml/2006/table">
            <a:tbl>
              <a:tblPr/>
              <a:tblGrid>
                <a:gridCol w="1897380"/>
                <a:gridCol w="3784600"/>
                <a:gridCol w="262382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/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테스트도 맡김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수용 테스트를 줌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시간·비용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61초, $0.36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49초, $0.28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만든 것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구현 10줄, 테스트 5개(130줄)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구현 6줄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사람의 수용 테스트 4개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4개 통과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4개 통과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명세에 없는 것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규칙 1개(이중 결제 방지), 배송지 값("서울시 중구 1")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없음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미정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정하지 않고 보고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정하지 않고 보고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사람이 확인할 것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 130줄의 기대값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diff(구현 파일 하나)와 구현 6줄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두 결과 모두 사람이 쓴 수용 테스트 넷을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통과했다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달랐던 것은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기대값을 누가 정했는가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와 사람이 확인해야 할 양이다.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- 20 -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시연 기록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사람의 검토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07. 시연 — 테스트는 누가 쓰는가?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- 21 -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2100036"/>
            <a:ext cx="8412480" cy="150876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@Test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@DisplayName("이미 결제완료된 주문은 승인을 다시 요청하지 않는다")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void </a:t>
            </a:r>
            <a:r>
              <a:rPr sz="900" b="1">
                <a:solidFill>
                  <a:srgbClr val="000000"/>
                </a:solidFill>
                <a:latin typeface="Consolas"/>
                <a:ea typeface="맑은 고딕"/>
              </a:rPr>
              <a:t>paidOrderIsNotChargedAgain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() {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paymentGateway.approve(CARD_X);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service.pay(ORDER_NUMBER, CARD_X);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assertThrows(IllegalStateException.class, () -&gt; service.pay(ORDER_NUMBER, CARD_X));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assertEquals(1, paymentGateway.requestedAmounts.size());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assertEquals(1, deliveryGateway.requests.size());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}</a:t>
            </a: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103831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테스트까지 맡긴 쪽에서는 에이전트가 명세에 없는 규칙을 스스로 정해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테스트에 적어 넣었다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테스트가 된 규칙은 사람이 정한 요구처럼 보인다.</a:t>
            </a:r>
          </a:p>
        </p:txBody>
      </p:sp>
      <p:sp>
        <p:nvSpPr>
          <p:cNvPr id="3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837396"/>
            <a:ext cx="8412480" cy="2346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좋은 판단일 수 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이중 결제를 막는 규칙이다. 에이전트도 "명세서에 없지만 제가 판단해서 넣었습니다"라고 보고했다.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그래도 업무 담당자가 정할 일이다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예외를 던질지, 결과를 그대로 돌려줄지는 업무 규칙이다. 사람이 정해 작업 명세서에 반영하거나 테스트를 지운다.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기대값의 주인이 사람이면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수용 테스트를 준 쪽은 이 규칙을 넣지 않았다. 빠진 규칙은 사람이 질문으로 찾아 수용 기준에 더한다.</a:t>
            </a:r>
          </a:p>
        </p:txBody>
      </p:sp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08. 잘못된 관행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495616" y="2112010"/>
          <a:ext cx="6139180" cy="3873500"/>
        </p:xfrm>
        <a:graphic>
          <a:graphicData uri="http://schemas.openxmlformats.org/drawingml/2006/table">
            <a:tbl>
              <a:tblPr/>
              <a:tblGrid>
                <a:gridCol w="2009140"/>
                <a:gridCol w="2037080"/>
                <a:gridCol w="20929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관행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일어나는 일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바로잡기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"테스트도 짜줘"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추측이 기대값으로 굳는다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수용 테스트를 먼저 준다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허용 예만 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거절 뒤 바뀐 것을 놓친다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거절 예시와 그대로인 것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한 번에 크게 맡긴다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끝을 확인할 수 없다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수용 기준으로 끝나는 단위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완료 보고를 믿는다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시험하지 않은 완료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 출력과 diff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기대값을 고쳐 통과시킨다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테스트가 코드를 따른다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기대값은 사람만 바꾼다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구현을 확인하는 테스트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리팩터링에 깨진다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결과만 확인한다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수용 기준을 잘못 다루면 에이전트의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추측이 기준으로 굳거나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, 완료가 확인되지 않은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주장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 그친다.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- 22 -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수용 기준의 잘못된 관행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09. 실습 — 수용 기준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- 23 -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622792" cy="5352345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실습 3의 작업 명세서를 LLM에 제공하여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정기배송 신청과 회차 생성 구현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의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수용 기준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과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작업 단위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를 만들고, 점검 항목으로 피드백하여 완성하십시오.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투입물</a:t>
            </a:r>
          </a:p>
          <a:p>
            <a:pPr lvl="3" marL="7239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실습 3의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작업 명세서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정기배송 모델 패키지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프롬프트</a:t>
            </a:r>
          </a:p>
          <a:p>
            <a:pPr lvl="3" marL="7239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"작업 명세서의 업무 규칙마다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허용·거절 예시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를 Given-When-Then으로 써줘. 거절 예시에는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바뀌지 않아야 할 것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도 써줘. 그리고 수용 기준 하나 이상으로 끝나는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작업 단위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로 나눠줘. 명세에 없는 규칙은 만들지 말고 질문으로 남겨줘."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점검 항목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대표 예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업무 규칙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(회차·회차 금액·결제 거절)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마다 예가 있는가?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거절 예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거절 뒤 그대로인 것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(결제 대기, 회차 0개)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을 밝혔는가?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3.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구체적인 값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날짜·금액·회차 수가 숫자인가? 직접 계산해 맞는가?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4.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명세에 없는 규칙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LLM이 새 규칙을 기대값으로 만들지 않았는가?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5.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작업 단위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단위마다 끝을 확인하는 수용 기준이 있는가?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6.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알맞은 개수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같은 규칙의 예가 불어나지 않았는가?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결과물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수용 기준과 작업 단위. 실습 5의 입력이 됩니다.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10. 요약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- 24 -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수용 기준이 곧 테스트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이며, 검증할 수 없는 작업은 에이전트에게 맡길 수 없다.</a:t>
            </a:r>
          </a:p>
          <a:p>
            <a:pPr marL="3429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수용 기준과 작업 단위의 핵심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수용 기준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스토리와 코드를 잇는다. 기대값은 사람이 정한다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허용·거절 예시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업무 규칙마다 대표 예. 거절 예시는 바뀌지 않아야 할 것을 보인다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수용 테스트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예를 테스트로 먼저 주고, 에이전트는 TDD로 구현한다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작업 단위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수용 기준으로 끝나는 크기로 나누고, 기능 목록으로 하나씩 진행한다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완료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보고가 아니라 테스트 출력과 diff로 본다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시연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둘 다 통과했지만, "테스트도 짜줘"는 명세에 없는 규칙을 테스트로 굳혔다</a:t>
            </a:r>
          </a:p>
          <a:p>
            <a:pPr marL="3429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다음 세션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05. 도메인·설계 지식과 맥락 구성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과제의 판단을 바꾸는 도메인·설계 지식을 골라 맥락으로 구성한다.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수용 기준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(안)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- 25 -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250" dirty="0" err="1"/>
              <a:t>별첨: 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1414318"/>
            <a:ext cx="4338828" cy="4898147"/>
          </a:xfrm>
        </p:spPr>
        <p:txBody>
          <a:bodyPr>
            <a:normAutofit/>
          </a:bodyPr>
          <a:lstStyle/>
          <a:p>
            <a:pPr lvl="2" marL="228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1.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가격 변경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(회차 금액)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Given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신청 뒤 휴지 가격이 12,000원이 됐다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Then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70,000원의 승인 요청, 회차 금액 10,000원</a:t>
            </a:r>
          </a:p>
          <a:p>
            <a:pPr lvl="2" marL="228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2.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승인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(회차)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When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결제가 승인된다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Then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확정, 예정 회차 7개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(11/3, 11/17, 12/1, 12/15, 12/29, 1/12, 1/26)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70,000원의 승인 요청</a:t>
            </a: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960120"/>
            <a:ext cx="8778240" cy="454198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같은 신청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(휴지 1묶음 10,000원, 첫 배송일 11월 3일, 2주 주기, 기간 3개월, 일시불 70,000원)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에서 시작한다.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414318"/>
            <a:ext cx="4439412" cy="4898147"/>
          </a:xfrm>
        </p:spPr>
        <p:txBody>
          <a:bodyPr>
            <a:normAutofit/>
          </a:bodyPr>
          <a:lstStyle/>
          <a:p>
            <a:pPr lvl="2" marL="228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3.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거절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(결제 거절)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When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결제가 거절된다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그대로인 것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결제 대기, 회차 0개, 회차 금액 10,000원</a:t>
            </a:r>
          </a:p>
          <a:p>
            <a:pPr lvl="2" marL="228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4.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재결제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(결제 거절)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Given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첫 결제 수단이 거절됐다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When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다른 결제 수단으로 결제해 승인된다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Then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확정, 예정 회차 7개</a:t>
            </a:r>
          </a:p>
          <a:p>
            <a:pPr lvl="2" marL="228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5.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만료일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(회차)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Then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마지막 회차는 1/26이다. 2/9는 만료일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(2/2)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뒤라 만들지 않는다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작업 단위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(안)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- 26 -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250" dirty="0" err="1"/>
              <a:t>별첨: 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1414318"/>
            <a:ext cx="4338828" cy="4898147"/>
          </a:xfrm>
        </p:spPr>
        <p:txBody>
          <a:bodyPr>
            <a:normAutofit/>
          </a:bodyPr>
          <a:lstStyle/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회차 금액 확정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수용 기준 1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(가격 변경)</a:t>
            </a:r>
          </a:p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승인과 회차 생성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수용 기준 2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(승인)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와 5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(만료일)</a:t>
            </a:r>
          </a:p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거절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수용 기준 3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(거절)</a:t>
            </a: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960120"/>
            <a:ext cx="8778240" cy="454198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작업 단위는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수용 기준으로 끝난다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. 회차 금액을 먼저 두는 것은 결제 금액이 모두 그 값을 쓰기 때문이다.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414318"/>
            <a:ext cx="4439412" cy="4898147"/>
          </a:xfrm>
        </p:spPr>
        <p:txBody>
          <a:bodyPr>
            <a:normAutofit/>
          </a:bodyPr>
          <a:lstStyle/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재결제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수용 기준 4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(재결제)</a:t>
            </a:r>
          </a:p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기능 목록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4개 단위를 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passes: false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로 저장소에 둔다</a:t>
            </a:r>
          </a:p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완료의 정의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수용 테스트 5개 통과, 테스트 파일의 변경 없음, 공휴일은 정하지 않음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보완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(안)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- 27 -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250" dirty="0" err="1"/>
              <a:t>별첨: 04. 수용 기준과 검증 가능한 작업 단위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1414318"/>
            <a:ext cx="4338828" cy="4898147"/>
          </a:xfrm>
        </p:spPr>
        <p:txBody>
          <a:bodyPr>
            <a:normAutofit/>
          </a:bodyPr>
          <a:lstStyle/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작업 명세서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(실습 3)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수용 기준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「업무 규칙과 예」를 수용 기준 5개로 바꿔 붙인다. 테스트 이름과 같게 쓴다.</a:t>
            </a:r>
          </a:p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정기배송 모델 패키지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바꾸지 않는다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수용 기준은 작업용이다. 회차 규칙은 이미 요구사항 정의서에 있다.</a:t>
            </a: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960120"/>
            <a:ext cx="8778240" cy="454198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새로 발견한 것은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후속 작업에 영향을 미치는 경우에만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이전 산출물에 반영한다.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414318"/>
            <a:ext cx="4439412" cy="4898147"/>
          </a:xfrm>
        </p:spPr>
        <p:txBody>
          <a:bodyPr>
            <a:normAutofit/>
          </a:bodyPr>
          <a:lstStyle/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※ 현행화 기준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반영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작업 명세서의 수용 기준과 기능 목록. 실습 5의 입력이 된다.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기록만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미정 질문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(공휴일)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태양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lIns="0" rIns="0" rtlCol="0" anchor="ctr"/>
      <a:lstStyle>
        <a:defPPr algn="ctr">
          <a:defRPr sz="1200" b="1" dirty="0" smtClean="0">
            <a:solidFill>
              <a:schemeClr val="bg1"/>
            </a:solidFill>
          </a:defRPr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Macintosh PowerPoint</Application>
  <PresentationFormat>화면 슬라이드 쇼(4:3)</PresentationFormat>
  <Paragraphs>0</Paragraphs>
  <Slides>27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맑은 고딕</vt:lpstr>
      <vt:lpstr>Arial</vt:lpstr>
      <vt:lpstr>Wingdings</vt:lpstr>
      <vt:lpstr>4_Office 테마</vt:lpstr>
      <vt:lpstr>04. 수용 기준과 검증 가능한 작업 단위 목차</vt:lpstr>
      <vt:lpstr>01. 세션 목표</vt:lpstr>
      <vt:lpstr>수용 기준이란? 02. 수용 기준</vt:lpstr>
      <vt:lpstr>수용 기준은 사람이 정한다 02. 수용 기준</vt:lpstr>
      <vt:lpstr>검증할 수 없으면 맡길 수 없다 02. 수용 기준</vt:lpstr>
      <vt:lpstr>예에서 수용 기준으로 03. 허용·거절 예시</vt:lpstr>
      <vt:lpstr>주문한다의 수용 기준 03. 허용·거절 예시</vt:lpstr>
      <vt:lpstr>거절 뒤 상태 유지 03. 허용·거절 예시</vt:lpstr>
      <vt:lpstr>수용 기준의 점검 03. 허용·거절 예시</vt:lpstr>
      <vt:lpstr>BDD의 자동화 04. 예시에서 테스트로</vt:lpstr>
      <vt:lpstr>주문한다의 수용 테스트 04. 예시에서 테스트로</vt:lpstr>
      <vt:lpstr>테스트 먼저와 에이전트 (1/2) 04. 예시에서 테스트로</vt:lpstr>
      <vt:lpstr>테스트 먼저와 에이전트 (2/2) 04. 예시에서 테스트로</vt:lpstr>
      <vt:lpstr>작게 끝까지 05. 작업 단위</vt:lpstr>
      <vt:lpstr>주문한다의 작업 단위 05. 작업 단위</vt:lpstr>
      <vt:lpstr>기능 목록과 점진적 진행 05. 작업 단위</vt:lpstr>
      <vt:lpstr>완료는 주장이다 06. 완료의 정의와 증거</vt:lpstr>
      <vt:lpstr>증거를 본다 06. 완료의 정의와 증거</vt:lpstr>
      <vt:lpstr>시연 설정 07. 시연 — 테스트는 누가 쓰는가?</vt:lpstr>
      <vt:lpstr>시연 결과 07. 시연 — 테스트는 누가 쓰는가?</vt:lpstr>
      <vt:lpstr>사람의 검토 07. 시연 — 테스트는 누가 쓰는가?</vt:lpstr>
      <vt:lpstr>08. 잘못된 관행</vt:lpstr>
      <vt:lpstr>09. 실습 — 수용 기준</vt:lpstr>
      <vt:lpstr>10. 요약</vt:lpstr>
      <vt:lpstr>수용 기준 (안) 별첨. 실습 답</vt:lpstr>
      <vt:lpstr>작업 단위 (안) 별첨. 실습 답</vt:lpstr>
      <vt:lpstr>보완 (안) 별첨. 실습 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04. 수용 기준과 검증 가능한 작업 단위</dc:title>
  <dc:creator>Kim YoungSan</dc:creator>
  <cp:lastModifiedBy>Youngon Kim</cp:lastModifiedBy>
  <cp:revision>42</cp:revision>
  <dcterms:created xsi:type="dcterms:W3CDTF">2021-02-25T22:04:20Z</dcterms:created>
  <dcterms:modified xsi:type="dcterms:W3CDTF">2026-09-21T23:10:41Z</dcterms:modified>
</cp:coreProperties>
</file>