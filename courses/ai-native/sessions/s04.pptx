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03. 요구의 구체화와 명세"는 "무엇을 만들게 할까?"를 다뤘다. 이 세션은 "무엇으로 받아들일까?"를 다룬다.</a:t>
            </a:r>
          </a:p>
          <a:p>
            <a:pPr lvl="0"/>
            <a:r>
              <a:rPr lang="ko-KR" sz="1200"/>
              <a:t>수용 기준은 "세션 09. 검증 하네스·결과 점검·피드백"의 센서, "세션 11. 평가 세트와 운영 점검 — 보안·비용·모델 변경"의 평가 세트가 된다.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뼈대는 course-design.md의 「요구에서 코드까지의 경로」다. 수용 기준은 뼈대에서 빠지지 않는 부분이다.</a:t>
            </a:r>
          </a:p>
          <a:p>
            <a:pPr lvl="0"/>
            <a:r>
              <a:rPr lang="ko-KR" sz="1200"/>
              <a:t>North(2006)의 "스토리의 행위는 곧 수용 기준이다"는 "세션 03. 요구의 구체화와 명세"의 「Given-When-Then」에서 인용했다.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Ryan Lopopolo, "Harness engineering: leveraging Codex in an agent-first world", OpenAI, 2026 영문 원문 확인. 앞 문장은 "사람은 늘 루프 안에 있지만 예전과 다른 추상 수준에서 일한다"이다("세션 01. AI 협업의 특성과 사람의 판단 책임"의 「개발자의 일과 LLM의 일」).</a:t>
            </a:r>
          </a:p>
          <a:p>
            <a:pPr lvl="0"/>
            <a:r>
              <a:rPr lang="ko-KR" sz="1200"/>
              <a:t>업무 담당자가 테스트 코드를 읽지 않아도 된다. 업무 담당자는 수용 기준 표를 확인하고, 개발자가 테스트가 그 표와 같은지 확인한다.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시도의 테스트 3개("세션 01. AI 협업의 특성과 사람의 판단 책임")는 모두 통과했지만, 업무 규칙이 아니라 자기 코드를 확인했다. 테스트가 있다는 것만으로는 부족하다.</a:t>
            </a:r>
          </a:p>
          <a:p>
            <a:pPr lvl="0"/>
            <a:r>
              <a:rPr lang="ko-KR" sz="1200"/>
              <a:t>인용 근거: Simon Willison, "Vibe engineering", 2025 원문 확인. 원문은 바이브 엔지니어링을 받치는 실천으로 자동화된 테스트를 꼽는다.</a:t>
            </a:r>
          </a:p>
          <a:p>
            <a:pPr lvl="0"/>
            <a:r>
              <a:rPr lang="ko-KR" sz="1200"/>
              <a:t>테스트가 있어도 기대값이 틀리면 고리는 틀린 방향으로 돈다. 그래서 기대값은 사람이 정한다(앞 장).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작업 명세서의 「업무 규칙과 예」는 규칙을 설명하는 예다. 수용 기준은 그 예를 받아들임의 조건으로 다시 쓴 것이다.</a:t>
            </a:r>
          </a:p>
          <a:p>
            <a:pPr lvl="0"/>
            <a:r>
              <a:rPr lang="ko-KR" sz="1200"/>
              <a:t>허용·거절은 사건의 결과다. 결제 거절은 업무상 정상적인 결과이므로 오류가 아니라 거절 예시로 다룬다.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값은 공통 전제의 교육용 값이다(course-design.md의 「공통 용어와 전제」). 번호는 업무 규칙의 순서(주문 금액 → 배송 요청 → 결제 거절)다.</a:t>
            </a:r>
          </a:p>
          <a:p>
            <a:pPr lvl="0"/>
            <a:r>
              <a:rPr lang="ko-KR" sz="1200"/>
              <a:t>미정(승인 뒤 배송 요청 실패)은 수용 기준을 만들지 않는다. 답이 없는 기대값을 지어내지 않는다.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도식은 한 주문이 시간에 따라 거치는 값이다. 주문 상태 기계는 "세션 05. 도메인·설계 지식과 맥락 구성"에서 맥락으로 만든다.</a:t>
            </a:r>
          </a:p>
          <a:p>
            <a:pPr lvl="0"/>
            <a:r>
              <a:rPr lang="ko-KR" sz="1200"/>
              <a:t>첫 시도의 거절 처리는 "세션 01. AI 협업의 특성과 사람의 판단 책임"의 「첫 시도의 결제 코드」에 있다.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수용 기준 16개의 예는 [Böckeler 2025]가 Kiro로 작은 버그를 고칠 때 본 것이다.</a:t>
            </a:r>
          </a:p>
          <a:p>
            <a:pPr lvl="0"/>
            <a:r>
              <a:rPr lang="ko-KR" sz="1200"/>
              <a:t>경계값(0원, 수량 0개 등)은 업무 규칙이 그 경계를 말할 때만 수용 기준에 넣는다. 나머지는 단위 테스트의 일이다.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Cucumber 공식 문서 "Behaviour-Driven Development" 원문 확인. 같은 문서는 Discovery·Formulation·Automation의 세 실천을 설명한다("세션 03. 요구의 구체화와 명세"의 「BDD란?」).</a:t>
            </a:r>
          </a:p>
          <a:p>
            <a:pPr lvl="0"/>
            <a:r>
              <a:rPr lang="ko-KR" sz="1200"/>
              <a:t>첫 Given(펜 2개 주문)은 테스트 클래스의 공통 준비에 있다(다음 장). 주석의 Given·When·Then은 원본 테스트에도 있다. Gherkin을 Cucumber 도구로 직접 실행할 수도 있지만, 이 과정은 JUnit 테스트로 옮긴다.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전체 코드는 code/s04/order/다. ./run-tests.sh로 JUnit 5 테스트 4개를 실행하며 모두 통과한다. JUnit은 code/s04/lib/에 둔다(git 제외, 받는 주소는 스크립트에 있다).</a:t>
            </a:r>
          </a:p>
          <a:p>
            <a:pPr lvl="0"/>
            <a:r>
              <a:rPr lang="ko-KR" sz="1200"/>
              <a:t>테스트 이름(@DisplayName)은 수용 기준을 한글로 쓴다. 업무 담당자가 테스트 결과 목록을 읽고 수용 기준 표와 맞춰 볼 수 있다.</a:t>
            </a:r>
          </a:p>
          <a:p>
            <a:pPr lvl="0"/>
            <a:r>
              <a:rPr lang="ko-KR" sz="1200"/>
              <a:t>거절 테스트는 그대로인 것 3가지(상태·금액·배송 요청)를 모두 확인한다.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Kent Beck, "Augmented Coding: Beyond the Vibes", 2025 원문 확인. Beck이 에이전트에게 준 시스템 지시의 「핵심 개발 원칙」에 있는 문장이다. 같은 글은 plan.md의 다음 테스트를 하나씩 구현하게 한다.</a:t>
            </a:r>
          </a:p>
          <a:p>
            <a:pPr lvl="0"/>
            <a:r>
              <a:rPr lang="ko-KR" sz="1200"/>
              <a:t>도식의 Red·Green·Refactor는 에이전트가, 수용 테스트는 사람이 쓴다. 수용 테스트도 처음에는 모두 실패한다. 실패를 보고 시작해야 테스트가 실제로 무언가를 확인한다는 것을 안다.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harnesses for long-running agents", 2025 원문 확인. 원문은 웹 앱 전체를 한 번에 만들려다(one-shot) 맥락이 바닥나는 실패를 먼저 적는다.</a:t>
            </a:r>
          </a:p>
          <a:p>
            <a:pPr lvl="0"/>
            <a:r>
              <a:rPr lang="ko-KR" sz="1200"/>
              <a:t>"작게 끝까지"는 guides/sw-engineering-principles.md의 기본 원칙이다. 작게 나누되 각 단위는 테스트까지 끝낸다.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규칙(3가지)과 작업 단위(4가지)의 수가 다르다. 결제 거절 규칙은 ③과 ④ 두 단위로, 배송 요청 규칙은 ②와 ③ 안의 확인으로 들어간다.</a:t>
            </a:r>
          </a:p>
          <a:p>
            <a:pPr lvl="0"/>
            <a:r>
              <a:rPr lang="ko-KR" sz="1200"/>
              <a:t>순서는 고정이 아니다. 금액 확정을 먼저 두는 이유는 다른 단위가 모두 주문 금액을 쓰기 때문이다.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harnesses for long-running agents", 2025 원문 확인. 원문은 JSON 목록에 기능 200여 개를 두고, 에이전트가 passes 값만 바꾸게 했다.</a:t>
            </a:r>
          </a:p>
          <a:p>
            <a:pPr lvl="0"/>
            <a:r>
              <a:rPr lang="ko-KR" sz="1200"/>
              <a:t>파일은 code/s04/order/features.json이다. 기능 목록은 작업 상태를 저장소에 남기는 방법이며 "세션 10. 실패 대응·재시도·복구"의 작업 상태와 이어진다.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harnesses for long-running agents", 2025 원문 확인. 원문은 에이전트가 단위 테스트를 돌리고도 기능이 처음부터 끝까지 동작하지 않는 것을 알아채지 못했다고 적는다.</a:t>
            </a:r>
          </a:p>
          <a:p>
            <a:pPr lvl="0"/>
            <a:r>
              <a:rPr lang="ko-KR" sz="1200"/>
              <a:t>완료의 정의는 작업 단위를 맡기기 전에 정한다. 이 정의를 실행 전·후에 강제하는 방법은 "세션 08. 실행 제약과 가드레일의 역할"과 "세션 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Kent Beck, "Augmented Coding: Beyond the Vibes", 2025 원문 확인. Beck이 에이전트를 지켜보다 개입하는 신호로 꼽은 셋 중 하나다(나머지는 반복과 요청하지 않은 기능).</a:t>
            </a:r>
          </a:p>
          <a:p>
            <a:pPr lvl="0"/>
            <a:r>
              <a:rPr lang="ko-KR" sz="1200"/>
              <a:t>출력은 code/s04/demo-results/B/(수용 테스트를 준 실행)의 기록에서 테스트 이름과 요약 줄만 남겼다(트리 기호 생략). 테스트 출력에는 수용 기준의 이름이 그대로 보이고, diff에는 수용 테스트 파일이 없다.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2026-10-08에 Claude Code 2.1.293(비대화형, 모델 claude-opus-5-5)으로 실행했다. 허용한 명령은 테스트 실행 스크립트 하나다. 프롬프트와 결과 전문은 code/s04/demo-results에 있다(폴더 A가 테스트도 맡긴 실행, B가 수용 테스트를 준 실행).</a:t>
            </a:r>
          </a:p>
          <a:p>
            <a:pPr lvl="0"/>
            <a:r>
              <a:rPr lang="ko-KR" sz="1200"/>
              <a:t>작업 명세서는 "세션 03. 요구의 구체화와 명세"의 「주문한다의 작업 명세서」 그대로다. 업무 규칙마다 예가 있다.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테스트도 맡긴 쪽이 통과한 이유는 작업 명세서에 업무 규칙마다 예가 있었기 때문이다. 요청 한 줄만 준 "세션 01. AI 협업의 특성과 사람의 판단 책임"의 첫 시도와 비교한다.</a:t>
            </a:r>
          </a:p>
          <a:p>
            <a:pPr lvl="0"/>
            <a:r>
              <a:rPr lang="ko-KR" sz="1200"/>
              <a:t>같은 시연을 다시 하면 결과는 달라질 수 있다(비결정성).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에이전트가 만든 테스트 전문은 code/s04/demo-results/A/OrderServiceTest.java다. 테스트 대역의 배송지 값도 명세의 값(서울)이 아니다.</a:t>
            </a:r>
          </a:p>
          <a:p>
            <a:pPr lvl="0"/>
            <a:r>
              <a:rPr lang="ko-KR" sz="1200"/>
              <a:t>수강생에게 "이 테스트를 남길까, 지울까?"를 묻고, 누가 답해야 하는지로 이끈다.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"기대값을 고쳐 통과시킨다"는 첫 시도의 테스트가 자기 코드를 확인한 것과 같은 문제다.</a:t>
            </a:r>
          </a:p>
          <a:p>
            <a:pPr lvl="0"/>
            <a:r>
              <a:rPr lang="ko-KR" sz="1200"/>
              <a:t>구현을 확인하는 테스트(호출 순서·내부 메서드)는 리팩터링마다 깨지면서 업무 규칙은 확인하지 않는다.</a:t>
            </a:r>
          </a:p>
          <a:p>
            <a:pPr lvl="0"/>
            <a:r>
              <a:rPr lang="ko-KR" sz="1200"/>
              <a:t>수용 테스트를 바꾸지 못하게 강제하는 방법(파일 쓰기 금지, 테스트 비활성화 탐지)은 "세션 08. 실행 제약과 가드레일의 역할"에서 다룬다.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정기배송 모델 패키지는 code/s01/subscription/docs/에 있다.</a:t>
            </a:r>
          </a:p>
          <a:p>
            <a:pPr lvl="0"/>
            <a:r>
              <a:rPr lang="ko-KR" sz="1200"/>
              <a:t>LLM이 경계값 예(기간 1개월·12개월, 주기 1일·28일)를 많이 쓰면 점검 6으로 줄이게 한다. 업무 규칙이 그 경계를 말하는 것만 남긴다.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지금까지 위임할 과제의 "무엇"(작업 명세서)과 "무엇으로 받아들일까"(수용 기준)를 정했다. 다음 세션은 에이전트가 알아야 할 지식, 곧 맥락을 다룬다.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5는 회차 규칙의 "만료일까지"를 보이는 예다. 업무 규칙이 말하는 경계라서 수용 기준에 넣는다.</a:t>
            </a:r>
          </a:p>
          <a:p>
            <a:pPr lvl="0"/>
            <a:r>
              <a:rPr lang="ko-KR" sz="1200"/>
              <a:t>공휴일(미정)의 수용 기준은 만들지 않는다.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회차 날짜 계산을 따로 단위로 떼어도 된다. 그때도 수용 기준 5처럼 끝을 확인할 수용 기준을 붙인다.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수용 기준이 오래 남는 것은 테스트 코드로서다. 문서의 수용 기준을 따로 유지하지 않는다.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4" Type="http://schemas.openxmlformats.org/officeDocument/2006/relationships/image" Target="../media/mermaid-4.png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5" Type="http://schemas.openxmlformats.org/officeDocument/2006/relationships/image" Target="../media/mermaid-5.png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수용 기준과 검증 가능한 작업 단위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수용 기준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허용·거절 예시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예시에서 테스트로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작업 단위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완료의 정의와 증거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시연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테스트는 누가 쓰는가?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수용 기준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명세서를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기준과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바꾸고, 한 번에 검증할 수 있는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요구에서 코드까지의 뼈대에서 하는 역할과 사람의 일을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명세서의 예를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허용·거절 예시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쓰고, 거절 뒤에 바뀌지 않아야 할 것을 밝힌다.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허용·거절 예시를 실행되는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바꾸고, 테스트를 먼저 주고 에이전트에게 구현을 맡긴다.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작업을 수용 기준으로 끝나는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나누고, 기능 목록으로 하나씩 진행한다.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완료의 정의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정하고, 에이전트의 보고가 아니라 증거로 완료를 판단한다.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수용 기준이란?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수용 기준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결과를 받아들일 조건을 구체적인 예로 쓴 것이다. 요구 → 유저 스토리 → 코드·테스트의 뼈대에서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스토리와 코드를 잇는 고리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스토리의 행위가 곧 수용 기준이다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"세션 03. 요구의 구체화와 명세"의 Given-When-Then이 수용 기준이다.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기준이 없는 스토리는 명세가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받아들일 조건이 없으면 LLM이 그 조건까지 추측한다.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기준이 곧 테스트다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읽는 예가 그대로 실행되는 테스트가 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6123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기준의 자리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657443" y="3998976"/>
            <a:ext cx="5829114" cy="1234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수용 기준은 사람이 정한다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수용 기준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79436" y="2898948"/>
          <a:ext cx="59715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512060"/>
                <a:gridCol w="23723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정한다(2,000원)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바꾸지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 고르기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규칙마다 대표 예를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예의 초안을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경우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질문에 답하거나 미정으로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경우를 질문으로 드러낸다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기대값이 규칙과 같은지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예를 테스트 코드로 옮긴다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사용자의 요구를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옮기는 일은 사람이 한다. LLM은 초안을 쓰고 빠진 경우를 질문하지만, 기대값을 정하지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사람은 일의 우선순위를 정하고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사용자 피드백을 수용 기준으로 옮기고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결과를 확인한다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prioritize work, translate user feedback into acceptance criteria, and validate outcomes.", [Lopopolo 2026]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기준에서 사람의 일과 LLM의 일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검증할 수 없으면 맡길 수 없다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수용 기준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테스트가 있으면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스스로 확인하고 고친다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없으면 "완료"는 확인되지 않은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튼튼한 테스트가 있으면 에이전트는 날아다니고 테스트가 없으면 시험해 보지도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된다고 주장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할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"If your project has a robust, comprehensive and stable test suite agentic coding tools can fly with it. Without tests? Your agent might claim something works without having actually tested it at all", [Willison 2025b]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35748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테스트가 있을 때와 없을 때</a:t>
            </a:r>
          </a:p>
        </p:txBody>
      </p:sp>
      <p:pic>
        <p:nvPicPr>
          <p:cNvPr id="10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994892" y="3073492"/>
            <a:ext cx="5154216" cy="2662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예에서 수용 기준으로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허용·거절 예시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174306" y="2386330"/>
          <a:ext cx="678180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2316480"/>
                <a:gridCol w="31546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기준의 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묻는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Given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상황에서 시작하는가?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예(펜 2개, 2,000원, 결제대기)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When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사건이 일어나는가?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결제한다, 판매가가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Then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바뀌는가?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예(결제완료, 배송 요청 1건)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그대로인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바뀌지 않아야 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뒤의 상태·금액·배송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규칙의 예인가?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금액·배송 요청·결제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허용 예시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사건이 받아들여져 상태가 바뀌는 예이고,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거절 예시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사건이 거절되어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바뀌지 않아야 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보이는 예다. 작업 명세서의 예에 칸을 더해 수용 기준으로 만든다.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명세서의 예에서 수용 기준으로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4293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그대로인 것이 거절 예시의 핵심이다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명세서의 예에는 잘 드러나지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수용 기준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허용·거절 예시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09206" y="2386330"/>
          <a:ext cx="7112000" cy="3873500"/>
        </p:xfrm>
        <a:graphic>
          <a:graphicData uri="http://schemas.openxmlformats.org/drawingml/2006/table">
            <a:tbl>
              <a:tblPr/>
              <a:tblGrid>
                <a:gridCol w="1115060"/>
                <a:gridCol w="1813560"/>
                <a:gridCol w="1617980"/>
                <a:gridCol w="1617980"/>
                <a:gridCol w="947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Given·When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Then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그대로인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① 가격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1,200원이 된 뒤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2,000원 승인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②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 X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결제완료, 배송 1건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③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 X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결제대기, 배송 0건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④ 재결제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 카드 Y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결제완료, 배송 1건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규칙 3가지의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대표 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고르면 "주문한다"의 수용 기준은 4개다. 모두 같은 주문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(펜 2개, 판매가 1,000원, 주문 금액 2,000원, 배송지 서울, 결제대기)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시작한다.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수용 기준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5493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허용 예시는 ①②④, 거절 예시는 ③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④는 거절 뒤에도 다시 결제할 수 있음을 보인다.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거절은 예가 둘이다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(③)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재결제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(④)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배송 요청 규칙은 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(1건)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와 ③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(0건)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함께 보인다.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거절 뒤 상태 유지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허용·거절 예시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거절 예시의 Then은 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바뀌지 않은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"이다. 첫 시도는 거절된 주문을 취소됨으로 바꿔 다시 결제할 수 없게 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거절 전과 후가 같다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상태·금액·배송 요청이 모두 그대로다. 그래서 다른 카드로 다시 결제할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바뀌지 않은 것도 확인한다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"결제대기인가?"만 보면 금액이 바뀌거나 배송이 나간 것을 놓친다.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363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거절 뒤 재결제</a:t>
            </a:r>
          </a:p>
        </p:txBody>
      </p:sp>
      <p:pic>
        <p:nvPicPr>
          <p:cNvPr id="10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1604609" y="3374136"/>
            <a:ext cx="5934782" cy="673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수용 기준의 점검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허용·거절 예시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88986" y="2112010"/>
          <a:ext cx="55524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819400"/>
                <a:gridCol w="16459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점검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묻는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대표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규칙마다 예가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 3가지 모두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거절과 그대로인 것을 보이는가?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③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구체적인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금액·건수가 숫자인가?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2,000원, 1건, 0건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담당자가 정한 규칙인가?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회의 메모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알맞은 개수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규칙의 예가 불어나지 않았는가?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수용 기준은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많다고 좋지 않다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규칙마다 대표 예를 두고, 리뷰할 수 있는 크기로 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기준의 점검 항목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68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불어나는 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작은 버그 하나가 수용 기준 16개로 불어난 예가 있다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("세션 03. 요구의 구체화와 명세")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BDD의 자동화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예시에서 테스트로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649162"/>
            <a:ext cx="8412480" cy="990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Scenario: 결제 직전에 판매가가 올라도 주문 금액은 그대로다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Given 고객이 펜 2개를 판매가 1,000원에 주문해 주문 금액이 2,000원이다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And   펜의 판매가가 1,200원으로 바뀌었다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When  고객이 카드로 결제한다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Then  결제 시스템에 2,000원의 승인을 요청한다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587442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BDD의 셋째 실천인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자동화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예를 실행되는 테스트로 만든다. Given·When·Then의 각 줄이 테스트의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준비·실행·확인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문서로 쓴 예마다 그 행위를 구현하되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자동화된 테스트로 시작해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코드 개발을 이끈다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"implement the behaviour described by each documented example, starting with an automated test to guide the development of the code", [Cucumber]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749490"/>
            <a:ext cx="8412480" cy="16510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@Test @DisplayName("판매가가 1,200원으로 바뀌어도 2,000원의 승인을 요청한다")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salePriceChanged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Given — 펜 2개 주문(위의 준비), 판매가가 1,200원으로 바뀌었다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pen.changeSalePrice(new Money(1_200));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When — 카드로 결제한다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service.pay(order.number(), new PaymentMethod("카드 X"));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Then — 2,000원의 승인을 요청한다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assertEquals(List.of(new Money(2_000)), payment.requestedAmounts);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수용 테스트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예시에서 테스트로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438912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PayAcceptanceTest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// 주문 — 펜 2개, 판매가 1,000원, 주문 금액 2,000원, 배송지 서울. 외부 시스템은 테스트 대역이다.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final Product pen = new Product(new ProductNumber("P-PEN"), new Money(1_000));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final Order order = new Order(new OrderNumber("O-1"),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    List.of(OrderItem.confirm(pen, new Quantity(2))), new Address("서울"));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final FakePayment payment = new FakePayment();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final FakeDelivery delivery = new FakeDelivery();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final OrderService service = new OrderService(new FakeOrders(order), payment, delivery);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// ... 승인·가격 변경 테스트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@Test @DisplayName("거절되면 결제대기로 남고 배송을 요청하지 않는다")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rejected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payment.reject("카드 X");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service.pay(order.number(), new PaymentMethod("카드 X"));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assertEquals(OrderStatus.PENDING_PAYMENT, order.status());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assertEquals(new Money(2_000), order.totalAmount());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assertEquals(0, delivery.requests);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@Test @DisplayName("거절 뒤 다른 카드로 승인되면 결제완료다")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paidWithAnotherCard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payment.reject("카드 X");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service.pay(order.number(), new PaymentMethod("카드 X"));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service.pay(order.number(), new PaymentMethod("카드 Y"));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assertEquals(OrderStatus.PAID, order.status());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assertEquals(1, delivery.requests);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// ... 테스트 대역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수용 테스트는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확인한다. 결제·배송 시스템은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 대역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바꾸고 호출 순서 같은 구현 방식은 확인하지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테스트 먼저와 에이전트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예시에서 테스트로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72806" y="4649485"/>
          <a:ext cx="538480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2009140"/>
                <a:gridCol w="20091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단위 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쓰나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사람(LLM이 초안)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확인하나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구현의 작은 동작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바꿀 수 있나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에이전트는 바꾸지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고치고 지운다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테스트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(바깥 고리)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먼저 주면,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Red → Green → Refactor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단위 테스트와 구현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(안쪽 고리)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만든다. 기대값은 바깥 고리에 고정된다.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항상 TDD 주기를 따르고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단순한 실패하는 테스트를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"Always follow the TDD cycle: Red → Green → Refactor", "Write the simplest failing test first", [Beck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51035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테스트와 단위 테스트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7365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테스트와 TDD의 두 고리</a:t>
            </a:r>
          </a:p>
        </p:txBody>
      </p:sp>
      <p:pic>
        <p:nvPicPr>
          <p:cNvPr id="16" name="mermaid Diagram 4"/>
          <p:cNvPicPr>
            <a:picLocks noChangeAspect="1"/>
          </p:cNvPicPr>
          <p:nvPr/>
        </p:nvPicPr>
        <p:blipFill>
          <a:blip r:embed="mermaidImage4"/>
          <a:stretch>
            <a:fillRect/>
          </a:stretch>
        </p:blipFill>
        <p:spPr>
          <a:xfrm>
            <a:off x="811165" y="2911394"/>
            <a:ext cx="7508081" cy="1101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작게 끝까지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작업 단위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16926" y="3335366"/>
          <a:ext cx="54965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232660"/>
                <a:gridCol w="23164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번에 크게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작게 끝까지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맡기는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 전체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 하나로 끝나는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끝의 판단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에이전트의 보고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단위의 수용 테스트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실패하면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어디서 틀렸는지 찾기 어렵다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방금 한 단위만 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리뷰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큰 diff를 한 번에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작은 diff를 단위마다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한 번에 검증할 수 있는 크기로, 그 단위의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기준이 통과하면 끝난다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"주문한다" 전체를 한 번에 맡기면 에이전트는 한꺼번에 너무 많이 하려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에이전트에게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번에 기능 하나만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맡겼고 이 점진적 방식이 한꺼번에 너무 많이 하려는 경향을 막는 데 결정적이었다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"…asked to work on only one feature at a time. This incremental approach turned out to be critical to addressing the agent’s tendency to do too much at once", [Anthropic 2025d]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369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한 번에 크게와 작게 끝까지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작업 단위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작업 단위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스토리는 업무 규칙으로 나눴지만, 스토리 안의 작업 단위는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자른다. 그래야 단위마다 끝을 확인하는 테스트가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화살표는 진행 순서다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상자의 둘째 줄은 그 단위를 끝내는 수용 기준이다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(「주문한다의 수용 기준」의 번호)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요청은 단위가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배송 요청 규칙은 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(1건)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와 ③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(0건)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안에서 확인된다. 따로 떼면 끝을 확인할 테스트가 없다.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363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작업 단위</a:t>
            </a:r>
          </a:p>
        </p:txBody>
      </p:sp>
      <p:pic>
        <p:nvPicPr>
          <p:cNvPr id="10" name="mermaid Diagram 5"/>
          <p:cNvPicPr>
            <a:picLocks noChangeAspect="1"/>
          </p:cNvPicPr>
          <p:nvPr/>
        </p:nvPicPr>
        <p:blipFill>
          <a:blip r:embed="mermaidImage5"/>
          <a:stretch>
            <a:fillRect/>
          </a:stretch>
        </p:blipFill>
        <p:spPr>
          <a:xfrm>
            <a:off x="1833563" y="3374136"/>
            <a:ext cx="5476875" cy="746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기능 목록과 점진적 진행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작업 단위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649162"/>
            <a:ext cx="8412480" cy="18161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[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{ "unit": "금액 확정", "description": "주문이 생길 때의 판매가로 주문 금액을 정한다",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"acceptance": "판매가가 1,200원으로 바뀌어도 2,000원의 승인을 요청한다", "passes": false },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{ "unit": "승인", "description": "승인되면 결제완료가 되고 배송을 요청한다",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"acceptance": "승인되면 결제완료이고 배송을 1건 요청한다", "passes": false },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{ "unit": "거절", "description": "거절되면 결제대기로 남고 배송을 요청하지 않는다",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"acceptance": "거절되면 결제대기로 남고 배송을 요청하지 않는다", "passes": false },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{ "unit": "재결제", "description": "거절된 주문을 다른 결제 수단으로 다시 결제한다",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"acceptance": "거절 뒤 다른 카드로 승인되면 결제완료다", "passes": false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]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587442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단위를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 목록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저장소에 남기고 모두 "실패"로 시작한다. 에이전트는 하나씩 통과로 바꾸고, 다음 작업은 목록에서 이어 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기능을 모두 처음에는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실패로 표시해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뒤의 에이전트가 완성된 모습을 분명히 알게 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"These features were all initially marked as “failing” so that later coding agents would have a clear outline of what full functionality looked like", [Anthropic 2025d]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693862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acceptance는 테스트 이름이다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passes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그 테스트가 통과할 때만 바꾼다.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완료는 주장이다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완료의 정의와 증거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76666" y="2624628"/>
          <a:ext cx="4577080" cy="3873500"/>
        </p:xfrm>
        <a:graphic>
          <a:graphicData uri="http://schemas.openxmlformats.org/drawingml/2006/table">
            <a:tbl>
              <a:tblPr/>
              <a:tblGrid>
                <a:gridCol w="2372360"/>
                <a:gridCol w="22047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완료의 조건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증거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테스트가 모두 통과한다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실행 출력(4개 통과)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테스트가 깨지지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전체 테스트 실행 출력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테스트를 끄거나 지우지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파일의 diff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기대값을 바꾸지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 파일의 diff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미정을 정하지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 관련 코드와 보고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제대로 시험하지 않고 완료라고 표시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하곤 한다. 완료는 미리 정한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완료의 정의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그 증거로 판단한다.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제대로 시험하지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기능을 완료로 표시하는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경향이 있었다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"Claude’s tendency to mark a feature as complete without proper testing", [Anthropic 2025d]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2617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완료의 정의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증거를 본다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완료의 정의와 증거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649162"/>
            <a:ext cx="8412480" cy="14859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$ ./run-tests.sh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판매가가 1,200원으로 바뀌어도 2,000원의 승인을 요청한다 ✔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거절되면 결제대기로 남고 배송을 요청하지 않는다 ✔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승인되면 결제완료이고 배송을 1건 요청한다 ✔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거절 뒤 다른 카드로 승인되면 결제완료다 ✔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[ 4 tests successful ]  [ 0 tests failed ]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$ git diff --stat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order/OrderService.java | 8 +++++++-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587442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보고가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 출력과 diff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본다. 수용 테스트를 준 시연의 기록에서 수용 기준 4개가 통과했고, 바뀐 파일은 구현 하나다.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지니가 속이는 징후 — 예를 들어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테스트를 끄거나 지우는 것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"Any indication that the genie was cheating, for example by disabling or deleting tests", [Beck 2025]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시연 설정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시연 — 테스트는 누가 쓰는가?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91045" y="2386330"/>
          <a:ext cx="814832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769360"/>
                <a:gridCol w="3489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테스트도 맡김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테스트를 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출발점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도메인 코드, 빈 결제 메서드, 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출발점 + 수용 테스트 4개(모두 실패)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"작업 명세서대로 구현하고 테스트도 짜줘"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"작업 명세서대로 구현해. 테스트는 바꾸지 마"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테스트 + 사람의 수용 테스트를 따로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사람의 수용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 읽기·쓰기, 테스트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작업 명세서를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두 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맡겼다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(실제 실행)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한 번은 "테스트도 짜줘"로 기준까지 맡기고, 한 번은 사람이 쓴 수용 테스트를 주고 구현만 맡겼다.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시연 설정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시연 결과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시연 — 테스트는 누가 쓰는가?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897380"/>
                <a:gridCol w="3784600"/>
                <a:gridCol w="26238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테스트도 맡김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테스트를 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시간·비용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61초, $0.36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49초, $0.28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만든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 10줄, 테스트 5개(130줄)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 6줄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사람의 수용 테스트 4개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4개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4개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명세에 없는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 1개(이중 결제 방지), 배송지 값("서울시 중구 1")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정하지 않고 보고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정하지 않고 보고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확인할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130줄의 기대값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diff(구현 파일 하나)와 구현 6줄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둘 다 사람의 수용 테스트 4개를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통과했다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차이는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기대값의 주인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사람이 확인할 양이다.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시연 기록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사람의 검토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시연 — 테스트는 누가 쓰는가?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18161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@Test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@DisplayName("이미 결제완료된 주문은 승인을 다시 요청하지 않는다")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paidOrderIsNotChargedAgain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paymentGateway.approve(CARD_X);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service.pay(ORDER_NUMBER, CARD_X);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assertThrows(IllegalStateException.class, () -&gt; service.pay(ORDER_NUMBER, CARD_X));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assertEquals(1, paymentGateway.requestedAmounts.size());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assertEquals(1, deliveryGateway.requests.size());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테스트도 맡긴 에이전트는 명세에 없는 규칙을 스스로 정해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테스트로 굳혔다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테스트가 된 규칙은 요구처럼 보인다.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887698"/>
            <a:ext cx="8412480" cy="2346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좋은 판단일 수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이중 결제를 막는 규칙이다. 에이전트도 "명세서에 없지만 제가 판단해서 넣었습니다"라고 보고했다.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그래도 업무 담당자가 정할 일이다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예외를 던질지, 결과를 그대로 돌려줄지는 업무 규칙이다. 사람이 정해 작업 명세서에 반영하거나 테스트를 지운다.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기대값의 주인이 사람이면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수용 테스트를 준 쪽은 이 규칙을 넣지 않았다. 빠진 규칙은 사람이 질문으로 찾아 수용 기준에 더한다.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95616" y="2112010"/>
          <a:ext cx="6139180" cy="3873500"/>
        </p:xfrm>
        <a:graphic>
          <a:graphicData uri="http://schemas.openxmlformats.org/drawingml/2006/table">
            <a:tbl>
              <a:tblPr/>
              <a:tblGrid>
                <a:gridCol w="2009140"/>
                <a:gridCol w="203708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일어나는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바로잡기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"테스트도 짜줘"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추측이 기대값으로 굳는다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테스트를 먼저 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허용 예만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 바뀐 것을 놓친다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예시와 그대로인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번에 크게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끝을 확인할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기준으로 끝나는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 보고를 믿는다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시험하지 않은 완료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출력과 diff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기대값을 고쳐 통과시킨다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테스트가 코드를 따른다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기대값은 사람만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구현을 확인하는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리팩터링에 깨진다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결과만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수용 기준을 잘못 다루면 에이전트의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추측이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되거나, 완료가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그친다.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기준의 잘못된 관행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실습 — 수용 기준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622792" cy="5352345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3의 작업 명세서를 LLM에 제공하여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정기배송 신청과 회차 생성 구현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만들고, 점검 항목으로 피드백하여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3의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"작업 명세서의 업무 규칙마다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허용·거절 예시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Given-When-Then으로 써줘. 거절 예시에는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바뀌지 않아야 할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도 써줘. 그리고 수용 기준 하나 이상으로 끝나는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나눠줘. 명세에 없는 규칙은 만들지 말고 질문으로 남겨줘."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대표 예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업무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(회차·회차 금액·결제 거절)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마다 예가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거절 예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거절 뒤 그대로인 것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(결제 대기, 회차 0개)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밝혔는가?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구체적인 값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날짜·금액·회차 수가 숫자인가? 직접 계산해 맞는가?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명세에 없는 규칙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LLM이 새 규칙을 기대값으로 만들지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단위마다 끝을 확인하는 수용 기준이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알맞은 개수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같은 규칙의 예가 불어나지 않았는가?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수용 기준과 작업 단위. 실습 5의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기준이 곧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검증할 수 없는 작업은 맡길 수 없다.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기준과 작업 단위의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스토리와 코드를 잇는 고리. 기대값은 사람이 정하고 LLM은 바꾸지 않는다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허용·거절 예시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규칙마다 대표 예. 거절 예시는 바뀌지 않아야 할 것을 보인다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예를 테스트로 먼저 주고, 에이전트는 TDD로 구현한다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수용 기준으로 끝나는 크기로 나누고, 기능 목록으로 하나씩 진행한다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보고가 아니라 테스트 출력과 diff로 판단한다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둘 다 통과했지만, "테스트도 짜줘"는 명세에 없는 규칙을 테스트로 굳혔다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05. 도메인·설계 지식과 맥락 구성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과제의 판단을 바꾸는 도메인·설계 지식을 골라 맥락으로 구성한다.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수용 기준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250" dirty="0" err="1"/>
              <a:t>별첨: 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가격 변경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(회차 금액)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Given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신청 뒤 휴지 가격이 12,000원이 됐다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Then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70,000원의 승인 요청, 회차 금액 10,000원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승인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(회차)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When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결제가 승인된다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Then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확정, 예정 회차 7개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(11/3, 11/17, 12/1, 12/15, 12/29, 1/12, 1/26)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70,000원의 승인 요청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같은 신청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(휴지 1묶음 10,000원, 첫 배송일 11월 3일, 2주 주기, 기간 3개월, 일시불 70,000원)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에서 시작한다.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(결제 거절)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When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결제가 거절된다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그대로인 것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대기, 회차 0개, 회차 금액 10,000원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재결제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(결제 거절)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Given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결제 수단이 거절됐다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When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다른 결제 수단으로 결제해 승인된다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Then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확정, 예정 회차 7개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만료일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(회차)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Then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마지막 회차는 1/26이다. 2/9는 만료일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뒤라 만들지 않는다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작업 단위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250" dirty="0" err="1"/>
              <a:t>별첨: 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회차 금액 확정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수용 기준 1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(가격 변경)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승인과 회차 생성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수용 기준 2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(승인)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5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(만료일)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수용 기준 3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(거절)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작업 단위는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기준으로 끝난다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. 회차 금액을 먼저 두는 것은 결제 금액이 모두 그 값을 쓰기 때문이다.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재결제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수용 기준 4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(재결제)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기능 목록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4개 단위를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passes: false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로 저장소에 둔다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완료의 정의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수용 테스트 5개 통과, 테스트 파일의 변경 없음, 공휴일은 정하지 않음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250" dirty="0" err="1"/>
              <a:t>별첨: 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3)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「업무 규칙과 예」를 수용 기준 5개로 바꿔 붙인다. 테스트 이름과 같게 쓴다.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바꾸지 않는다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수용 기준은 작업용이다. 회차 규칙은 이미 요구사항 정의서에 있다.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새로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작업 명세서의 수용 기준과 기능 목록. 실습 5의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미정 질문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(공휴일)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26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0" baseType="lpstr">
      <vt:lpstr>맑은 고딕</vt:lpstr>
      <vt:lpstr>Arial</vt:lpstr>
      <vt:lpstr>Wingdings</vt:lpstr>
      <vt:lpstr>4_Office 테마</vt:lpstr>
      <vt:lpstr>04. 수용 기준과 검증 가능한 작업 단위 목차</vt:lpstr>
      <vt:lpstr>01. 세션 목표</vt:lpstr>
      <vt:lpstr>수용 기준이란? 02. 수용 기준</vt:lpstr>
      <vt:lpstr>수용 기준은 사람이 정한다 02. 수용 기준</vt:lpstr>
      <vt:lpstr>검증할 수 없으면 맡길 수 없다 02. 수용 기준</vt:lpstr>
      <vt:lpstr>예에서 수용 기준으로 03. 허용·거절 예시</vt:lpstr>
      <vt:lpstr>주문한다의 수용 기준 03. 허용·거절 예시</vt:lpstr>
      <vt:lpstr>거절 뒤 상태 유지 03. 허용·거절 예시</vt:lpstr>
      <vt:lpstr>수용 기준의 점검 03. 허용·거절 예시</vt:lpstr>
      <vt:lpstr>BDD의 자동화 04. 예시에서 테스트로</vt:lpstr>
      <vt:lpstr>주문한다의 수용 테스트 04. 예시에서 테스트로</vt:lpstr>
      <vt:lpstr>테스트 먼저와 에이전트 04. 예시에서 테스트로</vt:lpstr>
      <vt:lpstr>작게 끝까지 05. 작업 단위</vt:lpstr>
      <vt:lpstr>주문한다의 작업 단위 05. 작업 단위</vt:lpstr>
      <vt:lpstr>기능 목록과 점진적 진행 05. 작업 단위</vt:lpstr>
      <vt:lpstr>완료는 주장이다 06. 완료의 정의와 증거</vt:lpstr>
      <vt:lpstr>증거를 본다 06. 완료의 정의와 증거</vt:lpstr>
      <vt:lpstr>시연 설정 07. 시연 — 테스트는 누가 쓰는가?</vt:lpstr>
      <vt:lpstr>시연 결과 07. 시연 — 테스트는 누가 쓰는가?</vt:lpstr>
      <vt:lpstr>사람의 검토 07. 시연 — 테스트는 누가 쓰는가?</vt:lpstr>
      <vt:lpstr>08. 잘못된 관행</vt:lpstr>
      <vt:lpstr>09. 실습 — 수용 기준</vt:lpstr>
      <vt:lpstr>10. 요약</vt:lpstr>
      <vt:lpstr>수용 기준 (안) 별첨. 실습 답</vt:lpstr>
      <vt:lpstr>작업 단위 (안)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04. 수용 기준과 검증 가능한 작업 단위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