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과정의 기준 원전(주제별 1차 원문)과 보완 자료, 세션이 레이블로 인용·참조한 자료를 하나의 목록으로 레이블의 알파벳 순서로 둔다(course-design.md의 「기준 원전과 참고 자료」).</a:t>
            </a:r>
          </a:p>
          <a:p>
            <a:pPr lvl="0"/>
            <a:r>
              <a:rPr lang="ko-KR" sz="1200"/>
              <a:t>2026-10 기준으로 각 문서의 제목·저자·게시 연도를 원문 페이지(또는 받은 PDF)에서 확인했다. 과정을 열 때마다 원문을 다시 확인한다. Technology Radar는 판이 바뀌면 최신판으로 고친다.</a:t>
            </a:r>
          </a:p>
          <a:p>
            <a:pPr lvl="0"/>
            <a:r>
              <a:rPr lang="ko-KR" sz="1200"/>
              <a:t>[OpenAI 2025]는 받은 PDF(references/inputs/)로 확인했다. 공개 URL은 사이트가 자동 요청을 막아 확인하지 못해 적지 않았다.</a:t>
            </a:r>
          </a:p>
          <a:p>
            <a:pPr lvl="0"/>
            <a:r>
              <a:rPr lang="ko-KR" sz="1200"/>
              <a:t>[Lopopolo 2026]은 openai.com이 한국어판으로 자동 전환하므로, 영문판(en-US) 본문을 추출해 references/inputs/lopopolo-2026-harness-engineering.txt에 두고 인용을 그 파일로 확인한다.</a:t>
            </a:r>
          </a:p>
          <a:p>
            <a:pPr lvl="0"/>
            <a:r>
              <a:rPr lang="ko-KR" sz="1200"/>
              <a:t>[Blount 외 2026]은 Kaggle에서 받은 PDF(references/inputs/Google_IntroductionToAgents.pdf, "Updated May 2026" 판)로 확인했다. 첫 판은 2025년 11월이며 판이 바뀌면 다시 확인한다. 공개 URL은 로그인이 필요해 적지 않았다.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참고 자료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(1/2)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별첨. 참고 자료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522976"/>
          </a:xfrm>
        </p:spPr>
        <p:txBody>
          <a:bodyPr>
            <a:normAutofit/>
          </a:bodyPr>
          <a:lstStyle/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[AGENTS.md]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AGENTS.md, https://agents.md/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Building effective agents, Anthropic, 2024, https://www.anthropic.com/engineering/building-effective-agents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2025a]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How we built our multi-agent research system, Anthropic, 2025, https://www.anthropic.com/engineering/multi-agent-research-system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2025b]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Writing effective tools for AI agents—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using AI agents, Anthropic, 2025, https://www.anthropic.com/engineering/writing-tools-for-agents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2025c]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Effective context engineering for AI agents, Anthropic, 2025, https://www.anthropic.com/engineering/effective-context-engineering-for-ai-agents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2025d]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Effective harnesses for long-running agents, Anthropic, 2025, https://www.anthropic.com/engineering/effective-harnesses-for-long-running-agents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2026a]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Demystifying evals for AI agents, Anthropic, 2026, https://www.anthropic.com/engineering/demystifying-evals-for-ai-agents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2026b]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Harness design for long-running application development, Anthropic, 2026, https://www.anthropic.com/engineering/harness-design-long-running-apps</a:t>
            </a:r>
          </a:p>
          <a:p>
            <a:pPr lvl="2" marL="111760" indent="-11176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[Anthropic 2026c]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How we contain Claude across products, Anthropic, 2026, https://www.anthropic.com/engineering/how-we-contain-claude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[Beck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Augmented Coding: Beyond the Vibes, Kent Beck, 2025, https://newsletter.kentbeck.com/p/augmented-coding-beyond-the-vibes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522976"/>
          </a:xfrm>
        </p:spPr>
        <p:txBody>
          <a:bodyPr>
            <a:normAutofit/>
          </a:bodyPr>
          <a:lstStyle/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[Blount 외 2026]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Introduction to Agents, Alan Blount·Antonio Gulli·Shubham Saboo·Michael Zimmermann·Vladimir Vuskovic, Google, 2026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[Böckeler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Understanding Spec-Driven-Development: Kiro, spec-kit, and Tessl, Birgitta Böckeler, martinfowler.com, 2025, https://martinfowler.com/articles/exploring-gen-ai/sdd-3-tools.html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[Böckeler 2026a]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Harness engineering for coding agent users, Birgitta Böckeler, martinfowler.com, 2026, https://martinfowler.com/articles/exploring-gen-ai/harness-engineering.html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[Böckeler 2026b]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Maintainability sensors for coding agents, Birgitta Böckeler, martinfowler.com, 2026, https://martinfowler.com/articles/sensors-for-coding-agents.html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[Brooks 1986]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No Silver Bullet —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Essence and Accidents of Software Engineering, Frederick P. Brooks Jr., UNC Technical Report TR86-020, 1986, https://www.cs.unc.edu/techreports/86-020.pdf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[Cucumber]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Behaviour-Driven Development, Cucumber, https://cucumber.io/docs/bdd/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[Cucumber: Example Mapping]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Example Mapping, Cucumber, https://cucumber.io/docs/bdd/example-mapping/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[DORA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State of AI-assisted Software Development 2025, DORA, 2025, https://dora.dev/research/2025/dora-report/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19.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[Evans 2015]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Domain-Driven Design Reference, Eric Evans, Domain Language, 2015, https://www.domainlanguage.com/wp-content/uploads/2016/05/DDD_Reference_2015-03.pdf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참고 자료 </a:t>
            </a: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(2/2)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별첨. 참고 자료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172" y="960120"/>
            <a:ext cx="4338828" cy="5522976"/>
          </a:xfrm>
        </p:spPr>
        <p:txBody>
          <a:bodyPr>
            <a:normAutofit/>
          </a:bodyPr>
          <a:lstStyle/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[Fowler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LLMs bring new nature of abstraction, Martin Fowler, martinfowler.com, 2025, https://martinfowler.com/articles/2025-nature-abstraction.html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[GitHub Spec Kit]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Spec Kit, GitHub, https://github.com/github/spec-kit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[Gruber 1993]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 Translation Approach to Portable Ontology Specifications, Thomas R. Gruber, Knowledge Acquisition 5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(2)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1993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[Jeffries 2001]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Essential XP: Card, Conversation, Confirmation, Ron Jeffries, 2001, https://ronjeffries.com/xprog/articles/expcardconversationconfirmation/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[Karpathy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Software Is Changing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(Again)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Andrej Karpathy, Y Combinator, 2025, https://www.ycombinator.com/library/MW-andrej-karpathy-software-is-changing-again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[Larman 2004]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Applying UML and Patterns, 3rd ed., Craig Larman, Prentice Hall, 2004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[Lopopolo 2026]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Harness engineering: leveraging Codex in an agent-first world, Ryan Lopopolo, OpenAI, 2026, https://openai.com/index/harness-engineering/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[MCP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Model Context Protocol Specification, 2025-06-18, https://modelcontextprotocol.io/specification/2025-06-18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[METR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Measuring the Impact of Early-2025 AI on Experienced Open-Source Developer Productivity, METR, 2025, https://metr.org/blog/2025-07-10-early-2025-ai-experienced-os-dev-study/</a:t>
            </a: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960120"/>
            <a:ext cx="4439412" cy="5522976"/>
          </a:xfrm>
        </p:spPr>
        <p:txBody>
          <a:bodyPr>
            <a:normAutofit/>
          </a:bodyPr>
          <a:lstStyle/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29.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[NIST 2023]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Artificial Intelligence Risk Management Framework 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(AI RMF 1.0)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, NIST AI 100-1, National Institute of Standards and Technology, 2023, https://doi.org/10.6028/NIST.AI.100-1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30.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[NIST 2024]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Artificial Intelligence Risk Management Framework: Generative Artificial Intelligence Profile, NIST AI 600-1, National Institute of Standards and Technology, 2024, https://doi.org/10.6028/NIST.AI.600-1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31.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[North 2006]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Introducing BDD, Dan North, 2006, https://dannorth.net/blog/introducing-bdd/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32.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[OpenAI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A practical guide to building agents, OpenAI, 2025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33.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[Osmani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AI-Native Software Engineer, Addy Osmani, 2025, https://addyo.substack.com/p/the-ai-native-software-engineer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34.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[OWASP 2025]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OWASP Top 10 for Agentic Applications for 2026, OWASP Gen AI Security Project, 2025, https://genai.owasp.org/resource/owasp-top-10-for-agentic-applications-for-2026/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35.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[Thoughtworks 2026]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Technology Radar, Vol. 34, Thoughtworks, 2026, https://www.thoughtworks.com/radar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36.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[Wake 2003]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INVEST in Good Stories, and SMART Tasks, Bill Wake, 2003, https://xp123.com/invest-in-good-stories-and-smart-tasks/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37.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[Willison 2025a]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The lethal trifecta for AI agents: private data, untrusted content, and external communication, Simon Willison, 2025, https://simonwillison.net/2025/Jun/16/the-lethal-trifecta/</a:t>
            </a:r>
          </a:p>
          <a:p>
            <a:pPr lvl="2" marL="167640" indent="-167640">
              <a:spcBef>
                <a:spcPts val="100"/>
              </a:spcBef>
              <a:spcAft>
                <a:spcPts val="100"/>
              </a:spcAft>
              <a:buNone/>
            </a:pP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38. </a:t>
            </a:r>
            <a:r>
              <a:rPr sz="800" b="1">
                <a:solidFill>
                  <a:srgbClr val="000000"/>
                </a:solidFill>
                <a:latin typeface="맑은 고딕"/>
                <a:ea typeface="맑은 고딕"/>
              </a:rPr>
              <a:t>[Willison 2025b]</a:t>
            </a:r>
            <a:r>
              <a:rPr sz="800" b="0">
                <a:solidFill>
                  <a:srgbClr val="000000"/>
                </a:solidFill>
                <a:latin typeface="맑은 고딕"/>
                <a:ea typeface="맑은 고딕"/>
              </a:rPr>
              <a:t>  Vibe engineering, Simon Willison, 2025, https://simonwillison.net/2025/Oct/7/vibe-engineering/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4_Office 테마</vt:lpstr>
      <vt:lpstr>참고 자료 (1/2)</vt:lpstr>
      <vt:lpstr>참고 자료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별첨. 참고 자료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