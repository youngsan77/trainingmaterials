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기준 원전(주제별 1차 원문)과 보완 자료, 세션이 레이블로 인용·참조한 자료를 하나의 목록으로 레이블의 알파벳 순서로 둔다(course-design.md의 「기준 원전과 참고 자료」).</a:t>
            </a:r>
          </a:p>
          <a:p>
            <a:pPr lvl="0"/>
            <a:r>
              <a:rPr lang="ko-KR" sz="1200"/>
              <a:t>끝에 (읽을거리)가 붙은 항목은 세션 원고가 인용하지 않는 자료다. 수강생이 더 읽을 것으로 두며, 본문이 쓰지 않는 것이 의도된 상태임을 밝힌다(Production이 그 표식으로 구분해 검사한다).</a:t>
            </a:r>
          </a:p>
          <a:p>
            <a:pPr lvl="0"/>
            <a:r>
              <a:rPr lang="ko-KR" sz="1200"/>
              <a:t>2026-10 기준으로 각 문서의 제목·저자·게시 연도를 원문 페이지(또는 받은 PDF)에서 확인했다. 과정을 열 때마다 원문을 다시 확인한다. Technology Radar는 판이 바뀌면 최신판으로 고친다.</a:t>
            </a:r>
          </a:p>
          <a:p>
            <a:pPr lvl="0"/>
            <a:r>
              <a:rPr lang="ko-KR" sz="1200"/>
              <a:t>[OpenAI 2025]는 받은 PDF(references/inputs/)로 확인했다. 공개 URL은 사이트가 자동 요청을 막아 확인하지 못해 적지 않았다.</a:t>
            </a:r>
          </a:p>
          <a:p>
            <a:pPr lvl="0"/>
            <a:r>
              <a:rPr lang="ko-KR" sz="1200"/>
              <a:t>[Lopopolo 2026]은 openai.com이 한국어판으로 자동 전환하므로, 영문판(en-US) 본문을 추출해 references/inputs/lopopolo-2026-harness-engineering.txt에 두고 인용을 그 파일로 확인한다.</a:t>
            </a:r>
          </a:p>
          <a:p>
            <a:pPr lvl="0"/>
            <a:r>
              <a:rPr lang="ko-KR" sz="1200"/>
              <a:t>[Blount 외 2026]은 Kaggle에서 받은 PDF(references/inputs/Google_IntroductionToAgents.pdf, "Updated May 2026" 판)로 확인했다. 첫 판은 2025년 11월이며 판이 바뀌면 다시 확인한다. 공개 URL은 로그인이 필요해 적지 않았다.</a:t>
            </a:r>
          </a:p>
          <a:p>
            <a:pPr lvl="0"/>
            <a:r>
              <a:rPr lang="ko-KR" sz="1200"/>
              <a:t>[Meyer 1992]는 3단 스캔본이라 자동 대조가 되지 않아 지면을 직접 읽어 문장과 문장부호를 확인했다(2026-10-14). 같은 저자의 *Object-Oriented Software Construction*(1997)은 확보하지 못해 목록에 두지 않는다.</a:t>
            </a:r>
          </a:p>
          <a:p>
            <a:pPr lvl="0"/>
            <a:r>
              <a:rPr lang="ko-KR" sz="1200"/>
              <a:t>[Wirfs-Brock 2006]은 저자의 강연 자료다. 책 *Object Design: Roles, Responsibilities, and Collaborations*(Wirfs-Brock·McKean, 2003)의 본문은 확인하지 못해 강연 자료를 출처로 쓴다.</a:t>
            </a:r>
          </a:p>
          <a:p>
            <a:pPr lvl="0"/>
            <a:r>
              <a:rPr lang="ko-KR" sz="1200"/>
              <a:t>[Chen 1976]은 2026-10-24에 목록의 알파벳 순서 자리로 옮겼다. 그 전에는 강사 노트 뒤에 번호만 이어 붙어 있었다.</a:t>
            </a:r>
          </a:p>
          <a:p>
            <a:pPr lvl="0"/>
            <a:r>
              <a:rPr lang="ko-KR" sz="1200"/>
              <a:t>[Gao 외 2025]·[Hassan 외 2026]은 받은 PDF(references/inputs/)로 확인하고 원문을 references/sources/gao-2025-llm4se-challenges.txt·hassan-2026-se30.txt에 추출해 두었다(2026-10-27). 둘 다 ACM Transactions on Software Engineering and Methodology 게재 논문이다.</a:t>
            </a:r>
          </a:p>
          <a:p>
            <a:pPr lvl="0"/>
            <a:r>
              <a:rPr lang="ko-KR" sz="1200"/>
              <a:t>[Hassan 외 2026]은 비전·로드맵 논문이다. SE 1.0·2.0·3.0의 구분과 SE 2.0의 한계 진단만 쓰고, 제안한 기술 스택과 코드를 사람에게 감춘다는 입장은 쓰지 않는다(course-design.md의 「원전 적용 결정」).</a:t>
            </a:r>
          </a:p>
          <a:p>
            <a:pPr lvl="0"/>
            <a:r>
              <a:rPr lang="ko-KR" sz="1200"/>
              <a:t>[Gao 외 2025]의 데이터 구축·모델 학습·취약점 데이터 항목은 범위 밖이다. 요구와 설계, 테스트 생성의 난제만 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[AGENTS.md]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AGENTS.md, https://agents.md/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Building effective agents, Anthropic, 2024, https://www.anthropic.com/engineering/building-effective-agents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How we built our multi-agent research system, Anthropic, 2025, https://www.anthropic.com/engineering/multi-agent-research-system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Writing effective tools for AI agents—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using AI agents, Anthropic, 2025, https://www.anthropic.com/engineering/writing-tools-for-agents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Effective context engineering for AI agents, Anthropic, 2025, https://www.anthropic.com/engineering/effective-context-engineering-for-ai-agents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Effective harnesses for long-running agents, Anthropic, 2025, https://www.anthropic.com/engineering/effective-harnesses-for-long-running-agents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Demystifying evals for AI agents, Anthropic, 2026, https://www.anthropic.com/engineering/demystifying-evals-for-ai-agents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Harness design for long-running application development, Anthropic, 2026, https://www.anthropic.com/engineering/harness-design-long-running-apps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How we contain Claude across products, Anthropic, 2026, https://www.anthropic.com/engineering/how-we-contain-claude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[Anthropic: Prompt caching]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Prompt caching, Anthropic, https://platform.claude.com/docs/en/docs/build-with-claude/prompt-caching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(2026-10 확인)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Augmented Coding: Beyond the Vibes, Kent Beck, 2025, https://newsletter.kentbeck.com/p/augmented-coding-beyond-the-vibes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Introduction to Agents, Alan Blount·Antonio Gulli·Shubham Saboo·Michael Zimmermann·Vladimir Vuskovic, Google, 2026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No Silver Bullet 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Essence and Accidents of Software Engineering, Frederick P. Brooks Jr., UNC Technical Report TR86-020, 1986, https://www.cs.unc.edu/techreports/86-020.pdf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Understanding Spec-Driven-Development: Kiro, spec-kit, and Tessl, Birgitta Böckeler, martinfowler.com, 2025, https://martinfowler.com/articles/exploring-gen-ai/sdd-3-tools.html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 for coding agent users, Birgitta Böckeler, martinfowler.com, 2026, https://martinfowler.com/articles/exploring-gen-ai/harness-engineering.html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Maintainability sensors for coding agents, Birgitta Böckeler, martinfowler.com, 2026, https://martinfowler.com/articles/sensors-for-coding-agents.html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[Chen 1976]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Entity-Relationship Model 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Toward a Unified View of Data, Peter Pin-Shan Chen, ACM Transactions on Database Systems, 1976, https://www.csc.lsu.edu/~chen/pdf/erd-5-pages.pdf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[Cockburn 2005]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Hexagonal architecture, Alistair Cockburn, 2005, https://alistair.cockburn.us/hexagonal-architecture/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Behaviour-Driven Development, Cucumber, https://cucumber.io/docs/bdd/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Example Mapping, Cucumber, https://cucumber.io/docs/bdd/example-mapping/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[DORA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State of AI-assisted Software Development 2025, DORA, 2025, https://dora.dev/research/2025/dora-report/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 Reference, Eric Evans, Domain Language, 2015, https://www.domainlanguage.com/wp-content/uploads/2016/05/DDD_Reference_2015-03.pdf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[Fowler 2015c]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MonolithFirst, Martin Fowler, martinfowler.com, 2015, https://martinfowler.com/bliki/MonolithFirst.html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[Fowler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LLMs bring new nature of abstraction, Martin Fowler, martinfowler.com, 2025, https://martinfowler.com/articles/2025-nature-abstraction.html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[Gao 외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Current Challenges of Software Engineering in the Era of Large Language Models, Cuiyun Gao·Xing Hu·Shan Gao·Xin Xia·Zhi Jin, ACM Transactions on Software Engineering and Methodology 34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(5)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2025, https://doi.org/10.1145/3712005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[GitHub Spec Kit]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Spec Kit, GitHub, https://github.com/github/spec-kit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 Translation Approach to Portable Ontology Specifications, Thomas R. Gruber, Knowledge Acquisition 5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1993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Towards AI-Native Software Engineering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(SE 3.0)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A Vision and a Challenge Roadmap, Ahmed E. Hassan·Gustavo A. Oliva·Dayi Lin·Boyuan Chen·Zhen Ming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(Jack)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Jiang, ACM Transactions on Software Engineering and Methodology 35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(9)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2026, https://doi.org/10.1145/3807901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Essential XP: Card, Conversation, Confirmation, Ron Jeffries, 2001, https://ronjeffries.com/xprog/articles/expcardconversationconfirmation/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[Karpathy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Software Is Changing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(Again)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Andrej Karpathy, Y Combinator, 2025, https://www.ycombinator.com/library/MW-andrej-karpathy-software-is-changing-again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Applying UML and Patterns, 3rd ed., Craig Larman, Prentice Hall, 2004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[Lewis·Fowler 2014]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Microservices, James Lewis·Martin Fowler, martinfowler.com, 2014, https://martinfowler.com/articles/microservices.html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engineering: leveraging Codex in an agent-first world, Ryan Lopopolo, OpenAI, 2026, https://openai.com/index/harness-engineering/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Design Principles and Design Patterns, Robert C. Martin, 2000, https://staff.cs.utu.fi/~jounsmed/doos_06/material/DesignPrinciplesAndPatterns.pdf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Single Responsibility Principle, Robert C. Martin, The Clean Code Blog, 2014, https://blog.cleancoder.com/uncle-bob/2014/05/08/SingleReponsibilityPrinciple.html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Model Context Protocol Specification, 2025-06-18, https://modelcontextprotocol.io/specification/2025-06-18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Measuring the Impact of Early-2025 AI on Experienced Open-Source Developer Productivity, METR, 2025, https://metr.org/blog/2025-07-10-early-2025-ai-experienced-os-dev-study/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Applying "Design by Contract", Bertrand Meyer, IEEE Computer 25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(10)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1992, https://se.inf.ethz.ch/~meyer/publications/computer/contract.pdf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Artificial Intelligence Risk Management Framework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(AI RMF 1.0)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NIST AI 100-1, National Institute of Standards and Technology, 2023, https://doi.org/10.6028/NIST.AI.100-1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Artificial Intelligence Risk Management Framework: Generative Artificial Intelligence Profile, NIST AI 600-1, National Institute of Standards and Technology, 2024, https://doi.org/10.6028/NIST.AI.600-1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Introducing BDD, Dan North, 2006, https://dannorth.net/blog/introducing-bdd/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 practical guide to building agents, OpenAI, 2025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[OpenAI: Permissions]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Permissions, OpenAI, https://learn.chatgpt.com/docs/permissions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(2026-10 확인)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[Osmani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AI-Native Software Engineer, Addy Osmani, 2025, https://addyo.substack.com/p/the-ai-native-software-engineer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[OWASP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OWASP Top 10 for Agentic Applications for 2026, OWASP Gen AI Security Project, 2025, https://genai.owasp.org/resource/owasp-top-10-for-agentic-applications-for-2026/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Technology Radar, Vol. 34, Thoughtworks, 2026, https://www.thoughtworks.com/radar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INVEST in Good Stories, and SMART Tasks, Bill Wake, 2003, https://xp123.com/invest-in-good-stories-and-smart-tasks/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lethal trifecta for AI agents: private data, untrusted content, and external communication, Simon Willison, 2025, https://simonwillison.net/2025/Jun/16/the-lethal-trifecta/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Vibe engineering, Simon Willison, 2025, https://simonwillison.net/2025/Oct/7/vibe-engineering/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50.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[Wirfs-Brock 2006]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 Brief Tour of Responsibility-Driven Design, Rebecca Wirfs-Brock, Wirfs-Brock Associates, 2006, https://www.wirfs-brock.com/PDFs/A_Brief-Tour-of-RDD.pdf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4_Office 테마</vt:lpstr>
      <vt:lpstr>참고 자료 (1/2)</vt:lpstr>
      <vt:lpstr>참고 자료 (2/2)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별첨. 참고 자료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