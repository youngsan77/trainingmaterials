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입력은 "세션 03. 요구와 수용 기준"의 수용 기준, "세션 04. 정적 모델"의 개념·불변 조건, "세션 05. 동적 모델"의 상태·전이, "세션 06. 아키텍처"의 의존 규칙과 외부 연동 규격이다.</a:t>
            </a:r>
          </a:p>
          <a:p>
            <a:pPr lvl="0"/>
            <a:r>
              <a:rPr lang="ko-KR" sz="1200"/>
              <a:t>출력은 "세션 08. 위임"의 위임 단위가 된다. 작업 단위 넷의 이름은 과정 공통 전제와 같다.</a:t>
            </a:r>
          </a:p>
          <a:p>
            <a:pPr lvl="0"/>
            <a:r>
              <a:rPr lang="ko-KR" sz="1200"/>
              <a:t>책임 주도 설계·GRASP·계약에 의한 설계·SOLID는 판단의 근거로만 쓴다. CRC 카드, GRASP 아홉 패턴 전체, 변이 국소화 패턴은 "객체지향 분석과 설계 실무"의 몫이다.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Craig Larman, *Applying UML and Patterns*, 3rd ed.(2004)의 설계 정의 원문 확인. "세션 04. 정적 모델"의 「03. 분석·설계·구현」이 같은 곳의 분석 정의를 인용한다.</a:t>
            </a:r>
          </a:p>
          <a:p>
            <a:pPr lvl="0"/>
            <a:r>
              <a:rPr lang="ko-KR" sz="1200"/>
              <a:t>인용 근거: Birgitta Böckeler, [Understanding Spec-Driven-Development](https://martinfowler.com/articles/exploring-gen-ai/sdd-3-tools.html), martinfowler.com, 2025의 명세 정의 원문 확인. 저자가 세 도구를 비교하며 내린 정의다.</a:t>
            </a:r>
          </a:p>
          <a:p>
            <a:pPr lvl="0"/>
            <a:r>
              <a:rPr lang="ko-KR" sz="1200"/>
              <a:t>미정을 자리로만 남기는 것은 「06. 상태 변경과 실패 처리의 자리」에서 코드로 보인다.</a:t>
            </a:r>
          </a:p>
          <a:p>
            <a:pPr lvl="0"/>
            <a:r>
              <a:rPr lang="ko-KR" sz="1200"/>
              <a:t>AI에게 주는 명세가 설계를 대신하지 않는다는 점을 짚는다. 행위를 적은 문서로는 누가 그 행위를 맡는지 정해지지 않는다.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Rebecca Wirfs-Brock, [A Brief Tour of Responsibility-Driven Design](https://www.wirfs-brock.com/PDFs/A_Brief-Tour-of-RDD.pdf)(2006)의 "Responsibility-Driven Design Constructs" 쪽 원문 확인. 같은 쪽이 역할·협력·계약도 정의한다. 책 *Object Design*(Wirfs-Brock·McKean, 2003)의 본문은 확인하지 못해 강연 자료를 출처로 쓴다.</a:t>
            </a:r>
          </a:p>
          <a:p>
            <a:pPr lvl="0"/>
            <a:r>
              <a:rPr lang="ko-KR" sz="1200"/>
              <a:t>인용 근거: Larman 2004의 책임 주도 설계 설명 원문 확인. 같은 곳은 UML의 책임 정의를 함께 인용한다.</a:t>
            </a:r>
          </a:p>
          <a:p>
            <a:pPr lvl="0"/>
            <a:r>
              <a:rPr lang="ko-KR" sz="1200"/>
              <a:t>네 구성의 이름만 쓴다. 카드로 책임을 뽑아 옮겨 보는 절차는 "객체지향 분석과 설계 실무"가 다룬다.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 2004의 GRASP 이름 설명 원문 확인. 같은 곳은 이 이름이 책임 할당의 기본 원리를 붙잡는다는 뜻으로 골랐다고 밝힌다.</a:t>
            </a:r>
          </a:p>
          <a:p>
            <a:pPr lvl="0"/>
            <a:r>
              <a:rPr lang="ko-KR" sz="1200"/>
              <a:t>원전의 패턴은 아홉 가지다. 이 사례의 판단에 쓰는 넷만 보이며 나머지는 "객체지향 분석과 설계 실무"의 몫이다.</a:t>
            </a:r>
          </a:p>
          <a:p>
            <a:pPr lvl="0"/>
            <a:r>
              <a:rPr lang="ko-KR" sz="1200"/>
              <a:t>네 질문의 답이 갈리는 예를 던진다 — 금액을 아는 곳과 저장을 아는 곳이 다르면 어느 쪽이 계산하는가?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 2004의 정보 전문가 패턴 해결책 원문 확인. 같은 곳은 이 판단이 객체에 책임을 주는 가장 기본적인 물음이라고 설명한다.</a:t>
            </a:r>
          </a:p>
          <a:p>
            <a:pPr lvl="0"/>
            <a:r>
              <a:rPr lang="ko-KR" sz="1200"/>
              <a:t>코드 원본은 code/s07/design/src/order/OrderItem.java와 src/order/Order.java다. 실행: node courses/ai-native/sessions/code/s07/design/run.mjs.</a:t>
            </a:r>
          </a:p>
          <a:p>
            <a:pPr lvl="0"/>
            <a:r>
              <a:rPr lang="ko-KR" sz="1200"/>
              <a:t>확정 단가는 "세션 04. 정적 모델"에서 정한 불변 조건을 코드로 옮긴 것이다. 판매가를 다시 조회하지 않는다는 점을 짚는다.</a:t>
            </a:r>
          </a:p>
          <a:p>
            <a:pPr lvl="0"/>
            <a:r>
              <a:rPr lang="ko-KR" sz="1200"/>
              <a:t>이 코드가 보장하지 않는 것 — 동일 상품 항목의 병합, 수량 상한, 금액의 통화. 공통 전제가 정하지 않았다.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 2004의 컨트롤러 패턴 문제 정의 원문 확인. 원전의 선택은 넷(전체 시스템, 장치, 하위 시스템, 유스케이스·세션 컨트롤러)이며 이 사례에 해당하는 둘만 보인다.</a:t>
            </a:r>
          </a:p>
          <a:p>
            <a:pPr lvl="0"/>
            <a:r>
              <a:rPr lang="ko-KR" sz="1200"/>
              <a:t>OrderService는 "세션 06. 아키텍처"에서 order 패키지의 클래스로 이미 나왔다. 그 책임의 근거를 여기서 댄다.</a:t>
            </a:r>
          </a:p>
          <a:p>
            <a:pPr lvl="0"/>
            <a:r>
              <a:rPr lang="ko-KR" sz="1200"/>
              <a:t>UI 계층은 이 과정의 범위 밖이다. 사건이 어디서 들어오든 그 사건을 받는 객체를 정한다는 판단만 쓴다.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 셋은 과정 공통 전제가 정한 것이다. 설계가 규칙을 더하거나 고치지 않는다.</a:t>
            </a:r>
          </a:p>
          <a:p>
            <a:pPr lvl="0"/>
            <a:r>
              <a:rPr lang="ko-KR" sz="1200"/>
              <a:t>배송 요청은 주문의 책임이 아니다. 주문은 요청해도 되는 상태인지만 보장하고, 보내는 일은 포트가 한다.</a:t>
            </a:r>
          </a:p>
          <a:p>
            <a:pPr lvl="0"/>
            <a:r>
              <a:rPr lang="ko-KR" sz="1200"/>
              <a:t>이 배치가 유일한 정답이 아니다. 「07. SOLID로 판단하기」의 「두 대안 가르기」에서 다른 안과 견준다.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 2004의 협력 설명 원문 확인. 같은 곳은 하나의 책임이 여러 메서드로 나뉠 수 있다고 덧붙인다.</a:t>
            </a:r>
          </a:p>
          <a:p>
            <a:pPr lvl="0"/>
            <a:r>
              <a:rPr lang="ko-KR" sz="1200"/>
              <a:t>협력을 먼저 적고 인터페이스를 뒤에 정하는 순서를 짚는다. 인터페이스를 먼저 정하면 쓰지 않는 오퍼레이션이 생긴다.</a:t>
            </a:r>
          </a:p>
          <a:p>
            <a:pPr lvl="0"/>
            <a:r>
              <a:rPr lang="ko-KR" sz="1200"/>
              <a:t>분석의 상호작용과 설계의 협력이 어떻게 다른지는 「분석 시퀀스와 무엇이 다른가?」가 답한다.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생명선은 설계 객체이며 용어집의 영문명을 쓴다. 분석 시퀀스의 관행대로 응답 화살표를 그리지 않았으며, 반환값이 없다는 뜻은 아니다.</a:t>
            </a:r>
          </a:p>
          <a:p>
            <a:pPr lvl="0"/>
            <a:r>
              <a:rPr lang="ko-KR" sz="1200"/>
              <a:t>원본은 code/s07/design/src/order/OrderService.java다. 이 한 가지 순서를 보편 설계로 확정하지 않는다.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도식을 나란히 띄워 참여자만 비교하게 한다. 사건의 수가 같은지 세어 보는 것이 되돌림 확인이다.</a:t>
            </a:r>
          </a:p>
          <a:p>
            <a:pPr lvl="0"/>
            <a:r>
              <a:rPr lang="ko-KR" sz="1200"/>
              <a:t>설계 시퀀스에 저장소 호출이 새로 보인다. 저장은 분석이 다루지 않은 기술 책임이며 업무 사건이 아니다.</a:t>
            </a:r>
          </a:p>
          <a:p>
            <a:pPr lvl="0"/>
            <a:r>
              <a:rPr lang="ko-KR" sz="1200"/>
              <a:t>표기법의 상세(프레임, 생성, 비동기 화살촉)는 "객체지향 분석과 설계 실무"가 가르친다.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 원본은 code/s07/design/src/payment/와 src/order/OrderRepository.java다.</a:t>
            </a:r>
          </a:p>
          <a:p>
            <a:pPr lvl="0"/>
            <a:r>
              <a:rPr lang="ko-KR" sz="1200"/>
              <a:t>"세션 06. 아키텍처"의 예제는 저장소를 findBy(주문 번호)·save(주문 번호, 주문)로 선언했다. 정보 전문가를 근거로 매개변수를 줄인 것이 이 세션의 진화다.</a:t>
            </a:r>
          </a:p>
          <a:p>
            <a:pPr lvl="0"/>
            <a:r>
              <a:rPr lang="ko-KR" sz="1200"/>
              <a:t>확정 불가는 주문 상태가 아니다. 결제 응답을 확정할 수 없다는 업무 결과이며 상태를 늘리지 않는다. 반환을 셋으로 둔 근거는 "세션 06. 아키텍처"의 「04. 업무 패키지와 외부 시스템」의 「외부 연동 규격」이다.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Bertrand Meyer, ["Applying Design by Contract"](https://se.inf.ethz.ch/~meyer/publications/computer/contract.pdf), *IEEE Computer* 25(10), 1992의 계약 개념 설명 원문 확인. 3단 스캔본이라 지면을 직접 읽어 문장을 확인했다.</a:t>
            </a:r>
          </a:p>
          <a:p>
            <a:pPr lvl="0"/>
            <a:r>
              <a:rPr lang="ko-KR" sz="1200"/>
              <a:t>계약은 문서가 아니라 판단이다. 어긴 호출이 누구의 잘못인지 정해지면 고칠 자리도 정해진다.</a:t>
            </a:r>
          </a:p>
          <a:p>
            <a:pPr lvl="0"/>
            <a:r>
              <a:rPr lang="ko-KR" sz="1200"/>
              <a:t>계약을 코드에 적는 수단(단정문, 주석, 검사 메서드)은 언어와 도구가 정한다. 이 세션은 검사 메서드와 테스트로 보인다.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Meyer 1992의 단정문 설명 원문 확인. 같은 쪽은 사전조건을 모든 호출이 올바르려면 만족해야 할 요구, 사후조건을 호출이 그 대가로 보장하는 성질로 설명한다.</a:t>
            </a:r>
          </a:p>
          <a:p>
            <a:pPr lvl="0"/>
            <a:r>
              <a:rPr lang="ko-KR" sz="1200"/>
              <a:t>인용 근거: Larman 2004의 사후조건 정의 원문 확인. 원전은 시스템 오퍼레이션의 계약을 설명하는 범위에서 이 문장을 쓴다.</a:t>
            </a:r>
          </a:p>
          <a:p>
            <a:pPr lvl="0"/>
            <a:r>
              <a:rPr lang="ko-KR" sz="1200"/>
              <a:t>불변 조건을 세 번째 칸으로 더하는 것이 이 자리의 요점이다. 새 조건을 만들지 않고 정적 모델이 정한 것을 가리킨다.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계약은 코드 주석과 테스트 양쪽에 있다. 원본은 code/s07/design/src/의 각 선언과 src/test/ContractTest.java다.</a:t>
            </a:r>
          </a:p>
          <a:p>
            <a:pPr lvl="0"/>
            <a:r>
              <a:rPr lang="ko-KR" sz="1200"/>
              <a:t>수용 기준과 계약은 범위가 다르다. 수용 기준은 고객이 받아들일 결과이고, 계약은 객체 사이의 약속이다.</a:t>
            </a:r>
          </a:p>
          <a:p>
            <a:pPr lvl="0"/>
            <a:r>
              <a:rPr lang="ko-KR" sz="1200"/>
              <a:t>사전조건이 "없음"인 오퍼레이션도 적는다. 비어 있다는 것이 아무 상태에서나 불러도 된다는 결정이다.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원본은 code/s07/design/src/order/OrderService.java다. 재시도·보상·트랜잭션은 구현하지 않았다.</a:t>
            </a:r>
          </a:p>
          <a:p>
            <a:pPr lvl="0"/>
            <a:r>
              <a:rPr lang="ko-KR" sz="1200"/>
              <a:t>승인 뒤 배송 요청이 실패하면 주문은 이미 결제완료다. 설계는 그 틈이 있다는 것까지 밝히고 정책은 업무 담당자에게 남긴다.</a:t>
            </a:r>
          </a:p>
          <a:p>
            <a:pPr lvl="0"/>
            <a:r>
              <a:rPr lang="ko-KR" sz="1200"/>
              <a:t>멈추는 것과 삼키는 것의 차이를 짚는다. 예외를 던지면 호출한 사람이 알고, catch로 삼키면 아무도 모른다.</a:t>
            </a:r>
          </a:p>
          <a:p>
            <a:pPr lvl="0"/>
            <a:r>
              <a:rPr lang="ko-KR" sz="1200"/>
              <a:t>이 자리는 "세션 08. 위임"에서 에이전트가 미정에 닿으면 멈춰 묻는 종료 조건과 같다. 정책은 "세션 11. 종합 실행"에서 실제로 드러나 거두어진다.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Robert C. Martin, [Design Principles and Design Patterns](https://staff.cs.utu.fi/~jounsmed/doos_06/material/DesignPrinciplesAndPatterns.pdf), 2000의 개방 폐쇄 원칙 원문 확인. 같은 절은 추상이 그 열쇠라고 밝힌다.</a:t>
            </a:r>
          </a:p>
          <a:p>
            <a:pPr lvl="0"/>
            <a:r>
              <a:rPr lang="ko-KR" sz="1200"/>
              <a:t>SOLID라는 약어는 원전에 없다. 다섯 원칙을 묶어 부르는 통용 약어여서 이름만 쓰고 출처를 달지 않는다.</a:t>
            </a:r>
          </a:p>
          <a:p>
            <a:pPr lvl="0"/>
            <a:r>
              <a:rPr lang="ko-KR" sz="1200"/>
              <a:t>단일 책임의 인용은 [Martin 2014], 의존성 역전의 인용은 [Martin 2000]으로 "세션 06. 아키텍처"의 「03. 설계 원칙」에 있다. 같은 문장을 두 번 두지 않는다.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Martin 2000의 인터페이스 분리 원칙 원문 확인. 같은 절은 쓰는 쪽이 갈리면 인터페이스도 갈린다고 설명한다.</a:t>
            </a:r>
          </a:p>
          <a:p>
            <a:pPr lvl="0"/>
            <a:r>
              <a:rPr lang="ko-KR" sz="1200"/>
              <a:t>코드 원본은 code/s07/design/src/alternative/ExternalSystemGateway.java다. 쓰지 않기로 한 안이며 컴파일만 확인했다.</a:t>
            </a:r>
          </a:p>
          <a:p>
            <a:pPr lvl="0"/>
            <a:r>
              <a:rPr lang="ko-KR" sz="1200"/>
              <a:t>고른 포트 셋의 선언은 「04. 협력과 인터페이스」의 「인터페이스와 설계 클래스」에 있다. 같은 세 기능이 어떻게 갈리는지 비교하게 한다.</a:t>
            </a:r>
          </a:p>
          <a:p>
            <a:pPr lvl="0"/>
            <a:r>
              <a:rPr lang="ko-KR" sz="1200"/>
              <a:t>테스트도 함께 커진다는 점을 덧붙인다. 승인만 확인하려는 대역이 쓰지 않는 메서드 둘을 구현해야 한다.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Martin 2000의 리스코프 치환 원칙 원문 확인. 같은 절은 이 원칙이 Liskov의 연구와 Meyer의 계약에 의한 설계에서 나왔다고 밝힌다. 원전의 범위는 상속이며, 포트의 구현을 바꿔 끼우는 자리에 적용한 것은 이 과정의 적용이다.</a:t>
            </a:r>
          </a:p>
          <a:p>
            <a:pPr lvl="0"/>
            <a:r>
              <a:rPr lang="ko-KR" sz="1200"/>
              <a:t>출력은 node courses/ai-native/sessions/code/s07/design/run.mjs의 실제 실행 결과다. 원본은 src/test/FalseGreenExample.java와 src/alternative/RepricingOrderService.java다.</a:t>
            </a:r>
          </a:p>
          <a:p>
            <a:pPr lvl="0"/>
            <a:r>
              <a:rPr lang="ko-KR" sz="1200"/>
              <a:t>결과를 먼저 예측하게 한다 — 테스트가 녹색인데 업무 규칙이 깨졌다면 무엇을 의심하는가?</a:t>
            </a:r>
          </a:p>
          <a:p>
            <a:pPr lvl="0"/>
            <a:r>
              <a:rPr lang="ko-KR" sz="1200"/>
              <a:t>녹색이 보장하지 않는 것은 "세션 09. 검사 파이프라인"에서 다시 다룬다.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 원본은 code/s07/design/src/alternative/PortHoldingOrder.java다. 쓰지 않기로 한 안이며 컴파일만 확인했다.</a:t>
            </a:r>
          </a:p>
          <a:p>
            <a:pPr lvl="0"/>
            <a:r>
              <a:rPr lang="ko-KR" sz="1200"/>
              <a:t>AI는 두 안을 다 낸다. 사람이 하는 일은 고르는 것이고, 고른 근거를 적어 두는 것이 다음 변경의 자산이다.</a:t>
            </a:r>
          </a:p>
          <a:p>
            <a:pPr lvl="0"/>
            <a:r>
              <a:rPr lang="ko-KR" sz="1200"/>
              <a:t>주문이 포트를 들면 주문을 만들 때마다 포트를 넘겨야 하고, 저장소에서 꺼낸 주문에도 포트를 끼워야 한다. 그래서 주문이 자기를 저장할 수 없다 — 저장은 주문 서비스가 저장소에 맡긴다.</a:t>
            </a:r>
          </a:p>
          <a:p>
            <a:pPr lvl="0"/>
            <a:r>
              <a:rPr lang="ko-KR" sz="1200"/>
              <a:t>"세션 05. 동적 모델"의 「09. 코드와 검사로 연결하기」의 「승인 뒤 배송을 실행하기」는 포트를 매개변수로 받는 실행 예였다. 그 자리를 이 세션이 정했음을 짚는다.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다섯은 교육용 가정이며 한 응답의 기록이 아니다. 실습 7에서 수강생이 자기 목록을 만든다.</a:t>
            </a:r>
          </a:p>
          <a:p>
            <a:pPr lvl="0"/>
            <a:r>
              <a:rPr lang="ko-KR" sz="1200"/>
              <a:t>되돌릴 곳의 둘째 줄이 가장 어렵다. 그럴듯한 처리가 들어와 있어 읽으면 맞는 것처럼 보인다.</a:t>
            </a:r>
          </a:p>
          <a:p>
            <a:pPr lvl="0"/>
            <a:r>
              <a:rPr lang="ko-KR" sz="1200"/>
              <a:t>용어집과 다른 이름은 course-design.md의 영한 용어집으로 대조한다. Production이 세션 사이의 enum 값을 함께 대조한다.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 칸(산출물·사람·AI)은 과정의 공통 형식이다(course-design.md의 「5. Session 구조」).</a:t>
            </a:r>
          </a:p>
          <a:p>
            <a:pPr lvl="0"/>
            <a:r>
              <a:rPr lang="ko-KR" sz="1200"/>
              <a:t>사람이 가르는 근거를 적어 두면 다음 작업의 맥락이 된다. "세션 08. 위임"이 이 결정을 읽힐 범위에 넣는다.</a:t>
            </a:r>
          </a:p>
          <a:p>
            <a:pPr lvl="0"/>
            <a:r>
              <a:rPr lang="ko-KR" sz="1200"/>
              <a:t>AI에게 "좋은 설계를 해 달라"고 맡기지 않게 한다. 묻는 것은 대안과 그 근거다.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코드와 출력의 원본은 code/s07/design/src/test/ContractTest.java다. 실행: node courses/ai-native/sessions/code/s07/design/run.mjs.</a:t>
            </a:r>
          </a:p>
          <a:p>
            <a:pPr lvl="0"/>
            <a:r>
              <a:rPr lang="ko-KR" sz="1200"/>
              <a:t>이 검사가 보장하지 않는 것 — 실제 제공자의 응답 형식, 통신 실패, 동시 실행, 저장의 내구성.</a:t>
            </a:r>
          </a:p>
          <a:p>
            <a:pPr lvl="0"/>
            <a:r>
              <a:rPr lang="ko-KR" sz="1200"/>
              <a:t>검사를 명령 하나로 모으고 에이전트의 루프 안으로 당기는 것은 "세션 09. 검사 파이프라인"이 다룬다.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요구와 설계의 경계를 짚는다. "세션 03. 요구와 수용 기준"의 「09. 요구사항 정의서와 작업 명세서」가 명세의 범위를 정했고, 쪼개는 것은 이 세션이다.</a:t>
            </a:r>
          </a:p>
          <a:p>
            <a:pPr lvl="0"/>
            <a:r>
              <a:rPr lang="ko-KR" sz="1200"/>
              <a:t>단위의 수는 사례의 분할이며 모든 과제의 표준이 아니다.</a:t>
            </a:r>
          </a:p>
          <a:p>
            <a:pPr lvl="0"/>
            <a:r>
              <a:rPr lang="ko-KR" sz="1200"/>
              <a:t>실습에서는 수강생이 자기 요구와 설계로 단위를 정한다. 개수 자체를 채점하지 않는다.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네 단위는 과정 공통 전제의 이름과 같다. 승인과 거절은 같은 결제 흐름의 두 경로이며 코드를 두 벌 만드는 것이 아니다.</a:t>
            </a:r>
          </a:p>
          <a:p>
            <a:pPr lvl="0"/>
            <a:r>
              <a:rPr lang="ko-KR" sz="1200"/>
              <a:t>완료를 확인할 예는 "세션 03. 요구와 수용 기준"의 수용 예 넷과 1:1로 대응한다.</a:t>
            </a:r>
          </a:p>
          <a:p>
            <a:pPr lvl="0"/>
            <a:r>
              <a:rPr lang="ko-KR" sz="1200"/>
              <a:t>확정 불가는 단위에 넣지 않았다. 뒤의 처리가 미정이므로 완료를 확인할 예를 만들 수 없다.</a:t>
            </a:r>
          </a:p>
          <a:p>
            <a:pPr lvl="0"/>
            <a:r>
              <a:rPr lang="ko-KR" sz="1200"/>
              <a:t>공통 코드를 고친 뒤에는 앞 단위의 테스트도 다시 돌린다. 새 단위의 통과가 앞 단위의 유지를 증명하지 않는다.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Simon Willison, [Vibe engineering](https://simonwillison.net/2025/Oct/7/vibe-engineering/), 2025의 자동 테스트 항목 원문 확인. 한글은 직역이 아닌 요약이다.</a:t>
            </a:r>
          </a:p>
          <a:p>
            <a:pPr lvl="0"/>
            <a:r>
              <a:rPr lang="ko-KR" sz="1200"/>
              <a:t>완료의 정의는 팀이 한 번 정해 모든 단위에 쓴다. 단위마다 다른 기준을 만들지 않는다.</a:t>
            </a:r>
          </a:p>
          <a:p>
            <a:pPr lvl="0"/>
            <a:r>
              <a:rPr lang="ko-KR" sz="1200"/>
              <a:t>의존 규칙 검사는 "세션 06. 아키텍처"의 「06. 검증하기 쉬운 구조」의 「규칙 위반을 검사하기」에서 보였다. 여기서는 완료의 증거로 요구한다.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[Effective harnesses for long-running agents](https://www.anthropic.com/engineering/effective-harnesses-for-long-running-agents), 2025의 해당 팀 실행 방식 문장 원문 확인. 병렬 개발을 보편적으로 금지하는 규칙으로 확대하지 않는다.</a:t>
            </a:r>
          </a:p>
          <a:p>
            <a:pPr lvl="0"/>
            <a:r>
              <a:rPr lang="ko-KR" sz="1200"/>
              <a:t>증거의 값은 code/s07/design/src/test/ContractTest.java의 실제 메서드 이름이다.</a:t>
            </a:r>
          </a:p>
          <a:p>
            <a:pPr lvl="0"/>
            <a:r>
              <a:rPr lang="ko-KR" sz="1200"/>
              <a:t>기능 목록의 파일 형식은 정하지 않는다. 진행을 남기는 예이며 실습의 결과물로 요구하지 않는다.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 원본은 code/s07/design/src/alternative/AnemicOrderService.java와 AnemicOrder.java다. 쓰지 않기로 한 안이며 컴파일만 확인했다.</a:t>
            </a:r>
          </a:p>
          <a:p>
            <a:pPr lvl="0"/>
            <a:r>
              <a:rPr lang="ko-KR" sz="1200"/>
              <a:t>생성기가 기본으로 내놓는 모양이라 가장 자주 돌아온다. 값과 설정자만 든 클래스가 보이면 규칙이 어디 있는지 먼저 찾게 한다.</a:t>
            </a:r>
          </a:p>
          <a:p>
            <a:pPr lvl="0"/>
            <a:r>
              <a:rPr lang="ko-KR" sz="1200"/>
              <a:t>데이터만 든 모델도 테스트는 통과한다. 가르는 기준은 다음 변경에서 열리는 파일의 수다.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미정 둘은 과정 공통 전제의 것이다 — 승인 뒤 배송 요청 실패, 확정 불가 뒤의 처리.</a:t>
            </a:r>
          </a:p>
          <a:p>
            <a:pPr lvl="0"/>
            <a:r>
              <a:rPr lang="ko-KR" sz="1200"/>
              <a:t>코드 리뷰에서 찾는 법을 짚는다. 요구사항 정의서의 미정 목록을 들고 그 단어가 코드에 나오는지 본다.</a:t>
            </a:r>
          </a:p>
          <a:p>
            <a:pPr lvl="0"/>
            <a:r>
              <a:rPr lang="ko-KR" sz="1200"/>
              <a:t>"세션 08. 위임"의 종료 조건이 이 판단을 에이전트에게 옮긴다 — 미정에 닿으면 멈추고 묻는다.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계층으로 쪼갠 단위가 흔한 이유는 파일 경계가 눈에 보이기 때문이다. 확인할 것이 컴파일뿐이라는 점을 짚는다.</a:t>
            </a:r>
          </a:p>
          <a:p>
            <a:pPr lvl="0"/>
            <a:r>
              <a:rPr lang="ko-KR" sz="1200"/>
              <a:t>행동으로 쪼개면 한 단위가 여러 패키지를 건드린다. 그것이 문제가 아니라 의도다.</a:t>
            </a:r>
          </a:p>
          <a:p>
            <a:pPr lvl="0"/>
            <a:r>
              <a:rPr lang="ko-KR" sz="1200"/>
              <a:t>에이전트에게 맡길 때 차이가 커진다. 계층 단위는 "완료"를 주장할 근거가 없다.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강사의 실제 실행 기록은 code/s07/exercise-conversation/order/에 있다. 별첨은 마지막 응답의 전문이다.</a:t>
            </a:r>
          </a:p>
          <a:p>
            <a:pPr lvl="0"/>
            <a:r>
              <a:rPr lang="ko-KR" sz="1200"/>
              <a:t>②~④는 보완 대화의 예시다. 실제 답변에 따라 통합·추가·반복하며 정해진 횟수를 채우지 않는다.</a:t>
            </a:r>
          </a:p>
          <a:p>
            <a:pPr lvl="0"/>
            <a:r>
              <a:rPr lang="ko-KR" sz="1200"/>
              <a:t>수강생의 책임 배치가 강의와 달라도 된다. 근거가 네 판단 중 하나로 설명되는지, 그 배치가 자기 의존 규칙과 맞는지를 본다.</a:t>
            </a:r>
          </a:p>
          <a:p>
            <a:pPr lvl="0"/>
            <a:r>
              <a:rPr lang="ko-KR" sz="1200"/>
              <a:t>단위의 개수를 채점하지 않는다. 단위마다 완료를 확인할 예가 있는지를 본다.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산출물은 책임 배치, 설계 시퀀스, 인터페이스와 오퍼레이션 계약, 작업 단위와 완료 조건이다. 저장소의 모델 패키지에 함께 둔다.</a:t>
            </a:r>
          </a:p>
          <a:p>
            <a:pPr lvl="0"/>
            <a:r>
              <a:rPr lang="ko-KR" sz="1200"/>
              <a:t>모델에서 보완된 내용 — 확정 불가 뒤의 처리가 계약의 빈칸으로 드러나 요구의 미정 목록에 남았다.</a:t>
            </a:r>
          </a:p>
          <a:p>
            <a:pPr lvl="0"/>
            <a:r>
              <a:rPr lang="ko-KR" sz="1200"/>
              <a:t>다음 세션의 첫 단위는 금액 확정이다. 그 단위의 수용 예와 계약을 그대로 위임의 종료 조건으로 쓴다.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실제 최종 응답의 전문이다. 원본은 code/s07/exercise-conversation/order/주문한다-설계.md이며 문장·강조는 편집하지 않았고, 줄바꿈으로 이어 붙인 설명 줄에 하위 글머리표만 더했다.</a:t>
            </a:r>
          </a:p>
          <a:p>
            <a:pPr lvl="0"/>
            <a:r>
              <a:rPr lang="ko-KR" sz="1200"/>
              <a:t>강의와 다른 결정이 셋이다. 조정자의 이름이 OrderApplicationService이고, 단가 확정의 책임을 상품 포트와 주문에 나누어 적었고, 저장을 승인 전후 두 번 한다. 셋 다 근거가 있으므로 고치지 않는다.</a:t>
            </a:r>
          </a:p>
          <a:p>
            <a:pPr lvl="0"/>
            <a:r>
              <a:rPr lang="ko-KR" sz="1200"/>
              <a:t>강의와 같은 결정은 사건을 받는 객체를 따로 두고 금액과 상태를 주문에 둔 것이다. 같은 네 판단으로 같은 자리에 닿았다.</a:t>
            </a:r>
          </a:p>
          <a:p>
            <a:pPr lvl="0"/>
            <a:r>
              <a:rPr lang="ko-KR" sz="1200"/>
              <a:t>첫 ⑤는 세 장면을 한 도식에 담고 참여자 이름에 패키지를 붙여, 지면에서 글자가 3.4pt로 줄어 읽을 수 없었다. 배치만 고치도록 ⑤를 한 번 더 요청해 카드 승인 장면만 도식으로 남기고 나머지 두 장면을 목록으로 받았다. 이전 회차는 finalization-rounds/01에 있다.</a:t>
            </a:r>
          </a:p>
          <a:p>
            <a:pPr lvl="0"/>
            <a:r>
              <a:rPr lang="ko-KR" sz="1200"/>
              <a:t>설계 시퀀스에는 도식 제목 표식과 하위 글머리표만 더했고 문장과 도식 원본은 편집하지 않았다. 도식 뒤의 두 항목은 주문 생성과 주문 결과 확인이며, 도식으로 그린 것은 카드 승인 장면 하나뿐이다. 나머지 두 장면은 목록으로만 적어 달라고 ⑤에서 요청한 결과다.</a:t>
            </a:r>
          </a:p>
          <a:p>
            <a:pPr lvl="0"/>
            <a:r>
              <a:rPr lang="ko-KR" sz="1200"/>
              <a:t>발췌 범위 — 받은 도식의 alt 세 갈래 중 승인 갈래만 남겼다. 세 갈래를 함께 그리면 글자가 7pt 아래로 줄어 읽을 수 없다. 거절과 확정 불가의 결과는 이 문서의 「오퍼레이션 계약」에 사후조건으로 있고, 도식 원본 전문은 code/s07/exercise-conversation/order/주문한다-설계.md에 있다.</a:t>
            </a:r>
          </a:p>
          <a:p>
            <a:pPr lvl="0"/>
            <a:r>
              <a:rPr lang="ko-KR" sz="1200"/>
              <a:t>승인 뒤 저장과 배송 요청의 실패 처리를 미정으로 적어 둔 것이 이 응답의 요점이다. 강의의 「06. 상태 변경과 실패 처리의 자리」와 같은 판단이다.</a:t>
            </a:r>
          </a:p>
          <a:p>
            <a:pPr lvl="0"/>
            <a:r>
              <a:rPr lang="ko-KR" sz="1200"/>
              <a:t>주문 생성에서 판매가를 조회하는 쪽이 서비스이고 단가를 확정하는 쪽이 주문이다. 강의의 「정보 전문가」와 같은 가름이다.</a:t>
            </a:r>
          </a:p>
          <a:p>
            <a:pPr lvl="0"/>
            <a:r>
              <a:rPr lang="ko-KR" sz="1200"/>
              <a:t>인터페이스는 선언과 문장을 편집하지 않았고, 다섯 블록을 한 블록으로 이어 붙였으며 블록 표식을 java에서 text로 바꿨다 — 이 선언은 실행한 원본이 아니라 응답의 제안이므로 세션의 코드 발췌 검사 대상이 아니다. 한 장에 담기 위해 주문 생성·조회의 입력 포트(OrderPlacementUseCase·OrderQueryUseCase) 선언을 뺐다. 전문은 code/s07/exercise-conversation/order/주문한다-설계.md에 있다. 응답의 이 절은 선언으로 시작한다. 거버닝 메시지를 지어 붙이지 않고 원문 그대로 두었다. 입력 포트를 셋으로 가른 것이 인터페이스 분리의 적용이다. 강의는 입력 포트를 두지 않고 OrderService의 오퍼레이션으로 두었다 — 다른 결정이며 근거가 있다.</a:t>
            </a:r>
          </a:p>
          <a:p>
            <a:pPr lvl="0"/>
            <a:r>
              <a:rPr lang="ko-KR" sz="1200"/>
              <a:t>오퍼레이션 계약의 마지막 문단이 ③의 보완에서 나왔다. 느슨한 대역이 통과시키는 2,400원 요청은 강의의 「07. SOLID로 판단하기」의 「대체 가능성과 계약」과 같은 장면이다. 사후조건을 결과마다 줄로 나눈 것이 첫 ⑤와 달라진 점이다. 한 칸에 셋을 담았던 표를 배치만 고쳐 받았다.</a:t>
            </a:r>
          </a:p>
          <a:p>
            <a:pPr lvl="0"/>
            <a:r>
              <a:rPr lang="ko-KR" sz="1200"/>
              <a:t>작업 단위가 다섯이다. 강의의 넷과 다른 점은 주문 생성과 주문 결과 확인을 단위로 둔 것과, 확정 불가를 단위 4로 둔 것이다. 뒤의 처리는 미정이지만 어떤 전이도 하지 않는다는 것은 확인할 수 있으므로 근거가 있다. 마지막 문단의 미정 목록이 실습 3~6에서 이어진 것과 같은지 대조하게 한다. 설계가 미정을 늘리지도 줄이지도 않았다. 실제 실행은 tools/run-exercise-turn.py와 Codex CLI로 ①~⑤ 6회다(⑤ 최종화 2회). 단계별 시각·명령·종료 코드는 code/s07/exercise-conversation/order/codex-metadata-NN.json에 있다.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1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4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설계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분석과 설계의 거리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책임 주도 설계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협력과 인터페이스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계약에 의한 설계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상태 변경과 실패 처리의 자리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SOLID로 판단하기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AI가 낸 설계 대안 검토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계약이 검사가 된다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작업 단위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설계와 작업 단위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모델을 그대로 옮기는 것은 설계가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책임과 협력은 사람이 정하고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AI가 대안을 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책임·역할·협력·계약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설계할 것을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정보 전문가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컨트롤러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업무 규칙을 지킬 자리와 사건을 받는 자리를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협력의 조건을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사전조건과 사후조건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적는다.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SOLID 다섯 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AI가 낸 두 대안을 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계약을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단위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옮기고, 계약을 어긴 대역이 만드는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거짓 녹색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가려낸다.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번에 검증할 작업 단위 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나누고 단위마다 완료의 정의를 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분석과 설계의 거리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41235" y="3223145"/>
          <a:ext cx="764794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2819400"/>
                <a:gridCol w="32385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분석이 정한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설계가 더 정하는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개념과 속성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값을 아는 객체와 계산할 책임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금액을 Order가 계산한다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상태와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상태를 바꾸는 메서드와 그 전의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onPaid()가 결제대기를 확인하고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사건과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사건을 처음 받는 객체와 호출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OrderService가 결제한다를 받아 조정한다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미정으로 남긴 정책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정책이 들어갈 자리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 불가 뒤의 처리는 자리만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9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설계는 요구사항을 충족하는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개념적 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강조하며,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강조하지 않는다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"Design emphasizes a conceptual solution (in software and hardware) that fulfills the requirements, rather than its implementation."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명세는 소프트웨어의 기능을 자연어로 표현해 AI 코딩 에이전트에게 안내가 되는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행위 중심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구조화된 산출물이다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spec is a structured, behavior-oriented artifact - or a set of related artifacts - written in natural language that expresses software functionality and serves as guidance to AI coding agents"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24695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분석과 설계가 각각 정하는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891745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없던 것이 설계에서 생긴다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사건을 받는 객체, 주문을 찾아오는 자리, 외부를 부르는 순서.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업무 규칙을 만들지 않는다.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명세가 행위를 적고, 설계는 그 행위를 지킬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책임 주도 설계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책임은 작업을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수행하거나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정보를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알 의무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responsibility = an obligation to perform a task or know information"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[Wirfs-Brock 2006]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책임 주도 설계에서는 소프트웨어 객체가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책임을 가진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 보며, 책임은 그 객체가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하는 일의 추상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 RDD, we think of software objects as having responsibilities … an abstraction of what they do."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역할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관련된 책임의 묶음이다. 주문은 금액과 상태를 지키는 역할, 주문 서비스는 사건을 받아 조정하는 역할을 맡는다.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협력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객체들이 그 의무를 이행하며 주고받는 상호작용이다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(「04. 협력과 인터페이스」)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 협력이 성립할 조건이다. 부르는 쪽이 맞출 것과 받는 쪽이 보장할 것을 적는다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(「05. 계약에 의한 설계」)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책임을 먼저 정하면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클래스가 뒤따라 나온다.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클래스를 먼저 그리고 할 일을 채우면 값만 든 클래스와 모든 일을 하는 클래스가 남는다.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6065577"/>
            <a:ext cx="8412480" cy="34747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RDD — Responsibility-Driven Design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GRASP — 책임 할당의 판단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책임 주도 설계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11085" y="1999788"/>
          <a:ext cx="75082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3182620"/>
                <a:gridCol w="32385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주문한다의 답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정보 전문가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일에 필요한 정보를 누가 가졌는가?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항목과 확정 단가를 아는 Order가 계산한다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컨트롤러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사건을 처음 받아 조정할 객체는 무엇인가?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결제한다를 OrderService가 받는다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높은 응집도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객체의 책임이 한 가지 일을 향하는가?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Order는 자기 금액과 상태만 지킨다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낮은 결합도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책임을 맡으면 무엇을 알아야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Order는 결제·배송 포트를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676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GRASP는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일반적인 책임 할당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소프트웨어 패턴을 뜻한다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"GRASP stands for General Responsibility Assignment Software Patterns."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70133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이 세션이 쓰는 네 판단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68388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뒤의 둘은 "세션 06. 아키텍처"의 「03. 설계 원칙」에서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패키지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근거였다. 같은 척도를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객체의 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패턴은 답을 주지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물을 것을 준다.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네 질문에 서로 다른 답이 나오는 자리가 설계의 결정이다.</a:t>
            </a:r>
          </a:p>
        </p:txBody>
      </p:sp>
      <p:sp>
        <p:nvSpPr>
          <p:cNvPr id="16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6065577"/>
            <a:ext cx="8412480" cy="34747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GRASP — General Responsibility Assignment Software Patterns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정보 전문가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책임 주도 설계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2999232" y="1737846"/>
            <a:ext cx="2798064" cy="18161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사후조건: 단가는 확정한 그 시점의 판매가이며 이후 판매가 변경에 따라 바뀌지 않는다.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static OrderItem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confirm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(ProductNumber productNumber, long salePrice, Quantity quantity)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return new OrderItem(productNumber, new Money(salePrice), quantity);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67612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그 책임을 이행하는 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필요한 정보를 가진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클래스에 책임을 할당한다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"Assign a responsibility to the class that has the information needed to fulfill it."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5980176" y="1737846"/>
            <a:ext cx="2798064" cy="2311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... 주문이 항목의 금액을 합하는 부분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사후조건: 확정 단가 × 수량의 합이며, 현재 판매가를 다시 조회하지 않는다.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Money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totalAmount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Money total = Money.ZERO;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for (OrderItem item : items)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total = total.plus(item.amount());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return total;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77846"/>
            <a:ext cx="8412480" cy="195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금액은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항목의 확정 단가와 수량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나온다. 그것을 아는 곳이 주문이므로 계산도 주문의 책임이다.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아는 곳 밖에서 계산하면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값을 넘겨 주는 코드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생긴다. 항목을 꺼내 서비스가 더하면 주문은 자기 금액을 모르는 객체가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찾아 저장하는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주문이 아는 것으로 할 수 없다. 그 정보를 가진 저장소의 책임이다.</a:t>
            </a:r>
          </a:p>
        </p:txBody>
      </p:sp>
      <p:sp>
        <p:nvSpPr>
          <p:cNvPr id="3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0998"/>
            <a:ext cx="2523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금액을 아는 객체</a:t>
            </a:r>
          </a:p>
        </p:txBody>
      </p:sp>
      <p:pic>
        <p:nvPicPr>
          <p:cNvPr id="36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953078" y="2048742"/>
            <a:ext cx="1349107" cy="1916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컨트롤러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책임 주도 설계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52996" y="2274108"/>
          <a:ext cx="7424420" cy="3873500"/>
        </p:xfrm>
        <a:graphic>
          <a:graphicData uri="http://schemas.openxmlformats.org/drawingml/2006/table">
            <a:tbl>
              <a:tblPr/>
              <a:tblGrid>
                <a:gridCol w="2232660"/>
                <a:gridCol w="1953260"/>
                <a:gridCol w="32385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선택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대표하는가?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전체 시스템을 대표하는 객체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하나에 창구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주문·배송·통지의 사건이 한 객체로 몰린다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유스케이스를 대표하는 객체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사건이 속한 흐름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주문한다의 사건을 OrderService가 받는다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933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UI 계층 너머의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어느 객체가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시스템 오퍼레이션을 처음 받아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조정하는가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?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"What first object beyond the UI layer receives and coordinates ("controls") a system operation?"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97565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사건을 받는 객체의 두 선택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66708"/>
            <a:ext cx="8412480" cy="195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고른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흐름 하나를 맡는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그 흐름의 순서만 그 객체 안에 모이므로, 다른 기능이 늘어도 이 객체는 커지지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컨트롤러는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일을 하지 않고 맡긴다.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금액과 상태는 주문에 맡기고 외부 요청은 포트에 맡긴다.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맡기지 않고 직접 하면 그 객체가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규칙의 창고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(「11. 잘못된 관행」의 「데이터만 든 모델」)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책임 배치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책임 주도 설계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892693"/>
                <a:gridCol w="3004421"/>
                <a:gridCol w="3408686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두는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근거가 된 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 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정보 전문가 — 항목과 확정 단가를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OrderItem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정보 전문가 — 자기 단가와 수량을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전이와 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높은 응집도 — 금액과 상태를 한 곳에서 지킨다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결제한다를 받아 순서 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컨트롤러 — 사건이 속한 흐름 하나를 맡는다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조회·저장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OrderRepository의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정보 전문가 — 주문이 어디 있는지는 저장소가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승인·배송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PaymentGateway·DeliveryGateway의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낮은 결합도 — 업무는 포트의 이름만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 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주문이 지키고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주문을 찾아 맡기고 저장하는 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서비스가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책임과 그 자리의 근거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6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사건에서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바뀌는 것과 보내는 것이 갈린다.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주문이 상태를 바꾸고 포트가 밖으로 보낸다.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 셋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(주문 금액·배송 요청·결제 거절)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모두 주문 안에서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지켜진다. 규칙을 고칠 때 열리는 파일이 하나다.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협력과 인터페이스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책임은 혼자 수행하거나 다른 메서드·객체와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협력하는 메서드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구현된다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"Responsibilities are implemented by means of methods that either act alone or collaborate with other methods and objects."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협력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한 책임을 이행하려고 객체들이 주고받는 호출이다. 혼자 끝나는 책임에는 협력이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협력을 적으면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인터페이스가 정해진다.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오가는 호출이 그 객체가 제공할 오퍼레이션이다.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포트의 이름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적는다. 그 구현이 연동인지 대역인지는 협력의 내용이 아니다.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설계 시퀀스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협력과 인터페이스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49936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 시퀀스에는 분석 시퀀스가 감춘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서비스·주문·저장소·포트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참여자로 보인다.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서비스는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순서만 쥔다.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금액을 묻고, 승인을 요청하고, 결과를 주문에 알리고, 배송을 요청하고, 바뀐 주문을 저장소에 넘긴다.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승인 결과를 받은 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주문이 상태를 바꾸고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그다음에 배송을 요청한다. 이 순서가 업무 규칙 「배송 요청」이다.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requireDeliveryAllowed()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보내기 직전에 다시 묻는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호출이어서, 두 코드가 떨어져 있어도 순서가 지켜진다.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12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결제한다 설계 시퀀스</a:t>
            </a:r>
          </a:p>
        </p:txBody>
      </p:sp>
      <p:pic>
        <p:nvPicPr>
          <p:cNvPr id="10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1394635" y="3998976"/>
            <a:ext cx="6354730" cy="2377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분석 시퀀스와 무엇이 다른가?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협력과 인터페이스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725420"/>
                <a:gridCol w="2176780"/>
                <a:gridCol w="2316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보이는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숨는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고객, 주문 시스템, 결제·배송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사이의 업무 사건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안의 객체와 호출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OrderService, Order, 포트의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 사이의 호출과 그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제공자의 전문과 통신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장면인데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참여자가 다르다.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분석은 시스템 경계를 오가는 사건을 보이고, 설계는 경계 안의 호출을 보인다.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시퀀스가 보이는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04610"/>
            <a:ext cx="8412480" cy="195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"세션 05. 동적 모델"의 「06. 업무 상호작용」의 「시퀀스 다이어그램」은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시스템 안을 감췄다.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감춘 안을 정하는 것이 설계다.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둘은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네 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설명한다. 설계가 사건을 늘렸다면 분석으로 되돌려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참여자의 이름도 바뀐다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분석은 한글 업무 이름, 설계는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용어집의 영문명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인터페이스와 설계 클래스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협력과 인터페이스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853388"/>
            <a:ext cx="4114800" cy="109728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public interface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PaymentGateway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// 사전조건: amount는 그 주문의 확정 총액이다.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// 사후조건: 승인·거절·확정 불가 중 하나를 돌려주며 주문 상태를 바꾸지 않는다.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PaymentDecision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requestApproval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(Money amount, PaymentMethod method);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포트의 반환은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업무가 받는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담아야 한다. 승인·거절·확정 불가 셋을 참·거짓 하나로 담을 수 없다.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4663440" y="3853388"/>
            <a:ext cx="4114800" cy="123444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// ... 결제 결과 값 선언 생략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public enum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PaymentDecision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{ APPROVED, REJECTED, UNCONFIRMED 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// ... 주문 저장소 선언 생략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public interface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OrderRepository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Order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findBy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(OrderNumber number);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save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(Order order);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5316428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포트는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쓰는 쪽의 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적는다. 금액·결제 수단·결제 결과는 업무의 값이고, 제공자의 필드 이름은 연동 안에 머문다.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저장소의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save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번호를 다시 받지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정보 전문가의 결과다. 주문이 자기 번호를 안다.</a:t>
            </a:r>
          </a:p>
        </p:txBody>
      </p:sp>
      <p:sp>
        <p:nvSpPr>
          <p:cNvPr id="3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91615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서비스의 협력 상대</a:t>
            </a:r>
          </a:p>
        </p:txBody>
      </p:sp>
      <p:pic>
        <p:nvPicPr>
          <p:cNvPr id="36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2046654" y="2153894"/>
            <a:ext cx="5050692" cy="1480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계약에 의한 설계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각 당사자는 계약에서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기대하고 그것을 얻기 위해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질 준비가 되어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"Each party expects some benefits from the contract and is prepared to incur some obligations to obtain them."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[Meyer 1992]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협력은 부탁이 아니다. 부르는 쪽이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조건을 맞추고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받는 쪽이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결과를 보장한다.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부르는 쪽의 이익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받는 쪽의 보장이다. 주문 서비스는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onPaid()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부르며 상태가 결제완료가 된다는 것을 믿는다.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받는 쪽의 이익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부르는 쪽의 의무다. 주문은 결제대기일 때만 불린다고 믿으므로 그 밖의 경우를 다루지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에만 둔다. 양쪽이 같은 조건을 다 검사하면 규칙이 두 곳에 생기고, 고칠 때 한 곳만 바뀐다.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6065577"/>
            <a:ext cx="8412480" cy="34747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DBC — Design by Contract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사전조건·사후조건·불변 조건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계약에 의한 설계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사전조건과 사후조건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개별 루틴에 적용되고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클래스 불변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그 클래스의 모든 루틴을 제약한다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"Some assertions, called preconditions and postconditions, apply to individual routines. Others, the class invariants, constrain all the routines of a given class"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[Meyer 1992]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사후조건은 도메인 모델에 있는 객체들의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상태 변화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적는다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postconditions describe changes in the state of objects in the domain model."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사전조건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호출이 올바르려면 만족해야 할 조건이고,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사후조건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호출이 끝난 뒤 참이 될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조건은 이미 있다.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"세션 04. 정적 모델"의 「07. 속성과 불변 조건」이 정한 조건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항목 1개 이상, 총액은 확정 단가 × 수량의 합 — 이 그 객체의 모든 호출을 제약한다.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주문의 현재 상태는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주문만 확실히 안다.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그래서 상태 전이의 사전조건은 주문이 검사한다.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사전조건은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되고 사후조건은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(「09. 계약이 검사가 된다」)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오퍼레이션 계약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계약에 의한 설계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37690"/>
          <a:ext cx="8305800" cy="3873500"/>
        </p:xfrm>
        <a:graphic>
          <a:graphicData uri="http://schemas.openxmlformats.org/drawingml/2006/table">
            <a:tbl>
              <a:tblPr/>
              <a:tblGrid>
                <a:gridCol w="2716317"/>
                <a:gridCol w="2428763"/>
                <a:gridCol w="3160719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오퍼레이션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사후조건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OrderService.pay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번호의 주문이 있고 결제대기다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승인이면 결제완료와 배송 요청 1회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거절이면 결제대기 유지와 배송 요청 0회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Order.totalAmount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 단가 × 수량의 합이다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Order.onPaid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Order.onPaymentRejected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결제대기를 유지하고 확정 값을 바꾸지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PaymentGateway.requestApproval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금액이 그 주문의 확정 총액이다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승인·거절·확정 불가 하나를 돌려준다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DeliveryGateway.requestDelivery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주문이 결제완료다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계약을 적어 보면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미정이 어디에 있는지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드러난다.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오퍼레이션 계약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7029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pay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사후조건에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확정 불가가 없다.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뒤의 처리가 미정이므로 보장할 것이 없고, 계약은 자리만 비워 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사후조건은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보장할 수 있는 만큼만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적는다. 배송을 요청했다는 것은 배송이 시작됐다는 뜻이 아니다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시작은 통보로 따로 온다.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상태 변경과 실패 처리의 자리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520138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... 승인이면 결제완료와 배송 요청, 거절이면 결제대기 유지 —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 else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IllegalStateException("확정 불가 뒤의 처리는 미정이다: " + number.value());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주문이 바꾸고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저장은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서비스가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하며, 정하지 않은 실패는 설계가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자리만 남긴다.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5574238"/>
            <a:ext cx="8412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상태를 바꾸는 코드는 주문 안에만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있다. 서비스는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onPaid()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부를 뿐 상태 값을 대입하지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미정은 추측으로 채우지 않는다.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멈춘 자리가 사람에게 물을 자리다.</a:t>
            </a:r>
          </a:p>
        </p:txBody>
      </p:sp>
      <p:sp>
        <p:nvSpPr>
          <p:cNvPr id="3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91615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승인 뒤 배송 요청이 실패한 흐름</a:t>
            </a:r>
          </a:p>
        </p:txBody>
      </p:sp>
      <p:pic>
        <p:nvPicPr>
          <p:cNvPr id="35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2163885" y="2153894"/>
            <a:ext cx="4816231" cy="2146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SOLID로 판단하기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57416" y="2624628"/>
          <a:ext cx="781558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2623820"/>
                <a:gridCol w="3825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주문한다에서 쓰는 자리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단일 책임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 이유가 하나인가?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호출 순서를 주문·주문 서비스로 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개방 폐쇄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더할 때 고치지 않아도 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수단이 늘어도 주문과 주문 서비스는 그대로다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리스코프 치환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바꿔 끼운 것이 계약을 지키는가?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대역이 포트의 사전·사후조건을 지킨다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인터페이스 분리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쓰는 쪽이 필요 없는 것을 아는가?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결제·배송·상품을 포트 셋으로 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의존성 역전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업무가 추상에 의존하는가?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포트를 업무 패키지가 소유한다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책임을 어디에 둘지는 GRASP가 묻고, 그 배치가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바뀜에 견디는지는 SOLID가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묻는다.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확장에는 열려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변경에는 닫혀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있어야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module should be open for extension but closed for modification."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[Martin 2000]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다섯 원칙이 묻는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81228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원칙을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많이 적용한 설계가 좋은 설계가 아니다.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지금 바뀌는 이유가 보이는 곳에만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다섯 중 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인터페이스에 관한 물음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그래서 포트를 어떻게 가르고 무엇으로 대체하는지가 설계의 중심이 된다.</a:t>
            </a:r>
          </a:p>
        </p:txBody>
      </p:sp>
      <p:sp>
        <p:nvSpPr>
          <p:cNvPr id="16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6065577"/>
            <a:ext cx="8412480" cy="34747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SOLID — Single Responsibility · Open-Closed · Liskov Substitution · Interface Segregation · Dependency Inversion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인터페이스를 가르기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SOLID로 판단하기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2999232" y="1737846"/>
            <a:ext cx="5779008" cy="11557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쓰지 않기로 한 안 — 외부 연동 셋을 인터페이스 하나로 묶었다.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interface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ExternalSystemGateway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PaymentDecision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requestApproval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(Money amount, PaymentMethod method);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requestDelivery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orderNumber, Address shippingAddress);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long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salePrice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(ProductNumber number);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67612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클라이언트마다의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인터페이스 여럿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범용 인터페이스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보다 낫다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"Many client specific interfaces are better than one general purpose interface"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[Martin 2000]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45254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서비스가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결제만 쓰는 자리에서도 배송과 상품을 안다.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배송 요청의 매개변수가 바뀌면 결제만 쓰는 코드까지 다시 컴파일된다.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가르는 기준은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쓰는 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셋으로 가르면 각 포트를 그 업무 패키지가 소유해 의존 규칙과도 맞는다.</a:t>
            </a:r>
          </a:p>
        </p:txBody>
      </p:sp>
      <p:sp>
        <p:nvSpPr>
          <p:cNvPr id="3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0998"/>
            <a:ext cx="2523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묶은 인터페이스 하나</a:t>
            </a:r>
          </a:p>
        </p:txBody>
      </p:sp>
      <p:pic>
        <p:nvPicPr>
          <p:cNvPr id="35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919574" y="2048742"/>
            <a:ext cx="1416116" cy="2067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대체 가능성과 계약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SOLID로 판단하기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5266273"/>
            <a:ext cx="8412480" cy="4953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PASS(거짓) 느슨한 대역: 요청 금액을 보지 않고 승인 — 2,400원으로 요청한 구현이 통과했다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PASS 계약 대역: 사전조건 위반 — 요청 2,400원 ≠ 주문 총액 2,000원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4204553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하위 클래스는 상위 클래스를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대체할 수 있어야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"Subclasses should be substitutable for their base classes."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[Martin 2000]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실제로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대체가 일어나는 자리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상속이 아니라 포트의 구현을 바꿔 끼우는 곳이다. 검사에서는 연동 대신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 대역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들어간다.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대역이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사전조건을 느슨하게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보면 잘못된 구현이 통과한다. 요청 금액을 확인하지 않는 대역은 2,400원짜리 요청도 승인한다.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대역이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사후조건을 덜 보장하면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반대로 멀쩡한 구현이 실패한다. 둘 다 대역이 계약을 어긴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코드와 함께 테스트와 대역을 만든다.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그래서 대역이 계약을 지키는지가 녹색을 믿을 조건이다.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아래 출력은 같은 구현을 두 대역에 넣은 것이다. 결제 직전에 펜 값이 1,200원이 되었고,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현재 판매가를 다시 조회하는 구현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2,400원으로 승인을 요청했다.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두 대안 가르기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SOLID로 판단하기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585960"/>
            <a:ext cx="8412480" cy="11557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쓰지 않기로 한 안 — 주문이 결제·배송 포트를 들고 직접 부른다.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... 클래스 선언과 필드·생성자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orderNumber, PaymentMethod method)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(payment.requestApproval(totalAmount, method) == PaymentDecision.APPROVED)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status = OrderStatus.PAID;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... 주문이 배송을 직접 요청하는 부분 생략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424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가르는 것은 취향이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바뀌는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70260"/>
            <a:ext cx="84124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 —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 책임 배치의 두 대안</a:t>
            </a:r>
          </a:p>
        </p:txBody>
      </p:sp>
      <p:graphicFrame>
        <p:nvGraphicFramePr>
          <p:cNvPr id="34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41235" y="3549380"/>
          <a:ext cx="76479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3238500"/>
                <a:gridCol w="33223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묻는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포트를 들고 부르는 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서비스가 조정하는 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 이유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호출 순서가 한 곳에서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규칙은 주문, 순서는 주문 서비스에서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결제·배송 포트를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주문은 포트를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단위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하나를 확인하려도 대역 둘이 필요하다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주문만 두고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92998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고른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서비스가 조정하는 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업무 규칙이 바뀔 때와 호출 순서가 바뀔 때 열리는 파일이 다르다.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앞의 안도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돌아간다.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가르는 것은 동작이 아니라 다음 변경에서 드는 비용이다.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분석 모델과의 불일치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AI가 낸 설계 대안 검토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29476" y="1837690"/>
          <a:ext cx="787146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2959100"/>
                <a:gridCol w="33223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불일치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돌아온 설계에서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근거 없는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이력·할인 정책 클래스가 더해졌다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지운다. 용어집에 없는 개념을 만들지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미정을 채운 추측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 불가를 거절로 처리했다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자리만 남긴다. 업무 담당자에게 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경계를 넘은 의존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연동 클래스를 직접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포트로 되돌린다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용어집과 다른 이름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OrderManager·payOrder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용어집의 이름으로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규칙의 빈칸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 실패에 catch가 생겼다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규칙으로 되돌린다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돌아온 설계에서 먼저 보는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모델에 없던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불일치 다섯과 되돌릴 곳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94290"/>
            <a:ext cx="8412480" cy="195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먼저 보는 것은 코드의 모양이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모델과의 거리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잘 쓰인 코드도 없던 개념을 담으면 틀린 설계다.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다섯 중 둘은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기계가 판정한다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경계를 넘은 의존과 용어집에 없는 이름.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규칙의 빈칸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설계가 찾아낸 요구다. 지우고 끝내지 않고 업무 규칙으로 되돌린다.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사람과 AI의 몫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AI가 낸 설계 대안 검토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64756" y="2112010"/>
          <a:ext cx="7200900" cy="3873500"/>
        </p:xfrm>
        <a:graphic>
          <a:graphicData uri="http://schemas.openxmlformats.org/drawingml/2006/table">
            <a:tbl>
              <a:tblPr/>
              <a:tblGrid>
                <a:gridCol w="1506220"/>
                <a:gridCol w="309880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 배치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규칙을 지킬 자리를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대안을 내고 근거를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협력과 인터페이스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사건을 받는 객체와 포트의 모양을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시퀀스와 선언 초안을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오퍼레이션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사전·사후조건을 확정한다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조건을 질문으로 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쪼개는 기준과 완료 조건을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단위마다의 테스트를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설계의 산출물은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책임·협력·인터페이스와 오퍼레이션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그리고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산출물마다의 몫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40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AI가 잘하는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대안과 초안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 사람이 하는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가르는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가르는 근거는 이 세션의 네 이름이다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책임 주도 설계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GRASP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계약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SOLID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미정은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메우지 않게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 비워 두면 그럴듯한 추측이 들어온다.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계약이 검사가 된다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95072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계약을 지키는 대역 — 사전조건(요청 금액이 그 주문의 확정 총액)을 검사한다.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static PaymentGateway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contractedPayment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(Order order, PaymentDecision decision)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return (amount, method) -&gt;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check(amount.won() == order.totalAmount().won(), "요청 금액 = 주문 총액");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return decision;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};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계약을 지키는 대역 — 사전조건(요청 시점에 결제완료)을 검사한다.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static DeliveryGateway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countingDelivery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(Order order, AtomicInteger deliveries)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return (orderNumber, address) -&gt;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check(order.status() == OrderStatus.PAID, "배송 요청 시점의 상태");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check(address.value().equals("서울"), "확정 배송지");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deliveries.incrementAndGet();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};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사후조건은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단위 테스트의 기대값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되고 사전조건은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22318"/>
            <a:ext cx="8412480" cy="222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대역은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값을 돌려주기만 하지 않는다.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부르는 쪽이 사전조건을 지켰는지 그 자리에서 검사한다.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배송 대역은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요청하는 순간의 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본다. 최종 상태만 보면 승인 전에 보낸 요청을 잡지 못한다.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테스트와 단위 테스트가 재는 것이 다르다.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수용 테스트는 "세션 03. 요구와 수용 기준"이 정한 기대값을, 단위 테스트는 이 세션이 둔 책임의 자리를 잰다.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계약이 검사가 된다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사전조건 — 어긴 호출은 거절된다.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static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preconditions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Order paid = order();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paid.onPaid();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check(rejects(paid::onPaid), "결제완료 주문의 재승인 거절");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Order pending = order();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check(rejects(pending::requireDeliveryAllowed), "승인 전 배송 요청 거절");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사전조건을 어긴 호출은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거절되는지로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확인한다. 상태를 바꾸는 호출마다 거절 테스트가 하나씩 생긴다.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273526"/>
            <a:ext cx="8412480" cy="11557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PASS 금액 확정: 확정 단가 1,000원 × 2개 = 2,000원, 승인 요청도 2,000원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PASS 승인: 요청 2,000원 → 결제완료, 요청 시점에 결제완료, 서울 배송 1회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PASS 거절: 결제대기 유지, 총액 2,000원 유지, 배송 0회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PASS 재결제: 거절 뒤 다른 카드로 승인 → 결제완료, 배송 1회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PASS 사전조건: 결제완료 주문의 재승인 거절, 승인 전 배송 요청 거절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PASS 확정 불가: 상태를 바꾸지 않고 멈춘다 — 결제대기, 배송 0회</a:t>
            </a:r>
          </a:p>
        </p:txBody>
      </p:sp>
      <p:sp>
        <p:nvSpPr>
          <p:cNvPr id="3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57826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여섯 줄이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 넷과 계약 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각각 잰다. 단위마다 통과한 줄이 그 단위의 완료 증거다.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책임을 옮기면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단위 테스트가 먼저 깨진다.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그래서 단위 테스트는 설계가 바뀐 것을 알려 주는 센서다.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작업 단위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끝낸 뒤 수용 테스트로 결과를 확인할 수 있는 구현 범위다.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파일이나 계층으로 나누지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고객의 행동과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끝까지 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크기를 정하는 기준은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번에 확인할 수 있는가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확인할 수 없는 단위는 맡길 수도 받을 수도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단위는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요구의 결정이 아니라 설계의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범위·제외·미정은 요구가 정하고, 그 범위를 몇 번에 끝낼지는 설계가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작게 끝까지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테스트까지 잇는다는 뜻이다. "주문 클래스 작성 완료"는 확인할 것이 없다.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작업 단위 넷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작업 단위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06665" y="2112010"/>
          <a:ext cx="711708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3014980"/>
                <a:gridCol w="31546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단위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구현할 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완료를 확인할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항목의 단가를 확정하고 총액을 계산한다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1,200원이 되어도 총액 2,000원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요청·결제완료·배송 요청을 잇는다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결제완료, 서울 배송 1회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상태와 확정 값을 지키고 배송을 막는다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결제대기, 배송 0회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주문을 다른 카드로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카드 Y로 승인, 배송 총 1회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과제 하나를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고객의 행동과 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갈라 넷으로 나눈다. 단위마다 확인할 예가 하나씩 붙는다.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단위와 완료를 확인할 예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단위에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순서가 있다.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금액 확정 위에 승인을 올리고, 거절 경로를 확인한 뒤 재결제를 검증한다.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첫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맡기는 것이 "세션 08. 위임"이고,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남은 셋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기능을 끝내는 것이 "세션 11. 종합 실행"이다.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완료의 정의와 증거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작업 단위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44156" y="2274108"/>
          <a:ext cx="664210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273558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증거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부족한 보고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 충족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단위의 수용 예가 통과한 출력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"잘 동작합니다"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기능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앞 단위 테스트의 실행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테스트 하나만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 거절 테스트와 대역의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인터페이스를 썼다는 설명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검사의 출력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포트를 썼다는 설명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 준수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제외·미정과 실제 변경의 대조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요청하지 않은 정책이 들어온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933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견고하고 충분하며 안정적인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 묶음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있으면 에이전트 코딩 도구가 그 위에서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날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"If your project has a robust, comprehensive and stable test suite agentic coding tools can fly with it."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2025b]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97565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완료 보고에 필요한 증거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30708"/>
            <a:ext cx="8412480" cy="167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수용 기준이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기능의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정한다면, 완료의 정의는 그 결과를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확인한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까지 묻는다.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검사하지 않은 것도 적는다.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대역이 통과한 것과 실제 연동이 동작한 것은 같은 증거가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자동 검사로 판정할 수 없는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해석과 미정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사람이 확인한다.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기능 목록과 점진적 진행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작업 단위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585960"/>
            <a:ext cx="8412480" cy="11557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"unit": "승인",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"acceptance": "승인 뒤 결제완료, 서울 배송 1회",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"evidence": "ContractTest.approved",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"passes": true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424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 번에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하나씩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작업한다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"work on only one feature at a time"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2025d]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70260"/>
            <a:ext cx="8412480" cy="2575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목록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구현할 결과와 그 증거를 한 자리에 남긴다. 무엇이 끝났는지 사람과 에이전트가 같은 것을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통과 표식은 보고 문장이 아니다.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실행한 검사와 그 출력을 확인한 뒤에 바꾼다.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점진적 진행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한 단위를 구현·검증한 다음에 다음 단위로 가는 것이다. 공통 코드를 바꾸면 앞 단위도 다시 검사한다.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남은 일을 분명히 남긴다.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미정인 확정 불가 뒤의 처리를 완료 항목에 섞지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데이터만 든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2311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쓰지 않기로 한 안 — 상태 전이와 금지 규칙이 모두 서비스에 있다.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AnemicOrderService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... 포트 주입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orderNumber, AnemicOrder order, PaymentMethod method)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(order.getStatus() != OrderStatus.PENDING_PAYMENT)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IllegalStateException("결제대기 주문만 결제 가능");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(payment.requestApproval(order.getTotalAmount(), method) == PaymentDecision.APPROVED)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order.setStatus(OrderStatus.PAID);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delivery.requestDelivery(orderNumber, order.getShippingAddress());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주문이 값만 들고 규칙을 하나도 지키지 않으면,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규칙이 서비스로 흩어진다.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82998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아무것도 보장하지 않는다.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setStatus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부르는 모든 코드가 전이 규칙을 알아야 하고, 같은 규칙이 두 서비스에서 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계약을 적을 자리가 없다.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사후조건을 보장할 주체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없으면 단위 테스트는 서비스만 잴 수 있다.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미정을 코드가 결정한 설계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미정인 정책을 분기·예외·기대값으로 메우면,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정할 결정이 코드에 묻힌다.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확정 불가를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거절로 처리하면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재결제가 열린다. 업무 담당자가 그렇게 정한 적이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배송 요청 실패를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catch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삼키면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결제완료인데 배송이 없는 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남는다. 아무도 그 사실을 모른다.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기대값으로 정하는 것이 가장 위험하다.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녹색이 그 추측을 정책으로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멈추는 것이 설계다. 미정에 닿으면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거절하고 알린다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(「06. 상태 변경과 실패 처리의 자리」)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계층으로 쪼갠 작업 단위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13066" y="1837690"/>
          <a:ext cx="630428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1450340"/>
                <a:gridCol w="1590040"/>
                <a:gridCol w="1673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계층으로 쪼갠 단위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끝나면 확인할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행동으로 쪼갠 단위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끝나면 확인할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클래스 작성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총액 2,000원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서비스 작성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결제완료와 배송 1회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구현 작성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결제대기와 배송 0회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계층으로 나눈 단위는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끝나도 확인할 것이 없다.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쪼개는 두 방식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18290"/>
            <a:ext cx="8412480" cy="167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왼쪽은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 단위가 다 끝나야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고객의 행동 하나가 돌아간다. 중간에 멈추면 확인한 것이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오른쪽은 단위마다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예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통과한다. 그래서 단위마다 맡기고 받을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가르는 기준은 끝난 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실행해 볼 수 있는가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실습 — 설계와 작업 단위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399442"/>
            <a:ext cx="4069080" cy="4818478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3의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정의서와 수용 기준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실습 4의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정적 모델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실습 5의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실습 6의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아키텍처 결정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프롬프트 —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요청사항 포함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위 투입물을 읽고 "주문한다"를 구현할 객체의 책임과 협력을 설계해라. 업무 규칙을 누가 지키고 시스템 오퍼레이션을 누가 받는지 근거와 함께 정해라. 설계 시퀀스 다이어그램, 인터페이스 선언, 각 오퍼레이션의 사전조건과 사후조건을 함께 제안해라. 아키텍처가 정한 패키지 경계와 의존 규칙을 어기지 마라. 근거 없는 정책은 확정하지 말고 질문해라. 앞 실습이 미정으로 남긴 것은 해결하려 하지 말고 설계에서 어디가 비는지만 밝혀라.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책임 배치의 근거를 정보 전문가와 컨트롤러로 다시 적어라. 금액 계산·상태 전이·외부 요청·조회와 저장을 각각 어느 객체가 맡고 왜 그런지 한 줄씩 밝혀라.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인터페이스를 쓰는 쪽마다 가르고, 테스트 대역이 지켜야 할 계약을 사전조건과 사후조건으로 적어라.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439322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앞선 요구와 모델, 아키텍처 결정을 LLM에 제공해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책임과 협력의 초안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받고,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으로 검토·보완해 최종 MD로 남긴다.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9160" y="1399442"/>
            <a:ext cx="4069080" cy="4818478"/>
          </a:xfrm>
        </p:spPr>
        <p:txBody>
          <a:bodyPr>
            <a:normAutofit/>
          </a:bodyPr>
          <a:lstStyle/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이 기능을 한 번에 검증할 수 있는 작업 단위로 쪼개라. 단위마다 구현할 결과와 완료를 확인할 예, 단위 사이의 순서를 적어라.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지금까지 합의한 내용을 최종 MD 하나로 만들어라. 책임 배치, 설계 시퀀스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(원본 포함)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인터페이스와 오퍼레이션 계약, 작업 단위와 완료 조건으로 구성하고 새 결정을 추가하지 마라. 다섯 장을 넘지 않게 핵심만 남겨라.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정보 전문가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그 값을 아는 객체가 계산하는가, 값을 넘겨 받아 계산하는 객체가 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사건을 받는 객체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시스템 오퍼레이션을 처음 받는 객체가 정해졌고, 그 객체가 직접 규칙을 지키지 않는가?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사전·사후조건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상태를 바꾸는 오퍼레이션마다 적혔고, 보장할 수 없는 것을 사후조건에 넣지 않았는가?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미정의 자리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앞 실습이 미정으로 남긴 정책을 분기·예외·기대값으로 메우지 않았는가?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경계와 이름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의존 규칙을 어긴 의존이 없고, 용어집에 없는 개념과 이름을 만들지 않았는가?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주문한다-설계.md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실습 8의 투입물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설계는 분석 모델을 옮기는 것이 아니라 그 업무를 지킬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객체와 호출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정하는 일이다.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책임은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정보를 가진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두고, 사건은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흐름을 대표하는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받는다.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협력의 조건은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사전조건과 사후조건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적고, 불변 조건은 정적 모델이 정한 것을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SOLID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그 배치가 바뀜에 견디는지 묻는다. 바꿔 끼운 대역도 계약을 지켜야 녹색을 믿는다.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계약은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단위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되고, 과제는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번에 검증할 작업 단위 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갈린다.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설계가 찾아낸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규칙의 빈칸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업무 규칙 질문으로 되돌린다.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"세션 08. 위임"은 이 작업 단위 하나를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계약으로 맡길지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정한다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지시문·맥락·권한·종료 조건.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“주문한다” 객체 책임·협력 설계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(1/6)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4257743"/>
          </a:xfrm>
        </p:spPr>
        <p:txBody>
          <a:bodyPr>
            <a:normAutofit/>
          </a:bodyPr>
          <a:lstStyle/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1. 책임 배치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유스케이스 조정자는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order.OrderApplicationService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둔다.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주문 규칙과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OrderRepository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소유하고,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product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payment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delivery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의 출력 포트에 의존한다는 아키텍처 결정에 따른다.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금액 계산 —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order.Order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확정 단가와 수량을 가진 정보 전문가가 합계를 계산한다. 서비스가 값을 받아 별도로 계산하지 않는다.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생성 시 단가 확정 —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product.ProductGateway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order.Order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현재 판매가는 상품 포트에서 조회하고, 주문 생성 시 그 값을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unitPrice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확정하는 책임은 주문에 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상태 전이와 금지 —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order.Order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현재 상태를 가진 정보 전문가가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PENDING_PAYMENT → PAID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전이와 주문 확정 값의 불변성을 보장한다.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사건 수신과 호출 순서 —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order.OrderApplicationService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시스템 오퍼레이션을 받는 컨트롤러로서 가격 조회, 저장, 승인 요청, 상태 전이, 배송 요청을 조정한다.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조회와 저장 —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order.OrderRepository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주문을 저장·재구성한다. 금액 계산과 상태 전이는 하지 않는다.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외부 카드 승인 요청 —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payment.PaymentGateway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카드 승인이라는 결제 업무 언어의 출력 포트다.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외부 배송 요청 —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delivery.DeliveryGateway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승인 완료 뒤 확정 배송지를 전달하는 배송 업무 출력 포트다.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OrderApplicationService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의 상태 필드를 직접 대입하거나 주문 금액을 계산하지 않는다. 결제 요청 금액에는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order.totalAmount()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그대로 사용한다.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결제·배송·상품 포트를 하나로 묶지 않는다. 세 책임은 업무 언어와 변경 이유가 다르고, 아키텍처가 각각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payment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delivery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product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패키지의 독립 포트로 정했기 때문이다.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“주문한다” 객체 책임·협력 설계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(2/6)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/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701611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실습 7의 카드 승인 시퀀스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732631" y="1939355"/>
            <a:ext cx="7678738" cy="4015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“주문한다” 객체 책임·협력 설계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(3/6)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2. 설계 시퀀스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원본 업무 흐름은 고객의 결제 요청 뒤 결제 시스템의 승인 결과를 받고, 승인일 때 배송을 요청하는 것이다. 이를 객체 책임으로 구체화하면 다음과 같다.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생성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OrderApplicationService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ProductGateway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에서 상품별 현재 판매가를 조회하고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Order.create(orderNumber, pricedItems, shippingAddress)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호출한다.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unitPrice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totalAmount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확정한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PENDING_PAYMENT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주문을 만들고, 서비스가 이를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OrderRepository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 저장한다.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결과 확인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OrderApplicationService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 본인 주문 권한 검사 위치가 있으나 적용 여부는 미정이다. 서비스는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OrderRepository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에서 주문을 조회하여 현재 상태와 확정 값을 반환한다.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“주문한다” 객체 책임·협력 설계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(4/6)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322776"/>
            <a:ext cx="4114800" cy="315468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package order;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public interface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CardPaymentUseCase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CardApprovalResponse requestCardApproval(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RequestCardApprovalCommand command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public interface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OrderRepository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Order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findBy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(OrderNumber orderNumber);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save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(Order order);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public final class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Order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public static Order create(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OrderNumber orderNumber,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List&lt;PricedOrderItem&gt; items,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Address shippingAddress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approvePayment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61056"/>
          </a:xfrm>
        </p:spPr>
        <p:txBody>
          <a:bodyPr>
            <a:normAutofit/>
          </a:bodyPr>
          <a:lstStyle/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3. 인터페이스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4663440" y="1322776"/>
            <a:ext cx="4114800" cy="315468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public Money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totalAmount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public Address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shippingAddress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public OrderStatus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status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package product;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public interface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ProductGateway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Money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findCurrentSalePrice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(ProductNumber productNumber);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package payment;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public interface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PaymentGateway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CardApprovalResult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approve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(CardApprovalRequest request);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package delivery;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public interface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DeliveryGateway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request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(DeliveryRequest request);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06056"/>
            <a:ext cx="8412480" cy="26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PricedOrderItem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은 상품 번호, 수량, 생성 시점 판매가를 담는 생성용 값이다.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Order.create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이를 사용해 확정 단가와 주문 금액을 만든다.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“주문한다” 객체 책임·협력 설계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(5/6)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4. 오퍼레이션 계약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createOrder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사전조건: 항목이 1개 이상이고 수량은 각각 1 이상이다. 배송지가 제공되고 각 상품의 현재 판매가를 조회할 수 있다.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사후조건: 주문이 저장된다. 각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unitPrice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는 생성 시 판매가로 확정되고,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totalAmount = Σ(unitPrice × quantity)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상태는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PENDING_PAYMENT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requestCardApproval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사전조건: 주문이 존재하고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PENDING_PAYMENT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다. 승인 요청 금액은 저장된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totalAmount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사후조건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APPROVED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: 같은 주문이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PAID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되고 확정 배송지로 배송 요청을 시도한다.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사후조건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DECLINED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: 상태를 유지하고 배송 요청하지 않는다.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사후조건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UNCONFIRMED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: 승인·거절·상태 전이를 하지 않는다.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getOrder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사전조건: 주문이 존재한다.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사후조건: 현재 상태와 주문 번호·항목·확정 단가·총액·배송지를 반환하며 주문을 변경하지 않는다.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Order.create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사전조건: 항목이 1개 이상이고 수량은 1 이상이며, 단가와 계산 총액은 0 이상이고 배송지가 존재한다.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사후조건: 불변식을 만족하는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PENDING_PAYMENT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주문을 만든다.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Order.approvePayment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사전조건: 현재 상태가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PENDING_PAYMENT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사후조건: 상태가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PAID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되며 항목, 단가, 총액, 배송지는 변하지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“주문한다” 객체 책임·협력 설계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(6/6)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07. 설계 — 책임과 협력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테스트 대역은 포트 호출의 업무 계약도 검사한다. 예를 들어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PaymentGateway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대역은 기대 주문 번호와 확정 총액을 받은 경우에만 구성된 결과를 반환한다. 이를 검사하지 않으면 판매가 변경 후 현재 가격 2,400원으로 승인 요청하는 잘못된 구현도 무조건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APPROVED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반환하는 느슨한 대역에서는 통과할 수 있다.</a:t>
            </a:r>
          </a:p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5. 작업 단위와 완료 조건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1. 고객이 배송지를 지정해 주문을 만든다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구현 결과: 생성 시 판매가·수량으로 총액을 확정한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PENDING_PAYMENT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주문을 저장한다.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완료 확인: 펜 2개, 1,000원, 서울이면 단가 1,000원·총액 2,000원 주문이 저장된다. 이후 가격이 1,200원이어도 기존 값은 유지된다.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2. 고객이 카드 승인으로 주문을 성립시킨다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구현 결과: 확정 총액으로 승인 요청하고, 승인일 때만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PAID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전이와 배송 요청을 수행한다.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완료 확인: 2,000원 승인 결과가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APPROVED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면 같은 주문이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PAID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되고 서울 배송 요청이 1회다.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3. 고객이 카드 거절 뒤 같은 주문으로 재결제한다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구현 결과: 거절은 주문을 바꾸지 않고 배송하지 않으며, 재결제는 기존 주문으로 수행한다.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완료 확인: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DECLINED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뒤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PENDING_PAYMENT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와 배송 0회를 유지한다. 다음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APPROVED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에서 새 주문 없이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PAID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전체 배송 요청은 1회다.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4. 고객이 확정할 수 없는 결제 응답을 받는다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구현 결과: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UNCONFIRMED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승인·거절로 해석하지 않는다.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완료 확인: 상태와 확정 값은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PENDING_PAYMENT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그대로이고 배송 요청은 0회다.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5. 고객이 현재 주문 결과를 확인한다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구현 결과: 이력 없이 현재 상태와 확정 값을 조회한다.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완료 확인: 승인된 주문 조회 시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PAID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2,000원, 서울, 펜 2개·단가 1,000원이 반환되고 조회 전후 주문은 변하지 않는다.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작업 순서는 1 → 2가 기본 흐름이다. 3과 4는 1 뒤에, 5는 생성 또는 각 결제 결과 뒤에 검증할 수 있다.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본인 주문 권한 검사와 식별 타입, 결제대기 만료,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UNCONFIRMED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뒤 재결제, 재고 판단, 승인 뒤 저장·배송 실패와 재시도·중복 방지, 별도 통지는 미정으로 남긴다.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39</Slides>
  <Notes>32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43" baseType="lpstr">
      <vt:lpstr>맑은 고딕</vt:lpstr>
      <vt:lpstr>Arial</vt:lpstr>
      <vt:lpstr>Wingdings</vt:lpstr>
      <vt:lpstr>4_Office 테마</vt:lpstr>
      <vt:lpstr>07. 설계 목차</vt:lpstr>
      <vt:lpstr>01. 세션 목표</vt:lpstr>
      <vt:lpstr>02. 분석과 설계의 거리</vt:lpstr>
      <vt:lpstr>03. 책임 주도 설계</vt:lpstr>
      <vt:lpstr>GRASP — 책임 할당의 판단 03. 책임 주도 설계</vt:lpstr>
      <vt:lpstr>정보 전문가 03. 책임 주도 설계</vt:lpstr>
      <vt:lpstr>컨트롤러 03. 책임 주도 설계</vt:lpstr>
      <vt:lpstr>주문한다의 책임 배치 03. 책임 주도 설계</vt:lpstr>
      <vt:lpstr>04. 협력과 인터페이스</vt:lpstr>
      <vt:lpstr>설계 시퀀스 04. 협력과 인터페이스</vt:lpstr>
      <vt:lpstr>분석 시퀀스와 무엇이 다른가? 04. 협력과 인터페이스</vt:lpstr>
      <vt:lpstr>인터페이스와 설계 클래스 04. 협력과 인터페이스</vt:lpstr>
      <vt:lpstr>05. 계약에 의한 설계</vt:lpstr>
      <vt:lpstr>사전조건·사후조건·불변 조건 05. 계약에 의한 설계</vt:lpstr>
      <vt:lpstr>주문한다의 오퍼레이션 계약 05. 계약에 의한 설계</vt:lpstr>
      <vt:lpstr>06. 상태 변경과 실패 처리의 자리</vt:lpstr>
      <vt:lpstr>07. SOLID로 판단하기</vt:lpstr>
      <vt:lpstr>인터페이스를 가르기 07. SOLID로 판단하기</vt:lpstr>
      <vt:lpstr>대체 가능성과 계약 07. SOLID로 판단하기</vt:lpstr>
      <vt:lpstr>두 대안 가르기 07. SOLID로 판단하기</vt:lpstr>
      <vt:lpstr>분석 모델과의 불일치 08. AI가 낸 설계 대안 검토</vt:lpstr>
      <vt:lpstr>사람과 AI의 몫 08. AI가 낸 설계 대안 검토</vt:lpstr>
      <vt:lpstr>09. 계약이 검사가 된다 (1/2)</vt:lpstr>
      <vt:lpstr>09. 계약이 검사가 된다 (2/2)</vt:lpstr>
      <vt:lpstr>10. 작업 단위</vt:lpstr>
      <vt:lpstr>주문한다의 작업 단위 넷 10. 작업 단위</vt:lpstr>
      <vt:lpstr>완료의 정의와 증거 10. 작업 단위</vt:lpstr>
      <vt:lpstr>기능 목록과 점진적 진행 10. 작업 단위</vt:lpstr>
      <vt:lpstr>데이터만 든 모델 11. 잘못된 관행</vt:lpstr>
      <vt:lpstr>미정을 코드가 결정한 설계 11. 잘못된 관행</vt:lpstr>
      <vt:lpstr>계층으로 쪼갠 작업 단위 11. 잘못된 관행</vt:lpstr>
      <vt:lpstr>12. 실습 — 설계와 작업 단위</vt:lpstr>
      <vt:lpstr>13. 요약</vt:lpstr>
      <vt:lpstr>“주문한다” 객체 책임·협력 설계 (1/6) 별첨. 실습 답</vt:lpstr>
      <vt:lpstr>“주문한다” 객체 책임·협력 설계 (2/6) 별첨. 실습 답</vt:lpstr>
      <vt:lpstr>“주문한다” 객체 책임·협력 설계 (3/6) 별첨. 실습 답</vt:lpstr>
      <vt:lpstr>“주문한다” 객체 책임·협력 설계 (4/6) 별첨. 실습 답</vt:lpstr>
      <vt:lpstr>“주문한다” 객체 책임·협력 설계 (5/6) 별첨. 실습 답</vt:lpstr>
      <vt:lpstr>“주문한다” 객체 책임·협력 설계 (6/6)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07. 설계 — 책임과 협력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