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 설계의 목표와 일치한다. 강의는 주문, 실습은 기존 쇼핑몰에 더하는 정기배송 최초 신청을 이어 쓴다.</a:t>
            </a:r>
          </a:p>
          <a:p>
            <a:pPr lvl="0"/>
            <a:r>
              <a:rPr lang="ko-KR" sz="1200"/>
              <a:t>기술·설정 예는 2026-10 기준이다. 실제 수업 환경에서 적용 범위와 기본값을 다시 확인한다.</a:t>
            </a:r>
          </a:p>
          <a:p>
            <a:pPr lvl="0"/>
            <a:r>
              <a:rPr lang="ko-KR" sz="1200"/>
              <a:t>실행 흐름은 "세션 08. 실행 흐름", 실행 뒤 결과 검사는 "세션 09. 검증 하네스"가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교육용 위임 범위는 course-design.md의 공통 전제다. 모든 프로젝트의 기본 정책으로 일반화하지 않는다.</a:t>
            </a:r>
          </a:p>
          <a:p>
            <a:pPr lvl="0"/>
            <a:r>
              <a:rPr lang="ko-KR" sz="1200"/>
              <a:t>도구 목록만 확인하지 말고 셸·HTTP 도구가 다른 경로로 같은 자원에 접근할 수 있는지 묻는다.</a:t>
            </a:r>
          </a:p>
          <a:p>
            <a:pPr lvl="0"/>
            <a:r>
              <a:rPr lang="ko-KR" sz="1200"/>
              <a:t>권한 결정은 한 번만 한다. 뒤의 배치는 이 결정을 강제하는 위치와 수단을 정한다.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업무의 완료 기준은 "세션 05. 작업 명세와 수용 기준"에서 가져온다. 권한 결정으로 수용 기준을 다시 만들지 않는다.</a:t>
            </a:r>
          </a:p>
          <a:p>
            <a:pPr lvl="0"/>
            <a:r>
              <a:rPr lang="ko-KR" sz="1200"/>
              <a:t>[Anthropic 2024]는 종료 조건과 최대 반복 횟수 같은 중단 장치를 권한다. 공통 횟수를 지어 표준처럼 제시하지 않는다.</a:t>
            </a:r>
          </a:p>
          <a:p>
            <a:pPr lvl="0"/>
            <a:r>
              <a:rPr lang="ko-KR" sz="1200"/>
              <a:t>문서의 종료 조건이 자동으로 실행을 멈추지는 않는다. 실행기의 한도와 중단 동작을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[Anthropic 2025b] Writing effective tools for AI agents 원문을 verify-quote.js로 확인했다. 도구 선택·기능 경계·명세를 보완 근거로 쓴다.</a:t>
            </a:r>
          </a:p>
          <a:p>
            <a:pPr lvl="0"/>
            <a:r>
              <a:rPr lang="ko-KR" sz="1200"/>
              <a:t>설명을 정교하게 쓰는 일과 실행 권한을 제한하는 일은 함께 필요하다. 설명만으로 권한이 강제되지는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[MCP 2025] 2025-06-18 명세의 구조·보안 구현 지침을 확인했다. 최신 판 전체의 요구사항이라고 일반화하지 않는다.</a:t>
            </a:r>
          </a:p>
          <a:p>
            <a:pPr lvl="0"/>
            <a:r>
              <a:rPr lang="ko-KR" sz="1200"/>
              <a:t>호스트·클라이언트·서버는 명세의 용어다. 도식은 연결만 설명하며 인증·승인 프로토콜의 상세를 생략한다.</a:t>
            </a:r>
          </a:p>
          <a:p>
            <a:pPr lvl="0"/>
            <a:r>
              <a:rPr lang="ko-KR" sz="1200"/>
              <a:t>MCP를 필수화하지 않는다. 기존 파일·셸 도구도 같은 접근 통제 문제를 갖는다.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2026c] 환경·자격 증명·외부 자료의 경계와 제한된 도구 권한. [MCP 2025] 접근 통제 구현 책임.</a:t>
            </a:r>
          </a:p>
          <a:p>
            <a:pPr lvl="0"/>
            <a:r>
              <a:rPr lang="ko-KR" sz="1200"/>
              <a:t>통신이 필요한 작업은 필요한 목적지·동작을 정해 제한한다. 모든 작업을 오프라인으로 하라는 뜻이 아니다.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2026c] 제품별 프로세스 샌드박스·컨테이너·가상 머신의 설계와 경계 실패 사례.</a:t>
            </a:r>
          </a:p>
          <a:p>
            <a:pPr lvl="0"/>
            <a:r>
              <a:rPr lang="ko-KR" sz="1200"/>
              <a:t>[OpenAI: Permissions]는 로컬 명령의 통신 제한이 내장 웹 검색·MCP 서버 등 별도 기능 전체에 적용되지 않는다고 명시한다. 2026-10 원문 확인.</a:t>
            </a:r>
          </a:p>
          <a:p>
            <a:pPr lvl="0"/>
            <a:r>
              <a:rPr lang="ko-KR" sz="1200"/>
              <a:t>샌드박스를 절대적인 보안 보장으로 부르지 않는다. 격리 수단의 범위와 실제 설정을 함께 검증한다.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 복원·외부 상태 보상·비밀 폐기의 차이를 설명한다. 실제 결제 취소 정책이나 복구 절차를 새로 정하지 않는다.</a:t>
            </a:r>
          </a:p>
          <a:p>
            <a:pPr lvl="0"/>
            <a:r>
              <a:rPr lang="ko-KR" sz="1200"/>
              <a:t>복구의 실행과 진단은 "세션 10. 실패와 모델 보완"에서 다룬다.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[NIST 2023] AI RMF 1.0의 위험 정의를 확인했다. 직접 인용이 아닌 한국어 요약이다.</a:t>
            </a:r>
          </a:p>
          <a:p>
            <a:pPr lvl="0"/>
            <a:r>
              <a:rPr lang="ko-KR" sz="1200"/>
              <a:t>[OWASP 2025]의 도구 오용·권한 남용·목표 탈취와 연결되는 교육용 적용이다. 이 세 행을 OWASP의 분류처럼 부르지 않는다.</a:t>
            </a:r>
          </a:p>
          <a:p>
            <a:pPr lvl="0"/>
            <a:r>
              <a:rPr lang="ko-KR" sz="1200"/>
              <a:t>악의적인 요청뿐 아니라 잘못 이해하거나 목표를 달성하려고 우회하는 경우도 같은 피해로 이어질 수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[NIST 2023] 위험 허용 수준, [Anthropic 2026c] 발생 가능성과 피해 범위의 구분.</a:t>
            </a:r>
          </a:p>
          <a:p>
            <a:pPr lvl="0"/>
            <a:r>
              <a:rPr lang="ko-KR" sz="1200"/>
              <a:t>금액 예는 펜 2개·확정 단가 1,000원·판매가 변경 뒤 1,200원이라는 앞 세션의 사례다.</a:t>
            </a:r>
          </a:p>
          <a:p>
            <a:pPr lvl="0"/>
            <a:r>
              <a:rPr lang="ko-KR" sz="1200"/>
              <a:t>위험 점수표·등급 체계·승인 서식을 새로 만들지 않는다. 허용·거절 결정이 달라지는 이유만 남긴다.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정의는 course-design.md의 guardrail 용어와 [Böckeler 2026a]의 계산적 가이드에 맞춘 과정의 범위다.</a:t>
            </a:r>
          </a:p>
          <a:p>
            <a:pPr lvl="0"/>
            <a:r>
              <a:rPr lang="ko-KR" sz="1200"/>
              <a:t>호출 전 정책 검사·도구 내부 검증·환경 강제는 함께 쓸 수 있다. 명령 이름만 검사하면 다른 프로그램으로 우회할 수 있다.</a:t>
            </a:r>
          </a:p>
          <a:p>
            <a:pPr lvl="0"/>
            <a:r>
              <a:rPr lang="ko-KR" sz="1200"/>
              <a:t>반환 뒤의 검사도 다음 행동을 막을 수 있지만 이미 발생한 부작용을 소급해 막지는 못한다.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[Anthropic 2026c] 모델·환경·외부 내용에 걸친 보완적 방어. 위치 네 가지는 과정 설계의 설명 순서다.</a:t>
            </a:r>
          </a:p>
          <a:p>
            <a:pPr lvl="0"/>
            <a:r>
              <a:rPr lang="ko-KR" sz="1200"/>
              <a:t>[OpenAI: Permissions]의 로컬 명령·내장 도구·MCP 등 적용 범위 차이를 확인했다.</a:t>
            </a:r>
          </a:p>
          <a:p>
            <a:pPr lvl="0"/>
            <a:r>
              <a:rPr lang="ko-KR" sz="1200"/>
              <a:t>테스트 비활성화를 실패로 판정하는 센서와 증거는 "세션 09. 검증 하네스"로 잇는다.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인용은 verify-quote.js로 확인했다. 모델 판단과 결정적 도구가 담당할 수 있는 보장 수준이 다르다는 뜻이다.</a:t>
            </a:r>
          </a:p>
          <a:p>
            <a:pPr lvl="0"/>
            <a:r>
              <a:rPr lang="ko-KR" sz="1200"/>
              <a:t>[Böckeler 2026a]는 계산적·추론적 방식을 가이드와 센서 모두에 적용한다. 전체 구조는 "세션 09. 검증 하네스"가 설명한다.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실행: code/s07/run-permission-check.py. 원본은 code/s07/demo-results/permission-check.json이다. 모델 호출 없이 OS 동작을 확인했다.</a:t>
            </a:r>
          </a:p>
          <a:p>
            <a:pPr lvl="0"/>
            <a:r>
              <a:rPr lang="ko-KR" sz="1200"/>
              <a:t>code/s05/AcceptanceExamples.java를 임시 연습 폴더로 복사해 javac·java로 실행했다. 규칙을 다시 작성하지 않았다.</a:t>
            </a:r>
          </a:p>
          <a:p>
            <a:pPr lvl="0"/>
            <a:r>
              <a:rPr lang="ko-KR" sz="1200"/>
              <a:t>macOS Seatbelt의 선택적 파일·통신 제한 시연이다. 호스트 전체 읽기 제한·컨테이너 격리·다른 제품 도구·MCP 경로는 입증하지 않았다.</a:t>
            </a:r>
          </a:p>
          <a:p>
            <a:pPr lvl="0"/>
            <a:r>
              <a:rPr lang="ko-KR" sz="1200"/>
              <a:t>지원되지 않는 환경은 NOT VERIFIED로 남기고 차단 성공으로 표시하지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[Willison 2025a]의 세 능력과 프롬프트 주입 설명을 직접 확인했다. 도식은 관통 사례에 맞춰 다시 그렸다.</a:t>
            </a:r>
          </a:p>
          <a:p>
            <a:pPr lvl="0"/>
            <a:r>
              <a:rPr lang="ko-KR" sz="1200"/>
              <a:t>[Anthropic 2026c]는 검증된 연결과 검증된 데이터가 다르다는 점, 환경에 들어오지 않은 자격 증명의 의미를 설명한다.</a:t>
            </a:r>
          </a:p>
          <a:p>
            <a:pPr lvl="0"/>
            <a:r>
              <a:rPr lang="ko-KR" sz="1200"/>
              <a:t>한 경로의 위험을 줄여도 다른 정보·전송 경로나 업무 오류는 남을 수 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검토에서 놓치기 쉬운 오해를 점검한다. 앞의 권한 결정을 다시 작성하게 하지 않는다.</a:t>
            </a:r>
          </a:p>
          <a:p>
            <a:pPr lvl="0"/>
            <a:r>
              <a:rPr lang="ko-KR" sz="1200"/>
              <a:t>권한이 좁아도 업무 규칙을 틀릴 수 있다. 제한의 성공과 작업의 정확성을 따로 판정한다.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투입물 재검토: 실습 6은 새 문서나 코드를 만들지 않았다. 첨부 파일로 요구하지 않는다. 실습 5의 이번 단위·수용 예와 실습 4의 필요한 연계 계약을 읽는다.</a:t>
            </a:r>
          </a:p>
          <a:p>
            <a:pPr lvl="0"/>
            <a:r>
              <a:rPr lang="ko-KR" sz="1200"/>
              <a:t>상태가 불분명하면 실습 3의 신청 상태 머신, 규칙 근거가 없으면 실습 2의 요구사항 정의서를 추가로 읽는다. 앞 산출물 전체를 무조건 첨부하지 않는다.</a:t>
            </a:r>
          </a:p>
          <a:p>
            <a:pPr lvl="0"/>
            <a:r>
              <a:rPr lang="ko-KR" sz="1200"/>
              <a:t>앞 실습에서 구현 저장소를 완성했다고 가정하지 않는다. 제공 환경에서 접근 통제를 확인하고 정기배송 구현·영속성은 미확인으로 남긴다.</a:t>
            </a:r>
          </a:p>
          <a:p>
            <a:pPr lvl="0"/>
            <a:r>
              <a:rPr lang="ko-KR" sz="1200"/>
              <a:t>실행은 저장소 루트에서 python3 courses/ai-native/sessions/code/s07/run-permission-check.py 한 줄이다. 제공물은 같은 폴더의 permissions.sb·probe.py와 실습 5의 기존 주문 Java 테스트다.</a:t>
            </a:r>
          </a:p>
          <a:p>
            <a:pPr lvl="0"/>
            <a:r>
              <a:rPr lang="ko-KR" sz="1200"/>
              <a:t>전제: macOS sandbox-exec, Python 3, JDK 17 이상. 다른 플랫폼은 강사가 동등한 제약을 확인한 환경을 제공한다. 없는 제약을 프롬프트로 대체하지 않는다.</a:t>
            </a:r>
          </a:p>
          <a:p>
            <a:pPr lvl="0"/>
            <a:r>
              <a:rPr lang="ko-KR" sz="1200"/>
              <a:t>앞선 질문에 대한 답과 추가 수정 요청을 붙여 필요한 만큼 보완한다. 결과 MD는 간결한 결정과 근거만 담고 고정 파일명을 요구하지 않는다.</a:t>
            </a:r>
          </a:p>
          <a:p>
            <a:pPr lvl="0"/>
            <a:r>
              <a:rPr lang="ko-KR" sz="1200"/>
              <a:t>별첨은 저자가 실제 제공 환경을 실행해 정리한 답안 예다. 수강생 LLM의 실제 응답이나 정기배송 업무 코드 실행 기록이라고 표시하지 않는다.</a:t>
            </a:r>
          </a:p>
          <a:p>
            <a:pPr lvl="0"/>
            <a:r>
              <a:rPr lang="ko-KR" sz="1200"/>
              <a:t>앞 산출물에 되돌릴 것: 새 상태·결제 정책을 추가하지 않는다. 실제 결제가 필요하다는 추측은 실습 4의 미정으로 되돌린다.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목표·Anchor Message·실습이 같은 판단으로 이어지는지 확인한다.</a:t>
            </a:r>
          </a:p>
          <a:p>
            <a:pPr lvl="0"/>
            <a:r>
              <a:rPr lang="ko-KR" sz="1200"/>
              <a:t>강의는 요약에서 끝내고 별첨은 필요할 때 펼쳐 비교한다.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모든 작업에 적용할 필수 양식이 아니다. 프롬프트가 요구한 결정과 범위를 기존 작업에 적용한 답안이다.</a:t>
            </a:r>
          </a:p>
          <a:p>
            <a:pPr lvl="0"/>
            <a:r>
              <a:rPr lang="ko-KR" sz="1200"/>
              <a:t>제공 환경에는 정기배송 코드가 없다. 수용 예를 실행했다고 쓰지 않는다. 주문 Java 테스트는 실행 권한을 확인하는 기존 예제로 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 원본은 code/s07/demo-results/permission-check.json이다. command에 실제 적용한 OS 샌드박스 정책이 남는다.</a:t>
            </a:r>
          </a:p>
          <a:p>
            <a:pPr lvl="0"/>
            <a:r>
              <a:rPr lang="ko-KR" sz="1200"/>
              <a:t>code/s07/permissions.sb는 macOS Seatbelt 정책 예다. 제품 공통 설정으로 제시하거나 문법을 가르치지 않는다.</a:t>
            </a:r>
          </a:p>
          <a:p>
            <a:pPr lvl="0"/>
            <a:r>
              <a:rPr lang="ko-KR" sz="1200"/>
              <a:t>probe.py는 접근 통제를 구현하지 않는다. 파일·소켓 동작을 OS 샌드박스 안에서 실행해 결과를 관찰한다.</a:t>
            </a:r>
          </a:p>
          <a:p>
            <a:pPr lvl="0"/>
            <a:r>
              <a:rPr lang="ko-KR" sz="1200"/>
              <a:t>기록의 임시 경로는 해당 실행의 경로다. 수강생에게 그대로 쓰라고 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권한과 가드레일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도구와 연결의 표준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최소 권한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상태와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위험의 식별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가드레일의 자리와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치명적 삼박자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권한과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권한을 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경계를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강제하는 수단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도구·권한·상태·종료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맡길 작업의 경계를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연결 표준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실제 접근 통제를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권한과 되돌릴 수 있는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실행 환경을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현실화되는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가드레일을 배치한다.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허용된 동작과 거절된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실행 결과로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61690"/>
          <a:ext cx="5496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3164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허용할 동작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이번 작업에서 금지할 동작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코드와 테스트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무관한 기능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준비된 환경에서 빌드·테스트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설정·의존성 임의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브랜치의 로컬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push·merge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로컬 대역으로 호출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외부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 증명 없이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키·토큰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위임의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에이전트가 무엇을 써서 어떤 자원과 상태를 바꿀 수 있는지를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파일 편집·명령 실행·외부 API 호출처럼 작업을 수행하는 수단이다.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그 수단이 접근할 대상과 허용된 동작이다.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변경할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파일뿐 아니라 커밋·원격 저장소·외부 시스템의 데이터도 포함된다.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3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구현을 맡길 때의 실행 범위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위임의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종료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완료한 경우와 더 진행할 수 없는 경우를 모두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완료: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합의한 범위 안에서 구현하고 정해 둔 수용 예의 실행 결과와 변경 내용을 제시한다.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중단: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허용되지 않은 자원이나 미확정 외부 규격이 필요하면 이유와 필요한 결정을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한도: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시간·호출·반복 횟수는 작업의 비용과 위험에 맞춰 정하고 실행기가 제한한다.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테스트에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결제 키가 필요하다고 판단해도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키를 찾거나 권한을 넓히지 않는다. 대역의 범위와 부족한 규격을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끄고 통과한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완료 조건을 충족하지 않는다. 실패 이유를 숨기지 않고 보고한다.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도구가 여는 기능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도구와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 시스템과 비결정적 에이전트 사이의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반영하는 새로운 종류의 소프트웨어다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"Tools are a new kind of software which reflects a contract between deterministic systems and non-deterministic agents."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하는 일·입력·반환 결과·실패와 부작용을 적는다. 이름이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test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여도 내부에서 무엇을 실행하는지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요청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상태를 바꾸지만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결과 조회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기존 결과를 읽는다. 필요한 동작만 노출하면 판단과 권한을 좁힐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범용 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빌드·테스트 외의 프로그램도 실행할 수 있다. 빌드 명령을 허용했다고 외부 통신과 파일 접근까지 제한된 것은 아니다.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MCP의 연결과 접근 통제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도구와 연결의 표준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MCP 자체는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프로토콜 수준에서 보안 원칙을 강제할 수 없다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"While MCP itself cannot enforce these security principles at the protocol level"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컨텍스트 프로토콜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(Model Context Protocol, MCP)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LLM 애플리케이션과 외부 자료·도구의 연결을 표준화한다.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호스트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LLM 애플리케이션이며, 그 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클라이언트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자료와 기능을 제공하는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읽기 전용 연결만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서버의 쓰기 권한과 다른 도구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확인한다. 연결 성공은 접근 제한의 증거가 아니다.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MCP 연결에서 호출이 닿는 곳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07902" y="3886754"/>
            <a:ext cx="5928196" cy="55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자원과 동작을 좁히기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최소 권한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현재 작업에 필요한 대상과 동작만 허용하는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읽기와 쓰기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따로 정한다. 구현에 필요한 규격은 읽되 설정은 바꾸지 않게 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비밀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가능한 한 실행 환경에 넣지 않는다. 필요한 연결은 범위가 좁고 수명이 짧은 자격 증명으로 분리한다.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필요 없는 구현은 밖으로 나가는 통신을 막고 준비된 로컬 대역과 의존성으로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자식 프로세스와 다른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에도 제한이 적용되는지 본다. 셸의 통신을 막아도 별도 MCP 서버가 대신 전송할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의존성 설치가 막혔을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환경 준비를 따로 해결한다. 구현 작업에 전체 접근 권한을 주는 것으로 대체하지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샌드박스의 적용 범위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최소 권한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(sandbox)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실행할 프로그램이 접근할 자원을 미리 제한하는 환경이다.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접근 통제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허용된 위치와 동작을 제한하고,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통신 차단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환경 밖으로 나가는 요청을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컨테이너·가상 머신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공유 자원을 확인한다. 호스트의 비밀과 소켓을 넘기면 접근 범위가 넓어진다.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 브랜치와 별도 작업 디렉터리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변경을 나눠 관리한다. 같은 사용자 권한으로 실행되는 프로그램의 접근을 막지는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대상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명령·자식 프로세스·파일 편집·플러그인별로 확인한다. 한 경로의 차단을 전체 에이전트의 차단으로 해석하지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상태와 되돌림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3856" y="1837690"/>
          <a:ext cx="63627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수 있는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영향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추적 중인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전 내용으로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실행으로 생긴 외부 효과는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로컬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브랜치에서 변경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공유한 커밋은 별도 조정 필요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시스템의 취소 절차 필요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복원으로 승인 취소 불가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전송된 비밀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키 폐기·교체 등 대응 필요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전송한 내용을 회수한다고 보장 불가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있는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에이전트가 바꿀 수 있는 상태마다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변경한 상태와 되돌림의 한계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커밋으로 되돌릴 수 있어도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실행 중 발생한 실제 결제와 배송 요청은 별개의 상태다.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외부 효과는 실행 전에 막고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허용된 로컬 변경은 작은 단위로 검토·복원할 수 있게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행동과 피해를 연결하기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2956" y="3361690"/>
          <a:ext cx="55245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2606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어긋난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생길 수 있는 피해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테스트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주소로 설정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의도하지 않은 청구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문서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 속 지시에 따라 키 전송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예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끄고 성공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주문 로직 수용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사건의 발생 가능성과 결과의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보는 척도다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무슨 행동으로 어떤 자원에 어떤 피해가 생기는지 구체적으로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발생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모르면 확률 숫자를 지어내지 않는다. 노출된 도구·자료·권한과 실제 관찰을 근거로 판단한다.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3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작업의 행동과 피해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감당할 수 있는 위험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위험의 식별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허용 수준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(risk tolerance)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목표를 위해 감당하기로 한 위험의 선이다.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피해가 크고 회수가 어려운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모델의 판단에 맡기기보다 실행할 수 있는 범위를 먼저 좁힌다.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쉬운 로컬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권한 안에서 수행하게 하고 변경 내용과 테스트 결과로 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경로를 막는 것만으로 해결되지 않는다. 수용 기준과 실행 결과를 확인하는 검사도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구현의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청구는 허용하지 않으므로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결제 접근을 막는다. 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2,000원 대신 2,400원을 계산하는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수용 예로 잡는다.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실행 전에 거절하는 제약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가드레일의 자리와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허용하지 않은 동작이 실행되기 전에 환경이나 도구가 거절하는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상태가 바뀌기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수행한다. 이미 결제한 뒤 최종 답을 숨겨도 청구는 취소되지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거절된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이유를 남기고 멈추거나 허용된 방법으로 돌아간다. 거절을 없애려고 스스로 권한을 넓히지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입력의 형식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자료가 안전하다는 보장이 아니다. 형식이 맞는 문서에도 공격자의 지시가 들어갈 수 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외부 효과가 생기기 전의 검사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749041" y="3998976"/>
            <a:ext cx="5645919" cy="140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위험이 생기는 자리에 배치하기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가드레일의 자리와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94906" y="1837690"/>
          <a:ext cx="73406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0322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강제할 제약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막는 동작과 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인자의 형식·대상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인자 거절. 문서 속 지시 판별과는 다름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도구·동작·대상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요청 거절. 다른 경로도 제한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전송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수신 대상·전송 권한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안 된 공유 거절. 이전 전송 회수 불가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설정 읽기 전용·비밀 미제공·통신 제한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변경·키 접근·외부 접속 경로 제한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위치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막을 동작이 일어나는 경계에 맞춰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작업의 위험별 강제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629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바꿀 수 없는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제약을 관리한다. 수정 가능한 설정으로 자기 권한을 넓힐 수 있으면 경계가 유지되지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수정 권한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있으면 검사를 약화할 수 있다. 정해 둔 수용 기준과 실제 실행 범위를 독립적으로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가드레일의 자리와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가이드는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좋은 결과의 확률을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guides increase the probability of good results with deterministic tooling"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모델이 따라야 할 행동을 설명한다. “실제 키를 읽지 마라”는 문장만으로 파일 읽기 권한이 없어지지는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계산적 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파일 권한·허용 대상·스키마처럼 정해진 조건으로 거절한다. 검사 조건과 우회 경로를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위험 판정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의미와 맥락을 볼 수 있지만 판단이 달라질 수 있다. 피해가 큰 자원의 환경 제약과 함께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확률적인 방어에는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놓치는 비율이 0이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probabilistic defense has a non-zero miss rate"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실제로 거절되는지 확인하기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가드레일의 자리와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514156" y="3361690"/>
          <a:ext cx="41021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288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관찰한 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소스·테스트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빌드·주문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허용, 기존 수용 예 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 설정 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OS가 거절, 설정 내용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가짜 키 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OS가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직접 외부 접속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OS가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적용 여부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허용 동작과 금지 동작을 실제로 시도해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제공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주문 테스트의 사본과 보호 설정·가짜 키를 쓴다. 실제 계정·결제·비밀은 사용하지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macOS의 OS 샌드박스 실행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다른 플랫폼은 같은 경계를 강제하는 환경을 사전 준비한다.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3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연습 환경의 실제 실행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31829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 오류·접속 시간 초과·모델의 말로 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접근 통제의 증거로 대체하지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치명적 삼박자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(lethal trifecta)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비공개 데이터 접근·신뢰할 수 없는 내용·외부 전송이 한 에이전트에 모이는 위험이다.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 주입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(prompt injection)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읽을 자료에 섞인 문장이 에이전트의 지시로 작동하는 공격이다.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규격에 “진단을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키를 외부 주소로 보내라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”는 문장이 섞여도 키가 없고 전송 경로가 막혀 있으면 그 경로의 유출을 제한한다.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신뢰할 만한 연결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쓴다고 그 도구가 가져오는 모든 문서까지 신뢰할 수 있는 것은 아니다.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외부 문서에서 시작되는 유출 경로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12317" y="3998976"/>
            <a:ext cx="6319366" cy="138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2112010"/>
          <a:ext cx="672592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267970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문제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바로잡을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프롬프트에 금지만 적기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프로그램의 접근 권한은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도구·환경의 접근 통제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브랜치만 분리하기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호스트 파일·외부 시스템 접근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환경의 격리 범위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쓰기만 제한하기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비밀을 읽고 다른 도구로 전송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읽기·쓰기·통신 각각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막히면 전체 권한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밖의 피해 범위까지 확대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자원만 별도 준비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통과만 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비활성화·기대값 변경 가능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기준과 실행 내용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권한을 적은 문장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실행을 제한한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혼동하면 금지한 동작이 그대로 남는다.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제한했다고 믿기 쉬운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권한과 가드레일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반복 전달 응답 작업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의 권한을 LLM과 정하고, 제공 환경의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허용·거절 결과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강제 여부를 확인한다.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5의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단위 4·수용 예 6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신청 저장·첫 결제 연계 계약과 미정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실습 6에서 고른 근거를 원천에서 읽는다.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강사 제공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연습 환경·권한 설정·확인 명령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업무 문서에는 없는 실행 환경 정보다.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“첨부한 근거로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동일 신청 반복 전달 응답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구현할 권한을 정해라. 경로와 명령은 제공 환경에서 확인해라. 코드·테스트 편집과 로컬 검증은 허용하고 실제 결제·비밀 접근·원격 반영은 금지한다. 도구·대상·동작·변경할 상태·종료 조건과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강제할 위치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설명해라. 없는 정보는 질문해라.”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“아래 답과 수정 요청을 반영해라. 제공 명령으로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허용·금지 동작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확인하고 설정과 결과가 다르면 원인을 찾아 고쳐라. 권한을 넓혀 우회하지 마라. 합의한 권한·강제 수단·실제 결과·미확인 범위를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다음 실습에 첨부할 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남겨라.”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근거와 실제 실행 환경 정보를 구분했는가?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최소 권한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실제 결제와 운영 비밀을 허용하지 않았는가?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적용 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파일·명령·다른 도구의 우회 경로를 확인했는가?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말로 된 거절과 OS·도구의 거절을 구분했는가?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종료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미확인·범위 밖 접근·검사 비활성화를 성공으로 보지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권한 결정·강제 수단·실제 결과·미확인 범위를 담은 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실습 8에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권한을 정하고 실행 전에 강제한다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도구·권한·상태·종료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맡길 범위를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최소 권한과 되돌림의 한계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피해 범위를 좁힌다.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프롬프트의 부탁이 아니라 실행 전에 강제되는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경계를 확인한다. 작업의 정확성은 별도로 검증한다.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"세션 08. 실행 흐름"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허용한 작업을 어떤 흐름으로 실행하고 어디서 사람이 판단할지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반복 전달 응답의 위임 범위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작업과 근거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동일 신청의 확정 요청이 다시 오면 저장된 결과를 안내한다. 결제 시작 전이가 거부되므로 새 결제와 금액 산정을 부르지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근거: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실습 5의 단위 4·수용 예 6, 실습 4의 신청 저장·첫 결제 계약. 상태의 의미는 실습 3의 신청 상태 머신을 참조한다.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미정: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결제 제공자 규격과 영속 저장의 조건부 전이·원자성은 미정이다. 권한 확인으로 해결됐다고 보지 않는다.</a:t>
            </a:r>
          </a:p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허용할 범위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도구·권한: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해당 코드·테스트 편집, 준비된 의존성으로 빌드·테스트, 변경 내용 확인. 실제 경로와 명령은 제공 환경에서 확인한다.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변경할 상태: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연습 환경의 소스·테스트·빌드 결과. 로컬 커밋 허용 여부는 수강생의 작업 브랜치와 제공 환경의 Git 권한에서 확인한다.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금지: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결제·운영 저장소 호출, 실제 키·토큰 읽기, 설정·실행기 권한 변경, 원격 push·merge. 실제 연동이 필요하면 질문하고 중단한다.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저자 작성 답안 예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종료와 한계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권한 확인 완료: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허용된 동작이 실행되고 금지 동작은 상태 변경 전에 거절됐다. 실제 결과와 적용 범위를 남겼다.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중단: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환경이 제약을 지원하지 않거나 금지 동작이 실행되면 구현을 맡기지 않고 환경을 먼저 보완한다.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완료는 별도: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예 6의 상태·누적 계약 수·추가 결제·금액 산정 호출이 실제 구현에서 확인돼야 한다. 권한 확인은 이를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강제 설정과 실제 확인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07. 권한과 가드레일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제공 환경의 강제 수단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소스·테스트·빌드 결과: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지정한 연습 폴더 아래 쓰기를 허용한다.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보호 설정: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읽기는 허용하고 쓰기는 거절한다. 접근 통제 설정은 에이전트가 수정할 수 있는 연습 폴더 밖에서 실행기가 적용한다.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가짜 비밀: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지정 경로의 읽기·쓰기를 거절한다. 실제 비밀은 제공하지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통신: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샌드박스 안의 프로세스가 직접 외부로 접속하지 못하게 한다.</a:t>
            </a:r>
          </a:p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실제 실행과 관찰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소스 쓰기: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성공.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 쓰기: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성공.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빌드·테스트: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javac·java 실행 성공. 기존 주문의 승인·가격 변경·거절·재결제 수용 예 4개 통과.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보호 설정 쓰기: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PermissionError, errno=1. 실행 전후 파일 해시가 같았다.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가짜 키 읽기: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PermissionError, errno=1. 값을 읽어 출력하지 않았다.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저자 작성 답안 예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직접 외부 접속: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PermissionError, errno=1. DNS 오류·시간 초과를 차단 성공으로 세지 않았다.</a:t>
            </a:r>
          </a:p>
          <a:p>
            <a:pPr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확인하지 않은 범위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플랫폼: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macOS에서 확인했다. Linux·Windows의 동일 제약은 별도 확인이 필요하다.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접근 경로: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선택한 파일 경로와 직접 통신만 확인했다. 호스트 전체 읽기 제한·MCP·내장 검색·원격 도구에는 결과를 적용하지 않는다.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보장: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실제 정기배송 구현, 결제 제공자의 멱등성, 영속 저장의 동시성·원자성은 확인하지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21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Wingdings</vt:lpstr>
      <vt:lpstr>4_Office 테마</vt:lpstr>
      <vt:lpstr>07. 권한과 가드레일 목차</vt:lpstr>
      <vt:lpstr>01. 세션 목표</vt:lpstr>
      <vt:lpstr>도구·권한·상태 02. 위임의 경계</vt:lpstr>
      <vt:lpstr>종료 조건 02. 위임의 경계</vt:lpstr>
      <vt:lpstr>도구가 여는 기능 03. 도구와 연결의 표준</vt:lpstr>
      <vt:lpstr>MCP의 연결과 접근 통제 03. 도구와 연결의 표준</vt:lpstr>
      <vt:lpstr>자원과 동작을 좁히기 04. 최소 권한</vt:lpstr>
      <vt:lpstr>샌드박스의 적용 범위 04. 최소 권한</vt:lpstr>
      <vt:lpstr>05. 상태와 되돌림</vt:lpstr>
      <vt:lpstr>행동과 피해를 연결하기 06. 위험의 식별</vt:lpstr>
      <vt:lpstr>감당할 수 있는 위험 06. 위험의 식별</vt:lpstr>
      <vt:lpstr>실행 전에 거절하는 제약 07. 가드레일의 자리와 방식</vt:lpstr>
      <vt:lpstr>위험이 생기는 자리에 배치하기 07. 가드레일의 자리와 방식</vt:lpstr>
      <vt:lpstr>강제와 지시 07. 가드레일의 자리와 방식</vt:lpstr>
      <vt:lpstr>실제로 거절되는지 확인하기 07. 가드레일의 자리와 방식</vt:lpstr>
      <vt:lpstr>08. 치명적 삼박자</vt:lpstr>
      <vt:lpstr>09. 잘못된 관행</vt:lpstr>
      <vt:lpstr>10. 실습 — 권한과 가드레일</vt:lpstr>
      <vt:lpstr>11. 요약</vt:lpstr>
      <vt:lpstr>반복 전달 응답의 위임 범위 별첨. 실습 답</vt:lpstr>
      <vt:lpstr>강제 설정과 실제 확인 결과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07. 권한과 가드레일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