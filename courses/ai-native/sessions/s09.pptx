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08. 위임"이 어긋난 실행을 미리 막는 예방을 다뤘다. 이 세션은 탐지와 결과를 받아들이는 판단이다.</a:t>
            </a:r>
          </a:p>
          <a:p>
            <a:pPr lvl="0"/>
            <a:r>
              <a:rPr lang="ko-KR" sz="1200"/>
              <a:t>기준 원전은 [Böckeler 2026a]이고, 추론적 센서의 실험 기록은 [Böckeler 2026b], 엔지니어의 일은 [Lopopolo 2026], 검사를 흐름에 잇는 것은 [Thoughtworks 2026]으로 받친다.</a:t>
            </a:r>
          </a:p>
          <a:p>
            <a:pPr lvl="0"/>
            <a:r>
              <a:rPr lang="ko-KR" sz="1200"/>
              <a:t>계속 맡길지의 판단과 평가 세트는 "세션 10. 비용과 평가"가 맡는다. 이 세션은 실패가 어느 결정을 가리키는지까지다.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수강생의 조직에 파이프라인이 없을 수 있다. 먼저 "지금 코드를 합치기 전에 자동으로 도는 것이 있는가?"를 묻고, 없으면 이 표를 앞으로 갖출 순서로 읽게 한다.</a:t>
            </a:r>
          </a:p>
          <a:p>
            <a:pPr lvl="0"/>
            <a:r>
              <a:rPr lang="ko-KR" sz="1200"/>
              <a:t>단계 이름은 분야에 통용되는 것이다. 특정 제품의 용어가 아니며, 조직마다 단계를 합치거나 나눈다.</a:t>
            </a:r>
          </a:p>
          <a:p>
            <a:pPr lvl="0"/>
            <a:r>
              <a:rPr lang="ko-KR" sz="1200"/>
              <a:t>파이프라인의 구성과 배포 전략은 범위 밖이다(course-design.md의 Non-scope). 여기서는 어떤 검사가 언제 도는가만 본다.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표가 이 세션의 포지셔닝이다. "하네스를 새로 도입한다"가 아니라 이미 있는 검사를 앞으로 당기고 몇 개를 더한다로 설명한다.</a:t>
            </a:r>
          </a:p>
          <a:p>
            <a:pPr lvl="0"/>
            <a:r>
              <a:rPr lang="ko-KR" sz="1200"/>
              <a:t>파이프라인이 없는 팀은 당길 것이 없다. 그 경우의 순서는 검사를 먼저 만들고(그것이 실습 9다) 뒤에 CI에 올리는 것이다.</a:t>
            </a:r>
          </a:p>
          <a:p>
            <a:pPr lvl="0"/>
            <a:r>
              <a:rPr lang="ko-KR" sz="1200"/>
              <a:t>배포 전략·환경 구성은 DevOps 과정이 맡는다.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표는 "세션 01. 사람의 일과 AI의 일"의 「06. 결정과 검사의 짝」이 그린 지도의 오른쪽이다. 거기서 예고한 것을 여기서 실제 명령으로 만든다.</a:t>
            </a:r>
          </a:p>
          <a:p>
            <a:pPr lvl="0"/>
            <a:r>
              <a:rPr lang="ko-KR" sz="1200"/>
              <a:t>다섯 줄이 모두 검사를 갖는 것은 아니다. 「06. 명령 하나로 모으기」의 「주문한다의 검사 다섯」이 실제로 붙인 것을 보인다.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 원문 확인. feedforward·feedback의 대응을 이 자리에서 한 번만 밝히고 이후 본문은 가이드·센서로만 부른다.</a:t>
            </a:r>
          </a:p>
          <a:p>
            <a:pPr lvl="0"/>
            <a:r>
              <a:rPr lang="ko-KR" sz="1200"/>
              <a:t>이 과정은 "하네스"를 이 한 장에서 이름으로 짚고, 이후 검사로 부른다. 새 어휘를 늘리지 않는다.</a:t>
            </a:r>
          </a:p>
          <a:p>
            <a:pPr lvl="0"/>
            <a:r>
              <a:rPr lang="ko-KR" sz="1200"/>
              <a:t>가이드만 둔 상태가 "세션 08. 위임"의 실행에서 드러났다 — 금지로 적은 저장소 밖 쓰기가 통과했다.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2026a]·[Böckeler 2026b] 원문 확인. 두 분류는 센서와 가이드 모두에 적용되는 실행 방식의 구분이다.</a:t>
            </a:r>
          </a:p>
          <a:p>
            <a:pPr lvl="0"/>
            <a:r>
              <a:rPr lang="ko-KR" sz="1200"/>
              <a:t>[Böckeler 2026b]의 모듈성 리뷰는 두 번째 실행에서 첫 실행이 찾지 못한 문제를 찾았고, 그 경험에서 나온 문장이다.</a:t>
            </a:r>
          </a:p>
          <a:p>
            <a:pPr lvl="0"/>
            <a:r>
              <a:rPr lang="ko-KR" sz="1200"/>
              <a:t>비용의 숫자는 교육용 어림이다. 실제 값은 모델과 코드 크기가 정하며, 그 판단은 "세션 10. 비용과 평가"가 다룬다.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[Thoughtworks 2026]의 feedback sensors for coding agents(Trial)와 [Böckeler 2026a] 원문 확인. Radar는 같은 검사를 사람이 보는 리포트로만 두면 이 이득이 없다는 점을 짚는다.</a:t>
            </a:r>
          </a:p>
          <a:p>
            <a:pPr lvl="0"/>
            <a:r>
              <a:rPr lang="ko-KR" sz="1200"/>
              <a:t>셋의 묶음은 이 과정의 정리다. 세 가지가 각각 뒤 세 topic의 주제가 된다 — 독자는 「고치는 방법을 담은 메시지」, 위치와 빈도는 「루프 안과 CI를 구분하는 기준」이다.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 원문 확인. 프롬프트 주입을 좋은 쪽으로 쓴다는 표현이 원문의 것이다. 공격으로서의 프롬프트 주입은 "세션 08. 위임"의 「06. 위험과 피해 범위」에서 다뤘다.</a:t>
            </a:r>
          </a:p>
          <a:p>
            <a:pPr lvl="0"/>
            <a:r>
              <a:rPr lang="ko-KR" sz="1200"/>
              <a:t>실제 메시지는 「07. 의존 규칙 검사가 잡은 것」에서 출력으로 본다.</a:t>
            </a:r>
          </a:p>
          <a:p>
            <a:pPr lvl="0"/>
            <a:r>
              <a:rPr lang="ko-KR" sz="1200"/>
              <a:t>메시지를 길게 쓰는 것이 목적이 아니다. 에이전트가 다음 행동을 정할 수 있는 만큼이면 된다.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 원문 확인. "cybernetic governor"는 출력이 되돌아와 스스로 속도를 유지하는 조절 장치에 하네스를 견준 비유다. 번역에서 기계 이름을 쓰지 않고 그 작동으로 풀었다.</a:t>
            </a:r>
          </a:p>
          <a:p>
            <a:pPr lvl="0"/>
            <a:r>
              <a:rPr lang="ko-KR" sz="1200"/>
              <a:t>경계는 고정이 아니다. 모델이 싸고 빨라지면 추론적 센서도 루프 안으로 내려온다. 그 재점검은 "세션 10. 비용과 평가"가 다룬다.</a:t>
            </a:r>
          </a:p>
          <a:p>
            <a:pPr lvl="0"/>
            <a:r>
              <a:rPr lang="ko-KR" sz="1200"/>
              <a:t>전부 루프 안에 넣는 잘못은 「11. 잘못된 관행」에서 다시 본다.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단계의 이름은 이 과정의 것이다. 적합성 함수(fitness function)라는 업계 용어가 아키텍처 특성을 기계가 재는 검사를 가리키며, 의존 규칙 검사가 그 예다.</a:t>
            </a:r>
          </a:p>
          <a:p>
            <a:pPr lvl="0"/>
            <a:r>
              <a:rPr lang="ko-KR" sz="1200"/>
              <a:t>네 줄 중 의존 규칙만 완전히 계산적이다. 이름과 불변 조건은 일부만 기계가 본다 — 나머지가 「10. 사람의 리뷰가 볼 것」으로 간다.</a:t>
            </a:r>
          </a:p>
          <a:p>
            <a:pPr lvl="0"/>
            <a:r>
              <a:rPr lang="ko-KR" sz="1200"/>
              <a:t>"세션 04. 정적 모델"의 용어집과 "세션 05. 동적 모델"의 상태 기계가 이 대조의 기준이다.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전체 구성은 code/s09/pipeline/build.gradle.kts다. 슬라이드는 검사를 매다는 세 곳만 발췌했다.</a:t>
            </a:r>
          </a:p>
          <a:p>
            <a:pPr lvl="0"/>
            <a:r>
              <a:rPr lang="ko-KR" sz="1200"/>
              <a:t>gradle check는 자바 세계의 관례적인 검사 명령이다. 다른 언어라면 그 생태계의 같은 자리를 쓴다 — 중요한 것은 명령이 하나라는 것이다.</a:t>
            </a:r>
          </a:p>
          <a:p>
            <a:pPr lvl="0"/>
            <a:r>
              <a:rPr lang="ko-KR" sz="1200"/>
              <a:t>수강생의 빌드 구성은 실습 8에서 에이전트가 만들었다. 여기서는 거기에 검사를 더한다.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 원문 확인. 세 범주의 이름이 원문의 것이고, 표의 오른쪽 두 열은 이 과정의 적용이다.</a:t>
            </a:r>
          </a:p>
          <a:p>
            <a:pPr lvl="0"/>
            <a:r>
              <a:rPr lang="ko-KR" sz="1200"/>
              <a:t>결합도를 합격선으로 쓰지 않는 이유 — [Böckeler 2026b]의 실험에서 결합도 데이터는 사람에게 유용했지만 그 자체로 통과·실패를 구분하는 기준은 되지 못했다.</a:t>
            </a:r>
          </a:p>
          <a:p>
            <a:pPr lvl="0"/>
            <a:r>
              <a:rPr lang="ko-KR" sz="1200"/>
              <a:t>실제 출력에서 OrderApplicationService가 13으로 가장 높았다. 작업 단위가 하나 더 붙으면 이 수가 어떻게 되는지 보라고 말한다.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2026a]·[Lopopolo 2026] 원문 확인. [Böckeler 2026a]는 이미 있는 코드베이스가 어려운 이유도 함께 다루지만, 이 과정의 사례는 빈 저장소에서 시작하므로 신규 개발 쪽만 인용했다.</a:t>
            </a:r>
          </a:p>
          <a:p>
            <a:pPr lvl="0"/>
            <a:r>
              <a:rPr lang="ko-KR" sz="1200"/>
              <a:t>앞의 다섯 세션이 왜 필요했는지가 여기서 닫힌다 — 결정이 없으면 검사가 없고, 검사가 없으면 맡길 수 없다.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실제 실행이다. 위반 파일은 code/s09/pipeline/examples/violation/에 있고, 재현 절차와 전체 출력은 그 폴더의 README와 check-output-violation.txt에 있다.</a:t>
            </a:r>
          </a:p>
          <a:p>
            <a:pPr lvl="0"/>
            <a:r>
              <a:rPr lang="ko-KR" sz="1200"/>
              <a:t>판정은 jdeps의 패키지 의존으로 한다. 허용 목록은 "세션 06. 아키텍처"의 「05. 의존 규칙」이 정한 것과 같다.</a:t>
            </a:r>
          </a:p>
          <a:p>
            <a:pPr lvl="0"/>
            <a:r>
              <a:rPr lang="ko-KR" sz="1200"/>
              <a:t>수강생에게 먼저 묻는다 — 이 코드는 왜 테스트를 통과하는가? 그다음 어느 검사가 잡아야 하는지 답하게 한다.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장이 Anchor Message의 뒤쪽이다. 앞쪽("완료는 주장이다")은 「07. 의존 규칙 검사가 잡은 것」이 보였다.</a:t>
            </a:r>
          </a:p>
          <a:p>
            <a:pPr lvl="0"/>
            <a:r>
              <a:rPr lang="ko-KR" sz="1200"/>
              <a:t>실제 LLM 심사도 세 항목을 통과시켰지만 이름 하나를 지적했다 — 녹색과 지적이 함께 나오는 예다(code/s09/pipeline/examples/amount-review-output.md).</a:t>
            </a:r>
          </a:p>
          <a:p>
            <a:pPr lvl="0"/>
            <a:r>
              <a:rPr lang="ko-KR" sz="1200"/>
              <a:t>커버리지를 합격선으로 쓰는 잘못은 「11. 잘못된 관행」에서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표의 다섯 줄은 「06. 명령 하나로 모으기」의 「주문한다의 검사 다섯」과 순서가 같다. 검사를 세우는 일과 실패를 읽는 일이 한 줄씩 이어진다.</a:t>
            </a:r>
          </a:p>
          <a:p>
            <a:pPr lvl="0"/>
            <a:r>
              <a:rPr lang="ko-KR" sz="1200"/>
              <a:t>같은 실패 3회의 멈춤은 "세션 08. 위임"의 「07. 종료 조건과 확인 지점」에 적은 멈출 조건이다. 3회는 교육용 값이다.</a:t>
            </a:r>
          </a:p>
          <a:p>
            <a:pPr lvl="0"/>
            <a:r>
              <a:rPr lang="ko-KR" sz="1200"/>
              <a:t>원인을 모른 채 재시도 횟수만 늘리지 않게 한다. 무엇을 바꿨고 결과가 어땠는지 기록이 남아야 판단할 수 있다.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[Böckeler 2026a] 원문 확인. 세 가지 문제의 이름이 원문의 것이고, 오른쪽 열은 이 과정의 적용이다.</a:t>
            </a:r>
          </a:p>
          <a:p>
            <a:pPr lvl="0"/>
            <a:r>
              <a:rPr lang="ko-KR" sz="1200"/>
              <a:t>실제 LLM 심사가 지적한 이름 문제는 셋 중 어디에도 들지 않는다 — 추론적 센서가 잡아 주는 쪽이다. 사람이 볼 것은 더 위의 판단이다.</a:t>
            </a:r>
          </a:p>
          <a:p>
            <a:pPr lvl="0"/>
            <a:r>
              <a:rPr lang="ko-KR" sz="1200"/>
              <a:t>리뷰에서 발견한 것을 모델과 가이드로 되돌리는 일은 「09. 실패가 가리키는 결정」과 같은 원칙을 따른다.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08. 위임"의 Anchor Message와 같은 원리다 — 금지는 글로 적는 것으로 막히지 않는다.</a:t>
            </a:r>
          </a:p>
          <a:p>
            <a:pPr lvl="0"/>
            <a:r>
              <a:rPr lang="ko-KR" sz="1200"/>
              <a:t>검사 파일과 규칙 파일을 쓰기 금지로 두는 설정이 가장 단순한 수단이다. 실습 9에서 직접 적는다.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변이 테스트(mutation testing)는 테스트의 질을 재는 센서이지만 느려서 주문한다에 두지 않았다.</a:t>
            </a:r>
          </a:p>
          <a:p>
            <a:pPr lvl="0"/>
            <a:r>
              <a:rPr lang="ko-KR" sz="1200"/>
              <a:t>어디까지 루프 안에 둘지는 한 번의 비용과 도는 횟수가 정한다. 그 계산은 "세션 10. 비용과 평가"가 다룬다.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강사의 예시 저장소는 code/s09/pipeline/이다. 실습이 요구하는 다섯을 실제로 만들어 돌렸고, 녹색과 위반의 출력이 그 폴더의 check-output.txt·check-output-violation.txt에 있다.</a:t>
            </a:r>
          </a:p>
          <a:p>
            <a:pPr lvl="0"/>
            <a:r>
              <a:rPr lang="ko-KR" sz="1200"/>
              <a:t>수강생의 빌드 도구가 달라도 된다. 명령이 하나인지와 실패 메시지가 에이전트에게 쓰였는지를 본다.</a:t>
            </a:r>
          </a:p>
          <a:p>
            <a:pPr lvl="0"/>
            <a:r>
              <a:rPr lang="ko-KR" sz="1200"/>
              <a:t>네트워크가 막혀 의존성을 받지 못하면 테스트 라이브러리 없이 돌리고 그 사실을 기록에 적게 한다.</a:t>
            </a:r>
          </a:p>
          <a:p>
            <a:pPr lvl="0"/>
            <a:r>
              <a:rPr lang="ko-KR" sz="1200"/>
              <a:t>③에서 지우지 않고 넘어가면 다음 실습이 빨간 상태로 시작한다. 지웠는지 확인하게 한다.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모델에서 보완된 것 — 검사가 판정하지 않는 산출물이 드러났고, 모델·코드 적합성 검사가 더해졌다.</a:t>
            </a:r>
          </a:p>
          <a:p>
            <a:pPr lvl="0"/>
            <a:r>
              <a:rPr lang="ko-KR" sz="1200"/>
              <a:t>이 세션으로 과정의 오른쪽이 섰다. 다음 둘은 그 위에서 계속 맡길 것인가를 판단한다.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별첨은 강사가 예시 저장소에서 실제로 수행한 결과를 실습의 결과물 형식으로 정리한 것이다. LLM의 응답을 옮긴 것이 아니다. 출력 원본은 code/s09/pipeline/check-output.txt·check-output-violation.txt, LLM 심사의 프롬프트와 응답은 examples/에 있다.</a:t>
            </a:r>
          </a:p>
          <a:p>
            <a:pPr lvl="0"/>
            <a:r>
              <a:rPr lang="ko-KR" sz="1200"/>
              <a:t>실제로 실행한 프롬프트 — 이 별첨은 LLM에 맡겨 받은 것이 아니라 강사가 저장소에서 직접 만든 결과다. 이 세션에서 LLM을 실제로 돌린 것은 금액 계산의 심사 하나뿐이고, 보낸 프롬프트 전문이 code/s09/pipeline/examples/amount-review-prompt.txt, 받은 응답이 같은 폴더의 amount-review-output.md다.</a:t>
            </a:r>
          </a:p>
          <a:p>
            <a:pPr lvl="0"/>
            <a:r>
              <a:rPr lang="ko-KR" sz="1200"/>
              <a:t>금액 계산의 심사는 Claude Opus 5.5로 2026-10-27에 1턴 실행했다. 세 항목을 통과시키면서 PricedOrderItem 주석이 단가를 "sale price"로 설명한다는 점을 지적했다 — 컴파일과 테스트가 잡지 못하는 종류의 지적이다.</a:t>
            </a:r>
          </a:p>
          <a:p>
            <a:pPr lvl="0"/>
            <a:r>
              <a:rPr lang="ko-KR" sz="1200"/>
              <a:t>수강생의 기록은 자기 빌드 도구와 자기 작업 단위로 쓰인다. 표의 「재는 결정」 열이 비어 있으면 검사와 결정의 짝이 끊어진 것이다.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검사 파이프라인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이미 있는 파이프라인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하네스라는 이름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달라지는 것 셋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새 단계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모델·코드 적합성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명령 하나로 모으기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의존 규칙 검사가 잡은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녹색이 보장하지 않는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실패가 가리키는 결정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사람의 리뷰가 볼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실습 9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검사 붙이기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"다 했다"고 말할 때 그 말을 받칠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검사가 낸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뿐이다.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CI/CD 파이프라인의 단계를 짚고, 검사 파이프라인이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어디를 가져오고 무엇을 남기는지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03~07에서 정한 결정마다 그것을 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검사를 하나씩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붙인다.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들어오면서 달라지는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말한다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메시지의 독자, 검사의 위치, 도는 빈도.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명령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모으고, 루프 안에서 돌 것과 CI에 남길 것을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검사의 실패를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원인이 된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되돌리고, 녹색이 보장하지 않는 것을 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자동 검사가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놓치는 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알고 사람의 리뷰가 볼 것을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CI/CD 파이프라인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이미 있는 파이프라인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86776" y="2112010"/>
          <a:ext cx="53568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45618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실패하면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소스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변경을 받아 브랜치를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컴파일하고 의존성을 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뒤 단계를 돌리지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단위·통합 테스트를 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합치지 못한다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분석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형식·버그 패턴·보안을 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경고나 차단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실행할 수 있는 산출물을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배포하지 못한다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환경에 올리고 되돌릴 길을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CI/CD 파이프라인은 코드가 바뀔 때마다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 손을 거치지 않고 도는 단계의 사슬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단계마다 통과해야 다음으로 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파이프라인의 단계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언제 도는가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보통 push와 병합 요청에서 돈다. 사람이 코드를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올린 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기준점이다.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도구는 바뀐다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어떤 제품으로 구성하든 단계의 성격은 같다. 이 세션은 도구가 아니라 단계를 좌표로 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기존 CI/CD와 검사 파이프라인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이미 있는 파이프라인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375726" y="2112010"/>
          <a:ext cx="43789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590040"/>
                <a:gridCol w="1701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 파이프라인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 CI에 남는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가져온다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빠른 것만 가져온다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느린 통합·성능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분석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가져온다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긴 보안 스캔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패키징·배포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가져오지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 파이프라인은 새 도구가 아니다. 위 사슬에서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빌드·테스트·정적 분석을 떼어 에이전트가 돌리는 자리로 옮긴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무엇을 가져오고 무엇을 남기는가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구분하는 기준은 속도와 되돌림이다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초 단위로 돌고 되돌리기 쉬운 것만 앞으로 당긴다.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둘은 경쟁하지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검사가 루프 안에서 한 번, 병합 전에 다시 돈다. 앞의 것은 에이전트가 고치라고, 뒤의 것은 사람이 합쳐도 되는지 보라고 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결정마다의 검사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이미 있는 파이프라인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02956" y="2112010"/>
          <a:ext cx="55245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17678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재는 검사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정의서, 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용어집, 불변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불변 조건 테스트, 이름의 일치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상태와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 테스트, 금지된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규칙, 연동 규격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오퍼레이션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사전·사후조건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03~07에서 내린 결정에는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그것을 재는 검사가 하나씩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있다. 왼쪽에서 정하지 않은 것은 오른쪽에 검사가 없다.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결정과 그것을 재는 검사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검사가 없는 결정은 맡길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지켜졌는지 아무도 모르는 채로 코드가 쌓인다.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거꾸로도 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검사가 없는 칸이 있으면 왼쪽에서 정하지 않은 것이 무엇인지 되묻는다.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가이드와 센서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하네스라는 이름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앞으로 당긴 검사의 묶음을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하네스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(harness)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라 부른다. 하네스는 두 방향으로 작동한다.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하네스는 원하지 않는 결과를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미리 막는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스스로 고치도록 센서를 두는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함께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 harness a coding agent we both anticipate unwanted outputs and try to prevent them, and we put sensors in place to allow the agent to self-correct"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가이드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(guide)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에이전트가 행동하기 전에 방향을 잡아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첫 시도에서 좋은 결과가 나올 확률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높인다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"Guides (feedforward controls) - anticipate the agent's behaviour and aim to steer it before it acts. Guides increase the probability that the agent creates good results in the first attempt"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가이드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지시문, 맥락 문서, 권한 설정. "세션 08. 위임"에서 이미 세웠다.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컴파일·테스트·의존 규칙 검사. 실행한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뒤에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결과를 측정한다.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하나만 두면 같은 실수를 되풀이하는 에이전트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(센서만)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나 규칙을 적어 두고도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효과가 있었는지 알지 못하는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에이전트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(가이드만)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"Separately, you get either an agent that keeps repeating the same mistakes (feedback-only) or an agent that encodes rules but never finds out whether they worked (feed-forward-only)"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계산적과 추론적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하네스라는 이름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40446" y="2898948"/>
          <a:ext cx="5049520" cy="3873500"/>
        </p:xfrm>
        <a:graphic>
          <a:graphicData uri="http://schemas.openxmlformats.org/drawingml/2006/table">
            <a:tbl>
              <a:tblPr/>
              <a:tblGrid>
                <a:gridCol w="1143000"/>
                <a:gridCol w="2456180"/>
                <a:gridCol w="1450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계산적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추론적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판정하는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CPU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입력에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다를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초, 거의 공짜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분, 호출마다 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컴파일·테스트·의존 규칙·결합도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계산의 심사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센서는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판정하는가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나뉜다. 기계가 판정할 수 있는 것은 기계로 옮긴다.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계산적 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결정적이고 빠르며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CPU가 돌린다. 테스트·린터·타입 검사·구조 분석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"Computational - deterministic and fast, run by the CPU. Tests, linters, type checkers, structural analysis"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종류의 센서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67548"/>
            <a:ext cx="8412480" cy="172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옮길 수 있으면 옮긴다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읽어 판정하던 것을 계산적 센서로 내리면 루프 안에서 공짜로 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추론적 센서는 한 번으로 끝내지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중요한 일이라면 LLM으로 하는 분석은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여러 번 돌려 보는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낫다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useful reminder that when it matters, it's often worth running an LLM-based analysis multiple times, to get a fuller picture."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2026b]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독자·위치·빈도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달라지는 것 셋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571306" y="1837690"/>
          <a:ext cx="3987800" cy="3873500"/>
        </p:xfrm>
        <a:graphic>
          <a:graphicData uri="http://schemas.openxmlformats.org/drawingml/2006/table">
            <a:tbl>
              <a:tblPr/>
              <a:tblGrid>
                <a:gridCol w="1226820"/>
                <a:gridCol w="1170940"/>
                <a:gridCol w="1590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볼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돌릴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메시지의 독자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검사의 위치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올린 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커밋 앞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도는 빈도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고칠 때마다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검사라도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돌리게 되면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셋이 달라진다.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사람이 볼 때와 에이전트가 돌릴 때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8290"/>
            <a:ext cx="8412480" cy="2737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검사를 에이전트의 흐름에 연결해 두면 사람이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일일이 조종하는 수고가 줄어든다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"These checks reduce routine steering work for the human in the loop."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검사는 운영에 이르는 길의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가능한 앞쪽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 둔다 — 문제를 일찍 찾을수록 고치는 비용이 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"You want to have checks as far left in the path to production as possible, since the earlier you find issues, the cheaper they are to fix."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독자가 바뀌면 메시지가 바뀐다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사람은 규칙 이름만 봐도 알지만, 에이전트에게는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무엇을 어떻게 고치라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고 적어야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빈도가 바뀌면 속도가 기준이 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번의 작업에서 수십 번 도는 검사는 초 단위여야 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고치는 방법을 담은 메시지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달라지는 것 셋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88986" y="2898948"/>
          <a:ext cx="555244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209296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이름만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위반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짐작해서 이것저것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고치는 방법까지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포트를 선언해 그것만 쓰라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포트를 만들고 다시 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실패 메시지를 에이전트가 읽는다면, 그 메시지에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고치는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들어 있어야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고치는 방법을 함께 담은 린터 메시지는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좋은 쪽으로 쓰는 프롬프트 주입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"custom linter messages that include instructions for the self-correction - a positive kind of prompt injection"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실패, 두 메시지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9154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메시지에 담을 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어겼는지, 어떻게 고치는지, 규칙이 어디에 적혀 있는지다.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가이드를 가리킨다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메시지가 맥락 문서를 가리키면, 에이전트가 그 문서를 읽고 고친다.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루프 안과 CI를 구분하는 기준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달라지는 것 셋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641156" y="3061046"/>
          <a:ext cx="38481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1170940"/>
                <a:gridCol w="17297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루프 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CI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도는 시간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분을 넘어도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거의 공짜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호출마다 들어도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고칠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판단한다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검사를 루프 안에 넣으면 루프가 느려져 에이전트가 멈춘다.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속도와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하네스는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스스로 조절하는 장치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처럼 앞서 주는 방향과 되돌아오는 신호를 합쳐 코드베이스를 원하는 상태로 유지한다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agent harness acts like a cybernetic governor, combining feed-forward and feedback to regulate the codebase towards its desired state."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어디서 돌릴 것인가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441646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주문한다의 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루프 안에서 돈다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컴파일·수용 테스트·의존 규칙·결합도다.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금액 계산의 LLM 심사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CI에 남긴다. 느리고 호출마다 돈이 들며 결과가 매번 같지 않다.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새 단계 — 모델·코드 적합성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30896" y="2112010"/>
          <a:ext cx="546862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178562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모델에서 정한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코드에서 볼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어긋남의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이름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타입·필드의 이름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판매가와 단가가 한 이름이다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불변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 시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수량 0을 받아들인다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상태와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enum과 바꾸는 메서드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없는 상태가 코드에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패키지 의존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업무가 연동을 import한다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기존 CI에 없던 단계가 하나 붙는다.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문서로 정한 모델과 코드가 어긋나지 않았는지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보는 검사다.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무엇을 대조하는가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새로 필요한가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코드를 쓰던 때는 모델을 읽은 사람이 그대로 옮겼다. 에이전트는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문서를 읽고도 그럴듯한 다른 이름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이름의 어긋남은 테스트가 잡지 못한다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동작이 맞으면 녹색이다. 사람이 읽거나 LLM이 심사해야 드러난다.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검사 명령 만들기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명령 하나로 모으기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2311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tasks.test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useJUnitPlatform()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업무 패키지는 연동·영속을 의존하지 않고, 업무 사이는 허용 목록만 쓴다.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val business = setOf("order", "payment", "delivery", "product")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val allowed = setOf("order-&gt;payment", "order-&gt;delivery", "order-&gt;product")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... dependencyRules·coupling 작업의 본문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tasks.check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dependsOn(dependencyRules, coupling)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명령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돈다. 에이전트가 외울 것이 하나여야 루프가 단순해진다.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8299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단계는 넷이다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빌드 도구를 고르고, 테스트를 붙이고, 검사 작업을 더하고,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check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 매단다.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수강생이 만든다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과정이 구성 파일을 주지 않는다. 빌드 구성도 위임의 대상이다.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검사 다섯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명령 하나로 모으기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67776" y="2350308"/>
          <a:ext cx="459486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1366520"/>
                <a:gridCol w="889000"/>
                <a:gridCol w="889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루프 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루프 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 적합성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루프 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결합도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유지보수성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루프 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계산의 심사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유지보수성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추론적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CI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73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다섯 검사가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 범주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덮는다. 범주마다 센서가 따로 필요하다.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지금 유용해 보이는 범주는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following are three categories that seem useful to me as of now"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5185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검사 다섯과 범주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0690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테스트가 녹색이어도 구조는 말해 주지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그래서 범주마다 검사가 따로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결합도는 합격선이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클래스가 아는 것의 수를 신호로 볼 뿐 통과·실패를 구분하지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검사를 붙이기 쉬운 코드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명령 하나로 모으기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검사를 붙일 수 있는지는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코드의 구조가 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경계가 없으면 잴 것이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빈 저장소에서 시작하는 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첫날부터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하네스를 만들기 쉽게 해 둘 수 있다 — 기술과 아키텍처의 선택이 그 코드베이스를 얼마나 조절할 수 있는지를 정한다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"Greenfield teams can bake harnessability in from day one - technology decisions and architecture choices determine how governable the codebase will be."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경계가 있어 의존을 측정한다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06. 아키텍처"가 패키지를 나누지 않았다면 의존 규칙 검사를 쓸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계약이 있어 테스트를 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07. 설계 — 책임과 협력"의 사전·사후조건이 기대값이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SW 엔지니어링 팀의 주된 일은 이제 코드를 쓰는 것이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환경을 설계하고 의도를 명세하고 피드백 루프를 만드는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software engineering team's primary job is no longer to write code, but to design environments, specify intent, and build feedback loops"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의존 규칙 검사가 잡은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9812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package order;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import payment.PaymentGateway;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import paymentadapter.CardPaymentAdapter;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... 재현 방법을 적은 주석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PaymentAssembly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PaymentGateway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paymentGateway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return new CardPaymentAdapter();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결제 연동을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안에서 직접 조립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했다. 동작하고 테스트도 녹색이다.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933926"/>
            <a:ext cx="8412480" cy="82296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&gt; Task :dependencyRules FAILED        ... 빌드 실패 머리말 생략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&gt; 의존 규칙 위반 1건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order -&gt; paymentadapter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업무 패키지는 연동·영속을 알지 못한다. 포트 인터페이스를 선언해 그것만 쓰고,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구현을 끼우는 일은 업무 밖에서 한다. 규칙은 docs/아키텍처.md에 있다.</a:t>
            </a: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985486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테스트는 잡지 못한다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동작이 맞기 때문이다. 구조는 다른 검사가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메시지가 다음 행동을 정해 준다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조립을 업무 밖으로 옮기고 다시 돌린다.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녹색이 보장하지 않는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402396" y="1837690"/>
          <a:ext cx="4325620" cy="3873500"/>
        </p:xfrm>
        <a:graphic>
          <a:graphicData uri="http://schemas.openxmlformats.org/drawingml/2006/table">
            <a:tbl>
              <a:tblPr/>
              <a:tblGrid>
                <a:gridCol w="209296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녹색이 말하는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말하지 않는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쓴 수용 예가 통과했다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쓰지 않은 경로는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규칙을 어기지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경계가 옳은지는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맞는지는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결합도를 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수가 좋은지는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검사가 녹색이어도 그것은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쓴 검사만큼만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보장한다.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녹색이 말하지 않는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0629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기대값이 추측이면 녹색도 추측이다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01. 사람의 일과 AI의 일"의 첫 시도가 그랬다.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검사를 늘리는 것이 답은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보장하고 싶은지 정하고 그만큼 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실패가 가리키는 결정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56626" y="2112010"/>
          <a:ext cx="52171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092960"/>
                <a:gridCol w="2037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검사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실패의 모습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이름·타입이 맞지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없다 — 에이전트가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기대한 금액이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명세서와 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업무가 연동을 import한다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맥락의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결합도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클래스가 계속 커진다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단위의 분할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심사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금액을 정하는 곳이 둘이다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검사가 실패하면 코드를 고치기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실패가 어느 결정에서 왔는지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실패와 되돌릴 결정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167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입력으로 다시 돌리는 것은 복구가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명세가 빠뜨린 것은 몇 번을 돌려도 빠져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곳이 가이드라면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고친 가이드가 다음 과제에서도 같은 실패를 막는다. 코드만 고치면 그 효과가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실패가 세 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되풀이되면 멈추고 사람에게 묻는다.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사람의 리뷰가 볼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36966" y="3173268"/>
          <a:ext cx="4856480" cy="3873500"/>
        </p:xfrm>
        <a:graphic>
          <a:graphicData uri="http://schemas.openxmlformats.org/drawingml/2006/table">
            <a:tbl>
              <a:tblPr/>
              <a:tblGrid>
                <a:gridCol w="2176780"/>
                <a:gridCol w="26797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놓치는 문제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주문한다에서 물을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문제를 잘못 짚음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고친 것이 실제 원인인가?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과한 설계와 필요 없는 기능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요구에 없는 것이 생기지 않았는가?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지시를 잘못 이해함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작업 단위가 맞는가?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4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검사를 다 세워도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볼 것이 남는다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그것이 무엇인지 알아야 리뷰가 형식이 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계산적 센서도 추론적 센서도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영향이 큰 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믿을 만하게 잡아내지 못한다 — 문제를 잘못 짚는 것과 과한 설계와 필요 없는 기능과 지시를 잘못 이해한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"Neither catches reliably some of the higher-impact problems: Misdiagnosis of issues, overengineering and unnecessary features, misunderstood instructions."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7481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사람이 보는 셋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5386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셋 모두 검사의 녹색과 함께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일어난다. 녹색이라서 넘어가면 그대로 쌓인다.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리뷰의 입력은 증거다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검사 출력과 실행 기록을 먼저 보고, 그다음 코드를 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테스트를 끄는 에이전트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11236" y="2112010"/>
          <a:ext cx="5107940" cy="3873500"/>
        </p:xfrm>
        <a:graphic>
          <a:graphicData uri="http://schemas.openxmlformats.org/drawingml/2006/table">
            <a:tbl>
              <a:tblPr/>
              <a:tblGrid>
                <a:gridCol w="237236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끄는 모습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막는 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테스트에 건너뛰기 표시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 파일의 변경을 승인 대상으로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기대값을 결과에 맞춰 고침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기대값의 출처를 수용 기준으로 고정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허용 목록에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파일을 사람만 고치게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실패를 없애는 가장 빠른 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검사를 끄는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에이전트는 그 길을 고른다.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끄는 모습과 막는 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지시문에 적는 것으로 막히지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"검사를 끄지 마라"는 부탁이다. 막으려면 권한이 거절해야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녹색이 늘었는데 검사가 줄었는지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본다. 수가 줄었으면 끈 것이다.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센서를 모두 루프 안에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542096" y="2112010"/>
          <a:ext cx="404622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넣은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생기는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긴 통합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 고치는 데 몇 분이 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추론적 심사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호출마다 돈이 들고 결과가 흔들린다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전체 보안 스캔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기다리다 멈춘다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검사를 늘리는 것이 좋다고 생각해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전부 루프 안에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넣으면 루프가 멈춘다.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넣었을 때 생기는 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루프 안의 기준은 초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넘는 것은 CI로 보낸다.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느린 검사를 빼는 것이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자리를 옮기는 것이다. 병합 전에 반드시 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실습 9 — 검사 붙이기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409700"/>
            <a:ext cx="4069080" cy="480822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8의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저장소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주문한다-위임기록.md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실습 6의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의존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실습 7의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프롬프트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요청사항 포함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이 저장소의 검사를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명령 하나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모아라. 지금 있는 빌드 구성에 테스트를 붙이고, 그 명령에 매달아라. 아직 검사를 더하지는 마라.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실습 6에서 정한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의존 규칙을 검사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만들어 같은 명령에 매달아라. 실패 메시지에는 무엇을 어겼는지와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어떻게 고치는지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규칙이 적힌 곳을 함께 담아라.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의존 규칙을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일부러 어긴 파일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만들어 검사가 실제로 막는지 확인하고, 출력을 보여라. 확인한 뒤에는 그 파일을 지워라.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루프 안에서 돌 검사와 CI에 남길 검사를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속도와 비용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으로 나누어 적고, 검사 파일과 규칙 파일을 네가 고치지 못하도록 권한을 설정해라.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44958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①로 시작해 답·질문·수정 요청을 주고받는다.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②~④는 보완 예시다. ⑤로 MD를 만들고 필요하면 보완·재생성한다.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9160" y="1409700"/>
            <a:ext cx="4069080" cy="4808220"/>
          </a:xfrm>
        </p:spPr>
        <p:txBody>
          <a:bodyPr>
            <a:normAutofit/>
          </a:bodyPr>
          <a:lstStyle/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이번에 붙인 검사를 MD 하나로 정리해라. 검사 목록과 각 검사가 재는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명령, 실패 메시지의 예, 루프 안과 CI의 구분으로 구성하고 새 결정을 추가하지 마라. 다섯 장을 넘지 않게 핵심만 남겨라.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짝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검사마다 그것이 재는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 무엇인지 적혀 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메시지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실패 메시지에 고치는 방법과 규칙의 위치가 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실제 확인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일부러 어겨서 검사가 막는 것을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출력으로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확인했는가?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자리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루프 안과 CI의 구분에 속도·비용의 근거가 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끄기 방지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검사와 규칙 파일이 에이전트의 쓰기에서 막혀 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주문한다-검사기록.md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실습 10의 투입물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검사는 결정마다 하나씩 붙고,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명령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모이며, 실패는 코드가 아니라 결정을 가리킨다.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 파이프라인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이미 있는 것을 당긴다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빌드·테스트·정적 분석을 에이전트가 돌리는 자리로 옮긴다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달라지는 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메시지의 독자, 검사의 위치, 도는 빈도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명령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루프 안은 초 단위, 느리고 비싼 것은 CI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단계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모델과 코드가 어긋났는지 보는 검사가 더해진다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녹색은 쓴 검사만큼만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보장하고, 실패는 되돌릴 결정을 가리킨다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세션 10. 비용과 평가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지금까지 맡긴 것이 값했는지 재고 남은 단위도 맡길지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 — 검사 기록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09. 검사 파이프라인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856520"/>
            <a:ext cx="8412480" cy="660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&gt; 의존 규칙 위반 1건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order -&gt; paymentadapter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업무 패키지는 연동·영속을 알지 못한다. 포트 인터페이스를 선언해 그것만 쓰고,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구현을 끼우는 일은 업무 밖에서 한다. 규칙은 docs/아키텍처.md에 있다.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628650"/>
          </a:xfrm>
        </p:spPr>
        <p:txBody>
          <a:bodyPr tIns="0" bIns="0"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"주문한다"의 검사 다섯을 명령 하나에 모았다.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./gradlew check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넷이 돌고 금액 계산의 심사만 CI에 남겼다. 검사마다 재는 결정과 그 결정을 정한 자리를 함께 적는다.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검사 목록과 재는 결정</a:t>
            </a:r>
          </a:p>
        </p:txBody>
      </p:sp>
      <p:graphicFrame>
        <p:nvGraphicFramePr>
          <p:cNvPr id="33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19136" y="1690370"/>
          <a:ext cx="569214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2623820"/>
                <a:gridCol w="1617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재는 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 — 주문 금액과 사전조건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실습 7의 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 — 업무와 연동의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실습 6의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결합도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— 작업 단위의 크기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실습 7의 작업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계산의 심사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 — 판매가와 단가의 구별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실습 4의 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3519970"/>
            <a:ext cx="8412480" cy="234950"/>
          </a:xfrm>
        </p:spPr>
        <p:txBody>
          <a:bodyPr tIns="0" bIns="0"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실패 메시지의 예</a:t>
            </a:r>
          </a:p>
        </p:txBody>
      </p:sp>
      <p:sp>
        <p:nvSpPr>
          <p:cNvPr id="35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4618520"/>
            <a:ext cx="8412480" cy="1174750"/>
          </a:xfrm>
        </p:spPr>
        <p:txBody>
          <a:bodyPr tIns="0" bIns="0"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자리와 끄기 방지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루프 안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컴파일·수용 테스트·의존 규칙·결합도. 모두 합쳐 수 초다.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CI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금액 계산의 LLM 심사. 호출마다 돈이 들고 결과가 매번 같지 않다.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끄기 방지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빌드 구성과 검사 작업, 규칙 목록은 에이전트의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쓰기에서 막았다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일부러 어긴 파일로 검사가 막는 것을 보고 지웠다.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23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7" baseType="lpstr">
      <vt:lpstr>맑은 고딕</vt:lpstr>
      <vt:lpstr>Arial</vt:lpstr>
      <vt:lpstr>Wingdings</vt:lpstr>
      <vt:lpstr>4_Office 테마</vt:lpstr>
      <vt:lpstr>09. 검사 파이프라인 목차</vt:lpstr>
      <vt:lpstr>01. 세션 목표</vt:lpstr>
      <vt:lpstr>CI/CD 파이프라인 02. 이미 있는 파이프라인</vt:lpstr>
      <vt:lpstr>기존 CI/CD와 검사 파이프라인 02. 이미 있는 파이프라인</vt:lpstr>
      <vt:lpstr>결정마다의 검사 02. 이미 있는 파이프라인</vt:lpstr>
      <vt:lpstr>가이드와 센서 03. 하네스라는 이름</vt:lpstr>
      <vt:lpstr>계산적과 추론적 03. 하네스라는 이름</vt:lpstr>
      <vt:lpstr>독자·위치·빈도 04. 달라지는 것 셋</vt:lpstr>
      <vt:lpstr>고치는 방법을 담은 메시지 04. 달라지는 것 셋</vt:lpstr>
      <vt:lpstr>루프 안과 CI를 구분하는 기준 04. 달라지는 것 셋</vt:lpstr>
      <vt:lpstr>05. 새 단계 — 모델·코드 적합성</vt:lpstr>
      <vt:lpstr>검사 명령 만들기 06. 명령 하나로 모으기</vt:lpstr>
      <vt:lpstr>주문한다의 검사 다섯 06. 명령 하나로 모으기</vt:lpstr>
      <vt:lpstr>검사를 붙이기 쉬운 코드 06. 명령 하나로 모으기</vt:lpstr>
      <vt:lpstr>07. 의존 규칙 검사가 잡은 것</vt:lpstr>
      <vt:lpstr>08. 녹색이 보장하지 않는 것</vt:lpstr>
      <vt:lpstr>09. 실패가 가리키는 결정</vt:lpstr>
      <vt:lpstr>10. 사람의 리뷰가 볼 것</vt:lpstr>
      <vt:lpstr>테스트를 끄는 에이전트 11. 잘못된 관행</vt:lpstr>
      <vt:lpstr>센서를 모두 루프 안에 11. 잘못된 관행</vt:lpstr>
      <vt:lpstr>12. 실습 9 — 검사 붙이기</vt:lpstr>
      <vt:lpstr>13. 요약</vt:lpstr>
      <vt:lpstr>주문한다 — 검사 기록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09. 검사 파이프라인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