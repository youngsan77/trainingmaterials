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전체가 하나의 시나리오(쇼핑몰 주문 시스템의 첫 시도)로 이어진다. 사건 → 원인 → 새 일하는 방식 → 결정과 검사의 짝 → 과정의 지도 순서다.</a:t>
            </a:r>
          </a:p>
          <a:p>
            <a:pPr lvl="0"/>
            <a:r>
              <a:rPr lang="ko-KR" sz="1200"/>
              <a:t>내용은 2026-10 기준이다. 도구·모델의 능력에 관한 서술은 과정을 열 때마다 원문으로 다시 확인한다.</a:t>
            </a:r>
          </a:p>
          <a:p>
            <a:pPr lvl="0"/>
            <a:r>
              <a:rPr lang="ko-KR" sz="1200"/>
              <a:t>LLM이라는 도구의 성질과 활용 방식의 선택은 "세션 02. LLM이라는 도구"가 맡는다. 이 세션은 사람과 AI가 나누는 일까지다.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사례는 "객체지향 분석과 설계 실무" 과정과 같은 주문 시스템이며 이름도 같다. 이 과정만 듣는 수강생을 위해 필요한 전제만 소개한다.</a:t>
            </a:r>
          </a:p>
          <a:p>
            <a:pPr lvl="0"/>
            <a:r>
              <a:rPr lang="ko-KR" sz="1200"/>
              <a:t>상품·결제·배송 시스템은 이미 운영 중인 외부 시스템이다. 주문 시스템은 이들과 요청·통보를 주고받는다.</a:t>
            </a:r>
          </a:p>
          <a:p>
            <a:pPr lvl="0"/>
            <a:r>
              <a:rPr lang="ko-KR" sz="1200"/>
              <a:t>업무 담당자 한 명이 주문 정책을 정하고, 개발자 3명(테크 리드 한 명, 개발자 2명)이 코딩 에이전트를 쓴다.</a:t>
            </a:r>
          </a:p>
          <a:p>
            <a:pPr lvl="0"/>
            <a:r>
              <a:rPr lang="ko-KR" sz="1200"/>
              <a:t>이 한 과제가 과정의 유일한 과제다. 실습도 같은 과제를 수강생이 직접 만든다(course-design.md의 「사례·실습 방향」).</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10분, 파일 15개, 테스트 3개는 교육용 가정이다. 파일 수는 code/s01/order/와 같다.</a:t>
            </a:r>
          </a:p>
          <a:p>
            <a:pPr lvl="0"/>
            <a:r>
              <a:rPr lang="ko-KR" sz="1200"/>
              <a:t>수강생에게 묻는다: 여기서 받아들여도 되는가? 무엇을 확인하면 되는가?</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번째 줄은 결제 직전에 펜 판매가가 1,200원으로 오른 경우다.</a:t>
            </a:r>
          </a:p>
          <a:p>
            <a:pPr lvl="0"/>
            <a:r>
              <a:rPr lang="ko-KR" sz="1200"/>
              <a:t>세 번째 줄에서 에이전트는 공통 전제에 없는 취소됨 상태까지 만들어 썼다. 취소는 이번 과제의 범위 밖이다.</a:t>
            </a:r>
          </a:p>
          <a:p>
            <a:pPr lvl="0"/>
            <a:r>
              <a:rPr lang="ko-KR" sz="1200"/>
              <a:t>에이전트가 고른 답은 다른 쇼핑몰에서는 맞을 수 있는 답이다. 그래서 코드만 봐서는 틀린 줄 모른다.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전체 코드는 code/s01/order/다. 첫 시도의 결제 코드는 LLM이 흔히 내는 추측을 모아 만든 교육용 예이며, 수강생의 LLM은 다른 곳을 추측할 수 있다.</a:t>
            </a:r>
          </a:p>
          <a:p>
            <a:pPr lvl="0"/>
            <a:r>
              <a:rPr lang="ko-KR" sz="1200"/>
              <a:t>코드가 보장하는 것: 승인되면 결제완료가 된다. 보장하지 않는 것: 주문 금액, 배송 요청의 시점, 거절 뒤 상태 — 모두 업무 규칙이 정해야 하는 것이다.</a:t>
            </a:r>
          </a:p>
          <a:p>
            <a:pPr lvl="0"/>
            <a:r>
              <a:rPr lang="ko-KR" sz="1200"/>
              <a:t>코드의 영문 이름은 설계 이름이다. 본문에서는 결제한다·주문 금액처럼 한글로 부른다.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테스트는 code/s01/order/test/의 AgentWrittenTest와 PayTest다. javac로 컴파일하고 각각 실행해 결과를 대조한다.</a:t>
            </a:r>
          </a:p>
          <a:p>
            <a:pPr lvl="0"/>
            <a:r>
              <a:rPr lang="ko-KR" sz="1200"/>
              <a:t>테스트가 통과했다는 것은 "코드가 기대값대로 동작한다"는 뜻이다. 기대값이 추측이면 통과도 추측을 확인했을 뿐이다. 기대값을 업무 규칙에서 정하는 일은 "세션 03. 요구와 수용 기준"이 다룬다.</a:t>
            </a:r>
          </a:p>
          <a:p>
            <a:pPr lvl="0"/>
            <a:r>
              <a:rPr lang="ko-KR" sz="1200"/>
              <a:t>인용 근거: [Hassan 외 2026] 원문 확인. AI4SE는 "AI for SE"의 약어로 원문의 표기다. 저자들은 같은 대목에서 코딩 도구의 "Write unit tests for this function" 화면을 그 관행의 예로 든다.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Frederick P. Brooks Jr., "No Silver Bullet — Essence and Accidents of Software Engineering", 1986 원문 확인. 두 인용은 원문에서 이어지는 대목이다 — 앞이 본질·우연의 정의, 뒤가 어려운 부분이 무엇인지다.</a:t>
            </a:r>
          </a:p>
          <a:p>
            <a:pPr lvl="0"/>
            <a:r>
              <a:rPr lang="ko-KR" sz="1200"/>
              <a:t>둘째 인용의 원문은 "…testing the fidelity of the representation."으로 이어지며, PDF의 쪽 번호가 문장 중간에 있어 앞부분까지 인용했다.</a:t>
            </a:r>
          </a:p>
          <a:p>
            <a:pPr lvl="0"/>
            <a:r>
              <a:rPr lang="ko-KR" sz="1200"/>
              <a:t>본질적 복잡성을 업무 규칙에, 우연적 복잡성을 업무 규칙을 코드로 옮기는 일에 대응시킨 것은 이 과정의 해석이다. Brooks의 문장이 아니다.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[Hassan 외 2026] 원문 확인. 저자들은 사람의 의도 표현 능력이 한계이므로 모델이 얼마나 강력해져도 이 문제가 남는다고 적는다.</a:t>
            </a:r>
          </a:p>
          <a:p>
            <a:pPr lvl="0"/>
            <a:r>
              <a:rPr lang="ko-KR" sz="1200"/>
              <a:t>5가지의 묶음은 이 과정의 정리다. 각 행의 잃는 쪽은 뒤 세션이 하나씩 받는다 — 복잡도는 "세션 10. 비용과 평가", 같은 가정은 "세션 09. 검사 파이프라인", 연쇄 확산은 "세션 08. 위임"이다.</a:t>
            </a:r>
          </a:p>
          <a:p>
            <a:pPr lvl="0"/>
            <a:r>
              <a:rPr lang="ko-KR" sz="1200"/>
              <a:t>얻는 쪽만 세는 판단은 「상황이 정하는 접근」에서 다시 짚는다.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6원칙은 이 과정이 요구·모델·아키텍처·설계·검사로 다루는 축과 짝이 맞는다. 수강생이 자기 팀에서 이미 하는 일을 먼저 말하게 한 뒤 오른쪽 열을 짚는다.</a:t>
            </a:r>
          </a:p>
          <a:p>
            <a:pPr lvl="0"/>
            <a:r>
              <a:rPr lang="ko-KR" sz="1200"/>
              <a:t>왼쪽 열은 특정 원전의 분류가 아니라 분야에 통용되는 원칙을 이 과정의 말로 적은 것이다. 응집도·결합도의 정의는 "세션 06. 아키텍처"가, 요구의 검증은 "세션 03. 요구와 수용 기준"이 맡는다.</a:t>
            </a:r>
          </a:p>
          <a:p>
            <a:pPr lvl="0"/>
            <a:r>
              <a:rPr lang="ko-KR" sz="1200"/>
              <a:t>기대값을 코드에서 끌어오면 안 되는 이유는 「자기 코드를 확인한 테스트」에서 이미 보였다. 여기서는 원칙 쪽에서 다시 짚는다.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Brooks(1986)·[Gao 외 2025] 원문 확인. [Gao 외 2025]는 요구공학자가 응용 도메인을 이해해야 정확하고 완전한 요구를 뽑는다는 대목에서 이 한계를 든다.</a:t>
            </a:r>
          </a:p>
          <a:p>
            <a:pPr lvl="0"/>
            <a:r>
              <a:rPr lang="ko-KR" sz="1200"/>
              <a:t>"LLM은 임의의 답을 선택한다"는 이 과정의 설명이다. 출처로 인용하지 않는다.</a:t>
            </a:r>
          </a:p>
          <a:p>
            <a:pPr lvl="0"/>
            <a:r>
              <a:rPr lang="ko-KR" sz="1200"/>
              <a:t>업무 규칙을 용어집·개념과 관계로 명시하는 일은 "세션 04. 정적 모델", 사건과 상태로 명시하는 일은 "세션 05. 동적 모델"이 다룬다.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[Hassan 외 2026] 원문 확인. SE 1.0·2.0·3.0의 구분과 "AI-native"라는 이름이 이 논문의 것이다. 저자들은 사람과 AI의 공생 관계를 말한 뒤 이 문장을 둔다.</a:t>
            </a:r>
          </a:p>
          <a:p>
            <a:pPr lvl="0"/>
            <a:r>
              <a:rPr lang="ko-KR" sz="1200"/>
              <a:t>표의 3행은 그 구분과 같은 자리를 구분한다. 다만 작업의 단위·검증 열로 다시 쓴 것과 활동별 역할 구분은 이 과정이 그 위에 둔 것이다(course-design.md의 「원전 적용 결정」).</a:t>
            </a:r>
          </a:p>
          <a:p>
            <a:pPr lvl="0"/>
            <a:r>
              <a:rPr lang="ko-KR" sz="1200"/>
              <a:t>저자들이 제안한 기술 스택과 코드를 사람에게 감춘다는 입장은 쓰지 않는다. 이 과정은 사람이 코드와 증거를 읽어 판정한다.</a:t>
            </a:r>
          </a:p>
          <a:p>
            <a:pPr lvl="0"/>
            <a:r>
              <a:rPr lang="ko-KR" sz="1200"/>
              <a:t>AI 지원의 병목은 사람의 리뷰다. 형태의 선택은 "세션 02. LLM이라는 도구"에서 다룬다.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시도는 AI-native의 겉모양(에이전트가 과제를 실행)만 있고, 사람의 몫(업무 규칙·맥락·검사·확인)이 빠졌다.</a:t>
            </a:r>
          </a:p>
          <a:p>
            <a:pPr lvl="0"/>
            <a:r>
              <a:rPr lang="ko-KR" sz="1200"/>
              <a:t>검사를 파이프라인으로 모아 에이전트가 스스로 돌리게 하는 일은 "세션 09. 검사 파이프라인"이 다룬다.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Kent Beck, "Augmented Coding: Beyond the Vibes"(2025), Simon Willison, "Vibe engineering"(2025) 원문 확인. Willison 인용은 문장에서 핵심 구만 옮긴 것이다. 바이브 엔지니어링이라는 이름은 그 글의 제목이며 인용문이 아니라 본문이 밝힌다.</a:t>
            </a:r>
          </a:p>
          <a:p>
            <a:pPr lvl="0"/>
            <a:r>
              <a:rPr lang="ko-KR" sz="1200"/>
              <a:t>바이브 코딩은 개발 방식의 한 구분이 아니라 규율이 없는 사용이다. AI 지원과 AI-native 어디에서나 생길 수 있다.</a:t>
            </a:r>
          </a:p>
          <a:p>
            <a:pPr lvl="0"/>
            <a:r>
              <a:rPr lang="ko-KR" sz="1200"/>
              <a:t>"이미 하는 방식을 빠르게 한다"는 이 과정의 설명이다. 출처로 인용하지 않는다.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Ryan Lopopolo, "Harness engineering: leveraging Codex in an agent-first world", OpenAI, 2026 영문 원문 확인(openai.com이 한국어판으로 자동 전환하므로 영문판으로 확인).</a:t>
            </a:r>
          </a:p>
          <a:p>
            <a:pPr lvl="0"/>
            <a:r>
              <a:rPr lang="ko-KR" sz="1200"/>
              <a:t>한 팀(OpenAI 내부 제품)의 경험이다. 글도 비슷한 투자 없이 일반화된다고 가정하지 말라고 밝힌다.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역할 구분은 이 과정의 구분이다(course-design.md의 「과정 전체 판단 원칙」).</a:t>
            </a:r>
          </a:p>
          <a:p>
            <a:pPr lvl="0"/>
            <a:r>
              <a:rPr lang="ko-KR" sz="1200"/>
              <a:t>표의 행 하나하나가 뒤 세션의 주제다. 각 행의 결정을 무엇으로 확인하는지는 「06. 결정과 검사의 짝」에서 이어 본다.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결정과 검증을 층마다 짝지어 보는 틀은 V 모델의 대응 관계다. 단계의 순서가 아니라 대응 관계로만 쓴다(course-design.md의 「원전 적용 결정」).</a:t>
            </a:r>
          </a:p>
          <a:p>
            <a:pPr lvl="0"/>
            <a:r>
              <a:rPr lang="ko-KR" sz="1200"/>
              <a:t>짝의 왼쪽은 "세션 03. 요구와 수용 기준"부터 "세션 07. 설계 — 책임과 협력"까지가, 오른쪽을 파이프라인으로 모으는 일은 "세션 09. 검사 파이프라인"이 맡는다.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왼쪽 열은 「리뷰에서 나온 문제 3가지」의 첫 열과 같은 세 문제다. 같은 사건을 결정의 공백으로 다시 읽는다.</a:t>
            </a:r>
          </a:p>
          <a:p>
            <a:pPr lvl="0"/>
            <a:r>
              <a:rPr lang="ko-KR" sz="1200"/>
              <a:t>단가의 확정 시점은 정적 모델의 속성 결정이고, 배송 요청의 순서와 거절 뒤의 전이는 동적 모델의 결정이다. 수강생에게 먼저 어느 쪽인지 묻는다.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[Hassan 외 2026] 원문 확인. 두 인용은 같은 절의 대목이다 — 앞이 의도 중심이라는 전환, 뒤가 그래서 코드가 무엇이 되는지다. 저자들은 소프트웨어 공학이 늘 의도를 품질 있는 소프트웨어로 바꾸는 일이었다고 적은 뒤 뒤 문장을 둔다.</a:t>
            </a:r>
          </a:p>
          <a:p>
            <a:pPr lvl="0"/>
            <a:r>
              <a:rPr lang="ko-KR" sz="1200"/>
              <a:t>의도는 활동을 없애지 않는다. 표의 첫 행이 의도이고 나머지 다섯이 그것을 실현하는 활동이다. 의도만 말하면 된다는 뜻으로 읽히지 않게 한다.</a:t>
            </a:r>
          </a:p>
          <a:p>
            <a:pPr lvl="0"/>
            <a:r>
              <a:rPr lang="ko-KR" sz="1200"/>
              <a:t>「배포와 운영」은 표에 자리만 두고 범위 밖이다. 파이프라인 구성과 배포 전략은 DevOps가 맡는다.</a:t>
            </a:r>
          </a:p>
          <a:p>
            <a:pPr lvl="0"/>
            <a:r>
              <a:rPr lang="ko-KR" sz="1200"/>
              <a:t>활동 이름은 분야에 통용되는 생명주기 활동을 이 과정의 말로 적은 것이다. 특정 원전의 단계 구분이 아니며 폭포수의 순서로 읽히지 않게 한다.</a:t>
            </a:r>
          </a:p>
          <a:p>
            <a:pPr lvl="0"/>
            <a:r>
              <a:rPr lang="ko-KR" sz="1200"/>
              <a:t>이 6단계를 결정하는 영역과 증거를 받는 영역으로 다시 그린 것이 세션 끝의 「과정의 지도」다.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OpenAI, "A practical guide to building agents"(2025) 원문 확인(받은 PDF).</a:t>
            </a:r>
          </a:p>
          <a:p>
            <a:pPr lvl="0"/>
            <a:r>
              <a:rPr lang="ko-KR" sz="1200"/>
              <a:t>두 인용은 원문에서 이어지는 대목이다. 앞 문장이 에이전트가 맞는 자리를 말하고(결정적·규칙 기반 방식이 잘 듣지 않는 일), 그 뒤에 복잡한 판단·유지하기 어려운 규칙·비정형 데이터 셋을 기준으로 든 다음 뒤 문장이 온다. 그래서 Otherwise는 그 기준을 충족하지 못한 경우다 — 충족하면 에이전트가 맞고, 충족하지 못하면 결정적 해법으로 충분하다. 인용 하나만 보이면 "이 기준"이 무엇인지 알 수 없어 거꾸로 읽히므로 둘을 함께 둔다.</a:t>
            </a:r>
          </a:p>
          <a:p>
            <a:pPr lvl="0"/>
            <a:r>
              <a:rPr lang="ko-KR" sz="1200"/>
              <a:t>포매터·정적 검사·빌드 도구는 뒤에서 에이전트의 결과를 확인하는 검사가 된다.</a:t>
            </a:r>
          </a:p>
          <a:p>
            <a:pPr lvl="0"/>
            <a:r>
              <a:rPr lang="ko-KR" sz="1200"/>
              <a:t>작업 특성으로 활용 방식(수작업·대화형 보조·워크플로·에이전트)을 고르는 일은 "세션 02. LLM이라는 도구"가 맡는다. 비용 대비 효과의 판단은 "세션 10. 비용과 평가"다.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[Hassan 외 2026] 원문 확인. 저자들은 한 코딩 도구를 다룬 선행 연구를 들어 단기 속도는 올랐지만 복잡도와 정적 분석 경고가 지속해 쌓여 장기 생산성을 해쳤다고 적는다. 인용은 그 대목에 대한 저자들의 평가다.</a:t>
            </a:r>
          </a:p>
          <a:p>
            <a:pPr lvl="0"/>
            <a:r>
              <a:rPr lang="ko-KR" sz="1200"/>
              <a:t>수강생에게 자기 프로젝트가 5가지 중 어디인지 먼저 말하게 한다. 2가지 이상에 걸치면 가장 보수적인 쪽을 고른다.</a:t>
            </a:r>
          </a:p>
          <a:p>
            <a:pPr lvl="0"/>
            <a:r>
              <a:rPr lang="ko-KR" sz="1200"/>
              <a:t>5가지 상황의 묶음은 이 과정의 정리다. 표의 접근은 시작 지점이며 고정된 처방이 아니다.</a:t>
            </a:r>
          </a:p>
          <a:p>
            <a:pPr lvl="0"/>
            <a:r>
              <a:rPr lang="ko-KR" sz="1200"/>
              <a:t>단기·중기·장기의 비용과 평가 세트로 계속 맡길지 판단하는 일은 "세션 10. 비용과 평가"가 맡는다. 여기서는 시작 지점을 고르는 것까지다.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왼쪽 다섯은 "세션 03. 요구와 수용 기준"~"세션 07. 설계 — 책임과 협력", 오른쪽 넷은 "세션 08. 위임"~"세션 11. 종합 실행"이다. 이 세션과 "세션 02. LLM이라는 도구"는 두 쪽에 들어가기 전의 준비다.</a:t>
            </a:r>
          </a:p>
          <a:p>
            <a:pPr lvl="0"/>
            <a:r>
              <a:rPr lang="ko-KR" sz="1200"/>
              <a:t>산출물을 모두 만들어야 하는 것은 아니다. 무엇을 넣을지는 도메인·기술 복잡성이 정하며, 그 판단은 "세션 03. 요구와 수용 기준"에서 경로와 함께 다룬다.</a:t>
            </a:r>
          </a:p>
          <a:p>
            <a:pPr lvl="0"/>
            <a:r>
              <a:rPr lang="ko-KR" sz="1200"/>
              <a:t>강의 내용의 마지막 장이다. 맡길 작업과 상황까지 본 뒤에 남은 세션의 순서를 보이고 실습 환경으로 넘어간다.</a:t>
            </a:r>
          </a:p>
          <a:p>
            <a:pPr lvl="0"/>
            <a:r>
              <a:rPr lang="ko-KR" sz="1200"/>
              <a:t>세션의 순서는 학습 순서다. 실제로는 작업 단위마다 결정과 검사를 함께 수행한다 — 「결정마다 검사가 있다」에서 이미 보였으므로 본문에서는 뺐다.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수강생 환경은 Windows를 전제한다. macOS 수강생은 Homebrew로 같은 셋을 설치한다 — brew install openjdk@21 gradle git.</a:t>
            </a:r>
          </a:p>
          <a:p>
            <a:pPr lvl="0"/>
            <a:r>
              <a:rPr lang="ko-KR" sz="1200"/>
              <a:t>저장소는 각자 자기 PC에 두고 혼자 관리한다. 원격 저장소·push·공유는 필요 없고, 결과 공유는 화면이나 파일로 한다.</a:t>
            </a:r>
          </a:p>
          <a:p>
            <a:pPr lvl="0"/>
            <a:r>
              <a:rPr lang="ko-KR" sz="1200"/>
              <a:t>저장소 이름 order-system과 폴더 docs는 과정이 정한 이름이다. 다른 이름을 써도 되지만 한 사람이 한 저장소를 끝까지 쓰는 것이 중요하다. 첫날에 필요한 것은 에이전트와 Git뿐이고 JDK·Gradle은 둘째 날에 쓴다.</a:t>
            </a:r>
          </a:p>
          <a:p>
            <a:pPr lvl="0"/>
            <a:r>
              <a:rPr lang="ko-KR" sz="1200"/>
              <a:t>winget은 Windows 10·11의 App Installer에 들어 있다. 없거나 사내 정책으로 막히면 제품 설치 파일로 설치한다.</a:t>
            </a:r>
          </a:p>
          <a:p>
            <a:pPr lvl="0"/>
            <a:r>
              <a:rPr lang="ko-KR" sz="1200"/>
              <a:t>Claude Code의 설치 절차와 설치 명령·버전은 2026-10 기준이다. 과정을 열 때마다 제품 안내로 확인한다.</a:t>
            </a:r>
          </a:p>
          <a:p>
            <a:pPr lvl="0"/>
            <a:r>
              <a:rPr lang="ko-KR" sz="1200"/>
              <a:t>Gradle은 실습 8에서 gradle init으로 래퍼를 만든 뒤에는 저장소의 gradlew로 실행된다. 처음 한 번만 설치가 필요하다.</a:t>
            </a:r>
          </a:p>
          <a:p>
            <a:pPr lvl="0"/>
            <a:r>
              <a:rPr lang="ko-KR" sz="1200"/>
              <a:t>저장소 초기화와 빌드 구성의 지시문은 "세션 08. 위임"이, 검사 명령을 만드는 일은 "세션 09. 검사 파이프라인"이 안내한다.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강의가 업무 규칙 3가지를 이미 보였으므로, 실습은 규칙을 새로 만드는 것이 아니라 요청 한 줄에서 정해야 할 조건을 뽑는 연습이다. 수강생이 그 셋 말고 무엇을 더 찾아내는지가 결과물의 차이다.</a:t>
            </a:r>
          </a:p>
          <a:p>
            <a:pPr lvl="0"/>
            <a:r>
              <a:rPr lang="ko-KR" sz="1200"/>
              <a:t>수강생이 다르게 정해도 된다. 다른 결정이 뒤 실습의 모델·설계·검사를 어떻게 바꾸는지 보는 것이 이 실습 흐름의 목적이다.</a:t>
            </a:r>
          </a:p>
          <a:p>
            <a:pPr lvl="0"/>
            <a:r>
              <a:rPr lang="ko-KR" sz="1200"/>
              <a:t>Claude Team 등에서 renderer 없이 수행한다. ②~④에는 실제 받은 질문의 답과 검토 의견을 붙인다. 기본 문구만 기계적으로 반복하지 않는다.</a:t>
            </a:r>
          </a:p>
          <a:p>
            <a:pPr lvl="0"/>
            <a:r>
              <a:rPr lang="ko-KR" sz="1200"/>
              <a:t>⑤ 이후에도 MD의 누락·불일치·폐기한 안의 재등장을 검토하고 보완·재생성을 반복한다. 최종 MD를 저장소의 docs에 두면 뒤 실습이 파일 이름으로 그것을 가리킬 수 있고, 실습 8에서 에이전트가 읽을 맥락이 된다.</a:t>
            </a:r>
          </a:p>
          <a:p>
            <a:pPr lvl="0"/>
            <a:r>
              <a:rPr lang="ko-KR" sz="1200"/>
              <a:t>①~⑤는 대화 횟수가 아니라 단계다. 받은 답을 읽고 필요한 만큼 추가·반복한다.</a:t>
            </a:r>
          </a:p>
          <a:p>
            <a:pPr lvl="0"/>
            <a:r>
              <a:rPr lang="ko-KR" sz="1200"/>
              <a:t>강사 예시의 실제 대화는 code/s01/exercise-conversation/order/다.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시도의 실패는 AI의 실패가 아니라 사람의 몫(업무 규칙·검사)이 빠진 것이다. 다음 세션부터 그 몫을 하나씩 채운다.</a:t>
            </a:r>
          </a:p>
          <a:p>
            <a:pPr lvl="0"/>
            <a:r>
              <a:rPr lang="ko-KR" sz="1200"/>
              <a:t>모델에서 보완된 것 — 없다. 업무 규칙 3가지가 리뷰에서 처음 드러났을 뿐이며, 모델로 적는 일은 뒤 세션이 한다.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실제 실행 기록은 code/s01/exercise-conversation/order/다. prompt-01.txt~prompt-05.txt가 실제 입력, claude-response-01.md~-05.md가 실제 응답이며 이 답은 ⑤ 응답의 전문이다. 제목 단계만 Session Source로 바꿨다.</a:t>
            </a:r>
          </a:p>
          <a:p>
            <a:pPr lvl="0"/>
            <a:r>
              <a:rPr lang="ko-KR" sz="1200"/>
              <a:t>③에서 사람이 업무 규칙 3가지를 답하자 LLM이 그 결정에서 새로 생기는 빈칸을 찾아냈다 — 결제대기에 기한이 없다는 것, 판매가가 내려간 경우, 승인 뒤 재고가 없는 경우다. 요청 한 줄에는 없던 질문이다.</a:t>
            </a:r>
          </a:p>
          <a:p>
            <a:pPr lvl="0"/>
            <a:r>
              <a:rPr lang="ko-KR" sz="1200"/>
              <a:t>④의 응답이 "미정은 아무것도 적지 않는다는 뜻이 아니다"를 분명히 했다. 미정에는 현재 머무는 상태와 구현이 임의로 하지 말아야 할 것을 함께 적는다. 이 구분이 "세션 03. 요구와 수용 기준"의 범위·제외·미정으로 이어진다.</a:t>
            </a:r>
          </a:p>
          <a:p>
            <a:pPr lvl="0"/>
            <a:r>
              <a:rPr lang="ko-KR" sz="1200"/>
              <a:t>미정 G(승인 뒤 배송 요청 실패)는 강의의 미정과 같은 항목이다. 강의에서는 "세션 11. 종합 실행"에서 거두어진다.</a:t>
            </a:r>
          </a:p>
          <a:p>
            <a:pPr lvl="0"/>
            <a:r>
              <a:rPr lang="ko-KR" sz="1200"/>
              <a:t>수강생의 답은 이와 다를 수 있다. 업무 규칙을 다르게 정하면 미정의 목록도 달라진다.</a:t>
            </a:r>
          </a:p>
          <a:p>
            <a:pPr lvl="0"/>
            <a:r>
              <a:rPr lang="ko-KR" sz="1200"/>
              <a:t>실제로 실행한 프롬프트 — 아래가 이 별첨을 만든 입력 그대로다. 본문 실습의 ①~⑤는 수강생용 문구이고, 실제 실행은 앞 응답을 읽고 답한 내용이 붙어 길다. 원본은 code/s01/exercise-conversation/order/prompt-NN.txt다.</a:t>
            </a:r>
          </a:p>
          <a:p>
            <a:pPr lvl="1"/>
            <a:r>
              <a:rPr lang="ko-KR" sz="1200"/>
              <a:t>1. 실제 프롬프트 1</a:t>
            </a:r>
          </a:p>
          <a:p>
            <a:pPr lvl="0">
              <a:buNone/>
            </a:pPr>
            <a:r>
              <a:rPr lang="ko-KR" sz="1200"/>
              <a:t>    쇼핑몰의 주문 시스템을 빈 저장소에서 새로 만든다. 업무 담당자의 요청은 "장바구니에 담은 상품을 결제하면 주문이 되고 배송이 시작되게 해 주세요" 한 줄이다. 요구사항을 정의하기 전에 내가 정해야 할 업무 조건은 무엇인가?</a:t>
            </a:r>
          </a:p>
          <a:p>
            <a:pPr lvl="1"/>
            <a:r>
              <a:rPr lang="ko-KR" sz="1200"/>
              <a:t>2. 실제 프롬프트 2</a:t>
            </a:r>
          </a:p>
          <a:p>
            <a:pPr lvl="0">
              <a:buNone/>
            </a:pPr>
            <a:r>
              <a:rPr lang="ko-KR" sz="1200"/>
              <a:t>    고객이 배송지를 정하고 카드로 결제까지 마치는 범위만 다루자. 상품·결제·배송은 이미 운영 중인 외부 시스템이며 화면과 기술 설계는 제외해라.</a:t>
            </a:r>
          </a:p>
          <a:p>
            <a:pPr lvl="1"/>
            <a:r>
              <a:rPr lang="ko-KR" sz="1200"/>
              <a:t>3. 실제 프롬프트 3</a:t>
            </a:r>
          </a:p>
          <a:p>
            <a:pPr lvl="0">
              <a:buNone/>
            </a:pPr>
            <a:r>
              <a:rPr lang="ko-KR" sz="1200"/>
              <a:t>    [앞선 질문에 대한 답]</a:t>
            </a:r>
          </a:p>
          <a:p>
            <a:pPr lvl="2"/>
            <a:r>
              <a:rPr lang="ko-KR" sz="1200"/>
              <a:t>주문 금액: 주문이 생길 때의 판매가로 정한다. 결제 직전에 판매가가 올라도 주문할 때의 금액을 청구한다.</a:t>
            </a:r>
          </a:p>
          <a:p>
            <a:pPr lvl="2"/>
            <a:r>
              <a:rPr lang="ko-KR" sz="1200"/>
              <a:t>배송 요청: 결제가 승인된 뒤에만 배송 시스템에 요청한다.</a:t>
            </a:r>
          </a:p>
          <a:p>
            <a:pPr lvl="2"/>
            <a:r>
              <a:rPr lang="ko-KR" sz="1200"/>
              <a:t>결제 거절: 주문을 취소하지 않고 결제대기로 남겨 다른 카드로 다시 결제할 수 있게 한다.</a:t>
            </a:r>
          </a:p>
          <a:p>
            <a:pPr lvl="2"/>
            <a:r>
              <a:rPr lang="ko-KR" sz="1200"/>
              <a:t>주문 성립: 카드 승인이 완료된 때다. 재고는 상품 시스템의 판단을 그대로 따른다.</a:t>
            </a:r>
          </a:p>
          <a:p>
            <a:pPr lvl="2"/>
            <a:r>
              <a:rPr lang="ko-KR" sz="1200"/>
              <a:t>주문자와 수령인은 같은 사람으로 본다. 카드 외 결제 수단은 이번 범위가 아니다.</a:t>
            </a:r>
          </a:p>
          <a:p>
            <a:pPr lvl="0">
              <a:buNone/>
            </a:pPr>
            <a:r>
              <a:rPr lang="ko-KR" sz="1200"/>
              <a:t>    [추가 질문·수정 요청] 이 셋 말고 요구사항을 쓰기 전에 꼭 정해야 할 조건이 더 있는가? 필요한 이유도 설명해라. 지금 정하지 않아도 요구사항을 쓸 수 있는 것은 그렇다고 말해라.</a:t>
            </a:r>
          </a:p>
          <a:p>
            <a:pPr lvl="1"/>
            <a:r>
              <a:rPr lang="ko-KR" sz="1200"/>
              <a:t>4. 실제 프롬프트 4</a:t>
            </a:r>
          </a:p>
          <a:p>
            <a:pPr lvl="0">
              <a:buNone/>
            </a:pPr>
            <a:r>
              <a:rPr lang="ko-KR" sz="1200"/>
              <a:t>    [앞선 질문에 대한 답]</a:t>
            </a:r>
          </a:p>
          <a:p>
            <a:pPr lvl="2"/>
            <a:r>
              <a:rPr lang="ko-KR" sz="1200"/>
              <a:t>A 주문이 생기는 때: 고객이 배송지를 확정하면 주문이 생기고 그때의 판매가로 주문 금액이 정해진다. 상태는 결제대기다.</a:t>
            </a:r>
          </a:p>
          <a:p>
            <a:pPr lvl="2"/>
            <a:r>
              <a:rPr lang="ko-KR" sz="1200"/>
              <a:t>C 주문 금액: 항목의 단가 x 수량의 합이다. 배송비와 쿠폰·할인은 이번 범위가 아니다. 판매가가 내려가도 주문할 때의 금액을 유지한다.</a:t>
            </a:r>
          </a:p>
          <a:p>
            <a:pPr lvl="2"/>
            <a:r>
              <a:rPr lang="ko-KR" sz="1200"/>
              <a:t>D 결제대기 중 변경: 상품·수량·배송지를 바꿀 수 없다. 바꾸려면 새로 주문한다.</a:t>
            </a:r>
          </a:p>
          <a:p>
            <a:pPr lvl="2"/>
            <a:r>
              <a:rPr lang="ko-KR" sz="1200"/>
              <a:t>E 재고: 상품 시스템의 판단을 그대로 따르고, 주문 쪽에서 재고를 따로 확보하지 않는다.</a:t>
            </a:r>
          </a:p>
          <a:p>
            <a:pPr lvl="0">
              <a:buNone/>
            </a:pPr>
            <a:r>
              <a:rPr lang="ko-KR" sz="1200"/>
              <a:t>    [추가 질문·수정 요청] 다음 4가지는 이번 범위에서 정하지 않고 미정으로 남긴다. 미정인 채로 요구사항을 쓸 수 있는지, 미정이라서 구현에서 임의로 정해지면 안 되는 것이 무엇인지 한 줄씩 밝혀라.</a:t>
            </a:r>
          </a:p>
          <a:p>
            <a:pPr lvl="2"/>
            <a:r>
              <a:rPr lang="ko-KR" sz="1200"/>
              <a:t>B 결제대기의 기한과 기한이 지난 뒤의 처리</a:t>
            </a:r>
          </a:p>
          <a:p>
            <a:pPr lvl="2"/>
            <a:r>
              <a:rPr lang="ko-KR" sz="1200"/>
              <a:t>E 승인 뒤 재고가 없는 경우의 처리</a:t>
            </a:r>
          </a:p>
          <a:p>
            <a:pPr lvl="2"/>
            <a:r>
              <a:rPr lang="ko-KR" sz="1200"/>
              <a:t>F 결제 시스템의 응답을 확인할 수 없는 경우의 처리(확정할 수 없는 응답을 실패로 바꾸지 않는다는 것만 정했다)</a:t>
            </a:r>
          </a:p>
          <a:p>
            <a:pPr lvl="2"/>
            <a:r>
              <a:rPr lang="ko-KR" sz="1200"/>
              <a:t>G 결제가 승인된 뒤 배송 요청이 실패한 경우의 처리</a:t>
            </a:r>
          </a:p>
          <a:p>
            <a:pPr lvl="1"/>
            <a:r>
              <a:rPr lang="ko-KR" sz="1200"/>
              <a:t>5. 실제 프롬프트 5</a:t>
            </a:r>
          </a:p>
          <a:p>
            <a:pPr lvl="0">
              <a:buNone/>
            </a:pPr>
            <a:r>
              <a:rPr lang="ko-KR" sz="1200"/>
              <a:t>    지금까지 합의한 "주문한다"의 업무 조건을 다음 실습에 사용할 간결한 Markdown 파일로 생성해라. 외부 시스템은 연계 대상으로 두고 화면·기술 설계와 결제 이후 운영은 제외해라. 모든 경우를 나열하지 말고 합의한 조건과 요구사항 작성에 꼭 필요한 미정 사항만 해당 위치에 표시해라. 새 결정을 추가하거나 폐기한 안을 되살리지 마라. 요구사항 정의서나 기능 목록을 미리 작성하지 말고 업무 조건과 미정 사항만 짧은 항목으로 정리해라. 항목마다 한 줄로 쓰고 도식 없이 한 쪽 분량으로 줄여라.</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mermaidImage4" Type="http://schemas.openxmlformats.org/officeDocument/2006/relationships/image" Target="../media/mermaid-4.png"/><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mermaidImage5" Type="http://schemas.openxmlformats.org/officeDocument/2006/relationships/image" Target="../media/mermaid-5.png"/><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lang="ko-KR" altLang="en-US" sz="2400" dirty="0">
                <a:latin typeface="맑은 고딕"/>
                <a:ea typeface="맑은 고딕"/>
                <a:cs typeface="맑은 고딕"/>
              </a:rPr>
              <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
            </a:r>
            <a:r>
              <a:rPr kumimoji="1" lang="en-US" altLang="ko-KR" sz="1400" dirty="0"/>
              <a:t/>
            </a:r>
            <a:r>
              <a:rPr kumimoji="1" lang="ko-KR" altLang="en-US" sz="1400" dirty="0"/>
              <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lgn="l">
              <a:spcAft>
                <a:spcPts val="600"/>
              </a:spcAft>
              <a:buNone/>
            </a:pP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400" b="0" dirty="0">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r>
              <a:rPr sz="1800" b="1" dirty="0" err="1">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400" b="1" dirty="0">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800" b="1" dirty="0">
                <a:latin typeface="맑은 고딕"/>
                <a:ea typeface="맑은 고딕"/>
                <a:cs typeface="맑은 고딕"/>
              </a:rPr>
              <a:t/>
            </a:r>
            <a:r>
              <a:rPr sz="1800" b="1" dirty="0" err="1">
                <a:latin typeface="맑은 고딕"/>
                <a:ea typeface="맑은 고딕"/>
                <a:cs typeface="맑은 고딕"/>
              </a:rPr>
              <a:t/>
            </a:r>
            <a:r>
              <a:rPr sz="1800" b="0" dirty="0" err="1">
                <a:latin typeface="맑은 고딕"/>
                <a:ea typeface="맑은 고딕"/>
                <a:cs typeface="맑은 고딕"/>
              </a:rPr>
              <a:t/>
            </a:r>
            <a:r>
              <a:rPr sz="1800" b="0" dirty="0">
                <a:latin typeface="맑은 고딕"/>
                <a:ea typeface="맑은 고딕"/>
                <a:cs typeface="맑은 고딕"/>
              </a:rPr>
              <a:t/>
            </a:r>
            <a:endParaRPr lang="en-US" sz="1800" b="1" dirty="0">
              <a:latin typeface="맑은 고딕"/>
              <a:ea typeface="맑은 고딕"/>
              <a:cs typeface="맑은 고딕"/>
            </a:endParaRPr>
          </a:p>
          <a:p>
            <a:pPr lvl="1">
              <a:spcAft>
                <a:spcPts val="600"/>
              </a:spcAft>
            </a:pPr>
            <a:r>
              <a:rPr sz="1800" b="1" dirty="0">
                <a:latin typeface="맑은 고딕"/>
                <a:ea typeface="맑은 고딕"/>
                <a:cs typeface="맑은 고딕"/>
              </a:rPr>
              <a:t/>
            </a:r>
            <a:r>
              <a:rPr sz="1800" b="0" dirty="0">
                <a:latin typeface="맑은 고딕"/>
                <a:ea typeface="맑은 고딕"/>
                <a:cs typeface="맑은 고딕"/>
              </a:rPr>
              <a:t/>
            </a:r>
            <a:endParaRPr lang="en-US" sz="1800" b="0" dirty="0">
              <a:latin typeface="맑은 고딕"/>
              <a:ea typeface="맑은 고딕"/>
              <a:cs typeface="맑은 고딕"/>
            </a:endParaRPr>
          </a:p>
          <a:p>
            <a:pPr lvl="2">
              <a:spcAft>
                <a:spcPts val="600"/>
              </a:spcAft>
            </a:pP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sz="1200" b="0" dirty="0">
                <a:latin typeface="맑은 고딕"/>
                <a:ea typeface="맑은 고딕"/>
                <a:cs typeface="맑은 고딕"/>
              </a:rPr>
              <a:t/>
            </a:r>
            <a:r>
              <a:rPr sz="1200" b="0" dirty="0" err="1">
                <a:latin typeface="맑은 고딕"/>
                <a:ea typeface="맑은 고딕"/>
                <a:cs typeface="맑은 고딕"/>
              </a:rPr>
              <a:t/>
            </a:r>
            <a:r>
              <a:rPr sz="1200"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sz="1200"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lang="en-US" altLang="ko-KR" dirty="0">
                <a:latin typeface="맑은 고딕"/>
                <a:ea typeface="맑은 고딕"/>
                <a:cs typeface="맑은 고딕"/>
              </a:rPr>
              <a:t/>
            </a:r>
            <a:endParaRPr lang="en-US" b="1" dirty="0">
              <a:latin typeface="맑은 고딕"/>
              <a:ea typeface="맑은 고딕"/>
              <a:cs typeface="맑은 고딕"/>
            </a:endParaRPr>
          </a:p>
          <a:p>
            <a:pPr lvl="1">
              <a:spcAft>
                <a:spcPts val="600"/>
              </a:spcAft>
            </a:pPr>
            <a:r>
              <a:rPr b="1" dirty="0">
                <a:latin typeface="맑은 고딕"/>
                <a:ea typeface="맑은 고딕"/>
                <a:cs typeface="맑은 고딕"/>
              </a:rPr>
              <a:t/>
            </a:r>
            <a:r>
              <a:rPr b="0" dirty="0">
                <a:latin typeface="맑은 고딕"/>
                <a:ea typeface="맑은 고딕"/>
                <a:cs typeface="맑은 고딕"/>
              </a:rPr>
              <a:t/>
            </a:r>
            <a:endParaRPr lang="en-US" b="0" dirty="0">
              <a:latin typeface="맑은 고딕"/>
              <a:ea typeface="맑은 고딕"/>
              <a:cs typeface="맑은 고딕"/>
            </a:endParaRPr>
          </a:p>
          <a:p>
            <a:pPr lvl="2">
              <a:spcAft>
                <a:spcPts val="600"/>
              </a:spcAft>
            </a:pP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sz="1200" b="0" dirty="0">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sz="1200"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endParaRPr lang="en-US" b="1" dirty="0">
              <a:latin typeface="맑은 고딕"/>
              <a:ea typeface="맑은 고딕"/>
              <a:cs typeface="맑은 고딕"/>
            </a:endParaRPr>
          </a:p>
          <a:p>
            <a:pPr lvl="1">
              <a:spcAft>
                <a:spcPts val="600"/>
              </a:spcAft>
            </a:pPr>
            <a:r>
              <a:rPr b="1" dirty="0">
                <a:latin typeface="맑은 고딕"/>
                <a:ea typeface="맑은 고딕"/>
                <a:cs typeface="맑은 고딕"/>
              </a:rPr>
              <a:t/>
            </a:r>
            <a:r>
              <a:rPr b="0" dirty="0">
                <a:latin typeface="맑은 고딕"/>
                <a:ea typeface="맑은 고딕"/>
                <a:cs typeface="맑은 고딕"/>
              </a:rPr>
              <a:t/>
            </a:r>
            <a:endParaRPr lang="en-US" b="0" dirty="0">
              <a:latin typeface="맑은 고딕"/>
              <a:ea typeface="맑은 고딕"/>
              <a:cs typeface="맑은 고딕"/>
            </a:endParaRPr>
          </a:p>
          <a:p>
            <a:pPr lvl="2">
              <a:spcAft>
                <a:spcPts val="600"/>
              </a:spcAft>
            </a:pP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sz="1200" b="0" dirty="0">
                <a:latin typeface="맑은 고딕"/>
                <a:ea typeface="맑은 고딕"/>
                <a:cs typeface="맑은 고딕"/>
              </a:rPr>
              <a:t/>
            </a:r>
            <a:r>
              <a:rPr sz="1200" b="0" dirty="0" err="1">
                <a:latin typeface="맑은 고딕"/>
                <a:ea typeface="맑은 고딕"/>
                <a:cs typeface="맑은 고딕"/>
              </a:rPr>
              <a:t/>
            </a:r>
            <a:r>
              <a:rPr sz="1200"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r>
              <a:rPr b="0" dirty="0" err="1">
                <a:latin typeface="맑은 고딕"/>
                <a:ea typeface="맑은 고딕"/>
                <a:cs typeface="맑은 고딕"/>
              </a:rPr>
              <a:t/>
            </a:r>
            <a:r>
              <a:rPr b="0" dirty="0">
                <a:latin typeface="맑은 고딕"/>
                <a:ea typeface="맑은 고딕"/>
                <a:cs typeface="맑은 고딕"/>
              </a:rPr>
              <a:t/>
            </a:r>
          </a:p>
          <a:p>
            <a:pPr>
              <a:spcAft>
                <a:spcPts val="600"/>
              </a:spcAft>
              <a:buNone/>
            </a:pPr>
            <a:endParaRPr lang="en-US" sz="1600" b="0" dirty="0">
              <a:latin typeface="맑은 고딕"/>
              <a:ea typeface="맑은 고딕"/>
              <a:cs typeface="맑은 고딕"/>
            </a:endParaRPr>
          </a:p>
          <a:p>
            <a:pPr>
              <a:spcAft>
                <a:spcPts val="600"/>
              </a:spcAft>
              <a:buNone/>
            </a:pP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1" dirty="0">
                <a:latin typeface="맑은 고딕"/>
                <a:ea typeface="맑은 고딕"/>
                <a:cs typeface="맑은 고딕"/>
              </a:rPr>
              <a:t/>
            </a:r>
            <a:r>
              <a:rPr sz="1600" b="1" dirty="0" err="1">
                <a:latin typeface="맑은 고딕"/>
                <a:ea typeface="맑은 고딕"/>
                <a:cs typeface="맑은 고딕"/>
              </a:rPr>
              <a:t/>
            </a:r>
            <a:r>
              <a:rPr sz="1600" b="1" dirty="0">
                <a:latin typeface="맑은 고딕"/>
                <a:ea typeface="맑은 고딕"/>
                <a:cs typeface="맑은 고딕"/>
              </a:rPr>
              <a:t/>
            </a:r>
            <a:r>
              <a:rPr sz="1600" b="1" dirty="0" err="1">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r>
              <a:rPr sz="1600" b="0" dirty="0" err="1">
                <a:latin typeface="맑은 고딕"/>
                <a:ea typeface="맑은 고딕"/>
                <a:cs typeface="맑은 고딕"/>
              </a:rPr>
              <a:t/>
            </a:r>
            <a:r>
              <a:rPr sz="1600" b="0" dirty="0">
                <a:latin typeface="맑은 고딕"/>
                <a:ea typeface="맑은 고딕"/>
                <a:cs typeface="맑은 고딕"/>
              </a:rPr>
              <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651760"/>
            <a:ext cx="8412480" cy="1280160"/>
          </a:xfrm>
          <a:prstGeom prst="rect">
            <a:avLst/>
          </a:prstGeom>
          <a:noFill/>
        </p:spPr>
        <p:txBody>
          <a:bodyPr wrap="square">
            <a:spAutoFit/>
          </a:bodyPr>
          <a:lstStyle/>
          <a:p>
            <a:pPr algn="ctr"/>
            <a:r>
              <a:rPr sz="4000" b="1">
                <a:solidFill>
                  <a:srgbClr val="000000"/>
                </a:solidFill>
                <a:latin typeface="맑은 고딕"/>
                <a:ea typeface="맑은 고딕"/>
              </a:rPr>
              <a:t>AI-native SW 공학</a:t>
            </a:r>
          </a:p>
        </p:txBody>
      </p:sp>
    </p:spTree>
    <p:extLst>
      <p:ext uri="{BB962C8B-B14F-4D97-AF65-F5344CB8AC3E}">
        <p14:creationId xmlns:p14="http://schemas.microsoft.com/office/powerpoint/2010/main" val="3555436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AI-native SW 공학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사람의 일과 AI의 일</a:t>
            </a:r>
          </a:p>
          <a:p>
            <a:pPr lvl="1" marL="355600" indent="0">
              <a:spcBef>
                <a:spcPts val="300"/>
              </a:spcBef>
              <a:spcAft>
                <a:spcPts val="300"/>
              </a:spcAft>
              <a:buNone/>
            </a:pPr>
            <a:r>
              <a:rPr sz="1600" b="0">
                <a:solidFill>
                  <a:srgbClr val="000000"/>
                </a:solidFill>
                <a:latin typeface="맑은 고딕"/>
                <a:ea typeface="맑은 고딕"/>
              </a:rPr>
              <a:t>02. LLM이라는 도구</a:t>
            </a:r>
          </a:p>
          <a:p>
            <a:pPr lvl="1" marL="355600" indent="0">
              <a:spcBef>
                <a:spcPts val="300"/>
              </a:spcBef>
              <a:spcAft>
                <a:spcPts val="300"/>
              </a:spcAft>
              <a:buNone/>
            </a:pPr>
            <a:r>
              <a:rPr sz="1600" b="0">
                <a:solidFill>
                  <a:srgbClr val="000000"/>
                </a:solidFill>
                <a:latin typeface="맑은 고딕"/>
                <a:ea typeface="맑은 고딕"/>
              </a:rPr>
              <a:t>03. 요구와 수용 기준</a:t>
            </a:r>
          </a:p>
          <a:p>
            <a:pPr lvl="1" marL="355600" indent="0">
              <a:spcBef>
                <a:spcPts val="300"/>
              </a:spcBef>
              <a:spcAft>
                <a:spcPts val="300"/>
              </a:spcAft>
              <a:buNone/>
            </a:pPr>
            <a:r>
              <a:rPr sz="1600" b="0">
                <a:solidFill>
                  <a:srgbClr val="000000"/>
                </a:solidFill>
                <a:latin typeface="맑은 고딕"/>
                <a:ea typeface="맑은 고딕"/>
              </a:rPr>
              <a:t>04. 정적 모델</a:t>
            </a:r>
          </a:p>
          <a:p>
            <a:pPr lvl="1" marL="355600" indent="0">
              <a:spcBef>
                <a:spcPts val="300"/>
              </a:spcBef>
              <a:spcAft>
                <a:spcPts val="300"/>
              </a:spcAft>
              <a:buNone/>
            </a:pPr>
            <a:r>
              <a:rPr sz="1600" b="0">
                <a:solidFill>
                  <a:srgbClr val="000000"/>
                </a:solidFill>
                <a:latin typeface="맑은 고딕"/>
                <a:ea typeface="맑은 고딕"/>
              </a:rPr>
              <a:t>05. 동적 모델</a:t>
            </a:r>
          </a:p>
          <a:p>
            <a:pPr lvl="1" marL="355600" indent="0">
              <a:spcBef>
                <a:spcPts val="300"/>
              </a:spcBef>
              <a:spcAft>
                <a:spcPts val="300"/>
              </a:spcAft>
              <a:buNone/>
            </a:pPr>
            <a:r>
              <a:rPr sz="1600" b="0">
                <a:solidFill>
                  <a:srgbClr val="000000"/>
                </a:solidFill>
                <a:latin typeface="맑은 고딕"/>
                <a:ea typeface="맑은 고딕"/>
              </a:rPr>
              <a:t>06. 아키텍처</a:t>
            </a:r>
          </a:p>
          <a:p>
            <a:pPr lvl="1" marL="355600" indent="0">
              <a:spcBef>
                <a:spcPts val="300"/>
              </a:spcBef>
              <a:spcAft>
                <a:spcPts val="300"/>
              </a:spcAft>
              <a:buNone/>
            </a:pPr>
            <a:r>
              <a:rPr sz="1600" b="0">
                <a:solidFill>
                  <a:srgbClr val="000000"/>
                </a:solidFill>
                <a:latin typeface="맑은 고딕"/>
                <a:ea typeface="맑은 고딕"/>
              </a:rPr>
              <a:t>07. 설계 —</a:t>
            </a:r>
            <a:r>
              <a:rPr sz="1400" b="0">
                <a:solidFill>
                  <a:srgbClr val="000000"/>
                </a:solidFill>
                <a:latin typeface="맑은 고딕"/>
                <a:ea typeface="맑은 고딕"/>
              </a:rPr>
              <a:t> 책임과 협력</a:t>
            </a:r>
          </a:p>
          <a:p>
            <a:pPr lvl="1" marL="355600" indent="0">
              <a:spcBef>
                <a:spcPts val="300"/>
              </a:spcBef>
              <a:spcAft>
                <a:spcPts val="300"/>
              </a:spcAft>
              <a:buNone/>
            </a:pPr>
            <a:r>
              <a:rPr sz="1600" b="0">
                <a:solidFill>
                  <a:srgbClr val="000000"/>
                </a:solidFill>
                <a:latin typeface="맑은 고딕"/>
                <a:ea typeface="맑은 고딕"/>
              </a:rPr>
              <a:t>08. 위임</a:t>
            </a:r>
          </a:p>
          <a:p>
            <a:pPr lvl="1" marL="355600" indent="0">
              <a:spcBef>
                <a:spcPts val="300"/>
              </a:spcBef>
              <a:spcAft>
                <a:spcPts val="300"/>
              </a:spcAft>
              <a:buNone/>
            </a:pPr>
            <a:r>
              <a:rPr sz="1600" b="0">
                <a:solidFill>
                  <a:srgbClr val="000000"/>
                </a:solidFill>
                <a:latin typeface="맑은 고딕"/>
                <a:ea typeface="맑은 고딕"/>
              </a:rPr>
              <a:t>09. 검사 파이프라인</a:t>
            </a:r>
          </a:p>
          <a:p>
            <a:pPr lvl="1" marL="355600" indent="0">
              <a:spcBef>
                <a:spcPts val="300"/>
              </a:spcBef>
              <a:spcAft>
                <a:spcPts val="300"/>
              </a:spcAft>
              <a:buNone/>
            </a:pPr>
            <a:r>
              <a:rPr sz="1600" b="0">
                <a:solidFill>
                  <a:srgbClr val="000000"/>
                </a:solidFill>
                <a:latin typeface="맑은 고딕"/>
                <a:ea typeface="맑은 고딕"/>
              </a:rPr>
              <a:t>10. 비용과 평가</a:t>
            </a:r>
          </a:p>
          <a:p>
            <a:pPr lvl="1" marL="355600" indent="0">
              <a:spcBef>
                <a:spcPts val="300"/>
              </a:spcBef>
              <a:spcAft>
                <a:spcPts val="300"/>
              </a:spcAft>
              <a:buNone/>
            </a:pPr>
            <a:r>
              <a:rPr sz="1600" b="0">
                <a:solidFill>
                  <a:srgbClr val="000000"/>
                </a:solidFill>
                <a:latin typeface="맑은 고딕"/>
                <a:ea typeface="맑은 고딕"/>
              </a:rPr>
              <a:t>11. 종합 실행</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01. 사람의 일과 AI의 일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첫 시도</a:t>
            </a:r>
          </a:p>
          <a:p>
            <a:pPr lvl="1" marL="355600" indent="0">
              <a:spcBef>
                <a:spcPts val="300"/>
              </a:spcBef>
              <a:spcAft>
                <a:spcPts val="300"/>
              </a:spcAft>
              <a:buNone/>
            </a:pPr>
            <a:r>
              <a:rPr sz="1600" b="0">
                <a:solidFill>
                  <a:srgbClr val="000000"/>
                </a:solidFill>
                <a:latin typeface="맑은 고딕"/>
                <a:ea typeface="맑은 고딕"/>
              </a:rPr>
              <a:t>03. AI가 바꾼 것과 바꾸지 못한 것</a:t>
            </a:r>
          </a:p>
          <a:p>
            <a:pPr lvl="1" marL="355600" indent="0">
              <a:spcBef>
                <a:spcPts val="300"/>
              </a:spcBef>
              <a:spcAft>
                <a:spcPts val="300"/>
              </a:spcAft>
              <a:buNone/>
            </a:pPr>
            <a:r>
              <a:rPr sz="1600" b="0">
                <a:solidFill>
                  <a:srgbClr val="000000"/>
                </a:solidFill>
                <a:latin typeface="맑은 고딕"/>
                <a:ea typeface="맑은 고딕"/>
              </a:rPr>
              <a:t>04. 개발 방식의 구분</a:t>
            </a:r>
          </a:p>
          <a:p>
            <a:pPr lvl="1" marL="355600" indent="0">
              <a:spcBef>
                <a:spcPts val="300"/>
              </a:spcBef>
              <a:spcAft>
                <a:spcPts val="300"/>
              </a:spcAft>
              <a:buNone/>
            </a:pPr>
            <a:r>
              <a:rPr sz="1600" b="0">
                <a:solidFill>
                  <a:srgbClr val="000000"/>
                </a:solidFill>
                <a:latin typeface="맑은 고딕"/>
                <a:ea typeface="맑은 고딕"/>
              </a:rPr>
              <a:t>05. 사람과 AI가 하는 일</a:t>
            </a:r>
          </a:p>
          <a:p>
            <a:pPr lvl="1" marL="355600" indent="0">
              <a:spcBef>
                <a:spcPts val="300"/>
              </a:spcBef>
              <a:spcAft>
                <a:spcPts val="300"/>
              </a:spcAft>
              <a:buNone/>
            </a:pPr>
            <a:r>
              <a:rPr sz="1600" b="0">
                <a:solidFill>
                  <a:srgbClr val="000000"/>
                </a:solidFill>
                <a:latin typeface="맑은 고딕"/>
                <a:ea typeface="맑은 고딕"/>
              </a:rPr>
              <a:t>06. 결정과 검사의 짝</a:t>
            </a:r>
          </a:p>
          <a:p>
            <a:pPr lvl="1" marL="355600" indent="0">
              <a:spcBef>
                <a:spcPts val="300"/>
              </a:spcBef>
              <a:spcAft>
                <a:spcPts val="300"/>
              </a:spcAft>
              <a:buNone/>
            </a:pPr>
            <a:r>
              <a:rPr sz="1600" b="0">
                <a:solidFill>
                  <a:srgbClr val="000000"/>
                </a:solidFill>
                <a:latin typeface="맑은 고딕"/>
                <a:ea typeface="맑은 고딕"/>
              </a:rPr>
              <a:t>07. 맡길 작업과 맡기지 않을 작업</a:t>
            </a:r>
          </a:p>
          <a:p>
            <a:pPr lvl="1" marL="355600" indent="0">
              <a:spcBef>
                <a:spcPts val="300"/>
              </a:spcBef>
              <a:spcAft>
                <a:spcPts val="300"/>
              </a:spcAft>
              <a:buNone/>
            </a:pPr>
            <a:r>
              <a:rPr sz="1600" b="0">
                <a:solidFill>
                  <a:srgbClr val="000000"/>
                </a:solidFill>
                <a:latin typeface="맑은 고딕"/>
                <a:ea typeface="맑은 고딕"/>
              </a:rPr>
              <a:t>08. 실습 환경 준비</a:t>
            </a:r>
          </a:p>
          <a:p>
            <a:pPr lvl="1" marL="355600" indent="0">
              <a:spcBef>
                <a:spcPts val="300"/>
              </a:spcBef>
              <a:spcAft>
                <a:spcPts val="300"/>
              </a:spcAft>
              <a:buNone/>
            </a:pPr>
            <a:r>
              <a:rPr sz="1600" b="0">
                <a:solidFill>
                  <a:srgbClr val="000000"/>
                </a:solidFill>
                <a:latin typeface="맑은 고딕"/>
                <a:ea typeface="맑은 고딕"/>
              </a:rPr>
              <a:t>09. 실습 1 —</a:t>
            </a:r>
            <a:r>
              <a:rPr sz="1400" b="0">
                <a:solidFill>
                  <a:srgbClr val="000000"/>
                </a:solidFill>
                <a:latin typeface="맑은 고딕"/>
                <a:ea typeface="맑은 고딕"/>
              </a:rPr>
              <a:t> 업무 조건 확인</a:t>
            </a:r>
          </a:p>
          <a:p>
            <a:pPr lvl="1" marL="355600" indent="0">
              <a:spcBef>
                <a:spcPts val="300"/>
              </a:spcBef>
              <a:spcAft>
                <a:spcPts val="300"/>
              </a:spcAft>
              <a:buNone/>
            </a:pPr>
            <a:r>
              <a:rPr sz="1600" b="0">
                <a:solidFill>
                  <a:srgbClr val="000000"/>
                </a:solidFill>
                <a:latin typeface="맑은 고딕"/>
                <a:ea typeface="맑은 고딕"/>
              </a:rPr>
              <a:t>10.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AI는 코드를 만드는 비용을 크게 줄인다. 그러나 </a:t>
            </a:r>
            <a:r>
              <a:rPr sz="1800" b="1">
                <a:solidFill>
                  <a:srgbClr val="000000"/>
                </a:solidFill>
                <a:latin typeface="맑은 고딕"/>
                <a:ea typeface="맑은 고딕"/>
              </a:rPr>
              <a:t>무엇을 만들지와 무엇이 옳은 결과인지</a:t>
            </a:r>
            <a:r>
              <a:rPr sz="1800" b="0">
                <a:solidFill>
                  <a:srgbClr val="000000"/>
                </a:solidFill>
                <a:latin typeface="맑은 고딕"/>
                <a:ea typeface="맑은 고딕"/>
              </a:rPr>
              <a:t>는 여전히 사람이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AI가 SW 공학에서 </a:t>
            </a:r>
            <a:r>
              <a:rPr sz="1800" b="1">
                <a:solidFill>
                  <a:srgbClr val="000000"/>
                </a:solidFill>
                <a:latin typeface="맑은 고딕"/>
                <a:ea typeface="맑은 고딕"/>
              </a:rPr>
              <a:t>바꾼 것과 바꾸지 못한 것</a:t>
            </a:r>
            <a:r>
              <a:rPr sz="1800" b="0">
                <a:solidFill>
                  <a:srgbClr val="000000"/>
                </a:solidFill>
                <a:latin typeface="맑은 고딕"/>
                <a:ea typeface="맑은 고딕"/>
              </a:rPr>
              <a:t>을 본질적·우연적 복잡성으로 설명한다.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달라지는 5가지</a:t>
            </a:r>
            <a:r>
              <a:rPr sz="1800" b="0">
                <a:solidFill>
                  <a:srgbClr val="000000"/>
                </a:solidFill>
                <a:latin typeface="맑은 고딕"/>
                <a:ea typeface="맑은 고딕"/>
              </a:rPr>
              <a:t>와 </a:t>
            </a:r>
            <a:r>
              <a:rPr sz="1800" b="1">
                <a:solidFill>
                  <a:srgbClr val="000000"/>
                </a:solidFill>
                <a:latin typeface="맑은 고딕"/>
                <a:ea typeface="맑은 고딕"/>
              </a:rPr>
              <a:t>변하지 않는 공학 원칙</a:t>
            </a:r>
            <a:r>
              <a:rPr sz="1800" b="0">
                <a:solidFill>
                  <a:srgbClr val="000000"/>
                </a:solidFill>
                <a:latin typeface="맑은 고딕"/>
                <a:ea typeface="맑은 고딕"/>
              </a:rPr>
              <a:t>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a:t>
            </a:r>
            <a:r>
              <a:rPr sz="1800" b="0">
                <a:solidFill>
                  <a:srgbClr val="000000"/>
                </a:solidFill>
                <a:latin typeface="맑은 고딕"/>
                <a:ea typeface="맑은 고딕"/>
              </a:rPr>
              <a:t>은 도메인 지식이며 주어지지 않으면 LLM이 추측으로 채운다는 것을 코드와 테스트로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LLM 이전·AI 지원·AI-native</a:t>
            </a:r>
            <a:r>
              <a:rPr sz="1800" b="0">
                <a:solidFill>
                  <a:srgbClr val="000000"/>
                </a:solidFill>
                <a:latin typeface="맑은 고딕"/>
                <a:ea typeface="맑은 고딕"/>
              </a:rPr>
              <a:t> 개발을 구분하고, 규율이 없는 사용과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공학 활동마다 </a:t>
            </a:r>
            <a:r>
              <a:rPr sz="1800" b="1">
                <a:solidFill>
                  <a:srgbClr val="000000"/>
                </a:solidFill>
                <a:latin typeface="맑은 고딕"/>
                <a:ea typeface="맑은 고딕"/>
              </a:rPr>
              <a:t>사람이 결정할 것과 AI가 지원할 것</a:t>
            </a:r>
            <a:r>
              <a:rPr sz="1800" b="0">
                <a:solidFill>
                  <a:srgbClr val="000000"/>
                </a:solidFill>
                <a:latin typeface="맑은 고딕"/>
                <a:ea typeface="맑은 고딕"/>
              </a:rPr>
              <a:t>을 나눈다.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사람이 내린 결정마다 그 결정을 확인하는 </a:t>
            </a:r>
            <a:r>
              <a:rPr sz="1800" b="1">
                <a:solidFill>
                  <a:srgbClr val="000000"/>
                </a:solidFill>
                <a:latin typeface="맑은 고딕"/>
                <a:ea typeface="맑은 고딕"/>
              </a:rPr>
              <a:t>검사가 짝으로</a:t>
            </a:r>
            <a:r>
              <a:rPr sz="1800" b="0">
                <a:solidFill>
                  <a:srgbClr val="000000"/>
                </a:solidFill>
                <a:latin typeface="맑은 고딕"/>
                <a:ea typeface="맑은 고딕"/>
              </a:rPr>
              <a:t> 있어야 하는 이유를 말한다.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프로젝트가 </a:t>
            </a:r>
            <a:r>
              <a:rPr sz="1800" b="1">
                <a:solidFill>
                  <a:srgbClr val="000000"/>
                </a:solidFill>
                <a:latin typeface="맑은 고딕"/>
                <a:ea typeface="맑은 고딕"/>
              </a:rPr>
              <a:t>어떤 상황인지</a:t>
            </a:r>
            <a:r>
              <a:rPr sz="1800" b="0">
                <a:solidFill>
                  <a:srgbClr val="000000"/>
                </a:solidFill>
                <a:latin typeface="맑은 고딕"/>
                <a:ea typeface="맑은 고딕"/>
              </a:rPr>
              <a:t> 판단해 접근법을 선택하고, AI에게 </a:t>
            </a:r>
            <a:r>
              <a:rPr sz="1800" b="1">
                <a:solidFill>
                  <a:srgbClr val="000000"/>
                </a:solidFill>
                <a:latin typeface="맑은 고딕"/>
                <a:ea typeface="맑은 고딕"/>
              </a:rPr>
              <a:t>맡기지 않을 작업</a:t>
            </a:r>
            <a:r>
              <a:rPr sz="1800" b="0">
                <a:solidFill>
                  <a:srgbClr val="000000"/>
                </a:solidFill>
                <a:latin typeface="맑은 고딕"/>
                <a:ea typeface="맑은 고딕"/>
              </a:rPr>
              <a:t>을 선택한다.</a:t>
            </a:r>
          </a:p>
        </p:txBody>
      </p:sp>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쇼핑몰의 주문 시스템</a:t>
            </a:r>
          </a:p>
          <a:p>
            <a:r>
              <a:rPr sz="1100" b="1">
                <a:solidFill>
                  <a:srgbClr val="000000"/>
                </a:solidFill>
                <a:latin typeface="맑은 고딕"/>
                <a:ea typeface="맑은 고딕"/>
              </a:rPr>
              <a:t>02. 첫 시도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생활용품 쇼핑몰에 주문 시스템을 </a:t>
            </a:r>
            <a:r>
              <a:rPr sz="1800" b="1">
                <a:solidFill>
                  <a:srgbClr val="000000"/>
                </a:solidFill>
                <a:latin typeface="맑은 고딕"/>
                <a:ea typeface="맑은 고딕"/>
              </a:rPr>
              <a:t>새로</a:t>
            </a:r>
            <a:r>
              <a:rPr sz="1800" b="0">
                <a:solidFill>
                  <a:srgbClr val="000000"/>
                </a:solidFill>
                <a:latin typeface="맑은 고딕"/>
                <a:ea typeface="맑은 고딕"/>
              </a:rPr>
              <a:t> 만든다. 첫 기능은 고객의 결제까지 포함하는 </a:t>
            </a:r>
            <a:r>
              <a:rPr sz="1800" b="1">
                <a:solidFill>
                  <a:srgbClr val="000000"/>
                </a:solidFill>
                <a:latin typeface="맑은 고딕"/>
                <a:ea typeface="맑은 고딕"/>
              </a:rPr>
              <a:t>"주문한다"</a:t>
            </a:r>
            <a:r>
              <a:rPr sz="1800" b="0">
                <a:solidFill>
                  <a:srgbClr val="000000"/>
                </a:solidFill>
                <a:latin typeface="맑은 고딕"/>
                <a:ea typeface="맑은 고딕"/>
              </a:rPr>
              <a:t>이다.</a:t>
            </a:r>
          </a:p>
          <a:p>
            <a:pPr lvl="2" marL="607060" indent="-251460">
              <a:spcBef>
                <a:spcPts val="600"/>
              </a:spcBef>
              <a:spcAft>
                <a:spcPts val="600"/>
              </a:spcAft>
              <a:buNone/>
            </a:pPr>
            <a:r>
              <a:rPr sz="1800" b="0">
                <a:solidFill>
                  <a:srgbClr val="000000"/>
                </a:solidFill>
                <a:latin typeface="맑은 고딕"/>
                <a:ea typeface="맑은 고딕"/>
              </a:rPr>
              <a:t>1. 고객이 펜 2개</a:t>
            </a:r>
            <a:r>
              <a:rPr sz="1400" b="0">
                <a:solidFill>
                  <a:srgbClr val="000000"/>
                </a:solidFill>
                <a:latin typeface="맑은 고딕"/>
                <a:ea typeface="맑은 고딕"/>
              </a:rPr>
              <a:t>(개당 1,000원)</a:t>
            </a:r>
            <a:r>
              <a:rPr sz="1800" b="0">
                <a:solidFill>
                  <a:srgbClr val="000000"/>
                </a:solidFill>
                <a:latin typeface="맑은 고딕"/>
                <a:ea typeface="맑은 고딕"/>
              </a:rPr>
              <a:t>를 장바구니에 담는다.</a:t>
            </a:r>
          </a:p>
          <a:p>
            <a:pPr lvl="2" marL="607060" indent="-251460">
              <a:spcBef>
                <a:spcPts val="600"/>
              </a:spcBef>
              <a:spcAft>
                <a:spcPts val="600"/>
              </a:spcAft>
              <a:buNone/>
            </a:pPr>
            <a:r>
              <a:rPr sz="1800" b="0">
                <a:solidFill>
                  <a:srgbClr val="000000"/>
                </a:solidFill>
                <a:latin typeface="맑은 고딕"/>
                <a:ea typeface="맑은 고딕"/>
              </a:rPr>
              <a:t>2. 배송지</a:t>
            </a:r>
            <a:r>
              <a:rPr sz="1400" b="0">
                <a:solidFill>
                  <a:srgbClr val="000000"/>
                </a:solidFill>
                <a:latin typeface="맑은 고딕"/>
                <a:ea typeface="맑은 고딕"/>
              </a:rPr>
              <a:t>(서울)</a:t>
            </a:r>
            <a:r>
              <a:rPr sz="1800" b="0">
                <a:solidFill>
                  <a:srgbClr val="000000"/>
                </a:solidFill>
                <a:latin typeface="맑은 고딕"/>
                <a:ea typeface="맑은 고딕"/>
              </a:rPr>
              <a:t>를 정하면 주문이 생기고 주문 금액 2,000원이 결정된다.</a:t>
            </a:r>
          </a:p>
          <a:p>
            <a:pPr lvl="2" marL="607060" indent="-251460">
              <a:spcBef>
                <a:spcPts val="600"/>
              </a:spcBef>
              <a:spcAft>
                <a:spcPts val="600"/>
              </a:spcAft>
              <a:buNone/>
            </a:pPr>
            <a:r>
              <a:rPr sz="1800" b="0">
                <a:solidFill>
                  <a:srgbClr val="000000"/>
                </a:solidFill>
                <a:latin typeface="맑은 고딕"/>
                <a:ea typeface="맑은 고딕"/>
              </a:rPr>
              <a:t>3. 카드 결제가 승인되면 결제완료가 되고 배송을 요청한다.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1259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시스템과 외부 시스템</a:t>
            </a:r>
          </a:p>
        </p:txBody>
      </p:sp>
      <p:pic>
        <p:nvPicPr>
          <p:cNvPr id="10" name="mermaid Diagram 1"/>
          <p:cNvPicPr>
            <a:picLocks noChangeAspect="1"/>
          </p:cNvPicPr>
          <p:nvPr/>
        </p:nvPicPr>
        <p:blipFill>
          <a:blip r:embed="mermaidImage1"/>
          <a:stretch>
            <a:fillRect/>
          </a:stretch>
        </p:blipFill>
        <p:spPr>
          <a:xfrm>
            <a:off x="2535721" y="3450336"/>
            <a:ext cx="4072558" cy="154503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요청 한 줄과 10분</a:t>
            </a:r>
          </a:p>
          <a:p>
            <a:r>
              <a:rPr sz="1100" b="1">
                <a:solidFill>
                  <a:srgbClr val="000000"/>
                </a:solidFill>
                <a:latin typeface="맑은 고딕"/>
                <a:ea typeface="맑은 고딕"/>
              </a:rPr>
              <a:t>02. 첫 시도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업무 담당자가 준 요청은 한 줄뿐이었다. 테크 리드가 그 한 줄을 그대로 코딩 에이전트에게 주자 </a:t>
            </a:r>
            <a:r>
              <a:rPr sz="1800" b="1">
                <a:solidFill>
                  <a:srgbClr val="000000"/>
                </a:solidFill>
                <a:latin typeface="맑은 고딕"/>
                <a:ea typeface="맑은 고딕"/>
              </a:rPr>
              <a:t>10분 만에</a:t>
            </a:r>
            <a:r>
              <a:rPr sz="1800" b="0">
                <a:solidFill>
                  <a:srgbClr val="000000"/>
                </a:solidFill>
                <a:latin typeface="맑은 고딕"/>
                <a:ea typeface="맑은 고딕"/>
              </a:rPr>
              <a:t> 코드와 테스트가 나왔다.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"장바구니에 담은 상품을 결제하면 주문이 되고 배송이 시작되게 해 주세요."</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에이전트가 자바 파일 15개와 테스트 3개를 생성했다</a:t>
            </a:r>
            <a:r>
              <a:rPr sz="1800" b="0">
                <a:solidFill>
                  <a:srgbClr val="000000"/>
                </a:solidFill>
                <a:latin typeface="맑은 고딕"/>
                <a:ea typeface="맑은 고딕"/>
              </a:rPr>
              <a:t> —</a:t>
            </a:r>
            <a:r>
              <a:rPr sz="1600" b="0">
                <a:solidFill>
                  <a:srgbClr val="000000"/>
                </a:solidFill>
                <a:latin typeface="맑은 고딕"/>
                <a:ea typeface="맑은 고딕"/>
              </a:rPr>
              <a:t> 테스트는 모두 통과했다.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데모도 성공했다</a:t>
            </a:r>
            <a:r>
              <a:rPr sz="1800" b="0">
                <a:solidFill>
                  <a:srgbClr val="000000"/>
                </a:solidFill>
                <a:latin typeface="맑은 고딕"/>
                <a:ea typeface="맑은 고딕"/>
              </a:rPr>
              <a:t> —</a:t>
            </a:r>
            <a:r>
              <a:rPr sz="1600" b="0">
                <a:solidFill>
                  <a:srgbClr val="000000"/>
                </a:solidFill>
                <a:latin typeface="맑은 고딕"/>
                <a:ea typeface="맑은 고딕"/>
              </a:rPr>
              <a:t> 펜 2개를 카드로 결제하자 주문이 결제완료가 되고 시스템이 배송을 요청했다.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팀은 "다 됐다"고 판단했다</a:t>
            </a:r>
            <a:r>
              <a:rPr sz="1800" b="0">
                <a:solidFill>
                  <a:srgbClr val="000000"/>
                </a:solidFill>
                <a:latin typeface="맑은 고딕"/>
                <a:ea typeface="맑은 고딕"/>
              </a:rPr>
              <a:t> —</a:t>
            </a:r>
            <a:r>
              <a:rPr sz="1600" b="0">
                <a:solidFill>
                  <a:srgbClr val="000000"/>
                </a:solidFill>
                <a:latin typeface="맑은 고딕"/>
                <a:ea typeface="맑은 고딕"/>
              </a:rPr>
              <a:t> 업무 담당자에게 리뷰를 요청했다.</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리뷰에서 나온 문제 3가지</a:t>
            </a:r>
          </a:p>
          <a:p>
            <a:r>
              <a:rPr sz="1100" b="1">
                <a:solidFill>
                  <a:srgbClr val="000000"/>
                </a:solidFill>
                <a:latin typeface="맑은 고딕"/>
                <a:ea typeface="맑은 고딕"/>
              </a:rPr>
              <a:t>02. 첫 시도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1152000"/>
        </p:xfrm>
        <a:graphic>
          <a:graphicData uri="http://schemas.openxmlformats.org/drawingml/2006/table">
            <a:tbl>
              <a:tblPr/>
              <a:tblGrid>
                <a:gridCol w="3106420"/>
                <a:gridCol w="2092960"/>
                <a:gridCol w="3106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고객과 회사가 겪는 일</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에이전트가 고른 것</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업무 담당자가 정한 업무 규칙</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2,000원에 주문한 고객에게 2,400원을 청구한다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결제할 때의 판매가로 계산</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주문할 때의 판매가로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돈을 받지 않은 주문이 배송 준비에 들어간다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승인 전에 배송 요청</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승인된 뒤에만 배송을 요청한다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결제가 거절된 고객이 다시 결제할 수 없다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거절되면 주문 취소</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결제대기로 남겨 다른 카드로 다시 결제한다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테스트는 모두 통과했지만, 업무 담당자가 결과에서 </a:t>
            </a:r>
            <a:r>
              <a:rPr sz="1800" b="1">
                <a:solidFill>
                  <a:srgbClr val="000000"/>
                </a:solidFill>
                <a:latin typeface="맑은 고딕"/>
                <a:ea typeface="맑은 고딕"/>
              </a:rPr>
              <a:t>3가지 문제를 발견했다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리뷰에서 나온 문제와 원인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3가지 모두 요청에 없던 업무 규칙이다</a:t>
            </a:r>
            <a:r>
              <a:rPr sz="1800" b="0">
                <a:solidFill>
                  <a:srgbClr val="000000"/>
                </a:solidFill>
                <a:latin typeface="맑은 고딕"/>
                <a:ea typeface="맑은 고딕"/>
              </a:rPr>
              <a:t> —</a:t>
            </a:r>
            <a:r>
              <a:rPr sz="1600" b="0">
                <a:solidFill>
                  <a:srgbClr val="000000"/>
                </a:solidFill>
                <a:latin typeface="맑은 고딕"/>
                <a:ea typeface="맑은 고딕"/>
              </a:rPr>
              <a:t> 주문 금액·배송 요청·결제 거절을 에이전트가 묻지 않고 임의로 선택했다.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추측으로 채운 코드 </a:t>
            </a:r>
            <a:r>
              <a:rPr sz="2000" b="1">
                <a:solidFill>
                  <a:srgbClr val="000000"/>
                </a:solidFill>
                <a:latin typeface="맑은 고딕"/>
                <a:ea typeface="맑은 고딕"/>
              </a:rPr>
              <a:t>(1/2)</a:t>
            </a:r>
          </a:p>
          <a:p>
            <a:r>
              <a:rPr sz="1100" b="1">
                <a:solidFill>
                  <a:srgbClr val="000000"/>
                </a:solidFill>
                <a:latin typeface="맑은 고딕"/>
                <a:ea typeface="맑은 고딕"/>
              </a:rPr>
              <a:t>02. 첫 시도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에이전트가 생성한 결제 코드는 요청에 없던 업무 규칙 3가지를 모두 </a:t>
            </a:r>
            <a:r>
              <a:rPr sz="1800" b="1">
                <a:solidFill>
                  <a:srgbClr val="000000"/>
                </a:solidFill>
                <a:latin typeface="맑은 고딕"/>
                <a:ea typeface="맑은 고딕"/>
              </a:rPr>
              <a:t>스스로 정했다</a:t>
            </a:r>
            <a:r>
              <a:rPr sz="1800" b="0">
                <a:solidFill>
                  <a:srgbClr val="000000"/>
                </a:solidFill>
                <a:latin typeface="맑은 고딕"/>
                <a:ea typeface="맑은 고딕"/>
              </a:rPr>
              <a:t>.</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주문 금액</a:t>
            </a:r>
            <a:r>
              <a:rPr sz="1800" b="0">
                <a:solidFill>
                  <a:srgbClr val="000000"/>
                </a:solidFill>
                <a:latin typeface="맑은 고딕"/>
                <a:ea typeface="맑은 고딕"/>
              </a:rPr>
              <a:t> —</a:t>
            </a:r>
            <a:r>
              <a:rPr sz="1600" b="0">
                <a:solidFill>
                  <a:srgbClr val="000000"/>
                </a:solidFill>
                <a:latin typeface="맑은 고딕"/>
                <a:ea typeface="맑은 고딕"/>
              </a:rPr>
              <a:t> 결제할 때 판매가를 다시 조회해 계산한다.</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배송 요청</a:t>
            </a:r>
            <a:r>
              <a:rPr sz="1800" b="0">
                <a:solidFill>
                  <a:srgbClr val="000000"/>
                </a:solidFill>
                <a:latin typeface="맑은 고딕"/>
                <a:ea typeface="맑은 고딕"/>
              </a:rPr>
              <a:t> —</a:t>
            </a:r>
            <a:r>
              <a:rPr sz="1600" b="0">
                <a:solidFill>
                  <a:srgbClr val="000000"/>
                </a:solidFill>
                <a:latin typeface="맑은 고딕"/>
                <a:ea typeface="맑은 고딕"/>
              </a:rPr>
              <a:t> 결제 승인을 요청하기 전에 배송을 요청한다.</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결제 거절</a:t>
            </a:r>
            <a:r>
              <a:rPr sz="1800" b="0">
                <a:solidFill>
                  <a:srgbClr val="000000"/>
                </a:solidFill>
                <a:latin typeface="맑은 고딕"/>
                <a:ea typeface="맑은 고딕"/>
              </a:rPr>
              <a:t> —</a:t>
            </a:r>
            <a:r>
              <a:rPr sz="1600" b="0">
                <a:solidFill>
                  <a:srgbClr val="000000"/>
                </a:solidFill>
                <a:latin typeface="맑은 고딕"/>
                <a:ea typeface="맑은 고딕"/>
              </a:rPr>
              <a:t> 거절되면 주문을 취소한다.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938272"/>
            <a:ext cx="8412480" cy="201168"/>
          </a:xfrm>
          <a:prstGeom prst="rect">
            <a:avLst/>
          </a:prstGeom>
          <a:noFill/>
        </p:spPr>
        <p:txBody>
          <a:bodyPr wrap="square">
            <a:spAutoFit/>
          </a:bodyPr>
          <a:lstStyle/>
          <a:p>
            <a:pPr algn="ctr"/>
            <a:r>
              <a:rPr sz="1400" b="1">
                <a:solidFill>
                  <a:srgbClr val="000000"/>
                </a:solidFill>
                <a:latin typeface="맑은 고딕"/>
                <a:ea typeface="맑은 고딕"/>
              </a:rPr>
              <a:t>첫 시도의 결제 시퀀스</a:t>
            </a:r>
          </a:p>
        </p:txBody>
      </p:sp>
      <p:pic>
        <p:nvPicPr>
          <p:cNvPr id="10" name="plantuml Diagram 1"/>
          <p:cNvPicPr>
            <a:picLocks noChangeAspect="1"/>
          </p:cNvPicPr>
          <p:nvPr/>
        </p:nvPicPr>
        <p:blipFill>
          <a:blip r:embed="plantumlImage1"/>
          <a:stretch>
            <a:fillRect/>
          </a:stretch>
        </p:blipFill>
        <p:spPr>
          <a:xfrm>
            <a:off x="1024548" y="3176016"/>
            <a:ext cx="7094904" cy="2794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추측으로 채운 코드 </a:t>
            </a:r>
            <a:r>
              <a:rPr sz="2000" b="1">
                <a:solidFill>
                  <a:srgbClr val="000000"/>
                </a:solidFill>
                <a:latin typeface="맑은 고딕"/>
                <a:ea typeface="맑은 고딕"/>
              </a:rPr>
              <a:t>(2/2)</a:t>
            </a:r>
          </a:p>
          <a:p>
            <a:r>
              <a:rPr sz="1100" b="1">
                <a:solidFill>
                  <a:srgbClr val="000000"/>
                </a:solidFill>
                <a:latin typeface="맑은 고딕"/>
                <a:ea typeface="맑은 고딕"/>
              </a:rPr>
              <a:t>02. 첫 시도</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960120"/>
            <a:ext cx="8412480" cy="29718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public class </a:t>
            </a:r>
            <a:r>
              <a:rPr sz="1000" b="1">
                <a:solidFill>
                  <a:srgbClr val="000000"/>
                </a:solidFill>
                <a:latin typeface="Consolas"/>
                <a:ea typeface="맑은 고딕"/>
              </a:rPr>
              <a:t>OrderService</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필드와 생성자 생략</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pay</a:t>
            </a:r>
            <a:r>
              <a:rPr sz="1000" b="0">
                <a:solidFill>
                  <a:srgbClr val="000000"/>
                </a:solidFill>
                <a:latin typeface="Consolas"/>
                <a:ea typeface="맑은 고딕"/>
              </a:rPr>
              <a:t>(OrderNumber number, PaymentMethod method) {</a:t>
            </a:r>
          </a:p>
          <a:p>
            <a:pPr marL="0" indent="0" algn="l">
              <a:lnSpc>
                <a:spcPts val="1150"/>
              </a:lnSpc>
              <a:spcBef>
                <a:spcPts val="0"/>
              </a:spcBef>
              <a:spcAft>
                <a:spcPts val="0"/>
              </a:spcAft>
              <a:buNone/>
            </a:pPr>
            <a:r>
              <a:rPr sz="1000" b="0">
                <a:solidFill>
                  <a:srgbClr val="000000"/>
                </a:solidFill>
                <a:latin typeface="Consolas"/>
                <a:ea typeface="맑은 고딕"/>
              </a:rPr>
              <a:t>        Order order = repository.findBy(number);</a:t>
            </a:r>
          </a:p>
          <a:p>
            <a:pPr marL="0" indent="0" algn="l">
              <a:lnSpc>
                <a:spcPts val="1150"/>
              </a:lnSpc>
              <a:spcBef>
                <a:spcPts val="0"/>
              </a:spcBef>
              <a:spcAft>
                <a:spcPts val="0"/>
              </a:spcAft>
              <a:buNone/>
            </a:pPr>
            <a:r>
              <a:rPr sz="1000" b="0">
                <a:solidFill>
                  <a:srgbClr val="000000"/>
                </a:solidFill>
                <a:latin typeface="Consolas"/>
                <a:ea typeface="맑은 고딕"/>
              </a:rPr>
              <a:t>        Money amount = Money.ZERO;</a:t>
            </a:r>
          </a:p>
          <a:p>
            <a:pPr marL="0" indent="0" algn="l">
              <a:lnSpc>
                <a:spcPts val="1150"/>
              </a:lnSpc>
              <a:spcBef>
                <a:spcPts val="0"/>
              </a:spcBef>
              <a:spcAft>
                <a:spcPts val="0"/>
              </a:spcAft>
              <a:buNone/>
            </a:pPr>
            <a:r>
              <a:rPr sz="1000" b="0">
                <a:solidFill>
                  <a:srgbClr val="000000"/>
                </a:solidFill>
                <a:latin typeface="Consolas"/>
                <a:ea typeface="맑은 고딕"/>
              </a:rPr>
              <a:t>        for (OrderItem item : order.items()) {</a:t>
            </a:r>
          </a:p>
          <a:p>
            <a:pPr marL="0" indent="0" algn="l">
              <a:lnSpc>
                <a:spcPts val="1150"/>
              </a:lnSpc>
              <a:spcBef>
                <a:spcPts val="0"/>
              </a:spcBef>
              <a:spcAft>
                <a:spcPts val="0"/>
              </a:spcAft>
              <a:buNone/>
            </a:pPr>
            <a:r>
              <a:rPr sz="1000" b="0">
                <a:solidFill>
                  <a:srgbClr val="000000"/>
                </a:solidFill>
                <a:latin typeface="Consolas"/>
                <a:ea typeface="맑은 고딕"/>
              </a:rPr>
              <a:t>            // ① 결제 시점의 판매가로 다시 계산</a:t>
            </a:r>
          </a:p>
          <a:p>
            <a:pPr marL="0" indent="0" algn="l">
              <a:lnSpc>
                <a:spcPts val="1150"/>
              </a:lnSpc>
              <a:spcBef>
                <a:spcPts val="0"/>
              </a:spcBef>
              <a:spcAft>
                <a:spcPts val="0"/>
              </a:spcAft>
              <a:buNone/>
            </a:pPr>
            <a:r>
              <a:rPr sz="1000" b="0">
                <a:solidFill>
                  <a:srgbClr val="000000"/>
                </a:solidFill>
                <a:latin typeface="Consolas"/>
                <a:ea typeface="맑은 고딕"/>
              </a:rPr>
              <a:t>            Money salePrice = productGateway.salePriceOf(item.productNumber());</a:t>
            </a:r>
          </a:p>
          <a:p>
            <a:pPr marL="0" indent="0" algn="l">
              <a:lnSpc>
                <a:spcPts val="1150"/>
              </a:lnSpc>
              <a:spcBef>
                <a:spcPts val="0"/>
              </a:spcBef>
              <a:spcAft>
                <a:spcPts val="0"/>
              </a:spcAft>
              <a:buNone/>
            </a:pPr>
            <a:r>
              <a:rPr sz="1000" b="0">
                <a:solidFill>
                  <a:srgbClr val="000000"/>
                </a:solidFill>
                <a:latin typeface="Consolas"/>
                <a:ea typeface="맑은 고딕"/>
              </a:rPr>
              <a:t>            amount = amount.plus(salePrice.times(item.quantity().value()));</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② 승인 전에 배송 요청</a:t>
            </a:r>
          </a:p>
          <a:p>
            <a:pPr marL="0" indent="0" algn="l">
              <a:lnSpc>
                <a:spcPts val="1150"/>
              </a:lnSpc>
              <a:spcBef>
                <a:spcPts val="0"/>
              </a:spcBef>
              <a:spcAft>
                <a:spcPts val="0"/>
              </a:spcAft>
              <a:buNone/>
            </a:pPr>
            <a:r>
              <a:rPr sz="1000" b="0">
                <a:solidFill>
                  <a:srgbClr val="000000"/>
                </a:solidFill>
                <a:latin typeface="Consolas"/>
                <a:ea typeface="맑은 고딕"/>
              </a:rPr>
              <a:t>        deliveryGateway.requestDelivery(number.value(), order.shippingAddress());</a:t>
            </a:r>
          </a:p>
          <a:p>
            <a:pPr marL="0" indent="0" algn="l">
              <a:lnSpc>
                <a:spcPts val="1150"/>
              </a:lnSpc>
              <a:spcBef>
                <a:spcPts val="0"/>
              </a:spcBef>
              <a:spcAft>
                <a:spcPts val="0"/>
              </a:spcAft>
              <a:buNone/>
            </a:pPr>
            <a:r>
              <a:rPr sz="1000" b="0">
                <a:solidFill>
                  <a:srgbClr val="000000"/>
                </a:solidFill>
                <a:latin typeface="Consolas"/>
                <a:ea typeface="맑은 고딕"/>
              </a:rPr>
              <a:t>        if (paymentGateway.requestApproval(amount, method)) order.onPaid();</a:t>
            </a:r>
          </a:p>
          <a:p>
            <a:pPr marL="0" indent="0" algn="l">
              <a:lnSpc>
                <a:spcPts val="1150"/>
              </a:lnSpc>
              <a:spcBef>
                <a:spcPts val="0"/>
              </a:spcBef>
              <a:spcAft>
                <a:spcPts val="0"/>
              </a:spcAft>
              <a:buNone/>
            </a:pPr>
            <a:r>
              <a:rPr sz="1000" b="0">
                <a:solidFill>
                  <a:srgbClr val="000000"/>
                </a:solidFill>
                <a:latin typeface="Consolas"/>
                <a:ea typeface="맑은 고딕"/>
              </a:rPr>
              <a:t>        else order.cancel();   // ③ 거절되면 취소됨</a:t>
            </a:r>
          </a:p>
          <a:p>
            <a:pPr marL="0" indent="0" algn="l">
              <a:lnSpc>
                <a:spcPts val="1150"/>
              </a:lnSpc>
              <a:spcBef>
                <a:spcPts val="0"/>
              </a:spcBef>
              <a:spcAft>
                <a:spcPts val="0"/>
              </a:spcAft>
              <a:buNone/>
            </a:pPr>
            <a:r>
              <a:rPr sz="1000" b="0">
                <a:solidFill>
                  <a:srgbClr val="000000"/>
                </a:solidFill>
                <a:latin typeface="Consolas"/>
                <a:ea typeface="맑은 고딕"/>
              </a:rPr>
              <a:t>        repository.save(order);</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a:t>
            </a:r>
          </a:p>
        </p:txBody>
      </p:sp>
    </p:spTree>
    <p:extLst>
      <p:ext uri="{BB962C8B-B14F-4D97-AF65-F5344CB8AC3E}">
        <p14:creationId xmlns:p14="http://schemas.microsoft.com/office/powerpoint/2010/main" val="3773351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자기 코드를 확인한 테스트</a:t>
            </a:r>
          </a:p>
          <a:p>
            <a:r>
              <a:rPr sz="1100" b="1">
                <a:solidFill>
                  <a:srgbClr val="000000"/>
                </a:solidFill>
                <a:latin typeface="맑은 고딕"/>
                <a:ea typeface="맑은 고딕"/>
              </a:rPr>
              <a:t>02. 첫 시도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35316" y="5242522"/>
          <a:ext cx="5859780" cy="1152000"/>
        </p:xfrm>
        <a:graphic>
          <a:graphicData uri="http://schemas.openxmlformats.org/drawingml/2006/table">
            <a:tbl>
              <a:tblPr/>
              <a:tblGrid>
                <a:gridCol w="1506220"/>
                <a:gridCol w="1785620"/>
                <a:gridCol w="2567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확인하는 것</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에이전트의 테스트</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업무 규칙의 테스트</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승인되면 결제완료</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통과</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통과</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금액</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 × 수량 — 통과</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판매가가 올라도 2,000원 — 실패</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거절</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취소된다 — 통과</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결제대기, 배송 요청 없음 — 실패</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에이전트가 생성한 테스트</a:t>
            </a:r>
            <a:r>
              <a:rPr sz="1800" b="0">
                <a:solidFill>
                  <a:srgbClr val="000000"/>
                </a:solidFill>
                <a:latin typeface="맑은 고딕"/>
                <a:ea typeface="맑은 고딕"/>
              </a:rPr>
              <a:t>는 업무 규칙이 아니라 </a:t>
            </a:r>
            <a:r>
              <a:rPr sz="1800" b="1">
                <a:solidFill>
                  <a:srgbClr val="000000"/>
                </a:solidFill>
                <a:latin typeface="맑은 고딕"/>
                <a:ea typeface="맑은 고딕"/>
              </a:rPr>
              <a:t>자기가 작성한 코드의 동작</a:t>
            </a:r>
            <a:r>
              <a:rPr sz="1800" b="0">
                <a:solidFill>
                  <a:srgbClr val="000000"/>
                </a:solidFill>
                <a:latin typeface="맑은 고딕"/>
                <a:ea typeface="맑은 고딕"/>
              </a:rPr>
              <a:t>을 기대값으로 삼았다. 업무 규칙을 반영한 테스트로 같은 코드를 확인하자 3곳에서 실패했다.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코드에서 테스트를 만드는 것은 AI를 SW 공학에 사용할 때 </a:t>
            </a:r>
            <a:r>
              <a:rPr sz="1800" b="1">
                <a:solidFill>
                  <a:srgbClr val="000000"/>
                </a:solidFill>
                <a:latin typeface="맑은 고딕"/>
                <a:ea typeface="맑은 고딕"/>
              </a:rPr>
              <a:t>잘 알려진 함정</a:t>
            </a:r>
            <a:r>
              <a:rPr sz="1800" b="0">
                <a:solidFill>
                  <a:srgbClr val="000000"/>
                </a:solidFill>
                <a:latin typeface="맑은 고딕"/>
                <a:ea typeface="맑은 고딕"/>
              </a:rPr>
              <a:t>이며, 그 코드가 할 일을 한다는 </a:t>
            </a:r>
            <a:r>
              <a:rPr sz="1800" b="1">
                <a:solidFill>
                  <a:srgbClr val="000000"/>
                </a:solidFill>
                <a:latin typeface="맑은 고딕"/>
                <a:ea typeface="맑은 고딕"/>
              </a:rPr>
              <a:t>보장이 없기</a:t>
            </a:r>
            <a:r>
              <a:rPr sz="1800" b="0">
                <a:solidFill>
                  <a:srgbClr val="000000"/>
                </a:solidFill>
                <a:latin typeface="맑은 고딕"/>
                <a:ea typeface="맑은 고딕"/>
              </a:rPr>
              <a:t> 때문이다</a:t>
            </a:r>
            <a:r>
              <a:rPr sz="1000" b="0">
                <a:solidFill>
                  <a:srgbClr val="000000"/>
                </a:solidFill>
                <a:latin typeface="맑은 고딕"/>
                <a:ea typeface="맑은 고딕"/>
              </a:rPr>
              <a:t>, </a:t>
            </a:r>
            <a:r>
              <a:rPr sz="1000" b="0">
                <a:solidFill>
                  <a:srgbClr val="000000"/>
                </a:solidFill>
                <a:latin typeface="맑은 고딕"/>
                <a:ea typeface="맑은 고딕"/>
              </a:rPr>
              <a:t>"Deriving tests from code is a well-known AI4SE pitfall, since there is no guarantee that the code does what it is supposed to do."</a:t>
            </a:r>
            <a:r>
              <a:rPr sz="1000" b="0">
                <a:solidFill>
                  <a:srgbClr val="000000"/>
                </a:solidFill>
                <a:latin typeface="맑은 고딕"/>
                <a:ea typeface="맑은 고딕"/>
              </a:rPr>
              <a:t>, </a:t>
            </a:r>
            <a:r>
              <a:rPr sz="1000" b="0">
                <a:solidFill>
                  <a:srgbClr val="000000"/>
                </a:solidFill>
                <a:latin typeface="맑은 고딕"/>
                <a:ea typeface="맑은 고딕"/>
              </a:rPr>
              <a:t>[Hassan 외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944072"/>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같은 코드, 두 테스트의 결과</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110068"/>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기대값은 어디서 오는가?</a:t>
            </a:r>
          </a:p>
        </p:txBody>
      </p:sp>
      <p:pic>
        <p:nvPicPr>
          <p:cNvPr id="16" name="mermaid Diagram 2"/>
          <p:cNvPicPr>
            <a:picLocks noChangeAspect="1"/>
          </p:cNvPicPr>
          <p:nvPr/>
        </p:nvPicPr>
        <p:blipFill>
          <a:blip r:embed="mermaidImage2"/>
          <a:stretch>
            <a:fillRect/>
          </a:stretch>
        </p:blipFill>
        <p:spPr>
          <a:xfrm>
            <a:off x="588518" y="3347812"/>
            <a:ext cx="7953375" cy="1257932"/>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본질적 복잡성과 우연적 복잡성</a:t>
            </a:r>
          </a:p>
          <a:p>
            <a:r>
              <a:rPr sz="1100" b="1">
                <a:solidFill>
                  <a:srgbClr val="000000"/>
                </a:solidFill>
                <a:latin typeface="맑은 고딕"/>
                <a:ea typeface="맑은 고딕"/>
              </a:rPr>
              <a:t>03. AI가 바꾼 것과 바꾸지 못한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3659563"/>
          <a:ext cx="8305800" cy="864000"/>
        </p:xfrm>
        <a:graphic>
          <a:graphicData uri="http://schemas.openxmlformats.org/drawingml/2006/table">
            <a:tbl>
              <a:tblPr/>
              <a:tblGrid>
                <a:gridCol w="3296409"/>
                <a:gridCol w="2768600"/>
                <a:gridCol w="2240791"/>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첫 시도에서</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누가 하는가?</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본질적 복잡성 — 업무 규칙</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금액, 배송 요청, 결제 거절</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담당자와 개발자가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우연적 복잡성 — 업무 규칙을 코드로 옮기는 일</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파일 15개·반복문·외부 호출·테스트 틀</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AI가 10분 만에 생성했다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300137"/>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아리스토텔레스를 따라 나는 소프트웨어의 어려움을 </a:t>
            </a:r>
            <a:r>
              <a:rPr sz="1800" b="1">
                <a:solidFill>
                  <a:srgbClr val="000000"/>
                </a:solidFill>
                <a:latin typeface="맑은 고딕"/>
                <a:ea typeface="맑은 고딕"/>
              </a:rPr>
              <a:t>본질</a:t>
            </a:r>
            <a:r>
              <a:rPr sz="1800" b="0">
                <a:solidFill>
                  <a:srgbClr val="000000"/>
                </a:solidFill>
                <a:latin typeface="맑은 고딕"/>
                <a:ea typeface="맑은 고딕"/>
              </a:rPr>
              <a:t>, 곧 소프트웨어의 본성에 본래 있는 어려움과 </a:t>
            </a:r>
            <a:r>
              <a:rPr sz="1800" b="1">
                <a:solidFill>
                  <a:srgbClr val="000000"/>
                </a:solidFill>
                <a:latin typeface="맑은 고딕"/>
                <a:ea typeface="맑은 고딕"/>
              </a:rPr>
              <a:t>우연</a:t>
            </a:r>
            <a:r>
              <a:rPr sz="1800" b="0">
                <a:solidFill>
                  <a:srgbClr val="000000"/>
                </a:solidFill>
                <a:latin typeface="맑은 고딕"/>
                <a:ea typeface="맑은 고딕"/>
              </a:rPr>
              <a:t>, 곧 오늘날 소프트웨어를 만드는 데 따라붙지만 본래적이지는 않은 어려움으로 나눈다</a:t>
            </a:r>
            <a:r>
              <a:rPr sz="1000" b="0">
                <a:solidFill>
                  <a:srgbClr val="000000"/>
                </a:solidFill>
                <a:latin typeface="맑은 고딕"/>
                <a:ea typeface="맑은 고딕"/>
              </a:rPr>
              <a:t>, </a:t>
            </a:r>
            <a:r>
              <a:rPr sz="1000" b="0">
                <a:solidFill>
                  <a:srgbClr val="000000"/>
                </a:solidFill>
                <a:latin typeface="맑은 고딕"/>
                <a:ea typeface="맑은 고딕"/>
              </a:rPr>
              <a:t>"Following Aristotle, I divide them into essence, the difficulties inherent in the nature of the software, and accidents, those difficulties which today attend its production but which are not inherent"</a:t>
            </a:r>
            <a:r>
              <a:rPr sz="1000" b="0">
                <a:solidFill>
                  <a:srgbClr val="000000"/>
                </a:solidFill>
                <a:latin typeface="맑은 고딕"/>
                <a:ea typeface="맑은 고딕"/>
              </a:rPr>
              <a:t>, </a:t>
            </a:r>
            <a:r>
              <a:rPr sz="1000" b="0">
                <a:solidFill>
                  <a:srgbClr val="000000"/>
                </a:solidFill>
                <a:latin typeface="맑은 고딕"/>
                <a:ea typeface="맑은 고딕"/>
              </a:rPr>
              <a:t>[Brooks 1986]</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소프트웨어를 만드는 어려운 부분은 이 개념 구조의 </a:t>
            </a:r>
            <a:r>
              <a:rPr sz="1600" b="1">
                <a:solidFill>
                  <a:srgbClr val="000000"/>
                </a:solidFill>
                <a:latin typeface="맑은 고딕"/>
                <a:ea typeface="맑은 고딕"/>
              </a:rPr>
              <a:t>명세·설계·검증</a:t>
            </a:r>
            <a:r>
              <a:rPr sz="1600" b="0">
                <a:solidFill>
                  <a:srgbClr val="000000"/>
                </a:solidFill>
                <a:latin typeface="맑은 고딕"/>
                <a:ea typeface="맑은 고딕"/>
              </a:rPr>
              <a:t>이며 그것을 </a:t>
            </a:r>
            <a:r>
              <a:rPr sz="1600" b="1">
                <a:solidFill>
                  <a:srgbClr val="000000"/>
                </a:solidFill>
                <a:latin typeface="맑은 고딕"/>
                <a:ea typeface="맑은 고딕"/>
              </a:rPr>
              <a:t>표현하는 것</a:t>
            </a:r>
            <a:r>
              <a:rPr sz="1600" b="0">
                <a:solidFill>
                  <a:srgbClr val="000000"/>
                </a:solidFill>
                <a:latin typeface="맑은 고딕"/>
                <a:ea typeface="맑은 고딕"/>
              </a:rPr>
              <a:t>이 아니다</a:t>
            </a:r>
            <a:r>
              <a:rPr sz="1000" b="0">
                <a:solidFill>
                  <a:srgbClr val="000000"/>
                </a:solidFill>
                <a:latin typeface="맑은 고딕"/>
                <a:ea typeface="맑은 고딕"/>
              </a:rPr>
              <a:t>, </a:t>
            </a:r>
            <a:r>
              <a:rPr sz="1000" b="0">
                <a:solidFill>
                  <a:srgbClr val="000000"/>
                </a:solidFill>
                <a:latin typeface="맑은 고딕"/>
                <a:ea typeface="맑은 고딕"/>
              </a:rPr>
              <a:t>"I believe the hard part of building software to be the specification, design, and testing of this conceptual construct, not the labor of representing it"</a:t>
            </a:r>
            <a:r>
              <a:rPr sz="1000" b="0">
                <a:solidFill>
                  <a:srgbClr val="000000"/>
                </a:solidFill>
                <a:latin typeface="맑은 고딕"/>
                <a:ea typeface="맑은 고딕"/>
              </a:rPr>
              <a:t>, </a:t>
            </a:r>
            <a:r>
              <a:rPr sz="1000" b="0">
                <a:solidFill>
                  <a:srgbClr val="000000"/>
                </a:solidFill>
                <a:latin typeface="맑은 고딕"/>
                <a:ea typeface="맑은 고딕"/>
              </a:rPr>
              <a:t>[Brooks 1986]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361113"/>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첫 시도에서 본 두 복잡성</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752163"/>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AI는 우연적 복잡성을 줄인다</a:t>
            </a:r>
            <a:r>
              <a:rPr sz="1800" b="0">
                <a:solidFill>
                  <a:srgbClr val="000000"/>
                </a:solidFill>
                <a:latin typeface="맑은 고딕"/>
                <a:ea typeface="맑은 고딕"/>
              </a:rPr>
              <a:t> —</a:t>
            </a:r>
            <a:r>
              <a:rPr sz="1600" b="0">
                <a:solidFill>
                  <a:srgbClr val="000000"/>
                </a:solidFill>
                <a:latin typeface="맑은 고딕"/>
                <a:ea typeface="맑은 고딕"/>
              </a:rPr>
              <a:t> 업무 규칙을 코드로 옮기는 일은 10분에 끝난다.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병목은 본질적 복잡성에 있다</a:t>
            </a:r>
            <a:r>
              <a:rPr sz="1800" b="0">
                <a:solidFill>
                  <a:srgbClr val="000000"/>
                </a:solidFill>
                <a:latin typeface="맑은 고딕"/>
                <a:ea typeface="맑은 고딕"/>
              </a:rPr>
              <a:t> —</a:t>
            </a:r>
            <a:r>
              <a:rPr sz="1600" b="0">
                <a:solidFill>
                  <a:srgbClr val="000000"/>
                </a:solidFill>
                <a:latin typeface="맑은 고딕"/>
                <a:ea typeface="맑은 고딕"/>
              </a:rPr>
              <a:t> 주문 금액·배송 요청·결제 거절을 결정하고 검증하는 일이다.</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5가지가 달라진다</a:t>
            </a:r>
          </a:p>
          <a:p>
            <a:r>
              <a:rPr sz="1100" b="1">
                <a:solidFill>
                  <a:srgbClr val="000000"/>
                </a:solidFill>
                <a:latin typeface="맑은 고딕"/>
                <a:ea typeface="맑은 고딕"/>
              </a:rPr>
              <a:t>03. AI가 바꾼 것과 바꾸지 못한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74306" y="2112010"/>
          <a:ext cx="6781800" cy="1728000"/>
        </p:xfrm>
        <a:graphic>
          <a:graphicData uri="http://schemas.openxmlformats.org/drawingml/2006/table">
            <a:tbl>
              <a:tblPr/>
              <a:tblGrid>
                <a:gridCol w="1590040"/>
                <a:gridCol w="231648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달라지는 것</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얻는 것</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잃는 것·위험</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 생산의 경제성</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구현과 반복 작업이 싸진다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생성량과 함께 복잡도가 쌓인다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병목의 자리</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대안을 싸게 탐색한다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틀린 가정이 더 빨리 코드로 퍼진다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검증의 무게</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테스트·정적 분석이 많아진다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코드와 테스트가 같은 가정을 공유한다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일하는 단위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피드백이 빨라진다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잘못된 변경이 연쇄로 퍼진다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평가의 기준</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작은 팀이 넓은 범위를 맡는다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코드를 모르면 장애 대응이 무너진다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코드를 만드는 비용이 떨어지면 </a:t>
            </a:r>
            <a:r>
              <a:rPr sz="1800" b="1">
                <a:solidFill>
                  <a:srgbClr val="000000"/>
                </a:solidFill>
                <a:latin typeface="맑은 고딕"/>
                <a:ea typeface="맑은 고딕"/>
              </a:rPr>
              <a:t>5가지가 함께 달라진다</a:t>
            </a:r>
            <a:r>
              <a:rPr sz="1800" b="0">
                <a:solidFill>
                  <a:srgbClr val="000000"/>
                </a:solidFill>
                <a:latin typeface="맑은 고딕"/>
                <a:ea typeface="맑은 고딕"/>
              </a:rPr>
              <a:t>. 얻는 것만 고려하면 누적된 복잡도와 틀린 가정을 나중에 비용으로 지불한다.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달라지는 5가지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83849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사람이 </a:t>
            </a:r>
            <a:r>
              <a:rPr sz="1800" b="1">
                <a:solidFill>
                  <a:srgbClr val="000000"/>
                </a:solidFill>
                <a:latin typeface="맑은 고딕"/>
                <a:ea typeface="맑은 고딕"/>
              </a:rPr>
              <a:t>병목</a:t>
            </a:r>
            <a:r>
              <a:rPr sz="1800" b="0">
                <a:solidFill>
                  <a:srgbClr val="000000"/>
                </a:solidFill>
                <a:latin typeface="맑은 고딕"/>
                <a:ea typeface="맑은 고딕"/>
              </a:rPr>
              <a:t>이며 AI가 병목이 아니다</a:t>
            </a:r>
            <a:r>
              <a:rPr sz="1000" b="0">
                <a:solidFill>
                  <a:srgbClr val="000000"/>
                </a:solidFill>
                <a:latin typeface="맑은 고딕"/>
                <a:ea typeface="맑은 고딕"/>
              </a:rPr>
              <a:t>, </a:t>
            </a:r>
            <a:r>
              <a:rPr sz="1000" b="0">
                <a:solidFill>
                  <a:srgbClr val="000000"/>
                </a:solidFill>
                <a:latin typeface="맑은 고딕"/>
                <a:ea typeface="맑은 고딕"/>
              </a:rPr>
              <a:t>"humans are the bottleneck, not the AI."</a:t>
            </a:r>
            <a:r>
              <a:rPr sz="1000" b="0">
                <a:solidFill>
                  <a:srgbClr val="000000"/>
                </a:solidFill>
                <a:latin typeface="맑은 고딕"/>
                <a:ea typeface="맑은 고딕"/>
              </a:rPr>
              <a:t>, </a:t>
            </a:r>
            <a:r>
              <a:rPr sz="1000" b="0">
                <a:solidFill>
                  <a:srgbClr val="000000"/>
                </a:solidFill>
                <a:latin typeface="맑은 고딕"/>
                <a:ea typeface="맑은 고딕"/>
              </a:rPr>
              <a:t>[Hassan 외 2026]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사람은 의도를 한 번에 분명히 말하지 못한다</a:t>
            </a:r>
            <a:r>
              <a:rPr sz="1800" b="0">
                <a:solidFill>
                  <a:srgbClr val="000000"/>
                </a:solidFill>
                <a:latin typeface="맑은 고딕"/>
                <a:ea typeface="맑은 고딕"/>
              </a:rPr>
              <a:t> —</a:t>
            </a:r>
            <a:r>
              <a:rPr sz="1600" b="0">
                <a:solidFill>
                  <a:srgbClr val="000000"/>
                </a:solidFill>
                <a:latin typeface="맑은 고딕"/>
                <a:ea typeface="맑은 고딕"/>
              </a:rPr>
              <a:t> 요청 한 줄에서 업무 규칙 3가지가 빠졌고, 모델이 강해져도 이 한계는 남는다.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검사를 자동화해야 속도가 이득으로 남는다</a:t>
            </a:r>
            <a:r>
              <a:rPr sz="1800" b="0">
                <a:solidFill>
                  <a:srgbClr val="000000"/>
                </a:solidFill>
                <a:latin typeface="맑은 고딕"/>
                <a:ea typeface="맑은 고딕"/>
              </a:rPr>
              <a:t> —</a:t>
            </a:r>
            <a:r>
              <a:rPr sz="1600" b="0">
                <a:solidFill>
                  <a:srgbClr val="000000"/>
                </a:solidFill>
                <a:latin typeface="맑은 고딕"/>
                <a:ea typeface="맑은 고딕"/>
              </a:rPr>
              <a:t> 생성한 결과가 업무 규칙대로인지 </a:t>
            </a:r>
            <a:r>
              <a:rPr sz="1600" b="1">
                <a:solidFill>
                  <a:srgbClr val="000000"/>
                </a:solidFill>
                <a:latin typeface="맑은 고딕"/>
                <a:ea typeface="맑은 고딕"/>
              </a:rPr>
              <a:t>자동으로 확인하지 못하면</a:t>
            </a:r>
            <a:r>
              <a:rPr sz="1600" b="0">
                <a:solidFill>
                  <a:srgbClr val="000000"/>
                </a:solidFill>
                <a:latin typeface="맑은 고딕"/>
                <a:ea typeface="맑은 고딕"/>
              </a:rPr>
              <a:t> 사람이 전부 읽어야 한다.</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변하지 않는 공학 원칙</a:t>
            </a:r>
          </a:p>
          <a:p>
            <a:r>
              <a:rPr sz="1100" b="1">
                <a:solidFill>
                  <a:srgbClr val="000000"/>
                </a:solidFill>
                <a:latin typeface="맑은 고딕"/>
                <a:ea typeface="맑은 고딕"/>
              </a:rPr>
              <a:t>03. AI가 바꾼 것과 바꾸지 못한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01686" y="2112010"/>
          <a:ext cx="5527040" cy="2016000"/>
        </p:xfrm>
        <a:graphic>
          <a:graphicData uri="http://schemas.openxmlformats.org/drawingml/2006/table">
            <a:tbl>
              <a:tblPr/>
              <a:tblGrid>
                <a:gridCol w="1869440"/>
                <a:gridCol w="3657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변하지 않는 원칙</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AI 이후 달라지는 것</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올바른 문제를 정의한다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AI가 빠진 결정을 질문으로 드러낸다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복잡성을 관리한다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대안이 많아져 고르고 통제하는 일이 커진다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응집도·결합도를 지킨다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AI가 만든 코드에도 같은 원칙을 적용한다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요구를 검증한다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기대값을 코드와 별도로 결정하는 일이 중요해진다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품질 속성을 만족한다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성능·보안·유지보수성을 자동으로 측정하고 고친다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운영하며 개선한다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데이터 분석과 변경의 일부를 맡긴다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달라지는 것이 5가지여도 </a:t>
            </a:r>
            <a:r>
              <a:rPr sz="1800" b="1">
                <a:solidFill>
                  <a:srgbClr val="000000"/>
                </a:solidFill>
                <a:latin typeface="맑은 고딕"/>
                <a:ea typeface="맑은 고딕"/>
              </a:rPr>
              <a:t>공학의 원칙은 그대로</a:t>
            </a:r>
            <a:r>
              <a:rPr sz="1800" b="0">
                <a:solidFill>
                  <a:srgbClr val="000000"/>
                </a:solidFill>
                <a:latin typeface="맑은 고딕"/>
                <a:ea typeface="맑은 고딕"/>
              </a:rPr>
              <a:t>다. 바뀌는 것은 그 원칙을 적용하는 대상의 양과 속도다.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원칙과 AI 이후 달라지는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60020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AI는 원칙을 대신하지 않는다</a:t>
            </a:r>
            <a:r>
              <a:rPr sz="1800" b="0">
                <a:solidFill>
                  <a:srgbClr val="000000"/>
                </a:solidFill>
                <a:latin typeface="맑은 고딕"/>
                <a:ea typeface="맑은 고딕"/>
              </a:rPr>
              <a:t> —</a:t>
            </a:r>
            <a:r>
              <a:rPr sz="1600" b="0">
                <a:solidFill>
                  <a:srgbClr val="000000"/>
                </a:solidFill>
                <a:latin typeface="맑은 고딕"/>
                <a:ea typeface="맑은 고딕"/>
              </a:rPr>
              <a:t> 같은 6원칙을 </a:t>
            </a:r>
            <a:r>
              <a:rPr sz="1600" b="1">
                <a:solidFill>
                  <a:srgbClr val="000000"/>
                </a:solidFill>
                <a:latin typeface="맑은 고딕"/>
                <a:ea typeface="맑은 고딕"/>
              </a:rPr>
              <a:t>더 많은 산출물에 더 빨리</a:t>
            </a:r>
            <a:r>
              <a:rPr sz="1600" b="0">
                <a:solidFill>
                  <a:srgbClr val="000000"/>
                </a:solidFill>
                <a:latin typeface="맑은 고딕"/>
                <a:ea typeface="맑은 고딕"/>
              </a:rPr>
              <a:t> 적용하는 것이 달라진 점이다.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기대값은 코드와 별도로 결정한다</a:t>
            </a:r>
            <a:r>
              <a:rPr sz="1800" b="0">
                <a:solidFill>
                  <a:srgbClr val="000000"/>
                </a:solidFill>
                <a:latin typeface="맑은 고딕"/>
                <a:ea typeface="맑은 고딕"/>
              </a:rPr>
              <a:t> —</a:t>
            </a:r>
            <a:r>
              <a:rPr sz="1600" b="0">
                <a:solidFill>
                  <a:srgbClr val="000000"/>
                </a:solidFill>
                <a:latin typeface="맑은 고딕"/>
                <a:ea typeface="맑은 고딕"/>
              </a:rPr>
              <a:t> 테스트를 작성하는 일은 빨라지고, 주문 금액 2,000원처럼 </a:t>
            </a:r>
            <a:r>
              <a:rPr sz="1600" b="1">
                <a:solidFill>
                  <a:srgbClr val="000000"/>
                </a:solidFill>
                <a:latin typeface="맑은 고딕"/>
                <a:ea typeface="맑은 고딕"/>
              </a:rPr>
              <a:t>무엇을 통과로 볼지 결정하는 일</a:t>
            </a:r>
            <a:r>
              <a:rPr sz="1600" b="0">
                <a:solidFill>
                  <a:srgbClr val="000000"/>
                </a:solidFill>
                <a:latin typeface="맑은 고딕"/>
                <a:ea typeface="맑은 고딕"/>
              </a:rPr>
              <a:t>이 더 중요해진다.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업무 규칙은 도메인 지식이다</a:t>
            </a:r>
          </a:p>
          <a:p>
            <a:r>
              <a:rPr sz="1100" b="1">
                <a:solidFill>
                  <a:srgbClr val="000000"/>
                </a:solidFill>
                <a:latin typeface="맑은 고딕"/>
                <a:ea typeface="맑은 고딕"/>
              </a:rPr>
              <a:t>03. AI가 바꾼 것과 바꾸지 못한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21575" y="2898948"/>
          <a:ext cx="7287260" cy="1152000"/>
        </p:xfrm>
        <a:graphic>
          <a:graphicData uri="http://schemas.openxmlformats.org/drawingml/2006/table">
            <a:tbl>
              <a:tblPr/>
              <a:tblGrid>
                <a:gridCol w="947420"/>
                <a:gridCol w="63398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업무 규칙</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회사마다 달라지는 이유</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금액</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주문할 때 보여 준 가격을 고객에게 보장할지는 회사의 가격 정책이다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요청</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확인 전에 배송 준비를 시작할지는 물류 운영과 위험을 감수하는 정도의 문제다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거절</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거절된 주문을 남겨 다시 결제받을지, 바로 정리할지는 고객 경험과 재고 운영의 선택이다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소프트웨어 시스템을 만드는 일에서 가장 어려운 부분은 </a:t>
            </a:r>
            <a:r>
              <a:rPr sz="1800" b="1">
                <a:solidFill>
                  <a:srgbClr val="000000"/>
                </a:solidFill>
                <a:latin typeface="맑은 고딕"/>
                <a:ea typeface="맑은 고딕"/>
              </a:rPr>
              <a:t>정확히 무엇을 만들지 결정하는 것</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"The hardest single part of building a software system is deciding precisely what to build."</a:t>
            </a:r>
            <a:r>
              <a:rPr sz="1000" b="0">
                <a:solidFill>
                  <a:srgbClr val="000000"/>
                </a:solidFill>
                <a:latin typeface="맑은 고딕"/>
                <a:ea typeface="맑은 고딕"/>
              </a:rPr>
              <a:t>, </a:t>
            </a:r>
            <a:r>
              <a:rPr sz="1000" b="0">
                <a:solidFill>
                  <a:srgbClr val="000000"/>
                </a:solidFill>
                <a:latin typeface="맑은 고딕"/>
                <a:ea typeface="맑은 고딕"/>
              </a:rPr>
              <a:t>[Brooks 1986]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규칙은 업무 담당자가 아는 도메인 지식이다.</a:t>
            </a:r>
            <a:r>
              <a:rPr sz="1800" b="0">
                <a:solidFill>
                  <a:srgbClr val="000000"/>
                </a:solidFill>
                <a:latin typeface="맑은 고딕"/>
                <a:ea typeface="맑은 고딕"/>
              </a:rPr>
              <a:t> 코드나 공개된 자료에 있지 않고, 회사의 정책·운영 방식·고객과의 약속이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회사마다 달라지는 업무 규칙</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121365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LLM은 업무 규칙을 모른다</a:t>
            </a:r>
            <a:r>
              <a:rPr sz="1800" b="0">
                <a:solidFill>
                  <a:srgbClr val="000000"/>
                </a:solidFill>
                <a:latin typeface="맑은 고딕"/>
                <a:ea typeface="맑은 고딕"/>
              </a:rPr>
              <a:t> —</a:t>
            </a:r>
            <a:r>
              <a:rPr sz="1600" b="0">
                <a:solidFill>
                  <a:srgbClr val="000000"/>
                </a:solidFill>
                <a:latin typeface="맑은 고딕"/>
                <a:ea typeface="맑은 고딕"/>
              </a:rPr>
              <a:t> 주어지지 않으면 임의의 답을 선택한다. 2,400원은 다른 쇼핑몰에서 맞는 답일 수 있다.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LLM은 특정 도메인 지식을 </a:t>
            </a:r>
            <a:r>
              <a:rPr sz="1600" b="1">
                <a:solidFill>
                  <a:srgbClr val="000000"/>
                </a:solidFill>
                <a:latin typeface="맑은 고딕"/>
                <a:ea typeface="맑은 고딕"/>
              </a:rPr>
              <a:t>충분히 학습하지 못했을 수</a:t>
            </a:r>
            <a:r>
              <a:rPr sz="1600" b="0">
                <a:solidFill>
                  <a:srgbClr val="000000"/>
                </a:solidFill>
                <a:latin typeface="맑은 고딕"/>
                <a:ea typeface="맑은 고딕"/>
              </a:rPr>
              <a:t> 있다</a:t>
            </a:r>
            <a:r>
              <a:rPr sz="1000" b="0">
                <a:solidFill>
                  <a:srgbClr val="000000"/>
                </a:solidFill>
                <a:latin typeface="맑은 고딕"/>
                <a:ea typeface="맑은 고딕"/>
              </a:rPr>
              <a:t>, </a:t>
            </a:r>
            <a:r>
              <a:rPr sz="1000" b="0">
                <a:solidFill>
                  <a:srgbClr val="000000"/>
                </a:solidFill>
                <a:latin typeface="맑은 고딕"/>
                <a:ea typeface="맑은 고딕"/>
              </a:rPr>
              <a:t>"LLMs may have limited training on specific domain knowledge"</a:t>
            </a:r>
            <a:r>
              <a:rPr sz="1000" b="0">
                <a:solidFill>
                  <a:srgbClr val="000000"/>
                </a:solidFill>
                <a:latin typeface="맑은 고딕"/>
                <a:ea typeface="맑은 고딕"/>
              </a:rPr>
              <a:t>, </a:t>
            </a:r>
            <a:r>
              <a:rPr sz="1000" b="0">
                <a:solidFill>
                  <a:srgbClr val="000000"/>
                </a:solidFill>
                <a:latin typeface="맑은 고딕"/>
                <a:ea typeface="맑은 고딕"/>
              </a:rPr>
              <a:t>[Gao 외 2025]</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3가지 개발 방식</a:t>
            </a:r>
          </a:p>
          <a:p>
            <a:r>
              <a:rPr sz="1100" b="1">
                <a:solidFill>
                  <a:srgbClr val="000000"/>
                </a:solidFill>
                <a:latin typeface="맑은 고딕"/>
                <a:ea typeface="맑은 고딕"/>
              </a:rPr>
              <a:t>04. 개발 방식의 구분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624628"/>
          <a:ext cx="8305800" cy="1152000"/>
        </p:xfrm>
        <a:graphic>
          <a:graphicData uri="http://schemas.openxmlformats.org/drawingml/2006/table">
            <a:tbl>
              <a:tblPr/>
              <a:tblGrid>
                <a:gridCol w="1779479"/>
                <a:gridCol w="1598714"/>
                <a:gridCol w="2864069"/>
                <a:gridCol w="2063538"/>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작업의 단위</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누가 무엇을 하는가?</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검증</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LLM 이전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작성하는 코드</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명세·설계·코드·테스트를 작성한다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작성한 테스트와 리뷰</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AI 지원(AI-assisted)</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LLM의 제안 하나</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흐름을 쥐고 제안을 받아들인다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제안마다 사람이 읽는다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AI-native</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맡긴 과제 하나</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정하고 에이전트가 실행한다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검사의 증거와 사람의 확인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3가지 개발 방식</a:t>
            </a:r>
            <a:r>
              <a:rPr sz="1400" b="0">
                <a:solidFill>
                  <a:srgbClr val="000000"/>
                </a:solidFill>
                <a:latin typeface="맑은 고딕"/>
                <a:ea typeface="맑은 고딕"/>
              </a:rPr>
              <a:t>(LLM 이전·AI 지원·AI-native)</a:t>
            </a:r>
            <a:r>
              <a:rPr sz="1800" b="0">
                <a:solidFill>
                  <a:srgbClr val="000000"/>
                </a:solidFill>
                <a:latin typeface="맑은 고딕"/>
                <a:ea typeface="맑은 고딕"/>
              </a:rPr>
              <a:t>을 가르는 것은 도구가 아니라 </a:t>
            </a:r>
            <a:r>
              <a:rPr sz="1800" b="1">
                <a:solidFill>
                  <a:srgbClr val="000000"/>
                </a:solidFill>
                <a:latin typeface="맑은 고딕"/>
                <a:ea typeface="맑은 고딕"/>
              </a:rPr>
              <a:t>작업의 단위와 사람·LLM의 일, 결과를 확인하는 방법</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그래서 소프트웨어 공학 3.0은 </a:t>
            </a:r>
            <a:r>
              <a:rPr sz="1800" b="1">
                <a:solidFill>
                  <a:srgbClr val="000000"/>
                </a:solidFill>
                <a:latin typeface="맑은 고딕"/>
                <a:ea typeface="맑은 고딕"/>
              </a:rPr>
              <a:t>AI-native</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"We thus say that SE 3.0 is AI-native."</a:t>
            </a:r>
            <a:r>
              <a:rPr sz="1000" b="0">
                <a:solidFill>
                  <a:srgbClr val="000000"/>
                </a:solidFill>
                <a:latin typeface="맑은 고딕"/>
                <a:ea typeface="맑은 고딕"/>
              </a:rPr>
              <a:t>, </a:t>
            </a:r>
            <a:r>
              <a:rPr sz="1000" b="0">
                <a:solidFill>
                  <a:srgbClr val="000000"/>
                </a:solidFill>
                <a:latin typeface="맑은 고딕"/>
                <a:ea typeface="맑은 고딕"/>
              </a:rPr>
              <a:t>[Hassan 외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26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개발 방식의 구분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05228"/>
            <a:ext cx="8412480" cy="2301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사람의 일은 코드 작성에서 결정으로 바뀐다</a:t>
            </a:r>
            <a:r>
              <a:rPr sz="1800" b="0">
                <a:solidFill>
                  <a:srgbClr val="000000"/>
                </a:solidFill>
                <a:latin typeface="맑은 고딕"/>
                <a:ea typeface="맑은 고딕"/>
              </a:rPr>
              <a:t> —</a:t>
            </a:r>
            <a:r>
              <a:rPr sz="1600" b="0">
                <a:solidFill>
                  <a:srgbClr val="000000"/>
                </a:solidFill>
                <a:latin typeface="맑은 고딕"/>
                <a:ea typeface="맑은 고딕"/>
              </a:rPr>
              <a:t> 사람은 업무 규칙을 정하고 검증한다.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책임은 세 방식에서 같다</a:t>
            </a:r>
            <a:r>
              <a:rPr sz="1800" b="0">
                <a:solidFill>
                  <a:srgbClr val="000000"/>
                </a:solidFill>
                <a:latin typeface="맑은 고딕"/>
                <a:ea typeface="맑은 고딕"/>
              </a:rPr>
              <a:t> —</a:t>
            </a:r>
            <a:r>
              <a:rPr sz="1600" b="0">
                <a:solidFill>
                  <a:srgbClr val="000000"/>
                </a:solidFill>
                <a:latin typeface="맑은 고딕"/>
                <a:ea typeface="맑은 고딕"/>
              </a:rPr>
              <a:t> 옳은 결과의 판단과 책임은 사람에게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모든 작업을 에이전트에게 맡기지 않는다</a:t>
            </a:r>
            <a:r>
              <a:rPr sz="1800" b="0">
                <a:solidFill>
                  <a:srgbClr val="000000"/>
                </a:solidFill>
                <a:latin typeface="맑은 고딕"/>
                <a:ea typeface="맑은 고딕"/>
              </a:rPr>
              <a:t> —</a:t>
            </a:r>
            <a:r>
              <a:rPr sz="1600" b="0">
                <a:solidFill>
                  <a:srgbClr val="000000"/>
                </a:solidFill>
                <a:latin typeface="맑은 고딕"/>
                <a:ea typeface="맑은 고딕"/>
              </a:rPr>
              <a:t> 작업마다 가장 단순한 형태를 고른다.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코드 중심을 </a:t>
            </a:r>
            <a:r>
              <a:rPr sz="1800" b="1">
                <a:solidFill>
                  <a:srgbClr val="000000"/>
                </a:solidFill>
                <a:latin typeface="맑은 고딕"/>
                <a:ea typeface="맑은 고딕"/>
              </a:rPr>
              <a:t>SE 1.0</a:t>
            </a:r>
            <a:r>
              <a:rPr sz="1800" b="0">
                <a:solidFill>
                  <a:srgbClr val="000000"/>
                </a:solidFill>
                <a:latin typeface="맑은 고딕"/>
                <a:ea typeface="맑은 고딕"/>
              </a:rPr>
              <a:t>, AI 지원을 </a:t>
            </a:r>
            <a:r>
              <a:rPr sz="1800" b="1">
                <a:solidFill>
                  <a:srgbClr val="000000"/>
                </a:solidFill>
                <a:latin typeface="맑은 고딕"/>
                <a:ea typeface="맑은 고딕"/>
              </a:rPr>
              <a:t>SE 2.0</a:t>
            </a:r>
            <a:r>
              <a:rPr sz="1800" b="0">
                <a:solidFill>
                  <a:srgbClr val="000000"/>
                </a:solidFill>
                <a:latin typeface="맑은 고딕"/>
                <a:ea typeface="맑은 고딕"/>
              </a:rPr>
              <a:t>, AI-native를 </a:t>
            </a:r>
            <a:r>
              <a:rPr sz="1800" b="1">
                <a:solidFill>
                  <a:srgbClr val="000000"/>
                </a:solidFill>
                <a:latin typeface="맑은 고딕"/>
                <a:ea typeface="맑은 고딕"/>
              </a:rPr>
              <a:t>SE 3.0</a:t>
            </a:r>
            <a:r>
              <a:rPr sz="1800" b="0">
                <a:solidFill>
                  <a:srgbClr val="000000"/>
                </a:solidFill>
                <a:latin typeface="맑은 고딕"/>
                <a:ea typeface="맑은 고딕"/>
              </a:rPr>
              <a:t>이라고도 부른다.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같은 과제, 3가지 방식</a:t>
            </a:r>
          </a:p>
          <a:p>
            <a:r>
              <a:rPr sz="1100" b="1">
                <a:solidFill>
                  <a:srgbClr val="000000"/>
                </a:solidFill>
                <a:latin typeface="맑은 고딕"/>
                <a:ea typeface="맑은 고딕"/>
              </a:rPr>
              <a:t>04. 개발 방식의 구분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"주문한다"를 각기 다른 3가지 방식으로 개발하면 </a:t>
            </a:r>
            <a:r>
              <a:rPr sz="1800" b="1">
                <a:solidFill>
                  <a:srgbClr val="000000"/>
                </a:solidFill>
                <a:latin typeface="맑은 고딕"/>
                <a:ea typeface="맑은 고딕"/>
              </a:rPr>
              <a:t>사람이 하는 일</a:t>
            </a:r>
            <a:r>
              <a:rPr sz="1800" b="0">
                <a:solidFill>
                  <a:srgbClr val="000000"/>
                </a:solidFill>
                <a:latin typeface="맑은 고딕"/>
                <a:ea typeface="맑은 고딕"/>
              </a:rPr>
              <a:t>이 달라진다.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LLM 이전</a:t>
            </a:r>
            <a:r>
              <a:rPr sz="1800" b="0">
                <a:solidFill>
                  <a:srgbClr val="000000"/>
                </a:solidFill>
                <a:latin typeface="맑은 고딕"/>
                <a:ea typeface="맑은 고딕"/>
              </a:rPr>
              <a:t> —</a:t>
            </a:r>
            <a:r>
              <a:rPr sz="1600" b="0">
                <a:solidFill>
                  <a:srgbClr val="000000"/>
                </a:solidFill>
                <a:latin typeface="맑은 고딕"/>
                <a:ea typeface="맑은 고딕"/>
              </a:rPr>
              <a:t> 사람이 결제 코드와 테스트를 작성한다.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 지원</a:t>
            </a:r>
            <a:r>
              <a:rPr sz="1800" b="0">
                <a:solidFill>
                  <a:srgbClr val="000000"/>
                </a:solidFill>
                <a:latin typeface="맑은 고딕"/>
                <a:ea typeface="맑은 고딕"/>
              </a:rPr>
              <a:t> —</a:t>
            </a:r>
            <a:r>
              <a:rPr sz="1600" b="0">
                <a:solidFill>
                  <a:srgbClr val="000000"/>
                </a:solidFill>
                <a:latin typeface="맑은 고딕"/>
                <a:ea typeface="맑은 고딕"/>
              </a:rPr>
              <a:t> LLM이 제안하고 사람이 받아들인다.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AI-native</a:t>
            </a:r>
            <a:r>
              <a:rPr sz="1800" b="0">
                <a:solidFill>
                  <a:srgbClr val="000000"/>
                </a:solidFill>
                <a:latin typeface="맑은 고딕"/>
                <a:ea typeface="맑은 고딕"/>
              </a:rPr>
              <a:t> —</a:t>
            </a:r>
            <a:r>
              <a:rPr sz="1600" b="0">
                <a:solidFill>
                  <a:srgbClr val="000000"/>
                </a:solidFill>
                <a:latin typeface="맑은 고딕"/>
                <a:ea typeface="맑은 고딕"/>
              </a:rPr>
              <a:t> 에이전트가 코드와 테스트를 생성하고, 사람은 검사의 결과로 판단한다.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12592"/>
            <a:ext cx="8412480" cy="201168"/>
          </a:xfrm>
          <a:prstGeom prst="rect">
            <a:avLst/>
          </a:prstGeom>
          <a:noFill/>
        </p:spPr>
        <p:txBody>
          <a:bodyPr wrap="square">
            <a:spAutoFit/>
          </a:bodyPr>
          <a:lstStyle/>
          <a:p>
            <a:pPr algn="ctr"/>
            <a:r>
              <a:rPr sz="1400" b="1">
                <a:solidFill>
                  <a:srgbClr val="000000"/>
                </a:solidFill>
                <a:latin typeface="맑은 고딕"/>
                <a:ea typeface="맑은 고딕"/>
              </a:rPr>
              <a:t>3가지 방식의 흐름</a:t>
            </a:r>
          </a:p>
        </p:txBody>
      </p:sp>
      <p:pic>
        <p:nvPicPr>
          <p:cNvPr id="10" name="mermaid Diagram 3"/>
          <p:cNvPicPr>
            <a:picLocks noChangeAspect="1"/>
          </p:cNvPicPr>
          <p:nvPr/>
        </p:nvPicPr>
        <p:blipFill>
          <a:blip r:embed="mermaidImage3"/>
          <a:stretch>
            <a:fillRect/>
          </a:stretch>
        </p:blipFill>
        <p:spPr>
          <a:xfrm>
            <a:off x="1504950" y="3450336"/>
            <a:ext cx="6134100" cy="152570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바이브 코딩과 규율</a:t>
            </a:r>
          </a:p>
          <a:p>
            <a:r>
              <a:rPr sz="1100" b="1">
                <a:solidFill>
                  <a:srgbClr val="000000"/>
                </a:solidFill>
                <a:latin typeface="맑은 고딕"/>
                <a:ea typeface="맑은 고딕"/>
              </a:rPr>
              <a:t>04. 개발 방식의 구분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결과만 보고 받아들이는 방식을 </a:t>
            </a:r>
            <a:r>
              <a:rPr sz="1800" b="1">
                <a:solidFill>
                  <a:srgbClr val="000000"/>
                </a:solidFill>
                <a:latin typeface="맑은 고딕"/>
                <a:ea typeface="맑은 고딕"/>
              </a:rPr>
              <a:t>바이브 코딩</a:t>
            </a:r>
            <a:r>
              <a:rPr sz="1400" b="0">
                <a:solidFill>
                  <a:srgbClr val="000000"/>
                </a:solidFill>
                <a:latin typeface="맑은 고딕"/>
                <a:ea typeface="맑은 고딕"/>
              </a:rPr>
              <a:t>(vibe coding)</a:t>
            </a:r>
            <a:r>
              <a:rPr sz="1800" b="0">
                <a:solidFill>
                  <a:srgbClr val="000000"/>
                </a:solidFill>
                <a:latin typeface="맑은 고딕"/>
                <a:ea typeface="맑은 고딕"/>
              </a:rPr>
              <a:t>이라고 부른다.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바이브 코딩에서는 코드가 아니라 </a:t>
            </a:r>
            <a:r>
              <a:rPr sz="1800" b="1">
                <a:solidFill>
                  <a:srgbClr val="000000"/>
                </a:solidFill>
                <a:latin typeface="맑은 고딕"/>
                <a:ea typeface="맑은 고딕"/>
              </a:rPr>
              <a:t>시스템의 동작만</a:t>
            </a:r>
            <a:r>
              <a:rPr sz="1800" b="0">
                <a:solidFill>
                  <a:srgbClr val="000000"/>
                </a:solidFill>
                <a:latin typeface="맑은 고딕"/>
                <a:ea typeface="맑은 고딕"/>
              </a:rPr>
              <a:t> 신경 쓴다</a:t>
            </a:r>
            <a:r>
              <a:rPr sz="1000" b="0">
                <a:solidFill>
                  <a:srgbClr val="000000"/>
                </a:solidFill>
                <a:latin typeface="맑은 고딕"/>
                <a:ea typeface="맑은 고딕"/>
              </a:rPr>
              <a:t>, </a:t>
            </a:r>
            <a:r>
              <a:rPr sz="1000" b="0">
                <a:solidFill>
                  <a:srgbClr val="000000"/>
                </a:solidFill>
                <a:latin typeface="맑은 고딕"/>
                <a:ea typeface="맑은 고딕"/>
              </a:rPr>
              <a:t>"In vibe coding you don't care about the code, just the behavior of the system."</a:t>
            </a:r>
            <a:r>
              <a:rPr sz="1000" b="0">
                <a:solidFill>
                  <a:srgbClr val="000000"/>
                </a:solidFill>
                <a:latin typeface="맑은 고딕"/>
                <a:ea typeface="맑은 고딕"/>
              </a:rPr>
              <a:t>, </a:t>
            </a:r>
            <a:r>
              <a:rPr sz="1000" b="0">
                <a:solidFill>
                  <a:srgbClr val="000000"/>
                </a:solidFill>
                <a:latin typeface="맑은 고딕"/>
                <a:ea typeface="맑은 고딕"/>
              </a:rPr>
              <a:t>[Beck 2025]</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증강 코딩에서는 </a:t>
            </a:r>
            <a:r>
              <a:rPr sz="1800" b="1">
                <a:solidFill>
                  <a:srgbClr val="000000"/>
                </a:solidFill>
                <a:latin typeface="맑은 고딕"/>
                <a:ea typeface="맑은 고딕"/>
              </a:rPr>
              <a:t>코드와 그 복잡도·테스트와 그 커버리지</a:t>
            </a:r>
            <a:r>
              <a:rPr sz="1800" b="0">
                <a:solidFill>
                  <a:srgbClr val="000000"/>
                </a:solidFill>
                <a:latin typeface="맑은 고딕"/>
                <a:ea typeface="맑은 고딕"/>
              </a:rPr>
              <a:t>를 신경 쓴다</a:t>
            </a:r>
            <a:r>
              <a:rPr sz="1000" b="0">
                <a:solidFill>
                  <a:srgbClr val="000000"/>
                </a:solidFill>
                <a:latin typeface="맑은 고딕"/>
                <a:ea typeface="맑은 고딕"/>
              </a:rPr>
              <a:t>, </a:t>
            </a:r>
            <a:r>
              <a:rPr sz="1000" b="0">
                <a:solidFill>
                  <a:srgbClr val="000000"/>
                </a:solidFill>
                <a:latin typeface="맑은 고딕"/>
                <a:ea typeface="맑은 고딕"/>
              </a:rPr>
              <a:t>"In augmented coding you care about the code, its complexity, the tests, &amp; their coverage."</a:t>
            </a:r>
            <a:r>
              <a:rPr sz="1000" b="0">
                <a:solidFill>
                  <a:srgbClr val="000000"/>
                </a:solidFill>
                <a:latin typeface="맑은 고딕"/>
                <a:ea typeface="맑은 고딕"/>
              </a:rPr>
              <a:t>, </a:t>
            </a:r>
            <a:r>
              <a:rPr sz="1000" b="0">
                <a:solidFill>
                  <a:srgbClr val="000000"/>
                </a:solidFill>
                <a:latin typeface="맑은 고딕"/>
                <a:ea typeface="맑은 고딕"/>
              </a:rPr>
              <a:t>[Beck 2025]</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숙련자가 규율을 지키며 LLM을 사용하는 방식을 </a:t>
            </a:r>
            <a:r>
              <a:rPr sz="1800" b="1">
                <a:solidFill>
                  <a:srgbClr val="000000"/>
                </a:solidFill>
                <a:latin typeface="맑은 고딕"/>
                <a:ea typeface="맑은 고딕"/>
              </a:rPr>
              <a:t>바이브 엔지니어링</a:t>
            </a:r>
            <a:r>
              <a:rPr sz="1400" b="0">
                <a:solidFill>
                  <a:srgbClr val="000000"/>
                </a:solidFill>
                <a:latin typeface="맑은 고딕"/>
                <a:ea typeface="맑은 고딕"/>
              </a:rPr>
              <a:t>(vibe engineering)</a:t>
            </a:r>
            <a:r>
              <a:rPr sz="1800" b="0">
                <a:solidFill>
                  <a:srgbClr val="000000"/>
                </a:solidFill>
                <a:latin typeface="맑은 고딕"/>
                <a:ea typeface="맑은 고딕"/>
              </a:rPr>
              <a:t>이라고 부른다.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숙련자가 LLM으로 일을 빠르게 하면서도 자기가 만든 소프트웨어에 </a:t>
            </a:r>
            <a:r>
              <a:rPr sz="1800" b="1">
                <a:solidFill>
                  <a:srgbClr val="000000"/>
                </a:solidFill>
                <a:latin typeface="맑은 고딕"/>
                <a:ea typeface="맑은 고딕"/>
              </a:rPr>
              <a:t>당당하고 자신 있게 책임을 진다</a:t>
            </a:r>
            <a:r>
              <a:rPr sz="1000" b="0">
                <a:solidFill>
                  <a:srgbClr val="000000"/>
                </a:solidFill>
                <a:latin typeface="맑은 고딕"/>
                <a:ea typeface="맑은 고딕"/>
              </a:rPr>
              <a:t>, </a:t>
            </a:r>
            <a:r>
              <a:rPr sz="1000" b="0">
                <a:solidFill>
                  <a:srgbClr val="000000"/>
                </a:solidFill>
                <a:latin typeface="맑은 고딕"/>
                <a:ea typeface="맑은 고딕"/>
              </a:rPr>
              <a:t>"seasoned professionals accelerate their work with LLMs while staying proudly and confidently accountable for the software they produce"</a:t>
            </a:r>
            <a:r>
              <a:rPr sz="1000" b="0">
                <a:solidFill>
                  <a:srgbClr val="000000"/>
                </a:solidFill>
                <a:latin typeface="맑은 고딕"/>
                <a:ea typeface="맑은 고딕"/>
              </a:rPr>
              <a:t>, </a:t>
            </a:r>
            <a:r>
              <a:rPr sz="1000" b="0">
                <a:solidFill>
                  <a:srgbClr val="000000"/>
                </a:solidFill>
                <a:latin typeface="맑은 고딕"/>
                <a:ea typeface="맑은 고딕"/>
              </a:rPr>
              <a:t>[Willison 2025b]</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AI는 팀이 이미 하는 방식을 빠르게 한다</a:t>
            </a:r>
            <a:r>
              <a:rPr sz="1800" b="0">
                <a:solidFill>
                  <a:srgbClr val="000000"/>
                </a:solidFill>
                <a:latin typeface="맑은 고딕"/>
                <a:ea typeface="맑은 고딕"/>
              </a:rPr>
              <a:t> —</a:t>
            </a:r>
            <a:r>
              <a:rPr sz="1600" b="0">
                <a:solidFill>
                  <a:srgbClr val="000000"/>
                </a:solidFill>
                <a:latin typeface="맑은 고딕"/>
                <a:ea typeface="맑은 고딕"/>
              </a:rPr>
              <a:t> 업무 규칙·테스트·리뷰가 있는 팀에서는 좋은 결과를, 없는 팀에서는 나쁜 결과를 더 빨리 만든다.</a:t>
            </a:r>
          </a:p>
        </p:txBody>
      </p:sp>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사람이 조종하고 에이전트가 실행한다</a:t>
            </a:r>
          </a:p>
          <a:p>
            <a:r>
              <a:rPr sz="1100" b="1">
                <a:solidFill>
                  <a:srgbClr val="000000"/>
                </a:solidFill>
                <a:latin typeface="맑은 고딕"/>
                <a:ea typeface="맑은 고딕"/>
              </a:rPr>
              <a:t>05. 사람과 AI가 하는 일</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사람이 </a:t>
            </a:r>
            <a:r>
              <a:rPr sz="1800" b="1">
                <a:solidFill>
                  <a:srgbClr val="000000"/>
                </a:solidFill>
                <a:latin typeface="맑은 고딕"/>
                <a:ea typeface="맑은 고딕"/>
              </a:rPr>
              <a:t>조종하고</a:t>
            </a:r>
            <a:r>
              <a:rPr sz="1800" b="0">
                <a:solidFill>
                  <a:srgbClr val="000000"/>
                </a:solidFill>
                <a:latin typeface="맑은 고딕"/>
                <a:ea typeface="맑은 고딕"/>
              </a:rPr>
              <a:t> 에이전트가 </a:t>
            </a:r>
            <a:r>
              <a:rPr sz="1800" b="1">
                <a:solidFill>
                  <a:srgbClr val="000000"/>
                </a:solidFill>
                <a:latin typeface="맑은 고딕"/>
                <a:ea typeface="맑은 고딕"/>
              </a:rPr>
              <a:t>실행한다</a:t>
            </a:r>
            <a:r>
              <a:rPr sz="1000" b="0">
                <a:solidFill>
                  <a:srgbClr val="000000"/>
                </a:solidFill>
                <a:latin typeface="맑은 고딕"/>
                <a:ea typeface="맑은 고딕"/>
              </a:rPr>
              <a:t>, </a:t>
            </a:r>
            <a:r>
              <a:rPr sz="1000" b="0">
                <a:solidFill>
                  <a:srgbClr val="000000"/>
                </a:solidFill>
                <a:latin typeface="맑은 고딕"/>
                <a:ea typeface="맑은 고딕"/>
              </a:rPr>
              <a:t>"Humans steer. Agents execute."</a:t>
            </a:r>
            <a:r>
              <a:rPr sz="1000" b="0">
                <a:solidFill>
                  <a:srgbClr val="000000"/>
                </a:solidFill>
                <a:latin typeface="맑은 고딕"/>
                <a:ea typeface="맑은 고딕"/>
              </a:rPr>
              <a:t>, </a:t>
            </a:r>
            <a:r>
              <a:rPr sz="1000" b="0">
                <a:solidFill>
                  <a:srgbClr val="000000"/>
                </a:solidFill>
                <a:latin typeface="맑은 고딕"/>
                <a:ea typeface="맑은 고딕"/>
              </a:rPr>
              <a:t>[Lopopolo 2026]</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사람은 늘 루프 안에 있지만 </a:t>
            </a:r>
            <a:r>
              <a:rPr sz="1800" b="1">
                <a:solidFill>
                  <a:srgbClr val="000000"/>
                </a:solidFill>
                <a:latin typeface="맑은 고딕"/>
                <a:ea typeface="맑은 고딕"/>
              </a:rPr>
              <a:t>예전과 다른 추상 수준</a:t>
            </a:r>
            <a:r>
              <a:rPr sz="1800" b="0">
                <a:solidFill>
                  <a:srgbClr val="000000"/>
                </a:solidFill>
                <a:latin typeface="맑은 고딕"/>
                <a:ea typeface="맑은 고딕"/>
              </a:rPr>
              <a:t>에서 일한다 — 일의 우선순위를 정하고 사용자 피드백을 </a:t>
            </a:r>
            <a:r>
              <a:rPr sz="1800" b="1">
                <a:solidFill>
                  <a:srgbClr val="000000"/>
                </a:solidFill>
                <a:latin typeface="맑은 고딕"/>
                <a:ea typeface="맑은 고딕"/>
              </a:rPr>
              <a:t>수용 기준</a:t>
            </a:r>
            <a:r>
              <a:rPr sz="1800" b="0">
                <a:solidFill>
                  <a:srgbClr val="000000"/>
                </a:solidFill>
                <a:latin typeface="맑은 고딕"/>
                <a:ea typeface="맑은 고딕"/>
              </a:rPr>
              <a:t>으로 옮기고 </a:t>
            </a:r>
            <a:r>
              <a:rPr sz="1800" b="1">
                <a:solidFill>
                  <a:srgbClr val="000000"/>
                </a:solidFill>
                <a:latin typeface="맑은 고딕"/>
                <a:ea typeface="맑은 고딕"/>
              </a:rPr>
              <a:t>결과를 확인</a:t>
            </a:r>
            <a:r>
              <a:rPr sz="1800" b="0">
                <a:solidFill>
                  <a:srgbClr val="000000"/>
                </a:solidFill>
                <a:latin typeface="맑은 고딕"/>
                <a:ea typeface="맑은 고딕"/>
              </a:rPr>
              <a:t>한다</a:t>
            </a:r>
            <a:r>
              <a:rPr sz="1000" b="0">
                <a:solidFill>
                  <a:srgbClr val="000000"/>
                </a:solidFill>
                <a:latin typeface="맑은 고딕"/>
                <a:ea typeface="맑은 고딕"/>
              </a:rPr>
              <a:t>, </a:t>
            </a:r>
            <a:r>
              <a:rPr sz="1000" b="0">
                <a:solidFill>
                  <a:srgbClr val="000000"/>
                </a:solidFill>
                <a:latin typeface="맑은 고딕"/>
                <a:ea typeface="맑은 고딕"/>
              </a:rPr>
              <a:t>"Humans always remain in the loop, but work at a different layer of abstraction than we used to. We prioritize work, translate user feedback into acceptance criteria, and validate outcomes."</a:t>
            </a:r>
            <a:r>
              <a:rPr sz="1000" b="0">
                <a:solidFill>
                  <a:srgbClr val="000000"/>
                </a:solidFill>
                <a:latin typeface="맑은 고딕"/>
                <a:ea typeface="맑은 고딕"/>
              </a:rPr>
              <a:t>, </a:t>
            </a:r>
            <a:r>
              <a:rPr sz="1000" b="0">
                <a:solidFill>
                  <a:srgbClr val="000000"/>
                </a:solidFill>
                <a:latin typeface="맑은 고딕"/>
                <a:ea typeface="맑은 고딕"/>
              </a:rPr>
              <a:t>[Lopopolo 2026]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우선순위를 사람이 정한다</a:t>
            </a:r>
            <a:r>
              <a:rPr sz="1800" b="0">
                <a:solidFill>
                  <a:srgbClr val="000000"/>
                </a:solidFill>
                <a:latin typeface="맑은 고딕"/>
                <a:ea typeface="맑은 고딕"/>
              </a:rPr>
              <a:t> —</a:t>
            </a:r>
            <a:r>
              <a:rPr sz="1600" b="0">
                <a:solidFill>
                  <a:srgbClr val="000000"/>
                </a:solidFill>
                <a:latin typeface="맑은 고딕"/>
                <a:ea typeface="맑은 고딕"/>
              </a:rPr>
              <a:t> 첫 릴리스에 "주문한다"를 포함한다.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수용 기준을 사람이 정한다</a:t>
            </a:r>
            <a:r>
              <a:rPr sz="1800" b="0">
                <a:solidFill>
                  <a:srgbClr val="000000"/>
                </a:solidFill>
                <a:latin typeface="맑은 고딕"/>
                <a:ea typeface="맑은 고딕"/>
              </a:rPr>
              <a:t> —</a:t>
            </a:r>
            <a:r>
              <a:rPr sz="1600" b="0">
                <a:solidFill>
                  <a:srgbClr val="000000"/>
                </a:solidFill>
                <a:latin typeface="맑은 고딕"/>
                <a:ea typeface="맑은 고딕"/>
              </a:rPr>
              <a:t> 업무 규칙 3가지를 허용·거절 예시로 옮긴다.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결과를 사람이 확인한다</a:t>
            </a:r>
            <a:r>
              <a:rPr sz="1800" b="0">
                <a:solidFill>
                  <a:srgbClr val="000000"/>
                </a:solidFill>
                <a:latin typeface="맑은 고딕"/>
                <a:ea typeface="맑은 고딕"/>
              </a:rPr>
              <a:t> —</a:t>
            </a:r>
            <a:r>
              <a:rPr sz="1600" b="0">
                <a:solidFill>
                  <a:srgbClr val="000000"/>
                </a:solidFill>
                <a:latin typeface="맑은 고딕"/>
                <a:ea typeface="맑은 고딕"/>
              </a:rPr>
              <a:t> 데모가 아니라 업무 규칙의 테스트 결과를 보고 받아들일지 판단한다.</a:t>
            </a:r>
          </a:p>
        </p:txBody>
      </p:sp>
    </p:spTree>
    <p:extLst>
      <p:ext uri="{BB962C8B-B14F-4D97-AF65-F5344CB8AC3E}">
        <p14:creationId xmlns:p14="http://schemas.microsoft.com/office/powerpoint/2010/main" val="35554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활동마다 누가 결정하는가?</a:t>
            </a:r>
          </a:p>
          <a:p>
            <a:r>
              <a:rPr sz="1100" b="1">
                <a:solidFill>
                  <a:srgbClr val="000000"/>
                </a:solidFill>
                <a:latin typeface="맑은 고딕"/>
                <a:ea typeface="맑은 고딕"/>
              </a:rPr>
              <a:t>05. 사람과 AI가 하는 일</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02246" y="2112010"/>
          <a:ext cx="6725920" cy="3168000"/>
        </p:xfrm>
        <a:graphic>
          <a:graphicData uri="http://schemas.openxmlformats.org/drawingml/2006/table">
            <a:tbl>
              <a:tblPr/>
              <a:tblGrid>
                <a:gridCol w="947420"/>
                <a:gridCol w="290322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활동</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사람이 한다</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AI가 한다</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문제·의도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문제와 의도, 위험 수용을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빠진 결정을 질문으로 드러낸다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범위·제외·미정과 기대값을 확정한다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초안을 작성하고 애매한 것을 묻는다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정적 모델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개념·관계·불변 조건을 결정한다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초안을 작성하고 모순과 누락을 낸다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동적 모델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사건과 상태·전이를 결정한다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초안을 작성하고 빠진 전이를 묻는다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아키텍처</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무엇을 알아야 하는지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대안을 비교하고 위반을 검사한다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 배치와 협력, 작업 단위를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대안을 내고 불일치를 짚는다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위임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읽힐 것과 권한, 종료 조건을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 안에서 일하고 막히면 묻는다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구현·검증</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통과를 뜻하는지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코드와 테스트를 만들고 스스로 고친다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결과 판단</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증거를 보고 수용하거나 되돌린다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완료의 증거를 제시한다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보완·판단</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모델에 반영할지, 계속 맡길지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잘못된 곳과 개선을 제안한다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사람은 </a:t>
            </a:r>
            <a:r>
              <a:rPr sz="1800" b="1">
                <a:solidFill>
                  <a:srgbClr val="000000"/>
                </a:solidFill>
                <a:latin typeface="맑은 고딕"/>
                <a:ea typeface="맑은 고딕"/>
              </a:rPr>
              <a:t>결정하고</a:t>
            </a:r>
            <a:r>
              <a:rPr sz="1800" b="0">
                <a:solidFill>
                  <a:srgbClr val="000000"/>
                </a:solidFill>
                <a:latin typeface="맑은 고딕"/>
                <a:ea typeface="맑은 고딕"/>
              </a:rPr>
              <a:t>, AI는 </a:t>
            </a:r>
            <a:r>
              <a:rPr sz="1800" b="1">
                <a:solidFill>
                  <a:srgbClr val="000000"/>
                </a:solidFill>
                <a:latin typeface="맑은 고딕"/>
                <a:ea typeface="맑은 고딕"/>
              </a:rPr>
              <a:t>초안과 검사로 지원한다</a:t>
            </a:r>
            <a:r>
              <a:rPr sz="1800" b="0">
                <a:solidFill>
                  <a:srgbClr val="000000"/>
                </a:solidFill>
                <a:latin typeface="맑은 고딕"/>
                <a:ea typeface="맑은 고딕"/>
              </a:rPr>
              <a:t>. 결정을 AI에게 넘기면 첫 시도처럼 AI의 추측이 결과에 섞인다.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활동마다 사람의 일과 AI의 일</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508610"/>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에이전트가 결정하지 않고 묻게 한다</a:t>
            </a:r>
            <a:r>
              <a:rPr sz="1800" b="0">
                <a:solidFill>
                  <a:srgbClr val="000000"/>
                </a:solidFill>
                <a:latin typeface="맑은 고딕"/>
                <a:ea typeface="맑은 고딕"/>
              </a:rPr>
              <a:t> —</a:t>
            </a:r>
            <a:r>
              <a:rPr sz="1600" b="0">
                <a:solidFill>
                  <a:srgbClr val="000000"/>
                </a:solidFill>
                <a:latin typeface="맑은 고딕"/>
                <a:ea typeface="맑은 고딕"/>
              </a:rPr>
              <a:t> "결제가 거절되면 주문은 어떻게 되나요?"를 정하는 것은 업무 담당자와 개발자다.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결정마다 검사가 있다</a:t>
            </a:r>
          </a:p>
          <a:p>
            <a:r>
              <a:rPr sz="1100" b="1">
                <a:solidFill>
                  <a:srgbClr val="000000"/>
                </a:solidFill>
                <a:latin typeface="맑은 고딕"/>
                <a:ea typeface="맑은 고딕"/>
              </a:rPr>
              <a:t>06. 결정과 검사의 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사람이 내린 결정은 </a:t>
            </a:r>
            <a:r>
              <a:rPr sz="1800" b="1">
                <a:solidFill>
                  <a:srgbClr val="000000"/>
                </a:solidFill>
                <a:latin typeface="맑은 고딕"/>
                <a:ea typeface="맑은 고딕"/>
              </a:rPr>
              <a:t>그 결정을 확인하는 검사</a:t>
            </a:r>
            <a:r>
              <a:rPr sz="1800" b="0">
                <a:solidFill>
                  <a:srgbClr val="000000"/>
                </a:solidFill>
                <a:latin typeface="맑은 고딕"/>
                <a:ea typeface="맑은 고딕"/>
              </a:rPr>
              <a:t>와 짝을 이뤄야 한다. 짝이 없는 결정은 지켜졌는지 아무도 모른다.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정하지 않은 것은 검사로 만들 수 없다</a:t>
            </a:r>
            <a:r>
              <a:rPr sz="1800" b="0">
                <a:solidFill>
                  <a:srgbClr val="000000"/>
                </a:solidFill>
                <a:latin typeface="맑은 고딕"/>
                <a:ea typeface="맑은 고딕"/>
              </a:rPr>
              <a:t> —</a:t>
            </a:r>
            <a:r>
              <a:rPr sz="1600" b="0">
                <a:solidFill>
                  <a:srgbClr val="000000"/>
                </a:solidFill>
                <a:latin typeface="맑은 고딕"/>
                <a:ea typeface="맑은 고딕"/>
              </a:rPr>
              <a:t> 검사가 없는 일은 에이전트에게 맡길 수 없다.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에이전트가 사람에게 보이기 전에 검사를 실행한다</a:t>
            </a:r>
            <a:r>
              <a:rPr sz="1800" b="0">
                <a:solidFill>
                  <a:srgbClr val="000000"/>
                </a:solidFill>
                <a:latin typeface="맑은 고딕"/>
                <a:ea typeface="맑은 고딕"/>
              </a:rPr>
              <a:t> —</a:t>
            </a:r>
            <a:r>
              <a:rPr sz="1600" b="0">
                <a:solidFill>
                  <a:srgbClr val="000000"/>
                </a:solidFill>
                <a:latin typeface="맑은 고딕"/>
                <a:ea typeface="맑은 고딕"/>
              </a:rPr>
              <a:t> 실패한 검사를 읽고 스스로 고친다.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36392"/>
            <a:ext cx="8412480" cy="201168"/>
          </a:xfrm>
          <a:prstGeom prst="rect">
            <a:avLst/>
          </a:prstGeom>
          <a:noFill/>
        </p:spPr>
        <p:txBody>
          <a:bodyPr wrap="square">
            <a:spAutoFit/>
          </a:bodyPr>
          <a:lstStyle/>
          <a:p>
            <a:pPr algn="ctr"/>
            <a:r>
              <a:rPr sz="1400" b="1">
                <a:solidFill>
                  <a:srgbClr val="000000"/>
                </a:solidFill>
                <a:latin typeface="맑은 고딕"/>
                <a:ea typeface="맑은 고딕"/>
              </a:rPr>
              <a:t>결정과 그 결정을 확인하는 검사</a:t>
            </a:r>
          </a:p>
        </p:txBody>
      </p:sp>
      <p:pic>
        <p:nvPicPr>
          <p:cNvPr id="10" name="mermaid Diagram 4"/>
          <p:cNvPicPr>
            <a:picLocks noChangeAspect="1"/>
          </p:cNvPicPr>
          <p:nvPr/>
        </p:nvPicPr>
        <p:blipFill>
          <a:blip r:embed="mermaidImage4"/>
          <a:stretch>
            <a:fillRect/>
          </a:stretch>
        </p:blipFill>
        <p:spPr>
          <a:xfrm>
            <a:off x="3190875" y="3374136"/>
            <a:ext cx="2762250" cy="22542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첫 시도에서 비어 있던 결정</a:t>
            </a:r>
          </a:p>
          <a:p>
            <a:r>
              <a:rPr sz="1100" b="1">
                <a:solidFill>
                  <a:srgbClr val="000000"/>
                </a:solidFill>
                <a:latin typeface="맑은 고딕"/>
                <a:ea typeface="맑은 고딕"/>
              </a:rPr>
              <a:t>06. 결정과 검사의 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78726" y="2112010"/>
          <a:ext cx="7172960" cy="1152000"/>
        </p:xfrm>
        <a:graphic>
          <a:graphicData uri="http://schemas.openxmlformats.org/drawingml/2006/table">
            <a:tbl>
              <a:tblPr/>
              <a:tblGrid>
                <a:gridCol w="2092960"/>
                <a:gridCol w="276352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첫 시도의 문제</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비어 있던 결정</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그 결정을 확인하는 검사</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2,400원을 청구한다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단가를 언제 확정하는가 — 정적 모델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금액의 불변 조건 테스트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승인 전에 배송을 요청한다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요청의 순서 — 동적 모델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금지된 순서 검사</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거절된 주문을 취소한다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뒤의 전이 — 동적 모델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전이 테스트</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첫 시도의 문제 3가지는 코드의 결함이 아니다. </a:t>
            </a:r>
            <a:r>
              <a:rPr sz="1800" b="1">
                <a:solidFill>
                  <a:srgbClr val="000000"/>
                </a:solidFill>
                <a:latin typeface="맑은 고딕"/>
                <a:ea typeface="맑은 고딕"/>
              </a:rPr>
              <a:t>정하지 않은 업무 규칙</a:t>
            </a:r>
            <a:r>
              <a:rPr sz="1800" b="0">
                <a:solidFill>
                  <a:srgbClr val="000000"/>
                </a:solidFill>
                <a:latin typeface="맑은 고딕"/>
                <a:ea typeface="맑은 고딕"/>
              </a:rPr>
              <a:t>을 에이전트가 추측으로 채운 것이다.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문제 3가지가 가리키는 결정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132588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정하지 않은 것에는 기대값이 없다</a:t>
            </a:r>
            <a:r>
              <a:rPr sz="1800" b="0">
                <a:solidFill>
                  <a:srgbClr val="000000"/>
                </a:solidFill>
                <a:latin typeface="맑은 고딕"/>
                <a:ea typeface="맑은 고딕"/>
              </a:rPr>
              <a:t> —</a:t>
            </a:r>
            <a:r>
              <a:rPr sz="1600" b="0">
                <a:solidFill>
                  <a:srgbClr val="000000"/>
                </a:solidFill>
                <a:latin typeface="맑은 고딕"/>
                <a:ea typeface="맑은 고딕"/>
              </a:rPr>
              <a:t> 에이전트의 테스트 3개가 모두 통과한 이유이며, 통과는 정하지 않은 것을 드러내지 못한다.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품질은 작성한 검사만큼만 보장한다</a:t>
            </a:r>
            <a:r>
              <a:rPr sz="1800" b="0">
                <a:solidFill>
                  <a:srgbClr val="000000"/>
                </a:solidFill>
                <a:latin typeface="맑은 고딕"/>
                <a:ea typeface="맑은 고딕"/>
              </a:rPr>
              <a:t> —</a:t>
            </a:r>
            <a:r>
              <a:rPr sz="1600" b="0">
                <a:solidFill>
                  <a:srgbClr val="000000"/>
                </a:solidFill>
                <a:latin typeface="맑은 고딕"/>
                <a:ea typeface="맑은 고딕"/>
              </a:rPr>
              <a:t> 주문 금액을 측정하는 검사가 없으면 2,400원을 청구해도 통과한다.</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개발 생명주기는 어떻게 달라지는가? </a:t>
            </a:r>
            <a:r>
              <a:rPr sz="2000" b="1">
                <a:solidFill>
                  <a:srgbClr val="000000"/>
                </a:solidFill>
                <a:latin typeface="맑은 고딕"/>
                <a:ea typeface="맑은 고딕"/>
              </a:rPr>
              <a:t>(1/2)</a:t>
            </a:r>
          </a:p>
          <a:p>
            <a:r>
              <a:rPr sz="1100" b="1">
                <a:solidFill>
                  <a:srgbClr val="000000"/>
                </a:solidFill>
                <a:latin typeface="맑은 고딕"/>
                <a:ea typeface="맑은 고딕"/>
              </a:rPr>
              <a:t>06. 결정과 검사의 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75016" y="3173268"/>
          <a:ext cx="5580380" cy="2016000"/>
        </p:xfrm>
        <a:graphic>
          <a:graphicData uri="http://schemas.openxmlformats.org/drawingml/2006/table">
            <a:tbl>
              <a:tblPr/>
              <a:tblGrid>
                <a:gridCol w="1366520"/>
                <a:gridCol w="1534160"/>
                <a:gridCol w="26797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활동</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누가 끌고 가는가?</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AI 이후 달라지는 것</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의도와 목표</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빠진 결정이 질문으로 드러난다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요구와 분석</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사람과 AI</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초안이 싸지고 확정은 사람이 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아키텍처와 설계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 비교와 불일치 지적을 맡긴다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구현</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AI</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코드·테스트·문서를 한 번에 만든다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검증</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자동화</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보기 전에 루프 안에서 돈다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배포와 운영</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사람과 AI</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데이터 분석의 일부를 맡긴다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개발 생명주기</a:t>
            </a:r>
            <a:r>
              <a:rPr sz="1400" b="0">
                <a:solidFill>
                  <a:srgbClr val="000000"/>
                </a:solidFill>
                <a:latin typeface="맑은 고딕"/>
                <a:ea typeface="맑은 고딕"/>
              </a:rPr>
              <a:t>(software development lifecycle, SDLC)</a:t>
            </a:r>
            <a:r>
              <a:rPr sz="1800" b="0">
                <a:solidFill>
                  <a:srgbClr val="000000"/>
                </a:solidFill>
                <a:latin typeface="맑은 고딕"/>
                <a:ea typeface="맑은 고딕"/>
              </a:rPr>
              <a:t>의 활동은 </a:t>
            </a:r>
            <a:r>
              <a:rPr sz="1800" b="1">
                <a:solidFill>
                  <a:srgbClr val="000000"/>
                </a:solidFill>
                <a:latin typeface="맑은 고딕"/>
                <a:ea typeface="맑은 고딕"/>
              </a:rPr>
              <a:t>그대로 남는다</a:t>
            </a:r>
            <a:r>
              <a:rPr sz="1800" b="0">
                <a:solidFill>
                  <a:srgbClr val="000000"/>
                </a:solidFill>
                <a:latin typeface="맑은 고딕"/>
                <a:ea typeface="맑은 고딕"/>
              </a:rPr>
              <a:t>. 달라지는 것은 활동마다 </a:t>
            </a:r>
            <a:r>
              <a:rPr sz="1800" b="1">
                <a:solidFill>
                  <a:srgbClr val="000000"/>
                </a:solidFill>
                <a:latin typeface="맑은 고딕"/>
                <a:ea typeface="맑은 고딕"/>
              </a:rPr>
              <a:t>누가 끌고 가는지, 산출물을 만드는 비용, 검증하는 시점</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소프트웨어 공학 3.0은 개발을 더 이상 코드가 아니라 </a:t>
            </a:r>
            <a:r>
              <a:rPr sz="1800" b="1">
                <a:solidFill>
                  <a:srgbClr val="000000"/>
                </a:solidFill>
                <a:latin typeface="맑은 고딕"/>
                <a:ea typeface="맑은 고딕"/>
              </a:rPr>
              <a:t>의도</a:t>
            </a:r>
            <a:r>
              <a:rPr sz="1800" b="0">
                <a:solidFill>
                  <a:srgbClr val="000000"/>
                </a:solidFill>
                <a:latin typeface="맑은 고딕"/>
                <a:ea typeface="맑은 고딕"/>
              </a:rPr>
              <a:t>가 끌고 가는 </a:t>
            </a:r>
            <a:r>
              <a:rPr sz="1800" b="1">
                <a:solidFill>
                  <a:srgbClr val="000000"/>
                </a:solidFill>
                <a:latin typeface="맑은 고딕"/>
                <a:ea typeface="맑은 고딕"/>
              </a:rPr>
              <a:t>의도 중심</a:t>
            </a:r>
            <a:r>
              <a:rPr sz="1800" b="0">
                <a:solidFill>
                  <a:srgbClr val="000000"/>
                </a:solidFill>
                <a:latin typeface="맑은 고딕"/>
                <a:ea typeface="맑은 고딕"/>
              </a:rPr>
              <a:t> 접근으로 바꾸는 전환이다</a:t>
            </a:r>
            <a:r>
              <a:rPr sz="1000" b="0">
                <a:solidFill>
                  <a:srgbClr val="000000"/>
                </a:solidFill>
                <a:latin typeface="맑은 고딕"/>
                <a:ea typeface="맑은 고딕"/>
              </a:rPr>
              <a:t>, </a:t>
            </a:r>
            <a:r>
              <a:rPr sz="1000" b="0">
                <a:solidFill>
                  <a:srgbClr val="000000"/>
                </a:solidFill>
                <a:latin typeface="맑은 고딕"/>
                <a:ea typeface="맑은 고딕"/>
              </a:rPr>
              <a:t>"SE 3.0 marks a paradigm shift towards an intent-centric approach, where development is no longer driven by code but by intents"</a:t>
            </a:r>
            <a:r>
              <a:rPr sz="1000" b="0">
                <a:solidFill>
                  <a:srgbClr val="000000"/>
                </a:solidFill>
                <a:latin typeface="맑은 고딕"/>
                <a:ea typeface="맑은 고딕"/>
              </a:rPr>
              <a:t>, </a:t>
            </a:r>
            <a:r>
              <a:rPr sz="1000" b="0">
                <a:solidFill>
                  <a:srgbClr val="000000"/>
                </a:solidFill>
                <a:latin typeface="맑은 고딕"/>
                <a:ea typeface="맑은 고딕"/>
              </a:rPr>
              <a:t>[Hassan 외 2026]</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87481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활동마다 달라지는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417868"/>
            <a:ext cx="8412480" cy="7010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코드는 수단이다</a:t>
            </a:r>
            <a:r>
              <a:rPr sz="1800" b="0">
                <a:solidFill>
                  <a:srgbClr val="000000"/>
                </a:solidFill>
                <a:latin typeface="맑은 고딕"/>
                <a:ea typeface="맑은 고딕"/>
              </a:rPr>
              <a:t> — 공학이 늘 해 온 일은 의도를 품질 있는 소프트웨어로 바꾸는 것이다</a:t>
            </a:r>
            <a:r>
              <a:rPr sz="1000" b="0">
                <a:solidFill>
                  <a:srgbClr val="000000"/>
                </a:solidFill>
                <a:latin typeface="맑은 고딕"/>
                <a:ea typeface="맑은 고딕"/>
              </a:rPr>
              <a:t>, </a:t>
            </a:r>
            <a:r>
              <a:rPr sz="1000" b="0">
                <a:solidFill>
                  <a:srgbClr val="000000"/>
                </a:solidFill>
                <a:latin typeface="맑은 고딕"/>
                <a:ea typeface="맑은 고딕"/>
              </a:rPr>
              <a:t>"Code is just a means to an end."</a:t>
            </a:r>
            <a:r>
              <a:rPr sz="1000" b="0">
                <a:solidFill>
                  <a:srgbClr val="000000"/>
                </a:solidFill>
                <a:latin typeface="맑은 고딕"/>
                <a:ea typeface="맑은 고딕"/>
              </a:rPr>
              <a:t>, </a:t>
            </a:r>
            <a:r>
              <a:rPr sz="1000" b="0">
                <a:solidFill>
                  <a:srgbClr val="000000"/>
                </a:solidFill>
                <a:latin typeface="맑은 고딕"/>
                <a:ea typeface="맑은 고딕"/>
              </a:rPr>
              <a:t>[Hassan 외 2026]</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개발 생명주기는 어떻게 달라지는가? </a:t>
            </a:r>
            <a:r>
              <a:rPr sz="2000" b="1">
                <a:solidFill>
                  <a:srgbClr val="000000"/>
                </a:solidFill>
                <a:latin typeface="맑은 고딕"/>
                <a:ea typeface="맑은 고딕"/>
              </a:rPr>
              <a:t>(2/2)</a:t>
            </a:r>
          </a:p>
          <a:p>
            <a:r>
              <a:rPr sz="1100" b="1">
                <a:solidFill>
                  <a:srgbClr val="000000"/>
                </a:solidFill>
                <a:latin typeface="맑은 고딕"/>
                <a:ea typeface="맑은 고딕"/>
              </a:rPr>
              <a:t>06. 결정과 검사의 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6개 활동은 절차가 아니다</a:t>
            </a:r>
            <a:r>
              <a:rPr sz="1800" b="0">
                <a:solidFill>
                  <a:srgbClr val="000000"/>
                </a:solidFill>
                <a:latin typeface="맑은 고딕"/>
                <a:ea typeface="맑은 고딕"/>
              </a:rPr>
              <a:t> —</a:t>
            </a:r>
            <a:r>
              <a:rPr sz="1600" b="0">
                <a:solidFill>
                  <a:srgbClr val="000000"/>
                </a:solidFill>
                <a:latin typeface="맑은 고딕"/>
                <a:ea typeface="맑은 고딕"/>
              </a:rPr>
              <a:t> 작업 단위 하나마다 전부 한 번씩 수행한다.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구현이 빨라도 분석은 줄지 않는다</a:t>
            </a:r>
            <a:r>
              <a:rPr sz="1800" b="0">
                <a:solidFill>
                  <a:srgbClr val="000000"/>
                </a:solidFill>
                <a:latin typeface="맑은 고딕"/>
                <a:ea typeface="맑은 고딕"/>
              </a:rPr>
              <a:t> —</a:t>
            </a:r>
            <a:r>
              <a:rPr sz="1600" b="0">
                <a:solidFill>
                  <a:srgbClr val="000000"/>
                </a:solidFill>
                <a:latin typeface="맑은 고딕"/>
                <a:ea typeface="맑은 고딕"/>
              </a:rPr>
              <a:t> 무엇을 만들지 결정하는 일은 사람의 몫으로 남는다.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검증은 구현 뒤에 시작하지 않는다</a:t>
            </a:r>
            <a:r>
              <a:rPr sz="1800" b="0">
                <a:solidFill>
                  <a:srgbClr val="000000"/>
                </a:solidFill>
                <a:latin typeface="맑은 고딕"/>
                <a:ea typeface="맑은 고딕"/>
              </a:rPr>
              <a:t> —</a:t>
            </a:r>
            <a:r>
              <a:rPr sz="1600" b="0">
                <a:solidFill>
                  <a:srgbClr val="000000"/>
                </a:solidFill>
                <a:latin typeface="맑은 고딕"/>
                <a:ea typeface="맑은 고딕"/>
              </a:rPr>
              <a:t> 받아들일 조건을 요구에서 결정해 계속 확인한다.</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맡기지 않는 작업 3가지</a:t>
            </a:r>
          </a:p>
          <a:p>
            <a:r>
              <a:rPr sz="1100" b="1">
                <a:solidFill>
                  <a:srgbClr val="000000"/>
                </a:solidFill>
                <a:latin typeface="맑은 고딕"/>
                <a:ea typeface="맑은 고딕"/>
              </a:rPr>
              <a:t>07. 맡길 작업과 맡기지 않을 작업</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맡기지 않는 작업은 3가지다 —</a:t>
            </a:r>
            <a:r>
              <a:rPr sz="1600" b="0">
                <a:solidFill>
                  <a:srgbClr val="000000"/>
                </a:solidFill>
                <a:latin typeface="맑은 고딕"/>
                <a:ea typeface="맑은 고딕"/>
              </a:rPr>
              <a:t> </a:t>
            </a:r>
            <a:r>
              <a:rPr sz="1600" b="1">
                <a:solidFill>
                  <a:srgbClr val="000000"/>
                </a:solidFill>
                <a:latin typeface="맑은 고딕"/>
                <a:ea typeface="맑은 고딕"/>
              </a:rPr>
              <a:t>AI가 하지 못하는 작업</a:t>
            </a:r>
            <a:r>
              <a:rPr sz="1600" b="0">
                <a:solidFill>
                  <a:srgbClr val="000000"/>
                </a:solidFill>
                <a:latin typeface="맑은 고딕"/>
                <a:ea typeface="맑은 고딕"/>
              </a:rPr>
              <a:t>, </a:t>
            </a:r>
            <a:r>
              <a:rPr sz="1600" b="1">
                <a:solidFill>
                  <a:srgbClr val="000000"/>
                </a:solidFill>
                <a:latin typeface="맑은 고딕"/>
                <a:ea typeface="맑은 고딕"/>
              </a:rPr>
              <a:t>사용할 이유가 없는 작업</a:t>
            </a:r>
            <a:r>
              <a:rPr sz="1600" b="0">
                <a:solidFill>
                  <a:srgbClr val="000000"/>
                </a:solidFill>
                <a:latin typeface="맑은 고딕"/>
                <a:ea typeface="맑은 고딕"/>
              </a:rPr>
              <a:t>, </a:t>
            </a:r>
            <a:r>
              <a:rPr sz="1600" b="1">
                <a:solidFill>
                  <a:srgbClr val="000000"/>
                </a:solidFill>
                <a:latin typeface="맑은 고딕"/>
                <a:ea typeface="맑은 고딕"/>
              </a:rPr>
              <a:t>완료를 판정할 수 없는 작업</a:t>
            </a:r>
            <a:r>
              <a:rPr sz="16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AI가 하지 못하는 작업</a:t>
            </a:r>
            <a:r>
              <a:rPr sz="1800" b="0">
                <a:solidFill>
                  <a:srgbClr val="000000"/>
                </a:solidFill>
                <a:latin typeface="맑은 고딕"/>
                <a:ea typeface="맑은 고딕"/>
              </a:rPr>
              <a:t> —</a:t>
            </a:r>
            <a:r>
              <a:rPr sz="1600" b="0">
                <a:solidFill>
                  <a:srgbClr val="000000"/>
                </a:solidFill>
                <a:latin typeface="맑은 고딕"/>
                <a:ea typeface="맑은 고딕"/>
              </a:rPr>
              <a:t> 답과 책임이 사람에게 있다.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업무 규칙 정하기</a:t>
            </a:r>
            <a:r>
              <a:rPr sz="1600" b="0">
                <a:solidFill>
                  <a:srgbClr val="000000"/>
                </a:solidFill>
                <a:latin typeface="맑은 고딕"/>
                <a:ea typeface="맑은 고딕"/>
              </a:rPr>
              <a:t> —</a:t>
            </a:r>
            <a:r>
              <a:rPr sz="1400" b="0">
                <a:solidFill>
                  <a:srgbClr val="000000"/>
                </a:solidFill>
                <a:latin typeface="맑은 고딕"/>
                <a:ea typeface="맑은 고딕"/>
              </a:rPr>
              <a:t> 답은 업무 담당자가 안다. AI는 질문을 찾는다.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되돌리기 어려운 작업의 실행</a:t>
            </a:r>
            <a:r>
              <a:rPr sz="1600" b="0">
                <a:solidFill>
                  <a:srgbClr val="000000"/>
                </a:solidFill>
                <a:latin typeface="맑은 고딕"/>
                <a:ea typeface="맑은 고딕"/>
              </a:rPr>
              <a:t> —</a:t>
            </a:r>
            <a:r>
              <a:rPr sz="1400" b="0">
                <a:solidFill>
                  <a:srgbClr val="000000"/>
                </a:solidFill>
                <a:latin typeface="맑은 고딕"/>
                <a:ea typeface="맑은 고딕"/>
              </a:rPr>
              <a:t> 책임은 사람이 진다. AI는 초안만 작성한다.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AI를 사용할 이유가 없는 작업</a:t>
            </a:r>
            <a:r>
              <a:rPr sz="1800" b="0">
                <a:solidFill>
                  <a:srgbClr val="000000"/>
                </a:solidFill>
                <a:latin typeface="맑은 고딕"/>
                <a:ea typeface="맑은 고딕"/>
              </a:rPr>
              <a:t> —</a:t>
            </a:r>
            <a:r>
              <a:rPr sz="1600" b="0">
                <a:solidFill>
                  <a:srgbClr val="000000"/>
                </a:solidFill>
                <a:latin typeface="맑은 고딕"/>
                <a:ea typeface="맑은 고딕"/>
              </a:rPr>
              <a:t> 늘 같은 결과가 나와야 한다.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코드 형식·의존 규칙 검사</a:t>
            </a:r>
            <a:r>
              <a:rPr sz="1600" b="0">
                <a:solidFill>
                  <a:srgbClr val="000000"/>
                </a:solidFill>
                <a:latin typeface="맑은 고딕"/>
                <a:ea typeface="맑은 고딕"/>
              </a:rPr>
              <a:t> —</a:t>
            </a:r>
            <a:r>
              <a:rPr sz="1400" b="0">
                <a:solidFill>
                  <a:srgbClr val="000000"/>
                </a:solidFill>
                <a:latin typeface="맑은 고딕"/>
                <a:ea typeface="맑은 고딕"/>
              </a:rPr>
              <a:t> 포매터와 정적 검사가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에이전트는 </a:t>
            </a:r>
            <a:r>
              <a:rPr sz="1800" b="1">
                <a:solidFill>
                  <a:srgbClr val="000000"/>
                </a:solidFill>
                <a:latin typeface="맑은 고딕"/>
                <a:ea typeface="맑은 고딕"/>
              </a:rPr>
              <a:t>결정적·규칙 기반 방식이 잘 듣지 않는</a:t>
            </a:r>
            <a:r>
              <a:rPr sz="1800" b="0">
                <a:solidFill>
                  <a:srgbClr val="000000"/>
                </a:solidFill>
                <a:latin typeface="맑은 고딕"/>
                <a:ea typeface="맑은 고딕"/>
              </a:rPr>
              <a:t> 일에 맞는다</a:t>
            </a:r>
            <a:r>
              <a:rPr sz="1000" b="0">
                <a:solidFill>
                  <a:srgbClr val="000000"/>
                </a:solidFill>
                <a:latin typeface="맑은 고딕"/>
                <a:ea typeface="맑은 고딕"/>
              </a:rPr>
              <a:t>, </a:t>
            </a:r>
            <a:r>
              <a:rPr sz="1000" b="0">
                <a:solidFill>
                  <a:srgbClr val="000000"/>
                </a:solidFill>
                <a:latin typeface="맑은 고딕"/>
                <a:ea typeface="맑은 고딕"/>
              </a:rPr>
              <a:t>"agents are uniquely suited to workflows where traditional deterministic and rule-based approaches fall short"</a:t>
            </a:r>
            <a:r>
              <a:rPr sz="1000" b="0">
                <a:solidFill>
                  <a:srgbClr val="000000"/>
                </a:solidFill>
                <a:latin typeface="맑은 고딕"/>
                <a:ea typeface="맑은 고딕"/>
              </a:rPr>
              <a:t>, </a:t>
            </a:r>
            <a:r>
              <a:rPr sz="1000" b="0">
                <a:solidFill>
                  <a:srgbClr val="000000"/>
                </a:solidFill>
                <a:latin typeface="맑은 고딕"/>
                <a:ea typeface="맑은 고딕"/>
              </a:rPr>
              <a:t>[OpenAI 2025]</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에이전트를 만들기 전에 </a:t>
            </a:r>
            <a:r>
              <a:rPr sz="1600" b="1">
                <a:solidFill>
                  <a:srgbClr val="000000"/>
                </a:solidFill>
                <a:latin typeface="맑은 고딕"/>
                <a:ea typeface="맑은 고딕"/>
              </a:rPr>
              <a:t>그 조건을 분명히 충족하는지 확인한다</a:t>
            </a:r>
            <a:r>
              <a:rPr sz="1600" b="0">
                <a:solidFill>
                  <a:srgbClr val="000000"/>
                </a:solidFill>
                <a:latin typeface="맑은 고딕"/>
                <a:ea typeface="맑은 고딕"/>
              </a:rPr>
              <a:t> — 아니면 결정적인 해법으로 충분할 수 있다</a:t>
            </a:r>
            <a:r>
              <a:rPr sz="1000" b="0">
                <a:solidFill>
                  <a:srgbClr val="000000"/>
                </a:solidFill>
                <a:latin typeface="맑은 고딕"/>
                <a:ea typeface="맑은 고딕"/>
              </a:rPr>
              <a:t>, </a:t>
            </a:r>
            <a:r>
              <a:rPr sz="1000" b="0">
                <a:solidFill>
                  <a:srgbClr val="000000"/>
                </a:solidFill>
                <a:latin typeface="맑은 고딕"/>
                <a:ea typeface="맑은 고딕"/>
              </a:rPr>
              <a:t>"Before committing to building an agent, validate that your use case can meet these criteria clearly. Otherwise, a deterministic solution may suffice."</a:t>
            </a:r>
            <a:r>
              <a:rPr sz="1000" b="0">
                <a:solidFill>
                  <a:srgbClr val="000000"/>
                </a:solidFill>
                <a:latin typeface="맑은 고딕"/>
                <a:ea typeface="맑은 고딕"/>
              </a:rPr>
              <a:t>, </a:t>
            </a:r>
            <a:r>
              <a:rPr sz="1000" b="0">
                <a:solidFill>
                  <a:srgbClr val="000000"/>
                </a:solidFill>
                <a:latin typeface="맑은 고딕"/>
                <a:ea typeface="맑은 고딕"/>
              </a:rPr>
              <a:t>[OpenAI 2025]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완료를 판정할 수 없는 작업</a:t>
            </a:r>
            <a:r>
              <a:rPr sz="1800" b="0">
                <a:solidFill>
                  <a:srgbClr val="000000"/>
                </a:solidFill>
                <a:latin typeface="맑은 고딕"/>
                <a:ea typeface="맑은 고딕"/>
              </a:rPr>
              <a:t> —</a:t>
            </a:r>
            <a:r>
              <a:rPr sz="1600" b="0">
                <a:solidFill>
                  <a:srgbClr val="000000"/>
                </a:solidFill>
                <a:latin typeface="맑은 고딕"/>
                <a:ea typeface="맑은 고딕"/>
              </a:rPr>
              <a:t> 받아들일 기준이 없으면 검사도 없고, 검사가 없으면 맡기지 않는다.</a:t>
            </a:r>
          </a:p>
        </p:txBody>
      </p:sp>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상황이 정하는 접근</a:t>
            </a:r>
          </a:p>
          <a:p>
            <a:r>
              <a:rPr sz="1100" b="1">
                <a:solidFill>
                  <a:srgbClr val="000000"/>
                </a:solidFill>
                <a:latin typeface="맑은 고딕"/>
                <a:ea typeface="맑은 고딕"/>
              </a:rPr>
              <a:t>07. 맡길 작업과 맡기지 않을 작업</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69326" y="2386330"/>
          <a:ext cx="5191760" cy="1728000"/>
        </p:xfrm>
        <a:graphic>
          <a:graphicData uri="http://schemas.openxmlformats.org/drawingml/2006/table">
            <a:tbl>
              <a:tblPr/>
              <a:tblGrid>
                <a:gridCol w="231648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상황</a:t>
                      </a:r>
                    </a:p>
                  </a:txBody>
                  <a:tcPr marL="6750" marR="6750" marT="6750" marB="675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접근</a:t>
                      </a:r>
                    </a:p>
                  </a:txBody>
                  <a:tcPr marL="6750" marR="6750" marT="6750" marB="675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규칙이 분명한 반복 작업</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자동화부터 적극 적용한다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복잡하고 자주 바뀌는 업무</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분석·설계하고 AI가 구현한다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안전·규제의 영향이 큰 시스템</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독립 검증과 승인을 함께 둔다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명세와 테스트가 없는 레거시</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맥락을 복원하고 검사를 먼저 갖춘다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요구가 불명확한 신규 사업</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대안을 탐색하고 목표는 사람이 정한다</a:t>
                      </a:r>
                    </a:p>
                  </a:txBody>
                  <a:tcPr marL="81005" marR="6750" marT="6750" marB="675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모든 프로젝트에 같은 수준의 자율성을 적용할 이유는 없다. </a:t>
            </a:r>
            <a:r>
              <a:rPr sz="1800" b="1">
                <a:solidFill>
                  <a:srgbClr val="000000"/>
                </a:solidFill>
                <a:latin typeface="맑은 고딕"/>
                <a:ea typeface="맑은 고딕"/>
              </a:rPr>
              <a:t>무엇이 이미 명시되어 있고 무엇을 검사할 수 있는지</a:t>
            </a:r>
            <a:r>
              <a:rPr sz="1800" b="0">
                <a:solidFill>
                  <a:srgbClr val="000000"/>
                </a:solidFill>
                <a:latin typeface="맑은 고딕"/>
                <a:ea typeface="맑은 고딕"/>
              </a:rPr>
              <a:t>가 어디서 시작할지를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상황별 접근</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42930"/>
            <a:ext cx="8412480" cy="183849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초기 속도 이득</a:t>
            </a:r>
            <a:r>
              <a:rPr sz="1800" b="0">
                <a:solidFill>
                  <a:srgbClr val="000000"/>
                </a:solidFill>
                <a:latin typeface="맑은 고딕"/>
                <a:ea typeface="맑은 고딕"/>
              </a:rPr>
              <a:t>이 하류의 유지보수 문제로 </a:t>
            </a:r>
            <a:r>
              <a:rPr sz="1800" b="1">
                <a:solidFill>
                  <a:srgbClr val="000000"/>
                </a:solidFill>
                <a:latin typeface="맑은 고딕"/>
                <a:ea typeface="맑은 고딕"/>
              </a:rPr>
              <a:t>완전히 상쇄될 위험</a:t>
            </a:r>
            <a:r>
              <a:rPr sz="1800" b="0">
                <a:solidFill>
                  <a:srgbClr val="000000"/>
                </a:solidFill>
                <a:latin typeface="맑은 고딕"/>
                <a:ea typeface="맑은 고딕"/>
              </a:rPr>
              <a:t>이 있다</a:t>
            </a:r>
            <a:r>
              <a:rPr sz="1000" b="0">
                <a:solidFill>
                  <a:srgbClr val="000000"/>
                </a:solidFill>
                <a:latin typeface="맑은 고딕"/>
                <a:ea typeface="맑은 고딕"/>
              </a:rPr>
              <a:t>, </a:t>
            </a:r>
            <a:r>
              <a:rPr sz="1000" b="0">
                <a:solidFill>
                  <a:srgbClr val="000000"/>
                </a:solidFill>
                <a:latin typeface="맑은 고딕"/>
                <a:ea typeface="맑은 고딕"/>
              </a:rPr>
              <a:t>"initial speed gains risk being fully canceled out by downstream maintainability problems."</a:t>
            </a:r>
            <a:r>
              <a:rPr sz="1000" b="0">
                <a:solidFill>
                  <a:srgbClr val="000000"/>
                </a:solidFill>
                <a:latin typeface="맑은 고딕"/>
                <a:ea typeface="맑은 고딕"/>
              </a:rPr>
              <a:t>, </a:t>
            </a:r>
            <a:r>
              <a:rPr sz="1000" b="0">
                <a:solidFill>
                  <a:srgbClr val="000000"/>
                </a:solidFill>
                <a:latin typeface="맑은 고딕"/>
                <a:ea typeface="맑은 고딕"/>
              </a:rPr>
              <a:t>[Hassan 외 2026]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생성량으로 판단하지 않는다</a:t>
            </a:r>
            <a:r>
              <a:rPr sz="1800" b="0">
                <a:solidFill>
                  <a:srgbClr val="000000"/>
                </a:solidFill>
                <a:latin typeface="맑은 고딕"/>
                <a:ea typeface="맑은 고딕"/>
              </a:rPr>
              <a:t> —</a:t>
            </a:r>
            <a:r>
              <a:rPr sz="1600" b="0">
                <a:solidFill>
                  <a:srgbClr val="000000"/>
                </a:solidFill>
                <a:latin typeface="맑은 고딕"/>
                <a:ea typeface="맑은 고딕"/>
              </a:rPr>
              <a:t> 생성한 양이 아니라 </a:t>
            </a:r>
            <a:r>
              <a:rPr sz="1600" b="1">
                <a:solidFill>
                  <a:srgbClr val="000000"/>
                </a:solidFill>
                <a:latin typeface="맑은 고딕"/>
                <a:ea typeface="맑은 고딕"/>
              </a:rPr>
              <a:t>검토·수정에 든 시간과 남는 부채</a:t>
            </a:r>
            <a:r>
              <a:rPr sz="1600" b="0">
                <a:solidFill>
                  <a:srgbClr val="000000"/>
                </a:solidFill>
                <a:latin typeface="맑은 고딕"/>
                <a:ea typeface="맑은 고딕"/>
              </a:rPr>
              <a:t>로 득실을 측정한다.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검사가 없으면 자율성을 올리지 않는다</a:t>
            </a:r>
            <a:r>
              <a:rPr sz="1800" b="0">
                <a:solidFill>
                  <a:srgbClr val="000000"/>
                </a:solidFill>
                <a:latin typeface="맑은 고딕"/>
                <a:ea typeface="맑은 고딕"/>
              </a:rPr>
              <a:t> —</a:t>
            </a:r>
            <a:r>
              <a:rPr sz="1600" b="0">
                <a:solidFill>
                  <a:srgbClr val="000000"/>
                </a:solidFill>
                <a:latin typeface="맑은 고딕"/>
                <a:ea typeface="맑은 고딕"/>
              </a:rPr>
              <a:t> 5가지 상황을 가르는 것은 </a:t>
            </a:r>
            <a:r>
              <a:rPr sz="1600" b="1">
                <a:solidFill>
                  <a:srgbClr val="000000"/>
                </a:solidFill>
                <a:latin typeface="맑은 고딕"/>
                <a:ea typeface="맑은 고딕"/>
              </a:rPr>
              <a:t>검사할 수 있는 것</a:t>
            </a:r>
            <a:r>
              <a:rPr sz="1600" b="0">
                <a:solidFill>
                  <a:srgbClr val="000000"/>
                </a:solidFill>
                <a:latin typeface="맑은 고딕"/>
                <a:ea typeface="맑은 고딕"/>
              </a:rPr>
              <a:t>의 차이다.</a:t>
            </a:r>
          </a:p>
        </p:txBody>
      </p:sp>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과정의 지도</a:t>
            </a:r>
          </a:p>
          <a:p>
            <a:r>
              <a:rPr sz="1100" b="1">
                <a:solidFill>
                  <a:srgbClr val="000000"/>
                </a:solidFill>
                <a:latin typeface="맑은 고딕"/>
                <a:ea typeface="맑은 고딕"/>
              </a:rPr>
              <a:t>07. 맡길 작업과 맡기지 않을 작업</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남은 10세션은 사람이 </a:t>
            </a:r>
            <a:r>
              <a:rPr sz="1800" b="1">
                <a:solidFill>
                  <a:srgbClr val="000000"/>
                </a:solidFill>
                <a:latin typeface="맑은 고딕"/>
                <a:ea typeface="맑은 고딕"/>
              </a:rPr>
              <a:t>결정하는 영역</a:t>
            </a:r>
            <a:r>
              <a:rPr sz="1800" b="0">
                <a:solidFill>
                  <a:srgbClr val="000000"/>
                </a:solidFill>
                <a:latin typeface="맑은 고딕"/>
                <a:ea typeface="맑은 고딕"/>
              </a:rPr>
              <a:t>과 에이전트에게 </a:t>
            </a:r>
            <a:r>
              <a:rPr sz="1800" b="1">
                <a:solidFill>
                  <a:srgbClr val="000000"/>
                </a:solidFill>
                <a:latin typeface="맑은 고딕"/>
                <a:ea typeface="맑은 고딕"/>
              </a:rPr>
              <a:t>맡기고 증거를 받는 영역</a:t>
            </a:r>
            <a:r>
              <a:rPr sz="1800" b="0">
                <a:solidFill>
                  <a:srgbClr val="000000"/>
                </a:solidFill>
                <a:latin typeface="맑은 고딕"/>
                <a:ea typeface="맑은 고딕"/>
              </a:rPr>
              <a:t>으로 나뉜다. 실습은 "주문한다" 하나로 두 영역을 모두 거친다.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사람이 결정하는 것은 5가지다</a:t>
            </a:r>
            <a:r>
              <a:rPr sz="1800" b="0">
                <a:solidFill>
                  <a:srgbClr val="000000"/>
                </a:solidFill>
                <a:latin typeface="맑은 고딕"/>
                <a:ea typeface="맑은 고딕"/>
              </a:rPr>
              <a:t> —</a:t>
            </a:r>
            <a:r>
              <a:rPr sz="1600" b="0">
                <a:solidFill>
                  <a:srgbClr val="000000"/>
                </a:solidFill>
                <a:latin typeface="맑은 고딕"/>
                <a:ea typeface="맑은 고딕"/>
              </a:rPr>
              <a:t> 요구와 수용 기준, 정적 모델, 동적 모델, 아키텍처, 설계와 작업 단위다.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에이전트가 하는 일은 4가지다</a:t>
            </a:r>
            <a:r>
              <a:rPr sz="1800" b="0">
                <a:solidFill>
                  <a:srgbClr val="000000"/>
                </a:solidFill>
                <a:latin typeface="맑은 고딕"/>
                <a:ea typeface="맑은 고딕"/>
              </a:rPr>
              <a:t> —</a:t>
            </a:r>
            <a:r>
              <a:rPr sz="1600" b="0">
                <a:solidFill>
                  <a:srgbClr val="000000"/>
                </a:solidFill>
                <a:latin typeface="맑은 고딕"/>
                <a:ea typeface="맑은 고딕"/>
              </a:rPr>
              <a:t> 맡은 작업의 구현, 검사 실행과 수정, 완료의 증거 제시, 비용과 결과의 기록이다.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오래 남는 산출물은 5가지다</a:t>
            </a:r>
            <a:r>
              <a:rPr sz="1800" b="0">
                <a:solidFill>
                  <a:srgbClr val="000000"/>
                </a:solidFill>
                <a:latin typeface="맑은 고딕"/>
                <a:ea typeface="맑은 고딕"/>
              </a:rPr>
              <a:t> —</a:t>
            </a:r>
            <a:r>
              <a:rPr sz="1600" b="0">
                <a:solidFill>
                  <a:srgbClr val="000000"/>
                </a:solidFill>
                <a:latin typeface="맑은 고딕"/>
                <a:ea typeface="맑은 고딕"/>
              </a:rPr>
              <a:t> 요구사항 정의서·용어집·정적 모델·상태 기계·의존 규칙과 검사 결과이다.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검사와 권한은 한 번 맡겨 본 뒤에 결정한다</a:t>
            </a:r>
            <a:r>
              <a:rPr sz="1800" b="0">
                <a:solidFill>
                  <a:srgbClr val="000000"/>
                </a:solidFill>
                <a:latin typeface="맑은 고딕"/>
                <a:ea typeface="맑은 고딕"/>
              </a:rPr>
              <a:t> —</a:t>
            </a:r>
            <a:r>
              <a:rPr sz="1600" b="0">
                <a:solidFill>
                  <a:srgbClr val="000000"/>
                </a:solidFill>
                <a:latin typeface="맑은 고딕"/>
                <a:ea typeface="맑은 고딕"/>
              </a:rPr>
              <a:t> 무엇을 검사하고 무엇을 금지할지는 미리 알 수 없다.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660392"/>
            <a:ext cx="8412480" cy="201168"/>
          </a:xfrm>
          <a:prstGeom prst="rect">
            <a:avLst/>
          </a:prstGeom>
          <a:noFill/>
        </p:spPr>
        <p:txBody>
          <a:bodyPr wrap="square">
            <a:spAutoFit/>
          </a:bodyPr>
          <a:lstStyle/>
          <a:p>
            <a:pPr algn="ctr"/>
            <a:r>
              <a:rPr sz="1400" b="1">
                <a:solidFill>
                  <a:srgbClr val="000000"/>
                </a:solidFill>
                <a:latin typeface="맑은 고딕"/>
                <a:ea typeface="맑은 고딕"/>
              </a:rPr>
              <a:t>과정의 지도</a:t>
            </a:r>
          </a:p>
        </p:txBody>
      </p:sp>
      <p:pic>
        <p:nvPicPr>
          <p:cNvPr id="10" name="mermaid Diagram 5"/>
          <p:cNvPicPr>
            <a:picLocks noChangeAspect="1"/>
          </p:cNvPicPr>
          <p:nvPr/>
        </p:nvPicPr>
        <p:blipFill>
          <a:blip r:embed="mermaidImage5"/>
          <a:stretch>
            <a:fillRect/>
          </a:stretch>
        </p:blipFill>
        <p:spPr>
          <a:xfrm>
            <a:off x="1531938" y="4898136"/>
            <a:ext cx="6080125" cy="7699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08. 실습 환경 준비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첫 실습부터 </a:t>
            </a:r>
            <a:r>
              <a:rPr sz="1800" b="1">
                <a:solidFill>
                  <a:srgbClr val="000000"/>
                </a:solidFill>
                <a:latin typeface="맑은 고딕"/>
                <a:ea typeface="맑은 고딕"/>
              </a:rPr>
              <a:t>자기 저장소에 산출물을 모으고</a:t>
            </a:r>
            <a:r>
              <a:rPr sz="1800" b="0">
                <a:solidFill>
                  <a:srgbClr val="000000"/>
                </a:solidFill>
                <a:latin typeface="맑은 고딕"/>
                <a:ea typeface="맑은 고딕"/>
              </a:rPr>
              <a:t>, </a:t>
            </a:r>
            <a:r>
              <a:rPr sz="1800" b="1">
                <a:solidFill>
                  <a:srgbClr val="000000"/>
                </a:solidFill>
                <a:latin typeface="맑은 고딕"/>
                <a:ea typeface="맑은 고딕"/>
              </a:rPr>
              <a:t>"세션 08. 위임"부터는 같은 저장소에서 코드와 검사를 돌린다</a:t>
            </a:r>
            <a:r>
              <a:rPr sz="1800" b="0">
                <a:solidFill>
                  <a:srgbClr val="000000"/>
                </a:solidFill>
                <a:latin typeface="맑은 고딕"/>
                <a:ea typeface="맑은 고딕"/>
              </a:rPr>
              <a:t>. </a:t>
            </a:r>
            <a:r>
              <a:rPr sz="1800" b="1">
                <a:solidFill>
                  <a:srgbClr val="000000"/>
                </a:solidFill>
                <a:latin typeface="맑은 고딕"/>
                <a:ea typeface="맑은 고딕"/>
              </a:rPr>
              <a:t>Windows</a:t>
            </a:r>
            <a:r>
              <a:rPr sz="1800" b="0">
                <a:solidFill>
                  <a:srgbClr val="000000"/>
                </a:solidFill>
                <a:latin typeface="맑은 고딕"/>
                <a:ea typeface="맑은 고딕"/>
              </a:rPr>
              <a:t>에서 5가지를 준비한다 —</a:t>
            </a:r>
            <a:r>
              <a:rPr sz="1600" b="0">
                <a:solidFill>
                  <a:srgbClr val="000000"/>
                </a:solidFill>
                <a:latin typeface="맑은 고딕"/>
                <a:ea typeface="맑은 고딕"/>
              </a:rPr>
              <a:t> 명령은 PowerShell에서 실행한다.</a:t>
            </a:r>
          </a:p>
          <a:p>
            <a:pPr lvl="2" marL="607060" indent="-251460">
              <a:spcBef>
                <a:spcPts val="600"/>
              </a:spcBef>
              <a:spcAft>
                <a:spcPts val="600"/>
              </a:spcAft>
              <a:buNone/>
            </a:pPr>
            <a:r>
              <a:rPr sz="1800" b="0">
                <a:solidFill>
                  <a:srgbClr val="000000"/>
                </a:solidFill>
                <a:latin typeface="맑은 고딕"/>
                <a:ea typeface="맑은 고딕"/>
              </a:rPr>
              <a:t>1. </a:t>
            </a:r>
            <a:r>
              <a:rPr sz="1800" b="1">
                <a:solidFill>
                  <a:srgbClr val="000000"/>
                </a:solidFill>
                <a:latin typeface="맑은 고딕"/>
                <a:ea typeface="맑은 고딕"/>
              </a:rPr>
              <a:t>코딩 에이전트</a:t>
            </a:r>
            <a:r>
              <a:rPr sz="1800" b="0">
                <a:solidFill>
                  <a:srgbClr val="000000"/>
                </a:solidFill>
                <a:latin typeface="맑은 고딕"/>
                <a:ea typeface="맑은 고딕"/>
              </a:rPr>
              <a:t> —</a:t>
            </a:r>
            <a:r>
              <a:rPr sz="1600" b="0">
                <a:solidFill>
                  <a:srgbClr val="000000"/>
                </a:solidFill>
                <a:latin typeface="맑은 고딕"/>
                <a:ea typeface="맑은 고딕"/>
              </a:rPr>
              <a:t> Claude Code를 설치하고 </a:t>
            </a:r>
            <a:r>
              <a:rPr sz="1600" b="1">
                <a:solidFill>
                  <a:srgbClr val="000000"/>
                </a:solidFill>
                <a:latin typeface="맑은 고딕"/>
                <a:ea typeface="맑은 고딕"/>
              </a:rPr>
              <a:t>Claude Team 계정으로 로그인</a:t>
            </a:r>
            <a:r>
              <a:rPr sz="1600" b="0">
                <a:solidFill>
                  <a:srgbClr val="000000"/>
                </a:solidFill>
                <a:latin typeface="맑은 고딕"/>
                <a:ea typeface="맑은 고딕"/>
              </a:rPr>
              <a:t>한다. </a:t>
            </a:r>
            <a:r>
              <a:rPr sz="1600" b="0">
                <a:solidFill>
                  <a:srgbClr val="000000"/>
                </a:solidFill>
                <a:latin typeface="맑은 고딕"/>
                <a:ea typeface="맑은 고딕"/>
              </a:rPr>
              <a:t>claude</a:t>
            </a:r>
            <a:r>
              <a:rPr sz="1600" b="0">
                <a:solidFill>
                  <a:srgbClr val="000000"/>
                </a:solidFill>
                <a:latin typeface="맑은 고딕"/>
                <a:ea typeface="맑은 고딕"/>
              </a:rPr>
              <a:t>를 실행해 대화가 되면 된다.</a:t>
            </a:r>
          </a:p>
          <a:p>
            <a:pPr lvl="2" marL="607060" indent="-251460">
              <a:spcBef>
                <a:spcPts val="600"/>
              </a:spcBef>
              <a:spcAft>
                <a:spcPts val="600"/>
              </a:spcAft>
              <a:buNone/>
            </a:pPr>
            <a:r>
              <a:rPr sz="1800" b="0">
                <a:solidFill>
                  <a:srgbClr val="000000"/>
                </a:solidFill>
                <a:latin typeface="맑은 고딕"/>
                <a:ea typeface="맑은 고딕"/>
              </a:rPr>
              <a:t>2. </a:t>
            </a:r>
            <a:r>
              <a:rPr sz="1800" b="1">
                <a:solidFill>
                  <a:srgbClr val="000000"/>
                </a:solidFill>
                <a:latin typeface="맑은 고딕"/>
                <a:ea typeface="맑은 고딕"/>
              </a:rPr>
              <a:t>JDK 17 이상</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winget install Microsoft.OpenJDK.21</a:t>
            </a:r>
            <a:r>
              <a:rPr sz="1600" b="0">
                <a:solidFill>
                  <a:srgbClr val="000000"/>
                </a:solidFill>
                <a:latin typeface="맑은 고딕"/>
                <a:ea typeface="맑은 고딕"/>
              </a:rPr>
              <a:t>로 설치하고 </a:t>
            </a:r>
            <a:r>
              <a:rPr sz="1600" b="0">
                <a:solidFill>
                  <a:srgbClr val="000000"/>
                </a:solidFill>
                <a:latin typeface="맑은 고딕"/>
                <a:ea typeface="맑은 고딕"/>
              </a:rPr>
              <a:t>java -version</a:t>
            </a:r>
            <a:r>
              <a:rPr sz="1600" b="0">
                <a:solidFill>
                  <a:srgbClr val="000000"/>
                </a:solidFill>
                <a:latin typeface="맑은 고딕"/>
                <a:ea typeface="맑은 고딕"/>
              </a:rPr>
              <a:t>으로 확인한다.</a:t>
            </a:r>
          </a:p>
          <a:p>
            <a:pPr lvl="2" marL="607060" indent="-251460">
              <a:spcBef>
                <a:spcPts val="600"/>
              </a:spcBef>
              <a:spcAft>
                <a:spcPts val="600"/>
              </a:spcAft>
              <a:buNone/>
            </a:pPr>
            <a:r>
              <a:rPr sz="1800" b="0">
                <a:solidFill>
                  <a:srgbClr val="000000"/>
                </a:solidFill>
                <a:latin typeface="맑은 고딕"/>
                <a:ea typeface="맑은 고딕"/>
              </a:rPr>
              <a:t>3. </a:t>
            </a:r>
            <a:r>
              <a:rPr sz="1800" b="1">
                <a:solidFill>
                  <a:srgbClr val="000000"/>
                </a:solidFill>
                <a:latin typeface="맑은 고딕"/>
                <a:ea typeface="맑은 고딕"/>
              </a:rPr>
              <a:t>Gradle</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winget install Gradle.Gradle</a:t>
            </a:r>
            <a:r>
              <a:rPr sz="1600" b="0">
                <a:solidFill>
                  <a:srgbClr val="000000"/>
                </a:solidFill>
                <a:latin typeface="맑은 고딕"/>
                <a:ea typeface="맑은 고딕"/>
              </a:rPr>
              <a:t>로 설치하고 </a:t>
            </a:r>
            <a:r>
              <a:rPr sz="1600" b="0">
                <a:solidFill>
                  <a:srgbClr val="000000"/>
                </a:solidFill>
                <a:latin typeface="맑은 고딕"/>
                <a:ea typeface="맑은 고딕"/>
              </a:rPr>
              <a:t>gradle -v</a:t>
            </a:r>
            <a:r>
              <a:rPr sz="1600" b="0">
                <a:solidFill>
                  <a:srgbClr val="000000"/>
                </a:solidFill>
                <a:latin typeface="맑은 고딕"/>
                <a:ea typeface="맑은 고딕"/>
              </a:rPr>
              <a:t>로 확인한다.</a:t>
            </a:r>
          </a:p>
          <a:p>
            <a:pPr lvl="2" marL="607060" indent="-251460">
              <a:spcBef>
                <a:spcPts val="600"/>
              </a:spcBef>
              <a:spcAft>
                <a:spcPts val="600"/>
              </a:spcAft>
              <a:buNone/>
            </a:pPr>
            <a:r>
              <a:rPr sz="1800" b="0">
                <a:solidFill>
                  <a:srgbClr val="000000"/>
                </a:solidFill>
                <a:latin typeface="맑은 고딕"/>
                <a:ea typeface="맑은 고딕"/>
              </a:rPr>
              <a:t>4. </a:t>
            </a:r>
            <a:r>
              <a:rPr sz="1800" b="1">
                <a:solidFill>
                  <a:srgbClr val="000000"/>
                </a:solidFill>
                <a:latin typeface="맑은 고딕"/>
                <a:ea typeface="맑은 고딕"/>
              </a:rPr>
              <a:t>Git</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winget install Git.Git</a:t>
            </a:r>
            <a:r>
              <a:rPr sz="1600" b="0">
                <a:solidFill>
                  <a:srgbClr val="000000"/>
                </a:solidFill>
                <a:latin typeface="맑은 고딕"/>
                <a:ea typeface="맑은 고딕"/>
              </a:rPr>
              <a:t>로 설치하고 </a:t>
            </a:r>
            <a:r>
              <a:rPr sz="1600" b="0">
                <a:solidFill>
                  <a:srgbClr val="000000"/>
                </a:solidFill>
                <a:latin typeface="맑은 고딕"/>
                <a:ea typeface="맑은 고딕"/>
              </a:rPr>
              <a:t>git config --global user.name</a:t>
            </a:r>
            <a:r>
              <a:rPr sz="1600" b="0">
                <a:solidFill>
                  <a:srgbClr val="000000"/>
                </a:solidFill>
                <a:latin typeface="맑은 고딕"/>
                <a:ea typeface="맑은 고딕"/>
              </a:rPr>
              <a:t>과 </a:t>
            </a:r>
            <a:r>
              <a:rPr sz="1600" b="0">
                <a:solidFill>
                  <a:srgbClr val="000000"/>
                </a:solidFill>
                <a:latin typeface="맑은 고딕"/>
                <a:ea typeface="맑은 고딕"/>
              </a:rPr>
              <a:t>user.email</a:t>
            </a:r>
            <a:r>
              <a:rPr sz="1600" b="0">
                <a:solidFill>
                  <a:srgbClr val="000000"/>
                </a:solidFill>
                <a:latin typeface="맑은 고딕"/>
                <a:ea typeface="맑은 고딕"/>
              </a:rPr>
              <a:t>을 설정한다.</a:t>
            </a:r>
          </a:p>
          <a:p>
            <a:pPr lvl="2" marL="607060" indent="-251460">
              <a:spcBef>
                <a:spcPts val="600"/>
              </a:spcBef>
              <a:spcAft>
                <a:spcPts val="600"/>
              </a:spcAft>
              <a:buNone/>
            </a:pPr>
            <a:r>
              <a:rPr sz="1800" b="0">
                <a:solidFill>
                  <a:srgbClr val="000000"/>
                </a:solidFill>
                <a:latin typeface="맑은 고딕"/>
                <a:ea typeface="맑은 고딕"/>
              </a:rPr>
              <a:t>5. </a:t>
            </a:r>
            <a:r>
              <a:rPr sz="1800" b="1">
                <a:solidFill>
                  <a:srgbClr val="000000"/>
                </a:solidFill>
                <a:latin typeface="맑은 고딕"/>
                <a:ea typeface="맑은 고딕"/>
              </a:rPr>
              <a:t>실습 저장소</a:t>
            </a:r>
            <a:r>
              <a:rPr sz="1800" b="0">
                <a:solidFill>
                  <a:srgbClr val="000000"/>
                </a:solidFill>
                <a:latin typeface="맑은 고딕"/>
                <a:ea typeface="맑은 고딕"/>
              </a:rPr>
              <a:t> —</a:t>
            </a:r>
            <a:r>
              <a:rPr sz="1600" b="0">
                <a:solidFill>
                  <a:srgbClr val="000000"/>
                </a:solidFill>
                <a:latin typeface="맑은 고딕"/>
                <a:ea typeface="맑은 고딕"/>
              </a:rPr>
              <a:t> </a:t>
            </a:r>
            <a:r>
              <a:rPr sz="1600" b="1">
                <a:solidFill>
                  <a:srgbClr val="000000"/>
                </a:solidFill>
                <a:latin typeface="맑은 고딕"/>
                <a:ea typeface="맑은 고딕"/>
              </a:rPr>
              <a:t>자기 PC에</a:t>
            </a:r>
            <a:r>
              <a:rPr sz="1600" b="0">
                <a:solidFill>
                  <a:srgbClr val="000000"/>
                </a:solidFill>
                <a:latin typeface="맑은 고딕"/>
                <a:ea typeface="맑은 고딕"/>
              </a:rPr>
              <a:t> </a:t>
            </a:r>
            <a:r>
              <a:rPr sz="1600" b="0">
                <a:solidFill>
                  <a:srgbClr val="000000"/>
                </a:solidFill>
                <a:latin typeface="맑은 고딕"/>
                <a:ea typeface="맑은 고딕"/>
              </a:rPr>
              <a:t>order-system</a:t>
            </a:r>
            <a:r>
              <a:rPr sz="1600" b="0">
                <a:solidFill>
                  <a:srgbClr val="000000"/>
                </a:solidFill>
                <a:latin typeface="맑은 고딕"/>
                <a:ea typeface="맑은 고딕"/>
              </a:rPr>
              <a:t> 폴더를 만들어 </a:t>
            </a:r>
            <a:r>
              <a:rPr sz="1600" b="0">
                <a:solidFill>
                  <a:srgbClr val="000000"/>
                </a:solidFill>
                <a:latin typeface="맑은 고딕"/>
                <a:ea typeface="맑은 고딕"/>
              </a:rPr>
              <a:t>git init</a:t>
            </a:r>
            <a:r>
              <a:rPr sz="1600" b="0">
                <a:solidFill>
                  <a:srgbClr val="000000"/>
                </a:solidFill>
                <a:latin typeface="맑은 고딕"/>
                <a:ea typeface="맑은 고딕"/>
              </a:rPr>
              <a:t>하고 그 안에 </a:t>
            </a:r>
            <a:r>
              <a:rPr sz="1600" b="0">
                <a:solidFill>
                  <a:srgbClr val="000000"/>
                </a:solidFill>
                <a:latin typeface="맑은 고딕"/>
                <a:ea typeface="맑은 고딕"/>
              </a:rPr>
              <a:t>docs</a:t>
            </a:r>
            <a:r>
              <a:rPr sz="1600" b="0">
                <a:solidFill>
                  <a:srgbClr val="000000"/>
                </a:solidFill>
                <a:latin typeface="맑은 고딕"/>
                <a:ea typeface="맑은 고딕"/>
              </a:rPr>
              <a:t> 폴더를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산출물은 한 저장소에 모은다</a:t>
            </a:r>
            <a:r>
              <a:rPr sz="1800" b="0">
                <a:solidFill>
                  <a:srgbClr val="000000"/>
                </a:solidFill>
                <a:latin typeface="맑은 고딕"/>
                <a:ea typeface="맑은 고딕"/>
              </a:rPr>
              <a:t> —</a:t>
            </a:r>
            <a:r>
              <a:rPr sz="1600" b="0">
                <a:solidFill>
                  <a:srgbClr val="000000"/>
                </a:solidFill>
                <a:latin typeface="맑은 고딕"/>
                <a:ea typeface="맑은 고딕"/>
              </a:rPr>
              <a:t> 실습 1~7의 MD가 </a:t>
            </a:r>
            <a:r>
              <a:rPr sz="1600" b="0">
                <a:solidFill>
                  <a:srgbClr val="000000"/>
                </a:solidFill>
                <a:latin typeface="맑은 고딕"/>
                <a:ea typeface="맑은 고딕"/>
              </a:rPr>
              <a:t>docs</a:t>
            </a:r>
            <a:r>
              <a:rPr sz="1600" b="0">
                <a:solidFill>
                  <a:srgbClr val="000000"/>
                </a:solidFill>
                <a:latin typeface="맑은 고딕"/>
                <a:ea typeface="맑은 고딕"/>
              </a:rPr>
              <a:t>에 쌓이고, 실습 8에서 에이전트가 읽는다.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사내망에서 설치와 로그인이 막히는지 미리 확인한다</a:t>
            </a:r>
            <a:r>
              <a:rPr sz="18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실습 1 — 업무 조건 확인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200" b="1">
                <a:solidFill>
                  <a:srgbClr val="000000"/>
                </a:solidFill>
                <a:latin typeface="맑은 고딕"/>
                <a:ea typeface="맑은 고딕"/>
              </a:rPr>
              <a:t>①로 시작해 답·질문·수정 요청을 주고받는다.</a:t>
            </a:r>
            <a:r>
              <a:rPr sz="1200" b="0">
                <a:solidFill>
                  <a:srgbClr val="000000"/>
                </a:solidFill>
                <a:latin typeface="맑은 고딕"/>
                <a:ea typeface="맑은 고딕"/>
              </a:rPr>
              <a:t> ②~④는 보완 예시다. ⑤로 MD를 만들고 필요하면 보완·재생성한다.</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프롬프트 —</a:t>
            </a:r>
            <a:r>
              <a:rPr sz="1000" b="1">
                <a:solidFill>
                  <a:srgbClr val="000000"/>
                </a:solidFill>
                <a:latin typeface="맑은 고딕"/>
                <a:ea typeface="맑은 고딕"/>
              </a:rPr>
              <a:t> 요청사항 포함</a:t>
            </a:r>
          </a:p>
          <a:p>
            <a:pPr lvl="3" marL="981075" indent="-268288">
              <a:spcBef>
                <a:spcPts val="300"/>
              </a:spcBef>
              <a:spcAft>
                <a:spcPts val="300"/>
              </a:spcAft>
              <a:buFont typeface="+mj-ea"/>
              <a:buAutoNum type="circleNumDbPlain" startAt="1"/>
            </a:pPr>
            <a:r>
              <a:rPr sz="1000" b="0">
                <a:solidFill>
                  <a:srgbClr val="000000"/>
                </a:solidFill>
                <a:latin typeface="맑은 고딕"/>
                <a:ea typeface="맑은 고딕"/>
              </a:rPr>
              <a:t>"쇼핑몰의 주문 시스템을 빈 저장소에서 새로 만든다. 업무 담당자의 요청은 '장바구니에 담은 상품을 결제하면 주문이 되고 배송이 시작되게 해 주세요' 한 줄이다. 요구사항을 정의하기 전에 </a:t>
            </a:r>
            <a:r>
              <a:rPr sz="1000" b="1">
                <a:solidFill>
                  <a:srgbClr val="000000"/>
                </a:solidFill>
                <a:latin typeface="맑은 고딕"/>
                <a:ea typeface="맑은 고딕"/>
              </a:rPr>
              <a:t>내가 정해야 할 업무 조건</a:t>
            </a:r>
            <a:r>
              <a:rPr sz="1000" b="0">
                <a:solidFill>
                  <a:srgbClr val="000000"/>
                </a:solidFill>
                <a:latin typeface="맑은 고딕"/>
                <a:ea typeface="맑은 고딕"/>
              </a:rPr>
              <a:t>은 무엇인가?"</a:t>
            </a:r>
          </a:p>
          <a:p>
            <a:pPr lvl="3" marL="981075" indent="-268288">
              <a:spcBef>
                <a:spcPts val="300"/>
              </a:spcBef>
              <a:spcAft>
                <a:spcPts val="300"/>
              </a:spcAft>
              <a:buFont typeface="+mj-ea"/>
              <a:buAutoNum type="circleNumDbPlain" startAt="2"/>
            </a:pPr>
            <a:r>
              <a:rPr sz="1000" b="0">
                <a:solidFill>
                  <a:srgbClr val="000000"/>
                </a:solidFill>
                <a:latin typeface="맑은 고딕"/>
                <a:ea typeface="맑은 고딕"/>
              </a:rPr>
              <a:t>"고객이 배송지를 정하고 카드로 </a:t>
            </a:r>
            <a:r>
              <a:rPr sz="1000" b="1">
                <a:solidFill>
                  <a:srgbClr val="000000"/>
                </a:solidFill>
                <a:latin typeface="맑은 고딕"/>
                <a:ea typeface="맑은 고딕"/>
              </a:rPr>
              <a:t>결제까지 마치는 범위</a:t>
            </a:r>
            <a:r>
              <a:rPr sz="1000" b="0">
                <a:solidFill>
                  <a:srgbClr val="000000"/>
                </a:solidFill>
                <a:latin typeface="맑은 고딕"/>
                <a:ea typeface="맑은 고딕"/>
              </a:rPr>
              <a:t>만 다루자. 상품·결제·배송은 이미 운영 중인 외부 시스템이며 화면과 기술 설계는 제외해라."</a:t>
            </a:r>
          </a:p>
          <a:p>
            <a:pPr lvl="3" marL="981075" indent="-268288">
              <a:spcBef>
                <a:spcPts val="300"/>
              </a:spcBef>
              <a:spcAft>
                <a:spcPts val="300"/>
              </a:spcAft>
              <a:buFont typeface="+mj-ea"/>
              <a:buAutoNum type="circleNumDbPlain" startAt="3"/>
            </a:pPr>
            <a:r>
              <a:rPr sz="1000" b="0">
                <a:solidFill>
                  <a:srgbClr val="000000"/>
                </a:solidFill>
                <a:latin typeface="맑은 고딕"/>
                <a:ea typeface="맑은 고딕"/>
              </a:rPr>
              <a:t>"[앞선 질문에 대한 답] 주문 금액은 주문이 생길 때의 판매가로 정한다. 배송은 결제가 승인된 뒤에만 요청한다. 결제가 거절되면 결제대기로 남겨 다른 카드로 다시 결제한다. [추가 질문·수정 요청] 이 셋 말고 </a:t>
            </a:r>
            <a:r>
              <a:rPr sz="1000" b="1">
                <a:solidFill>
                  <a:srgbClr val="000000"/>
                </a:solidFill>
                <a:latin typeface="맑은 고딕"/>
                <a:ea typeface="맑은 고딕"/>
              </a:rPr>
              <a:t>요구사항을 쓰기 전에 꼭 정해야 할 조건</a:t>
            </a:r>
            <a:r>
              <a:rPr sz="1000" b="0">
                <a:solidFill>
                  <a:srgbClr val="000000"/>
                </a:solidFill>
                <a:latin typeface="맑은 고딕"/>
                <a:ea typeface="맑은 고딕"/>
              </a:rPr>
              <a:t>이 더 있는가? 필요한 이유도 설명해라."</a:t>
            </a:r>
          </a:p>
          <a:p>
            <a:pPr lvl="3" marL="981075" indent="-268288">
              <a:spcBef>
                <a:spcPts val="300"/>
              </a:spcBef>
              <a:spcAft>
                <a:spcPts val="300"/>
              </a:spcAft>
              <a:buFont typeface="+mj-ea"/>
              <a:buAutoNum type="circleNumDbPlain" startAt="4"/>
            </a:pPr>
            <a:r>
              <a:rPr sz="1000" b="0">
                <a:solidFill>
                  <a:srgbClr val="000000"/>
                </a:solidFill>
                <a:latin typeface="맑은 고딕"/>
                <a:ea typeface="맑은 고딕"/>
              </a:rPr>
              <a:t>"[앞선 질문에 대한 답]과 [추가 질문·수정 요청]을 적는다. 이번 범위에서 정하지 않을 것은 </a:t>
            </a:r>
            <a:r>
              <a:rPr sz="1000" b="1">
                <a:solidFill>
                  <a:srgbClr val="000000"/>
                </a:solidFill>
                <a:latin typeface="맑은 고딕"/>
                <a:ea typeface="맑은 고딕"/>
              </a:rPr>
              <a:t>미정으로 남긴다</a:t>
            </a:r>
            <a:r>
              <a:rPr sz="1000" b="0">
                <a:solidFill>
                  <a:srgbClr val="000000"/>
                </a:solidFill>
                <a:latin typeface="맑은 고딕"/>
                <a:ea typeface="맑은 고딕"/>
              </a:rPr>
              <a:t>."</a:t>
            </a:r>
          </a:p>
          <a:p>
            <a:pPr lvl="3" marL="981075" indent="-268288">
              <a:spcBef>
                <a:spcPts val="300"/>
              </a:spcBef>
              <a:spcAft>
                <a:spcPts val="300"/>
              </a:spcAft>
              <a:buFont typeface="+mj-ea"/>
              <a:buAutoNum type="circleNumDbPlain" startAt="5"/>
            </a:pPr>
            <a:r>
              <a:rPr sz="1000" b="0">
                <a:solidFill>
                  <a:srgbClr val="000000"/>
                </a:solidFill>
                <a:latin typeface="맑은 고딕"/>
                <a:ea typeface="맑은 고딕"/>
              </a:rPr>
              <a:t>"지금까지 합의한 "주문한다"의 업무 조건을 다음 실습에 사용할 간결한 </a:t>
            </a:r>
            <a:r>
              <a:rPr sz="1000" b="1">
                <a:solidFill>
                  <a:srgbClr val="000000"/>
                </a:solidFill>
                <a:latin typeface="맑은 고딕"/>
                <a:ea typeface="맑은 고딕"/>
              </a:rPr>
              <a:t>Markdown 파일</a:t>
            </a:r>
            <a:r>
              <a:rPr sz="1000" b="0">
                <a:solidFill>
                  <a:srgbClr val="000000"/>
                </a:solidFill>
                <a:latin typeface="맑은 고딕"/>
                <a:ea typeface="맑은 고딕"/>
              </a:rPr>
              <a:t>로 생성해라. 외부 시스템은 연계 대상으로 두고 화면·기술 설계와 결제 이후 운영은 제외해라. 모든 경우를 나열하지 말고 합의한 조건과 요구사항 작성에 꼭 필요한 미정 사항만 해당 위치에 표시해라. 새 결정을 추가하거나 폐기한 안을 되살리지 마라. 요구사항 정의서나 기능 목록을 미리 작성하지 말고 업무 조건과 미정 사항만 짧은 항목으로 정리해라. 항목마다 한 줄로 쓰고 도식 없이 한 쪽 분량으로 줄여라."</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점검 항목</a:t>
            </a:r>
          </a:p>
          <a:p>
            <a:pPr lvl="3" marL="1028700" indent="-304800">
              <a:spcBef>
                <a:spcPts val="300"/>
              </a:spcBef>
              <a:spcAft>
                <a:spcPts val="300"/>
              </a:spcAft>
              <a:buFont typeface="+mj-lt"/>
              <a:buAutoNum type="arabicPeriod" startAt="1"/>
            </a:pPr>
            <a:r>
              <a:rPr sz="1000" b="0">
                <a:solidFill>
                  <a:srgbClr val="000000"/>
                </a:solidFill>
                <a:latin typeface="맑은 고딕"/>
                <a:ea typeface="맑은 고딕"/>
              </a:rPr>
              <a:t/>
            </a:r>
            <a:r>
              <a:rPr sz="1000" b="1">
                <a:solidFill>
                  <a:srgbClr val="000000"/>
                </a:solidFill>
                <a:latin typeface="맑은 고딕"/>
                <a:ea typeface="맑은 고딕"/>
              </a:rPr>
              <a:t>필요성</a:t>
            </a:r>
            <a:r>
              <a:rPr sz="1000" b="0">
                <a:solidFill>
                  <a:srgbClr val="000000"/>
                </a:solidFill>
                <a:latin typeface="맑은 고딕"/>
                <a:ea typeface="맑은 고딕"/>
              </a:rPr>
              <a:t> —</a:t>
            </a:r>
            <a:r>
              <a:rPr sz="800" b="0">
                <a:solidFill>
                  <a:srgbClr val="000000"/>
                </a:solidFill>
                <a:latin typeface="맑은 고딕"/>
                <a:ea typeface="맑은 고딕"/>
              </a:rPr>
              <a:t> 결제까지 마치는 범위에 실제로 필요한 조건인가?</a:t>
            </a:r>
          </a:p>
          <a:p>
            <a:pPr lvl="3" marL="1028700" indent="-304800">
              <a:spcBef>
                <a:spcPts val="300"/>
              </a:spcBef>
              <a:spcAft>
                <a:spcPts val="300"/>
              </a:spcAft>
              <a:buFont typeface="+mj-lt"/>
              <a:buAutoNum type="arabicPeriod" startAt="2"/>
            </a:pPr>
            <a:r>
              <a:rPr sz="1000" b="0">
                <a:solidFill>
                  <a:srgbClr val="000000"/>
                </a:solidFill>
                <a:latin typeface="맑은 고딕"/>
                <a:ea typeface="맑은 고딕"/>
              </a:rPr>
              <a:t/>
            </a:r>
            <a:r>
              <a:rPr sz="1000" b="1">
                <a:solidFill>
                  <a:srgbClr val="000000"/>
                </a:solidFill>
                <a:latin typeface="맑은 고딕"/>
                <a:ea typeface="맑은 고딕"/>
              </a:rPr>
              <a:t>범위</a:t>
            </a:r>
            <a:r>
              <a:rPr sz="1000" b="0">
                <a:solidFill>
                  <a:srgbClr val="000000"/>
                </a:solidFill>
                <a:latin typeface="맑은 고딕"/>
                <a:ea typeface="맑은 고딕"/>
              </a:rPr>
              <a:t> —</a:t>
            </a:r>
            <a:r>
              <a:rPr sz="800" b="0">
                <a:solidFill>
                  <a:srgbClr val="000000"/>
                </a:solidFill>
                <a:latin typeface="맑은 고딕"/>
                <a:ea typeface="맑은 고딕"/>
              </a:rPr>
              <a:t> 화면·기술 설계나 외부 시스템의 재구현이 섞였는가?</a:t>
            </a:r>
          </a:p>
          <a:p>
            <a:pPr lvl="3" marL="1028700" indent="-304800">
              <a:spcBef>
                <a:spcPts val="300"/>
              </a:spcBef>
              <a:spcAft>
                <a:spcPts val="300"/>
              </a:spcAft>
              <a:buFont typeface="+mj-lt"/>
              <a:buAutoNum type="arabicPeriod" startAt="3"/>
            </a:pPr>
            <a:r>
              <a:rPr sz="1000" b="0">
                <a:solidFill>
                  <a:srgbClr val="000000"/>
                </a:solidFill>
                <a:latin typeface="맑은 고딕"/>
                <a:ea typeface="맑은 고딕"/>
              </a:rPr>
              <a:t/>
            </a:r>
            <a:r>
              <a:rPr sz="1000" b="1">
                <a:solidFill>
                  <a:srgbClr val="000000"/>
                </a:solidFill>
                <a:latin typeface="맑은 고딕"/>
                <a:ea typeface="맑은 고딕"/>
              </a:rPr>
              <a:t>판단</a:t>
            </a:r>
            <a:r>
              <a:rPr sz="1000" b="0">
                <a:solidFill>
                  <a:srgbClr val="000000"/>
                </a:solidFill>
                <a:latin typeface="맑은 고딕"/>
                <a:ea typeface="맑은 고딕"/>
              </a:rPr>
              <a:t> —</a:t>
            </a:r>
            <a:r>
              <a:rPr sz="800" b="0">
                <a:solidFill>
                  <a:srgbClr val="000000"/>
                </a:solidFill>
                <a:latin typeface="맑은 고딕"/>
                <a:ea typeface="맑은 고딕"/>
              </a:rPr>
              <a:t> 사람이 정하지 않은 정책을 AI가 확정했는가?</a:t>
            </a:r>
          </a:p>
          <a:p>
            <a:pPr lvl="3" marL="1028700" indent="-304800">
              <a:spcBef>
                <a:spcPts val="300"/>
              </a:spcBef>
              <a:spcAft>
                <a:spcPts val="300"/>
              </a:spcAft>
              <a:buFont typeface="+mj-lt"/>
              <a:buAutoNum type="arabicPeriod" startAt="4"/>
            </a:pPr>
            <a:r>
              <a:rPr sz="1000" b="0">
                <a:solidFill>
                  <a:srgbClr val="000000"/>
                </a:solidFill>
                <a:latin typeface="맑은 고딕"/>
                <a:ea typeface="맑은 고딕"/>
              </a:rPr>
              <a:t/>
            </a:r>
            <a:r>
              <a:rPr sz="1000" b="1">
                <a:solidFill>
                  <a:srgbClr val="000000"/>
                </a:solidFill>
                <a:latin typeface="맑은 고딕"/>
                <a:ea typeface="맑은 고딕"/>
              </a:rPr>
              <a:t>미정</a:t>
            </a:r>
            <a:r>
              <a:rPr sz="1000" b="0">
                <a:solidFill>
                  <a:srgbClr val="000000"/>
                </a:solidFill>
                <a:latin typeface="맑은 고딕"/>
                <a:ea typeface="맑은 고딕"/>
              </a:rPr>
              <a:t> —</a:t>
            </a:r>
            <a:r>
              <a:rPr sz="800" b="0">
                <a:solidFill>
                  <a:srgbClr val="000000"/>
                </a:solidFill>
                <a:latin typeface="맑은 고딕"/>
                <a:ea typeface="맑은 고딕"/>
              </a:rPr>
              <a:t> 정하지 않기로 한 것이 미정으로 남아 있는가?</a:t>
            </a:r>
          </a:p>
          <a:p>
            <a:pPr lvl="3" marL="1028700" indent="-304800">
              <a:spcBef>
                <a:spcPts val="300"/>
              </a:spcBef>
              <a:spcAft>
                <a:spcPts val="300"/>
              </a:spcAft>
              <a:buFont typeface="+mj-lt"/>
              <a:buAutoNum type="arabicPeriod" startAt="5"/>
            </a:pPr>
            <a:r>
              <a:rPr sz="1000" b="0">
                <a:solidFill>
                  <a:srgbClr val="000000"/>
                </a:solidFill>
                <a:latin typeface="맑은 고딕"/>
                <a:ea typeface="맑은 고딕"/>
              </a:rPr>
              <a:t/>
            </a:r>
            <a:r>
              <a:rPr sz="1000" b="1">
                <a:solidFill>
                  <a:srgbClr val="000000"/>
                </a:solidFill>
                <a:latin typeface="맑은 고딕"/>
                <a:ea typeface="맑은 고딕"/>
              </a:rPr>
              <a:t>종료</a:t>
            </a:r>
            <a:r>
              <a:rPr sz="1000" b="0">
                <a:solidFill>
                  <a:srgbClr val="000000"/>
                </a:solidFill>
                <a:latin typeface="맑은 고딕"/>
                <a:ea typeface="맑은 고딕"/>
              </a:rPr>
              <a:t> —</a:t>
            </a:r>
            <a:r>
              <a:rPr sz="800" b="0">
                <a:solidFill>
                  <a:srgbClr val="000000"/>
                </a:solidFill>
                <a:latin typeface="맑은 고딕"/>
                <a:ea typeface="맑은 고딕"/>
              </a:rPr>
              <a:t> 이제 요구사항을 작성할 수 있는가? 그렇다면 탐색을 끝낸다.</a:t>
            </a:r>
          </a:p>
          <a:p>
            <a:pPr lvl="2" marL="723900" indent="-368300">
              <a:spcBef>
                <a:spcPts val="300"/>
              </a:spcBef>
              <a:spcAft>
                <a:spcPts val="300"/>
              </a:spcAft>
              <a:buSzPct val="90000"/>
              <a:buFont typeface="Wingdings" pitchFamily="2" charset="2"/>
              <a:buChar char=""/>
            </a:pPr>
            <a:r>
              <a:rPr sz="1200" b="1">
                <a:solidFill>
                  <a:srgbClr val="000000"/>
                </a:solidFill>
                <a:latin typeface="맑은 고딕"/>
                <a:ea typeface="맑은 고딕"/>
              </a:rPr>
              <a:t>결과물</a:t>
            </a:r>
          </a:p>
          <a:p>
            <a:pPr lvl="3" marL="723900" indent="0">
              <a:spcBef>
                <a:spcPts val="300"/>
              </a:spcBef>
              <a:spcAft>
                <a:spcPts val="300"/>
              </a:spcAft>
              <a:buNone/>
            </a:pPr>
            <a:r>
              <a:rPr sz="1000" b="0">
                <a:solidFill>
                  <a:srgbClr val="000000"/>
                </a:solidFill>
                <a:latin typeface="맑은 고딕"/>
                <a:ea typeface="맑은 고딕"/>
              </a:rPr>
              <a:t>주문한다-업무조건.md</a:t>
            </a:r>
            <a:r>
              <a:rPr sz="1000" b="0">
                <a:solidFill>
                  <a:srgbClr val="000000"/>
                </a:solidFill>
                <a:latin typeface="맑은 고딕"/>
                <a:ea typeface="맑은 고딕"/>
              </a:rPr>
              <a:t> —</a:t>
            </a:r>
            <a:r>
              <a:rPr sz="800" b="0">
                <a:solidFill>
                  <a:srgbClr val="000000"/>
                </a:solidFill>
                <a:latin typeface="맑은 고딕"/>
                <a:ea typeface="맑은 고딕"/>
              </a:rPr>
              <a:t> 합의한 업무 조건을 확인하고 저장소의 </a:t>
            </a:r>
            <a:r>
              <a:rPr sz="800" b="0">
                <a:solidFill>
                  <a:srgbClr val="000000"/>
                </a:solidFill>
                <a:latin typeface="맑은 고딕"/>
                <a:ea typeface="맑은 고딕"/>
              </a:rPr>
              <a:t>docs</a:t>
            </a:r>
            <a:r>
              <a:rPr sz="800" b="0">
                <a:solidFill>
                  <a:srgbClr val="000000"/>
                </a:solidFill>
                <a:latin typeface="맑은 고딕"/>
                <a:ea typeface="맑은 고딕"/>
              </a:rPr>
              <a:t>에 두어 커밋한다. </a:t>
            </a:r>
            <a:r>
              <a:rPr sz="800" b="1">
                <a:solidFill>
                  <a:srgbClr val="000000"/>
                </a:solidFill>
                <a:latin typeface="맑은 고딕"/>
                <a:ea typeface="맑은 고딕"/>
              </a:rPr>
              <a:t>실습 2의 투입물</a:t>
            </a:r>
            <a:r>
              <a:rPr sz="800" b="0">
                <a:solidFill>
                  <a:srgbClr val="000000"/>
                </a:solidFill>
                <a:latin typeface="맑은 고딕"/>
                <a:ea typeface="맑은 고딕"/>
              </a:rPr>
              <a:t>이다</a:t>
            </a:r>
          </a:p>
        </p:txBody>
      </p:sp>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AI는 업무 규칙을 코드로 옮기고, 업무 규칙을 </a:t>
            </a:r>
            <a:r>
              <a:rPr sz="1800" b="1">
                <a:solidFill>
                  <a:srgbClr val="000000"/>
                </a:solidFill>
                <a:latin typeface="맑은 고딕"/>
                <a:ea typeface="맑은 고딕"/>
              </a:rPr>
              <a:t>정하고 명시하고 검증하는 일</a:t>
            </a:r>
            <a:r>
              <a:rPr sz="1800" b="0">
                <a:solidFill>
                  <a:srgbClr val="000000"/>
                </a:solidFill>
                <a:latin typeface="맑은 고딕"/>
                <a:ea typeface="맑은 고딕"/>
              </a:rPr>
              <a:t>은 사람에게 남는다.</a:t>
            </a:r>
          </a:p>
          <a:p>
            <a:pPr marL="342900" indent="0">
              <a:spcBef>
                <a:spcPts val="600"/>
              </a:spcBef>
              <a:spcAft>
                <a:spcPts val="600"/>
              </a:spcAft>
              <a:buNone/>
            </a:pPr>
            <a:r>
              <a:rPr sz="1800" b="1">
                <a:solidFill>
                  <a:srgbClr val="000000"/>
                </a:solidFill>
                <a:latin typeface="맑은 고딕"/>
                <a:ea typeface="맑은 고딕"/>
              </a:rPr>
              <a:t>사람의 일과 AI의 일</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바꾼 것과 바꾸지 못한 것</a:t>
            </a:r>
            <a:r>
              <a:rPr sz="1800" b="0">
                <a:solidFill>
                  <a:srgbClr val="000000"/>
                </a:solidFill>
                <a:latin typeface="맑은 고딕"/>
                <a:ea typeface="맑은 고딕"/>
              </a:rPr>
              <a:t> —</a:t>
            </a:r>
            <a:r>
              <a:rPr sz="1600" b="0">
                <a:solidFill>
                  <a:srgbClr val="000000"/>
                </a:solidFill>
                <a:latin typeface="맑은 고딕"/>
                <a:ea typeface="맑은 고딕"/>
              </a:rPr>
              <a:t> 코드로 옮기는 일은 AI가 하고, 업무 규칙은 사람이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원칙과 상황</a:t>
            </a:r>
            <a:r>
              <a:rPr sz="1800" b="0">
                <a:solidFill>
                  <a:srgbClr val="000000"/>
                </a:solidFill>
                <a:latin typeface="맑은 고딕"/>
                <a:ea typeface="맑은 고딕"/>
              </a:rPr>
              <a:t> —</a:t>
            </a:r>
            <a:r>
              <a:rPr sz="1600" b="0">
                <a:solidFill>
                  <a:srgbClr val="000000"/>
                </a:solidFill>
                <a:latin typeface="맑은 고딕"/>
                <a:ea typeface="맑은 고딕"/>
              </a:rPr>
              <a:t> 5가지가 달라져도 공학 원칙은 남고, 검사할 수 있는 것이 시작 지점을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규칙은 도메인 지식</a:t>
            </a:r>
            <a:r>
              <a:rPr sz="1800" b="0">
                <a:solidFill>
                  <a:srgbClr val="000000"/>
                </a:solidFill>
                <a:latin typeface="맑은 고딕"/>
                <a:ea typeface="맑은 고딕"/>
              </a:rPr>
              <a:t> —</a:t>
            </a:r>
            <a:r>
              <a:rPr sz="1600" b="0">
                <a:solidFill>
                  <a:srgbClr val="000000"/>
                </a:solidFill>
                <a:latin typeface="맑은 고딕"/>
                <a:ea typeface="맑은 고딕"/>
              </a:rPr>
              <a:t> 주어지지 않으면 LLM이 추측으로 채운다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개발 방식</a:t>
            </a:r>
            <a:r>
              <a:rPr sz="1800" b="0">
                <a:solidFill>
                  <a:srgbClr val="000000"/>
                </a:solidFill>
                <a:latin typeface="맑은 고딕"/>
                <a:ea typeface="맑은 고딕"/>
              </a:rPr>
              <a:t> —</a:t>
            </a:r>
            <a:r>
              <a:rPr sz="1600" b="0">
                <a:solidFill>
                  <a:srgbClr val="000000"/>
                </a:solidFill>
                <a:latin typeface="맑은 고딕"/>
                <a:ea typeface="맑은 고딕"/>
              </a:rPr>
              <a:t> LLM 이전·AI 지원·AI-native는 작업의 단위와 검증이 다르다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역할</a:t>
            </a:r>
            <a:r>
              <a:rPr sz="1800" b="0">
                <a:solidFill>
                  <a:srgbClr val="000000"/>
                </a:solidFill>
                <a:latin typeface="맑은 고딕"/>
                <a:ea typeface="맑은 고딕"/>
              </a:rPr>
              <a:t> —</a:t>
            </a:r>
            <a:r>
              <a:rPr sz="1600" b="0">
                <a:solidFill>
                  <a:srgbClr val="000000"/>
                </a:solidFill>
                <a:latin typeface="맑은 고딕"/>
                <a:ea typeface="맑은 고딕"/>
              </a:rPr>
              <a:t> 사람이 조종하고 에이전트가 실행한다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결정과 검사의 짝</a:t>
            </a:r>
            <a:r>
              <a:rPr sz="1800" b="0">
                <a:solidFill>
                  <a:srgbClr val="000000"/>
                </a:solidFill>
                <a:latin typeface="맑은 고딕"/>
                <a:ea typeface="맑은 고딕"/>
              </a:rPr>
              <a:t> —</a:t>
            </a:r>
            <a:r>
              <a:rPr sz="1600" b="0">
                <a:solidFill>
                  <a:srgbClr val="000000"/>
                </a:solidFill>
                <a:latin typeface="맑은 고딕"/>
                <a:ea typeface="맑은 고딕"/>
              </a:rPr>
              <a:t> 검사가 없는 것은 맡길 수 없다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"세션 02. LLM이라는 도구" —</a:t>
            </a:r>
            <a:r>
              <a:rPr sz="1600" b="0">
                <a:solidFill>
                  <a:srgbClr val="000000"/>
                </a:solidFill>
                <a:latin typeface="맑은 고딕"/>
                <a:ea typeface="맑은 고딕"/>
              </a:rPr>
              <a:t> 도구의 성질과 비용의 구조를 알고 활용 방식을 고른다.</a:t>
            </a:r>
          </a:p>
        </p:txBody>
      </p:sp>
    </p:spTree>
    <p:extLst>
      <p:ext uri="{BB962C8B-B14F-4D97-AF65-F5344CB8AC3E}">
        <p14:creationId xmlns:p14="http://schemas.microsoft.com/office/powerpoint/2010/main" val="355543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“주문한다” 업무 조건</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01. 사람의 일과 AI의 일</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4338828" cy="5352345"/>
          </a:xfrm>
        </p:spPr>
        <p:txBody>
          <a:bodyPr>
            <a:normAutofit/>
          </a:bodyPr>
          <a:lstStyle/>
          <a:p>
            <a:pPr marL="182880" indent="0">
              <a:spcBef>
                <a:spcPts val="300"/>
              </a:spcBef>
              <a:spcAft>
                <a:spcPts val="300"/>
              </a:spcAft>
              <a:buNone/>
            </a:pPr>
            <a:r>
              <a:rPr sz="1000" b="1">
                <a:solidFill>
                  <a:srgbClr val="000000"/>
                </a:solidFill>
                <a:latin typeface="맑은 고딕"/>
                <a:ea typeface="맑은 고딕"/>
              </a:rPr>
              <a:t>범위</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대상: 고객이 장바구니에서 주문을 시작하고, 배송지를 확정한 뒤 카드 결제 승인을 받아 주문이 성립할 때까지다.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연계 대상</a:t>
            </a:r>
            <a:r>
              <a:rPr sz="1000" b="0">
                <a:solidFill>
                  <a:srgbClr val="000000"/>
                </a:solidFill>
                <a:latin typeface="맑은 고딕"/>
                <a:ea typeface="맑은 고딕"/>
              </a:rPr>
              <a:t>(이미 운영 중인 외부 시스템)</a:t>
            </a:r>
            <a:r>
              <a:rPr sz="1000" b="0">
                <a:solidFill>
                  <a:srgbClr val="000000"/>
                </a:solidFill>
                <a:latin typeface="맑은 고딕"/>
                <a:ea typeface="맑은 고딕"/>
              </a:rPr>
              <a:t>: 상품 시스템</a:t>
            </a:r>
            <a:r>
              <a:rPr sz="1000" b="0">
                <a:solidFill>
                  <a:srgbClr val="000000"/>
                </a:solidFill>
                <a:latin typeface="맑은 고딕"/>
                <a:ea typeface="맑은 고딕"/>
              </a:rPr>
              <a:t>(판매가, 재고)</a:t>
            </a:r>
            <a:r>
              <a:rPr sz="1000" b="0">
                <a:solidFill>
                  <a:srgbClr val="000000"/>
                </a:solidFill>
                <a:latin typeface="맑은 고딕"/>
                <a:ea typeface="맑은 고딕"/>
              </a:rPr>
              <a:t>, 결제 시스템</a:t>
            </a:r>
            <a:r>
              <a:rPr sz="1000" b="0">
                <a:solidFill>
                  <a:srgbClr val="000000"/>
                </a:solidFill>
                <a:latin typeface="맑은 고딕"/>
                <a:ea typeface="맑은 고딕"/>
              </a:rPr>
              <a:t>(카드 승인)</a:t>
            </a:r>
            <a:r>
              <a:rPr sz="1000" b="0">
                <a:solidFill>
                  <a:srgbClr val="000000"/>
                </a:solidFill>
                <a:latin typeface="맑은 고딕"/>
                <a:ea typeface="맑은 고딕"/>
              </a:rPr>
              <a:t>, 배송 시스템</a:t>
            </a:r>
            <a:r>
              <a:rPr sz="1000" b="0">
                <a:solidFill>
                  <a:srgbClr val="000000"/>
                </a:solidFill>
                <a:latin typeface="맑은 고딕"/>
                <a:ea typeface="맑은 고딕"/>
              </a:rPr>
              <a:t>(배송 요청 수신)</a:t>
            </a:r>
            <a:r>
              <a:rPr sz="1000" b="0">
                <a:solidFill>
                  <a:srgbClr val="000000"/>
                </a:solidFill>
                <a:latin typeface="맑은 고딕"/>
                <a:ea typeface="맑은 고딕"/>
              </a:rPr>
              <a:t>.</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제외: 화면, 기술 설계, 결제 이후 운영</a:t>
            </a:r>
            <a:r>
              <a:rPr sz="1000" b="0">
                <a:solidFill>
                  <a:srgbClr val="000000"/>
                </a:solidFill>
                <a:latin typeface="맑은 고딕"/>
                <a:ea typeface="맑은 고딕"/>
              </a:rPr>
              <a:t>(취소, 환불, 반품, 교환, 배송 진행)</a:t>
            </a:r>
            <a:r>
              <a:rPr sz="1000" b="0">
                <a:solidFill>
                  <a:srgbClr val="000000"/>
                </a:solidFill>
                <a:latin typeface="맑은 고딕"/>
                <a:ea typeface="맑은 고딕"/>
              </a:rPr>
              <a:t>, 카드 외 결제 수단, 배송비, 쿠폰과 할인.</a:t>
            </a:r>
          </a:p>
          <a:p>
            <a:pPr marL="182880" indent="0">
              <a:spcBef>
                <a:spcPts val="300"/>
              </a:spcBef>
              <a:spcAft>
                <a:spcPts val="300"/>
              </a:spcAft>
              <a:buNone/>
            </a:pPr>
            <a:r>
              <a:rPr sz="1000" b="1">
                <a:solidFill>
                  <a:srgbClr val="000000"/>
                </a:solidFill>
                <a:latin typeface="맑은 고딕"/>
                <a:ea typeface="맑은 고딕"/>
              </a:rPr>
              <a:t>주문 생성</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고객이 배송지를 확정하면 주문이 생기고, 주문 상태는 결제대기가 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주문자와 수령인은 같은 사람으로 본다.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H] 비회원 주문을 허용하는지, 허용한다면 결제대기 주문을 다시 찾을 때 본인을 어떻게 확인하는지 정해지지 않았다.</a:t>
            </a:r>
          </a:p>
          <a:p>
            <a:pPr marL="182880" indent="0">
              <a:spcBef>
                <a:spcPts val="300"/>
              </a:spcBef>
              <a:spcAft>
                <a:spcPts val="300"/>
              </a:spcAft>
              <a:buNone/>
            </a:pPr>
            <a:r>
              <a:rPr sz="1000" b="1">
                <a:solidFill>
                  <a:srgbClr val="000000"/>
                </a:solidFill>
                <a:latin typeface="맑은 고딕"/>
                <a:ea typeface="맑은 고딕"/>
              </a:rPr>
              <a:t>주문 금액</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주문 금액은 항목마다 주문 생성 시점의 판매가</a:t>
            </a:r>
            <a:r>
              <a:rPr sz="1000" b="0">
                <a:solidFill>
                  <a:srgbClr val="000000"/>
                </a:solidFill>
                <a:latin typeface="맑은 고딕"/>
                <a:ea typeface="맑은 고딕"/>
              </a:rPr>
              <a:t>(단가)</a:t>
            </a:r>
            <a:r>
              <a:rPr sz="1000" b="0">
                <a:solidFill>
                  <a:srgbClr val="000000"/>
                </a:solidFill>
                <a:latin typeface="맑은 고딕"/>
                <a:ea typeface="맑은 고딕"/>
              </a:rPr>
              <a:t>에 수량을 곱해 모두 더한 값이다.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주문이 생긴 뒤 판매가가 오르거나 내려도 주문 금액은 바뀌지 않으며, 그 금액을 청구한다.</a:t>
            </a:r>
          </a:p>
          <a:p>
            <a:pPr marL="182880" indent="0">
              <a:spcBef>
                <a:spcPts val="300"/>
              </a:spcBef>
              <a:spcAft>
                <a:spcPts val="300"/>
              </a:spcAft>
              <a:buNone/>
            </a:pPr>
            <a:r>
              <a:rPr sz="1000" b="1">
                <a:solidFill>
                  <a:srgbClr val="000000"/>
                </a:solidFill>
                <a:latin typeface="맑은 고딕"/>
                <a:ea typeface="맑은 고딕"/>
              </a:rPr>
              <a:t>결제대기</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결제대기 중에는 상품, 수량, 배송지를 바꿀 수 없다. 바꾸려면 새로 주문한다.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카드 결제가 거절되면 주문을 취소하지 않고 결제대기로 남겨, 고객이 다른 카드로 다시 결제할 수 있게 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960120"/>
            <a:ext cx="4439412" cy="5352345"/>
          </a:xfrm>
        </p:spPr>
        <p:txBody>
          <a:bodyPr>
            <a:normAutofit/>
          </a:bodyPr>
          <a:lstStyle/>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B] 결제대기의 기한과 기한이 지난 뒤의 처리가 정해지지 않았다. 구현에서 만료, 취소, 삭제, 결제 차단을 임의로 정하지 않는다.</a:t>
            </a:r>
          </a:p>
          <a:p>
            <a:pPr marL="182880" indent="0">
              <a:spcBef>
                <a:spcPts val="300"/>
              </a:spcBef>
              <a:spcAft>
                <a:spcPts val="300"/>
              </a:spcAft>
              <a:buNone/>
            </a:pPr>
            <a:r>
              <a:rPr sz="1000" b="1">
                <a:solidFill>
                  <a:srgbClr val="000000"/>
                </a:solidFill>
                <a:latin typeface="맑은 고딕"/>
                <a:ea typeface="맑은 고딕"/>
              </a:rPr>
              <a:t>결제와 주문 성립</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결제 수단은 카드뿐이다.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카드 승인이 완료된 때 주문이 성립한다.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결제 시스템의 응답을 확정할 수 없으면 그 응답을 실패로 바꾸지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F] 응답을 확정할 수 없을 때 이후 처리</a:t>
            </a:r>
            <a:r>
              <a:rPr sz="1000" b="0">
                <a:solidFill>
                  <a:srgbClr val="000000"/>
                </a:solidFill>
                <a:latin typeface="맑은 고딕"/>
                <a:ea typeface="맑은 고딕"/>
              </a:rPr>
              <a:t>(재결제 허용 여부 포함)</a:t>
            </a:r>
            <a:r>
              <a:rPr sz="1000" b="0">
                <a:solidFill>
                  <a:srgbClr val="000000"/>
                </a:solidFill>
                <a:latin typeface="맑은 고딕"/>
                <a:ea typeface="맑은 고딕"/>
              </a:rPr>
              <a:t>가 정해지지 않았다. 구현에서 성공이나 실패를 임의로 확정하지 않는다.</a:t>
            </a:r>
          </a:p>
          <a:p>
            <a:pPr marL="182880" indent="0">
              <a:spcBef>
                <a:spcPts val="300"/>
              </a:spcBef>
              <a:spcAft>
                <a:spcPts val="300"/>
              </a:spcAft>
              <a:buNone/>
            </a:pPr>
            <a:r>
              <a:rPr sz="1000" b="1">
                <a:solidFill>
                  <a:srgbClr val="000000"/>
                </a:solidFill>
                <a:latin typeface="맑은 고딕"/>
                <a:ea typeface="맑은 고딕"/>
              </a:rPr>
              <a:t>재고</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재고는 상품 시스템의 판단을 그대로 따르며, 주문 쪽에서 재고를 따로 확보하지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E] 승인 뒤 재고가 없을 때의 처리가 정해지지 않았다. 구현에서 승인 취소나 주문 상태 변경을 임의로 하지 않는다.</a:t>
            </a:r>
          </a:p>
          <a:p>
            <a:pPr marL="182880" indent="0">
              <a:spcBef>
                <a:spcPts val="300"/>
              </a:spcBef>
              <a:spcAft>
                <a:spcPts val="300"/>
              </a:spcAft>
              <a:buNone/>
            </a:pPr>
            <a:r>
              <a:rPr sz="1000" b="1">
                <a:solidFill>
                  <a:srgbClr val="000000"/>
                </a:solidFill>
                <a:latin typeface="맑은 고딕"/>
                <a:ea typeface="맑은 고딕"/>
              </a:rPr>
              <a:t>배송 요청</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배송 시스템에는 카드 승인 뒤에만 배송을 요청한다.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G] 승인 뒤 배송 요청이 실패했을 때의 처리가 정해지지 않았다. 구현에서 승인 취소, 주문 상태 변경, 재요청 주체와 방식을 임의로 정하지 않는다.</a:t>
            </a:r>
          </a:p>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[미정 I] 주문 확인 통지를 이 시스템이 보내는지, 다른 시스템의 통지로 대신하는지 정해지지 않았다.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30</Slides>
  <Notes>25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맑은 고딕</vt:lpstr>
      <vt:lpstr>Arial</vt:lpstr>
      <vt:lpstr>Wingdings</vt:lpstr>
      <vt:lpstr>4_Office 테마</vt:lpstr>
      <vt:lpstr/>
      <vt:lpstr>AI-native SW 공학 목차</vt:lpstr>
      <vt:lpstr>01. 사람의 일과 AI의 일 목차</vt:lpstr>
      <vt:lpstr>01. 세션 목표</vt:lpstr>
      <vt:lpstr>쇼핑몰의 주문 시스템 02. 첫 시도</vt:lpstr>
      <vt:lpstr>요청 한 줄과 10분 02. 첫 시도</vt:lpstr>
      <vt:lpstr>리뷰에서 나온 문제 3가지 02. 첫 시도</vt:lpstr>
      <vt:lpstr>추측으로 채운 코드 (1/2) 02. 첫 시도</vt:lpstr>
      <vt:lpstr>추측으로 채운 코드 (2/2) 02. 첫 시도</vt:lpstr>
      <vt:lpstr>자기 코드를 확인한 테스트 02. 첫 시도</vt:lpstr>
      <vt:lpstr>본질적 복잡성과 우연적 복잡성 03. AI가 바꾼 것과 바꾸지 못한 것</vt:lpstr>
      <vt:lpstr>5가지가 달라진다 03. AI가 바꾼 것과 바꾸지 못한 것</vt:lpstr>
      <vt:lpstr>변하지 않는 공학 원칙 03. AI가 바꾼 것과 바꾸지 못한 것</vt:lpstr>
      <vt:lpstr>업무 규칙은 도메인 지식이다 03. AI가 바꾼 것과 바꾸지 못한 것</vt:lpstr>
      <vt:lpstr>3가지 개발 방식 04. 개발 방식의 구분</vt:lpstr>
      <vt:lpstr>같은 과제, 3가지 방식 04. 개발 방식의 구분</vt:lpstr>
      <vt:lpstr>바이브 코딩과 규율 04. 개발 방식의 구분</vt:lpstr>
      <vt:lpstr>사람이 조종하고 에이전트가 실행한다 05. 사람과 AI가 하는 일</vt:lpstr>
      <vt:lpstr>활동마다 누가 결정하는가? 05. 사람과 AI가 하는 일</vt:lpstr>
      <vt:lpstr>결정마다 검사가 있다 06. 결정과 검사의 짝</vt:lpstr>
      <vt:lpstr>첫 시도에서 비어 있던 결정 06. 결정과 검사의 짝</vt:lpstr>
      <vt:lpstr>개발 생명주기는 어떻게 달라지는가? (1/2) 06. 결정과 검사의 짝</vt:lpstr>
      <vt:lpstr>개발 생명주기는 어떻게 달라지는가? (2/2) 06. 결정과 검사의 짝</vt:lpstr>
      <vt:lpstr>맡기지 않는 작업 3가지 07. 맡길 작업과 맡기지 않을 작업</vt:lpstr>
      <vt:lpstr>상황이 정하는 접근 07. 맡길 작업과 맡기지 않을 작업</vt:lpstr>
      <vt:lpstr>과정의 지도 07. 맡길 작업과 맡기지 않을 작업</vt:lpstr>
      <vt:lpstr>08. 실습 환경 준비</vt:lpstr>
      <vt:lpstr>09. 실습 1 — 업무 조건 확인</vt:lpstr>
      <vt:lpstr>10. 요약</vt:lpstr>
      <vt:lpstr>“주문한다” 업무 조건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사람의 일과 AI의 일</dc:title>
  <dc:creator>Kim YoungSan</dc:creator>
  <cp:lastModifiedBy>Youngon Kim</cp:lastModifiedBy>
  <cp:revision>42</cp:revision>
  <dcterms:created xsi:type="dcterms:W3CDTF">2021-02-25T22:04:20Z</dcterms:created>
  <dcterms:modified xsi:type="dcterms:W3CDTF">2026-09-21T23:10:41Z</dcterms:modified>
</cp:coreProperties>
</file>