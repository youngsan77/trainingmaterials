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처방 → 새 일하는 방식 → 로드맵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기대값은 사람이 업무 규칙에서 정한다("세션 04. 수용 기준과 검증 가능한 작업 단위").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 원문 확인.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NIST, *Artificial Intelligence Risk Management Framework: Generative Artificial Intelligence Profile*(NIST AI 600-1), 2024의 Confabulation 항목 원문 확인. 같은 항목은 이것을 흔히 "환각(hallucination)"이라 부른다고 적는다.</a:t>
            </a:r>
          </a:p>
          <a:p>
            <a:pPr lvl="0"/>
            <a:r>
              <a:rPr lang="ko-KR" sz="1200"/>
              <a:t>비결정성은 이 과정의 설명이다. 수강생의 LLM으로 같은 요청을 두 번 보내 차이를 확인하게 할 수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context engineering for AI agents"(2025) 원문 확인.</a:t>
            </a:r>
          </a:p>
          <a:p>
            <a:pPr lvl="0"/>
            <a:r>
              <a:rPr lang="ko-KR" sz="1200"/>
              <a:t>무엇을 골라 줄지는 "세션 05. 도메인·설계 지식과 맥락 구성"에서 다룬다. 결제 연동 매뉴얼 200쪽을 통째로 준 장면이 그 세션의 사례다.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Eric Evans, *Domain-Driven Design Reference*(2015)의 Ubiquitous Language 원문 확인. 도메인 주도 설계(DDD)는 이 언어를 보편 언어(ubiquitous language)라 부른다.</a:t>
            </a:r>
          </a:p>
          <a:p>
            <a:pPr lvl="0"/>
            <a:r>
              <a:rPr lang="ko-KR" sz="1200"/>
              <a:t>용어집과 보편 언어를 만드는 법은 "객체지향 분석과 설계 실무" 과정이 다룬다. 이 과정은 그것을 에이전트의 맥락으로 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코드가 고른 "거절되면 취소됨"은 이 모델에 없는 전이다. 모델이 있었다면 에이전트가 추측할 곳이 아니었다.</a:t>
            </a:r>
          </a:p>
          <a:p>
            <a:pPr lvl="0"/>
            <a:r>
              <a:rPr lang="ko-KR" sz="1200"/>
              <a:t>상태 기계의 표기는 "객체지향 분석과 설계 실무" 과정이 다룬다. 코드 값은 course-design.md의 공통 전제를 따른다.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Thomas R. Gruber, "A Translation Approach to Portable Ontology Specifications", 1993 원문 확인.</a:t>
            </a:r>
          </a:p>
          <a:p>
            <a:pPr lvl="0"/>
            <a:r>
              <a:rPr lang="ko-KR" sz="1200"/>
              <a:t>용어집 → 도메인 모델 → 온톨로지로 갈수록 명시가 강해진다. 이 과정의 사례는 용어집과 도메인 모델·상태 기계로 충분하다. 온톨로지를 주는 것만으로 같은 해석이 보장되지는 않으며 사례와 검증으로 확인한다.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3가지 구분은 원전의 분류가 아니라 이 과정의 구분이다(course-design.md의 「원전 적용 결정」).</a:t>
            </a:r>
          </a:p>
          <a:p>
            <a:pPr lvl="0"/>
            <a:r>
              <a:rPr lang="ko-KR" sz="1200"/>
              <a:t>AI 지원의 병목은 사람의 리뷰다. 형태의 선택은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규칙·맥락·센서·확인)이 빠졌다.</a:t>
            </a:r>
          </a:p>
          <a:p>
            <a:pPr lvl="0"/>
            <a:r>
              <a:rPr lang="ko-KR" sz="1200"/>
              <a:t>센서와 확인 지점은 "세션 07. 워크플로·에이전트와 사람의 개입"과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경로 원칙은 원전의 분류가 아니다(course-design.md의 「과정 전체 판단 원칙」). 상세는 "세션 03. 요구의 구체화와 명세"에서 다룬다.</a:t>
            </a:r>
          </a:p>
          <a:p>
            <a:pPr lvl="0"/>
            <a:r>
              <a:rPr lang="ko-KR" sz="1200"/>
              <a:t>같은 뼈대는 3가지 개발 방식 모두에 있다. 달라지는 것은 각 단계를 누가 하는가다.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 위임 형태에 관한 이 과정의 기준 원전이다.</a:t>
            </a:r>
          </a:p>
          <a:p>
            <a:pPr lvl="0"/>
            <a:r>
              <a:rPr lang="ko-KR" sz="1200"/>
              <a:t>두 형태 중 무엇을 고를지, 언제 AI가 필요 없는지는 "세션 02. 작업 특성에 따른 AI 활용 방식"에서 다룬다.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요약이다.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각 행이 뒤 세션의 주제다 — 명세·수용 기준은 03·04, 맥락은 05, 위임 경계는 06, 가드레일·하네스는 08·09, 실패는 10 세션.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"Harness engineering for coding agent users", martinfowler.com, 2026 원문 확인.</a:t>
            </a:r>
          </a:p>
          <a:p>
            <a:pPr lvl="0"/>
            <a:r>
              <a:rPr lang="ko-KR" sz="1200"/>
              <a:t>가이드(feedforward)·센서(feedback)의 상세는 "세션 09. 검증 하네스·결과 점검·피드백"에서 다룬다. "자율의 정도"는 이 과정의 설명이다.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표의 행 순서가 결정의 순서다. 학습 순서이지 고정된 개발 절차가 아니며, 증거가 나오면 원인이 된 결정(대개 업무 규칙이나 맥락)으로 되돌린다.</a:t>
            </a:r>
          </a:p>
          <a:p>
            <a:pPr lvl="0"/>
            <a:r>
              <a:rPr lang="ko-KR" sz="1200"/>
              <a:t>산출물을 모두 합친 것을 위임 패키지라 부른다. "세션 12. 명세·맥락·작업 지시의 종합 검토"에서 위임 패키지로 다음 기능을 맡긴다.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모델 패키지는 code/s01/subscription/docs/에 있다.</a:t>
            </a:r>
          </a:p>
          <a:p>
            <a:pPr lvl="0"/>
            <a:r>
              <a:rPr lang="ko-KR" sz="1200"/>
              <a:t>실습은 정기배송 시스템을 빈 저장소에서 개발하는 하나의 시나리오다. 강의의 첫 시도와 달리 모델 패키지를 받고 시작하지만, 모델에도 빈칸이 있다.</a:t>
            </a:r>
          </a:p>
          <a:p>
            <a:pPr lvl="0"/>
            <a:r>
              <a:rPr lang="ko-KR" sz="1200"/>
              <a:t>결과물은 실습 2(활용 방식 판단)에서 사람이 정할 결정과 맡길 수 있는 구현을 가르는 데 쓰이고, 실습 3(작업 명세서)에서 명세에 담긴다.</a:t>
            </a:r>
          </a:p>
          <a:p>
            <a:pPr lvl="0"/>
            <a:r>
              <a:rPr lang="ko-KR" sz="1200"/>
              <a:t>"신청한다"(실습 1~9) 다음에 배송지를 변경한다(실습 10~12)를 같은 맥락·하네스로 진행한다.</a:t>
            </a:r>
          </a:p>
          <a:p>
            <a:pPr lvl="0"/>
            <a:r>
              <a:rPr lang="ko-KR" sz="1200"/>
              <a:t>도구는 제한하지 않는다. 평가는 초안이 아니라 찾아낸 추측과 정한 결정을 본다. 모델에 없는 결정은 수강생이 업무 담당자로서 정한다.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규칙·검증)이 빠진 것이다. 다음 세션부터 그 몫을 하나씩 채운다.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초안의 추측은 예다. 수강생의 LLM마다 다른 곳을 추측하며, 평가는 추측을 찾아 결정으로 바꾼 것을 본다.</a:t>
            </a:r>
          </a:p>
          <a:p>
            <a:pPr lvl="0"/>
            <a:r>
              <a:rPr lang="ko-KR" sz="1200"/>
              <a:t>"거절되면 결제 대기 유지"와 회차 상태(예정·배송 요청됨·배송중·배송됨)는 course-design.md의 공통 전제와 같다.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AI 협업의 특성과 사람의 판단 책임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찾기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만들지와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LLM의 성질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그럴듯한 추측, 비결정성, 맥락의 한계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모델·온톨로지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명시하는 이유를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AI-native에서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개발자의 일과 LLM의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과정의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남은 세션이 답할 질문을 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고객이 결제까지 마치는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948346" y="3450336"/>
            <a:ext cx="5247308" cy="2203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담당자가 준 요청은 아래 한 줄뿐이었다. 테크 리드가 이 한 줄을 그대로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담당자가 결과를 보자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겪게 될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가지가 드러났다.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결제 코드는 요청에 없던 업무 규칙 세 가지를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정해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317601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445191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테스트는 업무 규칙이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쓴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세 곳에서 실패한다.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346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610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736156" y="2398776"/>
            <a:ext cx="7658100" cy="1416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436206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85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소프트웨어를 만드는 어려운 부분은 이 개념 구조의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3775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28806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그럴듯한 추측과 비결정성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엔지니어가 써 온 도구와 성질이 다르다. 같은 입력에 같은 결과를 내는 컴파일러와 달리,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모르는 것을 그럴듯하게 채우고 매번 다르게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(confabulation)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자신 있게 말하지만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틀리거나 거짓인 내용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만들어 내는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"Confabulation: The production of confidently stated but erroneous or false content"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2,400원을 청구하는 코드도 컴파일되고 테스트를 통과했다. 그럴듯할수록 틀린 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비결정성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요청을 다시 주면 결제 거절을 결제대기로 처리한 코드가 나오기도 한다. 한 번 맞은 결과는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증거가 아니다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맥락의 한계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작업에서 읽을 수 있는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보고 판단한다. 업무 담당자와 합의한 규칙이라도 맥락에 넣어 주지 않으면 알지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한정된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다뤄야 하며 더 넣을수록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한계 효용이 줄어든다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"Context, therefore, must be treated as a finite resource with diminishing marginal returns."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주어진 것만 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맥락은 요청, 열어 본 파일, 이전 대화다. 작업이 끝나면 기억하지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볼 수 있는 양이 정해져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한도를 맥락 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(context window)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이라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많이 넣는다고 좋아지지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맥락이 길어질수록 중요한 내용을 놓친다. 그래서 판단에 영향을 주는 자료만 골라 준다.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뜻의 언어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80375" y="3061046"/>
          <a:ext cx="61696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52222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상품의 지금 가격. 상품 시스템이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생길 때 판매가로 정한 주문 항목의 가격. 그 뒤로 바뀌지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항목마다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규칙은 그 안에 쓰인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말의 뜻이 하나로 정해져야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지킬 수 있다. "가격"이라고만 적어 두면 에이전트는 어느 가격인지 스스로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모델을 언어의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삼고 팀 안의 모든 소통과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그 언어를 끈질기게 쓰기로 팀이 약속한다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"Use the model as the backbone of a language. Commit the team to exercising that language relentlessly in all communication within the team and in the code."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7625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164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용어에 담긴 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"가격"을 판매가와 단가로 나누면, "주문 금액은 주문할 때의 가격"이 용어의 정의에 담긴다.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모델로 보이는 업무 규칙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14884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규칙을 모델로 그려 두면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스스로 채울 빈칸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줄어든다. 주문 상태 기계 하나에 결제 거절과 배송 요청의 규칙이 함께 드러난다.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결제대기에서 결제가 거절되면 결제대기에 머문다. 고객은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 전이의 행동이다. 승인되지 않으면 배송을 요청하지 않는다.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1071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상태 기계</a:t>
            </a:r>
          </a:p>
        </p:txBody>
      </p:sp>
      <p:pic>
        <p:nvPicPr>
          <p:cNvPr id="10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1056298" y="3648456"/>
            <a:ext cx="7031404" cy="112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온톨로지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업무 규칙의 명시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63256" y="3249468"/>
          <a:ext cx="5803900" cy="3873500"/>
        </p:xfrm>
        <a:graphic>
          <a:graphicData uri="http://schemas.openxmlformats.org/drawingml/2006/table">
            <a:tbl>
              <a:tblPr/>
              <a:tblGrid>
                <a:gridCol w="1813560"/>
                <a:gridCol w="2316480"/>
                <a:gridCol w="16738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주로 읽는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용어와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개념·관계·제약을 형식 언어로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사람, 추론하는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84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온톨로지는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개념화의 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ontology is an explicit specification of a conceptualization."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같은 것으로, 무엇을 다른 것으로 볼지 정한 추상이다. 판매가와 단가를 다른 개념으로 보는 것이 그 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명시적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개념·관계·제약을 형식으로 드러내, 사람과 시스템이 같은 뜻으로 해석하게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510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업무 규칙을 명시하는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06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적용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여러 시스템·에이전트가 같은 뜻을 주고받거나 기계가 추론해야 할 때 가치가 크다. 모든 과제의 필수는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방식을 가르는 것은 쓰는 도구가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작업의 단위와, 사람과 LLM이 하는 일과, 무엇으로 결과를 확인하는지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일의 위치다. 코드를 쓰고 읽던 일이 업무 규칙을 정하고 명시하고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무엇이 옳은 결과인지의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AI-native는 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"주문한다"를 세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직접 손대는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센서의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679450" y="3450336"/>
            <a:ext cx="7785100" cy="222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방식으로 개발하든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 → 유저 스토리 → 코드·테스트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뼈대는 같다. 그 사이에 무엇을 넣을지는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도메인·기술 복잡성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실선은 뼈대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작업도 유저 스토리와 수용 기준, 테스트는 빠지지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점선은 고르는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얽히면 작업 명세서와 도메인 모델을, 외부 연동과 품질 요구가 크면 아키텍처를 넣는다. 많이 넣을수록 좋은 것이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시도는 뼈대를 건너뛰었다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요청 한 줄에서 바로 코드로 갔다. 수용 기준이 없어 테스트가 자기 코드를 확인했다.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요구에서 코드까지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/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90045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불변의 뼈대와 중간 산출물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703659" y="3527789"/>
            <a:ext cx="7736681" cy="83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AI-native에서 맡기는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(workflow)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(agent)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두 형태다.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워크플로는 LLM과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정한 코드 경로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조율되는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are systems where LLMs and tools are orchestrated through predefined code paths."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LLM이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과정과 도구 사용을 스스로 정하면서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일을 어떻게 이룰지 통제하는 시스템이다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"Agents, on the other hand, are systems where LLMs dynamically direct their own processes and tool usage, maintaining control over how they accomplish tasks."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단계를 누가 정하는가다. 워크플로는 사람이 정한 경로를 따르고, 에이전트는 LLM이 그때그때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"명세 확인 → 구현 → 테스트"를 정해 두고 단계마다 LLM을 부르면 워크플로다. 첫 시도처럼 과제만 주고 에이전트가 파일을 찾고 고치고 테스트를 돌리게 하면 에이전트다.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개발 방식의 변화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복잡도·테스트와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만든 소프트웨어에 책임을 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이라 부른다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 — 일의 우선순위를 정하고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3가지을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역할 나눔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83146" y="2112010"/>
          <a:ext cx="756412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3098800"/>
                <a:gridCol w="30988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LLM(에이전트)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업무 규칙을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만들고, 기대값은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판단을 바꾸는 지식을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안에서 찾아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도구·권한·멈출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실행하고, 닿으면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코드·테스트를 만들고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설계하고 유지한다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 결과로 고치고, 센서를 끄지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받아들이거나 되돌리고, 최종 책임을 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증거(테스트 출력)를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원인이 된 결정으로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상한 안에서 재시도하고, 반복되면 멈춘다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개발자는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빈칸은 정하지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묻는다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AI-native에서 개발자의 일과 LLM의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32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개발자의 일과 LLM의 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맡긴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하네스의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확인한다. 하네스는 개발자가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가이드와 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가이드는 실행 전에 방향을 주고, 센서는 실행 뒤에 결과를 알려 모델이 스스로 고치게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자율의 정도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확인할 수 있는 만큼 자율을 준다. 첫 시도처럼 센서가 자기 코드만 확인하면 "완료"는 주장일 뿐이다.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901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 = 모델 + 하네스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620155" y="3886754"/>
            <a:ext cx="5903689" cy="91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결정 지도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599166"/>
                <a:gridCol w="2684063"/>
                <a:gridCol w="3133572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세션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활용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방식으로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일을 한 줄로 에이전트에게 맡겼다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명세·수용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만들고 무엇으로 받아들일까?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없이 테스트가 자기 코드를 확인했다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03·04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알려 줄까?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"가격"이 어느 가격인지 몰랐다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05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 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어디까지 맡길까?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권한과 멈출 조건을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개입·가드레일·하네스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막고 무엇으로 확인할까?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07~09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실패·평가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실패하면, 모델이 바뀌면 어떻게 할까?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다시 요청하면 결과가 달라졌다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10·11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시도가 무너진 곳마다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내렸어야 할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있다. 남은 세션이 그 결정을 하나씩 다룬다.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— 추측 찾기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정기배송을 "신청한다"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개발하게 하고, 점검 항목으로 초안이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추측한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찾아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정리하십시오.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서비스 개요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생필품을 고객이 정한 주기로 배송하는 정기배송 시스템을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빈 저장소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개발한다. 고객은 상품·수량·배송 주기·첫 배송일·기간·배송지를 정해 신청하고 일시불로 결제한다. 상품·결제·배송은 외부 시스템이 맡는다.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 패키지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정의서·용어집·유스케이스·도메인 모델·상태 기계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① "이 모델 패키지로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정기배송을 신청한다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설계하고, 자바 코드와 테스트를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② "모델에 없어서 네가 스스로 정한 것과 모델과 다르게 만든 것을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모두 나열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상태나 필드를 더했는가?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회차 금액을 무엇으로 계산했는가? 신청 때의 가격인가?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확정할 때 배송 회차를 몇 개, 어느 날짜로 만들었는가? 그 계산 규칙이 모델에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정기배송은 어떤 상태인가?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(할인, 최소 수량 등)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이 들어갔는가?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승인된 경우뿐 아니라 거절된 경우의 테스트가 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추측 목록과 사람이 정할 결정. 실습 2의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줄였다. 업무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정하고, 명시하고,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협업의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AI는 우연적 복잡성을 줄였고, 본질적 복잡성인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LLM의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그럴듯한 추측, 비결정성, 맥락의 한계. 주어지지 않은 업무 규칙은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규칙의 명시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용어집·도메인 모델·온톨로지로 뜻을 고정한다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실행한다. 테스트의 기대값은 업무 규칙에서 온다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지도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활용 방식 → 명세·수용 기준 → 맥락 → 위임 경계 → 개입·가드레일·하네스 → 실패·평가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작업의 특성으로 수작업·대화형 보조·워크플로·에이전트 중 가장 단순한 충분한 형태를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01. AI 협업의 특성과 사람의 판단 책임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616364"/>
            <a:ext cx="4338828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초안이 추측한 것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정기배송 상태에 "신청 실패", 회차 상태에 "취소됨"을 더했다.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금액을 배송할 때마다 상품 시스템의 현재 가격으로 계산했다.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회차를 만료일 다음 날까지 만들었다.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정기배송을 삭제했다.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기간이 6개월 이상이면 5% 할인했다.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승인된 경우만 테스트했다.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656244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LLM 초안은 "신청한다"를 만들면서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모델에 없는 상태와 규칙을 더하고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, 결제 거절과 회차 생성을 스스로 정했다. 추측마다 사람이 정할 결정을 적었다.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616364"/>
            <a:ext cx="4439412" cy="4696101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모델의 상태만 쓴다. 신청은 결제 대기 → 확정, 회차는 예정으로 시작한다.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금액은 신청 때의 가격 × 수량이며 기간 끝까지 같다.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배송일부터 배송 주기마다, 만료일까지의 날짜로 예정 회차를 만든다.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거절되면 결제 대기를 유지한다.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덧붙인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모델에 없는 규칙은 넣지 않는다. 필요하면 업무 담당자에게 묻는다.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승인·거절 두 경로와 회차의 날짜를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28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2" baseType="lpstr">
      <vt:lpstr>맑은 고딕</vt:lpstr>
      <vt:lpstr>Arial</vt:lpstr>
      <vt:lpstr>Wingdings</vt:lpstr>
      <vt:lpstr>4_Office 테마</vt:lpstr>
      <vt:lpstr>01. AI 협업의 특성과 사람의 판단 책임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업무 규칙은 도메인 지식이다 03. AI가 바꾼 것과 바꾸지 못한 것</vt:lpstr>
      <vt:lpstr>그럴듯한 추측과 비결정성 03. AI가 바꾼 것과 바꾸지 못한 것</vt:lpstr>
      <vt:lpstr>맥락의 한계 03. AI가 바꾼 것과 바꾸지 못한 것</vt:lpstr>
      <vt:lpstr>같은 뜻의 언어 04. 업무 규칙의 명시</vt:lpstr>
      <vt:lpstr>모델로 보이는 업무 규칙 04. 업무 규칙의 명시</vt:lpstr>
      <vt:lpstr>온톨로지 04. 업무 규칙의 명시</vt:lpstr>
      <vt:lpstr>3가지 개발 방식 05. 개발 방식의 변화</vt:lpstr>
      <vt:lpstr>같은 과제, 3가지 방식 05. 개발 방식의 변화</vt:lpstr>
      <vt:lpstr>요구에서 코드까지 (1/2) 05. 개발 방식의 변화</vt:lpstr>
      <vt:lpstr>요구에서 코드까지 (2/2) 05. 개발 방식의 변화</vt:lpstr>
      <vt:lpstr>워크플로와 에이전트 05. 개발 방식의 변화</vt:lpstr>
      <vt:lpstr>바이브 코딩과 규율 05. 개발 방식의 변화</vt:lpstr>
      <vt:lpstr>사람이 조종하고 에이전트가 실행한다 06. 개발자의 일과 LLM의 일</vt:lpstr>
      <vt:lpstr>역할 나눔 06. 개발자의 일과 LLM의 일</vt:lpstr>
      <vt:lpstr>하네스 06. 개발자의 일과 LLM의 일</vt:lpstr>
      <vt:lpstr>07. 결정 지도</vt:lpstr>
      <vt:lpstr>08. 실습 — 추측 찾기</vt:lpstr>
      <vt:lpstr>09. 요약</vt:lpstr>
      <vt:lpstr>추측 목록과 사람이 정할 결정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AI 협업의 특성과 사람의 판단 책임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