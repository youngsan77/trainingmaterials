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새 일하는 방식 → 결정과 검사의 짝 → 과정의 지도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  <a:p>
            <a:pPr lvl="0"/>
            <a:r>
              <a:rPr lang="ko-KR" sz="1200"/>
              <a:t>LLM이라는 재료의 성질과 활용 방식의 선택은 "세션 02. LLM이라는 재료"가 맡는다. 이 세션은 사람과 AI가 나누는 일까지다.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  <a:p>
            <a:pPr lvl="0"/>
            <a:r>
              <a:rPr lang="ko-KR" sz="1200"/>
              <a:t>이 한 과제가 과정의 유일한 과제다. 실습도 같은 과제를 수강생이 직접 만든다(course-design.md의 「사례·실습 방향」).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세 번째 줄에서 에이전트는 공통 전제에 없는 취소됨 상태까지 만들어 썼다. 취소는 이번 과제의 범위 밖이다.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기대값을 업무 규칙에서 정하는 일은 "세션 03. 요구와 수용 기준"이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두 인용은 원문에서 이어지는 대목이다 — 앞이 본질·우연의 정의, 뒤가 어려운 부분이 무엇인지다.</a:t>
            </a:r>
          </a:p>
          <a:p>
            <a:pPr lvl="0"/>
            <a:r>
              <a:rPr lang="ko-KR" sz="1200"/>
              <a:t>둘째 인용의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  <a:p>
            <a:pPr lvl="0"/>
            <a:r>
              <a:rPr lang="ko-KR" sz="1200"/>
              <a:t>업무 규칙을 용어집·개념과 관계로 명시하는 일은 "세션 04. 정적 모델", 사건과 상태로 명시하는 일은 "세션 05. 동적 모델"이 다룬다.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"세션 02. LLM이라는 재료"에서 다룬다.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규칙·맥락·검사·확인)이 빠졌다.</a:t>
            </a:r>
          </a:p>
          <a:p>
            <a:pPr lvl="0"/>
            <a:r>
              <a:rPr lang="ko-KR" sz="1200"/>
              <a:t>검사를 파이프라인으로 모아 에이전트가 스스로 돌리게 하는 일은 "세션 09. 검사 파이프라인"이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문장에서 핵심 구만 옮긴 것이다. 바이브 엔지니어링이라는 이름은 그 글의 제목이며 인용문이 아니라 본문이 밝힌다.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행 하나하나가 뒤 세션의 주제다. 각 행의 결정을 무엇으로 재는지는 「06. 결정과 검사의 짝」에서 이어 본다.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결정과 검증을 층마다 짝지어 보는 틀은 V 모델의 대응 관계다. 단계의 순서가 아니라 대응 관계로만 쓴다(course-design.md의 「원전 적용 결정」).</a:t>
            </a:r>
          </a:p>
          <a:p>
            <a:pPr lvl="0"/>
            <a:r>
              <a:rPr lang="ko-KR" sz="1200"/>
              <a:t>짝의 왼쪽은 "세션 03. 요구와 수용 기준"부터 "세션 07. 설계 — 책임과 협력"까지가, 오른쪽을 파이프라인으로 모으는 일은 "세션 09. 검사 파이프라인"이 맡는다.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왼쪽 열은 「리뷰에서 나온 문제 3가지」의 첫 열과 같은 세 문제다. 같은 사건을 결정의 공백으로 다시 읽는다.</a:t>
            </a:r>
          </a:p>
          <a:p>
            <a:pPr lvl="0"/>
            <a:r>
              <a:rPr lang="ko-KR" sz="1200"/>
              <a:t>단가의 확정 시점은 정적 모델의 속성 결정이고, 배송 요청의 순서와 거절 뒤의 전이는 동적 모델의 결정이다. 수강생에게 먼저 어느 쪽인지 묻는다.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왼쪽 다섯은 "세션 03. 요구와 수용 기준"~"세션 07. 설계 — 책임과 협력", 오른쪽 넷은 "세션 08. 위임"~"세션 11. 종합 실행"이다. 이 세션과 "세션 02. LLM이라는 재료"는 두 쪽에 들어가기 전의 준비다.</a:t>
            </a:r>
          </a:p>
          <a:p>
            <a:pPr lvl="0"/>
            <a:r>
              <a:rPr lang="ko-KR" sz="1200"/>
              <a:t>산출물을 모두 만들어야 하는 것은 아니다. 무엇을 넣을지는 도메인·기술 복잡성이 정하며, 그 판단은 "세션 03. 요구와 수용 기준"에서 경로와 함께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</a:t>
            </a:r>
          </a:p>
          <a:p>
            <a:pPr lvl="0"/>
            <a:r>
              <a:rPr lang="ko-KR" sz="1200"/>
              <a:t>두 인용은 원문에서 이어지는 대목이다. 앞 문장이 에이전트가 맞는 자리를 말하고(결정적·규칙 기반 방식이 잘 듣지 않는 일), 그 뒤에 복잡한 판단·유지하기 어려운 규칙·비정형 데이터 셋을 기준으로 든 다음 뒤 문장이 온다. 그래서 Otherwise는 그 기준을 충족하지 못한 경우다 — 충족하면 에이전트가 맞고, 충족하지 못하면 결정적 해법으로 충분하다. 인용 하나만 보이면 "이 기준"이 무엇인지 알 수 없어 거꾸로 읽히므로 둘을 함께 둔다.</a:t>
            </a:r>
          </a:p>
          <a:p>
            <a:pPr lvl="0"/>
            <a:r>
              <a:rPr lang="ko-KR" sz="1200"/>
              <a:t>포매터·정적 검사·빌드 도구는 뒤에서 에이전트의 결과를 확인하는 검사가 된다.</a:t>
            </a:r>
          </a:p>
          <a:p>
            <a:pPr lvl="0"/>
            <a:r>
              <a:rPr lang="ko-KR" sz="1200"/>
              <a:t>작업 특성으로 활용 방식(수작업·대화형 보조·워크플로·에이전트)을 고르는 일은 "세션 02. LLM이라는 재료"가 맡는다. 비용 대비 효과의 판단은 "세션 10. 비용과 평가"다.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 환경은 Windows를 전제한다. macOS 수강생은 Homebrew로 같은 셋을 설치한다 — brew install openjdk@21 gradle git.</a:t>
            </a:r>
          </a:p>
          <a:p>
            <a:pPr lvl="0"/>
            <a:r>
              <a:rPr lang="ko-KR" sz="1200"/>
              <a:t>저장소는 각자 자기 PC에 두고 혼자 관리한다. 원격 저장소·push·공유는 필요 없고, 결과 공유는 화면이나 파일로 한다.</a:t>
            </a:r>
          </a:p>
          <a:p>
            <a:pPr lvl="0"/>
            <a:r>
              <a:rPr lang="ko-KR" sz="1200"/>
              <a:t>저장소 이름 order-system과 폴더 docs는 과정이 정한 이름이다. 다른 이름을 써도 되지만 한 사람이 한 저장소를 끝까지 쓰는 것이 중요하다. 첫날에 필요한 것은 에이전트와 Git뿐이고 JDK·Gradle은 둘째 날에 쓴다.</a:t>
            </a:r>
          </a:p>
          <a:p>
            <a:pPr lvl="0"/>
            <a:r>
              <a:rPr lang="ko-KR" sz="1200"/>
              <a:t>winget은 Windows 10·11의 App Installer에 들어 있다. 없거나 사내 정책으로 막히면 제품 설치 파일로 설치한다.</a:t>
            </a:r>
          </a:p>
          <a:p>
            <a:pPr lvl="0"/>
            <a:r>
              <a:rPr lang="ko-KR" sz="1200"/>
              <a:t>Claude Code의 설치 절차와 설치 명령·버전은 2026-10 기준이다. 과정을 열 때마다 제품 안내로 확인한다.</a:t>
            </a:r>
          </a:p>
          <a:p>
            <a:pPr lvl="0"/>
            <a:r>
              <a:rPr lang="ko-KR" sz="1200"/>
              <a:t>Gradle은 실습 8에서 gradle init으로 래퍼를 만든 뒤에는 저장소의 gradlew로 실행된다. 처음 한 번만 설치가 필요하다.</a:t>
            </a:r>
          </a:p>
          <a:p>
            <a:pPr lvl="0"/>
            <a:r>
              <a:rPr lang="ko-KR" sz="1200"/>
              <a:t>저장소 초기화와 빌드 구성의 지시문은 "세션 08. 위임"이, 검사 명령을 만드는 일은 "세션 09. 검사 파이프라인"이 안내한다.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강의가 업무 규칙 3가지를 이미 보였으므로, 실습은 규칙을 새로 만드는 것이 아니라 요청 한 줄에서 정해야 할 조건을 뽑는 연습이다. 수강생이 그 셋 말고 무엇을 더 찾아내는지가 결과물의 차이다.</a:t>
            </a:r>
          </a:p>
          <a:p>
            <a:pPr lvl="0"/>
            <a:r>
              <a:rPr lang="ko-KR" sz="1200"/>
              <a:t>수강생이 다르게 정해도 된다. 다른 결정이 뒤 실습의 모델·설계·검사를 어떻게 바꾸는지 보는 것이 이 실습 흐름의 목적이다.</a:t>
            </a:r>
          </a:p>
          <a:p>
            <a:pPr lvl="0"/>
            <a:r>
              <a:rPr lang="ko-KR" sz="1200"/>
              <a:t>Claude Team 등에서 renderer 없이 수행한다. ②~④에는 실제 받은 질문의 답과 검토 의견을 붙인다. 기본 문구만 기계적으로 반복하지 않는다.</a:t>
            </a:r>
          </a:p>
          <a:p>
            <a:pPr lvl="0"/>
            <a:r>
              <a:rPr lang="ko-KR" sz="1200"/>
              <a:t>⑤ 이후에도 MD의 누락·불일치·폐기한 안의 재등장을 검토하고 보완·재생성을 반복한다. 최종 MD를 저장소의 docs에 두면 뒤 실습이 파일 이름으로 그것을 가리킬 수 있고, 실습 8에서 에이전트가 읽을 맥락이 된다.</a:t>
            </a:r>
          </a:p>
          <a:p>
            <a:pPr lvl="0"/>
            <a:r>
              <a:rPr lang="ko-KR" sz="1200"/>
              <a:t>①~⑤는 대화 횟수가 아니라 단계다. 받은 답을 읽고 필요한 만큼 추가·반복한다.</a:t>
            </a:r>
          </a:p>
          <a:p>
            <a:pPr lvl="0"/>
            <a:r>
              <a:rPr lang="ko-KR" sz="1200"/>
              <a:t>강사 예시의 실제 대화는 code/s01/exercise-conversation/order/다.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규칙·검사)이 빠진 것이다. 다음 세션부터 그 몫을 하나씩 채운다.</a:t>
            </a:r>
          </a:p>
          <a:p>
            <a:pPr lvl="0"/>
            <a:r>
              <a:rPr lang="ko-KR" sz="1200"/>
              <a:t>이 세션에서 보완된 모델은 없다. 업무 규칙 3가지가 리뷰에서 처음 드러났을 뿐이며, 모델로 적는 일은 뒤 세션이 한다.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실행 기록은 code/s01/exercise-conversation/order/다. prompt-01.txt~prompt-05.txt가 실제 입력, claude-response-01.md~-05.md가 실제 응답이며 이 답은 ⑤ 응답의 전문이다. 제목 단계만 Session Source로 바꿨다.</a:t>
            </a:r>
          </a:p>
          <a:p>
            <a:pPr lvl="0"/>
            <a:r>
              <a:rPr lang="ko-KR" sz="1200"/>
              <a:t>③에서 사람이 업무 규칙 3가지를 답하자 LLM이 그 결정에서 새로 생기는 빈칸을 찾아냈다 — 결제대기에 기한이 없다는 것, 판매가가 내려간 경우, 승인 뒤 재고가 없는 경우다. 요청 한 줄에는 없던 질문이다.</a:t>
            </a:r>
          </a:p>
          <a:p>
            <a:pPr lvl="0"/>
            <a:r>
              <a:rPr lang="ko-KR" sz="1200"/>
              <a:t>④의 응답이 "미정은 아무것도 적지 않는다는 뜻이 아니다"를 분명히 했다. 미정에는 현재 머무는 상태와 구현이 임의로 하지 말아야 할 것을 함께 적는다. 이 구분이 "세션 03. 요구와 수용 기준"의 범위·제외·미정으로 이어진다.</a:t>
            </a:r>
          </a:p>
          <a:p>
            <a:pPr lvl="0"/>
            <a:r>
              <a:rPr lang="ko-KR" sz="1200"/>
              <a:t>미정 G(승인 뒤 배송 요청 실패)는 강의의 미정과 같은 항목이다. 강의에서는 "세션 11. 종합 실행"에서 거두어진다.</a:t>
            </a:r>
          </a:p>
          <a:p>
            <a:pPr lvl="0"/>
            <a:r>
              <a:rPr lang="ko-KR" sz="1200"/>
              <a:t>수강생의 답은 이와 다를 수 있다. 업무 규칙을 다르게 정하면 미정의 목록도 달라진다.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240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/>
            </a:r>
            <a:r>
              <a:rPr kumimoji="1" lang="en-US" altLang="ko-KR" sz="1400" dirty="0"/>
              <a:t/>
            </a:r>
            <a:r>
              <a:rPr kumimoji="1" lang="ko-KR" altLang="en-US" sz="1400" dirty="0"/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lang="en-US" altLang="ko-KR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Aft>
                <a:spcPts val="600"/>
              </a:spcAft>
              <a:buNone/>
            </a:pPr>
            <a:endParaRPr lang="en-US" sz="1600" b="0" dirty="0"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600"/>
              </a:spcAft>
              <a:buNone/>
            </a:pP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5176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</a:rPr>
              <a:t>AI-native SW 공학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AI-native SW 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LLM이라는 재료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요구와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설계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책임과 협력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위임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검사 파이프라인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비용과 평가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종합 실행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개발 방식의 구분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활동마다 사람과 AI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AI에게 맡기지 않는 작업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실습 환경 준비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조건 확인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만들지와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규율이 없는 사용과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공학 활동마다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결정할 것과 AI가 지원할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내린 결정마다 그것을 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짝으로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하는 이유를 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않을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고객이 결제까지 마치는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8346" y="3450336"/>
            <a:ext cx="5247308" cy="220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담당자가 준 요청은 아래 한 줄뿐이었다. 테크 리드가 이 한 줄을 그대로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담당자가 결과를 보자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겪게 될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가지가 드러났다.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결제 코드는 요청에 없던 업무 규칙 세 가지를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정해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317601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445191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테스트는 업무 규칙이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쓴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세 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5346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610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36156" y="2398776"/>
            <a:ext cx="7658100" cy="141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659563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3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아리스토텔레스를 따라 나는 소프트웨어의 어려움을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소프트웨어의 본성에 본래 있는 어려움과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오늘날 소프트웨어를 만드는 데 따라붙지만 본래적이지는 않은 어려움으로 나눈다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"Following Aristotle, I divide them into essence, the difficulties inherent in the nature of the software, and accidents, those difficulties which today attend its production but which are not inherent"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소프트웨어를 만드는 어려운 부분은 이 개념 구조의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이며 그것을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611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52163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개발 방식의 구분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방식을 가르는 것은 쓰는 도구가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작업의 단위와, 사람과 LLM이 하는 일과, 무엇으로 결과를 확인하는지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"주문한다"를 세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직접 손대는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검사의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679450" y="3450336"/>
            <a:ext cx="7785100" cy="222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복잡도·테스트와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규율을 지키며 LLM을 쓰는 숙련자의 방식을 가리키는 이름이다.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자기가 만든 소프트웨어에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당당하고 자신 있게 책임을 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활동마다 사람과 AI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 — 일의 우선순위를 정하고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3가지를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활동마다 사람과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활동마다 사람과 AI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2246" y="2112010"/>
          <a:ext cx="67259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90322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문제·의도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의도, 위험 수용을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결정을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범위·제외·미정과 기대값을 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애매한 것을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개념·관계·불변 조건을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모순과 누락을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사건과 상태·전이를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빠진 전이를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무엇을 알아야 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대안을 비교하고 위반을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배치와 협력, 작업 단위를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대안을 내고 불일치를 짚는다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읽힐 것과 권한, 종료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일하고 막히면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구현·검증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통과를 뜻하는지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코드와 테스트를 만들고 스스로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증거를 보고 수용하거나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증거를 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보완·판단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반영할지, 계속 맡길지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곳과 개선을 제안한다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AI는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초안과 검사로 지원한다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결정을 AI에게 넘기면 첫 시도처럼 추측이 결과에 들어온다.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활동마다 사람의 일과 AI의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508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결정마다 검사가 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내린 결정은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결정을 재는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짝을 이룬다. 짝이 없는 결정은 지켜졌는지 아무도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왼쪽에서 정하지 않은 것은 오른쪽에 검사가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그리고 검사가 없는 것은 에이전트에게 맡길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검사는 사람이 보기 전에 돌아간다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실패를 읽고 스스로 고친다.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결정과 그 결정을 재는 검사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3349625" y="3374136"/>
            <a:ext cx="2444750" cy="2700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첫 시도에서 비어 있던 결정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6" y="2112010"/>
          <a:ext cx="717296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276352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시도의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비어 있던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결정을 재는 검사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단가를 언제 확정하는가 — 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불변 조건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전에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요청의 순서 — 동적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순서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전이 — 동적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전이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시도의 문제 3가지는 코드의 결함이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정하지 않은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추측으로 채워진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문제 3가지가 가리키는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공백에는 기대값이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그래서 에이전트의 테스트가 모두 통과했다. 통과는 공백을 보여 주지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녹색은 쓴 검사만큼만 보장한다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확인했는지는 검사의 목록이 말한다.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과정의 지도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열한 세션은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결정하는 쪽과 실행하고 증거를 받는 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나뉜다. 한 과제를 작업 단위로 쪼개 이 두 쪽을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요구와 수용 기준, 정적 모델, 동적 모델, 아키텍처, 설계와 작업 단위다.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학습 순서이지 개발 절차가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단위마다 결정과 검사를 한 바퀴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정의서·용어집·정적 모델·상태 기계·의존 규칙과 그 검사다.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환경은 필요에서 자란다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쌓이고 권한이 좁아지는 것은 실행에서 필요가 드러난 결과다.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860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과정의 지도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314450" y="4623816"/>
            <a:ext cx="6515100" cy="82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AI에게 맡기지 않는 작업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맡기지 않는 작업은 세 가지다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쓸 이유가 없는 작업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완료를 판정할 수 없는 작업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AI를 쓸 이유가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코드 형식·의존 규칙 검사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결정적·규칙 기반 방식이 잘 듣지 않는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일에 맞는다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are uniquely suited to workflows where traditional deterministic and rule-based approaches fall short"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만들기로 하기 전에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 조건을 분명히 충족하는지 확인한다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아니면 결정적인 해법으로 충분할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완료를 판정할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받아들일 기준을 쓸 수 없으면 검사도 없다. 검사가 없는 작업은 맡기지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실습 환경 준비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실습부터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저장소에 산출물을 모으고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"세션 08. 위임"부터는 같은 저장소에서 코드와 검사를 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Windows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다섯 가지를 준비한다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명령은 PowerShell에서 실행한다.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코딩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Claude Code를 설치하고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Claude Team 계정으로 로그인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한다.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claude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실행해 대화가 되면 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JDK 17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winget install Microsoft.OpenJDK.21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설치하고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java -version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Gradle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winget install Gradle.Gradle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설치하고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gradle -v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winget install Git.Git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설치하고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git config --global user.name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user.email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설정한다.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실습 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자기 PC에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order-system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폴더를 만들어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git init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하고 그 안에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docs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폴더를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산출물은 저장소가 들고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실습 1~7의 MD가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docs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쌓이고, 실습 8에서 에이전트가 읽는다.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사내망에서 설치와 로그인이 막히는지 미리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업무 조건 확인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"쇼핑몰의 주문 시스템을 빈 저장소에서 새로 만든다. 업무 담당자의 요청은 '장바구니에 담은 상품을 결제하면 주문이 되고 배송이 시작되게 해 주세요' 한 줄이다. 요구사항을 정의하기 전에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내가 정해야 할 업무 조건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무엇인가?"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"고객이 배송지를 정하고 카드로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결제까지 마치는 범위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만 다루자. 상품·결제·배송은 이미 운영 중인 외부 시스템이며 화면과 기술 설계는 제외해라."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 주문 금액은 주문이 생길 때의 판매가로 정한다. 배송은 결제가 승인된 뒤에만 요청한다. 결제가 거절되면 결제대기로 남겨 다른 카드로 다시 결제한다. [추가 질문·수정 요청] 이 셋 말고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요구사항을 쓰기 전에 꼭 정해야 할 조건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더 있는가? 필요한 이유도 설명해라."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답]과 [추가 질문·수정 요청]을 적는다. 이번 범위에서 정하지 않을 것은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미정으로 남긴다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"지금까지 합의한 "주문한다"의 업무 조건을 다음 실습에 사용할 간결한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생성해라. 외부 시스템은 연계 대상으로 두고 화면·기술 설계와 결제 이후 운영은 제외해라. 모든 경우를 나열하지 말고 합의한 조건과 요구사항 작성에 꼭 필요한 미정 사항만 해당 위치에 표시해라. 새 결정을 추가하거나 폐기한 안을 되살리지 마라. 요구사항 정의서나 기능 목록을 미리 작성하지 말고 업무 조건과 미정 사항만 짧은 항목으로 정리해라. 항목마다 한 줄로 쓰고 도식 없이 한 쪽 분량으로 줄여라."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필요성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결제까지 마치는 범위에 실제로 필요한 조건인가?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화면·기술 설계나 외부 시스템의 재구현이 섞였는가?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사람이 정하지 않은 정책을 AI가 확정했는가?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정하지 않기로 한 것이 미정으로 남아 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종료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이제 요구사항을 작성할 수 있는가? 그렇다면 탐색을 끝낸다.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합의한 업무 조건의 최종 MD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마지막 합의를 확인하고 저장소의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두어 커밋한다.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줄였고,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 명시하고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일과 AI의 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코드로 옮기는 일은 AI가,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LLM이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 이전·AI 지원·AI-native는 작업의 단위와 검증이 다르다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결정과 검사의 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없는 것은 맡길 수 없다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02. LLM이라는 재료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재료의 성질과 비용의 구조를 알고 활용 방식을 고른다.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업무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대상: 고객이 장바구니에서 주문을 시작하고, 배송지를 확정한 뒤 카드 결제 승인을 받아 주문이 성립할 때까지다.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연계 대상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(이미 운영 중인 외부 시스템)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상품 시스템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(판매가, 재고)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결제 시스템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(카드 승인)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배송 시스템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(배송 요청 수신)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제외: 화면, 기술 설계, 결제 이후 운영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(취소, 환불, 반품, 교환, 배송 진행)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카드 외 결제 수단, 배송비, 쿠폰과 할인.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생성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고객이 배송지를 확정하면 주문이 생기고, 주문 상태는 결제대기가 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주문자와 수령인은 같은 사람으로 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H] 비회원 주문을 허용하는지, 허용한다면 결제대기 주문을 다시 찾을 때 본인을 어떻게 확인하는지 정해지지 않았다.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금액은 항목마다 주문 생성 시점의 판매가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수량을 곱해 모두 더한 값이다.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주문이 생긴 뒤 판매가가 오르거나 내려도 주문 금액은 바뀌지 않으며, 그 금액을 청구한다.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 중에는 상품, 수량, 배송지를 바꿀 수 없다. 바꾸려면 새로 주문한다.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결제가 거절되면 주문을 취소하지 않고 결제대기로 남겨, 고객이 다른 카드로 다시 결제할 수 있게 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B] 결제대기의 기한과 기한이 지난 뒤의 처리가 정해지지 않았다. 구현에서 만료, 취소, 삭제, 결제 차단을 임의로 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결제와 주문 성립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수단은 카드뿐이다.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승인이 완료된 때 주문이 성립한다.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시스템의 응답을 확정할 수 없으면 그 응답을 실패로 바꾸지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F] 응답을 확정할 수 없을 때 이후 처리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(재결제 허용 여부 포함)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정해지지 않았다. 구현에서 성공이나 실패를 임의로 확정하지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재고는 상품 시스템의 판단을 그대로 따르며, 주문 쪽에서 재고를 따로 확보하지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E] 승인 뒤 재고가 없을 때의 처리가 정해지지 않았다. 구현에서 승인 취소나 주문 상태 변경을 임의로 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시스템에는 카드 승인 뒤에만 배송을 요청한다.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G] 승인 뒤 배송 요청이 실패했을 때의 처리가 정해지지 않았다. 구현에서 승인 취소, 주문 상태 변경, 재요청 주체와 방식을 임의로 정하지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I] 주문 확인 통지를 이 시스템이 보내는지, 다른 시스템의 통지로 대신하는지 정해지지 않았다.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25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Wingdings</vt:lpstr>
      <vt:lpstr>4_Office 테마</vt:lpstr>
      <vt:lpstr/>
      <vt:lpstr>AI-native SW 공학 목차</vt:lpstr>
      <vt:lpstr>01. 사람의 일과 AI의 일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3가지 개발 방식 04. 개발 방식의 구분</vt:lpstr>
      <vt:lpstr>같은 과제, 3가지 방식 04. 개발 방식의 구분</vt:lpstr>
      <vt:lpstr>바이브 코딩과 규율 04. 개발 방식의 구분</vt:lpstr>
      <vt:lpstr>사람이 조종하고 에이전트가 실행한다 05. 활동마다 사람과 AI</vt:lpstr>
      <vt:lpstr>활동마다 사람과 AI 05. 활동마다 사람과 AI</vt:lpstr>
      <vt:lpstr>결정마다 검사가 있다 06. 결정과 검사의 짝</vt:lpstr>
      <vt:lpstr>첫 시도에서 비어 있던 결정 06. 결정과 검사의 짝</vt:lpstr>
      <vt:lpstr>과정의 지도 06. 결정과 검사의 짝</vt:lpstr>
      <vt:lpstr>07. AI에게 맡기지 않는 작업</vt:lpstr>
      <vt:lpstr>08. 실습 환경 준비</vt:lpstr>
      <vt:lpstr>09. 실습 — 업무 조건 확인</vt:lpstr>
      <vt:lpstr>10. 요약</vt:lpstr>
      <vt:lpstr>주문한다의 업무 조건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사람의 일과 AI의 일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