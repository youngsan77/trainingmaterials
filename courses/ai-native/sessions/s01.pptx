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전체가 하나의 시나리오(쇼핑몰 주문 시스템의 첫 시도)로 이어진다. 사건 → 원인 → 새 일하는 방식 → 무엇을 어떻게 맡길지 → 과정의 지도 순서다.</a:t>
            </a:r>
          </a:p>
          <a:p>
            <a:pPr lvl="0"/>
            <a:r>
              <a:rPr lang="ko-KR" sz="1200"/>
              <a:t>내용은 2026-10 기준이다. 도구·모델의 능력에 관한 서술은 과정을 열 때마다 원문으로 다시 확인한다.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사례는 "객체지향 분석과 설계 실무" 과정과 같은 주문 시스템이며 이름도 같다. 이 과정만 듣는 수강생을 위해 필요한 전제만 소개한다.</a:t>
            </a:r>
          </a:p>
          <a:p>
            <a:pPr lvl="0"/>
            <a:r>
              <a:rPr lang="ko-KR" sz="1200"/>
              <a:t>상품·결제·배송 시스템은 이미 운영 중인 외부 시스템이다. 주문 시스템은 이들과 요청·통보를 주고받는다.</a:t>
            </a:r>
          </a:p>
          <a:p>
            <a:pPr lvl="0"/>
            <a:r>
              <a:rPr lang="ko-KR" sz="1200"/>
              <a:t>업무 담당자 한 명이 주문 정책을 정하고, 개발자 세 명(테크 리드 한 명, 개발자 두 명)이 코딩 에이전트를 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10분, 파일 15개, 테스트 3개는 교육용 가정이다. 파일 수는 code/s01/order/와 같다.</a:t>
            </a:r>
          </a:p>
          <a:p>
            <a:pPr lvl="0"/>
            <a:r>
              <a:rPr lang="ko-KR" sz="1200"/>
              <a:t>수강생에게 묻는다: 여기서 받아들여도 되는가? 무엇을 확인하면 되는가?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번째 줄은 결제 직전에 펜 판매가가 1,200원으로 오른 경우다.</a:t>
            </a:r>
          </a:p>
          <a:p>
            <a:pPr lvl="0"/>
            <a:r>
              <a:rPr lang="ko-KR" sz="1200"/>
              <a:t>에이전트가 고른 답은 다른 쇼핑몰에서는 맞을 수 있는 답이다. 그래서 코드만 봐서는 틀린 줄 모른다.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code/s01/order/다. 첫 시도의 결제 코드는 LLM이 흔히 내는 추측을 모아 만든 교육용 예이며, 수강생의 LLM은 다른 곳을 추측할 수 있다.</a:t>
            </a:r>
          </a:p>
          <a:p>
            <a:pPr lvl="0"/>
            <a:r>
              <a:rPr lang="ko-KR" sz="1200"/>
              <a:t>코드가 보장하는 것: 승인되면 결제완료가 된다. 보장하지 않는 것: 주문 금액, 배송 요청의 시점, 거절 뒤 상태 — 모두 업무 규칙이 정해야 하는 것이다.</a:t>
            </a:r>
          </a:p>
          <a:p>
            <a:pPr lvl="0"/>
            <a:r>
              <a:rPr lang="ko-KR" sz="1200"/>
              <a:t>코드의 영문 이름은 설계 이름이다. 본문에서는 결제한다·주문 금액처럼 한글로 부른다.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테스트는 code/s01/order/test/의 AgentWrittenTest와 PayTest다. javac로 컴파일하고 각각 실행해 결과를 대조한다.</a:t>
            </a:r>
          </a:p>
          <a:p>
            <a:pPr lvl="0"/>
            <a:r>
              <a:rPr lang="ko-KR" sz="1200"/>
              <a:t>테스트가 통과했다는 것은 "코드가 기대값대로 동작한다"는 뜻이다. 기대값이 추측이면 통과도 추측을 확인했을 뿐이다. 기대값을 업무 규칙에서 정하는 일은 "세션 05. 작업 명세와 수용 기준"이 다룬다.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Frederick P. Brooks Jr., "No Silver Bullet — Essence and Accidents of Software Engineering", 1986 원문 확인. 두 인용은 원문에서 이어지는 대목이다 — 앞이 본질·우연의 정의, 뒤가 어려운 부분이 무엇인지다.</a:t>
            </a:r>
          </a:p>
          <a:p>
            <a:pPr lvl="0"/>
            <a:r>
              <a:rPr lang="ko-KR" sz="1200"/>
              <a:t>둘째 인용의 원문은 "…testing the fidelity of the representation."으로 이어지며, PDF의 쪽 번호가 문장 중간에 있어 앞부분까지 인용했다.</a:t>
            </a:r>
          </a:p>
          <a:p>
            <a:pPr lvl="0"/>
            <a:r>
              <a:rPr lang="ko-KR" sz="1200"/>
              <a:t>본질적 복잡성을 업무 규칙에, 우연적 복잡성을 업무 규칙을 코드로 옮기는 일에 대응시킨 것은 이 과정의 해석이다. Brooks의 문장이 아니다.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Brooks(1986) 원문 확인.</a:t>
            </a:r>
          </a:p>
          <a:p>
            <a:pPr lvl="0"/>
            <a:r>
              <a:rPr lang="ko-KR" sz="1200"/>
              <a:t>"LLM은 흔히 보이는 답을 고른다"는 이 과정의 설명이다. 출처로 인용하지 않는다.</a:t>
            </a:r>
          </a:p>
          <a:p>
            <a:pPr lvl="0"/>
            <a:r>
              <a:rPr lang="ko-KR" sz="1200"/>
              <a:t>업무 규칙을 용어집·개념과 관계·상태 기계로 명시하는 일은 "세션 03. 도메인 모델"이 다룬다.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NIST, *Artificial Intelligence Risk Management Framework: Generative Artificial Intelligence Profile*(NIST AI 600-1), 2024의 Confabulation 항목 원문 확인. 같은 항목은 이것을 흔히 "환각(hallucination)"이라 부른다고 적는다.</a:t>
            </a:r>
          </a:p>
          <a:p>
            <a:pPr lvl="0"/>
            <a:r>
              <a:rPr lang="ko-KR" sz="1200"/>
              <a:t>비결정성은 이 과정의 설명이다. 수강생의 LLM으로 같은 요청을 두 번 보내 차이를 확인하게 할 수 있다.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</a:t>
            </a:r>
          </a:p>
          <a:p>
            <a:pPr lvl="0"/>
            <a:r>
              <a:rPr lang="ko-KR" sz="1200"/>
              <a:t>무엇을 골라 줄지는 "세션 06. 맥락 구성"에서 다룬다. 결제 연동 매뉴얼 200쪽을 통째로 준 장면이 그 세션의 사례다.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3가지 구분은 원전의 분류가 아니라 이 과정의 구분이다(course-design.md의 「원전 적용 결정」).</a:t>
            </a:r>
          </a:p>
          <a:p>
            <a:pPr lvl="0"/>
            <a:r>
              <a:rPr lang="ko-KR" sz="1200"/>
              <a:t>AI 지원의 병목은 사람의 리뷰다. 형태의 선택은 「08. AI 활용 방식」에서 다룬다.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시도는 AI-native의 겉모양(에이전트가 과제를 실행)만 있고, 사람의 몫(업무 규칙·맥락·센서·확인)이 빠졌다.</a:t>
            </a:r>
          </a:p>
          <a:p>
            <a:pPr lvl="0"/>
            <a:r>
              <a:rPr lang="ko-KR" sz="1200"/>
              <a:t>센서는 실행 뒤에 결과의 증거를 내는 검사다. 센서를 설계하고 유지하는 일은 "세션 09. 검증 하네스"가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Vibes"(2025), Simon Willison, "Vibe engineering"(2025) 원문 확인. Willison 인용은 요약이다.</a:t>
            </a:r>
          </a:p>
          <a:p>
            <a:pPr lvl="0"/>
            <a:r>
              <a:rPr lang="ko-KR" sz="1200"/>
              <a:t>바이브 코딩은 개발 방식의 한 구분이 아니라 규율이 없는 사용이다. AI 지원과 AI-native 어디에서나 생길 수 있다.</a:t>
            </a:r>
          </a:p>
          <a:p>
            <a:pPr lvl="0"/>
            <a:r>
              <a:rPr lang="ko-KR" sz="1200"/>
              <a:t>"습관을 키운다"는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확인(openai.com이 한국어판으로 자동 전환하므로 영문판으로 확인).</a:t>
            </a:r>
          </a:p>
          <a:p>
            <a:pPr lvl="0"/>
            <a:r>
              <a:rPr lang="ko-KR" sz="1200"/>
              <a:t>한 팀(OpenAI 내부 제품)의 경험이다. 글도 비슷한 투자 없이 일반화된다고 가정하지 말라고 밝힌다.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역할 구분은 이 과정의 구분이다(course-design.md의 「과정 전체 판단 원칙」).</a:t>
            </a:r>
          </a:p>
          <a:p>
            <a:pPr lvl="0"/>
            <a:r>
              <a:rPr lang="ko-KR" sz="1200"/>
              <a:t>표의 행 하나하나가 뒤 세션의 주제다. 각 행에서 남는 산출물은 「10. 과정의 지도」에서 이어 본다.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코딩 에이전트 사례 원문 확인. 한글은 요약이다.</a:t>
            </a:r>
          </a:p>
          <a:p>
            <a:pPr lvl="0"/>
            <a:r>
              <a:rPr lang="ko-KR" sz="1200"/>
              <a:t>작업 특성을 4가지로 묶은 것은 이 과정의 정리다. 원문의 "잘 정의된 문제"와 "자동 테스트로 검증"을 바탕으로 업무 규칙과 되돌리기를 더했다.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네 방식 가운데 수작업과 대화형 보조는 이 과정이 더한 비교 대상이다.</a:t>
            </a:r>
          </a:p>
          <a:p>
            <a:pPr lvl="0"/>
            <a:r>
              <a:rPr lang="ko-KR" sz="1200"/>
              <a:t>증강 LLM의 검색은 저장소의 코드·문서 읽기, 도구는 빌드·테스트 실행, 기억은 작업 사이의 진행 기록이다.</a:t>
            </a:r>
          </a:p>
          <a:p>
            <a:pPr lvl="0"/>
            <a:r>
              <a:rPr lang="ko-KR" sz="1200"/>
              <a:t>수작업도 결정적인 도구(스크립트·템플릿)를 쓴다. 사람이 실행하고 결과를 직접 확인한다는 점이 다르다.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위임 형태에 관한 이 과정의 기준 원전이다.</a:t>
            </a:r>
          </a:p>
          <a:p>
            <a:pPr lvl="0"/>
            <a:r>
              <a:rPr lang="ko-KR" sz="1200"/>
              <a:t>워크플로의 패턴과 사람의 확인 지점을 설계하는 일은 "세션 08. 실행 흐름"이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질문의 순서는 이 과정의 정리다. 인용 근거: Anthropic(2024) 원문 확인.</a:t>
            </a:r>
          </a:p>
          <a:p>
            <a:pPr lvl="0"/>
            <a:r>
              <a:rPr lang="ko-KR" sz="1200"/>
              <a:t>방식은 작업의 이름이 아니라 그 시점의 작업 특성으로 정한다. 같은 구현이라도 업무 규칙이 정해지기 전과 후가 다르다.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한글은 요약이다.</a:t>
            </a:r>
          </a:p>
          <a:p>
            <a:pPr lvl="0"/>
            <a:r>
              <a:rPr lang="ko-KR" sz="1200"/>
              <a:t>포매터·정적 검사·빌드 도구는 뒤에서 에이전트의 결과를 확인하는 센서가 된다.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 정하기는 업무 담당자와 사람이 정하고, LLM은 대화형 보조로 빠진 질문을 찾는 데 쓴다.</a:t>
            </a:r>
          </a:p>
          <a:p>
            <a:pPr lvl="0"/>
            <a:r>
              <a:rPr lang="ko-KR" sz="1200"/>
              <a:t>주문 데이터 이관은 외부 솔루션에서 옮겨 오는 이 시나리오의 작업이다. LLM이 변환 스크립트 초안을 쓸 수 있지만, 실행과 확인은 사람이 한다.</a:t>
            </a:r>
          </a:p>
          <a:p>
            <a:pPr lvl="0"/>
            <a:r>
              <a:rPr lang="ko-KR" sz="1200"/>
              <a:t>결제 연동 문서가 부실하다면 같은 작업도 에이전트 + 사람 리뷰가 맞는 답이 된다. 수강생에게 먼저 고르게 하고 이유를 비교한다.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 표는 이 과정의 정리다.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저장소와 실행 기록은 code/s01/demo/에 있다. 2026-10-07에 Claude Code 2.1.292(비대화형 실행, 모델 claude-opus-5-5)로 실행한 한 번의 기록이다.</a:t>
            </a:r>
          </a:p>
          <a:p>
            <a:pPr lvl="0"/>
            <a:r>
              <a:rPr lang="ko-KR" sz="1200"/>
              <a:t>대화형 보조의 첫 답은 컴파일 오류였다. 질문에 붙이지 않은 Product의 메서드 이름을 추측했기 때문이다.</a:t>
            </a:r>
          </a:p>
          <a:p>
            <a:pPr lvl="0"/>
            <a:r>
              <a:rPr lang="ko-KR" sz="1200"/>
              <a:t>LLM 시간은 도구가 보고한 시간의 합이며 사람이 붙여 넣고 테스트를 돌린 시간은 넣지 않았다. 입력 토큰에는 도구의 시스템 프롬프트와 도구 정의가 포함된다.</a:t>
            </a:r>
          </a:p>
          <a:p>
            <a:pPr lvl="0"/>
            <a:r>
              <a:rPr lang="ko-KR" sz="1200"/>
              <a:t>강의장에서는 수강생의 도구로 다시 실행한다. 결과는 매번 달라질 수 있다(비결정성).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</a:t>
            </a:r>
          </a:p>
          <a:p>
            <a:pPr lvl="0"/>
            <a:r>
              <a:rPr lang="ko-KR" sz="1200"/>
              <a:t>실패 기록은 "세션 10. 실패와 모델 보완", 평가 세트는 "세션 11. 평가와 운영"에서 다룬다.</a:t>
            </a:r>
          </a:p>
          <a:p>
            <a:pPr lvl="0"/>
            <a:r>
              <a:rPr lang="ko-KR" sz="1200"/>
              <a:t>첫 시도는 증거 없이 가장 높은 자율성에서 시작했다. 데모 한 번은 증거가 아니다.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시스템의 이름과 값, 정기배송의 이름과 규칙은 course-design.md의 공통 전제가 원천이다. "객체지향 분석과 설계 실무" 과정과 같게 맞춘다.</a:t>
            </a:r>
          </a:p>
          <a:p>
            <a:pPr lvl="0"/>
            <a:r>
              <a:rPr lang="ko-KR" sz="1200"/>
              <a:t>강의의 두 번째 기능 "주문을 취소한다"는 마지막 세션에서 산출물을 모아 에이전트에게 맡기는 과제다.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다섯 묶음이 열두 세션에 대응한다. 무엇을 맡기는가는 이 세션, 무엇을 만드는가는 요구·도메인 모델·아키텍처, 어떻게 맡기는가는 명세·맥락·권한, 실행과 확인은 흐름과 하네스, 보완은 실패와 평가다.</a:t>
            </a:r>
          </a:p>
          <a:p>
            <a:pPr lvl="0"/>
            <a:r>
              <a:rPr lang="ko-KR" sz="1200"/>
              <a:t>산출물을 모두 만들어야 하는 것은 아니다. 무엇을 넣을지는 도메인·기술 복잡성이 정하며, 그 판단은 "세션 02. 요구와 유저 스토리"에서 경로와 함께 다룬다.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Codex·ChatGPT·Claude Team 등에서 renderer 없이 수행한다. ②~④에는 실제 받은 질문의 답과 검토 의견을 붙인다. 기본 문구만 기계적으로 반복하지 않는다.</a:t>
            </a:r>
          </a:p>
          <a:p>
            <a:pPr lvl="0"/>
            <a:r>
              <a:rPr lang="ko-KR" sz="1200"/>
              <a:t>⑤ 이후에도 MD의 누락·불일치·폐기한 안의 재등장을 검토하고 보완·재생성을 반복한다. 다음 작업이 가능하면 탐색을 끝낸다. 제출 여부와 무관하게 최종 MD를 저장해 다음 실습에 명시적으로 첨부한다.</a:t>
            </a:r>
          </a:p>
          <a:p>
            <a:pPr lvl="0"/>
            <a:r>
              <a:rPr lang="ko-KR" sz="1200"/>
              <a:t>최종 MD가 실습 원본이고 교재 슬라이드는 별도 제작물이다. 환경별 파일 생성·다운로드와 도식 표시를 사전에 확인한다. 도식 코드만 보이는 경우를 시각 검토 완료로 보지 않는다.</a:t>
            </a:r>
          </a:p>
          <a:p>
            <a:pPr lvl="0"/>
            <a:r>
              <a:rPr lang="ko-KR" sz="1200"/>
              <a:t>목적은 요구사항을 쓰기 전에 사람이 결정할 업무 조건이 있음을 이해하는 것이다. 상세 요구사항 정의서나 설계는 만들지 않는다.</a:t>
            </a:r>
          </a:p>
          <a:p>
            <a:pPr lvl="0"/>
            <a:r>
              <a:rPr lang="ko-KR" sz="1200"/>
              <a:t>①~⑤는 대화 횟수가 아니라 단계다. ②~④는 보완 대화 예시이며 수강생에 따라 두 번 또는 열 번이 될 수 있다. 받은 답을 읽고 필요한 만큼 추가·반복한다.</a:t>
            </a:r>
          </a:p>
          <a:p>
            <a:pPr lvl="0"/>
            <a:r>
              <a:rPr lang="ko-KR" sz="1200"/>
              <a:t>점검 항목은 매 답변을 읽을 때 사용한다. 기술·화면 설계, 기존 기능 재구현, 범위 밖 운영 또는 AI가 채운 미정 정책을 발견하면 다음 요청에 보완 내용을 넣는다.</a:t>
            </a:r>
          </a:p>
          <a:p>
            <a:pPr lvl="0"/>
            <a:r>
              <a:rPr lang="ko-KR" sz="1200"/>
              <a:t>강사 예시는 code/s01/exercise-conversation/focused-prompts/의 실제 대화다. 앞선 질문에 답하며 확정한 업무 조건을 이어 받아 새 ⑤로 파일화했다. templates.json은 학습자용 기본 문구, prompt-*.txt와 conversation.md는 실제 입력·응답이다.</a:t>
            </a:r>
          </a:p>
          <a:p>
            <a:pPr lvl="0"/>
            <a:r>
              <a:rPr lang="ko-KR" sz="1200"/>
              <a:t>기존 상품 조회 기능의 구현은 연계 대상이며, 정기배송을 허용할 상품을 정하는 것은 새로운 업무 결정일 수 있다.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실패는 AI의 실패가 아니라 사람의 몫(업무 규칙·검증)이 빠진 것이다. 다음 세션부터 그 몫을 하나씩 채운다.</a:t>
            </a:r>
          </a:p>
          <a:p>
            <a:pPr lvl="0"/>
            <a:r>
              <a:rPr lang="ko-KR" sz="1200"/>
              <a:t>이 세션에서 보완된 모델은 없다. 업무 규칙 3가지가 리뷰에서 처음 드러났을 뿐이며, 모델로 적는 일은 뒤 세션이 한다.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code/s01/exercise-conversation/focused-prompts/codex-response-05.md의 실제 최종 MD 전체를 사용했다. 발췌·요약·문장 수정·강조 추가 없이 제목 단계와 목록 들여쓰기만 대응했다. 도식 원본은 그대로 보존한다.</a:t>
            </a:r>
          </a:p>
          <a:p>
            <a:pPr lvl="0"/>
            <a:r>
              <a:rPr lang="ko-KR" sz="1200"/>
              <a:t>①~⑤는 단계이며 실제 대화의 횟수는 예시다. 이전 실제 대화의 합의 내용을 이어 새 ⑤를 실행했다. 실제 입력·응답은 conversation.md, 학습자용 기본 문구는 templates.json에 보존한다. 마지막 파일을 검토한 뒤 보완·재생성할 수 있다.</a:t>
            </a:r>
          </a:p>
          <a:p>
            <a:pPr lvl="0"/>
            <a:r>
              <a:rPr lang="ko-KR" sz="1200"/>
              <a:t>다음 실습에는 최종 MD를 명시적으로 첨부한다. 교재의 슬라이드 배치와 업무 산출물의 구성은 별개다.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2400" dirty="0"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/>
            </a:r>
            <a:r>
              <a:rPr kumimoji="1" lang="en-US" altLang="ko-KR" sz="1400" dirty="0"/>
              <a:t/>
            </a:r>
            <a:r>
              <a:rPr kumimoji="1" lang="ko-KR" altLang="en-US" sz="1400" dirty="0"/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4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4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endParaRPr lang="en-US" sz="1800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endParaRPr lang="en-US" sz="1800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lang="en-US" altLang="ko-KR" dirty="0">
                <a:latin typeface="맑은 고딕"/>
                <a:ea typeface="맑은 고딕"/>
                <a:cs typeface="맑은 고딕"/>
              </a:rPr>
              <a:t/>
            </a:r>
            <a:endParaRPr lang="en-US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b="1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b="1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Aft>
                <a:spcPts val="600"/>
              </a:spcAft>
              <a:buNone/>
            </a:pPr>
            <a:endParaRPr lang="en-US" sz="1600" b="0" dirty="0"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600"/>
              </a:spcAft>
              <a:buNone/>
            </a:pP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51760"/>
            <a:ext cx="8412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</a:rPr>
              <a:t>AI-native SW 공학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AI-native SW 공학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사람의 일과 AI의 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요구와 유저 스토리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도메인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아키텍처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작업 명세와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맥락 구성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권한과 가드레일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실행 흐름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검증 하네스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실패와 모델 보완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평가와 운영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종합 실행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사람의 일과 AI의 일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LLM이라는 새 재료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개발 방식의 구분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사람과 AI의 역할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작업 특성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과정의 지도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조건 확인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코드를 만드는 비용을 크게 줄였다.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만들지와 무엇이 옳은 결과인지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여전히 사람이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SW 공학에서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본질적·우연적 복잡성으로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지식이며, 주어지지 않으면 LLM이 추측으로 채운다는 것을 코드와 테스트로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LLM의 성질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그럴듯한 추측, 비결정성, 맥락의 한계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이전·AI 지원·AI-native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개발을 구분하고, 규율이 없는 사용과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결정할 것과 AI가 지원할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수작업·대화형 보조·워크플로·에이전트 중 가장 단순한 충분한 방식을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높이는 데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말한다.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쇼핑몰의 주문 시스템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생활용품 쇼핑몰이 주문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새로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첫 기능은 고객이 결제까지 마치는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고객이 펜 2개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(개당 1,000원)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장바구니에 담는다.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배송지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(서울)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정하면 주문이 생기고 주문 금액 2,000원이 정해진다.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카드 결제가 승인되면 결제완료가 되고 배송을 요청한다.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시스템과 외부 시스템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48346" y="3450336"/>
            <a:ext cx="5247308" cy="2203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요청 한 줄과 10분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담당자가 준 요청은 아래 한 줄뿐이었다. 테크 리드가 이 한 줄을 그대로 코딩 에이전트에게 주자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10분 만에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코드와 테스트가 나왔다.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자바 파일 15개와 테스트 3개를 만들었다. 테스트는 모두 통과했다.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펜 2개를 카드로 결제하자 결제완료가 되고 배송이 요청되었다.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 됐다"고 보고 업무 담당자에게 리뷰를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3106420"/>
                <a:gridCol w="209296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고객과 회사가 겪는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2,000원에 주문한 고객에게 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결제할 때의 판매가로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돈을 받지 않은 주문이 배송 준비에 들어간다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전에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 고객이 다시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남겨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모두 통과했지만, 업무 담당자가 결과를 보자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고객과 회사가 실제로 겪게 될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세 가지가 드러났다.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문제와 원인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요청 한 줄에 없던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묻지 않고 골랐다.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만든 결제 코드는 요청에 없던 업무 규칙 세 가지를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정해 채웠다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결제할 때 판매가를 다시 조회해 계산한다.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승인을 요청하기 전에 배송을 요청한다.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거절되면 주문을 취소한다.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시도의 결제 시퀀스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24548" y="3176016"/>
            <a:ext cx="7094904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960120"/>
            <a:ext cx="8412480" cy="2971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필드와 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amount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order.items())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// ① 결제 시점의 판매가로 다시 계산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Money salePrice = productGateway.salePriceOf(item.productNumber());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amount = amount.plus(salePrice.times(item.quantity().value()));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② 승인 전에 배송 요청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deliveryGateway.requestDelivery(number.value(),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(paymentGateway.requestApproval(amount, method))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else order.cancel();   // ③ 거절되면 취소됨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자기 코드를 확인한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5316" y="4451912"/>
          <a:ext cx="585978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785620"/>
                <a:gridCol w="2567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× 수량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취소된다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요청 없음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만든 테스트는 업무 규칙이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쓴 코드의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기대값으로 삼았다. 같은 코드를 업무 규칙으로 확인하면 세 곳에서 실패한다.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5346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코드, 두 테스트의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610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기대값은 어디서 오는가?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736156" y="2398776"/>
            <a:ext cx="7658100" cy="1416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본질적 복잡성과 우연적 복잡성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659563"/>
          <a:ext cx="8305800" cy="3873500"/>
        </p:xfrm>
        <a:graphic>
          <a:graphicData uri="http://schemas.openxmlformats.org/drawingml/2006/table">
            <a:tbl>
              <a:tblPr/>
              <a:tblGrid>
                <a:gridCol w="3296409"/>
                <a:gridCol w="2768600"/>
                <a:gridCol w="2240791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본질적 복잡성 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금액, 배송 요청,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개발자가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 — 업무 규칙을 코드로 옮기는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15개·반복문·외부 호출·테스트 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10분 만에 만들었다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3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아리스토텔레스를 따라 나는 소프트웨어의 어려움을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곧 소프트웨어의 본성에 본래 있는 어려움과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곧 오늘날 소프트웨어를 만드는 데 따라붙지만 본래적이지는 않은 어려움으로 나눈다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"Following Aristotle, I divide them into essence, the difficulties inherent in the nature of the software, and accidents, those difficulties which today attend its production but which are not inherent"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소프트웨어를 만드는 어려운 부분은 이 개념 구조의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명세·설계·검증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이며 그것을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표현하는 노동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believe the hard part of building software to be the specification, design, and testing of this conceptual construct, not the labor of representing it"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6111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시도에서 본 두 복잡성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52163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줄인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규칙을 코드로 옮기는 노동이다.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병목의 이동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이제 시간은 업무 규칙을 찾고, 정하고, 검증하는 데 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1575" y="2898948"/>
          <a:ext cx="72872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6339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회사마다 달라지는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 보여 준 가격을 고객에게 보장할지는 회사의 가격 정책이다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확인 전에 배송 준비를 시작할지는 물류 운영과 위험을 감수하는 정도의 문제다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남겨 다시 결제받을지, 바로 정리할지는 고객 경험과 재고 운영의 선택이다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소프트웨어 시스템을 만드는 일에서 가장 어려운 부분은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무엇을 만들지 결정하는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hardest single part of building a software system is deciding precisely what to build."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업무 담당자가 아는 도메인 지식이다.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코드나 공개된 자료에 있지 않고, 회사의 정책·운영 방식·고객과의 약속이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회사마다 달라지는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LLM은 이 지식을 모른다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흔히 보이는 답을 고른다. 그 답은 다른 회사에서는 맞는 답이라 틀린 줄 알기 어렵다.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그럴듯한 추측과 비결정성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LLM이라는 새 재료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엔지니어가 써 온 도구와 성질이 다르다. 같은 입력에 같은 결과를 내는 컴파일러와 달리,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모르는 것을 그럴듯하게 채우고 매번 다르게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(confabulation)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자신 있게 말하지만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틀리거나 거짓인 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만들어 내는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"Confabulation: The production of confidently stated but erroneous or false content"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2,400원을 청구하는 코드도 컴파일되고 테스트를 통과했다. 그럴듯할수록 틀린 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비결정성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요청을 다시 주면 결제 거절을 결제대기로 처리한 코드가 나오기도 한다. 한 번 맞은 결과는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증거가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한계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LLM이라는 새 재료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작업에서 읽을 수 있는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보고 판단한다. 업무 담당자와 합의한 규칙이라도 맥락에 넣어 주지 않으면 알지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한정된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다뤄야 하며 더 넣을수록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한계 효용이 줄어든다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"Context, therefore, must be treated as a finite resource with diminishing marginal returns."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것만 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맥락은 요청, 열어 본 파일, 이전 대화다. 작업이 끝나면 기억하지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볼 수 있는 양이 정해져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한도를 맥락 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(context window)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이라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많이 넣는다고 좋아지지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맥락이 길어질수록 중요한 내용을 놓친다. 그래서 판단에 영향을 주는 자료만 골라 준다.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개발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구분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925320"/>
                <a:gridCol w="1450340"/>
                <a:gridCol w="28371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이전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쓰는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명세·설계·코드·테스트를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쓴 테스트와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지원(AI-assisted)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제안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흐름을 쥐고 제안을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제안마다 사람이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과제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에이전트가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증거와 사람의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방식을 가르는 것은 쓰는 도구가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맡기는 작업의 단위와, 사람과 LLM이 하는 일과, 무엇으로 결과를 확인하는지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개발 방식의 구분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일의 위치다. 코드를 쓰고 읽던 일이 업무 규칙을 정하고 명시하고 검증하는 일로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옳은 결과인지의 판단과 책임은 사람에게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AI-native는 "모두 에이전트"가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작업마다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과제, 3가지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구분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"주문한다"를 세 방식으로 개발하면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직접 손대는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결제 코드와 테스트를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지원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다음 줄을 제안하고 사람이 받아들인다.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코드와 테스트를 만들고, 사람은 센서의 결과로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3가지 방식의 흐름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679450" y="3450336"/>
            <a:ext cx="7785100" cy="222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바이브 코딩과 규율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구분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시도는 데모 한 번을 보고 받아들일 뻔했다. 결과의 동작만 보고 받아들이는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코딩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coding)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바이브 코딩에서는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동작만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vibe coding you don't care about the code, just the behavior of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증강 코딩에서는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그 복잡도·테스트와 그 커버리지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augmented coding you care about the code, its complexity, the tests, &amp; their coverage."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숙련자가 LLM으로 일을 빠르게 하면서도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만든 소프트웨어에 책임을 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바이브 엔지니어링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"seasoned professionals accelerate their work with LLMs while staying proudly and confidently accountable for the software they produce"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팀의 습관을 키운다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규칙·테스트·리뷰가 있는 팀에서는 좋은 결과를, 없는 팀에서는 나쁜 결과를 더 빨리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조종하고 에이전트가 실행한다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사람과 AI의 역할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조종하고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steer. Agents execute."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늘 루프 안에 있지만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예전과 다른 추상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일한다 — 일의 우선순위를 정하고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always remain in the loop, but work at a different layer of abstraction than we used to. 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릴리스에 "주문한다"를 먼저 맡기기로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3가지를 허용·거절 예시로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데모가 아니라 업무 규칙의 테스트로 받아들인다.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활동마다 사람과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사람과 AI의 역할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1946" y="2112010"/>
          <a:ext cx="644652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76352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문제·의도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의도, 위험 수용을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결정을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요구·명세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요구와 기대값을 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쓰고 애매한 것을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개념과 규칙을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쓰고 모순과 누락을 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무엇을 알아야 하는지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위반을 검사한다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맥락·경계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읽힐 것과 권한, 종료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안에서 찾아 읽고 일한다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코드와 테스트를 만들고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어떻게 검증할지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결과를 보고 스스로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증거를 보고 수용하거나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증거를 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반영할지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곳과 개선을 제안한다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AI는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초안과 검사로 지원한다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결정을 AI에게 넘기면 첫 시도처럼 추측이 결과에 들어온다.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활동마다 사람의 일과 AI의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220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"결제가 거절되면 주문은 어떻게 되나요?"를 정하지 않고 묻는다. 정하는 것은 업무 담당자와 개발자다.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작업 특성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335366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27730"/>
                <a:gridCol w="342773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결과인지 정해졌는가?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금액을 언제의 가격으로 할지 정했는가?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끝내기까지의 작업 순서를 미리 적을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코드: 문서 확인 → 코드 작성 →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결과의 자동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옳은지 테스트로 확인할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수용 테스트로, 릴리스 노트는 사람이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잘못되었을 때 이전 상태로 정확히 돌릴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이전 커밋으로, 운영 데이터는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특성은 그 작업을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AI에게 맡겨도 되는지, 맡긴다면 어떤 방식으로 맡길지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가르는 성질이다.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테스트 결과에 따라 고칠 수 있으며 문제가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 정의되어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품질을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객관적으로 잴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있을 때 특히 효과적이다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 solutions are verifiable through automated tests; Agents can iterate on solutions using test results as feedback; The problem space is well-defined and structured; and Output quality can be measured objectively."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증강 LLM과 4가지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173268"/>
          <a:ext cx="8305800" cy="3873500"/>
        </p:xfrm>
        <a:graphic>
          <a:graphicData uri="http://schemas.openxmlformats.org/drawingml/2006/table">
            <a:tbl>
              <a:tblPr/>
              <a:tblGrid>
                <a:gridCol w="977690"/>
                <a:gridCol w="1304349"/>
                <a:gridCol w="1555624"/>
                <a:gridCol w="889000"/>
                <a:gridCol w="3579137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이관 스크립트를 실행하고 건수·금액을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사람(LLM은 답·초안)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릴리스 노트 초안을 쓰고 사람이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정해 둔 순서대로 연동 코드를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파일을 찾고 고치고 테스트를 돌려 구현한다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수작업에서 에이전트로 갈수록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순서를 정하는 쪽이 사람에서 LLM으로 옮겨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쓰는 LLM은 같다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넷 모두 검색·도구·기억을 붙인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위에서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시스템의 기본 구성 요소는 검색·도구·기억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증강을 더한 LLM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basic building block of agentic systems is an LLM enhanced with augmentations such as retrieval, tools, and memory."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48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4186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사람의 확인 없이 스스로 정하는 범위다. 아래로 갈수록 넓어진다.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LLM에게 실행을 맡기는 두 형태가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(workflow)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가르는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단계를 누가 정하는가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워크플로는 LLM과 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정한 코드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조율되는 시스템이다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are systems where LLMs and tools are orchestrated through predefined code paths."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LLM이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과정과 도구 사용을 스스로 정하면서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일을 어떻게 이룰지 통제하는 시스템이다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"Agents, on the other hand, are systems where LLMs dynamically direct their own processes and tool usage, maintaining control over how they accomplish tasks."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워크플로는 잘 정의된 작업에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예측 가능성과 일관성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주고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유연성과 모델 주도의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대규모로 필요할 때 더 나은 선택이다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offer predictability and consistency for well-defined tasks, whereas agents are the better option when flexibility and model-driven decision-making are needed at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"명세 확인 → 구현 → 테스트"를 정해 두고 단계마다 LLM을 부르면 워크플로다. 첫 시도처럼 과제만 주고 파일을 찾고 고치고 테스트를 돌리게 하면 에이전트다.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선택의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9916" y="2386330"/>
          <a:ext cx="5910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1590040"/>
                <a:gridCol w="8915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"아니오"이면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"예"이면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먼저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쉬운가?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자동으로 확인할 수 있나?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절차가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특성을 차례로 물으면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단순하면서도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이른다. 업무 규칙이 정해졌는지와 되돌릴 수 있는지를 먼저 묻는다. 이 둘은 모델이 좋아져도 달라지지 않기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선택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 수를 예측하기 어렵고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고정된 경로를 코드로 정할 수 없는 열린 문제에 쓸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be used for open-ended problems where it's difficult or impossible to predict the required number of steps, and where you can't hardcode a fixed path."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마지막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앞의 질문을 모두 통과하고, 절차를 미리 정할 수 없을 때만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맡기지 않는 작업은 두 가지다.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AI를 쓸 이유가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답과 책임이 AI 밖에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 정하기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답은 업무 담당자가 안다. 사람이 정하고 AI는 질문을 찾는다.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작업의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책임은 사람이 진다. 사람이 실행하고 AI는 초안만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필요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늘 같은 결과가 필요하다.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골격·코드 형식·의존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AI는 매번 다르게 만든다. 템플릿·포매터·정적 검사로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 사례가 기준을 분명히 충족하지 않으면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해법으로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"Before committing to building an agent, validate that your use case can meet these criteria clearly. Otherwise, a deterministic solution may suffice."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 기능 개발의 활용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81486"/>
                <a:gridCol w="2927789"/>
                <a:gridCol w="1660680"/>
                <a:gridCol w="213584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부적합한 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미정 — 업무 담당자만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늘 같은 결과가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매번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금액·상태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확인되나 고칠 곳을 미리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 — 순서를 못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정확해 순서를 적을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대가가 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데이터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돌리기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워크플로·에이전트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릴리스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릴리스에 해야 할 일 여섯 가지를 작업 특성으로 따져 보면,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에이전트에게 맡긴 것은 하나뿐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첫 릴리스의 활용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이관은 왜 되돌리기 어려운가?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옮긴 주문은 곧바로 고객이 조회하고 배송이 진행된다. 잘못 옮긴 것을 나중에 알면 데이터는 고쳐도, 그사이 고객에게 일어난 일은 되돌릴 수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3066" y="4010083"/>
          <a:ext cx="6304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226820"/>
                <a:gridCol w="15900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오류가 쌓이는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비용이 커지는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질문이 많아질 때(사람의 시간)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단계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단계마다 맥락을 새로 읽을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단계에 걸쳐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 실행이 길어질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697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결과를 확인하는 시점이 뒤로 밀리고, 그사이 오류가 쌓이는 범위도 넓어진다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작업이 크고 반복이 많을수록 그 비용이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시스템은 더 나은 작업 성능을 얻는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지연과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치르는 경우가 많으므로 그 교환이 언제 맞는지 따져야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"Agentic systems often trade latency and cost for better task performance, and you should consider when this tradeoff makes sense."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높은 비용과 오류가 누적될 가능성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autonomous nature of agents means higher costs, and the potential for compounding errors."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1163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대가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세 방식의 시연 기록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00926" y="2386330"/>
          <a:ext cx="7528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484120"/>
                <a:gridCol w="1143000"/>
                <a:gridCol w="919480"/>
                <a:gridCol w="94742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개입한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호출·턴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시간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질문·붙여 넣기·테스트 실행 7번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2·2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20초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1,608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56,810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 3개의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3·24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66초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6,333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402,181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하나와 결과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34초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3,367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339,270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작업을 세 방식으로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실행했다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세 번 모두 같은 업무 규칙과 같은 수용 테스트를 주었고, 달랐던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개입한 자리와 쓴 토큰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 구현의 시연 기록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6930"/>
            <a:ext cx="8412480" cy="2487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있으면 셋 다 지킨다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시도와 달리 업무 규칙과 수용 테스트를 주었기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토큰이 가장 적다. 대신 맥락을 사람이 골라 붙여야 하고, 빠뜨리면 LLM이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단계마다 새로 시작해 파일을 다시 읽어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에이전트보다 토큰을 더 썼다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대신 중간 결과를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개입이 가장 적다. 대신 확인이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끝에 몰린다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3335366"/>
          <a:ext cx="5775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수용 테스트가 생겼다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통과와 실패 기록이 쌓였다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확인을 줄인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 세트를 통과했다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방식으로 시작하고, 맡겨도 된다는 증거가 분명할 때만 자율성을 높인다.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LLM으로 애플리케이션을 만들 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가능한 가장 단순한 해법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 필요할 때만 복잡도를 높인다 — 에이전트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아예 만들지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수도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building applications with LLMs, we recommend finding the simplest solution possible, and only increasing complexity when needed. This might mean not building agentic systems at all."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1596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계단마다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단계 올리려면 아래 단계에서 쌓은 증거가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연동 코드는 첫 릴리스에서 워크플로로 만들고, 테스트가 쌓인 다음 릴리스에서 에이전트로 올린다.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관통 사례 — 주문과 정기배송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과정의 지도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2696" y="2386330"/>
          <a:ext cx="714502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931160"/>
                <a:gridCol w="3042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강의 — 주문 시스템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실습 — 정기배송 시스템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저장소와 요청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쇼핑몰에 정기배송 기능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기능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"정기배송을 신청한다"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번째 기능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"배송지를 변경한다"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상품·결제·배송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회원·상품·결제·배송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사례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2개, 판매가 1,000원, 배송지 서울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휴지 1묶음 10,000원, 2주 주기, 3개월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강의는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시스템을 새로 개발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과제로 열한 세션을 관통한다. 실습은 기존 쇼핑몰과 연계하는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정기배송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개발하며, 먼저 사람이 정할 업무 조건을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강의와 실습의 과제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293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강의가 답을 미리 보이지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실습의 정기배송은 수강생이 자기 LLM으로 만들고, 그 결과가 다음 실습의 입력이 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열두 활동에서 남는 산출물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10. 과정의 지도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484632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활동마다 사람이 내릴 결정이 있고, 그 결정은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작업의 입력이 되는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남는다. 남은 세션이 이 순서로 산출물을 하나씩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정의서·도메인 모델·의존 규칙이다. 작업 명세서와 수용 테스트는 작업마다 새로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학습 순서이지 개발 절차가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실제 개발에서는 뒤 활동이 앞 산출물을 고친다. 점선이 그 되돌림이다.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모두 합친 것이 위임 패키지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마지막 세션에서 이 묶음으로 다음 기능을 맡긴다.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5349240" y="1260564"/>
            <a:ext cx="3429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과정의 지도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6002889" y="1498308"/>
            <a:ext cx="2121703" cy="4492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실습 — 업무 조건 확인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“기존 쇼핑몰에 정기배송 신청 기능을 추가하려고 한다. 요구사항을 정의하기 전에 내가 결정해야 할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핵심 업무 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은 무엇인가?”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“고객이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처음 정기배송을 신청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하는 경우만 다루자. 기존 회원·상품·결제·배송 기능은 연계해서 사용한다. 화면과 기술 설계는 제외해라.”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“계약 기간은 3개월 또는 6개월, 배송 주기는 2주 또는 4주다. 첫 배송일은 고객이 선택하고 자동 갱신은 하지 않는다. 이 조건에서 신청 기능을 정의하려면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꼭 더 결정해야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할 것이 있는가? 필요한 이유도 설명해라.”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“계약은 첫 배송일부터 시작한다. 신청할 때 기존 상품·수량·배송지를 선택하고, 기존 결제수단으로 배송 회차마다 결제한다.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첫 결제에 성공하면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신청이 완료된다.”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5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“지금까지 합의한 정기배송 최초 신청의 업무 조건을 다음 실습에 사용할 간결한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Markdown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생성해라. 기존 기능은 연계 대상으로 두고 화면·기술 설계와 신청 이후 운영은 제외해라. 모든 경우를 나열하지 말고 합의한 조건과 요구사항 작성에 꼭 필요한 미정 사항만 해당 위치에 표시해라. 새 결정을 추가하거나 폐기한 안을 되살리지 마라. 요구사항 정의서나 기능 목록을 미리 작성하지 말고 업무 조건과 필요한 미정 사항만 짧은 항목으로 정리해라.”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필요성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신청 기능에 실제로 필요한 내용인가?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기술·화면 설계나 기존 쇼핑몰 기능의 재구현이 섞였는가?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사람이 정하지 않은 정책을 AI가 확정했는가?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종료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이제 요구사항을 작성할 수 있는가? 그렇다면 탐색을 끝낸다.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합의한 업무 조건의 최종 MD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. 마지막 합의를 확인하고 실습 2에 첨부한다.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업무 규칙을 코드로 옮기는 일을 줄였고, 그것을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 명시하고 검증하는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남는다.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일과 AI의 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코드로 옮기는 일은 AI가, 업무 규칙은 사람이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LLM의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그럴듯한 추측·비결정성·맥락의 한계. 빈칸은 추측으로 채운다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조종하고 에이전트가 실행한다. 활동마다 사람이 결정한다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특성 4가지로 가장 단순한 충분한 방식을 고른다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자율성과 산출물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증거가 분명할 때만 올린다. 결정은 다음 작업의 입력으로 남는다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02. 요구와 유저 스토리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요청 한 줄을 요구사항과 유저 스토리로 구체화한다.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정기배송 최초 신청 업무 조건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1. 범위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기존 회원이 정기배송을 최초 신청하는 업무만 다룬다.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회원·상품·결제수단·배송지·주문·결제·배송 기능은 기존 기능과 정책을 연계하여 사용한다.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화면 및 기술 설계는 제외한다.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신청 완료 이후의 변경, 해지, 결제 실패, 품절·단종 대응 등 운영 업무는 제외한다.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2. 신청 대상 정보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고객은 기존 상품과 수량을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고객은 기존 배송지를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고객은 기존 결제수단을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상품·수량·배송지·결제수단의 유효성은 기존 정책을 따른다.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3. 계약 조건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계약기간은 3개월 또는 6개월 중에서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 주기는 2주 또는 4주 중에서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계약은 고객이 선택한 첫 배송일부터 시작한다.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계약기간이 끝나면 자동 종료하며 자동 갱신하지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재이용하려면 별도의 신규 신청이 필요하다.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 사항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 종료일 산정 기준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종료일과 같은 날로 예정된 배송 회차의 포함 여부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4. 첫 배송일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고객이 첫 배송일을 선택한다.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선택한 첫 배송일이 계약 시작일이자 첫 회차 배송일이다.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 사항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신청일로부터 첫 배송일까지 필요한 최소 준비기간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휴일 또는 배송 불가일에 대한 날짜 적용 기준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5. 배송 회차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배송일을 기준으로 선택한 주기마다 배송 회차를 산정한다.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 회차별로 기존 주문·배송 기능을 연계한다.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 사항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 종료 기준에 따른 총 배송 횟수와 마지막 배송일</a:t>
            </a:r>
          </a:p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6. 결제 및 신청 완료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기존 결제수단으로 배송 회차마다 결제한다.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최초 신청 과정에서 첫 회차를 결제한다.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회차 결제에 성공하면 정기배송 신청이 완료된다.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회차 결제에 실패하면 신청은 완료되지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 사항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결제 실패 건의 보관 또는 무효 처리 기준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각 회차 결제금액에 적용할 상품 가격, 할인 및 배송비 기준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정기배송 최초 신청 업무 조건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marL="322580" indent="-13970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7. 신청 시 확정할 계약 정보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선택 상품과 수량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배송지와 결제수단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계약기간과 배송 주기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배송일과 계약 종료일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총 배송 횟수와 예정 배송일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첫 회차 결제금액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회차별 결제금액 결정 기준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자동 갱신 없이 종료된다는 조건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34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맑은 고딕</vt:lpstr>
      <vt:lpstr>Arial</vt:lpstr>
      <vt:lpstr>Wingdings</vt:lpstr>
      <vt:lpstr>4_Office 테마</vt:lpstr>
      <vt:lpstr/>
      <vt:lpstr>AI-native SW 공학 목차</vt:lpstr>
      <vt:lpstr>01. 사람의 일과 AI의 일 목차</vt:lpstr>
      <vt:lpstr>01. 세션 목표</vt:lpstr>
      <vt:lpstr>쇼핑몰의 주문 시스템 02. 첫 시도</vt:lpstr>
      <vt:lpstr>요청 한 줄과 10분 02. 첫 시도</vt:lpstr>
      <vt:lpstr>리뷰에서 나온 문제 3가지 02. 첫 시도</vt:lpstr>
      <vt:lpstr>추측으로 채운 코드 (1/2) 02. 첫 시도</vt:lpstr>
      <vt:lpstr>추측으로 채운 코드 (2/2) 02. 첫 시도</vt:lpstr>
      <vt:lpstr>자기 코드를 확인한 테스트 02. 첫 시도</vt:lpstr>
      <vt:lpstr>본질적 복잡성과 우연적 복잡성 03. AI가 바꾼 것과 바꾸지 못한 것</vt:lpstr>
      <vt:lpstr>업무 규칙은 도메인 지식이다 03. AI가 바꾼 것과 바꾸지 못한 것</vt:lpstr>
      <vt:lpstr>그럴듯한 추측과 비결정성 04. LLM이라는 새 재료</vt:lpstr>
      <vt:lpstr>맥락의 한계 04. LLM이라는 새 재료</vt:lpstr>
      <vt:lpstr>3가지 개발 방식 05. 개발 방식의 구분</vt:lpstr>
      <vt:lpstr>같은 과제, 3가지 방식 05. 개발 방식의 구분</vt:lpstr>
      <vt:lpstr>바이브 코딩과 규율 05. 개발 방식의 구분</vt:lpstr>
      <vt:lpstr>사람이 조종하고 에이전트가 실행한다 06. 사람과 AI의 역할</vt:lpstr>
      <vt:lpstr>활동마다 사람과 AI 06. 사람과 AI의 역할</vt:lpstr>
      <vt:lpstr>07. 작업 특성</vt:lpstr>
      <vt:lpstr>증강 LLM과 4가지 방식 08. AI 활용 방식</vt:lpstr>
      <vt:lpstr>워크플로와 에이전트 08. AI 활용 방식</vt:lpstr>
      <vt:lpstr>선택의 순서 08. AI 활용 방식</vt:lpstr>
      <vt:lpstr>AI에게 맡기지 않는 작업 08. AI 활용 방식</vt:lpstr>
      <vt:lpstr>주문 기능 개발의 활용 방식 08. AI 활용 방식</vt:lpstr>
      <vt:lpstr>자율성의 대가 09. 자율성을 높이는 조건</vt:lpstr>
      <vt:lpstr>세 방식의 시연 기록 09. 자율성을 높이는 조건</vt:lpstr>
      <vt:lpstr>자율성의 계단 09. 자율성을 높이는 조건</vt:lpstr>
      <vt:lpstr>관통 사례 — 주문과 정기배송 10. 과정의 지도</vt:lpstr>
      <vt:lpstr>열두 활동에서 남는 산출물 10. 과정의 지도</vt:lpstr>
      <vt:lpstr>11. 실습 — 업무 조건 확인</vt:lpstr>
      <vt:lpstr>12. 요약</vt:lpstr>
      <vt:lpstr>정기배송 최초 신청 업무 조건 (1/2) 별첨. 실습 답</vt:lpstr>
      <vt:lpstr>정기배송 최초 신청 업무 조건 (2/2)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사람의 일과 AI의 일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