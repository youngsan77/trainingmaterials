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새 일하는 방식 → 무엇을 어떻게 맡길지 → 과정의 지도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기대값을 업무 규칙에서 정하는 일은 "세션 05. 작업 명세와 수용 기준"이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두 인용은 원문에서 이어지는 대목이다 — 앞이 본질·우연의 정의, 뒤가 어려운 부분이 무엇인지다.</a:t>
            </a:r>
          </a:p>
          <a:p>
            <a:pPr lvl="0"/>
            <a:r>
              <a:rPr lang="ko-KR" sz="1200"/>
              <a:t>둘째 인용의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  <a:p>
            <a:pPr lvl="0"/>
            <a:r>
              <a:rPr lang="ko-KR" sz="1200"/>
              <a:t>업무 규칙을 용어집·개념과 관계·상태 기계로 명시하는 일은 "세션 03. 도메인 모델"이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"세션 06.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「08. AI 활용 방식」에서 다룬다.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센서는 실행 뒤에 결과의 증거를 내는 검사다. 센서를 설계하고 유지하는 일은 "세션 09. 검증 하네스"가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행 하나하나가 뒤 세션의 주제다. 각 행에서 남는 산출물은 「10. 과정의 지도」에서 이어 본다.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네 방식 가운데 수작업과 대화형 보조는 이 과정이 더한 비교 대상이다.</a:t>
            </a:r>
          </a:p>
          <a:p>
            <a:pPr lvl="0"/>
            <a:r>
              <a:rPr lang="ko-KR" sz="1200"/>
              <a:t>증강 LLM의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워크플로의 패턴과 사람의 확인 지점을 설계하는 일은 "세션 08. 실행 흐름"이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방식은 작업의 이름이 아니라 그 시점의 작업 특성으로 정한다. 같은 구현이라도 업무 규칙이 정해지기 전과 후가 다르다.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  <a:p>
            <a:pPr lvl="0"/>
            <a:r>
              <a:rPr lang="ko-KR" sz="1200"/>
              <a:t>결제 연동 문서가 부실하다면 같은 작업도 에이전트 + 사람 리뷰가 맞는 답이 된다. 수강생에게 먼저 고르게 하고 이유를 비교한다.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저장소와 실행 기록은 code/s01/demo/에 있다. 2026-10-07에 Claude Code 2.1.292(비대화형 실행, 모델 claude-opus-5-5)로 실행한 한 번의 기록이다.</a:t>
            </a:r>
          </a:p>
          <a:p>
            <a:pPr lvl="0"/>
            <a:r>
              <a:rPr lang="ko-KR" sz="1200"/>
              <a:t>대화형 보조의 첫 답은 컴파일 오류였다. 질문에 붙이지 않은 Product의 메서드 이름을 추측했기 때문이다.</a:t>
            </a:r>
          </a:p>
          <a:p>
            <a:pPr lvl="0"/>
            <a:r>
              <a:rPr lang="ko-KR" sz="1200"/>
              <a:t>LLM 시간은 도구가 보고한 시간의 합이며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"세션 10. 실패와 모델 보완", 평가 세트는 "세션 11. 평가와 운영"에서 다룬다.</a:t>
            </a:r>
          </a:p>
          <a:p>
            <a:pPr lvl="0"/>
            <a:r>
              <a:rPr lang="ko-KR" sz="1200"/>
              <a:t>첫 시도는 증거 없이 가장 높은 자율성에서 시작했다. 데모 한 번은 증거가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시스템의 이름과 값, 정기배송의 이름과 규칙은 course-design.md의 공통 전제가 원천이다. "객체지향 분석과 설계 실무" 과정과 같게 맞춘다.</a:t>
            </a:r>
          </a:p>
          <a:p>
            <a:pPr lvl="0"/>
            <a:r>
              <a:rPr lang="ko-KR" sz="1200"/>
              <a:t>강의의 두 번째 기능 "주문을 취소한다"는 마지막 세션에서 산출물을 모아 에이전트에게 맡기는 과제다.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다섯 묶음이 열두 세션에 대응한다. 무엇을 맡기는가는 이 세션, 무엇을 만드는가는 요구·도메인 모델·아키텍처, 어떻게 맡기는가는 명세·맥락·권한, 실행과 확인은 흐름과 하네스, 보완은 실패와 평가다.</a:t>
            </a:r>
          </a:p>
          <a:p>
            <a:pPr lvl="0"/>
            <a:r>
              <a:rPr lang="ko-KR" sz="1200"/>
              <a:t>산출물을 모두 만들어야 하는 것은 아니다. 무엇을 넣을지는 도메인·기술 복잡성이 정하며, 그 판단은 "세션 02. 요구와 사용자 이야기"에서 경로와 함께 다룬다.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Codex·ChatGPT·Claude Team 등에서 renderer 없이 수행한다. ②~④에는 실제 받은 질문의 답과 검토 의견을 붙인다. 기본 문구만 기계적으로 반복하지 않는다.</a:t>
            </a:r>
          </a:p>
          <a:p>
            <a:pPr lvl="0"/>
            <a:r>
              <a:rPr lang="ko-KR" sz="1200"/>
              <a:t>⑤ 이후에도 MD의 누락·불일치·폐기한 안의 재등장을 검토하고 보완·재생성을 반복한다. 다음 작업이 가능하면 탐색을 끝낸다. 제출 여부와 무관하게 최종 MD를 저장해 다음 실습에 명시적으로 첨부한다.</a:t>
            </a:r>
          </a:p>
          <a:p>
            <a:pPr lvl="0"/>
            <a:r>
              <a:rPr lang="ko-KR" sz="1200"/>
              <a:t>최종 MD가 실습 원본이고 교재 슬라이드는 별도 제작물이다. 환경별 파일 생성·다운로드와 도식 표시를 사전에 확인한다. 도식 코드만 보이는 경우를 시각 검토 완료로 보지 않는다.</a:t>
            </a:r>
          </a:p>
          <a:p>
            <a:pPr lvl="0"/>
            <a:r>
              <a:rPr lang="ko-KR" sz="1200"/>
              <a:t>목적은 요구사항을 쓰기 전에 사람이 결정할 업무 조건이 있음을 이해하는 것이다. 상세 요구사항 정의서나 설계는 만들지 않는다.</a:t>
            </a:r>
          </a:p>
          <a:p>
            <a:pPr lvl="0"/>
            <a:r>
              <a:rPr lang="ko-KR" sz="1200"/>
              <a:t>①~⑤는 대화 횟수가 아니라 단계다. ②~④는 보완 대화 예시이며 수강생에 따라 두 번 또는 열 번이 될 수 있다. 받은 답을 읽고 필요한 만큼 추가·반복한다.</a:t>
            </a:r>
          </a:p>
          <a:p>
            <a:pPr lvl="0"/>
            <a:r>
              <a:rPr lang="ko-KR" sz="1200"/>
              <a:t>점검 항목은 매 답변을 읽을 때 사용한다. 기술·화면 설계, 기존 기능 재구현, 범위 밖 운영 또는 AI가 채운 미정 정책을 발견하면 다음 요청에 보완 내용을 넣는다.</a:t>
            </a:r>
          </a:p>
          <a:p>
            <a:pPr lvl="0"/>
            <a:r>
              <a:rPr lang="ko-KR" sz="1200"/>
              <a:t>강사 예시는 code/s01/exercise-conversation/focused-prompts/의 실제 대화다. 앞선 질문에 답하며 확정한 업무 조건을 이어 받아 새 ⑤로 파일화했다. templates.json은 학습자용 기본 문구, prompt-*.txt와 conversation.md는 실제 입력·응답이다.</a:t>
            </a:r>
          </a:p>
          <a:p>
            <a:pPr lvl="0"/>
            <a:r>
              <a:rPr lang="ko-KR" sz="1200"/>
              <a:t>기존 상품 조회 기능의 구현은 연계 대상이며, 정기배송을 허용할 상품을 정하는 것은 새로운 업무 결정일 수 있다.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  <a:p>
            <a:pPr lvl="0"/>
            <a:r>
              <a:rPr lang="ko-KR" sz="1200"/>
              <a:t>이 세션에서 보완된 모델은 없다. 업무 규칙 3가지가 리뷰에서 처음 드러났을 뿐이며, 모델로 적는 일은 뒤 세션이 한다.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code/s01/exercise-conversation/focused-prompts/codex-response-05.md의 실제 최종 MD 전체를 사용했다. 발췌·요약·문장 수정·강조 추가 없이 제목 단계와 목록 들여쓰기만 대응했다. 도식 원본은 그대로 보존한다.</a:t>
            </a:r>
          </a:p>
          <a:p>
            <a:pPr lvl="0"/>
            <a:r>
              <a:rPr lang="ko-KR" sz="1200"/>
              <a:t>①~⑤는 단계이며 실제 대화의 횟수는 예시다. 이전 실제 대화의 합의 내용을 이어 새 ⑤를 실행했다. 실제 입력·응답은 conversation.md, 학습자용 기본 문구는 templates.json에 보존한다. 마지막 파일을 검토한 뒤 보완·재생성할 수 있다.</a:t>
            </a:r>
          </a:p>
          <a:p>
            <a:pPr lvl="0"/>
            <a:r>
              <a:rPr lang="ko-KR" sz="1200"/>
              <a:t>다음 실습에는 최종 MD를 명시적으로 첨부한다. 교재의 슬라이드 배치와 업무 산출물의 구성은 별개다.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240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/>
            </a:r>
            <a:r>
              <a:rPr kumimoji="1" lang="en-US" altLang="ko-KR" sz="1400" dirty="0"/>
              <a:t/>
            </a:r>
            <a:r>
              <a:rPr kumimoji="1" lang="ko-KR" altLang="en-US" sz="1400" dirty="0"/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lang="en-US" altLang="ko-KR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Aft>
                <a:spcPts val="600"/>
              </a:spcAft>
              <a:buNone/>
            </a:pPr>
            <a:endParaRPr lang="en-US" sz="1600" b="0" dirty="0"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600"/>
              </a:spcAft>
              <a:buNone/>
            </a:pP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517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</a:rPr>
              <a:t>AI-native SW 공학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AI-native SW 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요구와 사용자 이야기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명세와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맥락 구성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권한과 가드레일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실행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검증 하네스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실패와 모델 보완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평가와 운영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종합 실행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조건 확인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만들지와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규율이 없는 사용과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결정할 것과 AI가 지원할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수작업·대화형 보조·워크플로·에이전트 중 가장 단순한 충분한 방식을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높이는 데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말한다.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고객이 결제까지 마치는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8346" y="3450336"/>
            <a:ext cx="5247308" cy="220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담당자가 준 요청은 아래 한 줄뿐이었다. 테크 리드가 이 한 줄을 그대로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담당자가 결과를 보자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겪게 될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가지가 드러났다.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결제 코드는 요청에 없던 업무 규칙 세 가지를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정해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317601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445191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테스트는 업무 규칙이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쓴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세 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346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610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36156" y="2398776"/>
            <a:ext cx="7658100" cy="141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659563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3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아리스토텔레스를 따라 나는 소프트웨어의 어려움을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소프트웨어의 본성에 본래 있는 어려움과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오늘날 소프트웨어를 만드는 데 따라붙지만 본래적이지는 않은 어려움으로 나눈다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"Following Aristotle, I divide them into essence, the difficulties inherent in the nature of the software, and accidents, those difficulties which today attend its production but which are not inherent"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소프트웨어를 만드는 어려운 부분은 이 개념 구조의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이며 그것을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611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52163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써 온 도구와 성질이 다르다. 같은 입력에 같은 결과를 내는 컴파일러와 달리,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모르는 것을 그럴듯하게 채우고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만들어 내는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작업에서 읽을 수 있는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합의한 규칙이라도 맥락에 넣어 주지 않으면 알지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한정된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다뤄야 하며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 효용이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넣는다고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내용을 놓친다. 그래서 판단에 영향을 주는 자료만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방식을 가르는 것은 쓰는 도구가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작업의 단위와, 사람과 LLM이 하는 일과, 무엇으로 결과를 확인하는지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"주문한다"를 세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직접 손대는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679450" y="3450336"/>
            <a:ext cx="7785100" cy="222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복잡도·테스트와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 — 일의 우선순위를 정하고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3가지를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활동마다 사람과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1946" y="2112010"/>
          <a:ext cx="6446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7635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문제·의도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의도, 위험 수용을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결정을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요구와 기대값을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애매한 것을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개념과 규칙을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모순과 누락을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무엇을 알아야 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위반을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읽힐 것과 권한, 종료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찾아 읽고 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코드와 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어떻게 검증할지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결과를 보고 스스로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증거를 보고 수용하거나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증거를 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반영할지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곳과 개선을 제안한다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AI는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초안과 검사로 지원한다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결정을 AI에게 넘기면 첫 시도처럼 추측이 결과에 들어온다.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활동마다 사람의 일과 AI의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220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35366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그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맡겨도 되는지, 맡긴다면 어떤 방식으로 맡길지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가르는 성질이다.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LLM과 4가지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173268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순서를 정하는 쪽이 사람에서 LLM으로 옮겨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쓰는 LLM은 같다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넷 모두 검색·도구·기억을 붙인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위에서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418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사람의 확인 없이 스스로 정하는 범위다. 아래로 갈수록 넓어진다.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실행을 맡기는 두 형태가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가르는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단계를 누가 정하는가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정하면서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일을 어떻게 이룰지 통제하는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86330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단순하면서도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이른다. 업무 규칙이 정해졌는지와 되돌릴 수 있는지를 먼저 묻는다. 이 둘은 모델이 좋아져도 달라지지 않기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고정된 경로를 코드로 정할 수 없는 열린 문제에 쓸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맡기지 않는 작업은 두 가지다.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AI를 쓸 이유가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릴리스에 해야 할 일 여섯 가지를 작업 특성으로 따져 보면,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에이전트에게 맡긴 것은 하나뿐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첫 릴리스의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4010083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697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결과를 확인하는 시점이 뒤로 밀리고, 그사이 오류가 쌓이는 범위도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작업이 크고 반복이 많을수록 그 비용이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많으므로 그 교환이 언제 맞는지 따져야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1163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세 방식의 시연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386330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세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실행했다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세 번 모두 같은 업무 규칙과 같은 수용 테스트를 주었고, 달랐던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자리와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단계마다 새로 시작해 파일을 다시 읽어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에이전트보다 토큰을 더 썼다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대신 중간 결과를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끝에 몰린다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35366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 필요할 때만 복잡도를 높인다 —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596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관통 사례 — 주문과 정기배송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2696" y="2386330"/>
          <a:ext cx="714502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93116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강의 — 주문 시스템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— 정기배송 시스템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저장소와 요청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쇼핑몰에 정기배송 기능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"정기배송을 신청한다"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"배송지를 변경한다"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상품·결제·배송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회원·상품·결제·배송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사례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2개, 판매가 1,000원, 배송지 서울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휴지 1묶음 10,000원, 2주 주기, 3개월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강의는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시스템을 새로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과제로 열한 세션을 관통한다. 실습은 기존 쇼핑몰과 연계하는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개발하며, 먼저 사람이 정할 업무 조건을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강의와 실습의 과제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강의가 답을 미리 보이지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실습의 정기배송은 수강생이 자기 LLM으로 만들고, 그 결과가 다음 실습의 입력이 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열두 활동에서 남는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484632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활동마다 사람이 내릴 결정이 있고, 그 결정은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작업의 입력이 되는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남는다. 남은 세션이 이 순서로 산출물을 하나씩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정의서·도메인 모델·의존 규칙이다. 작업 명세서와 수용 테스트는 작업마다 새로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학습 순서이지 개발 절차가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개발에서는 뒤 활동이 앞 산출물을 고친다. 점선이 그 되돌림이다.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합친 것이 위임 패키지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마지막 세션에서 이 묶음으로 다음 기능을 맡긴다.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5349240" y="1260564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과정의 지도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6002889" y="1498308"/>
            <a:ext cx="2121703" cy="4492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— 업무 조건 확인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“기존 쇼핑몰에 정기배송 신청 기능을 추가하려고 한다. 요구사항을 정의하기 전에 내가 결정해야 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핵심 업무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은 무엇인가?”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“고객이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처음 정기배송을 신청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하는 경우만 다루자. 기존 회원·상품·결제·배송 기능은 연계해서 사용한다. 화면과 기술 설계는 제외해라.”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“계약 기간은 3개월 또는 6개월, 배송 주기는 2주 또는 4주다. 첫 배송일은 고객이 선택하고 자동 갱신은 하지 않는다. 이 조건에서 신청 기능을 정의하려면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꼭 더 결정해야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할 것이 있는가? 필요한 이유도 설명해라.”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“계약은 첫 배송일부터 시작한다. 신청할 때 기존 상품·수량·배송지를 선택하고, 기존 결제수단으로 배송 회차마다 결제한다.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결제에 성공하면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신청이 완료된다.”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“지금까지 합의한 정기배송 최초 신청의 업무 조건을 다음 실습에 사용할 간결한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생성해라. 기존 기능은 연계 대상으로 두고 화면·기술 설계와 신청 이후 운영은 제외해라. 모든 경우를 나열하지 말고 합의한 조건과 요구사항 작성에 꼭 필요한 미정 사항만 해당 위치에 표시해라. 새 결정을 추가하거나 폐기한 안을 되살리지 마라. 요구사항 정의서나 기능 목록을 미리 작성하지 말고 업무 조건과 필요한 미정 사항만 짧은 항목으로 정리해라.”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필요성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신청 기능에 실제로 필요한 내용인가?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기술·화면 설계나 기존 쇼핑몰 기능의 재구현이 섞였는가?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정하지 않은 정책을 AI가 확정했는가?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종료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이제 요구사항을 작성할 수 있는가? 그렇다면 탐색을 끝낸다.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합의한 업무 조건의 최종 MD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실습 2에 첨부한다.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줄였고,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 명시하고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일과 AI의 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코드로 옮기는 일은 AI가,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추측·비결정성·맥락의 한계. 빈칸은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활동마다 사람이 결정한다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 4가지로 가장 단순한 충분한 방식을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자율성과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증거가 분명할 때만 올린다. 결정은 다음 작업의 입력으로 남는다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02. 요구와 사용자 이야기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줄을 요구사항과 사용자 이야기로 구체화한다.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업무 조건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 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회원이 정기배송을 최초 신청하는 업무만 다룬다.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회원·상품·결제수단·배송지·주문·결제·배송 기능은 기존 기능과 정책을 연계하여 사용한다.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화면 및 기술 설계는 제외한다.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 완료 이후의 변경, 해지, 결제 실패, 품절·단종 대응 등 운영 업무는 제외한다.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2. 신청 대상 정보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고객은 기존 상품과 수량을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고객은 기존 배송지를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고객은 기존 결제수단을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상품·수량·배송지·결제수단의 유효성은 기존 정책을 따른다.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3. 계약 조건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계약기간은 3개월 또는 6개월 중에서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주기는 2주 또는 4주 중에서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계약은 고객이 선택한 첫 배송일부터 시작한다.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계약기간이 끝나면 자동 종료하며 자동 갱신하지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재이용하려면 별도의 신규 신청이 필요하다.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 종료일 산정 기준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종료일과 같은 날로 예정된 배송 회차의 포함 여부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4. 첫 배송일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고객이 첫 배송일을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선택한 첫 배송일이 계약 시작일이자 첫 회차 배송일이다.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신청일로부터 첫 배송일까지 필요한 최소 준비기간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휴일 또는 배송 불가일에 대한 날짜 적용 기준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5. 배송 회차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배송일을 기준으로 선택한 주기마다 배송 회차를 산정한다.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회차별로 기존 주문·배송 기능을 연계한다.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 종료 기준에 따른 총 배송 횟수와 마지막 배송일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6. 결제 및 신청 완료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결제수단으로 배송 회차마다 결제한다.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최초 신청 과정에서 첫 회차를 결제한다.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 결제에 성공하면 정기배송 신청이 완료된다.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 결제에 실패하면 신청은 완료되지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결제 실패 건의 보관 또는 무효 처리 기준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각 회차 결제금액에 적용할 상품 가격, 할인 및 배송비 기준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업무 조건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7. 신청 시 확정할 계약 정보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선택 상품과 수량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배송지와 결제수단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계약기간과 배송 주기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배송일과 계약 종료일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총 배송 횟수와 예정 배송일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 결제금액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회차별 결제금액 결정 기준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자동 갱신 없이 종료된다는 조건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34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Arial</vt:lpstr>
      <vt:lpstr>Wingdings</vt:lpstr>
      <vt:lpstr>4_Office 테마</vt:lpstr>
      <vt:lpstr/>
      <vt:lpstr>AI-native SW 공학 목차</vt:lpstr>
      <vt:lpstr>01. 사람의 일과 AI의 일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04. LLM이라는 새 재료</vt:lpstr>
      <vt:lpstr>맥락의 한계 04. LLM이라는 새 재료</vt:lpstr>
      <vt:lpstr>3가지 개발 방식 05. 개발 방식의 구분</vt:lpstr>
      <vt:lpstr>같은 과제, 3가지 방식 05. 개발 방식의 구분</vt:lpstr>
      <vt:lpstr>바이브 코딩과 규율 05. 개발 방식의 구분</vt:lpstr>
      <vt:lpstr>사람이 조종하고 에이전트가 실행한다 06. 사람과 AI의 역할</vt:lpstr>
      <vt:lpstr>활동마다 사람과 AI 06. 사람과 AI의 역할</vt:lpstr>
      <vt:lpstr>07. 작업 특성</vt:lpstr>
      <vt:lpstr>증강 LLM과 4가지 방식 08. AI 활용 방식</vt:lpstr>
      <vt:lpstr>워크플로와 에이전트 08. AI 활용 방식</vt:lpstr>
      <vt:lpstr>선택의 순서 08. AI 활용 방식</vt:lpstr>
      <vt:lpstr>AI에게 맡기지 않는 작업 08. AI 활용 방식</vt:lpstr>
      <vt:lpstr>주문 기능 개발의 활용 방식 08. AI 활용 방식</vt:lpstr>
      <vt:lpstr>자율성의 대가 09. 자율성을 높이는 조건</vt:lpstr>
      <vt:lpstr>세 방식의 시연 기록 09. 자율성을 높이는 조건</vt:lpstr>
      <vt:lpstr>자율성의 계단 09. 자율성을 높이는 조건</vt:lpstr>
      <vt:lpstr>관통 사례 — 주문과 정기배송 10. 과정의 지도</vt:lpstr>
      <vt:lpstr>열두 활동에서 남는 산출물 10. 과정의 지도</vt:lpstr>
      <vt:lpstr>11. 실습 — 업무 조건 확인</vt:lpstr>
      <vt:lpstr>12. 요약</vt:lpstr>
      <vt:lpstr>정기배송 최초 신청 업무 조건 (1/2) 별첨. 실습 답</vt:lpstr>
      <vt:lpstr>정기배송 최초 신청 업무 조건 (2/2)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사람의 일과 AI의 일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