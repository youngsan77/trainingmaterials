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세션 전체가 하나의 시나리오(쇼핑몰 주문 시스템의 첫 시도)로 이어진다. 사건 → 원인 → 새 일하는 방식 → 결정과 검사의 짝 → 과정의 지도 순서다.</a:t>
            </a:r>
          </a:p>
          <a:p>
            <a:pPr lvl="0"/>
            <a:r>
              <a:rPr lang="ko-KR" sz="1200"/>
              <a:t>내용은 2026-10 기준이다. 도구·모델의 능력에 관한 서술은 과정을 열 때마다 원문으로 다시 확인한다.</a:t>
            </a:r>
          </a:p>
          <a:p>
            <a:pPr lvl="0"/>
            <a:r>
              <a:rPr lang="ko-KR" sz="1200"/>
              <a:t>LLM이라는 재료의 성질과 활용 방식의 선택은 "세션 02. LLM이라는 재료"가 맡는다. 이 세션은 사람과 AI가 나누는 일까지다.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사례는 "객체지향 분석과 설계 실무" 과정과 같은 주문 시스템이며 이름도 같다. 이 과정만 듣는 수강생을 위해 필요한 전제만 소개한다.</a:t>
            </a:r>
          </a:p>
          <a:p>
            <a:pPr lvl="0"/>
            <a:r>
              <a:rPr lang="ko-KR" sz="1200"/>
              <a:t>상품·결제·배송 시스템은 이미 운영 중인 외부 시스템이다. 주문 시스템은 이들과 요청·통보를 주고받는다.</a:t>
            </a:r>
          </a:p>
          <a:p>
            <a:pPr lvl="0"/>
            <a:r>
              <a:rPr lang="ko-KR" sz="1200"/>
              <a:t>업무 담당자 한 명이 주문 정책을 정하고, 개발자 세 명(테크 리드 한 명, 개발자 두 명)이 코딩 에이전트를 쓴다.</a:t>
            </a:r>
          </a:p>
          <a:p>
            <a:pPr lvl="0"/>
            <a:r>
              <a:rPr lang="ko-KR" sz="1200"/>
              <a:t>이 한 과제가 과정의 유일한 과제다. 실습도 같은 과제를 수강생이 직접 만든다(course-design.md의 「사례·실습 방향」).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10분, 파일 15개, 테스트 3개는 교육용 가정이다. 파일 수는 code/s01/order/와 같다.</a:t>
            </a:r>
          </a:p>
          <a:p>
            <a:pPr lvl="0"/>
            <a:r>
              <a:rPr lang="ko-KR" sz="1200"/>
              <a:t>수강생에게 묻는다: 여기서 받아들여도 되는가? 무엇을 확인하면 되는가?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번째 줄은 결제 직전에 펜 판매가가 1,200원으로 오른 경우다.</a:t>
            </a:r>
          </a:p>
          <a:p>
            <a:pPr lvl="0"/>
            <a:r>
              <a:rPr lang="ko-KR" sz="1200"/>
              <a:t>세 번째 줄에서 에이전트는 공통 전제에 없는 취소됨 상태까지 만들어 썼다. 취소는 이번 과제의 범위 밖이다.</a:t>
            </a:r>
          </a:p>
          <a:p>
            <a:pPr lvl="0"/>
            <a:r>
              <a:rPr lang="ko-KR" sz="1200"/>
              <a:t>에이전트가 고른 답은 다른 쇼핑몰에서는 맞을 수 있는 답이다. 그래서 코드만 봐서는 틀린 줄 모른다.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전체 코드는 code/s01/order/다. 첫 시도의 결제 코드는 LLM이 흔히 내는 추측을 모아 만든 교육용 예이며, 수강생의 LLM은 다른 곳을 추측할 수 있다.</a:t>
            </a:r>
          </a:p>
          <a:p>
            <a:pPr lvl="0"/>
            <a:r>
              <a:rPr lang="ko-KR" sz="1200"/>
              <a:t>코드가 보장하는 것: 승인되면 결제완료가 된다. 보장하지 않는 것: 주문 금액, 배송 요청의 시점, 거절 뒤 상태 — 모두 업무 규칙이 정해야 하는 것이다.</a:t>
            </a:r>
          </a:p>
          <a:p>
            <a:pPr lvl="0"/>
            <a:r>
              <a:rPr lang="ko-KR" sz="1200"/>
              <a:t>코드의 영문 이름은 설계 이름이다. 본문에서는 결제한다·주문 금액처럼 한글로 부른다.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두 테스트는 code/s01/order/test/의 AgentWrittenTest와 PayTest다. javac로 컴파일하고 각각 실행해 결과를 대조한다.</a:t>
            </a:r>
          </a:p>
          <a:p>
            <a:pPr lvl="0"/>
            <a:r>
              <a:rPr lang="ko-KR" sz="1200"/>
              <a:t>테스트가 통과했다는 것은 "코드가 기대값대로 동작한다"는 뜻이다. 기대값이 추측이면 통과도 추측을 확인했을 뿐이다. 기대값을 업무 규칙에서 정하는 일은 "세션 03. 요구와 수용 기준"이 다룬다.</a:t>
            </a:r>
          </a:p>
          <a:p>
            <a:pPr lvl="0"/>
            <a:r>
              <a:rPr lang="ko-KR" sz="1200"/>
              <a:t>인용 근거: [Hassan 외 2026] 원문 확인. AI4SE는 "AI for SE"의 약어로 원문의 표기다. 저자들은 같은 대목에서 코딩 도구의 "Write unit tests for this function" 화면을 그 관행의 예로 든다.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Frederick P. Brooks Jr., "No Silver Bullet — Essence and Accidents of Software Engineering", 1986 원문 확인. 두 인용은 원문에서 이어지는 대목이다 — 앞이 본질·우연의 정의, 뒤가 어려운 부분이 무엇인지다.</a:t>
            </a:r>
          </a:p>
          <a:p>
            <a:pPr lvl="0"/>
            <a:r>
              <a:rPr lang="ko-KR" sz="1200"/>
              <a:t>둘째 인용의 원문은 "…testing the fidelity of the representation."으로 이어지며, PDF의 쪽 번호가 문장 중간에 있어 앞부분까지 인용했다.</a:t>
            </a:r>
          </a:p>
          <a:p>
            <a:pPr lvl="0"/>
            <a:r>
              <a:rPr lang="ko-KR" sz="1200"/>
              <a:t>본질적 복잡성을 업무 규칙에, 우연적 복잡성을 업무 규칙을 코드로 옮기는 일에 대응시킨 것은 이 과정의 해석이다. Brooks의 문장이 아니다.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[Hassan 외 2026] 원문 확인. 저자들은 사람의 의도 표현 능력이 한계이므로 모델이 얼마나 강력해져도 이 문제가 남는다고 적는다.</a:t>
            </a:r>
          </a:p>
          <a:p>
            <a:pPr lvl="0"/>
            <a:r>
              <a:rPr lang="ko-KR" sz="1200"/>
              <a:t>다섯 자리의 묶음은 이 과정의 정리다. 각 행의 잃는 쪽은 뒤 세션이 하나씩 받는다 — 복잡도는 "세션 10. 비용과 평가", 같은 가정은 "세션 09. 검사 파이프라인", 연쇄 확산은 "세션 08. 위임"이다.</a:t>
            </a:r>
          </a:p>
          <a:p>
            <a:pPr lvl="0"/>
            <a:r>
              <a:rPr lang="ko-KR" sz="1200"/>
              <a:t>얻는 쪽만 세는 판단은 「상황이 정하는 접근」에서 다시 짚는다.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여섯 원칙은 이 과정이 요구·모델·아키텍처·설계·검사로 다루는 축과 짝이 맞는다. 수강생이 자기 팀에서 이미 하는 일을 먼저 말하게 한 뒤 오른쪽 열을 짚는다.</a:t>
            </a:r>
          </a:p>
          <a:p>
            <a:pPr lvl="0"/>
            <a:r>
              <a:rPr lang="ko-KR" sz="1200"/>
              <a:t>왼쪽 열은 특정 원전의 분류가 아니라 분야에 통용되는 원칙을 이 과정의 말로 적은 것이다. 응집도·결합도의 정의는 "세션 06. 아키텍처"가, 요구의 검증은 "세션 03. 요구와 수용 기준"이 맡는다.</a:t>
            </a:r>
          </a:p>
          <a:p>
            <a:pPr lvl="0"/>
            <a:r>
              <a:rPr lang="ko-KR" sz="1200"/>
              <a:t>기대값을 코드에서 끌어오면 안 되는 이유는 「자기 코드를 확인한 테스트」에서 이미 보였다. 여기서는 원칙 쪽에서 다시 짚는다.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Brooks(1986)·[Gao 외 2025] 원문 확인. [Gao 외 2025]는 요구공학자가 응용 도메인을 이해해야 정확하고 완전한 요구를 뽑는다는 대목에서 이 한계를 든다.</a:t>
            </a:r>
          </a:p>
          <a:p>
            <a:pPr lvl="0"/>
            <a:r>
              <a:rPr lang="ko-KR" sz="1200"/>
              <a:t>"LLM은 흔히 보이는 답을 고른다"는 이 과정의 설명이다. 출처로 인용하지 않는다.</a:t>
            </a:r>
          </a:p>
          <a:p>
            <a:pPr lvl="0"/>
            <a:r>
              <a:rPr lang="ko-KR" sz="1200"/>
              <a:t>업무 규칙을 용어집·개념과 관계로 명시하는 일은 "세션 04. 정적 모델", 사건과 상태로 명시하는 일은 "세션 05. 동적 모델"이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[Hassan 외 2026] 원문 확인. SE 1.0·2.0·3.0의 구분과 "AI-native"라는 이름이 이 논문의 것이다. 저자들은 사람과 AI의 공생 관계를 말한 뒤 이 문장을 둔다.</a:t>
            </a:r>
          </a:p>
          <a:p>
            <a:pPr lvl="0"/>
            <a:r>
              <a:rPr lang="ko-KR" sz="1200"/>
              <a:t>표의 세 행은 그 구분과 같은 자리를 가른다. 다만 작업의 단위·검증 열로 다시 쓴 것과 활동별 역할 구분은 이 과정이 그 위에 둔 것이다(course-design.md의 「원전 적용 결정」).</a:t>
            </a:r>
          </a:p>
          <a:p>
            <a:pPr lvl="0"/>
            <a:r>
              <a:rPr lang="ko-KR" sz="1200"/>
              <a:t>저자들이 제안한 기술 스택과 코드를 사람에게 감춘다는 입장은 쓰지 않는다. 이 과정은 사람이 코드와 증거를 읽어 판정한다.</a:t>
            </a:r>
          </a:p>
          <a:p>
            <a:pPr lvl="0"/>
            <a:r>
              <a:rPr lang="ko-KR" sz="1200"/>
              <a:t>AI 지원의 병목은 사람의 리뷰다. 형태의 선택은 "세션 02. LLM이라는 재료"에서 다룬다.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시도는 AI-native의 겉모양(에이전트가 과제를 실행)만 있고, 사람의 몫(업무 규칙·맥락·검사·확인)이 빠졌다.</a:t>
            </a:r>
          </a:p>
          <a:p>
            <a:pPr lvl="0"/>
            <a:r>
              <a:rPr lang="ko-KR" sz="1200"/>
              <a:t>검사를 파이프라인으로 모아 에이전트가 스스로 돌리게 하는 일은 "세션 09. 검사 파이프라인"이 다룬다.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Kent Beck, "Augmented Coding: Beyond the Vibes"(2025), Simon Willison, "Vibe engineering"(2025) 원문 확인. Willison 인용은 문장에서 핵심 구만 옮긴 것이다. 바이브 엔지니어링이라는 이름은 그 글의 제목이며 인용문이 아니라 본문이 밝힌다.</a:t>
            </a:r>
          </a:p>
          <a:p>
            <a:pPr lvl="0"/>
            <a:r>
              <a:rPr lang="ko-KR" sz="1200"/>
              <a:t>바이브 코딩은 개발 방식의 한 구분이 아니라 규율이 없는 사용이다. AI 지원과 AI-native 어디에서나 생길 수 있다.</a:t>
            </a:r>
          </a:p>
          <a:p>
            <a:pPr lvl="0"/>
            <a:r>
              <a:rPr lang="ko-KR" sz="1200"/>
              <a:t>"습관을 키운다"는 이 과정의 설명이다. 출처로 인용하지 않는다.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Ryan Lopopolo, "Harness engineering: leveraging Codex in an agent-first world", OpenAI, 2026 영문 원문 확인(openai.com이 한국어판으로 자동 전환하므로 영문판으로 확인).</a:t>
            </a:r>
          </a:p>
          <a:p>
            <a:pPr lvl="0"/>
            <a:r>
              <a:rPr lang="ko-KR" sz="1200"/>
              <a:t>한 팀(OpenAI 내부 제품)의 경험이다. 글도 비슷한 투자 없이 일반화된다고 가정하지 말라고 밝힌다.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 역할 구분은 이 과정의 구분이다(course-design.md의 「과정 전체 판단 원칙」).</a:t>
            </a:r>
          </a:p>
          <a:p>
            <a:pPr lvl="0"/>
            <a:r>
              <a:rPr lang="ko-KR" sz="1200"/>
              <a:t>표의 행 하나하나가 뒤 세션의 주제다. 각 행의 결정을 무엇으로 재는지는 「06. 결정과 검사의 짝」에서 이어 본다.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결정과 검증을 층마다 짝지어 보는 틀은 V 모델의 대응 관계다. 단계의 순서가 아니라 대응 관계로만 쓴다(course-design.md의 「원전 적용 결정」).</a:t>
            </a:r>
          </a:p>
          <a:p>
            <a:pPr lvl="0"/>
            <a:r>
              <a:rPr lang="ko-KR" sz="1200"/>
              <a:t>짝의 왼쪽은 "세션 03. 요구와 수용 기준"부터 "세션 07. 설계 — 책임과 협력"까지가, 오른쪽을 파이프라인으로 모으는 일은 "세션 09. 검사 파이프라인"이 맡는다.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왼쪽 열은 「리뷰에서 나온 문제 3가지」의 첫 열과 같은 세 문제다. 같은 사건을 결정의 공백으로 다시 읽는다.</a:t>
            </a:r>
          </a:p>
          <a:p>
            <a:pPr lvl="0"/>
            <a:r>
              <a:rPr lang="ko-KR" sz="1200"/>
              <a:t>단가의 확정 시점은 정적 모델의 속성 결정이고, 배송 요청의 순서와 거절 뒤의 전이는 동적 모델의 결정이다. 수강생에게 먼저 어느 쪽인지 묻는다.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[Hassan 외 2026] 원문 확인. 두 인용은 같은 절의 대목이다 — 앞이 의도 중심이라는 전환, 뒤가 그래서 코드가 무엇이 되는지다. 저자들은 소프트웨어 공학이 늘 의도를 품질 있는 소프트웨어로 바꾸는 일이었다고 적은 뒤 뒤 문장을 둔다.</a:t>
            </a:r>
          </a:p>
          <a:p>
            <a:pPr lvl="0"/>
            <a:r>
              <a:rPr lang="ko-KR" sz="1200"/>
              <a:t>의도는 활동을 없애지 않는다. 표의 첫 행이 의도이고 나머지 다섯이 그것을 실현하는 활동이다. 의도만 말하면 된다는 뜻으로 읽히지 않게 한다.</a:t>
            </a:r>
          </a:p>
          <a:p>
            <a:pPr lvl="0"/>
            <a:r>
              <a:rPr lang="ko-KR" sz="1200"/>
              <a:t>「배포와 운영」은 표에 자리만 두고 범위 밖이다. 파이프라인 구성과 배포 전략은 DevOps가 맡는다.</a:t>
            </a:r>
          </a:p>
          <a:p>
            <a:pPr lvl="0"/>
            <a:r>
              <a:rPr lang="ko-KR" sz="1200"/>
              <a:t>활동 이름은 분야에 통용되는 생명주기 활동을 이 과정의 말로 적은 것이다. 특정 원전의 단계 구분이 아니며 폭포수의 순서로 읽히지 않게 한다.</a:t>
            </a:r>
          </a:p>
          <a:p>
            <a:pPr lvl="0"/>
            <a:r>
              <a:rPr lang="ko-KR" sz="1200"/>
              <a:t>이 여섯을 결정하는 쪽과 증거를 받는 쪽으로 다시 그린 것이 「과정의 지도」다.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왼쪽 다섯은 "세션 03. 요구와 수용 기준"~"세션 07. 설계 — 책임과 협력", 오른쪽 넷은 "세션 08. 위임"~"세션 11. 종합 실행"이다. 이 세션과 "세션 02. LLM이라는 재료"는 두 쪽에 들어가기 전의 준비다.</a:t>
            </a:r>
          </a:p>
          <a:p>
            <a:pPr lvl="0"/>
            <a:r>
              <a:rPr lang="ko-KR" sz="1200"/>
              <a:t>산출물을 모두 만들어야 하는 것은 아니다. 무엇을 넣을지는 도메인·기술 복잡성이 정하며, 그 판단은 "세션 03. 요구와 수용 기준"에서 경로와 함께 다룬다.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</a:t>
            </a:r>
          </a:p>
          <a:p>
            <a:pPr lvl="0"/>
            <a:r>
              <a:rPr lang="ko-KR" sz="1200"/>
              <a:t>두 인용은 원문에서 이어지는 대목이다. 앞 문장이 에이전트가 맞는 자리를 말하고(결정적·규칙 기반 방식이 잘 듣지 않는 일), 그 뒤에 복잡한 판단·유지하기 어려운 규칙·비정형 데이터 셋을 기준으로 든 다음 뒤 문장이 온다. 그래서 Otherwise는 그 기준을 충족하지 못한 경우다 — 충족하면 에이전트가 맞고, 충족하지 못하면 결정적 해법으로 충분하다. 인용 하나만 보이면 "이 기준"이 무엇인지 알 수 없어 거꾸로 읽히므로 둘을 함께 둔다.</a:t>
            </a:r>
          </a:p>
          <a:p>
            <a:pPr lvl="0"/>
            <a:r>
              <a:rPr lang="ko-KR" sz="1200"/>
              <a:t>포매터·정적 검사·빌드 도구는 뒤에서 에이전트의 결과를 확인하는 검사가 된다.</a:t>
            </a:r>
          </a:p>
          <a:p>
            <a:pPr lvl="0"/>
            <a:r>
              <a:rPr lang="ko-KR" sz="1200"/>
              <a:t>작업 특성으로 활용 방식(수작업·대화형 보조·워크플로·에이전트)을 고르는 일은 "세션 02. LLM이라는 재료"가 맡는다. 비용 대비 효과의 판단은 "세션 10. 비용과 평가"다.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[Hassan 외 2026] 원문 확인. 저자들은 한 코딩 도구를 다룬 선행 연구를 들어 단기 속도는 올랐지만 복잡도와 정적 분석 경고가 지속해 쌓여 장기 생산성을 해쳤다고 적는다. 인용은 그 대목에 대한 저자들의 평가다.</a:t>
            </a:r>
          </a:p>
          <a:p>
            <a:pPr lvl="0"/>
            <a:r>
              <a:rPr lang="ko-KR" sz="1200"/>
              <a:t>수강생에게 자기 프로젝트가 다섯 중 어디인지 먼저 말하게 한다. 둘 이상에 걸치면 가장 보수적인 쪽을 고른다.</a:t>
            </a:r>
          </a:p>
          <a:p>
            <a:pPr lvl="0"/>
            <a:r>
              <a:rPr lang="ko-KR" sz="1200"/>
              <a:t>다섯 상황의 묶음은 이 과정의 정리다. 표의 접근은 시작 지점이며 고정된 처방이 아니다.</a:t>
            </a:r>
          </a:p>
          <a:p>
            <a:pPr lvl="0"/>
            <a:r>
              <a:rPr lang="ko-KR" sz="1200"/>
              <a:t>단기·중기·장기의 비용과 평가 세트로 계속 맡길지 판단하는 일은 "세션 10. 비용과 평가"가 맡는다. 여기서는 시작 지점을 고르는 것까지다.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 환경은 Windows를 전제한다. macOS 수강생은 Homebrew로 같은 셋을 설치한다 — brew install openjdk@21 gradle git.</a:t>
            </a:r>
          </a:p>
          <a:p>
            <a:pPr lvl="0"/>
            <a:r>
              <a:rPr lang="ko-KR" sz="1200"/>
              <a:t>저장소는 각자 자기 PC에 두고 혼자 관리한다. 원격 저장소·push·공유는 필요 없고, 결과 공유는 화면이나 파일로 한다.</a:t>
            </a:r>
          </a:p>
          <a:p>
            <a:pPr lvl="0"/>
            <a:r>
              <a:rPr lang="ko-KR" sz="1200"/>
              <a:t>저장소 이름 order-system과 폴더 docs는 과정이 정한 이름이다. 다른 이름을 써도 되지만 한 사람이 한 저장소를 끝까지 쓰는 것이 중요하다. 첫날에 필요한 것은 에이전트와 Git뿐이고 JDK·Gradle은 둘째 날에 쓴다.</a:t>
            </a:r>
          </a:p>
          <a:p>
            <a:pPr lvl="0"/>
            <a:r>
              <a:rPr lang="ko-KR" sz="1200"/>
              <a:t>winget은 Windows 10·11의 App Installer에 들어 있다. 없거나 사내 정책으로 막히면 제품 설치 파일로 설치한다.</a:t>
            </a:r>
          </a:p>
          <a:p>
            <a:pPr lvl="0"/>
            <a:r>
              <a:rPr lang="ko-KR" sz="1200"/>
              <a:t>Claude Code의 설치 절차와 설치 명령·버전은 2026-10 기준이다. 과정을 열 때마다 제품 안내로 확인한다.</a:t>
            </a:r>
          </a:p>
          <a:p>
            <a:pPr lvl="0"/>
            <a:r>
              <a:rPr lang="ko-KR" sz="1200"/>
              <a:t>Gradle은 실습 8에서 gradle init으로 래퍼를 만든 뒤에는 저장소의 gradlew로 실행된다. 처음 한 번만 설치가 필요하다.</a:t>
            </a:r>
          </a:p>
          <a:p>
            <a:pPr lvl="0"/>
            <a:r>
              <a:rPr lang="ko-KR" sz="1200"/>
              <a:t>저장소 초기화와 빌드 구성의 지시문은 "세션 08. 위임"이, 검사 명령을 만드는 일은 "세션 09. 검사 파이프라인"이 안내한다.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강의가 업무 규칙 3가지를 이미 보였으므로, 실습은 규칙을 새로 만드는 것이 아니라 요청 한 줄에서 정해야 할 조건을 뽑는 연습이다. 수강생이 그 셋 말고 무엇을 더 찾아내는지가 결과물의 차이다.</a:t>
            </a:r>
          </a:p>
          <a:p>
            <a:pPr lvl="0"/>
            <a:r>
              <a:rPr lang="ko-KR" sz="1200"/>
              <a:t>수강생이 다르게 정해도 된다. 다른 결정이 뒤 실습의 모델·설계·검사를 어떻게 바꾸는지 보는 것이 이 실습 흐름의 목적이다.</a:t>
            </a:r>
          </a:p>
          <a:p>
            <a:pPr lvl="0"/>
            <a:r>
              <a:rPr lang="ko-KR" sz="1200"/>
              <a:t>Claude Team 등에서 renderer 없이 수행한다. ②~④에는 실제 받은 질문의 답과 검토 의견을 붙인다. 기본 문구만 기계적으로 반복하지 않는다.</a:t>
            </a:r>
          </a:p>
          <a:p>
            <a:pPr lvl="0"/>
            <a:r>
              <a:rPr lang="ko-KR" sz="1200"/>
              <a:t>⑤ 이후에도 MD의 누락·불일치·폐기한 안의 재등장을 검토하고 보완·재생성을 반복한다. 최종 MD를 저장소의 docs에 두면 뒤 실습이 파일 이름으로 그것을 가리킬 수 있고, 실습 8에서 에이전트가 읽을 맥락이 된다.</a:t>
            </a:r>
          </a:p>
          <a:p>
            <a:pPr lvl="0"/>
            <a:r>
              <a:rPr lang="ko-KR" sz="1200"/>
              <a:t>①~⑤는 대화 횟수가 아니라 단계다. 받은 답을 읽고 필요한 만큼 추가·반복한다.</a:t>
            </a:r>
          </a:p>
          <a:p>
            <a:pPr lvl="0"/>
            <a:r>
              <a:rPr lang="ko-KR" sz="1200"/>
              <a:t>강사 예시의 실제 대화는 code/s01/exercise-conversation/order/다.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실패는 AI의 실패가 아니라 사람의 몫(업무 규칙·검사)이 빠진 것이다. 다음 세션부터 그 몫을 하나씩 채운다.</a:t>
            </a:r>
          </a:p>
          <a:p>
            <a:pPr lvl="0"/>
            <a:r>
              <a:rPr lang="ko-KR" sz="1200"/>
              <a:t>이 세션에서 보완된 모델은 없다. 업무 규칙 3가지가 리뷰에서 처음 드러났을 뿐이며, 모델로 적는 일은 뒤 세션이 한다.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실제 실행 기록은 code/s01/exercise-conversation/order/다. prompt-01.txt~prompt-05.txt가 실제 입력, claude-response-01.md~-05.md가 실제 응답이며 이 답은 ⑤ 응답의 전문이다. 제목 단계만 Session Source로 바꿨다.</a:t>
            </a:r>
          </a:p>
          <a:p>
            <a:pPr lvl="0"/>
            <a:r>
              <a:rPr lang="ko-KR" sz="1200"/>
              <a:t>③에서 사람이 업무 규칙 3가지를 답하자 LLM이 그 결정에서 새로 생기는 빈칸을 찾아냈다 — 결제대기에 기한이 없다는 것, 판매가가 내려간 경우, 승인 뒤 재고가 없는 경우다. 요청 한 줄에는 없던 질문이다.</a:t>
            </a:r>
          </a:p>
          <a:p>
            <a:pPr lvl="0"/>
            <a:r>
              <a:rPr lang="ko-KR" sz="1200"/>
              <a:t>④의 응답이 "미정은 아무것도 적지 않는다는 뜻이 아니다"를 분명히 했다. 미정에는 현재 머무는 상태와 구현이 임의로 하지 말아야 할 것을 함께 적는다. 이 구분이 "세션 03. 요구와 수용 기준"의 범위·제외·미정으로 이어진다.</a:t>
            </a:r>
          </a:p>
          <a:p>
            <a:pPr lvl="0"/>
            <a:r>
              <a:rPr lang="ko-KR" sz="1200"/>
              <a:t>미정 G(승인 뒤 배송 요청 실패)는 강의의 미정과 같은 항목이다. 강의에서는 "세션 11. 종합 실행"에서 거두어진다.</a:t>
            </a:r>
          </a:p>
          <a:p>
            <a:pPr lvl="0"/>
            <a:r>
              <a:rPr lang="ko-KR" sz="1200"/>
              <a:t>수강생의 답은 이와 다를 수 있다. 업무 규칙을 다르게 정하면 미정의 목록도 달라진다.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3" Type="http://schemas.openxmlformats.org/officeDocument/2006/relationships/image" Target="../media/mermaid-3.png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4" Type="http://schemas.openxmlformats.org/officeDocument/2006/relationships/image" Target="../media/mermaid-4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5" Type="http://schemas.openxmlformats.org/officeDocument/2006/relationships/image" Target="../media/mermaid-5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5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0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z="240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/>
            </a:r>
            <a:r>
              <a:rPr kumimoji="1" lang="en-US" altLang="ko-KR" sz="1400" dirty="0"/>
              <a:t/>
            </a:r>
            <a:r>
              <a:rPr kumimoji="1" lang="ko-KR" altLang="en-US" sz="1400" dirty="0"/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4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sz="1800" b="1" dirty="0">
                <a:latin typeface="맑은 고딕"/>
                <a:ea typeface="맑은 고딕"/>
                <a:cs typeface="맑은 고딕"/>
              </a:rPr>
              <a:t/>
            </a:r>
            <a:r>
              <a:rPr sz="1800" b="0" dirty="0">
                <a:latin typeface="맑은 고딕"/>
                <a:ea typeface="맑은 고딕"/>
                <a:cs typeface="맑은 고딕"/>
              </a:rPr>
              <a:t/>
            </a:r>
            <a:endParaRPr lang="en-US" sz="1800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lang="en-US" altLang="ko-KR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1" dirty="0">
              <a:latin typeface="맑은 고딕"/>
              <a:ea typeface="맑은 고딕"/>
              <a:cs typeface="맑은 고딕"/>
            </a:endParaRPr>
          </a:p>
          <a:p>
            <a:pPr lvl="1">
              <a:spcAft>
                <a:spcPts val="600"/>
              </a:spcAft>
            </a:pPr>
            <a:r>
              <a:rPr b="1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endParaRPr lang="en-US" b="0" dirty="0">
              <a:latin typeface="맑은 고딕"/>
              <a:ea typeface="맑은 고딕"/>
              <a:cs typeface="맑은 고딕"/>
            </a:endParaRPr>
          </a:p>
          <a:p>
            <a:pPr lvl="2">
              <a:spcAft>
                <a:spcPts val="600"/>
              </a:spcAft>
            </a:pP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200"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  <a:r>
              <a:rPr b="0" dirty="0" err="1">
                <a:latin typeface="맑은 고딕"/>
                <a:ea typeface="맑은 고딕"/>
                <a:cs typeface="맑은 고딕"/>
              </a:rPr>
              <a:t/>
            </a:r>
            <a:r>
              <a:rPr b="0" dirty="0"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Aft>
                <a:spcPts val="600"/>
              </a:spcAft>
              <a:buNone/>
            </a:pPr>
            <a:endParaRPr lang="en-US" sz="1600" b="0" dirty="0"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600"/>
              </a:spcAft>
              <a:buNone/>
            </a:pP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>
                <a:latin typeface="맑은 고딕"/>
                <a:ea typeface="맑은 고딕"/>
                <a:cs typeface="맑은 고딕"/>
              </a:rPr>
              <a:t/>
            </a:r>
            <a:r>
              <a:rPr sz="1600" b="1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 err="1">
                <a:latin typeface="맑은 고딕"/>
                <a:ea typeface="맑은 고딕"/>
                <a:cs typeface="맑은 고딕"/>
              </a:rPr>
              <a:t/>
            </a:r>
            <a:r>
              <a:rPr sz="1600" b="0" dirty="0"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51760"/>
            <a:ext cx="8412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</a:rPr>
              <a:t>AI-native SW 공학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AI-native SW 공학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LLM이라는 재료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요구와 수용 기준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아키텍처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설계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책임과 협력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위임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검사 파이프라인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비용과 평가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종합 실행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사람의 일과 AI의 일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활동마다 사람과 AI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맡길 작업과 맡기지 않을 작업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실습 환경 준비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업무 조건 확인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코드를 만드는 비용을 크게 줄였다. 그러나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무엇을 만들지와 무엇이 옳은 결과인지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여전히 사람이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AI가 SW 공학에서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본질적·우연적 복잡성으로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달라지는 다섯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얻는 것·잃는 것과 함께 말하고, 그래도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변하지 않는 공학 원칙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지식이며, 주어지지 않으면 LLM이 추측으로 채운다는 것을 코드와 테스트로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이전·AI 지원·AI-native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개발을 구분하고, 규율이 없는 사용과 가른다.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공학 활동마다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결정할 것과 AI가 지원할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내린 결정마다 그것을 재는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짝으로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있어야 하는 이유를 말한다.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상황에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어디서 시작할지와 AI에게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않을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가른다.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쇼핑몰의 주문 시스템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생활용품 쇼핑몰이 주문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빈 저장소에서 새로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만든다. 첫 기능은 고객이 결제까지 마치는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"주문한다"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고객이 펜 2개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(개당 1,000원)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장바구니에 담는다.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배송지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(서울)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정하면 주문이 생기고 주문 금액 2,000원이 정해진다.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카드 결제가 승인되면 결제완료가 되고 배송을 요청한다.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시스템과 외부 시스템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2535721" y="3450336"/>
            <a:ext cx="4072558" cy="154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요청 한 줄과 10분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담당자가 준 요청은 아래 한 줄뿐이었다. 테크 리드가 이 한 줄을 그대로 코딩 에이전트에게 주자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10분 만에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코드와 테스트가 나왔다.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"장바구니에 담은 상품을 결제하면 주문이 되고 배송이 시작되게 해 주세요."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자바 파일 15개와 테스트 3개를 만들었다. 테스트는 모두 통과했다.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데모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펜 2개를 카드로 결제하자 결제완료가 되고 배송이 요청되었다.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팀의 판단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 됐다"고 보고 업무 담당자에게 리뷰를 요청했다.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 3가지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3106420"/>
                <a:gridCol w="2092960"/>
                <a:gridCol w="3106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고객과 회사가 겪는 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고른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담당자가 정한 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2,000원에 주문한 고객에게 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결제할 때의 판매가로 계산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때의 판매가로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돈을 받지 않은 주문이 배송 준비에 들어간다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승인 전에 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승인된 뒤에만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거절된 고객이 다시 결제할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거절되면 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결제대기로 남겨 다른 카드로 다시 결제한다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테스트는 모두 통과했지만, 업무 담당자가 결과를 보자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고객과 회사가 실제로 겪게 될 문제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세 가지가 드러났다.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리뷰에서 나온 문제와 원인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3가지 모두 요청 한 줄에 없던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 에이전트는 묻지 않고 골랐다.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결제 코드는 요청에 없던 업무 규칙 세 가지를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스스로 정해 채웠다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결제할 때 판매가를 다시 조회해 계산한다.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승인을 요청하기 전에 배송을 요청한다.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거절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거절되면 주문을 취소한다.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시도의 결제 시퀀스</a:t>
            </a:r>
          </a:p>
        </p:txBody>
      </p:sp>
      <p:pic>
        <p:nvPicPr>
          <p:cNvPr id="10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1024548" y="3176016"/>
            <a:ext cx="7094904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추측으로 채운 코드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960120"/>
            <a:ext cx="8412480" cy="29718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public class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OrderService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필드와 생성자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void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pay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(OrderNumber number, PaymentMethod method)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Order order = repository.findBy(number);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Money amount = Money.ZERO;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for (OrderItem item : order.items())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// ① 결제 시점의 판매가로 다시 계산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Money salePrice = productGateway.salePriceOf(item.productNumber());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    amount = amount.plus(salePrice.times(item.quantity().value()));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// ② 승인 전에 배송 요청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deliveryGateway.requestDelivery(number.value(), order.shippingAddress());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if (paymentGateway.requestApproval(amount, method)) order.onPaid();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else order.cancel();   // ③ 거절되면 취소됨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repository.save(order);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자기 코드를 확인한 테스트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02. 첫 시도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35316" y="5242522"/>
          <a:ext cx="5859780" cy="3873500"/>
        </p:xfrm>
        <a:graphic>
          <a:graphicData uri="http://schemas.openxmlformats.org/drawingml/2006/table">
            <a:tbl>
              <a:tblPr/>
              <a:tblGrid>
                <a:gridCol w="1506220"/>
                <a:gridCol w="1785620"/>
                <a:gridCol w="25679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확인하는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테스트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승인되면 결제완료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 × 수량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판매가가 올라도 2,000원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취소된다 — 통과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결제대기, 배송 요청 없음 — 실패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에이전트가 만든 테스트는 업무 규칙이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자기가 쓴 코드의 동작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기대값으로 삼았다. 같은 코드를 업무 규칙으로 확인하면 세 곳에서 실패한다.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코드에서 테스트를 끌어내는 것은 AI를 SW 공학에 쓸 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알려진 함정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그 코드가 해야 할 일을 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보장이 없기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"Deriving tests from code is a well-known AI4SE pitfall, since there is no guarantee that the code does what it is supposed to do."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944072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같은 코드, 두 테스트의 결과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10068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기대값은 어디서 오는가?</a:t>
            </a:r>
          </a:p>
        </p:txBody>
      </p:sp>
      <p:pic>
        <p:nvPicPr>
          <p:cNvPr id="16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588518" y="3347812"/>
            <a:ext cx="7953375" cy="1257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본질적 복잡성과 우연적 복잡성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659563"/>
          <a:ext cx="8305800" cy="3873500"/>
        </p:xfrm>
        <a:graphic>
          <a:graphicData uri="http://schemas.openxmlformats.org/drawingml/2006/table">
            <a:tbl>
              <a:tblPr/>
              <a:tblGrid>
                <a:gridCol w="3296409"/>
                <a:gridCol w="2768600"/>
                <a:gridCol w="2240791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본질적 복잡성 — 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금액, 배송 요청, 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담당자와 개발자가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우연적 복잡성 — 업무 규칙을 코드로 옮기는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파일 15개·반복문·외부 호출·테스트 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10분 만에 만들었다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300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아리스토텔레스를 따라 나는 소프트웨어의 어려움을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본질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소프트웨어의 본성에 본래 있는 어려움과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곧 오늘날 소프트웨어를 만드는 데 따라붙지만 본래적이지는 않은 어려움으로 나눈다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"Following Aristotle, I divide them into essence, the difficulties inherent in the nature of the software, and accidents, those difficulties which today attend its production but which are not inherent"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소프트웨어를 만드는 어려운 부분은 이 개념 구조의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명세·설계·검증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이며 그것을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표현하는 노동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 believe the hard part of building software to be the specification, design, and testing of this conceptual construct, not the labor of representing it"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611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첫 시도에서 본 두 복잡성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52163"/>
            <a:ext cx="84124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줄인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규칙을 코드로 옮기는 노동이다.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병목의 이동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이제 시간은 업무 규칙을 찾고, 정하고, 검증하는 데 든다.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다섯 가지가 달라진다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174306" y="2112010"/>
          <a:ext cx="6781800" cy="3873500"/>
        </p:xfrm>
        <a:graphic>
          <a:graphicData uri="http://schemas.openxmlformats.org/drawingml/2006/table">
            <a:tbl>
              <a:tblPr/>
              <a:tblGrid>
                <a:gridCol w="1590040"/>
                <a:gridCol w="23164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달라지는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얻는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잃는 것·위험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 생산의 경제성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구현과 반복 작업이 싸진다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생성량과 함께 복잡도가 쌓인다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병목의 자리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대안을 싸게 탐색한다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틀린 가정이 더 빨리 코드로 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검증의 무게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테스트·정적 분석을 넓힌다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코드와 테스트가 같은 가정을 공유한다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일하는 단위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피드백이 빨라진다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변경이 연쇄로 퍼진다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평가의 기준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작은 팀이 넓은 범위를 맡는다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코드를 모르면 장애 대응이 무너진다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코드를 만드는 비용이 떨어지면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다섯 자리가 함께 움직인다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얻는 쪽만 보면 잃는 쪽이 비용으로 돌아온다.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달라지는 다섯 자리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68610"/>
            <a:ext cx="8412480" cy="1838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 AI가 병목이 아니다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are the bottleneck, not the AI."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병목이 사라지지 않는 이유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의도를 한 번에 분명히 말하지 못해서 생기는 한계이며, 모델이 강해져도 남는다.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얻는 쪽을 키우는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만든 결과를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실행하고 검증하는 자동화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있어야 다섯 자리 모두에서 얻는 쪽이 커진다.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변하지 않는 공학 원칙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1386" y="2112010"/>
          <a:ext cx="5247640" cy="3873500"/>
        </p:xfrm>
        <a:graphic>
          <a:graphicData uri="http://schemas.openxmlformats.org/drawingml/2006/table">
            <a:tbl>
              <a:tblPr/>
              <a:tblGrid>
                <a:gridCol w="1869440"/>
                <a:gridCol w="33782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변하지 않는 원칙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이후 달라지는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올바른 문제를 정의한다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빠진 결정을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복잡성을 관리한다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대안이 많아져 고르고 통제하는 일이 커진다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응집도·결합도를 지킨다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만든 코드에도 같은 원칙을 적용한다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요구를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기대값을 독립으로 정하는 일이 중요해진다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품질 속성을 만족한다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성능·보안·유지보수성을 자동으로 재고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운영하며 개선한다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 데이터 분석과 변경의 일부를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달라지는 것이 다섯이어도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공학의 원칙은 그대로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바뀌는 것은 그 원칙을 적용하는 대상의 양과 속도다.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원칙과 AI 이후 달라지는 것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56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원칙을 대신하지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원칙을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더 많은 산출물에 더 빨리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적용하게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 기준의 독립성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테스트와 명세를 만드는 일은 빨라졌지만, 그 기대값을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무엇에서 가져오는지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는 그만큼 중요해졌다.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지식이다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AI가 바꾼 것과 바꾸지 못한 것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21575" y="2898948"/>
          <a:ext cx="728726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63398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회사마다 달라지는 이유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주문할 때 보여 준 가격을 고객에게 보장할지는 회사의 가격 정책이다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확인 전에 배송 준비를 시작할지는 물류 운영과 위험을 감수하는 정도의 문제다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남겨 다시 결제받을지, 바로 정리할지는 고객 경험과 재고 운영의 선택이다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587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시스템을 만드는 일에서 가장 어려운 부분은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정확히 무엇을 만들지 결정하는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hardest single part of building a software system is deciding precisely what to build."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업무 담당자가 아는 도메인 지식이다.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코드나 공개된 자료에 있지 않고, 회사의 정책·운영 방식·고객과의 약속이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6004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회사마다 달라지는 업무 규칙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279548"/>
            <a:ext cx="8412480" cy="121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LLM은 이 지식을 모른다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흔히 보이는 답을 고른다. 그 답은 다른 회사에서는 맞는 답이라 틀린 줄 알기 어렵다.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LLM은 특정 도메인 지식을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충분히 학습하지 못했을 수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"LLMs may have limited training on specific domain knowledge"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[Gao 외 2025]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3가지 개발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624628"/>
          <a:ext cx="8305800" cy="3873500"/>
        </p:xfrm>
        <a:graphic>
          <a:graphicData uri="http://schemas.openxmlformats.org/drawingml/2006/table">
            <a:tbl>
              <a:tblPr/>
              <a:tblGrid>
                <a:gridCol w="1925320"/>
                <a:gridCol w="1450340"/>
                <a:gridCol w="283718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작업의 단위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무엇을 하는가?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이전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쓰는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명세·설계·코드·테스트를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쓴 테스트와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지원(AI-assisted)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LLM의 제안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흐름을 쥐고 제안을 받아들인다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제안마다 사람이 읽는다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AI-native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맡긴 과제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정하고 에이전트가 실행한다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검사의 증거와 사람의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330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세 방식을 가르는 것은 쓰는 도구가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맡기는 작업의 단위와, 사람과 LLM이 하는 일과, 무엇으로 결과를 확인하는지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그래서 소프트웨어 공학 3.0은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"We thus say that SE 3.0 is AI-native."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32617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개발 방식의 구분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05228"/>
            <a:ext cx="8412480" cy="2301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코드를 쓰고 읽던 일이 업무 규칙을 정하고 검증하는 일로 옮겨 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바뀌지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옳은 결과의 판단과 책임은 사람에게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"모두 에이전트"가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작업마다 가장 단순한 충분한 형태를 고른다.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다른 이름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 중심이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SE 1.0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AI 지원이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SE 2.0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AI-native가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SE 3.0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같은 과제, 3가지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"주문한다"를 세 방식으로 개발하면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직접 손대는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달라진다.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LLM 이전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결제 코드와 테스트를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지원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LLM이 다음 줄을 제안하고 사람이 받아들인다.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AI-native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코드와 테스트를 만들고, 사람은 검사의 결과로 판단한다.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125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3가지 방식의 흐름</a:t>
            </a:r>
          </a:p>
        </p:txBody>
      </p:sp>
      <p:pic>
        <p:nvPicPr>
          <p:cNvPr id="10" name="mermaid Diagram 3"/>
          <p:cNvPicPr>
            <a:picLocks noChangeAspect="1"/>
          </p:cNvPicPr>
          <p:nvPr/>
        </p:nvPicPr>
        <p:blipFill>
          <a:blip r:embed="mermaidImage3"/>
          <a:stretch>
            <a:fillRect/>
          </a:stretch>
        </p:blipFill>
        <p:spPr>
          <a:xfrm>
            <a:off x="1504950" y="3450336"/>
            <a:ext cx="6134100" cy="1525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바이브 코딩과 규율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개발 방식의 구분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시도는 데모 한 번을 보고 받아들일 뻔했다. 결과의 동작만 보고 받아들이는 방식이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코딩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coding)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바이브 코딩에서는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시스템의 동작만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vibe coding you don't care about the code, just the behavior of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증강 코딩에서는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코드와 그 복잡도·테스트와 그 커버리지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신경 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 augmented coding you care about the code, its complexity, the tests, &amp; their coverage."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바이브 엔지니어링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(vibe engineering)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규율을 지키며 LLM을 쓰는 숙련자의 방식을 가리키는 이름이다.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숙련자가 LLM으로 일을 빠르게 하면서도 자기가 만든 소프트웨어에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당당하고 자신 있게 책임을 진다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"seasoned professionals accelerate their work with LLMs while staying proudly and confidently accountable for the software they produce"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AI는 팀의 습관을 키운다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규칙·테스트·리뷰가 있는 팀에서는 좋은 결과를, 없는 팀에서는 나쁜 결과를 더 빨리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사람이 조종하고 에이전트가 실행한다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활동마다 사람과 AI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조종하고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에이전트가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실행한다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steer. Agents execute."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늘 루프 안에 있지만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예전과 다른 추상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일한다 — 일의 우선순위를 정하고 사용자 피드백을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옮기고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"Humans always remain in the loop, but work at a different layer of abstraction than we used to. We prioritize work, translate user feedback into acceptance criteria, and validate outcomes."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우선순위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릴리스에 "주문한다"를 먼저 맡기기로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수용 기준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 3가지를 허용·거절 예시로 옮긴다.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확인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데모가 아니라 업무 규칙의 테스트로 받아들인다.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활동마다 사람과 AI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05. 활동마다 사람과 AI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02246" y="2112010"/>
          <a:ext cx="672592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90322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AI가 한다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문제·의도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문제와 의도, 위험 수용을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결정을 질문으로 드러낸다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범위·제외·미정과 기대값을 확정한다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애매한 것을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개념·관계·불변 조건을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모순과 누락을 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사건과 상태·전이를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초안을 쓰고 빠진 전이를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무엇을 알아야 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대안을 비교하고 위반을 검사한다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배치와 협력, 작업 단위를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대안을 내고 불일치를 짚는다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위임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읽힐 것과 권한, 종료 조건을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경계 안에서 일하고 막히면 묻는다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구현·검증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통과를 뜻하는지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코드와 테스트를 만들고 스스로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 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증거를 보고 수용하거나 되돌린다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완료의 증거를 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보완·판단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반영할지, 계속 맡길지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곳과 개선을 제안한다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결정하고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AI는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초안과 검사로 지원한다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결정을 AI에게 넘기면 첫 시도처럼 추측이 결과에 들어온다.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활동마다 사람의 일과 AI의 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5508610"/>
            <a:ext cx="8412480" cy="701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에이전트는 "결제가 거절되면 주문은 어떻게 되나요?"를 정하지 않고 묻는다. 정하는 것은 업무 담당자와 개발자다.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결정마다 검사가 있다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내린 결정은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결정을 재는 검사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짝을 이룬다. 짝이 없는 결정은 지켜졌는지 아무도 모른다.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왼쪽에서 정하지 않은 것은 오른쪽에 검사가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그리고 검사가 없는 것은 에이전트에게 맡길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검사는 사람이 보기 전에 돌아간다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에이전트가 실패를 읽고 스스로 고친다.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3639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결정과 그 결정을 재는 검사</a:t>
            </a:r>
          </a:p>
        </p:txBody>
      </p:sp>
      <p:pic>
        <p:nvPicPr>
          <p:cNvPr id="10" name="mermaid Diagram 4"/>
          <p:cNvPicPr>
            <a:picLocks noChangeAspect="1"/>
          </p:cNvPicPr>
          <p:nvPr/>
        </p:nvPicPr>
        <p:blipFill>
          <a:blip r:embed="mermaidImage4"/>
          <a:stretch>
            <a:fillRect/>
          </a:stretch>
        </p:blipFill>
        <p:spPr>
          <a:xfrm>
            <a:off x="3190875" y="3374136"/>
            <a:ext cx="2762250" cy="225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첫 시도에서 비어 있던 결정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8726" y="2112010"/>
          <a:ext cx="717296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2763520"/>
                <a:gridCol w="23164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시도의 문제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비어 있던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 결정을 재는 검사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2,400원을 청구한다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단가를 언제 확정하는가 — 정적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금액의 불변 조건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전에 배송을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요청의 순서 — 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순서 검사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거절된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거절 뒤의 전이 — 동적 모델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전이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시도의 문제 3가지는 코드의 결함이 아니다.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정하지 않은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추측으로 채워진 것이다.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문제 3가지가 가리키는 결정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공백에는 기대값이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그래서 에이전트의 테스트가 모두 통과했다. 통과는 공백을 보여 주지 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녹색은 쓴 검사만큼만 보장한다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무엇을 확인했는지는 검사의 목록이 말한다.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개발 생명주기는 어떻게 달라지는가?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775016" y="3173268"/>
          <a:ext cx="5580380" cy="3873500"/>
        </p:xfrm>
        <a:graphic>
          <a:graphicData uri="http://schemas.openxmlformats.org/drawingml/2006/table">
            <a:tbl>
              <a:tblPr/>
              <a:tblGrid>
                <a:gridCol w="1366520"/>
                <a:gridCol w="1534160"/>
                <a:gridCol w="26797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끌고 가는가?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 이후 달라지는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의도와 목표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결정이 질문으로 드러난다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요구와 분석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사람과 AI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초안이 싸지고 확정은 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아키텍처와 설계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 비교와 불일치 지적을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코드·테스트·문서를 한 번에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검증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보기 전에 루프 안에서 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배포와 운영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사람과 AI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 데이터 분석의 일부를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844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개발 생명주기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(software development lifecycle, SDLC)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활동은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그대로 남는다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달라지는 것은 활동마다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 끌고 가는지와, 산출물을 만드는 비용과, 검증의 자리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소프트웨어 공학 3.0은 개발을 더 이상 코드가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끌고 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 중심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접근으로 바꾸는 전환이다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"SE 3.0 marks a paradigm shift towards an intent-centric approach, where development is no longer driven by code but by intents"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7481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활동마다 달라지는 것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개발 생명주기는 어떻게 달라지는가?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코드는 수단이다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 공학이 늘 해 온 일은 의도를 품질 있는 소프트웨어로 바꾸는 것이다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is just a means to an end."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단계의 순서가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 하나마다 이 여섯을 한 바퀴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건너뛸 이유가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코드가 빨라진 것이 분석을 생략할 근거는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검증은 구현 뒤가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조건을 요구에서 정하고 내내 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과정의 지도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결정과 검사의 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열한 세션은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결정하는 쪽과 실행하고 증거를 받는 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나뉜다. 한 과제를 작업 단위로 쪼개 이 두 쪽을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요구와 수용 기준, 정적 모델, 동적 모델, 아키텍처, 설계와 작업 단위다.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학습 순서이지 개발 절차가 아니다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단위마다 결정과 검사를 한 바퀴 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오래 남는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요구사항 정의서·용어집·정적 모델·상태 기계·의존 규칙과 그 검사다.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환경은 필요에서 자란다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쌓이고 권한이 좁아지는 것은 실행에서 필요가 드러난 결과다.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860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과정의 지도</a:t>
            </a:r>
          </a:p>
        </p:txBody>
      </p:sp>
      <p:pic>
        <p:nvPicPr>
          <p:cNvPr id="10" name="mermaid Diagram 5"/>
          <p:cNvPicPr>
            <a:picLocks noChangeAspect="1"/>
          </p:cNvPicPr>
          <p:nvPr/>
        </p:nvPicPr>
        <p:blipFill>
          <a:blip r:embed="mermaidImage5"/>
          <a:stretch>
            <a:fillRect/>
          </a:stretch>
        </p:blipFill>
        <p:spPr>
          <a:xfrm>
            <a:off x="1531938" y="4623816"/>
            <a:ext cx="6080125" cy="76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 세 가지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맡길 작업과 맡기지 않을 작업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맡기지 않는 작업은 세 가지다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쓸 이유가 없는 작업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완료를 판정할 수 없는 작업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AI를 쓸 이유가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코드 형식·의존 규칙 검사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결정적·규칙 기반 방식이 잘 듣지 않는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일에 맞는다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are uniquely suited to workflows where traditional deterministic and rule-based approaches fall short"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만들기로 하기 전에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그 조건을 분명히 충족하는지 확인한다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 아니면 결정적인 해법으로 충분할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완료를 판정할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받아들일 기준을 쓸 수 없으면 검사도 없다. 검사가 없는 작업은 맡기지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상황이 정하는 접근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맡길 작업과 맡기지 않을 작업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69326" y="2386330"/>
          <a:ext cx="5191760" cy="3873500"/>
        </p:xfrm>
        <a:graphic>
          <a:graphicData uri="http://schemas.openxmlformats.org/drawingml/2006/table">
            <a:tbl>
              <a:tblPr/>
              <a:tblGrid>
                <a:gridCol w="2316480"/>
                <a:gridCol w="28752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접근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분명한 반복 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자동화부터 적극 적용한다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복잡하고 자주 바뀌는 업무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분석·설계하고 AI가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안전·규제의 영향이 큰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독립 검증과 승인을 함께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명세와 테스트가 없는 레거시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맥락을 복원하고 검사를 먼저 갖춘다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요구가 불명확한 신규 사업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대안을 탐색하고 목표는 사람이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프로젝트에 같은 수준의 자율성을 적용할 이유는 없다.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이미 명시되어 있고 무엇을 검사할 수 있는지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어디서 시작할지를 정한다.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상황별 접근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342930"/>
            <a:ext cx="8412480" cy="1838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초기 속도 이득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하류의 유지보수 문제로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완전히 상쇄될 위험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"initial speed gains risk being fully canceled out by downstream maintainability problems."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생성량으로 판단하지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만든 양이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검토·수정에 든 시간과 남는 부채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재야 교환이 보인다.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검사가 없으면 수준을 올리지 않는다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다섯 상황의 차이는 결국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검사할 수 있는 것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차이다.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실습 환경 준비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실습부터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자기 저장소에 산출물을 모으고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"세션 08. 위임"부터는 같은 저장소에서 코드와 검사를 돌린다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Windows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다섯 가지를 준비한다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명령은 PowerShell에서 실행한다.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코딩 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Claude Code를 설치하고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Claude Team 계정으로 로그인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한다.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claude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실행해 대화가 되면 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JDK 17 이상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winget install Microsoft.OpenJDK.21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설치하고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java -version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으로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Gradle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winget install Gradle.Gradle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설치하고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gradle -v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확인한다.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Git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winget install Git.Git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설치하고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git config --global user.name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user.email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설정한다.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실습 저장소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자기 PC에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order-system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폴더를 만들어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git init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하고 그 안에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폴더를 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산출물은 저장소가 들고 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실습 1~7의 MD가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에 쌓이고, 실습 8에서 에이전트가 읽는다.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사내망에서 설치와 로그인이 막히는지 미리 확인한다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실습 — 업무 조건 확인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5257800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①로 시작해 답·질문·수정 요청을 주고받는다.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②~④는 보완 예시다. ⑤로 MD를 만들고 필요하면 보완·재생성한다.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프롬프트 —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 요청사항 포함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"쇼핑몰의 주문 시스템을 빈 저장소에서 새로 만든다. 업무 담당자의 요청은 '장바구니에 담은 상품을 결제하면 주문이 되고 배송이 시작되게 해 주세요' 한 줄이다. 요구사항을 정의하기 전에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내가 정해야 할 업무 조건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은 무엇인가?"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"고객이 배송지를 정하고 카드로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결제까지 마치는 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만 다루자. 상품·결제·배송은 이미 운영 중인 외부 시스템이며 화면과 기술 설계는 제외해라."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 주문 금액은 주문이 생길 때의 판매가로 정한다. 배송은 결제가 승인된 뒤에만 요청한다. 결제가 거절되면 결제대기로 남겨 다른 카드로 다시 결제한다. [추가 질문·수정 요청] 이 셋 말고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요구사항을 쓰기 전에 꼭 정해야 할 조건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더 있는가? 필요한 이유도 설명해라."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"[앞선 질문에 대한 답]과 [추가 질문·수정 요청]을 적는다. 이번 범위에서 정하지 않을 것은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미정으로 남긴다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."</a:t>
            </a:r>
          </a:p>
          <a:p>
            <a:pPr lvl="3" marL="981075" indent="-268288">
              <a:spcBef>
                <a:spcPts val="300"/>
              </a:spcBef>
              <a:spcAft>
                <a:spcPts val="300"/>
              </a:spcAft>
              <a:buFont typeface="+mj-ea"/>
              <a:buAutoNum type="circleNumDbPlain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"지금까지 합의한 "주문한다"의 업무 조건을 다음 실습에 사용할 간결한 </a:t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Markdown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로 생성해라. 외부 시스템은 연계 대상으로 두고 화면·기술 설계와 결제 이후 운영은 제외해라. 모든 경우를 나열하지 말고 합의한 조건과 요구사항 작성에 꼭 필요한 미정 사항만 해당 위치에 표시해라. 새 결정을 추가하거나 폐기한 안을 되살리지 마라. 요구사항 정의서나 기능 목록을 미리 작성하지 말고 업무 조건과 미정 사항만 짧은 항목으로 정리해라. 항목마다 한 줄로 쓰고 도식 없이 한 쪽 분량으로 줄여라."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1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필요성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결제까지 마치는 범위에 실제로 필요한 조건인가?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2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화면·기술 설계나 외부 시스템의 재구현이 섞였는가?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3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판단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사람이 정하지 않은 정책을 AI가 확정했는가?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4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미정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정하지 않기로 한 것이 미정으로 남아 있는가?</a:t>
            </a:r>
          </a:p>
          <a:p>
            <a:pPr lvl="3" marL="1028700" indent="-304800">
              <a:spcBef>
                <a:spcPts val="300"/>
              </a:spcBef>
              <a:spcAft>
                <a:spcPts val="300"/>
              </a:spcAft>
              <a:buFont typeface="+mj-lt"/>
              <a:buAutoNum type="arabicPeriod" startAt="5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/>
            </a: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종료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이제 요구사항을 작성할 수 있는가? 그렇다면 탐색을 끝낸다.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합의한 업무 조건의 최종 MD 파일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 마지막 합의를 확인하고 저장소의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docs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두어 커밋한다.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AI는 업무 규칙을 코드로 옮기는 일을 줄였고, 그것을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정하고 명시하고 검증하는 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사람에게 남는다.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사람의 일과 AI의 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바꾼 것과 바꾸지 못한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코드로 옮기는 일은 AI가, 업무 규칙은 사람이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원칙과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다섯 자리가 달라져도 공학 원칙은 남고, 검사할 수 있는 것이 시작 지점을 정한다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규칙은 도메인 지식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주어지지 않으면 LLM이 추측으로 채운다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LLM 이전·AI 지원·AI-native는 작업의 단위와 검증이 다르다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역할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사람이 조종하고 에이전트가 실행한다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결정과 검사의 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검사가 없는 것은 맡길 수 없다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세션 02. LLM이라는 재료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재료의 성질과 비용의 구조를 알고 활용 방식을 고른다.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“주문한다” 업무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01. 사람의 일과 AI의 일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352345"/>
          </a:xfrm>
        </p:spPr>
        <p:txBody>
          <a:bodyPr>
            <a:normAutofit/>
          </a:bodyPr>
          <a:lstStyle/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범위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대상: 고객이 장바구니에서 주문을 시작하고, 배송지를 확정한 뒤 카드 결제 승인을 받아 주문이 성립할 때까지다.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연계 대상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(이미 운영 중인 외부 시스템)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: 상품 시스템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(판매가, 재고)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결제 시스템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(카드 승인)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배송 시스템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(배송 요청 수신)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제외: 화면, 기술 설계, 결제 이후 운영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(취소, 환불, 반품, 교환, 배송 진행)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카드 외 결제 수단, 배송비, 쿠폰과 할인.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생성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고객이 배송지를 확정하면 주문이 생기고, 주문 상태는 결제대기가 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주문자와 수령인은 같은 사람으로 본다.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H] 비회원 주문을 허용하는지, 허용한다면 결제대기 주문을 다시 찾을 때 본인을 어떻게 확인하는지 정해지지 않았다.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주문 금액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 금액은 항목마다 주문 생성 시점의 판매가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(단가)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에 수량을 곱해 모두 더한 값이다.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주문이 생긴 뒤 판매가가 오르거나 내려도 주문 금액은 바뀌지 않으며, 그 금액을 청구한다.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결제대기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결제대기 중에는 상품, 수량, 배송지를 바꿀 수 없다. 바꾸려면 새로 주문한다.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결제가 거절되면 주문을 취소하지 않고 결제대기로 남겨, 고객이 다른 카드로 다시 결제할 수 있게 한다.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352345"/>
          </a:xfrm>
        </p:spPr>
        <p:txBody>
          <a:bodyPr>
            <a:normAutofit/>
          </a:bodyPr>
          <a:lstStyle/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B] 결제대기의 기한과 기한이 지난 뒤의 처리가 정해지지 않았다. 구현에서 만료, 취소, 삭제, 결제 차단을 임의로 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결제와 주문 성립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수단은 카드뿐이다.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카드 승인이 완료된 때 주문이 성립한다.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결제 시스템의 응답을 확정할 수 없으면 그 응답을 실패로 바꾸지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F] 응답을 확정할 수 없을 때 이후 처리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(재결제 허용 여부 포함)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가 정해지지 않았다. 구현에서 성공이나 실패를 임의로 확정하지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재고는 상품 시스템의 판단을 그대로 따르며, 주문 쪽에서 재고를 따로 확보하지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E] 승인 뒤 재고가 없을 때의 처리가 정해지지 않았다. 구현에서 승인 취소나 주문 상태 변경을 임의로 하지 않는다.</a:t>
            </a:r>
          </a:p>
          <a:p>
            <a:pPr marL="18288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000" b="1">
                <a:solidFill>
                  <a:srgbClr val="000000"/>
                </a:solidFill>
                <a:latin typeface="맑은 고딕"/>
                <a:ea typeface="맑은 고딕"/>
              </a:rPr>
              <a:t>배송 요청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배송 시스템에는 카드 승인 뒤에만 배송을 요청한다.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G] 승인 뒤 배송 요청이 실패했을 때의 처리가 정해지지 않았다. 구현에서 승인 취소, 주문 상태 변경, 재요청 주체와 방식을 임의로 정하지 않는다.</a:t>
            </a:r>
          </a:p>
          <a:p>
            <a:pPr lvl="2" marL="411480" indent="-13716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[미정 I] 주문 확인 통지를 이 시스템이 보내는지, 다른 시스템의 통지로 대신하는지 정해지지 않았다.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30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4" baseType="lpstr">
      <vt:lpstr>맑은 고딕</vt:lpstr>
      <vt:lpstr>Arial</vt:lpstr>
      <vt:lpstr>Wingdings</vt:lpstr>
      <vt:lpstr>4_Office 테마</vt:lpstr>
      <vt:lpstr/>
      <vt:lpstr>AI-native SW 공학 목차</vt:lpstr>
      <vt:lpstr>01. 사람의 일과 AI의 일 목차</vt:lpstr>
      <vt:lpstr>01. 세션 목표</vt:lpstr>
      <vt:lpstr>쇼핑몰의 주문 시스템 02. 첫 시도</vt:lpstr>
      <vt:lpstr>요청 한 줄과 10분 02. 첫 시도</vt:lpstr>
      <vt:lpstr>리뷰에서 나온 문제 3가지 02. 첫 시도</vt:lpstr>
      <vt:lpstr>추측으로 채운 코드 (1/2) 02. 첫 시도</vt:lpstr>
      <vt:lpstr>추측으로 채운 코드 (2/2) 02. 첫 시도</vt:lpstr>
      <vt:lpstr>자기 코드를 확인한 테스트 02. 첫 시도</vt:lpstr>
      <vt:lpstr>본질적 복잡성과 우연적 복잡성 03. AI가 바꾼 것과 바꾸지 못한 것</vt:lpstr>
      <vt:lpstr>다섯 가지가 달라진다 03. AI가 바꾼 것과 바꾸지 못한 것</vt:lpstr>
      <vt:lpstr>변하지 않는 공학 원칙 03. AI가 바꾼 것과 바꾸지 못한 것</vt:lpstr>
      <vt:lpstr>업무 규칙은 도메인 지식이다 03. AI가 바꾼 것과 바꾸지 못한 것</vt:lpstr>
      <vt:lpstr>3가지 개발 방식 04. 개발 방식의 구분</vt:lpstr>
      <vt:lpstr>같은 과제, 3가지 방식 04. 개발 방식의 구분</vt:lpstr>
      <vt:lpstr>바이브 코딩과 규율 04. 개발 방식의 구분</vt:lpstr>
      <vt:lpstr>사람이 조종하고 에이전트가 실행한다 05. 활동마다 사람과 AI</vt:lpstr>
      <vt:lpstr>활동마다 사람과 AI 05. 활동마다 사람과 AI</vt:lpstr>
      <vt:lpstr>결정마다 검사가 있다 06. 결정과 검사의 짝</vt:lpstr>
      <vt:lpstr>첫 시도에서 비어 있던 결정 06. 결정과 검사의 짝</vt:lpstr>
      <vt:lpstr>개발 생명주기는 어떻게 달라지는가? (1/2) 06. 결정과 검사의 짝</vt:lpstr>
      <vt:lpstr>개발 생명주기는 어떻게 달라지는가? (2/2) 06. 결정과 검사의 짝</vt:lpstr>
      <vt:lpstr>과정의 지도 06. 결정과 검사의 짝</vt:lpstr>
      <vt:lpstr>맡기지 않는 작업 세 가지 07. 맡길 작업과 맡기지 않을 작업</vt:lpstr>
      <vt:lpstr>상황이 정하는 접근 07. 맡길 작업과 맡기지 않을 작업</vt:lpstr>
      <vt:lpstr>08. 실습 환경 준비</vt:lpstr>
      <vt:lpstr>09. 실습 — 업무 조건 확인</vt:lpstr>
      <vt:lpstr>10. 요약</vt:lpstr>
      <vt:lpstr>“주문한다” 업무 조건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 사람의 일과 AI의 일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