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새 일하는 방식 → 무엇을 어떻게 맡길지 → 과정의 지도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기대값을 업무 규칙에서 정하는 일은 "세션 05. 작업 명세와 수용 기준"이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두 인용은 원문에서 이어지는 대목이다 — 앞이 본질·우연의 정의, 뒤가 어려운 부분이 무엇인지다.</a:t>
            </a:r>
          </a:p>
          <a:p>
            <a:pPr lvl="0"/>
            <a:r>
              <a:rPr lang="ko-KR" sz="1200"/>
              <a:t>둘째 인용의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 원문 확인.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  <a:p>
            <a:pPr lvl="0"/>
            <a:r>
              <a:rPr lang="ko-KR" sz="1200"/>
              <a:t>업무 규칙을 용어집·개념과 관계·상태 기계로 명시하는 일은 "세션 03. 도메인 모델"이 다룬다.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NIST, *Artificial Intelligence Risk Management Framework: Generative Artificial Intelligence Profile*(NIST AI 600-1), 2024의 Confabulation 항목 원문 확인. 같은 항목은 이것을 흔히 "환각(hallucination)"이라 부른다고 적는다.</a:t>
            </a:r>
          </a:p>
          <a:p>
            <a:pPr lvl="0"/>
            <a:r>
              <a:rPr lang="ko-KR" sz="1200"/>
              <a:t>비결정성은 이 과정의 설명이다. 수강생의 LLM으로 같은 요청을 두 번 보내 차이를 확인하게 할 수 있다.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</a:t>
            </a:r>
          </a:p>
          <a:p>
            <a:pPr lvl="0"/>
            <a:r>
              <a:rPr lang="ko-KR" sz="1200"/>
              <a:t>무엇을 골라 줄지는 "세션 06. 맥락 구성"에서 다룬다. 결제 연동 매뉴얼 200쪽을 통째로 준 장면이 그 세션의 사례다.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3가지 구분은 원전의 분류가 아니라 이 과정의 구분이다(course-design.md의 「원전 적용 결정」).</a:t>
            </a:r>
          </a:p>
          <a:p>
            <a:pPr lvl="0"/>
            <a:r>
              <a:rPr lang="ko-KR" sz="1200"/>
              <a:t>AI 지원의 병목은 사람의 리뷰다. 형태의 선택은 「08. AI 활용 방식」에서 다룬다.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규칙·맥락·센서·확인)이 빠졌다.</a:t>
            </a:r>
          </a:p>
          <a:p>
            <a:pPr lvl="0"/>
            <a:r>
              <a:rPr lang="ko-KR" sz="1200"/>
              <a:t>센서는 실행 뒤에 결과의 증거를 내는 검사다. 센서를 설계하고 유지하는 일은 "세션 09. 검증 하네스"가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요약이다.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행 하나하나가 뒤 세션의 주제다. 각 행에서 남는 산출물은 「10. 과정의 지도」에서 이어 본다.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코딩 에이전트 사례 원문 확인. 한글은 요약이다.</a:t>
            </a:r>
          </a:p>
          <a:p>
            <a:pPr lvl="0"/>
            <a:r>
              <a:rPr lang="ko-KR" sz="1200"/>
              <a:t>작업 특성을 4가지로 묶은 것은 이 과정의 정리다. 원문의 "잘 정의된 문제"와 "자동 테스트로 검증"을 바탕으로 업무 규칙과 되돌리기를 더했다.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네 방식 가운데 수작업과 대화형 보조는 이 과정이 더한 비교 대상이다.</a:t>
            </a:r>
          </a:p>
          <a:p>
            <a:pPr lvl="0"/>
            <a:r>
              <a:rPr lang="ko-KR" sz="1200"/>
              <a:t>증강 LLM의 검색은 저장소의 코드·문서 읽기, 도구는 빌드·테스트 실행, 기억은 작업 사이의 진행 기록이다.</a:t>
            </a:r>
          </a:p>
          <a:p>
            <a:pPr lvl="0"/>
            <a:r>
              <a:rPr lang="ko-KR" sz="1200"/>
              <a:t>수작업도 결정적인 도구(스크립트·템플릿)를 쓴다. 사람이 실행하고 결과를 직접 확인한다는 점이 다르다.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위임 형태에 관한 이 과정의 기준 원전이다.</a:t>
            </a:r>
          </a:p>
          <a:p>
            <a:pPr lvl="0"/>
            <a:r>
              <a:rPr lang="ko-KR" sz="1200"/>
              <a:t>워크플로의 패턴과 사람의 확인 지점을 설계하는 일은 "세션 08. 실행 흐름"이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질문의 순서는 이 과정의 정리다. 인용 근거: Anthropic(2024) 원문 확인.</a:t>
            </a:r>
          </a:p>
          <a:p>
            <a:pPr lvl="0"/>
            <a:r>
              <a:rPr lang="ko-KR" sz="1200"/>
              <a:t>방식은 작업의 이름이 아니라 그 시점의 작업 특성으로 정한다. 같은 구현이라도 업무 규칙이 정해지기 전과 후가 다르다.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한글은 요약이다.</a:t>
            </a:r>
          </a:p>
          <a:p>
            <a:pPr lvl="0"/>
            <a:r>
              <a:rPr lang="ko-KR" sz="1200"/>
              <a:t>포매터·정적 검사·빌드 도구는 뒤에서 에이전트의 결과를 확인하는 센서가 된다.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 정하기는 업무 담당자와 사람이 정하고, LLM은 대화형 보조로 빠진 질문을 찾는 데 쓴다.</a:t>
            </a:r>
          </a:p>
          <a:p>
            <a:pPr lvl="0"/>
            <a:r>
              <a:rPr lang="ko-KR" sz="1200"/>
              <a:t>주문 데이터 이관은 외부 솔루션에서 옮겨 오는 이 시나리오의 작업이다. LLM이 변환 스크립트 초안을 쓸 수 있지만, 실행과 확인은 사람이 한다.</a:t>
            </a:r>
          </a:p>
          <a:p>
            <a:pPr lvl="0"/>
            <a:r>
              <a:rPr lang="ko-KR" sz="1200"/>
              <a:t>결제 연동 문서가 부실하다면 같은 작업도 에이전트 + 사람 리뷰가 맞는 답이 된다. 수강생에게 먼저 고르게 하고 이유를 비교한다.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 표는 이 과정의 정리다.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저장소와 실행 기록은 code/s01/demo/에 있다. 2026-10-07에 Claude Code 2.1.292(비대화형 실행, 모델 claude-opus-5-5)로 실행한 한 번의 기록이다.</a:t>
            </a:r>
          </a:p>
          <a:p>
            <a:pPr lvl="0"/>
            <a:r>
              <a:rPr lang="ko-KR" sz="1200"/>
              <a:t>대화형 보조의 첫 답은 컴파일 오류였다. 질문에 붙이지 않은 Product의 메서드 이름을 추측했기 때문이다.</a:t>
            </a:r>
          </a:p>
          <a:p>
            <a:pPr lvl="0"/>
            <a:r>
              <a:rPr lang="ko-KR" sz="1200"/>
              <a:t>LLM 시간은 도구가 보고한 시간의 합이며 사람이 붙여 넣고 테스트를 돌린 시간은 넣지 않았다. 입력 토큰에는 도구의 시스템 프롬프트와 도구 정의가 포함된다.</a:t>
            </a:r>
          </a:p>
          <a:p>
            <a:pPr lvl="0"/>
            <a:r>
              <a:rPr lang="ko-KR" sz="1200"/>
              <a:t>강의장에서는 수강생의 도구로 다시 실행한다. 결과는 매번 달라질 수 있다(비결정성).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</a:t>
            </a:r>
          </a:p>
          <a:p>
            <a:pPr lvl="0"/>
            <a:r>
              <a:rPr lang="ko-KR" sz="1200"/>
              <a:t>실패 기록은 "세션 10. 실패와 모델 보완", 평가 세트는 "세션 11. 평가와 운영"에서 다룬다.</a:t>
            </a:r>
          </a:p>
          <a:p>
            <a:pPr lvl="0"/>
            <a:r>
              <a:rPr lang="ko-KR" sz="1200"/>
              <a:t>첫 시도는 증거 없이 가장 높은 자율성에서 시작했다. 데모 한 번은 증거가 아니다.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시스템의 이름과 값, 정기배송의 이름과 규칙은 course-design.md의 공통 전제가 원천이다. "객체지향 분석과 설계 실무" 과정과 같게 맞춘다.</a:t>
            </a:r>
          </a:p>
          <a:p>
            <a:pPr lvl="0"/>
            <a:r>
              <a:rPr lang="ko-KR" sz="1200"/>
              <a:t>강의의 두 번째 기능 "주문을 취소한다"는 마지막 세션에서 산출물을 모아 에이전트에게 맡기는 과제다.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다섯 묶음이 열두 세션에 대응한다. 무엇을 맡기는가는 이 세션, 무엇을 만드는가는 요구·도메인 모델·아키텍처, 어떻게 맡기는가는 명세·맥락·권한, 실행과 확인은 흐름과 하네스, 보완은 실패와 평가다.</a:t>
            </a:r>
          </a:p>
          <a:p>
            <a:pPr lvl="0"/>
            <a:r>
              <a:rPr lang="ko-KR" sz="1200"/>
              <a:t>산출물을 모두 만들어야 하는 것은 아니다. 무엇을 넣을지는 도메인·기술 복잡성이 정하며, 그 판단은 "세션 02. 요구와 유저 스토리"에서 경로와 함께 다룬다.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실습은 정기배송 시스템을 빈 저장소에서 개발하는 하나의 시나리오다. 강의의 첫 시도와 똑같이 요청 한 줄에서 시작하므로, LLM은 금액·회차·거절을 스스로 정한다.</a:t>
            </a:r>
          </a:p>
          <a:p>
            <a:pPr lvl="0"/>
            <a:r>
              <a:rPr lang="ko-KR" sz="1200"/>
              <a:t>결과물은 실습 2에서 요구사항 정의서로, 실습 3에서 도메인 모델로 이어진다. 이름과 규칙은 course-design.md의 공통 전제를 따른다.</a:t>
            </a:r>
          </a:p>
          <a:p>
            <a:pPr lvl="0"/>
            <a:r>
              <a:rPr lang="ko-KR" sz="1200"/>
              <a:t>도구는 제한하지 않는다. 평가는 초안이 아니라 찾아낸 추측과 정한 결정, 그리고 방식을 고른 이유를 본다.</a:t>
            </a:r>
          </a:p>
          <a:p>
            <a:pPr lvl="0"/>
            <a:r>
              <a:rPr lang="ko-KR" sz="1200"/>
              <a:t>LLM은 대부분의 일을 에이전트에게 맡기거나, 사내 템플릿이 있는 저장소 골격에도 AI를 쓰기 쉽다. 점검 항목 6으로 되돌린다.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규칙·검증)이 빠진 것이다. 다음 세션부터 그 몫을 하나씩 채운다.</a:t>
            </a:r>
          </a:p>
          <a:p>
            <a:pPr lvl="0"/>
            <a:r>
              <a:rPr lang="ko-KR" sz="1200"/>
              <a:t>이 세션에서 보완된 모델은 없다. 업무 규칙 3가지가 리뷰에서 처음 드러났을 뿐이며, 모델로 적는 일은 뒤 세션이 한다.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초안의 추측은 예다. 수강생의 LLM마다 다른 곳을 추측하며, 평가는 추측을 찾아 결정으로 바꾼 것을 본다.</a:t>
            </a:r>
          </a:p>
          <a:p>
            <a:pPr lvl="0"/>
            <a:r>
              <a:rPr lang="ko-KR" sz="1200"/>
              <a:t>여기서 정한 값은 실습 2의 요구사항 정의서와 실습 3의 도메인 모델에서 그대로 쓰인다. course-design.md의 공통 전제와 같다.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열의 순서는 「08. AI 활용 방식」의 「선택의 순서」와 같다(업무 규칙 → 되돌리기 → 자동 확인 → 절차).</a:t>
            </a:r>
          </a:p>
          <a:p>
            <a:pPr lvl="0"/>
            <a:r>
              <a:rPr lang="ko-KR" sz="1200"/>
              <a:t>기존 구독 고객 이관에서 LLM은 변환 스크립트 초안을 쓸 수 있다. 실행과 확인은 사람이 한다.</a:t>
            </a:r>
          </a:p>
          <a:p>
            <a:pPr lvl="0"/>
            <a:r>
              <a:rPr lang="ko-KR" sz="1200"/>
              <a:t>저장소 골격은 사내 템플릿이 있어 AI가 필요 없다. 결제 연동 문서가 부실하다고 판단했다면 에이전트 + 사람 리뷰도 맞는 답이다.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2400" dirty="0"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/>
            </a:r>
            <a:r>
              <a:rPr kumimoji="1" lang="en-US" altLang="ko-KR" sz="1400" dirty="0"/>
              <a:t/>
            </a:r>
            <a:r>
              <a:rPr kumimoji="1" lang="ko-KR" altLang="en-US" sz="1400" dirty="0"/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4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4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endParaRPr lang="en-US" sz="1800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endParaRPr lang="en-US" sz="1800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lang="en-US" altLang="ko-KR" dirty="0">
                <a:latin typeface="맑은 고딕"/>
                <a:ea typeface="맑은 고딕"/>
                <a:cs typeface="맑은 고딕"/>
              </a:rPr>
              <a:t/>
            </a:r>
            <a:endParaRPr lang="en-US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b="1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b="1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Aft>
                <a:spcPts val="600"/>
              </a:spcAft>
              <a:buNone/>
            </a:pPr>
            <a:endParaRPr lang="en-US" sz="1600" b="0" dirty="0"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600"/>
              </a:spcAft>
              <a:buNone/>
            </a:pP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51760"/>
            <a:ext cx="8412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</a:rPr>
              <a:t>AI-native SW 공학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AI-native SW 공학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사람의 일과 AI의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요구와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아키텍처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작업 명세와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맥락 구성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권한과 가드레일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실행 흐름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검증 하네스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실패와 모델 보완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평가와 운영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종합 실행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사람의 일과 AI의 일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LLM이라는 새 재료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사람과 AI의 역할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작업 특성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과정의 지도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찾기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만들지와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LLM의 성질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그럴듯한 추측, 비결정성, 맥락의 한계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규율이 없는 사용과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결정할 것과 AI가 지원할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수작업·대화형 보조·워크플로·에이전트 중 가장 단순한 충분한 방식을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높이는 데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말한다.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고객이 결제까지 마치는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48346" y="3450336"/>
            <a:ext cx="5247308" cy="2203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담당자가 준 요청은 아래 한 줄뿐이었다. 테크 리드가 이 한 줄을 그대로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담당자가 결과를 보자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겪게 될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세 가지가 드러났다.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결제 코드는 요청에 없던 업무 규칙 세 가지를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정해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3176016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4451912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테스트는 업무 규칙이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쓴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세 곳에서 실패한다.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5346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610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736156" y="2398776"/>
            <a:ext cx="7658100" cy="1416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659563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3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아리스토텔레스를 따라 나는 소프트웨어의 어려움을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곧 소프트웨어의 본성에 본래 있는 어려움과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곧 오늘날 소프트웨어를 만드는 데 따라붙지만 본래적이지는 않은 어려움으로 나눈다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"Following Aristotle, I divide them into essence, the difficulties inherent in the nature of the software, and accidents, those difficulties which today attend its production but which are not inherent"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소프트웨어를 만드는 어려운 부분은 이 개념 구조의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이며 그것을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6111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52163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289894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그럴듯한 추측과 비결정성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LLM이라는 새 재료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엔지니어가 써 온 도구와 성질이 다르다. 같은 입력에 같은 결과를 내는 컴파일러와 달리,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모르는 것을 그럴듯하게 채우고 매번 다르게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(confabulation)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자신 있게 말하지만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틀리거나 거짓인 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만들어 내는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"Confabulation: The production of confidently stated but erroneous or false content"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2,400원을 청구하는 코드도 컴파일되고 테스트를 통과했다. 그럴듯할수록 틀린 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비결정성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요청을 다시 주면 결제 거절을 결제대기로 처리한 코드가 나오기도 한다. 한 번 맞은 결과는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증거가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한계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LLM이라는 새 재료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작업에서 읽을 수 있는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보고 판단한다. 업무 담당자와 합의한 규칙이라도 맥락에 넣어 주지 않으면 알지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한정된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다뤄야 하며 더 넣을수록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한계 효용이 줄어든다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"Context, therefore, must be treated as a finite resource with diminishing marginal returns."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것만 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맥락은 요청, 열어 본 파일, 이전 대화다. 작업이 끝나면 기억하지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볼 수 있는 양이 정해져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한도를 맥락 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(context window)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이라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많이 넣는다고 좋아지지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맥락이 길어질수록 중요한 내용을 놓친다. 그래서 판단에 영향을 주는 자료만 골라 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방식을 가르는 것은 쓰는 도구가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맡기는 작업의 단위와, 사람과 LLM이 하는 일과, 무엇으로 결과를 확인하는지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일의 위치다. 코드를 쓰고 읽던 일이 업무 규칙을 정하고 명시하고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옳은 결과인지의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AI-native는 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"주문한다"를 세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직접 손대는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센서의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679450" y="3450336"/>
            <a:ext cx="7785100" cy="222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복잡도·테스트와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만든 소프트웨어에 책임을 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사람과 AI의 역할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 — 일의 우선순위를 정하고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3가지를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활동마다 사람과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사람과 AI의 역할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1946" y="2112010"/>
          <a:ext cx="64465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76352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문제·의도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의도, 위험 수용을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결정을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요구와 기대값을 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애매한 것을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개념과 규칙을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모순과 누락을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무엇을 알아야 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위반을 검사한다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맥락·경계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읽힐 것과 권한, 종료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찾아 읽고 일한다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코드와 테스트를 만들고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어떻게 검증할지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결과를 보고 스스로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증거를 보고 수용하거나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증거를 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반영할지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곳과 개선을 제안한다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AI는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초안과 검사로 지원한다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결정을 AI에게 넘기면 첫 시도처럼 추측이 결과에 들어온다.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활동마다 사람의 일과 AI의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220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작업 특성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35366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27730"/>
                <a:gridCol w="342773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결과인지 정해졌는가?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금액을 언제의 가격으로 할지 정했는가?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끝내기까지의 작업 순서를 미리 적을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코드: 문서 확인 → 코드 작성 →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결과의 자동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옳은지 테스트로 확인할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수용 테스트로, 릴리스 노트는 사람이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잘못되었을 때 이전 상태로 정확히 돌릴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이전 커밋으로, 운영 데이터는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특성은 그 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AI에게 맡겨도 되는지, 맡긴다면 어떤 방식으로 맡길지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가르는 성질이다.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테스트 결과에 따라 고칠 수 있으며 문제가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 정의되어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품질을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객관적으로 잴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있을 때 특히 효과적이다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 solutions are verifiable through automated tests; Agents can iterate on solutions using test results as feedback; The problem space is well-defined and structured; and Output quality can be measured objectively."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증강 LLM과 4가지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173268"/>
          <a:ext cx="8305800" cy="3873500"/>
        </p:xfrm>
        <a:graphic>
          <a:graphicData uri="http://schemas.openxmlformats.org/drawingml/2006/table">
            <a:tbl>
              <a:tblPr/>
              <a:tblGrid>
                <a:gridCol w="977690"/>
                <a:gridCol w="1304349"/>
                <a:gridCol w="1555624"/>
                <a:gridCol w="889000"/>
                <a:gridCol w="3579137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이관 스크립트를 실행하고 건수·금액을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사람(LLM은 답·초안)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릴리스 노트 초안을 쓰고 사람이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정해 둔 순서대로 연동 코드를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파일을 찾고 고치고 테스트를 돌려 구현한다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수작업에서 에이전트로 갈수록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순서를 정하는 쪽이 사람에서 LLM으로 옮겨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쓰는 LLM은 같다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넷 모두 검색·도구·기억을 붙인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위에서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시스템의 기본 구성 요소는 검색·도구·기억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증강을 더한 LLM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basic building block of agentic systems is an LLM enhanced with augmentations such as retrieval, tools, and memory."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48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4186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사람의 확인 없이 스스로 정하는 범위다. 아래로 갈수록 넓어진다.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실행을 맡기는 두 형태가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(workflow)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가르는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단계를 누가 정하는가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워크플로는 LLM과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정한 코드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조율되는 시스템이다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are systems where LLMs and tools are orchestrated through predefined code paths."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LLM이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과정과 도구 사용을 스스로 정하면서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일을 어떻게 이룰지 통제하는 시스템이다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"Agents, on the other hand, are systems where LLMs dynamically direct their own processes and tool usage, maintaining control over how they accomplish tasks."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워크플로는 잘 정의된 작업에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예측 가능성과 일관성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주고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유연성과 모델 주도의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대규모로 필요할 때 더 나은 선택이다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offer predictability and consistency for well-defined tasks, whereas agents are the better option when flexibility and model-driven decision-making are needed at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"명세 확인 → 구현 → 테스트"를 정해 두고 단계마다 LLM을 부르면 워크플로다. 첫 시도처럼 과제만 주고 파일을 찾고 고치고 테스트를 돌리게 하면 에이전트다.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선택의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9916" y="2386330"/>
          <a:ext cx="5910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1590040"/>
                <a:gridCol w="8915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"아니오"이면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"예"이면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먼저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쉬운가?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자동으로 확인할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절차가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특성을 차례로 물으면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단순하면서도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이른다. 업무 규칙이 정해졌는지와 되돌릴 수 있는지를 먼저 묻는다. 이 둘은 모델이 좋아져도 달라지지 않기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선택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 수를 예측하기 어렵고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고정된 경로를 코드로 정할 수 없는 열린 문제에 쓸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be used for open-ended problems where it's difficult or impossible to predict the required number of steps, and where you can't hardcode a fixed path."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마지막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앞의 질문을 모두 통과하고, 절차를 미리 정할 수 없을 때만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맡기지 않는 작업은 두 가지다.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AI를 쓸 이유가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사람이 정하고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사람이 실행하고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필요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골격·코드 형식·의존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AI는 매번 다르게 만든다. 템플릿·포매터·정적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 사례가 기준을 분명히 충족하지 않으면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해법으로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 기능 개발의 활용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81486"/>
                <a:gridCol w="2927789"/>
                <a:gridCol w="1660680"/>
                <a:gridCol w="213584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부적합한 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미정 — 업무 담당자만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늘 같은 결과가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매번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금액·상태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확인되나 고칠 곳을 미리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 — 순서를 못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정확해 순서를 적을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대가가 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데이터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돌리기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워크플로·에이전트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릴리스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릴리스에 해야 할 일 여섯 가지를 작업 특성으로 따져 보면,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에이전트에게 맡긴 것은 하나뿐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첫 릴리스의 활용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이관은 왜 되돌리기 어려운가?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옮긴 주문은 곧바로 고객이 조회하고 배송이 진행된다. 잘못 옮긴 것을 나중에 알면 데이터는 고쳐도, 그사이 고객에게 일어난 일은 되돌릴 수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3066" y="4010083"/>
          <a:ext cx="6304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226820"/>
                <a:gridCol w="15900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오류가 쌓이는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비용이 커지는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질문이 많아질 때(사람의 시간)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단계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단계마다 맥락을 새로 읽을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단계에 걸쳐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 실행이 길어질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697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결과를 확인하는 시점이 뒤로 밀리고, 그사이 오류가 쌓이는 범위도 넓어진다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작업이 크고 반복이 많을수록 그 비용이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시스템은 더 나은 작업 성능을 얻는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지연과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치르는 경우가 많으므로 그 교환이 언제 맞는지 따져야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"Agentic systems often trade latency and cost for better task performance, and you should consider when this tradeoff makes sense."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높은 비용과 오류가 누적될 가능성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autonomous nature of agents means higher costs, and the potential for compounding errors."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1163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대가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세 방식의 시연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00926" y="2386330"/>
          <a:ext cx="7528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1143000"/>
                <a:gridCol w="919480"/>
                <a:gridCol w="94742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개입한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호출·턴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시간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질문·붙여 넣기·테스트 실행 7번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2·2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20초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1,608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56,810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 3개의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3·24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66초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6,333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402,181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하나와 결과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34초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3,367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339,270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작업을 세 방식으로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실행했다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세 번 모두 같은 업무 규칙과 같은 수용 테스트를 주었고, 달랐던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개입한 자리와 쓴 토큰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 구현의 시연 기록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6930"/>
            <a:ext cx="8412480" cy="2487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있으면 셋 다 지킨다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시도와 달리 업무 규칙과 수용 테스트를 주었기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토큰이 가장 적다. 대신 맥락을 사람이 골라 붙여야 하고, 빠뜨리면 LLM이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단계마다 새로 시작해 파일을 다시 읽어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에이전트보다 토큰을 더 썼다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대신 중간 결과를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개입이 가장 적다. 대신 확인이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끝에 몰린다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3335366"/>
          <a:ext cx="5775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수용 테스트가 생겼다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통과와 실패 기록이 쌓였다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확인을 줄인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 세트를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방식으로 시작하고, 맡겨도 된다는 증거가 분명할 때만 자율성을 높인다.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LLM으로 애플리케이션을 만들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가능한 가장 단순한 해법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 필요할 때만 복잡도를 높인다 — 에이전트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아예 만들지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수도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building applications with LLMs, we recommend finding the simplest solution possible, and only increasing complexity when needed. This might mean not building agentic systems at all."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1596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계단마다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단계 올리려면 아래 단계에서 쌓은 증거가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연동 코드는 첫 릴리스에서 워크플로로 만들고, 테스트가 쌓인 다음 릴리스에서 에이전트로 올린다.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관통 사례 — 주문과 정기배송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과정의 지도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2696" y="2386330"/>
          <a:ext cx="714502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931160"/>
                <a:gridCol w="3042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강의 — 주문 시스템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— 정기배송 시스템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저장소와 요청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저장소와 요청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기능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"정기배송을 신청한다"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기능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"배송지를 변경한다"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상품·결제·배송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상품·결제·배송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사례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2개, 판매가 1,000원, 배송지 서울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휴지 1묶음 10,000원, 2주 주기, 3개월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강의와 실습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시작하는 신규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강의는 "주문한다" 한 과제로 열한 세션을 관통하고, 실습은 정기배송을 같은 순서로 만든다.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강의와 실습의 과제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293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강의가 답을 미리 보이지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실습의 정기배송은 수강생이 자기 LLM으로 만들고, 그 결과가 다음 실습의 입력이 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열두 활동에서 남는 산출물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과정의 지도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484632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활동마다 사람이 내릴 결정이 있고, 그 결정은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작업의 입력이 되는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남는다. 남은 세션이 이 순서로 산출물을 하나씩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정의서·도메인 모델·의존 규칙이다. 작업 명세서와 수용 테스트는 작업마다 새로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학습 순서이지 개발 절차가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개발에서는 뒤 활동이 앞 산출물을 고친다. 점선이 그 되돌림이다.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합친 것이 위임 패키지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마지막 세션에서 이 묶음으로 다음 기능을 맡긴다.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5349240" y="1260564"/>
            <a:ext cx="3429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과정의 지도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6002889" y="1498308"/>
            <a:ext cx="2121703" cy="4492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실습 — 추측 찾기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요청 한 줄을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정기배송을 "신청한다"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의 초안을 만들게 하고, 점검 항목으로 초안이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추측한 것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가른 뒤, 첫 릴리스의 일마다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고르십시오.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서비스 개요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생필품을 고객이 정한 주기로 배송하는 정기배송 시스템을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빈 저장소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에서 개발한다. 고객은 상품·수량·배송 주기·첫 배송일·기간·배송지를 정해 신청하고 일시불로 결제한다. 상품·결제·배송은 외부 시스템이 맡는다.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담당자의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"고객이 정한 주기로 생필품을 자동으로 배송받게 해 주세요."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릴리스의 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확정, 저장소 골격, 신청 기능 구현, 결제 연동, 기존 구독 고객 1,200명 이관, 출시 안내 문구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"이 요청대로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설계하고, 자바 코드와 테스트를 만들어줘."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"요청에 없어서 네가 스스로 정한 것을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모두 나열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하고, 사람이 정할 결정과 맡겨도 되는 구현으로 갈라줘."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무엇으로 계산했는가? 신청 때의 가격인가?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회차를 몇 개, 어느 날짜로 만들었는가? 그 규칙은 누가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정기배송은 어떤 상태인가?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요청에 없는 규칙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(할인, 최소 수량 등)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들어갔는가?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승인된 경우만 확인했는가? 기대값은 어디에서 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일마다 작업 특성 4가지로 방식을 골랐는가? 사람이 정할 결정을 에이전트에게 맡기지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추측 목록과 사람이 정할 결정, 첫 릴리스의 일마다 고른 활용 방식. 실습 2의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줄였고,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 명시하고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일과 AI의 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코드로 옮기는 일은 AI가,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LLM의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그럴듯한 추측·비결정성·맥락의 한계. 빈칸은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실행한다. 활동마다 사람이 결정한다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특성 4가지로 가장 단순한 충분한 방식을 고른다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자율성과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증거가 분명할 때만 올린다. 결정은 다음 작업의 입력으로 남는다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02. 요구와 유저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 한 줄을 요구사항과 유저 스토리로 구체화한다.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초안이 추측한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정기배송에 "신청 실패", 배송 회차에 "취소됨" 상태를 더했다.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배송할 때마다 상품 시스템의 현재 가격으로 계산했다.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회차를 만료일 다음 날까지 만들었다.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정기배송을 삭제했다.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기간이 6개월 이상이면 5% 할인했다.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승인된 경우만 테스트했다.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LLM 초안은 "신청한다"를 만들면서 요청에 없던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상태와 규칙을 스스로 더하고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결제 거절과 회차 생성을 정했다. 추측마다 사람이 정할 결정을 적었다.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정기배송은 결제 대기 → 확정, 회차는 예정으로 시작한다. 그 밖의 상태는 두지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금액은 신청 때의 가격 × 수량이며 기간 끝까지 같다.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만료일까지의 날짜로 예정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요청에 없는 규칙은 넣지 않는다. 필요하면 업무 담당자에게 묻는다.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승인·거절 두 경로와 회차의 날짜를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첫 릴리스의 활용 방식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64706" y="2112010"/>
          <a:ext cx="800100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1115060"/>
                <a:gridCol w="1394460"/>
                <a:gridCol w="947420"/>
                <a:gridCol w="889000"/>
                <a:gridCol w="1981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수작업(사내 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신청 기능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예(확정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구독 고객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출시 안내 문구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아니오(발송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 + 사람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릴리스의 일 여섯 가지를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판단했다. 앞 질문에서 방식이 정해지면 뒤 칸은 "—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첫 릴리스의 활용 방식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34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맑은 고딕</vt:lpstr>
      <vt:lpstr>Arial</vt:lpstr>
      <vt:lpstr>Wingdings</vt:lpstr>
      <vt:lpstr>4_Office 테마</vt:lpstr>
      <vt:lpstr/>
      <vt:lpstr>AI-native SW 공학 목차</vt:lpstr>
      <vt:lpstr>01. 사람의 일과 AI의 일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업무 규칙은 도메인 지식이다 03. AI가 바꾼 것과 바꾸지 못한 것</vt:lpstr>
      <vt:lpstr>그럴듯한 추측과 비결정성 04. LLM이라는 새 재료</vt:lpstr>
      <vt:lpstr>맥락의 한계 04. LLM이라는 새 재료</vt:lpstr>
      <vt:lpstr>3가지 개발 방식 05. 개발 방식의 구분</vt:lpstr>
      <vt:lpstr>같은 과제, 3가지 방식 05. 개발 방식의 구분</vt:lpstr>
      <vt:lpstr>바이브 코딩과 규율 05. 개발 방식의 구분</vt:lpstr>
      <vt:lpstr>사람이 조종하고 에이전트가 실행한다 06. 사람과 AI의 역할</vt:lpstr>
      <vt:lpstr>활동마다 사람과 AI 06. 사람과 AI의 역할</vt:lpstr>
      <vt:lpstr>07. 작업 특성</vt:lpstr>
      <vt:lpstr>증강 LLM과 4가지 방식 08. AI 활용 방식</vt:lpstr>
      <vt:lpstr>워크플로와 에이전트 08. AI 활용 방식</vt:lpstr>
      <vt:lpstr>선택의 순서 08. AI 활용 방식</vt:lpstr>
      <vt:lpstr>AI에게 맡기지 않는 작업 08. AI 활용 방식</vt:lpstr>
      <vt:lpstr>주문 기능 개발의 활용 방식 08. AI 활용 방식</vt:lpstr>
      <vt:lpstr>자율성의 대가 09. 자율성을 높이는 조건</vt:lpstr>
      <vt:lpstr>세 방식의 시연 기록 09. 자율성을 높이는 조건</vt:lpstr>
      <vt:lpstr>자율성의 계단 09. 자율성을 높이는 조건</vt:lpstr>
      <vt:lpstr>관통 사례 — 주문과 정기배송 10. 과정의 지도</vt:lpstr>
      <vt:lpstr>열두 활동에서 남는 산출물 10. 과정의 지도</vt:lpstr>
      <vt:lpstr>11. 실습 — 추측 찾기</vt:lpstr>
      <vt:lpstr>12. 요약</vt:lpstr>
      <vt:lpstr>추측 목록과 사람이 정할 결정 (안) 별첨. 실습 답</vt:lpstr>
      <vt:lpstr>첫 릴리스의 활용 방식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사람의 일과 AI의 일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