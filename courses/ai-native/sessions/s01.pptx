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세션 전체가 하나의 시나리오(쇼핑몰 주문 시스템의 첫 시도)로 이어진다. 사건 → 원인 → 처방 → 새 일하는 방식 → 로드맵 순서다.</a:t>
            </a:r>
          </a:p>
          <a:p>
            <a:pPr lvl="0"/>
            <a:r>
              <a:rPr lang="ko-KR" sz="1200"/>
              <a:t>내용은 2026-10 기준이다. 도구·모델의 능력에 관한 서술은 과정을 열 때마다 원문으로 다시 확인한다.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사례는 "객체지향 분석과 설계 실무" 과정과 같은 주문 시스템이며 이름도 같다. 이 과정만 듣는 수강생을 위해 필요한 전제만 소개한다.</a:t>
            </a:r>
          </a:p>
          <a:p>
            <a:pPr lvl="0"/>
            <a:r>
              <a:rPr lang="ko-KR" sz="1200"/>
              <a:t>상품·결제·배송 시스템은 이미 운영 중인 외부 시스템이다. 주문 시스템은 이들과 요청·통보를 주고받는다.</a:t>
            </a:r>
          </a:p>
          <a:p>
            <a:pPr lvl="0"/>
            <a:r>
              <a:rPr lang="ko-KR" sz="1200"/>
              <a:t>업무 담당자 한 명이 주문 정책을 정하고, 개발자 세 명(테크 리드 한 명, 개발자 두 명)이 코딩 에이전트를 쓴다.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10분, 파일 15개, 테스트 3개는 교육용 가정이다. 파일 수는 code/s01/order/와 같다.</a:t>
            </a:r>
          </a:p>
          <a:p>
            <a:pPr lvl="0"/>
            <a:r>
              <a:rPr lang="ko-KR" sz="1200"/>
              <a:t>수강생에게 묻는다: 여기서 받아들여도 되는가? 무엇을 확인하면 되는가?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번째 줄은 결제 직전에 펜 판매가가 1,200원으로 오른 경우다.</a:t>
            </a:r>
          </a:p>
          <a:p>
            <a:pPr lvl="0"/>
            <a:r>
              <a:rPr lang="ko-KR" sz="1200"/>
              <a:t>에이전트가 고른 답은 다른 쇼핑몰에서는 맞을 수 있는 답이다. 그래서 코드만 봐서는 틀린 줄 모른다.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전체 코드는 code/s01/order/다. 첫 시도의 결제 코드는 LLM이 흔히 내는 추측을 모아 만든 교육용 예이며, 수강생의 LLM은 다른 곳을 추측할 수 있다.</a:t>
            </a:r>
          </a:p>
          <a:p>
            <a:pPr lvl="0"/>
            <a:r>
              <a:rPr lang="ko-KR" sz="1200"/>
              <a:t>코드가 보장하는 것: 승인되면 결제완료가 된다. 보장하지 않는 것: 주문 금액, 배송 요청의 시점, 거절 뒤 상태 — 모두 업무 규칙이 정해야 하는 것이다.</a:t>
            </a:r>
          </a:p>
          <a:p>
            <a:pPr lvl="0"/>
            <a:r>
              <a:rPr lang="ko-KR" sz="1200"/>
              <a:t>코드의 영문 이름은 설계 이름이다. 본문에서는 결제한다·주문 금액처럼 한글로 부른다.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두 테스트는 code/s01/order/test/의 AgentWrittenTest와 PayTest다. javac로 컴파일하고 각각 실행해 결과를 대조한다.</a:t>
            </a:r>
          </a:p>
          <a:p>
            <a:pPr lvl="0"/>
            <a:r>
              <a:rPr lang="ko-KR" sz="1200"/>
              <a:t>테스트가 통과했다는 것은 "코드가 기대값대로 동작한다"는 뜻이다. 기대값이 추측이면 통과도 추측을 확인했을 뿐이다. 기대값은 사람이 업무 규칙에서 정한다("세션 04. 수용 기준과 검증 가능한 작업 단위").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Frederick P. Brooks Jr., "No Silver Bullet — Essence and Accidents of Software Engineering", 1986 원문 확인. 원문은 "…testing the fidelity of the representation."으로 이어지며, PDF의 쪽 번호가 문장 중간에 있어 앞부분까지 인용했다.</a:t>
            </a:r>
          </a:p>
          <a:p>
            <a:pPr lvl="0"/>
            <a:r>
              <a:rPr lang="ko-KR" sz="1200"/>
              <a:t>본질적 복잡성을 업무 규칙에, 우연적 복잡성을 업무 규칙을 코드로 옮기는 일에 대응시킨 것은 이 과정의 해석이다. Brooks의 문장이 아니다.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Brooks(1986) 원문 확인.</a:t>
            </a:r>
          </a:p>
          <a:p>
            <a:pPr lvl="0"/>
            <a:r>
              <a:rPr lang="ko-KR" sz="1200"/>
              <a:t>"LLM은 흔히 보이는 답을 고른다"는 이 과정의 설명이다. 출처로 인용하지 않는다.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NIST, *Artificial Intelligence Risk Management Framework: Generative Artificial Intelligence Profile*(NIST AI 600-1), 2024의 Confabulation 항목 원문 확인. 같은 항목은 이것을 흔히 "환각(hallucination)"이라 부른다고 적는다.</a:t>
            </a:r>
          </a:p>
          <a:p>
            <a:pPr lvl="0"/>
            <a:r>
              <a:rPr lang="ko-KR" sz="1200"/>
              <a:t>비결정성은 이 과정의 설명이다. 수강생의 LLM으로 같은 요청을 두 번 보내 차이를 확인하게 할 수 있다.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context engineering for AI agents"(2025) 원문 확인.</a:t>
            </a:r>
          </a:p>
          <a:p>
            <a:pPr lvl="0"/>
            <a:r>
              <a:rPr lang="ko-KR" sz="1200"/>
              <a:t>무엇을 골라 줄지는 "세션 05. 도메인·설계 지식과 맥락 구성"에서 다룬다. 결제 연동 매뉴얼 200쪽을 통째로 준 장면이 그 세션의 사례다.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Eric Evans, *Domain-Driven Design Reference*(2015)의 Ubiquitous Language 원문 확인. 도메인 주도 설계(DDD)는 이 언어를 보편 언어(ubiquitous language)라 부른다.</a:t>
            </a:r>
          </a:p>
          <a:p>
            <a:pPr lvl="0"/>
            <a:r>
              <a:rPr lang="ko-KR" sz="1200"/>
              <a:t>용어집과 보편 언어를 만드는 법은 "객체지향 분석과 설계 실무" 과정이 다룬다. 이 과정은 그것을 에이전트의 맥락으로 쓴다.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시도의 코드가 고른 "거절되면 취소됨"은 이 모델에 없는 전이다. 모델이 있었다면 에이전트가 추측할 곳이 아니었다.</a:t>
            </a:r>
          </a:p>
          <a:p>
            <a:pPr lvl="0"/>
            <a:r>
              <a:rPr lang="ko-KR" sz="1200"/>
              <a:t>상태 기계의 표기는 "객체지향 분석과 설계 실무" 과정이 다룬다. 코드 값은 course-design.md의 공통 전제를 따른다.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Thomas R. Gruber, "A Translation Approach to Portable Ontology Specifications", 1993 원문 확인.</a:t>
            </a:r>
          </a:p>
          <a:p>
            <a:pPr lvl="0"/>
            <a:r>
              <a:rPr lang="ko-KR" sz="1200"/>
              <a:t>용어집 → 도메인 모델 → 온톨로지로 갈수록 명시가 강해진다. 이 과정의 사례는 용어집과 도메인 모델·상태 기계로 충분하다. 온톨로지를 주는 것만으로 같은 해석이 보장되지는 않으며 사례와 검증으로 확인한다.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3가지 구분은 원전의 분류가 아니라 이 과정의 구분이다(course-design.md의 「원전 적용 결정」).</a:t>
            </a:r>
          </a:p>
          <a:p>
            <a:pPr lvl="0"/>
            <a:r>
              <a:rPr lang="ko-KR" sz="1200"/>
              <a:t>AI 지원의 병목은 사람의 리뷰다. 형태의 선택은 "세션 02. 작업 특성에 따른 AI 활용 방식"에서 다룬다.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시도는 AI-native의 겉모양(에이전트가 과제를 실행)만 있고, 사람의 몫(업무 규칙·맥락·센서·확인)이 빠졌다.</a:t>
            </a:r>
          </a:p>
          <a:p>
            <a:pPr lvl="0"/>
            <a:r>
              <a:rPr lang="ko-KR" sz="1200"/>
              <a:t>센서와 확인 지점은 "세션 07. 워크플로·에이전트와 사람의 개입"과 "세션 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경로 원칙은 원전의 분류가 아니다(course-design.md의 「과정 전체 판단 원칙」). 상세는 "세션 03. 요구의 구체화와 명세"에서 다룬다.</a:t>
            </a:r>
          </a:p>
          <a:p>
            <a:pPr lvl="0"/>
            <a:r>
              <a:rPr lang="ko-KR" sz="1200"/>
              <a:t>같은 뼈대는 3가지 개발 방식 모두에 있다. 달라지는 것은 각 단계를 누가 하는가다.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"Building effective agents"(2024) 원문 확인. 위임 형태에 관한 이 과정의 기준 원전이다.</a:t>
            </a:r>
          </a:p>
          <a:p>
            <a:pPr lvl="0"/>
            <a:r>
              <a:rPr lang="ko-KR" sz="1200"/>
              <a:t>두 형태 중 무엇을 고를지, 언제 AI가 필요 없는지는 "세션 02. 작업 특성에 따른 AI 활용 방식"에서 다룬다.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Kent Beck, "Augmented Coding: Beyond the Vibes"(2025), Simon Willison, "Vibe engineering"(2025) 원문 확인. Willison 인용은 요약이다.</a:t>
            </a:r>
          </a:p>
          <a:p>
            <a:pPr lvl="0"/>
            <a:r>
              <a:rPr lang="ko-KR" sz="1200"/>
              <a:t>바이브 코딩은 개발 방식의 한 구분이 아니라 규율이 없는 사용이다. AI 지원과 AI-native 어디에서나 생길 수 있다.</a:t>
            </a:r>
          </a:p>
          <a:p>
            <a:pPr lvl="0"/>
            <a:r>
              <a:rPr lang="ko-KR" sz="1200"/>
              <a:t>"습관을 키운다"는 이 과정의 설명이다. 출처로 인용하지 않는다.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Ryan Lopopolo, "Harness engineering: leveraging Codex in an agent-first world", OpenAI, 2026 영문 원문 확인(openai.com이 한국어판으로 자동 전환하므로 영문판으로 확인).</a:t>
            </a:r>
          </a:p>
          <a:p>
            <a:pPr lvl="0"/>
            <a:r>
              <a:rPr lang="ko-KR" sz="1200"/>
              <a:t>한 팀(OpenAI 내부 제품)의 경험이다. 글도 비슷한 투자 없이 일반화된다고 가정하지 말라고 밝힌다.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역할 구분은 이 과정의 구분이다(course-design.md의 「과정 전체 판단 원칙」).</a:t>
            </a:r>
          </a:p>
          <a:p>
            <a:pPr lvl="0"/>
            <a:r>
              <a:rPr lang="ko-KR" sz="1200"/>
              <a:t>표의 각 행이 뒤 세션의 주제다 — 명세·수용 기준은 03·04, 맥락은 05, 위임 경계는 06, 가드레일·하네스는 08·09, 실패는 10 세션.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Birgitta Böckeler, "Harness engineering for coding agent users", martinfowler.com, 2026 원문 확인.</a:t>
            </a:r>
          </a:p>
          <a:p>
            <a:pPr lvl="0"/>
            <a:r>
              <a:rPr lang="ko-KR" sz="1200"/>
              <a:t>가이드(feedforward)·센서(feedback)의 상세는 "세션 09. 검증 하네스·결과 점검·피드백"에서 다룬다. "자율의 정도"는 이 과정의 설명이다.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표의 행 순서가 결정의 순서다. 학습 순서이지 고정된 개발 절차가 아니며, 증거가 나오면 원인이 된 결정(대개 업무 규칙이나 맥락)으로 되돌린다.</a:t>
            </a:r>
          </a:p>
          <a:p>
            <a:pPr lvl="0"/>
            <a:r>
              <a:rPr lang="ko-KR" sz="1200"/>
              <a:t>산출물을 모두 합친 것을 위임 패키지라 부른다. "세션 12. 명세·맥락·작업 지시의 종합 검토"에서 위임 패키지로 다음 기능을 맡긴다.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모델 패키지는 code/s01/subscription/docs/에 있다.</a:t>
            </a:r>
          </a:p>
          <a:p>
            <a:pPr lvl="0"/>
            <a:r>
              <a:rPr lang="ko-KR" sz="1200"/>
              <a:t>실습은 정기배송 시스템을 빈 저장소에서 개발하는 하나의 시나리오다. 강의의 첫 시도와 달리 모델 패키지를 받고 시작하지만, 모델에도 빈칸이 있다.</a:t>
            </a:r>
          </a:p>
          <a:p>
            <a:pPr lvl="0"/>
            <a:r>
              <a:rPr lang="ko-KR" sz="1200"/>
              <a:t>결과물은 실습 2(활용 방식 판단)에서 사람이 정할 결정과 맡길 수 있는 구현을 가르는 데 쓰이고, 실습 3(작업 명세서)에서 명세에 담긴다.</a:t>
            </a:r>
          </a:p>
          <a:p>
            <a:pPr lvl="0"/>
            <a:r>
              <a:rPr lang="ko-KR" sz="1200"/>
              <a:t>신청한다(실습 1~9) 다음에 배송지를 변경한다(실습 10~12)를 같은 맥락·하네스로 진행한다.</a:t>
            </a:r>
          </a:p>
          <a:p>
            <a:pPr lvl="0"/>
            <a:r>
              <a:rPr lang="ko-KR" sz="1200"/>
              <a:t>도구는 제한하지 않는다. 평가는 초안이 아니라 찾아낸 추측과 정한 결정을 본다. 모델에 없는 결정은 수강생이 업무 담당자로서 정한다.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시도의 실패는 AI의 실패가 아니라 사람의 몫(업무 규칙·검증)이 빠진 것이다. 다음 세션부터 그 몫을 하나씩 채운다.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초안의 추측은 예다. 수강생의 LLM마다 다른 곳을 추측하며, 평가는 추측을 찾아 결정으로 바꾼 것을 본다.</a:t>
            </a:r>
          </a:p>
          <a:p>
            <a:pPr lvl="0"/>
            <a:r>
              <a:rPr lang="ko-KR" sz="1200"/>
              <a:t>"거절되면 결제 대기 유지"와 회차 상태(예정·배송 요청됨·배송중·배송됨)는 course-design.md의 공통 전제와 같다.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4" Type="http://schemas.openxmlformats.org/officeDocument/2006/relationships/image" Target="../media/mermaid-4.png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5" Type="http://schemas.openxmlformats.org/officeDocument/2006/relationships/image" Target="../media/mermaid-5.png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AI 협업의 특성과 사람의 판단 책임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업무 규칙의 명시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개발자의 일과 LLM의 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결정 지도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추측 찾기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AI는 코드를 만드는 비용을 크게 줄였다. 그러나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만들지, 무엇이 옳은 결과인지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여전히 사람이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AI가 SW 공학에서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바꾼 것과 바꾸지 못한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본질적·우연적 복잡성으로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도메인 지식이며, 주어지지 않으면 LLM이 추측으로 채운다는 것을 코드와 테스트로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LLM의 성질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그럴듯한 추측, 비결정성, 맥락의 한계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규칙을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용어집·도메인 모델·온톨로지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명시하는 이유를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 이전·AI 지원·AI-native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개발을 구분하고, AI-native에서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개발자의 일과 LLM의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과정의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 지도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남은 세션이 답할 질문을 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쇼핑몰의 주문 시스템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생활용품 쇼핑몰이 주문 시스템을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빈 저장소에서 새로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만든다. 첫 기능은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주문은 결제를 포함한다.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고객이 펜 2개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(개당 1,000원)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장바구니에 담는다.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배송지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(서울)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정하면 주문이 생기고 주문 금액 2,000원이 정해진다.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카드 결제가 승인되면 결제완료가 되고 배송을 요청한다.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125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시스템과 외부 시스템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944688" y="3450336"/>
            <a:ext cx="5254625" cy="2206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요청 한 줄과 10분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담당자의 요청은 한 줄이었다. 테크 리드가 이 한 줄을 코딩 에이전트에게 주자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10분 만에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코드와 테스트가 나왔다.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"장바구니에 담은 상품을 결제하면 주문이 되고 배송이 시작되게 해 주세요."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자바 파일 15개와 테스트 3개를 만들었다. 테스트는 모두 통과했다.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데모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펜 2개를 카드로 결제하자 결제완료가 되고 배송이 요청되었다.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팀의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"다 됐다"고 보고 업무 담당자에게 리뷰를 요청했다.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리뷰에서 나온 문제 3가지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3106420"/>
                <a:gridCol w="2092960"/>
                <a:gridCol w="3106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고객과 회사가 겪는 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고른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담당자가 정한 업무 규칙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2,000원에 주문한 고객에게 2,400원을 청구한다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결제할 때의 판매가로 계산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주문할 때의 판매가로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돈을 받지 않은 주문이 배송 준비에 들어간다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승인 전에 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승인된 뒤에만 배송을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거절된 고객이 다시 결제할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거절되면 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결제대기로 남겨 다른 카드로 다시 결제한다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테스트는 모두 통과했지만, 업무 담당자의 리뷰에서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고객과 회사가 실제로 겪을 문제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3가지가 나왔다.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리뷰에서 나온 문제와 원인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공통점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3가지 모두 요청 한 줄에 없던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 에이전트는 묻지 않고 골랐다.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추측으로 채운 코드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결제 코드는 업무 규칙 3가지을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추측으로 채웠다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금액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결제할 때 판매가를 다시 조회해 계산한다.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승인을 요청하기 전에 배송을 요청한다.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거절되면 주문을 취소한다.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6395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첫 시도의 결제 시퀀스</a:t>
            </a:r>
          </a:p>
        </p:txBody>
      </p:sp>
      <p:pic>
        <p:nvPicPr>
          <p:cNvPr id="10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1024548" y="2901696"/>
            <a:ext cx="7094904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추측으로 채운 코드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960120"/>
            <a:ext cx="8412480" cy="2971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public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OrderService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필드와 생성자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pay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(OrderNumber number, PaymentMethod method)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Order order = repository.findBy(number);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Money amount = Money.ZERO;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for (OrderItem item : order.items())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// ① 결제 시점의 판매가로 다시 계산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Money salePrice = productGateway.salePriceOf(item.productNumber());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amount = amount.plus(salePrice.times(item.quantity().value()));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② 승인 전에 배송 요청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deliveryGateway.requestDelivery(number.value(), order.shippingAddress());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(paymentGateway.requestApproval(amount, method)) order.onPaid();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else order.cancel();   // ③ 거절되면 취소됨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repository.save(order);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자기 코드를 확인한 테스트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35316" y="3912172"/>
          <a:ext cx="5859780" cy="3873500"/>
        </p:xfrm>
        <a:graphic>
          <a:graphicData uri="http://schemas.openxmlformats.org/drawingml/2006/table">
            <a:tbl>
              <a:tblPr/>
              <a:tblGrid>
                <a:gridCol w="1506220"/>
                <a:gridCol w="1785620"/>
                <a:gridCol w="25679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확인하는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에이전트의 테스트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테스트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승인되면 결제완료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 × 수량 —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올라도 2,000원 —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취소된다 —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결제대기, 배송 요청 없음 —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테스트는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규칙이 아니라 자기 코드의 동작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기대값으로 삼았다. 같은 코드를 업무 규칙으로 확인하면 3곳에서 실패한다.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13722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같은 코드, 두 테스트의 결과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8671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기대값은 어디서 오는가?</a:t>
            </a:r>
          </a:p>
        </p:txBody>
      </p:sp>
      <p:pic>
        <p:nvPicPr>
          <p:cNvPr id="16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453706" y="2124456"/>
            <a:ext cx="6223000" cy="115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본질적 복잡성과 우연적 복잡성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436206"/>
          <a:ext cx="8305800" cy="3873500"/>
        </p:xfrm>
        <a:graphic>
          <a:graphicData uri="http://schemas.openxmlformats.org/drawingml/2006/table">
            <a:tbl>
              <a:tblPr/>
              <a:tblGrid>
                <a:gridCol w="3296409"/>
                <a:gridCol w="2768600"/>
                <a:gridCol w="2240791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시도에서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하는가?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본질적 복잡성 — 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금액, 배송 요청, 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개발자가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우연적 복잡성 — 업무 규칙을 코드로 옮기는 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 15개·반복문·외부 호출·테스트 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AI가 10분 만에 만들었다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85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"소프트웨어를 만드는 어려운 부분은 이 개념 구조의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명세·설계·검증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이지, 그것을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표현하는 노동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아니다"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 believe the hard part of building software to be the specification, design, and testing of this conceptual construct, not the labor of representing it"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[Brooks 1986]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13775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첫 시도에서 본 두 복잡성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28806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줄인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규칙을 코드로 옮기는 노동이다.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병목의 이동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이제 시간은 업무 규칙을 찾고, 정하고, 검증하는 데 든다.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업무 규칙은 도메인 지식이다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21575" y="2898948"/>
          <a:ext cx="728726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63398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회사마다 달라지는 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주문할 때 보여 준 가격을 고객에게 보장할지는 회사의 가격 정책이다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확인 전에 배송 준비를 시작할지는 물류 운영과 위험을 감수하는 정도의 문제다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거절된 주문을 남겨 다시 결제받을지, 바로 정리할지는 고객 경험과 재고 운영의 선택이다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"소프트웨어 시스템을 만드는 일에서 가장 어려운 부분은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정확히 무엇을 만들지 결정하는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hardest single part of building a software system is deciding precisely what to build."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[Brooks 1986]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규칙은 업무 담당자가 아는 도메인 지식이다.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코드나 공개된 자료에 있지 않고, 회사의 정책·운영 방식·고객과의 약속이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회사마다 달라지는 업무 규칙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7954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LLM은 이 지식을 모른다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주어지지 않으면 흔히 보이는 답을 고른다. 그 답은 다른 회사에서는 맞는 답이라 틀린 줄 알기 어렵다.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그럴듯한 추측과 비결정성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LLM은 엔지니어가 다뤄 온 도구와 성질이 다르다. 결정적으로 동작하는 컴파일러와 달리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추측하고, 매번 다르게 답한다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(confabulation)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자신 있게 말하지만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틀리거나 거짓인 내용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만드는 것이다"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"Confabulation: The production of confidently stated but erroneous or false content"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[NIST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그럴듯한 추측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2,400원을 청구하는 코드도 컴파일되고 테스트를 통과했다. 그럴듯할수록 틀린 줄 모른다.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비결정성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요청을 다시 주면 결제 거절을 결제대기로 처리한 코드가 나오기도 한다. 한 번 맞은 결과는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증거가 아니다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맥락의 한계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작업에 주어진 것만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보고 판단한다. 업무 담당자와 정한 업무 규칙도 맥락에 넣지 않으면 모른다.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"맥락은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양이 정해진 자원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이며, 더 넣을수록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얻는 효과가 줄어든다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"Context, therefore, must be treated as a finite resource with diminishing marginal returns."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주어진 것만 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맥락은 요청, 열어 본 파일, 이전 대화다. 작업이 끝나면 기억하지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번에 볼 수 있는 양이 정해져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 한도를 맥락 창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(context window)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이라 부른다.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많이 넣을수록 좋아지지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맥락이 길어질수록 중요한 것을 놓친다. 판단을 바꾸는 것을 골라 준다.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같은 뜻의 언어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업무 규칙의 명시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80375" y="2898948"/>
          <a:ext cx="616966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52222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상품의 지금 가격. 상품 시스템이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주문이 생길 때 판매가로 정한 주문 항목의 가격. 그 뒤로 바뀌지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항목마다 단가 × 수량의 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규칙은 그 규칙이 쓰는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말의 뜻이 고정되어야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지킬 수 있다. "가격"이라는 한 단어로 두면 에이전트는 어느 가격인지 추측한다.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"모델을 언어의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뼈대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삼고, 팀 안의 모든 소통과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그 언어를 끈질기게 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"Use the model as the backbone of a language. Commit the team to exercising that language relentlessly in all communication within the team and in the code."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[Evans 2015]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7954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용어에 담긴 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"가격"을 판매가와 단가로 나누면, "주문 금액은 주문할 때의 가격"이 용어의 정의에 담긴다.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모델로 보이는 업무 규칙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업무 규칙의 명시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규칙을 모델에 그리면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에이전트가 추측할 빈칸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사라진다. 주문 상태 기계에는 결제 거절과 배송 요청의 업무 규칙이 보인다.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결제대기에서 결제가 거절되면 결제대기에 머문다. 고객은 다른 카드로 다시 결제할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승인 전이의 행동이다. 승인되지 않으면 배송을 요청하지 않는다.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363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상태 기계</a:t>
            </a:r>
          </a:p>
        </p:txBody>
      </p:sp>
      <p:pic>
        <p:nvPicPr>
          <p:cNvPr id="10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1056298" y="3374136"/>
            <a:ext cx="7031404" cy="112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온톨로지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업무 규칙의 명시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63256" y="3249468"/>
          <a:ext cx="5803900" cy="3873500"/>
        </p:xfrm>
        <a:graphic>
          <a:graphicData uri="http://schemas.openxmlformats.org/drawingml/2006/table">
            <a:tbl>
              <a:tblPr/>
              <a:tblGrid>
                <a:gridCol w="1813560"/>
                <a:gridCol w="2316480"/>
                <a:gridCol w="16738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명시하는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주로 읽는 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용어와 정의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사람, 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모델·상태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개념·관계·상태와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사람, 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온톨로지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개념·관계·제약을 형식 언어로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사람, 추론하는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846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"온톨로지는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개념화의 명시적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 ontology is an explicit specification of a conceptualization."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[Gruber 1993]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개념화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무엇을 같은 것으로, 무엇을 다른 것으로 볼지 정한 추상이다. 판매가와 단가를 다른 개념으로 보는 것이 그 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명시적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개념·관계·제약을 형식으로 드러내, 사람과 시스템이 같은 뜻으로 해석하게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5101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규칙을 명시하는 수단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63006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적용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여러 시스템·에이전트가 같은 뜻을 주고받거나 기계가 추론해야 할 때 가치가 크다. 모든 과제의 필수는 아니다.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3가지 개발 방식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925320"/>
                <a:gridCol w="1450340"/>
                <a:gridCol w="283718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작업의 단위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무엇을 하는가?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이전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쓰는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명세·설계·코드·테스트를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쓴 테스트와 리뷰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 지원(AI-assisted)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LLM의 제안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흐름을 쥐고 제안을 받아들인다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제안마다 사람이 읽는다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AI-native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맡긴 과제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정하고 에이전트가 실행한다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센서의 증거와 사람의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3가지 방식은 도구가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작업의 단위, 누가 무엇을 하는가, 무엇으로 검증하는가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다르다.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개발 방식의 구분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사람의 일의 위치다. 코드를 쓰고 읽던 일이 업무 규칙을 정하고 명시하고 검증하는 일로 옮겨 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바뀌지 않는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무엇이 옳은 결과인지의 판단과 책임은 사람에게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AI-native는 "모두 에이전트"가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작업마다 가장 단순한 충분한 형태를 고른다.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같은 과제, 3가지 방식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주문한다를 3가지 방식으로 개발하면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손대는 곳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달라진다.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 이전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결제 코드와 테스트를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 지원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LLM이 다음 줄을 제안하고 사람이 받아들인다.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AI-native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에이전트가 코드와 테스트를 만들고, 사람은 센서의 결과로 판단한다.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3827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3가지 방식의 흐름</a:t>
            </a:r>
          </a:p>
        </p:txBody>
      </p:sp>
      <p:pic>
        <p:nvPicPr>
          <p:cNvPr id="10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1460500" y="3176016"/>
            <a:ext cx="6223000" cy="177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요구에서 코드까지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어떤 방식으로 개발하든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 → 유저 스토리 → 코드·테스트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뼈대는 같다. 그 사이에 무엇을 넣을지는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도메인·기술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실선은 뼈대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작은 작업도 유저 스토리와 수용 기준, 테스트는 빠지지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점선은 고르는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규칙이 얽히면 작업 명세서와 도메인 모델을, 외부 연동과 품질 요구가 크면 아키텍처를 넣는다. 많이 넣을수록 좋은 것이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첫 시도는 뼈대를 건너뛰었다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요청 한 줄에서 바로 코드로 갔다. 수용 기준이 없어 테스트가 자기 코드를 확인했다.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3555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불변의 뼈대와 중간 산출물</a:t>
            </a:r>
          </a:p>
        </p:txBody>
      </p:sp>
      <p:pic>
        <p:nvPicPr>
          <p:cNvPr id="10" name="mermaid Diagram 4"/>
          <p:cNvPicPr>
            <a:picLocks noChangeAspect="1"/>
          </p:cNvPicPr>
          <p:nvPr/>
        </p:nvPicPr>
        <p:blipFill>
          <a:blip r:embed="mermaidImage4"/>
          <a:stretch>
            <a:fillRect/>
          </a:stretch>
        </p:blipFill>
        <p:spPr>
          <a:xfrm>
            <a:off x="1460500" y="4273296"/>
            <a:ext cx="6223000" cy="674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워크플로와 에이전트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AI-native에서 맡기는 단위는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워크플로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(workflow)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(agent)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두 형태다.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"워크플로는 LLM과 도구가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미리 정한 코드 경로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조율되는 시스템이다"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"Workflows are systems where LLMs and tools are orchestrated through predefined code paths."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"에이전트는 LLM이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자기 과정과 도구 사용을 스스로 정하며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일을 어떻게 이룰지 통제하는 시스템이다"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"Agents, on the other hand, are systems where LLMs dynamically direct their own processes and tool usage, maintaining control over how they accomplish tasks."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차이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단계를 누가 정하는가다. 워크플로는 사람이 정한 경로를 따르고, 에이전트는 LLM이 그때그때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"명세 확인 → 구현 → 테스트"를 정해 두고 단계마다 LLM을 부르면 워크플로다. 첫 시도처럼 과제만 주고 에이전트가 파일을 찾고 고치고 테스트를 돌리게 하면 에이전트다.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바이브 코딩과 규율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시도는 데모 한 번을 보고 받아들일 뻔했다. 결과의 동작만 보고 받아들이는 방식이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바이브 코딩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(vibe coding)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"바이브 코딩에서는 코드가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시스템의 동작만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신경 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"In vibe coding you don't care about the code, just the behavior of the system."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[Beck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"증강 코딩에서는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코드와 그 복잡도, 테스트와 그 커버리지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신경 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"In augmented coding you care about the code, its complexity, the tests, &amp; their coverage."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[Beck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숙련자가 LLM으로 일을 빠르게 하면서도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자기가 만든 소프트웨어에 책임을 지는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방식을 바이브 엔지니어링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(vibe engineering)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이라 부른다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"seasoned professionals accelerate their work with LLMs while staying proudly and confidently accountable for the software they produce", [Willison 2025b]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AI는 팀의 습관을 키운다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규칙·테스트·리뷰가 있는 팀에서는 좋은 결과를, 없는 팀에서는 나쁜 결과를 더 빨리 만든다.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사람이 조종하고 에이전트가 실행한다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개발자의 일과 LLM의 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"사람이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조종하고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"Humans steer. Agents execute."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"사람은 늘 루프 안에 있지만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예전과 다른 추상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일한다. 일의 우선순위를 정하고, 사용자 피드백을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옮기고,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결과를 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"Humans always remain in the loop, but work at a different layer of abstraction than we used to. We prioritize work, translate user feedback into acceptance criteria, and validate outcomes."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우선순위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첫 릴리스에 "주문한다"를 먼저 맡기기로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 3가지을 허용·거절 예시로 옮긴다.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 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데모가 아니라 업무 규칙의 테스트로 받아들인다.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역할 나눔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개발자의 일과 LLM의 일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83146" y="2112010"/>
          <a:ext cx="756412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309880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개발자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LLM(에이전트)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업무 규칙을 질문으로 드러낸다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명세·수용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초안을 만들고, 기대값은 바꾸지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판단을 바꾸는 지식을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 안에서 찾아 읽는다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위임 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도구·권한·멈출 조건을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 안에서 실행하고, 닿으면 멈춘다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코드·테스트를 만들고 실행한다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가드레일·하네스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설계하고 유지한다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센서 결과로 고치고, 센서를 끄지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 판단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받아들이거나 되돌리고, 최종 책임을 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완료의 증거(테스트 출력)를 보인다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실패·변경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원인이 된 결정으로 되돌린다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상한 안에서 재시도하고, 반복되면 멈춘다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개발자는 업무 규칙을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정하고, 명시하고, 검증한다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LLM은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빈칸은 정하지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묻는다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AI-native에서 개발자의 일과 LLM의 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932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에이전트는 "결제가 거절되면 주문은 어떻게 되나요?"를 정하지 않고 묻는다. 정하는 것은 업무 담당자와 개발자다.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하네스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개발자의 일과 LLM의 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맡긴 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하네스의 센서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확인한다. 하네스는 개발자가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"하네스는 AI 에이전트에서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모델을 뺀 모든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 — 에이전트 = 모델 + 하네스"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"everything in an AI agent except the model itself - Agent = Model + Harness."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가이드와 센서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가이드는 실행 전에 방향을 주고, 센서는 실행 뒤에 결과를 알려 모델이 스스로 고치게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자율의 정도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확인할 수 있는 만큼 자율을 준다. 첫 시도처럼 센서가 자기 코드만 확인하면 "완료"는 주장일 뿐이다.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4901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에이전트 = 모델 + 하네스</a:t>
            </a:r>
          </a:p>
        </p:txBody>
      </p:sp>
      <p:pic>
        <p:nvPicPr>
          <p:cNvPr id="10" name="mermaid Diagram 5"/>
          <p:cNvPicPr>
            <a:picLocks noChangeAspect="1"/>
          </p:cNvPicPr>
          <p:nvPr/>
        </p:nvPicPr>
        <p:blipFill>
          <a:blip r:embed="mermaidImage5"/>
          <a:stretch>
            <a:fillRect/>
          </a:stretch>
        </p:blipFill>
        <p:spPr>
          <a:xfrm>
            <a:off x="1460500" y="3886754"/>
            <a:ext cx="6223000" cy="960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결정 지도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599166"/>
                <a:gridCol w="2684063"/>
                <a:gridCol w="3133572"/>
                <a:gridCol w="889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시도에서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세션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활용 방식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방식으로 맡길까?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일을 한 줄로 에이전트에게 맡겼다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명세·수용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만들고 무엇으로 받아들일까?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없이 테스트가 자기 코드를 확인했다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03·04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알려 줄까?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"가격"이 어느 가격인지 몰랐다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05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위임 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어디까지 맡길까?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권한과 멈출 조건을 정하지 않았다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06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개입·가드레일·하네스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어디서 막고 무엇으로 확인할까?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데모 한 번으로 받아들일 뻔했다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07~09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실패·평가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실패하면, 모델이 바뀌면 어떻게 할까?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다시 요청하면 결과가 달라졌다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10·11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시도가 무너진 곳마다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내렸어야 할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있다. 남은 세션이 그 결정을 하나씩 다룬다.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결정 지도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실습 — 추측 찾기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정기배송의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모델 패키지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LLM에 제공하여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정기배송을 신청한다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개발하게 하고, 점검 항목으로 초안이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추측한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찾아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사람이 정할 결정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으로 정리하십시오.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서비스 개요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생필품을 고객이 정한 주기로 배송하는 정기배송 시스템을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빈 저장소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에서 개발한다. 고객은 상품·수량·배송 주기·첫 배송일·기간·배송지를 정해 신청하고 일시불로 결제한다. 상품·결제·배송은 외부 시스템이 맡는다.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모델 패키지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요구사항 정의서·용어집·유스케이스·도메인 모델·상태 기계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① "이 모델 패키지로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정기배송을 신청한다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설계하고, 자바 코드와 테스트를 만들어줘."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② "모델에 없어서 네가 스스로 정한 것과 모델과 다르게 만든 것을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모두 나열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해줘."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모델에 없는 상태나 필드를 더했는가?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금액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회차 금액을 무엇으로 계산했는가? 신청 때의 가격인가?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회차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확정할 때 배송 회차를 몇 개, 어느 날짜로 만들었는가? 그 계산 규칙이 모델에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결제가 거절되면 정기배송은 어떤 상태인가?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덧붙인 규칙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모델에 없는 규칙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(할인, 최소 수량 등)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이 들어갔는가?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테스트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승인된 경우뿐 아니라 거절된 경우의 테스트가 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추측 목록과 사람이 정할 결정. 실습 2의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AI는 업무 규칙을 코드로 옮기는 일을 줄였다. 업무 규칙을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정하고, 명시하고, 검증하는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사람에게 남는다.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 협업의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바꾼 것과 바꾸지 못한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AI는 우연적 복잡성을 줄였고, 본질적 복잡성인 업무 규칙은 사람이 정한다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LLM의 성질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그럴듯한 추측, 비결정성, 맥락의 한계. 주어지지 않은 업무 규칙은 추측으로 채운다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규칙의 명시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용어집·도메인 모델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(보편 언어)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·온톨로지로 뜻을 고정한다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역할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조종하고 에이전트가 실행한다. 테스트의 기대값은 업무 규칙에서 온다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 지도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활용 방식 → 명세·수용 기준 → 맥락 → 위임 경계 → 개입·가드레일·하네스 → 실패·평가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02. 작업 특성에 따른 AI 활용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작업의 특성으로 수작업·대화형 보조·워크플로·에이전트 중 가장 단순한 충분한 형태를 고른다.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추측 목록과 사람이 정할 결정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250" dirty="0" err="1"/>
              <a:t>별첨: 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616364"/>
            <a:ext cx="4338828" cy="4696101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초안이 추측한 것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정기배송 상태에 "신청 실패", 회차 상태에 "취소됨"을 더했다.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금액을 배송할 때마다 상품 시스템의 현재 가격으로 계산했다.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회차를 만료일 다음 날까지 만들었다.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결제가 거절되면 정기배송을 삭제했다.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덧붙인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기간이 6개월 이상이면 5% 할인했다.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테스트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승인된 경우만 테스트했다.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656244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LLM 초안은 신청한다를 만들면서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모델에 없는 상태와 규칙을 더하고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, 결제 거절과 회차 생성을 스스로 정했다. 추측마다 사람이 정할 결정을 적었다.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616364"/>
            <a:ext cx="4439412" cy="4696101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사람이 정할 결정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모델의 상태만 쓴다. 신청은 결제 대기 → 확정, 회차는 예정으로 시작한다.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금액은 신청 때의 가격 × 수량이며 기간 끝까지 같다.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배송일부터 배송 주기마다, 만료일까지의 날짜로 예정 회차를 만든다.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결제가 거절되면 결제 대기를 유지한다.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덧붙인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모델에 없는 규칙은 넣지 않는다. 필요하면 업무 담당자에게 묻는다.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테스트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승인·거절 두 경로와 회차의 날짜를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27</Slides>
  <Notes>25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1" baseType="lpstr">
      <vt:lpstr>맑은 고딕</vt:lpstr>
      <vt:lpstr>Arial</vt:lpstr>
      <vt:lpstr>Wingdings</vt:lpstr>
      <vt:lpstr>4_Office 테마</vt:lpstr>
      <vt:lpstr>01. AI 협업의 특성과 사람의 판단 책임 목차</vt:lpstr>
      <vt:lpstr>01. 세션 목표</vt:lpstr>
      <vt:lpstr>쇼핑몰의 주문 시스템 02. 첫 시도</vt:lpstr>
      <vt:lpstr>요청 한 줄과 10분 02. 첫 시도</vt:lpstr>
      <vt:lpstr>리뷰에서 나온 문제 3가지 02. 첫 시도</vt:lpstr>
      <vt:lpstr>추측으로 채운 코드 (1/2) 02. 첫 시도</vt:lpstr>
      <vt:lpstr>추측으로 채운 코드 (2/2) 02. 첫 시도</vt:lpstr>
      <vt:lpstr>자기 코드를 확인한 테스트 02. 첫 시도</vt:lpstr>
      <vt:lpstr>본질적 복잡성과 우연적 복잡성 03. AI가 바꾼 것과 바꾸지 못한 것</vt:lpstr>
      <vt:lpstr>업무 규칙은 도메인 지식이다 03. AI가 바꾼 것과 바꾸지 못한 것</vt:lpstr>
      <vt:lpstr>그럴듯한 추측과 비결정성 03. AI가 바꾼 것과 바꾸지 못한 것</vt:lpstr>
      <vt:lpstr>맥락의 한계 03. AI가 바꾼 것과 바꾸지 못한 것</vt:lpstr>
      <vt:lpstr>같은 뜻의 언어 04. 업무 규칙의 명시</vt:lpstr>
      <vt:lpstr>모델로 보이는 업무 규칙 04. 업무 규칙의 명시</vt:lpstr>
      <vt:lpstr>온톨로지 04. 업무 규칙의 명시</vt:lpstr>
      <vt:lpstr>3가지 개발 방식 05. 개발 방식의 변화</vt:lpstr>
      <vt:lpstr>같은 과제, 3가지 방식 05. 개발 방식의 변화</vt:lpstr>
      <vt:lpstr>요구에서 코드까지 05. 개발 방식의 변화</vt:lpstr>
      <vt:lpstr>워크플로와 에이전트 05. 개발 방식의 변화</vt:lpstr>
      <vt:lpstr>바이브 코딩과 규율 05. 개발 방식의 변화</vt:lpstr>
      <vt:lpstr>사람이 조종하고 에이전트가 실행한다 06. 개발자의 일과 LLM의 일</vt:lpstr>
      <vt:lpstr>역할 나눔 06. 개발자의 일과 LLM의 일</vt:lpstr>
      <vt:lpstr>하네스 06. 개발자의 일과 LLM의 일</vt:lpstr>
      <vt:lpstr>07. 결정 지도</vt:lpstr>
      <vt:lpstr>08. 실습 — 추측 찾기</vt:lpstr>
      <vt:lpstr>09. 요약</vt:lpstr>
      <vt:lpstr>추측 목록과 사람이 정할 결정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01. AI 협업의 특성과 사람의 판단 책임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