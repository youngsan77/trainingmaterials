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01. 사람의 일과 AI의 일"의 첫 시도는 요청 한 줄에서 바로 코드로 갔다. 이 세션은 그 사이에 빠져 있던 요구와 요구사항을 채운다.</a:t>
            </a:r>
          </a:p>
          <a:p>
            <a:pPr lvl="0"/>
            <a:r>
              <a:rPr lang="ko-KR" sz="1200"/>
              <a:t>수용 기준을 테스트로 바꾸고 작업 명세서를 쓰는 일은 "세션 05. 작업 명세와 수용 기준"이 맡는다.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틀은 "객체지향 분석과 설계 실무" 과정의 요구 분석 세션과 같다. 인용 근거: Craig Larman, *Applying UML and Patterns*, 3rd ed., 2004 원문 확인.</a:t>
            </a:r>
          </a:p>
          <a:p>
            <a:pPr lvl="0"/>
            <a:r>
              <a:rPr lang="ko-KR" sz="1200"/>
              <a:t>문제/기회 행은 교육용 가정이다. 실제 문제는 요청자에게 확인한다.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시나리오에서 이 답은 업무 담당자와의 30분 회의에서 정했다. "세션 01. 사람의 일과 AI의 일"의 「02. 첫 시도」는 이 질문을 묻지 않고 에이전트가 답을 골랐다.</a:t>
            </a:r>
          </a:p>
          <a:p>
            <a:pPr lvl="0"/>
            <a:r>
              <a:rPr lang="ko-KR" sz="1200"/>
              <a:t>질문은 사건에서 나온다. 사건을 먼저 적고 그 결과가 언제 옳은지를 묻는 순서다.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산출물의 이름과 범위·수명은 guides/sw-engineering-principles.md 7절을 따른다.</a:t>
            </a:r>
          </a:p>
          <a:p>
            <a:pPr lvl="0"/>
            <a:r>
              <a:rPr lang="ko-KR" sz="1200"/>
              <a:t>이 세 층이 이 세션의 순서다. 형식은 「03. 요구를 담는 형식」과 「04. 유저 스토리」가, 문서는 「05. 요구사항 정의서와 작업 명세서」가 펼친다.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"객체지향 분석과 설계 실무" 과정의 이벤트 중심 기법을 재사용했다. 인용 근거: Eric Evans, *Domain-Driven Design Reference*(2015)의 Domain Events 원문 확인.</a:t>
            </a:r>
          </a:p>
          <a:p>
            <a:pPr lvl="0"/>
            <a:r>
              <a:rPr lang="ko-KR" sz="1200"/>
              <a:t>상태 기계는 "세션 03. 도메인 모델"에서 만든다. 유스케이스의 표기와 작성법은 OOAD 과정이 맡는다.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Ron Jeffries, "Essential XP: Card, Conversation, Confirmation"(2001) 원문 확인. 세 요소의 설명은 원문의 각 절을 요약했다.</a:t>
            </a:r>
          </a:p>
          <a:p>
            <a:pPr lvl="0"/>
            <a:r>
              <a:rPr lang="ko-KR" sz="1200"/>
              <a:t>카드만 주고 맡기면 첫 시도와 같아진다. 대화에서 나온 업무 규칙과 확인의 기준이 함께 가야 한다.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Dan North, "Introducing BDD"(2006) 원문 확인. 원문은 가치가 없는 스토리가 "so that I just do, ok?"처럼 끝난다고 적는다.</a:t>
            </a:r>
          </a:p>
          <a:p>
            <a:pPr lvl="0"/>
            <a:r>
              <a:rPr lang="ko-KR" sz="1200"/>
              <a:t>문형은 필수 양식이 아니다. 누가·무엇을·왜가 드러나면 된다.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사례 값은 공통 전제의 주문 예다 — 펜 2개, 판매가 1,000원, 주문 금액 2,000원.</a:t>
            </a:r>
          </a:p>
          <a:p>
            <a:pPr lvl="0"/>
            <a:r>
              <a:rPr lang="ko-KR" sz="1200"/>
              <a:t>예를 Given-When-Then으로 쓰고 수용 테스트 코드로 바꾸는 일은 "세션 05. 작업 명세와 수용 기준"이 다룬다. 여기서는 기준이 스토리에 붙는다는 것까지다.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Bill Wake, "INVEST in Good Stories, and SMART Tasks"(2003) 원문 확인. 표의 "뜻"은 원문의 각 절을 요약했고, "AI에게 맡길 때"는 적용이다.</a:t>
            </a:r>
          </a:p>
          <a:p>
            <a:pPr lvl="0"/>
            <a:r>
              <a:rPr lang="ko-KR" sz="1200"/>
              <a:t>원문은 테스트 가능을 이렇게 설명한다: 스토리 카드를 쓰는 것은 "테스트를 쓸 수 있을 만큼 원하는 것을 안다"는 약속이다.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개발자가 한 번에 한 층만 "제대로" 만들고 싶어 하지만, 화면이 없는 데이터베이스 층은 고객에게 가치가 적다고 적는다.</a:t>
            </a:r>
          </a:p>
          <a:p>
            <a:pPr lvl="0"/>
            <a:r>
              <a:rPr lang="ko-KR" sz="1200"/>
              <a:t>강의 시연의 세 스토리는 나누는 기준을 보이기 위한 예다. 실습은 정기배송 최초 신청 하나를 사용자 이야기 하나로 다룬다.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실습에서는 정기배송 전체가 아니라 최초 신청을 하나의 사용자 이야기로 다룬다. 실습 1의 요청은 개발 의도이며, 이번 실습에서 사용자와 가치가 드러나는 이야기로 표현한다.</a:t>
            </a:r>
          </a:p>
          <a:p>
            <a:pPr lvl="0"/>
            <a:r>
              <a:rPr lang="ko-KR" sz="1200"/>
              <a:t>정의서는 사용자 이야기와 경쟁하는 별도 형식이 아니다. 문서 안에 이야기 하나와 그 조건을 담는다. 더 큰 제품에서는 여러 이야기가 하나의 정의서에 담길 수 있다.</a:t>
            </a:r>
          </a:p>
          <a:p>
            <a:pPr lvl="0"/>
            <a:r>
              <a:rPr lang="ko-KR" sz="1200"/>
              <a:t>이야기가 너무 커지면 고객 가치가 유지되는 단위로 나눌 수 있다. 여기서는 먼저 최초 신청을 끝까지 이해하고, 이야기의 수를 늘리는 것이 목적이 아님을 설명한다.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두 축의 정리는 원전의 분류가 아니다(guides/sw-engineering-principles.md 7절).</a:t>
            </a:r>
          </a:p>
          <a:p>
            <a:pPr lvl="0"/>
            <a:r>
              <a:rPr lang="ko-KR" sz="1200"/>
              <a:t>넣는 기준은 하나다 — 그 산출물이 에이전트의 결과나 사람의 확인을 바꾸는가? 바꾸지 않으면 넣지 않는다.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Birgitta Böckeler, "Understanding Spec-Driven-Development"(2025) 원문 확인. 원문은 일반 맥락 문서를 도구들의 이름을 따라 "메모리 뱅크"라 부른다(Kiro는 steering, spec-kit은 constitution).</a:t>
            </a:r>
          </a:p>
          <a:p>
            <a:pPr lvl="0"/>
            <a:r>
              <a:rPr lang="ko-KR" sz="1200"/>
              <a:t>작업 명세서를 쓰는 일은 "세션 05. 작업 명세와 수용 기준", 맥락으로 주는 일은 "세션 06. 맥락 구성"이 맡는다.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품질 속성은 어떤 품질을 보는지의 관점이며, 품질 요구사항은 이번 기능에서 그 속성을 충족할 조건을 구체적으로 적은 것이다. 표는 전체 품질 분류 체계가 아니라 이 사례에서 고른 예다.</a:t>
            </a:r>
          </a:p>
          <a:p>
            <a:pPr lvl="0"/>
            <a:r>
              <a:rPr lang="ko-KR" sz="1200"/>
              <a:t>기능과 품질은 배타적인 칸이 아니다. 중복 청구 방지는 고객이 보는 동작과 장애 상황의 신뢰성을 함께 제한한다. 같은 규칙을 다른 문장으로 중복 관리하지 않는다.</a:t>
            </a:r>
          </a:p>
          <a:p>
            <a:pPr lvl="0"/>
            <a:r>
              <a:rPr lang="ko-KR" sz="1200"/>
              <a:t>보안과 접근권한을 요구사항에서 제외하지 않는다. 화면 배치·암호화 수단·통신 규격을 미리 선택하지 않는다는 뜻이다.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동시 100건·외부 응답 1초·95% 3초는 설명을 위한 교육용 가정이며 표준이나 실제 시스템의 운영 보장 수치가 아니다. 성능 기준에는 시작·종료 시점도 필요하다. 이 예는 고객의 주문 요청부터 결과 수신까지를 뜻한다.</a:t>
            </a:r>
          </a:p>
          <a:p>
            <a:pPr lvl="0"/>
            <a:r>
              <a:rPr lang="ko-KR" sz="1200"/>
              <a:t>실제 시험의 표본·측정 방식은 합의된 시험 정책을 따른다. 이 세션에서 성능 시험 도구나 부하 설계까지 만들지 않는다.</a:t>
            </a:r>
          </a:p>
          <a:p>
            <a:pPr lvl="0"/>
            <a:r>
              <a:rPr lang="ko-KR" sz="1200"/>
              <a:t>품질 요구사항은 실습 1에 소급해 모든 결정을 요구하는 것이 아니라 실습 2의 대화에서 발견하고 확정하는 내용이다. 뒤 설계는 이 조건을 실현할 책임과 협력을 정한다.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Böckeler(2025) 원문 확인. 명세에 관한 이 과정의 기준 원전이며 한글은 요약이다.</a:t>
            </a:r>
          </a:p>
          <a:p>
            <a:pPr lvl="0"/>
            <a:r>
              <a:rPr lang="ko-KR" sz="1200"/>
              <a:t>원문은 SDD의 정의가 아직 움직인다고 적고, 명세를 고쳐 가며 유지하는 쪽과 명세를 주된 산출물로 두는 쪽을 함께 소개한다.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Böckeler(2025) 원문 확인. 원문은 찾아본 SDD 접근이 모두 명세 먼저였고, 모두가 명세 고정이나 명세가 원천을 지향하지는 않는다고 적는다.</a:t>
            </a:r>
          </a:p>
          <a:p>
            <a:pPr lvl="0"/>
            <a:r>
              <a:rPr lang="ko-KR" sz="1200"/>
              <a:t>명세 고정은 작업 명세서를 요구사항 정의서처럼 유지하는 것이다. 그러면 유지할 곳이 두 군데가 된다.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시연 기록은 code/s02/demo-results/다. 2026-10-18에 Claude Code 2.1.302(비대화형, 도구 없음, 모델 claude-opus-5-5)로 실행했고 46초·출력 4,668토큰이다.</a:t>
            </a:r>
          </a:p>
          <a:p>
            <a:pPr lvl="0"/>
            <a:r>
              <a:rPr lang="ko-KR" sz="1200"/>
              <a:t>초안 전문은 draft.md다. 슬라이드는 용어 8개 중 셋, 질문 15가지 중 아홉을 발췌했다.</a:t>
            </a:r>
          </a:p>
          <a:p>
            <a:pPr lvl="0"/>
            <a:r>
              <a:rPr lang="ko-KR" sz="1200"/>
              <a:t>같은 시연을 다시 하면 결과는 달라진다(비결정성). 강의장에서는 수강생의 도구로 다시 실행한다.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상태 이름과 전이는 "세션 03. 도메인 모델"에서 확정한다. 미정으로 남긴 배송 요청 실패는 "세션 05. 작업 명세와 수용 기준"에서 다시 묻는다.</a:t>
            </a:r>
          </a:p>
          <a:p>
            <a:pPr lvl="0"/>
            <a:r>
              <a:rPr lang="ko-KR" sz="1200"/>
              <a:t>수강생에게 묻는다: 질문 15가지에 모두 답해야 시작할 수 있는가? 답하지 않아도 되는 질문은 무엇으로 가리는가?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인용은 Böckeler가 Kiro로 작은 버그를 고치려 했을 때 요구 문서에 생긴 스토리 가운데 하나다. 한글은 요약이다.</a:t>
            </a:r>
          </a:p>
          <a:p>
            <a:pPr lvl="0"/>
            <a:r>
              <a:rPr lang="ko-KR" sz="1200"/>
              <a:t>마지막 행은 "세션 01. 사람의 일과 AI의 일"의 첫 시도가 고른 잘못된 계산을 지시로 바꾼 것이다. 틀린 해결책을 명세에 쓰면 그대로 코드가 된다.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Codex·ChatGPT·Claude Team 등에서 renderer 없이 수행한다. ②~④에는 실제 받은 질문의 답과 검토 의견을 붙인다. 기본 문구만 기계적으로 반복하지 않는다.</a:t>
            </a:r>
          </a:p>
          <a:p>
            <a:pPr lvl="0"/>
            <a:r>
              <a:rPr lang="ko-KR" sz="1200"/>
              <a:t>⑤ 이후에도 MD의 누락·불일치·폐기한 안의 재등장을 검토하고 보완·재생성을 반복한다. 다음 작업이 가능하면 탐색을 끝낸다. 제출 여부와 무관하게 최종 MD를 저장해 다음 실습에 명시적으로 첨부한다.</a:t>
            </a:r>
          </a:p>
          <a:p>
            <a:pPr lvl="0"/>
            <a:r>
              <a:rPr lang="ko-KR" sz="1200"/>
              <a:t>최종 MD가 실습 원본이고 교재 슬라이드는 별도 제작물이다. 환경별 파일 생성·다운로드와 도식 표시를 사전에 확인한다. 도식 코드만 보이는 경우를 시각 검토 완료로 보지 않는다.</a:t>
            </a:r>
          </a:p>
          <a:p>
            <a:pPr lvl="0"/>
            <a:r>
              <a:rPr lang="ko-KR" sz="1200"/>
              <a:t>실습 1은 요청과 업무 조건 메모를 만들었다. 실습 2는 이를 고객의 가치를 나타내는 사용자 이야기 하나로 표현하고 요구사항 정의서로 구체화한다. 사용자 이야기는 문서 안에 담는 형식이다.</a:t>
            </a:r>
          </a:p>
          <a:p>
            <a:pPr lvl="0"/>
            <a:r>
              <a:rPr lang="ko-KR" sz="1200"/>
              <a:t>첫 입력에 실습 1의 업무 조건 메모를 함께 붙인다. 실제 예시는 code/s02/exercise-conversation/input-s01.md를 그대로 사용했다.</a:t>
            </a:r>
          </a:p>
          <a:p>
            <a:pPr lvl="0"/>
            <a:r>
              <a:rPr lang="ko-KR" sz="1200"/>
              <a:t>②~④의 문구만 입력하지 않는다. 수강생이 앞선 질문의 답을 함께 쓰고 필요한 추가 질문·수정 요청을 덧붙인다. 예: [앞선 질문에 대한 답] ... / [추가 질문·수정 요청] ...</a:t>
            </a:r>
          </a:p>
          <a:p>
            <a:pPr lvl="0"/>
            <a:r>
              <a:rPr lang="ko-KR" sz="1200"/>
              <a:t>기본 답변은 실습용 업무·품질 조건 자료를 참고하고 자신의 판단으로 보완한다. 판단하기 어려운 것은 임의 확정하지 않고 재질문한다. 모든 경우를 답하는 것이 아니라 최초 신청에 필요한 조건만 정한다.</a:t>
            </a:r>
          </a:p>
          <a:p>
            <a:pPr lvl="0"/>
            <a:r>
              <a:rPr lang="ko-KR" sz="1200"/>
              <a:t>실제 입력·응답 전체는 code/s02/exercise-conversation/conversation.md, 기본 조건은 exercise-conditions.md에 보존한다. ②는 실제 첫 질문에 답했고 ③은 기능 검토 후 품질 기준을 질문했고 ④는 실제 품질 질문에 답했다.</a:t>
            </a:r>
          </a:p>
          <a:p>
            <a:pPr lvl="0"/>
            <a:r>
              <a:rPr lang="ko-KR" sz="1200"/>
              <a:t>성능 시험의 동시 100건·95% 3초·외부 응답 1초는 실습용 가정이다. 실제 운영에서 합의한 목표처럼 설명하지 않는다. 품질 속성 전체를 나열하거나 새로운 운영 시스템을 설계하지 않는다.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실습의 요청은 하나의 사용자 이야기와 기능·품질 요구사항으로 구체화됐다. 다음 세션은 이 정의서의 용어·개념·상태를 모델로 명시한다.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code/s02/exercise-conversation/codex-response-05.md의 실제 최종 MD 전체를 사용했다. 발췌·요약·문장 수정·강조 추가 없이 제목 단계와 목록 들여쓰기만 대응했다. 도식 원본은 그대로 보존한다.</a:t>
            </a:r>
          </a:p>
          <a:p>
            <a:pPr lvl="0"/>
            <a:r>
              <a:rPr lang="ko-KR" sz="1200"/>
              <a:t>①~⑤는 단계이며 실제 대화의 횟수는 예시다. 이전 실제 대화의 합의 내용을 이어 새 ⑤를 실행했다. 실제 입력·응답은 conversation.md, 학습자용 기본 문구는 templates.json에 보존한다. 마지막 파일을 검토한 뒤 보완·재생성할 수 있다.</a:t>
            </a:r>
          </a:p>
          <a:p>
            <a:pPr lvl="0"/>
            <a:r>
              <a:rPr lang="ko-KR" sz="1200"/>
              <a:t>다음 실습에는 최종 MD를 명시적으로 첨부한다. 교재의 슬라이드 배치와 업무 산출물의 구성은 별개다.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요구와 유저 스토리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문제에서 요구사항으로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요구를 담는 형식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유저 스토리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요구사항 정의서와 작업 명세서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품질 요구사항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명세 주도 개발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시연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LLM이 쓴 요구 초안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요구사항 정의서와 유저 스토리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유저 스토리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LLM은 초안을 쓰고 모르는 것을 질문으로 남긴다.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요청에 섞인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문제·요구·요구사항·해결책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가른다.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요구를 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형식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구분하고, 유저 스토리를 작업 단위로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유저 스토리를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카드·대화·확인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쓰고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붙인다.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정의서와 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범위와 수명으로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품질 속성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이번 기능에서 확인할 조건과 합격 기준으로 구체화한다.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주도 개발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무엇을 정하는지 말하고, 명세를 얼마나 남길지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LLM이 쓴 초안에서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확정할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되물을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가른다.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문제·요구·요구사항·해결책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문제에서 요구사항으로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유저 스토리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52995" y="2624628"/>
          <a:ext cx="742442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595880"/>
                <a:gridCol w="3881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핵심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주문의 요청에서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문제/기회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부족한가?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솔루션으로는 주문 정책을 바꿀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원하는가?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결제하면 주문이 되고 배송이 시작되어야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시스템이 무엇을 충족해야 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금액·배송 요청·결제 거절의 업무 규칙과 그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해결책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어떻게 충족하는가?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클래스, 저장 방식, 외부 호출 방식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담당자의 요청 한 줄에는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문제와 요구와 요구사항과 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섞여 있다. 이 가운데 해결책은 요구사항이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요구사항은 시스템이 따라야 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능력과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"Requirements are capabilities and conditions to which the system … must conform"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2617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요청에 섞인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93228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요청 원문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"장바구니에 담은 상품을 결제하면 주문이 되고 배송이 시작되게 해 주세요."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주체가 바뀐다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요구는 사람이 원하는 것이고, 요구사항은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시스템이 충족할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 요구 하나가 요구사항 여럿을 낳는다.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업무 규칙 찾기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문제에서 요구사항으로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유저 스토리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94346" y="3268222"/>
          <a:ext cx="6141720" cy="3873500"/>
        </p:xfrm>
        <a:graphic>
          <a:graphicData uri="http://schemas.openxmlformats.org/drawingml/2006/table">
            <a:tbl>
              <a:tblPr/>
              <a:tblGrid>
                <a:gridCol w="2819400"/>
                <a:gridCol w="33223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담당자의 답(업무 규칙)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금액은 어느 시점의 가격인가?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생길 때의 판매가로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배송은 언제 요청하나?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승인된 뒤에만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거절되면 주문은 어떻게 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결제대기로 남고, 다른 카드로 다시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옳은 결과인가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대한 답이 업무 규칙이다. 요청 문장에는 그 답이 없으므로 업무 담당자에게 물어서 확인한다.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69772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질문과 업무 규칙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8671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규칙을 찾는 흐름</a:t>
            </a:r>
          </a:p>
        </p:txBody>
      </p:sp>
      <p:pic>
        <p:nvPicPr>
          <p:cNvPr id="16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743299" y="2124456"/>
            <a:ext cx="7643813" cy="506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내용·형식·문서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문제에서 요구사항으로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유저 스토리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83146" y="2386330"/>
          <a:ext cx="7564120" cy="3873500"/>
        </p:xfrm>
        <a:graphic>
          <a:graphicData uri="http://schemas.openxmlformats.org/drawingml/2006/table">
            <a:tbl>
              <a:tblPr/>
              <a:tblGrid>
                <a:gridCol w="1897380"/>
                <a:gridCol w="2232660"/>
                <a:gridCol w="3434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층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무엇인가?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내용 — 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이해관계자가 원하는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결제하면 주문이 되고 배송이 시작된다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내용 — 요구사항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시스템이 충족할 능력과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3가지와 그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형식 — 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요구를 담는 작은 가치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 · 결제한다 · 거절 뒤 다시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 — 요구사항 정의서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전체의 요구사항 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스토리·업무 규칙·용어집을 한 벌로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 — 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하나의 작업용 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"주문한다"를 맡길 때 쓰고 끝낸다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요구와 요구사항은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내용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유저 스토리는 그것을 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형식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요구사항 정의서는 담아서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유지하는 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셋을 같은 층에 놓으면 무엇을 고르는 문제인지 흐려진다.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세 층과 주문 사례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4293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경쟁하지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"스토리만 쓰고 문서는 쓰지 않는다"는 형식의 선택이 아니라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얼마나 남기는가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의 선택이다.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가리키고 베끼지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명세서는 정의서의 업무 규칙과 용어를 다시 쓰지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요구를 담는 형식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유저 스토리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87566" y="2624628"/>
          <a:ext cx="795528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3517900"/>
                <a:gridCol w="2987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형식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보는 이벤트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AI-native에서의 쓰임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이벤트–반응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외부에서 일어나 시스템이 반응해야 하는 자극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규칙을 찾기 시작하는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액터가 목표를 위해 시스템과 주고받는 상호작용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 전체의 흐름을 알려 주는 입력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사용자가 원하는 작은 가치의 행위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AI가 처리하는 작업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이벤트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전문가가 관심을 두는, 이미 일어난 사건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상태가 바뀌는 사건 — 상태 기계의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요구를 담는 형식은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이벤트에서 출발한다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형식마다 보는 관점과 다루는 작업의 크기가 다를 뿐이다.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도메인 이벤트는 도메인 전문가가 관심을 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무언가가 일어난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"Something happened that domain experts care about."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[Evans 2015]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2617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형식별로 보는 이벤트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93228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뼈대는 유저 스토리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이벤트–반응 목록과 유스케이스는 정의와 쓰임만 알아 두고, 맡기는 단위는 유저 스토리로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분기는 형식이 아니라 모델이 맡는다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거절·중복·금지된 전이는 대안 흐름으로 늘리지 않고 상태 기계와 업무 규칙 목록으로 적는다.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카드·대화·확인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유저 스토리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유저 스토리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스토리는 AI에게 맡기는 작업의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된다. 한 번에 만들고 한 번에 확인할 수 있는 크기이기 때문이다.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유저 스토리에는 결정적인 세 가지 면이 있고 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카드·대화·확인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이라 부를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"User stories have three critical aspects. We can call these Card, Conversation, and Confirmation."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[Jeffries 2001]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카드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스토리를 짧게 적어 둔 것. 요구사항 전체가 아니라 대화를 시작하는 메모다.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대화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세부는 고객과 개발자가 대화로 채운다. 업무 규칙이 여기서 나온다.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스토리가 끝났는지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으로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AI-native에서의 대화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규칙은 업무 담당자와의 대화에서 정하고, LLM과의 대화에서는 빠진 질문을 찾는다.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스토리의 문형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유저 스토리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유저 스토리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6604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As a [누가]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I want [무엇을]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so that [왜]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유저 스토리는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무엇을 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원하는지를 한 문장으로 쓴다. 그중 "왜"가 그 스토리로 얻는 가치를 드러낸다.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31998"/>
            <a:ext cx="8412480" cy="263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문형의 강점은 스토리를 처음 정의할 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스토리를 전달하는 가치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밝히게 한다는 것이다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"Its strength is that it forces you to identify the value of delivering a story when you first define it."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[North 2006]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고객으로서 장바구니에 담은 상품을 결제해 주문하고 싶다. 상품을 배송받기 위해서다.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정기배송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고객으로서 생필품을 정한 주기로 받도록 신청하고 결제하고 싶다. 매번 주문하지 않기 위해서다.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"왜"가 없으면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가치를 말하지 못하는 스토리는 범위에서 뺄 후보다.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스토리와 수용 기준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유저 스토리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유저 스토리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US-2. 주문 결제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고객으로서, 결제대기인 주문을 결제하고 싶다. 그래야 배송이 시작된다.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수용 기준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1. 펜 2개를 2,000원에 주문한 뒤 판매가가 1,200원이 되어도, 결제는 2,000원을 요청한다.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2. 결제가 승인되면 배송 요청이 배송 시스템에 한 번 간다.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3. 결제가 승인되지 않은 주문에는 배송 요청이 가지 않는다.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기준이 붙어야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확인할 수 있는 명세가 된다. 수용 기준은 업무 규칙을 대표하는 예로 쓴다.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92398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대표 예로 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 하나에 예 하나가 붙어, 지켰는지를 값으로 확인할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확정한다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기대값 2,000원은 업무 담당자의 답에서 오며 LLM이 고르지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스토리와 함께 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기준은 요구사항 정의서에 스토리와 붙여 두고, 작업을 맡길 때 그대로 쓴다.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좋은 유저 스토리 — INVEST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유저 스토리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유저 스토리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898948"/>
          <a:ext cx="8305800" cy="3873500"/>
        </p:xfrm>
        <a:graphic>
          <a:graphicData uri="http://schemas.openxmlformats.org/drawingml/2006/table">
            <a:tbl>
              <a:tblPr/>
              <a:tblGrid>
                <a:gridCol w="1953260"/>
                <a:gridCol w="3393440"/>
                <a:gridCol w="2959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뜻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AI에게 맡길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독립적(Independent)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다른 스토리와 겹치지 않고 순서를 바꿀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작업을 따로 맡기고 따로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협상 가능(Negotiable)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세부는 대화로 함께 채운다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규칙은 사람이 정하고 명세에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가치(Valuable)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고객에게 가치가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작업이 아니라 고객의 결과로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추정 가능(Estimable)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우선순위를 정할 만큼 크기를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모르는 것이 많으면 먼저 질문을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작음(Small)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길어야 몇 주, 짧게는 며칠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 맡겨 끝까지 확인할 크기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가능(Testable)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테스트를 쓸 수 있을 만큼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에이전트의 완료를 테스트로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유저 스토리의 조건을 모은 것이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INVEST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AI에게 맡길 때는 그중에서도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작고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(S)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 확인할 수 있어야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스토리는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독립적·협상 가능·가치·추정 가능·작음·테스트 가능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6가지 조건을 갖춘다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"good stories are: I – Independent N – Negotiable V – Valuable E – Estimable S – Small T – Testable"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[Wake 2003]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INVEST와 AI에게 맡기는 작업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스토리 나누기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유저 스토리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유저 스토리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898948"/>
          <a:ext cx="8305800" cy="3873500"/>
        </p:xfrm>
        <a:graphic>
          <a:graphicData uri="http://schemas.openxmlformats.org/drawingml/2006/table">
            <a:tbl>
              <a:tblPr/>
              <a:tblGrid>
                <a:gridCol w="1673860"/>
                <a:gridCol w="3672840"/>
                <a:gridCol w="2959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나누는 방법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조각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층으로(가로)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테이블, 결제 연동 모듈, 주문 화면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조각만으로는 고객이 주문할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규칙으로(세로)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승인되면 배송을 요청한다 · 거절되면 다시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없다 — 조각마다 고객이 결과를 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스토리는 화면·서버·DB 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층으로 나누지 않고 기능을 세로로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자른다. 한 조각만 만들어도 고객에게 가치가 있어야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고객에게 케이크 전체의 본질을 주는 가장 좋은 방법은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층을 세로로 자르는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want to give the customer the essence of the whole cake, and the best way is to slice vertically through the layers."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[Wake 2003]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"주문한다"를 나누는 두 방법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91548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나누는 기준은 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금액 규칙은 결제 스토리와 함께 만들고, 결제 거절 규칙은 따로 만든다. 조각마다 따로 맡기고 따로 확인한다.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사용자 이야기를 정의서에 담는다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요구사항 정의서와 작업 명세서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유저 스토리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38465" y="2386330"/>
          <a:ext cx="625348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4886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사례에서 담는 내용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상품을 결제하고 배송받게 해 주세요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사용자 이야기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고객으로서 원하는 상품을 받기 위해 장바구니 상품을 주문하고 싶다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이야기와 금액·승인·거절 규칙, 필요한 품질과 수용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사용자 이야기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고객의 가치와 원하는 행위를 표현한다.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그 이야기를 실현하기 위한 기능·업무 규칙·품질·수용 기준을 담아 유지한다.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요청에서 요구사항 정의서로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693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하나의 고객 가치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정보 입력·계산·결제를 화면이나 처리 단계라는 이유만으로 별도 이야기로 나누지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이야기만으로 부족하다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문장이 정하지 않은 성공·실패 결과와 업무 조건은 대화로 확인해 정의서에 반영한다.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설계는 다음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무엇을 충족할지는 정의서에, 어떤 구조와 기술로 실현할지는 설계에 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요구에서 코드까지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요구사항 정의서와 작업 명세서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유저 스토리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00746" y="4257238"/>
          <a:ext cx="532892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2288540"/>
                <a:gridCol w="14503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복잡성 낮음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복잡성 높음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복잡성 낮음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스토리와 예 →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+ 아키텍처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복잡성 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+ 작업 명세서 + 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 → 유저 스토리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(수용 기준 포함)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 → 코드·테스트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뼈대는 바뀌지 않는다. 중간 산출물은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도메인·기술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두 축으로 고른다.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5878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두 축으로 고르는 중간 산출물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5349838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사다리가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도메인만 복잡하면 아키텍처는 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주문한다는 둘 다 중간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 3가지와 외부 연동이 있어 넷을 넣는다.</a:t>
            </a:r>
          </a:p>
        </p:txBody>
      </p:sp>
      <p:sp>
        <p:nvSpPr>
          <p:cNvPr id="16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8671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불변의 뼈대와 중간 산출물</a:t>
            </a:r>
          </a:p>
        </p:txBody>
      </p:sp>
      <p:pic>
        <p:nvPicPr>
          <p:cNvPr id="17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435392" y="2124456"/>
            <a:ext cx="8259626" cy="1496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범위와 수명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요구사항 정의서와 작업 명세서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유저 스토리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44715" y="3061046"/>
          <a:ext cx="784098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3797300"/>
                <a:gridCol w="1087120"/>
                <a:gridCol w="1590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담는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수명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스토리와 수용 기준, 업무 규칙, 용어집, 품질 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전체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하나와 업무 규칙의 예, 범위·제외·미정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작업과 함께 끝난다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요구사항이라도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전체에 오래 남는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요구사항 정의서에,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스토리 하나에 쓰고 끝나는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작업 명세서에 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메모리 뱅크는 코드베이스의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모든 AI 코딩 세션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관련되고 명세는 그 기능을 만들거나 바꾸는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작업에만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관련된다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"These files are relevant across all AI coding sessions in the codebase, whereas specs only relevant to the tasks that actually create or change that particular functionality."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625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두 문서의 범위와 수명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153646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용어집은 정의서에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"단가"의 정의는 작업마다 다시 쓰지 않는다. 작업 명세서는 그 정의를 가리킨다.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오래 남는 것이 다음 작업의 입력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정의서를 유지하지 않으면 다음 작업이 같은 질문을 처음부터 다시 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기능과 필요한 품질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품질 요구사항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유저 스토리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49846" y="2112010"/>
          <a:ext cx="703072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679700"/>
                <a:gridCol w="34620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결과가 필요한가?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승인 뒤 주문을 확정한다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부하에서 얼마나 빨라야 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정상 부하에서 주문 결과의 응답시간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신뢰성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반복·장애에도 무엇을 지켜야 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요청의 재전송이 중복 청구를 만들지 않음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어떤 정보에 접근할 수 있나?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본인 주문만 조회·변경 가능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 요구사항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시스템이 할 일을,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품질 요구사항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그 기능이 충족할 수준과 조건을 정한다. 사용자 이야기 하나에도 둘이 함께 필요하다.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주문에서 확인할 기능과 품질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필요한 품질만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속성 목록을 모두 채우지 않고 이번 사용자 이야기의 위험과 고객의 기대를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해결 수단과 구분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응답시간은 요구사항이고 캐시·DB·서버 수는 이를 실현하는 설계다.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품질을 확인 가능한 기준으로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품질 요구사항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유저 스토리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08315" y="2112010"/>
          <a:ext cx="6113780" cy="3873500"/>
        </p:xfrm>
        <a:graphic>
          <a:graphicData uri="http://schemas.openxmlformats.org/drawingml/2006/table">
            <a:tbl>
              <a:tblPr/>
              <a:tblGrid>
                <a:gridCol w="1645920"/>
                <a:gridCol w="44678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막연한 표현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기준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빠르게 처리한다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동시 주문 100건·외부 응답 1초 이내에서 95%가 3초 이내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안정적으로 처리한다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동일 주문 요청을 반복해도 주문과 청구가 중복되지 않음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안전하게 보호한다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다른 회원의 주문 조회·변경을 거부하고 정보가 노출되지 않음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시험 조건과 합격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함께 적어야 품질을 확인할 수 있다. 수치나 정책을 모르면 LLM이 채우지 않고 사람이 결정한다.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막연한 표현에서 확인 기준으로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기준의 근거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고객과 합의한 값인지, 기존 정책을 준용한 것인지, 교육용 가정인지 밝힌다.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기존 정책은 준용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가용성·복구 등 합의된 공통 기준을 기능마다 다시 만들지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결과를 요구한다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중복 방지를 요구하되 키·잠금·트랜잭션 같은 구현 수단은 설계에서 정한다.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 주도 개발이란?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명세 주도 개발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유저 스토리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주도 개발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(SDD)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AI에게 코드를 맡기기 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명세를 먼저 쓰고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그 명세를 사람과 AI가 함께 따르는 기준으로 삼는 방식이다.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 주도 개발은 AI로 코드를 쓰기 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명세를 먼저 쓰는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 그 명세가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사람과 AI의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"Spec-driven development means writing a “spec” before writing code with AI (“documentation first”). The spec becomes the source of truth for the human and the AI."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명세는 자연어로 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구조화된 행위 중심의 산출물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소프트웨어의 기능을 표현하고 AI 코딩 에이전트의 안내가 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spec is a structured, behavior-oriented artifact - or a set of related artifacts - written in natural language that expresses software functionality and serves as guidance to AI coding agents."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산출물이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오래 써 온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요구사항 정의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다시 부르는 이름이다. 이름이 바뀌었다고 따로 만들지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언제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쓰고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얼마나 오래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남길지다. 명세에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무엇을 쓸지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요구공학이 답해 온 질문이다.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얼마나 남기는가?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명세 주도 개발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유저 스토리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28686" y="5097665"/>
          <a:ext cx="52730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59004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고치는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명세는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먼저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작업이 끝나면 할 일을 다 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고정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명세와 코드를 함께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둘이 어긋나지 않게 유지해야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명세가 원천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코드는 명세에서 다시 생성된다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3854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명세라도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작업이 끝난 뒤 무엇을 남기는가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다르다. 세 수준은 사람이 고치는 것이 달라진다.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명세 먼저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잘 생각한 명세를 먼저 쓰고 그 작업의 AI 지원 개발 흐름에서 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"Spec-first: A well thought-out spec is written first, and then used in the AI-assisted development workflow for the task at hand."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명세 고정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작업이 끝난 뒤에도 명세를 남겨 그 기능의 발전과 유지보수에 계속 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"Spec-anchored: The spec is kept even after the task is complete, to continue using it for evolution and maintenance of the respective feature."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명세가 원천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명세가 시간이 지나도 주된 원천 파일이고 사람은 명세만 고치며 코드는 건드리지 않는다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"Spec-as-source: The spec is the main source file over time, and only the spec is edited by the human, the human never touches the code."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 과정은 명세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명세서는 작업과 함께 끝내고, 오래 남길 것은 요구사항 정의서와 도메인 모델에 적는다.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799215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수준별로 사람이 고치는 것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초안이 쓴 것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시연 — LLM이 쓴 요구 초안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유저 스토리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판매가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상품 시스템이 관리하는 상품의 현재 판매 가격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(근거: 회의 메모)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금액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주문이 생길 때의 판매가로 정한 금액. 그 뒤에는 바뀌지 않음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(근거: 회의 메모)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결제대기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주문이 생겼지만 결제가 아직 승인되지 않은 주문 상태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(근거: 회의 메모)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유저 스토리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US-1 장바구니 상품 주문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주문이 생기고 상태는 결제대기가 된다. 주문이 생길 때의 판매가로 주문 금액이 정해진다.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요청 한 줄과 회의 메모만 주자 LLM은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근거가 있는 것만 쓰고 모르는 것은 질문으로 남긴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초안을 냈다.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US-2 주문 결제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승인되면 배송 요청이 간다. 승인되지 않은 주문에는 가지 않는다.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US-3 거절 후 다시 결제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거절되면 결제대기로 남고, 다른 카드로 다시 결제할 수 있다.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BR-1 주문 금액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·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BR-2 배송 요청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·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BR-3 결제 거절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(근거: 모두 회의 메모)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미정 질문 15가지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주문이 언제 생기는가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· 금액 구성 · 판매가가 내리면 · 재고 · 결제대기 기한 · 재결제 횟수 ·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승인 뒤 상태 이름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· 배송 요청 실패 · 취소와 환불의 범위 ......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사람이 답한다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시연 — LLM이 쓴 요구 초안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유저 스토리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00036" y="2112010"/>
          <a:ext cx="6530340" cy="3873500"/>
        </p:xfrm>
        <a:graphic>
          <a:graphicData uri="http://schemas.openxmlformats.org/drawingml/2006/table">
            <a:tbl>
              <a:tblPr/>
              <a:tblGrid>
                <a:gridCol w="2037080"/>
                <a:gridCol w="2651760"/>
                <a:gridCol w="18415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초안의 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답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어디로 가는가?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주문은 언제 생기나?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배송지를 정하면 결제대기로 생긴다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— US-1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내리면?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올라도 내려도 주문할 때의 값이다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— 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뒤 상태의 이름은?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결제완료·배송중·배송완료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용어집과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요청이 실패하면?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아직 정하지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미정으로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취소·환불·배송지 변경은?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범위가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초안의 질문에 사람이 답하면 그 답이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요구사항과 용어와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된다. 이번에 답하지 않을 것은 제외나 미정으로 남긴다.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초안의 질문과 사람의 답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68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추측하지 않은 것이 성과다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초안은 요청과 메모에 없는 업무 규칙을 만들지 않았고, 승인 뒤의 상태 이름도 짓지 않았다.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스스로 찾은 모순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요청의 "결제하면 주문이 된다"와 메모의 "거절되면 결제대기로 남는다"가 어긋난다는 것을 초안이 첫 질문으로 올렸다.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유저 스토리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94906" y="3061046"/>
          <a:ext cx="734060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3154680"/>
                <a:gridCol w="28752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바로잡기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개발자가 주어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개발자로서 결제 함수가 견고하기를 원한다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고객의 결과로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테이블을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얻는 결과로 세로로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"왜"가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고객으로서 결제 버튼을 원한다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가치를 말하지 못하면 범위에서 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수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빠르면 좋겠다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수 있는 예와 기준을 붙인다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해결책이 섞임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서비스에서 판매가를 다시 조회한다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충족할지만 쓰고 방법은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LLM에게 요구를 적게 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개발자가 주어인 스토리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섞이기 쉽다.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 도구가 작은 버그를 고치며 쓴 스토리 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개발자로서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변환 함수가 경계 사례를 우아하게 처리하기를 원한다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"User story: As a developer, I want the transformation function to handle edge cases gracefully, so that the system remains robust when new category formats are introduced."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625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요구를 적을 때의 잘못된 관행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실습 — 요구사항 정의서와 유저 스토리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유저 스토리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1643673"/>
            <a:ext cx="4069080" cy="4574247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 —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 요청사항 포함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1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“아래 실습 1의 업무 조건 메모를 바탕으로 정기배송 최초 신청을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하나의 사용자 이야기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로 표현하고, 요구사항 초안을 짧게 작성해라. 화면·기술 설계와 신청 이후 운영 정책은 제외하고 기존 쇼핑몰 기능은 연계 대상으로 보아라. 작성에 꼭 필요한 미정 사항만 질문해라.”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2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“앞선 질문에 대한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아래 답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반영해 기능 요구사항을 보완해라. 내가 정하지 않은 업무 규칙을 추가하지 마라.”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3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“앞선 질문에 대한 답과 수정 요청을 반영해라. 최초 신청에서 중요한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품질 속성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제안하고, 확인 가능한 요구사항으로 정하기 위해 필요한 기준을 질문해라. 기존 쇼핑몰의 품질 정책은 준용한다.”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4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“아래 답과 품질 기준을 반영해 요구사항을 보완해라. 모호하거나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확인할 수 없는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표현과 근거 없는 정책이 남았는지 검토해라.”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683553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①로 시작해 답·질문·수정 요청을 주고받는다.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②~④는 보완 예시다. ⑤로 MD를 만들고 필요하면 보완·재생성한다.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09160" y="1643673"/>
            <a:ext cx="4069080" cy="4574247"/>
          </a:xfrm>
        </p:spPr>
        <p:txBody>
          <a:bodyPr>
            <a:normAutofit/>
          </a:bodyPr>
          <a:lstStyle/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5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“지금까지 합의한 정기배송 최초 신청의 요구사항 정의서를 다음 실습에 사용할 간결한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Markdown 파일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로 생성해라. 사용자 이야기 하나와 업무 규칙·기능 요구사항·품질 요구사항·대표 수용 기준을 담고, 사람의 답과 피드백을 본문에 반영해라. 별도 Q&amp;A·중복 요약·설계·코드·범위 밖 운영은 제외해라. 새 결정을 추가하거나 폐기한 안을 되살리지 마라.”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이야기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최초 신청 하나에 고객과 가치가 드러나는가?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일관성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실습 1의 조건과 사람이 답한 내용을 반영했는가?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품질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시험 조건과 합격 기준이 확인 가능하며 근거가 있는가?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범위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화면·기술 설계, 기존 기능 재구현, 신청 이후 운영을 제외했는가?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성공·결제 실패·중복 요청의 결과를 확인할 수 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사용자 이야기 하나를 포함한 요구사항 정의서 MD 파일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. 마지막 합의를 확인하고 실습 3에 첨부한다.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요구와 유저 스토리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요구는 사람이 정하고, LLM은 초안을 쓰고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모르는 것을 질문으로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남긴다.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요구와 유저 스토리의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이야기와 정의서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고객의 가치·행위를 이야기로 쓰고 조건을 정의서에 담는다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기능과 품질을 명시하고 시험 조건과 합격 기준을 붙인다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범위와 수명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요구사항 정의서는 유지하고 작업 명세서는 작업과 끝난다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주도 개발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언제 쓰고 얼마나 남길지의 문제다. 이 과정은 명세 먼저다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모델에서 보완된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용어집의 첫 항목과 요구사항 정의서가 생겼다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세션 03. 도메인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요구의 용어·개념·상태를 모델로 명시한다.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300" b="1">
                <a:solidFill>
                  <a:srgbClr val="000000"/>
                </a:solidFill>
                <a:latin typeface="맑은 고딕"/>
                <a:ea typeface="맑은 고딕"/>
              </a:rPr>
              <a:t>정기배송 최초 신청 요구사항 정의서 </a:t>
            </a:r>
            <a:r>
              <a:rPr sz="19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02. 요구와 유저 스토리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4338828" cy="5352345"/>
          </a:xfrm>
        </p:spPr>
        <p:txBody>
          <a:bodyPr>
            <a:norm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사용자 이야기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기존 회원으로서 반복 주문의 수고를 줄이기 위해 원하는 상품을 정해진 주기로 배송받는 정기배송을 신청하고 싶다.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1. 정기배송은 자동 갱신하지 않으며 계약기간이 끝나면 종료한다.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2. 계약기간은 3개월 또는 6개월, 배송 주기는 2주 또는 4주로 한다.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3. 첫 배송일은 신청일에 3일을 더한 날짜부터 선택할 수 있으며 해당 날짜를 포함한다. 배송 가능 여부는 기존 쇼핑몰 배송 달력을 따른다.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4. 첫 배송일을 계약 시작일로 한다.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5. 계약 종료일은 첫 배송일에 계약 개월 수를 더한 날짜로 한다. 해당 월에 같은 날짜가 없으면 그달의 말일로 하며, 종료일은 계약기간에 포함하지 않는다.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6. 첫 배송일을 첫 회차로 하고 이후 선택한 배송 주기마다 배송 예정일을 산정한다. 계약 종료일보다 이른 회차만 포함한다.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7. 상품 가격·할인·배송비는 신청 시점의 기존 쇼핑몰 정책으로 산정하며, 산정된 회차별 결제금액은 계약기간 동안 유지한다.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8. 첫 회차는 신청 시 결제하고 이후 회차는 각 배송 예정일 3일 전에 결제한다.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9. 첫 회차 결제 성공이 확인된 경우에만 신청을 완료한다. 결제 실패 시 신청은 완료되지 않으며, 결과를 확인할 수 없으면 완료로 단정하지 않고 결과 확인이 필요함을 안내한다.</a:t>
            </a:r>
          </a:p>
          <a:p>
            <a:pPr lvl="2" marL="621030" indent="-20955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10. 동일한 신청의 반복 전송으로 계약이나 첫 회차 결제가 중복되어서는 안 된다. 별개의 신규 신청은 제한하지 않는다.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960120"/>
            <a:ext cx="4439412" cy="5352345"/>
          </a:xfrm>
        </p:spPr>
        <p:txBody>
          <a:bodyPr>
            <a:normAutofit/>
          </a:bodyPr>
          <a:lstStyle/>
          <a:p>
            <a:pPr lvl="2" marL="621030" indent="-20955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11. 회원·상품·배송지·결제수단·배송 달력과 일반 주문 정책은 기존 쇼핑몰 기능 및 정책을 연계한다.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기능 요구사항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1. 기존 회원은 상품과 수량, 자신이 등록한 배송지와 결제수단을 선택할 수 있어야 한다.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2. 회원은 계약기간, 배송 주기와 첫 배송일을 선택할 수 있어야 한다.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3. 신청 완료 전에 다음 내용을 회원에게 고지해야 한다.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선택한 상품과 수량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배송지와 결제수단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계약기간·계약 시작일·계약 종료일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배송 주기와 첫 배송일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총 배송 횟수와 회차별 예정 배송일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첫 회차 결제금액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계약기간 동안 유지되는 회차별 결제금액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첫 회차와 이후 회차의 결제 시점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자동 갱신 없이 계약기간 종료 시 종료된다는 사실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4. 신청 과정에서 첫 회차 결제를 수행하고 결제 결과에 따라 신청 결과를 안내해야 한다.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5. 동일한 신청이 반복 전송되어도 하나의 계약과 한 번의 첫 회차 결제만 처리해야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300" b="1">
                <a:solidFill>
                  <a:srgbClr val="000000"/>
                </a:solidFill>
                <a:latin typeface="맑은 고딕"/>
                <a:ea typeface="맑은 고딕"/>
              </a:rPr>
              <a:t>정기배송 최초 신청 요구사항 정의서 </a:t>
            </a:r>
            <a:r>
              <a:rPr sz="19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02. 요구와 유저 스토리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4338828" cy="5352345"/>
          </a:xfrm>
        </p:spPr>
        <p:txBody>
          <a:bodyPr>
            <a:norm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품질 요구사항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1. 동시 신청 100건이고 각 외부 연계가 1초 이내에 응답하는 정상 시험 조건에서, 신청 요청부터 결과 수신까지 전체 요청의 95% 이상이 3초 이내여야 한다. 이는 실습 검증 기준이며 실제 운영 보장 수치는 아니다. 이를 초과하는 부하는 기존 쇼핑몰 정책을 따른다.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2. 회원은 자신의 배송지와 결제수단만 선택하고 자신의 정기배송 신청 정보에만 접근할 수 있어야 한다. 다른 회원의 정보는 조회하거나 변경할 수 없어야 한다.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3. 운영시간·가용성·복구·기록 보존·보안·개인정보 보호는 기존 쇼핑몰 정책을 준용한다.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대표 수용 기준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일정 계산: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배송일이 2027-11-03이고 계약기간이 3개월, 배송 주기가 2주이면 계약 종료일은 2028-02-03이며 해당 날짜는 제외한다. 배송 예정일은 2027-11-03, 11-17, 12-01, 12-15, 12-29, 2028-01-12, 01-26의 총 7회다.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월말 계산: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배송일이 2027-01-31이고 계약기간이 3개월이면 계약 종료일은 2027-04-30이며 해당 날짜는 제외한다. 시험 날짜는 기존 배송 달력에서 허용된 것으로 본다.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금액 유지: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휴지 1묶음의 신청 시 가격이 10,000원이고 할인과 배송비가 각각 0원이면 회차별 결제금액은 10,000원이다. 이후 상품 가격이 변경되어도 계약기간 동안 같은 금액을 유지한다.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신청 결과: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회차 결제 성공이 확인되면 신청 완료로 안내하고, 실패하면 신청 미완료로 안내한다. 결제 결과를 확인할 수 없으면 결과 확인이 필요함을 안내한다.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960120"/>
            <a:ext cx="4439412" cy="5352345"/>
          </a:xfrm>
        </p:spPr>
        <p:txBody>
          <a:bodyPr>
            <a:normAutofit/>
          </a:bodyPr>
          <a:lstStyle/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반복 전송: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동일한 신청을 반복 전송해도 생성되는 계약과 실행되는 첫 회차 결제는 각각 하나여야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25</Slides>
  <Notes>23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29" baseType="lpstr">
      <vt:lpstr>맑은 고딕</vt:lpstr>
      <vt:lpstr>Arial</vt:lpstr>
      <vt:lpstr>Wingdings</vt:lpstr>
      <vt:lpstr>4_Office 테마</vt:lpstr>
      <vt:lpstr>02. 요구와 유저 스토리 목차</vt:lpstr>
      <vt:lpstr>01. 세션 목표</vt:lpstr>
      <vt:lpstr>문제·요구·요구사항·해결책 02. 문제에서 요구사항으로</vt:lpstr>
      <vt:lpstr>업무 규칙 찾기 02. 문제에서 요구사항으로</vt:lpstr>
      <vt:lpstr>내용·형식·문서 02. 문제에서 요구사항으로</vt:lpstr>
      <vt:lpstr>03. 요구를 담는 형식</vt:lpstr>
      <vt:lpstr>카드·대화·확인 04. 유저 스토리</vt:lpstr>
      <vt:lpstr>스토리의 문형 04. 유저 스토리</vt:lpstr>
      <vt:lpstr>스토리와 수용 기준 04. 유저 스토리</vt:lpstr>
      <vt:lpstr>좋은 유저 스토리 — INVEST 04. 유저 스토리</vt:lpstr>
      <vt:lpstr>스토리 나누기 04. 유저 스토리</vt:lpstr>
      <vt:lpstr>사용자 이야기를 정의서에 담는다 05. 요구사항 정의서와 작업 명세서</vt:lpstr>
      <vt:lpstr>요구에서 코드까지 05. 요구사항 정의서와 작업 명세서</vt:lpstr>
      <vt:lpstr>범위와 수명 05. 요구사항 정의서와 작업 명세서</vt:lpstr>
      <vt:lpstr>기능과 필요한 품질 06. 품질 요구사항</vt:lpstr>
      <vt:lpstr>품질을 확인 가능한 기준으로 06. 품질 요구사항</vt:lpstr>
      <vt:lpstr>명세 주도 개발이란? 07. 명세 주도 개발</vt:lpstr>
      <vt:lpstr>얼마나 남기는가? 07. 명세 주도 개발</vt:lpstr>
      <vt:lpstr>초안이 쓴 것 08. 시연 — LLM이 쓴 요구 초안</vt:lpstr>
      <vt:lpstr>사람이 답한다 08. 시연 — LLM이 쓴 요구 초안</vt:lpstr>
      <vt:lpstr>09. 잘못된 관행</vt:lpstr>
      <vt:lpstr>10. 실습 — 요구사항 정의서와 유저 스토리</vt:lpstr>
      <vt:lpstr>11. 요약</vt:lpstr>
      <vt:lpstr>정기배송 최초 신청 요구사항 정의서 (1/2) 별첨. 실습 답</vt:lpstr>
      <vt:lpstr>정기배송 최초 신청 요구사항 정의서 (2/2)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02. 요구와 유저 스토리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