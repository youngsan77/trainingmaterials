
<file path=[Content_Types].xml><?xml version="1.0" encoding="utf-8"?>
<ns0:Types xmlns:ns0="http://schemas.openxmlformats.org/package/2006/content-types"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notesMasters/notesMaster1.xml" ContentType="application/vnd.openxmlformats-officedocument.presentationml.notesMaster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theme/theme2.xml" ContentType="application/vnd.openxmlformats-officedocument.theme+xml"/>
  <ns0:Override PartName="/ppt/revisionInfo.xml" ContentType="application/vnd.ms-powerpoint.revisioninfo+xml"/>
  <ns0:Override PartName="/docProps/core.xml" ContentType="application/vnd.openxmlformats-package.core-properties+xml"/>
  <ns0:Override PartName="/docProps/app.xml" ContentType="application/vnd.openxmlformats-officedocument.extended-properties+xml"/>
  <ns0:Default Extension="png" ContentType="image/png"/>
  <ns0:Override PartName="/ppt/notesSlides/notesSlide19.xml" ContentType="application/vnd.openxmlformats-officedocument.presentationml.notesSlide+xml"/>
  <ns0:Override PartName="/ppt/slides/slide19.xml" ContentType="application/vnd.openxmlformats-officedocument.presentationml.slide+xml"/>
  <ns0:Override PartName="/ppt/notesSlides/notesSlide21.xml" ContentType="application/vnd.openxmlformats-officedocument.presentationml.notesSlide+xml"/>
  <ns0:Override PartName="/ppt/slides/slide21.xml" ContentType="application/vnd.openxmlformats-officedocument.presentationml.slide+xml"/>
  <ns0:Override PartName="/ppt/notesSlides/notesSlide22.xml" ContentType="application/vnd.openxmlformats-officedocument.presentationml.notesSlide+xml"/>
  <ns0:Override PartName="/ppt/slides/slide22.xml" ContentType="application/vnd.openxmlformats-officedocument.presentationml.slide+xml"/>
  <ns0:Override PartName="/ppt/notesSlides/notesSlide23.xml" ContentType="application/vnd.openxmlformats-officedocument.presentationml.notesSlide+xml"/>
  <ns0:Override PartName="/ppt/slides/slide23.xml" ContentType="application/vnd.openxmlformats-officedocument.presentationml.slide+xml"/>
  <ns0:Override PartName="/ppt/notesSlides/notesSlide24.xml" ContentType="application/vnd.openxmlformats-officedocument.presentationml.notesSlide+xml"/>
  <ns0:Override PartName="/ppt/slides/slide24.xml" ContentType="application/vnd.openxmlformats-officedocument.presentationml.slide+xml"/>
</ns0: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>
  <ns0:sldMasterIdLst>
    <ns0:sldMasterId id="2147483720" ns1:id="rId1"/>
  </ns0:sldMasterIdLst>
  <ns0:notesMasterIdLst>
    <ns0:notesMasterId ns1:id="rId15"/>
  </ns0:notesMasterIdLst>
  <ns0:sldIdLst>
    <ns0:sldId id="274" ns1:id="javaLecture19"/>
    <ns0:sldId id="276" ns1:id="javaLecture21"/>
    <ns0:sldId id="277" ns1:id="javaLecture22"/>
    <ns0:sldId id="278" ns1:id="javaLecture23"/>
    <ns0:sldId id="279" ns1:id="javaLecture24"/>
  </ns0:sldIdLst>
  <ns0:sldSz cx="9144000" cy="6858000" type="screen4x3"/>
  <ns0:notesSz cx="6858000" cy="9144000"/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4" orient="horz" pos="890" userDrawn="1">
          <ns3:clr>
            <ns2:srgbClr val="A4A3A4"/>
          </ns3:clr>
        </ns3:guide>
        <ns3:guide id="5" pos="2880">
          <ns3:clr>
            <ns2:srgbClr val="A4A3A4"/>
          </ns3:clr>
        </ns3:guide>
      </ns3:sldGuideLst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41C14D-A5A2-2B4D-B033-1B776E74D04A}" v="40" dt="2026-09-12T11:52:04.6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62"/>
    <p:restoredTop sz="92496"/>
  </p:normalViewPr>
  <p:slideViewPr>
    <p:cSldViewPr snapToGrid="0">
      <p:cViewPr varScale="1">
        <p:scale>
          <a:sx n="106" d="100"/>
          <a:sy n="106" d="100"/>
        </p:scale>
        <p:origin x="1984" y="184"/>
      </p:cViewPr>
      <p:guideLst>
        <p:guide orient="horz" pos="89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8" d="100"/>
        <a:sy n="118" d="100"/>
      </p:scale>
      <p:origin x="0" y="0"/>
    </p:cViewPr>
  </p:sorterViewPr>
  <p:gridSpacing cx="76200" cy="76200"/>
</p:viewPr>
</file>

<file path=ppt/_rels/presentation.xml.rels><?xml version='1.0' encoding='utf-8'?>
<ns0:Relationships xmlns:ns0="http://schemas.openxmlformats.org/package/2006/relationships"><ns0:Relationship Id="rId18" Type="http://schemas.openxmlformats.org/officeDocument/2006/relationships/theme" Target="theme/theme1.xml" /><ns0:Relationship Id="rId17" Type="http://schemas.openxmlformats.org/officeDocument/2006/relationships/viewProps" Target="viewProps.xml" /><ns0:Relationship Id="rId16" Type="http://schemas.openxmlformats.org/officeDocument/2006/relationships/presProps" Target="presProps.xml" /><ns0:Relationship Id="rId20" Type="http://schemas.microsoft.com/office/2015/10/relationships/revisionInfo" Target="revisionInfo.xml" /><ns0:Relationship Id="rId1" Type="http://schemas.openxmlformats.org/officeDocument/2006/relationships/slideMaster" Target="slideMasters/slideMaster1.xml" /><ns0:Relationship Id="rId15" Type="http://schemas.openxmlformats.org/officeDocument/2006/relationships/notesMaster" Target="notesMasters/notesMaster1.xml" /><ns0:Relationship Id="rId19" Type="http://schemas.openxmlformats.org/officeDocument/2006/relationships/tableStyles" Target="tableStyles.xml" /><ns0:Relationship Id="javaLecture19" Type="http://schemas.openxmlformats.org/officeDocument/2006/relationships/slide" Target="slides/slide19.xml" /><ns0:Relationship Id="javaLecture21" Type="http://schemas.openxmlformats.org/officeDocument/2006/relationships/slide" Target="slides/slide21.xml" /><ns0:Relationship Id="javaLecture22" Type="http://schemas.openxmlformats.org/officeDocument/2006/relationships/slide" Target="slides/slide22.xml" /><ns0:Relationship Id="javaLecture23" Type="http://schemas.openxmlformats.org/officeDocument/2006/relationships/slide" Target="slides/slide23.xml" /><ns0:Relationship Id="javaLecture24" Type="http://schemas.openxmlformats.org/officeDocument/2006/relationships/slide" Target="slides/slide24.xml" /></ns0: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CE4FF0-A6B5-46CD-9CD3-2CF2AFF3AE5A}" type="datetimeFigureOut">
              <a:rPr lang="ko-KR" altLang="en-US" smtClean="0"/>
              <a:t>2026. 9. 22.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25E7E4-F626-4F14-BF5E-991C69F9D1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6618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Codex·ChatGPT·Claude Team 등에서 renderer 없이 수행한다. ②~④에는 실제 받은 질문의 답과 검토 의견을 붙인다. 기본 문구만 기계적으로 반복하지 않는다.</a:t>
            </a:r>
          </a:p>
          <a:p>
            <a:pPr lvl="0"/>
            <a:r>
              <a:rPr lang="ko-KR" sz="1200"/>
              <a:t>⑤ 이후에도 MD의 누락·불일치·폐기한 안의 재등장을 검토하고 보완·재생성을 반복한다. 다음 작업이 가능하면 탐색을 끝낸다. 제출 여부와 무관하게 최종 MD를 저장해 다음 실습에 명시적으로 첨부한다.</a:t>
            </a:r>
          </a:p>
          <a:p>
            <a:pPr lvl="0"/>
            <a:r>
              <a:rPr lang="ko-KR" sz="1200"/>
              <a:t>최종 MD가 실습 원본이고 교재 슬라이드는 별도 제작물이다. 환경별 파일 생성·다운로드와 도식 표시를 사전에 확인한다. 도식 코드만 보이는 경우를 시각 검토 완료로 보지 않는다.</a:t>
            </a:r>
          </a:p>
          <a:p>
            <a:pPr lvl="0"/>
            <a:r>
              <a:rPr lang="ko-KR" sz="1200"/>
              <a:t>수강생이 만든 실습 2의 요구사항 정의서를 첫 프롬프트에 붙인다. 실제 강사 예시 입력은 code/s03/exercise-conversation/input-s02.md다.</a:t>
            </a:r>
          </a:p>
          <a:p>
            <a:pPr lvl="0"/>
            <a:r>
              <a:rPr lang="ko-KR" sz="1200"/>
              <a:t>②~④는 기본 문구만 입력하지 않는다. [앞선 질문에 대한 답]과 [추가 질문·수정 요청]을 함께 작성한다. 질문이 없으면 검토 결과와 필요한 수정 요청만 적는다.</a:t>
            </a:r>
          </a:p>
          <a:p>
            <a:pPr lvl="0"/>
            <a:r>
              <a:rPr lang="ko-KR" sz="1200"/>
              <a:t>정적 모델은 클래스 다이어그램, 동적 모델은 시퀀스 다이어그램과 상태 머신 다이어그램으로 표현한다. 분석의 업무 개념·상호작용·상태를 다루며 컨트롤러·서비스·DB·API 설계로 바꾸지 않는다.</a:t>
            </a:r>
          </a:p>
          <a:p>
            <a:pPr lvl="0"/>
            <a:r>
              <a:rPr lang="ko-KR" sz="1200"/>
              <a:t>실제 입력·응답은 code/s03/exercise-conversation/에 보존한다. 클래스는 ②, 시퀀스·상태 머신은 ③에서 대화창에 표시하며 ④에서 바뀐 도식을 다시 검토한다. 최종 MD는 PPT 분량·배치 조건 없이 생성한다.</a:t>
            </a:r>
          </a:p>
          <a:p>
            <a:pPr lvl="0"/>
            <a:r>
              <a:rPr lang="ko-KR" sz="1200"/>
              <a:t>실습 2의 회차별 10,000원과 첫 회차 신청 시 결제를 유지한다. 예전 실습의 일시불 70,000원이나 거절 후 재결제 규칙을 소급하지 않는다.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code/s03/exercise-conversation/codex-response-05.md에서 해당 절의 원문을 발췌했다. 문장·도식 원본은 수정하지 않았다.</a:t>
            </a:r>
          </a:p>
          <a:p>
            <a:pPr lvl="0"/>
            <a:r>
              <a:rPr lang="ko-KR" sz="1200"/>
              <a:t>①~⑤는 단계이며 실제 대화의 횟수는 예시다. 이전 실제 대화의 합의 내용을 이어 새 ⑤를 실행했다. 실제 입력·응답은 conversation.md, 학습자용 기본 문구는 templates.json에 보존한다. 마지막 파일을 검토한 뒤 보완·재생성할 수 있다.</a:t>
            </a:r>
          </a:p>
          <a:p>
            <a:pPr lvl="0"/>
            <a:r>
              <a:rPr lang="ko-KR" sz="1200"/>
              <a:t>발췌 범위: 용어·업무 규칙 절 전체와 세 다이어그램 원본이다. 도식 전후의 설명문은 최종 MD에서 읽으며 슬라이드에 중복하지 않는다.</a:t>
            </a:r>
          </a:p>
          <a:p>
            <a:pPr lvl="0"/>
            <a:r>
              <a:rPr lang="ko-KR" sz="1200"/>
              <a:t>다음 실습에는 최종 MD를 명시적으로 첨부한다. 교재의 슬라이드 배치와 업무 산출물의 구성은 별개다.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code/s03/exercise-conversation/codex-response-05.md에서 해당 절의 원문을 발췌했다. 문장·도식 원본은 수정하지 않았다.</a:t>
            </a:r>
          </a:p>
          <a:p>
            <a:pPr lvl="0"/>
            <a:r>
              <a:rPr lang="ko-KR" sz="1200"/>
              <a:t>①~⑤는 단계이며 실제 대화의 횟수는 예시다. 이전 실제 대화의 합의 내용을 이어 새 ⑤를 실행했다. 실제 입력·응답은 conversation.md, 학습자용 기본 문구는 templates.json에 보존한다. 마지막 파일을 검토한 뒤 보완·재생성할 수 있다.</a:t>
            </a:r>
          </a:p>
          <a:p>
            <a:pPr lvl="0"/>
            <a:r>
              <a:rPr lang="ko-KR" sz="1200"/>
              <a:t>발췌 범위: 용어·업무 규칙 절 전체와 세 다이어그램 원본이다. 도식 전후의 설명문은 최종 MD에서 읽으며 슬라이드에 중복하지 않는다.</a:t>
            </a:r>
          </a:p>
          <a:p>
            <a:pPr lvl="0"/>
            <a:r>
              <a:rPr lang="ko-KR" sz="1200"/>
              <a:t>다음 실습에는 최종 MD를 명시적으로 첨부한다. 교재의 슬라이드 배치와 업무 산출물의 구성은 별개다.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code/s03/exercise-conversation/codex-response-05.md에서 해당 절의 원문을 발췌했다. 문장·도식 원본은 수정하지 않았다.</a:t>
            </a:r>
          </a:p>
          <a:p>
            <a:pPr lvl="0"/>
            <a:r>
              <a:rPr lang="ko-KR" sz="1200"/>
              <a:t>①~⑤는 단계이며 실제 대화의 횟수는 예시다. 이전 실제 대화의 합의 내용을 이어 새 ⑤를 실행했다. 실제 입력·응답은 conversation.md, 학습자용 기본 문구는 templates.json에 보존한다. 마지막 파일을 검토한 뒤 보완·재생성할 수 있다.</a:t>
            </a:r>
          </a:p>
          <a:p>
            <a:pPr lvl="0"/>
            <a:r>
              <a:rPr lang="ko-KR" sz="1200"/>
              <a:t>발췌 범위: 용어·업무 규칙 절 전체와 세 다이어그램 원본이다. 도식 전후의 설명문은 최종 MD에서 읽으며 슬라이드에 중복하지 않는다.</a:t>
            </a:r>
          </a:p>
          <a:p>
            <a:pPr lvl="0"/>
            <a:r>
              <a:rPr lang="ko-KR" sz="1200"/>
              <a:t>다음 실습에는 최종 MD를 명시적으로 첨부한다. 교재의 슬라이드 배치와 업무 산출물의 구성은 별개다.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code/s03/exercise-conversation/codex-response-05.md에서 해당 절의 원문을 발췌했다. 문장·도식 원본은 수정하지 않았다.</a:t>
            </a:r>
          </a:p>
          <a:p>
            <a:pPr lvl="0"/>
            <a:r>
              <a:rPr lang="ko-KR" sz="1200"/>
              <a:t>①~⑤는 단계이며 실제 대화의 횟수는 예시다. 이전 실제 대화의 합의 내용을 이어 새 ⑤를 실행했다. 실제 입력·응답은 conversation.md, 학습자용 기본 문구는 templates.json에 보존한다. 마지막 파일을 검토한 뒤 보완·재생성할 수 있다.</a:t>
            </a:r>
          </a:p>
          <a:p>
            <a:pPr lvl="0"/>
            <a:r>
              <a:rPr lang="ko-KR" sz="1200"/>
              <a:t>발췌 범위: 용어·업무 규칙 절 전체와 세 다이어그램 원본이다. 도식 전후의 설명문은 최종 MD에서 읽으며 슬라이드에 중복하지 않는다.</a:t>
            </a:r>
          </a:p>
          <a:p>
            <a:pPr lvl="0"/>
            <a:r>
              <a:rPr lang="ko-KR" sz="1200"/>
              <a:t>다음 실습에는 최종 MD를 명시적으로 첨부한다. 교재의 슬라이드 배치와 업무 산출물의 구성은 별개다.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8">
            <a:extLst>
              <a:ext uri="{FF2B5EF4-FFF2-40B4-BE49-F238E27FC236}">
                <a16:creationId xmlns:a16="http://schemas.microsoft.com/office/drawing/2014/main" id="{FF0E9F20-7865-40BF-831C-21A3A6DE669A}"/>
              </a:ext>
            </a:extLst>
          </p:cNvPr>
          <p:cNvCxnSpPr/>
          <p:nvPr userDrawn="1"/>
        </p:nvCxnSpPr>
        <p:spPr>
          <a:xfrm>
            <a:off x="370822" y="692696"/>
            <a:ext cx="84240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제목 1">
            <a:extLst>
              <a:ext uri="{FF2B5EF4-FFF2-40B4-BE49-F238E27FC236}">
                <a16:creationId xmlns:a16="http://schemas.microsoft.com/office/drawing/2014/main" id="{2094DC8E-CD32-4D9A-9DFC-F86395231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189" y="-38114"/>
            <a:ext cx="6300034" cy="720080"/>
          </a:xfrm>
          <a:prstGeom prst="rect">
            <a:avLst/>
          </a:prstGeom>
        </p:spPr>
        <p:txBody>
          <a:bodyPr anchor="ctr" anchorCtr="0"/>
          <a:lstStyle>
            <a:lvl1pPr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48BCF7E4-4941-4537-9EC8-57C44E02DB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  <a:prstGeom prst="rect">
            <a:avLst/>
          </a:prstGeom>
        </p:spPr>
        <p:txBody>
          <a:bodyPr/>
          <a:lstStyle>
            <a:lvl1pPr algn="ctr">
              <a:defRPr sz="8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r>
              <a:rPr lang="en-US" altLang="ko-KR" dirty="0">
                <a:solidFill>
                  <a:prstClr val="black"/>
                </a:solidFill>
              </a:rPr>
              <a:t>- </a:t>
            </a:r>
            <a:fld id="{A18F303B-5FF2-4BD3-899C-BAED341F6249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ko-KR" altLang="en-US" dirty="0">
                <a:solidFill>
                  <a:prstClr val="black"/>
                </a:solidFill>
              </a:rPr>
              <a:t> </a:t>
            </a:r>
            <a:r>
              <a:rPr lang="en-US" altLang="ko-KR" dirty="0">
                <a:solidFill>
                  <a:prstClr val="black"/>
                </a:solidFill>
              </a:rPr>
              <a:t>-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7FC7E0F-889C-4F19-8056-F2D1D6357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189" y="980728"/>
            <a:ext cx="8424000" cy="553086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"/>
              <a:defRPr sz="2000" b="1"/>
            </a:lvl1pPr>
            <a:lvl2pPr marL="723900" indent="-3683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  <a:defRPr sz="1800" b="0"/>
            </a:lvl2pPr>
            <a:lvl3pPr marL="1077913" indent="-354013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  <a:defRPr sz="1600" b="0"/>
            </a:lvl3pPr>
            <a:lvl4pPr marL="1433513" indent="-355600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l"/>
              <a:defRPr sz="1400" b="0"/>
            </a:lvl4pPr>
            <a:lvl5pPr marL="1787525" indent="-354013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  <a:defRPr sz="1400" b="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535D420B-3C82-4BF6-9CCA-F8DA0A133F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6056" y="367445"/>
            <a:ext cx="3699901" cy="26473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spcBef>
                <a:spcPts val="0"/>
              </a:spcBef>
              <a:buFont typeface="Arial" panose="020B0604020202020204" pitchFamily="34" charset="0"/>
              <a:buNone/>
              <a:defRPr sz="18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2pPr>
            <a:lvl3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3pPr>
            <a:lvl4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4pPr>
            <a:lvl5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5pPr>
          </a:lstStyle>
          <a:p>
            <a:pPr lvl="0"/>
            <a:r>
              <a:rPr lang="en-US" altLang="ko-KR"/>
              <a:t>Level #1</a:t>
            </a:r>
          </a:p>
        </p:txBody>
      </p:sp>
      <p:sp>
        <p:nvSpPr>
          <p:cNvPr id="11" name="텍스트 개체 틀 9">
            <a:extLst>
              <a:ext uri="{FF2B5EF4-FFF2-40B4-BE49-F238E27FC236}">
                <a16:creationId xmlns:a16="http://schemas.microsoft.com/office/drawing/2014/main" id="{2A28188B-9A75-4416-A436-43EDEDA96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60420" y="710786"/>
            <a:ext cx="2915537" cy="23827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None/>
              <a:defRPr lang="en-US" altLang="ko-KR" sz="1400" b="1" i="0" kern="120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Level #2</a:t>
            </a:r>
          </a:p>
        </p:txBody>
      </p:sp>
      <p:sp>
        <p:nvSpPr>
          <p:cNvPr id="2" name="텍스트 개체 틀 9">
            <a:extLst>
              <a:ext uri="{FF2B5EF4-FFF2-40B4-BE49-F238E27FC236}">
                <a16:creationId xmlns:a16="http://schemas.microsoft.com/office/drawing/2014/main" id="{B690A1C8-68B5-5F79-8C0D-DCD7EE5EA9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4367" y="6485290"/>
            <a:ext cx="6244438" cy="23827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lang="en-US" altLang="ko-KR" sz="600" b="0" i="0" kern="120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Level #3</a:t>
            </a:r>
          </a:p>
        </p:txBody>
      </p:sp>
    </p:spTree>
    <p:extLst>
      <p:ext uri="{BB962C8B-B14F-4D97-AF65-F5344CB8AC3E}">
        <p14:creationId xmlns:p14="http://schemas.microsoft.com/office/powerpoint/2010/main" val="6893852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05AE4B-11F0-DD96-DBC0-88B2F9E857D9}"/>
              </a:ext>
            </a:extLst>
          </p:cNvPr>
          <p:cNvSpPr txBox="1"/>
          <p:nvPr userDrawn="1"/>
        </p:nvSpPr>
        <p:spPr>
          <a:xfrm>
            <a:off x="1519279" y="6647902"/>
            <a:ext cx="612116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ko-KR" sz="600" dirty="0"/>
              <a:t>© 2026 </a:t>
            </a:r>
            <a:r>
              <a:rPr lang="ko-KR" altLang="ko-KR" sz="600" dirty="0" err="1"/>
              <a:t>Young</a:t>
            </a:r>
            <a:r>
              <a:rPr lang="ko-KR" altLang="ko-KR" sz="600" dirty="0"/>
              <a:t> </a:t>
            </a:r>
            <a:r>
              <a:rPr lang="ko-KR" altLang="ko-KR" sz="600" dirty="0" err="1"/>
              <a:t>On</a:t>
            </a:r>
            <a:r>
              <a:rPr lang="ko-KR" altLang="ko-KR" sz="600" dirty="0"/>
              <a:t> Kim. LLM-</a:t>
            </a:r>
            <a:r>
              <a:rPr lang="ko-KR" altLang="ko-KR" sz="600" dirty="0" err="1"/>
              <a:t>generated</a:t>
            </a:r>
            <a:r>
              <a:rPr lang="ko-KR" altLang="ko-KR" sz="600" dirty="0"/>
              <a:t> </a:t>
            </a:r>
            <a:r>
              <a:rPr lang="ko-KR" altLang="ko-KR" sz="600" dirty="0" err="1"/>
              <a:t>content</a:t>
            </a:r>
            <a:r>
              <a:rPr lang="ko-KR" altLang="ko-KR" sz="600" dirty="0"/>
              <a:t>, </a:t>
            </a:r>
            <a:r>
              <a:rPr lang="ko-KR" altLang="ko-KR" sz="600" dirty="0" err="1"/>
              <a:t>directed</a:t>
            </a:r>
            <a:r>
              <a:rPr lang="ko-KR" altLang="ko-KR" sz="600" dirty="0"/>
              <a:t>, </a:t>
            </a:r>
            <a:r>
              <a:rPr lang="ko-KR" altLang="ko-KR" sz="600" dirty="0" err="1"/>
              <a:t>reviewed</a:t>
            </a:r>
            <a:r>
              <a:rPr lang="ko-KR" altLang="ko-KR" sz="600" dirty="0"/>
              <a:t> and </a:t>
            </a:r>
            <a:r>
              <a:rPr lang="ko-KR" altLang="ko-KR" sz="600" dirty="0" err="1"/>
              <a:t>validated</a:t>
            </a:r>
            <a:r>
              <a:rPr lang="ko-KR" altLang="ko-KR" sz="600" dirty="0"/>
              <a:t> </a:t>
            </a:r>
            <a:r>
              <a:rPr lang="ko-KR" altLang="ko-KR" sz="600" dirty="0" err="1"/>
              <a:t>by</a:t>
            </a:r>
            <a:r>
              <a:rPr lang="ko-KR" altLang="ko-KR" sz="600" dirty="0"/>
              <a:t> </a:t>
            </a:r>
            <a:r>
              <a:rPr lang="ko-KR" altLang="ko-KR" sz="600" dirty="0" err="1"/>
              <a:t>the</a:t>
            </a:r>
            <a:r>
              <a:rPr lang="ko-KR" altLang="ko-KR" sz="600" dirty="0"/>
              <a:t> </a:t>
            </a:r>
            <a:r>
              <a:rPr lang="ko-KR" altLang="ko-KR" sz="600" dirty="0" err="1"/>
              <a:t>author</a:t>
            </a:r>
            <a:r>
              <a:rPr lang="ko-KR" altLang="ko-KR" sz="600" dirty="0"/>
              <a:t>; </a:t>
            </a:r>
            <a:r>
              <a:rPr lang="ko-KR" altLang="ko-KR" sz="600" dirty="0" err="1"/>
              <a:t>rendered</a:t>
            </a:r>
            <a:r>
              <a:rPr lang="ko-KR" altLang="ko-KR" sz="600" dirty="0"/>
              <a:t> </a:t>
            </a:r>
            <a:r>
              <a:rPr lang="ko-KR" altLang="ko-KR" sz="600" dirty="0" err="1"/>
              <a:t>by</a:t>
            </a:r>
            <a:r>
              <a:rPr lang="ko-KR" altLang="ko-KR" sz="600" dirty="0"/>
              <a:t> </a:t>
            </a:r>
            <a:r>
              <a:rPr lang="ko-KR" altLang="ko-KR" sz="600" dirty="0" err="1"/>
              <a:t>TrainingMaterials</a:t>
            </a:r>
            <a:r>
              <a:rPr lang="ko-KR" altLang="ko-KR" sz="600" dirty="0"/>
              <a:t>.</a:t>
            </a:r>
            <a:endParaRPr lang="ko-KR" altLang="en-US" sz="500" dirty="0">
              <a:solidFill>
                <a:prstClr val="black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377657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</p:sldLayoutIdLst>
  <p:hf hdr="0" ftr="0" dt="0"/>
  <p:txStyles>
    <p:titleStyle>
      <a:lvl1pPr algn="l" rtl="0" eaLnBrk="0" fontAlgn="base" latinLnBrk="0" hangingPunct="0">
        <a:spcBef>
          <a:spcPct val="0"/>
        </a:spcBef>
        <a:spcAft>
          <a:spcPct val="0"/>
        </a:spcAft>
        <a:defRPr sz="32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0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0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0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0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0" hangingPunct="0">
        <a:spcBef>
          <a:spcPct val="20000"/>
        </a:spcBef>
        <a:spcAft>
          <a:spcPct val="0"/>
        </a:spcAft>
        <a:buFont typeface="Wingdings" pitchFamily="2" charset="2"/>
        <a:buChar char="u"/>
        <a:defRPr sz="20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0" hangingPunct="0">
        <a:spcBef>
          <a:spcPct val="20000"/>
        </a:spcBef>
        <a:spcAft>
          <a:spcPct val="0"/>
        </a:spcAft>
        <a:buFont typeface="Wingdings" pitchFamily="2" charset="2"/>
        <a:buChar char="l"/>
        <a:defRPr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2pPr>
      <a:lvl3pPr marL="1143000" indent="-228600" algn="l" rtl="0" eaLnBrk="0" fontAlgn="base" latinLnBrk="0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6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3pPr>
      <a:lvl4pPr marL="1600200" indent="-228600" algn="l" rtl="0" eaLnBrk="0" fontAlgn="base" latinLnBrk="0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4pPr>
      <a:lvl5pPr marL="2057400" indent="-228600" algn="l" rtl="0" eaLnBrk="0" fontAlgn="base" latinLnBrk="0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9" Type="http://schemas.openxmlformats.org/officeDocument/2006/relationships/notesSlide" Target="../notesSlides/notesSlide19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21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plantumlImage5" Type="http://schemas.openxmlformats.org/officeDocument/2006/relationships/image" Target="../media/plantuml-5.png"/><Relationship Id="speakerNotes22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plantumlImage6" Type="http://schemas.openxmlformats.org/officeDocument/2006/relationships/image" Target="../media/plantuml-6.png"/><Relationship Id="speakerNotes23" Type="http://schemas.openxmlformats.org/officeDocument/2006/relationships/notesSlide" Target="../notesSlides/notesSlide2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plantumlImage7" Type="http://schemas.openxmlformats.org/officeDocument/2006/relationships/image" Target="../media/plantuml-7.png"/><Relationship Id="speakerNotes24" Type="http://schemas.openxmlformats.org/officeDocument/2006/relationships/notesSlide" Target="../notesSlides/notesSlide24.xml"/></Relationships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11. 실습 — 도메인 모델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- 19 -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03. 도메인 모델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412480" cy="5257800"/>
          </a:xfrm>
        </p:spPr>
        <p:txBody>
          <a:bodyPr>
            <a:normAutofit/>
          </a:bodyPr>
          <a:lstStyle/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①로 시작해 답·질문·수정 요청을 주고받는다.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②~④는 보완 예시다. ⑤로 MD를 만들고 필요하면 보완·재생성한다.</a:t>
            </a:r>
          </a:p>
          <a:p>
            <a:pPr lvl="2" marL="723900" indent="-3683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프롬프트 —</a:t>
            </a: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 요청사항 포함</a:t>
            </a:r>
          </a:p>
          <a:p>
            <a:pPr lvl="3" marL="981075" indent="-268288">
              <a:spcBef>
                <a:spcPts val="300"/>
              </a:spcBef>
              <a:spcAft>
                <a:spcPts val="300"/>
              </a:spcAft>
              <a:buFont typeface="+mj-ea"/>
              <a:buAutoNum type="circleNumDbPlain" startAt="1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“아래 실습 2의 요구사항 정의서에서 최초 정기배송 신청에 필요한 </a:t>
            </a: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용어와 업무 규칙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을 짧게 정리해라. 뜻이 불명확하거나 서로 맞지 않는 내용은 질문해라. 구현 구조와 DB·API·코드는 제외해라.”</a:t>
            </a:r>
          </a:p>
          <a:p>
            <a:pPr lvl="3" marL="981075" indent="-268288">
              <a:spcBef>
                <a:spcPts val="300"/>
              </a:spcBef>
              <a:spcAft>
                <a:spcPts val="300"/>
              </a:spcAft>
              <a:buFont typeface="+mj-ea"/>
              <a:buAutoNum type="circleNumDbPlain" startAt="2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“앞선 질문에 대한 아래 답과 수정 요청을 반영해라. 업무 개념의 속성·관계·다중성을 </a:t>
            </a: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클래스 다이어그램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으로 대화창에 보여주고 주요 관계를 설명해라. 불명확한 의미는 질문하고 구현 클래스·DB 테이블은 설계하지 마라.”</a:t>
            </a:r>
          </a:p>
          <a:p>
            <a:pPr lvl="3" marL="981075" indent="-268288">
              <a:spcBef>
                <a:spcPts val="300"/>
              </a:spcBef>
              <a:spcAft>
                <a:spcPts val="300"/>
              </a:spcAft>
              <a:buFont typeface="+mj-ea"/>
              <a:buAutoNum type="circleNumDbPlain" startAt="3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“아래 답과 수정 요청을 반영해라. 최초 신청의 업무 상호작용을 </a:t>
            </a: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시퀀스 다이어그램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으로, 사건에 따른 신청 상태 변화를 상태 머신 다이어그램으로 대화창에 보여줘라. 정적 모델과의 불일치나 미정 사항은 질문하고 구현 객체·API 호출은 설계하지 마라.”</a:t>
            </a:r>
          </a:p>
          <a:p>
            <a:pPr lvl="3" marL="981075" indent="-268288">
              <a:spcBef>
                <a:spcPts val="300"/>
              </a:spcBef>
              <a:spcAft>
                <a:spcPts val="300"/>
              </a:spcAft>
              <a:buFont typeface="+mj-ea"/>
              <a:buAutoNum type="circleNumDbPlain" startAt="4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“아래 답과 수정 요청을 반영해라. 실습 2의 대표 수용 기준으로 용어·업무 규칙과 세 다이어그램의 </a:t>
            </a: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일관성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을 검토해라. 보완한 다이어그램을 대화창에 다시 보여주고 다른 모델에 영향이 있으면 함께 갱신해라. 새 정책이나 범위 밖 모델을 추가하지 마라.”</a:t>
            </a:r>
          </a:p>
          <a:p>
            <a:pPr lvl="3" marL="981075" indent="-268288">
              <a:spcBef>
                <a:spcPts val="300"/>
              </a:spcBef>
              <a:spcAft>
                <a:spcPts val="300"/>
              </a:spcAft>
              <a:buFont typeface="+mj-ea"/>
              <a:buAutoNum type="circleNumDbPlain" startAt="5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“지금까지 합의한 도메인 모델을 다음 실습에 사용할 간결한 </a:t>
            </a: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Markdown 파일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로 생성해라. 용어와 업무 규칙은 하나의 상위 절 안에서 별도 소제목으로 구분해라. 대화창에서 검토한 최종 클래스·시퀀스·상태 머신 다이어그램은 독립 절에 재사용 가능한 원본과 필요한 설명을 포함해라. 실습 2의 날짜·금액 조건을 반복하지 말고 참조해라. 새 결정을 추가하거나 폐기한 안을 되살리지 마라. 남은 미결 사항은 해당 항목에 이유와 영향을 표시해라.”</a:t>
            </a:r>
          </a:p>
          <a:p>
            <a:pPr lvl="2" marL="723900" indent="-3683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점검 항목</a:t>
            </a:r>
          </a:p>
          <a:p>
            <a:pPr lvl="3" marL="1028700" indent="-304800"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1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용어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신청과 계약, 판매가와 확정 금액의 뜻이 명확한가?</a:t>
            </a:r>
          </a:p>
          <a:p>
            <a:pPr lvl="3" marL="1028700" indent="-304800"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2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정적 모델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필요한 업무 개념·속성·관계·다중성이 일관되는가?</a:t>
            </a:r>
          </a:p>
          <a:p>
            <a:pPr lvl="3" marL="1028700" indent="-304800"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3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동적 모델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상호작용과 사건·상태 변화가 같은 업무를 설명하는가?</a:t>
            </a:r>
          </a:p>
          <a:p>
            <a:pPr lvl="3" marL="1028700" indent="-304800"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4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일관성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일정·금액·결제 결과·중복 방지의 수용 기준을 설명하는가?</a:t>
            </a:r>
          </a:p>
          <a:p>
            <a:pPr lvl="3" marL="1028700" indent="-304800"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5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범위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기존 기능 재구현과 설계·DB·API·운영 모델을 추가하지 않았는가?</a:t>
            </a:r>
          </a:p>
          <a:p>
            <a:pPr lvl="2" marL="723900" indent="-3683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결과물</a:t>
            </a:r>
          </a:p>
          <a:p>
            <a:pPr lvl="3" marL="7239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용어·업무 규칙·세 다이어그램 원본을 포함한 최종 MD 파일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. 마지막 합의를 확인하고 실습 4에 첨부한다.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실습 3 정기배송 최초 신청 도메인 모델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별첨. 실습 답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- 21 -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별첨: 03. 도메인 모델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172" y="960120"/>
            <a:ext cx="4338828" cy="5352345"/>
          </a:xfrm>
        </p:spPr>
        <p:txBody>
          <a:bodyPr>
            <a:normAutofit/>
          </a:bodyPr>
          <a:lstStyle/>
          <a:p>
            <a:pPr marL="322580" indent="-139700">
              <a:spcBef>
                <a:spcPts val="300"/>
              </a:spcBef>
              <a:spcAft>
                <a:spcPts val="300"/>
              </a:spcAft>
              <a:buNone/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1. 용어와 업무 규칙</a:t>
            </a:r>
          </a:p>
          <a:p>
            <a:pPr marL="18288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1.1 용어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정기배송 신청: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고객이 상품 한 종류와 수량, 본인의 등록 배송지·결제수단 및 배송 조건을 선택하여 계약 체결을 요청하는 과정이다.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정기배송 계약: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첫 결제 성공이 확인될 때 정기배송 신청으로부터 성립하는 계약이다.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배송회차: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신청 시 계산하여 고객에게 고지하는 예정 일정이다. 실제 배송 실행이나 운영 상태를 뜻하지 않는다.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첫 결제: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첫 회차 금액을 신청 시 결제하는 행위다.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회차 결제금액: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신청 시 확정하여 모든 배송회차에 동일하게 적용하는 금액이다.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동일 신청: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고객이 한 번의 신청 의사로 시작한 신청이 반복 전달된 경우다. 선택 내용이 같다는 사실만으로 동일 신청이 되지는 않는다.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별개 신규 신청: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고객이 신청 절차를 새로 시작하고 별도로 신청 의사를 확인한 신청이다.</a:t>
            </a:r>
          </a:p>
          <a:p>
            <a:pPr marL="18288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1.2 업무 규칙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한 신청에서는 상품 한 종류와 수량을 선택한다.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기존 회원·상품·등록 배송지·등록 결제수단은 기존 쇼핑몰의 개념을 참조하며 내부 구조를 새로 정의하지 않는다.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고객은 본인의 유효한 등록 배송지와 등록 결제수단만 선택할 수 있다.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선택 대상이 유효하지 않거나 본인 소유가 아니거나 첫 배송일이 허용되지 않으면 선택 내용 확인을 요청하고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신청준비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상태를 유지한다. 이때 첫 결제를 실행하지 않는다.</a:t>
            </a:r>
          </a:p>
        </p:txBody>
      </p:sp>
      <p:sp>
        <p:nvSpPr>
          <p:cNvPr id="9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960120"/>
            <a:ext cx="4439412" cy="5352345"/>
          </a:xfrm>
        </p:spPr>
        <p:txBody>
          <a:bodyPr>
            <a:normAutofit/>
          </a:bodyPr>
          <a:lstStyle/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날짜 산정, 배송회차 계산, 월말 처리, 금액 산정·유지 및 검증값은 </a:t>
            </a: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실습 2 요구사항 정의서와 대표 수용 기준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을 따른다.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신청 완료 전 선택 내용, 계약 조건, 배송 일정과 횟수, 결제금액과 결제 시점, 금액 유지 및 자동 갱신 없음을 고지한다.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첫 회차는 신청 시 결제하며 배송일 기준의 결제 예정일을 갖지 않는다. 이후 회차만 실습 2에서 정한 결제 예정일을 갖는다.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첫 결제 성공이 확인된 경우에만 신청이 완료되고 신청당 최대 하나의 계약이 성립한다.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첫 결제 실패가 확정되면 신청은 미완료되고 계약은 성립하지 않는다. 다시 신청하려면 별개의 신규 신청을 시작해야 한다.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결제 결과를 확인할 수 없으면 실패로 취급하지 않고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결과확인필요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상태로 둔다. 이후 결제 시스템의 결과 확인을 통해 성공 또는 실패가 확정된다.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계약이 성립하면 신청 시 고지한 배송회차와 회차 결제금액이 계약 내용으로 확정된다.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동일 신청의 반복 전달은 추가 청구, 추가 계약, 회차 추가 또는 상태 변화를 일으키지 않는다. 결과가 확정되었으면 기존 결과를, 아직 확정되지 않았으면 결과 확인 필요를 안내한다.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별개의 신규 신청은 허용한다. 동일 신청을 식별하는 기술적 방식은 설계에서 결정한다.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결제 결과를 통지하거나 조회하는 기술적 방식과 고객 알림 수단은 설계에서 결정한다.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이후 배송 운영, 후속 결제 실행, 배송 불가일 조정, 계약 변경 및 해지는 이 모델의 범위에서 제외한다.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2. 클래스 다이어그램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별첨. 실습 답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- 22 -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별첨: 03. 도메인 모델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</p:txBody>
      </p:sp>
      <p:pic>
        <p:nvPicPr>
          <p:cNvPr id="9" name="plantuml Diagram 5"/>
          <p:cNvPicPr>
            <a:picLocks noChangeAspect="1"/>
          </p:cNvPicPr>
          <p:nvPr/>
        </p:nvPicPr>
        <p:blipFill>
          <a:blip r:embed="plantumlImage5"/>
          <a:stretch>
            <a:fillRect/>
          </a:stretch>
        </p:blipFill>
        <p:spPr>
          <a:xfrm>
            <a:off x="1461119" y="960120"/>
            <a:ext cx="6221761" cy="5352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3. 시퀀스 다이어그램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별첨. 실습 답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- 23 -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별첨: 03. 도메인 모델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</p:txBody>
      </p:sp>
      <p:pic>
        <p:nvPicPr>
          <p:cNvPr id="9" name="plantuml Diagram 6"/>
          <p:cNvPicPr>
            <a:picLocks noChangeAspect="1"/>
          </p:cNvPicPr>
          <p:nvPr/>
        </p:nvPicPr>
        <p:blipFill>
          <a:blip r:embed="plantumlImage6"/>
          <a:stretch>
            <a:fillRect/>
          </a:stretch>
        </p:blipFill>
        <p:spPr>
          <a:xfrm>
            <a:off x="2219569" y="960120"/>
            <a:ext cx="4704862" cy="4817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4. 상태 머신 다이어그램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별첨. 실습 답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- 24 -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별첨: 03. 도메인 모델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</p:txBody>
      </p:sp>
      <p:pic>
        <p:nvPicPr>
          <p:cNvPr id="9" name="plantuml Diagram 7"/>
          <p:cNvPicPr>
            <a:picLocks noChangeAspect="1"/>
          </p:cNvPicPr>
          <p:nvPr/>
        </p:nvPicPr>
        <p:blipFill>
          <a:blip r:embed="plantumlImage7"/>
          <a:stretch>
            <a:fillRect/>
          </a:stretch>
        </p:blipFill>
        <p:spPr>
          <a:xfrm>
            <a:off x="2349744" y="960120"/>
            <a:ext cx="4444512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테마">
  <a:themeElements>
    <a:clrScheme name="태양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/>
      </a:spPr>
      <a:bodyPr lIns="0" rIns="0" rtlCol="0" anchor="ctr"/>
      <a:lstStyle>
        <a:defPPr algn="ctr">
          <a:defRPr sz="1200" b="1" dirty="0" smtClean="0">
            <a:solidFill>
              <a:schemeClr val="bg1"/>
            </a:solidFill>
          </a:defRPr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emplate>Office Theme</ns0:Template>
  <ns0:TotalTime>0</ns0:TotalTime>
  <ns0:Words>0</ns0:Words>
  <ns0:Application>Microsoft Macintosh PowerPoint</ns0:Application>
  <ns0:PresentationFormat>화면 슬라이드 쇼(4:3)</ns0:PresentationFormat>
  <ns0:Paragraphs>0</ns0:Paragraphs>
  <ns0:Slides>5</ns0:Slides>
  <ns0:Notes>23</ns0:Notes>
  <ns0:HiddenSlides>0</ns0:HiddenSlides>
  <ns0:MMClips>0</ns0:MMClips>
  <ns0:ScaleCrop>false</ns0:ScaleCrop>
  <ns0:HeadingPairs>
    <ns1:vector size="6" baseType="variant">
      <ns1:variant>
        <ns1:lpstr>사용한 글꼴</ns1:lpstr>
      </ns1:variant>
      <ns1:variant>
        <ns1:i4>3</ns1:i4>
      </ns1:variant>
      <ns1:variant>
        <ns1:lpstr>테마</ns1:lpstr>
      </ns1:variant>
      <ns1:variant>
        <ns1:i4>1</ns1:i4>
      </ns1:variant>
      <ns1:variant>
        <ns1:lpstr>슬라이드 제목</ns1:lpstr>
      </ns1:variant>
      <ns1:variant>
        <ns1:i4>24</ns1:i4>
      </ns1:variant>
    </ns1:vector>
  </ns0:HeadingPairs>
  <ns0:TitlesOfParts>
    <ns1:vector size="28" baseType="lpstr">
      <ns1:lpstr>맑은 고딕</ns1:lpstr>
      <ns1:lpstr>Arial</ns1:lpstr>
      <ns1:lpstr>Wingdings</ns1:lpstr>
      <ns1:lpstr>4_Office 테마</ns1:lpstr>
      <ns1:lpstr>03. 도메인 모델 목차</ns1:lpstr>
      <ns1:lpstr>01. 세션 목표</ns1:lpstr>
      <ns1:lpstr>같은 업무를 설명하는 여러 관점 02. 도메인 모델이 명시하는 것</ns1:lpstr>
      <ns1:lpstr>개념 모델과 온톨로지 02. 도메인 모델이 명시하는 것</ns1:lpstr>
      <ns1:lpstr>03. 분석·설계·구현</ns1:lpstr>
      <ns1:lpstr>이름이 같으면 뜻도 같아야 한다 04. 용어집</ns1:lpstr>
      <ns1:lpstr>가격을 판매가와 단가로 나누기 04. 용어집</ns1:lpstr>
      <ns1:lpstr>주문·주문 항목·상품 05. 개념과 관계</ns1:lpstr>
      <ns1:lpstr>하나의 주문으로 관계 확인하기 05. 개념과 관계</ns1:lpstr>
      <ns1:lpstr>사건이 상태를 바꾼다 06. 상태와 전이</ns1:lpstr>
      <ns1:lpstr>금지된 전이와 아직 모르는 전이 06. 상태와 전이</ns1:lpstr>
      <ns1:lpstr>07. 업무 규칙과 대표 예</ns1:lpstr>
      <ns1:lpstr>초안과 확정의 책임 08. 모델을 만들 때 사람과 AI</ns1:lpstr>
      <ns1:lpstr>교육용 초안 검토 예 08. 모델을 만들 때 사람과 AI</ns1:lpstr>
      <ns1:lpstr>개념과 속성을 코드에 연결하기 09. 모델에서 코드와 테스트로</ns1:lpstr>
      <ns1:lpstr>상태와 승인 후 행동을 코드에 연결하기 09. 모델에서 코드와 테스트로</ns1:lpstr>
      <ns1:lpstr>대표 예를 실행해 확인하기 09. 모델에서 코드와 테스트로</ns1:lpstr>
      <ns1:lpstr>10. 잘못된 관행</ns1:lpstr>
      <ns1:lpstr>11. 실습 — 도메인 모델</ns1:lpstr>
      <ns1:lpstr>12. 요약</ns1:lpstr>
      <ns1:lpstr>실습 3 정기배송 최초 신청 도메인 모델 별첨. 실습 답</ns1:lpstr>
      <ns1:lpstr>2. 클래스 다이어그램 별첨. 실습 답</ns1:lpstr>
      <ns1:lpstr>3. 시퀀스 다이어그램 별첨. 실습 답</ns1:lpstr>
      <ns1:lpstr>4. 상태 머신 다이어그램 별첨. 실습 답</ns1:lpstr>
    </ns1:vector>
  </ns0:TitlesOfParts>
  <ns0:LinksUpToDate>false</ns0:LinksUpToDate>
  <ns0:SharedDoc>false</ns0:SharedDoc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03. 도메인 모델</dc:title>
  <dc:creator>Kim YoungSan</dc:creator>
  <cp:lastModifiedBy>Youngon Kim</cp:lastModifiedBy>
  <cp:revision>42</cp:revision>
  <dcterms:created xsi:type="dcterms:W3CDTF">2021-02-25T22:04:20Z</dcterms:created>
  <dcterms:modified xsi:type="dcterms:W3CDTF">2026-09-21T23:10:41Z</dcterms:modified>
</cp:coreProperties>
</file>