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Default Extension="png" ContentType="image/png"/>
  <ns0:Override PartName="/ppt/notesSlides/notesSlide22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4.xml" ContentType="application/vnd.openxmlformats-officedocument.presentationml.notes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>
  <ns0:sldMasterIdLst>
    <ns0:sldMasterId id="2147483720" ns1:id="rId1"/>
  </ns0:sldMasterIdLst>
  <ns0:notesMasterIdLst>
    <ns0:notesMasterId ns1:id="rId15"/>
  </ns0:notesMasterIdLst>
  <ns0:sldIdLst>
    <ns0:sldId id="277" ns1:id="javaLecture22"/>
    <ns0:sldId id="279" ns1:id="javaLecture24"/>
    <ns0:sldId id="280" ns1:id="javaLecture25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4" orient="horz" pos="890" userDrawn="1">
          <ns3:clr>
            <ns2:srgbClr val="A4A3A4"/>
          </ns3:clr>
        </ns3:guide>
        <ns3:guide id="5" pos="2880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'1.0' encoding='utf-8'?>
<ns0:Relationships xmlns:ns0="http://schemas.openxmlformats.org/package/2006/relationships"><ns0:Relationship Id="rId18" Type="http://schemas.openxmlformats.org/officeDocument/2006/relationships/theme" Target="theme/theme1.xml" /><ns0:Relationship Id="rId17" Type="http://schemas.openxmlformats.org/officeDocument/2006/relationships/viewProps" Target="viewProps.xml" /><ns0:Relationship Id="rId16" Type="http://schemas.openxmlformats.org/officeDocument/2006/relationships/presProps" Target="presProps.xml" /><ns0:Relationship Id="rId20" Type="http://schemas.microsoft.com/office/2015/10/relationships/revisionInfo" Target="revisionInfo.xml" /><ns0:Relationship Id="rId1" Type="http://schemas.openxmlformats.org/officeDocument/2006/relationships/slideMaster" Target="slideMasters/slideMaster1.xml" /><ns0:Relationship Id="rId15" Type="http://schemas.openxmlformats.org/officeDocument/2006/relationships/notesMaster" Target="notesMasters/notesMaster1.xml" /><ns0:Relationship Id="rId19" Type="http://schemas.openxmlformats.org/officeDocument/2006/relationships/tableStyles" Target="tableStyles.xml" /><ns0:Relationship Id="javaLecture22" Type="http://schemas.openxmlformats.org/officeDocument/2006/relationships/slide" Target="slides/slide22.xml" /><ns0:Relationship Id="javaLecture24" Type="http://schemas.openxmlformats.org/officeDocument/2006/relationships/slide" Target="slides/slide24.xml" /><ns0:Relationship Id="javaLecture25" Type="http://schemas.openxmlformats.org/officeDocument/2006/relationships/slide" Target="slides/slide25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Codex·ChatGPT·Claude Team 등에서 renderer 없이 수행한다. ②~④에는 실제 받은 질문의 답과 검토 의견을 붙인다. 기본 문구만 기계적으로 반복하지 않는다.</a:t>
            </a:r>
          </a:p>
          <a:p>
            <a:pPr lvl="0"/>
            <a:r>
              <a:rPr lang="ko-KR" sz="1200"/>
              <a:t>⑤ 이후에도 MD의 누락·불일치·폐기한 안의 재등장을 검토하고 보완·재생성을 반복한다. 다음 작업이 가능하면 탐색을 끝낸다. 제출 여부와 무관하게 최종 MD를 저장해 다음 실습에 명시적으로 첨부한다.</a:t>
            </a:r>
          </a:p>
          <a:p>
            <a:pPr lvl="0"/>
            <a:r>
              <a:rPr lang="ko-KR" sz="1200"/>
              <a:t>최종 MD가 실습 원본이고 교재 슬라이드는 별도 제작물이다. 환경별 파일 생성·다운로드와 도식 표시를 사전에 확인한다. 도식 코드만 보이는 경우를 시각 검토 완료로 보지 않는다.</a:t>
            </a:r>
          </a:p>
          <a:p>
            <a:pPr lvl="0"/>
            <a:r>
              <a:rPr lang="ko-KR" sz="1200"/>
              <a:t>실습 1은 요청과 업무 조건 메모를 만들었다. 실습 2는 이를 고객의 가치를 나타내는 사용자 이야기 하나로 표현하고 요구사항 정의서로 구체화한다. 사용자 이야기는 문서 안에 담는 형식이다.</a:t>
            </a:r>
          </a:p>
          <a:p>
            <a:pPr lvl="0"/>
            <a:r>
              <a:rPr lang="ko-KR" sz="1200"/>
              <a:t>첫 입력에 실습 1의 업무 조건 메모를 함께 붙인다. 실제 예시는 code/s02/exercise-conversation/input-s01.md를 그대로 사용했다.</a:t>
            </a:r>
          </a:p>
          <a:p>
            <a:pPr lvl="0"/>
            <a:r>
              <a:rPr lang="ko-KR" sz="1200"/>
              <a:t>②~④의 문구만 입력하지 않는다. 수강생이 앞선 질문의 답을 함께 쓰고 필요한 추가 질문·수정 요청을 덧붙인다. 예: [앞선 질문에 대한 답] ... / [추가 질문·수정 요청] ...</a:t>
            </a:r>
          </a:p>
          <a:p>
            <a:pPr lvl="0"/>
            <a:r>
              <a:rPr lang="ko-KR" sz="1200"/>
              <a:t>기본 답변은 실습용 업무·품질 조건 자료를 참고하고 자신의 판단으로 보완한다. 판단하기 어려운 것은 임의 확정하지 않고 재질문한다. 모든 경우를 답하는 것이 아니라 최초 신청에 필요한 조건만 정한다.</a:t>
            </a:r>
          </a:p>
          <a:p>
            <a:pPr lvl="0"/>
            <a:r>
              <a:rPr lang="ko-KR" sz="1200"/>
              <a:t>실제 입력·응답 전체는 code/s02/exercise-conversation/conversation.md, 기본 조건은 exercise-conditions.md에 보존한다. ②는 실제 첫 질문에 답했고 ③은 기능 검토 후 품질 기준을 질문했고 ④는 실제 품질 질문에 답했다.</a:t>
            </a:r>
          </a:p>
          <a:p>
            <a:pPr lvl="0"/>
            <a:r>
              <a:rPr lang="ko-KR" sz="1200"/>
              <a:t>성능 시험의 동시 100건·95% 3초·외부 응답 1초는 실습용 가정이다. 실제 운영에서 합의한 목표처럼 설명하지 않는다. 품질 속성 전체를 나열하거나 새로운 운영 시스템을 설계하지 않는다.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code/s02/exercise-conversation/codex-response-05.md의 실제 최종 MD 전체를 사용했다. 발췌·요약·문장 수정·강조 추가 없이 제목 단계와 목록 들여쓰기만 대응했다. 도식 원본은 그대로 보존한다.</a:t>
            </a:r>
          </a:p>
          <a:p>
            <a:pPr lvl="0"/>
            <a:r>
              <a:rPr lang="ko-KR" sz="1200"/>
              <a:t>①~⑤는 단계이며 실제 대화의 횟수는 예시다. 이전 실제 대화의 합의 내용을 이어 새 ⑤를 실행했다. 실제 입력·응답은 conversation.md, 학습자용 기본 문구는 templates.json에 보존한다. 마지막 파일을 검토한 뒤 보완·재생성할 수 있다.</a:t>
            </a:r>
          </a:p>
          <a:p>
            <a:pPr lvl="0"/>
            <a:r>
              <a:rPr lang="ko-KR" sz="1200"/>
              <a:t>다음 실습에는 최종 MD를 명시적으로 첨부한다. 교재의 슬라이드 배치와 업무 산출물의 구성은 별개다.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2" Type="http://schemas.openxmlformats.org/officeDocument/2006/relationships/notesSlide" Target="../notesSlides/notesSlide2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4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실습 — 요구사항 정의서와 유저 스토리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02. 요구와 유저 스토리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43673"/>
            <a:ext cx="4069080" cy="4574247"/>
          </a:xfrm>
        </p:spPr>
        <p:txBody>
          <a:bodyPr>
            <a:normAutofit/>
          </a:bodyPr>
          <a:lstStyle/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프롬프트 —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 요청사항 포함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1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“아래 실습 1의 업무 조건 메모를 바탕으로 정기배송 최초 신청을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하나의 사용자 이야기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로 표현하고, 요구사항 초안을 짧게 작성해라. 화면·기술 설계와 신청 이후 운영 정책은 제외하고 기존 쇼핑몰 기능은 연계 대상으로 보아라. 작성에 꼭 필요한 미정 사항만 질문해라.”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2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“앞선 질문에 대한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아래 답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을 반영해 기능 요구사항을 보완해라. 내가 정하지 않은 업무 규칙을 추가하지 마라.”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3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“앞선 질문에 대한 답과 수정 요청을 반영해라. 최초 신청에서 중요한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품질 속성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을 제안하고, 확인 가능한 요구사항으로 정하기 위해 필요한 기준을 질문해라. 기존 쇼핑몰의 품질 정책은 준용한다.”</a:t>
            </a:r>
          </a:p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4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“아래 답과 품질 기준을 반영해 요구사항을 보완해라. 모호하거나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확인할 수 없는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표현과 근거 없는 정책이 남았는지 검토해라.”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683553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①로 시작해 답·질문·수정 요청을 주고받는다.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②~④는 보완 예시다. ⑤로 MD를 만들고 필요하면 보완·재생성한다.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9160" y="1643673"/>
            <a:ext cx="4069080" cy="4574247"/>
          </a:xfrm>
        </p:spPr>
        <p:txBody>
          <a:bodyPr>
            <a:normAutofit/>
          </a:bodyPr>
          <a:lstStyle/>
          <a:p>
            <a:pPr lvl="3" marL="981075" indent="-268288">
              <a:spcBef>
                <a:spcPts val="300"/>
              </a:spcBef>
              <a:spcAft>
                <a:spcPts val="300"/>
              </a:spcAft>
              <a:buFont typeface="+mj-ea"/>
              <a:buAutoNum type="circleNumDbPlain" startAt="5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“지금까지 합의한 정기배송 최초 신청의 요구사항 정의서를 다음 실습에 사용할 간결한 </a:t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Markdown 파일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로 생성해라. 사용자 이야기 하나와 업무 규칙·기능 요구사항·품질 요구사항·대표 수용 기준을 담고, 사람의 답과 피드백을 본문에 반영해라. 별도 Q&amp;A·중복 요약·설계·코드·범위 밖 운영은 제외해라. 새 결정을 추가하거나 폐기한 안을 되살리지 마라.”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점검 항목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1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이야기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최초 신청 하나에 고객과 가치가 드러나는가?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2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일관성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실습 1의 조건과 사람이 답한 내용을 반영했는가?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품질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시험 조건과 합격 기준이 확인 가능하며 근거가 있는가?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범위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화면·기술 설계, 기존 기능 재구현, 신청 이후 운영을 제외했는가?</a:t>
            </a:r>
          </a:p>
          <a:p>
            <a:pPr lvl="3" marL="1028700" indent="-3048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확인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성공·결제 실패·중복 요청의 결과를 확인할 수 있는가?</a:t>
            </a:r>
          </a:p>
          <a:p>
            <a:pPr lvl="2"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400" b="1">
                <a:solidFill>
                  <a:srgbClr val="000000"/>
                </a:solidFill>
                <a:latin typeface="맑은 고딕"/>
                <a:ea typeface="맑은 고딕"/>
              </a:rPr>
              <a:t>결과물</a:t>
            </a:r>
          </a:p>
          <a:p>
            <a:pPr lvl="3" marL="7239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200" b="1">
                <a:solidFill>
                  <a:srgbClr val="000000"/>
                </a:solidFill>
                <a:latin typeface="맑은 고딕"/>
                <a:ea typeface="맑은 고딕"/>
              </a:rPr>
              <a:t>사용자 이야기 하나를 포함한 요구사항 정의서 MD 파일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. 마지막 합의를 확인하고 실습 3에 첨부한다.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>
                <a:solidFill>
                  <a:srgbClr val="000000"/>
                </a:solidFill>
                <a:latin typeface="맑은 고딕"/>
                <a:ea typeface="맑은 고딕"/>
              </a:rPr>
              <a:t>정기배송 최초 신청 요구사항 정의서 </a:t>
            </a:r>
            <a:r>
              <a:rPr sz="1900" b="1">
                <a:solidFill>
                  <a:srgbClr val="000000"/>
                </a:solidFill>
                <a:latin typeface="맑은 고딕"/>
                <a:ea typeface="맑은 고딕"/>
              </a:rPr>
              <a:t>(1/2)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02. 요구와 유저 스토리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352345"/>
          </a:xfrm>
        </p:spPr>
        <p:txBody>
          <a:bodyPr>
            <a:normAutofit/>
          </a:bodyPr>
          <a:lstStyle/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사용자 이야기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기존 회원으로서 반복 주문의 수고를 줄이기 위해 원하는 상품을 정해진 주기로 배송받는 정기배송을 신청하고 싶다.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업무 규칙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1. 정기배송은 자동 갱신하지 않으며 계약기간이 끝나면 종료한다.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2. 계약기간은 3개월 또는 6개월, 배송 주기는 2주 또는 4주로 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3. 첫 배송일은 신청일에 3일을 더한 날짜부터 선택할 수 있으며 해당 날짜를 포함한다. 배송 가능 여부는 기존 쇼핑몰 배송 달력을 따른다.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4. 첫 배송일을 계약 시작일로 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5. 계약 종료일은 첫 배송일에 계약 개월 수를 더한 날짜로 한다. 해당 월에 같은 날짜가 없으면 그달의 말일로 하며, 종료일은 계약기간에 포함하지 않는다.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6. 첫 배송일을 첫 회차로 하고 이후 선택한 배송 주기마다 배송 예정일을 산정한다. 계약 종료일보다 이른 회차만 포함한다.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7. 상품 가격·할인·배송비는 신청 시점의 기존 쇼핑몰 정책으로 산정하며, 산정된 회차별 결제금액은 계약기간 동안 유지한다.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8. 첫 회차는 신청 시 결제하고 이후 회차는 각 배송 예정일 3일 전에 결제한다.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9. 첫 회차 결제 성공이 확인된 경우에만 신청을 완료한다. 결제 실패 시 신청은 완료되지 않으며, 결과를 확인할 수 없으면 완료로 단정하지 않고 결과 확인이 필요함을 안내한다.</a:t>
            </a:r>
          </a:p>
          <a:p>
            <a:pPr lvl="2" marL="621030" indent="-20955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10. 동일한 신청의 반복 전송으로 계약이나 첫 회차 결제가 중복되어서는 안 된다. 별개의 신규 신청은 제한하지 않는다.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352345"/>
          </a:xfrm>
        </p:spPr>
        <p:txBody>
          <a:bodyPr>
            <a:normAutofit/>
          </a:bodyPr>
          <a:lstStyle/>
          <a:p>
            <a:pPr lvl="2" marL="621030" indent="-20955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11. 회원·상품·배송지·결제수단·배송 달력과 일반 주문 정책은 기존 쇼핑몰 기능 및 정책을 연계한다.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기능 요구사항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1. 기존 회원은 상품과 수량, 자신이 등록한 배송지와 결제수단을 선택할 수 있어야 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2. 회원은 계약기간, 배송 주기와 첫 배송일을 선택할 수 있어야 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3. 신청 완료 전에 다음 내용을 회원에게 고지해야 한다.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선택한 상품과 수량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배송지와 결제수단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계약기간·계약 시작일·계약 종료일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배송 주기와 첫 배송일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총 배송 횟수와 회차별 예정 배송일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회차 결제금액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계약기간 동안 유지되는 회차별 결제금액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첫 회차와 이후 회차의 결제 시점</a:t>
            </a:r>
          </a:p>
          <a:p>
            <a:pPr lvl="3" marL="73152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자동 갱신 없이 계약기간 종료 시 종료된다는 사실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4. 신청 과정에서 첫 회차 결제를 수행하고 결제 결과에 따라 신청 결과를 안내해야 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5. 동일한 신청이 반복 전송되어도 하나의 계약과 한 번의 첫 회차 결제만 처리해야 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>
                <a:solidFill>
                  <a:srgbClr val="000000"/>
                </a:solidFill>
                <a:latin typeface="맑은 고딕"/>
                <a:ea typeface="맑은 고딕"/>
              </a:rPr>
              <a:t>정기배송 최초 신청 요구사항 정의서 </a:t>
            </a:r>
            <a:r>
              <a:rPr sz="1900" b="1">
                <a:solidFill>
                  <a:srgbClr val="000000"/>
                </a:solidFill>
                <a:latin typeface="맑은 고딕"/>
                <a:ea typeface="맑은 고딕"/>
              </a:rPr>
              <a:t>(2/2)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별첨. 실습 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별첨: 02. 요구와 유저 스토리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352345"/>
          </a:xfrm>
        </p:spPr>
        <p:txBody>
          <a:bodyPr>
            <a:normAutofit/>
          </a:bodyPr>
          <a:lstStyle/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품질 요구사항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1. 동시 신청 100건이고 각 외부 연계가 1초 이내에 응답하는 정상 시험 조건에서, 신청 요청부터 결과 수신까지 전체 요청의 95% 이상이 3초 이내여야 한다. 이는 실습 검증 기준이며 실제 운영 보장 수치는 아니다. 이를 초과하는 부하는 기존 쇼핑몰 정책을 따른다.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2. 회원은 자신의 배송지와 결제수단만 선택하고 자신의 정기배송 신청 정보에만 접근할 수 있어야 한다. 다른 회원의 정보는 조회하거나 변경할 수 없어야 한다.</a:t>
            </a:r>
          </a:p>
          <a:p>
            <a:pPr lvl="2" marL="551180" indent="-13970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3. 운영시간·가용성·복구·기록 보존·보안·개인정보 보호는 기존 쇼핑몰 정책을 준용한다.</a:t>
            </a:r>
          </a:p>
          <a:p>
            <a:pPr marL="18288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대표 수용 기준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일정 계산: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배송일이 2027-11-03이고 계약기간이 3개월, 배송 주기가 2주이면 계약 종료일은 2028-02-03이며 해당 날짜는 제외한다. 배송 예정일은 2027-11-03, 11-17, 12-01, 12-15, 12-29, 2028-01-12, 01-26의 총 7회다.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월말 계산: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배송일이 2027-01-31이고 계약기간이 3개월이면 계약 종료일은 2027-04-30이며 해당 날짜는 제외한다. 시험 날짜는 기존 배송 달력에서 허용된 것으로 본다.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금액 유지: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휴지 1묶음의 신청 시 가격이 10,000원이고 할인과 배송비가 각각 0원이면 회차별 결제금액은 10,000원이다. 이후 상품 가격이 변경되어도 계약기간 동안 같은 금액을 유지한다.</a:t>
            </a:r>
          </a:p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신청 결과: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첫 회차 결제 성공이 확인되면 신청 완료로 안내하고, 실패하면 신청 미완료로 안내한다. 결제 결과를 확인할 수 없으면 결과 확인이 필요함을 안내한다.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352345"/>
          </a:xfrm>
        </p:spPr>
        <p:txBody>
          <a:bodyPr>
            <a:normAutofit/>
          </a:bodyPr>
          <a:lstStyle/>
          <a:p>
            <a:pPr lvl="2" marL="411480" indent="-13716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반복 전송: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 동일한 신청을 반복 전송해도 생성되는 계약과 실행되는 첫 회차 결제는 각각 하나여야 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>Office Theme</ns0:Template>
  <ns0:TotalTime>0</ns0:TotalTime>
  <ns0:Words>0</ns0:Words>
  <ns0:Application>Microsoft Macintosh PowerPoint</ns0:Application>
  <ns0:PresentationFormat>화면 슬라이드 쇼(4:3)</ns0:PresentationFormat>
  <ns0:Paragraphs>0</ns0:Paragraphs>
  <ns0:Slides>3</ns0:Slides>
  <ns0:Notes>23</ns0:Notes>
  <ns0:HiddenSlides>0</ns0:HiddenSlides>
  <ns0:MMClips>0</ns0:MMClips>
  <ns0:ScaleCrop>false</ns0:ScaleCrop>
  <ns0:HeadingPairs>
    <ns1:vector size="6" baseType="variant">
      <ns1:variant>
        <ns1:lpstr>사용한 글꼴</ns1:lpstr>
      </ns1:variant>
      <ns1:variant>
        <ns1:i4>3</ns1:i4>
      </ns1:variant>
      <ns1:variant>
        <ns1:lpstr>테마</ns1:lpstr>
      </ns1:variant>
      <ns1:variant>
        <ns1:i4>1</ns1:i4>
      </ns1:variant>
      <ns1:variant>
        <ns1:lpstr>슬라이드 제목</ns1:lpstr>
      </ns1:variant>
      <ns1:variant>
        <ns1:i4>25</ns1:i4>
      </ns1:variant>
    </ns1:vector>
  </ns0:HeadingPairs>
  <ns0:TitlesOfParts>
    <ns1:vector size="29" baseType="lpstr">
      <ns1:lpstr>맑은 고딕</ns1:lpstr>
      <ns1:lpstr>Arial</ns1:lpstr>
      <ns1:lpstr>Wingdings</ns1:lpstr>
      <ns1:lpstr>4_Office 테마</ns1:lpstr>
      <ns1:lpstr>02. 요구와 유저 스토리 목차</ns1:lpstr>
      <ns1:lpstr>01. 세션 목표</ns1:lpstr>
      <ns1:lpstr>문제·요구·요구사항·해결책 02. 문제에서 요구사항으로</ns1:lpstr>
      <ns1:lpstr>업무 규칙 찾기 02. 문제에서 요구사항으로</ns1:lpstr>
      <ns1:lpstr>내용·형식·문서 02. 문제에서 요구사항으로</ns1:lpstr>
      <ns1:lpstr>03. 요구를 담는 형식</ns1:lpstr>
      <ns1:lpstr>카드·대화·확인 04. 유저 스토리</ns1:lpstr>
      <ns1:lpstr>스토리의 문형 04. 유저 스토리</ns1:lpstr>
      <ns1:lpstr>스토리와 수용 기준 04. 유저 스토리</ns1:lpstr>
      <ns1:lpstr>좋은 유저 스토리 — INVEST 04. 유저 스토리</ns1:lpstr>
      <ns1:lpstr>스토리 나누기 04. 유저 스토리</ns1:lpstr>
      <ns1:lpstr>사용자 이야기를 정의서에 담는다 05. 요구사항 정의서와 작업 명세서</ns1:lpstr>
      <ns1:lpstr>요구에서 코드까지 05. 요구사항 정의서와 작업 명세서</ns1:lpstr>
      <ns1:lpstr>범위와 수명 05. 요구사항 정의서와 작업 명세서</ns1:lpstr>
      <ns1:lpstr>기능과 필요한 품질 06. 품질 요구사항</ns1:lpstr>
      <ns1:lpstr>품질을 확인 가능한 기준으로 06. 품질 요구사항</ns1:lpstr>
      <ns1:lpstr>명세 주도 개발이란? 07. 명세 주도 개발</ns1:lpstr>
      <ns1:lpstr>얼마나 남기는가? 07. 명세 주도 개발</ns1:lpstr>
      <ns1:lpstr>초안이 쓴 것 08. 시연 — LLM이 쓴 요구 초안</ns1:lpstr>
      <ns1:lpstr>사람이 답한다 08. 시연 — LLM이 쓴 요구 초안</ns1:lpstr>
      <ns1:lpstr>09. 잘못된 관행</ns1:lpstr>
      <ns1:lpstr>10. 실습 — 요구사항 정의서와 유저 스토리</ns1:lpstr>
      <ns1:lpstr>11. 요약</ns1:lpstr>
      <ns1:lpstr>정기배송 최초 신청 요구사항 정의서 (1/2) 별첨. 실습 답</ns1:lpstr>
      <ns1:lpstr>정기배송 최초 신청 요구사항 정의서 (2/2) 별첨. 실습 답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 요구와 유저 스토리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