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theme/theme2.xml" ContentType="application/vnd.openxmlformats-officedocument.theme+xml"/>
  <ns0:Override PartName="/ppt/revisionInfo.xml" ContentType="application/vnd.ms-powerpoint.revisioninfo+xml"/>
  <ns0:Override PartName="/docProps/core.xml" ContentType="application/vnd.openxmlformats-package.core-properties+xml"/>
  <ns0:Override PartName="/docProps/app.xml" ContentType="application/vnd.openxmlformats-officedocument.extended-properties+xml"/>
  <ns0:Default Extension="png" ContentType="image/png"/>
  <ns0:Override PartName="/ppt/notesSlides/notesSlide31.xml" ContentType="application/vnd.openxmlformats-officedocument.presentationml.notesSlide+xml"/>
  <ns0:Override PartName="/ppt/slides/slide31.xml" ContentType="application/vnd.openxmlformats-officedocument.presentationml.slide+xml"/>
  <ns0:Override PartName="/ppt/notesSlides/notesSlide33.xml" ContentType="application/vnd.openxmlformats-officedocument.presentationml.notesSlide+xml"/>
  <ns0:Override PartName="/ppt/slides/slide33.xml" ContentType="application/vnd.openxmlformats-officedocument.presentationml.slide+xml"/>
  <ns0:Override PartName="/ppt/slides/slide34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>
  <ns0:sldMasterIdLst>
    <ns0:sldMasterId id="2147483720" ns1:id="rId1"/>
  </ns0:sldMasterIdLst>
  <ns0:notesMasterIdLst>
    <ns0:notesMasterId ns1:id="rId15"/>
  </ns0:notesMasterIdLst>
  <ns0:sldIdLst>
    <ns0:sldId id="286" ns1:id="javaLecture31"/>
    <ns0:sldId id="288" ns1:id="javaLecture33"/>
    <ns0:sldId id="289" ns1:id="javaLecture34"/>
  </ns0:sldIdLst>
  <ns0:sldSz cx="9144000" cy="6858000" type="screen4x3"/>
  <ns0:notesSz cx="6858000" cy="9144000"/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4" orient="horz" pos="890" userDrawn="1">
          <ns3:clr>
            <ns2:srgbClr val="A4A3A4"/>
          </ns3:clr>
        </ns3:guide>
        <ns3:guide id="5" pos="2880">
          <ns3:clr>
            <ns2:srgbClr val="A4A3A4"/>
          </ns3:clr>
        </ns3:guide>
      </ns3:sldGuideLst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41C14D-A5A2-2B4D-B033-1B776E74D04A}" v="40" dt="2026-09-12T11:52:04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62"/>
    <p:restoredTop sz="92496"/>
  </p:normalViewPr>
  <p:slideViewPr>
    <p:cSldViewPr snapToGrid="0">
      <p:cViewPr varScale="1">
        <p:scale>
          <a:sx n="106" d="100"/>
          <a:sy n="106" d="100"/>
        </p:scale>
        <p:origin x="1984" y="184"/>
      </p:cViewPr>
      <p:guideLst>
        <p:guide orient="horz" pos="89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8" d="100"/>
        <a:sy n="118" d="100"/>
      </p:scale>
      <p:origin x="0" y="0"/>
    </p:cViewPr>
  </p:sorterViewPr>
  <p:gridSpacing cx="76200" cy="76200"/>
</p:viewPr>
</file>

<file path=ppt/_rels/presentation.xml.rels><?xml version='1.0' encoding='utf-8'?>
<ns0:Relationships xmlns:ns0="http://schemas.openxmlformats.org/package/2006/relationships"><ns0:Relationship Id="rId18" Type="http://schemas.openxmlformats.org/officeDocument/2006/relationships/theme" Target="theme/theme1.xml" /><ns0:Relationship Id="rId17" Type="http://schemas.openxmlformats.org/officeDocument/2006/relationships/viewProps" Target="viewProps.xml" /><ns0:Relationship Id="rId16" Type="http://schemas.openxmlformats.org/officeDocument/2006/relationships/presProps" Target="presProps.xml" /><ns0:Relationship Id="rId20" Type="http://schemas.microsoft.com/office/2015/10/relationships/revisionInfo" Target="revisionInfo.xml" /><ns0:Relationship Id="rId1" Type="http://schemas.openxmlformats.org/officeDocument/2006/relationships/slideMaster" Target="slideMasters/slideMaster1.xml" /><ns0:Relationship Id="rId15" Type="http://schemas.openxmlformats.org/officeDocument/2006/relationships/notesMaster" Target="notesMasters/notesMaster1.xml" /><ns0:Relationship Id="rId19" Type="http://schemas.openxmlformats.org/officeDocument/2006/relationships/tableStyles" Target="tableStyles.xml" /><ns0:Relationship Id="javaLecture31" Type="http://schemas.openxmlformats.org/officeDocument/2006/relationships/slide" Target="slides/slide31.xml" /><ns0:Relationship Id="javaLecture33" Type="http://schemas.openxmlformats.org/officeDocument/2006/relationships/slide" Target="slides/slide33.xml" /><ns0:Relationship Id="javaLecture34" Type="http://schemas.openxmlformats.org/officeDocument/2006/relationships/slide" Target="slides/slide34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E4FF0-A6B5-46CD-9CD3-2CF2AFF3AE5A}" type="datetimeFigureOut">
              <a:rPr lang="ko-KR" altLang="en-US" smtClean="0"/>
              <a:t>2026. 9. 22.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5E7E4-F626-4F14-BF5E-991C69F9D1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61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3.xml.rels><?xml version="1.0" encoding="UTF-8"?>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Codex·ChatGPT·Claude Team 등에서 renderer 없이 수행한다. ②~④에는 실제 받은 질문의 답과 검토 의견을 붙인다. 기본 문구만 기계적으로 반복하지 않는다.</a:t>
            </a:r>
          </a:p>
          <a:p>
            <a:pPr lvl="0"/>
            <a:r>
              <a:rPr lang="ko-KR" sz="1200"/>
              <a:t>⑤ 이후에도 MD의 누락·불일치·폐기한 안의 재등장을 검토하고 보완·재생성을 반복한다. 다음 작업이 가능하면 탐색을 끝낸다. 제출 여부와 무관하게 최종 MD를 저장해 다음 실습에 명시적으로 첨부한다.</a:t>
            </a:r>
          </a:p>
          <a:p>
            <a:pPr lvl="0"/>
            <a:r>
              <a:rPr lang="ko-KR" sz="1200"/>
              <a:t>최종 MD가 실습 원본이고 교재 슬라이드는 별도 제작물이다. 환경별 파일 생성·다운로드와 도식 표시를 사전에 확인한다. 도식 코드만 보이는 경우를 시각 검토 완료로 보지 않는다.</a:t>
            </a:r>
          </a:p>
          <a:p>
            <a:pPr lvl="0"/>
            <a:r>
              <a:rPr lang="ko-KR" sz="1200"/>
              <a:t>목적은 요구사항을 쓰기 전에 사람이 결정할 업무 조건이 있음을 이해하는 것이다. 상세 요구사항 정의서나 설계는 만들지 않는다.</a:t>
            </a:r>
          </a:p>
          <a:p>
            <a:pPr lvl="0"/>
            <a:r>
              <a:rPr lang="ko-KR" sz="1200"/>
              <a:t>①~⑤는 대화 횟수가 아니라 단계다. ②~④는 보완 대화 예시이며 수강생에 따라 두 번 또는 열 번이 될 수 있다. 받은 답을 읽고 필요한 만큼 추가·반복한다.</a:t>
            </a:r>
          </a:p>
          <a:p>
            <a:pPr lvl="0"/>
            <a:r>
              <a:rPr lang="ko-KR" sz="1200"/>
              <a:t>점검 항목은 매 답변을 읽을 때 사용한다. 기술·화면 설계, 기존 기능 재구현, 범위 밖 운영 또는 AI가 채운 미정 정책을 발견하면 다음 요청에 보완 내용을 넣는다.</a:t>
            </a:r>
          </a:p>
          <a:p>
            <a:pPr lvl="0"/>
            <a:r>
              <a:rPr lang="ko-KR" sz="1200"/>
              <a:t>강사 예시는 code/s01/exercise-conversation/focused-prompts/의 실제 대화다. 앞선 질문에 답하며 확정한 업무 조건을 이어 받아 새 ⑤로 파일화했다. templates.json은 학습자용 기본 문구, prompt-*.txt와 conversation.md는 실제 입력·응답이다.</a:t>
            </a:r>
          </a:p>
          <a:p>
            <a:pPr lvl="0"/>
            <a:r>
              <a:rPr lang="ko-KR" sz="1200"/>
              <a:t>기존 상품 조회 기능의 구현은 연계 대상이며, 정기배송을 허용할 상품을 정하는 것은 새로운 업무 결정일 수 있다.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code/s01/exercise-conversation/focused-prompts/codex-response-05.md의 실제 최종 MD 전체를 사용했다. 발췌·요약·문장 수정·강조 추가 없이 제목 단계와 목록 들여쓰기만 대응했다. 도식 원본은 그대로 보존한다.</a:t>
            </a:r>
          </a:p>
          <a:p>
            <a:pPr lvl="0"/>
            <a:r>
              <a:rPr lang="ko-KR" sz="1200"/>
              <a:t>①~⑤는 단계이며 실제 대화의 횟수는 예시다. 이전 실제 대화의 합의 내용을 이어 새 ⑤를 실행했다. 실제 입력·응답은 conversation.md, 학습자용 기본 문구는 templates.json에 보존한다. 마지막 파일을 검토한 뒤 보완·재생성할 수 있다.</a:t>
            </a:r>
          </a:p>
          <a:p>
            <a:pPr lvl="0"/>
            <a:r>
              <a:rPr lang="ko-KR" sz="1200"/>
              <a:t>다음 실습에는 최종 MD를 명시적으로 첨부한다. 교재의 슬라이드 배치와 업무 산출물의 구성은 별개다.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8">
            <a:extLst>
              <a:ext uri="{FF2B5EF4-FFF2-40B4-BE49-F238E27FC236}">
                <a16:creationId xmlns:a16="http://schemas.microsoft.com/office/drawing/2014/main" id="{FF0E9F20-7865-40BF-831C-21A3A6DE669A}"/>
              </a:ext>
            </a:extLst>
          </p:cNvPr>
          <p:cNvCxnSpPr/>
          <p:nvPr userDrawn="1"/>
        </p:nvCxnSpPr>
        <p:spPr>
          <a:xfrm>
            <a:off x="370822" y="692696"/>
            <a:ext cx="8424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2094DC8E-CD32-4D9A-9DFC-F86395231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89" y="-38114"/>
            <a:ext cx="6300034" cy="720080"/>
          </a:xfrm>
          <a:prstGeom prst="rect">
            <a:avLst/>
          </a:prstGeom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8BCF7E4-4941-4537-9EC8-57C44E02DB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r>
              <a:rPr lang="en-US" altLang="ko-KR" dirty="0">
                <a:solidFill>
                  <a:prstClr val="black"/>
                </a:solidFill>
              </a:rPr>
              <a:t>- </a:t>
            </a:r>
            <a:fld id="{A18F303B-5FF2-4BD3-899C-BAED341F6249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en-US" altLang="ko-KR" dirty="0">
                <a:solidFill>
                  <a:prstClr val="black"/>
                </a:solidFill>
              </a:rPr>
              <a:t>-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7FC7E0F-889C-4F19-8056-F2D1D6357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9" y="980728"/>
            <a:ext cx="8424000" cy="553086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"/>
              <a:defRPr sz="2000" b="1"/>
            </a:lvl1pPr>
            <a:lvl2pPr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  <a:defRPr sz="1800" b="0"/>
            </a:lvl2pPr>
            <a:lvl3pPr marL="1077913" indent="-354013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  <a:defRPr sz="1600" b="0"/>
            </a:lvl3pPr>
            <a:lvl4pPr marL="1433513" indent="-3556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l"/>
              <a:defRPr sz="1400" b="0"/>
            </a:lvl4pPr>
            <a:lvl5pPr marL="1787525" indent="-354013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  <a:defRPr sz="1400" b="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535D420B-3C82-4BF6-9CCA-F8DA0A133F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6056" y="367445"/>
            <a:ext cx="3699901" cy="26473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2pPr>
            <a:lvl3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3pPr>
            <a:lvl4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4pPr>
            <a:lvl5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5pPr>
          </a:lstStyle>
          <a:p>
            <a:pPr lvl="0"/>
            <a:r>
              <a:rPr lang="en-US" altLang="ko-KR"/>
              <a:t>Level #1</a:t>
            </a:r>
          </a:p>
        </p:txBody>
      </p:sp>
      <p:sp>
        <p:nvSpPr>
          <p:cNvPr id="11" name="텍스트 개체 틀 9">
            <a:extLst>
              <a:ext uri="{FF2B5EF4-FFF2-40B4-BE49-F238E27FC236}">
                <a16:creationId xmlns:a16="http://schemas.microsoft.com/office/drawing/2014/main" id="{2A28188B-9A75-4416-A436-43EDEDA96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0420" y="710786"/>
            <a:ext cx="2915537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lang="en-US" altLang="ko-KR" sz="1400" b="1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Level #2</a:t>
            </a:r>
          </a:p>
        </p:txBody>
      </p:sp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B690A1C8-68B5-5F79-8C0D-DCD7EE5EA9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367" y="6485290"/>
            <a:ext cx="6244438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lang="en-US" altLang="ko-KR" sz="600" b="0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Level #3</a:t>
            </a:r>
          </a:p>
        </p:txBody>
      </p:sp>
    </p:spTree>
    <p:extLst>
      <p:ext uri="{BB962C8B-B14F-4D97-AF65-F5344CB8AC3E}">
        <p14:creationId xmlns:p14="http://schemas.microsoft.com/office/powerpoint/2010/main" val="689385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05AE4B-11F0-DD96-DBC0-88B2F9E857D9}"/>
              </a:ext>
            </a:extLst>
          </p:cNvPr>
          <p:cNvSpPr txBox="1"/>
          <p:nvPr userDrawn="1"/>
        </p:nvSpPr>
        <p:spPr>
          <a:xfrm>
            <a:off x="1519279" y="6647902"/>
            <a:ext cx="61211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ko-KR" sz="600" dirty="0"/>
              <a:t>© 2026 </a:t>
            </a:r>
            <a:r>
              <a:rPr lang="ko-KR" altLang="ko-KR" sz="600" dirty="0" err="1"/>
              <a:t>Young</a:t>
            </a:r>
            <a:r>
              <a:rPr lang="ko-KR" altLang="ko-KR" sz="600" dirty="0"/>
              <a:t> </a:t>
            </a:r>
            <a:r>
              <a:rPr lang="ko-KR" altLang="ko-KR" sz="600" dirty="0" err="1"/>
              <a:t>On</a:t>
            </a:r>
            <a:r>
              <a:rPr lang="ko-KR" altLang="ko-KR" sz="600" dirty="0"/>
              <a:t> Kim. LLM-</a:t>
            </a:r>
            <a:r>
              <a:rPr lang="ko-KR" altLang="ko-KR" sz="600" dirty="0" err="1"/>
              <a:t>generated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content</a:t>
            </a:r>
            <a:r>
              <a:rPr lang="ko-KR" altLang="ko-KR" sz="600" dirty="0"/>
              <a:t>, </a:t>
            </a:r>
            <a:r>
              <a:rPr lang="ko-KR" altLang="ko-KR" sz="600" dirty="0" err="1"/>
              <a:t>directed</a:t>
            </a:r>
            <a:r>
              <a:rPr lang="ko-KR" altLang="ko-KR" sz="600" dirty="0"/>
              <a:t>, </a:t>
            </a:r>
            <a:r>
              <a:rPr lang="ko-KR" altLang="ko-KR" sz="600" dirty="0" err="1"/>
              <a:t>reviewed</a:t>
            </a:r>
            <a:r>
              <a:rPr lang="ko-KR" altLang="ko-KR" sz="600" dirty="0"/>
              <a:t> and </a:t>
            </a:r>
            <a:r>
              <a:rPr lang="ko-KR" altLang="ko-KR" sz="600" dirty="0" err="1"/>
              <a:t>validated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the</a:t>
            </a:r>
            <a:r>
              <a:rPr lang="ko-KR" altLang="ko-KR" sz="600" dirty="0"/>
              <a:t> </a:t>
            </a:r>
            <a:r>
              <a:rPr lang="ko-KR" altLang="ko-KR" sz="600" dirty="0" err="1"/>
              <a:t>author</a:t>
            </a:r>
            <a:r>
              <a:rPr lang="ko-KR" altLang="ko-KR" sz="600" dirty="0"/>
              <a:t>; </a:t>
            </a:r>
            <a:r>
              <a:rPr lang="ko-KR" altLang="ko-KR" sz="600" dirty="0" err="1"/>
              <a:t>rendered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TrainingMaterials</a:t>
            </a:r>
            <a:r>
              <a:rPr lang="ko-KR" altLang="ko-KR" sz="600" dirty="0"/>
              <a:t>.</a:t>
            </a:r>
            <a:endParaRPr lang="ko-KR" altLang="en-US" sz="500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77657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hf hdr="0" ftr="0" dt="0"/>
  <p:txStyles>
    <p:titleStyle>
      <a:lvl1pPr algn="l" rtl="0" eaLnBrk="0" fontAlgn="base" latinLnBrk="0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u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l"/>
        <a:defRPr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31" Type="http://schemas.openxmlformats.org/officeDocument/2006/relationships/notesSlide" Target="../notesSlides/notesSlide3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33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11. 실습 — 업무 조건 확인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- 31 -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01. 사람의 일과 AI의 일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5257800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①로 시작해 답·질문·수정 요청을 주고받는다.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②~④는 보완 예시다. ⑤로 MD를 만들고 필요하면 보완·재생성한다.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프롬프트 —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 요청사항 포함</a:t>
            </a:r>
          </a:p>
          <a:p>
            <a:pPr lvl="3" marL="981075" indent="-268288">
              <a:spcBef>
                <a:spcPts val="300"/>
              </a:spcBef>
              <a:spcAft>
                <a:spcPts val="300"/>
              </a:spcAft>
              <a:buFont typeface="+mj-ea"/>
              <a:buAutoNum type="circleNumDbPlain" startAt="1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“기존 쇼핑몰에 정기배송 신청 기능을 추가하려고 한다. 요구사항을 정의하기 전에 내가 결정해야 할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핵심 업무 조건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은 무엇인가?”</a:t>
            </a:r>
          </a:p>
          <a:p>
            <a:pPr lvl="3" marL="981075" indent="-268288">
              <a:spcBef>
                <a:spcPts val="300"/>
              </a:spcBef>
              <a:spcAft>
                <a:spcPts val="300"/>
              </a:spcAft>
              <a:buFont typeface="+mj-ea"/>
              <a:buAutoNum type="circleNumDbPlain" startAt="2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“고객이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처음 정기배송을 신청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하는 경우만 다루자. 기존 회원·상품·결제·배송 기능은 연계해서 사용한다. 화면과 기술 설계는 제외해라.”</a:t>
            </a:r>
          </a:p>
          <a:p>
            <a:pPr lvl="3" marL="981075" indent="-268288">
              <a:spcBef>
                <a:spcPts val="300"/>
              </a:spcBef>
              <a:spcAft>
                <a:spcPts val="300"/>
              </a:spcAft>
              <a:buFont typeface="+mj-ea"/>
              <a:buAutoNum type="circleNumDbPlain" startAt="3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“계약 기간은 3개월 또는 6개월, 배송 주기는 2주 또는 4주다. 첫 배송일은 고객이 선택하고 자동 갱신은 하지 않는다. 이 조건에서 신청 기능을 정의하려면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꼭 더 결정해야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할 것이 있는가? 필요한 이유도 설명해라.”</a:t>
            </a:r>
          </a:p>
          <a:p>
            <a:pPr lvl="3" marL="981075" indent="-268288">
              <a:spcBef>
                <a:spcPts val="300"/>
              </a:spcBef>
              <a:spcAft>
                <a:spcPts val="300"/>
              </a:spcAft>
              <a:buFont typeface="+mj-ea"/>
              <a:buAutoNum type="circleNumDbPlain" startAt="4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“계약은 첫 배송일부터 시작한다. 신청할 때 기존 상품·수량·배송지를 선택하고, 기존 결제수단으로 배송 회차마다 결제한다.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첫 결제에 성공하면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신청이 완료된다.”</a:t>
            </a:r>
          </a:p>
          <a:p>
            <a:pPr lvl="3" marL="981075" indent="-268288">
              <a:spcBef>
                <a:spcPts val="300"/>
              </a:spcBef>
              <a:spcAft>
                <a:spcPts val="300"/>
              </a:spcAft>
              <a:buFont typeface="+mj-ea"/>
              <a:buAutoNum type="circleNumDbPlain" startAt="5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“지금까지 합의한 정기배송 최초 신청의 업무 조건을 다음 실습에 사용할 간결한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Markdown 파일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로 생성해라. 기존 기능은 연계 대상으로 두고 화면·기술 설계와 신청 이후 운영은 제외해라. 모든 경우를 나열하지 말고 합의한 조건과 요구사항 작성에 꼭 필요한 미정 사항만 해당 위치에 표시해라. 새 결정을 추가하거나 폐기한 안을 되살리지 마라. 요구사항 정의서나 기능 목록을 미리 작성하지 말고 업무 조건과 필요한 미정 사항만 짧은 항목으로 정리해라.”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점검 항목</a:t>
            </a:r>
          </a:p>
          <a:p>
            <a:pPr lvl="3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1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필요성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첫 신청 기능에 실제로 필요한 내용인가?</a:t>
            </a:r>
          </a:p>
          <a:p>
            <a:pPr lvl="3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2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범위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기술·화면 설계나 기존 쇼핑몰 기능의 재구현이 섞였는가?</a:t>
            </a:r>
          </a:p>
          <a:p>
            <a:pPr lvl="3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3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판단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사람이 정하지 않은 정책을 AI가 확정했는가?</a:t>
            </a:r>
          </a:p>
          <a:p>
            <a:pPr lvl="3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4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종료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이제 요구사항을 작성할 수 있는가? 그렇다면 탐색을 끝낸다.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결과물</a:t>
            </a:r>
          </a:p>
          <a:p>
            <a:pPr lvl="3" marL="7239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합의한 업무 조건의 최종 MD 파일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. 마지막 합의를 확인하고 실습 2에 첨부한다.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정기배송 최초 신청 업무 조건 </a:t>
            </a:r>
            <a:r>
              <a:rPr sz="2000" b="1">
                <a:solidFill>
                  <a:srgbClr val="000000"/>
                </a:solidFill>
                <a:latin typeface="맑은 고딕"/>
                <a:ea typeface="맑은 고딕"/>
              </a:rPr>
              <a:t>(1/2)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- 33 -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01. 사람의 일과 AI의 일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960120"/>
            <a:ext cx="4338828" cy="5352345"/>
          </a:xfrm>
        </p:spPr>
        <p:txBody>
          <a:bodyPr>
            <a:normAutofit/>
          </a:bodyPr>
          <a:lstStyle/>
          <a:p>
            <a:pPr marL="3225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1. 범위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기존 회원이 정기배송을 최초 신청하는 업무만 다룬다.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회원·상품·결제수단·배송지·주문·결제·배송 기능은 기존 기능과 정책을 연계하여 사용한다.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화면 및 기술 설계는 제외한다.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신청 완료 이후의 변경, 해지, 결제 실패, 품절·단종 대응 등 운영 업무는 제외한다.</a:t>
            </a:r>
          </a:p>
          <a:p>
            <a:pPr marL="3225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2. 신청 대상 정보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고객은 기존 상품과 수량을 선택한다.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고객은 기존 배송지를 선택한다.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고객은 기존 결제수단을 선택한다.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상품·수량·배송지·결제수단의 유효성은 기존 정책을 따른다.</a:t>
            </a:r>
          </a:p>
          <a:p>
            <a:pPr marL="3225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3. 계약 조건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계약기간은 3개월 또는 6개월 중에서 선택한다.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배송 주기는 2주 또는 4주 중에서 선택한다.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계약은 고객이 선택한 첫 배송일부터 시작한다.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계약기간이 끝나면 자동 종료하며 자동 갱신하지 않는다.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재이용하려면 별도의 신규 신청이 필요하다.</a:t>
            </a:r>
          </a:p>
          <a:p>
            <a:pPr marL="18288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미정 사항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계약 종료일 산정 기준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종료일과 같은 날로 예정된 배송 회차의 포함 여부</a:t>
            </a: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960120"/>
            <a:ext cx="4439412" cy="5352345"/>
          </a:xfrm>
        </p:spPr>
        <p:txBody>
          <a:bodyPr>
            <a:normAutofit/>
          </a:bodyPr>
          <a:lstStyle/>
          <a:p>
            <a:pPr marL="3225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4. 첫 배송일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고객이 첫 배송일을 선택한다.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선택한 첫 배송일이 계약 시작일이자 첫 회차 배송일이다.</a:t>
            </a:r>
          </a:p>
          <a:p>
            <a:pPr marL="18288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미정 사항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신청일로부터 첫 배송일까지 필요한 최소 준비기간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휴일 또는 배송 불가일에 대한 날짜 적용 기준</a:t>
            </a:r>
          </a:p>
          <a:p>
            <a:pPr marL="3225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5. 배송 회차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첫 배송일을 기준으로 선택한 주기마다 배송 회차를 산정한다.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배송 회차별로 기존 주문·배송 기능을 연계한다.</a:t>
            </a:r>
          </a:p>
          <a:p>
            <a:pPr marL="18288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미정 사항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계약 종료 기준에 따른 총 배송 횟수와 마지막 배송일</a:t>
            </a:r>
          </a:p>
          <a:p>
            <a:pPr marL="3225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6. 결제 및 신청 완료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기존 결제수단으로 배송 회차마다 결제한다.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최초 신청 과정에서 첫 회차를 결제한다.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첫 회차 결제에 성공하면 정기배송 신청이 완료된다.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첫 회차 결제에 실패하면 신청은 완료되지 않는다.</a:t>
            </a:r>
          </a:p>
          <a:p>
            <a:pPr marL="18288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미정 사항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첫 결제 실패 건의 보관 또는 무효 처리 기준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각 회차 결제금액에 적용할 상품 가격, 할인 및 배송비 기준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정기배송 최초 신청 업무 조건 </a:t>
            </a:r>
            <a:r>
              <a:rPr sz="2000" b="1">
                <a:solidFill>
                  <a:srgbClr val="000000"/>
                </a:solidFill>
                <a:latin typeface="맑은 고딕"/>
                <a:ea typeface="맑은 고딕"/>
              </a:rPr>
              <a:t>(2/2)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- 34 -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01. 사람의 일과 AI의 일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960120"/>
            <a:ext cx="4338828" cy="5352345"/>
          </a:xfrm>
        </p:spPr>
        <p:txBody>
          <a:bodyPr>
            <a:normAutofit/>
          </a:bodyPr>
          <a:lstStyle/>
          <a:p>
            <a:pPr marL="3225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7. 신청 시 확정할 계약 정보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선택 상품과 수량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배송지와 결제수단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계약기간과 배송 주기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첫 배송일과 계약 종료일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총 배송 횟수와 예정 배송일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첫 회차 결제금액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회차별 결제금액 결정 기준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자동 갱신 없이 종료된다는 조건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태양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lIns="0" rIns="0" rtlCol="0" anchor="ctr"/>
      <a:lstStyle>
        <a:defPPr algn="ctr">
          <a:defRPr sz="1200" b="1" dirty="0" smtClean="0">
            <a:solidFill>
              <a:schemeClr val="bg1"/>
            </a:solidFill>
          </a:defRPr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emplate>Office Theme</ns0:Template>
  <ns0:TotalTime>0</ns0:TotalTime>
  <ns0:Words>0</ns0:Words>
  <ns0:Application>Microsoft Macintosh PowerPoint</ns0:Application>
  <ns0:PresentationFormat>화면 슬라이드 쇼(4:3)</ns0:PresentationFormat>
  <ns0:Paragraphs>0</ns0:Paragraphs>
  <ns0:Slides>3</ns0:Slides>
  <ns0:Notes>29</ns0:Notes>
  <ns0:HiddenSlides>0</ns0:HiddenSlides>
  <ns0:MMClips>0</ns0:MMClips>
  <ns0:ScaleCrop>false</ns0:ScaleCrop>
  <ns0:HeadingPairs>
    <ns1:vector size="6" baseType="variant">
      <ns1:variant>
        <ns1:lpstr>사용한 글꼴</ns1:lpstr>
      </ns1:variant>
      <ns1:variant>
        <ns1:i4>3</ns1:i4>
      </ns1:variant>
      <ns1:variant>
        <ns1:lpstr>테마</ns1:lpstr>
      </ns1:variant>
      <ns1:variant>
        <ns1:i4>1</ns1:i4>
      </ns1:variant>
      <ns1:variant>
        <ns1:lpstr>슬라이드 제목</ns1:lpstr>
      </ns1:variant>
      <ns1:variant>
        <ns1:i4>34</ns1:i4>
      </ns1:variant>
    </ns1:vector>
  </ns0:HeadingPairs>
  <ns0:TitlesOfParts>
    <ns1:vector size="38" baseType="lpstr">
      <ns1:lpstr>맑은 고딕</ns1:lpstr>
      <ns1:lpstr>Arial</ns1:lpstr>
      <ns1:lpstr>Wingdings</ns1:lpstr>
      <ns1:lpstr>4_Office 테마</ns1:lpstr>
      <ns1:lpstr/>
      <ns1:lpstr>AI-native SW 공학 목차</ns1:lpstr>
      <ns1:lpstr>01. 사람의 일과 AI의 일 목차</ns1:lpstr>
      <ns1:lpstr>01. 세션 목표</ns1:lpstr>
      <ns1:lpstr>쇼핑몰의 주문 시스템 02. 첫 시도</ns1:lpstr>
      <ns1:lpstr>요청 한 줄과 10분 02. 첫 시도</ns1:lpstr>
      <ns1:lpstr>리뷰에서 나온 문제 3가지 02. 첫 시도</ns1:lpstr>
      <ns1:lpstr>추측으로 채운 코드 (1/2) 02. 첫 시도</ns1:lpstr>
      <ns1:lpstr>추측으로 채운 코드 (2/2) 02. 첫 시도</ns1:lpstr>
      <ns1:lpstr>자기 코드를 확인한 테스트 02. 첫 시도</ns1:lpstr>
      <ns1:lpstr>본질적 복잡성과 우연적 복잡성 03. AI가 바꾼 것과 바꾸지 못한 것</ns1:lpstr>
      <ns1:lpstr>업무 규칙은 도메인 지식이다 03. AI가 바꾼 것과 바꾸지 못한 것</ns1:lpstr>
      <ns1:lpstr>그럴듯한 추측과 비결정성 04. LLM이라는 새 재료</ns1:lpstr>
      <ns1:lpstr>맥락의 한계 04. LLM이라는 새 재료</ns1:lpstr>
      <ns1:lpstr>3가지 개발 방식 05. 개발 방식의 구분</ns1:lpstr>
      <ns1:lpstr>같은 과제, 3가지 방식 05. 개발 방식의 구분</ns1:lpstr>
      <ns1:lpstr>바이브 코딩과 규율 05. 개발 방식의 구분</ns1:lpstr>
      <ns1:lpstr>사람이 조종하고 에이전트가 실행한다 06. 사람과 AI의 역할</ns1:lpstr>
      <ns1:lpstr>활동마다 사람과 AI 06. 사람과 AI의 역할</ns1:lpstr>
      <ns1:lpstr>07. 작업 특성</ns1:lpstr>
      <ns1:lpstr>증강 LLM과 4가지 방식 08. AI 활용 방식</ns1:lpstr>
      <ns1:lpstr>워크플로와 에이전트 08. AI 활용 방식</ns1:lpstr>
      <ns1:lpstr>선택의 순서 08. AI 활용 방식</ns1:lpstr>
      <ns1:lpstr>AI에게 맡기지 않는 작업 08. AI 활용 방식</ns1:lpstr>
      <ns1:lpstr>주문 기능 개발의 활용 방식 08. AI 활용 방식</ns1:lpstr>
      <ns1:lpstr>자율성의 대가 09. 자율성을 높이는 조건</ns1:lpstr>
      <ns1:lpstr>세 방식의 시연 기록 09. 자율성을 높이는 조건</ns1:lpstr>
      <ns1:lpstr>자율성의 계단 09. 자율성을 높이는 조건</ns1:lpstr>
      <ns1:lpstr>관통 사례 — 주문과 정기배송 10. 과정의 지도</ns1:lpstr>
      <ns1:lpstr>열두 활동에서 남는 산출물 10. 과정의 지도</ns1:lpstr>
      <ns1:lpstr>11. 실습 — 업무 조건 확인</ns1:lpstr>
      <ns1:lpstr>12. 요약</ns1:lpstr>
      <ns1:lpstr>정기배송 최초 신청 업무 조건 (1/2) 별첨. 실습 답</ns1:lpstr>
      <ns1:lpstr>정기배송 최초 신청 업무 조건 (2/2) 별첨. 실습 답</ns1:lpstr>
    </ns1:vector>
  </ns0:TitlesOfParts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01. 사람의 일과 AI의 일</dc:title>
  <dc:creator>Kim YoungSan</dc:creator>
  <cp:lastModifiedBy>Youngon Kim</cp:lastModifiedBy>
  <cp:revision>42</cp:revision>
  <dcterms:created xsi:type="dcterms:W3CDTF">2021-02-25T22:04:20Z</dcterms:created>
  <dcterms:modified xsi:type="dcterms:W3CDTF">2026-09-21T23:10:41Z</dcterms:modified>
</cp:coreProperties>
</file>