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 dirty="0" err="1">
                <a:latin typeface="맑은 고딕"/>
                <a:ea typeface="맑은 고딕"/>
                <a:cs typeface="맑은 고딕"/>
              </a:rPr>
              <a:t>아키텍처</a:t>
            </a:r>
            <a:r>
              <a:rPr lang="en-US" altLang="ko-KR" sz="2400" b="1" dirty="0"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400" b="1" dirty="0">
                <a:latin typeface="맑은 고딕"/>
                <a:ea typeface="맑은 고딕"/>
                <a:cs typeface="맑은 고딕"/>
              </a:rPr>
              <a:t>스타일</a:t>
            </a:r>
            <a:r>
              <a:rPr lang="en-US" altLang="ko-KR" sz="2400" b="1" dirty="0">
                <a:latin typeface="맑은 고딕"/>
                <a:ea typeface="맑은 고딕"/>
                <a:cs typeface="맑은 고딕"/>
              </a:rPr>
              <a:t> 목차</a:t>
            </a:r>
            <a:endParaRPr kumimoji="1" lang="ko-KR" altLang="en-US" sz="20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sz="1600" dirty="0">
                <a:latin typeface="맑은 고딕"/>
                <a:ea typeface="맑은 고딕"/>
                <a:cs typeface="맑은 고딕"/>
              </a:rPr>
              <a:t>MVC </a:t>
            </a:r>
            <a:r>
              <a:rPr sz="1200" dirty="0">
                <a:latin typeface="맑은 고딕"/>
                <a:ea typeface="맑은 고딕"/>
                <a:cs typeface="맑은 고딕"/>
              </a:rPr>
              <a:t>(Model-View-Controller)</a:t>
            </a:r>
            <a:r>
              <a:rPr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패턴과</a:t>
            </a:r>
            <a:r>
              <a:rPr sz="1600" dirty="0">
                <a:latin typeface="맑은 고딕"/>
                <a:ea typeface="맑은 고딕"/>
                <a:cs typeface="맑은 고딕"/>
              </a:rPr>
              <a:t> Presentation </a:t>
            </a:r>
            <a:r>
              <a:rPr sz="1600" dirty="0" err="1">
                <a:latin typeface="맑은 고딕"/>
                <a:ea typeface="맑은 고딕"/>
                <a:cs typeface="맑은 고딕"/>
              </a:rPr>
              <a:t>계층</a:t>
            </a:r>
            <a:endParaRPr sz="1600" dirty="0">
              <a:latin typeface="맑은 고딕"/>
              <a:ea typeface="맑은 고딕"/>
              <a:cs typeface="맑은 고딕"/>
            </a:endParaRPr>
          </a:p>
          <a:p>
            <a:pPr lvl="1">
              <a:spcAft>
                <a:spcPts val="600"/>
              </a:spcAft>
              <a:buFont typeface="+mj-lt"/>
              <a:buAutoNum type="arabicPeriod" startAt="2"/>
            </a:pPr>
            <a:r>
              <a:rPr sz="1600" dirty="0" err="1">
                <a:latin typeface="맑은 고딕"/>
                <a:ea typeface="맑은 고딕"/>
                <a:cs typeface="맑은 고딕"/>
              </a:rPr>
              <a:t>공통 인프라, 도메인 모델 및 DTO </a:t>
            </a:r>
            <a:r>
              <a:rPr sz="1200" dirty="0" err="1">
                <a:latin typeface="맑은 고딕"/>
                <a:ea typeface="맑은 고딕"/>
                <a:cs typeface="맑은 고딕"/>
              </a:rPr>
              <a:t>(Common Context)</a:t>
            </a:r>
          </a:p>
          <a:p>
            <a:pPr lvl="1">
              <a:spcAft>
                <a:spcPts val="600"/>
              </a:spcAft>
              <a:buFont typeface="+mj-lt"/>
              <a:buAutoNum type="arabicPeriod" startAt="3"/>
            </a:pPr>
            <a:r>
              <a:rPr sz="1600" dirty="0">
                <a:latin typeface="맑은 고딕"/>
                <a:ea typeface="맑은 고딕"/>
                <a:cs typeface="맑은 고딕"/>
              </a:rPr>
              <a:t>Layered Architecture </a:t>
            </a:r>
            <a:r>
              <a:rPr sz="1200" dirty="0">
                <a:latin typeface="맑은 고딕"/>
                <a:ea typeface="맑은 고딕"/>
                <a:cs typeface="맑은 고딕"/>
              </a:rPr>
              <a:t>(Anemic Domain Model &amp; Transaction Script)</a:t>
            </a:r>
          </a:p>
          <a:p>
            <a:pPr lvl="1">
              <a:spcAft>
                <a:spcPts val="600"/>
              </a:spcAft>
              <a:buFont typeface="+mj-lt"/>
              <a:buAutoNum type="arabicPeriod" startAt="4"/>
            </a:pPr>
            <a:r>
              <a:rPr sz="1600" dirty="0">
                <a:latin typeface="맑은 고딕"/>
                <a:ea typeface="맑은 고딕"/>
                <a:cs typeface="맑은 고딕"/>
              </a:rPr>
              <a:t>Layered Architecture </a:t>
            </a:r>
            <a:r>
              <a:rPr sz="1200" dirty="0">
                <a:latin typeface="맑은 고딕"/>
                <a:ea typeface="맑은 고딕"/>
                <a:cs typeface="맑은 고딕"/>
              </a:rPr>
              <a:t>(Rich Domain Model)</a:t>
            </a:r>
          </a:p>
          <a:p>
            <a:pPr lvl="1">
              <a:spcAft>
                <a:spcPts val="600"/>
              </a:spcAft>
              <a:buFont typeface="+mj-lt"/>
              <a:buAutoNum type="arabicPeriod" startAt="5"/>
            </a:pPr>
            <a:r>
              <a:rPr sz="1600" dirty="0">
                <a:latin typeface="맑은 고딕"/>
                <a:ea typeface="맑은 고딕"/>
                <a:cs typeface="맑은 고딕"/>
              </a:rPr>
              <a:t>Hexagonal Architecture </a:t>
            </a:r>
            <a:r>
              <a:rPr sz="1200" dirty="0">
                <a:latin typeface="맑은 고딕"/>
                <a:ea typeface="맑은 고딕"/>
                <a:cs typeface="맑은 고딕"/>
              </a:rPr>
              <a:t>(Ports and Adapters)</a:t>
            </a:r>
          </a:p>
          <a:p>
            <a:pPr lvl="1">
              <a:spcAft>
                <a:spcPts val="600"/>
              </a:spcAft>
              <a:buFont typeface="+mj-lt"/>
              <a:buAutoNum type="arabicPeriod" startAt="6"/>
            </a:pPr>
            <a:r>
              <a:rPr sz="1600" dirty="0">
                <a:latin typeface="맑은 고딕"/>
                <a:ea typeface="맑은 고딕"/>
                <a:cs typeface="맑은 고딕"/>
              </a:rPr>
              <a:t>Clean Architecture</a:t>
            </a:r>
            <a:endParaRPr lang="en-US" sz="1600" dirty="0">
              <a:latin typeface="맑은 고딕"/>
              <a:ea typeface="맑은 고딕"/>
              <a:cs typeface="맑은 고딕"/>
            </a:endParaRPr>
          </a:p>
          <a:p>
            <a:pPr lvl="1">
              <a:spcAft>
                <a:spcPts val="600"/>
              </a:spcAft>
              <a:buFont typeface="+mj-lt"/>
              <a:buAutoNum type="arabicPeriod" startAt="7"/>
            </a:pPr>
            <a:r>
              <a:rPr kumimoji="1" lang="en-US" altLang="ko-KR" sz="1600" dirty="0" err="1">
                <a:latin typeface="맑은 고딕"/>
                <a:ea typeface="맑은 고딕"/>
                <a:cs typeface="맑은 고딕"/>
              </a:rPr>
              <a:t>아키텍처</a:t>
            </a:r>
            <a:r>
              <a:rPr kumimoji="1" lang="en-US" altLang="ko-KR"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kumimoji="1" lang="en-US" altLang="ko-KR" sz="1600" dirty="0" err="1">
                <a:latin typeface="맑은 고딕"/>
                <a:ea typeface="맑은 고딕"/>
                <a:cs typeface="맑은 고딕"/>
              </a:rPr>
              <a:t>스타일</a:t>
            </a:r>
            <a:r>
              <a:rPr kumimoji="1" lang="en-US" altLang="ko-KR" sz="1600" dirty="0">
                <a:latin typeface="맑은 고딕"/>
                <a:ea typeface="맑은 고딕"/>
                <a:cs typeface="맑은 고딕"/>
              </a:rPr>
              <a:t> </a:t>
            </a:r>
            <a:r>
              <a:rPr kumimoji="1" lang="en-US" altLang="ko-KR" sz="1600" dirty="0" err="1">
                <a:latin typeface="맑은 고딕"/>
                <a:ea typeface="맑은 고딕"/>
                <a:cs typeface="맑은 고딕"/>
              </a:rPr>
              <a:t>비교표</a:t>
            </a:r>
            <a:endParaRPr sz="16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아키텍처 스타일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latin typeface="맑은 고딕"/>
                <a:ea typeface="맑은 고딕"/>
                <a:cs typeface="맑은 고딕"/>
              </a:rPr>
              <a:t>1. MVC 패턴과 Presentation 계층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스타일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0" dirty="0" err="1">
                <a:latin typeface="맑은 고딕"/>
                <a:ea typeface="맑은 고딕"/>
                <a:cs typeface="맑은 고딕"/>
              </a:rPr>
              <a:t>현대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백엔드</a:t>
            </a:r>
            <a:r>
              <a:rPr sz="1400" b="0" dirty="0">
                <a:latin typeface="맑은 고딕"/>
                <a:ea typeface="맑은 고딕"/>
                <a:cs typeface="맑은 고딕"/>
              </a:rPr>
              <a:t>(REST API)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환경에서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MVC는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시스템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전체를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관통하는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아키텍처가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아니라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,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클라이언트의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요청을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수신하고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응답을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반환하는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latin typeface="맑은 고딕"/>
                <a:ea typeface="맑은 고딕"/>
                <a:cs typeface="맑은 고딕"/>
              </a:rPr>
              <a:t>표현</a:t>
            </a:r>
            <a:r>
              <a:rPr sz="1800" b="1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latin typeface="맑은 고딕"/>
                <a:ea typeface="맑은 고딕"/>
                <a:cs typeface="맑은 고딕"/>
              </a:rPr>
              <a:t>계층</a:t>
            </a:r>
            <a:r>
              <a:rPr sz="1400" b="1" dirty="0">
                <a:latin typeface="맑은 고딕"/>
                <a:ea typeface="맑은 고딕"/>
                <a:cs typeface="맑은 고딕"/>
              </a:rPr>
              <a:t>(Presentation Layer)</a:t>
            </a:r>
            <a:r>
              <a:rPr sz="1800" b="1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latin typeface="맑은 고딕"/>
                <a:ea typeface="맑은 고딕"/>
                <a:cs typeface="맑은 고딕"/>
              </a:rPr>
              <a:t>내부의</a:t>
            </a:r>
            <a:r>
              <a:rPr sz="1800" b="1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latin typeface="맑은 고딕"/>
                <a:ea typeface="맑은 고딕"/>
                <a:cs typeface="맑은 고딕"/>
              </a:rPr>
              <a:t>역할을</a:t>
            </a:r>
            <a:r>
              <a:rPr sz="1800" b="1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latin typeface="맑은 고딕"/>
                <a:ea typeface="맑은 고딕"/>
                <a:cs typeface="맑은 고딕"/>
              </a:rPr>
              <a:t>분리하는</a:t>
            </a:r>
            <a:r>
              <a:rPr sz="1800" b="1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latin typeface="맑은 고딕"/>
                <a:ea typeface="맑은 고딕"/>
                <a:cs typeface="맑은 고딕"/>
              </a:rPr>
              <a:t>디자인</a:t>
            </a:r>
            <a:r>
              <a:rPr sz="1800" b="1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latin typeface="맑은 고딕"/>
                <a:ea typeface="맑은 고딕"/>
                <a:cs typeface="맑은 고딕"/>
              </a:rPr>
              <a:t>패턴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이다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.</a:t>
            </a:r>
            <a:endParaRPr lang="en-US" sz="1800" b="1" dirty="0">
              <a:latin typeface="맑은 고딕"/>
              <a:ea typeface="맑은 고딕"/>
              <a:cs typeface="맑은 고딕"/>
            </a:endParaRPr>
          </a:p>
          <a:p>
            <a:pPr lvl="1">
              <a:spcAft>
                <a:spcPts val="600"/>
              </a:spcAft>
            </a:pPr>
            <a:r>
              <a:rPr sz="1800" b="1" dirty="0">
                <a:latin typeface="맑은 고딕"/>
                <a:ea typeface="맑은 고딕"/>
                <a:cs typeface="맑은 고딕"/>
              </a:rPr>
              <a:t>Controller: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endParaRPr lang="en-US" sz="1800" b="0" dirty="0">
              <a:latin typeface="맑은 고딕"/>
              <a:ea typeface="맑은 고딕"/>
              <a:cs typeface="맑은 고딕"/>
            </a:endParaRPr>
          </a:p>
          <a:p>
            <a:pPr lvl="2">
              <a:spcAft>
                <a:spcPts val="600"/>
              </a:spcAft>
            </a:pPr>
            <a:r>
              <a:rPr b="0" dirty="0">
                <a:latin typeface="맑은 고딕"/>
                <a:ea typeface="맑은 고딕"/>
                <a:cs typeface="맑은 고딕"/>
              </a:rPr>
              <a:t>HTTP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요청을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수신하여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입력값을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검증하고</a:t>
            </a:r>
            <a:r>
              <a:rPr b="0" dirty="0">
                <a:latin typeface="맑은 고딕"/>
                <a:ea typeface="맑은 고딕"/>
                <a:cs typeface="맑은 고딕"/>
              </a:rPr>
              <a:t>,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하위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계층</a:t>
            </a:r>
            <a:r>
              <a:rPr sz="1200" b="0" dirty="0">
                <a:latin typeface="맑은 고딕"/>
                <a:ea typeface="맑은 고딕"/>
                <a:cs typeface="맑은 고딕"/>
              </a:rPr>
              <a:t>(Service/</a:t>
            </a:r>
            <a:r>
              <a:rPr sz="1200" b="0" dirty="0" err="1">
                <a:latin typeface="맑은 고딕"/>
                <a:ea typeface="맑은 고딕"/>
                <a:cs typeface="맑은 고딕"/>
              </a:rPr>
              <a:t>UseCase</a:t>
            </a:r>
            <a:r>
              <a:rPr sz="1200" b="0" dirty="0">
                <a:latin typeface="맑은 고딕"/>
                <a:ea typeface="맑은 고딕"/>
                <a:cs typeface="맑은 고딕"/>
              </a:rPr>
              <a:t>)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으로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비즈니스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로직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수행을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위임하는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흐름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제어</a:t>
            </a:r>
            <a:r>
              <a:rPr sz="1200" b="0" dirty="0">
                <a:latin typeface="맑은 고딕"/>
                <a:ea typeface="맑은 고딕"/>
                <a:cs typeface="맑은 고딕"/>
              </a:rPr>
              <a:t>(Routing)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를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담당한다</a:t>
            </a:r>
            <a:r>
              <a:rPr lang="en-US" altLang="ko-KR" dirty="0">
                <a:latin typeface="맑은 고딕"/>
                <a:ea typeface="맑은 고딕"/>
                <a:cs typeface="맑은 고딕"/>
              </a:rPr>
              <a:t>.</a:t>
            </a:r>
            <a:endParaRPr lang="en-US" b="1" dirty="0">
              <a:latin typeface="맑은 고딕"/>
              <a:ea typeface="맑은 고딕"/>
              <a:cs typeface="맑은 고딕"/>
            </a:endParaRPr>
          </a:p>
          <a:p>
            <a:pPr lvl="1">
              <a:spcAft>
                <a:spcPts val="600"/>
              </a:spcAft>
            </a:pPr>
            <a:r>
              <a:rPr b="1" dirty="0">
                <a:latin typeface="맑은 고딕"/>
                <a:ea typeface="맑은 고딕"/>
                <a:cs typeface="맑은 고딕"/>
              </a:rPr>
              <a:t>Model: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endParaRPr lang="en-US" b="0" dirty="0">
              <a:latin typeface="맑은 고딕"/>
              <a:ea typeface="맑은 고딕"/>
              <a:cs typeface="맑은 고딕"/>
            </a:endParaRPr>
          </a:p>
          <a:p>
            <a:pPr lvl="2">
              <a:spcAft>
                <a:spcPts val="600"/>
              </a:spcAft>
            </a:pPr>
            <a:r>
              <a:rPr b="0" dirty="0" err="1">
                <a:latin typeface="맑은 고딕"/>
                <a:ea typeface="맑은 고딕"/>
                <a:cs typeface="맑은 고딕"/>
              </a:rPr>
              <a:t>하위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계층으로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전달하거나</a:t>
            </a:r>
            <a:r>
              <a:rPr sz="1200" b="0" dirty="0">
                <a:latin typeface="맑은 고딕"/>
                <a:ea typeface="맑은 고딕"/>
                <a:cs typeface="맑은 고딕"/>
              </a:rPr>
              <a:t>(Request DTO)</a:t>
            </a:r>
            <a:r>
              <a:rPr b="0" dirty="0">
                <a:latin typeface="맑은 고딕"/>
                <a:ea typeface="맑은 고딕"/>
                <a:cs typeface="맑은 고딕"/>
              </a:rPr>
              <a:t>,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하위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계층으로부터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반환받아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화면에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맞게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가공한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데이터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객체</a:t>
            </a:r>
            <a:r>
              <a:rPr sz="1200" b="0" dirty="0">
                <a:latin typeface="맑은 고딕"/>
                <a:ea typeface="맑은 고딕"/>
                <a:cs typeface="맑은 고딕"/>
              </a:rPr>
              <a:t>(Response DTO)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다</a:t>
            </a:r>
            <a:r>
              <a:rPr b="0" dirty="0">
                <a:latin typeface="맑은 고딕"/>
                <a:ea typeface="맑은 고딕"/>
                <a:cs typeface="맑은 고딕"/>
              </a:rPr>
              <a:t>.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비즈니스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로직을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포함하지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않는다</a:t>
            </a:r>
            <a:r>
              <a:rPr b="0" dirty="0">
                <a:latin typeface="맑은 고딕"/>
                <a:ea typeface="맑은 고딕"/>
                <a:cs typeface="맑은 고딕"/>
              </a:rPr>
              <a:t>.</a:t>
            </a:r>
            <a:endParaRPr lang="en-US" b="1" dirty="0">
              <a:latin typeface="맑은 고딕"/>
              <a:ea typeface="맑은 고딕"/>
              <a:cs typeface="맑은 고딕"/>
            </a:endParaRPr>
          </a:p>
          <a:p>
            <a:pPr lvl="1">
              <a:spcAft>
                <a:spcPts val="600"/>
              </a:spcAft>
            </a:pPr>
            <a:r>
              <a:rPr b="1" dirty="0">
                <a:latin typeface="맑은 고딕"/>
                <a:ea typeface="맑은 고딕"/>
                <a:cs typeface="맑은 고딕"/>
              </a:rPr>
              <a:t>View: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endParaRPr lang="en-US" b="0" dirty="0">
              <a:latin typeface="맑은 고딕"/>
              <a:ea typeface="맑은 고딕"/>
              <a:cs typeface="맑은 고딕"/>
            </a:endParaRPr>
          </a:p>
          <a:p>
            <a:pPr lvl="2">
              <a:spcAft>
                <a:spcPts val="600"/>
              </a:spcAft>
            </a:pPr>
            <a:r>
              <a:rPr b="0" dirty="0" err="1">
                <a:latin typeface="맑은 고딕"/>
                <a:ea typeface="맑은 고딕"/>
                <a:cs typeface="맑은 고딕"/>
              </a:rPr>
              <a:t>서버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사이드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렌더링</a:t>
            </a:r>
            <a:r>
              <a:rPr sz="1200" b="0" dirty="0">
                <a:latin typeface="맑은 고딕"/>
                <a:ea typeface="맑은 고딕"/>
                <a:cs typeface="맑은 고딕"/>
              </a:rPr>
              <a:t>(JSP, </a:t>
            </a:r>
            <a:r>
              <a:rPr sz="1200" b="0" dirty="0" err="1">
                <a:latin typeface="맑은 고딕"/>
                <a:ea typeface="맑은 고딕"/>
                <a:cs typeface="맑은 고딕"/>
              </a:rPr>
              <a:t>Thymeleaf</a:t>
            </a:r>
            <a:r>
              <a:rPr sz="1200" b="0" dirty="0">
                <a:latin typeface="맑은 고딕"/>
                <a:ea typeface="맑은 고딕"/>
                <a:cs typeface="맑은 고딕"/>
              </a:rPr>
              <a:t>)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이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아닌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현대적인</a:t>
            </a:r>
            <a:r>
              <a:rPr b="0" dirty="0">
                <a:latin typeface="맑은 고딕"/>
                <a:ea typeface="맑은 고딕"/>
                <a:cs typeface="맑은 고딕"/>
              </a:rPr>
              <a:t> REST API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기반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구조에서는</a:t>
            </a:r>
            <a:r>
              <a:rPr b="0" dirty="0">
                <a:latin typeface="맑은 고딕"/>
                <a:ea typeface="맑은 고딕"/>
                <a:cs typeface="맑은 고딕"/>
              </a:rPr>
              <a:t>, JSON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등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직렬화된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응답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데이터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포맷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자체가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클라이언트</a:t>
            </a:r>
            <a:r>
              <a:rPr b="0" dirty="0">
                <a:latin typeface="맑은 고딕"/>
                <a:ea typeface="맑은 고딕"/>
                <a:cs typeface="맑은 고딕"/>
              </a:rPr>
              <a:t>(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프론트엔드</a:t>
            </a:r>
            <a:r>
              <a:rPr b="0" dirty="0">
                <a:latin typeface="맑은 고딕"/>
                <a:ea typeface="맑은 고딕"/>
                <a:cs typeface="맑은 고딕"/>
              </a:rPr>
              <a:t>/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모바일</a:t>
            </a:r>
            <a:r>
              <a:rPr b="0" dirty="0">
                <a:latin typeface="맑은 고딕"/>
                <a:ea typeface="맑은 고딕"/>
                <a:cs typeface="맑은 고딕"/>
              </a:rPr>
              <a:t>)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측으로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이관된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View의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역할을</a:t>
            </a:r>
            <a:r>
              <a:rPr b="0" dirty="0"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latin typeface="맑은 고딕"/>
                <a:ea typeface="맑은 고딕"/>
                <a:cs typeface="맑은 고딕"/>
              </a:rPr>
              <a:t>대체한다</a:t>
            </a:r>
            <a:r>
              <a:rPr b="0" dirty="0"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spcAft>
                <a:spcPts val="600"/>
              </a:spcAft>
              <a:buNone/>
            </a:pPr>
            <a:endParaRPr lang="en-US" sz="1600" b="0" dirty="0">
              <a:latin typeface="맑은 고딕"/>
              <a:ea typeface="맑은 고딕"/>
              <a:cs typeface="맑은 고딕"/>
            </a:endParaRPr>
          </a:p>
          <a:p>
            <a:pPr>
              <a:spcAft>
                <a:spcPts val="600"/>
              </a:spcAft>
              <a:buNone/>
            </a:pPr>
            <a:r>
              <a:rPr sz="1600" b="0" dirty="0" err="1">
                <a:latin typeface="맑은 고딕"/>
                <a:ea typeface="맑은 고딕"/>
                <a:cs typeface="맑은 고딕"/>
              </a:rPr>
              <a:t>이어지는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모든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아키텍처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스타일의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진입점은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이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>
                <a:latin typeface="맑은 고딕"/>
                <a:ea typeface="맑은 고딕"/>
                <a:cs typeface="맑은 고딕"/>
              </a:rPr>
              <a:t>MVC </a:t>
            </a:r>
            <a:r>
              <a:rPr sz="1600" b="1" dirty="0" err="1">
                <a:latin typeface="맑은 고딕"/>
                <a:ea typeface="맑은 고딕"/>
                <a:cs typeface="맑은 고딕"/>
              </a:rPr>
              <a:t>패턴의</a:t>
            </a:r>
            <a:r>
              <a:rPr sz="1600" b="1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1" dirty="0" err="1">
                <a:latin typeface="맑은 고딕"/>
                <a:ea typeface="맑은 고딕"/>
                <a:cs typeface="맑은 고딕"/>
              </a:rPr>
              <a:t>Controller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가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latin typeface="맑은 고딕"/>
                <a:ea typeface="맑은 고딕"/>
                <a:cs typeface="맑은 고딕"/>
              </a:rPr>
              <a:t>담당한다</a:t>
            </a:r>
            <a:r>
              <a:rPr sz="1600" b="0" dirty="0"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latin typeface="맑은 고딕"/>
                <a:ea typeface="맑은 고딕"/>
                <a:cs typeface="맑은 고딕"/>
              </a:rPr>
              <a:t>2. 공통 인프라, 도메인 모델 및 DTO </a:t>
            </a:r>
            <a:r>
              <a:rPr lang="ko-KR" altLang="en-US" sz="1800" dirty="0">
                <a:latin typeface="맑은 고딕"/>
                <a:ea typeface="맑은 고딕"/>
                <a:cs typeface="맑은 고딕"/>
              </a:rPr>
              <a:t>(1/2)</a:t>
            </a:r>
          </a:p>
          <a:p>
            <a:r>
              <a:rPr lang="ko-KR" altLang="en-US" sz="1100" dirty="0">
                <a:latin typeface="맑은 고딕"/>
                <a:ea typeface="맑은 고딕"/>
                <a:cs typeface="맑은 고딕"/>
              </a:rPr>
              <a:t>(Common Context)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ko-KR" altLang="en-US" sz="1400" dirty="0"/>
              <a:t> 스타일</a:t>
            </a:r>
            <a:endParaRPr kumimoji="1" lang="en-US" altLang="ko-KR" sz="11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957424"/>
            <a:ext cx="8394957" cy="998992"/>
          </a:xfrm>
        </p:spPr>
        <p:txBody>
          <a:bodyPr wrap="square" lIns="0" tIns="0" rIns="0" bIns="0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0" dirty="0" err="1">
                <a:latin typeface="맑은 고딕"/>
                <a:ea typeface="맑은 고딕"/>
                <a:cs typeface="맑은 고딕"/>
              </a:rPr>
              <a:t>모든 아키텍처 스타일은 아래의 데이터베이스 스키마와 영속성 인터페이스, 도메인 모델 및 공통 요청 DTO를 기본적으로 공유한다. </a:t>
            </a:r>
            <a:r>
              <a:rPr sz="1400" b="0" dirty="0" err="1">
                <a:latin typeface="맑은 고딕"/>
                <a:ea typeface="맑은 고딕"/>
                <a:cs typeface="맑은 고딕"/>
              </a:rPr>
              <a:t>(단, Anemic Domain Model 스타일은 예외적으로 빈약한 모델을 사용한다.)</a:t>
            </a:r>
            <a:endParaRPr sz="1800" b="0" dirty="0" err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Integrated content 30">
            <a:extLst>
              <a:ext uri="{FF2B5EF4-FFF2-40B4-BE49-F238E27FC236}">
                <a16:creationId xmlns:a16="http://schemas.microsoft.com/office/drawing/2014/main" id="{1B825E78-10BA-6D2E-CB4F-3751B4007CB8}"/>
              </a:ext>
            </a:extLst>
          </p:cNvPr>
          <p:cNvSpPr txBox="1"/>
          <p:nvPr/>
        </p:nvSpPr>
        <p:spPr>
          <a:xfrm>
            <a:off x="1124585" y="1918743"/>
            <a:ext cx="6894830" cy="1911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CREATE TABLE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products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(id BIGINT AUTO_INCREMENT PRIMARY KEY, name VARCHAR(255), stock INT);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CREATE TABLE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orders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(id BIGINT AUTO_INCREMENT PRIMARY KEY, status VARCHAR(50));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@Mapper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interface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ProductMapper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@Select("SELECT * FROM products WHERE id = #{id}")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ProductEntity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findById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(Long id);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@Update("UPDATE products SET stock = #{stock} WHERE id = #{id}")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void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updateStock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(@Param("id") Long id, @Param("stock") int stock);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latin typeface="맑은 고딕"/>
                <a:ea typeface="맑은 고딕"/>
                <a:cs typeface="맑은 고딕"/>
              </a:rPr>
              <a:t>2. 공통 인프라, 도메인 모델 및 DTO </a:t>
            </a:r>
            <a:r>
              <a:rPr lang="ko-KR" altLang="en-US" sz="1800" dirty="0">
                <a:latin typeface="맑은 고딕"/>
                <a:ea typeface="맑은 고딕"/>
                <a:cs typeface="맑은 고딕"/>
              </a:rPr>
              <a:t>(2/2)</a:t>
            </a:r>
          </a:p>
          <a:p>
            <a:r>
              <a:rPr lang="ko-KR" altLang="en-US" sz="1100" dirty="0">
                <a:latin typeface="맑은 고딕"/>
                <a:ea typeface="맑은 고딕"/>
                <a:cs typeface="맑은 고딕"/>
              </a:rPr>
              <a:t>(Common Context)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ko-KR" altLang="en-US" sz="1400" dirty="0"/>
              <a:t> 스타일</a:t>
            </a:r>
            <a:endParaRPr kumimoji="1" lang="en-US" altLang="ko-KR" sz="11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0" name="Integrated content 30">
            <a:extLst>
              <a:ext uri="{FF2B5EF4-FFF2-40B4-BE49-F238E27FC236}">
                <a16:creationId xmlns:a16="http://schemas.microsoft.com/office/drawing/2014/main" id="{1B825E78-10BA-6D2E-CB4F-3751B4007CB8}"/>
              </a:ext>
            </a:extLst>
          </p:cNvPr>
          <p:cNvSpPr txBox="1"/>
          <p:nvPr/>
        </p:nvSpPr>
        <p:spPr>
          <a:xfrm>
            <a:off x="406400" y="965200"/>
            <a:ext cx="5122508" cy="4946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//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domain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/Product.java (Layered(Rich), Hexagonal, Clean 아키텍처에서 공통 사용)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class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private Long id;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private int stock;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public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(Long id, int stock) { 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this.id = id; 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this.stock = stock; 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// 객체 스스로가 비즈니스 로직(상태 변경)을 캡슐화하여 처리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public void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decreaseStock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(int quantity)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if (this.stock &lt; quantity) throw new IllegalStateException("재고 부족");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this.stock -= quantity;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public Long getId() { return id; 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public int getStock() { return stock; 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" altLang="ko-KR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</a:pPr>
            <a:r>
              <a:rPr lang="en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// </a:t>
            </a:r>
            <a:r>
              <a:rPr lang="en" altLang="ko-KR" sz="1000" b="1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presentation</a:t>
            </a:r>
            <a:r>
              <a:rPr lang="en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" altLang="ko-KR" sz="1000" b="1" dirty="0" err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dto</a:t>
            </a:r>
            <a:r>
              <a:rPr lang="en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" altLang="ko-KR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OrderRequest.java</a:t>
            </a:r>
            <a:r>
              <a:rPr lang="en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(Layered, Hexagonal </a:t>
            </a:r>
            <a:r>
              <a:rPr lang="en" altLang="ko-KR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아키텍처에서</a:t>
            </a:r>
            <a:r>
              <a:rPr lang="en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" altLang="ko-KR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공통</a:t>
            </a:r>
            <a:r>
              <a:rPr lang="en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" altLang="ko-KR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  <a:r>
              <a:rPr lang="en" altLang="ko-KR" sz="1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</a:pPr>
            <a:r>
              <a:rPr lang="en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@Getter</a:t>
            </a:r>
          </a:p>
          <a:p>
            <a:pPr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</a:pPr>
            <a:r>
              <a:rPr lang="en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public class </a:t>
            </a:r>
            <a:r>
              <a:rPr lang="en" altLang="ko-KR" sz="1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OrderRequest</a:t>
            </a:r>
            <a:r>
              <a:rPr lang="en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{</a:t>
            </a:r>
          </a:p>
          <a:p>
            <a:pPr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</a:pPr>
            <a:r>
              <a:rPr lang="en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private Long </a:t>
            </a:r>
            <a:r>
              <a:rPr lang="en" altLang="ko-KR" sz="10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productId</a:t>
            </a:r>
            <a:r>
              <a:rPr lang="en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;</a:t>
            </a:r>
          </a:p>
          <a:p>
            <a:pPr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</a:pPr>
            <a:r>
              <a:rPr lang="en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private int quantity;</a:t>
            </a:r>
          </a:p>
          <a:p>
            <a:pPr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</a:pPr>
            <a:r>
              <a:rPr lang="en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}</a:t>
            </a: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latin typeface="맑은 고딕"/>
                <a:ea typeface="맑은 고딕"/>
                <a:cs typeface="맑은 고딕"/>
              </a:rPr>
              <a:t>3. Layered Architecture </a:t>
            </a:r>
            <a:r>
              <a:rPr lang="ko-KR" altLang="en-US" sz="1800" dirty="0">
                <a:latin typeface="맑은 고딕"/>
                <a:ea typeface="맑은 고딕"/>
                <a:cs typeface="맑은 고딕"/>
              </a:rPr>
              <a:t>(1/2)</a:t>
            </a:r>
          </a:p>
          <a:p>
            <a:r>
              <a:rPr lang="ko-KR" altLang="en-US" sz="1100" dirty="0">
                <a:latin typeface="맑은 고딕"/>
                <a:ea typeface="맑은 고딕"/>
                <a:cs typeface="맑은 고딕"/>
              </a:rPr>
              <a:t>(Anemic Domain Model &amp; Transaction Script)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ko-KR" altLang="en-US" sz="1400" dirty="0"/>
              <a:t> 스타일</a:t>
            </a:r>
            <a:endParaRPr kumimoji="1" lang="en-US" altLang="ko-KR" sz="11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041400"/>
            <a:ext cx="8394957" cy="563465"/>
          </a:xfrm>
        </p:spPr>
        <p:txBody>
          <a:bodyPr wrap="square" lIns="0" tIns="0" rIns="0" bIns="0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0" dirty="0" err="1">
                <a:latin typeface="맑은 고딕"/>
                <a:ea typeface="맑은 고딕"/>
                <a:cs typeface="맑은 고딕"/>
              </a:rPr>
              <a:t>데이터</a:t>
            </a:r>
            <a:r>
              <a:rPr sz="1400" b="0" dirty="0">
                <a:latin typeface="맑은 고딕"/>
                <a:ea typeface="맑은 고딕"/>
                <a:cs typeface="맑은 고딕"/>
              </a:rPr>
              <a:t>(</a:t>
            </a:r>
            <a:r>
              <a:rPr sz="1400" b="0" dirty="0" err="1">
                <a:latin typeface="맑은 고딕"/>
                <a:ea typeface="맑은 고딕"/>
                <a:cs typeface="맑은 고딕"/>
              </a:rPr>
              <a:t>상태</a:t>
            </a:r>
            <a:r>
              <a:rPr sz="1400" b="0" dirty="0">
                <a:latin typeface="맑은 고딕"/>
                <a:ea typeface="맑은 고딕"/>
                <a:cs typeface="맑은 고딕"/>
              </a:rPr>
              <a:t>)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와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로직</a:t>
            </a:r>
            <a:r>
              <a:rPr sz="1400" b="0" dirty="0">
                <a:latin typeface="맑은 고딕"/>
                <a:ea typeface="맑은 고딕"/>
                <a:cs typeface="맑은 고딕"/>
              </a:rPr>
              <a:t>(</a:t>
            </a:r>
            <a:r>
              <a:rPr sz="1400" b="0" dirty="0" err="1">
                <a:latin typeface="맑은 고딕"/>
                <a:ea typeface="맑은 고딕"/>
                <a:cs typeface="맑은 고딕"/>
              </a:rPr>
              <a:t>행위</a:t>
            </a:r>
            <a:r>
              <a:rPr sz="1400" b="0" dirty="0">
                <a:latin typeface="맑은 고딕"/>
                <a:ea typeface="맑은 고딕"/>
                <a:cs typeface="맑은 고딕"/>
              </a:rPr>
              <a:t>)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이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분리되어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,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도메인은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데이터만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담고</a:t>
            </a:r>
            <a:r>
              <a:rPr sz="1400" b="0" dirty="0">
                <a:latin typeface="맑은 고딕"/>
                <a:ea typeface="맑은 고딕"/>
                <a:cs typeface="맑은 고딕"/>
              </a:rPr>
              <a:t>(Anemic)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Service가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모든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비즈니스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로직을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통제</a:t>
            </a:r>
            <a:r>
              <a:rPr sz="1400" b="0" dirty="0">
                <a:latin typeface="맑은 고딕"/>
                <a:ea typeface="맑은 고딕"/>
                <a:cs typeface="맑은 고딕"/>
              </a:rPr>
              <a:t>(Transaction Script)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한다</a:t>
            </a:r>
            <a:r>
              <a:rPr sz="1800" b="0" dirty="0"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0" name="Integrated content 30">
            <a:extLst>
              <a:ext uri="{FF2B5EF4-FFF2-40B4-BE49-F238E27FC236}">
                <a16:creationId xmlns:a16="http://schemas.microsoft.com/office/drawing/2014/main" id="{1B825E78-10BA-6D2E-CB4F-3751B4007CB8}"/>
              </a:ext>
            </a:extLst>
          </p:cNvPr>
          <p:cNvSpPr txBox="1"/>
          <p:nvPr/>
        </p:nvSpPr>
        <p:spPr>
          <a:xfrm>
            <a:off x="2720907" y="2696314"/>
            <a:ext cx="3715139" cy="280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src/main/java/com/example/order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presentation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// [MVC 계층] Controller 존재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└── OrderController.java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service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// [비즈니스 계층] Service 로직 집중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└── OrderService.java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domain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// [Anemic 도메인] Entity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└── ProductEntity.java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infrastructure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// [영속성 계층] Mapper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mapper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└── ProductMapper.java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latin typeface="맑은 고딕"/>
                <a:ea typeface="맑은 고딕"/>
                <a:cs typeface="맑은 고딕"/>
              </a:rPr>
              <a:t>3. Layered Architecture </a:t>
            </a:r>
            <a:r>
              <a:rPr lang="ko-KR" altLang="en-US" sz="1800" dirty="0">
                <a:latin typeface="맑은 고딕"/>
                <a:ea typeface="맑은 고딕"/>
                <a:cs typeface="맑은 고딕"/>
              </a:rPr>
              <a:t>(2/2)</a:t>
            </a:r>
          </a:p>
          <a:p>
            <a:r>
              <a:rPr lang="ko-KR" altLang="en-US" sz="1100" dirty="0">
                <a:latin typeface="맑은 고딕"/>
                <a:ea typeface="맑은 고딕"/>
                <a:cs typeface="맑은 고딕"/>
              </a:rPr>
              <a:t>(Anemic Domain Model &amp; Transaction Script)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- 6 -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ko-KR" altLang="en-US" sz="1400" dirty="0"/>
              <a:t> 스타일</a:t>
            </a:r>
            <a:endParaRPr kumimoji="1" lang="en-US" altLang="ko-KR" sz="11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406400" y="965200"/>
            <a:ext cx="3251200" cy="3721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// 3-1. Domain (Anemic - 로직 없음, 상태만 존재)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@Getter @Setter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class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ProductEntity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private Long id;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private int stock;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// 3-2. Controller (MVC - Presentation)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@RestController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class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OrderController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private final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OrderService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orderService; // 구체 클래스 직접 주입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@PostMapping("/orders")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public void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placeOrder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(@RequestBody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OrderRequest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request)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orderService.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placeOrder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(request.getProductId(), request.getQuantity());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" altLang="ko-KR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latin typeface="맑은 고딕"/>
                <a:ea typeface="맑은 고딕"/>
                <a:cs typeface="맑은 고딕"/>
              </a:rPr>
              <a:t>4. Layered Architecture </a:t>
            </a:r>
            <a:r>
              <a:rPr lang="ko-KR" altLang="en-US" sz="1800" dirty="0">
                <a:latin typeface="맑은 고딕"/>
                <a:ea typeface="맑은 고딕"/>
                <a:cs typeface="맑은 고딕"/>
              </a:rPr>
              <a:t>(1/2)</a:t>
            </a:r>
          </a:p>
          <a:p>
            <a:r>
              <a:rPr lang="ko-KR" altLang="en-US" sz="1100" dirty="0">
                <a:latin typeface="맑은 고딕"/>
                <a:ea typeface="맑은 고딕"/>
                <a:cs typeface="맑은 고딕"/>
              </a:rPr>
              <a:t>(Rich Domain Model)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ko-KR" altLang="en-US" sz="1400" dirty="0"/>
              <a:t> 스타일</a:t>
            </a:r>
            <a:endParaRPr kumimoji="1" lang="en-US" altLang="ko-KR" sz="11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041400"/>
            <a:ext cx="8394957" cy="563465"/>
          </a:xfrm>
        </p:spPr>
        <p:txBody>
          <a:bodyPr wrap="square" lIns="0" tIns="0" rIns="0" bIns="0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0" dirty="0" err="1">
                <a:latin typeface="맑은 고딕"/>
                <a:ea typeface="맑은 고딕"/>
                <a:cs typeface="맑은 고딕"/>
              </a:rPr>
              <a:t>비즈니스 로직을 도메인 객체가 담당하며, Service는 흐름만 제어하는 오케스트레이터 역할을 수행한다.</a:t>
            </a:r>
          </a:p>
        </p:txBody>
      </p:sp>
      <p:sp>
        <p:nvSpPr>
          <p:cNvPr id="30" name="Integrated content 30">
            <a:extLst>
              <a:ext uri="{FF2B5EF4-FFF2-40B4-BE49-F238E27FC236}">
                <a16:creationId xmlns:a16="http://schemas.microsoft.com/office/drawing/2014/main" id="{1B825E78-10BA-6D2E-CB4F-3751B4007CB8}"/>
              </a:ext>
            </a:extLst>
          </p:cNvPr>
          <p:cNvSpPr txBox="1"/>
          <p:nvPr/>
        </p:nvSpPr>
        <p:spPr>
          <a:xfrm>
            <a:off x="2531445" y="2013996"/>
            <a:ext cx="4081109" cy="280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src/main/java/com/example/order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presentation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// [MVC 계층] Controller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└── OrderController.java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application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// [비즈니스 계층] 흐름 제어(Orchestrator)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└── OrderService.java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domain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// [Rich 도메인] 비즈니스 로직 포함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└── Product.java       // (2.2 공통 모델 참조)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infrastructure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// [영속성 계층] Repository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repository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└── ProductRepository.java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latin typeface="맑은 고딕"/>
                <a:ea typeface="맑은 고딕"/>
                <a:cs typeface="맑은 고딕"/>
              </a:rPr>
              <a:t>4. Layered Architecture </a:t>
            </a:r>
            <a:r>
              <a:rPr lang="ko-KR" altLang="en-US" sz="1800" dirty="0">
                <a:latin typeface="맑은 고딕"/>
                <a:ea typeface="맑은 고딕"/>
                <a:cs typeface="맑은 고딕"/>
              </a:rPr>
              <a:t>(2/2)</a:t>
            </a:r>
          </a:p>
          <a:p>
            <a:r>
              <a:rPr lang="ko-KR" altLang="en-US" sz="1100" dirty="0">
                <a:latin typeface="맑은 고딕"/>
                <a:ea typeface="맑은 고딕"/>
                <a:cs typeface="맑은 고딕"/>
              </a:rPr>
              <a:t>(Rich Domain Model)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- 8 -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ko-KR" altLang="en-US" sz="1400" dirty="0"/>
              <a:t> 스타일</a:t>
            </a:r>
            <a:endParaRPr kumimoji="1" lang="en-US" altLang="ko-KR" sz="11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406400" y="965200"/>
            <a:ext cx="5130800" cy="294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// 4-1. Repository Interface (Domain/Infrastructure)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interface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ProductRepository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findById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(Long id);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void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save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product);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// 4-2. Controller (MVC - Presentation)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@RestController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class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OrderController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private final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OrderService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orderService;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@PostMapping("/orders")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public void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placeOrder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(@RequestBody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OrderRequest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request)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orderService.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placeOrder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(request.getProductId(), request.getQuantity());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  <a:p>
            <a:pPr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</a:pPr>
            <a:endParaRPr lang="en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latin typeface="맑은 고딕"/>
                <a:ea typeface="맑은 고딕"/>
                <a:cs typeface="맑은 고딕"/>
              </a:rPr>
              <a:t>5. Hexagonal Architecture </a:t>
            </a:r>
            <a:r>
              <a:rPr lang="ko-KR" altLang="en-US" sz="1800" dirty="0">
                <a:latin typeface="맑은 고딕"/>
                <a:ea typeface="맑은 고딕"/>
                <a:cs typeface="맑은 고딕"/>
              </a:rPr>
              <a:t>(1/2)</a:t>
            </a:r>
          </a:p>
          <a:p>
            <a:r>
              <a:rPr lang="ko-KR" altLang="en-US" sz="1100" dirty="0">
                <a:latin typeface="맑은 고딕"/>
                <a:ea typeface="맑은 고딕"/>
                <a:cs typeface="맑은 고딕"/>
              </a:rPr>
              <a:t>(Ports and Adapters)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- 9 -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ko-KR" altLang="en-US" sz="1400" dirty="0"/>
              <a:t> 스타일</a:t>
            </a:r>
            <a:endParaRPr kumimoji="1" lang="en-US" altLang="ko-KR" sz="11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041400"/>
            <a:ext cx="8394957" cy="563465"/>
          </a:xfrm>
        </p:spPr>
        <p:txBody>
          <a:bodyPr wrap="square" lIns="0" tIns="0" rIns="0" bIns="0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0" dirty="0" err="1">
                <a:latin typeface="맑은 고딕"/>
                <a:ea typeface="맑은 고딕"/>
                <a:cs typeface="맑은 고딕"/>
              </a:rPr>
              <a:t>Service</a:t>
            </a:r>
            <a:r>
              <a:rPr sz="1400" b="0" dirty="0" err="1">
                <a:latin typeface="맑은 고딕"/>
                <a:ea typeface="맑은 고딕"/>
                <a:cs typeface="맑은 고딕"/>
              </a:rPr>
              <a:t>(코어)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는 외부 기술을 모르며 내부 포트</a:t>
            </a:r>
            <a:r>
              <a:rPr sz="1400" b="0" dirty="0" err="1">
                <a:latin typeface="맑은 고딕"/>
                <a:ea typeface="맑은 고딕"/>
                <a:cs typeface="맑은 고딕"/>
              </a:rPr>
              <a:t>(인터페이스)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만 제공한다. MVC Controller는 인바운드 어댑터로서 이 포트를 호출한다.</a:t>
            </a:r>
          </a:p>
        </p:txBody>
      </p:sp>
      <p:sp>
        <p:nvSpPr>
          <p:cNvPr id="30" name="Integrated content 30">
            <a:extLst>
              <a:ext uri="{FF2B5EF4-FFF2-40B4-BE49-F238E27FC236}">
                <a16:creationId xmlns:a16="http://schemas.microsoft.com/office/drawing/2014/main" id="{1B825E78-10BA-6D2E-CB4F-3751B4007CB8}"/>
              </a:ext>
            </a:extLst>
          </p:cNvPr>
          <p:cNvSpPr txBox="1"/>
          <p:nvPr/>
        </p:nvSpPr>
        <p:spPr>
          <a:xfrm>
            <a:off x="2907522" y="2000000"/>
            <a:ext cx="3343991" cy="412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src/main/java/com/example/order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domain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           // [Rich 도메인]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└── Product.java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application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      // [코어 계층]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port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│   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in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       // Inbound Port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│   │   └── PlaceOrderUseCase.java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│   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out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      // Outbound Port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│       └── ProductPort.java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service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    └── OrderService.java         // Port 구현체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adapter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          // [어댑터 계층]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in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│   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web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      // [MVC 계층]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│       └── OrderController.java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out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persistence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// [DB 계층]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└── ProductPersistenceAdapter.java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latin typeface="맑은 고딕"/>
                <a:ea typeface="맑은 고딕"/>
                <a:cs typeface="맑은 고딕"/>
              </a:rPr>
              <a:t>5. Hexagonal Architecture </a:t>
            </a:r>
            <a:r>
              <a:rPr lang="ko-KR" altLang="en-US" sz="1800" dirty="0">
                <a:latin typeface="맑은 고딕"/>
                <a:ea typeface="맑은 고딕"/>
                <a:cs typeface="맑은 고딕"/>
              </a:rPr>
              <a:t>(2/2)</a:t>
            </a:r>
          </a:p>
          <a:p>
            <a:r>
              <a:rPr lang="ko-KR" altLang="en-US" sz="1100" dirty="0">
                <a:latin typeface="맑은 고딕"/>
                <a:ea typeface="맑은 고딕"/>
                <a:cs typeface="맑은 고딕"/>
              </a:rPr>
              <a:t>(Ports and Adapters)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ko-KR" altLang="en-US" sz="1400" dirty="0"/>
              <a:t> 스타일</a:t>
            </a:r>
            <a:endParaRPr kumimoji="1" lang="en-US" altLang="ko-KR" sz="11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406400" y="965200"/>
            <a:ext cx="3251200" cy="40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// 5-1. Inbound Port (인터페이스)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interface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PlaceOrderUseCase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void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placeOrder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(Long productId, int quantity);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// 5-2. Outbound Port (인터페이스)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interface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ProductPort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load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(Long productId);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void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save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product);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// 5-3. Controller (MVC - Inbound Adapter)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@RestController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class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OrderController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private final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PlaceOrderUseCase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placeOrderUseCase; // 인터페이스(Port)에 의존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@PostMapping("/orders")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public void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placeOrder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(@RequestBody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OrderRequest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request)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placeOrderUseCase.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placeOrder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(request.getProductId(), request.getQuantity());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latin typeface="맑은 고딕"/>
                <a:ea typeface="맑은 고딕"/>
                <a:cs typeface="맑은 고딕"/>
              </a:rPr>
              <a:t>6. Clean Architecture </a:t>
            </a:r>
            <a:r>
              <a:rPr lang="ko-KR" altLang="en-US" sz="1800" dirty="0">
                <a:latin typeface="맑은 고딕"/>
                <a:ea typeface="맑은 고딕"/>
                <a:cs typeface="맑은 고딕"/>
              </a:rPr>
              <a:t>(1/2)</a:t>
            </a:r>
            <a:endParaRPr lang="ko-KR" altLang="en-US" sz="24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ko-KR" altLang="en-US" sz="1400" dirty="0"/>
              <a:t> 스타일</a:t>
            </a:r>
            <a:endParaRPr kumimoji="1" lang="en-US" altLang="ko-KR" sz="11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041400"/>
            <a:ext cx="8394957" cy="563465"/>
          </a:xfrm>
        </p:spPr>
        <p:txBody>
          <a:bodyPr wrap="square" lIns="0" tIns="0" rIns="0" bIns="0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0" dirty="0" err="1">
                <a:latin typeface="맑은 고딕"/>
                <a:ea typeface="맑은 고딕"/>
                <a:cs typeface="맑은 고딕"/>
              </a:rPr>
              <a:t>Hexagonal과 구조는 유사하나, 계층 간 통신 시 반드시 DTO를 사용하여 도메인 모델이 외부</a:t>
            </a:r>
            <a:r>
              <a:rPr sz="1400" b="0" dirty="0" err="1">
                <a:latin typeface="맑은 고딕"/>
                <a:ea typeface="맑은 고딕"/>
                <a:cs typeface="맑은 고딕"/>
              </a:rPr>
              <a:t>(Controller, DB Mapper)</a:t>
            </a:r>
            <a:r>
              <a:rPr sz="1800" b="0" dirty="0" err="1">
                <a:latin typeface="맑은 고딕"/>
                <a:ea typeface="맑은 고딕"/>
                <a:cs typeface="맑은 고딕"/>
              </a:rPr>
              <a:t>로 누출되는 것을 철저히 차단한다.</a:t>
            </a:r>
          </a:p>
        </p:txBody>
      </p:sp>
      <p:sp>
        <p:nvSpPr>
          <p:cNvPr id="30" name="Integrated content 30">
            <a:extLst>
              <a:ext uri="{FF2B5EF4-FFF2-40B4-BE49-F238E27FC236}">
                <a16:creationId xmlns:a16="http://schemas.microsoft.com/office/drawing/2014/main" id="{1B825E78-10BA-6D2E-CB4F-3751B4007CB8}"/>
              </a:ext>
            </a:extLst>
          </p:cNvPr>
          <p:cNvSpPr txBox="1"/>
          <p:nvPr/>
        </p:nvSpPr>
        <p:spPr>
          <a:xfrm>
            <a:off x="2720907" y="2000000"/>
            <a:ext cx="3715139" cy="429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src/main/java/com/example/order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domain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           // [Entity 계층]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└── Product.java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application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      // [UseCase 계층]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dto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          // 유스케이스 전용 DTO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│   ├── OrderRequestDto.java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│   └── OrderResponseDto.java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port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│   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in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│   │   └── PlaceOrderUseCase.java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│   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out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│       └── OrderRepository.java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service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│       └── PlaceOrderInteractor.java // UseCase 구현체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interface_adapter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// [Adapter 계층]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├──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controller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   // [MVC 계층]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│   └── OrderController.java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└──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gateway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               // 영속성 구현체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    └── OrderMybatisGateway.java</a:t>
            </a:r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>
                <a:latin typeface="맑은 고딕"/>
                <a:ea typeface="맑은 고딕"/>
                <a:cs typeface="맑은 고딕"/>
              </a:rPr>
              <a:t>6. Clean Architecture </a:t>
            </a:r>
            <a:r>
              <a:rPr lang="ko-KR" altLang="en-US" sz="1800" dirty="0">
                <a:latin typeface="맑은 고딕"/>
                <a:ea typeface="맑은 고딕"/>
                <a:cs typeface="맑은 고딕"/>
              </a:rPr>
              <a:t>(2/2)</a:t>
            </a:r>
            <a:endParaRPr lang="ko-KR" altLang="en-US" sz="24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ko-KR" altLang="en-US" sz="1400" dirty="0"/>
              <a:t> 스타일</a:t>
            </a:r>
            <a:endParaRPr kumimoji="1" lang="en-US" altLang="ko-KR" sz="11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406400" y="965200"/>
            <a:ext cx="2600960" cy="411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// 6-1. UseCase DTOs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@Getter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class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OrderRequestDto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private Long productId;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private int quantity;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@Getter @AllArgsConstructor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class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OrderResponseDto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private Long productId;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private String status;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// 6-2. Outbound Port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interface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OrderRepository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findById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(Long productId);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void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save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Product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product);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kumimoji="0" lang="en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// 6-3. Inbound Port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public interface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PlaceOrderUseCase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{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 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OrderResponseDto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placeOrder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kumimoji="0" lang="en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OrderRequestDto</a:t>
            </a: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request);</a:t>
            </a:r>
          </a:p>
          <a:p>
            <a:pPr marL="0" indent="0" algn="l">
              <a:lnSpc>
                <a:spcPts val="11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kumimoji="0" lang="en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sz="2400" dirty="0">
                <a:latin typeface="맑은 고딕"/>
                <a:ea typeface="맑은 고딕"/>
                <a:cs typeface="맑은 고딕"/>
              </a:rPr>
              <a:t>7. 아키텍처 </a:t>
            </a:r>
            <a:r>
              <a:rPr kumimoji="1" lang="en-US" altLang="ko-KR" sz="2400" dirty="0" err="1">
                <a:latin typeface="맑은 고딕"/>
                <a:ea typeface="맑은 고딕"/>
                <a:cs typeface="맑은 고딕"/>
              </a:rPr>
              <a:t>스타일</a:t>
            </a:r>
            <a:r>
              <a:rPr kumimoji="1" lang="en-US" altLang="ko-KR" sz="2400" dirty="0">
                <a:latin typeface="맑은 고딕"/>
                <a:ea typeface="맑은 고딕"/>
                <a:cs typeface="맑은 고딕"/>
              </a:rPr>
              <a:t> </a:t>
            </a:r>
            <a:r>
              <a:rPr kumimoji="1" lang="en-US" altLang="ko-KR" sz="2400" dirty="0" err="1">
                <a:latin typeface="맑은 고딕"/>
                <a:ea typeface="맑은 고딕"/>
                <a:cs typeface="맑은 고딕"/>
              </a:rPr>
              <a:t>비교표</a:t>
            </a:r>
            <a:endParaRPr kumimoji="1" lang="en-US" altLang="ko-KR" sz="24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아키텍처</a:t>
            </a:r>
            <a:r>
              <a:rPr kumimoji="1" lang="ko-KR" altLang="en-US" sz="1400" dirty="0"/>
              <a:t> 스타일</a:t>
            </a:r>
            <a:endParaRPr kumimoji="1" lang="en-US" altLang="ko-KR" sz="1400" b="1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425180" y="1515110"/>
          <a:ext cx="8280000" cy="3873500"/>
        </p:xfrm>
        <a:graphic>
          <a:graphicData uri="http://schemas.openxmlformats.org/drawingml/2006/table">
            <a:tbl>
              <a:tblPr/>
              <a:tblGrid>
                <a:gridCol w="16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비교 항목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Layered (Anemic)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Layered</a:t>
                      </a: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 (</a:t>
                      </a: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Rich</a:t>
                      </a: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)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Hexagonal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/>
                      </a:endParaRP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Clean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/>
                      </a:endParaRP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MVC(Controller) 의존성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Service (구체 클래스 직접 의존)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Service (구체 클래스 직접 의존)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UseCase (Inbound Port 인터페이스)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UseCase (Inbound Port 인터페이스)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비즈니스 로직의 위치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Service 계층 (Tx Script)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Domain 계층 (Product)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Domain 계층 (Product)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Domain 계층 (Product)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Service 계층의 역할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도메인 상태 추출 및 비즈니스 연산 직접 수행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비즈니스 로직을 도메인에 위임 (Orchestrator)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Inbound Port 구현, 도메인 위임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Inbound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Port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 구현, DTO 변환 및 도메인 위임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MVC와 도메인의 결합도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공유 (Entity/DTO 혼용)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공유 가능 (Domain 객체 직접 사용)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단절됨 (Adapter로 격리)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가장 강력한 단절 (DTO 강제)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207797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의존성(화살표) 방향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MVC → Service → DB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MVC → Service → DB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외부(MVC/DB) → 내부 코어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 계층 → UseCase → Domain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58723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용이성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Service 단위 테스트 시 DB Mocking 필수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Domain 단독 테스트 용이. Service는 DB Mocking 필요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인/아웃바운드 포트를 통한 빠르고 독립적인 코어 테스트 가능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Hexagonal과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 동일하며 DTO 매핑 테스트가 추가됨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7981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1033239" y="5678424"/>
            <a:ext cx="65285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- 13 -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16015</TotalTime>
  <Words>2142</Words>
  <Application>Microsoft Macintosh PowerPoint</Application>
  <PresentationFormat>화면 슬라이드 쇼(4:3)</PresentationFormat>
  <Paragraphs>347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4_Office 테마</vt:lpstr>
      <vt:lpstr>아키텍처 스타일 목차</vt:lpstr>
      <vt:lpstr>1. MVC 패턴과 Presentation 계층</vt:lpstr>
      <vt:lpstr>2. 공통 인프라, 도메인 모델 및 DTO (1/2) (Common Context)</vt:lpstr>
      <vt:lpstr>2. 공통 인프라, 도메인 모델 및 DTO (2/2) (Common Context)</vt:lpstr>
      <vt:lpstr>3. Layered Architecture (1/2) (Anemic Domain Model &amp; Transaction Script)</vt:lpstr>
      <vt:lpstr>3. Layered Architecture (2/2) (Anemic Domain Model &amp; Transaction Script)</vt:lpstr>
      <vt:lpstr>4. Layered Architecture (1/2) (Rich Domain Model)</vt:lpstr>
      <vt:lpstr>4. Layered Architecture (2/2) (Rich Domain Model)</vt:lpstr>
      <vt:lpstr>5. Hexagonal Architecture (1/2) (Ports and Adapters)</vt:lpstr>
      <vt:lpstr>5. Hexagonal Architecture (2/2) (Ports and Adapters)</vt:lpstr>
      <vt:lpstr>6. Clean Architecture (1/2)</vt:lpstr>
      <vt:lpstr>6. Clean Architecture (2/2)</vt:lpstr>
      <vt:lpstr>7. 아키텍처 스타일 비교표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SW 품질 개요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