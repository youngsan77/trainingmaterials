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  <p:sldId id="276" r:id="javaLecture21"/>
    <p:sldId id="277" r:id="javaLecture22"/>
    <p:sldId id="278" r:id="javaLecture23"/>
    <p:sldId id="279" r:id="javaLecture24"/>
    <p:sldId id="280" r:id="javaLecture25"/>
    <p:sldId id="281" r:id="javaLecture26"/>
    <p:sldId id="282" r:id="javaLecture27"/>
    <p:sldId id="283" r:id="javaLecture28"/>
    <p:sldId id="284" r:id="javaLecture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Relationship Id="javaLecture21" Type="http://schemas.openxmlformats.org/officeDocument/2006/relationships/slide" Target="slides/slide21.xml"/><Relationship Id="javaLecture22" Type="http://schemas.openxmlformats.org/officeDocument/2006/relationships/slide" Target="slides/slide22.xml"/><Relationship Id="javaLecture23" Type="http://schemas.openxmlformats.org/officeDocument/2006/relationships/slide" Target="slides/slide23.xml"/><Relationship Id="javaLecture24" Type="http://schemas.openxmlformats.org/officeDocument/2006/relationships/slide" Target="slides/slide24.xml"/><Relationship Id="javaLecture25" Type="http://schemas.openxmlformats.org/officeDocument/2006/relationships/slide" Target="slides/slide25.xml"/><Relationship Id="javaLecture26" Type="http://schemas.openxmlformats.org/officeDocument/2006/relationships/slide" Target="slides/slide26.xml"/><Relationship Id="javaLecture27" Type="http://schemas.openxmlformats.org/officeDocument/2006/relationships/slide" Target="slides/slide27.xml"/><Relationship Id="javaLecture28" Type="http://schemas.openxmlformats.org/officeDocument/2006/relationships/slide" Target="slides/slide28.xml"/><Relationship Id="javaLecture29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mermaidImage1" Type="http://schemas.openxmlformats.org/officeDocument/2006/relationships/image" Target="../media/mermaid-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2" Type="http://schemas.openxmlformats.org/officeDocument/2006/relationships/image" Target="../media/plantuml-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3" Type="http://schemas.openxmlformats.org/officeDocument/2006/relationships/image" Target="../media/plantuml-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4" Type="http://schemas.openxmlformats.org/officeDocument/2006/relationships/image" Target="../media/plantuml-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5" Type="http://schemas.openxmlformats.org/officeDocument/2006/relationships/image" Target="../media/plantuml-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6" Type="http://schemas.openxmlformats.org/officeDocument/2006/relationships/image" Target="../media/plantuml-6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00. SW 공학 접근법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SW 공학의 목적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결정 경계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되돌림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성숙도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불확실성과 접근법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프로세스의 공통 본질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이벤트 관점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작게 끝까지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사례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주문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클래스 다이어그램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시스템 시퀀스 다이어그램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분석 시퀀스 다이어그램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커뮤니케이션 다이어그램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14. 상태 머신 다이어그램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15. 다이어그램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16. 변환이 아닌 설계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17. 요구에서 테스트로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18. 주문 테스트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19. 코드에서 모델로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20. 북 스마트와 스트리트 스마트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21. KISS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22. DRY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23. YAGNI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24. 원칙이 부딪힐 때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25. 적정 수준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26. 검증의 배치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27. 전문 영역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28. 요약</a:t>
            </a:r>
          </a:p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SW 공학의 목적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SW 공학은 산출물과 절차가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무엇을 언제 결정하고 어떻게 검증하는가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다룬다. 요구에서 코드·테스트까지 결정과 검증이 끊기지 않게 잇는 것이 핵심이다.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요구·분석·설계·코드는 서로 다른 결정을 내린다.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각 결정 가까이에서, 가장 싼 방법으로 확인한다.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증거가 나오면 원인이 된 결정으로 돌아간다.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02. 결정 경계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73926" y="1842998"/>
          <a:ext cx="778256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819400"/>
                <a:gridCol w="1925320"/>
                <a:gridCol w="214884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가까운 검증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어떤 결과를 왜 원하는가?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의도, 범위, 외부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수용·거절 예시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그 결과가 업무에서 무엇을 뜻하는가?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개념, 관계, 규칙, 상태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시나리오와 모델의 교차검토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어떤 협력으로 실현하는가?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경계, 책임, 협력, 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대안·실패 경로·변경 영향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어떻게 실행하는가?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실행 로직, 기술 구체화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정적 검사, 실행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요구·분석·설계·코드는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서로 다른 질문에 답한다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지금 어떤 결정을 내리는지 알아야 가까운 곳에서 검증할 수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되돌림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278892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문제는 단계를 나누는 것이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앞 결정을 닫아 두고 되돌아가지 못하는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증거가 나오면 원인이 된 결정으로 돌아간다.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분석이 끝났다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다음 작업자가 중요한 의미를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추측하지 않아도 되는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상태다. 새 증거가 나오면 다시 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발견 위치 ≠ 원인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코딩 중 "배송된 주문도 취소하나?"가 나오면 분기를 만들지 말고 요구로 돌아간다. 규칙이 맞는데 코드가 틀렸다면 코드를 고친다.</a:t>
            </a:r>
          </a:p>
        </p:txBody>
      </p:sp>
      <p:pic>
        <p:nvPicPr>
          <p:cNvPr id="9" name="mermaid Diagram 1"/>
          <p:cNvPicPr>
            <a:picLocks noChangeAspect="1"/>
          </p:cNvPicPr>
          <p:nvPr/>
        </p:nvPicPr>
        <p:blipFill>
          <a:blip r:embed="mermaidImage1"/>
          <a:stretch>
            <a:fillRect/>
          </a:stretch>
        </p:blipFill>
        <p:spPr>
          <a:xfrm>
            <a:off x="1472406" y="4097375"/>
            <a:ext cx="6199188" cy="8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성숙도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2100036"/>
          <a:ext cx="8305800" cy="3873500"/>
        </p:xfrm>
        <a:graphic>
          <a:graphicData uri="http://schemas.openxmlformats.org/drawingml/2006/table">
            <a:tbl>
              <a:tblPr/>
              <a:tblGrid>
                <a:gridCol w="1549529"/>
                <a:gridCol w="3322723"/>
                <a:gridCol w="3433548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낮을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이렇게 보완한다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고객의 도메인·요구 표현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원하는 것을 말하지 못하고 해결책(화면·버튼)으로 말한다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관찰, 구체적 예시, 프로토타입으로 요구를 끌어낸다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개발자의 도메인 이해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조건문 속에서 추측한다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이벤트·용어를 합의하고 데이터·도메인 모델로 명시한다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개발자의 기술 숙련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구현 가능성·품질을 장담하지 못한다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스파이크, 작은 구현, 페어로 기술 위험을 먼저 줄인다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팀워크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결정이 전달되지 않고 암묵지가 흩어진다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경계·계약·결정 근거를 명시하고 짧은 주기로 신뢰를 쌓는다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접근법은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누가 무엇을 얼마나 아는가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 따라 달라진다. 고객·개발자의 도메인 지식, 기술 숙련, 팀워크의 성숙도가 무엇을 더 명시하고 검증할지를 정한다.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44953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성숙도가 높으면 대화·스케치·코드·테스트로 가볍게 간다. 모델의 개수가 품질의 척도는 아니다.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불확실성과 접근법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1842998"/>
          <a:ext cx="8305800" cy="3873500"/>
        </p:xfrm>
        <a:graphic>
          <a:graphicData uri="http://schemas.openxmlformats.org/drawingml/2006/table">
            <a:tbl>
              <a:tblPr/>
              <a:tblGrid>
                <a:gridCol w="3502118"/>
                <a:gridCol w="2496926"/>
                <a:gridCol w="2306755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상황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알맞은 접근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먼저 검증할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고객·개발자가 도메인을 알고 업무·기술이 안정적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계획 기반(폭포수) + 단계별 검증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요구·계약의 완결성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업무는 명확하고 기술이 불확실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반복·점진(I&amp;I), 스파이크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위험한 기술부터 작은 증분으로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요구가 자주 바뀌고 고객이 함께할 수 있음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애자일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짧은 주기로 동작하는 SW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문제와 사용자가 불분명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디자인 씽킹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사용자의 문제와 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가치·시장이 불확실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Lean Startup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최소 제품(MVP)으로 가치 가설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사용 경험이 불확실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Lean UX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경험 가설과 실험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업무와 기술의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불확실성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반복의 주기와 검증 대상을 정한다. 프로세스는 이름이 아니라 불확실성을 줄이는 방식으로 고른다.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프로세스의 공통 본질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616776" y="1842998"/>
          <a:ext cx="7896860" cy="3873500"/>
        </p:xfrm>
        <a:graphic>
          <a:graphicData uri="http://schemas.openxmlformats.org/drawingml/2006/table">
            <a:tbl>
              <a:tblPr/>
              <a:tblGrid>
                <a:gridCol w="1310640"/>
                <a:gridCol w="1450340"/>
                <a:gridCol w="1981200"/>
                <a:gridCol w="315468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접근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반복 단위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검증하는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잘못 쓰면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폭포수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명세·계약의 완결성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앞 단계를 닫아 되돌리지 못한다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I&amp;I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증분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위험의 감소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위험과 무관한 순서로 증분한다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애자일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스프린트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동작하는 SW와 고객 반응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분석·설계 생략의 핑계가 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디자인 씽킹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공감–정의–시제품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문제의 정의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워크숍으로 끝나고 요구로 이어지지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Lean Startup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만들기–측정–학습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가치 가설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MVP를 품질 낮은 제품으로 오해한다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Lean UX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가설–실험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경험의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실험 없이 산출물만 줄인다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프로세스는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결정–검증–되돌림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서로 다른 주기와 단위로 운영한다. 이름을 따르는 것보다 이 흐름이 살아 있는지가 중요하다.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07. 이벤트 관점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769176" y="2357073"/>
          <a:ext cx="7592060" cy="3873500"/>
        </p:xfrm>
        <a:graphic>
          <a:graphicData uri="http://schemas.openxmlformats.org/drawingml/2006/table">
            <a:tbl>
              <a:tblPr/>
              <a:tblGrid>
                <a:gridCol w="1450340"/>
                <a:gridCol w="2595880"/>
                <a:gridCol w="354584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기법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이벤트를 보는 방식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이벤트 반응 목록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자극과 시스템의 반응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고객이 주문을 취소한다 → 배송 전이면 취소한다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액터의 목표를 이루는 이벤트 흐름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주문을 관리한다 — 담고, 주문하고, 결제한다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사용자 이야기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사용자가 원하는 결과와 이유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고객으로서 배송 전 주문을 취소하고 싶다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이벤트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업무에서 일어난 사실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주문이 결제되었다, 주문이 취소되었다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29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고객 관점의 요구는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이벤트 관점으로 수렴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한다. 이벤트 반응 목록, 유스케이스, 사용자 이야기, 도메인 이벤트는 모두 "무엇이 일어나면 어떤 결과가 필요한가"를 본다. 복잡한 요구도 사건과 결과는 고객과 개발자가 혼선 없이 합의할 수 있다.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046173"/>
            <a:ext cx="8412480" cy="169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많은 문제의 본질은 관점의 혼합이다.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"취소 버튼을 누르면 주문 테이블 상태를 C로 바꾼다"는 화면·데이터·해결책이 한 문장에 섞여 합의할 단위가 없다.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먼저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이벤트 하나로 본다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"고객이 배송 전 주문을 취소한다 → 주문이 취소되었다". 화면·데이터·기술은 그 뒤에 각자의 결정으로 다룬다.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작게 끝까지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작은 범위를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요구부터 코드·테스트까지 끝까지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관통하고, 반복하며 깊이를 더한다.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1. 원하는 결과와 이유를 읽는다.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2. 허용·거절 규칙을 명시한다.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3. 규칙을 지킬 책임을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4. 작은 코드로 규칙과 상태 변화를 구현한다.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5. 허용·거절 예시로 테스트한다.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6. 설명할 수 없는 결과는 원인이 된 결정으로 되돌린다.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다음 반복에서 관계·수량, 예외·상태, 협력·계약, 기술 제약, 변경을 하나씩 더한다.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사례 — 주문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92135" y="1842998"/>
          <a:ext cx="594614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485902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범위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상품을 담아 주문하고, 결제·배송하며, 배송 전에는 취소할 수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항목은 1개 이상, 수량은 1 이상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제외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부분 취소, 쿠폰, 세금, 결제 실패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확인할 질문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취소된 주문을 다시 취소하면? 결제가 두 번 오면?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예시는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확정 정책이 아니라 흐름을 보이기 위한 제한된 사례다.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- 10 -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304055"/>
            <a:ext cx="8412480" cy="21463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주문항목(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수량)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주문항목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if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(수량 &lt; 1)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throw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IllegalArgumentException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"수량은 1 이상"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고객,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&lt;주문항목&gt; 항목들)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주문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항목들 =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copyOf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(항목들);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if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(항목들.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isEmpty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())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throw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IllegalArgumentException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"주문 항목은 1개 이상"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클래스 다이어그램의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개념·관계·다중성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코드의 타입·참조·검사로 이어진다. 여기서는 주문과 주문 항목의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1..*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와 수량 규칙만 코드로 본다.</a:t>
            </a:r>
          </a:p>
        </p:txBody>
      </p:sp>
      <p:pic>
        <p:nvPicPr>
          <p:cNvPr id="33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2436202" y="1842998"/>
            <a:ext cx="4271596" cy="13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시스템 시퀀스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4009744"/>
            <a:ext cx="8412480" cy="825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interface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주문시스템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상품을담는다(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수량);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주문한다();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시스템 시퀀스 다이어그램의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시스템 이벤트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시스템 경계의 오퍼레이션이 된다. 시스템 안은 블랙박스이며, 이벤트를 받는 쪽인 주문 시스템만 코드로 본다.</a:t>
            </a:r>
          </a:p>
        </p:txBody>
      </p:sp>
      <p:pic>
        <p:nvPicPr>
          <p:cNvPr id="33" name="plantuml Diagram 2"/>
          <p:cNvPicPr>
            <a:picLocks noChangeAspect="1"/>
          </p:cNvPicPr>
          <p:nvPr/>
        </p:nvPicPr>
        <p:blipFill>
          <a:blip r:embed="plantumlImage2"/>
          <a:stretch>
            <a:fillRect/>
          </a:stretch>
        </p:blipFill>
        <p:spPr>
          <a:xfrm>
            <a:off x="3250223" y="2100036"/>
            <a:ext cx="2643554" cy="179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분석 시퀀스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4214459"/>
            <a:ext cx="4114800" cy="18161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이름,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단가) {}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주문항목(상품 상품,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수량)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금액() {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return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상품.단가() * 수량;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class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private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&lt;주문항목&gt; 항목들 =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ArrayList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&lt;&gt;();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분석 시퀀스 다이어그램의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메시지는 받는 객체의 메서드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된다. 생성은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new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로, 반복은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for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문으로 옮긴다. 주문 총액을 구하는 상호작용을 코드로 본다.</a:t>
            </a:r>
          </a:p>
        </p:txBody>
      </p:sp>
      <p:sp>
        <p:nvSpPr>
          <p:cNvPr id="33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4663440" y="4214459"/>
            <a:ext cx="4114800" cy="18161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상품을담는다(상품 상품,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수량)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항목들.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add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주문항목(상품, 수량));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총액을구한다()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합계 = 0;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for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(주문항목 항목 : 항목들) 합계 += 항목.금액();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return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합계;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pic>
        <p:nvPicPr>
          <p:cNvPr id="34" name="plantuml Diagram 3"/>
          <p:cNvPicPr>
            <a:picLocks noChangeAspect="1"/>
          </p:cNvPicPr>
          <p:nvPr/>
        </p:nvPicPr>
        <p:blipFill>
          <a:blip r:embed="plantumlImage3"/>
          <a:stretch>
            <a:fillRect/>
          </a:stretch>
        </p:blipFill>
        <p:spPr>
          <a:xfrm>
            <a:off x="3037449" y="2100036"/>
            <a:ext cx="3069102" cy="20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커뮤니케이션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361080"/>
            <a:ext cx="8412480" cy="2476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이름,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단가) {}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record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주문항목(상품 상품,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수량)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금액() {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return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상품.단가() * 수량;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class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private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&lt;주문항목&gt; 항목들;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주문(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&lt;주문항목&gt; 항목들) {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this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.항목들 = 항목들;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총액을구한다()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return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항목들.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stream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mapToInt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(주문항목::금액).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sum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커뮤니케이션 다이어그램의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링크는 참조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(필드)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되고, 번호는 호출의 중첩이 된다. 같은 총액 계산을 링크와 번호로 본다.</a:t>
            </a:r>
          </a:p>
        </p:txBody>
      </p:sp>
      <p:pic>
        <p:nvPicPr>
          <p:cNvPr id="33" name="plantuml Diagram 4"/>
          <p:cNvPicPr>
            <a:picLocks noChangeAspect="1"/>
          </p:cNvPicPr>
          <p:nvPr/>
        </p:nvPicPr>
        <p:blipFill>
          <a:blip r:embed="plantumlImage4"/>
          <a:stretch>
            <a:fillRect/>
          </a:stretch>
        </p:blipFill>
        <p:spPr>
          <a:xfrm>
            <a:off x="687265" y="1842998"/>
            <a:ext cx="7769469" cy="40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14. 상태 머신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456317"/>
            <a:ext cx="8412480" cy="26416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enum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주문상태 { 주문됨, 결제됨, 배송됨, 취소됨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final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class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private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주문상태 상태 = 주문상태.주문됨;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결제한다() { 전이(주문상태.결제됨, 주문상태.주문됨);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배송한다() { 전이(주문상태.배송됨, 주문상태.결제됨);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취소한다() { 전이(주문상태.취소됨, 주문상태.주문됨, 주문상태.결제됨);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private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전이(주문상태 다음, 주문상태... 출발)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if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(!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java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util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List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of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(출발).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contains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(상태))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throw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IllegalStateException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(상태 + 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"에서는 할 수 없다"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상태 = 다음;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상태 머신 다이어그램의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상태·사건·전이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코드의 값·메서드·허용 검사가 된다. 표에 없는 전이는 일어날 수 없다. 주문의 생애 전체를 코드로 본다.</a:t>
            </a:r>
          </a:p>
        </p:txBody>
      </p:sp>
      <p:pic>
        <p:nvPicPr>
          <p:cNvPr id="33" name="plantuml Diagram 5"/>
          <p:cNvPicPr>
            <a:picLocks noChangeAspect="1"/>
          </p:cNvPicPr>
          <p:nvPr/>
        </p:nvPicPr>
        <p:blipFill>
          <a:blip r:embed="plantumlImage5"/>
          <a:stretch>
            <a:fillRect/>
          </a:stretch>
        </p:blipFill>
        <p:spPr>
          <a:xfrm>
            <a:off x="2180981" y="2100036"/>
            <a:ext cx="4782038" cy="12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15. 다이어그램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118426" y="1842998"/>
          <a:ext cx="6893560" cy="3873500"/>
        </p:xfrm>
        <a:graphic>
          <a:graphicData uri="http://schemas.openxmlformats.org/drawingml/2006/table">
            <a:tbl>
              <a:tblPr/>
              <a:tblGrid>
                <a:gridCol w="1226820"/>
                <a:gridCol w="2959100"/>
                <a:gridCol w="270764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다이어그램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답하는 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잘못 쓰면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클래스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개념·관계·수량이 규칙을 표현하는가?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 클래스·DB 스키마로 조기 고정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시스템 시퀀스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외부 사건과 결과가 합의되었는가?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내부 호출을 외부 계약에 섞음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 시퀀스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업무 의미와 상태 변화가 이어지는가?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메시지를 최종 메서드 배치로 확정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커뮤니케이션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참여자의 연결 구조가 필요한가?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시퀀스를 그대로 복제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머신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상태마다 허용·금지 행위가 일관되는가?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근거 없는 상태 나열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다이어그램은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질문에 답할 때만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그린다. 같은 정보를 반복하면 하나를 생략한다.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16. 변환이 아닌 설계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593406" y="2100036"/>
          <a:ext cx="5943600" cy="3873500"/>
        </p:xfrm>
        <a:graphic>
          <a:graphicData uri="http://schemas.openxmlformats.org/drawingml/2006/table">
            <a:tbl>
              <a:tblPr/>
              <a:tblGrid>
                <a:gridCol w="2316480"/>
                <a:gridCol w="1813560"/>
                <a:gridCol w="181356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분석에서 확인할 의미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설계에서 더할 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코드에서 확인할 증거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배송된 주문은 취소할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판단의 책임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결과와 상태 유지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항목은 1개 이상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생성 책임과 검사 위치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빈 주문의 거절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총액은 항목 금액의 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계산할지 저장할지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항목 변경 뒤의 총액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다이어그램은 코드로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옮겨 적는 설계도가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분석은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업무 의미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밝히고, 설계는 그 의미를 지킬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책임과 협력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새로 판단한다. 상자 하나가 여러 코드 요소가 되기도, 여러 상자가 한 코드에 담기기도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7163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코드 한 조각이 보장하는 것과 모델 전체의 제약은 다르다. 보장하지 못하는 제약은 누가 지킬지 설계에서 정한다.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17. 요구에서 테스트로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341946" y="1842998"/>
          <a:ext cx="6446520" cy="3873500"/>
        </p:xfrm>
        <a:graphic>
          <a:graphicData uri="http://schemas.openxmlformats.org/drawingml/2006/table">
            <a:tbl>
              <a:tblPr/>
              <a:tblGrid>
                <a:gridCol w="2400300"/>
                <a:gridCol w="2092960"/>
                <a:gridCol w="195326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 예시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 규칙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배송된 주문은 취소할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배송됨에서 취소 전이 없음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취소된 주문은 결제할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취소됨에서 결제 전이 없음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결제가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 없이 주문할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항목 1..*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빈 주문 생성이 거절된다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요구의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수용·거절 예시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그대로 테스트가 된다. 상태 머신에 없는 전이는 거절되어야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- 18 -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18. 주문 테스트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199280"/>
            <a:ext cx="8412480" cy="27432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class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주문테스트 {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public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static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main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String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[]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args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) {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var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배송된주문 =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주문();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배송된주문.결제한다();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배송된주문.배송한다();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거절(배송된주문::취소한다);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var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취소된주문 =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주문();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취소된주문.취소한다();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거절(취소된주문::결제한다);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System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out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.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println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"주문 규칙 확인"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static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void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거절(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Runnable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행위) {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try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{ 행위.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run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(); }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catch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(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IllegalStateException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기대한거절) {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return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; }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   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throw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new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AssertionError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(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"거절되어야 한다"</a:t>
            </a: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);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00000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7812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요구 예시를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실행되는 테스트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옮긴다. 「14. 상태 머신 다이어그램」의 주문 코드와 함께 실행한다.</a:t>
            </a:r>
          </a:p>
        </p:txBody>
      </p:sp>
      <p:pic>
        <p:nvPicPr>
          <p:cNvPr id="33" name="plantuml Diagram 6"/>
          <p:cNvPicPr>
            <a:picLocks noChangeAspect="1"/>
          </p:cNvPicPr>
          <p:nvPr/>
        </p:nvPicPr>
        <p:blipFill>
          <a:blip r:embed="plantumlImage6"/>
          <a:stretch>
            <a:fillRect/>
          </a:stretch>
        </p:blipFill>
        <p:spPr>
          <a:xfrm>
            <a:off x="2180981" y="1842998"/>
            <a:ext cx="4782038" cy="12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19. 코드에서 모델로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코드를 읽고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모델과 요구로 되돌아가는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한다. 코드의 예외나 반환값이 정책을 대신 정하지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취소된 주문을 다시 취소하면 거절인가, 같은 결과인가?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결제 완료 통보가 두 번 오면 어떻게 하는가?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테스트에 조건문을 덧붙여 상위 모순을 숨기지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20. 북 스마트와 스트리트 스마트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546925" y="2100036"/>
          <a:ext cx="803656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4188460"/>
                <a:gridCol w="295910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/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북 스마트만 있을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스트리트 스마트만 있을 때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템플릿을 다 채우지만 합의한 이벤트가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말로 합의하고 기록·예시가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다이어그램은 많지만 데이터 모델·규칙이 없다(분석 과잉)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코드 조건문에 바로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패턴을 먼저 고르고 요구를 맞춘다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매번 새로 만들어 같은 실수를 반복한다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절차는 지켰지만 결과를 확인하지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동작하면 끝났다고 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북 스마트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표준·모델·프로세스·원칙을 아는 것이고,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스트리트 스마트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그중 무엇을 언제 얼마나 쓸지 맥락에서 판단하고 증거로 되돌리는 것이다. 둘 중 하나만으로는 SW 공학이 되지 않는다.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- 21 -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8913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결정 경계·다이어그램·원칙은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북 스마트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적정 수준·맥락에 따른 선택·되돌림은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스트리트 스마트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21. KISS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203516" y="2100036"/>
          <a:ext cx="67233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651760"/>
                <a:gridCol w="318262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단순하게 한다는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단순함을 잘못 쓴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사건과 결과로 합의한다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예외를 말하지 않아 요구가 단순해 보인다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질문에 답하는 다이어그램만 그린다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모델에서 빼고 "코드에서 처리"한다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지키는 곳을 하나로 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계층·추상화를 미리 쌓는다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상태는 enum과 허용 검사로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조건문을 여기저기 흩뜨려 복잡성을 옮긴다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KISS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진정한 의미는 코드를 짧게 쓰는 것이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우연적 복잡성을 만들지 않는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업무 자체의 본질적 복잡성은 없앨 수 없으므로, 숨기지 말고 드러내야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- 22 -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22. DRY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1842998"/>
          <a:ext cx="8305800" cy="3873500"/>
        </p:xfrm>
        <a:graphic>
          <a:graphicData uri="http://schemas.openxmlformats.org/drawingml/2006/table">
            <a:tbl>
              <a:tblPr/>
              <a:tblGrid>
                <a:gridCol w="1010771"/>
                <a:gridCol w="3296815"/>
                <a:gridCol w="3998214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지식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단일 원천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반복의 징후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도메인과 코드가 같은 이름을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문서는 "주문 항목", 코드는 LineItem, 화면은 "상품 줄"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속성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값의 종류가 소유한다 — "수량 1 이상"은 한 곳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화면·서비스·DB가 각자 검사한다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 예시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수용·거절 예시가 곧 테스트다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명세와 테스트가 따로 놀아 어긋난다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모델과 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어긋나면 원인이 된 결정으로 되돌린다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코드만 고치고 모델은 방치한다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DRY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코드 중복 제거가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하나의 지식에 하나의 원천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두는 것이다. 같은 규칙을 요구·모델·코드·테스트가 다르게 말하면 반복이다.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532098"/>
            <a:ext cx="8412480" cy="52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모양이 같아도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의미가 다르면 합치지 않는다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(장바구니 항목 ≠ 주문 항목)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graphicFrame>
        <p:nvGraphicFramePr>
          <p:cNvPr id="15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412306" y="4157938"/>
          <a:ext cx="8305800" cy="3873500"/>
        </p:xfrm>
        <a:graphic>
          <a:graphicData uri="http://schemas.openxmlformats.org/drawingml/2006/table">
            <a:tbl>
              <a:tblPr/>
              <a:tblGrid>
                <a:gridCol w="1010771"/>
                <a:gridCol w="3296815"/>
                <a:gridCol w="3998214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하나의 원천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요구는 이벤트 하나로 한 번 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"배송 전 취소"를 화면·기능 명세에 따로 쓰지 않는다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용어와 규칙은 모델 한 곳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수량 규칙은 속성 도메인, 취소 조건은 상태 머신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규칙을 지키는 책임은 한 객체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가능 판단은 주문이 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검사·계산은 한 곳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수량 검사는 주문 항목을 만들 때만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 예시가 곧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수용·거절 예시를 그대로 테스트로 옮긴다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23. YAGNI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340676" y="2100036"/>
          <a:ext cx="6449060" cy="3873500"/>
        </p:xfrm>
        <a:graphic>
          <a:graphicData uri="http://schemas.openxmlformats.org/drawingml/2006/table">
            <a:tbl>
              <a:tblPr/>
              <a:tblGrid>
                <a:gridCol w="2819400"/>
                <a:gridCol w="362966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만들지 않는다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확인한다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요구가 확정되지 않은 부분 취소·쿠폰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핵심 규칙 — 배송된 주문은 취소할 수 없다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쓰일지 모르는 확장 지점·설정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경계와 계약 — 누가 취소를 판단하는가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가정한 사용량을 위한 최적화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되돌리기 어려운 기술 선택 — 작은 구현으로 먼저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YAGNI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진정한 의미는 결정을 미루는 것이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추측으로 결정하지 않는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필요한지 모르는 기능은 만들지 않되, 나중에 바꾸기 비싼 결정은 지금 확인한다.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7163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핵심 규칙을 빈칸으로 두는 것은 YAGNI가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숨은 위험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추가 모델이 판단을 바꾸지 않을 때 멈추는 것이 YAGNI다.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24. 원칙이 부딪힐 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94345" y="1842998"/>
          <a:ext cx="6141720" cy="3873500"/>
        </p:xfrm>
        <a:graphic>
          <a:graphicData uri="http://schemas.openxmlformats.org/drawingml/2006/table">
            <a:tbl>
              <a:tblPr/>
              <a:tblGrid>
                <a:gridCol w="1534160"/>
                <a:gridCol w="460756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충돌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DRY ↔ 결합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공통 추상화가 두 개념을 묶어 함께 바뀌게 하면 중복을 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KISS ↔ 변경 대비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변경 증거가 있을 때만 확장 구조를 둔다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YAGNI ↔ 아키텍처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되돌리기 비싼 경계·기술 결정은 작은 실험으로 앞당겨 확인한다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적정 수준 ↔ 명시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팀·고객의 성숙도가 낮을수록 결정 근거를 더 남긴다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원칙은 규칙이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판단의 도구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부딪히면 위험과 비용, 되돌리기 쉬운 정도로 고른다. 이것이 스트리트 스마트다.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- 25 -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25. 적정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607376" y="1842998"/>
          <a:ext cx="5915660" cy="3873500"/>
        </p:xfrm>
        <a:graphic>
          <a:graphicData uri="http://schemas.openxmlformats.org/drawingml/2006/table">
            <a:tbl>
              <a:tblPr/>
              <a:tblGrid>
                <a:gridCol w="1115060"/>
                <a:gridCol w="2567940"/>
                <a:gridCol w="223266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결정 경계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지금 명시할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열어 둘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 → 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의도, 범위, 수용·거절 예시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내부 객체와 메서드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 → 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용어, 규칙, 상태, 불변 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저장 기술, 책임 배치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 → 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책임, 협력, 계약, 주요 제약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국소 구현 방식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 → 운영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보장 범위, 통합 전제, 남은 위험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실사용으로 확인할 가치 가설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결정이 중요한 것을 추측하지 않아도 될 만큼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명시하고 검증한다. 더 그려도 판단이 바뀌지 않으면 멈추고 구현·테스트로 넘어간다.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- 26 -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26. 검증의 배치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790256" y="1842998"/>
          <a:ext cx="55499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1673860"/>
                <a:gridCol w="298704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검증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수용·거절 예시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고객이 취소 가능 여부를 알 수 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규칙·상태의 일관성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배송된 주문에 취소 전이가 없는가?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설계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책임·계약·실패 경로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판단을 누가 지키는가?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실행·통합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거절 뒤 상태가 그대로인가?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운영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실제 결과와 가치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취소 문의가 줄었는가?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테스트는 앞 활동을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생략해도 된다는 허가가 아니다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오류가 생기는 곳 가까이에서 검증을 앞당긴다.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84959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규칙이 모호하면 자동화보다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허용·거절 예시 합의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먼저다. 자동화는 합의된 규칙의 회귀를 막는다.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27. 전문 영역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424495" y="1842998"/>
          <a:ext cx="6281420" cy="3873500"/>
        </p:xfrm>
        <a:graphic>
          <a:graphicData uri="http://schemas.openxmlformats.org/drawingml/2006/table">
            <a:tbl>
              <a:tblPr/>
              <a:tblGrid>
                <a:gridCol w="1590040"/>
                <a:gridCol w="4691380"/>
              </a:tblGrid>
              <a:tr h="317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영역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더해지는 질문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SW Architecture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품질속성과 제약 아래 구조·배포·변경 비용을 어떻게 절충하는가?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DDD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언어와 문맥 경계를 어떻게 유지하는가?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MSA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분산 경계·통신·실패·일관성이 업무 의미에 어떤 영향을 주는가?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DevOps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운영 증거를 어떤 결정으로 얼마나 빨리 되돌리는가?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AI-native SW공학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사람과 에이전트가 어떤 결정을 맡고 무엇으로 검증하는가?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OOAD만으로 모든 판단을 끝내지 않는다. 규모·품질·분산·운영이 커지면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전문 영역의 질문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더해진다.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- 28 -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84959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아키텍처는 마지막 단계가 아니다. 위험과 제약이 크면 판단과 검증을 앞당긴다.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28.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00. SW 공학 접근법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작게 끝까지 만들고, 결정마다 필요한 만큼 명시·검증하며, 문제는 원인이 된 결정으로 되돌린다.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성숙도와 불확실성에 맞춰 접근법을 고르고, 원칙은 북 스마트로 알되 스트리트 스마트로 쓴다.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16015</TotalTime>
  <Words>2142</Words>
  <Application>Microsoft Macintosh PowerPoint</Application>
  <PresentationFormat>화면 슬라이드 쇼(4:3)</PresentationFormat>
  <Paragraphs>347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Wingdings</vt:lpstr>
      <vt:lpstr>4_Office 테마</vt:lpstr>
      <vt:lpstr>00. SW 공학 접근법 목차</vt:lpstr>
      <vt:lpstr>01. SW 공학의 목적</vt:lpstr>
      <vt:lpstr>02. 결정 경계</vt:lpstr>
      <vt:lpstr>03. 되돌림</vt:lpstr>
      <vt:lpstr>04. 성숙도</vt:lpstr>
      <vt:lpstr>05. 불확실성과 접근법</vt:lpstr>
      <vt:lpstr>06. 프로세스의 공통 본질</vt:lpstr>
      <vt:lpstr>07. 이벤트 관점</vt:lpstr>
      <vt:lpstr>08. 작게 끝까지</vt:lpstr>
      <vt:lpstr>09. 사례 — 주문</vt:lpstr>
      <vt:lpstr>10. 클래스 다이어그램</vt:lpstr>
      <vt:lpstr>11. 시스템 시퀀스 다이어그램</vt:lpstr>
      <vt:lpstr>12. 분석 시퀀스 다이어그램</vt:lpstr>
      <vt:lpstr>13. 커뮤니케이션 다이어그램</vt:lpstr>
      <vt:lpstr>14. 상태 머신 다이어그램</vt:lpstr>
      <vt:lpstr>15. 다이어그램 선택</vt:lpstr>
      <vt:lpstr>16. 변환이 아닌 설계</vt:lpstr>
      <vt:lpstr>17. 요구에서 테스트로</vt:lpstr>
      <vt:lpstr>18. 주문 테스트</vt:lpstr>
      <vt:lpstr>19. 코드에서 모델로</vt:lpstr>
      <vt:lpstr>20. 북 스마트와 스트리트 스마트</vt:lpstr>
      <vt:lpstr>21. KISS</vt:lpstr>
      <vt:lpstr>22. DRY</vt:lpstr>
      <vt:lpstr>23. YAGNI</vt:lpstr>
      <vt:lpstr>24. 원칙이 부딪힐 때</vt:lpstr>
      <vt:lpstr>25. 적정 수준</vt:lpstr>
      <vt:lpstr>26. 검증의 배치</vt:lpstr>
      <vt:lpstr>27. 전문 영역</vt:lpstr>
      <vt:lpstr>28. 요약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00. SW 공학 접근법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